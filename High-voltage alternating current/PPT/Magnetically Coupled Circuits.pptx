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2"/>
  </p:notesMasterIdLst>
  <p:handoutMasterIdLst>
    <p:handoutMasterId r:id="rId63"/>
  </p:handoutMasterIdLst>
  <p:sldIdLst>
    <p:sldId id="399" r:id="rId2"/>
    <p:sldId id="504" r:id="rId3"/>
    <p:sldId id="400" r:id="rId4"/>
    <p:sldId id="506" r:id="rId5"/>
    <p:sldId id="426" r:id="rId6"/>
    <p:sldId id="502" r:id="rId7"/>
    <p:sldId id="427" r:id="rId8"/>
    <p:sldId id="503" r:id="rId9"/>
    <p:sldId id="534" r:id="rId10"/>
    <p:sldId id="432" r:id="rId11"/>
    <p:sldId id="433" r:id="rId12"/>
    <p:sldId id="428" r:id="rId13"/>
    <p:sldId id="429" r:id="rId14"/>
    <p:sldId id="430" r:id="rId15"/>
    <p:sldId id="431" r:id="rId16"/>
    <p:sldId id="434" r:id="rId17"/>
    <p:sldId id="435" r:id="rId18"/>
    <p:sldId id="463" r:id="rId19"/>
    <p:sldId id="464" r:id="rId20"/>
    <p:sldId id="535" r:id="rId21"/>
    <p:sldId id="436" r:id="rId22"/>
    <p:sldId id="465" r:id="rId23"/>
    <p:sldId id="501" r:id="rId24"/>
    <p:sldId id="499" r:id="rId25"/>
    <p:sldId id="505" r:id="rId26"/>
    <p:sldId id="500" r:id="rId27"/>
    <p:sldId id="507" r:id="rId28"/>
    <p:sldId id="489" r:id="rId29"/>
    <p:sldId id="437" r:id="rId30"/>
    <p:sldId id="438" r:id="rId31"/>
    <p:sldId id="467" r:id="rId32"/>
    <p:sldId id="468" r:id="rId33"/>
    <p:sldId id="485" r:id="rId34"/>
    <p:sldId id="486" r:id="rId35"/>
    <p:sldId id="487" r:id="rId36"/>
    <p:sldId id="472" r:id="rId37"/>
    <p:sldId id="473" r:id="rId38"/>
    <p:sldId id="488" r:id="rId39"/>
    <p:sldId id="536" r:id="rId40"/>
    <p:sldId id="475" r:id="rId41"/>
    <p:sldId id="528" r:id="rId42"/>
    <p:sldId id="508" r:id="rId43"/>
    <p:sldId id="509" r:id="rId44"/>
    <p:sldId id="510" r:id="rId45"/>
    <p:sldId id="511" r:id="rId46"/>
    <p:sldId id="529" r:id="rId47"/>
    <p:sldId id="512" r:id="rId48"/>
    <p:sldId id="530" r:id="rId49"/>
    <p:sldId id="517" r:id="rId50"/>
    <p:sldId id="518" r:id="rId51"/>
    <p:sldId id="519" r:id="rId52"/>
    <p:sldId id="520" r:id="rId53"/>
    <p:sldId id="521" r:id="rId54"/>
    <p:sldId id="525" r:id="rId55"/>
    <p:sldId id="531" r:id="rId56"/>
    <p:sldId id="532" r:id="rId57"/>
    <p:sldId id="533" r:id="rId58"/>
    <p:sldId id="537" r:id="rId59"/>
    <p:sldId id="527" r:id="rId60"/>
    <p:sldId id="522" r:id="rId61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华文新魏" pitchFamily="2" charset="-122"/>
        <a:ea typeface="华文新魏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3399FF"/>
    <a:srgbClr val="CCCCFF"/>
    <a:srgbClr val="000099"/>
    <a:srgbClr val="99CCFF"/>
    <a:srgbClr val="FF3300"/>
    <a:srgbClr val="5F5F5F"/>
    <a:srgbClr val="009999"/>
    <a:srgbClr val="777777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404" autoAdjust="0"/>
  </p:normalViewPr>
  <p:slideViewPr>
    <p:cSldViewPr>
      <p:cViewPr varScale="1">
        <p:scale>
          <a:sx n="106" d="100"/>
          <a:sy n="106" d="100"/>
        </p:scale>
        <p:origin x="1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50" d="100"/>
          <a:sy n="50" d="100"/>
        </p:scale>
        <p:origin x="-1590" y="-288"/>
      </p:cViewPr>
      <p:guideLst>
        <p:guide orient="horz" pos="3224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7" Type="http://schemas.openxmlformats.org/officeDocument/2006/relationships/image" Target="../media/image7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0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4" Type="http://schemas.openxmlformats.org/officeDocument/2006/relationships/image" Target="../media/image11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7" Type="http://schemas.openxmlformats.org/officeDocument/2006/relationships/image" Target="../media/image140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3.wmf"/><Relationship Id="rId7" Type="http://schemas.openxmlformats.org/officeDocument/2006/relationships/image" Target="../media/image177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5" Type="http://schemas.openxmlformats.org/officeDocument/2006/relationships/image" Target="../media/image184.wmf"/><Relationship Id="rId4" Type="http://schemas.openxmlformats.org/officeDocument/2006/relationships/image" Target="../media/image18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3" Type="http://schemas.openxmlformats.org/officeDocument/2006/relationships/image" Target="../media/image189.wmf"/><Relationship Id="rId7" Type="http://schemas.openxmlformats.org/officeDocument/2006/relationships/image" Target="../media/image190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71.wmf"/><Relationship Id="rId5" Type="http://schemas.openxmlformats.org/officeDocument/2006/relationships/image" Target="../media/image177.wmf"/><Relationship Id="rId4" Type="http://schemas.openxmlformats.org/officeDocument/2006/relationships/image" Target="../media/image17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4" Type="http://schemas.openxmlformats.org/officeDocument/2006/relationships/image" Target="../media/image20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4" Type="http://schemas.openxmlformats.org/officeDocument/2006/relationships/image" Target="../media/image211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3" Type="http://schemas.openxmlformats.org/officeDocument/2006/relationships/image" Target="../media/image224.wmf"/><Relationship Id="rId7" Type="http://schemas.openxmlformats.org/officeDocument/2006/relationships/image" Target="../media/image228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3" Type="http://schemas.openxmlformats.org/officeDocument/2006/relationships/image" Target="../media/image233.wmf"/><Relationship Id="rId7" Type="http://schemas.openxmlformats.org/officeDocument/2006/relationships/image" Target="../media/image237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Relationship Id="rId6" Type="http://schemas.openxmlformats.org/officeDocument/2006/relationships/image" Target="../media/image236.emf"/><Relationship Id="rId5" Type="http://schemas.openxmlformats.org/officeDocument/2006/relationships/image" Target="../media/image235.emf"/><Relationship Id="rId4" Type="http://schemas.openxmlformats.org/officeDocument/2006/relationships/image" Target="../media/image234.e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image" Target="../media/image244.emf"/><Relationship Id="rId7" Type="http://schemas.openxmlformats.org/officeDocument/2006/relationships/image" Target="../media/image248.wmf"/><Relationship Id="rId2" Type="http://schemas.openxmlformats.org/officeDocument/2006/relationships/image" Target="../media/image243.emf"/><Relationship Id="rId1" Type="http://schemas.openxmlformats.org/officeDocument/2006/relationships/image" Target="../media/image242.emf"/><Relationship Id="rId6" Type="http://schemas.openxmlformats.org/officeDocument/2006/relationships/image" Target="../media/image247.emf"/><Relationship Id="rId5" Type="http://schemas.openxmlformats.org/officeDocument/2006/relationships/image" Target="../media/image246.emf"/><Relationship Id="rId4" Type="http://schemas.openxmlformats.org/officeDocument/2006/relationships/image" Target="../media/image245.emf"/><Relationship Id="rId9" Type="http://schemas.openxmlformats.org/officeDocument/2006/relationships/image" Target="../media/image250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emf"/><Relationship Id="rId2" Type="http://schemas.openxmlformats.org/officeDocument/2006/relationships/image" Target="../media/image255.wmf"/><Relationship Id="rId1" Type="http://schemas.openxmlformats.org/officeDocument/2006/relationships/image" Target="../media/image254.e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Relationship Id="rId6" Type="http://schemas.openxmlformats.org/officeDocument/2006/relationships/image" Target="../media/image266.wmf"/><Relationship Id="rId5" Type="http://schemas.openxmlformats.org/officeDocument/2006/relationships/image" Target="../media/image265.wmf"/><Relationship Id="rId4" Type="http://schemas.openxmlformats.org/officeDocument/2006/relationships/image" Target="../media/image264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t" anchorCtr="0" compatLnSpc="1">
            <a:prstTxWarp prst="textNoShape">
              <a:avLst/>
            </a:prstTxWarp>
          </a:bodyPr>
          <a:lstStyle>
            <a:lvl1pPr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电路分析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t" anchorCtr="0" compatLnSpc="1">
            <a:prstTxWarp prst="textNoShape">
              <a:avLst/>
            </a:prstTxWarp>
          </a:bodyPr>
          <a:lstStyle>
            <a:lvl1pPr algn="r"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06A1427-7ED5-45F0-9EEE-B08E0A1F885D}" type="datetime1">
              <a:rPr lang="zh-CN" altLang="en-US"/>
              <a:pPr>
                <a:defRPr/>
              </a:pPr>
              <a:t>2024/10/22</a:t>
            </a:fld>
            <a:endParaRPr lang="en-US" altLang="zh-CN"/>
          </a:p>
        </p:txBody>
      </p:sp>
      <p:sp>
        <p:nvSpPr>
          <p:cNvPr id="167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b" anchorCtr="0" compatLnSpc="1">
            <a:prstTxWarp prst="textNoShape">
              <a:avLst/>
            </a:prstTxWarp>
          </a:bodyPr>
          <a:lstStyle>
            <a:lvl1pPr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7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b" anchorCtr="0" compatLnSpc="1">
            <a:prstTxWarp prst="textNoShape">
              <a:avLst/>
            </a:prstTxWarp>
          </a:bodyPr>
          <a:lstStyle>
            <a:lvl1pPr algn="r"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6D45711-1A01-4023-B4F7-2061C925FE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74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t" anchorCtr="0" compatLnSpc="1">
            <a:prstTxWarp prst="textNoShape">
              <a:avLst/>
            </a:prstTxWarp>
          </a:bodyPr>
          <a:lstStyle>
            <a:lvl1pPr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电路分析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t" anchorCtr="0" compatLnSpc="1">
            <a:prstTxWarp prst="textNoShape">
              <a:avLst/>
            </a:prstTxWarp>
          </a:bodyPr>
          <a:lstStyle>
            <a:lvl1pPr algn="r"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1E6C3B3-923F-4970-A211-C5BBD8C36E31}" type="datetime1">
              <a:rPr lang="zh-CN" altLang="en-US"/>
              <a:pPr>
                <a:defRPr/>
              </a:pPr>
              <a:t>2024/10/22</a:t>
            </a:fld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2513"/>
            <a:ext cx="520382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b" anchorCtr="0" compatLnSpc="1">
            <a:prstTxWarp prst="textNoShape">
              <a:avLst/>
            </a:prstTxWarp>
          </a:bodyPr>
          <a:lstStyle>
            <a:lvl1pPr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980" tIns="49490" rIns="98980" bIns="49490" numCol="1" anchor="b" anchorCtr="0" compatLnSpc="1">
            <a:prstTxWarp prst="textNoShape">
              <a:avLst/>
            </a:prstTxWarp>
          </a:bodyPr>
          <a:lstStyle>
            <a:lvl1pPr algn="r" defTabSz="990090"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55638801-BD81-4F7A-B30B-5BDC9B99DE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0625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 err="1"/>
              <a:t>Asas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337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Asas </a:t>
            </a:r>
          </a:p>
        </p:txBody>
      </p:sp>
    </p:spTree>
    <p:extLst>
      <p:ext uri="{BB962C8B-B14F-4D97-AF65-F5344CB8AC3E}">
        <p14:creationId xmlns:p14="http://schemas.microsoft.com/office/powerpoint/2010/main" val="1571266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42065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Asasa </a:t>
            </a:r>
          </a:p>
        </p:txBody>
      </p:sp>
    </p:spTree>
    <p:extLst>
      <p:ext uri="{BB962C8B-B14F-4D97-AF65-F5344CB8AC3E}">
        <p14:creationId xmlns:p14="http://schemas.microsoft.com/office/powerpoint/2010/main" val="299204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Asasa </a:t>
            </a:r>
          </a:p>
        </p:txBody>
      </p:sp>
    </p:spTree>
    <p:extLst>
      <p:ext uri="{BB962C8B-B14F-4D97-AF65-F5344CB8AC3E}">
        <p14:creationId xmlns:p14="http://schemas.microsoft.com/office/powerpoint/2010/main" val="2278220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9251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652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自己没有电流的电感线圈两端也可能有电位差，由互感产生。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638801-BD81-4F7A-B30B-5BDC9B99DE89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1622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Asas </a:t>
            </a:r>
          </a:p>
        </p:txBody>
      </p:sp>
    </p:spTree>
    <p:extLst>
      <p:ext uri="{BB962C8B-B14F-4D97-AF65-F5344CB8AC3E}">
        <p14:creationId xmlns:p14="http://schemas.microsoft.com/office/powerpoint/2010/main" val="1011172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17 is redundant? With 21 and 25-28</a:t>
            </a:r>
            <a:endParaRPr lang="zh-CN" altLang="en-US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834AFD62-3F3C-44D1-A5D7-59A66C6E1A18}" type="slidenum">
              <a:rPr lang="en-US" altLang="zh-CN" smtClean="0"/>
              <a:pPr defTabSz="989013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2524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4F0DED43-6E8A-4281-AC87-39469403392C}" type="slidenum">
              <a:rPr lang="en-US" altLang="zh-CN" smtClean="0"/>
              <a:pPr defTabSz="989013"/>
              <a:t>32</a:t>
            </a:fld>
            <a:endParaRPr lang="en-US" altLang="zh-CN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dirty="0"/>
              <a:t>练习：用互感消去法</a:t>
            </a:r>
            <a:r>
              <a:rPr lang="en-US" altLang="zh-CN" dirty="0"/>
              <a:t>,</a:t>
            </a:r>
            <a:r>
              <a:rPr lang="zh-CN" altLang="en-US" dirty="0"/>
              <a:t>再次计算</a:t>
            </a:r>
            <a:r>
              <a:rPr lang="en-US" altLang="zh-CN" dirty="0"/>
              <a:t>: </a:t>
            </a:r>
            <a:r>
              <a:rPr lang="zh-CN" altLang="en-US" dirty="0"/>
              <a:t>互感次级短路，求初级等效电感</a:t>
            </a:r>
            <a:r>
              <a:rPr lang="en-US" altLang="zh-CN" dirty="0"/>
              <a:t>&gt;=0</a:t>
            </a:r>
            <a:r>
              <a:rPr lang="zh-CN" altLang="en-US" dirty="0"/>
              <a:t>，证明</a:t>
            </a:r>
            <a:r>
              <a:rPr lang="en-US" altLang="zh-CN" dirty="0" err="1"/>
              <a:t>Mmax</a:t>
            </a:r>
            <a:r>
              <a:rPr lang="en-US" altLang="zh-CN" dirty="0"/>
              <a:t>=L1*L2</a:t>
            </a:r>
          </a:p>
        </p:txBody>
      </p:sp>
    </p:spTree>
    <p:extLst>
      <p:ext uri="{BB962C8B-B14F-4D97-AF65-F5344CB8AC3E}">
        <p14:creationId xmlns:p14="http://schemas.microsoft.com/office/powerpoint/2010/main" val="914933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1619FC78-D26A-4C03-B15E-0E9946FF519B}" type="slidenum">
              <a:rPr lang="en-US" altLang="zh-CN" smtClean="0"/>
              <a:pPr defTabSz="989013"/>
              <a:t>37</a:t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练习：用反映阻抗法</a:t>
            </a:r>
            <a:r>
              <a:rPr lang="en-US" altLang="zh-CN"/>
              <a:t>,</a:t>
            </a:r>
            <a:r>
              <a:rPr lang="zh-CN" altLang="en-US"/>
              <a:t>再次计算</a:t>
            </a:r>
            <a:r>
              <a:rPr lang="en-US" altLang="zh-CN"/>
              <a:t>: </a:t>
            </a:r>
            <a:r>
              <a:rPr lang="zh-CN" altLang="en-US"/>
              <a:t>互感次级短路，求初级等效电感</a:t>
            </a:r>
            <a:r>
              <a:rPr lang="en-US" altLang="zh-CN"/>
              <a:t>&gt;=0</a:t>
            </a:r>
            <a:r>
              <a:rPr lang="zh-CN" altLang="en-US"/>
              <a:t>，证明</a:t>
            </a:r>
            <a:r>
              <a:rPr lang="en-US" altLang="zh-CN"/>
              <a:t>Mmax=L1*L2</a:t>
            </a:r>
          </a:p>
        </p:txBody>
      </p:sp>
    </p:spTree>
    <p:extLst>
      <p:ext uri="{BB962C8B-B14F-4D97-AF65-F5344CB8AC3E}">
        <p14:creationId xmlns:p14="http://schemas.microsoft.com/office/powerpoint/2010/main" val="57498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FC434D47-9AE6-4D71-AF83-821A81A4C2E2}" type="slidenum">
              <a:rPr lang="en-US" altLang="zh-CN" smtClean="0"/>
              <a:pPr defTabSz="989013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1493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FC434D47-9AE6-4D71-AF83-821A81A4C2E2}" type="slidenum">
              <a:rPr lang="en-US" altLang="zh-CN" smtClean="0"/>
              <a:pPr defTabSz="989013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4455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Asas </a:t>
            </a:r>
          </a:p>
        </p:txBody>
      </p:sp>
    </p:spTree>
    <p:extLst>
      <p:ext uri="{BB962C8B-B14F-4D97-AF65-F5344CB8AC3E}">
        <p14:creationId xmlns:p14="http://schemas.microsoft.com/office/powerpoint/2010/main" val="2864128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/>
              <a:t>P543, 13.6</a:t>
            </a:r>
            <a:endParaRPr lang="zh-CN" altLang="en-US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2E804175-9EE4-4CAC-A2A6-A6527A166F42}" type="slidenum">
              <a:rPr lang="en-US" altLang="zh-CN" smtClean="0"/>
              <a:pPr defTabSz="989013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788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4D7E-51F7-49E3-86DF-2509F741D3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79D22-F226-4975-994F-63C0B90972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B3AB4-5B5C-4947-AC23-96FE802FA9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0176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0176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FEF1-AE73-42EE-BE3F-731E18368D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E75F2-350D-463B-91B9-43D47DE1C6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4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C0804-1F18-494B-B288-AA1D722721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3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92D61-4651-4582-A140-81AE8B40E0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7ECC6-9937-4CF1-A447-041D8C088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6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D4607-BD55-46CB-AC01-E6FC795DA2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E6967-8222-441F-BD08-3ECDA3881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7638" y="115888"/>
            <a:ext cx="1960562" cy="5400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5950" y="115888"/>
            <a:ext cx="5729288" cy="5400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5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FF377-2713-42B6-95FA-EE6FCE3D3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0176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017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5353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8990B-1C42-4612-950B-D3DA914BD7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0176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017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5353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7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A001F-214E-4C7A-AC4A-5EC7D13F82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4017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017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535363"/>
            <a:ext cx="3810000" cy="1981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5353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Rectangle 103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8" name="Rectangle 104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70852-82EF-4407-8275-B472CBBD93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7"/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115888"/>
            <a:ext cx="77724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电路分析基础</a:t>
            </a:r>
          </a:p>
        </p:txBody>
      </p:sp>
      <p:sp>
        <p:nvSpPr>
          <p:cNvPr id="62467" name="Rectangle 10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0176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87" name="Rectangle 103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11188" y="64008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99CCFF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3088" name="Rectangle 104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295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99CC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410E9DA-2FFB-48AE-BD11-A8486FE3D5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89" name="Rectangle 1041"/>
          <p:cNvSpPr>
            <a:spLocks noChangeArrowheads="1"/>
          </p:cNvSpPr>
          <p:nvPr/>
        </p:nvSpPr>
        <p:spPr bwMode="auto">
          <a:xfrm>
            <a:off x="152400" y="765175"/>
            <a:ext cx="8915400" cy="76200"/>
          </a:xfrm>
          <a:prstGeom prst="rect">
            <a:avLst/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rgbClr val="000066"/>
          </a:solidFill>
          <a:latin typeface="Times New Roman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10" Type="http://schemas.openxmlformats.org/officeDocument/2006/relationships/image" Target="../media/image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image" Target="../media/image10.png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oleObject" Target="../embeddings/oleObject7.bin"/><Relationship Id="rId4" Type="http://schemas.openxmlformats.org/officeDocument/2006/relationships/image" Target="../media/image5.wmf"/><Relationship Id="rId9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Relationship Id="rId1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7.wmf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wmf"/><Relationship Id="rId10" Type="http://schemas.openxmlformats.org/officeDocument/2006/relationships/image" Target="../media/image28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3.wmf"/><Relationship Id="rId7" Type="http://schemas.openxmlformats.org/officeDocument/2006/relationships/image" Target="../media/image30.wmf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40.wmf"/><Relationship Id="rId3" Type="http://schemas.openxmlformats.org/officeDocument/2006/relationships/image" Target="../media/image34.jpeg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43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4.bin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emf"/><Relationship Id="rId5" Type="http://schemas.openxmlformats.org/officeDocument/2006/relationships/image" Target="../media/image46.emf"/><Relationship Id="rId4" Type="http://schemas.openxmlformats.org/officeDocument/2006/relationships/image" Target="../media/image4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0.wmf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59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5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6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67.wmf"/><Relationship Id="rId17" Type="http://schemas.openxmlformats.org/officeDocument/2006/relationships/image" Target="../media/image70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9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68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oleObject" Target="../embeddings/oleObject54.bin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7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63.bin"/><Relationship Id="rId3" Type="http://schemas.openxmlformats.org/officeDocument/2006/relationships/image" Target="../media/image34.jpeg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82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6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6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8.wmf"/><Relationship Id="rId3" Type="http://schemas.openxmlformats.org/officeDocument/2006/relationships/image" Target="../media/image34.jpeg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76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70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87.wmf"/><Relationship Id="rId5" Type="http://schemas.openxmlformats.org/officeDocument/2006/relationships/image" Target="../media/image84.wmf"/><Relationship Id="rId15" Type="http://schemas.openxmlformats.org/officeDocument/2006/relationships/image" Target="../media/image80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6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93.wmf"/><Relationship Id="rId3" Type="http://schemas.openxmlformats.org/officeDocument/2006/relationships/oleObject" Target="../embeddings/oleObject71.bin"/><Relationship Id="rId7" Type="http://schemas.openxmlformats.org/officeDocument/2006/relationships/image" Target="../media/image34.jpeg"/><Relationship Id="rId12" Type="http://schemas.openxmlformats.org/officeDocument/2006/relationships/oleObject" Target="../embeddings/oleObject7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0.wmf"/><Relationship Id="rId11" Type="http://schemas.openxmlformats.org/officeDocument/2006/relationships/image" Target="../media/image92.wmf"/><Relationship Id="rId5" Type="http://schemas.openxmlformats.org/officeDocument/2006/relationships/oleObject" Target="../embeddings/oleObject72.bin"/><Relationship Id="rId15" Type="http://schemas.openxmlformats.org/officeDocument/2006/relationships/image" Target="../media/image94.wmf"/><Relationship Id="rId10" Type="http://schemas.openxmlformats.org/officeDocument/2006/relationships/oleObject" Target="../embeddings/oleObject74.bin"/><Relationship Id="rId4" Type="http://schemas.openxmlformats.org/officeDocument/2006/relationships/image" Target="../media/image89.wmf"/><Relationship Id="rId9" Type="http://schemas.openxmlformats.org/officeDocument/2006/relationships/image" Target="../media/image91.wmf"/><Relationship Id="rId14" Type="http://schemas.openxmlformats.org/officeDocument/2006/relationships/oleObject" Target="../embeddings/oleObject7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image" Target="../media/image101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8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3.wmf"/><Relationship Id="rId11" Type="http://schemas.openxmlformats.org/officeDocument/2006/relationships/image" Target="../media/image106.e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8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8.wmf"/><Relationship Id="rId11" Type="http://schemas.openxmlformats.org/officeDocument/2006/relationships/image" Target="../media/image111.e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8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116.wmf"/><Relationship Id="rId18" Type="http://schemas.openxmlformats.org/officeDocument/2006/relationships/image" Target="../media/image120.emf"/><Relationship Id="rId3" Type="http://schemas.openxmlformats.org/officeDocument/2006/relationships/notesSlide" Target="../notesSlides/notesSlide11.xml"/><Relationship Id="rId21" Type="http://schemas.openxmlformats.org/officeDocument/2006/relationships/image" Target="../media/image121.emf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6.bin"/><Relationship Id="rId20" Type="http://schemas.openxmlformats.org/officeDocument/2006/relationships/image" Target="../media/image119.e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93.bin"/><Relationship Id="rId19" Type="http://schemas.openxmlformats.org/officeDocument/2006/relationships/oleObject" Target="../embeddings/oleObject97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9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image" Target="../media/image128.emf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2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0.wmf"/><Relationship Id="rId11" Type="http://schemas.openxmlformats.org/officeDocument/2006/relationships/image" Target="../media/image133.emf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32.emf"/><Relationship Id="rId4" Type="http://schemas.openxmlformats.org/officeDocument/2006/relationships/image" Target="../media/image129.wmf"/><Relationship Id="rId9" Type="http://schemas.openxmlformats.org/officeDocument/2006/relationships/image" Target="../media/image128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3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49.e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45.wmf"/><Relationship Id="rId17" Type="http://schemas.openxmlformats.org/officeDocument/2006/relationships/image" Target="../media/image14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44.wmf"/><Relationship Id="rId19" Type="http://schemas.openxmlformats.org/officeDocument/2006/relationships/image" Target="../media/image150.e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4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55.wmf"/><Relationship Id="rId18" Type="http://schemas.openxmlformats.org/officeDocument/2006/relationships/image" Target="../media/image159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52.w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5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emf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53.wmf"/><Relationship Id="rId14" Type="http://schemas.openxmlformats.org/officeDocument/2006/relationships/oleObject" Target="../embeddings/oleObject12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64.wmf"/><Relationship Id="rId18" Type="http://schemas.openxmlformats.org/officeDocument/2006/relationships/image" Target="../media/image167.e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66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3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63.wmf"/><Relationship Id="rId5" Type="http://schemas.openxmlformats.org/officeDocument/2006/relationships/image" Target="../media/image160.wmf"/><Relationship Id="rId15" Type="http://schemas.openxmlformats.org/officeDocument/2006/relationships/image" Target="../media/image165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3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64.wmf"/><Relationship Id="rId18" Type="http://schemas.openxmlformats.org/officeDocument/2006/relationships/image" Target="../media/image167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1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66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3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63.wmf"/><Relationship Id="rId5" Type="http://schemas.openxmlformats.org/officeDocument/2006/relationships/image" Target="../media/image160.wmf"/><Relationship Id="rId15" Type="http://schemas.openxmlformats.org/officeDocument/2006/relationships/image" Target="../media/image165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62.wmf"/><Relationship Id="rId14" Type="http://schemas.openxmlformats.org/officeDocument/2006/relationships/oleObject" Target="../embeddings/oleObject132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170.emf"/><Relationship Id="rId4" Type="http://schemas.openxmlformats.org/officeDocument/2006/relationships/image" Target="../media/image16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78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75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7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74.wmf"/><Relationship Id="rId19" Type="http://schemas.openxmlformats.org/officeDocument/2006/relationships/image" Target="../media/image179.e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7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48.bin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8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image" Target="../media/image186.emf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85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91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0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78.wmf"/><Relationship Id="rId19" Type="http://schemas.openxmlformats.org/officeDocument/2006/relationships/image" Target="../media/image192.e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7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3" Type="http://schemas.openxmlformats.org/officeDocument/2006/relationships/oleObject" Target="../embeddings/oleObject157.bin"/><Relationship Id="rId7" Type="http://schemas.openxmlformats.org/officeDocument/2006/relationships/image" Target="../media/image19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58.bin"/><Relationship Id="rId5" Type="http://schemas.openxmlformats.org/officeDocument/2006/relationships/image" Target="../media/image196.emf"/><Relationship Id="rId10" Type="http://schemas.openxmlformats.org/officeDocument/2006/relationships/image" Target="../media/image195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159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196.emf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97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201.emf"/><Relationship Id="rId4" Type="http://schemas.openxmlformats.org/officeDocument/2006/relationships/image" Target="../media/image200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emf"/><Relationship Id="rId3" Type="http://schemas.openxmlformats.org/officeDocument/2006/relationships/oleObject" Target="../embeddings/oleObject163.bin"/><Relationship Id="rId7" Type="http://schemas.openxmlformats.org/officeDocument/2006/relationships/image" Target="../media/image206.emf"/><Relationship Id="rId12" Type="http://schemas.openxmlformats.org/officeDocument/2006/relationships/image" Target="../media/image20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204.wmf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16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3" Type="http://schemas.openxmlformats.org/officeDocument/2006/relationships/oleObject" Target="../embeddings/oleObject167.bin"/><Relationship Id="rId7" Type="http://schemas.openxmlformats.org/officeDocument/2006/relationships/image" Target="../media/image212.emf"/><Relationship Id="rId12" Type="http://schemas.openxmlformats.org/officeDocument/2006/relationships/image" Target="../media/image21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210.wmf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16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image" Target="../media/image220.e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9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221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229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226.wmf"/><Relationship Id="rId17" Type="http://schemas.openxmlformats.org/officeDocument/2006/relationships/oleObject" Target="../embeddings/oleObject18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28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23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225.wmf"/><Relationship Id="rId19" Type="http://schemas.openxmlformats.org/officeDocument/2006/relationships/image" Target="../media/image230.e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227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238.emf"/><Relationship Id="rId3" Type="http://schemas.openxmlformats.org/officeDocument/2006/relationships/oleObject" Target="../embeddings/oleObject185.bin"/><Relationship Id="rId21" Type="http://schemas.openxmlformats.org/officeDocument/2006/relationships/image" Target="../media/image241.emf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235.emf"/><Relationship Id="rId17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7.emf"/><Relationship Id="rId20" Type="http://schemas.openxmlformats.org/officeDocument/2006/relationships/image" Target="../media/image240.e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32.emf"/><Relationship Id="rId11" Type="http://schemas.openxmlformats.org/officeDocument/2006/relationships/oleObject" Target="../embeddings/oleObject189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10" Type="http://schemas.openxmlformats.org/officeDocument/2006/relationships/image" Target="../media/image234.emf"/><Relationship Id="rId19" Type="http://schemas.openxmlformats.org/officeDocument/2006/relationships/image" Target="../media/image239.jpeg"/><Relationship Id="rId4" Type="http://schemas.openxmlformats.org/officeDocument/2006/relationships/image" Target="../media/image231.e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236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198.bin"/><Relationship Id="rId18" Type="http://schemas.openxmlformats.org/officeDocument/2006/relationships/image" Target="../media/image249.wmf"/><Relationship Id="rId3" Type="http://schemas.openxmlformats.org/officeDocument/2006/relationships/oleObject" Target="../embeddings/oleObject193.bin"/><Relationship Id="rId21" Type="http://schemas.openxmlformats.org/officeDocument/2006/relationships/image" Target="../media/image251.emf"/><Relationship Id="rId7" Type="http://schemas.openxmlformats.org/officeDocument/2006/relationships/oleObject" Target="../embeddings/oleObject195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8.wmf"/><Relationship Id="rId20" Type="http://schemas.openxmlformats.org/officeDocument/2006/relationships/image" Target="../media/image250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197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199.bin"/><Relationship Id="rId23" Type="http://schemas.openxmlformats.org/officeDocument/2006/relationships/image" Target="../media/image253.emf"/><Relationship Id="rId10" Type="http://schemas.openxmlformats.org/officeDocument/2006/relationships/image" Target="../media/image245.emf"/><Relationship Id="rId19" Type="http://schemas.openxmlformats.org/officeDocument/2006/relationships/oleObject" Target="../embeddings/oleObject201.bin"/><Relationship Id="rId4" Type="http://schemas.openxmlformats.org/officeDocument/2006/relationships/image" Target="../media/image242.e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247.emf"/><Relationship Id="rId22" Type="http://schemas.openxmlformats.org/officeDocument/2006/relationships/image" Target="../media/image252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emf"/><Relationship Id="rId13" Type="http://schemas.openxmlformats.org/officeDocument/2006/relationships/image" Target="../media/image258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oleObject" Target="../embeddings/oleObject2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55.wmf"/><Relationship Id="rId11" Type="http://schemas.openxmlformats.org/officeDocument/2006/relationships/image" Target="../media/image259.emf"/><Relationship Id="rId5" Type="http://schemas.openxmlformats.org/officeDocument/2006/relationships/oleObject" Target="../embeddings/oleObject203.bin"/><Relationship Id="rId15" Type="http://schemas.openxmlformats.org/officeDocument/2006/relationships/image" Target="../media/image251.emf"/><Relationship Id="rId10" Type="http://schemas.openxmlformats.org/officeDocument/2006/relationships/image" Target="../media/image257.wmf"/><Relationship Id="rId4" Type="http://schemas.openxmlformats.org/officeDocument/2006/relationships/image" Target="../media/image254.e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60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13" Type="http://schemas.openxmlformats.org/officeDocument/2006/relationships/oleObject" Target="../embeddings/oleObject212.bin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65.wmf"/><Relationship Id="rId17" Type="http://schemas.openxmlformats.org/officeDocument/2006/relationships/image" Target="../media/image269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8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image" Target="../media/image267.emf"/><Relationship Id="rId10" Type="http://schemas.openxmlformats.org/officeDocument/2006/relationships/image" Target="../media/image264.wmf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66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270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wmf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BF12A8-8AE5-4431-940A-310A0ACDE42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773238"/>
            <a:ext cx="7989887" cy="3311525"/>
          </a:xfrm>
          <a:gradFill rotWithShape="1">
            <a:gsLst>
              <a:gs pos="0">
                <a:srgbClr val="99CCFF">
                  <a:alpha val="14000"/>
                </a:srgbClr>
              </a:gs>
              <a:gs pos="100000">
                <a:schemeClr val="accent2">
                  <a:alpha val="70000"/>
                </a:schemeClr>
              </a:gs>
            </a:gsLst>
            <a:lin ang="0" scaled="1"/>
          </a:gradFill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4400" dirty="0">
                <a:latin typeface="Arial" charset="0"/>
              </a:rPr>
              <a:t/>
            </a:r>
            <a:br>
              <a:rPr lang="en-US" altLang="zh-CN" sz="4400" dirty="0">
                <a:latin typeface="Arial" charset="0"/>
              </a:rPr>
            </a:br>
            <a:r>
              <a:rPr lang="en-US" altLang="zh-CN" sz="4400" dirty="0"/>
              <a:t>Magnetically</a:t>
            </a:r>
            <a:r>
              <a:rPr lang="en-US" altLang="zh-CN" sz="4400" dirty="0">
                <a:latin typeface="Arial" charset="0"/>
              </a:rPr>
              <a:t> </a:t>
            </a:r>
            <a:r>
              <a:rPr lang="en-US" altLang="zh-CN" sz="4400" dirty="0"/>
              <a:t>Coupled Circuits</a:t>
            </a:r>
            <a:br>
              <a:rPr lang="en-US" altLang="zh-CN" sz="4400" dirty="0"/>
            </a:br>
            <a:endParaRPr lang="en-US" altLang="zh-CN" sz="440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8515349" cy="994172"/>
          </a:xfrm>
        </p:spPr>
        <p:txBody>
          <a:bodyPr/>
          <a:lstStyle/>
          <a:p>
            <a:pPr algn="just"/>
            <a:r>
              <a:rPr lang="en-US" sz="3200" dirty="0"/>
              <a:t>Disciplines </a:t>
            </a:r>
            <a:r>
              <a:rPr lang="en-US" altLang="zh-CN" sz="3200" dirty="0"/>
              <a:t>applying </a:t>
            </a:r>
            <a:r>
              <a:rPr lang="en-US" sz="3200" dirty="0"/>
              <a:t>EM           </a:t>
            </a:r>
            <a:r>
              <a:rPr lang="en-US" sz="3200" dirty="0" err="1"/>
              <a:t>EM</a:t>
            </a:r>
            <a:r>
              <a:rPr lang="en-US" sz="3200" dirty="0"/>
              <a:t> devices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4325" y="1772816"/>
            <a:ext cx="4500563" cy="3263504"/>
          </a:xfrm>
        </p:spPr>
        <p:txBody>
          <a:bodyPr>
            <a:noAutofit/>
          </a:bodyPr>
          <a:lstStyle/>
          <a:p>
            <a:r>
              <a:rPr lang="en-US" sz="2400" dirty="0"/>
              <a:t>electric machines, </a:t>
            </a:r>
          </a:p>
          <a:p>
            <a:r>
              <a:rPr lang="en-US" sz="2400" dirty="0"/>
              <a:t>electromechanical energy conversion,</a:t>
            </a:r>
          </a:p>
          <a:p>
            <a:r>
              <a:rPr lang="en-US" sz="2400" dirty="0"/>
              <a:t>radar meteorology, </a:t>
            </a:r>
          </a:p>
          <a:p>
            <a:r>
              <a:rPr lang="en-US" sz="2400" dirty="0"/>
              <a:t>remote sensing,</a:t>
            </a:r>
          </a:p>
          <a:p>
            <a:r>
              <a:rPr lang="en-US" sz="2400" dirty="0"/>
              <a:t>satellite communications, </a:t>
            </a:r>
          </a:p>
          <a:p>
            <a:r>
              <a:rPr lang="en-US" sz="2400" dirty="0" err="1"/>
              <a:t>bioelectromagnetics</a:t>
            </a:r>
            <a:r>
              <a:rPr lang="en-US" sz="2400" dirty="0"/>
              <a:t>,</a:t>
            </a:r>
          </a:p>
          <a:p>
            <a:r>
              <a:rPr lang="en-US" sz="2400" dirty="0"/>
              <a:t>electromagnetic interference and compatibility,</a:t>
            </a:r>
          </a:p>
          <a:p>
            <a:r>
              <a:rPr lang="en-US" sz="2400" dirty="0"/>
              <a:t>plasmas,</a:t>
            </a:r>
          </a:p>
          <a:p>
            <a:r>
              <a:rPr lang="en-US" sz="2400" dirty="0"/>
              <a:t>ﬁber optics </a:t>
            </a:r>
          </a:p>
        </p:txBody>
      </p:sp>
      <p:sp>
        <p:nvSpPr>
          <p:cNvPr id="4" name="矩形 3"/>
          <p:cNvSpPr/>
          <p:nvPr/>
        </p:nvSpPr>
        <p:spPr>
          <a:xfrm>
            <a:off x="4814887" y="1772817"/>
            <a:ext cx="412908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electric motors and generators,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transformers,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autotransformers,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electromagnets,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magnetic levitation,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antennas,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radars,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microwave ovens,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microwave dishes,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Superconductors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electrocardiograms.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8954" y="56882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j-lt"/>
              </a:rPr>
              <a:t>Words      learning</a:t>
            </a:r>
          </a:p>
        </p:txBody>
      </p:sp>
    </p:spTree>
    <p:extLst>
      <p:ext uri="{BB962C8B-B14F-4D97-AF65-F5344CB8AC3E}">
        <p14:creationId xmlns:p14="http://schemas.microsoft.com/office/powerpoint/2010/main" val="423251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8E48E-324F-4784-8C0B-0FD8A07E6384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497887" cy="576262"/>
          </a:xfrm>
        </p:spPr>
        <p:txBody>
          <a:bodyPr/>
          <a:lstStyle/>
          <a:p>
            <a:r>
              <a:rPr lang="en-US" altLang="zh-CN" dirty="0">
                <a:solidFill>
                  <a:srgbClr val="000099"/>
                </a:solidFill>
              </a:rPr>
              <a:t>Outline 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5480" y="1412776"/>
            <a:ext cx="8366125" cy="4010769"/>
          </a:xfrm>
        </p:spPr>
        <p:txBody>
          <a:bodyPr/>
          <a:lstStyle/>
          <a:p>
            <a:pPr>
              <a:lnSpc>
                <a:spcPct val="200000"/>
              </a:lnSpc>
              <a:buClr>
                <a:srgbClr val="0000FF"/>
              </a:buClr>
              <a:buFont typeface="Wingdings" pitchFamily="2" charset="2"/>
              <a:buChar char="p"/>
              <a:defRPr/>
            </a:pPr>
            <a:r>
              <a:rPr lang="en-US" altLang="zh-CN" b="1" dirty="0">
                <a:latin typeface="+mj-lt"/>
              </a:rPr>
              <a:t> Mutual Inductance </a:t>
            </a:r>
          </a:p>
          <a:p>
            <a:pPr>
              <a:lnSpc>
                <a:spcPct val="200000"/>
              </a:lnSpc>
              <a:buClr>
                <a:srgbClr val="0000FF"/>
              </a:buClr>
              <a:buFont typeface="Wingdings" pitchFamily="2" charset="2"/>
              <a:buChar char="p"/>
              <a:defRPr/>
            </a:pPr>
            <a:r>
              <a:rPr lang="en-US" b="1" dirty="0">
                <a:latin typeface="+mj-lt"/>
              </a:rPr>
              <a:t>Analysis of Circuits with Mutual Inductance</a:t>
            </a:r>
            <a:endParaRPr lang="en-US" altLang="zh-CN" b="1" dirty="0">
              <a:latin typeface="+mj-lt"/>
            </a:endParaRPr>
          </a:p>
          <a:p>
            <a:pPr>
              <a:lnSpc>
                <a:spcPct val="200000"/>
              </a:lnSpc>
              <a:buClr>
                <a:srgbClr val="0000FF"/>
              </a:buClr>
              <a:buFont typeface="Wingdings" pitchFamily="2" charset="2"/>
              <a:buChar char="p"/>
              <a:defRPr/>
            </a:pPr>
            <a:r>
              <a:rPr lang="en-US" altLang="zh-CN" b="1" dirty="0">
                <a:latin typeface="+mj-lt"/>
              </a:rPr>
              <a:t> The Transformer</a:t>
            </a:r>
          </a:p>
          <a:p>
            <a:pPr>
              <a:lnSpc>
                <a:spcPct val="200000"/>
              </a:lnSpc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altLang="zh-CN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BF12A8-8AE5-4431-940A-310A0ACDE428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2492896"/>
            <a:ext cx="7989887" cy="2231827"/>
          </a:xfrm>
          <a:gradFill rotWithShape="1">
            <a:gsLst>
              <a:gs pos="0">
                <a:srgbClr val="99CCFF">
                  <a:alpha val="14000"/>
                </a:srgbClr>
              </a:gs>
              <a:gs pos="100000">
                <a:schemeClr val="accent2">
                  <a:alpha val="70000"/>
                </a:schemeClr>
              </a:gs>
            </a:gsLst>
            <a:lin ang="0" scaled="1"/>
          </a:gradFill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4400" dirty="0">
                <a:latin typeface="Arial" charset="0"/>
              </a:rPr>
              <a:t/>
            </a:r>
            <a:br>
              <a:rPr lang="en-US" altLang="zh-CN" sz="4400" dirty="0">
                <a:latin typeface="Arial" charset="0"/>
              </a:rPr>
            </a:br>
            <a:r>
              <a:rPr lang="en-US" altLang="zh-CN" sz="4400" dirty="0">
                <a:latin typeface="Arial" charset="0"/>
              </a:rPr>
              <a:t>           </a:t>
            </a:r>
            <a:r>
              <a:rPr lang="en-US" altLang="zh-CN" sz="4400" dirty="0"/>
              <a:t>Mutual</a:t>
            </a:r>
            <a:r>
              <a:rPr lang="en-US" altLang="zh-CN" sz="4400" dirty="0">
                <a:latin typeface="Arial" charset="0"/>
              </a:rPr>
              <a:t> </a:t>
            </a:r>
            <a:r>
              <a:rPr lang="en-US" altLang="zh-CN" sz="4400" dirty="0">
                <a:latin typeface="+mn-lt"/>
              </a:rPr>
              <a:t>In</a:t>
            </a:r>
            <a:r>
              <a:rPr lang="en-US" altLang="zh-CN" sz="4400" dirty="0"/>
              <a:t>ductance</a:t>
            </a:r>
            <a:br>
              <a:rPr lang="en-US" altLang="zh-CN" sz="4400" dirty="0"/>
            </a:br>
            <a:endParaRPr lang="en-US" altLang="zh-CN" sz="4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5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77C0E1-3199-4573-BC45-5B828C18BF82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n-lt"/>
              </a:rPr>
              <a:t>Recap of </a:t>
            </a:r>
            <a:r>
              <a:rPr lang="en-US" altLang="zh-CN" sz="3200" dirty="0"/>
              <a:t>Self Inductance </a:t>
            </a:r>
          </a:p>
        </p:txBody>
      </p:sp>
      <p:graphicFrame>
        <p:nvGraphicFramePr>
          <p:cNvPr id="102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372788"/>
              </p:ext>
            </p:extLst>
          </p:nvPr>
        </p:nvGraphicFramePr>
        <p:xfrm>
          <a:off x="2684909" y="3307371"/>
          <a:ext cx="2712715" cy="918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" name="Equation" r:id="rId4" imgW="1498320" imgH="507960" progId="Equation.DSMT4">
                  <p:embed/>
                </p:oleObj>
              </mc:Choice>
              <mc:Fallback>
                <p:oleObj name="Equation" r:id="rId4" imgW="1498320" imgH="50796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909" y="3307371"/>
                        <a:ext cx="2712715" cy="9187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 Box 46"/>
          <p:cNvSpPr txBox="1">
            <a:spLocks noChangeArrowheads="1"/>
          </p:cNvSpPr>
          <p:nvPr/>
        </p:nvSpPr>
        <p:spPr bwMode="auto">
          <a:xfrm>
            <a:off x="134608" y="4371195"/>
            <a:ext cx="8735084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</a:rPr>
              <a:t>2. The flux produced by a current is proportional to the current. </a:t>
            </a:r>
          </a:p>
        </p:txBody>
      </p:sp>
      <p:sp>
        <p:nvSpPr>
          <p:cNvPr id="1034" name="Text Box 47"/>
          <p:cNvSpPr txBox="1">
            <a:spLocks noChangeArrowheads="1"/>
          </p:cNvSpPr>
          <p:nvPr/>
        </p:nvSpPr>
        <p:spPr bwMode="auto">
          <a:xfrm>
            <a:off x="323528" y="1092628"/>
            <a:ext cx="4625539" cy="193899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latin typeface="+mn-lt"/>
              </a:rPr>
              <a:t>1. According to Faraday’s law, the voltage </a:t>
            </a:r>
            <a:r>
              <a:rPr lang="en-US" altLang="zh-CN" b="1" i="1" dirty="0">
                <a:latin typeface="+mn-lt"/>
              </a:rPr>
              <a:t>v</a:t>
            </a:r>
            <a:r>
              <a:rPr lang="en-US" altLang="zh-CN" b="1" dirty="0">
                <a:latin typeface="+mn-lt"/>
              </a:rPr>
              <a:t> induced in the coil is proportional to the number of turns </a:t>
            </a:r>
            <a:r>
              <a:rPr lang="en-US" altLang="zh-CN" b="1" i="1" dirty="0">
                <a:latin typeface="+mn-lt"/>
              </a:rPr>
              <a:t>N</a:t>
            </a:r>
            <a:r>
              <a:rPr lang="en-US" altLang="zh-CN" b="1" dirty="0">
                <a:latin typeface="+mn-lt"/>
              </a:rPr>
              <a:t> and the time rate of change of the magnetic ﬂux </a:t>
            </a:r>
            <a:r>
              <a:rPr lang="en-US" altLang="zh-CN" b="1" i="1" dirty="0">
                <a:latin typeface="+mn-lt"/>
                <a:sym typeface="Symbol" panose="05050102010706020507" pitchFamily="18" charset="2"/>
              </a:rPr>
              <a:t></a:t>
            </a:r>
            <a:r>
              <a:rPr lang="en-US" altLang="zh-CN" b="1" dirty="0">
                <a:latin typeface="+mn-lt"/>
              </a:rPr>
              <a:t>. </a:t>
            </a:r>
          </a:p>
        </p:txBody>
      </p:sp>
      <p:graphicFrame>
        <p:nvGraphicFramePr>
          <p:cNvPr id="1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655635"/>
              </p:ext>
            </p:extLst>
          </p:nvPr>
        </p:nvGraphicFramePr>
        <p:xfrm>
          <a:off x="2998204" y="5019993"/>
          <a:ext cx="2365884" cy="69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" name="Equation" r:id="rId6" imgW="1257120" imgH="368280" progId="Equation.DSMT4">
                  <p:embed/>
                </p:oleObj>
              </mc:Choice>
              <mc:Fallback>
                <p:oleObj name="Equation" r:id="rId6" imgW="1257120" imgH="368280" progId="Equation.DSMT4">
                  <p:embed/>
                  <p:pic>
                    <p:nvPicPr>
                      <p:cNvPr id="102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204" y="5019993"/>
                        <a:ext cx="2365884" cy="6934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94037" y="5773908"/>
            <a:ext cx="6974217" cy="960437"/>
            <a:chOff x="63174" y="5573713"/>
            <a:chExt cx="6974217" cy="960437"/>
          </a:xfrm>
        </p:grpSpPr>
        <p:graphicFrame>
          <p:nvGraphicFramePr>
            <p:cNvPr id="1026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1297985"/>
                </p:ext>
              </p:extLst>
            </p:nvPr>
          </p:nvGraphicFramePr>
          <p:xfrm>
            <a:off x="4017963" y="5573713"/>
            <a:ext cx="2495550" cy="960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" name="Equation" r:id="rId8" imgW="1320480" imgH="507960" progId="Equation.DSMT4">
                    <p:embed/>
                  </p:oleObj>
                </mc:Choice>
                <mc:Fallback>
                  <p:oleObj name="Equation" r:id="rId8" imgW="1320480" imgH="50796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7963" y="5573713"/>
                          <a:ext cx="2495550" cy="9604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46"/>
            <p:cNvSpPr txBox="1">
              <a:spLocks noChangeArrowheads="1"/>
            </p:cNvSpPr>
            <p:nvPr/>
          </p:nvSpPr>
          <p:spPr bwMode="auto">
            <a:xfrm>
              <a:off x="63174" y="5823098"/>
              <a:ext cx="6974217" cy="461665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+mn-lt"/>
                </a:rPr>
                <a:t>(For long straight helix tube,       </a:t>
              </a:r>
              <a:r>
                <a:rPr lang="en-US" altLang="zh-CN" b="1" dirty="0" smtClean="0">
                  <a:latin typeface="+mn-lt"/>
                </a:rPr>
                <a:t>                              </a:t>
              </a:r>
              <a:r>
                <a:rPr lang="en-US" altLang="zh-CN" b="1" dirty="0">
                  <a:latin typeface="+mn-lt"/>
                </a:rPr>
                <a:t>) 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1411" y="1325178"/>
            <a:ext cx="3337600" cy="17064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/>
      <p:bldP spid="10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6AFEF1-AE73-42EE-BE3F-731E18368D8C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864320"/>
              </p:ext>
            </p:extLst>
          </p:nvPr>
        </p:nvGraphicFramePr>
        <p:xfrm>
          <a:off x="2051720" y="1412776"/>
          <a:ext cx="4344987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3" name="Equation" r:id="rId3" imgW="2400120" imgH="507960" progId="Equation.DSMT4">
                  <p:embed/>
                </p:oleObj>
              </mc:Choice>
              <mc:Fallback>
                <p:oleObj name="Equation" r:id="rId3" imgW="2400120" imgH="507960" progId="Equation.DSMT4">
                  <p:embed/>
                  <p:pic>
                    <p:nvPicPr>
                      <p:cNvPr id="102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412776"/>
                        <a:ext cx="4344987" cy="9191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542452"/>
              </p:ext>
            </p:extLst>
          </p:nvPr>
        </p:nvGraphicFramePr>
        <p:xfrm>
          <a:off x="3347864" y="2492896"/>
          <a:ext cx="147161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4" name="Equation" r:id="rId5" imgW="812520" imgH="507960" progId="Equation.DSMT4">
                  <p:embed/>
                </p:oleObj>
              </mc:Choice>
              <mc:Fallback>
                <p:oleObj name="Equation" r:id="rId5" imgW="812520" imgH="507960" progId="Equation.DSMT4">
                  <p:embed/>
                  <p:pic>
                    <p:nvPicPr>
                      <p:cNvPr id="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492896"/>
                        <a:ext cx="1471612" cy="9191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587604" y="925999"/>
            <a:ext cx="2512226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</a:rPr>
              <a:t>3. Self Inductance</a:t>
            </a:r>
          </a:p>
        </p:txBody>
      </p:sp>
      <p:sp>
        <p:nvSpPr>
          <p:cNvPr id="12" name="Text Box 40"/>
          <p:cNvSpPr txBox="1">
            <a:spLocks noChangeArrowheads="1"/>
          </p:cNvSpPr>
          <p:nvPr/>
        </p:nvSpPr>
        <p:spPr bwMode="auto">
          <a:xfrm>
            <a:off x="640502" y="3573016"/>
            <a:ext cx="7099850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</a:rPr>
              <a:t>4. Self Inductance depends on the permeability </a:t>
            </a:r>
            <a:r>
              <a:rPr lang="en-US" altLang="zh-CN" b="1" dirty="0">
                <a:latin typeface="+mn-lt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latin typeface="+mn-lt"/>
              </a:rPr>
              <a:t>, the turns </a:t>
            </a:r>
            <a:r>
              <a:rPr lang="en-US" altLang="zh-CN" i="1" dirty="0">
                <a:latin typeface="+mn-lt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+mn-lt"/>
              </a:rPr>
              <a:t> and the size ( </a:t>
            </a:r>
            <a:r>
              <a:rPr lang="en-US" altLang="zh-CN" i="1" dirty="0">
                <a:latin typeface="+mn-lt"/>
              </a:rPr>
              <a:t>l</a:t>
            </a:r>
            <a:r>
              <a:rPr lang="en-US" altLang="zh-CN" b="1" dirty="0">
                <a:latin typeface="+mn-lt"/>
              </a:rPr>
              <a:t>, </a:t>
            </a:r>
            <a:r>
              <a:rPr lang="en-US" altLang="zh-CN" i="1" dirty="0">
                <a:latin typeface="+mn-lt"/>
              </a:rPr>
              <a:t>S</a:t>
            </a:r>
            <a:r>
              <a:rPr lang="en-US" altLang="zh-CN" b="1" dirty="0">
                <a:latin typeface="+mn-lt"/>
              </a:rPr>
              <a:t> ) of the coil. </a:t>
            </a:r>
          </a:p>
        </p:txBody>
      </p:sp>
      <p:pic>
        <p:nvPicPr>
          <p:cNvPr id="13" name="Picture 17" descr="图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531795"/>
            <a:ext cx="2676354" cy="194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868084"/>
              </p:ext>
            </p:extLst>
          </p:nvPr>
        </p:nvGraphicFramePr>
        <p:xfrm>
          <a:off x="5421313" y="2693988"/>
          <a:ext cx="13573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5" name="Equation" r:id="rId8" imgW="749160" imgH="253800" progId="Equation.DSMT4">
                  <p:embed/>
                </p:oleObj>
              </mc:Choice>
              <mc:Fallback>
                <p:oleObj name="Equation" r:id="rId8" imgW="749160" imgH="253800" progId="Equation.DSMT4">
                  <p:embed/>
                  <p:pic>
                    <p:nvPicPr>
                      <p:cNvPr id="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2693988"/>
                        <a:ext cx="1357312" cy="460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en-US" altLang="zh-CN" sz="3200" dirty="0">
                <a:latin typeface="+mn-lt"/>
              </a:rPr>
              <a:t>Recap of </a:t>
            </a:r>
            <a:r>
              <a:rPr lang="en-US" altLang="zh-CN" sz="3200" dirty="0"/>
              <a:t>Self Inductance </a:t>
            </a: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012824"/>
              </p:ext>
            </p:extLst>
          </p:nvPr>
        </p:nvGraphicFramePr>
        <p:xfrm>
          <a:off x="4568825" y="4654550"/>
          <a:ext cx="36544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6" name="Equation" r:id="rId10" imgW="1371600" imgH="203040" progId="Equation.DSMT4">
                  <p:embed/>
                </p:oleObj>
              </mc:Choice>
              <mc:Fallback>
                <p:oleObj name="Equation" r:id="rId10" imgW="1371600" imgH="203040" progId="Equation.DSMT4">
                  <p:embed/>
                  <p:pic>
                    <p:nvPicPr>
                      <p:cNvPr id="112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4654550"/>
                        <a:ext cx="36544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301900"/>
              </p:ext>
            </p:extLst>
          </p:nvPr>
        </p:nvGraphicFramePr>
        <p:xfrm>
          <a:off x="4657507" y="5548168"/>
          <a:ext cx="33543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67" name="Equation" r:id="rId12" imgW="1447560" imgH="393480" progId="Equation.DSMT4">
                  <p:embed/>
                </p:oleObj>
              </mc:Choice>
              <mc:Fallback>
                <p:oleObj name="Equation" r:id="rId12" imgW="1447560" imgH="393480" progId="Equation.DSMT4">
                  <p:embed/>
                  <p:pic>
                    <p:nvPicPr>
                      <p:cNvPr id="112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7507" y="5548168"/>
                        <a:ext cx="33543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578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Mutual Inductance </a:t>
            </a:r>
          </a:p>
        </p:txBody>
      </p:sp>
      <p:sp>
        <p:nvSpPr>
          <p:cNvPr id="2056" name="Text Box 310"/>
          <p:cNvSpPr txBox="1">
            <a:spLocks noChangeArrowheads="1"/>
          </p:cNvSpPr>
          <p:nvPr/>
        </p:nvSpPr>
        <p:spPr bwMode="auto">
          <a:xfrm>
            <a:off x="225425" y="884238"/>
            <a:ext cx="8162925" cy="830997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 L</a:t>
            </a:r>
            <a:r>
              <a:rPr kumimoji="0" lang="en-US" altLang="zh-CN" b="1" baseline="-25000" dirty="0">
                <a:latin typeface="Arial" charset="0"/>
                <a:ea typeface="宋体" pitchFamily="2" charset="-122"/>
              </a:rPr>
              <a:t>1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and L</a:t>
            </a:r>
            <a:r>
              <a:rPr kumimoji="0" lang="en-US" altLang="zh-CN" b="1" baseline="-25000" dirty="0">
                <a:latin typeface="Arial" charset="0"/>
                <a:ea typeface="宋体" pitchFamily="2" charset="-122"/>
              </a:rPr>
              <a:t>2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are in close proximity with each other and one of </a:t>
            </a:r>
            <a:r>
              <a:rPr kumimoji="0" lang="en-US" altLang="zh-CN" b="1" dirty="0" smtClean="0">
                <a:latin typeface="Arial" charset="0"/>
                <a:ea typeface="宋体" pitchFamily="2" charset="-122"/>
              </a:rPr>
              <a:t>them 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is open circuited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sp>
        <p:nvSpPr>
          <p:cNvPr id="15" name="Text Box 351"/>
          <p:cNvSpPr txBox="1">
            <a:spLocks noChangeArrowheads="1"/>
          </p:cNvSpPr>
          <p:nvPr/>
        </p:nvSpPr>
        <p:spPr bwMode="auto">
          <a:xfrm>
            <a:off x="423864" y="1712238"/>
            <a:ext cx="477837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0" hangingPunct="0">
              <a:spcBef>
                <a:spcPct val="50000"/>
              </a:spcBef>
              <a:buFontTx/>
              <a:buAutoNum type="alphaLcParenBoth"/>
            </a:pPr>
            <a:r>
              <a:rPr kumimoji="0" lang="en-US" altLang="zh-CN" b="1" dirty="0">
                <a:latin typeface="+mn-lt"/>
              </a:rPr>
              <a:t>A current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at </a:t>
            </a:r>
            <a:r>
              <a:rPr kumimoji="0" lang="en-US" altLang="zh-CN" b="1" i="1" dirty="0">
                <a:latin typeface="+mn-lt"/>
              </a:rPr>
              <a:t>L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produces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B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1</a:t>
            </a:r>
            <a:r>
              <a:rPr kumimoji="0" lang="en-US" altLang="zh-CN" b="1" dirty="0">
                <a:latin typeface="+mn-lt"/>
              </a:rPr>
              <a:t>, 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+mn-lt"/>
              </a:rPr>
              <a:t>     </a:t>
            </a:r>
            <a:r>
              <a:rPr kumimoji="0" lang="en-US" altLang="zh-CN" b="1" i="1" dirty="0">
                <a:latin typeface="+mn-lt"/>
              </a:rPr>
              <a:t>B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links only </a:t>
            </a:r>
            <a:r>
              <a:rPr kumimoji="0" lang="en-US" altLang="zh-CN" b="1" i="1" dirty="0">
                <a:latin typeface="+mn-lt"/>
              </a:rPr>
              <a:t>L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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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11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,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     </a:t>
            </a:r>
            <a:r>
              <a:rPr kumimoji="0" lang="en-US" altLang="zh-CN" b="1" i="1" dirty="0">
                <a:latin typeface="+mn-lt"/>
              </a:rPr>
              <a:t>B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links both </a:t>
            </a:r>
            <a:r>
              <a:rPr kumimoji="0" lang="en-US" altLang="zh-CN" b="1" i="1" dirty="0">
                <a:latin typeface="+mn-lt"/>
              </a:rPr>
              <a:t>L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and </a:t>
            </a:r>
            <a:r>
              <a:rPr kumimoji="0" lang="en-US" altLang="zh-CN" b="1" i="1" dirty="0">
                <a:latin typeface="+mn-lt"/>
              </a:rPr>
              <a:t>L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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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12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   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The flux in coil 1</a:t>
            </a:r>
            <a:endParaRPr kumimoji="0" lang="en-US" altLang="zh-CN" b="1" dirty="0">
              <a:latin typeface="+mn-lt"/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549148"/>
              </p:ext>
            </p:extLst>
          </p:nvPr>
        </p:nvGraphicFramePr>
        <p:xfrm>
          <a:off x="3300413" y="3294063"/>
          <a:ext cx="20129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" name="Equation" r:id="rId4" imgW="990360" imgH="279360" progId="Equation.DSMT4">
                  <p:embed/>
                </p:oleObj>
              </mc:Choice>
              <mc:Fallback>
                <p:oleObj name="Equation" r:id="rId4" imgW="990360" imgH="27936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3294063"/>
                        <a:ext cx="20129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608910"/>
              </p:ext>
            </p:extLst>
          </p:nvPr>
        </p:nvGraphicFramePr>
        <p:xfrm>
          <a:off x="568427" y="4000777"/>
          <a:ext cx="21590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" name="Equation" r:id="rId6" imgW="1130040" imgH="507960" progId="Equation.DSMT4">
                  <p:embed/>
                </p:oleObj>
              </mc:Choice>
              <mc:Fallback>
                <p:oleObj name="Equation" r:id="rId6" imgW="1130040" imgH="507960" progId="Equation.DSMT4">
                  <p:embed/>
                  <p:pic>
                    <p:nvPicPr>
                      <p:cNvPr id="2051" name="Object 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427" y="4000777"/>
                        <a:ext cx="2159000" cy="9683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207597"/>
              </p:ext>
            </p:extLst>
          </p:nvPr>
        </p:nvGraphicFramePr>
        <p:xfrm>
          <a:off x="900832" y="5235393"/>
          <a:ext cx="2243490" cy="913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" name="Equation" r:id="rId8" imgW="1244520" imgH="507960" progId="Equation.DSMT4">
                  <p:embed/>
                </p:oleObj>
              </mc:Choice>
              <mc:Fallback>
                <p:oleObj name="Equation" r:id="rId8" imgW="1244520" imgH="507960" progId="Equation.DSMT4">
                  <p:embed/>
                  <p:pic>
                    <p:nvPicPr>
                      <p:cNvPr id="17" name="Object 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832" y="5235393"/>
                        <a:ext cx="2243490" cy="91357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064687"/>
              </p:ext>
            </p:extLst>
          </p:nvPr>
        </p:nvGraphicFramePr>
        <p:xfrm>
          <a:off x="2732081" y="4010473"/>
          <a:ext cx="29654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" name="Equation" r:id="rId10" imgW="1638000" imgH="558720" progId="Equation.DSMT4">
                  <p:embed/>
                </p:oleObj>
              </mc:Choice>
              <mc:Fallback>
                <p:oleObj name="Equation" r:id="rId10" imgW="1638000" imgH="558720" progId="Equation.DSMT4">
                  <p:embed/>
                  <p:pic>
                    <p:nvPicPr>
                      <p:cNvPr id="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1" y="4010473"/>
                        <a:ext cx="2965450" cy="1011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947719"/>
              </p:ext>
            </p:extLst>
          </p:nvPr>
        </p:nvGraphicFramePr>
        <p:xfrm>
          <a:off x="3081338" y="5235575"/>
          <a:ext cx="3402012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" name="Equation" r:id="rId12" imgW="1879560" imgH="558720" progId="Equation.DSMT4">
                  <p:embed/>
                </p:oleObj>
              </mc:Choice>
              <mc:Fallback>
                <p:oleObj name="Equation" r:id="rId12" imgW="1879560" imgH="558720" progId="Equation.DSMT4">
                  <p:embed/>
                  <p:pic>
                    <p:nvPicPr>
                      <p:cNvPr id="2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5235575"/>
                        <a:ext cx="3402012" cy="1011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883894" y="4186435"/>
            <a:ext cx="32060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¾"/>
            </a:pPr>
            <a:r>
              <a:rPr lang="en-US" sz="2800" b="1" dirty="0">
                <a:solidFill>
                  <a:srgbClr val="002060"/>
                </a:solidFill>
                <a:latin typeface="+mn-lt"/>
              </a:rPr>
              <a:t>self inductance</a:t>
            </a:r>
          </a:p>
          <a:p>
            <a:r>
              <a:rPr lang="en-US" sz="2800" b="1" dirty="0">
                <a:solidFill>
                  <a:srgbClr val="002060"/>
                </a:solidFill>
                <a:latin typeface="+mn-lt"/>
              </a:rPr>
              <a:t>     in coil 1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25425" y="6226007"/>
            <a:ext cx="8628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rgbClr val="002060"/>
                </a:solidFill>
                <a:latin typeface="+mn-lt"/>
              </a:rPr>
              <a:t>M</a:t>
            </a:r>
            <a:r>
              <a:rPr lang="en-US" sz="2800" b="1" baseline="-25000" dirty="0" smtClean="0">
                <a:solidFill>
                  <a:srgbClr val="002060"/>
                </a:solidFill>
                <a:latin typeface="+mn-lt"/>
              </a:rPr>
              <a:t>21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  <a:sym typeface="Symbol" panose="05050102010706020507" pitchFamily="18" charset="2"/>
              </a:rPr>
              <a:t>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mutual 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inductance </a:t>
            </a:r>
            <a:r>
              <a:rPr lang="en-US" altLang="zh-CN" sz="2800" b="1" dirty="0" smtClean="0">
                <a:solidFill>
                  <a:srgbClr val="002060"/>
                </a:solidFill>
                <a:latin typeface="+mn-lt"/>
              </a:rPr>
              <a:t>of 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coil 2 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with respect to coil 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1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81451" y="3471391"/>
            <a:ext cx="3085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+mn-lt"/>
              </a:rPr>
              <a:t>L</a:t>
            </a:r>
            <a:r>
              <a:rPr lang="en-US" baseline="-25000" dirty="0">
                <a:solidFill>
                  <a:srgbClr val="C00000"/>
                </a:solidFill>
                <a:latin typeface="+mn-lt"/>
              </a:rPr>
              <a:t>2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 is open circuited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6009" y="1743182"/>
            <a:ext cx="3230447" cy="1764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092950" y="6428184"/>
            <a:ext cx="1905000" cy="457200"/>
          </a:xfrm>
        </p:spPr>
        <p:txBody>
          <a:bodyPr/>
          <a:lstStyle/>
          <a:p>
            <a:pPr>
              <a:defRPr/>
            </a:pPr>
            <a:fld id="{38D438F9-D248-449C-AB5F-88FC47F827DE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Mutual Inductance </a:t>
            </a: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07197"/>
              </p:ext>
            </p:extLst>
          </p:nvPr>
        </p:nvGraphicFramePr>
        <p:xfrm>
          <a:off x="2339752" y="5980294"/>
          <a:ext cx="3528392" cy="58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38" name="Equation" r:id="rId4" imgW="1688760" imgH="279360" progId="Equation.DSMT4">
                  <p:embed/>
                </p:oleObj>
              </mc:Choice>
              <mc:Fallback>
                <p:oleObj name="Equation" r:id="rId4" imgW="1688760" imgH="279360" progId="Equation.DSMT4">
                  <p:embed/>
                  <p:pic>
                    <p:nvPicPr>
                      <p:cNvPr id="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5980294"/>
                        <a:ext cx="3528392" cy="58012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51"/>
          <p:cNvSpPr txBox="1">
            <a:spLocks noChangeArrowheads="1"/>
          </p:cNvSpPr>
          <p:nvPr/>
        </p:nvSpPr>
        <p:spPr bwMode="auto">
          <a:xfrm>
            <a:off x="419893" y="836712"/>
            <a:ext cx="477837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+mn-lt"/>
              </a:rPr>
              <a:t>(b) A current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at L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produces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B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2</a:t>
            </a:r>
            <a:r>
              <a:rPr kumimoji="0" lang="en-US" altLang="zh-CN" b="1" dirty="0">
                <a:latin typeface="+mn-lt"/>
              </a:rPr>
              <a:t>, 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+mn-lt"/>
              </a:rPr>
              <a:t>     B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links only L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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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22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,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     </a:t>
            </a:r>
            <a:r>
              <a:rPr kumimoji="0" lang="en-US" altLang="zh-CN" b="1" dirty="0">
                <a:latin typeface="+mn-lt"/>
              </a:rPr>
              <a:t>B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links both L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and L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</a:t>
            </a:r>
            <a:r>
              <a:rPr kumimoji="0" lang="en-US" altLang="zh-CN" b="1" dirty="0">
                <a:latin typeface="+mn-lt"/>
              </a:rPr>
              <a:t> </a:t>
            </a:r>
            <a:r>
              <a:rPr kumimoji="0" lang="en-US" altLang="zh-CN" b="1" i="1" dirty="0">
                <a:latin typeface="+mn-lt"/>
                <a:sym typeface="Symbol" panose="05050102010706020507" pitchFamily="18" charset="2"/>
              </a:rPr>
              <a:t></a:t>
            </a: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21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baseline="-25000" dirty="0">
                <a:latin typeface="+mn-lt"/>
                <a:sym typeface="Symbol" panose="05050102010706020507" pitchFamily="18" charset="2"/>
              </a:rPr>
              <a:t>  </a:t>
            </a:r>
            <a:r>
              <a:rPr kumimoji="0" lang="en-US" altLang="zh-CN" b="1" dirty="0">
                <a:latin typeface="+mn-lt"/>
                <a:sym typeface="Symbol" panose="05050102010706020507" pitchFamily="18" charset="2"/>
              </a:rPr>
              <a:t>The flux in coil 2</a:t>
            </a:r>
            <a:endParaRPr kumimoji="0" lang="en-US" altLang="zh-CN" b="1" dirty="0">
              <a:latin typeface="+mn-lt"/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924366"/>
              </p:ext>
            </p:extLst>
          </p:nvPr>
        </p:nvGraphicFramePr>
        <p:xfrm>
          <a:off x="3157539" y="2498689"/>
          <a:ext cx="1926430" cy="51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39" name="Equation" r:id="rId6" imgW="1041120" imgH="279360" progId="Equation.DSMT4">
                  <p:embed/>
                </p:oleObj>
              </mc:Choice>
              <mc:Fallback>
                <p:oleObj name="Equation" r:id="rId6" imgW="1041120" imgH="279360" progId="Equation.DSMT4">
                  <p:embed/>
                  <p:pic>
                    <p:nvPicPr>
                      <p:cNvPr id="1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7539" y="2498689"/>
                        <a:ext cx="1926430" cy="5144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5551"/>
              </p:ext>
            </p:extLst>
          </p:nvPr>
        </p:nvGraphicFramePr>
        <p:xfrm>
          <a:off x="841524" y="3103563"/>
          <a:ext cx="21463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0" name="Equation" r:id="rId8" imgW="1206360" imgH="507960" progId="Equation.DSMT4">
                  <p:embed/>
                </p:oleObj>
              </mc:Choice>
              <mc:Fallback>
                <p:oleObj name="Equation" r:id="rId8" imgW="1206360" imgH="507960" progId="Equation.DSMT4">
                  <p:embed/>
                  <p:pic>
                    <p:nvPicPr>
                      <p:cNvPr id="17" name="Object 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524" y="3103563"/>
                        <a:ext cx="2146300" cy="90328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584212"/>
              </p:ext>
            </p:extLst>
          </p:nvPr>
        </p:nvGraphicFramePr>
        <p:xfrm>
          <a:off x="907455" y="4400550"/>
          <a:ext cx="22304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1" name="Equation" r:id="rId10" imgW="1193760" imgH="507960" progId="Equation.DSMT4">
                  <p:embed/>
                </p:oleObj>
              </mc:Choice>
              <mc:Fallback>
                <p:oleObj name="Equation" r:id="rId10" imgW="1193760" imgH="507960" progId="Equation.DSMT4">
                  <p:embed/>
                  <p:pic>
                    <p:nvPicPr>
                      <p:cNvPr id="19" name="Object 3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455" y="4400550"/>
                        <a:ext cx="2230437" cy="946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149547"/>
              </p:ext>
            </p:extLst>
          </p:nvPr>
        </p:nvGraphicFramePr>
        <p:xfrm>
          <a:off x="3150592" y="4441285"/>
          <a:ext cx="314960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2" name="Equation" r:id="rId12" imgW="1739880" imgH="558720" progId="Equation.DSMT4">
                  <p:embed/>
                </p:oleObj>
              </mc:Choice>
              <mc:Fallback>
                <p:oleObj name="Equation" r:id="rId12" imgW="1739880" imgH="558720" progId="Equation.DSMT4">
                  <p:embed/>
                  <p:pic>
                    <p:nvPicPr>
                      <p:cNvPr id="2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0592" y="4441285"/>
                        <a:ext cx="3149600" cy="10112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015810"/>
              </p:ext>
            </p:extLst>
          </p:nvPr>
        </p:nvGraphicFramePr>
        <p:xfrm>
          <a:off x="2994025" y="3103563"/>
          <a:ext cx="34480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43" name="Equation" r:id="rId14" imgW="1904760" imgH="558720" progId="Equation.DSMT4">
                  <p:embed/>
                </p:oleObj>
              </mc:Choice>
              <mc:Fallback>
                <p:oleObj name="Equation" r:id="rId14" imgW="1904760" imgH="558720" progId="Equation.DSMT4">
                  <p:embed/>
                  <p:pic>
                    <p:nvPicPr>
                      <p:cNvPr id="21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3103563"/>
                        <a:ext cx="3448050" cy="10112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2552228" y="5374903"/>
            <a:ext cx="5292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Symbol" panose="05050102010706020507" pitchFamily="18" charset="2"/>
              <a:buChar char="¾"/>
            </a:pPr>
            <a:r>
              <a:rPr lang="en-US" sz="2800" b="1" dirty="0">
                <a:solidFill>
                  <a:srgbClr val="002060"/>
                </a:solidFill>
                <a:latin typeface="+mn-lt"/>
              </a:rPr>
              <a:t>self inductance  in coil 2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9893" y="3928447"/>
            <a:ext cx="8578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002060"/>
                </a:solidFill>
                <a:latin typeface="+mn-lt"/>
              </a:rPr>
              <a:t>M</a:t>
            </a:r>
            <a:r>
              <a:rPr lang="en-US" altLang="zh-CN" sz="2800" b="1" baseline="-25000" dirty="0" smtClean="0">
                <a:solidFill>
                  <a:srgbClr val="002060"/>
                </a:solidFill>
                <a:latin typeface="+mn-lt"/>
              </a:rPr>
              <a:t>12</a:t>
            </a:r>
            <a:r>
              <a:rPr lang="en-US" altLang="zh-CN" sz="2800" b="1" dirty="0" smtClean="0">
                <a:solidFill>
                  <a:srgbClr val="002060"/>
                </a:solidFill>
                <a:sym typeface="Symbol" panose="05050102010706020507" pitchFamily="18" charset="2"/>
              </a:rPr>
              <a:t> 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mutual 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inductance </a:t>
            </a:r>
            <a:r>
              <a:rPr lang="en-US" altLang="zh-CN" sz="2800" b="1" dirty="0" smtClean="0">
                <a:solidFill>
                  <a:srgbClr val="002060"/>
                </a:solidFill>
                <a:latin typeface="+mn-lt"/>
              </a:rPr>
              <a:t>of 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coil 1 </a:t>
            </a:r>
            <a:r>
              <a:rPr lang="en-US" sz="2800" b="1" dirty="0">
                <a:solidFill>
                  <a:srgbClr val="002060"/>
                </a:solidFill>
                <a:latin typeface="+mn-lt"/>
              </a:rPr>
              <a:t>with respect to coil </a:t>
            </a:r>
            <a:r>
              <a:rPr lang="en-US" sz="2800" b="1" dirty="0" smtClean="0">
                <a:solidFill>
                  <a:srgbClr val="002060"/>
                </a:solidFill>
                <a:latin typeface="+mn-lt"/>
              </a:rPr>
              <a:t>2</a:t>
            </a:r>
            <a:endParaRPr lang="en-US" sz="28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00193" y="2846214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+mn-lt"/>
              </a:rPr>
              <a:t>L</a:t>
            </a:r>
            <a:r>
              <a:rPr lang="en-US" baseline="-25000" dirty="0">
                <a:solidFill>
                  <a:srgbClr val="C00000"/>
                </a:solidFill>
                <a:latin typeface="+mn-lt"/>
              </a:rPr>
              <a:t>1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+mn-lt"/>
              </a:rPr>
              <a:t>is open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circuited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9552" y="5980294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(c)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8104" y="874874"/>
            <a:ext cx="3575050" cy="195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1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6AFEF1-AE73-42EE-BE3F-731E18368D8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79512" y="404019"/>
            <a:ext cx="907300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</a:rPr>
              <a:t>Conclusion</a:t>
            </a:r>
            <a:r>
              <a:rPr lang="en-US" altLang="zh-CN" sz="2800" dirty="0" smtClean="0">
                <a:latin typeface="+mn-lt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n-lt"/>
              </a:rPr>
              <a:t>Mutual </a:t>
            </a:r>
            <a:r>
              <a:rPr lang="en-US" altLang="zh-CN" sz="2800" dirty="0">
                <a:latin typeface="+mn-lt"/>
              </a:rPr>
              <a:t>inductance is the ability of one inductor to induce a </a:t>
            </a:r>
            <a:r>
              <a:rPr lang="en-US" altLang="zh-CN" sz="2800" dirty="0" smtClean="0">
                <a:latin typeface="+mn-lt"/>
              </a:rPr>
              <a:t>voltage across </a:t>
            </a:r>
            <a:r>
              <a:rPr lang="en-US" altLang="zh-CN" sz="2800" dirty="0">
                <a:latin typeface="+mn-lt"/>
              </a:rPr>
              <a:t>a neighboring inductor, measured in henrys (H</a:t>
            </a:r>
            <a:r>
              <a:rPr lang="en-US" altLang="zh-CN" sz="2800" dirty="0" smtClean="0">
                <a:latin typeface="+mn-lt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+mn-lt"/>
              </a:rPr>
              <a:t> </a:t>
            </a:r>
            <a:r>
              <a:rPr lang="en-US" altLang="zh-CN" sz="2800" dirty="0" smtClean="0">
                <a:latin typeface="+mn-lt"/>
              </a:rPr>
              <a:t>(1) The </a:t>
            </a:r>
            <a:r>
              <a:rPr lang="en-US" altLang="zh-CN" sz="2800" dirty="0">
                <a:latin typeface="+mn-lt"/>
              </a:rPr>
              <a:t>inductors or coils </a:t>
            </a:r>
            <a:r>
              <a:rPr lang="en-US" altLang="zh-CN" sz="2800" dirty="0" smtClean="0">
                <a:latin typeface="+mn-lt"/>
              </a:rPr>
              <a:t>are in </a:t>
            </a:r>
            <a:r>
              <a:rPr lang="en-US" altLang="zh-CN" sz="2800" dirty="0">
                <a:latin typeface="+mn-lt"/>
              </a:rPr>
              <a:t>close </a:t>
            </a:r>
            <a:r>
              <a:rPr lang="en-US" altLang="zh-CN" sz="2800" dirty="0" smtClean="0">
                <a:latin typeface="+mn-lt"/>
              </a:rPr>
              <a:t>proximity.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n-lt"/>
              </a:rPr>
              <a:t> (2) The </a:t>
            </a:r>
            <a:r>
              <a:rPr lang="en-US" altLang="zh-CN" sz="2800" dirty="0">
                <a:latin typeface="+mn-lt"/>
              </a:rPr>
              <a:t>circuits are driven by time-varying sources</a:t>
            </a:r>
            <a:r>
              <a:rPr lang="en-US" altLang="zh-CN" sz="2800" dirty="0" smtClean="0">
                <a:latin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n-lt"/>
              </a:rPr>
              <a:t> (</a:t>
            </a:r>
            <a:r>
              <a:rPr lang="en-US" altLang="zh-CN" sz="2800" dirty="0">
                <a:latin typeface="+mn-lt"/>
              </a:rPr>
              <a:t>3) </a:t>
            </a:r>
            <a:r>
              <a:rPr lang="en-US" altLang="zh-CN" sz="2800" i="1" dirty="0">
                <a:latin typeface="+mn-lt"/>
              </a:rPr>
              <a:t>M</a:t>
            </a:r>
            <a:r>
              <a:rPr lang="en-US" altLang="zh-CN" sz="2800" dirty="0">
                <a:latin typeface="+mn-lt"/>
              </a:rPr>
              <a:t> is always a positive </a:t>
            </a:r>
            <a:r>
              <a:rPr lang="en-US" altLang="zh-CN" sz="2800" dirty="0" smtClean="0">
                <a:latin typeface="+mn-lt"/>
              </a:rPr>
              <a:t>quantity.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+mn-lt"/>
              </a:rPr>
              <a:t> (4) </a:t>
            </a:r>
            <a:r>
              <a:rPr lang="en-US" altLang="zh-CN" sz="2800" dirty="0" smtClean="0">
                <a:latin typeface="+mn-lt"/>
              </a:rPr>
              <a:t>The choice of the correct polarity for </a:t>
            </a:r>
            <a:r>
              <a:rPr lang="en-US" altLang="zh-CN" sz="2800" i="1" dirty="0" err="1" smtClean="0">
                <a:latin typeface="+mn-lt"/>
              </a:rPr>
              <a:t>M</a:t>
            </a:r>
            <a:r>
              <a:rPr lang="en-US" altLang="zh-CN" sz="2800" dirty="0" err="1" smtClean="0">
                <a:latin typeface="+mn-lt"/>
              </a:rPr>
              <a:t>d</a:t>
            </a:r>
            <a:r>
              <a:rPr lang="en-US" altLang="zh-CN" sz="2800" i="1" dirty="0" err="1" smtClean="0">
                <a:latin typeface="+mn-lt"/>
              </a:rPr>
              <a:t>i</a:t>
            </a:r>
            <a:r>
              <a:rPr lang="en-US" altLang="zh-CN" sz="2800" dirty="0" smtClean="0">
                <a:latin typeface="+mn-lt"/>
              </a:rPr>
              <a:t>/</a:t>
            </a:r>
            <a:r>
              <a:rPr lang="en-US" altLang="zh-CN" sz="2800" dirty="0" err="1" smtClean="0">
                <a:latin typeface="+mn-lt"/>
              </a:rPr>
              <a:t>d</a:t>
            </a:r>
            <a:r>
              <a:rPr lang="en-US" altLang="zh-CN" sz="2800" i="1" dirty="0" err="1" smtClean="0">
                <a:latin typeface="+mn-lt"/>
              </a:rPr>
              <a:t>t</a:t>
            </a:r>
            <a:r>
              <a:rPr lang="en-US" altLang="zh-CN" sz="2800" dirty="0" smtClean="0">
                <a:latin typeface="+mn-lt"/>
              </a:rPr>
              <a:t> is made by examining the orientation or particular way in which both </a:t>
            </a:r>
            <a:r>
              <a:rPr lang="en-US" altLang="zh-CN" sz="2800" dirty="0">
                <a:latin typeface="+mn-lt"/>
              </a:rPr>
              <a:t>coils are physically wound and applying Lenz’s law in </a:t>
            </a:r>
            <a:r>
              <a:rPr lang="en-US" altLang="zh-CN" sz="2800" dirty="0" smtClean="0">
                <a:latin typeface="+mn-lt"/>
              </a:rPr>
              <a:t>conjunction with the right-hand rule</a:t>
            </a:r>
            <a:r>
              <a:rPr lang="en-US" altLang="zh-CN" sz="2800" dirty="0">
                <a:latin typeface="+mn-lt"/>
              </a:rPr>
              <a:t>.</a:t>
            </a:r>
            <a:endParaRPr lang="zh-CN" altLang="en-US" sz="2800" dirty="0">
              <a:latin typeface="+mn-lt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en-US" altLang="zh-CN" sz="3200" dirty="0"/>
              <a:t>Mutual Inductance </a:t>
            </a:r>
          </a:p>
        </p:txBody>
      </p:sp>
    </p:spTree>
    <p:extLst>
      <p:ext uri="{BB962C8B-B14F-4D97-AF65-F5344CB8AC3E}">
        <p14:creationId xmlns:p14="http://schemas.microsoft.com/office/powerpoint/2010/main" val="197575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20F6A49-1B8F-4351-A37A-9CEAED88C365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5888"/>
            <a:ext cx="8867775" cy="576262"/>
          </a:xfrm>
        </p:spPr>
        <p:txBody>
          <a:bodyPr/>
          <a:lstStyle/>
          <a:p>
            <a:r>
              <a:rPr lang="en-US" altLang="zh-CN" sz="3200" dirty="0"/>
              <a:t>Polarity of Mutual Voltage </a:t>
            </a:r>
          </a:p>
        </p:txBody>
      </p:sp>
      <p:sp>
        <p:nvSpPr>
          <p:cNvPr id="4104" name="Text Box 166"/>
          <p:cNvSpPr txBox="1">
            <a:spLocks noChangeArrowheads="1"/>
          </p:cNvSpPr>
          <p:nvPr/>
        </p:nvSpPr>
        <p:spPr bwMode="auto">
          <a:xfrm>
            <a:off x="161925" y="858838"/>
            <a:ext cx="7002363" cy="1015663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Combined Mutual and Self-induced Voltage</a:t>
            </a:r>
          </a:p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(No terminal is open circuited)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pic>
        <p:nvPicPr>
          <p:cNvPr id="4105" name="Picture 16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4425" y="1457325"/>
            <a:ext cx="4105275" cy="24511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graphicFrame>
        <p:nvGraphicFramePr>
          <p:cNvPr id="511150" name="Object 1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47052"/>
              </p:ext>
            </p:extLst>
          </p:nvPr>
        </p:nvGraphicFramePr>
        <p:xfrm>
          <a:off x="948189" y="4907857"/>
          <a:ext cx="3543663" cy="1771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0" name="Equation" r:id="rId4" imgW="2133360" imgH="1066680" progId="Equation.DSMT4">
                  <p:embed/>
                </p:oleObj>
              </mc:Choice>
              <mc:Fallback>
                <p:oleObj name="Equation" r:id="rId4" imgW="2133360" imgH="1066680" progId="Equation.DSMT4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189" y="4907857"/>
                        <a:ext cx="3543663" cy="177183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153" name="Object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102821"/>
              </p:ext>
            </p:extLst>
          </p:nvPr>
        </p:nvGraphicFramePr>
        <p:xfrm>
          <a:off x="960115" y="3119639"/>
          <a:ext cx="2603773" cy="552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1" name="Equation" r:id="rId6" imgW="1422360" imgH="304560" progId="Equation.DSMT4">
                  <p:embed/>
                </p:oleObj>
              </mc:Choice>
              <mc:Fallback>
                <p:oleObj name="Equation" r:id="rId6" imgW="1422360" imgH="304560" progId="Equation.DSMT4">
                  <p:embed/>
                  <p:pic>
                    <p:nvPicPr>
                      <p:cNvPr id="0" name="Object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15" y="3119639"/>
                        <a:ext cx="2603773" cy="552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154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98256"/>
              </p:ext>
            </p:extLst>
          </p:nvPr>
        </p:nvGraphicFramePr>
        <p:xfrm>
          <a:off x="915888" y="3652255"/>
          <a:ext cx="2692226" cy="55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2" name="Equation" r:id="rId8" imgW="1460160" imgH="304560" progId="Equation.DSMT4">
                  <p:embed/>
                </p:oleObj>
              </mc:Choice>
              <mc:Fallback>
                <p:oleObj name="Equation" r:id="rId8" imgW="1460160" imgH="304560" progId="Equation.DSMT4">
                  <p:embed/>
                  <p:pic>
                    <p:nvPicPr>
                      <p:cNvPr id="0" name="Object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888" y="3652255"/>
                        <a:ext cx="2692226" cy="55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0" y="1916832"/>
            <a:ext cx="4924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(a)According to current directions and right-hand rule, </a:t>
            </a:r>
            <a:r>
              <a:rPr lang="en-US" altLang="zh-CN" b="1" dirty="0" smtClean="0">
                <a:latin typeface="+mn-lt"/>
              </a:rPr>
              <a:t>we can </a:t>
            </a:r>
            <a:r>
              <a:rPr lang="en-US" b="1" dirty="0" smtClean="0">
                <a:latin typeface="+mn-lt"/>
              </a:rPr>
              <a:t>decide </a:t>
            </a:r>
            <a:r>
              <a:rPr lang="en-US" b="1" dirty="0">
                <a:latin typeface="+mn-lt"/>
              </a:rPr>
              <a:t>the </a:t>
            </a:r>
            <a:r>
              <a:rPr lang="en-US" b="1" dirty="0" smtClean="0">
                <a:latin typeface="+mn-lt"/>
              </a:rPr>
              <a:t>total flux </a:t>
            </a:r>
            <a:r>
              <a:rPr lang="en-US" b="1" dirty="0">
                <a:latin typeface="+mn-lt"/>
              </a:rPr>
              <a:t>in each inductor.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7505" y="4106524"/>
            <a:ext cx="8675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(b)According to current and voltage reference, </a:t>
            </a:r>
            <a:r>
              <a:rPr lang="en-US" b="1" dirty="0" smtClean="0">
                <a:latin typeface="+mn-lt"/>
              </a:rPr>
              <a:t>we can decide </a:t>
            </a:r>
            <a:r>
              <a:rPr lang="en-US" b="1" dirty="0">
                <a:latin typeface="+mn-lt"/>
              </a:rPr>
              <a:t>the sign ‘+’ or ‘-’ in Faraday’s law.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080" y="4595139"/>
            <a:ext cx="3312368" cy="228851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FAD64F-4F5F-4872-A90E-B4EA6B1D7F58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129" name="Picture 14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30750" y="1390650"/>
            <a:ext cx="4284663" cy="26289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graphicFrame>
        <p:nvGraphicFramePr>
          <p:cNvPr id="544919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1434"/>
              </p:ext>
            </p:extLst>
          </p:nvPr>
        </p:nvGraphicFramePr>
        <p:xfrm>
          <a:off x="944869" y="2807596"/>
          <a:ext cx="2880320" cy="998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4" name="Equation" r:id="rId4" imgW="1460160" imgH="507960" progId="Equation.DSMT4">
                  <p:embed/>
                </p:oleObj>
              </mc:Choice>
              <mc:Fallback>
                <p:oleObj name="Equation" r:id="rId4" imgW="1460160" imgH="507960" progId="Equation.DSMT4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69" y="2807596"/>
                        <a:ext cx="2880320" cy="998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920" name="Object 1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740642"/>
              </p:ext>
            </p:extLst>
          </p:nvPr>
        </p:nvGraphicFramePr>
        <p:xfrm>
          <a:off x="944869" y="4104615"/>
          <a:ext cx="3152403" cy="957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" name="Equation" r:id="rId6" imgW="1663560" imgH="507960" progId="Equation.DSMT4">
                  <p:embed/>
                </p:oleObj>
              </mc:Choice>
              <mc:Fallback>
                <p:oleObj name="Equation" r:id="rId6" imgW="1663560" imgH="507960" progId="Equation.DSMT4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69" y="4104615"/>
                        <a:ext cx="3152403" cy="957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53"/>
          <p:cNvSpPr txBox="1">
            <a:spLocks noChangeArrowheads="1"/>
          </p:cNvSpPr>
          <p:nvPr/>
        </p:nvSpPr>
        <p:spPr bwMode="auto">
          <a:xfrm>
            <a:off x="161925" y="858838"/>
            <a:ext cx="6714331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Combined Mutual and Self-induced Voltage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5888"/>
            <a:ext cx="8867775" cy="576262"/>
          </a:xfrm>
        </p:spPr>
        <p:txBody>
          <a:bodyPr/>
          <a:lstStyle/>
          <a:p>
            <a:r>
              <a:rPr lang="en-US" altLang="zh-CN" sz="3200" dirty="0"/>
              <a:t>Polarity of Mutual Voltage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949054" y="4253136"/>
            <a:ext cx="3439370" cy="2376264"/>
            <a:chOff x="4949054" y="4253136"/>
            <a:chExt cx="3439370" cy="2376264"/>
          </a:xfrm>
        </p:grpSpPr>
        <p:grpSp>
          <p:nvGrpSpPr>
            <p:cNvPr id="4" name="组合 3"/>
            <p:cNvGrpSpPr/>
            <p:nvPr/>
          </p:nvGrpSpPr>
          <p:grpSpPr>
            <a:xfrm>
              <a:off x="4949054" y="4253136"/>
              <a:ext cx="3439370" cy="2376264"/>
              <a:chOff x="499235" y="1340768"/>
              <a:chExt cx="3439370" cy="2376264"/>
            </a:xfrm>
          </p:grpSpPr>
          <p:graphicFrame>
            <p:nvGraphicFramePr>
              <p:cNvPr id="544922" name="Object 15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532292"/>
                  </p:ext>
                </p:extLst>
              </p:nvPr>
            </p:nvGraphicFramePr>
            <p:xfrm>
              <a:off x="762000" y="1863725"/>
              <a:ext cx="2400300" cy="569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6" name="Equation" r:id="rId8" imgW="901440" imgH="215640" progId="Equation.3">
                      <p:embed/>
                    </p:oleObj>
                  </mc:Choice>
                  <mc:Fallback>
                    <p:oleObj name="Equation" r:id="rId8" imgW="901440" imgH="215640" progId="Equation.3">
                      <p:embed/>
                      <p:pic>
                        <p:nvPicPr>
                          <p:cNvPr id="0" name="Object 1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2000" y="1863725"/>
                            <a:ext cx="2400300" cy="5699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4923" name="Object 15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98065216"/>
                  </p:ext>
                </p:extLst>
              </p:nvPr>
            </p:nvGraphicFramePr>
            <p:xfrm>
              <a:off x="771525" y="2632075"/>
              <a:ext cx="2798763" cy="582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7" name="Equation" r:id="rId10" imgW="1028520" imgH="215640" progId="Equation.3">
                      <p:embed/>
                    </p:oleObj>
                  </mc:Choice>
                  <mc:Fallback>
                    <p:oleObj name="Equation" r:id="rId10" imgW="1028520" imgH="215640" progId="Equation.3">
                      <p:embed/>
                      <p:pic>
                        <p:nvPicPr>
                          <p:cNvPr id="0" name="Object 15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1525" y="2632075"/>
                            <a:ext cx="2798763" cy="5826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9235" y="1340768"/>
                <a:ext cx="3439370" cy="2376264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" name="文本框 1"/>
              <p:cNvSpPr txBox="1"/>
              <p:nvPr/>
            </p:nvSpPr>
            <p:spPr>
              <a:xfrm>
                <a:off x="2555776" y="3068960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 smtClean="0">
                    <a:solidFill>
                      <a:srgbClr val="3399FF"/>
                    </a:solidFill>
                    <a:sym typeface="Symbol" panose="05050102010706020507" pitchFamily="18" charset="2"/>
                  </a:rPr>
                  <a:t></a:t>
                </a:r>
                <a:endParaRPr lang="zh-CN" altLang="en-US" sz="1800" dirty="0">
                  <a:solidFill>
                    <a:srgbClr val="3399FF"/>
                  </a:solidFill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2627784" y="2103239"/>
                <a:ext cx="28803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dirty="0" smtClean="0"/>
                  <a:t> </a:t>
                </a:r>
                <a:endParaRPr lang="zh-CN" altLang="en-US" sz="1800" dirty="0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6012160" y="5013176"/>
              <a:ext cx="2880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3399FF"/>
                  </a:solidFill>
                  <a:sym typeface="Symbol" panose="05050102010706020507" pitchFamily="18" charset="2"/>
                </a:rPr>
                <a:t></a:t>
              </a:r>
              <a:endParaRPr lang="zh-CN" altLang="en-US" sz="1800" dirty="0">
                <a:solidFill>
                  <a:srgbClr val="3399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970294-94C6-472E-B736-BC3A6BEEE50D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dirty="0">
                <a:latin typeface="+mn-lt"/>
                <a:ea typeface="宋体" pitchFamily="2" charset="-122"/>
              </a:rPr>
              <a:t>Dot Convention</a:t>
            </a:r>
            <a:endParaRPr lang="en-US" altLang="zh-CN" sz="3200" dirty="0">
              <a:latin typeface="+mn-lt"/>
            </a:endParaRPr>
          </a:p>
        </p:txBody>
      </p:sp>
      <p:pic>
        <p:nvPicPr>
          <p:cNvPr id="65541" name="Picture 170" descr="1302"/>
          <p:cNvPicPr>
            <a:picLocks noChangeAspect="1" noChangeArrowheads="1"/>
          </p:cNvPicPr>
          <p:nvPr/>
        </p:nvPicPr>
        <p:blipFill>
          <a:blip r:embed="rId3"/>
          <a:srcRect t="24681" b="51122"/>
          <a:stretch>
            <a:fillRect/>
          </a:stretch>
        </p:blipFill>
        <p:spPr bwMode="auto">
          <a:xfrm>
            <a:off x="4953000" y="1647825"/>
            <a:ext cx="3562350" cy="240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5543" name="Text Box 172"/>
          <p:cNvSpPr txBox="1">
            <a:spLocks noChangeArrowheads="1"/>
          </p:cNvSpPr>
          <p:nvPr/>
        </p:nvSpPr>
        <p:spPr bwMode="auto">
          <a:xfrm>
            <a:off x="1144588" y="4454525"/>
            <a:ext cx="6746875" cy="1770806"/>
          </a:xfrm>
          <a:prstGeom prst="rect">
            <a:avLst/>
          </a:prstGeom>
          <a:solidFill>
            <a:schemeClr val="bg1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5000"/>
              </a:lnSpc>
              <a:spcBef>
                <a:spcPct val="50000"/>
              </a:spcBef>
            </a:pPr>
            <a:r>
              <a:rPr kumimoji="0" lang="en-US" altLang="zh-CN" b="1" dirty="0">
                <a:latin typeface="+mn-lt"/>
              </a:rPr>
              <a:t>If a current enters the dotted terminal of one coil, the reference polarity of the mutual voltage in the second coil is positive at the dotted terminal of the second coil.</a:t>
            </a:r>
            <a:endParaRPr kumimoji="0" lang="en-AU" altLang="zh-CN" b="1" dirty="0">
              <a:latin typeface="+mn-lt"/>
            </a:endParaRPr>
          </a:p>
        </p:txBody>
      </p:sp>
      <p:pic>
        <p:nvPicPr>
          <p:cNvPr id="65544" name="Picture 173" descr="1302"/>
          <p:cNvPicPr>
            <a:picLocks noChangeAspect="1" noChangeArrowheads="1"/>
          </p:cNvPicPr>
          <p:nvPr/>
        </p:nvPicPr>
        <p:blipFill>
          <a:blip r:embed="rId3"/>
          <a:srcRect l="-829" b="75951"/>
          <a:stretch>
            <a:fillRect/>
          </a:stretch>
        </p:blipFill>
        <p:spPr bwMode="auto">
          <a:xfrm>
            <a:off x="650875" y="1647825"/>
            <a:ext cx="36099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47CD81-770D-4513-8C11-0C88625B116E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dirty="0">
                <a:latin typeface="+mn-lt"/>
                <a:ea typeface="宋体" pitchFamily="2" charset="-122"/>
              </a:rPr>
              <a:t>Dot Convention</a:t>
            </a:r>
            <a:endParaRPr lang="en-US" altLang="zh-CN" sz="3200" dirty="0"/>
          </a:p>
        </p:txBody>
      </p:sp>
      <p:pic>
        <p:nvPicPr>
          <p:cNvPr id="66565" name="Picture 445" descr="1302"/>
          <p:cNvPicPr>
            <a:picLocks noChangeAspect="1" noChangeArrowheads="1"/>
          </p:cNvPicPr>
          <p:nvPr/>
        </p:nvPicPr>
        <p:blipFill>
          <a:blip r:embed="rId3"/>
          <a:srcRect t="76747"/>
          <a:stretch>
            <a:fillRect/>
          </a:stretch>
        </p:blipFill>
        <p:spPr bwMode="auto">
          <a:xfrm>
            <a:off x="4832350" y="1541463"/>
            <a:ext cx="3927475" cy="254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6" name="Text Box 446"/>
          <p:cNvSpPr txBox="1">
            <a:spLocks noChangeArrowheads="1"/>
          </p:cNvSpPr>
          <p:nvPr/>
        </p:nvSpPr>
        <p:spPr bwMode="auto">
          <a:xfrm>
            <a:off x="979488" y="4795838"/>
            <a:ext cx="7140575" cy="1196975"/>
          </a:xfrm>
          <a:prstGeom prst="rect">
            <a:avLst/>
          </a:prstGeom>
          <a:solidFill>
            <a:schemeClr val="bg1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+mn-lt"/>
              </a:rPr>
              <a:t>Current entering the undotted terminal of one coil produces a voltage that is sensed positively at the undotted terminal of the second coil.</a:t>
            </a:r>
            <a:endParaRPr kumimoji="0" lang="en-AU" altLang="zh-CN" b="1">
              <a:latin typeface="+mn-lt"/>
            </a:endParaRPr>
          </a:p>
        </p:txBody>
      </p:sp>
      <p:pic>
        <p:nvPicPr>
          <p:cNvPr id="66568" name="Picture 448" descr="1302"/>
          <p:cNvPicPr>
            <a:picLocks noChangeAspect="1" noChangeArrowheads="1"/>
          </p:cNvPicPr>
          <p:nvPr/>
        </p:nvPicPr>
        <p:blipFill>
          <a:blip r:embed="rId3"/>
          <a:srcRect t="50240" b="24812"/>
          <a:stretch>
            <a:fillRect/>
          </a:stretch>
        </p:blipFill>
        <p:spPr bwMode="auto">
          <a:xfrm>
            <a:off x="635000" y="1541463"/>
            <a:ext cx="3667125" cy="255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96B2CD-3E40-4B7F-B2F2-D69448570D6D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Dot Convention </a:t>
            </a:r>
          </a:p>
        </p:txBody>
      </p:sp>
      <p:pic>
        <p:nvPicPr>
          <p:cNvPr id="67589" name="Picture 210" descr="13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3300" y="1763713"/>
            <a:ext cx="2692400" cy="395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7590" name="Oval 212"/>
          <p:cNvSpPr>
            <a:spLocks noChangeArrowheads="1"/>
          </p:cNvSpPr>
          <p:nvPr/>
        </p:nvSpPr>
        <p:spPr bwMode="auto">
          <a:xfrm>
            <a:off x="1701800" y="2451100"/>
            <a:ext cx="101600" cy="889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rgbClr val="0000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1" name="Oval 213"/>
          <p:cNvSpPr>
            <a:spLocks noChangeArrowheads="1"/>
          </p:cNvSpPr>
          <p:nvPr/>
        </p:nvSpPr>
        <p:spPr bwMode="auto">
          <a:xfrm>
            <a:off x="2806700" y="4102100"/>
            <a:ext cx="101600" cy="88900"/>
          </a:xfrm>
          <a:prstGeom prst="ellipse">
            <a:avLst/>
          </a:prstGeom>
          <a:solidFill>
            <a:schemeClr val="accent2"/>
          </a:solidFill>
          <a:ln w="19050" algn="ctr">
            <a:solidFill>
              <a:srgbClr val="0000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2" name="Oval 214"/>
          <p:cNvSpPr>
            <a:spLocks noChangeArrowheads="1"/>
          </p:cNvSpPr>
          <p:nvPr/>
        </p:nvSpPr>
        <p:spPr bwMode="auto">
          <a:xfrm>
            <a:off x="1701800" y="3327400"/>
            <a:ext cx="101600" cy="88900"/>
          </a:xfrm>
          <a:prstGeom prst="ellipse">
            <a:avLst/>
          </a:prstGeom>
          <a:solidFill>
            <a:srgbClr val="CC3300"/>
          </a:solidFill>
          <a:ln w="19050" algn="ctr">
            <a:solidFill>
              <a:srgbClr val="CC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3" name="Oval 215"/>
          <p:cNvSpPr>
            <a:spLocks noChangeArrowheads="1"/>
          </p:cNvSpPr>
          <p:nvPr/>
        </p:nvSpPr>
        <p:spPr bwMode="auto">
          <a:xfrm>
            <a:off x="2806700" y="4991100"/>
            <a:ext cx="101600" cy="88900"/>
          </a:xfrm>
          <a:prstGeom prst="ellipse">
            <a:avLst/>
          </a:prstGeom>
          <a:solidFill>
            <a:srgbClr val="CC3300"/>
          </a:solidFill>
          <a:ln w="19050" algn="ctr">
            <a:solidFill>
              <a:srgbClr val="CC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594" name="Text Box 216"/>
          <p:cNvSpPr txBox="1">
            <a:spLocks noChangeArrowheads="1"/>
          </p:cNvSpPr>
          <p:nvPr/>
        </p:nvSpPr>
        <p:spPr bwMode="auto">
          <a:xfrm>
            <a:off x="161925" y="858838"/>
            <a:ext cx="52943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Physical Basis of Dot Convention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sp>
        <p:nvSpPr>
          <p:cNvPr id="67595" name="Line 217"/>
          <p:cNvSpPr>
            <a:spLocks noChangeShapeType="1"/>
          </p:cNvSpPr>
          <p:nvPr/>
        </p:nvSpPr>
        <p:spPr bwMode="auto">
          <a:xfrm>
            <a:off x="2413000" y="1612900"/>
            <a:ext cx="0" cy="4419600"/>
          </a:xfrm>
          <a:prstGeom prst="line">
            <a:avLst/>
          </a:prstGeom>
          <a:noFill/>
          <a:ln w="19050">
            <a:solidFill>
              <a:srgbClr val="000099"/>
            </a:solidFill>
            <a:prstDash val="lgDash"/>
            <a:round/>
            <a:headEnd/>
            <a:tailEnd type="triangle" w="lg" len="lg"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7596" name="Line 219"/>
          <p:cNvSpPr>
            <a:spLocks noChangeShapeType="1"/>
          </p:cNvSpPr>
          <p:nvPr/>
        </p:nvSpPr>
        <p:spPr bwMode="auto">
          <a:xfrm>
            <a:off x="2247900" y="1625600"/>
            <a:ext cx="0" cy="4419600"/>
          </a:xfrm>
          <a:prstGeom prst="line">
            <a:avLst/>
          </a:prstGeom>
          <a:noFill/>
          <a:ln w="19050">
            <a:solidFill>
              <a:srgbClr val="000099"/>
            </a:solidFill>
            <a:prstDash val="lgDash"/>
            <a:round/>
            <a:headEnd/>
            <a:tailEnd type="triangle" w="lg" len="lg"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7597" name="Text Box 221"/>
          <p:cNvSpPr txBox="1">
            <a:spLocks noChangeArrowheads="1"/>
          </p:cNvSpPr>
          <p:nvPr/>
        </p:nvSpPr>
        <p:spPr bwMode="auto">
          <a:xfrm>
            <a:off x="2105025" y="6046788"/>
            <a:ext cx="369888" cy="5191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i="1">
                <a:solidFill>
                  <a:srgbClr val="000099"/>
                </a:solidFill>
                <a:sym typeface="Symbol" pitchFamily="18" charset="2"/>
              </a:rPr>
              <a:t></a:t>
            </a:r>
          </a:p>
        </p:txBody>
      </p:sp>
      <p:sp>
        <p:nvSpPr>
          <p:cNvPr id="67598" name="Text Box 222"/>
          <p:cNvSpPr txBox="1">
            <a:spLocks noChangeArrowheads="1"/>
          </p:cNvSpPr>
          <p:nvPr/>
        </p:nvSpPr>
        <p:spPr bwMode="auto">
          <a:xfrm>
            <a:off x="4122738" y="2835275"/>
            <a:ext cx="4505325" cy="1571625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00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+mn-lt"/>
              </a:rPr>
              <a:t>When two currents enter the dotted terminals on each coil, they produce the flux in the same direction.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D3338E-3592-4043-A0E6-15183252C66D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082" name="Text Box 3"/>
          <p:cNvSpPr txBox="1">
            <a:spLocks noChangeArrowheads="1"/>
          </p:cNvSpPr>
          <p:nvPr/>
        </p:nvSpPr>
        <p:spPr bwMode="auto">
          <a:xfrm>
            <a:off x="250825" y="884238"/>
            <a:ext cx="2220913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  <a:sym typeface="Symbol" pitchFamily="18" charset="2"/>
              </a:rPr>
              <a:t>Example 13.1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grpSp>
        <p:nvGrpSpPr>
          <p:cNvPr id="3083" name="Group 168"/>
          <p:cNvGrpSpPr>
            <a:grpSpLocks/>
          </p:cNvGrpSpPr>
          <p:nvPr/>
        </p:nvGrpSpPr>
        <p:grpSpPr bwMode="auto">
          <a:xfrm>
            <a:off x="5753100" y="923925"/>
            <a:ext cx="3262313" cy="2124075"/>
            <a:chOff x="3349" y="639"/>
            <a:chExt cx="2055" cy="1338"/>
          </a:xfrm>
        </p:grpSpPr>
        <p:pic>
          <p:nvPicPr>
            <p:cNvPr id="3087" name="Picture 68" descr="1302"/>
            <p:cNvPicPr>
              <a:picLocks noChangeAspect="1" noChangeArrowheads="1"/>
            </p:cNvPicPr>
            <p:nvPr/>
          </p:nvPicPr>
          <p:blipFill>
            <a:blip r:embed="rId3"/>
            <a:srcRect t="24681" r="9715" b="53983"/>
            <a:stretch>
              <a:fillRect/>
            </a:stretch>
          </p:blipFill>
          <p:spPr bwMode="auto">
            <a:xfrm>
              <a:off x="3376" y="642"/>
              <a:ext cx="2026" cy="1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8" name="Rectangle 69"/>
            <p:cNvSpPr>
              <a:spLocks noChangeArrowheads="1"/>
            </p:cNvSpPr>
            <p:nvPr/>
          </p:nvSpPr>
          <p:spPr bwMode="auto">
            <a:xfrm>
              <a:off x="4899" y="1210"/>
              <a:ext cx="505" cy="384"/>
            </a:xfrm>
            <a:prstGeom prst="rect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089" name="Group 163"/>
            <p:cNvGrpSpPr>
              <a:grpSpLocks/>
            </p:cNvGrpSpPr>
            <p:nvPr/>
          </p:nvGrpSpPr>
          <p:grpSpPr bwMode="auto">
            <a:xfrm>
              <a:off x="3391" y="1048"/>
              <a:ext cx="88" cy="711"/>
              <a:chOff x="5388" y="1061"/>
              <a:chExt cx="88" cy="711"/>
            </a:xfrm>
          </p:grpSpPr>
          <p:sp>
            <p:nvSpPr>
              <p:cNvPr id="3094" name="Line 159"/>
              <p:cNvSpPr>
                <a:spLocks noChangeShapeType="1"/>
              </p:cNvSpPr>
              <p:nvPr/>
            </p:nvSpPr>
            <p:spPr bwMode="auto">
              <a:xfrm>
                <a:off x="5388" y="1100"/>
                <a:ext cx="83" cy="0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95" name="Line 160"/>
              <p:cNvSpPr>
                <a:spLocks noChangeShapeType="1"/>
              </p:cNvSpPr>
              <p:nvPr/>
            </p:nvSpPr>
            <p:spPr bwMode="auto">
              <a:xfrm>
                <a:off x="5427" y="1061"/>
                <a:ext cx="0" cy="77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96" name="Line 161"/>
              <p:cNvSpPr>
                <a:spLocks noChangeShapeType="1"/>
              </p:cNvSpPr>
              <p:nvPr/>
            </p:nvSpPr>
            <p:spPr bwMode="auto">
              <a:xfrm>
                <a:off x="5393" y="1772"/>
                <a:ext cx="83" cy="0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090" name="Line 164"/>
            <p:cNvSpPr>
              <a:spLocks noChangeShapeType="1"/>
            </p:cNvSpPr>
            <p:nvPr/>
          </p:nvSpPr>
          <p:spPr bwMode="auto">
            <a:xfrm flipH="1">
              <a:off x="4902" y="909"/>
              <a:ext cx="179" cy="0"/>
            </a:xfrm>
            <a:prstGeom prst="line">
              <a:avLst/>
            </a:prstGeom>
            <a:noFill/>
            <a:ln w="19050">
              <a:solidFill>
                <a:srgbClr val="3399FF"/>
              </a:solidFill>
              <a:round/>
              <a:headEnd/>
              <a:tailEnd type="stealth" w="med" len="lg"/>
            </a:ln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091" name="Text Box 165"/>
            <p:cNvSpPr txBox="1">
              <a:spLocks noChangeArrowheads="1"/>
            </p:cNvSpPr>
            <p:nvPr/>
          </p:nvSpPr>
          <p:spPr bwMode="auto">
            <a:xfrm>
              <a:off x="4909" y="639"/>
              <a:ext cx="212" cy="25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chemeClr val="accent2"/>
                  </a:solidFill>
                  <a:latin typeface="Times New Roman" pitchFamily="18" charset="0"/>
                </a:rPr>
                <a:t>i</a:t>
              </a:r>
              <a:r>
                <a:rPr lang="en-US" altLang="zh-CN" sz="2000" baseline="-25000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2" name="Text Box 166"/>
            <p:cNvSpPr txBox="1">
              <a:spLocks noChangeArrowheads="1"/>
            </p:cNvSpPr>
            <p:nvPr/>
          </p:nvSpPr>
          <p:spPr bwMode="auto">
            <a:xfrm>
              <a:off x="3349" y="1297"/>
              <a:ext cx="239" cy="25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chemeClr val="accent2"/>
                  </a:solidFill>
                  <a:latin typeface="Times New Roman" pitchFamily="18" charset="0"/>
                </a:rPr>
                <a:t>v</a:t>
              </a:r>
              <a:r>
                <a:rPr lang="en-US" altLang="zh-CN" sz="2000" baseline="-25000">
                  <a:solidFill>
                    <a:schemeClr val="accent2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093" name="Text Box 167"/>
            <p:cNvSpPr txBox="1">
              <a:spLocks noChangeArrowheads="1"/>
            </p:cNvSpPr>
            <p:nvPr/>
          </p:nvSpPr>
          <p:spPr bwMode="auto">
            <a:xfrm>
              <a:off x="5121" y="1305"/>
              <a:ext cx="239" cy="25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chemeClr val="accent2"/>
                  </a:solidFill>
                  <a:latin typeface="Times New Roman" pitchFamily="18" charset="0"/>
                </a:rPr>
                <a:t>v</a:t>
              </a:r>
              <a:r>
                <a:rPr lang="en-US" altLang="zh-CN" sz="2000" baseline="-25000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3084" name="Text Box 169"/>
          <p:cNvSpPr txBox="1">
            <a:spLocks noChangeArrowheads="1"/>
          </p:cNvSpPr>
          <p:nvPr/>
        </p:nvSpPr>
        <p:spPr bwMode="auto">
          <a:xfrm>
            <a:off x="382588" y="1490663"/>
            <a:ext cx="50927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0" hangingPunct="0">
              <a:spcBef>
                <a:spcPct val="50000"/>
              </a:spcBef>
              <a:buFontTx/>
              <a:buAutoNum type="alphaLcParenBoth"/>
            </a:pPr>
            <a:r>
              <a:rPr kumimoji="0" lang="en-US" altLang="zh-CN" b="1" dirty="0">
                <a:latin typeface="+mn-lt"/>
              </a:rPr>
              <a:t>Find </a:t>
            </a:r>
            <a:r>
              <a:rPr kumimoji="0" lang="en-US" altLang="zh-CN" b="1" i="1" dirty="0">
                <a:latin typeface="+mn-lt"/>
              </a:rPr>
              <a:t>v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 if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=5sin45</a:t>
            </a:r>
            <a:r>
              <a:rPr kumimoji="0" lang="en-US" altLang="zh-CN" b="1" i="1" dirty="0">
                <a:latin typeface="+mn-lt"/>
              </a:rPr>
              <a:t>t</a:t>
            </a:r>
            <a:r>
              <a:rPr kumimoji="0" lang="en-US" altLang="zh-CN" b="1" dirty="0">
                <a:latin typeface="+mn-lt"/>
              </a:rPr>
              <a:t> A and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=0 ;</a:t>
            </a:r>
          </a:p>
          <a:p>
            <a:pPr marL="457200" indent="-457200" eaLnBrk="0" hangingPunct="0">
              <a:spcBef>
                <a:spcPct val="50000"/>
              </a:spcBef>
              <a:buFontTx/>
              <a:buAutoNum type="alphaLcParenBoth"/>
            </a:pPr>
            <a:r>
              <a:rPr kumimoji="0" lang="en-US" altLang="zh-CN" b="1" dirty="0">
                <a:latin typeface="+mn-lt"/>
              </a:rPr>
              <a:t>Find </a:t>
            </a:r>
            <a:r>
              <a:rPr kumimoji="0" lang="en-US" altLang="zh-CN" b="1" i="1" dirty="0">
                <a:latin typeface="+mn-lt"/>
              </a:rPr>
              <a:t>v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 if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1</a:t>
            </a:r>
            <a:r>
              <a:rPr kumimoji="0" lang="en-US" altLang="zh-CN" b="1" dirty="0">
                <a:latin typeface="+mn-lt"/>
              </a:rPr>
              <a:t>= </a:t>
            </a:r>
            <a:r>
              <a:rPr kumimoji="0" lang="en-US" altLang="zh-CN" b="1" dirty="0">
                <a:latin typeface="+mn-lt"/>
                <a:sym typeface="Symbol" pitchFamily="18" charset="2"/>
              </a:rPr>
              <a:t>-</a:t>
            </a:r>
            <a:r>
              <a:rPr kumimoji="0" lang="en-US" altLang="zh-CN" b="1" dirty="0">
                <a:latin typeface="+mn-lt"/>
              </a:rPr>
              <a:t>8e</a:t>
            </a:r>
            <a:r>
              <a:rPr kumimoji="0" lang="en-US" altLang="zh-CN" b="1" baseline="30000" dirty="0">
                <a:latin typeface="+mn-lt"/>
              </a:rPr>
              <a:t>-</a:t>
            </a:r>
            <a:r>
              <a:rPr kumimoji="0" lang="en-US" altLang="zh-CN" b="1" i="1" baseline="30000" dirty="0">
                <a:latin typeface="+mn-lt"/>
              </a:rPr>
              <a:t>t</a:t>
            </a:r>
            <a:r>
              <a:rPr kumimoji="0" lang="en-US" altLang="zh-CN" b="1" dirty="0">
                <a:latin typeface="+mn-lt"/>
              </a:rPr>
              <a:t> A and </a:t>
            </a:r>
            <a:r>
              <a:rPr kumimoji="0" lang="en-US" altLang="zh-CN" b="1" i="1" dirty="0">
                <a:latin typeface="+mn-lt"/>
              </a:rPr>
              <a:t>i</a:t>
            </a:r>
            <a:r>
              <a:rPr kumimoji="0" lang="en-US" altLang="zh-CN" b="1" baseline="-25000" dirty="0">
                <a:latin typeface="+mn-lt"/>
              </a:rPr>
              <a:t>2</a:t>
            </a:r>
            <a:r>
              <a:rPr kumimoji="0" lang="en-US" altLang="zh-CN" b="1" dirty="0">
                <a:latin typeface="+mn-lt"/>
              </a:rPr>
              <a:t>=0</a:t>
            </a:r>
            <a:r>
              <a:rPr kumimoji="0" lang="en-US" altLang="zh-CN" dirty="0">
                <a:latin typeface="+mn-lt"/>
              </a:rPr>
              <a:t> .</a:t>
            </a:r>
          </a:p>
        </p:txBody>
      </p:sp>
      <p:graphicFrame>
        <p:nvGraphicFramePr>
          <p:cNvPr id="541866" name="Object 170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519151"/>
              </p:ext>
            </p:extLst>
          </p:nvPr>
        </p:nvGraphicFramePr>
        <p:xfrm>
          <a:off x="1182688" y="2886075"/>
          <a:ext cx="17192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" name="Equation" r:id="rId4" imgW="927000" imgH="393480" progId="Equation.DSMT4">
                  <p:embed/>
                </p:oleObj>
              </mc:Choice>
              <mc:Fallback>
                <p:oleObj name="Equation" r:id="rId4" imgW="927000" imgH="393480" progId="Equation.DSMT4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2886075"/>
                        <a:ext cx="1719262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72"/>
          <p:cNvGraphicFramePr>
            <a:graphicFrameLocks noChangeAspect="1"/>
          </p:cNvGraphicFramePr>
          <p:nvPr/>
        </p:nvGraphicFramePr>
        <p:xfrm>
          <a:off x="6932613" y="900113"/>
          <a:ext cx="10525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" name="公式" r:id="rId6" imgW="507960" imgH="152280" progId="Equation.3">
                  <p:embed/>
                </p:oleObj>
              </mc:Choice>
              <mc:Fallback>
                <p:oleObj name="公式" r:id="rId6" imgW="507960" imgH="152280" progId="Equation.3">
                  <p:embed/>
                  <p:pic>
                    <p:nvPicPr>
                      <p:cNvPr id="0" name="Object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900113"/>
                        <a:ext cx="1052512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869" name="Object 173"/>
          <p:cNvGraphicFramePr>
            <a:graphicFrameLocks noChangeAspect="1"/>
          </p:cNvGraphicFramePr>
          <p:nvPr/>
        </p:nvGraphicFramePr>
        <p:xfrm>
          <a:off x="1758950" y="3808413"/>
          <a:ext cx="46688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" name="公式" r:id="rId8" imgW="1955520" imgH="190440" progId="Equation.3">
                  <p:embed/>
                </p:oleObj>
              </mc:Choice>
              <mc:Fallback>
                <p:oleObj name="公式" r:id="rId8" imgW="1955520" imgH="190440" progId="Equation.3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3808413"/>
                        <a:ext cx="4668838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870" name="Rectangle 174"/>
          <p:cNvSpPr>
            <a:spLocks noChangeArrowheads="1"/>
          </p:cNvSpPr>
          <p:nvPr/>
        </p:nvSpPr>
        <p:spPr bwMode="auto">
          <a:xfrm>
            <a:off x="265113" y="3006725"/>
            <a:ext cx="55245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 b="1"/>
              <a:t>(a)</a:t>
            </a:r>
          </a:p>
        </p:txBody>
      </p:sp>
      <p:graphicFrame>
        <p:nvGraphicFramePr>
          <p:cNvPr id="541871" name="Object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171694"/>
              </p:ext>
            </p:extLst>
          </p:nvPr>
        </p:nvGraphicFramePr>
        <p:xfrm>
          <a:off x="1156271" y="4452673"/>
          <a:ext cx="1831553" cy="777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" name="Equation" r:id="rId10" imgW="927000" imgH="393480" progId="Equation.DSMT4">
                  <p:embed/>
                </p:oleObj>
              </mc:Choice>
              <mc:Fallback>
                <p:oleObj name="Equation" r:id="rId10" imgW="927000" imgH="393480" progId="Equation.DSMT4">
                  <p:embed/>
                  <p:pic>
                    <p:nvPicPr>
                      <p:cNvPr id="0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271" y="4452673"/>
                        <a:ext cx="1831553" cy="77772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1872" name="Object 176"/>
          <p:cNvGraphicFramePr>
            <a:graphicFrameLocks noChangeAspect="1"/>
          </p:cNvGraphicFramePr>
          <p:nvPr/>
        </p:nvGraphicFramePr>
        <p:xfrm>
          <a:off x="1833563" y="5351463"/>
          <a:ext cx="36369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8" name="公式" r:id="rId12" imgW="1523880" imgH="215640" progId="Equation.3">
                  <p:embed/>
                </p:oleObj>
              </mc:Choice>
              <mc:Fallback>
                <p:oleObj name="公式" r:id="rId12" imgW="1523880" imgH="215640" progId="Equation.3">
                  <p:embed/>
                  <p:pic>
                    <p:nvPicPr>
                      <p:cNvPr id="0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5351463"/>
                        <a:ext cx="3636962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1873" name="Rectangle 177"/>
          <p:cNvSpPr>
            <a:spLocks noChangeArrowheads="1"/>
          </p:cNvSpPr>
          <p:nvPr/>
        </p:nvSpPr>
        <p:spPr bwMode="auto">
          <a:xfrm>
            <a:off x="254000" y="4591050"/>
            <a:ext cx="569913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zh-CN" b="1"/>
              <a:t>(b)</a:t>
            </a: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en-US" altLang="zh-CN" sz="3200" dirty="0"/>
              <a:t>Dot Convention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870" grpId="0"/>
      <p:bldP spid="5418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66911E-864D-4D3A-89F6-02007CB1DCF3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543895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008192"/>
              </p:ext>
            </p:extLst>
          </p:nvPr>
        </p:nvGraphicFramePr>
        <p:xfrm>
          <a:off x="4313238" y="2514303"/>
          <a:ext cx="3056384" cy="1032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3" imgW="1498320" imgH="507960" progId="Equation.DSMT4">
                  <p:embed/>
                </p:oleObj>
              </mc:Choice>
              <mc:Fallback>
                <p:oleObj name="Equation" r:id="rId3" imgW="1498320" imgH="507960" progId="Equation.DSMT4">
                  <p:embed/>
                  <p:pic>
                    <p:nvPicPr>
                      <p:cNvPr id="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2514303"/>
                        <a:ext cx="3056384" cy="103217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152"/>
          <p:cNvSpPr txBox="1">
            <a:spLocks noChangeArrowheads="1"/>
          </p:cNvSpPr>
          <p:nvPr/>
        </p:nvSpPr>
        <p:spPr bwMode="auto">
          <a:xfrm>
            <a:off x="2267744" y="1005816"/>
            <a:ext cx="49487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+mn-lt"/>
              </a:rPr>
              <a:t>Express </a:t>
            </a:r>
            <a:r>
              <a:rPr lang="en-US" altLang="zh-CN" sz="2800" b="1" i="1" dirty="0">
                <a:latin typeface="+mn-lt"/>
              </a:rPr>
              <a:t>v</a:t>
            </a:r>
            <a:r>
              <a:rPr lang="en-US" altLang="zh-CN" sz="2800" b="1" baseline="-25000" dirty="0">
                <a:latin typeface="+mn-lt"/>
              </a:rPr>
              <a:t>1</a:t>
            </a:r>
            <a:r>
              <a:rPr lang="en-US" altLang="zh-CN" sz="2800" b="1" dirty="0">
                <a:latin typeface="+mn-lt"/>
              </a:rPr>
              <a:t> and </a:t>
            </a:r>
            <a:r>
              <a:rPr lang="en-US" altLang="zh-CN" sz="2800" b="1" i="1" dirty="0">
                <a:latin typeface="+mn-lt"/>
              </a:rPr>
              <a:t>v</a:t>
            </a:r>
            <a:r>
              <a:rPr lang="en-US" altLang="zh-CN" sz="2800" b="1" baseline="-25000" dirty="0">
                <a:latin typeface="+mn-lt"/>
              </a:rPr>
              <a:t>2</a:t>
            </a:r>
            <a:r>
              <a:rPr lang="en-US" altLang="zh-CN" sz="2800" b="1" dirty="0">
                <a:latin typeface="+mn-lt"/>
              </a:rPr>
              <a:t> with </a:t>
            </a:r>
            <a:r>
              <a:rPr lang="en-US" altLang="zh-CN" sz="2800" b="1" i="1" dirty="0">
                <a:latin typeface="+mn-lt"/>
              </a:rPr>
              <a:t>i</a:t>
            </a:r>
            <a:r>
              <a:rPr lang="en-US" altLang="zh-CN" sz="2800" b="1" baseline="-25000" dirty="0">
                <a:latin typeface="+mn-lt"/>
              </a:rPr>
              <a:t>1</a:t>
            </a:r>
            <a:r>
              <a:rPr lang="en-US" altLang="zh-CN" sz="2800" b="1" dirty="0">
                <a:latin typeface="+mn-lt"/>
              </a:rPr>
              <a:t> and </a:t>
            </a:r>
            <a:r>
              <a:rPr lang="en-US" altLang="zh-CN" sz="2800" b="1" i="1" dirty="0">
                <a:latin typeface="+mn-lt"/>
              </a:rPr>
              <a:t>i</a:t>
            </a:r>
            <a:r>
              <a:rPr lang="en-US" altLang="zh-CN" sz="2800" b="1" baseline="-25000" dirty="0">
                <a:latin typeface="+mn-lt"/>
              </a:rPr>
              <a:t>2</a:t>
            </a:r>
            <a:r>
              <a:rPr lang="en-US" altLang="zh-CN" sz="2800" b="1" dirty="0">
                <a:latin typeface="+mn-lt"/>
              </a:rPr>
              <a:t>.</a:t>
            </a:r>
            <a:endParaRPr lang="en-US" altLang="zh-CN" b="1" dirty="0">
              <a:latin typeface="+mn-lt"/>
            </a:endParaRPr>
          </a:p>
        </p:txBody>
      </p:sp>
      <p:sp>
        <p:nvSpPr>
          <p:cNvPr id="6152" name="Rectangle 153"/>
          <p:cNvSpPr>
            <a:spLocks noChangeArrowheads="1"/>
          </p:cNvSpPr>
          <p:nvPr/>
        </p:nvSpPr>
        <p:spPr bwMode="auto">
          <a:xfrm>
            <a:off x="257584" y="1050925"/>
            <a:ext cx="1530325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Example</a:t>
            </a:r>
          </a:p>
        </p:txBody>
      </p:sp>
      <p:graphicFrame>
        <p:nvGraphicFramePr>
          <p:cNvPr id="543898" name="Object 1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544842"/>
              </p:ext>
            </p:extLst>
          </p:nvPr>
        </p:nvGraphicFramePr>
        <p:xfrm>
          <a:off x="4313238" y="3869745"/>
          <a:ext cx="3240361" cy="985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5" imgW="1663560" imgH="507960" progId="Equation.DSMT4">
                  <p:embed/>
                </p:oleObj>
              </mc:Choice>
              <mc:Fallback>
                <p:oleObj name="Equation" r:id="rId5" imgW="1663560" imgH="507960" progId="Equation.DSMT4">
                  <p:embed/>
                  <p:pic>
                    <p:nvPicPr>
                      <p:cNvPr id="0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3869745"/>
                        <a:ext cx="3240361" cy="9854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en-US" altLang="zh-CN" sz="3200" dirty="0"/>
              <a:t>Dot Convention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84" y="2484863"/>
            <a:ext cx="3168352" cy="2370291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5B083-DAD1-4B59-9F36-ED05AD70ED63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dirty="0">
                <a:latin typeface="+mn-lt"/>
                <a:ea typeface="宋体" pitchFamily="2" charset="-122"/>
              </a:rPr>
              <a:t>Mutual Inductance in phasor Form</a:t>
            </a:r>
            <a:endParaRPr lang="en-US" altLang="zh-CN" sz="3200" dirty="0"/>
          </a:p>
        </p:txBody>
      </p:sp>
      <p:sp>
        <p:nvSpPr>
          <p:cNvPr id="547852" name="AutoShape 12"/>
          <p:cNvSpPr>
            <a:spLocks noChangeArrowheads="1"/>
          </p:cNvSpPr>
          <p:nvPr/>
        </p:nvSpPr>
        <p:spPr bwMode="auto">
          <a:xfrm>
            <a:off x="4133850" y="2730500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78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159109"/>
              </p:ext>
            </p:extLst>
          </p:nvPr>
        </p:nvGraphicFramePr>
        <p:xfrm>
          <a:off x="733425" y="4221088"/>
          <a:ext cx="2706688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Equation" r:id="rId3" imgW="1180800" imgH="812520" progId="Equation.DSMT4">
                  <p:embed/>
                </p:oleObj>
              </mc:Choice>
              <mc:Fallback>
                <p:oleObj name="Equation" r:id="rId3" imgW="1180800" imgH="8125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4221088"/>
                        <a:ext cx="2706688" cy="185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78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989616"/>
              </p:ext>
            </p:extLst>
          </p:nvPr>
        </p:nvGraphicFramePr>
        <p:xfrm>
          <a:off x="4924425" y="4538588"/>
          <a:ext cx="3341688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9" name="Equation" r:id="rId5" imgW="1282680" imgH="482400" progId="Equation.DSMT4">
                  <p:embed/>
                </p:oleObj>
              </mc:Choice>
              <mc:Fallback>
                <p:oleObj name="Equation" r:id="rId5" imgW="1282680" imgH="4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4538588"/>
                        <a:ext cx="3341688" cy="1249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923" name="AutoShape 83"/>
          <p:cNvSpPr>
            <a:spLocks noChangeArrowheads="1"/>
          </p:cNvSpPr>
          <p:nvPr/>
        </p:nvSpPr>
        <p:spPr bwMode="auto">
          <a:xfrm>
            <a:off x="4067175" y="5059288"/>
            <a:ext cx="438150" cy="342900"/>
          </a:xfrm>
          <a:prstGeom prst="rightArrow">
            <a:avLst>
              <a:gd name="adj1" fmla="val 50000"/>
              <a:gd name="adj2" fmla="val 31944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35" y="1340768"/>
            <a:ext cx="3439370" cy="237626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4850" y="1301422"/>
            <a:ext cx="3657550" cy="2445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52" grpId="0" animBg="1"/>
      <p:bldP spid="5479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标题 1"/>
          <p:cNvSpPr>
            <a:spLocks noGrp="1"/>
          </p:cNvSpPr>
          <p:nvPr>
            <p:ph type="title"/>
          </p:nvPr>
        </p:nvSpPr>
        <p:spPr>
          <a:xfrm>
            <a:off x="615950" y="115888"/>
            <a:ext cx="8528050" cy="576262"/>
          </a:xfrm>
        </p:spPr>
        <p:txBody>
          <a:bodyPr/>
          <a:lstStyle/>
          <a:p>
            <a:r>
              <a:rPr kumimoji="0" lang="en-US" altLang="zh-CN" sz="3000" dirty="0">
                <a:latin typeface="+mn-lt"/>
                <a:ea typeface="宋体" pitchFamily="2" charset="-122"/>
              </a:rPr>
              <a:t>Model of Mutual Inductance in phasor Form </a:t>
            </a:r>
            <a:endParaRPr lang="zh-CN" altLang="en-US" sz="3000" dirty="0"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2FCA56-6C3B-4F02-B4E4-1486368B3B6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8198" name="Text Box 2"/>
          <p:cNvSpPr txBox="1">
            <a:spLocks noChangeArrowheads="1"/>
          </p:cNvSpPr>
          <p:nvPr/>
        </p:nvSpPr>
        <p:spPr bwMode="auto">
          <a:xfrm>
            <a:off x="672778" y="1154162"/>
            <a:ext cx="424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 mutual inductance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544944"/>
              </p:ext>
            </p:extLst>
          </p:nvPr>
        </p:nvGraphicFramePr>
        <p:xfrm>
          <a:off x="952500" y="2038350"/>
          <a:ext cx="29384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3" imgW="1282680" imgH="482400" progId="Equation.DSMT4">
                  <p:embed/>
                </p:oleObj>
              </mc:Choice>
              <mc:Fallback>
                <p:oleObj name="Equation" r:id="rId3" imgW="1282680" imgH="482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038350"/>
                        <a:ext cx="2938463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81702" y="4378275"/>
            <a:ext cx="4248150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analysis method: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equivalent circuit</a:t>
            </a:r>
            <a:endParaRPr lang="zh-CN" alt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4267200" y="2857500"/>
            <a:ext cx="457200" cy="1447800"/>
          </a:xfrm>
          <a:prstGeom prst="curvedRightArrow">
            <a:avLst>
              <a:gd name="adj1" fmla="val 63333"/>
              <a:gd name="adj2" fmla="val 12666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64" y="902872"/>
            <a:ext cx="3657550" cy="24458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5137" y="3767279"/>
            <a:ext cx="3767343" cy="2867127"/>
          </a:xfrm>
          <a:prstGeom prst="rect">
            <a:avLst/>
          </a:prstGeom>
          <a:solidFill>
            <a:srgbClr val="FFFFCC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6931957-964A-49C4-92A2-8DA0FF5464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286310"/>
              </p:ext>
            </p:extLst>
          </p:nvPr>
        </p:nvGraphicFramePr>
        <p:xfrm>
          <a:off x="1187624" y="4332051"/>
          <a:ext cx="4842908" cy="887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" name="Equation" r:id="rId4" imgW="3187440" imgH="583920" progId="Equation.DSMT4">
                  <p:embed/>
                </p:oleObj>
              </mc:Choice>
              <mc:Fallback>
                <p:oleObj name="Equation" r:id="rId4" imgW="3187440" imgH="583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4332051"/>
                        <a:ext cx="4842908" cy="8875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255833"/>
              </p:ext>
            </p:extLst>
          </p:nvPr>
        </p:nvGraphicFramePr>
        <p:xfrm>
          <a:off x="1187624" y="5301208"/>
          <a:ext cx="51323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" name="Equation" r:id="rId6" imgW="3149280" imgH="634680" progId="Equation.DSMT4">
                  <p:embed/>
                </p:oleObj>
              </mc:Choice>
              <mc:Fallback>
                <p:oleObj name="Equation" r:id="rId6" imgW="3149280" imgH="634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301208"/>
                        <a:ext cx="5132387" cy="10350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285750" y="857250"/>
            <a:ext cx="1346844" cy="46166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j-lt"/>
                <a:ea typeface="楷体_GB2312" pitchFamily="49" charset="-122"/>
              </a:rPr>
              <a:t>Example</a:t>
            </a:r>
            <a:endParaRPr lang="zh-CN" altLang="en-US" b="1" dirty="0">
              <a:latin typeface="+mj-lt"/>
              <a:ea typeface="楷体_GB2312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692561" y="857250"/>
            <a:ext cx="1731387" cy="511462"/>
            <a:chOff x="2257797" y="978352"/>
            <a:chExt cx="1791939" cy="493832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927622" y="978352"/>
              <a:ext cx="1106001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+mn-lt"/>
                </a:rPr>
                <a:t>, find</a:t>
              </a:r>
              <a:endParaRPr lang="zh-CN" altLang="en-US" sz="1600" b="1" baseline="-25000" dirty="0">
                <a:latin typeface="+mn-lt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1168287"/>
                </p:ext>
              </p:extLst>
            </p:nvPr>
          </p:nvGraphicFramePr>
          <p:xfrm>
            <a:off x="2257797" y="1016263"/>
            <a:ext cx="759869" cy="4559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7" name="Equation" r:id="rId8" imgW="507960" imgH="304560" progId="Equation.DSMT4">
                    <p:embed/>
                  </p:oleObj>
                </mc:Choice>
                <mc:Fallback>
                  <p:oleObj name="Equation" r:id="rId8" imgW="50796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57797" y="1016263"/>
                          <a:ext cx="759869" cy="4559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9353807"/>
                </p:ext>
              </p:extLst>
            </p:nvPr>
          </p:nvGraphicFramePr>
          <p:xfrm>
            <a:off x="3747412" y="1016263"/>
            <a:ext cx="302324" cy="452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8" name="Equation" r:id="rId10" imgW="203040" imgH="304560" progId="Equation.DSMT4">
                    <p:embed/>
                  </p:oleObj>
                </mc:Choice>
                <mc:Fallback>
                  <p:oleObj name="Equation" r:id="rId10" imgW="203040" imgH="30456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47412" y="1016263"/>
                          <a:ext cx="302324" cy="4527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文本框 17"/>
          <p:cNvSpPr txBox="1"/>
          <p:nvPr/>
        </p:nvSpPr>
        <p:spPr>
          <a:xfrm>
            <a:off x="285750" y="1395693"/>
            <a:ext cx="1405930" cy="46166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lt"/>
              </a:rPr>
              <a:t>Solution </a:t>
            </a:r>
            <a:endParaRPr lang="en-US" b="1" dirty="0">
              <a:latin typeface="+mn-lt"/>
            </a:endParaRPr>
          </a:p>
        </p:txBody>
      </p:sp>
      <p:sp>
        <p:nvSpPr>
          <p:cNvPr id="25" name="标题 1"/>
          <p:cNvSpPr>
            <a:spLocks noGrp="1"/>
          </p:cNvSpPr>
          <p:nvPr>
            <p:ph type="title"/>
          </p:nvPr>
        </p:nvSpPr>
        <p:spPr>
          <a:xfrm>
            <a:off x="615950" y="115888"/>
            <a:ext cx="8528050" cy="576262"/>
          </a:xfrm>
        </p:spPr>
        <p:txBody>
          <a:bodyPr/>
          <a:lstStyle/>
          <a:p>
            <a:r>
              <a:rPr kumimoji="0" lang="en-US" altLang="zh-CN" sz="3000" dirty="0">
                <a:latin typeface="+mn-lt"/>
                <a:ea typeface="宋体" pitchFamily="2" charset="-122"/>
              </a:rPr>
              <a:t>Model of Mutual Inductance in phasor Form </a:t>
            </a:r>
            <a:endParaRPr lang="zh-CN" altLang="en-US" sz="3000" dirty="0">
              <a:latin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594" y="835709"/>
            <a:ext cx="3879160" cy="364055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721" y="836712"/>
            <a:ext cx="3572279" cy="3743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5691E6-B081-4B59-A228-001F0BA18008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9636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Homework</a:t>
            </a:r>
            <a:endParaRPr lang="zh-CN" altLang="en-US" sz="3200"/>
          </a:p>
        </p:txBody>
      </p:sp>
      <p:sp>
        <p:nvSpPr>
          <p:cNvPr id="69637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1693652" y="1330965"/>
            <a:ext cx="5616996" cy="4376738"/>
          </a:xfrm>
        </p:spPr>
        <p:txBody>
          <a:bodyPr/>
          <a:lstStyle/>
          <a:p>
            <a:pPr marL="0" indent="0">
              <a:buNone/>
            </a:pPr>
            <a:endParaRPr lang="en-US" altLang="zh-CN" sz="3600" b="1" dirty="0"/>
          </a:p>
          <a:p>
            <a:r>
              <a:rPr lang="en-US" altLang="zh-CN" sz="3600" b="1" dirty="0" smtClean="0"/>
              <a:t>1,  2</a:t>
            </a:r>
            <a:r>
              <a:rPr lang="zh-CN" altLang="en-US" sz="3600" b="1" dirty="0" smtClean="0"/>
              <a:t>，</a:t>
            </a:r>
            <a:r>
              <a:rPr lang="en-US" altLang="zh-CN" sz="3600" b="1" dirty="0" smtClean="0"/>
              <a:t>3</a:t>
            </a:r>
            <a:endParaRPr lang="en-US" altLang="zh-CN" sz="3600" b="1" dirty="0"/>
          </a:p>
        </p:txBody>
      </p:sp>
    </p:spTree>
    <p:extLst>
      <p:ext uri="{BB962C8B-B14F-4D97-AF65-F5344CB8AC3E}">
        <p14:creationId xmlns:p14="http://schemas.microsoft.com/office/powerpoint/2010/main" val="395548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BCD92-99AE-401D-B614-013AD44F5A24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0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Connections of coupled inductors</a:t>
            </a:r>
          </a:p>
        </p:txBody>
      </p:sp>
      <p:sp>
        <p:nvSpPr>
          <p:cNvPr id="548868" name="Text Box 4"/>
          <p:cNvSpPr txBox="1">
            <a:spLocks noChangeArrowheads="1"/>
          </p:cNvSpPr>
          <p:nvPr/>
        </p:nvSpPr>
        <p:spPr bwMode="auto">
          <a:xfrm>
            <a:off x="211138" y="1355725"/>
            <a:ext cx="4016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+mn-lt"/>
              </a:rPr>
              <a:t>Series-aiding connection</a:t>
            </a:r>
          </a:p>
        </p:txBody>
      </p:sp>
      <p:graphicFrame>
        <p:nvGraphicFramePr>
          <p:cNvPr id="548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752592"/>
              </p:ext>
            </p:extLst>
          </p:nvPr>
        </p:nvGraphicFramePr>
        <p:xfrm>
          <a:off x="861095" y="3052425"/>
          <a:ext cx="2520280" cy="49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2" name="Equation" r:id="rId3" imgW="1536480" imgH="304560" progId="Equation.DSMT4">
                  <p:embed/>
                </p:oleObj>
              </mc:Choice>
              <mc:Fallback>
                <p:oleObj name="Equation" r:id="rId3" imgW="1536480" imgH="304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95" y="3052425"/>
                        <a:ext cx="2520280" cy="49703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870" name="Text Box 6"/>
          <p:cNvSpPr txBox="1">
            <a:spLocks noChangeArrowheads="1"/>
          </p:cNvSpPr>
          <p:nvPr/>
        </p:nvSpPr>
        <p:spPr bwMode="auto">
          <a:xfrm>
            <a:off x="188913" y="3817938"/>
            <a:ext cx="3773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+mn-lt"/>
              </a:rPr>
              <a:t>Series-opposing connection</a:t>
            </a:r>
            <a:endParaRPr lang="en-US" altLang="zh-CN" sz="2000" b="1" dirty="0">
              <a:latin typeface="+mn-lt"/>
            </a:endParaRPr>
          </a:p>
        </p:txBody>
      </p:sp>
      <p:graphicFrame>
        <p:nvGraphicFramePr>
          <p:cNvPr id="548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095260"/>
              </p:ext>
            </p:extLst>
          </p:nvPr>
        </p:nvGraphicFramePr>
        <p:xfrm>
          <a:off x="755577" y="5859044"/>
          <a:ext cx="2808312" cy="553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3" name="Equation" r:id="rId5" imgW="1536480" imgH="304560" progId="Equation.DSMT4">
                  <p:embed/>
                </p:oleObj>
              </mc:Choice>
              <mc:Fallback>
                <p:oleObj name="Equation" r:id="rId5" imgW="1536480" imgH="304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7" y="5859044"/>
                        <a:ext cx="2808312" cy="5539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682988"/>
              </p:ext>
            </p:extLst>
          </p:nvPr>
        </p:nvGraphicFramePr>
        <p:xfrm>
          <a:off x="4427984" y="5840998"/>
          <a:ext cx="19240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4" name="Equation" r:id="rId7" imgW="838080" imgH="215640" progId="Equation.3">
                  <p:embed/>
                </p:oleObj>
              </mc:Choice>
              <mc:Fallback>
                <p:oleObj name="Equation" r:id="rId7" imgW="83808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5840998"/>
                        <a:ext cx="19240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56607"/>
              </p:ext>
            </p:extLst>
          </p:nvPr>
        </p:nvGraphicFramePr>
        <p:xfrm>
          <a:off x="7020272" y="5679072"/>
          <a:ext cx="16398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5" name="Equation" r:id="rId9" imgW="787320" imgH="393480" progId="Equation.3">
                  <p:embed/>
                </p:oleObj>
              </mc:Choice>
              <mc:Fallback>
                <p:oleObj name="Equation" r:id="rId9" imgW="78732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679072"/>
                        <a:ext cx="1639888" cy="815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3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543550" y="1085850"/>
            <a:ext cx="3667125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48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302348"/>
              </p:ext>
            </p:extLst>
          </p:nvPr>
        </p:nvGraphicFramePr>
        <p:xfrm>
          <a:off x="323528" y="1871662"/>
          <a:ext cx="5231678" cy="9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6" name="Equation" r:id="rId12" imgW="3632040" imgH="660240" progId="Equation.DSMT4">
                  <p:embed/>
                </p:oleObj>
              </mc:Choice>
              <mc:Fallback>
                <p:oleObj name="Equation" r:id="rId12" imgW="3632040" imgH="6602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871662"/>
                        <a:ext cx="5231678" cy="9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8877" name="Picture 13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619750" y="3454400"/>
            <a:ext cx="3524250" cy="190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488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55373"/>
              </p:ext>
            </p:extLst>
          </p:nvPr>
        </p:nvGraphicFramePr>
        <p:xfrm>
          <a:off x="211138" y="4437112"/>
          <a:ext cx="5523963" cy="97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7" name="Equation" r:id="rId15" imgW="3632040" imgH="660240" progId="Equation.DSMT4">
                  <p:embed/>
                </p:oleObj>
              </mc:Choice>
              <mc:Fallback>
                <p:oleObj name="Equation" r:id="rId15" imgW="3632040" imgH="660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8" y="4437112"/>
                        <a:ext cx="5523963" cy="970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152400" y="839788"/>
            <a:ext cx="2847975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Series connection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8" grpId="0" autoUpdateAnimBg="0"/>
      <p:bldP spid="54887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D0B79F-DDE4-46A1-9E7A-C49009F7408A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54000" y="1755922"/>
            <a:ext cx="2346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Same direction</a:t>
            </a:r>
            <a:endParaRPr lang="zh-CN" altLang="en-US" b="1" dirty="0">
              <a:latin typeface="+mn-lt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494796"/>
              </p:ext>
            </p:extLst>
          </p:nvPr>
        </p:nvGraphicFramePr>
        <p:xfrm>
          <a:off x="2771800" y="1524000"/>
          <a:ext cx="2350814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1" name="Equation" r:id="rId3" imgW="1574640" imgH="583920" progId="Equation.DSMT4">
                  <p:embed/>
                </p:oleObj>
              </mc:Choice>
              <mc:Fallback>
                <p:oleObj name="Equation" r:id="rId3" imgW="1574640" imgH="5839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524000"/>
                        <a:ext cx="2350814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60672" y="2693193"/>
            <a:ext cx="14906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reverse</a:t>
            </a:r>
            <a:endParaRPr lang="zh-CN" altLang="en-US" sz="2000" b="1" dirty="0">
              <a:latin typeface="+mn-lt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908137"/>
              </p:ext>
            </p:extLst>
          </p:nvPr>
        </p:nvGraphicFramePr>
        <p:xfrm>
          <a:off x="2771800" y="2503330"/>
          <a:ext cx="2385028" cy="885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2" name="Equation" r:id="rId5" imgW="1574640" imgH="583920" progId="Equation.DSMT4">
                  <p:embed/>
                </p:oleObj>
              </mc:Choice>
              <mc:Fallback>
                <p:oleObj name="Equation" r:id="rId5" imgW="1574640" imgH="583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2503330"/>
                        <a:ext cx="2385028" cy="885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440406"/>
              </p:ext>
            </p:extLst>
          </p:nvPr>
        </p:nvGraphicFramePr>
        <p:xfrm>
          <a:off x="1126903" y="3562350"/>
          <a:ext cx="936624" cy="488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3" name="Equation" r:id="rId7" imgW="583920" imgH="304560" progId="Equation.DSMT4">
                  <p:embed/>
                </p:oleObj>
              </mc:Choice>
              <mc:Fallback>
                <p:oleObj name="Equation" r:id="rId7" imgW="583920" imgH="304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903" y="3562350"/>
                        <a:ext cx="936624" cy="488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127043"/>
              </p:ext>
            </p:extLst>
          </p:nvPr>
        </p:nvGraphicFramePr>
        <p:xfrm>
          <a:off x="868140" y="4378325"/>
          <a:ext cx="14716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4" name="Equation" r:id="rId9" imgW="736560" imgH="253800" progId="Equation.3">
                  <p:embed/>
                </p:oleObj>
              </mc:Choice>
              <mc:Fallback>
                <p:oleObj name="Equation" r:id="rId9" imgW="73656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140" y="4378325"/>
                        <a:ext cx="14716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163013"/>
              </p:ext>
            </p:extLst>
          </p:nvPr>
        </p:nvGraphicFramePr>
        <p:xfrm>
          <a:off x="3618756" y="3615606"/>
          <a:ext cx="227965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5" name="Equation" r:id="rId11" imgW="1143000" imgH="393480" progId="Equation.3">
                  <p:embed/>
                </p:oleObj>
              </mc:Choice>
              <mc:Fallback>
                <p:oleObj name="Equation" r:id="rId11" imgW="114300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8756" y="3615606"/>
                        <a:ext cx="227965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953853"/>
              </p:ext>
            </p:extLst>
          </p:nvPr>
        </p:nvGraphicFramePr>
        <p:xfrm>
          <a:off x="3682256" y="4379193"/>
          <a:ext cx="22860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6" name="Equation" r:id="rId13" imgW="1028520" imgH="253800" progId="Equation.3">
                  <p:embed/>
                </p:oleObj>
              </mc:Choice>
              <mc:Fallback>
                <p:oleObj name="Equation" r:id="rId13" imgW="102852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256" y="4379193"/>
                        <a:ext cx="22860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277981" y="5408040"/>
            <a:ext cx="33575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Coefficient of Coupling </a:t>
            </a:r>
            <a:endParaRPr lang="zh-CN" altLang="en-US" b="1" dirty="0">
              <a:latin typeface="+mn-lt"/>
            </a:endParaRPr>
          </a:p>
        </p:txBody>
      </p:sp>
      <p:graphicFrame>
        <p:nvGraphicFramePr>
          <p:cNvPr id="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854825"/>
              </p:ext>
            </p:extLst>
          </p:nvPr>
        </p:nvGraphicFramePr>
        <p:xfrm>
          <a:off x="3738207" y="5176175"/>
          <a:ext cx="25288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7" name="Equation" r:id="rId15" imgW="1193760" imgH="457200" progId="Equation.3">
                  <p:embed/>
                </p:oleObj>
              </mc:Choice>
              <mc:Fallback>
                <p:oleObj name="Equation" r:id="rId15" imgW="119376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207" y="5176175"/>
                        <a:ext cx="2528888" cy="968375"/>
                      </a:xfrm>
                      <a:prstGeom prst="rect">
                        <a:avLst/>
                      </a:prstGeom>
                      <a:solidFill>
                        <a:srgbClr val="99FF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21"/>
          <p:cNvSpPr>
            <a:spLocks noChangeArrowheads="1"/>
          </p:cNvSpPr>
          <p:nvPr/>
        </p:nvSpPr>
        <p:spPr bwMode="auto">
          <a:xfrm>
            <a:off x="536352" y="3819525"/>
            <a:ext cx="228600" cy="762000"/>
          </a:xfrm>
          <a:prstGeom prst="curvedRightArrow">
            <a:avLst>
              <a:gd name="adj1" fmla="val 66667"/>
              <a:gd name="adj2" fmla="val 133333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3275856" y="4017243"/>
            <a:ext cx="228600" cy="762000"/>
          </a:xfrm>
          <a:prstGeom prst="curvedRightArrow">
            <a:avLst>
              <a:gd name="adj1" fmla="val 66667"/>
              <a:gd name="adj2" fmla="val 133333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254000" y="936625"/>
            <a:ext cx="3175000" cy="461963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Parallel connection</a:t>
            </a:r>
            <a:endParaRPr lang="zh-CN" altLang="en-US" sz="2000" b="1" dirty="0">
              <a:latin typeface="+mn-lt"/>
            </a:endParaRPr>
          </a:p>
        </p:txBody>
      </p:sp>
      <p:pic>
        <p:nvPicPr>
          <p:cNvPr id="21" name="Picture 29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375400" y="847725"/>
            <a:ext cx="27686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0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6369050" y="2879725"/>
            <a:ext cx="2755900" cy="204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Connections of coupled inductors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/>
      <p:bldP spid="15" grpId="0" autoUpdateAnimBg="0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C082C7-37A9-44A6-AC1D-FA3E6DDB804C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kumimoji="0" lang="en-US" altLang="zh-CN" sz="3200" dirty="0">
                <a:latin typeface="+mn-lt"/>
                <a:ea typeface="宋体" pitchFamily="2" charset="-122"/>
              </a:rPr>
              <a:t>The Coupling Coefficient </a:t>
            </a:r>
            <a:endParaRPr kumimoji="0" lang="en-AU" altLang="zh-CN" sz="3200" dirty="0">
              <a:latin typeface="+mn-lt"/>
              <a:ea typeface="宋体" pitchFamily="2" charset="-122"/>
            </a:endParaRPr>
          </a:p>
        </p:txBody>
      </p:sp>
      <p:graphicFrame>
        <p:nvGraphicFramePr>
          <p:cNvPr id="553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69514"/>
              </p:ext>
            </p:extLst>
          </p:nvPr>
        </p:nvGraphicFramePr>
        <p:xfrm>
          <a:off x="2771800" y="897351"/>
          <a:ext cx="2376264" cy="912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0" name="公式" r:id="rId3" imgW="1193760" imgH="457200" progId="Equation.3">
                  <p:embed/>
                </p:oleObj>
              </mc:Choice>
              <mc:Fallback>
                <p:oleObj name="公式" r:id="rId3" imgW="119376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897351"/>
                        <a:ext cx="2376264" cy="91285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614390"/>
              </p:ext>
            </p:extLst>
          </p:nvPr>
        </p:nvGraphicFramePr>
        <p:xfrm>
          <a:off x="5868144" y="1177322"/>
          <a:ext cx="13239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公式" r:id="rId5" imgW="545760" imgH="177480" progId="Equation.3">
                  <p:embed/>
                </p:oleObj>
              </mc:Choice>
              <mc:Fallback>
                <p:oleObj name="公式" r:id="rId5" imgW="54576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177322"/>
                        <a:ext cx="13239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0" name="Text Box 6"/>
          <p:cNvSpPr txBox="1">
            <a:spLocks noChangeArrowheads="1"/>
          </p:cNvSpPr>
          <p:nvPr/>
        </p:nvSpPr>
        <p:spPr bwMode="auto">
          <a:xfrm>
            <a:off x="501778" y="3057394"/>
            <a:ext cx="35422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latin typeface="+mn-lt"/>
                <a:sym typeface="Symbol" panose="05050102010706020507" pitchFamily="18" charset="2"/>
              </a:rPr>
              <a:t></a:t>
            </a:r>
            <a:r>
              <a:rPr lang="en-US" altLang="zh-CN" b="1" i="1" dirty="0">
                <a:latin typeface="+mn-lt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latin typeface="+mn-lt"/>
              </a:rPr>
              <a:t>k </a:t>
            </a:r>
            <a:r>
              <a:rPr lang="en-US" altLang="zh-CN" b="1" dirty="0">
                <a:latin typeface="+mn-lt"/>
              </a:rPr>
              <a:t>=1 : perfectly coupled</a:t>
            </a:r>
            <a:endParaRPr lang="en-US" altLang="zh-CN" sz="2000" b="1" baseline="-25000" dirty="0">
              <a:latin typeface="+mn-lt"/>
            </a:endParaRPr>
          </a:p>
        </p:txBody>
      </p:sp>
      <p:sp>
        <p:nvSpPr>
          <p:cNvPr id="553991" name="Text Box 7"/>
          <p:cNvSpPr txBox="1">
            <a:spLocks noChangeArrowheads="1"/>
          </p:cNvSpPr>
          <p:nvPr/>
        </p:nvSpPr>
        <p:spPr bwMode="auto">
          <a:xfrm>
            <a:off x="722332" y="6208175"/>
            <a:ext cx="35616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b="1" i="1" dirty="0">
                <a:latin typeface="+mn-lt"/>
                <a:sym typeface="Symbol" panose="05050102010706020507" pitchFamily="18" charset="2"/>
              </a:rPr>
              <a:t>k </a:t>
            </a:r>
            <a:r>
              <a:rPr lang="en-US" altLang="zh-CN" b="1" dirty="0">
                <a:latin typeface="+mn-lt"/>
              </a:rPr>
              <a:t>&gt; 0.5 : tightly coupled</a:t>
            </a:r>
          </a:p>
        </p:txBody>
      </p:sp>
      <p:sp>
        <p:nvSpPr>
          <p:cNvPr id="553992" name="Text Box 8"/>
          <p:cNvSpPr txBox="1">
            <a:spLocks noChangeArrowheads="1"/>
          </p:cNvSpPr>
          <p:nvPr/>
        </p:nvSpPr>
        <p:spPr bwMode="auto">
          <a:xfrm>
            <a:off x="4932040" y="6245561"/>
            <a:ext cx="352373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b="1" i="1" dirty="0">
                <a:latin typeface="+mn-lt"/>
              </a:rPr>
              <a:t>k </a:t>
            </a:r>
            <a:r>
              <a:rPr lang="en-US" altLang="zh-CN" b="1" dirty="0">
                <a:latin typeface="+mn-lt"/>
              </a:rPr>
              <a:t>&lt; 0.5 : loosely coupled</a:t>
            </a:r>
          </a:p>
        </p:txBody>
      </p:sp>
      <p:sp>
        <p:nvSpPr>
          <p:cNvPr id="553993" name="Text Box 9"/>
          <p:cNvSpPr txBox="1">
            <a:spLocks noChangeArrowheads="1"/>
          </p:cNvSpPr>
          <p:nvPr/>
        </p:nvSpPr>
        <p:spPr bwMode="auto">
          <a:xfrm>
            <a:off x="525730" y="1881065"/>
            <a:ext cx="8294741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+mn-lt"/>
              </a:rPr>
              <a:t>The coupling coefficient is a measure of the magnetic coupling between two coils. It depends on the closeness of the two coils, their core, their orientation, and their windings</a:t>
            </a:r>
            <a:endParaRPr lang="en-US" altLang="zh-CN" sz="2000" b="1" baseline="-25000" dirty="0">
              <a:latin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507" y="3160781"/>
            <a:ext cx="1781230" cy="30096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3648" y="3702725"/>
            <a:ext cx="1541640" cy="2449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3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3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3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90" grpId="0" build="p" autoUpdateAnimBg="0"/>
      <p:bldP spid="553991" grpId="0" build="p" autoUpdateAnimBg="0"/>
      <p:bldP spid="553992" grpId="0" build="p" autoUpdateAnimBg="0"/>
      <p:bldP spid="55399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32DBBD-789B-40AE-865B-4AD526CE0A69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Energy Considerations </a:t>
            </a:r>
          </a:p>
        </p:txBody>
      </p:sp>
      <p:grpSp>
        <p:nvGrpSpPr>
          <p:cNvPr id="12296" name="Group 16"/>
          <p:cNvGrpSpPr>
            <a:grpSpLocks/>
          </p:cNvGrpSpPr>
          <p:nvPr/>
        </p:nvGrpSpPr>
        <p:grpSpPr bwMode="auto">
          <a:xfrm>
            <a:off x="5753100" y="923925"/>
            <a:ext cx="3262313" cy="2124075"/>
            <a:chOff x="3624" y="582"/>
            <a:chExt cx="2055" cy="1338"/>
          </a:xfrm>
        </p:grpSpPr>
        <p:grpSp>
          <p:nvGrpSpPr>
            <p:cNvPr id="12302" name="Group 3"/>
            <p:cNvGrpSpPr>
              <a:grpSpLocks/>
            </p:cNvGrpSpPr>
            <p:nvPr/>
          </p:nvGrpSpPr>
          <p:grpSpPr bwMode="auto">
            <a:xfrm>
              <a:off x="3624" y="582"/>
              <a:ext cx="2055" cy="1338"/>
              <a:chOff x="3349" y="639"/>
              <a:chExt cx="2055" cy="1338"/>
            </a:xfrm>
          </p:grpSpPr>
          <p:pic>
            <p:nvPicPr>
              <p:cNvPr id="12305" name="Picture 4" descr="1302"/>
              <p:cNvPicPr>
                <a:picLocks noChangeAspect="1" noChangeArrowheads="1"/>
              </p:cNvPicPr>
              <p:nvPr/>
            </p:nvPicPr>
            <p:blipFill>
              <a:blip r:embed="rId3"/>
              <a:srcRect t="24681" r="9715" b="53983"/>
              <a:stretch>
                <a:fillRect/>
              </a:stretch>
            </p:blipFill>
            <p:spPr bwMode="auto">
              <a:xfrm>
                <a:off x="3376" y="642"/>
                <a:ext cx="2026" cy="1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306" name="Rectangle 5"/>
              <p:cNvSpPr>
                <a:spLocks noChangeArrowheads="1"/>
              </p:cNvSpPr>
              <p:nvPr/>
            </p:nvSpPr>
            <p:spPr bwMode="auto">
              <a:xfrm>
                <a:off x="4899" y="1210"/>
                <a:ext cx="505" cy="384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2307" name="Group 6"/>
              <p:cNvGrpSpPr>
                <a:grpSpLocks/>
              </p:cNvGrpSpPr>
              <p:nvPr/>
            </p:nvGrpSpPr>
            <p:grpSpPr bwMode="auto">
              <a:xfrm>
                <a:off x="3391" y="1048"/>
                <a:ext cx="88" cy="711"/>
                <a:chOff x="5388" y="1061"/>
                <a:chExt cx="88" cy="711"/>
              </a:xfrm>
            </p:grpSpPr>
            <p:sp>
              <p:nvSpPr>
                <p:cNvPr id="12312" name="Line 7"/>
                <p:cNvSpPr>
                  <a:spLocks noChangeShapeType="1"/>
                </p:cNvSpPr>
                <p:nvPr/>
              </p:nvSpPr>
              <p:spPr bwMode="auto">
                <a:xfrm>
                  <a:off x="5388" y="1100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13" name="Line 8"/>
                <p:cNvSpPr>
                  <a:spLocks noChangeShapeType="1"/>
                </p:cNvSpPr>
                <p:nvPr/>
              </p:nvSpPr>
              <p:spPr bwMode="auto">
                <a:xfrm>
                  <a:off x="5427" y="1061"/>
                  <a:ext cx="0" cy="77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14" name="Line 9"/>
                <p:cNvSpPr>
                  <a:spLocks noChangeShapeType="1"/>
                </p:cNvSpPr>
                <p:nvPr/>
              </p:nvSpPr>
              <p:spPr bwMode="auto">
                <a:xfrm>
                  <a:off x="5393" y="1772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308" name="Line 10"/>
              <p:cNvSpPr>
                <a:spLocks noChangeShapeType="1"/>
              </p:cNvSpPr>
              <p:nvPr/>
            </p:nvSpPr>
            <p:spPr bwMode="auto">
              <a:xfrm flipH="1">
                <a:off x="4902" y="909"/>
                <a:ext cx="179" cy="0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 type="stealth" w="med" len="lg"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09" name="Text Box 11"/>
              <p:cNvSpPr txBox="1">
                <a:spLocks noChangeArrowheads="1"/>
              </p:cNvSpPr>
              <p:nvPr/>
            </p:nvSpPr>
            <p:spPr bwMode="auto">
              <a:xfrm>
                <a:off x="4909" y="639"/>
                <a:ext cx="212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i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2310" name="Text Box 12"/>
              <p:cNvSpPr txBox="1">
                <a:spLocks noChangeArrowheads="1"/>
              </p:cNvSpPr>
              <p:nvPr/>
            </p:nvSpPr>
            <p:spPr bwMode="auto">
              <a:xfrm>
                <a:off x="3349" y="1297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2311" name="Text Box 13"/>
              <p:cNvSpPr txBox="1">
                <a:spLocks noChangeArrowheads="1"/>
              </p:cNvSpPr>
              <p:nvPr/>
            </p:nvSpPr>
            <p:spPr bwMode="auto">
              <a:xfrm>
                <a:off x="5121" y="1305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12303" name="Oval 14"/>
            <p:cNvSpPr>
              <a:spLocks noChangeArrowheads="1"/>
            </p:cNvSpPr>
            <p:nvPr/>
          </p:nvSpPr>
          <p:spPr bwMode="auto">
            <a:xfrm>
              <a:off x="4854" y="1626"/>
              <a:ext cx="96" cy="102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4" name="Oval 15"/>
            <p:cNvSpPr>
              <a:spLocks noChangeArrowheads="1"/>
            </p:cNvSpPr>
            <p:nvPr/>
          </p:nvSpPr>
          <p:spPr bwMode="auto">
            <a:xfrm>
              <a:off x="4854" y="1002"/>
              <a:ext cx="56" cy="56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297" name="Text Box 17"/>
          <p:cNvSpPr txBox="1">
            <a:spLocks noChangeArrowheads="1"/>
          </p:cNvSpPr>
          <p:nvPr/>
        </p:nvSpPr>
        <p:spPr bwMode="auto">
          <a:xfrm>
            <a:off x="35496" y="887413"/>
            <a:ext cx="5729288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Demonstration of M</a:t>
            </a:r>
            <a:r>
              <a:rPr kumimoji="0" lang="en-US" altLang="zh-CN" b="1" baseline="-25000" dirty="0">
                <a:latin typeface="Arial" charset="0"/>
                <a:ea typeface="宋体" pitchFamily="2" charset="-122"/>
              </a:rPr>
              <a:t>12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= M</a:t>
            </a:r>
            <a:r>
              <a:rPr kumimoji="0" lang="en-US" altLang="zh-CN" b="1" baseline="-25000" dirty="0">
                <a:latin typeface="Arial" charset="0"/>
                <a:ea typeface="宋体" pitchFamily="2" charset="-122"/>
              </a:rPr>
              <a:t>21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 by Energy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sp>
        <p:nvSpPr>
          <p:cNvPr id="551955" name="Text Box 19"/>
          <p:cNvSpPr txBox="1">
            <a:spLocks noChangeArrowheads="1"/>
          </p:cNvSpPr>
          <p:nvPr/>
        </p:nvSpPr>
        <p:spPr bwMode="auto">
          <a:xfrm>
            <a:off x="1219709" y="2609493"/>
            <a:ext cx="4029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0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 :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=0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, 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=0</a:t>
            </a:r>
          </a:p>
        </p:txBody>
      </p:sp>
      <p:graphicFrame>
        <p:nvGraphicFramePr>
          <p:cNvPr id="5519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786183"/>
              </p:ext>
            </p:extLst>
          </p:nvPr>
        </p:nvGraphicFramePr>
        <p:xfrm>
          <a:off x="4767263" y="3003372"/>
          <a:ext cx="32781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3" name="Equation" r:id="rId4" imgW="2070000" imgH="507960" progId="Equation.DSMT4">
                  <p:embed/>
                </p:oleObj>
              </mc:Choice>
              <mc:Fallback>
                <p:oleObj name="Equation" r:id="rId4" imgW="2070000" imgH="5079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7263" y="3003372"/>
                        <a:ext cx="32781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1957" name="Text Box 21"/>
          <p:cNvSpPr txBox="1">
            <a:spLocks noChangeArrowheads="1"/>
          </p:cNvSpPr>
          <p:nvPr/>
        </p:nvSpPr>
        <p:spPr bwMode="auto">
          <a:xfrm>
            <a:off x="1150617" y="4585541"/>
            <a:ext cx="32754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dirty="0">
                <a:latin typeface="Times New Roman" pitchFamily="18" charset="0"/>
              </a:rPr>
              <a:t> :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=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, 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=0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endParaRPr lang="en-US" altLang="zh-CN" b="1" dirty="0">
              <a:latin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8410" y="1283214"/>
            <a:ext cx="5516103" cy="1333512"/>
            <a:chOff x="108410" y="1283214"/>
            <a:chExt cx="5516103" cy="1333512"/>
          </a:xfrm>
        </p:grpSpPr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108410" y="1416397"/>
              <a:ext cx="5516103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Using                     ,</a:t>
              </a: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calculate the stored energy in coupled inductors at time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when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)=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)=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466052"/>
                </p:ext>
              </p:extLst>
            </p:nvPr>
          </p:nvGraphicFramePr>
          <p:xfrm>
            <a:off x="1128249" y="1283214"/>
            <a:ext cx="1364964" cy="702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64" name="Equation" r:id="rId6" imgW="990360" imgH="507960" progId="Equation.DSMT4">
                    <p:embed/>
                  </p:oleObj>
                </mc:Choice>
                <mc:Fallback>
                  <p:oleObj name="Equation" r:id="rId6" imgW="990360" imgH="507960" progId="Equation.DSMT4">
                    <p:embed/>
                    <p:pic>
                      <p:nvPicPr>
                        <p:cNvPr id="5529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249" y="1283214"/>
                          <a:ext cx="1364964" cy="702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108410" y="2585634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Step1:</a:t>
            </a:r>
            <a:endParaRPr lang="en-US" dirty="0"/>
          </a:p>
        </p:txBody>
      </p:sp>
      <p:graphicFrame>
        <p:nvGraphicFramePr>
          <p:cNvPr id="30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394791"/>
              </p:ext>
            </p:extLst>
          </p:nvPr>
        </p:nvGraphicFramePr>
        <p:xfrm>
          <a:off x="996547" y="3082661"/>
          <a:ext cx="1184050" cy="72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" name="Equation" r:id="rId8" imgW="825480" imgH="507960" progId="Equation.DSMT4">
                  <p:embed/>
                </p:oleObj>
              </mc:Choice>
              <mc:Fallback>
                <p:oleObj name="Equation" r:id="rId8" imgW="825480" imgH="507960" progId="Equation.DSMT4">
                  <p:embed/>
                  <p:pic>
                    <p:nvPicPr>
                      <p:cNvPr id="543895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547" y="3082661"/>
                        <a:ext cx="1184050" cy="72718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213752"/>
              </p:ext>
            </p:extLst>
          </p:nvPr>
        </p:nvGraphicFramePr>
        <p:xfrm>
          <a:off x="2728913" y="3060700"/>
          <a:ext cx="15049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6" name="Equation" r:id="rId10" imgW="1002960" imgH="507960" progId="Equation.DSMT4">
                  <p:embed/>
                </p:oleObj>
              </mc:Choice>
              <mc:Fallback>
                <p:oleObj name="Equation" r:id="rId10" imgW="1002960" imgH="507960" progId="Equation.DSMT4">
                  <p:embed/>
                  <p:pic>
                    <p:nvPicPr>
                      <p:cNvPr id="543895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3060700"/>
                        <a:ext cx="1504950" cy="760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281517"/>
              </p:ext>
            </p:extLst>
          </p:nvPr>
        </p:nvGraphicFramePr>
        <p:xfrm>
          <a:off x="807485" y="3815131"/>
          <a:ext cx="4624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7" name="Equation" r:id="rId12" imgW="2920680" imgH="507960" progId="Equation.DSMT4">
                  <p:embed/>
                </p:oleObj>
              </mc:Choice>
              <mc:Fallback>
                <p:oleObj name="Equation" r:id="rId12" imgW="2920680" imgH="507960" progId="Equation.DSMT4">
                  <p:embed/>
                  <p:pic>
                    <p:nvPicPr>
                      <p:cNvPr id="551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485" y="3815131"/>
                        <a:ext cx="4624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130138" y="4585541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Step2:</a:t>
            </a:r>
            <a:endParaRPr lang="en-US" dirty="0"/>
          </a:p>
        </p:txBody>
      </p:sp>
      <p:graphicFrame>
        <p:nvGraphicFramePr>
          <p:cNvPr id="34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069265"/>
              </p:ext>
            </p:extLst>
          </p:nvPr>
        </p:nvGraphicFramePr>
        <p:xfrm>
          <a:off x="727780" y="5090541"/>
          <a:ext cx="35353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8" name="Equation" r:id="rId14" imgW="2463480" imgH="507960" progId="Equation.DSMT4">
                  <p:embed/>
                </p:oleObj>
              </mc:Choice>
              <mc:Fallback>
                <p:oleObj name="Equation" r:id="rId14" imgW="2463480" imgH="507960" progId="Equation.DSMT4">
                  <p:embed/>
                  <p:pic>
                    <p:nvPicPr>
                      <p:cNvPr id="3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80" y="5090541"/>
                        <a:ext cx="3535362" cy="7270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283377"/>
              </p:ext>
            </p:extLst>
          </p:nvPr>
        </p:nvGraphicFramePr>
        <p:xfrm>
          <a:off x="4864749" y="5047206"/>
          <a:ext cx="1296162" cy="73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9" name="Equation" r:id="rId16" imgW="888840" imgH="507960" progId="Equation.DSMT4">
                  <p:embed/>
                </p:oleObj>
              </mc:Choice>
              <mc:Fallback>
                <p:oleObj name="Equation" r:id="rId16" imgW="888840" imgH="507960" progId="Equation.DSMT4">
                  <p:embed/>
                  <p:pic>
                    <p:nvPicPr>
                      <p:cNvPr id="30" name="Object 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749" y="5047206"/>
                        <a:ext cx="1296162" cy="7392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863129"/>
              </p:ext>
            </p:extLst>
          </p:nvPr>
        </p:nvGraphicFramePr>
        <p:xfrm>
          <a:off x="1025823" y="5876925"/>
          <a:ext cx="49863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0" name="Equation" r:id="rId18" imgW="3149280" imgH="507960" progId="Equation.DSMT4">
                  <p:embed/>
                </p:oleObj>
              </mc:Choice>
              <mc:Fallback>
                <p:oleObj name="Equation" r:id="rId18" imgW="3149280" imgH="507960" progId="Equation.DSMT4">
                  <p:embed/>
                  <p:pic>
                    <p:nvPicPr>
                      <p:cNvPr id="551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823" y="5876925"/>
                        <a:ext cx="49863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51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55" grpId="0" build="p" autoUpdateAnimBg="0"/>
      <p:bldP spid="551957" grpId="0" build="p" autoUpdateAnimBg="0"/>
      <p:bldP spid="2" grpId="0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32DBBD-789B-40AE-865B-4AD526CE0A69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Energy Considerations </a:t>
            </a:r>
          </a:p>
        </p:txBody>
      </p:sp>
      <p:grpSp>
        <p:nvGrpSpPr>
          <p:cNvPr id="12296" name="Group 16"/>
          <p:cNvGrpSpPr>
            <a:grpSpLocks/>
          </p:cNvGrpSpPr>
          <p:nvPr/>
        </p:nvGrpSpPr>
        <p:grpSpPr bwMode="auto">
          <a:xfrm>
            <a:off x="5742366" y="846248"/>
            <a:ext cx="3262313" cy="2124075"/>
            <a:chOff x="3624" y="582"/>
            <a:chExt cx="2055" cy="1338"/>
          </a:xfrm>
        </p:grpSpPr>
        <p:grpSp>
          <p:nvGrpSpPr>
            <p:cNvPr id="12302" name="Group 3"/>
            <p:cNvGrpSpPr>
              <a:grpSpLocks/>
            </p:cNvGrpSpPr>
            <p:nvPr/>
          </p:nvGrpSpPr>
          <p:grpSpPr bwMode="auto">
            <a:xfrm>
              <a:off x="3624" y="582"/>
              <a:ext cx="2055" cy="1338"/>
              <a:chOff x="3349" y="639"/>
              <a:chExt cx="2055" cy="1338"/>
            </a:xfrm>
          </p:grpSpPr>
          <p:pic>
            <p:nvPicPr>
              <p:cNvPr id="12305" name="Picture 4" descr="1302"/>
              <p:cNvPicPr>
                <a:picLocks noChangeAspect="1" noChangeArrowheads="1"/>
              </p:cNvPicPr>
              <p:nvPr/>
            </p:nvPicPr>
            <p:blipFill>
              <a:blip r:embed="rId3"/>
              <a:srcRect t="24681" r="9715" b="53983"/>
              <a:stretch>
                <a:fillRect/>
              </a:stretch>
            </p:blipFill>
            <p:spPr bwMode="auto">
              <a:xfrm>
                <a:off x="3376" y="642"/>
                <a:ext cx="2026" cy="1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2306" name="Rectangle 5"/>
              <p:cNvSpPr>
                <a:spLocks noChangeArrowheads="1"/>
              </p:cNvSpPr>
              <p:nvPr/>
            </p:nvSpPr>
            <p:spPr bwMode="auto">
              <a:xfrm>
                <a:off x="4899" y="1210"/>
                <a:ext cx="505" cy="384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2307" name="Group 6"/>
              <p:cNvGrpSpPr>
                <a:grpSpLocks/>
              </p:cNvGrpSpPr>
              <p:nvPr/>
            </p:nvGrpSpPr>
            <p:grpSpPr bwMode="auto">
              <a:xfrm>
                <a:off x="3391" y="1048"/>
                <a:ext cx="88" cy="711"/>
                <a:chOff x="5388" y="1061"/>
                <a:chExt cx="88" cy="711"/>
              </a:xfrm>
            </p:grpSpPr>
            <p:sp>
              <p:nvSpPr>
                <p:cNvPr id="12312" name="Line 7"/>
                <p:cNvSpPr>
                  <a:spLocks noChangeShapeType="1"/>
                </p:cNvSpPr>
                <p:nvPr/>
              </p:nvSpPr>
              <p:spPr bwMode="auto">
                <a:xfrm>
                  <a:off x="5388" y="1100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13" name="Line 8"/>
                <p:cNvSpPr>
                  <a:spLocks noChangeShapeType="1"/>
                </p:cNvSpPr>
                <p:nvPr/>
              </p:nvSpPr>
              <p:spPr bwMode="auto">
                <a:xfrm>
                  <a:off x="5427" y="1061"/>
                  <a:ext cx="0" cy="77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14" name="Line 9"/>
                <p:cNvSpPr>
                  <a:spLocks noChangeShapeType="1"/>
                </p:cNvSpPr>
                <p:nvPr/>
              </p:nvSpPr>
              <p:spPr bwMode="auto">
                <a:xfrm>
                  <a:off x="5393" y="1772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2308" name="Line 10"/>
              <p:cNvSpPr>
                <a:spLocks noChangeShapeType="1"/>
              </p:cNvSpPr>
              <p:nvPr/>
            </p:nvSpPr>
            <p:spPr bwMode="auto">
              <a:xfrm flipH="1">
                <a:off x="4902" y="909"/>
                <a:ext cx="179" cy="0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 type="stealth" w="med" len="lg"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09" name="Text Box 11"/>
              <p:cNvSpPr txBox="1">
                <a:spLocks noChangeArrowheads="1"/>
              </p:cNvSpPr>
              <p:nvPr/>
            </p:nvSpPr>
            <p:spPr bwMode="auto">
              <a:xfrm>
                <a:off x="4909" y="639"/>
                <a:ext cx="212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i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2310" name="Text Box 12"/>
              <p:cNvSpPr txBox="1">
                <a:spLocks noChangeArrowheads="1"/>
              </p:cNvSpPr>
              <p:nvPr/>
            </p:nvSpPr>
            <p:spPr bwMode="auto">
              <a:xfrm>
                <a:off x="3349" y="1297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2311" name="Text Box 13"/>
              <p:cNvSpPr txBox="1">
                <a:spLocks noChangeArrowheads="1"/>
              </p:cNvSpPr>
              <p:nvPr/>
            </p:nvSpPr>
            <p:spPr bwMode="auto">
              <a:xfrm>
                <a:off x="5121" y="1305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12303" name="Oval 14"/>
            <p:cNvSpPr>
              <a:spLocks noChangeArrowheads="1"/>
            </p:cNvSpPr>
            <p:nvPr/>
          </p:nvSpPr>
          <p:spPr bwMode="auto">
            <a:xfrm>
              <a:off x="4854" y="1626"/>
              <a:ext cx="96" cy="102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4" name="Oval 15"/>
            <p:cNvSpPr>
              <a:spLocks noChangeArrowheads="1"/>
            </p:cNvSpPr>
            <p:nvPr/>
          </p:nvSpPr>
          <p:spPr bwMode="auto">
            <a:xfrm>
              <a:off x="4854" y="1002"/>
              <a:ext cx="56" cy="56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519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056321"/>
              </p:ext>
            </p:extLst>
          </p:nvPr>
        </p:nvGraphicFramePr>
        <p:xfrm>
          <a:off x="615950" y="3704478"/>
          <a:ext cx="6045150" cy="82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7" name="Equation" r:id="rId4" imgW="3746160" imgH="507960" progId="Equation.DSMT4">
                  <p:embed/>
                </p:oleObj>
              </mc:Choice>
              <mc:Fallback>
                <p:oleObj name="Equation" r:id="rId4" imgW="3746160" imgH="507960" progId="Equation.DSMT4">
                  <p:embed/>
                  <p:pic>
                    <p:nvPicPr>
                      <p:cNvPr id="551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3704478"/>
                        <a:ext cx="6045150" cy="82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1957" name="Text Box 21"/>
          <p:cNvSpPr txBox="1">
            <a:spLocks noChangeArrowheads="1"/>
          </p:cNvSpPr>
          <p:nvPr/>
        </p:nvSpPr>
        <p:spPr bwMode="auto">
          <a:xfrm>
            <a:off x="1365078" y="5022908"/>
            <a:ext cx="41283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itchFamily="18" charset="0"/>
              </a:rPr>
              <a:t>step2, </a:t>
            </a:r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 :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=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,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= 0</a:t>
            </a:r>
            <a:r>
              <a:rPr lang="en-US" altLang="zh-CN" b="1" dirty="0"/>
              <a:t>→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</a:p>
        </p:txBody>
      </p:sp>
      <p:graphicFrame>
        <p:nvGraphicFramePr>
          <p:cNvPr id="5519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753826"/>
              </p:ext>
            </p:extLst>
          </p:nvPr>
        </p:nvGraphicFramePr>
        <p:xfrm>
          <a:off x="1068388" y="5546725"/>
          <a:ext cx="39655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8" name="Equation" r:id="rId6" imgW="2361960" imgH="507960" progId="Equation.DSMT4">
                  <p:embed/>
                </p:oleObj>
              </mc:Choice>
              <mc:Fallback>
                <p:oleObj name="Equation" r:id="rId6" imgW="2361960" imgH="507960" progId="Equation.DSMT4">
                  <p:embed/>
                  <p:pic>
                    <p:nvPicPr>
                      <p:cNvPr id="5519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388" y="5546725"/>
                        <a:ext cx="39655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1959" name="Text Box 23"/>
          <p:cNvSpPr txBox="1">
            <a:spLocks noChangeArrowheads="1"/>
          </p:cNvSpPr>
          <p:nvPr/>
        </p:nvSpPr>
        <p:spPr bwMode="auto">
          <a:xfrm>
            <a:off x="5622511" y="4326549"/>
            <a:ext cx="35020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initial and final conditions are the same, the stored energy must be equal.</a:t>
            </a:r>
            <a:endParaRPr lang="en-US" altLang="zh-C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519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601877"/>
              </p:ext>
            </p:extLst>
          </p:nvPr>
        </p:nvGraphicFramePr>
        <p:xfrm>
          <a:off x="5854224" y="6053750"/>
          <a:ext cx="25130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9" name="公式" r:id="rId8" imgW="1002960" imgH="215640" progId="Equation.3">
                  <p:embed/>
                </p:oleObj>
              </mc:Choice>
              <mc:Fallback>
                <p:oleObj name="公式" r:id="rId8" imgW="1002960" imgH="215640" progId="Equation.3">
                  <p:embed/>
                  <p:pic>
                    <p:nvPicPr>
                      <p:cNvPr id="5519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224" y="6053750"/>
                        <a:ext cx="2513012" cy="541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876857"/>
              </p:ext>
            </p:extLst>
          </p:nvPr>
        </p:nvGraphicFramePr>
        <p:xfrm>
          <a:off x="712788" y="2190750"/>
          <a:ext cx="49863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0" name="Equation" r:id="rId10" imgW="3149280" imgH="507960" progId="Equation.DSMT4">
                  <p:embed/>
                </p:oleObj>
              </mc:Choice>
              <mc:Fallback>
                <p:oleObj name="Equation" r:id="rId10" imgW="3149280" imgH="507960" progId="Equation.DSMT4">
                  <p:embed/>
                  <p:pic>
                    <p:nvPicPr>
                      <p:cNvPr id="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190750"/>
                        <a:ext cx="49863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687706"/>
              </p:ext>
            </p:extLst>
          </p:nvPr>
        </p:nvGraphicFramePr>
        <p:xfrm>
          <a:off x="488950" y="2997200"/>
          <a:ext cx="78232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1" name="Equation" r:id="rId12" imgW="4940280" imgH="507960" progId="Equation.DSMT4">
                  <p:embed/>
                </p:oleObj>
              </mc:Choice>
              <mc:Fallback>
                <p:oleObj name="Equation" r:id="rId12" imgW="4940280" imgH="507960" progId="Equation.DSMT4">
                  <p:embed/>
                  <p:pic>
                    <p:nvPicPr>
                      <p:cNvPr id="3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997200"/>
                        <a:ext cx="78232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027888"/>
              </p:ext>
            </p:extLst>
          </p:nvPr>
        </p:nvGraphicFramePr>
        <p:xfrm>
          <a:off x="800480" y="1468262"/>
          <a:ext cx="4624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2" name="Equation" r:id="rId14" imgW="2920680" imgH="507960" progId="Equation.DSMT4">
                  <p:embed/>
                </p:oleObj>
              </mc:Choice>
              <mc:Fallback>
                <p:oleObj name="Equation" r:id="rId14" imgW="2920680" imgH="507960" progId="Equation.DSMT4">
                  <p:embed/>
                  <p:pic>
                    <p:nvPicPr>
                      <p:cNvPr id="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480" y="1468262"/>
                        <a:ext cx="4624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38496" y="4496810"/>
            <a:ext cx="515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lt"/>
              </a:rPr>
              <a:t>Now set step1,</a:t>
            </a:r>
            <a:r>
              <a:rPr lang="en-US" altLang="zh-CN" b="1" dirty="0">
                <a:latin typeface="Times New Roman" pitchFamily="18" charset="0"/>
              </a:rPr>
              <a:t> 0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t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 :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=0</a:t>
            </a:r>
            <a:r>
              <a:rPr lang="en-US" altLang="zh-CN" b="1" dirty="0"/>
              <a:t>→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2</a:t>
            </a:r>
            <a:r>
              <a:rPr lang="en-US" altLang="zh-CN" b="1" dirty="0">
                <a:latin typeface="Times New Roman" pitchFamily="18" charset="0"/>
              </a:rPr>
              <a:t>,   </a:t>
            </a:r>
            <a:r>
              <a:rPr lang="en-US" altLang="zh-CN" b="1" i="1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1</a:t>
            </a:r>
            <a:r>
              <a:rPr lang="en-US" altLang="zh-CN" b="1" dirty="0">
                <a:latin typeface="Times New Roman" pitchFamily="18" charset="0"/>
              </a:rPr>
              <a:t>=0</a:t>
            </a:r>
            <a:r>
              <a:rPr lang="en-US" altLang="zh-CN" b="1" dirty="0">
                <a:latin typeface="+mn-lt"/>
              </a:rPr>
              <a:t> </a:t>
            </a:r>
            <a:endParaRPr lang="en-US" b="1" dirty="0">
              <a:latin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5010" y="5665376"/>
            <a:ext cx="912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</a:p>
        </p:txBody>
      </p:sp>
      <p:graphicFrame>
        <p:nvGraphicFramePr>
          <p:cNvPr id="3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547189"/>
              </p:ext>
            </p:extLst>
          </p:nvPr>
        </p:nvGraphicFramePr>
        <p:xfrm>
          <a:off x="809898" y="756583"/>
          <a:ext cx="32781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3" name="Equation" r:id="rId16" imgW="2070000" imgH="507960" progId="Equation.DSMT4">
                  <p:embed/>
                </p:oleObj>
              </mc:Choice>
              <mc:Fallback>
                <p:oleObj name="Equation" r:id="rId16" imgW="2070000" imgH="507960" progId="Equation.DSMT4">
                  <p:embed/>
                  <p:pic>
                    <p:nvPicPr>
                      <p:cNvPr id="551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898" y="756583"/>
                        <a:ext cx="32781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820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1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1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57" grpId="0" build="p" autoUpdateAnimBg="0"/>
      <p:bldP spid="551959" grpId="0" build="p" autoUpdateAnimBg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3312FD-266A-4744-BE26-28993E6FA1DE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3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Energy Considerations </a:t>
            </a:r>
          </a:p>
        </p:txBody>
      </p:sp>
      <p:sp>
        <p:nvSpPr>
          <p:cNvPr id="13322" name="Text Box 3"/>
          <p:cNvSpPr txBox="1">
            <a:spLocks noChangeArrowheads="1"/>
          </p:cNvSpPr>
          <p:nvPr/>
        </p:nvSpPr>
        <p:spPr bwMode="auto">
          <a:xfrm>
            <a:off x="396649" y="2360724"/>
            <a:ext cx="194310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Conclusion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529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117012"/>
              </p:ext>
            </p:extLst>
          </p:nvPr>
        </p:nvGraphicFramePr>
        <p:xfrm>
          <a:off x="1081332" y="2879213"/>
          <a:ext cx="39957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5" name="公式" r:id="rId3" imgW="1803240" imgH="393480" progId="Equation.3">
                  <p:embed/>
                </p:oleObj>
              </mc:Choice>
              <mc:Fallback>
                <p:oleObj name="公式" r:id="rId3" imgW="1803240" imgH="393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332" y="2879213"/>
                        <a:ext cx="3995738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178945"/>
              </p:ext>
            </p:extLst>
          </p:nvPr>
        </p:nvGraphicFramePr>
        <p:xfrm>
          <a:off x="1081332" y="4799079"/>
          <a:ext cx="6232525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6" name="公式" r:id="rId5" imgW="2743200" imgH="393480" progId="Equation.3">
                  <p:embed/>
                </p:oleObj>
              </mc:Choice>
              <mc:Fallback>
                <p:oleObj name="公式" r:id="rId5" imgW="2743200" imgH="3934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332" y="4799079"/>
                        <a:ext cx="6232525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753100" y="923925"/>
            <a:ext cx="3262313" cy="2124075"/>
            <a:chOff x="5753100" y="923925"/>
            <a:chExt cx="3262313" cy="2124075"/>
          </a:xfrm>
        </p:grpSpPr>
        <p:grpSp>
          <p:nvGrpSpPr>
            <p:cNvPr id="13323" name="Group 5"/>
            <p:cNvGrpSpPr>
              <a:grpSpLocks/>
            </p:cNvGrpSpPr>
            <p:nvPr/>
          </p:nvGrpSpPr>
          <p:grpSpPr bwMode="auto">
            <a:xfrm>
              <a:off x="5753100" y="923925"/>
              <a:ext cx="3262313" cy="2124075"/>
              <a:chOff x="3349" y="639"/>
              <a:chExt cx="2055" cy="1338"/>
            </a:xfrm>
          </p:grpSpPr>
          <p:pic>
            <p:nvPicPr>
              <p:cNvPr id="13325" name="Picture 6" descr="1302"/>
              <p:cNvPicPr>
                <a:picLocks noChangeAspect="1" noChangeArrowheads="1"/>
              </p:cNvPicPr>
              <p:nvPr/>
            </p:nvPicPr>
            <p:blipFill>
              <a:blip r:embed="rId7"/>
              <a:srcRect t="24681" r="9715" b="53983"/>
              <a:stretch>
                <a:fillRect/>
              </a:stretch>
            </p:blipFill>
            <p:spPr bwMode="auto">
              <a:xfrm>
                <a:off x="3376" y="642"/>
                <a:ext cx="2026" cy="13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3326" name="Rectangle 7"/>
              <p:cNvSpPr>
                <a:spLocks noChangeArrowheads="1"/>
              </p:cNvSpPr>
              <p:nvPr/>
            </p:nvSpPr>
            <p:spPr bwMode="auto">
              <a:xfrm>
                <a:off x="4899" y="1210"/>
                <a:ext cx="505" cy="384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3327" name="Group 8"/>
              <p:cNvGrpSpPr>
                <a:grpSpLocks/>
              </p:cNvGrpSpPr>
              <p:nvPr/>
            </p:nvGrpSpPr>
            <p:grpSpPr bwMode="auto">
              <a:xfrm>
                <a:off x="3391" y="1048"/>
                <a:ext cx="88" cy="711"/>
                <a:chOff x="5388" y="1061"/>
                <a:chExt cx="88" cy="711"/>
              </a:xfrm>
            </p:grpSpPr>
            <p:sp>
              <p:nvSpPr>
                <p:cNvPr id="13332" name="Line 9"/>
                <p:cNvSpPr>
                  <a:spLocks noChangeShapeType="1"/>
                </p:cNvSpPr>
                <p:nvPr/>
              </p:nvSpPr>
              <p:spPr bwMode="auto">
                <a:xfrm>
                  <a:off x="5388" y="1100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33" name="Line 10"/>
                <p:cNvSpPr>
                  <a:spLocks noChangeShapeType="1"/>
                </p:cNvSpPr>
                <p:nvPr/>
              </p:nvSpPr>
              <p:spPr bwMode="auto">
                <a:xfrm>
                  <a:off x="5427" y="1061"/>
                  <a:ext cx="0" cy="77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34" name="Line 11"/>
                <p:cNvSpPr>
                  <a:spLocks noChangeShapeType="1"/>
                </p:cNvSpPr>
                <p:nvPr/>
              </p:nvSpPr>
              <p:spPr bwMode="auto">
                <a:xfrm>
                  <a:off x="5393" y="1772"/>
                  <a:ext cx="83" cy="0"/>
                </a:xfrm>
                <a:prstGeom prst="line">
                  <a:avLst/>
                </a:prstGeom>
                <a:noFill/>
                <a:ln w="190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3328" name="Line 12"/>
              <p:cNvSpPr>
                <a:spLocks noChangeShapeType="1"/>
              </p:cNvSpPr>
              <p:nvPr/>
            </p:nvSpPr>
            <p:spPr bwMode="auto">
              <a:xfrm flipH="1">
                <a:off x="4902" y="909"/>
                <a:ext cx="179" cy="0"/>
              </a:xfrm>
              <a:prstGeom prst="line">
                <a:avLst/>
              </a:prstGeom>
              <a:noFill/>
              <a:ln w="19050">
                <a:solidFill>
                  <a:srgbClr val="3399FF"/>
                </a:solidFill>
                <a:round/>
                <a:headEnd/>
                <a:tailEnd type="stealth" w="med" len="lg"/>
              </a:ln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29" name="Text Box 13"/>
              <p:cNvSpPr txBox="1">
                <a:spLocks noChangeArrowheads="1"/>
              </p:cNvSpPr>
              <p:nvPr/>
            </p:nvSpPr>
            <p:spPr bwMode="auto">
              <a:xfrm>
                <a:off x="4909" y="639"/>
                <a:ext cx="212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i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3330" name="Text Box 14"/>
              <p:cNvSpPr txBox="1">
                <a:spLocks noChangeArrowheads="1"/>
              </p:cNvSpPr>
              <p:nvPr/>
            </p:nvSpPr>
            <p:spPr bwMode="auto">
              <a:xfrm>
                <a:off x="3349" y="1297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13331" name="Text Box 15"/>
              <p:cNvSpPr txBox="1">
                <a:spLocks noChangeArrowheads="1"/>
              </p:cNvSpPr>
              <p:nvPr/>
            </p:nvSpPr>
            <p:spPr bwMode="auto">
              <a:xfrm>
                <a:off x="5121" y="1305"/>
                <a:ext cx="239" cy="250"/>
              </a:xfrm>
              <a:prstGeom prst="rect">
                <a:avLst/>
              </a:prstGeom>
              <a:noFill/>
              <a:ln w="1905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sz="2000" b="1" baseline="-25000">
                    <a:solidFill>
                      <a:schemeClr val="accent2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13324" name="Oval 17"/>
            <p:cNvSpPr>
              <a:spLocks noChangeArrowheads="1"/>
            </p:cNvSpPr>
            <p:nvPr/>
          </p:nvSpPr>
          <p:spPr bwMode="auto">
            <a:xfrm>
              <a:off x="7705725" y="1590675"/>
              <a:ext cx="88900" cy="88900"/>
            </a:xfrm>
            <a:prstGeom prst="ellipse">
              <a:avLst/>
            </a:prstGeom>
            <a:solidFill>
              <a:srgbClr val="CC3300"/>
            </a:solidFill>
            <a:ln w="1905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7705725" y="1493838"/>
              <a:ext cx="25065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 </a:t>
              </a: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62139" y="923925"/>
            <a:ext cx="5870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 another dot convention case, get </a:t>
            </a:r>
          </a:p>
        </p:txBody>
      </p:sp>
      <p:graphicFrame>
        <p:nvGraphicFramePr>
          <p:cNvPr id="2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139013"/>
              </p:ext>
            </p:extLst>
          </p:nvPr>
        </p:nvGraphicFramePr>
        <p:xfrm>
          <a:off x="914400" y="1360488"/>
          <a:ext cx="373221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7" name="Equation" r:id="rId8" imgW="2222280" imgH="507960" progId="Equation.DSMT4">
                  <p:embed/>
                </p:oleObj>
              </mc:Choice>
              <mc:Fallback>
                <p:oleObj name="Equation" r:id="rId8" imgW="2222280" imgH="507960" progId="Equation.DSMT4">
                  <p:embed/>
                  <p:pic>
                    <p:nvPicPr>
                      <p:cNvPr id="5519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60488"/>
                        <a:ext cx="373221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590550" y="3753925"/>
            <a:ext cx="7797800" cy="874712"/>
            <a:chOff x="590550" y="3753925"/>
            <a:chExt cx="7797800" cy="874712"/>
          </a:xfrm>
        </p:grpSpPr>
        <p:graphicFrame>
          <p:nvGraphicFramePr>
            <p:cNvPr id="55298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6437503"/>
                </p:ext>
              </p:extLst>
            </p:nvPr>
          </p:nvGraphicFramePr>
          <p:xfrm>
            <a:off x="1963738" y="3753925"/>
            <a:ext cx="3995738" cy="874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8" name="公式" r:id="rId10" imgW="1803240" imgH="393480" progId="Equation.3">
                    <p:embed/>
                  </p:oleObj>
                </mc:Choice>
                <mc:Fallback>
                  <p:oleObj name="公式" r:id="rId10" imgW="1803240" imgH="3934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3738" y="3753925"/>
                          <a:ext cx="3995738" cy="87471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590550" y="3910287"/>
              <a:ext cx="7797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Rewrite                                                          in the form: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081332" y="5784916"/>
            <a:ext cx="5970057" cy="674687"/>
            <a:chOff x="626006" y="5759217"/>
            <a:chExt cx="5970057" cy="674687"/>
          </a:xfrm>
        </p:grpSpPr>
        <p:graphicFrame>
          <p:nvGraphicFramePr>
            <p:cNvPr id="552982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1521964"/>
                </p:ext>
              </p:extLst>
            </p:nvPr>
          </p:nvGraphicFramePr>
          <p:xfrm>
            <a:off x="1517093" y="5856337"/>
            <a:ext cx="121285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49" name="公式" r:id="rId12" imgW="533160" imgH="203040" progId="Equation.3">
                    <p:embed/>
                  </p:oleObj>
                </mc:Choice>
                <mc:Fallback>
                  <p:oleObj name="公式" r:id="rId12" imgW="533160" imgH="20304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7093" y="5856337"/>
                          <a:ext cx="121285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298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0635249"/>
                </p:ext>
              </p:extLst>
            </p:nvPr>
          </p:nvGraphicFramePr>
          <p:xfrm>
            <a:off x="4646613" y="5759217"/>
            <a:ext cx="1949450" cy="674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50" name="公式" r:id="rId14" imgW="736560" imgH="253800" progId="Equation.3">
                    <p:embed/>
                  </p:oleObj>
                </mc:Choice>
                <mc:Fallback>
                  <p:oleObj name="公式" r:id="rId14" imgW="736560" imgH="2538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6613" y="5759217"/>
                          <a:ext cx="1949450" cy="6746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626006" y="5830896"/>
              <a:ext cx="51125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Since                  ,   therefor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BF12A8-8AE5-4431-940A-310A0ACDE428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2492896"/>
            <a:ext cx="7989887" cy="2231827"/>
          </a:xfrm>
          <a:gradFill rotWithShape="1">
            <a:gsLst>
              <a:gs pos="0">
                <a:srgbClr val="99CCFF">
                  <a:alpha val="14000"/>
                </a:srgbClr>
              </a:gs>
              <a:gs pos="100000">
                <a:schemeClr val="accent2">
                  <a:alpha val="7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Arial" charset="0"/>
              </a:rPr>
              <a:t/>
            </a:r>
            <a:br>
              <a:rPr lang="en-US" altLang="zh-CN" sz="4400" dirty="0">
                <a:latin typeface="Arial" charset="0"/>
              </a:rPr>
            </a:br>
            <a:r>
              <a:rPr lang="en-US" altLang="zh-CN" sz="4400" dirty="0">
                <a:latin typeface="Arial" charset="0"/>
              </a:rPr>
              <a:t/>
            </a:r>
            <a:br>
              <a:rPr lang="en-US" altLang="zh-CN" sz="4400" dirty="0">
                <a:latin typeface="Arial" charset="0"/>
              </a:rPr>
            </a:br>
            <a:r>
              <a:rPr lang="en-US" sz="4400" dirty="0"/>
              <a:t>Analysis of Circuits with Mutual Inductance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en-US" altLang="zh-CN" sz="4400" dirty="0"/>
              <a:t/>
            </a:r>
            <a:br>
              <a:rPr lang="en-US" altLang="zh-CN" sz="4400" dirty="0"/>
            </a:br>
            <a:endParaRPr lang="en-US" altLang="zh-CN" sz="4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CF9D3E-B189-48A4-AEAA-4EE05F49A627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The Linear Transformer </a:t>
            </a:r>
          </a:p>
        </p:txBody>
      </p:sp>
      <p:sp>
        <p:nvSpPr>
          <p:cNvPr id="68613" name="Text Box 3"/>
          <p:cNvSpPr txBox="1">
            <a:spLocks noChangeArrowheads="1"/>
          </p:cNvSpPr>
          <p:nvPr/>
        </p:nvSpPr>
        <p:spPr bwMode="auto">
          <a:xfrm>
            <a:off x="152400" y="887413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Linear Transformer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sp>
        <p:nvSpPr>
          <p:cNvPr id="68615" name="Text Box 11"/>
          <p:cNvSpPr txBox="1">
            <a:spLocks noChangeArrowheads="1"/>
          </p:cNvSpPr>
          <p:nvPr/>
        </p:nvSpPr>
        <p:spPr bwMode="auto">
          <a:xfrm>
            <a:off x="317500" y="1603375"/>
            <a:ext cx="4191000" cy="11969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: a four-terminal device with two (or more) magnetically coupled coils.</a:t>
            </a:r>
            <a:endParaRPr lang="en-US" altLang="zh-C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020" name="Text Box 12"/>
          <p:cNvSpPr txBox="1">
            <a:spLocks noChangeArrowheads="1"/>
          </p:cNvSpPr>
          <p:nvPr/>
        </p:nvSpPr>
        <p:spPr bwMode="auto">
          <a:xfrm>
            <a:off x="355600" y="3051175"/>
            <a:ext cx="7820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winding (coil, circuit), secondary winding</a:t>
            </a:r>
          </a:p>
        </p:txBody>
      </p:sp>
      <p:sp>
        <p:nvSpPr>
          <p:cNvPr id="555021" name="Text Box 13"/>
          <p:cNvSpPr txBox="1">
            <a:spLocks noChangeArrowheads="1"/>
          </p:cNvSpPr>
          <p:nvPr/>
        </p:nvSpPr>
        <p:spPr bwMode="auto">
          <a:xfrm>
            <a:off x="450850" y="3622675"/>
            <a:ext cx="7820025" cy="27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transformer : 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coils are wound on a magnetically linear material (air, plastic, wood, etc.)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sometimes called air-core transformer. 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&lt;&lt;1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: radio frequency circuits.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848225" y="1004323"/>
            <a:ext cx="4295775" cy="1987550"/>
            <a:chOff x="4848225" y="1004323"/>
            <a:chExt cx="4295775" cy="1987550"/>
          </a:xfrm>
        </p:grpSpPr>
        <p:pic>
          <p:nvPicPr>
            <p:cNvPr id="68614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48225" y="1004323"/>
              <a:ext cx="4295775" cy="1987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矩形 3"/>
            <p:cNvSpPr/>
            <p:nvPr/>
          </p:nvSpPr>
          <p:spPr bwMode="auto">
            <a:xfrm>
              <a:off x="5868144" y="1436303"/>
              <a:ext cx="360040" cy="16707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7860878" y="1436303"/>
              <a:ext cx="360040" cy="16707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5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20" grpId="0" build="p" autoUpdateAnimBg="0"/>
      <p:bldP spid="55502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9E202D-FA77-4CDF-9876-DE3C71C2643E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8099425" cy="576262"/>
          </a:xfrm>
        </p:spPr>
        <p:txBody>
          <a:bodyPr/>
          <a:lstStyle/>
          <a:p>
            <a:r>
              <a:rPr lang="en-US" altLang="zh-CN" sz="3200" dirty="0">
                <a:latin typeface="+mn-lt"/>
                <a:ea typeface="楷体_GB2312" pitchFamily="49" charset="-122"/>
              </a:rPr>
              <a:t>1. Systematic Mesh analysis </a:t>
            </a:r>
            <a:br>
              <a:rPr lang="en-US" altLang="zh-CN" sz="3200" dirty="0">
                <a:latin typeface="+mn-lt"/>
                <a:ea typeface="楷体_GB2312" pitchFamily="49" charset="-122"/>
              </a:rPr>
            </a:br>
            <a:r>
              <a:rPr lang="en-US" altLang="zh-CN" sz="32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 </a:t>
            </a:r>
            <a:r>
              <a:rPr lang="en-US" altLang="zh-CN" sz="3200" dirty="0">
                <a:latin typeface="+mn-lt"/>
                <a:ea typeface="楷体_GB2312" pitchFamily="49" charset="-122"/>
              </a:rPr>
              <a:t>loop analysis method</a:t>
            </a:r>
            <a:endParaRPr lang="en-US" altLang="zh-CN" sz="3200" dirty="0"/>
          </a:p>
        </p:txBody>
      </p:sp>
      <p:sp>
        <p:nvSpPr>
          <p:cNvPr id="9226" name="Text Box 18"/>
          <p:cNvSpPr txBox="1">
            <a:spLocks noChangeArrowheads="1"/>
          </p:cNvSpPr>
          <p:nvPr/>
        </p:nvSpPr>
        <p:spPr bwMode="auto">
          <a:xfrm>
            <a:off x="1975158" y="906271"/>
            <a:ext cx="43084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Find the phasor ratio of            .</a:t>
            </a:r>
            <a:endParaRPr lang="en-US" altLang="zh-CN" sz="2000" b="1" baseline="-25000" dirty="0">
              <a:latin typeface="+mn-lt"/>
            </a:endParaRPr>
          </a:p>
        </p:txBody>
      </p:sp>
      <p:graphicFrame>
        <p:nvGraphicFramePr>
          <p:cNvPr id="54990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59538"/>
              </p:ext>
            </p:extLst>
          </p:nvPr>
        </p:nvGraphicFramePr>
        <p:xfrm>
          <a:off x="755576" y="1991692"/>
          <a:ext cx="3096344" cy="513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7" name="Equation" r:id="rId3" imgW="1841400" imgH="304560" progId="Equation.DSMT4">
                  <p:embed/>
                </p:oleObj>
              </mc:Choice>
              <mc:Fallback>
                <p:oleObj name="Equation" r:id="rId3" imgW="1841400" imgH="3045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991692"/>
                        <a:ext cx="3096344" cy="513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892850"/>
              </p:ext>
            </p:extLst>
          </p:nvPr>
        </p:nvGraphicFramePr>
        <p:xfrm>
          <a:off x="558855" y="2786017"/>
          <a:ext cx="3692742" cy="51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8" name="Equation" r:id="rId5" imgW="2197080" imgH="304560" progId="Equation.DSMT4">
                  <p:embed/>
                </p:oleObj>
              </mc:Choice>
              <mc:Fallback>
                <p:oleObj name="Equation" r:id="rId5" imgW="2197080" imgH="3045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55" y="2786017"/>
                        <a:ext cx="3692742" cy="51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11" name="Text Box 23"/>
          <p:cNvSpPr txBox="1">
            <a:spLocks noChangeArrowheads="1"/>
          </p:cNvSpPr>
          <p:nvPr/>
        </p:nvSpPr>
        <p:spPr bwMode="auto">
          <a:xfrm>
            <a:off x="800546" y="3753477"/>
            <a:ext cx="3484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Solve the equations for 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2</a:t>
            </a:r>
            <a:endParaRPr lang="en-US" altLang="zh-CN" sz="2000" b="1" baseline="-25000" dirty="0">
              <a:latin typeface="+mn-lt"/>
            </a:endParaRPr>
          </a:p>
        </p:txBody>
      </p:sp>
      <p:graphicFrame>
        <p:nvGraphicFramePr>
          <p:cNvPr id="5499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391169"/>
              </p:ext>
            </p:extLst>
          </p:nvPr>
        </p:nvGraphicFramePr>
        <p:xfrm>
          <a:off x="955326" y="4424798"/>
          <a:ext cx="30400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29" name="公式" r:id="rId7" imgW="1371600" imgH="228600" progId="Equation.3">
                  <p:embed/>
                </p:oleObj>
              </mc:Choice>
              <mc:Fallback>
                <p:oleObj name="公式" r:id="rId7" imgW="1371600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326" y="4424798"/>
                        <a:ext cx="30400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358354"/>
              </p:ext>
            </p:extLst>
          </p:nvPr>
        </p:nvGraphicFramePr>
        <p:xfrm>
          <a:off x="961677" y="5361040"/>
          <a:ext cx="57705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0" name="公式" r:id="rId9" imgW="2603160" imgH="457200" progId="Equation.3">
                  <p:embed/>
                </p:oleObj>
              </mc:Choice>
              <mc:Fallback>
                <p:oleObj name="公式" r:id="rId9" imgW="2603160" imgH="4572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677" y="5361040"/>
                        <a:ext cx="577056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58129" y="944183"/>
            <a:ext cx="1584176" cy="457200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Example</a:t>
            </a:r>
          </a:p>
        </p:txBody>
      </p:sp>
      <p:graphicFrame>
        <p:nvGraphicFramePr>
          <p:cNvPr id="1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19045"/>
              </p:ext>
            </p:extLst>
          </p:nvPr>
        </p:nvGraphicFramePr>
        <p:xfrm>
          <a:off x="5220072" y="906271"/>
          <a:ext cx="841343" cy="482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31" name="Equation" r:id="rId11" imgW="507960" imgH="304560" progId="Equation.DSMT4">
                  <p:embed/>
                </p:oleObj>
              </mc:Choice>
              <mc:Fallback>
                <p:oleObj name="Equation" r:id="rId11" imgW="507960" imgH="304560" progId="Equation.DSMT4">
                  <p:embed/>
                  <p:pic>
                    <p:nvPicPr>
                      <p:cNvPr id="5499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906271"/>
                        <a:ext cx="841343" cy="482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66047" y="1531931"/>
            <a:ext cx="4777953" cy="200073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9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11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CDBDC0-2C55-4357-9304-526306C99F8F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16394" name="Text Box 4"/>
          <p:cNvSpPr txBox="1">
            <a:spLocks noChangeArrowheads="1"/>
          </p:cNvSpPr>
          <p:nvPr/>
        </p:nvSpPr>
        <p:spPr bwMode="auto">
          <a:xfrm>
            <a:off x="1993900" y="879475"/>
            <a:ext cx="40166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mesh currents .</a:t>
            </a:r>
            <a:endParaRPr lang="en-US" altLang="zh-C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5" name="Rectangle 5"/>
          <p:cNvSpPr>
            <a:spLocks noChangeArrowheads="1"/>
          </p:cNvSpPr>
          <p:nvPr/>
        </p:nvSpPr>
        <p:spPr bwMode="auto">
          <a:xfrm>
            <a:off x="157163" y="877888"/>
            <a:ext cx="1647825" cy="457200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Example</a:t>
            </a:r>
          </a:p>
        </p:txBody>
      </p:sp>
      <p:graphicFrame>
        <p:nvGraphicFramePr>
          <p:cNvPr id="550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9477124"/>
              </p:ext>
            </p:extLst>
          </p:nvPr>
        </p:nvGraphicFramePr>
        <p:xfrm>
          <a:off x="1475656" y="3646488"/>
          <a:ext cx="4685432" cy="536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6" name="Equation" r:id="rId3" imgW="2666880" imgH="304560" progId="Equation.DSMT4">
                  <p:embed/>
                </p:oleObj>
              </mc:Choice>
              <mc:Fallback>
                <p:oleObj name="Equation" r:id="rId3" imgW="266688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646488"/>
                        <a:ext cx="4685432" cy="536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734635"/>
              </p:ext>
            </p:extLst>
          </p:nvPr>
        </p:nvGraphicFramePr>
        <p:xfrm>
          <a:off x="1577975" y="4352925"/>
          <a:ext cx="5842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" name="Equation" r:id="rId5" imgW="3593880" imgH="304560" progId="Equation.DSMT4">
                  <p:embed/>
                </p:oleObj>
              </mc:Choice>
              <mc:Fallback>
                <p:oleObj name="Equation" r:id="rId5" imgW="3593880" imgH="304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4352925"/>
                        <a:ext cx="5842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650412"/>
              </p:ext>
            </p:extLst>
          </p:nvPr>
        </p:nvGraphicFramePr>
        <p:xfrm>
          <a:off x="827584" y="5060950"/>
          <a:ext cx="3035862" cy="107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8" name="Equation" r:id="rId7" imgW="1790640" imgH="634680" progId="Equation.DSMT4">
                  <p:embed/>
                </p:oleObj>
              </mc:Choice>
              <mc:Fallback>
                <p:oleObj name="Equation" r:id="rId7" imgW="1790640" imgH="6346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060950"/>
                        <a:ext cx="3035862" cy="107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641602"/>
              </p:ext>
            </p:extLst>
          </p:nvPr>
        </p:nvGraphicFramePr>
        <p:xfrm>
          <a:off x="4481787" y="4928648"/>
          <a:ext cx="4410693" cy="1662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9" name="Equation" r:id="rId9" imgW="3035160" imgH="1143000" progId="Equation.DSMT4">
                  <p:embed/>
                </p:oleObj>
              </mc:Choice>
              <mc:Fallback>
                <p:oleObj name="Equation" r:id="rId9" imgW="303516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787" y="4928648"/>
                        <a:ext cx="4410693" cy="1662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22" name="Rectangle 10"/>
          <p:cNvSpPr>
            <a:spLocks noChangeArrowheads="1"/>
          </p:cNvSpPr>
          <p:nvPr/>
        </p:nvSpPr>
        <p:spPr bwMode="auto">
          <a:xfrm>
            <a:off x="4401914" y="3657330"/>
            <a:ext cx="890166" cy="514350"/>
          </a:xfrm>
          <a:prstGeom prst="rect">
            <a:avLst/>
          </a:prstGeom>
          <a:noFill/>
          <a:ln w="19050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50923" name="Rectangle 11"/>
          <p:cNvSpPr>
            <a:spLocks noChangeArrowheads="1"/>
          </p:cNvSpPr>
          <p:nvPr/>
        </p:nvSpPr>
        <p:spPr bwMode="auto">
          <a:xfrm>
            <a:off x="4657724" y="4343400"/>
            <a:ext cx="706363" cy="514350"/>
          </a:xfrm>
          <a:prstGeom prst="rect">
            <a:avLst/>
          </a:prstGeom>
          <a:noFill/>
          <a:ln w="19050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50924" name="Rectangle 12"/>
          <p:cNvSpPr>
            <a:spLocks noChangeArrowheads="1"/>
          </p:cNvSpPr>
          <p:nvPr/>
        </p:nvSpPr>
        <p:spPr bwMode="auto">
          <a:xfrm>
            <a:off x="5549230" y="4343400"/>
            <a:ext cx="1399034" cy="514350"/>
          </a:xfrm>
          <a:prstGeom prst="rect">
            <a:avLst/>
          </a:prstGeom>
          <a:noFill/>
          <a:ln w="19050" algn="ctr">
            <a:solidFill>
              <a:schemeClr val="accent2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" name="左大括号 1"/>
          <p:cNvSpPr/>
          <p:nvPr/>
        </p:nvSpPr>
        <p:spPr bwMode="auto">
          <a:xfrm>
            <a:off x="1152269" y="3832135"/>
            <a:ext cx="246335" cy="79208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5" name="左大括号 14"/>
          <p:cNvSpPr/>
          <p:nvPr/>
        </p:nvSpPr>
        <p:spPr bwMode="auto">
          <a:xfrm>
            <a:off x="567192" y="5203706"/>
            <a:ext cx="246335" cy="79208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6" name="左大括号 15"/>
          <p:cNvSpPr/>
          <p:nvPr/>
        </p:nvSpPr>
        <p:spPr bwMode="auto">
          <a:xfrm>
            <a:off x="4221394" y="5207372"/>
            <a:ext cx="260393" cy="1193427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8099425" cy="576262"/>
          </a:xfrm>
        </p:spPr>
        <p:txBody>
          <a:bodyPr/>
          <a:lstStyle/>
          <a:p>
            <a:r>
              <a:rPr lang="en-US" altLang="zh-CN" sz="3200" dirty="0">
                <a:latin typeface="+mn-lt"/>
                <a:ea typeface="楷体_GB2312" pitchFamily="49" charset="-122"/>
              </a:rPr>
              <a:t>1. Systematic Mesh analysis </a:t>
            </a:r>
            <a:br>
              <a:rPr lang="en-US" altLang="zh-CN" sz="3200" dirty="0">
                <a:latin typeface="+mn-lt"/>
                <a:ea typeface="楷体_GB2312" pitchFamily="49" charset="-122"/>
              </a:rPr>
            </a:br>
            <a:r>
              <a:rPr lang="en-US" altLang="zh-CN" sz="3200" dirty="0">
                <a:latin typeface="+mn-lt"/>
                <a:ea typeface="楷体_GB2312" pitchFamily="49" charset="-122"/>
                <a:sym typeface="Symbol" panose="05050102010706020507" pitchFamily="18" charset="2"/>
              </a:rPr>
              <a:t> </a:t>
            </a:r>
            <a:r>
              <a:rPr lang="en-US" altLang="zh-CN" sz="3200" dirty="0">
                <a:latin typeface="+mn-lt"/>
                <a:ea typeface="楷体_GB2312" pitchFamily="49" charset="-122"/>
              </a:rPr>
              <a:t>loop analysis method</a:t>
            </a:r>
            <a:endParaRPr lang="en-US" altLang="zh-CN" sz="3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7314" y="1233152"/>
            <a:ext cx="5200819" cy="2253071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22" grpId="0" animBg="1"/>
      <p:bldP spid="550923" grpId="0" animBg="1"/>
      <p:bldP spid="550924" grpId="0" animBg="1"/>
      <p:bldP spid="2" grpId="0" animBg="1"/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3C038B-68C0-4379-BFFA-56DED32D9C8C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28625" y="4293096"/>
            <a:ext cx="394970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200" b="1" dirty="0">
                <a:latin typeface="+mn-lt"/>
              </a:rPr>
              <a:t>Dotted terminals are connected</a:t>
            </a:r>
            <a:endParaRPr lang="zh-CN" altLang="en-US" sz="2200" b="1" dirty="0">
              <a:latin typeface="+mn-lt"/>
            </a:endParaRPr>
          </a:p>
        </p:txBody>
      </p:sp>
      <p:graphicFrame>
        <p:nvGraphicFramePr>
          <p:cNvPr id="276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042034"/>
              </p:ext>
            </p:extLst>
          </p:nvPr>
        </p:nvGraphicFramePr>
        <p:xfrm>
          <a:off x="1214438" y="4721721"/>
          <a:ext cx="2270125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2" name="Equation" r:id="rId3" imgW="609480" imgH="507960" progId="Equation.3">
                  <p:embed/>
                </p:oleObj>
              </mc:Choice>
              <mc:Fallback>
                <p:oleObj name="Equation" r:id="rId3" imgW="609480" imgH="507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721721"/>
                        <a:ext cx="2270125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4730750" y="4293096"/>
            <a:ext cx="441325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200" b="1" dirty="0">
                <a:latin typeface="+mn-lt"/>
                <a:ea typeface="+mj-ea"/>
              </a:rPr>
              <a:t>Dotted terminals are not connected</a:t>
            </a:r>
            <a:endParaRPr lang="zh-CN" altLang="en-US" sz="2200" b="1" dirty="0">
              <a:latin typeface="+mn-lt"/>
              <a:ea typeface="+mj-ea"/>
            </a:endParaRPr>
          </a:p>
        </p:txBody>
      </p:sp>
      <p:graphicFrame>
        <p:nvGraphicFramePr>
          <p:cNvPr id="2765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666182"/>
              </p:ext>
            </p:extLst>
          </p:nvPr>
        </p:nvGraphicFramePr>
        <p:xfrm>
          <a:off x="4786313" y="4721721"/>
          <a:ext cx="2582862" cy="1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3" name="Equation" r:id="rId5" imgW="609480" imgH="507960" progId="Equation.3">
                  <p:embed/>
                </p:oleObj>
              </mc:Choice>
              <mc:Fallback>
                <p:oleObj name="Equation" r:id="rId5" imgW="609480" imgH="507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4721721"/>
                        <a:ext cx="2582862" cy="159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67550"/>
              </p:ext>
            </p:extLst>
          </p:nvPr>
        </p:nvGraphicFramePr>
        <p:xfrm>
          <a:off x="1043608" y="3212976"/>
          <a:ext cx="2919239" cy="101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4" name="Equation" r:id="rId7" imgW="1828800" imgH="634680" progId="Equation.DSMT4">
                  <p:embed/>
                </p:oleObj>
              </mc:Choice>
              <mc:Fallback>
                <p:oleObj name="Equation" r:id="rId7" imgW="1828800" imgH="634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212976"/>
                        <a:ext cx="2919239" cy="101443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142191"/>
              </p:ext>
            </p:extLst>
          </p:nvPr>
        </p:nvGraphicFramePr>
        <p:xfrm>
          <a:off x="4901981" y="3272390"/>
          <a:ext cx="3342427" cy="94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5" name="Equation" r:id="rId9" imgW="2247840" imgH="634680" progId="Equation.DSMT4">
                  <p:embed/>
                </p:oleObj>
              </mc:Choice>
              <mc:Fallback>
                <p:oleObj name="Equation" r:id="rId9" imgW="2247840" imgH="634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981" y="3272390"/>
                        <a:ext cx="3342427" cy="9426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Rectangle 31"/>
          <p:cNvSpPr>
            <a:spLocks noGrp="1" noChangeArrowheads="1"/>
          </p:cNvSpPr>
          <p:nvPr>
            <p:ph type="title"/>
          </p:nvPr>
        </p:nvSpPr>
        <p:spPr>
          <a:xfrm>
            <a:off x="615950" y="115888"/>
            <a:ext cx="8313738" cy="576262"/>
          </a:xfrm>
        </p:spPr>
        <p:txBody>
          <a:bodyPr/>
          <a:lstStyle/>
          <a:p>
            <a:r>
              <a:rPr lang="en-US" altLang="zh-CN" sz="3200" dirty="0">
                <a:latin typeface="+mn-lt"/>
                <a:cs typeface="Arial" panose="020B0604020202020204" pitchFamily="34" charset="0"/>
              </a:rPr>
              <a:t>2. </a:t>
            </a:r>
            <a:r>
              <a:rPr lang="en-US" sz="3200" dirty="0">
                <a:latin typeface="+mn-lt"/>
                <a:cs typeface="Arial" panose="020B0604020202020204" pitchFamily="34" charset="0"/>
              </a:rPr>
              <a:t>Elimination of Mutual Inductance</a:t>
            </a:r>
            <a:endParaRPr lang="zh-CN" altLang="en-US" sz="3200" dirty="0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37388" y="858825"/>
            <a:ext cx="89802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Substitute T-shape circuit with a circuit without mutual inductance</a:t>
            </a:r>
            <a:endParaRPr lang="zh-CN" altLang="en-US" sz="2000" b="1" dirty="0">
              <a:latin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65061" y="1268760"/>
            <a:ext cx="6324868" cy="198266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utoUpdateAnimBg="0"/>
      <p:bldP spid="27655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38280" y="273295"/>
            <a:ext cx="81057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+mn-lt"/>
              </a:rPr>
              <a:t>Find </a:t>
            </a:r>
            <a:r>
              <a:rPr lang="en-US" altLang="zh-CN" sz="2800" b="1" i="1" dirty="0">
                <a:latin typeface="+mn-lt"/>
              </a:rPr>
              <a:t>i</a:t>
            </a:r>
            <a:r>
              <a:rPr lang="en-US" altLang="zh-CN" sz="2800" b="1" baseline="-25000" dirty="0">
                <a:latin typeface="+mn-lt"/>
              </a:rPr>
              <a:t>1</a:t>
            </a:r>
            <a:r>
              <a:rPr lang="en-US" altLang="zh-CN" sz="2800" b="1" dirty="0">
                <a:latin typeface="+mn-lt"/>
              </a:rPr>
              <a:t> </a:t>
            </a:r>
            <a:r>
              <a:rPr lang="zh-CN" altLang="en-US" sz="2800" b="1" dirty="0">
                <a:latin typeface="+mn-lt"/>
              </a:rPr>
              <a:t> </a:t>
            </a:r>
            <a:r>
              <a:rPr lang="en-US" altLang="zh-CN" sz="2800" b="1" dirty="0">
                <a:latin typeface="+mn-lt"/>
              </a:rPr>
              <a:t>and </a:t>
            </a:r>
            <a:r>
              <a:rPr lang="en-US" altLang="zh-CN" sz="2800" b="1" i="1" dirty="0">
                <a:latin typeface="+mn-lt"/>
              </a:rPr>
              <a:t>i</a:t>
            </a:r>
            <a:r>
              <a:rPr lang="en-US" altLang="zh-CN" sz="2800" b="1" baseline="-25000" dirty="0">
                <a:latin typeface="+mn-lt"/>
              </a:rPr>
              <a:t>2 </a:t>
            </a:r>
            <a:r>
              <a:rPr lang="en-US" altLang="zh-CN" sz="2800" b="1" dirty="0">
                <a:latin typeface="+mn-lt"/>
              </a:rPr>
              <a:t> by </a:t>
            </a:r>
            <a:r>
              <a:rPr lang="en-US" sz="2800" b="1" dirty="0">
                <a:latin typeface="+mn-lt"/>
              </a:rPr>
              <a:t>Elimination of Mutual Inductance</a:t>
            </a:r>
            <a:endParaRPr lang="en-US" altLang="zh-CN" sz="2800" b="1" dirty="0">
              <a:latin typeface="+mn-lt"/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58354" y="3088886"/>
            <a:ext cx="496957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After finding the equivalent circuit, we have mesh equations:</a:t>
            </a:r>
            <a:endParaRPr lang="zh-CN" altLang="en-US" b="1" dirty="0">
              <a:latin typeface="+mn-lt"/>
            </a:endParaRPr>
          </a:p>
        </p:txBody>
      </p:sp>
      <p:graphicFrame>
        <p:nvGraphicFramePr>
          <p:cNvPr id="2867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002582"/>
              </p:ext>
            </p:extLst>
          </p:nvPr>
        </p:nvGraphicFramePr>
        <p:xfrm>
          <a:off x="755577" y="3916061"/>
          <a:ext cx="3384376" cy="1034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0" name="Equation" r:id="rId4" imgW="2158920" imgH="660240" progId="Equation.DSMT4">
                  <p:embed/>
                </p:oleObj>
              </mc:Choice>
              <mc:Fallback>
                <p:oleObj name="Equation" r:id="rId4" imgW="2158920" imgH="660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7" y="3916061"/>
                        <a:ext cx="3384376" cy="1034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47213" y="168697"/>
            <a:ext cx="816824" cy="609600"/>
          </a:xfrm>
          <a:solidFill>
            <a:schemeClr val="hlink"/>
          </a:solidFill>
        </p:spPr>
        <p:txBody>
          <a:bodyPr/>
          <a:lstStyle/>
          <a:p>
            <a:r>
              <a:rPr lang="en-US" altLang="zh-CN" sz="2200" dirty="0">
                <a:solidFill>
                  <a:schemeClr val="tx1"/>
                </a:solidFill>
              </a:rPr>
              <a:t>Ex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19469" name="Text Box 7"/>
          <p:cNvSpPr txBox="1">
            <a:spLocks noChangeArrowheads="1"/>
          </p:cNvSpPr>
          <p:nvPr/>
        </p:nvSpPr>
        <p:spPr bwMode="auto">
          <a:xfrm>
            <a:off x="899592" y="836712"/>
            <a:ext cx="423366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+mn-lt"/>
              </a:rPr>
              <a:t>R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=</a:t>
            </a:r>
            <a:r>
              <a:rPr lang="en-US" altLang="zh-CN" b="1" i="1" dirty="0">
                <a:latin typeface="+mn-lt"/>
              </a:rPr>
              <a:t>R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=1Ω,  </a:t>
            </a:r>
            <a:r>
              <a:rPr lang="en-US" altLang="zh-CN" b="1" i="1" dirty="0">
                <a:latin typeface="+mn-lt"/>
              </a:rPr>
              <a:t>L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=2H,  </a:t>
            </a:r>
            <a:r>
              <a:rPr lang="en-US" altLang="zh-CN" b="1" i="1" dirty="0">
                <a:latin typeface="+mn-lt"/>
              </a:rPr>
              <a:t>L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=1H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319054"/>
              </p:ext>
            </p:extLst>
          </p:nvPr>
        </p:nvGraphicFramePr>
        <p:xfrm>
          <a:off x="965200" y="1340768"/>
          <a:ext cx="12446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1" name="Equation" r:id="rId6" imgW="609480" imgH="215640" progId="Equation.3">
                  <p:embed/>
                </p:oleObj>
              </mc:Choice>
              <mc:Fallback>
                <p:oleObj name="Equation" r:id="rId6" imgW="6094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1340768"/>
                        <a:ext cx="12446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48927"/>
              </p:ext>
            </p:extLst>
          </p:nvPr>
        </p:nvGraphicFramePr>
        <p:xfrm>
          <a:off x="2379540" y="1414646"/>
          <a:ext cx="1328363" cy="356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2" name="Equation" r:id="rId8" imgW="749160" imgH="203040" progId="Equation.DSMT4">
                  <p:embed/>
                </p:oleObj>
              </mc:Choice>
              <mc:Fallback>
                <p:oleObj name="Equation" r:id="rId8" imgW="74916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540" y="1414646"/>
                        <a:ext cx="1328363" cy="356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189394"/>
              </p:ext>
            </p:extLst>
          </p:nvPr>
        </p:nvGraphicFramePr>
        <p:xfrm>
          <a:off x="995457" y="1808357"/>
          <a:ext cx="2870010" cy="55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3" name="Equation" r:id="rId10" imgW="1295280" imgH="253800" progId="Equation.DSMT4">
                  <p:embed/>
                </p:oleObj>
              </mc:Choice>
              <mc:Fallback>
                <p:oleObj name="Equation" r:id="rId10" imgW="12952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57" y="1808357"/>
                        <a:ext cx="2870010" cy="559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564618"/>
              </p:ext>
            </p:extLst>
          </p:nvPr>
        </p:nvGraphicFramePr>
        <p:xfrm>
          <a:off x="1622353" y="2561792"/>
          <a:ext cx="24415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4" name="Equation" r:id="rId12" imgW="1231560" imgH="266400" progId="Equation.DSMT4">
                  <p:embed/>
                </p:oleObj>
              </mc:Choice>
              <mc:Fallback>
                <p:oleObj name="Equation" r:id="rId12" imgW="1231560" imgH="26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2353" y="2561792"/>
                        <a:ext cx="24415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EDE092-7598-4C98-8899-3D865DBBEA71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19471" name="AutoShape 17"/>
          <p:cNvSpPr>
            <a:spLocks noChangeArrowheads="1"/>
          </p:cNvSpPr>
          <p:nvPr/>
        </p:nvSpPr>
        <p:spPr bwMode="auto">
          <a:xfrm rot="5400000">
            <a:off x="8387020" y="2740566"/>
            <a:ext cx="533400" cy="356696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9593507"/>
              </p:ext>
            </p:extLst>
          </p:nvPr>
        </p:nvGraphicFramePr>
        <p:xfrm>
          <a:off x="4836046" y="5516829"/>
          <a:ext cx="3996022" cy="516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5" name="Equation" r:id="rId14" imgW="1968480" imgH="253800" progId="Equation.DSMT4">
                  <p:embed/>
                </p:oleObj>
              </mc:Choice>
              <mc:Fallback>
                <p:oleObj name="Equation" r:id="rId14" imgW="1968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36046" y="5516829"/>
                        <a:ext cx="3996022" cy="516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688118"/>
              </p:ext>
            </p:extLst>
          </p:nvPr>
        </p:nvGraphicFramePr>
        <p:xfrm>
          <a:off x="4823073" y="6129001"/>
          <a:ext cx="3909442" cy="4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" name="Equation" r:id="rId16" imgW="2006280" imgH="253800" progId="Equation.DSMT4">
                  <p:embed/>
                </p:oleObj>
              </mc:Choice>
              <mc:Fallback>
                <p:oleObj name="Equation" r:id="rId16" imgW="2006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23073" y="6129001"/>
                        <a:ext cx="3909442" cy="496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7925" y="816412"/>
            <a:ext cx="2913224" cy="211428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227173"/>
              </p:ext>
            </p:extLst>
          </p:nvPr>
        </p:nvGraphicFramePr>
        <p:xfrm>
          <a:off x="242603" y="5068125"/>
          <a:ext cx="42291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" name="Equation" r:id="rId19" imgW="4229100" imgH="1657203" progId="Equation.DSMT4">
                  <p:embed/>
                </p:oleObj>
              </mc:Choice>
              <mc:Fallback>
                <p:oleObj name="Equation" r:id="rId19" imgW="4229100" imgH="165720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2603" y="5068125"/>
                        <a:ext cx="4229100" cy="165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304800" y="2285408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+mn-lt"/>
              </a:rPr>
              <a:t>Solution </a:t>
            </a:r>
            <a:endParaRPr lang="zh-CN" altLang="en-US" b="1" dirty="0">
              <a:latin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2299" y="3085667"/>
            <a:ext cx="2844475" cy="2415359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1947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A624B4-3B94-45FE-BDC2-2304B8A28F5E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20490" name="Text Box 3"/>
          <p:cNvSpPr txBox="1">
            <a:spLocks noChangeArrowheads="1"/>
          </p:cNvSpPr>
          <p:nvPr/>
        </p:nvSpPr>
        <p:spPr bwMode="auto">
          <a:xfrm>
            <a:off x="348183" y="955576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Reflected Impedance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56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651932"/>
              </p:ext>
            </p:extLst>
          </p:nvPr>
        </p:nvGraphicFramePr>
        <p:xfrm>
          <a:off x="5238530" y="3148536"/>
          <a:ext cx="2962671" cy="113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0" name="Equation" r:id="rId3" imgW="1714320" imgH="660240" progId="Equation.DSMT4">
                  <p:embed/>
                </p:oleObj>
              </mc:Choice>
              <mc:Fallback>
                <p:oleObj name="Equation" r:id="rId3" imgW="1714320" imgH="660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530" y="3148536"/>
                        <a:ext cx="2962671" cy="11391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709557"/>
              </p:ext>
            </p:extLst>
          </p:nvPr>
        </p:nvGraphicFramePr>
        <p:xfrm>
          <a:off x="1839913" y="3160113"/>
          <a:ext cx="2228032" cy="488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1" name="Equation" r:id="rId5" imgW="1269720" imgH="279360" progId="Equation.DSMT4">
                  <p:embed/>
                </p:oleObj>
              </mc:Choice>
              <mc:Fallback>
                <p:oleObj name="Equation" r:id="rId5" imgW="1269720" imgH="279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3160113"/>
                        <a:ext cx="2228032" cy="488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5817869"/>
              </p:ext>
            </p:extLst>
          </p:nvPr>
        </p:nvGraphicFramePr>
        <p:xfrm>
          <a:off x="1839912" y="3813354"/>
          <a:ext cx="2989263" cy="479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2" name="Equation" r:id="rId7" imgW="1739880" imgH="279360" progId="Equation.DSMT4">
                  <p:embed/>
                </p:oleObj>
              </mc:Choice>
              <mc:Fallback>
                <p:oleObj name="Equation" r:id="rId7" imgW="1739880" imgH="2793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2" y="3813354"/>
                        <a:ext cx="2989263" cy="479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488709"/>
              </p:ext>
            </p:extLst>
          </p:nvPr>
        </p:nvGraphicFramePr>
        <p:xfrm>
          <a:off x="298450" y="1647967"/>
          <a:ext cx="4530725" cy="1060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3" name="Equation" r:id="rId9" imgW="2819160" imgH="660240" progId="Equation.DSMT4">
                  <p:embed/>
                </p:oleObj>
              </mc:Choice>
              <mc:Fallback>
                <p:oleObj name="Equation" r:id="rId9" imgW="2819160" imgH="6602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1647967"/>
                        <a:ext cx="4530725" cy="1060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44" name="Text Box 12"/>
          <p:cNvSpPr txBox="1">
            <a:spLocks noChangeArrowheads="1"/>
          </p:cNvSpPr>
          <p:nvPr/>
        </p:nvSpPr>
        <p:spPr bwMode="auto">
          <a:xfrm>
            <a:off x="298450" y="3222625"/>
            <a:ext cx="1133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</a:p>
        </p:txBody>
      </p:sp>
      <p:graphicFrame>
        <p:nvGraphicFramePr>
          <p:cNvPr id="5560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715171"/>
              </p:ext>
            </p:extLst>
          </p:nvPr>
        </p:nvGraphicFramePr>
        <p:xfrm>
          <a:off x="1431925" y="4427581"/>
          <a:ext cx="4796259" cy="100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4" name="Equation" r:id="rId11" imgW="2781000" imgH="583920" progId="Equation.DSMT4">
                  <p:embed/>
                </p:oleObj>
              </mc:Choice>
              <mc:Fallback>
                <p:oleObj name="Equation" r:id="rId11" imgW="2781000" imgH="5839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4427581"/>
                        <a:ext cx="4796259" cy="1007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46" name="Text Box 14"/>
          <p:cNvSpPr txBox="1">
            <a:spLocks noChangeArrowheads="1"/>
          </p:cNvSpPr>
          <p:nvPr/>
        </p:nvSpPr>
        <p:spPr bwMode="auto">
          <a:xfrm>
            <a:off x="539552" y="5756733"/>
            <a:ext cx="333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impedance</a:t>
            </a:r>
          </a:p>
        </p:txBody>
      </p:sp>
      <p:graphicFrame>
        <p:nvGraphicFramePr>
          <p:cNvPr id="5560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494962"/>
              </p:ext>
            </p:extLst>
          </p:nvPr>
        </p:nvGraphicFramePr>
        <p:xfrm>
          <a:off x="3830054" y="5516297"/>
          <a:ext cx="1912685" cy="1022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5" name="Equation" r:id="rId13" imgW="1091880" imgH="583920" progId="Equation.DSMT4">
                  <p:embed/>
                </p:oleObj>
              </mc:Choice>
              <mc:Fallback>
                <p:oleObj name="Equation" r:id="rId13" imgW="1091880" imgH="5839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054" y="5516297"/>
                        <a:ext cx="1912685" cy="102293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7"/>
          <p:cNvSpPr txBox="1">
            <a:spLocks noChangeArrowheads="1"/>
          </p:cNvSpPr>
          <p:nvPr/>
        </p:nvSpPr>
        <p:spPr bwMode="auto">
          <a:xfrm>
            <a:off x="768350" y="116632"/>
            <a:ext cx="77724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zh-CN" sz="3200" b="1" kern="0" dirty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3. Analysis by Reflected Impedance</a:t>
            </a:r>
            <a:endParaRPr lang="zh-CN" altLang="en-US" sz="3200" b="1" kern="0" dirty="0">
              <a:solidFill>
                <a:srgbClr val="0000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4048" y="1079538"/>
            <a:ext cx="3692440" cy="17495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6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6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44" grpId="0" build="p" autoUpdateAnimBg="0"/>
      <p:bldP spid="556046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4BF8AF-0044-492D-B81A-E2DD6D6ADD53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21511" name="Text Box 3"/>
          <p:cNvSpPr txBox="1">
            <a:spLocks noChangeArrowheads="1"/>
          </p:cNvSpPr>
          <p:nvPr/>
        </p:nvSpPr>
        <p:spPr bwMode="auto">
          <a:xfrm>
            <a:off x="389432" y="955576"/>
            <a:ext cx="2670400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Input Impedance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sp>
        <p:nvSpPr>
          <p:cNvPr id="21513" name="Text Box 11"/>
          <p:cNvSpPr txBox="1">
            <a:spLocks noChangeArrowheads="1"/>
          </p:cNvSpPr>
          <p:nvPr/>
        </p:nvSpPr>
        <p:spPr bwMode="auto">
          <a:xfrm>
            <a:off x="350043" y="2581397"/>
            <a:ext cx="4200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latin typeface="+mn-lt"/>
                <a:sym typeface="Symbol" panose="05050102010706020507" pitchFamily="18" charset="2"/>
              </a:rPr>
              <a:t></a:t>
            </a:r>
            <a:r>
              <a:rPr lang="en-US" altLang="zh-CN" b="1" dirty="0">
                <a:latin typeface="+mn-lt"/>
              </a:rPr>
              <a:t>Primary equivalent circuit:</a:t>
            </a:r>
          </a:p>
        </p:txBody>
      </p:sp>
      <p:graphicFrame>
        <p:nvGraphicFramePr>
          <p:cNvPr id="2150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118980"/>
              </p:ext>
            </p:extLst>
          </p:nvPr>
        </p:nvGraphicFramePr>
        <p:xfrm>
          <a:off x="768350" y="1416926"/>
          <a:ext cx="3363913" cy="1018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2" name="Equation" r:id="rId3" imgW="1930320" imgH="583920" progId="Equation.DSMT4">
                  <p:embed/>
                </p:oleObj>
              </mc:Choice>
              <mc:Fallback>
                <p:oleObj name="Equation" r:id="rId3" imgW="1930320" imgH="5839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1416926"/>
                        <a:ext cx="3363913" cy="1018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71201"/>
              </p:ext>
            </p:extLst>
          </p:nvPr>
        </p:nvGraphicFramePr>
        <p:xfrm>
          <a:off x="768350" y="5239335"/>
          <a:ext cx="3772385" cy="1364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3" name="Equation" r:id="rId5" imgW="2387520" imgH="863280" progId="Equation.DSMT4">
                  <p:embed/>
                </p:oleObj>
              </mc:Choice>
              <mc:Fallback>
                <p:oleObj name="Equation" r:id="rId5" imgW="2387520" imgH="8632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5239335"/>
                        <a:ext cx="3772385" cy="1364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62301"/>
              </p:ext>
            </p:extLst>
          </p:nvPr>
        </p:nvGraphicFramePr>
        <p:xfrm>
          <a:off x="5983046" y="5464391"/>
          <a:ext cx="1717890" cy="100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4" name="Equation" r:id="rId7" imgW="1002960" imgH="583920" progId="Equation.DSMT4">
                  <p:embed/>
                </p:oleObj>
              </mc:Choice>
              <mc:Fallback>
                <p:oleObj name="Equation" r:id="rId7" imgW="1002960" imgH="5839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046" y="5464391"/>
                        <a:ext cx="1717890" cy="100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7"/>
          <p:cNvSpPr txBox="1">
            <a:spLocks noChangeArrowheads="1"/>
          </p:cNvSpPr>
          <p:nvPr/>
        </p:nvSpPr>
        <p:spPr bwMode="auto">
          <a:xfrm>
            <a:off x="768350" y="127142"/>
            <a:ext cx="77724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US" altLang="zh-CN" sz="3200" b="1" kern="0" dirty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3. Analysis by Reflected Impedance</a:t>
            </a:r>
            <a:endParaRPr lang="zh-CN" altLang="en-US" sz="3200" b="1" kern="0" dirty="0">
              <a:solidFill>
                <a:srgbClr val="00006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5" name="Text Box 11"/>
          <p:cNvSpPr txBox="1">
            <a:spLocks noChangeArrowheads="1"/>
          </p:cNvSpPr>
          <p:nvPr/>
        </p:nvSpPr>
        <p:spPr bwMode="auto">
          <a:xfrm>
            <a:off x="4572000" y="2902355"/>
            <a:ext cx="4200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b="1" dirty="0">
                <a:latin typeface="+mn-lt"/>
              </a:rPr>
              <a:t>Secondary equivalent circuit: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016" y="989672"/>
            <a:ext cx="3692440" cy="17495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6056" y="3241287"/>
            <a:ext cx="2520279" cy="201656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5325" y="3062328"/>
            <a:ext cx="2260485" cy="1961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991E5D-F001-4B0F-B1F2-807E21C6BE13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22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Power on Reflected Impedance</a:t>
            </a:r>
          </a:p>
        </p:txBody>
      </p:sp>
      <p:sp>
        <p:nvSpPr>
          <p:cNvPr id="22539" name="Text Box 3"/>
          <p:cNvSpPr txBox="1">
            <a:spLocks noChangeArrowheads="1"/>
          </p:cNvSpPr>
          <p:nvPr/>
        </p:nvSpPr>
        <p:spPr bwMode="auto">
          <a:xfrm>
            <a:off x="290410" y="884925"/>
            <a:ext cx="7316666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Reflected Resistance and Reflected Reactance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58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891846"/>
              </p:ext>
            </p:extLst>
          </p:nvPr>
        </p:nvGraphicFramePr>
        <p:xfrm>
          <a:off x="1613218" y="2497809"/>
          <a:ext cx="671988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0" name="Equation" r:id="rId3" imgW="4216320" imgH="583920" progId="Equation.DSMT4">
                  <p:embed/>
                </p:oleObj>
              </mc:Choice>
              <mc:Fallback>
                <p:oleObj name="Equation" r:id="rId3" imgW="4216320" imgH="5839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218" y="2497809"/>
                        <a:ext cx="671988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091" name="Text Box 11"/>
          <p:cNvSpPr txBox="1">
            <a:spLocks noChangeArrowheads="1"/>
          </p:cNvSpPr>
          <p:nvPr/>
        </p:nvSpPr>
        <p:spPr bwMode="auto">
          <a:xfrm>
            <a:off x="1063052" y="3525370"/>
            <a:ext cx="38689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+mn-lt"/>
              </a:rPr>
              <a:t>R</a:t>
            </a:r>
            <a:r>
              <a:rPr lang="en-US" altLang="zh-CN" b="1" baseline="-25000" dirty="0">
                <a:latin typeface="+mn-lt"/>
              </a:rPr>
              <a:t>1r</a:t>
            </a:r>
            <a:r>
              <a:rPr lang="en-US" altLang="zh-CN" b="1" dirty="0">
                <a:latin typeface="+mn-lt"/>
              </a:rPr>
              <a:t>: Reflected Resistance</a:t>
            </a:r>
          </a:p>
        </p:txBody>
      </p:sp>
      <p:sp>
        <p:nvSpPr>
          <p:cNvPr id="558092" name="Text Box 12"/>
          <p:cNvSpPr txBox="1">
            <a:spLocks noChangeArrowheads="1"/>
          </p:cNvSpPr>
          <p:nvPr/>
        </p:nvSpPr>
        <p:spPr bwMode="auto">
          <a:xfrm>
            <a:off x="1016439" y="4127903"/>
            <a:ext cx="7316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baseline="-25000" dirty="0">
                <a:latin typeface="+mn-lt"/>
              </a:rPr>
              <a:t>1r</a:t>
            </a:r>
            <a:r>
              <a:rPr lang="en-US" altLang="zh-CN" b="1" dirty="0">
                <a:latin typeface="+mn-lt"/>
              </a:rPr>
              <a:t>: Reflected Reactance,  </a:t>
            </a:r>
            <a:r>
              <a:rPr lang="en-US" altLang="zh-CN" b="1" dirty="0">
                <a:latin typeface="+mn-lt"/>
                <a:sym typeface="Symbol" panose="05050102010706020507" pitchFamily="18" charset="2"/>
              </a:rPr>
              <a:t> opposite reactance to  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baseline="-25000" dirty="0">
                <a:latin typeface="+mn-lt"/>
              </a:rPr>
              <a:t>22</a:t>
            </a:r>
          </a:p>
        </p:txBody>
      </p:sp>
      <p:graphicFrame>
        <p:nvGraphicFramePr>
          <p:cNvPr id="5580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029480"/>
              </p:ext>
            </p:extLst>
          </p:nvPr>
        </p:nvGraphicFramePr>
        <p:xfrm>
          <a:off x="290410" y="4847679"/>
          <a:ext cx="1545286" cy="53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1" name="Equation" r:id="rId5" imgW="876240" imgH="304560" progId="Equation.DSMT4">
                  <p:embed/>
                </p:oleObj>
              </mc:Choice>
              <mc:Fallback>
                <p:oleObj name="Equation" r:id="rId5" imgW="876240" imgH="3045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10" y="4847679"/>
                        <a:ext cx="1545286" cy="53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094" name="Text Box 14"/>
          <p:cNvSpPr txBox="1">
            <a:spLocks noChangeArrowheads="1"/>
          </p:cNvSpPr>
          <p:nvPr/>
        </p:nvSpPr>
        <p:spPr bwMode="auto">
          <a:xfrm>
            <a:off x="457200" y="5799826"/>
            <a:ext cx="793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+mn-lt"/>
              </a:rPr>
              <a:t>The power dissipation of secondary equals to that of R</a:t>
            </a:r>
            <a:r>
              <a:rPr lang="en-US" altLang="zh-CN" b="1" baseline="-25000" dirty="0">
                <a:latin typeface="+mn-lt"/>
              </a:rPr>
              <a:t>1r</a:t>
            </a:r>
            <a:r>
              <a:rPr lang="en-US" altLang="zh-CN" b="1" dirty="0">
                <a:latin typeface="+mn-lt"/>
              </a:rPr>
              <a:t> .</a:t>
            </a:r>
          </a:p>
        </p:txBody>
      </p:sp>
      <p:graphicFrame>
        <p:nvGraphicFramePr>
          <p:cNvPr id="5580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117899"/>
              </p:ext>
            </p:extLst>
          </p:nvPr>
        </p:nvGraphicFramePr>
        <p:xfrm>
          <a:off x="4619625" y="4581128"/>
          <a:ext cx="248761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2" name="公式" r:id="rId7" imgW="1130040" imgH="469800" progId="Equation.3">
                  <p:embed/>
                </p:oleObj>
              </mc:Choice>
              <mc:Fallback>
                <p:oleObj name="公式" r:id="rId7" imgW="113004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4581128"/>
                        <a:ext cx="248761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763000"/>
              </p:ext>
            </p:extLst>
          </p:nvPr>
        </p:nvGraphicFramePr>
        <p:xfrm>
          <a:off x="7085013" y="4774803"/>
          <a:ext cx="17875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3" name="公式" r:id="rId9" imgW="812520" imgH="241200" progId="Equation.3">
                  <p:embed/>
                </p:oleObj>
              </mc:Choice>
              <mc:Fallback>
                <p:oleObj name="公式" r:id="rId9" imgW="812520" imgH="241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013" y="4774803"/>
                        <a:ext cx="1787525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162484"/>
              </p:ext>
            </p:extLst>
          </p:nvPr>
        </p:nvGraphicFramePr>
        <p:xfrm>
          <a:off x="1796256" y="4615838"/>
          <a:ext cx="2881313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4" name="公式" r:id="rId11" imgW="1307880" imgH="469800" progId="Equation.3">
                  <p:embed/>
                </p:oleObj>
              </mc:Choice>
              <mc:Fallback>
                <p:oleObj name="公式" r:id="rId11" imgW="1307880" imgH="469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56" y="4615838"/>
                        <a:ext cx="2881313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945658"/>
              </p:ext>
            </p:extLst>
          </p:nvPr>
        </p:nvGraphicFramePr>
        <p:xfrm>
          <a:off x="1127652" y="1496924"/>
          <a:ext cx="34210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5" name="Equation" r:id="rId13" imgW="2222280" imgH="583920" progId="Equation.DSMT4">
                  <p:embed/>
                </p:oleObj>
              </mc:Choice>
              <mc:Fallback>
                <p:oleObj name="Equation" r:id="rId13" imgW="2222280" imgH="5839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652" y="1496924"/>
                        <a:ext cx="342106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1372043"/>
              </p:ext>
            </p:extLst>
          </p:nvPr>
        </p:nvGraphicFramePr>
        <p:xfrm>
          <a:off x="5004048" y="1721599"/>
          <a:ext cx="2263135" cy="468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6" name="Equation" r:id="rId15" imgW="1104840" imgH="228600" progId="Equation.DSMT4">
                  <p:embed/>
                </p:oleObj>
              </mc:Choice>
              <mc:Fallback>
                <p:oleObj name="Equation" r:id="rId15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04048" y="1721599"/>
                        <a:ext cx="2263135" cy="468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91" grpId="0" autoUpdateAnimBg="0"/>
      <p:bldP spid="558092" grpId="0" autoUpdateAnimBg="0"/>
      <p:bldP spid="558094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5" name="Text Box 2"/>
          <p:cNvSpPr txBox="1">
            <a:spLocks noChangeArrowheads="1"/>
          </p:cNvSpPr>
          <p:nvPr/>
        </p:nvSpPr>
        <p:spPr bwMode="auto">
          <a:xfrm>
            <a:off x="571500" y="61913"/>
            <a:ext cx="4857750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zh-CN" altLang="en-US" b="1" dirty="0">
                <a:latin typeface="+mn-lt"/>
              </a:rPr>
              <a:t> </a:t>
            </a:r>
            <a:r>
              <a:rPr lang="en-US" altLang="zh-CN" b="1" dirty="0">
                <a:latin typeface="+mn-lt"/>
              </a:rPr>
              <a:t>X</a:t>
            </a:r>
            <a:r>
              <a:rPr lang="en-US" altLang="zh-CN" b="1" baseline="-25000" dirty="0">
                <a:latin typeface="+mn-lt"/>
              </a:rPr>
              <a:t>M </a:t>
            </a:r>
            <a:r>
              <a:rPr lang="en-US" altLang="zh-CN" b="1" dirty="0">
                <a:latin typeface="+mn-lt"/>
              </a:rPr>
              <a:t>=1Ω,Find 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,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, the source’s supplying power and absorbing power in secondary loop.</a:t>
            </a:r>
            <a:endParaRPr lang="zh-CN" altLang="en-US" sz="2000" b="1" dirty="0">
              <a:latin typeface="+mn-lt"/>
            </a:endParaRPr>
          </a:p>
        </p:txBody>
      </p:sp>
      <p:sp>
        <p:nvSpPr>
          <p:cNvPr id="26638" name="Text Box 5"/>
          <p:cNvSpPr txBox="1">
            <a:spLocks noChangeArrowheads="1"/>
          </p:cNvSpPr>
          <p:nvPr/>
        </p:nvSpPr>
        <p:spPr bwMode="auto">
          <a:xfrm>
            <a:off x="8621713" y="685800"/>
            <a:ext cx="5222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8604250" y="3048000"/>
            <a:ext cx="557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8621713" y="5486400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graphicFrame>
        <p:nvGraphicFramePr>
          <p:cNvPr id="327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746099"/>
              </p:ext>
            </p:extLst>
          </p:nvPr>
        </p:nvGraphicFramePr>
        <p:xfrm>
          <a:off x="644525" y="1368425"/>
          <a:ext cx="379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07" name="Equation" r:id="rId3" imgW="2692080" imgH="583920" progId="Equation.DSMT4">
                  <p:embed/>
                </p:oleObj>
              </mc:Choice>
              <mc:Fallback>
                <p:oleObj name="Equation" r:id="rId3" imgW="2692080" imgH="583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1368425"/>
                        <a:ext cx="379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360350"/>
              </p:ext>
            </p:extLst>
          </p:nvPr>
        </p:nvGraphicFramePr>
        <p:xfrm>
          <a:off x="650942" y="2204830"/>
          <a:ext cx="4293890" cy="109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08" name="Equation" r:id="rId5" imgW="3098520" imgH="787320" progId="Equation.DSMT4">
                  <p:embed/>
                </p:oleObj>
              </mc:Choice>
              <mc:Fallback>
                <p:oleObj name="Equation" r:id="rId5" imgW="3098520" imgH="787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942" y="2204830"/>
                        <a:ext cx="4293890" cy="10906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303134"/>
              </p:ext>
            </p:extLst>
          </p:nvPr>
        </p:nvGraphicFramePr>
        <p:xfrm>
          <a:off x="296863" y="3119438"/>
          <a:ext cx="2857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09" name="Equation" r:id="rId7" imgW="152280" imgH="241200" progId="Equation.DSMT4">
                  <p:embed/>
                </p:oleObj>
              </mc:Choice>
              <mc:Fallback>
                <p:oleObj name="Equation" r:id="rId7" imgW="1522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3119438"/>
                        <a:ext cx="2857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73100" y="3043238"/>
            <a:ext cx="20415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Supply power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04643"/>
              </p:ext>
            </p:extLst>
          </p:nvPr>
        </p:nvGraphicFramePr>
        <p:xfrm>
          <a:off x="776288" y="3590925"/>
          <a:ext cx="51038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0" name="Equation" r:id="rId9" imgW="3187440" imgH="304560" progId="Equation.DSMT4">
                  <p:embed/>
                </p:oleObj>
              </mc:Choice>
              <mc:Fallback>
                <p:oleObj name="Equation" r:id="rId9" imgW="3187440" imgH="3045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3590925"/>
                        <a:ext cx="510381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249238" y="4038600"/>
            <a:ext cx="58229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Absorbing power in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78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160541"/>
              </p:ext>
            </p:extLst>
          </p:nvPr>
        </p:nvGraphicFramePr>
        <p:xfrm>
          <a:off x="914043" y="5905307"/>
          <a:ext cx="4659681" cy="833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1" name="Equation" r:id="rId11" imgW="2831760" imgH="507960" progId="Equation.DSMT4">
                  <p:embed/>
                </p:oleObj>
              </mc:Choice>
              <mc:Fallback>
                <p:oleObj name="Equation" r:id="rId11" imgW="283176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043" y="5905307"/>
                        <a:ext cx="4659681" cy="833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" y="152400"/>
            <a:ext cx="660400" cy="571500"/>
          </a:xfrm>
          <a:solidFill>
            <a:schemeClr val="hlink"/>
          </a:solidFill>
        </p:spPr>
        <p:txBody>
          <a:bodyPr/>
          <a:lstStyle/>
          <a:p>
            <a:r>
              <a:rPr lang="en-US" altLang="zh-CN" sz="3200">
                <a:solidFill>
                  <a:schemeClr val="tx1"/>
                </a:solidFill>
                <a:latin typeface="宋体" pitchFamily="2" charset="-122"/>
              </a:rPr>
              <a:t>Ex</a:t>
            </a:r>
            <a:endParaRPr lang="zh-CN" altLang="en-US" sz="3200">
              <a:solidFill>
                <a:schemeClr val="tx1"/>
              </a:solidFill>
              <a:latin typeface="宋体" pitchFamily="2" charset="-122"/>
            </a:endParaRPr>
          </a:p>
        </p:txBody>
      </p:sp>
      <p:graphicFrame>
        <p:nvGraphicFramePr>
          <p:cNvPr id="327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319479"/>
              </p:ext>
            </p:extLst>
          </p:nvPr>
        </p:nvGraphicFramePr>
        <p:xfrm>
          <a:off x="800612" y="4518034"/>
          <a:ext cx="4961706" cy="920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2" name="Equation" r:id="rId13" imgW="3225600" imgH="583920" progId="Equation.DSMT4">
                  <p:embed/>
                </p:oleObj>
              </mc:Choice>
              <mc:Fallback>
                <p:oleObj name="Equation" r:id="rId13" imgW="3225600" imgH="5839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612" y="4518034"/>
                        <a:ext cx="4961706" cy="920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036497"/>
              </p:ext>
            </p:extLst>
          </p:nvPr>
        </p:nvGraphicFramePr>
        <p:xfrm>
          <a:off x="914043" y="5445544"/>
          <a:ext cx="4659681" cy="502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13" name="Equation" r:id="rId15" imgW="2819160" imgH="304560" progId="Equation.DSMT4">
                  <p:embed/>
                </p:oleObj>
              </mc:Choice>
              <mc:Fallback>
                <p:oleObj name="Equation" r:id="rId15" imgW="2819160" imgH="3045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043" y="5445544"/>
                        <a:ext cx="4659681" cy="502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193675" y="5940425"/>
            <a:ext cx="4810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6D4D7D-09DC-4DDC-9285-8C73B90712C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9650" y="253369"/>
            <a:ext cx="3883643" cy="170878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04362" y="2361569"/>
            <a:ext cx="2888215" cy="1886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1673" y="4500563"/>
            <a:ext cx="2378788" cy="19514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utoUpdateAnimBg="0"/>
      <p:bldP spid="32775" grpId="0" autoUpdateAnimBg="0"/>
      <p:bldP spid="32780" grpId="0" autoUpdateAnimBg="0"/>
      <p:bldP spid="32782" grpId="0" autoUpdateAnimBg="0"/>
      <p:bldP spid="32787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9" name="Text Box 2"/>
          <p:cNvSpPr txBox="1">
            <a:spLocks noChangeArrowheads="1"/>
          </p:cNvSpPr>
          <p:nvPr/>
        </p:nvSpPr>
        <p:spPr bwMode="auto">
          <a:xfrm>
            <a:off x="803275" y="71438"/>
            <a:ext cx="43402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X</a:t>
            </a:r>
            <a:r>
              <a:rPr lang="en-US" altLang="zh-CN" b="1" baseline="-25000" dirty="0">
                <a:latin typeface="+mn-lt"/>
              </a:rPr>
              <a:t>M </a:t>
            </a:r>
            <a:r>
              <a:rPr lang="en-US" altLang="zh-CN" b="1" dirty="0">
                <a:latin typeface="+mn-lt"/>
              </a:rPr>
              <a:t>=1Ω ,Find I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,I</a:t>
            </a:r>
            <a:r>
              <a:rPr lang="en-US" altLang="zh-CN" b="1" baseline="-25000" dirty="0">
                <a:latin typeface="+mn-lt"/>
              </a:rPr>
              <a:t>2 </a:t>
            </a:r>
            <a:r>
              <a:rPr lang="en-US" altLang="zh-CN" b="1" dirty="0">
                <a:latin typeface="+mn-lt"/>
              </a:rPr>
              <a:t>by </a:t>
            </a:r>
            <a:r>
              <a:rPr lang="en-US" altLang="zh-CN" b="1" dirty="0" err="1">
                <a:latin typeface="+mn-lt"/>
              </a:rPr>
              <a:t>Thevenin’s</a:t>
            </a:r>
            <a:r>
              <a:rPr lang="en-US" altLang="zh-CN" b="1" dirty="0">
                <a:latin typeface="+mn-lt"/>
              </a:rPr>
              <a:t> theory and absorbing P of 2</a:t>
            </a:r>
            <a:r>
              <a:rPr lang="en-US" altLang="zh-CN" b="1" baseline="30000" dirty="0">
                <a:latin typeface="+mn-lt"/>
              </a:rPr>
              <a:t>nd</a:t>
            </a:r>
            <a:r>
              <a:rPr lang="en-US" altLang="zh-CN" b="1" dirty="0">
                <a:latin typeface="+mn-lt"/>
              </a:rPr>
              <a:t> loop.</a:t>
            </a:r>
            <a:endParaRPr lang="zh-CN" altLang="en-US" b="1" dirty="0">
              <a:latin typeface="+mn-lt"/>
            </a:endParaRP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296295"/>
              </p:ext>
            </p:extLst>
          </p:nvPr>
        </p:nvGraphicFramePr>
        <p:xfrm>
          <a:off x="954088" y="1323975"/>
          <a:ext cx="35020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8" name="Equation" r:id="rId4" imgW="2527200" imgH="583920" progId="Equation.DSMT4">
                  <p:embed/>
                </p:oleObj>
              </mc:Choice>
              <mc:Fallback>
                <p:oleObj name="Equation" r:id="rId4" imgW="2527200" imgH="5839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1323975"/>
                        <a:ext cx="3502025" cy="811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413227"/>
              </p:ext>
            </p:extLst>
          </p:nvPr>
        </p:nvGraphicFramePr>
        <p:xfrm>
          <a:off x="904875" y="2146300"/>
          <a:ext cx="37655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9" name="Equation" r:id="rId6" imgW="2628720" imgH="583920" progId="Equation.DSMT4">
                  <p:embed/>
                </p:oleObj>
              </mc:Choice>
              <mc:Fallback>
                <p:oleObj name="Equation" r:id="rId6" imgW="2628720" imgH="583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2146300"/>
                        <a:ext cx="37655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62032"/>
              </p:ext>
            </p:extLst>
          </p:nvPr>
        </p:nvGraphicFramePr>
        <p:xfrm>
          <a:off x="648841" y="3525901"/>
          <a:ext cx="5556557" cy="898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0" name="Equation" r:id="rId8" imgW="3771720" imgH="583920" progId="Equation.DSMT4">
                  <p:embed/>
                </p:oleObj>
              </mc:Choice>
              <mc:Fallback>
                <p:oleObj name="Equation" r:id="rId8" imgW="3771720" imgH="583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41" y="3525901"/>
                        <a:ext cx="5556557" cy="898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592488"/>
              </p:ext>
            </p:extLst>
          </p:nvPr>
        </p:nvGraphicFramePr>
        <p:xfrm>
          <a:off x="857821" y="5226828"/>
          <a:ext cx="4290243" cy="137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1" name="Equation" r:id="rId10" imgW="2768400" imgH="888840" progId="Equation.DSMT4">
                  <p:embed/>
                </p:oleObj>
              </mc:Choice>
              <mc:Fallback>
                <p:oleObj name="Equation" r:id="rId10" imgW="2768400" imgH="8888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21" y="5226828"/>
                        <a:ext cx="4290243" cy="137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2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19050" y="114300"/>
            <a:ext cx="766763" cy="571500"/>
          </a:xfrm>
          <a:solidFill>
            <a:schemeClr val="hlink"/>
          </a:solidFill>
        </p:spPr>
        <p:txBody>
          <a:bodyPr/>
          <a:lstStyle/>
          <a:p>
            <a:r>
              <a:rPr lang="en-US" altLang="zh-CN" sz="3200">
                <a:solidFill>
                  <a:schemeClr val="tx1"/>
                </a:solidFill>
                <a:latin typeface="宋体" pitchFamily="2" charset="-122"/>
              </a:rPr>
              <a:t>Ex</a:t>
            </a:r>
            <a:endParaRPr lang="zh-CN" altLang="en-US" sz="3200">
              <a:solidFill>
                <a:schemeClr val="tx1"/>
              </a:solidFill>
              <a:latin typeface="宋体" pitchFamily="2" charset="-122"/>
            </a:endParaRPr>
          </a:p>
        </p:txBody>
      </p:sp>
      <p:graphicFrame>
        <p:nvGraphicFramePr>
          <p:cNvPr id="3380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385543"/>
              </p:ext>
            </p:extLst>
          </p:nvPr>
        </p:nvGraphicFramePr>
        <p:xfrm>
          <a:off x="803275" y="4548169"/>
          <a:ext cx="4488805" cy="48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2" name="Equation" r:id="rId12" imgW="2806560" imgH="304560" progId="Equation.DSMT4">
                  <p:embed/>
                </p:oleObj>
              </mc:Choice>
              <mc:Fallback>
                <p:oleObj name="Equation" r:id="rId12" imgW="280656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4548169"/>
                        <a:ext cx="4488805" cy="485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447636"/>
              </p:ext>
            </p:extLst>
          </p:nvPr>
        </p:nvGraphicFramePr>
        <p:xfrm>
          <a:off x="911225" y="3071536"/>
          <a:ext cx="2724671" cy="44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3" name="Equation" r:id="rId14" imgW="1701720" imgH="279360" progId="Equation.DSMT4">
                  <p:embed/>
                </p:oleObj>
              </mc:Choice>
              <mc:Fallback>
                <p:oleObj name="Equation" r:id="rId14" imgW="170172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071536"/>
                        <a:ext cx="2724671" cy="4468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灯片编号占位符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8E7139-F76D-4D25-9E2E-BAB05B4D65A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41384" y="260648"/>
            <a:ext cx="4177353" cy="177135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5420" y="2276872"/>
            <a:ext cx="2175656" cy="211251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35007" y="4653136"/>
            <a:ext cx="3073497" cy="20610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870082"/>
              </p:ext>
            </p:extLst>
          </p:nvPr>
        </p:nvGraphicFramePr>
        <p:xfrm>
          <a:off x="1648148" y="896937"/>
          <a:ext cx="2258690" cy="1464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8" name="Equation" r:id="rId4" imgW="1371600" imgH="888840" progId="Equation.DSMT4">
                  <p:embed/>
                </p:oleObj>
              </mc:Choice>
              <mc:Fallback>
                <p:oleObj name="Equation" r:id="rId4" imgW="1371600" imgH="8888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148" y="896937"/>
                        <a:ext cx="2258690" cy="1464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16"/>
          <p:cNvSpPr txBox="1">
            <a:spLocks noChangeArrowheads="1"/>
          </p:cNvSpPr>
          <p:nvPr/>
        </p:nvSpPr>
        <p:spPr bwMode="auto">
          <a:xfrm>
            <a:off x="2022475" y="235496"/>
            <a:ext cx="680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Calculate the input impedance, 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 and power of </a:t>
            </a:r>
            <a:r>
              <a:rPr lang="en-US" altLang="zh-CN" b="1" i="1" dirty="0">
                <a:latin typeface="+mn-lt"/>
              </a:rPr>
              <a:t>Z</a:t>
            </a:r>
            <a:r>
              <a:rPr lang="en-US" altLang="zh-CN" b="1" baseline="-25000" dirty="0">
                <a:latin typeface="+mn-lt"/>
              </a:rPr>
              <a:t>L</a:t>
            </a:r>
            <a:r>
              <a:rPr lang="en-US" altLang="zh-CN" b="1" dirty="0">
                <a:latin typeface="+mn-lt"/>
              </a:rPr>
              <a:t>,</a:t>
            </a:r>
            <a:endParaRPr lang="en-US" altLang="zh-CN" sz="2000" b="1" baseline="-25000" dirty="0">
              <a:latin typeface="+mn-lt"/>
            </a:endParaRPr>
          </a:p>
        </p:txBody>
      </p:sp>
      <p:sp>
        <p:nvSpPr>
          <p:cNvPr id="25611" name="Rectangle 17"/>
          <p:cNvSpPr>
            <a:spLocks noChangeArrowheads="1"/>
          </p:cNvSpPr>
          <p:nvPr/>
        </p:nvSpPr>
        <p:spPr bwMode="auto">
          <a:xfrm>
            <a:off x="252413" y="214859"/>
            <a:ext cx="1647825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Example</a:t>
            </a:r>
          </a:p>
        </p:txBody>
      </p:sp>
      <p:sp>
        <p:nvSpPr>
          <p:cNvPr id="25612" name="Text Box 18"/>
          <p:cNvSpPr txBox="1">
            <a:spLocks noChangeArrowheads="1"/>
          </p:cNvSpPr>
          <p:nvPr/>
        </p:nvSpPr>
        <p:spPr bwMode="auto">
          <a:xfrm>
            <a:off x="616612" y="784483"/>
            <a:ext cx="1052512" cy="46196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</a:p>
        </p:txBody>
      </p:sp>
      <p:graphicFrame>
        <p:nvGraphicFramePr>
          <p:cNvPr id="559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780230"/>
              </p:ext>
            </p:extLst>
          </p:nvPr>
        </p:nvGraphicFramePr>
        <p:xfrm>
          <a:off x="515143" y="2699654"/>
          <a:ext cx="2678832" cy="48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9" name="Equation" r:id="rId6" imgW="1549080" imgH="279360" progId="Equation.DSMT4">
                  <p:embed/>
                </p:oleObj>
              </mc:Choice>
              <mc:Fallback>
                <p:oleObj name="Equation" r:id="rId6" imgW="1549080" imgH="2793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" y="2699654"/>
                        <a:ext cx="2678832" cy="481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412719"/>
              </p:ext>
            </p:extLst>
          </p:nvPr>
        </p:nvGraphicFramePr>
        <p:xfrm>
          <a:off x="471871" y="3033970"/>
          <a:ext cx="5835304" cy="952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0" name="Equation" r:id="rId8" imgW="3568680" imgH="583920" progId="Equation.DSMT4">
                  <p:embed/>
                </p:oleObj>
              </mc:Choice>
              <mc:Fallback>
                <p:oleObj name="Equation" r:id="rId8" imgW="3568680" imgH="5839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71" y="3033970"/>
                        <a:ext cx="5835304" cy="952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916495"/>
              </p:ext>
            </p:extLst>
          </p:nvPr>
        </p:nvGraphicFramePr>
        <p:xfrm>
          <a:off x="6373019" y="3290378"/>
          <a:ext cx="2435873" cy="396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1" name="公式" r:id="rId10" imgW="1091880" imgH="177480" progId="Equation.3">
                  <p:embed/>
                </p:oleObj>
              </mc:Choice>
              <mc:Fallback>
                <p:oleObj name="公式" r:id="rId10" imgW="1091880" imgH="17748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019" y="3290378"/>
                        <a:ext cx="2435873" cy="396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433975"/>
              </p:ext>
            </p:extLst>
          </p:nvPr>
        </p:nvGraphicFramePr>
        <p:xfrm>
          <a:off x="1187623" y="3892001"/>
          <a:ext cx="5632539" cy="97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2" name="Equation" r:id="rId12" imgW="3352680" imgH="583920" progId="Equation.DSMT4">
                  <p:embed/>
                </p:oleObj>
              </mc:Choice>
              <mc:Fallback>
                <p:oleObj name="Equation" r:id="rId12" imgW="3352680" imgH="58392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3" y="3892001"/>
                        <a:ext cx="5632539" cy="978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82778"/>
              </p:ext>
            </p:extLst>
          </p:nvPr>
        </p:nvGraphicFramePr>
        <p:xfrm>
          <a:off x="1259632" y="4844920"/>
          <a:ext cx="6185049" cy="85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3" name="Equation" r:id="rId14" imgW="4228920" imgH="583920" progId="Equation.DSMT4">
                  <p:embed/>
                </p:oleObj>
              </mc:Choice>
              <mc:Fallback>
                <p:oleObj name="Equation" r:id="rId14" imgW="4228920" imgH="58392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844920"/>
                        <a:ext cx="6185049" cy="851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982644"/>
              </p:ext>
            </p:extLst>
          </p:nvPr>
        </p:nvGraphicFramePr>
        <p:xfrm>
          <a:off x="1228298" y="5823311"/>
          <a:ext cx="5898250" cy="826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4" name="Equation" r:id="rId16" imgW="2806560" imgH="393480" progId="Equation.DSMT4">
                  <p:embed/>
                </p:oleObj>
              </mc:Choice>
              <mc:Fallback>
                <p:oleObj name="Equation" r:id="rId16" imgW="2806560" imgH="3934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98" y="5823311"/>
                        <a:ext cx="5898250" cy="826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935695-8E77-496E-A0EC-5CB2D66A0FAE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22759" y="2175769"/>
            <a:ext cx="1425389" cy="46166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Solution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03892" y="930501"/>
            <a:ext cx="4873824" cy="192243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3"/>
          <p:cNvGraphicFramePr>
            <a:graphicFrameLocks noChangeAspect="1"/>
          </p:cNvGraphicFramePr>
          <p:nvPr>
            <p:extLst/>
          </p:nvPr>
        </p:nvGraphicFramePr>
        <p:xfrm>
          <a:off x="1648148" y="896937"/>
          <a:ext cx="2258690" cy="1464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0" name="Equation" r:id="rId4" imgW="1371600" imgH="888840" progId="Equation.DSMT4">
                  <p:embed/>
                </p:oleObj>
              </mc:Choice>
              <mc:Fallback>
                <p:oleObj name="Equation" r:id="rId4" imgW="1371600" imgH="888840" progId="Equation.DSMT4">
                  <p:embed/>
                  <p:pic>
                    <p:nvPicPr>
                      <p:cNvPr id="2560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148" y="896937"/>
                        <a:ext cx="2258690" cy="1464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16"/>
          <p:cNvSpPr txBox="1">
            <a:spLocks noChangeArrowheads="1"/>
          </p:cNvSpPr>
          <p:nvPr/>
        </p:nvSpPr>
        <p:spPr bwMode="auto">
          <a:xfrm>
            <a:off x="2022475" y="235496"/>
            <a:ext cx="680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latin typeface="+mn-lt"/>
              </a:rPr>
              <a:t>Calculate the input impedance, </a:t>
            </a:r>
            <a:r>
              <a:rPr lang="en-US" altLang="zh-CN" b="1" i="1" dirty="0">
                <a:latin typeface="+mn-lt"/>
              </a:rPr>
              <a:t>I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 and power of </a:t>
            </a:r>
            <a:r>
              <a:rPr lang="en-US" altLang="zh-CN" b="1" i="1" dirty="0">
                <a:latin typeface="+mn-lt"/>
              </a:rPr>
              <a:t>Z</a:t>
            </a:r>
            <a:r>
              <a:rPr lang="en-US" altLang="zh-CN" b="1" baseline="-25000" dirty="0">
                <a:latin typeface="+mn-lt"/>
              </a:rPr>
              <a:t>L</a:t>
            </a:r>
            <a:r>
              <a:rPr lang="en-US" altLang="zh-CN" b="1" dirty="0">
                <a:latin typeface="+mn-lt"/>
              </a:rPr>
              <a:t>,</a:t>
            </a:r>
            <a:endParaRPr lang="en-US" altLang="zh-CN" sz="2000" b="1" baseline="-25000" dirty="0">
              <a:latin typeface="+mn-lt"/>
            </a:endParaRPr>
          </a:p>
        </p:txBody>
      </p:sp>
      <p:sp>
        <p:nvSpPr>
          <p:cNvPr id="25611" name="Rectangle 17"/>
          <p:cNvSpPr>
            <a:spLocks noChangeArrowheads="1"/>
          </p:cNvSpPr>
          <p:nvPr/>
        </p:nvSpPr>
        <p:spPr bwMode="auto">
          <a:xfrm>
            <a:off x="252413" y="214859"/>
            <a:ext cx="1647825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Example</a:t>
            </a:r>
          </a:p>
        </p:txBody>
      </p:sp>
      <p:sp>
        <p:nvSpPr>
          <p:cNvPr id="25612" name="Text Box 18"/>
          <p:cNvSpPr txBox="1">
            <a:spLocks noChangeArrowheads="1"/>
          </p:cNvSpPr>
          <p:nvPr/>
        </p:nvSpPr>
        <p:spPr bwMode="auto">
          <a:xfrm>
            <a:off x="616612" y="784483"/>
            <a:ext cx="1052512" cy="46196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</a:p>
        </p:txBody>
      </p:sp>
      <p:graphicFrame>
        <p:nvGraphicFramePr>
          <p:cNvPr id="559123" name="Object 19"/>
          <p:cNvGraphicFramePr>
            <a:graphicFrameLocks noChangeAspect="1"/>
          </p:cNvGraphicFramePr>
          <p:nvPr>
            <p:extLst/>
          </p:nvPr>
        </p:nvGraphicFramePr>
        <p:xfrm>
          <a:off x="515143" y="2699654"/>
          <a:ext cx="2678832" cy="48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1" name="Equation" r:id="rId6" imgW="1549080" imgH="279360" progId="Equation.DSMT4">
                  <p:embed/>
                </p:oleObj>
              </mc:Choice>
              <mc:Fallback>
                <p:oleObj name="Equation" r:id="rId6" imgW="1549080" imgH="279360" progId="Equation.DSMT4">
                  <p:embed/>
                  <p:pic>
                    <p:nvPicPr>
                      <p:cNvPr id="5591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" y="2699654"/>
                        <a:ext cx="2678832" cy="481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4" name="Object 20"/>
          <p:cNvGraphicFramePr>
            <a:graphicFrameLocks noChangeAspect="1"/>
          </p:cNvGraphicFramePr>
          <p:nvPr>
            <p:extLst/>
          </p:nvPr>
        </p:nvGraphicFramePr>
        <p:xfrm>
          <a:off x="471871" y="3033970"/>
          <a:ext cx="5835304" cy="952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2" name="Equation" r:id="rId8" imgW="3568680" imgH="583920" progId="Equation.DSMT4">
                  <p:embed/>
                </p:oleObj>
              </mc:Choice>
              <mc:Fallback>
                <p:oleObj name="Equation" r:id="rId8" imgW="3568680" imgH="583920" progId="Equation.DSMT4">
                  <p:embed/>
                  <p:pic>
                    <p:nvPicPr>
                      <p:cNvPr id="5591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71" y="3033970"/>
                        <a:ext cx="5835304" cy="952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5" name="Object 21"/>
          <p:cNvGraphicFramePr>
            <a:graphicFrameLocks noChangeAspect="1"/>
          </p:cNvGraphicFramePr>
          <p:nvPr>
            <p:extLst/>
          </p:nvPr>
        </p:nvGraphicFramePr>
        <p:xfrm>
          <a:off x="6373019" y="3290378"/>
          <a:ext cx="2435873" cy="396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3" name="公式" r:id="rId10" imgW="1091880" imgH="177480" progId="Equation.3">
                  <p:embed/>
                </p:oleObj>
              </mc:Choice>
              <mc:Fallback>
                <p:oleObj name="公式" r:id="rId10" imgW="1091880" imgH="177480" progId="Equation.3">
                  <p:embed/>
                  <p:pic>
                    <p:nvPicPr>
                      <p:cNvPr id="5591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019" y="3290378"/>
                        <a:ext cx="2435873" cy="396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6" name="Object 22"/>
          <p:cNvGraphicFramePr>
            <a:graphicFrameLocks noChangeAspect="1"/>
          </p:cNvGraphicFramePr>
          <p:nvPr>
            <p:extLst/>
          </p:nvPr>
        </p:nvGraphicFramePr>
        <p:xfrm>
          <a:off x="1187623" y="3892001"/>
          <a:ext cx="5632539" cy="978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4" name="Equation" r:id="rId12" imgW="3352680" imgH="583920" progId="Equation.DSMT4">
                  <p:embed/>
                </p:oleObj>
              </mc:Choice>
              <mc:Fallback>
                <p:oleObj name="Equation" r:id="rId12" imgW="3352680" imgH="583920" progId="Equation.DSMT4">
                  <p:embed/>
                  <p:pic>
                    <p:nvPicPr>
                      <p:cNvPr id="5591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3" y="3892001"/>
                        <a:ext cx="5632539" cy="978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7" name="Object 23"/>
          <p:cNvGraphicFramePr>
            <a:graphicFrameLocks noChangeAspect="1"/>
          </p:cNvGraphicFramePr>
          <p:nvPr>
            <p:extLst/>
          </p:nvPr>
        </p:nvGraphicFramePr>
        <p:xfrm>
          <a:off x="1259632" y="4844920"/>
          <a:ext cx="6185049" cy="85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5" name="Equation" r:id="rId14" imgW="4228920" imgH="583920" progId="Equation.DSMT4">
                  <p:embed/>
                </p:oleObj>
              </mc:Choice>
              <mc:Fallback>
                <p:oleObj name="Equation" r:id="rId14" imgW="4228920" imgH="583920" progId="Equation.DSMT4">
                  <p:embed/>
                  <p:pic>
                    <p:nvPicPr>
                      <p:cNvPr id="55912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844920"/>
                        <a:ext cx="6185049" cy="851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9128" name="Object 24"/>
          <p:cNvGraphicFramePr>
            <a:graphicFrameLocks noChangeAspect="1"/>
          </p:cNvGraphicFramePr>
          <p:nvPr>
            <p:extLst/>
          </p:nvPr>
        </p:nvGraphicFramePr>
        <p:xfrm>
          <a:off x="1228298" y="5823311"/>
          <a:ext cx="5898250" cy="826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6" name="Equation" r:id="rId16" imgW="2806560" imgH="393480" progId="Equation.DSMT4">
                  <p:embed/>
                </p:oleObj>
              </mc:Choice>
              <mc:Fallback>
                <p:oleObj name="Equation" r:id="rId16" imgW="2806560" imgH="393480" progId="Equation.DSMT4">
                  <p:embed/>
                  <p:pic>
                    <p:nvPicPr>
                      <p:cNvPr id="5591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298" y="5823311"/>
                        <a:ext cx="5898250" cy="826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935695-8E77-496E-A0EC-5CB2D66A0FAE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22759" y="2175769"/>
            <a:ext cx="1425389" cy="46166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charset="0"/>
                <a:ea typeface="楷体_GB2312" pitchFamily="49" charset="-122"/>
              </a:rPr>
              <a:t>Solution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44007" y="775494"/>
            <a:ext cx="4455327" cy="175736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21068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5691E6-B081-4B59-A228-001F0BA18008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69636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Homework</a:t>
            </a:r>
            <a:endParaRPr lang="zh-CN" altLang="en-US" sz="3200"/>
          </a:p>
        </p:txBody>
      </p:sp>
      <p:sp>
        <p:nvSpPr>
          <p:cNvPr id="69637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1693652" y="1330965"/>
            <a:ext cx="5616996" cy="4376738"/>
          </a:xfrm>
        </p:spPr>
        <p:txBody>
          <a:bodyPr/>
          <a:lstStyle/>
          <a:p>
            <a:pPr marL="0" indent="0">
              <a:buNone/>
            </a:pPr>
            <a:endParaRPr lang="en-US" altLang="zh-CN" sz="3600" b="1" dirty="0"/>
          </a:p>
          <a:p>
            <a:r>
              <a:rPr lang="en-US" altLang="zh-CN" sz="3600" b="1" dirty="0"/>
              <a:t>4,  5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7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9</a:t>
            </a:r>
            <a:r>
              <a:rPr lang="zh-CN" altLang="en-US" sz="3600" b="1" dirty="0"/>
              <a:t>，</a:t>
            </a:r>
            <a:r>
              <a:rPr lang="en-US" altLang="zh-CN" sz="3600" b="1" dirty="0"/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BF12A8-8AE5-4431-940A-310A0ACDE428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2492896"/>
            <a:ext cx="7989887" cy="2231827"/>
          </a:xfrm>
          <a:gradFill rotWithShape="1">
            <a:gsLst>
              <a:gs pos="0">
                <a:srgbClr val="99CCFF">
                  <a:alpha val="14000"/>
                </a:srgbClr>
              </a:gs>
              <a:gs pos="100000">
                <a:schemeClr val="accent2">
                  <a:alpha val="7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Arial" charset="0"/>
              </a:rPr>
              <a:t/>
            </a:r>
            <a:br>
              <a:rPr lang="en-US" altLang="zh-CN" sz="4400" dirty="0">
                <a:latin typeface="Arial" charset="0"/>
              </a:rPr>
            </a:br>
            <a:r>
              <a:rPr lang="en-US" altLang="zh-CN" sz="4400" dirty="0" smtClean="0">
                <a:latin typeface="+mn-lt"/>
              </a:rPr>
              <a:t>I</a:t>
            </a:r>
            <a:r>
              <a:rPr lang="en-US" altLang="zh-CN" sz="4400" dirty="0" smtClean="0"/>
              <a:t>deal Transformers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endParaRPr lang="en-US" altLang="zh-CN" sz="4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83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40AB85-F926-469A-9D46-9FACE05232C1}" type="slidenum">
              <a:rPr lang="en-US" altLang="zh-CN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sp>
        <p:nvSpPr>
          <p:cNvPr id="70662" name="Text Box 259"/>
          <p:cNvSpPr txBox="1">
            <a:spLocks noChangeArrowheads="1"/>
          </p:cNvSpPr>
          <p:nvPr/>
        </p:nvSpPr>
        <p:spPr bwMode="auto">
          <a:xfrm>
            <a:off x="755576" y="1907313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Arial" charset="0"/>
                <a:ea typeface="宋体" pitchFamily="2" charset="-122"/>
              </a:rPr>
              <a:t>Ideal Transformer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sp>
        <p:nvSpPr>
          <p:cNvPr id="542981" name="Text Box 261"/>
          <p:cNvSpPr txBox="1">
            <a:spLocks noChangeArrowheads="1"/>
          </p:cNvSpPr>
          <p:nvPr/>
        </p:nvSpPr>
        <p:spPr bwMode="auto">
          <a:xfrm>
            <a:off x="3464" y="2803791"/>
            <a:ext cx="8239125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Coils have very large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reactance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→∞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Coupling coefﬁcient is equal to unity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1).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  <a:buFont typeface="Wingdings" pitchFamily="2" charset="2"/>
              <a:buChar char="u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secondary coils are lossless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=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chemeClr val="accent2"/>
              </a:buClr>
              <a:buSzPct val="65000"/>
            </a:pP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3966" y="4941168"/>
            <a:ext cx="77047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Symbol" panose="05050102010706020507" pitchFamily="18" charset="2"/>
              <a:buChar char="¨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Well-designed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iron-core transformer,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buFont typeface="Symbol" panose="05050102010706020507" pitchFamily="18" charset="2"/>
              <a:buChar char="¨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tightly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coupled, very large reactance of coils,  </a:t>
            </a:r>
            <a:endParaRPr lang="en-US" altLang="zh-C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buFont typeface="Symbol" panose="05050102010706020507" pitchFamily="18" charset="2"/>
              <a:buChar char="¨"/>
            </a:pP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wire resistance.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0" name="Text Box 259"/>
          <p:cNvSpPr txBox="1">
            <a:spLocks noChangeArrowheads="1"/>
          </p:cNvSpPr>
          <p:nvPr/>
        </p:nvSpPr>
        <p:spPr bwMode="auto">
          <a:xfrm>
            <a:off x="755576" y="4296154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 smtClean="0">
                <a:latin typeface="Arial" charset="0"/>
                <a:ea typeface="宋体" pitchFamily="2" charset="-122"/>
              </a:rPr>
              <a:t>Real </a:t>
            </a:r>
            <a:r>
              <a:rPr kumimoji="0" lang="en-US" altLang="zh-CN" b="1" dirty="0">
                <a:latin typeface="Arial" charset="0"/>
                <a:ea typeface="宋体" pitchFamily="2" charset="-122"/>
              </a:rPr>
              <a:t>Transformer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909344"/>
            <a:ext cx="3884183" cy="181001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2721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2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81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3932F7-1C4D-4CE5-9186-332D6BBCE706}" type="slidenum">
              <a:rPr lang="en-US" altLang="zh-CN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30175" y="1124744"/>
            <a:ext cx="962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+mn-lt"/>
              </a:rPr>
              <a:t>coils</a:t>
            </a:r>
            <a:endParaRPr lang="zh-CN" altLang="en-US" b="1">
              <a:latin typeface="+mn-lt"/>
            </a:endParaRPr>
          </a:p>
        </p:txBody>
      </p:sp>
      <p:sp>
        <p:nvSpPr>
          <p:cNvPr id="39941" name="AutoShape 5"/>
          <p:cNvSpPr>
            <a:spLocks noChangeArrowheads="1"/>
          </p:cNvSpPr>
          <p:nvPr/>
        </p:nvSpPr>
        <p:spPr bwMode="auto">
          <a:xfrm>
            <a:off x="915988" y="1489869"/>
            <a:ext cx="976312" cy="228600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1835696" y="1053307"/>
            <a:ext cx="155098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0">
            <a:spAutoFit/>
          </a:bodyPr>
          <a:lstStyle/>
          <a:p>
            <a:pPr algn="ctr"/>
            <a:r>
              <a:rPr lang="en-US" altLang="zh-CN" b="1" dirty="0">
                <a:latin typeface="+mn-lt"/>
              </a:rPr>
              <a:t>coupled inductance</a:t>
            </a:r>
            <a:endParaRPr lang="zh-CN" altLang="en-US" b="1" dirty="0">
              <a:latin typeface="+mn-lt"/>
            </a:endParaRPr>
          </a:p>
        </p:txBody>
      </p:sp>
      <p:sp>
        <p:nvSpPr>
          <p:cNvPr id="39943" name="AutoShape 7"/>
          <p:cNvSpPr>
            <a:spLocks noChangeArrowheads="1"/>
          </p:cNvSpPr>
          <p:nvPr/>
        </p:nvSpPr>
        <p:spPr bwMode="auto">
          <a:xfrm>
            <a:off x="3416300" y="1566069"/>
            <a:ext cx="976313" cy="228600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3559175" y="1108869"/>
            <a:ext cx="679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i="1" dirty="0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=1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4487863" y="1088232"/>
            <a:ext cx="17859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+mn-lt"/>
              </a:rPr>
              <a:t>Perfectly coupled transformer</a:t>
            </a:r>
            <a:endParaRPr lang="zh-CN" altLang="en-US" b="1">
              <a:latin typeface="+mn-lt"/>
            </a:endParaRPr>
          </a:p>
        </p:txBody>
      </p:sp>
      <p:graphicFrame>
        <p:nvGraphicFramePr>
          <p:cNvPr id="399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323389"/>
              </p:ext>
            </p:extLst>
          </p:nvPr>
        </p:nvGraphicFramePr>
        <p:xfrm>
          <a:off x="5843588" y="1124744"/>
          <a:ext cx="1392708" cy="433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2" name="Equation" r:id="rId3" imgW="901440" imgH="279360" progId="Equation.DSMT4">
                  <p:embed/>
                </p:oleObj>
              </mc:Choice>
              <mc:Fallback>
                <p:oleObj name="Equation" r:id="rId3" imgW="901440" imgH="279360" progId="Equation.DSMT4">
                  <p:embed/>
                  <p:pic>
                    <p:nvPicPr>
                      <p:cNvPr id="399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1124744"/>
                        <a:ext cx="1392708" cy="433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AutoShape 11"/>
          <p:cNvSpPr>
            <a:spLocks noChangeArrowheads="1"/>
          </p:cNvSpPr>
          <p:nvPr/>
        </p:nvSpPr>
        <p:spPr bwMode="auto">
          <a:xfrm>
            <a:off x="6145213" y="1566069"/>
            <a:ext cx="976312" cy="228600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7345363" y="1342232"/>
            <a:ext cx="17859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+mn-lt"/>
              </a:rPr>
              <a:t>ideal transformer</a:t>
            </a:r>
            <a:endParaRPr lang="zh-CN" altLang="en-US" b="1">
              <a:latin typeface="+mn-lt"/>
            </a:endParaRPr>
          </a:p>
        </p:txBody>
      </p:sp>
      <p:sp>
        <p:nvSpPr>
          <p:cNvPr id="39958" name="Rectangle 22"/>
          <p:cNvSpPr>
            <a:spLocks noChangeArrowheads="1"/>
          </p:cNvSpPr>
          <p:nvPr/>
        </p:nvSpPr>
        <p:spPr bwMode="auto">
          <a:xfrm>
            <a:off x="844550" y="1032669"/>
            <a:ext cx="13144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+mn-lt"/>
              </a:rPr>
              <a:t>No loss</a:t>
            </a:r>
            <a:endParaRPr lang="zh-CN" altLang="en-US" b="1">
              <a:latin typeface="+mn-lt"/>
            </a:endParaRPr>
          </a:p>
        </p:txBody>
      </p:sp>
      <p:sp>
        <p:nvSpPr>
          <p:cNvPr id="28687" name="Rectangle 1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n-lt"/>
                <a:ea typeface="楷体_GB2312" pitchFamily="49" charset="-122"/>
              </a:rPr>
              <a:t>Ideal transformer and coupled </a:t>
            </a:r>
            <a:r>
              <a:rPr lang="en-US" altLang="zh-CN" sz="3200" dirty="0" smtClean="0">
                <a:latin typeface="+mn-lt"/>
                <a:ea typeface="楷体_GB2312" pitchFamily="49" charset="-122"/>
              </a:rPr>
              <a:t>inductance</a:t>
            </a:r>
            <a:endParaRPr lang="zh-CN" altLang="en-US" sz="3200" dirty="0"/>
          </a:p>
        </p:txBody>
      </p:sp>
      <p:grpSp>
        <p:nvGrpSpPr>
          <p:cNvPr id="28688" name="Group 120"/>
          <p:cNvGrpSpPr>
            <a:grpSpLocks/>
          </p:cNvGrpSpPr>
          <p:nvPr/>
        </p:nvGrpSpPr>
        <p:grpSpPr bwMode="auto">
          <a:xfrm>
            <a:off x="615950" y="2315369"/>
            <a:ext cx="3308350" cy="2332038"/>
            <a:chOff x="124" y="1296"/>
            <a:chExt cx="2084" cy="1469"/>
          </a:xfrm>
        </p:grpSpPr>
        <p:grpSp>
          <p:nvGrpSpPr>
            <p:cNvPr id="28694" name="Group 121"/>
            <p:cNvGrpSpPr>
              <a:grpSpLocks/>
            </p:cNvGrpSpPr>
            <p:nvPr/>
          </p:nvGrpSpPr>
          <p:grpSpPr bwMode="auto">
            <a:xfrm>
              <a:off x="124" y="1296"/>
              <a:ext cx="2084" cy="1469"/>
              <a:chOff x="612" y="1630"/>
              <a:chExt cx="2084" cy="1469"/>
            </a:xfrm>
          </p:grpSpPr>
          <p:sp>
            <p:nvSpPr>
              <p:cNvPr id="28699" name="Line 122"/>
              <p:cNvSpPr>
                <a:spLocks noChangeShapeType="1"/>
              </p:cNvSpPr>
              <p:nvPr/>
            </p:nvSpPr>
            <p:spPr bwMode="auto">
              <a:xfrm>
                <a:off x="1098" y="1647"/>
                <a:ext cx="1" cy="144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0" name="Line 123"/>
              <p:cNvSpPr>
                <a:spLocks noChangeShapeType="1"/>
              </p:cNvSpPr>
              <p:nvPr/>
            </p:nvSpPr>
            <p:spPr bwMode="auto">
              <a:xfrm>
                <a:off x="2190" y="1647"/>
                <a:ext cx="1" cy="144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1" name="Line 124"/>
              <p:cNvSpPr>
                <a:spLocks noChangeShapeType="1"/>
              </p:cNvSpPr>
              <p:nvPr/>
            </p:nvSpPr>
            <p:spPr bwMode="auto">
              <a:xfrm>
                <a:off x="1098" y="1647"/>
                <a:ext cx="109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2" name="Line 125"/>
              <p:cNvSpPr>
                <a:spLocks noChangeShapeType="1"/>
              </p:cNvSpPr>
              <p:nvPr/>
            </p:nvSpPr>
            <p:spPr bwMode="auto">
              <a:xfrm>
                <a:off x="1093" y="3088"/>
                <a:ext cx="1097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3" name="Line 126"/>
              <p:cNvSpPr>
                <a:spLocks noChangeShapeType="1"/>
              </p:cNvSpPr>
              <p:nvPr/>
            </p:nvSpPr>
            <p:spPr bwMode="auto">
              <a:xfrm>
                <a:off x="1317" y="1889"/>
                <a:ext cx="1" cy="95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4" name="Line 127"/>
              <p:cNvSpPr>
                <a:spLocks noChangeShapeType="1"/>
              </p:cNvSpPr>
              <p:nvPr/>
            </p:nvSpPr>
            <p:spPr bwMode="auto">
              <a:xfrm>
                <a:off x="1971" y="1889"/>
                <a:ext cx="1" cy="95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5" name="Line 128"/>
              <p:cNvSpPr>
                <a:spLocks noChangeShapeType="1"/>
              </p:cNvSpPr>
              <p:nvPr/>
            </p:nvSpPr>
            <p:spPr bwMode="auto">
              <a:xfrm>
                <a:off x="1317" y="1885"/>
                <a:ext cx="654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6" name="Line 129"/>
              <p:cNvSpPr>
                <a:spLocks noChangeShapeType="1"/>
              </p:cNvSpPr>
              <p:nvPr/>
            </p:nvSpPr>
            <p:spPr bwMode="auto">
              <a:xfrm>
                <a:off x="1317" y="2840"/>
                <a:ext cx="654" cy="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7" name="Line 130"/>
              <p:cNvSpPr>
                <a:spLocks noChangeShapeType="1"/>
              </p:cNvSpPr>
              <p:nvPr/>
            </p:nvSpPr>
            <p:spPr bwMode="auto">
              <a:xfrm>
                <a:off x="1223" y="1760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8" name="Line 131"/>
              <p:cNvSpPr>
                <a:spLocks noChangeShapeType="1"/>
              </p:cNvSpPr>
              <p:nvPr/>
            </p:nvSpPr>
            <p:spPr bwMode="auto">
              <a:xfrm>
                <a:off x="1223" y="1906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09" name="Line 132"/>
              <p:cNvSpPr>
                <a:spLocks noChangeShapeType="1"/>
              </p:cNvSpPr>
              <p:nvPr/>
            </p:nvSpPr>
            <p:spPr bwMode="auto">
              <a:xfrm>
                <a:off x="1223" y="2051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0" name="Line 133"/>
              <p:cNvSpPr>
                <a:spLocks noChangeShapeType="1"/>
              </p:cNvSpPr>
              <p:nvPr/>
            </p:nvSpPr>
            <p:spPr bwMode="auto">
              <a:xfrm>
                <a:off x="1223" y="2197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1" name="Line 134"/>
              <p:cNvSpPr>
                <a:spLocks noChangeShapeType="1"/>
              </p:cNvSpPr>
              <p:nvPr/>
            </p:nvSpPr>
            <p:spPr bwMode="auto">
              <a:xfrm>
                <a:off x="1222" y="2342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2" name="Line 135"/>
              <p:cNvSpPr>
                <a:spLocks noChangeShapeType="1"/>
              </p:cNvSpPr>
              <p:nvPr/>
            </p:nvSpPr>
            <p:spPr bwMode="auto">
              <a:xfrm>
                <a:off x="1222" y="2488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3" name="Line 136"/>
              <p:cNvSpPr>
                <a:spLocks noChangeShapeType="1"/>
              </p:cNvSpPr>
              <p:nvPr/>
            </p:nvSpPr>
            <p:spPr bwMode="auto">
              <a:xfrm>
                <a:off x="1222" y="2633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4" name="Line 137"/>
              <p:cNvSpPr>
                <a:spLocks noChangeShapeType="1"/>
              </p:cNvSpPr>
              <p:nvPr/>
            </p:nvSpPr>
            <p:spPr bwMode="auto">
              <a:xfrm>
                <a:off x="1222" y="2779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5" name="Line 138"/>
              <p:cNvSpPr>
                <a:spLocks noChangeShapeType="1"/>
              </p:cNvSpPr>
              <p:nvPr/>
            </p:nvSpPr>
            <p:spPr bwMode="auto">
              <a:xfrm>
                <a:off x="2061" y="1760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6" name="Line 139"/>
              <p:cNvSpPr>
                <a:spLocks noChangeShapeType="1"/>
              </p:cNvSpPr>
              <p:nvPr/>
            </p:nvSpPr>
            <p:spPr bwMode="auto">
              <a:xfrm>
                <a:off x="2061" y="1906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7" name="Line 140"/>
              <p:cNvSpPr>
                <a:spLocks noChangeShapeType="1"/>
              </p:cNvSpPr>
              <p:nvPr/>
            </p:nvSpPr>
            <p:spPr bwMode="auto">
              <a:xfrm>
                <a:off x="2061" y="2051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8" name="Line 141"/>
              <p:cNvSpPr>
                <a:spLocks noChangeShapeType="1"/>
              </p:cNvSpPr>
              <p:nvPr/>
            </p:nvSpPr>
            <p:spPr bwMode="auto">
              <a:xfrm>
                <a:off x="2061" y="2197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19" name="Line 142"/>
              <p:cNvSpPr>
                <a:spLocks noChangeShapeType="1"/>
              </p:cNvSpPr>
              <p:nvPr/>
            </p:nvSpPr>
            <p:spPr bwMode="auto">
              <a:xfrm>
                <a:off x="2061" y="2342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0" name="Line 143"/>
              <p:cNvSpPr>
                <a:spLocks noChangeShapeType="1"/>
              </p:cNvSpPr>
              <p:nvPr/>
            </p:nvSpPr>
            <p:spPr bwMode="auto">
              <a:xfrm>
                <a:off x="2061" y="2488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1" name="Line 144"/>
              <p:cNvSpPr>
                <a:spLocks noChangeShapeType="1"/>
              </p:cNvSpPr>
              <p:nvPr/>
            </p:nvSpPr>
            <p:spPr bwMode="auto">
              <a:xfrm>
                <a:off x="2061" y="2633"/>
                <a:ext cx="1" cy="9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2" name="Line 145"/>
              <p:cNvSpPr>
                <a:spLocks noChangeShapeType="1"/>
              </p:cNvSpPr>
              <p:nvPr/>
            </p:nvSpPr>
            <p:spPr bwMode="auto">
              <a:xfrm>
                <a:off x="2061" y="2779"/>
                <a:ext cx="1" cy="8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3" name="Line 146"/>
              <p:cNvSpPr>
                <a:spLocks noChangeShapeType="1"/>
              </p:cNvSpPr>
              <p:nvPr/>
            </p:nvSpPr>
            <p:spPr bwMode="auto">
              <a:xfrm>
                <a:off x="2061" y="2924"/>
                <a:ext cx="1" cy="1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4" name="Line 147"/>
              <p:cNvSpPr>
                <a:spLocks noChangeShapeType="1"/>
              </p:cNvSpPr>
              <p:nvPr/>
            </p:nvSpPr>
            <p:spPr bwMode="auto">
              <a:xfrm flipV="1">
                <a:off x="2061" y="2754"/>
                <a:ext cx="1" cy="10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5" name="Freeform 148"/>
              <p:cNvSpPr>
                <a:spLocks/>
              </p:cNvSpPr>
              <p:nvPr/>
            </p:nvSpPr>
            <p:spPr bwMode="auto">
              <a:xfrm>
                <a:off x="2022" y="2848"/>
                <a:ext cx="78" cy="117"/>
              </a:xfrm>
              <a:custGeom>
                <a:avLst/>
                <a:gdLst>
                  <a:gd name="T0" fmla="*/ 78 w 78"/>
                  <a:gd name="T1" fmla="*/ 0 h 117"/>
                  <a:gd name="T2" fmla="*/ 39 w 78"/>
                  <a:gd name="T3" fmla="*/ 117 h 117"/>
                  <a:gd name="T4" fmla="*/ 0 w 78"/>
                  <a:gd name="T5" fmla="*/ 0 h 117"/>
                  <a:gd name="T6" fmla="*/ 78 w 78"/>
                  <a:gd name="T7" fmla="*/ 0 h 1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117"/>
                  <a:gd name="T14" fmla="*/ 78 w 78"/>
                  <a:gd name="T15" fmla="*/ 117 h 1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117">
                    <a:moveTo>
                      <a:pt x="78" y="0"/>
                    </a:moveTo>
                    <a:lnTo>
                      <a:pt x="39" y="117"/>
                    </a:lnTo>
                    <a:lnTo>
                      <a:pt x="0" y="0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6" name="Freeform 149"/>
              <p:cNvSpPr>
                <a:spLocks/>
              </p:cNvSpPr>
              <p:nvPr/>
            </p:nvSpPr>
            <p:spPr bwMode="auto">
              <a:xfrm>
                <a:off x="2196" y="2087"/>
                <a:ext cx="73" cy="89"/>
              </a:xfrm>
              <a:custGeom>
                <a:avLst/>
                <a:gdLst>
                  <a:gd name="T0" fmla="*/ 5 w 73"/>
                  <a:gd name="T1" fmla="*/ 0 h 89"/>
                  <a:gd name="T2" fmla="*/ 26 w 73"/>
                  <a:gd name="T3" fmla="*/ 2 h 89"/>
                  <a:gd name="T4" fmla="*/ 46 w 73"/>
                  <a:gd name="T5" fmla="*/ 9 h 89"/>
                  <a:gd name="T6" fmla="*/ 61 w 73"/>
                  <a:gd name="T7" fmla="*/ 20 h 89"/>
                  <a:gd name="T8" fmla="*/ 71 w 73"/>
                  <a:gd name="T9" fmla="*/ 33 h 89"/>
                  <a:gd name="T10" fmla="*/ 73 w 73"/>
                  <a:gd name="T11" fmla="*/ 48 h 89"/>
                  <a:gd name="T12" fmla="*/ 69 w 73"/>
                  <a:gd name="T13" fmla="*/ 61 h 89"/>
                  <a:gd name="T14" fmla="*/ 58 w 73"/>
                  <a:gd name="T15" fmla="*/ 74 h 89"/>
                  <a:gd name="T16" fmla="*/ 43 w 73"/>
                  <a:gd name="T17" fmla="*/ 84 h 89"/>
                  <a:gd name="T18" fmla="*/ 22 w 73"/>
                  <a:gd name="T19" fmla="*/ 87 h 89"/>
                  <a:gd name="T20" fmla="*/ 0 w 73"/>
                  <a:gd name="T21" fmla="*/ 89 h 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89"/>
                  <a:gd name="T35" fmla="*/ 73 w 73"/>
                  <a:gd name="T36" fmla="*/ 89 h 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89">
                    <a:moveTo>
                      <a:pt x="5" y="0"/>
                    </a:moveTo>
                    <a:lnTo>
                      <a:pt x="26" y="2"/>
                    </a:lnTo>
                    <a:lnTo>
                      <a:pt x="46" y="9"/>
                    </a:lnTo>
                    <a:lnTo>
                      <a:pt x="61" y="20"/>
                    </a:lnTo>
                    <a:lnTo>
                      <a:pt x="71" y="33"/>
                    </a:lnTo>
                    <a:lnTo>
                      <a:pt x="73" y="48"/>
                    </a:lnTo>
                    <a:lnTo>
                      <a:pt x="69" y="61"/>
                    </a:lnTo>
                    <a:lnTo>
                      <a:pt x="58" y="74"/>
                    </a:lnTo>
                    <a:lnTo>
                      <a:pt x="43" y="84"/>
                    </a:lnTo>
                    <a:lnTo>
                      <a:pt x="22" y="87"/>
                    </a:lnTo>
                    <a:lnTo>
                      <a:pt x="0" y="89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7" name="Freeform 150"/>
              <p:cNvSpPr>
                <a:spLocks/>
              </p:cNvSpPr>
              <p:nvPr/>
            </p:nvSpPr>
            <p:spPr bwMode="auto">
              <a:xfrm>
                <a:off x="1897" y="2236"/>
                <a:ext cx="69" cy="95"/>
              </a:xfrm>
              <a:custGeom>
                <a:avLst/>
                <a:gdLst>
                  <a:gd name="T0" fmla="*/ 69 w 69"/>
                  <a:gd name="T1" fmla="*/ 0 h 95"/>
                  <a:gd name="T2" fmla="*/ 46 w 69"/>
                  <a:gd name="T3" fmla="*/ 2 h 95"/>
                  <a:gd name="T4" fmla="*/ 28 w 69"/>
                  <a:gd name="T5" fmla="*/ 9 h 95"/>
                  <a:gd name="T6" fmla="*/ 13 w 69"/>
                  <a:gd name="T7" fmla="*/ 20 h 95"/>
                  <a:gd name="T8" fmla="*/ 1 w 69"/>
                  <a:gd name="T9" fmla="*/ 33 h 95"/>
                  <a:gd name="T10" fmla="*/ 0 w 69"/>
                  <a:gd name="T11" fmla="*/ 48 h 95"/>
                  <a:gd name="T12" fmla="*/ 1 w 69"/>
                  <a:gd name="T13" fmla="*/ 61 h 95"/>
                  <a:gd name="T14" fmla="*/ 13 w 69"/>
                  <a:gd name="T15" fmla="*/ 74 h 95"/>
                  <a:gd name="T16" fmla="*/ 28 w 69"/>
                  <a:gd name="T17" fmla="*/ 86 h 95"/>
                  <a:gd name="T18" fmla="*/ 46 w 69"/>
                  <a:gd name="T19" fmla="*/ 93 h 95"/>
                  <a:gd name="T20" fmla="*/ 69 w 69"/>
                  <a:gd name="T21" fmla="*/ 95 h 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"/>
                  <a:gd name="T34" fmla="*/ 0 h 95"/>
                  <a:gd name="T35" fmla="*/ 69 w 69"/>
                  <a:gd name="T36" fmla="*/ 95 h 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" h="95">
                    <a:moveTo>
                      <a:pt x="69" y="0"/>
                    </a:moveTo>
                    <a:lnTo>
                      <a:pt x="46" y="2"/>
                    </a:lnTo>
                    <a:lnTo>
                      <a:pt x="28" y="9"/>
                    </a:lnTo>
                    <a:lnTo>
                      <a:pt x="13" y="20"/>
                    </a:lnTo>
                    <a:lnTo>
                      <a:pt x="1" y="33"/>
                    </a:lnTo>
                    <a:lnTo>
                      <a:pt x="0" y="48"/>
                    </a:lnTo>
                    <a:lnTo>
                      <a:pt x="1" y="61"/>
                    </a:lnTo>
                    <a:lnTo>
                      <a:pt x="13" y="74"/>
                    </a:lnTo>
                    <a:lnTo>
                      <a:pt x="28" y="86"/>
                    </a:lnTo>
                    <a:lnTo>
                      <a:pt x="46" y="93"/>
                    </a:lnTo>
                    <a:lnTo>
                      <a:pt x="69" y="9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8" name="Line 151"/>
              <p:cNvSpPr>
                <a:spLocks noChangeShapeType="1"/>
              </p:cNvSpPr>
              <p:nvPr/>
            </p:nvSpPr>
            <p:spPr bwMode="auto">
              <a:xfrm flipV="1">
                <a:off x="1962" y="2176"/>
                <a:ext cx="234" cy="6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29" name="Freeform 152"/>
              <p:cNvSpPr>
                <a:spLocks/>
              </p:cNvSpPr>
              <p:nvPr/>
            </p:nvSpPr>
            <p:spPr bwMode="auto">
              <a:xfrm>
                <a:off x="2196" y="2419"/>
                <a:ext cx="73" cy="89"/>
              </a:xfrm>
              <a:custGeom>
                <a:avLst/>
                <a:gdLst>
                  <a:gd name="T0" fmla="*/ 5 w 73"/>
                  <a:gd name="T1" fmla="*/ 0 h 89"/>
                  <a:gd name="T2" fmla="*/ 26 w 73"/>
                  <a:gd name="T3" fmla="*/ 1 h 89"/>
                  <a:gd name="T4" fmla="*/ 46 w 73"/>
                  <a:gd name="T5" fmla="*/ 9 h 89"/>
                  <a:gd name="T6" fmla="*/ 61 w 73"/>
                  <a:gd name="T7" fmla="*/ 20 h 89"/>
                  <a:gd name="T8" fmla="*/ 71 w 73"/>
                  <a:gd name="T9" fmla="*/ 33 h 89"/>
                  <a:gd name="T10" fmla="*/ 73 w 73"/>
                  <a:gd name="T11" fmla="*/ 48 h 89"/>
                  <a:gd name="T12" fmla="*/ 69 w 73"/>
                  <a:gd name="T13" fmla="*/ 61 h 89"/>
                  <a:gd name="T14" fmla="*/ 58 w 73"/>
                  <a:gd name="T15" fmla="*/ 74 h 89"/>
                  <a:gd name="T16" fmla="*/ 43 w 73"/>
                  <a:gd name="T17" fmla="*/ 84 h 89"/>
                  <a:gd name="T18" fmla="*/ 22 w 73"/>
                  <a:gd name="T19" fmla="*/ 89 h 89"/>
                  <a:gd name="T20" fmla="*/ 0 w 73"/>
                  <a:gd name="T21" fmla="*/ 89 h 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89"/>
                  <a:gd name="T35" fmla="*/ 73 w 73"/>
                  <a:gd name="T36" fmla="*/ 89 h 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89">
                    <a:moveTo>
                      <a:pt x="5" y="0"/>
                    </a:moveTo>
                    <a:lnTo>
                      <a:pt x="26" y="1"/>
                    </a:lnTo>
                    <a:lnTo>
                      <a:pt x="46" y="9"/>
                    </a:lnTo>
                    <a:lnTo>
                      <a:pt x="61" y="20"/>
                    </a:lnTo>
                    <a:lnTo>
                      <a:pt x="71" y="33"/>
                    </a:lnTo>
                    <a:lnTo>
                      <a:pt x="73" y="48"/>
                    </a:lnTo>
                    <a:lnTo>
                      <a:pt x="69" y="61"/>
                    </a:lnTo>
                    <a:lnTo>
                      <a:pt x="58" y="74"/>
                    </a:lnTo>
                    <a:lnTo>
                      <a:pt x="43" y="84"/>
                    </a:lnTo>
                    <a:lnTo>
                      <a:pt x="22" y="89"/>
                    </a:lnTo>
                    <a:lnTo>
                      <a:pt x="0" y="89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0" name="Freeform 153"/>
              <p:cNvSpPr>
                <a:spLocks/>
              </p:cNvSpPr>
              <p:nvPr/>
            </p:nvSpPr>
            <p:spPr bwMode="auto">
              <a:xfrm>
                <a:off x="1897" y="2568"/>
                <a:ext cx="69" cy="95"/>
              </a:xfrm>
              <a:custGeom>
                <a:avLst/>
                <a:gdLst>
                  <a:gd name="T0" fmla="*/ 69 w 69"/>
                  <a:gd name="T1" fmla="*/ 0 h 95"/>
                  <a:gd name="T2" fmla="*/ 46 w 69"/>
                  <a:gd name="T3" fmla="*/ 4 h 95"/>
                  <a:gd name="T4" fmla="*/ 28 w 69"/>
                  <a:gd name="T5" fmla="*/ 9 h 95"/>
                  <a:gd name="T6" fmla="*/ 13 w 69"/>
                  <a:gd name="T7" fmla="*/ 20 h 95"/>
                  <a:gd name="T8" fmla="*/ 1 w 69"/>
                  <a:gd name="T9" fmla="*/ 33 h 95"/>
                  <a:gd name="T10" fmla="*/ 0 w 69"/>
                  <a:gd name="T11" fmla="*/ 48 h 95"/>
                  <a:gd name="T12" fmla="*/ 1 w 69"/>
                  <a:gd name="T13" fmla="*/ 61 h 95"/>
                  <a:gd name="T14" fmla="*/ 13 w 69"/>
                  <a:gd name="T15" fmla="*/ 76 h 95"/>
                  <a:gd name="T16" fmla="*/ 28 w 69"/>
                  <a:gd name="T17" fmla="*/ 86 h 95"/>
                  <a:gd name="T18" fmla="*/ 46 w 69"/>
                  <a:gd name="T19" fmla="*/ 93 h 95"/>
                  <a:gd name="T20" fmla="*/ 69 w 69"/>
                  <a:gd name="T21" fmla="*/ 95 h 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"/>
                  <a:gd name="T34" fmla="*/ 0 h 95"/>
                  <a:gd name="T35" fmla="*/ 69 w 69"/>
                  <a:gd name="T36" fmla="*/ 95 h 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" h="95">
                    <a:moveTo>
                      <a:pt x="69" y="0"/>
                    </a:moveTo>
                    <a:lnTo>
                      <a:pt x="46" y="4"/>
                    </a:lnTo>
                    <a:lnTo>
                      <a:pt x="28" y="9"/>
                    </a:lnTo>
                    <a:lnTo>
                      <a:pt x="13" y="20"/>
                    </a:lnTo>
                    <a:lnTo>
                      <a:pt x="1" y="33"/>
                    </a:lnTo>
                    <a:lnTo>
                      <a:pt x="0" y="48"/>
                    </a:lnTo>
                    <a:lnTo>
                      <a:pt x="1" y="61"/>
                    </a:lnTo>
                    <a:lnTo>
                      <a:pt x="13" y="76"/>
                    </a:lnTo>
                    <a:lnTo>
                      <a:pt x="28" y="86"/>
                    </a:lnTo>
                    <a:lnTo>
                      <a:pt x="46" y="93"/>
                    </a:lnTo>
                    <a:lnTo>
                      <a:pt x="69" y="9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1" name="Line 154"/>
              <p:cNvSpPr>
                <a:spLocks noChangeShapeType="1"/>
              </p:cNvSpPr>
              <p:nvPr/>
            </p:nvSpPr>
            <p:spPr bwMode="auto">
              <a:xfrm flipV="1">
                <a:off x="1962" y="2508"/>
                <a:ext cx="234" cy="6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2" name="Freeform 155"/>
              <p:cNvSpPr>
                <a:spLocks/>
              </p:cNvSpPr>
              <p:nvPr/>
            </p:nvSpPr>
            <p:spPr bwMode="auto">
              <a:xfrm>
                <a:off x="1020" y="2087"/>
                <a:ext cx="73" cy="89"/>
              </a:xfrm>
              <a:custGeom>
                <a:avLst/>
                <a:gdLst>
                  <a:gd name="T0" fmla="*/ 67 w 73"/>
                  <a:gd name="T1" fmla="*/ 0 h 89"/>
                  <a:gd name="T2" fmla="*/ 46 w 73"/>
                  <a:gd name="T3" fmla="*/ 2 h 89"/>
                  <a:gd name="T4" fmla="*/ 26 w 73"/>
                  <a:gd name="T5" fmla="*/ 9 h 89"/>
                  <a:gd name="T6" fmla="*/ 11 w 73"/>
                  <a:gd name="T7" fmla="*/ 20 h 89"/>
                  <a:gd name="T8" fmla="*/ 2 w 73"/>
                  <a:gd name="T9" fmla="*/ 33 h 89"/>
                  <a:gd name="T10" fmla="*/ 0 w 73"/>
                  <a:gd name="T11" fmla="*/ 48 h 89"/>
                  <a:gd name="T12" fmla="*/ 3 w 73"/>
                  <a:gd name="T13" fmla="*/ 61 h 89"/>
                  <a:gd name="T14" fmla="*/ 15 w 73"/>
                  <a:gd name="T15" fmla="*/ 74 h 89"/>
                  <a:gd name="T16" fmla="*/ 30 w 73"/>
                  <a:gd name="T17" fmla="*/ 84 h 89"/>
                  <a:gd name="T18" fmla="*/ 50 w 73"/>
                  <a:gd name="T19" fmla="*/ 87 h 89"/>
                  <a:gd name="T20" fmla="*/ 73 w 73"/>
                  <a:gd name="T21" fmla="*/ 89 h 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89"/>
                  <a:gd name="T35" fmla="*/ 73 w 73"/>
                  <a:gd name="T36" fmla="*/ 89 h 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89">
                    <a:moveTo>
                      <a:pt x="67" y="0"/>
                    </a:moveTo>
                    <a:lnTo>
                      <a:pt x="46" y="2"/>
                    </a:lnTo>
                    <a:lnTo>
                      <a:pt x="26" y="9"/>
                    </a:lnTo>
                    <a:lnTo>
                      <a:pt x="11" y="20"/>
                    </a:lnTo>
                    <a:lnTo>
                      <a:pt x="2" y="33"/>
                    </a:lnTo>
                    <a:lnTo>
                      <a:pt x="0" y="48"/>
                    </a:lnTo>
                    <a:lnTo>
                      <a:pt x="3" y="61"/>
                    </a:lnTo>
                    <a:lnTo>
                      <a:pt x="15" y="74"/>
                    </a:lnTo>
                    <a:lnTo>
                      <a:pt x="30" y="84"/>
                    </a:lnTo>
                    <a:lnTo>
                      <a:pt x="50" y="87"/>
                    </a:lnTo>
                    <a:lnTo>
                      <a:pt x="73" y="89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3" name="Freeform 156"/>
              <p:cNvSpPr>
                <a:spLocks/>
              </p:cNvSpPr>
              <p:nvPr/>
            </p:nvSpPr>
            <p:spPr bwMode="auto">
              <a:xfrm>
                <a:off x="1323" y="2236"/>
                <a:ext cx="69" cy="95"/>
              </a:xfrm>
              <a:custGeom>
                <a:avLst/>
                <a:gdLst>
                  <a:gd name="T0" fmla="*/ 0 w 69"/>
                  <a:gd name="T1" fmla="*/ 0 h 95"/>
                  <a:gd name="T2" fmla="*/ 20 w 69"/>
                  <a:gd name="T3" fmla="*/ 2 h 95"/>
                  <a:gd name="T4" fmla="*/ 41 w 69"/>
                  <a:gd name="T5" fmla="*/ 9 h 95"/>
                  <a:gd name="T6" fmla="*/ 56 w 69"/>
                  <a:gd name="T7" fmla="*/ 20 h 95"/>
                  <a:gd name="T8" fmla="*/ 67 w 69"/>
                  <a:gd name="T9" fmla="*/ 33 h 95"/>
                  <a:gd name="T10" fmla="*/ 69 w 69"/>
                  <a:gd name="T11" fmla="*/ 48 h 95"/>
                  <a:gd name="T12" fmla="*/ 67 w 69"/>
                  <a:gd name="T13" fmla="*/ 61 h 95"/>
                  <a:gd name="T14" fmla="*/ 56 w 69"/>
                  <a:gd name="T15" fmla="*/ 74 h 95"/>
                  <a:gd name="T16" fmla="*/ 41 w 69"/>
                  <a:gd name="T17" fmla="*/ 86 h 95"/>
                  <a:gd name="T18" fmla="*/ 20 w 69"/>
                  <a:gd name="T19" fmla="*/ 93 h 95"/>
                  <a:gd name="T20" fmla="*/ 0 w 69"/>
                  <a:gd name="T21" fmla="*/ 95 h 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"/>
                  <a:gd name="T34" fmla="*/ 0 h 95"/>
                  <a:gd name="T35" fmla="*/ 69 w 69"/>
                  <a:gd name="T36" fmla="*/ 95 h 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" h="95">
                    <a:moveTo>
                      <a:pt x="0" y="0"/>
                    </a:moveTo>
                    <a:lnTo>
                      <a:pt x="20" y="2"/>
                    </a:lnTo>
                    <a:lnTo>
                      <a:pt x="41" y="9"/>
                    </a:lnTo>
                    <a:lnTo>
                      <a:pt x="56" y="20"/>
                    </a:lnTo>
                    <a:lnTo>
                      <a:pt x="67" y="33"/>
                    </a:lnTo>
                    <a:lnTo>
                      <a:pt x="69" y="48"/>
                    </a:lnTo>
                    <a:lnTo>
                      <a:pt x="67" y="61"/>
                    </a:lnTo>
                    <a:lnTo>
                      <a:pt x="56" y="74"/>
                    </a:lnTo>
                    <a:lnTo>
                      <a:pt x="41" y="86"/>
                    </a:lnTo>
                    <a:lnTo>
                      <a:pt x="20" y="93"/>
                    </a:lnTo>
                    <a:lnTo>
                      <a:pt x="0" y="9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4" name="Line 157"/>
              <p:cNvSpPr>
                <a:spLocks noChangeShapeType="1"/>
              </p:cNvSpPr>
              <p:nvPr/>
            </p:nvSpPr>
            <p:spPr bwMode="auto">
              <a:xfrm flipH="1" flipV="1">
                <a:off x="1093" y="2176"/>
                <a:ext cx="233" cy="6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5" name="Freeform 158"/>
              <p:cNvSpPr>
                <a:spLocks/>
              </p:cNvSpPr>
              <p:nvPr/>
            </p:nvSpPr>
            <p:spPr bwMode="auto">
              <a:xfrm>
                <a:off x="1020" y="2419"/>
                <a:ext cx="73" cy="89"/>
              </a:xfrm>
              <a:custGeom>
                <a:avLst/>
                <a:gdLst>
                  <a:gd name="T0" fmla="*/ 67 w 73"/>
                  <a:gd name="T1" fmla="*/ 0 h 89"/>
                  <a:gd name="T2" fmla="*/ 46 w 73"/>
                  <a:gd name="T3" fmla="*/ 1 h 89"/>
                  <a:gd name="T4" fmla="*/ 26 w 73"/>
                  <a:gd name="T5" fmla="*/ 9 h 89"/>
                  <a:gd name="T6" fmla="*/ 11 w 73"/>
                  <a:gd name="T7" fmla="*/ 20 h 89"/>
                  <a:gd name="T8" fmla="*/ 2 w 73"/>
                  <a:gd name="T9" fmla="*/ 33 h 89"/>
                  <a:gd name="T10" fmla="*/ 0 w 73"/>
                  <a:gd name="T11" fmla="*/ 48 h 89"/>
                  <a:gd name="T12" fmla="*/ 3 w 73"/>
                  <a:gd name="T13" fmla="*/ 61 h 89"/>
                  <a:gd name="T14" fmla="*/ 15 w 73"/>
                  <a:gd name="T15" fmla="*/ 74 h 89"/>
                  <a:gd name="T16" fmla="*/ 30 w 73"/>
                  <a:gd name="T17" fmla="*/ 84 h 89"/>
                  <a:gd name="T18" fmla="*/ 50 w 73"/>
                  <a:gd name="T19" fmla="*/ 89 h 89"/>
                  <a:gd name="T20" fmla="*/ 73 w 73"/>
                  <a:gd name="T21" fmla="*/ 89 h 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89"/>
                  <a:gd name="T35" fmla="*/ 73 w 73"/>
                  <a:gd name="T36" fmla="*/ 89 h 8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89">
                    <a:moveTo>
                      <a:pt x="67" y="0"/>
                    </a:moveTo>
                    <a:lnTo>
                      <a:pt x="46" y="1"/>
                    </a:lnTo>
                    <a:lnTo>
                      <a:pt x="26" y="9"/>
                    </a:lnTo>
                    <a:lnTo>
                      <a:pt x="11" y="20"/>
                    </a:lnTo>
                    <a:lnTo>
                      <a:pt x="2" y="33"/>
                    </a:lnTo>
                    <a:lnTo>
                      <a:pt x="0" y="48"/>
                    </a:lnTo>
                    <a:lnTo>
                      <a:pt x="3" y="61"/>
                    </a:lnTo>
                    <a:lnTo>
                      <a:pt x="15" y="74"/>
                    </a:lnTo>
                    <a:lnTo>
                      <a:pt x="30" y="84"/>
                    </a:lnTo>
                    <a:lnTo>
                      <a:pt x="50" y="89"/>
                    </a:lnTo>
                    <a:lnTo>
                      <a:pt x="73" y="89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6" name="Freeform 159"/>
              <p:cNvSpPr>
                <a:spLocks/>
              </p:cNvSpPr>
              <p:nvPr/>
            </p:nvSpPr>
            <p:spPr bwMode="auto">
              <a:xfrm>
                <a:off x="1323" y="2568"/>
                <a:ext cx="69" cy="95"/>
              </a:xfrm>
              <a:custGeom>
                <a:avLst/>
                <a:gdLst>
                  <a:gd name="T0" fmla="*/ 0 w 69"/>
                  <a:gd name="T1" fmla="*/ 0 h 95"/>
                  <a:gd name="T2" fmla="*/ 20 w 69"/>
                  <a:gd name="T3" fmla="*/ 4 h 95"/>
                  <a:gd name="T4" fmla="*/ 41 w 69"/>
                  <a:gd name="T5" fmla="*/ 9 h 95"/>
                  <a:gd name="T6" fmla="*/ 56 w 69"/>
                  <a:gd name="T7" fmla="*/ 20 h 95"/>
                  <a:gd name="T8" fmla="*/ 67 w 69"/>
                  <a:gd name="T9" fmla="*/ 33 h 95"/>
                  <a:gd name="T10" fmla="*/ 69 w 69"/>
                  <a:gd name="T11" fmla="*/ 48 h 95"/>
                  <a:gd name="T12" fmla="*/ 67 w 69"/>
                  <a:gd name="T13" fmla="*/ 61 h 95"/>
                  <a:gd name="T14" fmla="*/ 56 w 69"/>
                  <a:gd name="T15" fmla="*/ 76 h 95"/>
                  <a:gd name="T16" fmla="*/ 41 w 69"/>
                  <a:gd name="T17" fmla="*/ 86 h 95"/>
                  <a:gd name="T18" fmla="*/ 20 w 69"/>
                  <a:gd name="T19" fmla="*/ 93 h 95"/>
                  <a:gd name="T20" fmla="*/ 0 w 69"/>
                  <a:gd name="T21" fmla="*/ 95 h 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"/>
                  <a:gd name="T34" fmla="*/ 0 h 95"/>
                  <a:gd name="T35" fmla="*/ 69 w 69"/>
                  <a:gd name="T36" fmla="*/ 95 h 9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" h="95">
                    <a:moveTo>
                      <a:pt x="0" y="0"/>
                    </a:moveTo>
                    <a:lnTo>
                      <a:pt x="20" y="4"/>
                    </a:lnTo>
                    <a:lnTo>
                      <a:pt x="41" y="9"/>
                    </a:lnTo>
                    <a:lnTo>
                      <a:pt x="56" y="20"/>
                    </a:lnTo>
                    <a:lnTo>
                      <a:pt x="67" y="33"/>
                    </a:lnTo>
                    <a:lnTo>
                      <a:pt x="69" y="48"/>
                    </a:lnTo>
                    <a:lnTo>
                      <a:pt x="67" y="61"/>
                    </a:lnTo>
                    <a:lnTo>
                      <a:pt x="56" y="76"/>
                    </a:lnTo>
                    <a:lnTo>
                      <a:pt x="41" y="86"/>
                    </a:lnTo>
                    <a:lnTo>
                      <a:pt x="20" y="93"/>
                    </a:lnTo>
                    <a:lnTo>
                      <a:pt x="0" y="9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7" name="Line 160"/>
              <p:cNvSpPr>
                <a:spLocks noChangeShapeType="1"/>
              </p:cNvSpPr>
              <p:nvPr/>
            </p:nvSpPr>
            <p:spPr bwMode="auto">
              <a:xfrm flipH="1" flipV="1">
                <a:off x="1093" y="2508"/>
                <a:ext cx="233" cy="6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8" name="Line 161"/>
              <p:cNvSpPr>
                <a:spLocks noChangeShapeType="1"/>
              </p:cNvSpPr>
              <p:nvPr/>
            </p:nvSpPr>
            <p:spPr bwMode="auto">
              <a:xfrm>
                <a:off x="668" y="2663"/>
                <a:ext cx="430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39" name="Line 162"/>
              <p:cNvSpPr>
                <a:spLocks noChangeShapeType="1"/>
              </p:cNvSpPr>
              <p:nvPr/>
            </p:nvSpPr>
            <p:spPr bwMode="auto">
              <a:xfrm>
                <a:off x="2190" y="2663"/>
                <a:ext cx="365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0" name="Freeform 163"/>
              <p:cNvSpPr>
                <a:spLocks/>
              </p:cNvSpPr>
              <p:nvPr/>
            </p:nvSpPr>
            <p:spPr bwMode="auto">
              <a:xfrm>
                <a:off x="1317" y="1939"/>
                <a:ext cx="73" cy="97"/>
              </a:xfrm>
              <a:custGeom>
                <a:avLst/>
                <a:gdLst>
                  <a:gd name="T0" fmla="*/ 0 w 73"/>
                  <a:gd name="T1" fmla="*/ 0 h 97"/>
                  <a:gd name="T2" fmla="*/ 22 w 73"/>
                  <a:gd name="T3" fmla="*/ 2 h 97"/>
                  <a:gd name="T4" fmla="*/ 41 w 73"/>
                  <a:gd name="T5" fmla="*/ 8 h 97"/>
                  <a:gd name="T6" fmla="*/ 58 w 73"/>
                  <a:gd name="T7" fmla="*/ 19 h 97"/>
                  <a:gd name="T8" fmla="*/ 67 w 73"/>
                  <a:gd name="T9" fmla="*/ 32 h 97"/>
                  <a:gd name="T10" fmla="*/ 73 w 73"/>
                  <a:gd name="T11" fmla="*/ 45 h 97"/>
                  <a:gd name="T12" fmla="*/ 69 w 73"/>
                  <a:gd name="T13" fmla="*/ 62 h 97"/>
                  <a:gd name="T14" fmla="*/ 60 w 73"/>
                  <a:gd name="T15" fmla="*/ 75 h 97"/>
                  <a:gd name="T16" fmla="*/ 45 w 73"/>
                  <a:gd name="T17" fmla="*/ 86 h 97"/>
                  <a:gd name="T18" fmla="*/ 26 w 73"/>
                  <a:gd name="T19" fmla="*/ 94 h 97"/>
                  <a:gd name="T20" fmla="*/ 4 w 73"/>
                  <a:gd name="T21" fmla="*/ 97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97"/>
                  <a:gd name="T35" fmla="*/ 73 w 73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97">
                    <a:moveTo>
                      <a:pt x="0" y="0"/>
                    </a:moveTo>
                    <a:lnTo>
                      <a:pt x="22" y="2"/>
                    </a:lnTo>
                    <a:lnTo>
                      <a:pt x="41" y="8"/>
                    </a:lnTo>
                    <a:lnTo>
                      <a:pt x="58" y="19"/>
                    </a:lnTo>
                    <a:lnTo>
                      <a:pt x="67" y="32"/>
                    </a:lnTo>
                    <a:lnTo>
                      <a:pt x="73" y="45"/>
                    </a:lnTo>
                    <a:lnTo>
                      <a:pt x="69" y="62"/>
                    </a:lnTo>
                    <a:lnTo>
                      <a:pt x="60" y="75"/>
                    </a:lnTo>
                    <a:lnTo>
                      <a:pt x="45" y="86"/>
                    </a:lnTo>
                    <a:lnTo>
                      <a:pt x="26" y="94"/>
                    </a:lnTo>
                    <a:lnTo>
                      <a:pt x="4" y="97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1" name="Line 164"/>
              <p:cNvSpPr>
                <a:spLocks noChangeShapeType="1"/>
              </p:cNvSpPr>
              <p:nvPr/>
            </p:nvSpPr>
            <p:spPr bwMode="auto">
              <a:xfrm>
                <a:off x="679" y="1947"/>
                <a:ext cx="632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2" name="Line 165"/>
              <p:cNvSpPr>
                <a:spLocks noChangeShapeType="1"/>
              </p:cNvSpPr>
              <p:nvPr/>
            </p:nvSpPr>
            <p:spPr bwMode="auto">
              <a:xfrm>
                <a:off x="1971" y="1964"/>
                <a:ext cx="630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3" name="Freeform 166"/>
              <p:cNvSpPr>
                <a:spLocks/>
              </p:cNvSpPr>
              <p:nvPr/>
            </p:nvSpPr>
            <p:spPr bwMode="auto">
              <a:xfrm>
                <a:off x="1898" y="1964"/>
                <a:ext cx="73" cy="97"/>
              </a:xfrm>
              <a:custGeom>
                <a:avLst/>
                <a:gdLst>
                  <a:gd name="T0" fmla="*/ 73 w 73"/>
                  <a:gd name="T1" fmla="*/ 0 h 97"/>
                  <a:gd name="T2" fmla="*/ 51 w 73"/>
                  <a:gd name="T3" fmla="*/ 1 h 97"/>
                  <a:gd name="T4" fmla="*/ 32 w 73"/>
                  <a:gd name="T5" fmla="*/ 7 h 97"/>
                  <a:gd name="T6" fmla="*/ 15 w 73"/>
                  <a:gd name="T7" fmla="*/ 16 h 97"/>
                  <a:gd name="T8" fmla="*/ 6 w 73"/>
                  <a:gd name="T9" fmla="*/ 29 h 97"/>
                  <a:gd name="T10" fmla="*/ 0 w 73"/>
                  <a:gd name="T11" fmla="*/ 44 h 97"/>
                  <a:gd name="T12" fmla="*/ 4 w 73"/>
                  <a:gd name="T13" fmla="*/ 59 h 97"/>
                  <a:gd name="T14" fmla="*/ 14 w 73"/>
                  <a:gd name="T15" fmla="*/ 72 h 97"/>
                  <a:gd name="T16" fmla="*/ 29 w 73"/>
                  <a:gd name="T17" fmla="*/ 85 h 97"/>
                  <a:gd name="T18" fmla="*/ 47 w 73"/>
                  <a:gd name="T19" fmla="*/ 93 h 97"/>
                  <a:gd name="T20" fmla="*/ 70 w 73"/>
                  <a:gd name="T21" fmla="*/ 97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3"/>
                  <a:gd name="T34" fmla="*/ 0 h 97"/>
                  <a:gd name="T35" fmla="*/ 73 w 73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3" h="97">
                    <a:moveTo>
                      <a:pt x="73" y="0"/>
                    </a:moveTo>
                    <a:lnTo>
                      <a:pt x="51" y="1"/>
                    </a:lnTo>
                    <a:lnTo>
                      <a:pt x="32" y="7"/>
                    </a:lnTo>
                    <a:lnTo>
                      <a:pt x="15" y="16"/>
                    </a:lnTo>
                    <a:lnTo>
                      <a:pt x="6" y="29"/>
                    </a:lnTo>
                    <a:lnTo>
                      <a:pt x="0" y="44"/>
                    </a:lnTo>
                    <a:lnTo>
                      <a:pt x="4" y="59"/>
                    </a:lnTo>
                    <a:lnTo>
                      <a:pt x="14" y="72"/>
                    </a:lnTo>
                    <a:lnTo>
                      <a:pt x="29" y="85"/>
                    </a:lnTo>
                    <a:lnTo>
                      <a:pt x="47" y="93"/>
                    </a:lnTo>
                    <a:lnTo>
                      <a:pt x="70" y="97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4" name="Freeform 167"/>
              <p:cNvSpPr>
                <a:spLocks/>
              </p:cNvSpPr>
              <p:nvPr/>
            </p:nvSpPr>
            <p:spPr bwMode="auto">
              <a:xfrm>
                <a:off x="636" y="1911"/>
                <a:ext cx="53" cy="53"/>
              </a:xfrm>
              <a:custGeom>
                <a:avLst/>
                <a:gdLst>
                  <a:gd name="T0" fmla="*/ 0 w 53"/>
                  <a:gd name="T1" fmla="*/ 26 h 53"/>
                  <a:gd name="T2" fmla="*/ 4 w 53"/>
                  <a:gd name="T3" fmla="*/ 13 h 53"/>
                  <a:gd name="T4" fmla="*/ 13 w 53"/>
                  <a:gd name="T5" fmla="*/ 4 h 53"/>
                  <a:gd name="T6" fmla="*/ 27 w 53"/>
                  <a:gd name="T7" fmla="*/ 0 h 53"/>
                  <a:gd name="T8" fmla="*/ 40 w 53"/>
                  <a:gd name="T9" fmla="*/ 4 h 53"/>
                  <a:gd name="T10" fmla="*/ 49 w 53"/>
                  <a:gd name="T11" fmla="*/ 13 h 53"/>
                  <a:gd name="T12" fmla="*/ 53 w 53"/>
                  <a:gd name="T13" fmla="*/ 26 h 53"/>
                  <a:gd name="T14" fmla="*/ 49 w 53"/>
                  <a:gd name="T15" fmla="*/ 40 h 53"/>
                  <a:gd name="T16" fmla="*/ 40 w 53"/>
                  <a:gd name="T17" fmla="*/ 49 h 53"/>
                  <a:gd name="T18" fmla="*/ 27 w 53"/>
                  <a:gd name="T19" fmla="*/ 53 h 53"/>
                  <a:gd name="T20" fmla="*/ 13 w 53"/>
                  <a:gd name="T21" fmla="*/ 49 h 53"/>
                  <a:gd name="T22" fmla="*/ 4 w 53"/>
                  <a:gd name="T23" fmla="*/ 40 h 53"/>
                  <a:gd name="T24" fmla="*/ 0 w 53"/>
                  <a:gd name="T25" fmla="*/ 26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3"/>
                  <a:gd name="T40" fmla="*/ 0 h 53"/>
                  <a:gd name="T41" fmla="*/ 53 w 53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3" h="53">
                    <a:moveTo>
                      <a:pt x="0" y="26"/>
                    </a:moveTo>
                    <a:lnTo>
                      <a:pt x="4" y="13"/>
                    </a:lnTo>
                    <a:lnTo>
                      <a:pt x="13" y="4"/>
                    </a:lnTo>
                    <a:lnTo>
                      <a:pt x="27" y="0"/>
                    </a:lnTo>
                    <a:lnTo>
                      <a:pt x="40" y="4"/>
                    </a:lnTo>
                    <a:lnTo>
                      <a:pt x="49" y="13"/>
                    </a:lnTo>
                    <a:lnTo>
                      <a:pt x="53" y="26"/>
                    </a:lnTo>
                    <a:lnTo>
                      <a:pt x="49" y="40"/>
                    </a:lnTo>
                    <a:lnTo>
                      <a:pt x="40" y="49"/>
                    </a:lnTo>
                    <a:lnTo>
                      <a:pt x="27" y="53"/>
                    </a:lnTo>
                    <a:lnTo>
                      <a:pt x="13" y="49"/>
                    </a:lnTo>
                    <a:lnTo>
                      <a:pt x="4" y="4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5" name="Freeform 168"/>
              <p:cNvSpPr>
                <a:spLocks/>
              </p:cNvSpPr>
              <p:nvPr/>
            </p:nvSpPr>
            <p:spPr bwMode="auto">
              <a:xfrm>
                <a:off x="636" y="2627"/>
                <a:ext cx="53" cy="53"/>
              </a:xfrm>
              <a:custGeom>
                <a:avLst/>
                <a:gdLst>
                  <a:gd name="T0" fmla="*/ 0 w 53"/>
                  <a:gd name="T1" fmla="*/ 27 h 53"/>
                  <a:gd name="T2" fmla="*/ 4 w 53"/>
                  <a:gd name="T3" fmla="*/ 14 h 53"/>
                  <a:gd name="T4" fmla="*/ 13 w 53"/>
                  <a:gd name="T5" fmla="*/ 4 h 53"/>
                  <a:gd name="T6" fmla="*/ 27 w 53"/>
                  <a:gd name="T7" fmla="*/ 0 h 53"/>
                  <a:gd name="T8" fmla="*/ 40 w 53"/>
                  <a:gd name="T9" fmla="*/ 4 h 53"/>
                  <a:gd name="T10" fmla="*/ 49 w 53"/>
                  <a:gd name="T11" fmla="*/ 14 h 53"/>
                  <a:gd name="T12" fmla="*/ 53 w 53"/>
                  <a:gd name="T13" fmla="*/ 27 h 53"/>
                  <a:gd name="T14" fmla="*/ 49 w 53"/>
                  <a:gd name="T15" fmla="*/ 40 h 53"/>
                  <a:gd name="T16" fmla="*/ 40 w 53"/>
                  <a:gd name="T17" fmla="*/ 49 h 53"/>
                  <a:gd name="T18" fmla="*/ 27 w 53"/>
                  <a:gd name="T19" fmla="*/ 53 h 53"/>
                  <a:gd name="T20" fmla="*/ 13 w 53"/>
                  <a:gd name="T21" fmla="*/ 49 h 53"/>
                  <a:gd name="T22" fmla="*/ 4 w 53"/>
                  <a:gd name="T23" fmla="*/ 40 h 53"/>
                  <a:gd name="T24" fmla="*/ 0 w 53"/>
                  <a:gd name="T25" fmla="*/ 27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3"/>
                  <a:gd name="T40" fmla="*/ 0 h 53"/>
                  <a:gd name="T41" fmla="*/ 53 w 53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3" h="53">
                    <a:moveTo>
                      <a:pt x="0" y="27"/>
                    </a:moveTo>
                    <a:lnTo>
                      <a:pt x="4" y="14"/>
                    </a:lnTo>
                    <a:lnTo>
                      <a:pt x="13" y="4"/>
                    </a:lnTo>
                    <a:lnTo>
                      <a:pt x="27" y="0"/>
                    </a:lnTo>
                    <a:lnTo>
                      <a:pt x="40" y="4"/>
                    </a:lnTo>
                    <a:lnTo>
                      <a:pt x="49" y="14"/>
                    </a:lnTo>
                    <a:lnTo>
                      <a:pt x="53" y="27"/>
                    </a:lnTo>
                    <a:lnTo>
                      <a:pt x="49" y="40"/>
                    </a:lnTo>
                    <a:lnTo>
                      <a:pt x="40" y="49"/>
                    </a:lnTo>
                    <a:lnTo>
                      <a:pt x="27" y="53"/>
                    </a:lnTo>
                    <a:lnTo>
                      <a:pt x="13" y="49"/>
                    </a:lnTo>
                    <a:lnTo>
                      <a:pt x="4" y="4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6" name="Line 169"/>
              <p:cNvSpPr>
                <a:spLocks noChangeShapeType="1"/>
              </p:cNvSpPr>
              <p:nvPr/>
            </p:nvSpPr>
            <p:spPr bwMode="auto">
              <a:xfrm flipH="1">
                <a:off x="803" y="1947"/>
                <a:ext cx="10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7" name="Freeform 170"/>
              <p:cNvSpPr>
                <a:spLocks/>
              </p:cNvSpPr>
              <p:nvPr/>
            </p:nvSpPr>
            <p:spPr bwMode="auto">
              <a:xfrm>
                <a:off x="894" y="1908"/>
                <a:ext cx="118" cy="78"/>
              </a:xfrm>
              <a:custGeom>
                <a:avLst/>
                <a:gdLst>
                  <a:gd name="T0" fmla="*/ 0 w 118"/>
                  <a:gd name="T1" fmla="*/ 78 h 78"/>
                  <a:gd name="T2" fmla="*/ 118 w 118"/>
                  <a:gd name="T3" fmla="*/ 39 h 78"/>
                  <a:gd name="T4" fmla="*/ 0 w 118"/>
                  <a:gd name="T5" fmla="*/ 0 h 78"/>
                  <a:gd name="T6" fmla="*/ 0 w 118"/>
                  <a:gd name="T7" fmla="*/ 78 h 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8"/>
                  <a:gd name="T13" fmla="*/ 0 h 78"/>
                  <a:gd name="T14" fmla="*/ 118 w 118"/>
                  <a:gd name="T15" fmla="*/ 78 h 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8" h="78">
                    <a:moveTo>
                      <a:pt x="0" y="78"/>
                    </a:moveTo>
                    <a:lnTo>
                      <a:pt x="118" y="39"/>
                    </a:lnTo>
                    <a:lnTo>
                      <a:pt x="0" y="0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8" name="Line 171"/>
              <p:cNvSpPr>
                <a:spLocks noChangeShapeType="1"/>
              </p:cNvSpPr>
              <p:nvPr/>
            </p:nvSpPr>
            <p:spPr bwMode="auto">
              <a:xfrm>
                <a:off x="2383" y="1964"/>
                <a:ext cx="10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49" name="Freeform 172"/>
              <p:cNvSpPr>
                <a:spLocks/>
              </p:cNvSpPr>
              <p:nvPr/>
            </p:nvSpPr>
            <p:spPr bwMode="auto">
              <a:xfrm>
                <a:off x="2274" y="1924"/>
                <a:ext cx="118" cy="79"/>
              </a:xfrm>
              <a:custGeom>
                <a:avLst/>
                <a:gdLst>
                  <a:gd name="T0" fmla="*/ 118 w 118"/>
                  <a:gd name="T1" fmla="*/ 79 h 79"/>
                  <a:gd name="T2" fmla="*/ 0 w 118"/>
                  <a:gd name="T3" fmla="*/ 40 h 79"/>
                  <a:gd name="T4" fmla="*/ 118 w 118"/>
                  <a:gd name="T5" fmla="*/ 0 h 79"/>
                  <a:gd name="T6" fmla="*/ 118 w 118"/>
                  <a:gd name="T7" fmla="*/ 79 h 7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8"/>
                  <a:gd name="T13" fmla="*/ 0 h 79"/>
                  <a:gd name="T14" fmla="*/ 118 w 118"/>
                  <a:gd name="T15" fmla="*/ 79 h 7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8" h="79">
                    <a:moveTo>
                      <a:pt x="118" y="79"/>
                    </a:moveTo>
                    <a:lnTo>
                      <a:pt x="0" y="40"/>
                    </a:lnTo>
                    <a:lnTo>
                      <a:pt x="118" y="0"/>
                    </a:lnTo>
                    <a:lnTo>
                      <a:pt x="118" y="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50" name="Rectangle 173"/>
              <p:cNvSpPr>
                <a:spLocks noChangeArrowheads="1"/>
              </p:cNvSpPr>
              <p:nvPr/>
            </p:nvSpPr>
            <p:spPr bwMode="auto">
              <a:xfrm>
                <a:off x="885" y="1678"/>
                <a:ext cx="42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i="1">
                    <a:solidFill>
                      <a:srgbClr val="000000"/>
                    </a:solidFill>
                    <a:latin typeface="+mn-lt"/>
                  </a:rPr>
                  <a:t>i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1" name="Rectangle 174"/>
              <p:cNvSpPr>
                <a:spLocks noChangeArrowheads="1"/>
              </p:cNvSpPr>
              <p:nvPr/>
            </p:nvSpPr>
            <p:spPr bwMode="auto">
              <a:xfrm>
                <a:off x="928" y="1778"/>
                <a:ext cx="52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1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2" name="Rectangle 175"/>
              <p:cNvSpPr>
                <a:spLocks noChangeArrowheads="1"/>
              </p:cNvSpPr>
              <p:nvPr/>
            </p:nvSpPr>
            <p:spPr bwMode="auto">
              <a:xfrm>
                <a:off x="2358" y="1717"/>
                <a:ext cx="42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i="1">
                    <a:solidFill>
                      <a:srgbClr val="000000"/>
                    </a:solidFill>
                    <a:latin typeface="+mn-lt"/>
                  </a:rPr>
                  <a:t>i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3" name="Rectangle 176"/>
              <p:cNvSpPr>
                <a:spLocks noChangeArrowheads="1"/>
              </p:cNvSpPr>
              <p:nvPr/>
            </p:nvSpPr>
            <p:spPr bwMode="auto">
              <a:xfrm>
                <a:off x="2401" y="1816"/>
                <a:ext cx="52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2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4" name="Rectangle 177"/>
              <p:cNvSpPr>
                <a:spLocks noChangeArrowheads="1"/>
              </p:cNvSpPr>
              <p:nvPr/>
            </p:nvSpPr>
            <p:spPr bwMode="auto">
              <a:xfrm>
                <a:off x="612" y="2189"/>
                <a:ext cx="68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i="1">
                    <a:solidFill>
                      <a:srgbClr val="000000"/>
                    </a:solidFill>
                    <a:latin typeface="+mn-lt"/>
                  </a:rPr>
                  <a:t>v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5" name="Rectangle 178"/>
              <p:cNvSpPr>
                <a:spLocks noChangeArrowheads="1"/>
              </p:cNvSpPr>
              <p:nvPr/>
            </p:nvSpPr>
            <p:spPr bwMode="auto">
              <a:xfrm>
                <a:off x="681" y="2288"/>
                <a:ext cx="52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1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6" name="Rectangle 179"/>
              <p:cNvSpPr>
                <a:spLocks noChangeArrowheads="1"/>
              </p:cNvSpPr>
              <p:nvPr/>
            </p:nvSpPr>
            <p:spPr bwMode="auto">
              <a:xfrm>
                <a:off x="2575" y="2202"/>
                <a:ext cx="68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i="1">
                    <a:solidFill>
                      <a:srgbClr val="000000"/>
                    </a:solidFill>
                    <a:latin typeface="+mn-lt"/>
                  </a:rPr>
                  <a:t>v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7" name="Rectangle 180"/>
              <p:cNvSpPr>
                <a:spLocks noChangeArrowheads="1"/>
              </p:cNvSpPr>
              <p:nvPr/>
            </p:nvSpPr>
            <p:spPr bwMode="auto">
              <a:xfrm>
                <a:off x="2644" y="2303"/>
                <a:ext cx="52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2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58" name="Line 181"/>
              <p:cNvSpPr>
                <a:spLocks noChangeShapeType="1"/>
              </p:cNvSpPr>
              <p:nvPr/>
            </p:nvSpPr>
            <p:spPr bwMode="auto">
              <a:xfrm flipV="1">
                <a:off x="663" y="2042"/>
                <a:ext cx="1" cy="7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59" name="Line 182"/>
              <p:cNvSpPr>
                <a:spLocks noChangeShapeType="1"/>
              </p:cNvSpPr>
              <p:nvPr/>
            </p:nvSpPr>
            <p:spPr bwMode="auto">
              <a:xfrm>
                <a:off x="627" y="2077"/>
                <a:ext cx="71" cy="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60" name="Line 183"/>
              <p:cNvSpPr>
                <a:spLocks noChangeShapeType="1"/>
              </p:cNvSpPr>
              <p:nvPr/>
            </p:nvSpPr>
            <p:spPr bwMode="auto">
              <a:xfrm flipH="1">
                <a:off x="627" y="2558"/>
                <a:ext cx="71" cy="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61" name="Rectangle 184"/>
              <p:cNvSpPr>
                <a:spLocks noChangeArrowheads="1"/>
              </p:cNvSpPr>
              <p:nvPr/>
            </p:nvSpPr>
            <p:spPr bwMode="auto">
              <a:xfrm>
                <a:off x="1300" y="1630"/>
                <a:ext cx="80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i="1" dirty="0" smtClean="0">
                    <a:solidFill>
                      <a:srgbClr val="000000"/>
                    </a:solidFill>
                    <a:latin typeface="+mn-lt"/>
                    <a:sym typeface="Symbol" panose="05050102010706020507" pitchFamily="18" charset="2"/>
                  </a:rPr>
                  <a:t></a:t>
                </a:r>
                <a:endParaRPr lang="en-US" altLang="zh-CN" b="1" dirty="0">
                  <a:latin typeface="+mn-lt"/>
                </a:endParaRPr>
              </a:p>
            </p:txBody>
          </p:sp>
          <p:sp>
            <p:nvSpPr>
              <p:cNvPr id="28762" name="Rectangle 185"/>
              <p:cNvSpPr>
                <a:spLocks noChangeArrowheads="1"/>
              </p:cNvSpPr>
              <p:nvPr/>
            </p:nvSpPr>
            <p:spPr bwMode="auto">
              <a:xfrm>
                <a:off x="1375" y="1747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11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63" name="Rectangle 186"/>
              <p:cNvSpPr>
                <a:spLocks noChangeArrowheads="1"/>
              </p:cNvSpPr>
              <p:nvPr/>
            </p:nvSpPr>
            <p:spPr bwMode="auto">
              <a:xfrm>
                <a:off x="1489" y="1644"/>
                <a:ext cx="87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 dirty="0" smtClean="0">
                    <a:solidFill>
                      <a:srgbClr val="000000"/>
                    </a:solidFill>
                    <a:latin typeface="+mn-lt"/>
                  </a:rPr>
                  <a:t>=</a:t>
                </a:r>
                <a:endParaRPr lang="en-US" altLang="zh-CN" b="1" dirty="0">
                  <a:latin typeface="+mn-lt"/>
                </a:endParaRPr>
              </a:p>
            </p:txBody>
          </p:sp>
          <p:sp>
            <p:nvSpPr>
              <p:cNvPr id="28764" name="Rectangle 187"/>
              <p:cNvSpPr>
                <a:spLocks noChangeArrowheads="1"/>
              </p:cNvSpPr>
              <p:nvPr/>
            </p:nvSpPr>
            <p:spPr bwMode="auto">
              <a:xfrm>
                <a:off x="1598" y="1644"/>
                <a:ext cx="133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+mn-lt"/>
                    <a:sym typeface="Symbol" panose="05050102010706020507" pitchFamily="18" charset="2"/>
                  </a:rPr>
                  <a:t></a:t>
                </a:r>
                <a:endParaRPr lang="en-US" altLang="zh-CN" b="1" dirty="0">
                  <a:latin typeface="+mn-lt"/>
                </a:endParaRPr>
              </a:p>
            </p:txBody>
          </p:sp>
          <p:sp>
            <p:nvSpPr>
              <p:cNvPr id="28765" name="Rectangle 188"/>
              <p:cNvSpPr>
                <a:spLocks noChangeArrowheads="1"/>
              </p:cNvSpPr>
              <p:nvPr/>
            </p:nvSpPr>
            <p:spPr bwMode="auto">
              <a:xfrm>
                <a:off x="1690" y="1737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 dirty="0">
                    <a:solidFill>
                      <a:srgbClr val="000000"/>
                    </a:solidFill>
                    <a:latin typeface="+mn-lt"/>
                  </a:rPr>
                  <a:t>21</a:t>
                </a:r>
                <a:endParaRPr lang="en-US" altLang="zh-CN" b="1" dirty="0">
                  <a:latin typeface="+mn-lt"/>
                </a:endParaRPr>
              </a:p>
            </p:txBody>
          </p:sp>
          <p:sp>
            <p:nvSpPr>
              <p:cNvPr id="28766" name="Line 189"/>
              <p:cNvSpPr>
                <a:spLocks noChangeShapeType="1"/>
              </p:cNvSpPr>
              <p:nvPr/>
            </p:nvSpPr>
            <p:spPr bwMode="auto">
              <a:xfrm flipV="1">
                <a:off x="2626" y="2059"/>
                <a:ext cx="1" cy="7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67" name="Line 190"/>
              <p:cNvSpPr>
                <a:spLocks noChangeShapeType="1"/>
              </p:cNvSpPr>
              <p:nvPr/>
            </p:nvSpPr>
            <p:spPr bwMode="auto">
              <a:xfrm>
                <a:off x="2590" y="2094"/>
                <a:ext cx="71" cy="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68" name="Line 191"/>
              <p:cNvSpPr>
                <a:spLocks noChangeShapeType="1"/>
              </p:cNvSpPr>
              <p:nvPr/>
            </p:nvSpPr>
            <p:spPr bwMode="auto">
              <a:xfrm flipH="1">
                <a:off x="2590" y="2575"/>
                <a:ext cx="71" cy="1"/>
              </a:xfrm>
              <a:prstGeom prst="line">
                <a:avLst/>
              </a:prstGeom>
              <a:noFill/>
              <a:ln w="301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69" name="Rectangle 192"/>
              <p:cNvSpPr>
                <a:spLocks noChangeArrowheads="1"/>
              </p:cNvSpPr>
              <p:nvPr/>
            </p:nvSpPr>
            <p:spPr bwMode="auto">
              <a:xfrm>
                <a:off x="1433" y="2277"/>
                <a:ext cx="51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>
                    <a:solidFill>
                      <a:srgbClr val="000000"/>
                    </a:solidFill>
                    <a:latin typeface="+mn-lt"/>
                  </a:rPr>
                  <a:t>I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70" name="Rectangle 193"/>
              <p:cNvSpPr>
                <a:spLocks noChangeArrowheads="1"/>
              </p:cNvSpPr>
              <p:nvPr/>
            </p:nvSpPr>
            <p:spPr bwMode="auto">
              <a:xfrm>
                <a:off x="1775" y="2277"/>
                <a:ext cx="103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>
                    <a:solidFill>
                      <a:srgbClr val="000000"/>
                    </a:solidFill>
                    <a:latin typeface="+mn-lt"/>
                  </a:rPr>
                  <a:t>II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71" name="Freeform 194"/>
              <p:cNvSpPr>
                <a:spLocks/>
              </p:cNvSpPr>
              <p:nvPr/>
            </p:nvSpPr>
            <p:spPr bwMode="auto">
              <a:xfrm>
                <a:off x="2600" y="1937"/>
                <a:ext cx="52" cy="53"/>
              </a:xfrm>
              <a:custGeom>
                <a:avLst/>
                <a:gdLst>
                  <a:gd name="T0" fmla="*/ 0 w 52"/>
                  <a:gd name="T1" fmla="*/ 27 h 53"/>
                  <a:gd name="T2" fmla="*/ 3 w 52"/>
                  <a:gd name="T3" fmla="*/ 14 h 53"/>
                  <a:gd name="T4" fmla="*/ 13 w 52"/>
                  <a:gd name="T5" fmla="*/ 4 h 53"/>
                  <a:gd name="T6" fmla="*/ 26 w 52"/>
                  <a:gd name="T7" fmla="*/ 0 h 53"/>
                  <a:gd name="T8" fmla="*/ 39 w 52"/>
                  <a:gd name="T9" fmla="*/ 4 h 53"/>
                  <a:gd name="T10" fmla="*/ 48 w 52"/>
                  <a:gd name="T11" fmla="*/ 14 h 53"/>
                  <a:gd name="T12" fmla="*/ 52 w 52"/>
                  <a:gd name="T13" fmla="*/ 27 h 53"/>
                  <a:gd name="T14" fmla="*/ 48 w 52"/>
                  <a:gd name="T15" fmla="*/ 40 h 53"/>
                  <a:gd name="T16" fmla="*/ 39 w 52"/>
                  <a:gd name="T17" fmla="*/ 49 h 53"/>
                  <a:gd name="T18" fmla="*/ 26 w 52"/>
                  <a:gd name="T19" fmla="*/ 53 h 53"/>
                  <a:gd name="T20" fmla="*/ 13 w 52"/>
                  <a:gd name="T21" fmla="*/ 49 h 53"/>
                  <a:gd name="T22" fmla="*/ 3 w 52"/>
                  <a:gd name="T23" fmla="*/ 40 h 53"/>
                  <a:gd name="T24" fmla="*/ 0 w 52"/>
                  <a:gd name="T25" fmla="*/ 27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"/>
                  <a:gd name="T40" fmla="*/ 0 h 53"/>
                  <a:gd name="T41" fmla="*/ 52 w 52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" h="53">
                    <a:moveTo>
                      <a:pt x="0" y="27"/>
                    </a:moveTo>
                    <a:lnTo>
                      <a:pt x="3" y="14"/>
                    </a:lnTo>
                    <a:lnTo>
                      <a:pt x="13" y="4"/>
                    </a:lnTo>
                    <a:lnTo>
                      <a:pt x="26" y="0"/>
                    </a:lnTo>
                    <a:lnTo>
                      <a:pt x="39" y="4"/>
                    </a:lnTo>
                    <a:lnTo>
                      <a:pt x="48" y="14"/>
                    </a:lnTo>
                    <a:lnTo>
                      <a:pt x="52" y="27"/>
                    </a:lnTo>
                    <a:lnTo>
                      <a:pt x="48" y="40"/>
                    </a:lnTo>
                    <a:lnTo>
                      <a:pt x="39" y="49"/>
                    </a:lnTo>
                    <a:lnTo>
                      <a:pt x="26" y="53"/>
                    </a:lnTo>
                    <a:lnTo>
                      <a:pt x="13" y="49"/>
                    </a:lnTo>
                    <a:lnTo>
                      <a:pt x="3" y="4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72" name="Freeform 195"/>
              <p:cNvSpPr>
                <a:spLocks/>
              </p:cNvSpPr>
              <p:nvPr/>
            </p:nvSpPr>
            <p:spPr bwMode="auto">
              <a:xfrm>
                <a:off x="2555" y="2637"/>
                <a:ext cx="54" cy="52"/>
              </a:xfrm>
              <a:custGeom>
                <a:avLst/>
                <a:gdLst>
                  <a:gd name="T0" fmla="*/ 0 w 54"/>
                  <a:gd name="T1" fmla="*/ 26 h 52"/>
                  <a:gd name="T2" fmla="*/ 3 w 54"/>
                  <a:gd name="T3" fmla="*/ 13 h 52"/>
                  <a:gd name="T4" fmla="*/ 15 w 54"/>
                  <a:gd name="T5" fmla="*/ 4 h 52"/>
                  <a:gd name="T6" fmla="*/ 28 w 54"/>
                  <a:gd name="T7" fmla="*/ 0 h 52"/>
                  <a:gd name="T8" fmla="*/ 41 w 54"/>
                  <a:gd name="T9" fmla="*/ 4 h 52"/>
                  <a:gd name="T10" fmla="*/ 50 w 54"/>
                  <a:gd name="T11" fmla="*/ 13 h 52"/>
                  <a:gd name="T12" fmla="*/ 54 w 54"/>
                  <a:gd name="T13" fmla="*/ 26 h 52"/>
                  <a:gd name="T14" fmla="*/ 50 w 54"/>
                  <a:gd name="T15" fmla="*/ 39 h 52"/>
                  <a:gd name="T16" fmla="*/ 41 w 54"/>
                  <a:gd name="T17" fmla="*/ 48 h 52"/>
                  <a:gd name="T18" fmla="*/ 28 w 54"/>
                  <a:gd name="T19" fmla="*/ 52 h 52"/>
                  <a:gd name="T20" fmla="*/ 15 w 54"/>
                  <a:gd name="T21" fmla="*/ 48 h 52"/>
                  <a:gd name="T22" fmla="*/ 3 w 54"/>
                  <a:gd name="T23" fmla="*/ 39 h 52"/>
                  <a:gd name="T24" fmla="*/ 0 w 54"/>
                  <a:gd name="T25" fmla="*/ 26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4"/>
                  <a:gd name="T40" fmla="*/ 0 h 52"/>
                  <a:gd name="T41" fmla="*/ 54 w 54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4" h="52">
                    <a:moveTo>
                      <a:pt x="0" y="26"/>
                    </a:moveTo>
                    <a:lnTo>
                      <a:pt x="3" y="13"/>
                    </a:lnTo>
                    <a:lnTo>
                      <a:pt x="15" y="4"/>
                    </a:lnTo>
                    <a:lnTo>
                      <a:pt x="28" y="0"/>
                    </a:lnTo>
                    <a:lnTo>
                      <a:pt x="41" y="4"/>
                    </a:lnTo>
                    <a:lnTo>
                      <a:pt x="50" y="13"/>
                    </a:lnTo>
                    <a:lnTo>
                      <a:pt x="54" y="26"/>
                    </a:lnTo>
                    <a:lnTo>
                      <a:pt x="50" y="39"/>
                    </a:lnTo>
                    <a:lnTo>
                      <a:pt x="41" y="48"/>
                    </a:lnTo>
                    <a:lnTo>
                      <a:pt x="28" y="52"/>
                    </a:lnTo>
                    <a:lnTo>
                      <a:pt x="15" y="48"/>
                    </a:lnTo>
                    <a:lnTo>
                      <a:pt x="3" y="39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73" name="Rectangle 196"/>
              <p:cNvSpPr>
                <a:spLocks noChangeArrowheads="1"/>
              </p:cNvSpPr>
              <p:nvPr/>
            </p:nvSpPr>
            <p:spPr bwMode="auto">
              <a:xfrm>
                <a:off x="1582" y="2857"/>
                <a:ext cx="16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i="1" dirty="0" smtClean="0">
                    <a:latin typeface="+mn-lt"/>
                    <a:sym typeface="Symbol" panose="05050102010706020507" pitchFamily="18" charset="2"/>
                  </a:rPr>
                  <a:t></a:t>
                </a:r>
                <a:endParaRPr lang="en-US" altLang="zh-CN" i="1" dirty="0">
                  <a:latin typeface="+mn-lt"/>
                </a:endParaRPr>
              </a:p>
            </p:txBody>
          </p:sp>
          <p:sp>
            <p:nvSpPr>
              <p:cNvPr id="28774" name="Rectangle 197"/>
              <p:cNvSpPr>
                <a:spLocks noChangeArrowheads="1"/>
              </p:cNvSpPr>
              <p:nvPr/>
            </p:nvSpPr>
            <p:spPr bwMode="auto">
              <a:xfrm>
                <a:off x="1708" y="2974"/>
                <a:ext cx="104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>
                    <a:solidFill>
                      <a:srgbClr val="000000"/>
                    </a:solidFill>
                    <a:latin typeface="+mn-lt"/>
                  </a:rPr>
                  <a:t>22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75" name="Rectangle 198"/>
              <p:cNvSpPr>
                <a:spLocks noChangeArrowheads="1"/>
              </p:cNvSpPr>
              <p:nvPr/>
            </p:nvSpPr>
            <p:spPr bwMode="auto">
              <a:xfrm>
                <a:off x="1794" y="2857"/>
                <a:ext cx="87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900">
                    <a:solidFill>
                      <a:srgbClr val="000000"/>
                    </a:solidFill>
                    <a:latin typeface="+mn-lt"/>
                  </a:rPr>
                  <a:t>=</a:t>
                </a:r>
                <a:endParaRPr lang="en-US" altLang="zh-CN" b="1">
                  <a:latin typeface="+mn-lt"/>
                </a:endParaRPr>
              </a:p>
            </p:txBody>
          </p:sp>
          <p:sp>
            <p:nvSpPr>
              <p:cNvPr id="28776" name="Rectangle 199"/>
              <p:cNvSpPr>
                <a:spLocks noChangeArrowheads="1"/>
              </p:cNvSpPr>
              <p:nvPr/>
            </p:nvSpPr>
            <p:spPr bwMode="auto">
              <a:xfrm>
                <a:off x="1879" y="2857"/>
                <a:ext cx="13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i="1" dirty="0" smtClean="0">
                    <a:latin typeface="+mn-lt"/>
                    <a:sym typeface="Symbol" panose="05050102010706020507" pitchFamily="18" charset="2"/>
                  </a:rPr>
                  <a:t></a:t>
                </a:r>
                <a:endParaRPr lang="en-US" altLang="zh-CN" i="1" dirty="0">
                  <a:latin typeface="+mn-lt"/>
                </a:endParaRPr>
              </a:p>
            </p:txBody>
          </p:sp>
          <p:sp>
            <p:nvSpPr>
              <p:cNvPr id="28777" name="Rectangle 200"/>
              <p:cNvSpPr>
                <a:spLocks noChangeArrowheads="1"/>
              </p:cNvSpPr>
              <p:nvPr/>
            </p:nvSpPr>
            <p:spPr bwMode="auto">
              <a:xfrm>
                <a:off x="2015" y="2974"/>
                <a:ext cx="7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300" dirty="0">
                    <a:solidFill>
                      <a:srgbClr val="000000"/>
                    </a:solidFill>
                    <a:latin typeface="+mn-lt"/>
                  </a:rPr>
                  <a:t>12</a:t>
                </a:r>
                <a:endParaRPr lang="en-US" altLang="zh-CN" b="1" dirty="0">
                  <a:latin typeface="+mn-lt"/>
                </a:endParaRPr>
              </a:p>
            </p:txBody>
          </p:sp>
          <p:sp>
            <p:nvSpPr>
              <p:cNvPr id="28778" name="Line 201"/>
              <p:cNvSpPr>
                <a:spLocks noChangeShapeType="1"/>
              </p:cNvSpPr>
              <p:nvPr/>
            </p:nvSpPr>
            <p:spPr bwMode="auto">
              <a:xfrm>
                <a:off x="1223" y="1868"/>
                <a:ext cx="1" cy="10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  <p:sp>
            <p:nvSpPr>
              <p:cNvPr id="28779" name="Freeform 202"/>
              <p:cNvSpPr>
                <a:spLocks/>
              </p:cNvSpPr>
              <p:nvPr/>
            </p:nvSpPr>
            <p:spPr bwMode="auto">
              <a:xfrm>
                <a:off x="1184" y="1760"/>
                <a:ext cx="79" cy="118"/>
              </a:xfrm>
              <a:custGeom>
                <a:avLst/>
                <a:gdLst>
                  <a:gd name="T0" fmla="*/ 0 w 79"/>
                  <a:gd name="T1" fmla="*/ 118 h 118"/>
                  <a:gd name="T2" fmla="*/ 39 w 79"/>
                  <a:gd name="T3" fmla="*/ 0 h 118"/>
                  <a:gd name="T4" fmla="*/ 79 w 79"/>
                  <a:gd name="T5" fmla="*/ 118 h 118"/>
                  <a:gd name="T6" fmla="*/ 0 w 79"/>
                  <a:gd name="T7" fmla="*/ 118 h 1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118"/>
                  <a:gd name="T14" fmla="*/ 79 w 79"/>
                  <a:gd name="T15" fmla="*/ 118 h 1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118">
                    <a:moveTo>
                      <a:pt x="0" y="118"/>
                    </a:moveTo>
                    <a:lnTo>
                      <a:pt x="39" y="0"/>
                    </a:lnTo>
                    <a:lnTo>
                      <a:pt x="79" y="118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8695" name="Text Box 203"/>
            <p:cNvSpPr txBox="1">
              <a:spLocks noChangeArrowheads="1"/>
            </p:cNvSpPr>
            <p:nvPr/>
          </p:nvSpPr>
          <p:spPr bwMode="auto">
            <a:xfrm>
              <a:off x="288" y="182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+mn-lt"/>
                </a:rPr>
                <a:t>N</a:t>
              </a:r>
              <a:r>
                <a:rPr lang="en-US" altLang="zh-CN" b="1" baseline="-25000">
                  <a:latin typeface="+mn-lt"/>
                </a:rPr>
                <a:t>1</a:t>
              </a:r>
            </a:p>
          </p:txBody>
        </p:sp>
        <p:sp>
          <p:nvSpPr>
            <p:cNvPr id="28696" name="Text Box 204"/>
            <p:cNvSpPr txBox="1">
              <a:spLocks noChangeArrowheads="1"/>
            </p:cNvSpPr>
            <p:nvPr/>
          </p:nvSpPr>
          <p:spPr bwMode="auto">
            <a:xfrm>
              <a:off x="1728" y="182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+mn-lt"/>
                </a:rPr>
                <a:t>N</a:t>
              </a:r>
              <a:r>
                <a:rPr lang="en-US" altLang="zh-CN" b="1" baseline="-25000">
                  <a:latin typeface="+mn-lt"/>
                </a:rPr>
                <a:t>2</a:t>
              </a:r>
            </a:p>
          </p:txBody>
        </p:sp>
        <p:sp>
          <p:nvSpPr>
            <p:cNvPr id="28697" name="Text Box 205"/>
            <p:cNvSpPr txBox="1">
              <a:spLocks noChangeArrowheads="1"/>
            </p:cNvSpPr>
            <p:nvPr/>
          </p:nvSpPr>
          <p:spPr bwMode="auto">
            <a:xfrm>
              <a:off x="288" y="2352"/>
              <a:ext cx="2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+mn-lt"/>
                </a:rPr>
                <a:t>L</a:t>
              </a:r>
              <a:r>
                <a:rPr lang="en-US" altLang="zh-CN" b="1" baseline="-25000">
                  <a:latin typeface="+mn-lt"/>
                </a:rPr>
                <a:t>1</a:t>
              </a:r>
            </a:p>
          </p:txBody>
        </p:sp>
        <p:sp>
          <p:nvSpPr>
            <p:cNvPr id="28698" name="Text Box 206"/>
            <p:cNvSpPr txBox="1">
              <a:spLocks noChangeArrowheads="1"/>
            </p:cNvSpPr>
            <p:nvPr/>
          </p:nvSpPr>
          <p:spPr bwMode="auto">
            <a:xfrm>
              <a:off x="1680" y="2352"/>
              <a:ext cx="2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+mn-lt"/>
                </a:rPr>
                <a:t>L</a:t>
              </a:r>
              <a:r>
                <a:rPr lang="en-US" altLang="zh-CN" b="1" baseline="-25000">
                  <a:latin typeface="+mn-lt"/>
                </a:rPr>
                <a:t>2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300" y="2550319"/>
            <a:ext cx="3167361" cy="195084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64542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1" grpId="0" animBg="1"/>
      <p:bldP spid="39942" grpId="0" autoUpdateAnimBg="0"/>
      <p:bldP spid="39943" grpId="0" animBg="1"/>
      <p:bldP spid="39944" grpId="0" autoUpdateAnimBg="0"/>
      <p:bldP spid="39945" grpId="0" autoUpdateAnimBg="0"/>
      <p:bldP spid="39947" grpId="0" animBg="1"/>
      <p:bldP spid="39948" grpId="0" autoUpdateAnimBg="0"/>
      <p:bldP spid="39958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AD8A8D-F09D-448A-9E9B-4E745A7176E5}" type="slidenum">
              <a:rPr lang="en-US" altLang="zh-CN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352425" y="871599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latin typeface="+mn-lt"/>
              </a:rPr>
              <a:t>L</a:t>
            </a:r>
            <a:r>
              <a:rPr lang="en-US" altLang="zh-CN" b="1" baseline="-25000" dirty="0" smtClean="0">
                <a:latin typeface="+mn-lt"/>
              </a:rPr>
              <a:t>1</a:t>
            </a:r>
            <a:r>
              <a:rPr lang="en-US" altLang="zh-CN" b="1" dirty="0" smtClean="0">
                <a:latin typeface="+mn-lt"/>
              </a:rPr>
              <a:t> and L</a:t>
            </a:r>
            <a:r>
              <a:rPr lang="en-US" altLang="zh-CN" b="1" baseline="-25000" dirty="0" smtClean="0">
                <a:latin typeface="+mn-lt"/>
              </a:rPr>
              <a:t>2 </a:t>
            </a:r>
            <a:r>
              <a:rPr lang="zh-CN" altLang="en-US" b="1" dirty="0" smtClean="0">
                <a:latin typeface="+mn-lt"/>
              </a:rPr>
              <a:t> </a:t>
            </a:r>
            <a:r>
              <a:rPr lang="en-US" altLang="zh-CN" b="1" dirty="0">
                <a:latin typeface="+mn-lt"/>
              </a:rPr>
              <a:t>are not infinite, with </a:t>
            </a:r>
            <a:r>
              <a:rPr lang="en-US" altLang="zh-CN" b="1" i="1" dirty="0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=1</a:t>
            </a: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641142" y="1427230"/>
            <a:ext cx="12526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+mn-lt"/>
              </a:rPr>
              <a:t>∵</a:t>
            </a:r>
            <a:r>
              <a:rPr lang="en-US" altLang="zh-CN" sz="2800" b="1" i="1" dirty="0" smtClean="0">
                <a:latin typeface="+mn-lt"/>
              </a:rPr>
              <a:t>k</a:t>
            </a:r>
            <a:r>
              <a:rPr lang="en-US" altLang="zh-CN" sz="2800" b="1" dirty="0" smtClean="0">
                <a:latin typeface="+mn-lt"/>
              </a:rPr>
              <a:t>=1</a:t>
            </a:r>
            <a:endParaRPr lang="zh-CN" altLang="en-US" b="1" dirty="0">
              <a:latin typeface="+mn-lt"/>
            </a:endParaRPr>
          </a:p>
        </p:txBody>
      </p:sp>
      <p:sp useBgFill="1">
        <p:nvSpPr>
          <p:cNvPr id="29713" name="Rectangle 23"/>
          <p:cNvSpPr>
            <a:spLocks noChangeArrowheads="1"/>
          </p:cNvSpPr>
          <p:nvPr/>
        </p:nvSpPr>
        <p:spPr bwMode="auto">
          <a:xfrm>
            <a:off x="8382000" y="3881438"/>
            <a:ext cx="457200" cy="13366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5" name="Rectangle 10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n-lt"/>
                <a:ea typeface="楷体_GB2312" pitchFamily="49" charset="-122"/>
              </a:rPr>
              <a:t>Perfectly Coupled </a:t>
            </a:r>
            <a:r>
              <a:rPr lang="en-US" altLang="zh-CN" sz="3200" dirty="0" smtClean="0">
                <a:latin typeface="+mn-lt"/>
                <a:ea typeface="楷体_GB2312" pitchFamily="49" charset="-122"/>
              </a:rPr>
              <a:t>transformer (</a:t>
            </a:r>
            <a:r>
              <a:rPr lang="en-US" altLang="zh-CN" sz="3200" i="1" dirty="0" smtClean="0">
                <a:latin typeface="+mn-lt"/>
                <a:ea typeface="楷体_GB2312" pitchFamily="49" charset="-122"/>
              </a:rPr>
              <a:t>v</a:t>
            </a:r>
            <a:r>
              <a:rPr lang="en-US" altLang="zh-CN" sz="3200" baseline="-25000" dirty="0" smtClean="0">
                <a:latin typeface="+mn-lt"/>
                <a:ea typeface="楷体_GB2312" pitchFamily="49" charset="-122"/>
              </a:rPr>
              <a:t>1</a:t>
            </a:r>
            <a:r>
              <a:rPr lang="en-US" altLang="zh-CN" sz="3200" dirty="0" smtClean="0">
                <a:latin typeface="+mn-lt"/>
                <a:ea typeface="楷体_GB2312" pitchFamily="49" charset="-122"/>
              </a:rPr>
              <a:t>~</a:t>
            </a:r>
            <a:r>
              <a:rPr lang="en-US" altLang="zh-CN" sz="3200" i="1" dirty="0" smtClean="0">
                <a:latin typeface="+mn-lt"/>
                <a:ea typeface="楷体_GB2312" pitchFamily="49" charset="-122"/>
              </a:rPr>
              <a:t>v</a:t>
            </a:r>
            <a:r>
              <a:rPr lang="en-US" altLang="zh-CN" sz="3200" baseline="-25000" dirty="0" smtClean="0">
                <a:latin typeface="+mn-lt"/>
                <a:ea typeface="楷体_GB2312" pitchFamily="49" charset="-122"/>
              </a:rPr>
              <a:t>2</a:t>
            </a:r>
            <a:r>
              <a:rPr lang="en-US" altLang="zh-CN" sz="3200" dirty="0" smtClean="0">
                <a:latin typeface="+mn-lt"/>
                <a:ea typeface="楷体_GB2312" pitchFamily="49" charset="-122"/>
              </a:rPr>
              <a:t>)</a:t>
            </a:r>
            <a:endParaRPr lang="zh-CN" altLang="en-US" sz="3200" dirty="0"/>
          </a:p>
        </p:txBody>
      </p:sp>
      <p:graphicFrame>
        <p:nvGraphicFramePr>
          <p:cNvPr id="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139973"/>
              </p:ext>
            </p:extLst>
          </p:nvPr>
        </p:nvGraphicFramePr>
        <p:xfrm>
          <a:off x="2044730" y="1479671"/>
          <a:ext cx="1524011" cy="52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7" name="Equation" r:id="rId3" imgW="952200" imgH="330120" progId="Equation.DSMT4">
                  <p:embed/>
                </p:oleObj>
              </mc:Choice>
              <mc:Fallback>
                <p:oleObj name="Equation" r:id="rId3" imgW="952200" imgH="330120" progId="Equation.DSMT4">
                  <p:embed/>
                  <p:pic>
                    <p:nvPicPr>
                      <p:cNvPr id="5621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30" y="1479671"/>
                        <a:ext cx="1524011" cy="52863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699962"/>
              </p:ext>
            </p:extLst>
          </p:nvPr>
        </p:nvGraphicFramePr>
        <p:xfrm>
          <a:off x="1166813" y="1988840"/>
          <a:ext cx="27178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8" name="Equation" r:id="rId5" imgW="1701720" imgH="634680" progId="Equation.DSMT4">
                  <p:embed/>
                </p:oleObj>
              </mc:Choice>
              <mc:Fallback>
                <p:oleObj name="Equation" r:id="rId5" imgW="1701720" imgH="634680" progId="Equation.DSMT4">
                  <p:embed/>
                  <p:pic>
                    <p:nvPicPr>
                      <p:cNvPr id="276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1988840"/>
                        <a:ext cx="2717800" cy="10144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813814"/>
              </p:ext>
            </p:extLst>
          </p:nvPr>
        </p:nvGraphicFramePr>
        <p:xfrm>
          <a:off x="1134233" y="3162025"/>
          <a:ext cx="31019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09" name="Equation" r:id="rId7" imgW="1942920" imgH="304560" progId="Equation.DSMT4">
                  <p:embed/>
                </p:oleObj>
              </mc:Choice>
              <mc:Fallback>
                <p:oleObj name="Equation" r:id="rId7" imgW="1942920" imgH="304560" progId="Equation.DSMT4">
                  <p:embed/>
                  <p:pic>
                    <p:nvPicPr>
                      <p:cNvPr id="276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233" y="3162025"/>
                        <a:ext cx="3101975" cy="4873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左弧形箭头 4"/>
          <p:cNvSpPr/>
          <p:nvPr/>
        </p:nvSpPr>
        <p:spPr bwMode="auto">
          <a:xfrm>
            <a:off x="586081" y="2198855"/>
            <a:ext cx="424778" cy="1417324"/>
          </a:xfrm>
          <a:prstGeom prst="curvedRightArrow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00" name="左弧形箭头 99"/>
          <p:cNvSpPr/>
          <p:nvPr/>
        </p:nvSpPr>
        <p:spPr bwMode="auto">
          <a:xfrm rot="10616870">
            <a:off x="4284382" y="2631424"/>
            <a:ext cx="379667" cy="824654"/>
          </a:xfrm>
          <a:prstGeom prst="curvedRightArrow">
            <a:avLst/>
          </a:prstGeom>
          <a:solidFill>
            <a:schemeClr val="bg1"/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1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292568"/>
              </p:ext>
            </p:extLst>
          </p:nvPr>
        </p:nvGraphicFramePr>
        <p:xfrm>
          <a:off x="1107969" y="3776144"/>
          <a:ext cx="3722651" cy="887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0" name="Equation" r:id="rId9" imgW="2450880" imgH="583920" progId="Equation.DSMT4">
                  <p:embed/>
                </p:oleObj>
              </mc:Choice>
              <mc:Fallback>
                <p:oleObj name="Equation" r:id="rId9" imgW="2450880" imgH="583920" progId="Equation.DSMT4">
                  <p:embed/>
                  <p:pic>
                    <p:nvPicPr>
                      <p:cNvPr id="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969" y="3776144"/>
                        <a:ext cx="3722651" cy="88763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114628"/>
              </p:ext>
            </p:extLst>
          </p:nvPr>
        </p:nvGraphicFramePr>
        <p:xfrm>
          <a:off x="1517279" y="4672616"/>
          <a:ext cx="5742356" cy="963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1" name="Equation" r:id="rId11" imgW="3784320" imgH="634680" progId="Equation.DSMT4">
                  <p:embed/>
                </p:oleObj>
              </mc:Choice>
              <mc:Fallback>
                <p:oleObj name="Equation" r:id="rId11" imgW="3784320" imgH="634680" progId="Equation.DSMT4">
                  <p:embed/>
                  <p:pic>
                    <p:nvPicPr>
                      <p:cNvPr id="1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279" y="4672616"/>
                        <a:ext cx="5742356" cy="96384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775545"/>
              </p:ext>
            </p:extLst>
          </p:nvPr>
        </p:nvGraphicFramePr>
        <p:xfrm>
          <a:off x="2839797" y="5878757"/>
          <a:ext cx="1041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2" name="Equation" r:id="rId13" imgW="685800" imgH="304560" progId="Equation.DSMT4">
                  <p:embed/>
                </p:oleObj>
              </mc:Choice>
              <mc:Fallback>
                <p:oleObj name="Equation" r:id="rId13" imgW="685800" imgH="304560" progId="Equation.DSMT4">
                  <p:embed/>
                  <p:pic>
                    <p:nvPicPr>
                      <p:cNvPr id="10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9797" y="5878757"/>
                        <a:ext cx="1041400" cy="4635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3399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253418"/>
              </p:ext>
            </p:extLst>
          </p:nvPr>
        </p:nvGraphicFramePr>
        <p:xfrm>
          <a:off x="5796136" y="5636463"/>
          <a:ext cx="111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3" name="Equation" r:id="rId15" imgW="736560" imgH="609480" progId="Equation.DSMT4">
                  <p:embed/>
                </p:oleObj>
              </mc:Choice>
              <mc:Fallback>
                <p:oleObj name="Equation" r:id="rId15" imgW="736560" imgH="609480" progId="Equation.DSMT4">
                  <p:embed/>
                  <p:pic>
                    <p:nvPicPr>
                      <p:cNvPr id="10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5636463"/>
                        <a:ext cx="1117600" cy="927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3399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78141" y="5861137"/>
            <a:ext cx="1775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85683"/>
              </p:ext>
            </p:extLst>
          </p:nvPr>
        </p:nvGraphicFramePr>
        <p:xfrm>
          <a:off x="4291013" y="5880100"/>
          <a:ext cx="9826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4" name="Equation" r:id="rId17" imgW="647640" imgH="279360" progId="Equation.DSMT4">
                  <p:embed/>
                </p:oleObj>
              </mc:Choice>
              <mc:Fallback>
                <p:oleObj name="Equation" r:id="rId17" imgW="647640" imgH="279360" progId="Equation.DSMT4">
                  <p:embed/>
                  <p:pic>
                    <p:nvPicPr>
                      <p:cNvPr id="10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1013" y="5880100"/>
                        <a:ext cx="982662" cy="4254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3399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26471" y="991742"/>
            <a:ext cx="3237742" cy="19941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0905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  <p:bldP spid="41988" grpId="0" autoUpdateAnimBg="0"/>
      <p:bldP spid="5" grpId="0" animBg="1"/>
      <p:bldP spid="100" grpId="0" animBg="1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30F64C-5B91-4A5A-87E2-A3E121EE7454}" type="slidenum">
              <a:rPr lang="en-US" altLang="zh-CN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30732" name="Text Box 5"/>
          <p:cNvSpPr txBox="1">
            <a:spLocks noChangeArrowheads="1"/>
          </p:cNvSpPr>
          <p:nvPr/>
        </p:nvSpPr>
        <p:spPr bwMode="auto">
          <a:xfrm>
            <a:off x="152400" y="887413"/>
            <a:ext cx="21828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Turns Ratio  </a:t>
            </a:r>
            <a:endParaRPr kumimoji="0" lang="en-AU" altLang="zh-CN" b="1" dirty="0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30722" name="Object 8"/>
          <p:cNvGraphicFramePr>
            <a:graphicFrameLocks noChangeAspect="1"/>
          </p:cNvGraphicFramePr>
          <p:nvPr/>
        </p:nvGraphicFramePr>
        <p:xfrm>
          <a:off x="1223963" y="1770063"/>
          <a:ext cx="12842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6" name="公式" r:id="rId3" imgW="482400" imgH="241200" progId="Equation.3">
                  <p:embed/>
                </p:oleObj>
              </mc:Choice>
              <mc:Fallback>
                <p:oleObj name="公式" r:id="rId3" imgW="482400" imgH="241200" progId="Equation.3">
                  <p:embed/>
                  <p:pic>
                    <p:nvPicPr>
                      <p:cNvPr id="307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1770063"/>
                        <a:ext cx="1284287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487028"/>
              </p:ext>
            </p:extLst>
          </p:nvPr>
        </p:nvGraphicFramePr>
        <p:xfrm>
          <a:off x="1547664" y="4291012"/>
          <a:ext cx="2237631" cy="115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7" name="Equation" r:id="rId5" imgW="1130040" imgH="583920" progId="Equation.DSMT4">
                  <p:embed/>
                </p:oleObj>
              </mc:Choice>
              <mc:Fallback>
                <p:oleObj name="Equation" r:id="rId5" imgW="1130040" imgH="583920" progId="Equation.DSMT4">
                  <p:embed/>
                  <p:pic>
                    <p:nvPicPr>
                      <p:cNvPr id="5621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291012"/>
                        <a:ext cx="2237631" cy="11570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6" name="Object 10"/>
          <p:cNvGraphicFramePr>
            <a:graphicFrameLocks noChangeAspect="1"/>
          </p:cNvGraphicFramePr>
          <p:nvPr/>
        </p:nvGraphicFramePr>
        <p:xfrm>
          <a:off x="5792788" y="2951163"/>
          <a:ext cx="13176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8" name="公式" r:id="rId7" imgW="495000" imgH="203040" progId="Equation.3">
                  <p:embed/>
                </p:oleObj>
              </mc:Choice>
              <mc:Fallback>
                <p:oleObj name="公式" r:id="rId7" imgW="495000" imgH="203040" progId="Equation.3">
                  <p:embed/>
                  <p:pic>
                    <p:nvPicPr>
                      <p:cNvPr id="5621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2788" y="2951163"/>
                        <a:ext cx="13176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7" name="Object 11"/>
          <p:cNvGraphicFramePr>
            <a:graphicFrameLocks noChangeAspect="1"/>
          </p:cNvGraphicFramePr>
          <p:nvPr/>
        </p:nvGraphicFramePr>
        <p:xfrm>
          <a:off x="1119188" y="2976563"/>
          <a:ext cx="1216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9" name="公式" r:id="rId9" imgW="457200" imgH="203040" progId="Equation.3">
                  <p:embed/>
                </p:oleObj>
              </mc:Choice>
              <mc:Fallback>
                <p:oleObj name="公式" r:id="rId9" imgW="457200" imgH="203040" progId="Equation.3">
                  <p:embed/>
                  <p:pic>
                    <p:nvPicPr>
                      <p:cNvPr id="5621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976563"/>
                        <a:ext cx="12160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2188" name="Object 12"/>
          <p:cNvGraphicFramePr>
            <a:graphicFrameLocks noChangeAspect="1"/>
          </p:cNvGraphicFramePr>
          <p:nvPr/>
        </p:nvGraphicFramePr>
        <p:xfrm>
          <a:off x="3406775" y="2976563"/>
          <a:ext cx="14176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0" name="公式" r:id="rId11" imgW="533160" imgH="203040" progId="Equation.3">
                  <p:embed/>
                </p:oleObj>
              </mc:Choice>
              <mc:Fallback>
                <p:oleObj name="公式" r:id="rId11" imgW="533160" imgH="203040" progId="Equation.3">
                  <p:embed/>
                  <p:pic>
                    <p:nvPicPr>
                      <p:cNvPr id="5621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2976563"/>
                        <a:ext cx="14176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89" name="Text Box 13"/>
          <p:cNvSpPr txBox="1">
            <a:spLocks noChangeArrowheads="1"/>
          </p:cNvSpPr>
          <p:nvPr/>
        </p:nvSpPr>
        <p:spPr bwMode="auto">
          <a:xfrm>
            <a:off x="644525" y="3657600"/>
            <a:ext cx="7697788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self-inductance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coil is proportional to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190" name="Rectangle 14"/>
          <p:cNvSpPr>
            <a:spLocks noChangeArrowheads="1"/>
          </p:cNvSpPr>
          <p:nvPr/>
        </p:nvSpPr>
        <p:spPr bwMode="auto">
          <a:xfrm>
            <a:off x="4257675" y="4648200"/>
            <a:ext cx="1849161" cy="46166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 ratio: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621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805485"/>
              </p:ext>
            </p:extLst>
          </p:nvPr>
        </p:nvGraphicFramePr>
        <p:xfrm>
          <a:off x="6102622" y="4364037"/>
          <a:ext cx="2015581" cy="101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21" name="Equation" r:id="rId13" imgW="1206360" imgH="609480" progId="Equation.DSMT4">
                  <p:embed/>
                </p:oleObj>
              </mc:Choice>
              <mc:Fallback>
                <p:oleObj name="Equation" r:id="rId13" imgW="1206360" imgH="609480" progId="Equation.DSMT4">
                  <p:embed/>
                  <p:pic>
                    <p:nvPicPr>
                      <p:cNvPr id="5621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622" y="4364037"/>
                        <a:ext cx="2015581" cy="10189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3399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192" name="Text Box 16"/>
          <p:cNvSpPr txBox="1">
            <a:spLocks noChangeArrowheads="1"/>
          </p:cNvSpPr>
          <p:nvPr/>
        </p:nvSpPr>
        <p:spPr bwMode="auto">
          <a:xfrm>
            <a:off x="1043608" y="5572125"/>
            <a:ext cx="4933950" cy="9334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&gt;1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step-up transformer</a:t>
            </a:r>
          </a:p>
          <a:p>
            <a:pPr>
              <a:lnSpc>
                <a:spcPct val="115000"/>
              </a:lnSpc>
            </a:pP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&lt;1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step-down transformer</a:t>
            </a:r>
          </a:p>
        </p:txBody>
      </p:sp>
      <p:sp>
        <p:nvSpPr>
          <p:cNvPr id="16" name="Rectangle 106"/>
          <p:cNvSpPr txBox="1">
            <a:spLocks noChangeArrowheads="1"/>
          </p:cNvSpPr>
          <p:nvPr/>
        </p:nvSpPr>
        <p:spPr bwMode="auto">
          <a:xfrm>
            <a:off x="569913" y="66676"/>
            <a:ext cx="77724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66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 kern="0" dirty="0" smtClean="0">
                <a:latin typeface="+mn-lt"/>
                <a:ea typeface="楷体_GB2312" pitchFamily="49" charset="-122"/>
              </a:rPr>
              <a:t>Perfectly Coupled transformer</a:t>
            </a:r>
            <a:endParaRPr lang="zh-CN" altLang="en-US" sz="3200" kern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4476" y="836712"/>
            <a:ext cx="2074248" cy="193616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2270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89" grpId="0" animBg="1"/>
      <p:bldP spid="562190" grpId="0"/>
      <p:bldP spid="56219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AD8A8D-F09D-448A-9E9B-4E745A7176E5}" type="slidenum">
              <a:rPr lang="en-US" altLang="zh-CN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344587" y="997747"/>
            <a:ext cx="834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i="1" dirty="0" smtClean="0">
                <a:latin typeface="+mn-lt"/>
              </a:rPr>
              <a:t>k</a:t>
            </a:r>
            <a:r>
              <a:rPr lang="en-US" altLang="zh-CN" b="1" dirty="0" smtClean="0">
                <a:latin typeface="+mn-lt"/>
              </a:rPr>
              <a:t>=1</a:t>
            </a:r>
            <a:endParaRPr lang="en-US" altLang="zh-CN" b="1" dirty="0">
              <a:latin typeface="+mn-lt"/>
            </a:endParaRP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213367" y="3415946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9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468003"/>
              </p:ext>
            </p:extLst>
          </p:nvPr>
        </p:nvGraphicFramePr>
        <p:xfrm>
          <a:off x="771403" y="3882577"/>
          <a:ext cx="2918929" cy="896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79" name="Equation" r:id="rId3" imgW="1815840" imgH="558720" progId="Equation.DSMT4">
                  <p:embed/>
                </p:oleObj>
              </mc:Choice>
              <mc:Fallback>
                <p:oleObj name="Equation" r:id="rId3" imgW="1815840" imgH="558720" progId="Equation.DSMT4">
                  <p:embed/>
                  <p:pic>
                    <p:nvPicPr>
                      <p:cNvPr id="4199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03" y="3882577"/>
                        <a:ext cx="2918929" cy="896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543390"/>
              </p:ext>
            </p:extLst>
          </p:nvPr>
        </p:nvGraphicFramePr>
        <p:xfrm>
          <a:off x="3751253" y="4020416"/>
          <a:ext cx="1146740" cy="552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0" name="公式" r:id="rId5" imgW="469800" imgH="215640" progId="Equation.3">
                  <p:embed/>
                </p:oleObj>
              </mc:Choice>
              <mc:Fallback>
                <p:oleObj name="公式" r:id="rId5" imgW="469800" imgH="215640" progId="Equation.3">
                  <p:embed/>
                  <p:pic>
                    <p:nvPicPr>
                      <p:cNvPr id="419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53" y="4020416"/>
                        <a:ext cx="1146740" cy="552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430199" y="4845725"/>
            <a:ext cx="9080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Ins="1800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544971"/>
              </p:ext>
            </p:extLst>
          </p:nvPr>
        </p:nvGraphicFramePr>
        <p:xfrm>
          <a:off x="1985463" y="4850896"/>
          <a:ext cx="1269491" cy="481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1" name="Equation" r:id="rId7" imgW="736560" imgH="279360" progId="Equation.DSMT4">
                  <p:embed/>
                </p:oleObj>
              </mc:Choice>
              <mc:Fallback>
                <p:oleObj name="Equation" r:id="rId7" imgW="736560" imgH="279360" progId="Equation.DSMT4">
                  <p:embed/>
                  <p:pic>
                    <p:nvPicPr>
                      <p:cNvPr id="419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463" y="4850896"/>
                        <a:ext cx="1269491" cy="48182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9713" name="Rectangle 23"/>
          <p:cNvSpPr>
            <a:spLocks noChangeArrowheads="1"/>
          </p:cNvSpPr>
          <p:nvPr/>
        </p:nvSpPr>
        <p:spPr bwMode="auto">
          <a:xfrm>
            <a:off x="8382000" y="3881438"/>
            <a:ext cx="457200" cy="13366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05"/>
          <p:cNvGrpSpPr>
            <a:grpSpLocks/>
          </p:cNvGrpSpPr>
          <p:nvPr/>
        </p:nvGrpSpPr>
        <p:grpSpPr bwMode="auto">
          <a:xfrm>
            <a:off x="5114925" y="3498850"/>
            <a:ext cx="3738678" cy="2168525"/>
            <a:chOff x="3110" y="1956"/>
            <a:chExt cx="2195" cy="1318"/>
          </a:xfrm>
        </p:grpSpPr>
        <p:sp useBgFill="1">
          <p:nvSpPr>
            <p:cNvPr id="29716" name="Rectangle 21"/>
            <p:cNvSpPr>
              <a:spLocks noChangeArrowheads="1"/>
            </p:cNvSpPr>
            <p:nvPr/>
          </p:nvSpPr>
          <p:spPr bwMode="auto">
            <a:xfrm>
              <a:off x="3888" y="2302"/>
              <a:ext cx="96" cy="211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17" name="Text Box 22"/>
            <p:cNvSpPr txBox="1">
              <a:spLocks noChangeArrowheads="1"/>
            </p:cNvSpPr>
            <p:nvPr/>
          </p:nvSpPr>
          <p:spPr bwMode="auto">
            <a:xfrm>
              <a:off x="3543" y="2197"/>
              <a:ext cx="221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</a:t>
              </a:r>
              <a:endPara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18" name="Line 25"/>
            <p:cNvSpPr>
              <a:spLocks noChangeShapeType="1"/>
            </p:cNvSpPr>
            <p:nvPr/>
          </p:nvSpPr>
          <p:spPr bwMode="auto">
            <a:xfrm flipH="1">
              <a:off x="4944" y="2258"/>
              <a:ext cx="144" cy="0"/>
            </a:xfrm>
            <a:prstGeom prst="line">
              <a:avLst/>
            </a:prstGeom>
            <a:noFill/>
            <a:ln w="15875">
              <a:solidFill>
                <a:schemeClr val="tx2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28"/>
            <p:cNvSpPr>
              <a:spLocks noChangeShapeType="1"/>
            </p:cNvSpPr>
            <p:nvPr/>
          </p:nvSpPr>
          <p:spPr bwMode="auto">
            <a:xfrm flipV="1">
              <a:off x="3229" y="2335"/>
              <a:ext cx="1" cy="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29"/>
            <p:cNvSpPr>
              <a:spLocks noChangeShapeType="1"/>
            </p:cNvSpPr>
            <p:nvPr/>
          </p:nvSpPr>
          <p:spPr bwMode="auto">
            <a:xfrm>
              <a:off x="3201" y="2365"/>
              <a:ext cx="5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30"/>
            <p:cNvSpPr>
              <a:spLocks noChangeShapeType="1"/>
            </p:cNvSpPr>
            <p:nvPr/>
          </p:nvSpPr>
          <p:spPr bwMode="auto">
            <a:xfrm flipH="1">
              <a:off x="3201" y="2915"/>
              <a:ext cx="5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31"/>
            <p:cNvSpPr>
              <a:spLocks noChangeShapeType="1"/>
            </p:cNvSpPr>
            <p:nvPr/>
          </p:nvSpPr>
          <p:spPr bwMode="auto">
            <a:xfrm>
              <a:off x="3274" y="2975"/>
              <a:ext cx="109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Freeform 32"/>
            <p:cNvSpPr>
              <a:spLocks/>
            </p:cNvSpPr>
            <p:nvPr/>
          </p:nvSpPr>
          <p:spPr bwMode="auto">
            <a:xfrm>
              <a:off x="4367" y="2445"/>
              <a:ext cx="73" cy="350"/>
            </a:xfrm>
            <a:custGeom>
              <a:avLst/>
              <a:gdLst>
                <a:gd name="T0" fmla="*/ 0 w 73"/>
                <a:gd name="T1" fmla="*/ 350 h 350"/>
                <a:gd name="T2" fmla="*/ 36 w 73"/>
                <a:gd name="T3" fmla="*/ 340 h 350"/>
                <a:gd name="T4" fmla="*/ 64 w 73"/>
                <a:gd name="T5" fmla="*/ 320 h 350"/>
                <a:gd name="T6" fmla="*/ 73 w 73"/>
                <a:gd name="T7" fmla="*/ 290 h 350"/>
                <a:gd name="T8" fmla="*/ 64 w 73"/>
                <a:gd name="T9" fmla="*/ 260 h 350"/>
                <a:gd name="T10" fmla="*/ 36 w 73"/>
                <a:gd name="T11" fmla="*/ 240 h 350"/>
                <a:gd name="T12" fmla="*/ 0 w 73"/>
                <a:gd name="T13" fmla="*/ 230 h 350"/>
                <a:gd name="T14" fmla="*/ 36 w 73"/>
                <a:gd name="T15" fmla="*/ 230 h 350"/>
                <a:gd name="T16" fmla="*/ 64 w 73"/>
                <a:gd name="T17" fmla="*/ 200 h 350"/>
                <a:gd name="T18" fmla="*/ 73 w 73"/>
                <a:gd name="T19" fmla="*/ 170 h 350"/>
                <a:gd name="T20" fmla="*/ 64 w 73"/>
                <a:gd name="T21" fmla="*/ 150 h 350"/>
                <a:gd name="T22" fmla="*/ 36 w 73"/>
                <a:gd name="T23" fmla="*/ 120 h 350"/>
                <a:gd name="T24" fmla="*/ 0 w 73"/>
                <a:gd name="T25" fmla="*/ 120 h 350"/>
                <a:gd name="T26" fmla="*/ 36 w 73"/>
                <a:gd name="T27" fmla="*/ 110 h 350"/>
                <a:gd name="T28" fmla="*/ 64 w 73"/>
                <a:gd name="T29" fmla="*/ 90 h 350"/>
                <a:gd name="T30" fmla="*/ 73 w 73"/>
                <a:gd name="T31" fmla="*/ 60 h 350"/>
                <a:gd name="T32" fmla="*/ 64 w 73"/>
                <a:gd name="T33" fmla="*/ 30 h 350"/>
                <a:gd name="T34" fmla="*/ 36 w 73"/>
                <a:gd name="T35" fmla="*/ 10 h 350"/>
                <a:gd name="T36" fmla="*/ 0 w 73"/>
                <a:gd name="T37" fmla="*/ 0 h 3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3"/>
                <a:gd name="T58" fmla="*/ 0 h 350"/>
                <a:gd name="T59" fmla="*/ 73 w 73"/>
                <a:gd name="T60" fmla="*/ 350 h 3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3" h="350">
                  <a:moveTo>
                    <a:pt x="0" y="350"/>
                  </a:moveTo>
                  <a:lnTo>
                    <a:pt x="36" y="340"/>
                  </a:lnTo>
                  <a:lnTo>
                    <a:pt x="64" y="320"/>
                  </a:lnTo>
                  <a:lnTo>
                    <a:pt x="73" y="290"/>
                  </a:lnTo>
                  <a:lnTo>
                    <a:pt x="64" y="260"/>
                  </a:lnTo>
                  <a:lnTo>
                    <a:pt x="36" y="240"/>
                  </a:lnTo>
                  <a:lnTo>
                    <a:pt x="0" y="230"/>
                  </a:lnTo>
                  <a:lnTo>
                    <a:pt x="36" y="230"/>
                  </a:lnTo>
                  <a:lnTo>
                    <a:pt x="64" y="200"/>
                  </a:lnTo>
                  <a:lnTo>
                    <a:pt x="73" y="170"/>
                  </a:lnTo>
                  <a:lnTo>
                    <a:pt x="64" y="150"/>
                  </a:lnTo>
                  <a:lnTo>
                    <a:pt x="36" y="120"/>
                  </a:lnTo>
                  <a:lnTo>
                    <a:pt x="0" y="120"/>
                  </a:lnTo>
                  <a:lnTo>
                    <a:pt x="36" y="110"/>
                  </a:lnTo>
                  <a:lnTo>
                    <a:pt x="64" y="90"/>
                  </a:lnTo>
                  <a:lnTo>
                    <a:pt x="73" y="60"/>
                  </a:lnTo>
                  <a:lnTo>
                    <a:pt x="64" y="30"/>
                  </a:lnTo>
                  <a:lnTo>
                    <a:pt x="36" y="1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33"/>
            <p:cNvSpPr>
              <a:spLocks noChangeShapeType="1"/>
            </p:cNvSpPr>
            <p:nvPr/>
          </p:nvSpPr>
          <p:spPr bwMode="auto">
            <a:xfrm flipV="1">
              <a:off x="4367" y="237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34"/>
            <p:cNvSpPr>
              <a:spLocks noChangeShapeType="1"/>
            </p:cNvSpPr>
            <p:nvPr/>
          </p:nvSpPr>
          <p:spPr bwMode="auto">
            <a:xfrm>
              <a:off x="4367" y="279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35"/>
            <p:cNvSpPr>
              <a:spLocks noChangeShapeType="1"/>
            </p:cNvSpPr>
            <p:nvPr/>
          </p:nvSpPr>
          <p:spPr bwMode="auto">
            <a:xfrm>
              <a:off x="4367" y="2245"/>
              <a:ext cx="1" cy="13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36"/>
            <p:cNvSpPr>
              <a:spLocks noChangeShapeType="1"/>
            </p:cNvSpPr>
            <p:nvPr/>
          </p:nvSpPr>
          <p:spPr bwMode="auto">
            <a:xfrm>
              <a:off x="4367" y="2855"/>
              <a:ext cx="1" cy="12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37"/>
            <p:cNvSpPr>
              <a:spLocks noChangeShapeType="1"/>
            </p:cNvSpPr>
            <p:nvPr/>
          </p:nvSpPr>
          <p:spPr bwMode="auto">
            <a:xfrm flipH="1">
              <a:off x="4667" y="2975"/>
              <a:ext cx="57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8"/>
            <p:cNvSpPr>
              <a:spLocks noChangeShapeType="1"/>
            </p:cNvSpPr>
            <p:nvPr/>
          </p:nvSpPr>
          <p:spPr bwMode="auto">
            <a:xfrm flipH="1" flipV="1">
              <a:off x="4667" y="2256"/>
              <a:ext cx="556" cy="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Freeform 39"/>
            <p:cNvSpPr>
              <a:spLocks/>
            </p:cNvSpPr>
            <p:nvPr/>
          </p:nvSpPr>
          <p:spPr bwMode="auto">
            <a:xfrm>
              <a:off x="4604" y="2445"/>
              <a:ext cx="63" cy="350"/>
            </a:xfrm>
            <a:custGeom>
              <a:avLst/>
              <a:gdLst>
                <a:gd name="T0" fmla="*/ 63 w 63"/>
                <a:gd name="T1" fmla="*/ 350 h 350"/>
                <a:gd name="T2" fmla="*/ 36 w 63"/>
                <a:gd name="T3" fmla="*/ 340 h 350"/>
                <a:gd name="T4" fmla="*/ 9 w 63"/>
                <a:gd name="T5" fmla="*/ 320 h 350"/>
                <a:gd name="T6" fmla="*/ 0 w 63"/>
                <a:gd name="T7" fmla="*/ 290 h 350"/>
                <a:gd name="T8" fmla="*/ 9 w 63"/>
                <a:gd name="T9" fmla="*/ 260 h 350"/>
                <a:gd name="T10" fmla="*/ 36 w 63"/>
                <a:gd name="T11" fmla="*/ 240 h 350"/>
                <a:gd name="T12" fmla="*/ 63 w 63"/>
                <a:gd name="T13" fmla="*/ 230 h 350"/>
                <a:gd name="T14" fmla="*/ 36 w 63"/>
                <a:gd name="T15" fmla="*/ 230 h 350"/>
                <a:gd name="T16" fmla="*/ 9 w 63"/>
                <a:gd name="T17" fmla="*/ 200 h 350"/>
                <a:gd name="T18" fmla="*/ 0 w 63"/>
                <a:gd name="T19" fmla="*/ 170 h 350"/>
                <a:gd name="T20" fmla="*/ 9 w 63"/>
                <a:gd name="T21" fmla="*/ 150 h 350"/>
                <a:gd name="T22" fmla="*/ 36 w 63"/>
                <a:gd name="T23" fmla="*/ 120 h 350"/>
                <a:gd name="T24" fmla="*/ 63 w 63"/>
                <a:gd name="T25" fmla="*/ 120 h 350"/>
                <a:gd name="T26" fmla="*/ 36 w 63"/>
                <a:gd name="T27" fmla="*/ 110 h 350"/>
                <a:gd name="T28" fmla="*/ 9 w 63"/>
                <a:gd name="T29" fmla="*/ 90 h 350"/>
                <a:gd name="T30" fmla="*/ 0 w 63"/>
                <a:gd name="T31" fmla="*/ 60 h 350"/>
                <a:gd name="T32" fmla="*/ 9 w 63"/>
                <a:gd name="T33" fmla="*/ 30 h 350"/>
                <a:gd name="T34" fmla="*/ 36 w 63"/>
                <a:gd name="T35" fmla="*/ 10 h 350"/>
                <a:gd name="T36" fmla="*/ 63 w 63"/>
                <a:gd name="T37" fmla="*/ 0 h 3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3"/>
                <a:gd name="T58" fmla="*/ 0 h 350"/>
                <a:gd name="T59" fmla="*/ 63 w 63"/>
                <a:gd name="T60" fmla="*/ 350 h 3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3" h="350">
                  <a:moveTo>
                    <a:pt x="63" y="350"/>
                  </a:moveTo>
                  <a:lnTo>
                    <a:pt x="36" y="340"/>
                  </a:lnTo>
                  <a:lnTo>
                    <a:pt x="9" y="320"/>
                  </a:lnTo>
                  <a:lnTo>
                    <a:pt x="0" y="290"/>
                  </a:lnTo>
                  <a:lnTo>
                    <a:pt x="9" y="260"/>
                  </a:lnTo>
                  <a:lnTo>
                    <a:pt x="36" y="240"/>
                  </a:lnTo>
                  <a:lnTo>
                    <a:pt x="63" y="230"/>
                  </a:lnTo>
                  <a:lnTo>
                    <a:pt x="36" y="230"/>
                  </a:lnTo>
                  <a:lnTo>
                    <a:pt x="9" y="200"/>
                  </a:lnTo>
                  <a:lnTo>
                    <a:pt x="0" y="170"/>
                  </a:lnTo>
                  <a:lnTo>
                    <a:pt x="9" y="150"/>
                  </a:lnTo>
                  <a:lnTo>
                    <a:pt x="36" y="120"/>
                  </a:lnTo>
                  <a:lnTo>
                    <a:pt x="63" y="120"/>
                  </a:lnTo>
                  <a:lnTo>
                    <a:pt x="36" y="110"/>
                  </a:lnTo>
                  <a:lnTo>
                    <a:pt x="9" y="90"/>
                  </a:lnTo>
                  <a:lnTo>
                    <a:pt x="0" y="60"/>
                  </a:lnTo>
                  <a:lnTo>
                    <a:pt x="9" y="30"/>
                  </a:lnTo>
                  <a:lnTo>
                    <a:pt x="36" y="10"/>
                  </a:lnTo>
                  <a:lnTo>
                    <a:pt x="63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40"/>
            <p:cNvSpPr>
              <a:spLocks noChangeShapeType="1"/>
            </p:cNvSpPr>
            <p:nvPr/>
          </p:nvSpPr>
          <p:spPr bwMode="auto">
            <a:xfrm flipV="1">
              <a:off x="4667" y="237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41"/>
            <p:cNvSpPr>
              <a:spLocks noChangeShapeType="1"/>
            </p:cNvSpPr>
            <p:nvPr/>
          </p:nvSpPr>
          <p:spPr bwMode="auto">
            <a:xfrm>
              <a:off x="4667" y="279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42"/>
            <p:cNvSpPr>
              <a:spLocks noChangeShapeType="1"/>
            </p:cNvSpPr>
            <p:nvPr/>
          </p:nvSpPr>
          <p:spPr bwMode="auto">
            <a:xfrm>
              <a:off x="4667" y="2255"/>
              <a:ext cx="1" cy="12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43"/>
            <p:cNvSpPr>
              <a:spLocks noChangeShapeType="1"/>
            </p:cNvSpPr>
            <p:nvPr/>
          </p:nvSpPr>
          <p:spPr bwMode="auto">
            <a:xfrm>
              <a:off x="4667" y="2855"/>
              <a:ext cx="1" cy="12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Freeform 44"/>
            <p:cNvSpPr>
              <a:spLocks/>
            </p:cNvSpPr>
            <p:nvPr/>
          </p:nvSpPr>
          <p:spPr bwMode="auto">
            <a:xfrm>
              <a:off x="4276" y="2295"/>
              <a:ext cx="36" cy="40"/>
            </a:xfrm>
            <a:custGeom>
              <a:avLst/>
              <a:gdLst>
                <a:gd name="T0" fmla="*/ 0 w 36"/>
                <a:gd name="T1" fmla="*/ 20 h 40"/>
                <a:gd name="T2" fmla="*/ 9 w 36"/>
                <a:gd name="T3" fmla="*/ 0 h 40"/>
                <a:gd name="T4" fmla="*/ 27 w 36"/>
                <a:gd name="T5" fmla="*/ 0 h 40"/>
                <a:gd name="T6" fmla="*/ 36 w 36"/>
                <a:gd name="T7" fmla="*/ 20 h 40"/>
                <a:gd name="T8" fmla="*/ 27 w 36"/>
                <a:gd name="T9" fmla="*/ 40 h 40"/>
                <a:gd name="T10" fmla="*/ 9 w 36"/>
                <a:gd name="T11" fmla="*/ 40 h 40"/>
                <a:gd name="T12" fmla="*/ 0 w 36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0"/>
                <a:gd name="T23" fmla="*/ 36 w 3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0">
                  <a:moveTo>
                    <a:pt x="0" y="20"/>
                  </a:moveTo>
                  <a:lnTo>
                    <a:pt x="9" y="0"/>
                  </a:lnTo>
                  <a:lnTo>
                    <a:pt x="27" y="0"/>
                  </a:lnTo>
                  <a:lnTo>
                    <a:pt x="36" y="20"/>
                  </a:lnTo>
                  <a:lnTo>
                    <a:pt x="27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tx1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Freeform 45"/>
            <p:cNvSpPr>
              <a:spLocks/>
            </p:cNvSpPr>
            <p:nvPr/>
          </p:nvSpPr>
          <p:spPr bwMode="auto">
            <a:xfrm>
              <a:off x="4713" y="2295"/>
              <a:ext cx="36" cy="40"/>
            </a:xfrm>
            <a:custGeom>
              <a:avLst/>
              <a:gdLst>
                <a:gd name="T0" fmla="*/ 0 w 36"/>
                <a:gd name="T1" fmla="*/ 20 h 40"/>
                <a:gd name="T2" fmla="*/ 9 w 36"/>
                <a:gd name="T3" fmla="*/ 0 h 40"/>
                <a:gd name="T4" fmla="*/ 27 w 36"/>
                <a:gd name="T5" fmla="*/ 0 h 40"/>
                <a:gd name="T6" fmla="*/ 36 w 36"/>
                <a:gd name="T7" fmla="*/ 20 h 40"/>
                <a:gd name="T8" fmla="*/ 27 w 36"/>
                <a:gd name="T9" fmla="*/ 40 h 40"/>
                <a:gd name="T10" fmla="*/ 9 w 36"/>
                <a:gd name="T11" fmla="*/ 40 h 40"/>
                <a:gd name="T12" fmla="*/ 0 w 36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0"/>
                <a:gd name="T23" fmla="*/ 36 w 3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0">
                  <a:moveTo>
                    <a:pt x="0" y="20"/>
                  </a:moveTo>
                  <a:lnTo>
                    <a:pt x="9" y="0"/>
                  </a:lnTo>
                  <a:lnTo>
                    <a:pt x="27" y="0"/>
                  </a:lnTo>
                  <a:lnTo>
                    <a:pt x="36" y="20"/>
                  </a:lnTo>
                  <a:lnTo>
                    <a:pt x="27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tx1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Freeform 46"/>
            <p:cNvSpPr>
              <a:spLocks/>
            </p:cNvSpPr>
            <p:nvPr/>
          </p:nvSpPr>
          <p:spPr bwMode="auto">
            <a:xfrm>
              <a:off x="5232" y="2235"/>
              <a:ext cx="36" cy="40"/>
            </a:xfrm>
            <a:custGeom>
              <a:avLst/>
              <a:gdLst>
                <a:gd name="T0" fmla="*/ 0 w 36"/>
                <a:gd name="T1" fmla="*/ 20 h 40"/>
                <a:gd name="T2" fmla="*/ 9 w 36"/>
                <a:gd name="T3" fmla="*/ 0 h 40"/>
                <a:gd name="T4" fmla="*/ 27 w 36"/>
                <a:gd name="T5" fmla="*/ 0 h 40"/>
                <a:gd name="T6" fmla="*/ 36 w 36"/>
                <a:gd name="T7" fmla="*/ 20 h 40"/>
                <a:gd name="T8" fmla="*/ 27 w 36"/>
                <a:gd name="T9" fmla="*/ 40 h 40"/>
                <a:gd name="T10" fmla="*/ 9 w 36"/>
                <a:gd name="T11" fmla="*/ 40 h 40"/>
                <a:gd name="T12" fmla="*/ 0 w 36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0"/>
                <a:gd name="T23" fmla="*/ 36 w 3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0">
                  <a:moveTo>
                    <a:pt x="0" y="20"/>
                  </a:moveTo>
                  <a:lnTo>
                    <a:pt x="9" y="0"/>
                  </a:lnTo>
                  <a:lnTo>
                    <a:pt x="27" y="0"/>
                  </a:lnTo>
                  <a:lnTo>
                    <a:pt x="36" y="20"/>
                  </a:lnTo>
                  <a:lnTo>
                    <a:pt x="27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Freeform 47"/>
            <p:cNvSpPr>
              <a:spLocks/>
            </p:cNvSpPr>
            <p:nvPr/>
          </p:nvSpPr>
          <p:spPr bwMode="auto">
            <a:xfrm>
              <a:off x="5241" y="2955"/>
              <a:ext cx="36" cy="40"/>
            </a:xfrm>
            <a:custGeom>
              <a:avLst/>
              <a:gdLst>
                <a:gd name="T0" fmla="*/ 0 w 36"/>
                <a:gd name="T1" fmla="*/ 20 h 40"/>
                <a:gd name="T2" fmla="*/ 9 w 36"/>
                <a:gd name="T3" fmla="*/ 0 h 40"/>
                <a:gd name="T4" fmla="*/ 27 w 36"/>
                <a:gd name="T5" fmla="*/ 0 h 40"/>
                <a:gd name="T6" fmla="*/ 36 w 36"/>
                <a:gd name="T7" fmla="*/ 20 h 40"/>
                <a:gd name="T8" fmla="*/ 27 w 36"/>
                <a:gd name="T9" fmla="*/ 40 h 40"/>
                <a:gd name="T10" fmla="*/ 9 w 36"/>
                <a:gd name="T11" fmla="*/ 40 h 40"/>
                <a:gd name="T12" fmla="*/ 0 w 36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0"/>
                <a:gd name="T23" fmla="*/ 36 w 3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0">
                  <a:moveTo>
                    <a:pt x="0" y="20"/>
                  </a:moveTo>
                  <a:lnTo>
                    <a:pt x="9" y="0"/>
                  </a:lnTo>
                  <a:lnTo>
                    <a:pt x="27" y="0"/>
                  </a:lnTo>
                  <a:lnTo>
                    <a:pt x="36" y="20"/>
                  </a:lnTo>
                  <a:lnTo>
                    <a:pt x="27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Line 48"/>
            <p:cNvSpPr>
              <a:spLocks noChangeShapeType="1"/>
            </p:cNvSpPr>
            <p:nvPr/>
          </p:nvSpPr>
          <p:spPr bwMode="auto">
            <a:xfrm>
              <a:off x="3274" y="2245"/>
              <a:ext cx="109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Line 49"/>
            <p:cNvSpPr>
              <a:spLocks noChangeShapeType="1"/>
            </p:cNvSpPr>
            <p:nvPr/>
          </p:nvSpPr>
          <p:spPr bwMode="auto">
            <a:xfrm flipH="1">
              <a:off x="3429" y="2245"/>
              <a:ext cx="8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Freeform 50"/>
            <p:cNvSpPr>
              <a:spLocks/>
            </p:cNvSpPr>
            <p:nvPr/>
          </p:nvSpPr>
          <p:spPr bwMode="auto">
            <a:xfrm>
              <a:off x="3502" y="2206"/>
              <a:ext cx="91" cy="69"/>
            </a:xfrm>
            <a:custGeom>
              <a:avLst/>
              <a:gdLst>
                <a:gd name="T0" fmla="*/ 0 w 91"/>
                <a:gd name="T1" fmla="*/ 69 h 69"/>
                <a:gd name="T2" fmla="*/ 91 w 91"/>
                <a:gd name="T3" fmla="*/ 39 h 69"/>
                <a:gd name="T4" fmla="*/ 0 w 91"/>
                <a:gd name="T5" fmla="*/ 0 h 69"/>
                <a:gd name="T6" fmla="*/ 0 w 91"/>
                <a:gd name="T7" fmla="*/ 69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69"/>
                <a:gd name="T14" fmla="*/ 91 w 91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69">
                  <a:moveTo>
                    <a:pt x="0" y="69"/>
                  </a:moveTo>
                  <a:lnTo>
                    <a:pt x="91" y="39"/>
                  </a:lnTo>
                  <a:lnTo>
                    <a:pt x="0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Freeform 58"/>
            <p:cNvSpPr>
              <a:spLocks/>
            </p:cNvSpPr>
            <p:nvPr/>
          </p:nvSpPr>
          <p:spPr bwMode="auto">
            <a:xfrm>
              <a:off x="3247" y="2225"/>
              <a:ext cx="36" cy="40"/>
            </a:xfrm>
            <a:custGeom>
              <a:avLst/>
              <a:gdLst>
                <a:gd name="T0" fmla="*/ 0 w 36"/>
                <a:gd name="T1" fmla="*/ 20 h 40"/>
                <a:gd name="T2" fmla="*/ 9 w 36"/>
                <a:gd name="T3" fmla="*/ 0 h 40"/>
                <a:gd name="T4" fmla="*/ 27 w 36"/>
                <a:gd name="T5" fmla="*/ 0 h 40"/>
                <a:gd name="T6" fmla="*/ 36 w 36"/>
                <a:gd name="T7" fmla="*/ 20 h 40"/>
                <a:gd name="T8" fmla="*/ 27 w 36"/>
                <a:gd name="T9" fmla="*/ 40 h 40"/>
                <a:gd name="T10" fmla="*/ 9 w 36"/>
                <a:gd name="T11" fmla="*/ 40 h 40"/>
                <a:gd name="T12" fmla="*/ 0 w 36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0"/>
                <a:gd name="T23" fmla="*/ 36 w 36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0">
                  <a:moveTo>
                    <a:pt x="0" y="20"/>
                  </a:moveTo>
                  <a:lnTo>
                    <a:pt x="9" y="0"/>
                  </a:lnTo>
                  <a:lnTo>
                    <a:pt x="27" y="0"/>
                  </a:lnTo>
                  <a:lnTo>
                    <a:pt x="36" y="20"/>
                  </a:lnTo>
                  <a:lnTo>
                    <a:pt x="27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Freeform 59"/>
            <p:cNvSpPr>
              <a:spLocks/>
            </p:cNvSpPr>
            <p:nvPr/>
          </p:nvSpPr>
          <p:spPr bwMode="auto">
            <a:xfrm>
              <a:off x="3229" y="2955"/>
              <a:ext cx="45" cy="40"/>
            </a:xfrm>
            <a:custGeom>
              <a:avLst/>
              <a:gdLst>
                <a:gd name="T0" fmla="*/ 0 w 45"/>
                <a:gd name="T1" fmla="*/ 20 h 40"/>
                <a:gd name="T2" fmla="*/ 9 w 45"/>
                <a:gd name="T3" fmla="*/ 0 h 40"/>
                <a:gd name="T4" fmla="*/ 36 w 45"/>
                <a:gd name="T5" fmla="*/ 0 h 40"/>
                <a:gd name="T6" fmla="*/ 45 w 45"/>
                <a:gd name="T7" fmla="*/ 20 h 40"/>
                <a:gd name="T8" fmla="*/ 36 w 45"/>
                <a:gd name="T9" fmla="*/ 40 h 40"/>
                <a:gd name="T10" fmla="*/ 9 w 45"/>
                <a:gd name="T11" fmla="*/ 40 h 40"/>
                <a:gd name="T12" fmla="*/ 0 w 45"/>
                <a:gd name="T13" fmla="*/ 2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5"/>
                <a:gd name="T22" fmla="*/ 0 h 40"/>
                <a:gd name="T23" fmla="*/ 45 w 45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5" h="40">
                  <a:moveTo>
                    <a:pt x="0" y="20"/>
                  </a:moveTo>
                  <a:lnTo>
                    <a:pt x="9" y="0"/>
                  </a:lnTo>
                  <a:lnTo>
                    <a:pt x="36" y="0"/>
                  </a:lnTo>
                  <a:lnTo>
                    <a:pt x="45" y="20"/>
                  </a:lnTo>
                  <a:lnTo>
                    <a:pt x="36" y="40"/>
                  </a:lnTo>
                  <a:lnTo>
                    <a:pt x="9" y="4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Freeform 60"/>
            <p:cNvSpPr>
              <a:spLocks/>
            </p:cNvSpPr>
            <p:nvPr/>
          </p:nvSpPr>
          <p:spPr bwMode="auto">
            <a:xfrm>
              <a:off x="3766" y="2445"/>
              <a:ext cx="64" cy="350"/>
            </a:xfrm>
            <a:custGeom>
              <a:avLst/>
              <a:gdLst>
                <a:gd name="T0" fmla="*/ 64 w 64"/>
                <a:gd name="T1" fmla="*/ 350 h 350"/>
                <a:gd name="T2" fmla="*/ 36 w 64"/>
                <a:gd name="T3" fmla="*/ 340 h 350"/>
                <a:gd name="T4" fmla="*/ 9 w 64"/>
                <a:gd name="T5" fmla="*/ 320 h 350"/>
                <a:gd name="T6" fmla="*/ 0 w 64"/>
                <a:gd name="T7" fmla="*/ 290 h 350"/>
                <a:gd name="T8" fmla="*/ 9 w 64"/>
                <a:gd name="T9" fmla="*/ 260 h 350"/>
                <a:gd name="T10" fmla="*/ 36 w 64"/>
                <a:gd name="T11" fmla="*/ 240 h 350"/>
                <a:gd name="T12" fmla="*/ 64 w 64"/>
                <a:gd name="T13" fmla="*/ 230 h 350"/>
                <a:gd name="T14" fmla="*/ 36 w 64"/>
                <a:gd name="T15" fmla="*/ 230 h 350"/>
                <a:gd name="T16" fmla="*/ 9 w 64"/>
                <a:gd name="T17" fmla="*/ 210 h 350"/>
                <a:gd name="T18" fmla="*/ 0 w 64"/>
                <a:gd name="T19" fmla="*/ 180 h 350"/>
                <a:gd name="T20" fmla="*/ 9 w 64"/>
                <a:gd name="T21" fmla="*/ 150 h 350"/>
                <a:gd name="T22" fmla="*/ 36 w 64"/>
                <a:gd name="T23" fmla="*/ 120 h 350"/>
                <a:gd name="T24" fmla="*/ 64 w 64"/>
                <a:gd name="T25" fmla="*/ 120 h 350"/>
                <a:gd name="T26" fmla="*/ 36 w 64"/>
                <a:gd name="T27" fmla="*/ 110 h 350"/>
                <a:gd name="T28" fmla="*/ 9 w 64"/>
                <a:gd name="T29" fmla="*/ 90 h 350"/>
                <a:gd name="T30" fmla="*/ 0 w 64"/>
                <a:gd name="T31" fmla="*/ 60 h 350"/>
                <a:gd name="T32" fmla="*/ 9 w 64"/>
                <a:gd name="T33" fmla="*/ 30 h 350"/>
                <a:gd name="T34" fmla="*/ 36 w 64"/>
                <a:gd name="T35" fmla="*/ 10 h 350"/>
                <a:gd name="T36" fmla="*/ 64 w 64"/>
                <a:gd name="T37" fmla="*/ 0 h 35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350"/>
                <a:gd name="T59" fmla="*/ 64 w 64"/>
                <a:gd name="T60" fmla="*/ 350 h 35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350">
                  <a:moveTo>
                    <a:pt x="64" y="350"/>
                  </a:moveTo>
                  <a:lnTo>
                    <a:pt x="36" y="340"/>
                  </a:lnTo>
                  <a:lnTo>
                    <a:pt x="9" y="320"/>
                  </a:lnTo>
                  <a:lnTo>
                    <a:pt x="0" y="290"/>
                  </a:lnTo>
                  <a:lnTo>
                    <a:pt x="9" y="260"/>
                  </a:lnTo>
                  <a:lnTo>
                    <a:pt x="36" y="240"/>
                  </a:lnTo>
                  <a:lnTo>
                    <a:pt x="64" y="230"/>
                  </a:lnTo>
                  <a:lnTo>
                    <a:pt x="36" y="230"/>
                  </a:lnTo>
                  <a:lnTo>
                    <a:pt x="9" y="210"/>
                  </a:lnTo>
                  <a:lnTo>
                    <a:pt x="0" y="180"/>
                  </a:lnTo>
                  <a:lnTo>
                    <a:pt x="9" y="150"/>
                  </a:lnTo>
                  <a:lnTo>
                    <a:pt x="36" y="120"/>
                  </a:lnTo>
                  <a:lnTo>
                    <a:pt x="64" y="120"/>
                  </a:lnTo>
                  <a:lnTo>
                    <a:pt x="36" y="110"/>
                  </a:lnTo>
                  <a:lnTo>
                    <a:pt x="9" y="90"/>
                  </a:lnTo>
                  <a:lnTo>
                    <a:pt x="0" y="60"/>
                  </a:lnTo>
                  <a:lnTo>
                    <a:pt x="9" y="30"/>
                  </a:lnTo>
                  <a:lnTo>
                    <a:pt x="36" y="10"/>
                  </a:lnTo>
                  <a:lnTo>
                    <a:pt x="64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Line 61"/>
            <p:cNvSpPr>
              <a:spLocks noChangeShapeType="1"/>
            </p:cNvSpPr>
            <p:nvPr/>
          </p:nvSpPr>
          <p:spPr bwMode="auto">
            <a:xfrm flipV="1">
              <a:off x="3830" y="237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6" name="Line 62"/>
            <p:cNvSpPr>
              <a:spLocks noChangeShapeType="1"/>
            </p:cNvSpPr>
            <p:nvPr/>
          </p:nvSpPr>
          <p:spPr bwMode="auto">
            <a:xfrm>
              <a:off x="3830" y="2795"/>
              <a:ext cx="1" cy="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Line 63"/>
            <p:cNvSpPr>
              <a:spLocks noChangeShapeType="1"/>
            </p:cNvSpPr>
            <p:nvPr/>
          </p:nvSpPr>
          <p:spPr bwMode="auto">
            <a:xfrm>
              <a:off x="3830" y="2245"/>
              <a:ext cx="1" cy="18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64"/>
            <p:cNvSpPr>
              <a:spLocks noChangeShapeType="1"/>
            </p:cNvSpPr>
            <p:nvPr/>
          </p:nvSpPr>
          <p:spPr bwMode="auto">
            <a:xfrm>
              <a:off x="3830" y="2855"/>
              <a:ext cx="1" cy="12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Rectangle 65"/>
            <p:cNvSpPr>
              <a:spLocks noChangeArrowheads="1"/>
            </p:cNvSpPr>
            <p:nvPr/>
          </p:nvSpPr>
          <p:spPr bwMode="auto">
            <a:xfrm>
              <a:off x="3119" y="2125"/>
              <a:ext cx="60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50" name="Rectangle 66"/>
            <p:cNvSpPr>
              <a:spLocks noChangeArrowheads="1"/>
            </p:cNvSpPr>
            <p:nvPr/>
          </p:nvSpPr>
          <p:spPr bwMode="auto">
            <a:xfrm>
              <a:off x="3110" y="2974"/>
              <a:ext cx="8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1'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51" name="Rectangle 67"/>
            <p:cNvSpPr>
              <a:spLocks noChangeArrowheads="1"/>
            </p:cNvSpPr>
            <p:nvPr/>
          </p:nvSpPr>
          <p:spPr bwMode="auto">
            <a:xfrm>
              <a:off x="3593" y="2525"/>
              <a:ext cx="67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52" name="Rectangle 68"/>
            <p:cNvSpPr>
              <a:spLocks noChangeArrowheads="1"/>
            </p:cNvSpPr>
            <p:nvPr/>
          </p:nvSpPr>
          <p:spPr bwMode="auto">
            <a:xfrm>
              <a:off x="3656" y="2585"/>
              <a:ext cx="41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29753" name="Line 69"/>
            <p:cNvSpPr>
              <a:spLocks noChangeShapeType="1"/>
            </p:cNvSpPr>
            <p:nvPr/>
          </p:nvSpPr>
          <p:spPr bwMode="auto">
            <a:xfrm flipV="1">
              <a:off x="3830" y="2245"/>
              <a:ext cx="1" cy="9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Freeform 70"/>
            <p:cNvSpPr>
              <a:spLocks/>
            </p:cNvSpPr>
            <p:nvPr/>
          </p:nvSpPr>
          <p:spPr bwMode="auto">
            <a:xfrm>
              <a:off x="3802" y="2325"/>
              <a:ext cx="64" cy="100"/>
            </a:xfrm>
            <a:custGeom>
              <a:avLst/>
              <a:gdLst>
                <a:gd name="T0" fmla="*/ 0 w 64"/>
                <a:gd name="T1" fmla="*/ 0 h 100"/>
                <a:gd name="T2" fmla="*/ 28 w 64"/>
                <a:gd name="T3" fmla="*/ 100 h 100"/>
                <a:gd name="T4" fmla="*/ 64 w 64"/>
                <a:gd name="T5" fmla="*/ 0 h 100"/>
                <a:gd name="T6" fmla="*/ 0 w 64"/>
                <a:gd name="T7" fmla="*/ 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"/>
                <a:gd name="T13" fmla="*/ 0 h 100"/>
                <a:gd name="T14" fmla="*/ 64 w 64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" h="100">
                  <a:moveTo>
                    <a:pt x="0" y="0"/>
                  </a:moveTo>
                  <a:lnTo>
                    <a:pt x="28" y="100"/>
                  </a:lnTo>
                  <a:lnTo>
                    <a:pt x="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5" name="Line 71"/>
            <p:cNvSpPr>
              <a:spLocks noChangeShapeType="1"/>
            </p:cNvSpPr>
            <p:nvPr/>
          </p:nvSpPr>
          <p:spPr bwMode="auto">
            <a:xfrm flipH="1">
              <a:off x="4084" y="2245"/>
              <a:ext cx="7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Freeform 72"/>
            <p:cNvSpPr>
              <a:spLocks/>
            </p:cNvSpPr>
            <p:nvPr/>
          </p:nvSpPr>
          <p:spPr bwMode="auto">
            <a:xfrm>
              <a:off x="4148" y="2206"/>
              <a:ext cx="100" cy="69"/>
            </a:xfrm>
            <a:custGeom>
              <a:avLst/>
              <a:gdLst>
                <a:gd name="T0" fmla="*/ 0 w 100"/>
                <a:gd name="T1" fmla="*/ 69 h 69"/>
                <a:gd name="T2" fmla="*/ 100 w 100"/>
                <a:gd name="T3" fmla="*/ 39 h 69"/>
                <a:gd name="T4" fmla="*/ 0 w 100"/>
                <a:gd name="T5" fmla="*/ 0 h 69"/>
                <a:gd name="T6" fmla="*/ 0 w 100"/>
                <a:gd name="T7" fmla="*/ 69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69"/>
                <a:gd name="T14" fmla="*/ 100 w 100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69">
                  <a:moveTo>
                    <a:pt x="0" y="69"/>
                  </a:moveTo>
                  <a:lnTo>
                    <a:pt x="100" y="39"/>
                  </a:lnTo>
                  <a:lnTo>
                    <a:pt x="0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Line 73"/>
            <p:cNvSpPr>
              <a:spLocks noChangeShapeType="1"/>
            </p:cNvSpPr>
            <p:nvPr/>
          </p:nvSpPr>
          <p:spPr bwMode="auto">
            <a:xfrm flipV="1">
              <a:off x="4849" y="2335"/>
              <a:ext cx="1" cy="6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8" name="Line 74"/>
            <p:cNvSpPr>
              <a:spLocks noChangeShapeType="1"/>
            </p:cNvSpPr>
            <p:nvPr/>
          </p:nvSpPr>
          <p:spPr bwMode="auto">
            <a:xfrm>
              <a:off x="4822" y="2365"/>
              <a:ext cx="5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9" name="Line 75"/>
            <p:cNvSpPr>
              <a:spLocks noChangeShapeType="1"/>
            </p:cNvSpPr>
            <p:nvPr/>
          </p:nvSpPr>
          <p:spPr bwMode="auto">
            <a:xfrm flipH="1">
              <a:off x="4822" y="2915"/>
              <a:ext cx="5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0" name="Rectangle 76"/>
            <p:cNvSpPr>
              <a:spLocks noChangeArrowheads="1"/>
            </p:cNvSpPr>
            <p:nvPr/>
          </p:nvSpPr>
          <p:spPr bwMode="auto">
            <a:xfrm>
              <a:off x="5223" y="3020"/>
              <a:ext cx="8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2'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61" name="Rectangle 77"/>
            <p:cNvSpPr>
              <a:spLocks noChangeArrowheads="1"/>
            </p:cNvSpPr>
            <p:nvPr/>
          </p:nvSpPr>
          <p:spPr bwMode="auto">
            <a:xfrm>
              <a:off x="5223" y="2046"/>
              <a:ext cx="60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62" name="Line 78"/>
            <p:cNvSpPr>
              <a:spLocks noChangeShapeType="1"/>
            </p:cNvSpPr>
            <p:nvPr/>
          </p:nvSpPr>
          <p:spPr bwMode="auto">
            <a:xfrm>
              <a:off x="4030" y="1956"/>
              <a:ext cx="1" cy="1318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3" name="Line 79"/>
            <p:cNvSpPr>
              <a:spLocks noChangeShapeType="1"/>
            </p:cNvSpPr>
            <p:nvPr/>
          </p:nvSpPr>
          <p:spPr bwMode="auto">
            <a:xfrm>
              <a:off x="4030" y="1956"/>
              <a:ext cx="1093" cy="1"/>
            </a:xfrm>
            <a:prstGeom prst="line">
              <a:avLst/>
            </a:prstGeom>
            <a:noFill/>
            <a:ln w="14288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4" name="Freeform 80"/>
            <p:cNvSpPr>
              <a:spLocks/>
            </p:cNvSpPr>
            <p:nvPr/>
          </p:nvSpPr>
          <p:spPr bwMode="auto">
            <a:xfrm>
              <a:off x="4030" y="1956"/>
              <a:ext cx="1102" cy="1318"/>
            </a:xfrm>
            <a:custGeom>
              <a:avLst/>
              <a:gdLst>
                <a:gd name="T0" fmla="*/ 1102 w 1102"/>
                <a:gd name="T1" fmla="*/ 0 h 1318"/>
                <a:gd name="T2" fmla="*/ 1102 w 1102"/>
                <a:gd name="T3" fmla="*/ 1318 h 1318"/>
                <a:gd name="T4" fmla="*/ 0 w 1102"/>
                <a:gd name="T5" fmla="*/ 1318 h 1318"/>
                <a:gd name="T6" fmla="*/ 0 60000 65536"/>
                <a:gd name="T7" fmla="*/ 0 60000 65536"/>
                <a:gd name="T8" fmla="*/ 0 60000 65536"/>
                <a:gd name="T9" fmla="*/ 0 w 1102"/>
                <a:gd name="T10" fmla="*/ 0 h 1318"/>
                <a:gd name="T11" fmla="*/ 1102 w 1102"/>
                <a:gd name="T12" fmla="*/ 1318 h 1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2" h="1318">
                  <a:moveTo>
                    <a:pt x="1102" y="0"/>
                  </a:moveTo>
                  <a:lnTo>
                    <a:pt x="1102" y="1318"/>
                  </a:lnTo>
                  <a:lnTo>
                    <a:pt x="0" y="1318"/>
                  </a:lnTo>
                </a:path>
              </a:pathLst>
            </a:custGeom>
            <a:noFill/>
            <a:ln w="14288">
              <a:solidFill>
                <a:srgbClr val="0000FF"/>
              </a:solidFill>
              <a:prstDash val="sys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65" name="Group 92"/>
            <p:cNvGrpSpPr>
              <a:grpSpLocks/>
            </p:cNvGrpSpPr>
            <p:nvPr/>
          </p:nvGrpSpPr>
          <p:grpSpPr bwMode="auto">
            <a:xfrm>
              <a:off x="4282" y="3039"/>
              <a:ext cx="604" cy="222"/>
              <a:chOff x="4282" y="3039"/>
              <a:chExt cx="604" cy="222"/>
            </a:xfrm>
          </p:grpSpPr>
          <p:sp>
            <p:nvSpPr>
              <p:cNvPr id="29778" name="Line 81"/>
              <p:cNvSpPr>
                <a:spLocks noChangeShapeType="1"/>
              </p:cNvSpPr>
              <p:nvPr/>
            </p:nvSpPr>
            <p:spPr bwMode="auto">
              <a:xfrm flipV="1">
                <a:off x="4433" y="3167"/>
                <a:ext cx="19" cy="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9" name="Line 82"/>
              <p:cNvSpPr>
                <a:spLocks noChangeShapeType="1"/>
              </p:cNvSpPr>
              <p:nvPr/>
            </p:nvSpPr>
            <p:spPr bwMode="auto">
              <a:xfrm>
                <a:off x="4452" y="3171"/>
                <a:ext cx="27" cy="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0" name="Line 83"/>
              <p:cNvSpPr>
                <a:spLocks noChangeShapeType="1"/>
              </p:cNvSpPr>
              <p:nvPr/>
            </p:nvSpPr>
            <p:spPr bwMode="auto">
              <a:xfrm flipV="1">
                <a:off x="4482" y="3039"/>
                <a:ext cx="36" cy="2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1" name="Line 84"/>
              <p:cNvSpPr>
                <a:spLocks noChangeShapeType="1"/>
              </p:cNvSpPr>
              <p:nvPr/>
            </p:nvSpPr>
            <p:spPr bwMode="auto">
              <a:xfrm>
                <a:off x="4518" y="3039"/>
                <a:ext cx="36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2" name="Rectangle 85"/>
              <p:cNvSpPr>
                <a:spLocks noChangeArrowheads="1"/>
              </p:cNvSpPr>
              <p:nvPr/>
            </p:nvSpPr>
            <p:spPr bwMode="auto">
              <a:xfrm>
                <a:off x="4828" y="3149"/>
                <a:ext cx="45" cy="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83" name="Rectangle 86"/>
              <p:cNvSpPr>
                <a:spLocks noChangeArrowheads="1"/>
              </p:cNvSpPr>
              <p:nvPr/>
            </p:nvSpPr>
            <p:spPr bwMode="auto">
              <a:xfrm>
                <a:off x="4610" y="3149"/>
                <a:ext cx="45" cy="1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84" name="Rectangle 87"/>
              <p:cNvSpPr>
                <a:spLocks noChangeArrowheads="1"/>
              </p:cNvSpPr>
              <p:nvPr/>
            </p:nvSpPr>
            <p:spPr bwMode="auto">
              <a:xfrm>
                <a:off x="4689" y="3049"/>
                <a:ext cx="41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/</a:t>
                </a:r>
                <a:endParaRPr lang="en-US" altLang="zh-CN"/>
              </a:p>
            </p:txBody>
          </p:sp>
          <p:sp>
            <p:nvSpPr>
              <p:cNvPr id="29785" name="Rectangle 88"/>
              <p:cNvSpPr>
                <a:spLocks noChangeArrowheads="1"/>
              </p:cNvSpPr>
              <p:nvPr/>
            </p:nvSpPr>
            <p:spPr bwMode="auto">
              <a:xfrm>
                <a:off x="4364" y="3049"/>
                <a:ext cx="41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>
                    <a:solidFill>
                      <a:srgbClr val="000000"/>
                    </a:solidFill>
                  </a:rPr>
                  <a:t>:</a:t>
                </a:r>
                <a:endParaRPr lang="en-US" altLang="zh-CN"/>
              </a:p>
            </p:txBody>
          </p:sp>
          <p:sp>
            <p:nvSpPr>
              <p:cNvPr id="29786" name="Rectangle 89"/>
              <p:cNvSpPr>
                <a:spLocks noChangeArrowheads="1"/>
              </p:cNvSpPr>
              <p:nvPr/>
            </p:nvSpPr>
            <p:spPr bwMode="auto">
              <a:xfrm>
                <a:off x="4282" y="3049"/>
                <a:ext cx="75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87" name="Rectangle 90"/>
              <p:cNvSpPr>
                <a:spLocks noChangeArrowheads="1"/>
              </p:cNvSpPr>
              <p:nvPr/>
            </p:nvSpPr>
            <p:spPr bwMode="auto">
              <a:xfrm>
                <a:off x="4760" y="3049"/>
                <a:ext cx="84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788" name="Rectangle 91"/>
              <p:cNvSpPr>
                <a:spLocks noChangeArrowheads="1"/>
              </p:cNvSpPr>
              <p:nvPr/>
            </p:nvSpPr>
            <p:spPr bwMode="auto">
              <a:xfrm>
                <a:off x="4532" y="3049"/>
                <a:ext cx="84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66" name="Rectangle 93"/>
            <p:cNvSpPr>
              <a:spLocks noChangeArrowheads="1"/>
            </p:cNvSpPr>
            <p:nvPr/>
          </p:nvSpPr>
          <p:spPr bwMode="auto">
            <a:xfrm>
              <a:off x="3493" y="1976"/>
              <a:ext cx="4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67" name="Rectangle 94"/>
            <p:cNvSpPr>
              <a:spLocks noChangeArrowheads="1"/>
            </p:cNvSpPr>
            <p:nvPr/>
          </p:nvSpPr>
          <p:spPr bwMode="auto">
            <a:xfrm>
              <a:off x="3529" y="2062"/>
              <a:ext cx="5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宋体" pitchFamily="2" charset="-122"/>
                </a:rPr>
                <a:t>1</a:t>
              </a:r>
              <a:endParaRPr lang="en-US" altLang="zh-CN" dirty="0"/>
            </a:p>
          </p:txBody>
        </p:sp>
        <p:sp>
          <p:nvSpPr>
            <p:cNvPr id="29768" name="Rectangle 95"/>
            <p:cNvSpPr>
              <a:spLocks noChangeArrowheads="1"/>
            </p:cNvSpPr>
            <p:nvPr/>
          </p:nvSpPr>
          <p:spPr bwMode="auto">
            <a:xfrm>
              <a:off x="4968" y="2006"/>
              <a:ext cx="4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69" name="Rectangle 96"/>
            <p:cNvSpPr>
              <a:spLocks noChangeArrowheads="1"/>
            </p:cNvSpPr>
            <p:nvPr/>
          </p:nvSpPr>
          <p:spPr bwMode="auto">
            <a:xfrm>
              <a:off x="5016" y="2084"/>
              <a:ext cx="53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70" name="Rectangle 97"/>
            <p:cNvSpPr>
              <a:spLocks noChangeArrowheads="1"/>
            </p:cNvSpPr>
            <p:nvPr/>
          </p:nvSpPr>
          <p:spPr bwMode="auto">
            <a:xfrm>
              <a:off x="4139" y="1986"/>
              <a:ext cx="168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0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71" name="Rectangle 98"/>
            <p:cNvSpPr>
              <a:spLocks noChangeArrowheads="1"/>
            </p:cNvSpPr>
            <p:nvPr/>
          </p:nvSpPr>
          <p:spPr bwMode="auto">
            <a:xfrm>
              <a:off x="4303" y="2089"/>
              <a:ext cx="53" cy="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+mn-lt"/>
                </a:rPr>
                <a:t>2</a:t>
              </a:r>
              <a:endParaRPr lang="en-US" altLang="zh-CN" dirty="0">
                <a:latin typeface="+mn-lt"/>
              </a:endParaRPr>
            </a:p>
          </p:txBody>
        </p:sp>
        <p:sp>
          <p:nvSpPr>
            <p:cNvPr id="29772" name="Rectangle 99"/>
            <p:cNvSpPr>
              <a:spLocks noChangeArrowheads="1"/>
            </p:cNvSpPr>
            <p:nvPr/>
          </p:nvSpPr>
          <p:spPr bwMode="auto">
            <a:xfrm>
              <a:off x="3902" y="2285"/>
              <a:ext cx="4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73" name="Rectangle 100"/>
            <p:cNvSpPr>
              <a:spLocks noChangeArrowheads="1"/>
            </p:cNvSpPr>
            <p:nvPr/>
          </p:nvSpPr>
          <p:spPr bwMode="auto">
            <a:xfrm>
              <a:off x="3939" y="2405"/>
              <a:ext cx="5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宋体" pitchFamily="2" charset="-122"/>
                </a:rPr>
                <a:t>0</a:t>
              </a:r>
              <a:endParaRPr lang="en-US" altLang="zh-CN" dirty="0"/>
            </a:p>
          </p:txBody>
        </p:sp>
        <p:sp>
          <p:nvSpPr>
            <p:cNvPr id="29774" name="Rectangle 101"/>
            <p:cNvSpPr>
              <a:spLocks noChangeArrowheads="1"/>
            </p:cNvSpPr>
            <p:nvPr/>
          </p:nvSpPr>
          <p:spPr bwMode="auto">
            <a:xfrm>
              <a:off x="3174" y="2525"/>
              <a:ext cx="67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75" name="Rectangle 102"/>
            <p:cNvSpPr>
              <a:spLocks noChangeArrowheads="1"/>
            </p:cNvSpPr>
            <p:nvPr/>
          </p:nvSpPr>
          <p:spPr bwMode="auto">
            <a:xfrm>
              <a:off x="3247" y="2645"/>
              <a:ext cx="5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宋体" pitchFamily="2" charset="-122"/>
                </a:rPr>
                <a:t>1</a:t>
              </a:r>
              <a:endParaRPr lang="en-US" altLang="zh-CN"/>
            </a:p>
          </p:txBody>
        </p:sp>
        <p:sp>
          <p:nvSpPr>
            <p:cNvPr id="29776" name="Rectangle 103"/>
            <p:cNvSpPr>
              <a:spLocks noChangeArrowheads="1"/>
            </p:cNvSpPr>
            <p:nvPr/>
          </p:nvSpPr>
          <p:spPr bwMode="auto">
            <a:xfrm>
              <a:off x="4813" y="2555"/>
              <a:ext cx="67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77" name="Rectangle 104"/>
            <p:cNvSpPr>
              <a:spLocks noChangeArrowheads="1"/>
            </p:cNvSpPr>
            <p:nvPr/>
          </p:nvSpPr>
          <p:spPr bwMode="auto">
            <a:xfrm>
              <a:off x="4886" y="2665"/>
              <a:ext cx="5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>
                  <a:solidFill>
                    <a:srgbClr val="000000"/>
                  </a:solidFill>
                  <a:latin typeface="宋体" pitchFamily="2" charset="-122"/>
                </a:rPr>
                <a:t>2</a:t>
              </a:r>
              <a:endParaRPr lang="en-US" altLang="zh-CN"/>
            </a:p>
          </p:txBody>
        </p:sp>
      </p:grpSp>
      <p:sp>
        <p:nvSpPr>
          <p:cNvPr id="29715" name="Rectangle 10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n-lt"/>
                <a:ea typeface="楷体_GB2312" pitchFamily="49" charset="-122"/>
              </a:rPr>
              <a:t>Perfectly Coupled </a:t>
            </a:r>
            <a:r>
              <a:rPr lang="en-US" altLang="zh-CN" sz="3200" dirty="0" smtClean="0">
                <a:latin typeface="+mn-lt"/>
                <a:ea typeface="楷体_GB2312" pitchFamily="49" charset="-122"/>
              </a:rPr>
              <a:t>transformer </a:t>
            </a:r>
            <a:r>
              <a:rPr lang="en-US" altLang="zh-CN" sz="3200" dirty="0" smtClean="0">
                <a:ea typeface="楷体_GB2312" pitchFamily="49" charset="-122"/>
              </a:rPr>
              <a:t>(</a:t>
            </a:r>
            <a:r>
              <a:rPr lang="en-US" altLang="zh-CN" sz="3200" i="1" dirty="0" smtClean="0">
                <a:ea typeface="楷体_GB2312" pitchFamily="49" charset="-122"/>
              </a:rPr>
              <a:t>i</a:t>
            </a:r>
            <a:r>
              <a:rPr lang="en-US" altLang="zh-CN" sz="3200" baseline="-25000" dirty="0" smtClean="0">
                <a:ea typeface="楷体_GB2312" pitchFamily="49" charset="-122"/>
              </a:rPr>
              <a:t>1</a:t>
            </a:r>
            <a:r>
              <a:rPr lang="en-US" altLang="zh-CN" sz="3200" dirty="0" smtClean="0">
                <a:ea typeface="楷体_GB2312" pitchFamily="49" charset="-122"/>
              </a:rPr>
              <a:t>~</a:t>
            </a:r>
            <a:r>
              <a:rPr lang="en-US" altLang="zh-CN" sz="3200" i="1" dirty="0" smtClean="0">
                <a:ea typeface="楷体_GB2312" pitchFamily="49" charset="-122"/>
              </a:rPr>
              <a:t>i</a:t>
            </a:r>
            <a:r>
              <a:rPr lang="en-US" altLang="zh-CN" sz="3200" baseline="-25000" dirty="0" smtClean="0">
                <a:ea typeface="楷体_GB2312" pitchFamily="49" charset="-122"/>
              </a:rPr>
              <a:t>2</a:t>
            </a:r>
            <a:r>
              <a:rPr lang="en-US" altLang="zh-CN" sz="3200" dirty="0">
                <a:ea typeface="楷体_GB2312" pitchFamily="49" charset="-122"/>
              </a:rPr>
              <a:t>)</a:t>
            </a:r>
            <a:endParaRPr lang="zh-CN" altLang="en-US" sz="3200" dirty="0"/>
          </a:p>
        </p:txBody>
      </p:sp>
      <p:graphicFrame>
        <p:nvGraphicFramePr>
          <p:cNvPr id="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626784"/>
              </p:ext>
            </p:extLst>
          </p:nvPr>
        </p:nvGraphicFramePr>
        <p:xfrm>
          <a:off x="4483576" y="1016003"/>
          <a:ext cx="9826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2" name="Equation" r:id="rId9" imgW="647640" imgH="279360" progId="Equation.DSMT4">
                  <p:embed/>
                </p:oleObj>
              </mc:Choice>
              <mc:Fallback>
                <p:oleObj name="Equation" r:id="rId9" imgW="647640" imgH="279360" progId="Equation.DSMT4">
                  <p:embed/>
                  <p:pic>
                    <p:nvPicPr>
                      <p:cNvPr id="1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576" y="1016003"/>
                        <a:ext cx="9826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883125"/>
              </p:ext>
            </p:extLst>
          </p:nvPr>
        </p:nvGraphicFramePr>
        <p:xfrm>
          <a:off x="3017972" y="848519"/>
          <a:ext cx="1117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3" name="Equation" r:id="rId11" imgW="736560" imgH="609480" progId="Equation.DSMT4">
                  <p:embed/>
                </p:oleObj>
              </mc:Choice>
              <mc:Fallback>
                <p:oleObj name="Equation" r:id="rId11" imgW="736560" imgH="609480" progId="Equation.DSMT4">
                  <p:embed/>
                  <p:pic>
                    <p:nvPicPr>
                      <p:cNvPr id="10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972" y="848519"/>
                        <a:ext cx="1117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078586"/>
              </p:ext>
            </p:extLst>
          </p:nvPr>
        </p:nvGraphicFramePr>
        <p:xfrm>
          <a:off x="1374775" y="1014502"/>
          <a:ext cx="1295193" cy="449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4" name="Equation" r:id="rId13" imgW="952200" imgH="330120" progId="Equation.DSMT4">
                  <p:embed/>
                </p:oleObj>
              </mc:Choice>
              <mc:Fallback>
                <p:oleObj name="Equation" r:id="rId13" imgW="952200" imgH="330120" progId="Equation.DSMT4">
                  <p:embed/>
                  <p:pic>
                    <p:nvPicPr>
                      <p:cNvPr id="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1014502"/>
                        <a:ext cx="1295193" cy="4492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059600"/>
              </p:ext>
            </p:extLst>
          </p:nvPr>
        </p:nvGraphicFramePr>
        <p:xfrm>
          <a:off x="1509744" y="1879841"/>
          <a:ext cx="2918240" cy="76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5" name="Equation" r:id="rId15" imgW="1942920" imgH="507960" progId="Equation.DSMT4">
                  <p:embed/>
                </p:oleObj>
              </mc:Choice>
              <mc:Fallback>
                <p:oleObj name="Equation" r:id="rId15" imgW="1942920" imgH="507960" progId="Equation.DSMT4">
                  <p:embed/>
                  <p:pic>
                    <p:nvPicPr>
                      <p:cNvPr id="8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44" y="1879841"/>
                        <a:ext cx="2918240" cy="767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71096"/>
              </p:ext>
            </p:extLst>
          </p:nvPr>
        </p:nvGraphicFramePr>
        <p:xfrm>
          <a:off x="1563624" y="2664716"/>
          <a:ext cx="2738699" cy="938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6" name="Equation" r:id="rId17" imgW="1688760" imgH="609480" progId="Equation.DSMT4">
                  <p:embed/>
                </p:oleObj>
              </mc:Choice>
              <mc:Fallback>
                <p:oleObj name="Equation" r:id="rId17" imgW="1688760" imgH="609480" progId="Equation.DSMT4">
                  <p:embed/>
                  <p:pic>
                    <p:nvPicPr>
                      <p:cNvPr id="821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624" y="2664716"/>
                        <a:ext cx="2738699" cy="938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2622047" y="5945821"/>
            <a:ext cx="3360552" cy="616016"/>
            <a:chOff x="2622047" y="5945821"/>
            <a:chExt cx="3360552" cy="616016"/>
          </a:xfrm>
        </p:grpSpPr>
        <p:sp>
          <p:nvSpPr>
            <p:cNvPr id="41996" name="Text Box 12"/>
            <p:cNvSpPr txBox="1">
              <a:spLocks noChangeArrowheads="1"/>
            </p:cNvSpPr>
            <p:nvPr/>
          </p:nvSpPr>
          <p:spPr bwMode="auto">
            <a:xfrm>
              <a:off x="2698364" y="5994793"/>
              <a:ext cx="3207915" cy="52322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square" rIns="0">
              <a:spAutoFit/>
            </a:bodyPr>
            <a:lstStyle/>
            <a:p>
              <a:r>
                <a:rPr lang="en-US" altLang="zh-CN" sz="2800" b="1" dirty="0" smtClean="0">
                  <a:latin typeface="+mn-lt"/>
                </a:rPr>
                <a:t>Ideal transformer</a:t>
              </a:r>
              <a:endParaRPr lang="zh-CN" altLang="en-US" sz="2800" b="1" dirty="0">
                <a:latin typeface="+mn-lt"/>
              </a:endParaRPr>
            </a:p>
          </p:txBody>
        </p:sp>
        <p:sp>
          <p:nvSpPr>
            <p:cNvPr id="3" name="矩形标注 2"/>
            <p:cNvSpPr/>
            <p:nvPr/>
          </p:nvSpPr>
          <p:spPr bwMode="auto">
            <a:xfrm rot="10800000">
              <a:off x="2622047" y="5945821"/>
              <a:ext cx="3360552" cy="616016"/>
            </a:xfrm>
            <a:prstGeom prst="wedgeRectCallout">
              <a:avLst>
                <a:gd name="adj1" fmla="val -68737"/>
                <a:gd name="adj2" fmla="val 96768"/>
              </a:avLst>
            </a:prstGeom>
            <a:noFill/>
            <a:ln w="19050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18578" y="1185746"/>
            <a:ext cx="3098706" cy="193555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5293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 autoUpdateAnimBg="0"/>
      <p:bldP spid="41994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A9D583-7F0B-4CA5-BBCB-07C7A3249031}" type="slidenum">
              <a:rPr lang="en-US" altLang="zh-CN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31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sp>
        <p:nvSpPr>
          <p:cNvPr id="31755" name="Text Box 4"/>
          <p:cNvSpPr txBox="1">
            <a:spLocks noChangeArrowheads="1"/>
          </p:cNvSpPr>
          <p:nvPr/>
        </p:nvSpPr>
        <p:spPr bwMode="auto">
          <a:xfrm>
            <a:off x="557063" y="1000341"/>
            <a:ext cx="30210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relationship</a:t>
            </a:r>
            <a:r>
              <a:rPr kumimoji="0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A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4334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768826"/>
              </p:ext>
            </p:extLst>
          </p:nvPr>
        </p:nvGraphicFramePr>
        <p:xfrm>
          <a:off x="1547664" y="1640441"/>
          <a:ext cx="103981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3" name="Equation" r:id="rId3" imgW="545760" imgH="558720" progId="Equation.DSMT4">
                  <p:embed/>
                </p:oleObj>
              </mc:Choice>
              <mc:Fallback>
                <p:oleObj name="Equation" r:id="rId3" imgW="545760" imgH="558720" progId="Equation.DSMT4">
                  <p:embed/>
                  <p:pic>
                    <p:nvPicPr>
                      <p:cNvPr id="564334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640441"/>
                        <a:ext cx="103981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8" name="Picture 1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8064" y="1133475"/>
            <a:ext cx="3567113" cy="1889125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3399FF"/>
            </a:solidFill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512620" y="1268760"/>
            <a:ext cx="5076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Box 3"/>
          <p:cNvSpPr txBox="1">
            <a:spLocks noChangeArrowheads="1"/>
          </p:cNvSpPr>
          <p:nvPr/>
        </p:nvSpPr>
        <p:spPr bwMode="auto">
          <a:xfrm>
            <a:off x="557063" y="2940112"/>
            <a:ext cx="3001219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relationship</a:t>
            </a:r>
            <a:r>
              <a:rPr kumimoji="0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AU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251229"/>
              </p:ext>
            </p:extLst>
          </p:nvPr>
        </p:nvGraphicFramePr>
        <p:xfrm>
          <a:off x="1510813" y="3801510"/>
          <a:ext cx="1394867" cy="56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4" name="Equation" r:id="rId6" imgW="685800" imgH="279360" progId="Equation.DSMT4">
                  <p:embed/>
                </p:oleObj>
              </mc:Choice>
              <mc:Fallback>
                <p:oleObj name="Equation" r:id="rId6" imgW="685800" imgH="279360" progId="Equation.DSMT4">
                  <p:embed/>
                  <p:pic>
                    <p:nvPicPr>
                      <p:cNvPr id="5683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813" y="3801510"/>
                        <a:ext cx="1394867" cy="567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Picture 1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148063" y="3701257"/>
            <a:ext cx="3685381" cy="1958050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3399FF"/>
            </a:solidFill>
            <a:miter lim="800000"/>
            <a:headEnd/>
            <a:tailEnd/>
          </a:ln>
        </p:spPr>
      </p:pic>
      <p:sp>
        <p:nvSpPr>
          <p:cNvPr id="105" name="文本框 104"/>
          <p:cNvSpPr txBox="1"/>
          <p:nvPr/>
        </p:nvSpPr>
        <p:spPr>
          <a:xfrm>
            <a:off x="6590035" y="3925128"/>
            <a:ext cx="5076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462232"/>
              </p:ext>
            </p:extLst>
          </p:nvPr>
        </p:nvGraphicFramePr>
        <p:xfrm>
          <a:off x="1547664" y="4680282"/>
          <a:ext cx="1162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75" name="Equation" r:id="rId9" imgW="571320" imgH="279360" progId="Equation.DSMT4">
                  <p:embed/>
                </p:oleObj>
              </mc:Choice>
              <mc:Fallback>
                <p:oleObj name="Equation" r:id="rId9" imgW="571320" imgH="279360" progId="Equation.DSMT4">
                  <p:embed/>
                  <p:pic>
                    <p:nvPicPr>
                      <p:cNvPr id="10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680282"/>
                        <a:ext cx="11620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左箭头 4"/>
          <p:cNvSpPr/>
          <p:nvPr/>
        </p:nvSpPr>
        <p:spPr bwMode="auto">
          <a:xfrm>
            <a:off x="3234784" y="4879883"/>
            <a:ext cx="1584176" cy="288032"/>
          </a:xfrm>
          <a:prstGeom prst="leftArrow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10" name="左箭头 109"/>
          <p:cNvSpPr/>
          <p:nvPr/>
        </p:nvSpPr>
        <p:spPr bwMode="auto">
          <a:xfrm rot="20007810">
            <a:off x="3099575" y="3517300"/>
            <a:ext cx="2032628" cy="288032"/>
          </a:xfrm>
          <a:prstGeom prst="leftArrow">
            <a:avLst/>
          </a:prstGeom>
          <a:noFill/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79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A9D583-7F0B-4CA5-BBCB-07C7A3249031}" type="slidenum">
              <a:rPr lang="en-US" altLang="zh-CN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31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pic>
        <p:nvPicPr>
          <p:cNvPr id="31758" name="Picture 1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064" y="1133475"/>
            <a:ext cx="3567113" cy="1889125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3399FF"/>
            </a:solidFill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6512620" y="1268760"/>
            <a:ext cx="5076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8063" y="3701257"/>
            <a:ext cx="3685381" cy="1958050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3399FF"/>
            </a:solidFill>
            <a:miter lim="800000"/>
            <a:headEnd/>
            <a:tailEnd/>
          </a:ln>
        </p:spPr>
      </p:pic>
      <p:sp>
        <p:nvSpPr>
          <p:cNvPr id="105" name="文本框 104"/>
          <p:cNvSpPr txBox="1"/>
          <p:nvPr/>
        </p:nvSpPr>
        <p:spPr>
          <a:xfrm>
            <a:off x="6590035" y="3925128"/>
            <a:ext cx="5076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52400" y="925513"/>
            <a:ext cx="33893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Lossless Element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69875" y="1600200"/>
            <a:ext cx="4357688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phasors for sinusoidal steady-state circuit :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585273"/>
              </p:ext>
            </p:extLst>
          </p:nvPr>
        </p:nvGraphicFramePr>
        <p:xfrm>
          <a:off x="683568" y="2562328"/>
          <a:ext cx="3486815" cy="155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4" name="Equation" r:id="rId5" imgW="1942920" imgH="863280" progId="Equation.DSMT4">
                  <p:embed/>
                </p:oleObj>
              </mc:Choice>
              <mc:Fallback>
                <p:oleObj name="Equation" r:id="rId5" imgW="1942920" imgH="863280" progId="Equation.DSMT4">
                  <p:embed/>
                  <p:pic>
                    <p:nvPicPr>
                      <p:cNvPr id="5632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562328"/>
                        <a:ext cx="3486815" cy="155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301535" y="4116165"/>
            <a:ext cx="4357688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power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89530"/>
              </p:ext>
            </p:extLst>
          </p:nvPr>
        </p:nvGraphicFramePr>
        <p:xfrm>
          <a:off x="661582" y="4810359"/>
          <a:ext cx="4126441" cy="1066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75" name="Equation" r:id="rId7" imgW="2476440" imgH="583920" progId="Equation.DSMT4">
                  <p:embed/>
                </p:oleObj>
              </mc:Choice>
              <mc:Fallback>
                <p:oleObj name="Equation" r:id="rId7" imgW="2476440" imgH="583920" progId="Equation.DSMT4">
                  <p:embed/>
                  <p:pic>
                    <p:nvPicPr>
                      <p:cNvPr id="5632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82" y="4810359"/>
                        <a:ext cx="4126441" cy="1066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41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888D7C-A9D0-42FC-B198-90CB4630F99B}" type="slidenum">
              <a:rPr lang="en-US" altLang="zh-CN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sp>
        <p:nvSpPr>
          <p:cNvPr id="36870" name="Text Box 3"/>
          <p:cNvSpPr txBox="1">
            <a:spLocks noChangeArrowheads="1"/>
          </p:cNvSpPr>
          <p:nvPr/>
        </p:nvSpPr>
        <p:spPr bwMode="auto">
          <a:xfrm>
            <a:off x="152400" y="925513"/>
            <a:ext cx="34782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Reflected Impedance 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69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053645"/>
              </p:ext>
            </p:extLst>
          </p:nvPr>
        </p:nvGraphicFramePr>
        <p:xfrm>
          <a:off x="2339752" y="4462768"/>
          <a:ext cx="3600400" cy="1167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82" name="Equation" r:id="rId3" imgW="1803240" imgH="583920" progId="Equation.DSMT4">
                  <p:embed/>
                </p:oleObj>
              </mc:Choice>
              <mc:Fallback>
                <p:oleObj name="Equation" r:id="rId3" imgW="1803240" imgH="583920" progId="Equation.DSMT4">
                  <p:embed/>
                  <p:pic>
                    <p:nvPicPr>
                      <p:cNvPr id="5693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462768"/>
                        <a:ext cx="3600400" cy="1167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Freeform 12"/>
          <p:cNvSpPr>
            <a:spLocks/>
          </p:cNvSpPr>
          <p:nvPr/>
        </p:nvSpPr>
        <p:spPr bwMode="auto">
          <a:xfrm>
            <a:off x="2197100" y="3111500"/>
            <a:ext cx="444500" cy="1663700"/>
          </a:xfrm>
          <a:custGeom>
            <a:avLst/>
            <a:gdLst>
              <a:gd name="T0" fmla="*/ 0 w 280"/>
              <a:gd name="T1" fmla="*/ 2147483647 h 1048"/>
              <a:gd name="T2" fmla="*/ 0 w 280"/>
              <a:gd name="T3" fmla="*/ 0 h 1048"/>
              <a:gd name="T4" fmla="*/ 2147483647 w 280"/>
              <a:gd name="T5" fmla="*/ 0 h 1048"/>
              <a:gd name="T6" fmla="*/ 0 60000 65536"/>
              <a:gd name="T7" fmla="*/ 0 60000 65536"/>
              <a:gd name="T8" fmla="*/ 0 60000 65536"/>
              <a:gd name="T9" fmla="*/ 0 w 280"/>
              <a:gd name="T10" fmla="*/ 0 h 1048"/>
              <a:gd name="T11" fmla="*/ 280 w 280"/>
              <a:gd name="T12" fmla="*/ 1048 h 10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1048">
                <a:moveTo>
                  <a:pt x="0" y="1048"/>
                </a:moveTo>
                <a:lnTo>
                  <a:pt x="0" y="0"/>
                </a:lnTo>
                <a:lnTo>
                  <a:pt x="280" y="0"/>
                </a:lnTo>
              </a:path>
            </a:pathLst>
          </a:custGeom>
          <a:noFill/>
          <a:ln w="38100">
            <a:solidFill>
              <a:srgbClr val="3399FF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5880" y="1721125"/>
            <a:ext cx="4737192" cy="187002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225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911614-3E49-442C-930A-6C25FCAF5F51}" type="slidenum">
              <a:rPr lang="en-US" altLang="zh-CN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378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sp>
        <p:nvSpPr>
          <p:cNvPr id="37895" name="Text Box 3"/>
          <p:cNvSpPr txBox="1">
            <a:spLocks noChangeArrowheads="1"/>
          </p:cNvSpPr>
          <p:nvPr/>
        </p:nvSpPr>
        <p:spPr bwMode="auto">
          <a:xfrm>
            <a:off x="152400" y="925513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Equivalent Circuits 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70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236586"/>
              </p:ext>
            </p:extLst>
          </p:nvPr>
        </p:nvGraphicFramePr>
        <p:xfrm>
          <a:off x="1115095" y="3307594"/>
          <a:ext cx="1705893" cy="642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60" name="Equation" r:id="rId3" imgW="812520" imgH="304560" progId="Equation.DSMT4">
                  <p:embed/>
                </p:oleObj>
              </mc:Choice>
              <mc:Fallback>
                <p:oleObj name="Equation" r:id="rId3" imgW="812520" imgH="304560" progId="Equation.DSMT4">
                  <p:embed/>
                  <p:pic>
                    <p:nvPicPr>
                      <p:cNvPr id="570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095" y="3307594"/>
                        <a:ext cx="1705893" cy="642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0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47060"/>
              </p:ext>
            </p:extLst>
          </p:nvPr>
        </p:nvGraphicFramePr>
        <p:xfrm>
          <a:off x="1132279" y="4332758"/>
          <a:ext cx="1663402" cy="615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61" name="Equation" r:id="rId5" imgW="825480" imgH="304560" progId="Equation.DSMT4">
                  <p:embed/>
                </p:oleObj>
              </mc:Choice>
              <mc:Fallback>
                <p:oleObj name="Equation" r:id="rId5" imgW="825480" imgH="304560" progId="Equation.DSMT4">
                  <p:embed/>
                  <p:pic>
                    <p:nvPicPr>
                      <p:cNvPr id="57038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279" y="4332758"/>
                        <a:ext cx="1663402" cy="615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141788" y="1096963"/>
            <a:ext cx="4786312" cy="2046287"/>
            <a:chOff x="4141788" y="1096963"/>
            <a:chExt cx="4786312" cy="2046287"/>
          </a:xfrm>
        </p:grpSpPr>
        <p:pic>
          <p:nvPicPr>
            <p:cNvPr id="37896" name="Picture 1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141788" y="1096963"/>
              <a:ext cx="4786312" cy="2046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3399FF"/>
              </a:solidFill>
              <a:miter lim="800000"/>
              <a:headEnd/>
              <a:tailEnd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6562090" y="1290677"/>
              <a:ext cx="507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</a:t>
              </a:r>
              <a:r>
                <a:rPr lang="en-US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24705" y="3510756"/>
            <a:ext cx="3096344" cy="2259013"/>
            <a:chOff x="5422900" y="3473450"/>
            <a:chExt cx="3198813" cy="2259013"/>
          </a:xfrm>
        </p:grpSpPr>
        <p:pic>
          <p:nvPicPr>
            <p:cNvPr id="37897" name="Picture 11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422900" y="3473450"/>
              <a:ext cx="3198813" cy="22590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3399FF"/>
              </a:solidFill>
              <a:miter lim="800000"/>
              <a:headEnd/>
              <a:tailEnd/>
            </a:ln>
          </p:spPr>
        </p:pic>
        <p:graphicFrame>
          <p:nvGraphicFramePr>
            <p:cNvPr id="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3040476"/>
                </p:ext>
              </p:extLst>
            </p:nvPr>
          </p:nvGraphicFramePr>
          <p:xfrm>
            <a:off x="6284206" y="4407352"/>
            <a:ext cx="501476" cy="4658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62" name="Equation" r:id="rId9" imgW="330120" imgH="304560" progId="Equation.DSMT4">
                    <p:embed/>
                  </p:oleObj>
                </mc:Choice>
                <mc:Fallback>
                  <p:oleObj name="Equation" r:id="rId9" imgW="330120" imgH="304560" progId="Equation.DSMT4">
                    <p:embed/>
                    <p:pic>
                      <p:nvPicPr>
                        <p:cNvPr id="5703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4206" y="4407352"/>
                          <a:ext cx="501476" cy="46582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86208"/>
                </p:ext>
              </p:extLst>
            </p:nvPr>
          </p:nvGraphicFramePr>
          <p:xfrm>
            <a:off x="6444209" y="3473450"/>
            <a:ext cx="576064" cy="433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963" name="Equation" r:id="rId11" imgW="406080" imgH="304560" progId="Equation.DSMT4">
                    <p:embed/>
                  </p:oleObj>
                </mc:Choice>
                <mc:Fallback>
                  <p:oleObj name="Equation" r:id="rId11" imgW="406080" imgH="304560" progId="Equation.DSMT4">
                    <p:embed/>
                    <p:pic>
                      <p:nvPicPr>
                        <p:cNvPr id="57037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4209" y="3473450"/>
                          <a:ext cx="576064" cy="4333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6354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E9851F-F728-4423-A4B1-82909897EE09}" type="slidenum">
              <a:rPr lang="en-US" altLang="zh-CN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389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Ideal Transformers </a:t>
            </a:r>
          </a:p>
        </p:txBody>
      </p:sp>
      <p:sp>
        <p:nvSpPr>
          <p:cNvPr id="38919" name="Text Box 3"/>
          <p:cNvSpPr txBox="1">
            <a:spLocks noChangeArrowheads="1"/>
          </p:cNvSpPr>
          <p:nvPr/>
        </p:nvSpPr>
        <p:spPr bwMode="auto">
          <a:xfrm>
            <a:off x="152400" y="925513"/>
            <a:ext cx="3287713" cy="4572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CN" b="1">
                <a:latin typeface="Arial" charset="0"/>
                <a:ea typeface="宋体" pitchFamily="2" charset="-122"/>
              </a:rPr>
              <a:t>Equivalent Circuits  </a:t>
            </a:r>
            <a:endParaRPr kumimoji="0" lang="en-AU" altLang="zh-CN" b="1"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5714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228336"/>
              </p:ext>
            </p:extLst>
          </p:nvPr>
        </p:nvGraphicFramePr>
        <p:xfrm>
          <a:off x="962025" y="3068960"/>
          <a:ext cx="1902296" cy="1140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4" name="Equation" r:id="rId3" imgW="850680" imgH="507960" progId="Equation.DSMT4">
                  <p:embed/>
                </p:oleObj>
              </mc:Choice>
              <mc:Fallback>
                <p:oleObj name="Equation" r:id="rId3" imgW="850680" imgH="507960" progId="Equation.DSMT4">
                  <p:embed/>
                  <p:pic>
                    <p:nvPicPr>
                      <p:cNvPr id="5714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3068960"/>
                        <a:ext cx="1902296" cy="1140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14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854088"/>
              </p:ext>
            </p:extLst>
          </p:nvPr>
        </p:nvGraphicFramePr>
        <p:xfrm>
          <a:off x="941489" y="4437112"/>
          <a:ext cx="1858863" cy="1065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85" name="Equation" r:id="rId5" imgW="888840" imgH="507960" progId="Equation.DSMT4">
                  <p:embed/>
                </p:oleObj>
              </mc:Choice>
              <mc:Fallback>
                <p:oleObj name="Equation" r:id="rId5" imgW="888840" imgH="507960" progId="Equation.DSMT4">
                  <p:embed/>
                  <p:pic>
                    <p:nvPicPr>
                      <p:cNvPr id="5714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89" y="4437112"/>
                        <a:ext cx="1858863" cy="1065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4117975" y="1071563"/>
            <a:ext cx="4656138" cy="2147887"/>
            <a:chOff x="4117975" y="1071563"/>
            <a:chExt cx="4656138" cy="2147887"/>
          </a:xfrm>
        </p:grpSpPr>
        <p:pic>
          <p:nvPicPr>
            <p:cNvPr id="38920" name="Picture 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117975" y="1071563"/>
              <a:ext cx="4656138" cy="2147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3399FF"/>
              </a:solidFill>
              <a:miter lim="800000"/>
              <a:headEnd/>
              <a:tailEnd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5936557" y="1198047"/>
              <a:ext cx="5076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</a:t>
              </a:r>
              <a:r>
                <a:rPr lang="en-US" sz="1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484688" y="3548063"/>
            <a:ext cx="3630612" cy="2466975"/>
            <a:chOff x="4484688" y="3548063"/>
            <a:chExt cx="3630612" cy="2466975"/>
          </a:xfrm>
        </p:grpSpPr>
        <p:pic>
          <p:nvPicPr>
            <p:cNvPr id="38921" name="Picture 8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484688" y="3548063"/>
              <a:ext cx="3630612" cy="24669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3399FF"/>
              </a:solidFill>
              <a:miter lim="800000"/>
              <a:headEnd/>
              <a:tailEnd/>
            </a:ln>
          </p:spPr>
        </p:pic>
        <p:graphicFrame>
          <p:nvGraphicFramePr>
            <p:cNvPr id="1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1826092"/>
                </p:ext>
              </p:extLst>
            </p:nvPr>
          </p:nvGraphicFramePr>
          <p:xfrm>
            <a:off x="7236296" y="4462224"/>
            <a:ext cx="538163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986" name="Equation" r:id="rId9" imgW="355320" imgH="507960" progId="Equation.DSMT4">
                    <p:embed/>
                  </p:oleObj>
                </mc:Choice>
                <mc:Fallback>
                  <p:oleObj name="Equation" r:id="rId9" imgW="355320" imgH="507960" progId="Equation.DSMT4">
                    <p:embed/>
                    <p:pic>
                      <p:nvPicPr>
                        <p:cNvPr id="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296" y="4462224"/>
                          <a:ext cx="538163" cy="7747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749199"/>
                </p:ext>
              </p:extLst>
            </p:nvPr>
          </p:nvGraphicFramePr>
          <p:xfrm>
            <a:off x="5936557" y="4161707"/>
            <a:ext cx="663575" cy="722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987" name="Equation" r:id="rId11" imgW="469800" imgH="507960" progId="Equation.DSMT4">
                    <p:embed/>
                  </p:oleObj>
                </mc:Choice>
                <mc:Fallback>
                  <p:oleObj name="Equation" r:id="rId11" imgW="469800" imgH="507960" progId="Equation.DSMT4">
                    <p:embed/>
                    <p:pic>
                      <p:nvPicPr>
                        <p:cNvPr id="1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6557" y="4161707"/>
                          <a:ext cx="663575" cy="72231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451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3" name="Text Box 11"/>
          <p:cNvSpPr txBox="1">
            <a:spLocks noChangeArrowheads="1"/>
          </p:cNvSpPr>
          <p:nvPr/>
        </p:nvSpPr>
        <p:spPr bwMode="auto">
          <a:xfrm>
            <a:off x="1824038" y="-80962"/>
            <a:ext cx="71374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turn ratio of the matching transformer so that load Z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draw maximum average power.</a:t>
            </a:r>
          </a:p>
        </p:txBody>
      </p:sp>
      <p:graphicFrame>
        <p:nvGraphicFramePr>
          <p:cNvPr id="5724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156336"/>
              </p:ext>
            </p:extLst>
          </p:nvPr>
        </p:nvGraphicFramePr>
        <p:xfrm>
          <a:off x="1482725" y="3138861"/>
          <a:ext cx="1714497" cy="518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2" name="Equation" r:id="rId3" imgW="1041120" imgH="317160" progId="Equation.DSMT4">
                  <p:embed/>
                </p:oleObj>
              </mc:Choice>
              <mc:Fallback>
                <p:oleObj name="Equation" r:id="rId3" imgW="1041120" imgH="317160" progId="Equation.DSMT4">
                  <p:embed/>
                  <p:pic>
                    <p:nvPicPr>
                      <p:cNvPr id="5724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3138861"/>
                        <a:ext cx="1714497" cy="518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30" name="Text Box 14"/>
          <p:cNvSpPr txBox="1">
            <a:spLocks noChangeArrowheads="1"/>
          </p:cNvSpPr>
          <p:nvPr/>
        </p:nvSpPr>
        <p:spPr bwMode="auto">
          <a:xfrm>
            <a:off x="3517900" y="3149600"/>
            <a:ext cx="3616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gets max power.</a:t>
            </a:r>
          </a:p>
        </p:txBody>
      </p:sp>
      <p:graphicFrame>
        <p:nvGraphicFramePr>
          <p:cNvPr id="5724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126700"/>
              </p:ext>
            </p:extLst>
          </p:nvPr>
        </p:nvGraphicFramePr>
        <p:xfrm>
          <a:off x="1043608" y="3711227"/>
          <a:ext cx="3180030" cy="949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3" name="Equation" r:id="rId5" imgW="2044440" imgH="609480" progId="Equation.DSMT4">
                  <p:embed/>
                </p:oleObj>
              </mc:Choice>
              <mc:Fallback>
                <p:oleObj name="Equation" r:id="rId5" imgW="2044440" imgH="609480" progId="Equation.DSMT4">
                  <p:embed/>
                  <p:pic>
                    <p:nvPicPr>
                      <p:cNvPr id="57243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711227"/>
                        <a:ext cx="3180030" cy="949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3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37459"/>
              </p:ext>
            </p:extLst>
          </p:nvPr>
        </p:nvGraphicFramePr>
        <p:xfrm>
          <a:off x="4740601" y="3823012"/>
          <a:ext cx="3408037" cy="854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4" name="Equation" r:id="rId7" imgW="2019240" imgH="507960" progId="Equation.DSMT4">
                  <p:embed/>
                </p:oleObj>
              </mc:Choice>
              <mc:Fallback>
                <p:oleObj name="Equation" r:id="rId7" imgW="2019240" imgH="507960" progId="Equation.DSMT4">
                  <p:embed/>
                  <p:pic>
                    <p:nvPicPr>
                      <p:cNvPr id="57243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601" y="3823012"/>
                        <a:ext cx="3408037" cy="854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69646"/>
              </p:ext>
            </p:extLst>
          </p:nvPr>
        </p:nvGraphicFramePr>
        <p:xfrm>
          <a:off x="1043608" y="4764698"/>
          <a:ext cx="5538638" cy="916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5" name="Equation" r:id="rId9" imgW="3530520" imgH="583920" progId="Equation.DSMT4">
                  <p:embed/>
                </p:oleObj>
              </mc:Choice>
              <mc:Fallback>
                <p:oleObj name="Equation" r:id="rId9" imgW="3530520" imgH="583920" progId="Equation.DSMT4">
                  <p:embed/>
                  <p:pic>
                    <p:nvPicPr>
                      <p:cNvPr id="5724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764698"/>
                        <a:ext cx="5538638" cy="916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3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163471"/>
              </p:ext>
            </p:extLst>
          </p:nvPr>
        </p:nvGraphicFramePr>
        <p:xfrm>
          <a:off x="937112" y="5847282"/>
          <a:ext cx="7108338" cy="55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6" name="Equation" r:id="rId11" imgW="4051080" imgH="317160" progId="Equation.DSMT4">
                  <p:embed/>
                </p:oleObj>
              </mc:Choice>
              <mc:Fallback>
                <p:oleObj name="Equation" r:id="rId11" imgW="4051080" imgH="317160" progId="Equation.DSMT4">
                  <p:embed/>
                  <p:pic>
                    <p:nvPicPr>
                      <p:cNvPr id="57243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112" y="5847282"/>
                        <a:ext cx="7108338" cy="553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36" name="Rectangle 20"/>
          <p:cNvSpPr>
            <a:spLocks noChangeArrowheads="1"/>
          </p:cNvSpPr>
          <p:nvPr/>
        </p:nvSpPr>
        <p:spPr bwMode="auto">
          <a:xfrm>
            <a:off x="406400" y="3124200"/>
            <a:ext cx="1076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</a:p>
        </p:txBody>
      </p:sp>
      <p:sp>
        <p:nvSpPr>
          <p:cNvPr id="39946" name="Rectangle 21"/>
          <p:cNvSpPr>
            <a:spLocks noChangeArrowheads="1"/>
          </p:cNvSpPr>
          <p:nvPr/>
        </p:nvSpPr>
        <p:spPr bwMode="auto">
          <a:xfrm>
            <a:off x="176213" y="157163"/>
            <a:ext cx="1647825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Arial" charset="0"/>
                <a:ea typeface="楷体_GB2312" pitchFamily="49" charset="-122"/>
              </a:rPr>
              <a:t>Example</a:t>
            </a:r>
          </a:p>
        </p:txBody>
      </p:sp>
      <p:pic>
        <p:nvPicPr>
          <p:cNvPr id="39947" name="Picture 2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79400" y="1047750"/>
            <a:ext cx="4876800" cy="1958975"/>
          </a:xfrm>
          <a:prstGeom prst="rect">
            <a:avLst/>
          </a:prstGeom>
          <a:solidFill>
            <a:schemeClr val="bg1"/>
          </a:solidFill>
          <a:ln w="9525">
            <a:solidFill>
              <a:srgbClr val="3399FF"/>
            </a:solidFill>
            <a:miter lim="800000"/>
            <a:headEnd/>
            <a:tailEnd/>
          </a:ln>
        </p:spPr>
      </p:pic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20DE7AC-7FF8-4653-857E-2A0215812BC2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583208" y="1237218"/>
            <a:ext cx="5076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56225" y="1046163"/>
            <a:ext cx="3622675" cy="1970087"/>
            <a:chOff x="5356225" y="1046163"/>
            <a:chExt cx="3622675" cy="1970087"/>
          </a:xfrm>
        </p:grpSpPr>
        <p:pic>
          <p:nvPicPr>
            <p:cNvPr id="572439" name="Picture 23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5356225" y="1046163"/>
              <a:ext cx="3622675" cy="1970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3399FF"/>
              </a:solidFill>
              <a:miter lim="800000"/>
              <a:headEnd/>
              <a:tailEnd/>
            </a:ln>
          </p:spPr>
        </p:pic>
        <p:graphicFrame>
          <p:nvGraphicFramePr>
            <p:cNvPr id="1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9740158"/>
                </p:ext>
              </p:extLst>
            </p:nvPr>
          </p:nvGraphicFramePr>
          <p:xfrm>
            <a:off x="8091107" y="1754981"/>
            <a:ext cx="407406" cy="681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117" name="Equation" r:id="rId15" imgW="304560" imgH="507960" progId="Equation.DSMT4">
                    <p:embed/>
                  </p:oleObj>
                </mc:Choice>
                <mc:Fallback>
                  <p:oleObj name="Equation" r:id="rId15" imgW="304560" imgH="507960" progId="Equation.DSMT4">
                    <p:embed/>
                    <p:pic>
                      <p:nvPicPr>
                        <p:cNvPr id="571402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91107" y="1754981"/>
                          <a:ext cx="407406" cy="68103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6443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30" grpId="0" autoUpdateAnimBg="0"/>
      <p:bldP spid="572436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0" name="Rectangle 2"/>
          <p:cNvSpPr>
            <a:spLocks noChangeArrowheads="1"/>
          </p:cNvSpPr>
          <p:nvPr/>
        </p:nvSpPr>
        <p:spPr bwMode="auto">
          <a:xfrm>
            <a:off x="163513" y="169863"/>
            <a:ext cx="1665287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>
                <a:latin typeface="Arial" charset="0"/>
                <a:ea typeface="楷体_GB2312" pitchFamily="49" charset="-122"/>
              </a:rPr>
              <a:t>Example </a:t>
            </a:r>
          </a:p>
        </p:txBody>
      </p:sp>
      <p:sp>
        <p:nvSpPr>
          <p:cNvPr id="40972" name="Text Box 7"/>
          <p:cNvSpPr txBox="1">
            <a:spLocks noChangeArrowheads="1"/>
          </p:cNvSpPr>
          <p:nvPr/>
        </p:nvSpPr>
        <p:spPr bwMode="auto">
          <a:xfrm>
            <a:off x="179512" y="642938"/>
            <a:ext cx="377190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power absorbed by 10Ω resistor.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120V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maximal amplitude of 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voltage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source.</a:t>
            </a:r>
          </a:p>
        </p:txBody>
      </p:sp>
      <p:sp>
        <p:nvSpPr>
          <p:cNvPr id="574472" name="Text Box 8"/>
          <p:cNvSpPr txBox="1">
            <a:spLocks noChangeArrowheads="1"/>
          </p:cNvSpPr>
          <p:nvPr/>
        </p:nvSpPr>
        <p:spPr bwMode="auto">
          <a:xfrm>
            <a:off x="285750" y="2286000"/>
            <a:ext cx="3321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Mesh equation:</a:t>
            </a:r>
          </a:p>
        </p:txBody>
      </p:sp>
      <p:graphicFrame>
        <p:nvGraphicFramePr>
          <p:cNvPr id="574473" name="Object 9"/>
          <p:cNvGraphicFramePr>
            <a:graphicFrameLocks noChangeAspect="1"/>
          </p:cNvGraphicFramePr>
          <p:nvPr/>
        </p:nvGraphicFramePr>
        <p:xfrm>
          <a:off x="214313" y="2786063"/>
          <a:ext cx="36576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58" name="Equation" r:id="rId3" imgW="1739880" imgH="228600" progId="Equation.3">
                  <p:embed/>
                </p:oleObj>
              </mc:Choice>
              <mc:Fallback>
                <p:oleObj name="Equation" r:id="rId3" imgW="1739880" imgH="228600" progId="Equation.3">
                  <p:embed/>
                  <p:pic>
                    <p:nvPicPr>
                      <p:cNvPr id="574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2786063"/>
                        <a:ext cx="36576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514256"/>
              </p:ext>
            </p:extLst>
          </p:nvPr>
        </p:nvGraphicFramePr>
        <p:xfrm>
          <a:off x="188913" y="3298825"/>
          <a:ext cx="32845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59" name="Equation" r:id="rId5" imgW="1562040" imgH="215640" progId="Equation.DSMT4">
                  <p:embed/>
                </p:oleObj>
              </mc:Choice>
              <mc:Fallback>
                <p:oleObj name="Equation" r:id="rId5" imgW="1562040" imgH="215640" progId="Equation.DSMT4">
                  <p:embed/>
                  <p:pic>
                    <p:nvPicPr>
                      <p:cNvPr id="574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13" y="3298825"/>
                        <a:ext cx="3284537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75" name="Object 11"/>
          <p:cNvGraphicFramePr>
            <a:graphicFrameLocks noChangeAspect="1"/>
          </p:cNvGraphicFramePr>
          <p:nvPr/>
        </p:nvGraphicFramePr>
        <p:xfrm>
          <a:off x="457200" y="3657600"/>
          <a:ext cx="14160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0" name="Equation" r:id="rId7" imgW="672840" imgH="393480" progId="Equation.3">
                  <p:embed/>
                </p:oleObj>
              </mc:Choice>
              <mc:Fallback>
                <p:oleObj name="Equation" r:id="rId7" imgW="672840" imgH="393480" progId="Equation.3">
                  <p:embed/>
                  <p:pic>
                    <p:nvPicPr>
                      <p:cNvPr id="574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57600"/>
                        <a:ext cx="1416050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76" name="Object 12"/>
          <p:cNvGraphicFramePr>
            <a:graphicFrameLocks noChangeAspect="1"/>
          </p:cNvGraphicFramePr>
          <p:nvPr/>
        </p:nvGraphicFramePr>
        <p:xfrm>
          <a:off x="457200" y="4572000"/>
          <a:ext cx="1371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1" name="Equation" r:id="rId9" imgW="583920" imgH="228600" progId="Equation.3">
                  <p:embed/>
                </p:oleObj>
              </mc:Choice>
              <mc:Fallback>
                <p:oleObj name="Equation" r:id="rId9" imgW="583920" imgH="228600" progId="Equation.3">
                  <p:embed/>
                  <p:pic>
                    <p:nvPicPr>
                      <p:cNvPr id="574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572000"/>
                        <a:ext cx="137160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477" name="AutoShape 13"/>
          <p:cNvSpPr>
            <a:spLocks/>
          </p:cNvSpPr>
          <p:nvPr/>
        </p:nvSpPr>
        <p:spPr bwMode="auto">
          <a:xfrm>
            <a:off x="1981200" y="3962400"/>
            <a:ext cx="457200" cy="914400"/>
          </a:xfrm>
          <a:prstGeom prst="righ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4478" name="Text Box 14"/>
          <p:cNvSpPr txBox="1">
            <a:spLocks noChangeArrowheads="1"/>
          </p:cNvSpPr>
          <p:nvPr/>
        </p:nvSpPr>
        <p:spPr bwMode="auto">
          <a:xfrm>
            <a:off x="2743200" y="4191000"/>
            <a:ext cx="5529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Substitute into mesh equations, </a:t>
            </a:r>
          </a:p>
        </p:txBody>
      </p:sp>
      <p:graphicFrame>
        <p:nvGraphicFramePr>
          <p:cNvPr id="574479" name="Object 15"/>
          <p:cNvGraphicFramePr>
            <a:graphicFrameLocks noChangeAspect="1"/>
          </p:cNvGraphicFramePr>
          <p:nvPr/>
        </p:nvGraphicFramePr>
        <p:xfrm>
          <a:off x="533400" y="5257800"/>
          <a:ext cx="24034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" name="Equation" r:id="rId11" imgW="1143000" imgH="228600" progId="Equation.3">
                  <p:embed/>
                </p:oleObj>
              </mc:Choice>
              <mc:Fallback>
                <p:oleObj name="Equation" r:id="rId11" imgW="1143000" imgH="228600" progId="Equation.3">
                  <p:embed/>
                  <p:pic>
                    <p:nvPicPr>
                      <p:cNvPr id="574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257800"/>
                        <a:ext cx="2403475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0" name="Object 16"/>
          <p:cNvGraphicFramePr>
            <a:graphicFrameLocks noChangeAspect="1"/>
          </p:cNvGraphicFramePr>
          <p:nvPr/>
        </p:nvGraphicFramePr>
        <p:xfrm>
          <a:off x="609600" y="5867400"/>
          <a:ext cx="25908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3" name="Equation" r:id="rId13" imgW="1231560" imgH="228600" progId="Equation.3">
                  <p:embed/>
                </p:oleObj>
              </mc:Choice>
              <mc:Fallback>
                <p:oleObj name="Equation" r:id="rId13" imgW="1231560" imgH="228600" progId="Equation.3">
                  <p:embed/>
                  <p:pic>
                    <p:nvPicPr>
                      <p:cNvPr id="5744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867400"/>
                        <a:ext cx="25908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1" name="Object 17"/>
          <p:cNvGraphicFramePr>
            <a:graphicFrameLocks noChangeAspect="1"/>
          </p:cNvGraphicFramePr>
          <p:nvPr/>
        </p:nvGraphicFramePr>
        <p:xfrm>
          <a:off x="4025900" y="5168900"/>
          <a:ext cx="35782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4" name="Equation" r:id="rId15" imgW="1523880" imgH="228600" progId="Equation.3">
                  <p:embed/>
                </p:oleObj>
              </mc:Choice>
              <mc:Fallback>
                <p:oleObj name="Equation" r:id="rId15" imgW="1523880" imgH="228600" progId="Equation.3">
                  <p:embed/>
                  <p:pic>
                    <p:nvPicPr>
                      <p:cNvPr id="5744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5168900"/>
                        <a:ext cx="35782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448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880897"/>
              </p:ext>
            </p:extLst>
          </p:nvPr>
        </p:nvGraphicFramePr>
        <p:xfrm>
          <a:off x="4013002" y="5690315"/>
          <a:ext cx="4032448" cy="835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5" name="Equation" r:id="rId17" imgW="2450880" imgH="507960" progId="Equation.DSMT4">
                  <p:embed/>
                </p:oleObj>
              </mc:Choice>
              <mc:Fallback>
                <p:oleObj name="Equation" r:id="rId17" imgW="2450880" imgH="507960" progId="Equation.DSMT4">
                  <p:embed/>
                  <p:pic>
                    <p:nvPicPr>
                      <p:cNvPr id="5744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002" y="5690315"/>
                        <a:ext cx="4032448" cy="83518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灯片编号占位符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941E7B7-2F49-46B7-8BD2-7191F08F75B6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25900" y="956137"/>
            <a:ext cx="4907700" cy="273471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6470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72" grpId="0" build="p" autoUpdateAnimBg="0"/>
      <p:bldP spid="574477" grpId="0" animBg="1"/>
      <p:bldP spid="574478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Autotransformer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B927DF-25F8-4266-A23B-5FAA5B51330C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8" name="Text Box 1026"/>
          <p:cNvSpPr txBox="1">
            <a:spLocks noChangeArrowheads="1"/>
          </p:cNvSpPr>
          <p:nvPr/>
        </p:nvSpPr>
        <p:spPr bwMode="auto">
          <a:xfrm>
            <a:off x="1754607" y="892143"/>
            <a:ext cx="493477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Find the input impedance </a:t>
            </a:r>
            <a:r>
              <a:rPr lang="en-US" altLang="zh-CN" sz="2800" i="1" dirty="0" err="1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Z</a:t>
            </a:r>
            <a:r>
              <a:rPr lang="en-US" altLang="zh-CN" sz="2800" baseline="-25000" dirty="0" err="1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. 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" name="Text Box 1028"/>
          <p:cNvSpPr txBox="1">
            <a:spLocks noChangeArrowheads="1"/>
          </p:cNvSpPr>
          <p:nvPr/>
        </p:nvSpPr>
        <p:spPr bwMode="auto">
          <a:xfrm>
            <a:off x="191967" y="1495691"/>
            <a:ext cx="12836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Given 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0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094096"/>
              </p:ext>
            </p:extLst>
          </p:nvPr>
        </p:nvGraphicFramePr>
        <p:xfrm>
          <a:off x="1476894" y="1548692"/>
          <a:ext cx="1822328" cy="496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2" name="Equation" r:id="rId3" imgW="777264" imgH="205848" progId="Equation.3">
                  <p:embed/>
                </p:oleObj>
              </mc:Choice>
              <mc:Fallback>
                <p:oleObj name="Equation" r:id="rId3" imgW="777264" imgH="205848" progId="Equation.3">
                  <p:embed/>
                  <p:pic>
                    <p:nvPicPr>
                      <p:cNvPr id="15364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894" y="1548692"/>
                        <a:ext cx="1822328" cy="496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251771"/>
              </p:ext>
            </p:extLst>
          </p:nvPr>
        </p:nvGraphicFramePr>
        <p:xfrm>
          <a:off x="3744578" y="1542887"/>
          <a:ext cx="1533674" cy="498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3" name="Equation" r:id="rId5" imgW="655425" imgH="205848" progId="Equation.3">
                  <p:embed/>
                </p:oleObj>
              </mc:Choice>
              <mc:Fallback>
                <p:oleObj name="Equation" r:id="rId5" imgW="655425" imgH="205848" progId="Equation.3">
                  <p:embed/>
                  <p:pic>
                    <p:nvPicPr>
                      <p:cNvPr id="15365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578" y="1542887"/>
                        <a:ext cx="1533674" cy="498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070638"/>
              </p:ext>
            </p:extLst>
          </p:nvPr>
        </p:nvGraphicFramePr>
        <p:xfrm>
          <a:off x="1498306" y="2099395"/>
          <a:ext cx="1548027" cy="493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4" name="Equation" r:id="rId7" imgW="888840" imgH="279360" progId="Equation.DSMT4">
                  <p:embed/>
                </p:oleObj>
              </mc:Choice>
              <mc:Fallback>
                <p:oleObj name="Equation" r:id="rId7" imgW="888840" imgH="279360" progId="Equation.DSMT4">
                  <p:embed/>
                  <p:pic>
                    <p:nvPicPr>
                      <p:cNvPr id="15366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306" y="2099395"/>
                        <a:ext cx="1548027" cy="493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4738"/>
              </p:ext>
            </p:extLst>
          </p:nvPr>
        </p:nvGraphicFramePr>
        <p:xfrm>
          <a:off x="3740957" y="2110346"/>
          <a:ext cx="1996777" cy="4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5" name="Equation" r:id="rId9" imgW="845744" imgH="198072" progId="Equation.3">
                  <p:embed/>
                </p:oleObj>
              </mc:Choice>
              <mc:Fallback>
                <p:oleObj name="Equation" r:id="rId9" imgW="845744" imgH="198072" progId="Equation.3">
                  <p:embed/>
                  <p:pic>
                    <p:nvPicPr>
                      <p:cNvPr id="15367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957" y="2110346"/>
                        <a:ext cx="1996777" cy="4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037"/>
          <p:cNvSpPr txBox="1">
            <a:spLocks noChangeArrowheads="1"/>
          </p:cNvSpPr>
          <p:nvPr/>
        </p:nvSpPr>
        <p:spPr bwMode="auto">
          <a:xfrm>
            <a:off x="1568646" y="2684203"/>
            <a:ext cx="4180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For autotransformer, </a:t>
            </a:r>
            <a:r>
              <a:rPr lang="en-US" altLang="zh-CN" sz="2800" i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=1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7" name="Object 10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821105"/>
              </p:ext>
            </p:extLst>
          </p:nvPr>
        </p:nvGraphicFramePr>
        <p:xfrm>
          <a:off x="852488" y="3411870"/>
          <a:ext cx="1703287" cy="1012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6" name="Equation" r:id="rId11" imgW="716344" imgH="426816" progId="Equation.3">
                  <p:embed/>
                </p:oleObj>
              </mc:Choice>
              <mc:Fallback>
                <p:oleObj name="Equation" r:id="rId11" imgW="716344" imgH="426816" progId="Equation.3">
                  <p:embed/>
                  <p:pic>
                    <p:nvPicPr>
                      <p:cNvPr id="12302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3411870"/>
                        <a:ext cx="1703287" cy="1012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541630"/>
              </p:ext>
            </p:extLst>
          </p:nvPr>
        </p:nvGraphicFramePr>
        <p:xfrm>
          <a:off x="3295924" y="3379666"/>
          <a:ext cx="1852140" cy="939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7" name="Equation" r:id="rId13" imgW="769703" imgH="388584" progId="Equation.3">
                  <p:embed/>
                </p:oleObj>
              </mc:Choice>
              <mc:Fallback>
                <p:oleObj name="Equation" r:id="rId13" imgW="769703" imgH="388584" progId="Equation.3">
                  <p:embed/>
                  <p:pic>
                    <p:nvPicPr>
                      <p:cNvPr id="12303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5924" y="3379666"/>
                        <a:ext cx="1852140" cy="939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809992"/>
              </p:ext>
            </p:extLst>
          </p:nvPr>
        </p:nvGraphicFramePr>
        <p:xfrm>
          <a:off x="1217199" y="4439631"/>
          <a:ext cx="2469357" cy="95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8" name="公式" r:id="rId15" imgW="1005820" imgH="388584" progId="Equation.3">
                  <p:embed/>
                </p:oleObj>
              </mc:Choice>
              <mc:Fallback>
                <p:oleObj name="公式" r:id="rId15" imgW="1005820" imgH="388584" progId="Equation.3">
                  <p:embed/>
                  <p:pic>
                    <p:nvPicPr>
                      <p:cNvPr id="12304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199" y="4439631"/>
                        <a:ext cx="2469357" cy="95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377919"/>
              </p:ext>
            </p:extLst>
          </p:nvPr>
        </p:nvGraphicFramePr>
        <p:xfrm>
          <a:off x="615950" y="5519538"/>
          <a:ext cx="4460106" cy="973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9" name="公式" r:id="rId17" imgW="1912699" imgH="411480" progId="Equation.3">
                  <p:embed/>
                </p:oleObj>
              </mc:Choice>
              <mc:Fallback>
                <p:oleObj name="公式" r:id="rId17" imgW="1912699" imgH="411480" progId="Equation.3">
                  <p:embed/>
                  <p:pic>
                    <p:nvPicPr>
                      <p:cNvPr id="12305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5519538"/>
                        <a:ext cx="4460106" cy="9734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1045"/>
          <p:cNvSpPr>
            <a:spLocks noChangeArrowheads="1"/>
          </p:cNvSpPr>
          <p:nvPr/>
        </p:nvSpPr>
        <p:spPr bwMode="auto">
          <a:xfrm>
            <a:off x="5626241" y="4058202"/>
            <a:ext cx="381000" cy="838200"/>
          </a:xfrm>
          <a:prstGeom prst="curvedRightArrow">
            <a:avLst>
              <a:gd name="adj1" fmla="val 44000"/>
              <a:gd name="adj2" fmla="val 88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1049"/>
          <p:cNvSpPr>
            <a:spLocks noChangeArrowheads="1"/>
          </p:cNvSpPr>
          <p:nvPr/>
        </p:nvSpPr>
        <p:spPr bwMode="auto">
          <a:xfrm>
            <a:off x="144858" y="915989"/>
            <a:ext cx="1535998" cy="46166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Example </a:t>
            </a:r>
            <a:endParaRPr lang="zh-CN" altLang="en-US" sz="2400" dirty="0">
              <a:solidFill>
                <a:srgbClr val="00206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3" name="Picture 2066" descr="cp1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04" y="859094"/>
            <a:ext cx="2041932" cy="1963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07504" y="2701897"/>
            <a:ext cx="1368152" cy="46166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Solution</a:t>
            </a:r>
            <a:endParaRPr 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03844" y="2890415"/>
            <a:ext cx="2201068" cy="213280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16492" y="5310318"/>
            <a:ext cx="2175771" cy="139187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071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379D22-F226-4975-994F-63C0B90972D6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183002" y="139256"/>
            <a:ext cx="10935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Find 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962368" y="943026"/>
            <a:ext cx="14670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1) Find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k</a:t>
            </a:r>
            <a:endParaRPr lang="zh-CN" altLang="en-US" sz="2400" i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1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80280"/>
              </p:ext>
            </p:extLst>
          </p:nvPr>
        </p:nvGraphicFramePr>
        <p:xfrm>
          <a:off x="590454" y="1379268"/>
          <a:ext cx="3535587" cy="80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8" name="Equation" r:id="rId3" imgW="2011639" imgH="449496" progId="Equation.3">
                  <p:embed/>
                </p:oleObj>
              </mc:Choice>
              <mc:Fallback>
                <p:oleObj name="Equation" r:id="rId3" imgW="2011639" imgH="449496" progId="Equation.3">
                  <p:embed/>
                  <p:pic>
                    <p:nvPicPr>
                      <p:cNvPr id="33795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54" y="1379268"/>
                        <a:ext cx="3535587" cy="8001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816289"/>
              </p:ext>
            </p:extLst>
          </p:nvPr>
        </p:nvGraphicFramePr>
        <p:xfrm>
          <a:off x="593918" y="2199863"/>
          <a:ext cx="3242320" cy="837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9" name="Equation" r:id="rId5" imgW="1722164" imgH="472392" progId="Equation.3">
                  <p:embed/>
                </p:oleObj>
              </mc:Choice>
              <mc:Fallback>
                <p:oleObj name="Equation" r:id="rId5" imgW="1722164" imgH="472392" progId="Equation.3">
                  <p:embed/>
                  <p:pic>
                    <p:nvPicPr>
                      <p:cNvPr id="33796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918" y="2199863"/>
                        <a:ext cx="3242320" cy="837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946558"/>
              </p:ext>
            </p:extLst>
          </p:nvPr>
        </p:nvGraphicFramePr>
        <p:xfrm>
          <a:off x="776631" y="4302354"/>
          <a:ext cx="1198563" cy="805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0" name="Equation" r:id="rId7" imgW="579167" imgH="388584" progId="Equation.3">
                  <p:embed/>
                </p:oleObj>
              </mc:Choice>
              <mc:Fallback>
                <p:oleObj name="Equation" r:id="rId7" imgW="579167" imgH="388584" progId="Equation.3">
                  <p:embed/>
                  <p:pic>
                    <p:nvPicPr>
                      <p:cNvPr id="33797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31" y="4302354"/>
                        <a:ext cx="1198563" cy="805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95536" y="3022408"/>
            <a:ext cx="43924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(2) Draw the equivalent circuit with ideal transformer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5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046111"/>
              </p:ext>
            </p:extLst>
          </p:nvPr>
        </p:nvGraphicFramePr>
        <p:xfrm>
          <a:off x="2310156" y="4404663"/>
          <a:ext cx="2238560" cy="50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1" name="Equation" r:id="rId9" imgW="1043840" imgH="236304" progId="Equation.3">
                  <p:embed/>
                </p:oleObj>
              </mc:Choice>
              <mc:Fallback>
                <p:oleObj name="Equation" r:id="rId9" imgW="1043840" imgH="236304" progId="Equation.3">
                  <p:embed/>
                  <p:pic>
                    <p:nvPicPr>
                      <p:cNvPr id="33798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0156" y="4404663"/>
                        <a:ext cx="2238560" cy="508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943033"/>
              </p:ext>
            </p:extLst>
          </p:nvPr>
        </p:nvGraphicFramePr>
        <p:xfrm>
          <a:off x="777875" y="5091598"/>
          <a:ext cx="3525838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2" name="公式" r:id="rId11" imgW="1668805" imgH="411480" progId="Equation.3">
                  <p:embed/>
                </p:oleObj>
              </mc:Choice>
              <mc:Fallback>
                <p:oleObj name="公式" r:id="rId11" imgW="1668805" imgH="411480" progId="Equation.3">
                  <p:embed/>
                  <p:pic>
                    <p:nvPicPr>
                      <p:cNvPr id="33799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5091598"/>
                        <a:ext cx="3525838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986672"/>
              </p:ext>
            </p:extLst>
          </p:nvPr>
        </p:nvGraphicFramePr>
        <p:xfrm>
          <a:off x="813088" y="6095174"/>
          <a:ext cx="22098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3" name="Equation" r:id="rId13" imgW="1021158" imgH="236304" progId="Equation.3">
                  <p:embed/>
                </p:oleObj>
              </mc:Choice>
              <mc:Fallback>
                <p:oleObj name="Equation" r:id="rId13" imgW="1021158" imgH="236304" progId="Equation.3">
                  <p:embed/>
                  <p:pic>
                    <p:nvPicPr>
                      <p:cNvPr id="3380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088" y="6095174"/>
                        <a:ext cx="22098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224941"/>
              </p:ext>
            </p:extLst>
          </p:nvPr>
        </p:nvGraphicFramePr>
        <p:xfrm>
          <a:off x="4648200" y="4958357"/>
          <a:ext cx="3685823" cy="1261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4" name="Equation" r:id="rId15" imgW="2463480" imgH="838080" progId="Equation.DSMT4">
                  <p:embed/>
                </p:oleObj>
              </mc:Choice>
              <mc:Fallback>
                <p:oleObj name="Equation" r:id="rId15" imgW="2463480" imgH="838080" progId="Equation.DSMT4">
                  <p:embed/>
                  <p:pic>
                    <p:nvPicPr>
                      <p:cNvPr id="33801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958357"/>
                        <a:ext cx="3685823" cy="1261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0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13289"/>
              </p:ext>
            </p:extLst>
          </p:nvPr>
        </p:nvGraphicFramePr>
        <p:xfrm>
          <a:off x="4660032" y="6292371"/>
          <a:ext cx="3024336" cy="513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5" name="Equation" r:id="rId17" imgW="1892160" imgH="317160" progId="Equation.DSMT4">
                  <p:embed/>
                </p:oleObj>
              </mc:Choice>
              <mc:Fallback>
                <p:oleObj name="Equation" r:id="rId17" imgW="1892160" imgH="317160" progId="Equation.DSMT4">
                  <p:embed/>
                  <p:pic>
                    <p:nvPicPr>
                      <p:cNvPr id="33802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032" y="6292371"/>
                        <a:ext cx="3024336" cy="513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21"/>
          <p:cNvSpPr>
            <a:spLocks noChangeArrowheads="1"/>
          </p:cNvSpPr>
          <p:nvPr/>
        </p:nvSpPr>
        <p:spPr bwMode="auto">
          <a:xfrm>
            <a:off x="4648200" y="1524000"/>
            <a:ext cx="381000" cy="685800"/>
          </a:xfrm>
          <a:prstGeom prst="curvedRightArrow">
            <a:avLst>
              <a:gd name="adj1" fmla="val 36000"/>
              <a:gd name="adj2" fmla="val 7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AutoShape 22"/>
          <p:cNvSpPr>
            <a:spLocks noChangeArrowheads="1"/>
          </p:cNvSpPr>
          <p:nvPr/>
        </p:nvSpPr>
        <p:spPr bwMode="auto">
          <a:xfrm>
            <a:off x="5695952" y="4191204"/>
            <a:ext cx="381000" cy="685800"/>
          </a:xfrm>
          <a:prstGeom prst="curvedRightArrow">
            <a:avLst>
              <a:gd name="adj1" fmla="val 36000"/>
              <a:gd name="adj2" fmla="val 7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AutoShape 23"/>
          <p:cNvSpPr>
            <a:spLocks noChangeArrowheads="1"/>
          </p:cNvSpPr>
          <p:nvPr/>
        </p:nvSpPr>
        <p:spPr bwMode="auto">
          <a:xfrm flipH="1">
            <a:off x="3138775" y="5805318"/>
            <a:ext cx="228600" cy="457200"/>
          </a:xfrm>
          <a:prstGeom prst="curvedRightArrow">
            <a:avLst>
              <a:gd name="adj1" fmla="val 40000"/>
              <a:gd name="adj2" fmla="val 8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533400" y="152400"/>
            <a:ext cx="1590328" cy="46166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Example </a:t>
            </a:r>
            <a:endParaRPr lang="en-US" altLang="zh-CN" sz="2400" dirty="0">
              <a:solidFill>
                <a:srgbClr val="00206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24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634832"/>
              </p:ext>
            </p:extLst>
          </p:nvPr>
        </p:nvGraphicFramePr>
        <p:xfrm>
          <a:off x="3184525" y="152400"/>
          <a:ext cx="2539603" cy="497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6" name="Equation" r:id="rId19" imgW="1562040" imgH="304560" progId="Equation.DSMT4">
                  <p:embed/>
                </p:oleObj>
              </mc:Choice>
              <mc:Fallback>
                <p:oleObj name="Equation" r:id="rId19" imgW="1562040" imgH="304560" progId="Equation.DSMT4">
                  <p:embed/>
                  <p:pic>
                    <p:nvPicPr>
                      <p:cNvPr id="15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152400"/>
                        <a:ext cx="2539603" cy="4974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342900" y="905520"/>
            <a:ext cx="1368152" cy="46166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Solution</a:t>
            </a:r>
            <a:endParaRPr lang="en-US" b="1" dirty="0"/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402540" y="3850786"/>
            <a:ext cx="53054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(3)Draw the primary equivalent circuit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15562" y="830428"/>
            <a:ext cx="3693803" cy="13490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37174" y="3848660"/>
            <a:ext cx="2681441" cy="140672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8" name="文本框 37"/>
          <p:cNvSpPr txBox="1"/>
          <p:nvPr/>
        </p:nvSpPr>
        <p:spPr>
          <a:xfrm>
            <a:off x="8454863" y="1170439"/>
            <a:ext cx="461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 smtClean="0">
                <a:latin typeface="+mn-lt"/>
              </a:rPr>
              <a:t>R</a:t>
            </a:r>
            <a:r>
              <a:rPr lang="en-US" altLang="zh-CN" sz="1600" baseline="-25000" dirty="0" smtClean="0">
                <a:latin typeface="+mn-lt"/>
              </a:rPr>
              <a:t>L</a:t>
            </a:r>
            <a:endParaRPr lang="zh-CN" altLang="en-US" sz="1600" baseline="-25000" dirty="0">
              <a:latin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20072" y="2304584"/>
            <a:ext cx="3712614" cy="1435647"/>
            <a:chOff x="5283668" y="2304584"/>
            <a:chExt cx="3712614" cy="1435647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283668" y="2304584"/>
              <a:ext cx="3712614" cy="143564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2" name="矩形 1"/>
            <p:cNvSpPr/>
            <p:nvPr/>
          </p:nvSpPr>
          <p:spPr bwMode="auto">
            <a:xfrm>
              <a:off x="7740352" y="3036932"/>
              <a:ext cx="288032" cy="24805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华文新魏" pitchFamily="2" charset="-122"/>
                <a:ea typeface="华文新魏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08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4" grpId="0" autoUpdateAnimBg="0"/>
      <p:bldP spid="20" grpId="0" animBg="1"/>
      <p:bldP spid="21" grpId="0" animBg="1"/>
      <p:bldP spid="22" grpId="0" animBg="1"/>
      <p:bldP spid="2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379D22-F226-4975-994F-63C0B90972D6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  <p:graphicFrame>
        <p:nvGraphicFramePr>
          <p:cNvPr id="9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388687"/>
              </p:ext>
            </p:extLst>
          </p:nvPr>
        </p:nvGraphicFramePr>
        <p:xfrm>
          <a:off x="971600" y="1293018"/>
          <a:ext cx="30194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0" name="公式" r:id="rId3" imgW="1341093" imgH="434376" progId="Equation.3">
                  <p:embed/>
                </p:oleObj>
              </mc:Choice>
              <mc:Fallback>
                <p:oleObj name="公式" r:id="rId3" imgW="1341093" imgH="434376" progId="Equation.3">
                  <p:embed/>
                  <p:pic>
                    <p:nvPicPr>
                      <p:cNvPr id="34818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293018"/>
                        <a:ext cx="30194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507824"/>
              </p:ext>
            </p:extLst>
          </p:nvPr>
        </p:nvGraphicFramePr>
        <p:xfrm>
          <a:off x="1087595" y="2688214"/>
          <a:ext cx="2538961" cy="107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1" name="Equation" r:id="rId5" imgW="1511280" imgH="634680" progId="Equation.DSMT4">
                  <p:embed/>
                </p:oleObj>
              </mc:Choice>
              <mc:Fallback>
                <p:oleObj name="Equation" r:id="rId5" imgW="1511280" imgH="634680" progId="Equation.DSMT4">
                  <p:embed/>
                  <p:pic>
                    <p:nvPicPr>
                      <p:cNvPr id="34819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595" y="2688214"/>
                        <a:ext cx="2538961" cy="1070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175456"/>
              </p:ext>
            </p:extLst>
          </p:nvPr>
        </p:nvGraphicFramePr>
        <p:xfrm>
          <a:off x="1087595" y="3922796"/>
          <a:ext cx="26289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2" name="公式" r:id="rId7" imgW="1120098" imgH="701136" progId="Equation.3">
                  <p:embed/>
                </p:oleObj>
              </mc:Choice>
              <mc:Fallback>
                <p:oleObj name="公式" r:id="rId7" imgW="1120098" imgH="701136" progId="Equation.3">
                  <p:embed/>
                  <p:pic>
                    <p:nvPicPr>
                      <p:cNvPr id="3482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595" y="3922796"/>
                        <a:ext cx="2628900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690799"/>
              </p:ext>
            </p:extLst>
          </p:nvPr>
        </p:nvGraphicFramePr>
        <p:xfrm>
          <a:off x="1187624" y="5825634"/>
          <a:ext cx="3263637" cy="57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3" name="Equation" r:id="rId9" imgW="2070000" imgH="317160" progId="Equation.DSMT4">
                  <p:embed/>
                </p:oleObj>
              </mc:Choice>
              <mc:Fallback>
                <p:oleObj name="Equation" r:id="rId9" imgW="2070000" imgH="317160" progId="Equation.DSMT4">
                  <p:embed/>
                  <p:pic>
                    <p:nvPicPr>
                      <p:cNvPr id="3482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825634"/>
                        <a:ext cx="3263637" cy="57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7504" y="183218"/>
            <a:ext cx="67473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 smtClean="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Alternative method</a:t>
            </a:r>
            <a:r>
              <a:rPr lang="zh-CN" altLang="en-US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28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Reflected Impedance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6367" y="2407262"/>
            <a:ext cx="2261389" cy="1896764"/>
            <a:chOff x="5696367" y="2407262"/>
            <a:chExt cx="2261389" cy="189676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96367" y="2407262"/>
              <a:ext cx="2261389" cy="1896764"/>
            </a:xfrm>
            <a:prstGeom prst="rect">
              <a:avLst/>
            </a:prstGeom>
            <a:solidFill>
              <a:schemeClr val="bg1"/>
            </a:solidFill>
          </p:spPr>
        </p:pic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3642632"/>
                </p:ext>
              </p:extLst>
            </p:nvPr>
          </p:nvGraphicFramePr>
          <p:xfrm>
            <a:off x="5940152" y="2899594"/>
            <a:ext cx="288032" cy="456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34" name="Equation" r:id="rId12" imgW="152280" imgH="241200" progId="Equation.DSMT4">
                    <p:embed/>
                  </p:oleObj>
                </mc:Choice>
                <mc:Fallback>
                  <p:oleObj name="Equation" r:id="rId12" imgW="1522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940152" y="2899594"/>
                          <a:ext cx="288032" cy="4560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6328325" y="4506424"/>
            <a:ext cx="1844075" cy="2121653"/>
            <a:chOff x="5957290" y="3931355"/>
            <a:chExt cx="2028177" cy="2330153"/>
          </a:xfrm>
          <a:solidFill>
            <a:schemeClr val="bg1"/>
          </a:solidFill>
        </p:grpSpPr>
        <p:sp>
          <p:nvSpPr>
            <p:cNvPr id="15" name="文本框 14"/>
            <p:cNvSpPr txBox="1"/>
            <p:nvPr/>
          </p:nvSpPr>
          <p:spPr>
            <a:xfrm>
              <a:off x="7524328" y="4581128"/>
              <a:ext cx="461139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smtClean="0">
                  <a:latin typeface="+mn-lt"/>
                </a:rPr>
                <a:t>R</a:t>
              </a:r>
              <a:r>
                <a:rPr lang="en-US" altLang="zh-CN" sz="2000" baseline="-25000" dirty="0" smtClean="0">
                  <a:latin typeface="+mn-lt"/>
                </a:rPr>
                <a:t>L</a:t>
              </a:r>
              <a:endParaRPr lang="zh-CN" altLang="en-US" sz="2000" baseline="-25000" dirty="0">
                <a:latin typeface="+mn-lt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57290" y="3931355"/>
              <a:ext cx="2028177" cy="2330153"/>
            </a:xfrm>
            <a:prstGeom prst="rect">
              <a:avLst/>
            </a:prstGeom>
            <a:grpFill/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55218" y="830429"/>
            <a:ext cx="3987729" cy="145636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7957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379D22-F226-4975-994F-63C0B90972D6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03238" y="220663"/>
            <a:ext cx="1451038" cy="46166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ea typeface="华文中宋" panose="02010600040101010101" pitchFamily="2" charset="-122"/>
                <a:cs typeface="Arial" panose="020B0604020202020204" pitchFamily="34" charset="0"/>
              </a:rPr>
              <a:t>Example</a:t>
            </a:r>
            <a:endParaRPr lang="en-US" altLang="zh-CN" sz="2400" dirty="0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-36512" y="872828"/>
            <a:ext cx="24711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Find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Z</a:t>
            </a:r>
            <a:r>
              <a:rPr lang="en-US" altLang="zh-CN" sz="2400" baseline="-250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zh-CN" altLang="en-US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？</a:t>
            </a:r>
            <a:r>
              <a:rPr lang="en-US" altLang="zh-CN" sz="2400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P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Lmax</a:t>
            </a:r>
            <a:endParaRPr lang="en-US" altLang="zh-CN" sz="2400" dirty="0" smtClean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i="1" dirty="0" err="1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P</a:t>
            </a:r>
            <a:r>
              <a:rPr lang="en-US" altLang="zh-CN" sz="2400" baseline="-25000" dirty="0" err="1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Lmax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=?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534456" y="1984375"/>
            <a:ext cx="37425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Find </a:t>
            </a:r>
            <a:r>
              <a:rPr lang="en-US" altLang="zh-CN" sz="2400" dirty="0" err="1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Thevinin</a:t>
            </a:r>
            <a:r>
              <a:rPr lang="en-US" altLang="zh-CN" sz="2400" dirty="0" smtClean="0">
                <a:latin typeface="Times New Roman" panose="02020603050405020304" pitchFamily="18" charset="0"/>
                <a:ea typeface="华文中宋" panose="02010600040101010101" pitchFamily="2" charset="-122"/>
              </a:rPr>
              <a:t> equivalence 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435249"/>
              </p:ext>
            </p:extLst>
          </p:nvPr>
        </p:nvGraphicFramePr>
        <p:xfrm>
          <a:off x="341313" y="2481263"/>
          <a:ext cx="45577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6" name="Equation" r:id="rId3" imgW="2145960" imgH="419040" progId="Equation.DSMT4">
                  <p:embed/>
                </p:oleObj>
              </mc:Choice>
              <mc:Fallback>
                <p:oleObj name="Equation" r:id="rId3" imgW="2145960" imgH="419040" progId="Equation.DSMT4">
                  <p:embed/>
                  <p:pic>
                    <p:nvPicPr>
                      <p:cNvPr id="19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3" y="2481263"/>
                        <a:ext cx="45577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76704"/>
              </p:ext>
            </p:extLst>
          </p:nvPr>
        </p:nvGraphicFramePr>
        <p:xfrm>
          <a:off x="261938" y="3362325"/>
          <a:ext cx="444658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7" name="Equation" r:id="rId5" imgW="2031840" imgH="419040" progId="Equation.DSMT4">
                  <p:embed/>
                </p:oleObj>
              </mc:Choice>
              <mc:Fallback>
                <p:oleObj name="Equation" r:id="rId5" imgW="2031840" imgH="419040" progId="Equation.DSMT4">
                  <p:embed/>
                  <p:pic>
                    <p:nvPicPr>
                      <p:cNvPr id="194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8" y="3362325"/>
                        <a:ext cx="444658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47380"/>
              </p:ext>
            </p:extLst>
          </p:nvPr>
        </p:nvGraphicFramePr>
        <p:xfrm>
          <a:off x="304800" y="4327525"/>
          <a:ext cx="49815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8" name="Equation" r:id="rId7" imgW="3035160" imgH="583920" progId="Equation.DSMT4">
                  <p:embed/>
                </p:oleObj>
              </mc:Choice>
              <mc:Fallback>
                <p:oleObj name="Equation" r:id="rId7" imgW="3035160" imgH="583920" progId="Equation.DSMT4">
                  <p:embed/>
                  <p:pic>
                    <p:nvPicPr>
                      <p:cNvPr id="194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327525"/>
                        <a:ext cx="49815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270869"/>
              </p:ext>
            </p:extLst>
          </p:nvPr>
        </p:nvGraphicFramePr>
        <p:xfrm>
          <a:off x="261938" y="5387975"/>
          <a:ext cx="52038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9" name="Equation" r:id="rId9" imgW="3073320" imgH="583920" progId="Equation.DSMT4">
                  <p:embed/>
                </p:oleObj>
              </mc:Choice>
              <mc:Fallback>
                <p:oleObj name="Equation" r:id="rId9" imgW="3073320" imgH="583920" progId="Equation.DSMT4">
                  <p:embed/>
                  <p:pic>
                    <p:nvPicPr>
                      <p:cNvPr id="194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8" y="5387975"/>
                        <a:ext cx="520382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610987"/>
              </p:ext>
            </p:extLst>
          </p:nvPr>
        </p:nvGraphicFramePr>
        <p:xfrm>
          <a:off x="5439765" y="4974932"/>
          <a:ext cx="3646095" cy="412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0" name="Equation" r:id="rId11" imgW="2450880" imgH="279360" progId="Equation.DSMT4">
                  <p:embed/>
                </p:oleObj>
              </mc:Choice>
              <mc:Fallback>
                <p:oleObj name="Equation" r:id="rId11" imgW="2450880" imgH="279360" progId="Equation.DSMT4">
                  <p:embed/>
                  <p:pic>
                    <p:nvPicPr>
                      <p:cNvPr id="194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765" y="4974932"/>
                        <a:ext cx="3646095" cy="412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985653"/>
              </p:ext>
            </p:extLst>
          </p:nvPr>
        </p:nvGraphicFramePr>
        <p:xfrm>
          <a:off x="5557579" y="5473958"/>
          <a:ext cx="3483297" cy="84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1" name="Equation" r:id="rId13" imgW="2209680" imgH="533160" progId="Equation.DSMT4">
                  <p:embed/>
                </p:oleObj>
              </mc:Choice>
              <mc:Fallback>
                <p:oleObj name="Equation" r:id="rId13" imgW="2209680" imgH="533160" progId="Equation.DSMT4">
                  <p:embed/>
                  <p:pic>
                    <p:nvPicPr>
                      <p:cNvPr id="194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579" y="5473958"/>
                        <a:ext cx="3483297" cy="84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4"/>
          <p:cNvSpPr>
            <a:spLocks noChangeArrowheads="1"/>
          </p:cNvSpPr>
          <p:nvPr/>
        </p:nvSpPr>
        <p:spPr bwMode="auto">
          <a:xfrm>
            <a:off x="5586413" y="1793140"/>
            <a:ext cx="914400" cy="304800"/>
          </a:xfrm>
          <a:prstGeom prst="curvedUpArrow">
            <a:avLst>
              <a:gd name="adj1" fmla="val 60000"/>
              <a:gd name="adj2" fmla="val 12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AutoShape 15"/>
          <p:cNvSpPr>
            <a:spLocks noChangeArrowheads="1"/>
          </p:cNvSpPr>
          <p:nvPr/>
        </p:nvSpPr>
        <p:spPr bwMode="auto">
          <a:xfrm>
            <a:off x="6310313" y="1950740"/>
            <a:ext cx="381000" cy="990600"/>
          </a:xfrm>
          <a:prstGeom prst="curvedRightArrow">
            <a:avLst>
              <a:gd name="adj1" fmla="val 52000"/>
              <a:gd name="adj2" fmla="val 104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ts val="1300"/>
              </a:spcBef>
              <a:spcAft>
                <a:spcPts val="1300"/>
              </a:spcAft>
              <a:buChar char="•"/>
              <a:defRPr kumimoji="1"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8064" y="1930192"/>
            <a:ext cx="1368152" cy="461665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Solution</a:t>
            </a:r>
            <a:endParaRPr 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46560" y="386894"/>
            <a:ext cx="3811353" cy="142126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2245" y="401832"/>
            <a:ext cx="2825879" cy="131955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93089" y="2015405"/>
            <a:ext cx="1711359" cy="226317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文本框 1"/>
          <p:cNvSpPr txBox="1"/>
          <p:nvPr/>
        </p:nvSpPr>
        <p:spPr>
          <a:xfrm>
            <a:off x="2346560" y="95174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Vrms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0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D92D61-4651-4582-A140-81AE8B40E0C9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686502"/>
              </p:ext>
            </p:extLst>
          </p:nvPr>
        </p:nvGraphicFramePr>
        <p:xfrm>
          <a:off x="2483768" y="1032958"/>
          <a:ext cx="4320480" cy="5000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9" name="Equation" r:id="rId3" imgW="2260440" imgH="2616120" progId="Equation.DSMT4">
                  <p:embed/>
                </p:oleObj>
              </mc:Choice>
              <mc:Fallback>
                <p:oleObj name="Equation" r:id="rId3" imgW="2260440" imgH="2616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1032958"/>
                        <a:ext cx="4320480" cy="5000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260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65ACF-87F7-4189-BE04-2E92143F59DE}" type="slidenum">
              <a:rPr lang="en-US" altLang="zh-CN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41300" y="1168400"/>
            <a:ext cx="845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/>
              <a:t>If loss is not 0, there is R.</a:t>
            </a:r>
            <a:endParaRPr lang="zh-CN" altLang="en-US" b="1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1900" y="2857500"/>
            <a:ext cx="6400800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241300" y="1778000"/>
            <a:ext cx="8458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/>
              <a:t>If </a:t>
            </a:r>
            <a:r>
              <a:rPr lang="en-US" altLang="zh-CN" b="1" smtClean="0"/>
              <a:t>it works </a:t>
            </a:r>
            <a:r>
              <a:rPr lang="en-US" altLang="zh-CN" b="1" dirty="0" smtClean="0"/>
              <a:t>at </a:t>
            </a:r>
            <a:r>
              <a:rPr lang="en-US" altLang="zh-CN" b="1" dirty="0"/>
              <a:t>high </a:t>
            </a:r>
            <a:r>
              <a:rPr lang="en-US" altLang="zh-CN" b="1" dirty="0" smtClean="0"/>
              <a:t>frequency, </a:t>
            </a:r>
            <a:r>
              <a:rPr lang="en-US" altLang="zh-CN" b="1" dirty="0"/>
              <a:t>there is  C.</a:t>
            </a:r>
            <a:endParaRPr lang="zh-CN" altLang="en-US" b="1" dirty="0"/>
          </a:p>
        </p:txBody>
      </p:sp>
      <p:sp>
        <p:nvSpPr>
          <p:cNvPr id="768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/>
              <a:t>Real transformer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92250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7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F07EDF5-764B-4C1D-948E-E51A1075DA6A}" type="slidenum">
              <a:rPr lang="en-US" altLang="zh-CN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71684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Homework</a:t>
            </a:r>
            <a:endParaRPr lang="zh-CN" altLang="en-US" sz="3200"/>
          </a:p>
        </p:txBody>
      </p:sp>
      <p:sp>
        <p:nvSpPr>
          <p:cNvPr id="71685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611188" y="836613"/>
            <a:ext cx="8281987" cy="4968875"/>
          </a:xfrm>
        </p:spPr>
        <p:txBody>
          <a:bodyPr/>
          <a:lstStyle/>
          <a:p>
            <a:endParaRPr lang="en-US" altLang="zh-CN" b="1"/>
          </a:p>
          <a:p>
            <a:r>
              <a:rPr lang="en-US" altLang="zh-CN" sz="3600" b="1"/>
              <a:t>5.12, 5.13, 5.17, 5.19</a:t>
            </a:r>
            <a:endParaRPr lang="en-US" altLang="zh-CN" sz="3600"/>
          </a:p>
        </p:txBody>
      </p:sp>
    </p:spTree>
    <p:extLst>
      <p:ext uri="{BB962C8B-B14F-4D97-AF65-F5344CB8AC3E}">
        <p14:creationId xmlns:p14="http://schemas.microsoft.com/office/powerpoint/2010/main" val="158814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电路课程">
  <a:themeElements>
    <a:clrScheme name="电路课程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电路课程">
      <a:majorFont>
        <a:latin typeface="Times New Roman"/>
        <a:ea typeface="楷体_GB2312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华文新魏" pitchFamily="2" charset="-122"/>
            <a:ea typeface="华文新魏" pitchFamily="2" charset="-122"/>
          </a:defRPr>
        </a:defPPr>
      </a:lstStyle>
    </a:lnDef>
  </a:objectDefaults>
  <a:extraClrSchemeLst>
    <a:extraClrScheme>
      <a:clrScheme name="电路课程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电路课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电路课程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电路课程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电路课程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电路课程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电路课程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21858</TotalTime>
  <Words>1706</Words>
  <Application>Microsoft Office PowerPoint</Application>
  <PresentationFormat>全屏显示(4:3)</PresentationFormat>
  <Paragraphs>417</Paragraphs>
  <Slides>60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72" baseType="lpstr">
      <vt:lpstr>华文新魏</vt:lpstr>
      <vt:lpstr>华文中宋</vt:lpstr>
      <vt:lpstr>楷体_GB2312</vt:lpstr>
      <vt:lpstr>宋体</vt:lpstr>
      <vt:lpstr>Arial</vt:lpstr>
      <vt:lpstr>Symbol</vt:lpstr>
      <vt:lpstr>Times New Roman</vt:lpstr>
      <vt:lpstr>Wingdings</vt:lpstr>
      <vt:lpstr>电路课程</vt:lpstr>
      <vt:lpstr>Equation</vt:lpstr>
      <vt:lpstr>公式</vt:lpstr>
      <vt:lpstr>MathType 6.0 Equation</vt:lpstr>
      <vt:lpstr> Magnetically Coupled Circuits </vt:lpstr>
      <vt:lpstr>Disciplines applying EM           EM devices</vt:lpstr>
      <vt:lpstr>Outline </vt:lpstr>
      <vt:lpstr>            Mutual Inductance </vt:lpstr>
      <vt:lpstr>Recap of Self Inductance </vt:lpstr>
      <vt:lpstr>Recap of Self Inductance </vt:lpstr>
      <vt:lpstr>Mutual Inductance </vt:lpstr>
      <vt:lpstr>Mutual Inductance </vt:lpstr>
      <vt:lpstr>Mutual Inductance </vt:lpstr>
      <vt:lpstr>Polarity of Mutual Voltage </vt:lpstr>
      <vt:lpstr>Polarity of Mutual Voltage </vt:lpstr>
      <vt:lpstr>Dot Convention</vt:lpstr>
      <vt:lpstr>Dot Convention</vt:lpstr>
      <vt:lpstr>Dot Convention </vt:lpstr>
      <vt:lpstr>Dot Convention </vt:lpstr>
      <vt:lpstr>Dot Convention </vt:lpstr>
      <vt:lpstr>Mutual Inductance in phasor Form</vt:lpstr>
      <vt:lpstr>Model of Mutual Inductance in phasor Form </vt:lpstr>
      <vt:lpstr>Model of Mutual Inductance in phasor Form </vt:lpstr>
      <vt:lpstr>Homework</vt:lpstr>
      <vt:lpstr>Connections of coupled inductors</vt:lpstr>
      <vt:lpstr>Connections of coupled inductors</vt:lpstr>
      <vt:lpstr>The Coupling Coefficient </vt:lpstr>
      <vt:lpstr>Energy Considerations </vt:lpstr>
      <vt:lpstr>Energy Considerations </vt:lpstr>
      <vt:lpstr>Energy Considerations </vt:lpstr>
      <vt:lpstr>  Analysis of Circuits with Mutual Inductance  </vt:lpstr>
      <vt:lpstr>The Linear Transformer </vt:lpstr>
      <vt:lpstr>1. Systematic Mesh analysis   loop analysis method</vt:lpstr>
      <vt:lpstr>1. Systematic Mesh analysis   loop analysis method</vt:lpstr>
      <vt:lpstr>2. Elimination of Mutual Inductance</vt:lpstr>
      <vt:lpstr>Ex：</vt:lpstr>
      <vt:lpstr>PowerPoint 演示文稿</vt:lpstr>
      <vt:lpstr>PowerPoint 演示文稿</vt:lpstr>
      <vt:lpstr>Power on Reflected Impedance</vt:lpstr>
      <vt:lpstr>Ex</vt:lpstr>
      <vt:lpstr>Ex</vt:lpstr>
      <vt:lpstr>PowerPoint 演示文稿</vt:lpstr>
      <vt:lpstr>PowerPoint 演示文稿</vt:lpstr>
      <vt:lpstr>Homework</vt:lpstr>
      <vt:lpstr> Ideal Transformers </vt:lpstr>
      <vt:lpstr>Ideal Transformers </vt:lpstr>
      <vt:lpstr>Ideal transformer and coupled inductance</vt:lpstr>
      <vt:lpstr>Perfectly Coupled transformer (v1~v2)</vt:lpstr>
      <vt:lpstr>PowerPoint 演示文稿</vt:lpstr>
      <vt:lpstr>Perfectly Coupled transformer (i1~i2)</vt:lpstr>
      <vt:lpstr>Ideal Transformers </vt:lpstr>
      <vt:lpstr>Ideal Transformers </vt:lpstr>
      <vt:lpstr>Ideal Transformers </vt:lpstr>
      <vt:lpstr>Ideal Transformers </vt:lpstr>
      <vt:lpstr>Ideal Transformers </vt:lpstr>
      <vt:lpstr>PowerPoint 演示文稿</vt:lpstr>
      <vt:lpstr>PowerPoint 演示文稿</vt:lpstr>
      <vt:lpstr>Autotransformer</vt:lpstr>
      <vt:lpstr>PowerPoint 演示文稿</vt:lpstr>
      <vt:lpstr>PowerPoint 演示文稿</vt:lpstr>
      <vt:lpstr>PowerPoint 演示文稿</vt:lpstr>
      <vt:lpstr>PowerPoint 演示文稿</vt:lpstr>
      <vt:lpstr>Real transformer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引言</dc:title>
  <dc:creator>wen</dc:creator>
  <cp:lastModifiedBy>Windows 用户</cp:lastModifiedBy>
  <cp:revision>732</cp:revision>
  <dcterms:created xsi:type="dcterms:W3CDTF">1999-07-31T07:08:40Z</dcterms:created>
  <dcterms:modified xsi:type="dcterms:W3CDTF">2024-10-22T09:56:23Z</dcterms:modified>
</cp:coreProperties>
</file>