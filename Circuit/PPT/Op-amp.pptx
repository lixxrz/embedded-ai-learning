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66" r:id="rId2"/>
    <p:sldId id="257" r:id="rId3"/>
    <p:sldId id="272" r:id="rId4"/>
    <p:sldId id="267" r:id="rId5"/>
    <p:sldId id="258" r:id="rId6"/>
    <p:sldId id="259" r:id="rId7"/>
    <p:sldId id="260" r:id="rId8"/>
    <p:sldId id="261" r:id="rId9"/>
    <p:sldId id="262" r:id="rId10"/>
    <p:sldId id="263" r:id="rId11"/>
    <p:sldId id="265" r:id="rId12"/>
    <p:sldId id="271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2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17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31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41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3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564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55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148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01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54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30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5950" y="115888"/>
            <a:ext cx="7772400" cy="5762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40176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4017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53536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1039">
            <a:extLst>
              <a:ext uri="{FF2B5EF4-FFF2-40B4-BE49-F238E27FC236}">
                <a16:creationId xmlns:a16="http://schemas.microsoft.com/office/drawing/2014/main" id="{9F4575BA-4DFB-48C8-BFAE-8647AF0F41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北京交通大学  国家电工电子教学基地  电路理论系列课程组</a:t>
            </a:r>
            <a:endParaRPr lang="en-US" altLang="zh-CN"/>
          </a:p>
        </p:txBody>
      </p:sp>
      <p:sp>
        <p:nvSpPr>
          <p:cNvPr id="7" name="Rectangle 1040">
            <a:extLst>
              <a:ext uri="{FF2B5EF4-FFF2-40B4-BE49-F238E27FC236}">
                <a16:creationId xmlns:a16="http://schemas.microsoft.com/office/drawing/2014/main" id="{2460F229-DC68-4E65-AB9A-2876AAB8A52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B5F89A-A39E-47B1-8DC4-F70D85A50D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6950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A0FDD-3B3A-4C56-92D2-E77AA3603981}" type="datetimeFigureOut">
              <a:rPr lang="en-US" smtClean="0"/>
              <a:t>4/2/2023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08AF81-3671-4CAA-A263-8F65EEF33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307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10" Type="http://schemas.openxmlformats.org/officeDocument/2006/relationships/image" Target="../media/image6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wmf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3.jpeg"/><Relationship Id="rId4" Type="http://schemas.openxmlformats.org/officeDocument/2006/relationships/image" Target="../media/image9.wmf"/><Relationship Id="rId9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7.emf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灯片编号占位符 3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28E3CF-9C41-40D1-8042-DD8E72ED2542}" type="slidenum">
              <a:rPr lang="en-US" altLang="zh-CN" sz="1400" smtClean="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sp>
        <p:nvSpPr>
          <p:cNvPr id="121860" name="Rectangle 2"/>
          <p:cNvSpPr>
            <a:spLocks noGrp="1" noChangeArrowheads="1"/>
          </p:cNvSpPr>
          <p:nvPr>
            <p:ph type="title"/>
          </p:nvPr>
        </p:nvSpPr>
        <p:spPr>
          <a:xfrm>
            <a:off x="1380250" y="855505"/>
            <a:ext cx="6383499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Operational Amplifier</a:t>
            </a:r>
          </a:p>
        </p:txBody>
      </p:sp>
      <p:sp>
        <p:nvSpPr>
          <p:cNvPr id="12186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32737" y="1963739"/>
            <a:ext cx="7772400" cy="4392612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800" b="1" dirty="0">
                <a:latin typeface="Arial" panose="020B0604020202020204" pitchFamily="34" charset="0"/>
              </a:rPr>
              <a:t> Op Amp and Ideal Op Amp Model</a:t>
            </a: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800" b="1" dirty="0">
                <a:latin typeface="Arial" panose="020B0604020202020204" pitchFamily="34" charset="0"/>
              </a:rPr>
              <a:t> Typical Op Amp Circuits</a:t>
            </a:r>
          </a:p>
          <a:p>
            <a:pPr eaLnBrk="1" hangingPunct="1">
              <a:lnSpc>
                <a:spcPct val="150000"/>
              </a:lnSpc>
              <a:buClr>
                <a:srgbClr val="0000FF"/>
              </a:buClr>
              <a:buFont typeface="Wingdings" panose="05000000000000000000" pitchFamily="2" charset="2"/>
              <a:buChar char="p"/>
            </a:pPr>
            <a:r>
              <a:rPr lang="en-US" altLang="zh-CN" sz="2800" b="1" dirty="0">
                <a:latin typeface="Arial" panose="020B0604020202020204" pitchFamily="34" charset="0"/>
              </a:rPr>
              <a:t> Analysis of Op Amp circuits</a:t>
            </a:r>
          </a:p>
        </p:txBody>
      </p:sp>
    </p:spTree>
    <p:extLst>
      <p:ext uri="{BB962C8B-B14F-4D97-AF65-F5344CB8AC3E}">
        <p14:creationId xmlns:p14="http://schemas.microsoft.com/office/powerpoint/2010/main" val="9099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-50004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 Amp and Ideal Op Amp Model</a:t>
            </a:r>
          </a:p>
        </p:txBody>
      </p:sp>
      <p:sp>
        <p:nvSpPr>
          <p:cNvPr id="12288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0F0A115-ACB0-4598-9025-3375FC055747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pic>
        <p:nvPicPr>
          <p:cNvPr id="122885" name="Picture 238" descr="208488810OP777_fbs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64" t="32552" r="25636" b="32695"/>
          <a:stretch>
            <a:fillRect/>
          </a:stretch>
        </p:blipFill>
        <p:spPr bwMode="auto">
          <a:xfrm>
            <a:off x="5867400" y="1125540"/>
            <a:ext cx="2808288" cy="1152525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2886" name="Group 288"/>
          <p:cNvGrpSpPr>
            <a:grpSpLocks/>
          </p:cNvGrpSpPr>
          <p:nvPr/>
        </p:nvGrpSpPr>
        <p:grpSpPr bwMode="auto">
          <a:xfrm>
            <a:off x="6010275" y="2781302"/>
            <a:ext cx="2403474" cy="1889125"/>
            <a:chOff x="1094" y="2173"/>
            <a:chExt cx="1514" cy="1190"/>
          </a:xfrm>
        </p:grpSpPr>
        <p:sp>
          <p:nvSpPr>
            <p:cNvPr id="122889" name="Line 242"/>
            <p:cNvSpPr>
              <a:spLocks noChangeShapeType="1"/>
            </p:cNvSpPr>
            <p:nvPr/>
          </p:nvSpPr>
          <p:spPr bwMode="auto">
            <a:xfrm>
              <a:off x="1461" y="2622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0" name="Line 243"/>
            <p:cNvSpPr>
              <a:spLocks noChangeShapeType="1"/>
            </p:cNvSpPr>
            <p:nvPr/>
          </p:nvSpPr>
          <p:spPr bwMode="auto">
            <a:xfrm>
              <a:off x="1469" y="2953"/>
              <a:ext cx="166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1" name="Freeform 244"/>
            <p:cNvSpPr>
              <a:spLocks/>
            </p:cNvSpPr>
            <p:nvPr/>
          </p:nvSpPr>
          <p:spPr bwMode="auto">
            <a:xfrm flipV="1">
              <a:off x="2154" y="2733"/>
              <a:ext cx="272" cy="55"/>
            </a:xfrm>
            <a:custGeom>
              <a:avLst/>
              <a:gdLst>
                <a:gd name="T0" fmla="*/ 0 w 489"/>
                <a:gd name="T1" fmla="*/ 0 h 55"/>
                <a:gd name="T2" fmla="*/ 1 w 489"/>
                <a:gd name="T3" fmla="*/ 0 h 55"/>
                <a:gd name="T4" fmla="*/ 1 w 489"/>
                <a:gd name="T5" fmla="*/ 0 h 55"/>
                <a:gd name="T6" fmla="*/ 1 w 489"/>
                <a:gd name="T7" fmla="*/ 0 h 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9"/>
                <a:gd name="T13" fmla="*/ 0 h 55"/>
                <a:gd name="T14" fmla="*/ 489 w 489"/>
                <a:gd name="T15" fmla="*/ 55 h 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9" h="55">
                  <a:moveTo>
                    <a:pt x="0" y="0"/>
                  </a:moveTo>
                  <a:lnTo>
                    <a:pt x="288" y="0"/>
                  </a:lnTo>
                  <a:lnTo>
                    <a:pt x="489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2" name="Freeform 247"/>
            <p:cNvSpPr>
              <a:spLocks/>
            </p:cNvSpPr>
            <p:nvPr/>
          </p:nvSpPr>
          <p:spPr bwMode="auto">
            <a:xfrm>
              <a:off x="1412" y="2592"/>
              <a:ext cx="62" cy="61"/>
            </a:xfrm>
            <a:custGeom>
              <a:avLst/>
              <a:gdLst>
                <a:gd name="T0" fmla="*/ 0 w 62"/>
                <a:gd name="T1" fmla="*/ 30 h 61"/>
                <a:gd name="T2" fmla="*/ 5 w 62"/>
                <a:gd name="T3" fmla="*/ 15 h 61"/>
                <a:gd name="T4" fmla="*/ 16 w 62"/>
                <a:gd name="T5" fmla="*/ 4 h 61"/>
                <a:gd name="T6" fmla="*/ 31 w 62"/>
                <a:gd name="T7" fmla="*/ 0 h 61"/>
                <a:gd name="T8" fmla="*/ 47 w 62"/>
                <a:gd name="T9" fmla="*/ 4 h 61"/>
                <a:gd name="T10" fmla="*/ 58 w 62"/>
                <a:gd name="T11" fmla="*/ 15 h 61"/>
                <a:gd name="T12" fmla="*/ 62 w 62"/>
                <a:gd name="T13" fmla="*/ 30 h 61"/>
                <a:gd name="T14" fmla="*/ 58 w 62"/>
                <a:gd name="T15" fmla="*/ 46 h 61"/>
                <a:gd name="T16" fmla="*/ 47 w 62"/>
                <a:gd name="T17" fmla="*/ 57 h 61"/>
                <a:gd name="T18" fmla="*/ 31 w 62"/>
                <a:gd name="T19" fmla="*/ 61 h 61"/>
                <a:gd name="T20" fmla="*/ 16 w 62"/>
                <a:gd name="T21" fmla="*/ 57 h 61"/>
                <a:gd name="T22" fmla="*/ 5 w 62"/>
                <a:gd name="T23" fmla="*/ 46 h 61"/>
                <a:gd name="T24" fmla="*/ 0 w 62"/>
                <a:gd name="T25" fmla="*/ 30 h 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1"/>
                <a:gd name="T41" fmla="*/ 62 w 62"/>
                <a:gd name="T42" fmla="*/ 61 h 6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1">
                  <a:moveTo>
                    <a:pt x="0" y="30"/>
                  </a:moveTo>
                  <a:lnTo>
                    <a:pt x="5" y="15"/>
                  </a:lnTo>
                  <a:lnTo>
                    <a:pt x="16" y="4"/>
                  </a:lnTo>
                  <a:lnTo>
                    <a:pt x="31" y="0"/>
                  </a:lnTo>
                  <a:lnTo>
                    <a:pt x="47" y="4"/>
                  </a:lnTo>
                  <a:lnTo>
                    <a:pt x="58" y="15"/>
                  </a:lnTo>
                  <a:lnTo>
                    <a:pt x="62" y="30"/>
                  </a:lnTo>
                  <a:lnTo>
                    <a:pt x="58" y="46"/>
                  </a:lnTo>
                  <a:lnTo>
                    <a:pt x="47" y="57"/>
                  </a:lnTo>
                  <a:lnTo>
                    <a:pt x="31" y="61"/>
                  </a:lnTo>
                  <a:lnTo>
                    <a:pt x="16" y="57"/>
                  </a:lnTo>
                  <a:lnTo>
                    <a:pt x="5" y="46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3" name="Freeform 248"/>
            <p:cNvSpPr>
              <a:spLocks/>
            </p:cNvSpPr>
            <p:nvPr/>
          </p:nvSpPr>
          <p:spPr bwMode="auto">
            <a:xfrm>
              <a:off x="1410" y="2922"/>
              <a:ext cx="64" cy="62"/>
            </a:xfrm>
            <a:custGeom>
              <a:avLst/>
              <a:gdLst>
                <a:gd name="T0" fmla="*/ 0 w 64"/>
                <a:gd name="T1" fmla="*/ 31 h 62"/>
                <a:gd name="T2" fmla="*/ 5 w 64"/>
                <a:gd name="T3" fmla="*/ 16 h 62"/>
                <a:gd name="T4" fmla="*/ 18 w 64"/>
                <a:gd name="T5" fmla="*/ 5 h 62"/>
                <a:gd name="T6" fmla="*/ 34 w 64"/>
                <a:gd name="T7" fmla="*/ 0 h 62"/>
                <a:gd name="T8" fmla="*/ 49 w 64"/>
                <a:gd name="T9" fmla="*/ 5 h 62"/>
                <a:gd name="T10" fmla="*/ 60 w 64"/>
                <a:gd name="T11" fmla="*/ 16 h 62"/>
                <a:gd name="T12" fmla="*/ 64 w 64"/>
                <a:gd name="T13" fmla="*/ 31 h 62"/>
                <a:gd name="T14" fmla="*/ 60 w 64"/>
                <a:gd name="T15" fmla="*/ 47 h 62"/>
                <a:gd name="T16" fmla="*/ 49 w 64"/>
                <a:gd name="T17" fmla="*/ 58 h 62"/>
                <a:gd name="T18" fmla="*/ 34 w 64"/>
                <a:gd name="T19" fmla="*/ 62 h 62"/>
                <a:gd name="T20" fmla="*/ 18 w 64"/>
                <a:gd name="T21" fmla="*/ 58 h 62"/>
                <a:gd name="T22" fmla="*/ 5 w 64"/>
                <a:gd name="T23" fmla="*/ 47 h 62"/>
                <a:gd name="T24" fmla="*/ 0 w 64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62"/>
                <a:gd name="T41" fmla="*/ 64 w 64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62">
                  <a:moveTo>
                    <a:pt x="0" y="31"/>
                  </a:moveTo>
                  <a:lnTo>
                    <a:pt x="5" y="16"/>
                  </a:lnTo>
                  <a:lnTo>
                    <a:pt x="18" y="5"/>
                  </a:lnTo>
                  <a:lnTo>
                    <a:pt x="34" y="0"/>
                  </a:lnTo>
                  <a:lnTo>
                    <a:pt x="49" y="5"/>
                  </a:lnTo>
                  <a:lnTo>
                    <a:pt x="60" y="16"/>
                  </a:lnTo>
                  <a:lnTo>
                    <a:pt x="64" y="31"/>
                  </a:lnTo>
                  <a:lnTo>
                    <a:pt x="60" y="47"/>
                  </a:lnTo>
                  <a:lnTo>
                    <a:pt x="49" y="58"/>
                  </a:lnTo>
                  <a:lnTo>
                    <a:pt x="34" y="62"/>
                  </a:lnTo>
                  <a:lnTo>
                    <a:pt x="18" y="58"/>
                  </a:lnTo>
                  <a:lnTo>
                    <a:pt x="5" y="47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4" name="Freeform 249"/>
            <p:cNvSpPr>
              <a:spLocks/>
            </p:cNvSpPr>
            <p:nvPr/>
          </p:nvSpPr>
          <p:spPr bwMode="auto">
            <a:xfrm>
              <a:off x="2426" y="2757"/>
              <a:ext cx="62" cy="62"/>
            </a:xfrm>
            <a:custGeom>
              <a:avLst/>
              <a:gdLst>
                <a:gd name="T0" fmla="*/ 0 w 62"/>
                <a:gd name="T1" fmla="*/ 31 h 62"/>
                <a:gd name="T2" fmla="*/ 4 w 62"/>
                <a:gd name="T3" fmla="*/ 15 h 62"/>
                <a:gd name="T4" fmla="*/ 15 w 62"/>
                <a:gd name="T5" fmla="*/ 4 h 62"/>
                <a:gd name="T6" fmla="*/ 31 w 62"/>
                <a:gd name="T7" fmla="*/ 0 h 62"/>
                <a:gd name="T8" fmla="*/ 46 w 62"/>
                <a:gd name="T9" fmla="*/ 4 h 62"/>
                <a:gd name="T10" fmla="*/ 57 w 62"/>
                <a:gd name="T11" fmla="*/ 15 h 62"/>
                <a:gd name="T12" fmla="*/ 62 w 62"/>
                <a:gd name="T13" fmla="*/ 31 h 62"/>
                <a:gd name="T14" fmla="*/ 57 w 62"/>
                <a:gd name="T15" fmla="*/ 46 h 62"/>
                <a:gd name="T16" fmla="*/ 46 w 62"/>
                <a:gd name="T17" fmla="*/ 57 h 62"/>
                <a:gd name="T18" fmla="*/ 31 w 62"/>
                <a:gd name="T19" fmla="*/ 62 h 62"/>
                <a:gd name="T20" fmla="*/ 15 w 62"/>
                <a:gd name="T21" fmla="*/ 57 h 62"/>
                <a:gd name="T22" fmla="*/ 4 w 62"/>
                <a:gd name="T23" fmla="*/ 46 h 62"/>
                <a:gd name="T24" fmla="*/ 0 w 62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2"/>
                <a:gd name="T41" fmla="*/ 62 w 6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2">
                  <a:moveTo>
                    <a:pt x="0" y="31"/>
                  </a:moveTo>
                  <a:lnTo>
                    <a:pt x="4" y="15"/>
                  </a:lnTo>
                  <a:lnTo>
                    <a:pt x="15" y="4"/>
                  </a:lnTo>
                  <a:lnTo>
                    <a:pt x="31" y="0"/>
                  </a:lnTo>
                  <a:lnTo>
                    <a:pt x="46" y="4"/>
                  </a:lnTo>
                  <a:lnTo>
                    <a:pt x="57" y="15"/>
                  </a:lnTo>
                  <a:lnTo>
                    <a:pt x="62" y="31"/>
                  </a:lnTo>
                  <a:lnTo>
                    <a:pt x="57" y="46"/>
                  </a:lnTo>
                  <a:lnTo>
                    <a:pt x="46" y="57"/>
                  </a:lnTo>
                  <a:lnTo>
                    <a:pt x="31" y="62"/>
                  </a:lnTo>
                  <a:lnTo>
                    <a:pt x="15" y="57"/>
                  </a:lnTo>
                  <a:lnTo>
                    <a:pt x="4" y="4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895" name="Rectangle 259"/>
            <p:cNvSpPr>
              <a:spLocks noChangeArrowheads="1"/>
            </p:cNvSpPr>
            <p:nvPr/>
          </p:nvSpPr>
          <p:spPr bwMode="auto">
            <a:xfrm>
              <a:off x="1137" y="2478"/>
              <a:ext cx="21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Arial" panose="020B0604020202020204" pitchFamily="34" charset="0"/>
                </a:rPr>
                <a:t>-IN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122896" name="Rectangle 269"/>
            <p:cNvSpPr>
              <a:spLocks noChangeArrowheads="1"/>
            </p:cNvSpPr>
            <p:nvPr/>
          </p:nvSpPr>
          <p:spPr bwMode="auto">
            <a:xfrm>
              <a:off x="2304" y="2577"/>
              <a:ext cx="3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800">
                  <a:solidFill>
                    <a:srgbClr val="000000"/>
                  </a:solidFill>
                  <a:latin typeface="Arial" panose="020B0604020202020204" pitchFamily="34" charset="0"/>
                </a:rPr>
                <a:t>OUT</a:t>
              </a:r>
              <a:endParaRPr lang="en-US" altLang="zh-CN" sz="1600">
                <a:latin typeface="Arial" panose="020B0604020202020204" pitchFamily="34" charset="0"/>
              </a:endParaRPr>
            </a:p>
          </p:txBody>
        </p:sp>
        <p:sp>
          <p:nvSpPr>
            <p:cNvPr id="122897" name="Line 271"/>
            <p:cNvSpPr>
              <a:spLocks noChangeShapeType="1"/>
            </p:cNvSpPr>
            <p:nvPr/>
          </p:nvSpPr>
          <p:spPr bwMode="auto">
            <a:xfrm flipV="1">
              <a:off x="1671" y="2503"/>
              <a:ext cx="1" cy="56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8" name="Line 272"/>
            <p:cNvSpPr>
              <a:spLocks noChangeShapeType="1"/>
            </p:cNvSpPr>
            <p:nvPr/>
          </p:nvSpPr>
          <p:spPr bwMode="auto">
            <a:xfrm flipH="1" flipV="1">
              <a:off x="1671" y="2503"/>
              <a:ext cx="499" cy="28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899" name="Line 273"/>
            <p:cNvSpPr>
              <a:spLocks noChangeShapeType="1"/>
            </p:cNvSpPr>
            <p:nvPr/>
          </p:nvSpPr>
          <p:spPr bwMode="auto">
            <a:xfrm flipV="1">
              <a:off x="1671" y="2788"/>
              <a:ext cx="499" cy="28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0" name="Line 274"/>
            <p:cNvSpPr>
              <a:spLocks noChangeShapeType="1"/>
            </p:cNvSpPr>
            <p:nvPr/>
          </p:nvSpPr>
          <p:spPr bwMode="auto">
            <a:xfrm>
              <a:off x="2170" y="2788"/>
              <a:ext cx="8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1" name="Line 275"/>
            <p:cNvSpPr>
              <a:spLocks noChangeShapeType="1"/>
            </p:cNvSpPr>
            <p:nvPr/>
          </p:nvSpPr>
          <p:spPr bwMode="auto">
            <a:xfrm>
              <a:off x="1755" y="2889"/>
              <a:ext cx="1" cy="84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2" name="Line 276"/>
            <p:cNvSpPr>
              <a:spLocks noChangeShapeType="1"/>
            </p:cNvSpPr>
            <p:nvPr/>
          </p:nvSpPr>
          <p:spPr bwMode="auto">
            <a:xfrm>
              <a:off x="1713" y="2931"/>
              <a:ext cx="84" cy="1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3" name="Line 277"/>
            <p:cNvSpPr>
              <a:spLocks noChangeShapeType="1"/>
            </p:cNvSpPr>
            <p:nvPr/>
          </p:nvSpPr>
          <p:spPr bwMode="auto">
            <a:xfrm flipH="1">
              <a:off x="1713" y="2627"/>
              <a:ext cx="84" cy="1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4" name="Line 278"/>
            <p:cNvSpPr>
              <a:spLocks noChangeShapeType="1"/>
            </p:cNvSpPr>
            <p:nvPr/>
          </p:nvSpPr>
          <p:spPr bwMode="auto">
            <a:xfrm>
              <a:off x="1589" y="2953"/>
              <a:ext cx="8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5" name="Line 279"/>
            <p:cNvSpPr>
              <a:spLocks noChangeShapeType="1"/>
            </p:cNvSpPr>
            <p:nvPr/>
          </p:nvSpPr>
          <p:spPr bwMode="auto">
            <a:xfrm>
              <a:off x="1589" y="2622"/>
              <a:ext cx="8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6" name="Line 280"/>
            <p:cNvSpPr>
              <a:spLocks noChangeShapeType="1"/>
            </p:cNvSpPr>
            <p:nvPr/>
          </p:nvSpPr>
          <p:spPr bwMode="auto">
            <a:xfrm>
              <a:off x="1883" y="2953"/>
              <a:ext cx="1" cy="24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7" name="Freeform 281"/>
            <p:cNvSpPr>
              <a:spLocks/>
            </p:cNvSpPr>
            <p:nvPr/>
          </p:nvSpPr>
          <p:spPr bwMode="auto">
            <a:xfrm>
              <a:off x="1853" y="2288"/>
              <a:ext cx="62" cy="62"/>
            </a:xfrm>
            <a:custGeom>
              <a:avLst/>
              <a:gdLst>
                <a:gd name="T0" fmla="*/ 0 w 62"/>
                <a:gd name="T1" fmla="*/ 31 h 62"/>
                <a:gd name="T2" fmla="*/ 4 w 62"/>
                <a:gd name="T3" fmla="*/ 15 h 62"/>
                <a:gd name="T4" fmla="*/ 15 w 62"/>
                <a:gd name="T5" fmla="*/ 4 h 62"/>
                <a:gd name="T6" fmla="*/ 31 w 62"/>
                <a:gd name="T7" fmla="*/ 0 h 62"/>
                <a:gd name="T8" fmla="*/ 46 w 62"/>
                <a:gd name="T9" fmla="*/ 4 h 62"/>
                <a:gd name="T10" fmla="*/ 57 w 62"/>
                <a:gd name="T11" fmla="*/ 15 h 62"/>
                <a:gd name="T12" fmla="*/ 62 w 62"/>
                <a:gd name="T13" fmla="*/ 31 h 62"/>
                <a:gd name="T14" fmla="*/ 57 w 62"/>
                <a:gd name="T15" fmla="*/ 46 h 62"/>
                <a:gd name="T16" fmla="*/ 46 w 62"/>
                <a:gd name="T17" fmla="*/ 57 h 62"/>
                <a:gd name="T18" fmla="*/ 31 w 62"/>
                <a:gd name="T19" fmla="*/ 62 h 62"/>
                <a:gd name="T20" fmla="*/ 15 w 62"/>
                <a:gd name="T21" fmla="*/ 57 h 62"/>
                <a:gd name="T22" fmla="*/ 4 w 62"/>
                <a:gd name="T23" fmla="*/ 46 h 62"/>
                <a:gd name="T24" fmla="*/ 0 w 62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2"/>
                <a:gd name="T41" fmla="*/ 62 w 6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2">
                  <a:moveTo>
                    <a:pt x="0" y="31"/>
                  </a:moveTo>
                  <a:lnTo>
                    <a:pt x="4" y="15"/>
                  </a:lnTo>
                  <a:lnTo>
                    <a:pt x="15" y="4"/>
                  </a:lnTo>
                  <a:lnTo>
                    <a:pt x="31" y="0"/>
                  </a:lnTo>
                  <a:lnTo>
                    <a:pt x="46" y="4"/>
                  </a:lnTo>
                  <a:lnTo>
                    <a:pt x="57" y="15"/>
                  </a:lnTo>
                  <a:lnTo>
                    <a:pt x="62" y="31"/>
                  </a:lnTo>
                  <a:lnTo>
                    <a:pt x="57" y="46"/>
                  </a:lnTo>
                  <a:lnTo>
                    <a:pt x="46" y="57"/>
                  </a:lnTo>
                  <a:lnTo>
                    <a:pt x="31" y="62"/>
                  </a:lnTo>
                  <a:lnTo>
                    <a:pt x="15" y="57"/>
                  </a:lnTo>
                  <a:lnTo>
                    <a:pt x="4" y="4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08" name="Line 282"/>
            <p:cNvSpPr>
              <a:spLocks noChangeShapeType="1"/>
            </p:cNvSpPr>
            <p:nvPr/>
          </p:nvSpPr>
          <p:spPr bwMode="auto">
            <a:xfrm flipH="1" flipV="1">
              <a:off x="1882" y="2341"/>
              <a:ext cx="0" cy="27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909" name="Freeform 283"/>
            <p:cNvSpPr>
              <a:spLocks/>
            </p:cNvSpPr>
            <p:nvPr/>
          </p:nvSpPr>
          <p:spPr bwMode="auto">
            <a:xfrm>
              <a:off x="1857" y="3203"/>
              <a:ext cx="62" cy="62"/>
            </a:xfrm>
            <a:custGeom>
              <a:avLst/>
              <a:gdLst>
                <a:gd name="T0" fmla="*/ 0 w 62"/>
                <a:gd name="T1" fmla="*/ 31 h 62"/>
                <a:gd name="T2" fmla="*/ 4 w 62"/>
                <a:gd name="T3" fmla="*/ 15 h 62"/>
                <a:gd name="T4" fmla="*/ 15 w 62"/>
                <a:gd name="T5" fmla="*/ 4 h 62"/>
                <a:gd name="T6" fmla="*/ 31 w 62"/>
                <a:gd name="T7" fmla="*/ 0 h 62"/>
                <a:gd name="T8" fmla="*/ 46 w 62"/>
                <a:gd name="T9" fmla="*/ 4 h 62"/>
                <a:gd name="T10" fmla="*/ 57 w 62"/>
                <a:gd name="T11" fmla="*/ 15 h 62"/>
                <a:gd name="T12" fmla="*/ 62 w 62"/>
                <a:gd name="T13" fmla="*/ 31 h 62"/>
                <a:gd name="T14" fmla="*/ 57 w 62"/>
                <a:gd name="T15" fmla="*/ 46 h 62"/>
                <a:gd name="T16" fmla="*/ 46 w 62"/>
                <a:gd name="T17" fmla="*/ 57 h 62"/>
                <a:gd name="T18" fmla="*/ 31 w 62"/>
                <a:gd name="T19" fmla="*/ 62 h 62"/>
                <a:gd name="T20" fmla="*/ 15 w 62"/>
                <a:gd name="T21" fmla="*/ 57 h 62"/>
                <a:gd name="T22" fmla="*/ 4 w 62"/>
                <a:gd name="T23" fmla="*/ 46 h 62"/>
                <a:gd name="T24" fmla="*/ 0 w 62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2"/>
                <a:gd name="T41" fmla="*/ 62 w 6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2">
                  <a:moveTo>
                    <a:pt x="0" y="31"/>
                  </a:moveTo>
                  <a:lnTo>
                    <a:pt x="4" y="15"/>
                  </a:lnTo>
                  <a:lnTo>
                    <a:pt x="15" y="4"/>
                  </a:lnTo>
                  <a:lnTo>
                    <a:pt x="31" y="0"/>
                  </a:lnTo>
                  <a:lnTo>
                    <a:pt x="46" y="4"/>
                  </a:lnTo>
                  <a:lnTo>
                    <a:pt x="57" y="15"/>
                  </a:lnTo>
                  <a:lnTo>
                    <a:pt x="62" y="31"/>
                  </a:lnTo>
                  <a:lnTo>
                    <a:pt x="57" y="46"/>
                  </a:lnTo>
                  <a:lnTo>
                    <a:pt x="46" y="57"/>
                  </a:lnTo>
                  <a:lnTo>
                    <a:pt x="31" y="62"/>
                  </a:lnTo>
                  <a:lnTo>
                    <a:pt x="15" y="57"/>
                  </a:lnTo>
                  <a:lnTo>
                    <a:pt x="4" y="4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2910" name="Text Box 285"/>
            <p:cNvSpPr txBox="1">
              <a:spLocks noChangeArrowheads="1"/>
            </p:cNvSpPr>
            <p:nvPr/>
          </p:nvSpPr>
          <p:spPr bwMode="auto">
            <a:xfrm>
              <a:off x="1905" y="2173"/>
              <a:ext cx="31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V+</a:t>
              </a:r>
              <a:endParaRPr lang="en-US" altLang="zh-CN" sz="2000" baseline="-25000">
                <a:latin typeface="Arial" panose="020B0604020202020204" pitchFamily="34" charset="0"/>
              </a:endParaRPr>
            </a:p>
          </p:txBody>
        </p:sp>
        <p:sp>
          <p:nvSpPr>
            <p:cNvPr id="122911" name="Text Box 286"/>
            <p:cNvSpPr txBox="1">
              <a:spLocks noChangeArrowheads="1"/>
            </p:cNvSpPr>
            <p:nvPr/>
          </p:nvSpPr>
          <p:spPr bwMode="auto">
            <a:xfrm>
              <a:off x="1924" y="3113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V-</a:t>
              </a:r>
              <a:endParaRPr lang="en-US" altLang="zh-CN" sz="2000" baseline="-25000">
                <a:latin typeface="Arial" panose="020B0604020202020204" pitchFamily="34" charset="0"/>
              </a:endParaRPr>
            </a:p>
          </p:txBody>
        </p:sp>
        <p:sp>
          <p:nvSpPr>
            <p:cNvPr id="122912" name="Rectangle 287"/>
            <p:cNvSpPr>
              <a:spLocks noChangeArrowheads="1"/>
            </p:cNvSpPr>
            <p:nvPr/>
          </p:nvSpPr>
          <p:spPr bwMode="auto">
            <a:xfrm>
              <a:off x="1094" y="2840"/>
              <a:ext cx="25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000000"/>
                  </a:solidFill>
                  <a:latin typeface="Arial" panose="020B0604020202020204" pitchFamily="34" charset="0"/>
                </a:rPr>
                <a:t>+IN</a:t>
              </a:r>
              <a:endParaRPr lang="en-US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297249" name="Rectangle 289"/>
          <p:cNvSpPr>
            <a:spLocks noChangeArrowheads="1"/>
          </p:cNvSpPr>
          <p:nvPr/>
        </p:nvSpPr>
        <p:spPr bwMode="auto">
          <a:xfrm>
            <a:off x="468313" y="981077"/>
            <a:ext cx="4514850" cy="9787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/>
              <a:t>Op Amp :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/>
              <a:t>     Operational Amplifier</a:t>
            </a:r>
            <a:endParaRPr lang="en-US" altLang="zh-CN" sz="2400" dirty="0"/>
          </a:p>
        </p:txBody>
      </p:sp>
      <p:sp>
        <p:nvSpPr>
          <p:cNvPr id="297250" name="Rectangle 290"/>
          <p:cNvSpPr>
            <a:spLocks noChangeArrowheads="1"/>
          </p:cNvSpPr>
          <p:nvPr/>
        </p:nvSpPr>
        <p:spPr bwMode="auto">
          <a:xfrm>
            <a:off x="468312" y="2133600"/>
            <a:ext cx="5994399" cy="29731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/>
              <a:t>Practical Op Amp :</a:t>
            </a:r>
          </a:p>
          <a:p>
            <a:pPr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/>
              <a:t>Highly integrated circuit, used to realize amplifier, mathematical operations.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lang="en-US" altLang="zh-CN" sz="2400" dirty="0" smtClean="0"/>
              <a:t> Multi-terminal </a:t>
            </a:r>
            <a:r>
              <a:rPr lang="en-US" altLang="zh-CN" sz="2400" dirty="0"/>
              <a:t>devices,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lang="en-US" altLang="zh-CN" sz="2400" dirty="0" smtClean="0"/>
              <a:t> Need </a:t>
            </a:r>
            <a:r>
              <a:rPr lang="en-US" altLang="zh-CN" sz="2400" dirty="0"/>
              <a:t>power supply, </a:t>
            </a:r>
          </a:p>
          <a:p>
            <a:pPr lvl="1" eaLnBrk="1" hangingPunct="1">
              <a:lnSpc>
                <a:spcPct val="130000"/>
              </a:lnSpc>
              <a:spcBef>
                <a:spcPct val="0"/>
              </a:spcBef>
              <a:buFontTx/>
              <a:buChar char="•"/>
            </a:pPr>
            <a:r>
              <a:rPr lang="en-US" altLang="zh-CN" sz="2400" dirty="0" smtClean="0"/>
              <a:t> Usually </a:t>
            </a:r>
            <a:r>
              <a:rPr lang="en-US" altLang="zh-CN" sz="2400" dirty="0"/>
              <a:t>have  two inputs and an output</a:t>
            </a:r>
          </a:p>
        </p:txBody>
      </p:sp>
    </p:spTree>
    <p:extLst>
      <p:ext uri="{BB962C8B-B14F-4D97-AF65-F5344CB8AC3E}">
        <p14:creationId xmlns:p14="http://schemas.microsoft.com/office/powerpoint/2010/main" val="158689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97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7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49" grpId="0" autoUpdateAnimBg="0"/>
      <p:bldP spid="29725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 rotWithShape="1">
          <a:blip r:embed="rId2"/>
          <a:srcRect l="13838" t="10657" r="2670"/>
          <a:stretch/>
        </p:blipFill>
        <p:spPr bwMode="auto">
          <a:xfrm>
            <a:off x="1124262" y="1562793"/>
            <a:ext cx="6813030" cy="429086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1246909" y="640080"/>
            <a:ext cx="586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LM324 Pin Connections (Top View)</a:t>
            </a:r>
          </a:p>
        </p:txBody>
      </p:sp>
    </p:spTree>
    <p:extLst>
      <p:ext uri="{BB962C8B-B14F-4D97-AF65-F5344CB8AC3E}">
        <p14:creationId xmlns:p14="http://schemas.microsoft.com/office/powerpoint/2010/main" val="361175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157" y="1558491"/>
            <a:ext cx="6468176" cy="4508122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232035" y="423512"/>
            <a:ext cx="50147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ircuit inside an op amp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83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8" name="Rectangle 2"/>
          <p:cNvSpPr>
            <a:spLocks noGrp="1" noChangeArrowheads="1"/>
          </p:cNvSpPr>
          <p:nvPr>
            <p:ph type="title"/>
          </p:nvPr>
        </p:nvSpPr>
        <p:spPr>
          <a:xfrm>
            <a:off x="556419" y="134942"/>
            <a:ext cx="7886700" cy="860424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 Amp and Ideal Op Amp Model</a:t>
            </a:r>
          </a:p>
        </p:txBody>
      </p:sp>
      <p:sp>
        <p:nvSpPr>
          <p:cNvPr id="12390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472C1E-11BD-4175-BCAA-5027AB4144F6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grpSp>
        <p:nvGrpSpPr>
          <p:cNvPr id="123909" name="Group 102"/>
          <p:cNvGrpSpPr>
            <a:grpSpLocks/>
          </p:cNvGrpSpPr>
          <p:nvPr/>
        </p:nvGrpSpPr>
        <p:grpSpPr bwMode="auto">
          <a:xfrm>
            <a:off x="5508625" y="1052515"/>
            <a:ext cx="3340100" cy="2447925"/>
            <a:chOff x="849" y="1389"/>
            <a:chExt cx="2104" cy="1542"/>
          </a:xfrm>
        </p:grpSpPr>
        <p:sp>
          <p:nvSpPr>
            <p:cNvPr id="123943" name="Line 103"/>
            <p:cNvSpPr>
              <a:spLocks noChangeShapeType="1"/>
            </p:cNvSpPr>
            <p:nvPr/>
          </p:nvSpPr>
          <p:spPr bwMode="auto">
            <a:xfrm>
              <a:off x="1607" y="2032"/>
              <a:ext cx="165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4" name="Line 104"/>
            <p:cNvSpPr>
              <a:spLocks noChangeShapeType="1"/>
            </p:cNvSpPr>
            <p:nvPr/>
          </p:nvSpPr>
          <p:spPr bwMode="auto">
            <a:xfrm>
              <a:off x="1615" y="2363"/>
              <a:ext cx="166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5" name="Freeform 105"/>
            <p:cNvSpPr>
              <a:spLocks/>
            </p:cNvSpPr>
            <p:nvPr/>
          </p:nvSpPr>
          <p:spPr bwMode="auto">
            <a:xfrm>
              <a:off x="2362" y="2198"/>
              <a:ext cx="489" cy="1"/>
            </a:xfrm>
            <a:custGeom>
              <a:avLst/>
              <a:gdLst>
                <a:gd name="T0" fmla="*/ 0 w 489"/>
                <a:gd name="T1" fmla="*/ 0 h 1"/>
                <a:gd name="T2" fmla="*/ 288 w 489"/>
                <a:gd name="T3" fmla="*/ 0 h 1"/>
                <a:gd name="T4" fmla="*/ 288 w 489"/>
                <a:gd name="T5" fmla="*/ 0 h 1"/>
                <a:gd name="T6" fmla="*/ 489 w 489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89"/>
                <a:gd name="T13" fmla="*/ 0 h 1"/>
                <a:gd name="T14" fmla="*/ 489 w 489"/>
                <a:gd name="T15" fmla="*/ 1 h 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89" h="1">
                  <a:moveTo>
                    <a:pt x="0" y="0"/>
                  </a:moveTo>
                  <a:lnTo>
                    <a:pt x="288" y="0"/>
                  </a:lnTo>
                  <a:lnTo>
                    <a:pt x="489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6" name="Line 106"/>
            <p:cNvSpPr>
              <a:spLocks noChangeShapeType="1"/>
            </p:cNvSpPr>
            <p:nvPr/>
          </p:nvSpPr>
          <p:spPr bwMode="auto">
            <a:xfrm>
              <a:off x="1067" y="2032"/>
              <a:ext cx="54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7" name="Line 107"/>
            <p:cNvSpPr>
              <a:spLocks noChangeShapeType="1"/>
            </p:cNvSpPr>
            <p:nvPr/>
          </p:nvSpPr>
          <p:spPr bwMode="auto">
            <a:xfrm>
              <a:off x="1067" y="2363"/>
              <a:ext cx="540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48" name="Freeform 108"/>
            <p:cNvSpPr>
              <a:spLocks/>
            </p:cNvSpPr>
            <p:nvPr/>
          </p:nvSpPr>
          <p:spPr bwMode="auto">
            <a:xfrm>
              <a:off x="1005" y="2002"/>
              <a:ext cx="62" cy="61"/>
            </a:xfrm>
            <a:custGeom>
              <a:avLst/>
              <a:gdLst>
                <a:gd name="T0" fmla="*/ 0 w 62"/>
                <a:gd name="T1" fmla="*/ 30 h 61"/>
                <a:gd name="T2" fmla="*/ 5 w 62"/>
                <a:gd name="T3" fmla="*/ 15 h 61"/>
                <a:gd name="T4" fmla="*/ 16 w 62"/>
                <a:gd name="T5" fmla="*/ 4 h 61"/>
                <a:gd name="T6" fmla="*/ 31 w 62"/>
                <a:gd name="T7" fmla="*/ 0 h 61"/>
                <a:gd name="T8" fmla="*/ 47 w 62"/>
                <a:gd name="T9" fmla="*/ 4 h 61"/>
                <a:gd name="T10" fmla="*/ 58 w 62"/>
                <a:gd name="T11" fmla="*/ 15 h 61"/>
                <a:gd name="T12" fmla="*/ 62 w 62"/>
                <a:gd name="T13" fmla="*/ 30 h 61"/>
                <a:gd name="T14" fmla="*/ 58 w 62"/>
                <a:gd name="T15" fmla="*/ 46 h 61"/>
                <a:gd name="T16" fmla="*/ 47 w 62"/>
                <a:gd name="T17" fmla="*/ 57 h 61"/>
                <a:gd name="T18" fmla="*/ 31 w 62"/>
                <a:gd name="T19" fmla="*/ 61 h 61"/>
                <a:gd name="T20" fmla="*/ 16 w 62"/>
                <a:gd name="T21" fmla="*/ 57 h 61"/>
                <a:gd name="T22" fmla="*/ 5 w 62"/>
                <a:gd name="T23" fmla="*/ 46 h 61"/>
                <a:gd name="T24" fmla="*/ 0 w 62"/>
                <a:gd name="T25" fmla="*/ 30 h 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1"/>
                <a:gd name="T41" fmla="*/ 62 w 62"/>
                <a:gd name="T42" fmla="*/ 61 h 6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1">
                  <a:moveTo>
                    <a:pt x="0" y="30"/>
                  </a:moveTo>
                  <a:lnTo>
                    <a:pt x="5" y="15"/>
                  </a:lnTo>
                  <a:lnTo>
                    <a:pt x="16" y="4"/>
                  </a:lnTo>
                  <a:lnTo>
                    <a:pt x="31" y="0"/>
                  </a:lnTo>
                  <a:lnTo>
                    <a:pt x="47" y="4"/>
                  </a:lnTo>
                  <a:lnTo>
                    <a:pt x="58" y="15"/>
                  </a:lnTo>
                  <a:lnTo>
                    <a:pt x="62" y="30"/>
                  </a:lnTo>
                  <a:lnTo>
                    <a:pt x="58" y="46"/>
                  </a:lnTo>
                  <a:lnTo>
                    <a:pt x="47" y="57"/>
                  </a:lnTo>
                  <a:lnTo>
                    <a:pt x="31" y="61"/>
                  </a:lnTo>
                  <a:lnTo>
                    <a:pt x="16" y="57"/>
                  </a:lnTo>
                  <a:lnTo>
                    <a:pt x="5" y="46"/>
                  </a:lnTo>
                  <a:lnTo>
                    <a:pt x="0" y="30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49" name="Freeform 109"/>
            <p:cNvSpPr>
              <a:spLocks/>
            </p:cNvSpPr>
            <p:nvPr/>
          </p:nvSpPr>
          <p:spPr bwMode="auto">
            <a:xfrm>
              <a:off x="994" y="2332"/>
              <a:ext cx="64" cy="62"/>
            </a:xfrm>
            <a:custGeom>
              <a:avLst/>
              <a:gdLst>
                <a:gd name="T0" fmla="*/ 0 w 64"/>
                <a:gd name="T1" fmla="*/ 31 h 62"/>
                <a:gd name="T2" fmla="*/ 5 w 64"/>
                <a:gd name="T3" fmla="*/ 16 h 62"/>
                <a:gd name="T4" fmla="*/ 18 w 64"/>
                <a:gd name="T5" fmla="*/ 5 h 62"/>
                <a:gd name="T6" fmla="*/ 34 w 64"/>
                <a:gd name="T7" fmla="*/ 0 h 62"/>
                <a:gd name="T8" fmla="*/ 49 w 64"/>
                <a:gd name="T9" fmla="*/ 5 h 62"/>
                <a:gd name="T10" fmla="*/ 60 w 64"/>
                <a:gd name="T11" fmla="*/ 16 h 62"/>
                <a:gd name="T12" fmla="*/ 64 w 64"/>
                <a:gd name="T13" fmla="*/ 31 h 62"/>
                <a:gd name="T14" fmla="*/ 60 w 64"/>
                <a:gd name="T15" fmla="*/ 47 h 62"/>
                <a:gd name="T16" fmla="*/ 49 w 64"/>
                <a:gd name="T17" fmla="*/ 58 h 62"/>
                <a:gd name="T18" fmla="*/ 34 w 64"/>
                <a:gd name="T19" fmla="*/ 62 h 62"/>
                <a:gd name="T20" fmla="*/ 18 w 64"/>
                <a:gd name="T21" fmla="*/ 58 h 62"/>
                <a:gd name="T22" fmla="*/ 5 w 64"/>
                <a:gd name="T23" fmla="*/ 47 h 62"/>
                <a:gd name="T24" fmla="*/ 0 w 64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4"/>
                <a:gd name="T40" fmla="*/ 0 h 62"/>
                <a:gd name="T41" fmla="*/ 64 w 64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4" h="62">
                  <a:moveTo>
                    <a:pt x="0" y="31"/>
                  </a:moveTo>
                  <a:lnTo>
                    <a:pt x="5" y="16"/>
                  </a:lnTo>
                  <a:lnTo>
                    <a:pt x="18" y="5"/>
                  </a:lnTo>
                  <a:lnTo>
                    <a:pt x="34" y="0"/>
                  </a:lnTo>
                  <a:lnTo>
                    <a:pt x="49" y="5"/>
                  </a:lnTo>
                  <a:lnTo>
                    <a:pt x="60" y="16"/>
                  </a:lnTo>
                  <a:lnTo>
                    <a:pt x="64" y="31"/>
                  </a:lnTo>
                  <a:lnTo>
                    <a:pt x="60" y="47"/>
                  </a:lnTo>
                  <a:lnTo>
                    <a:pt x="49" y="58"/>
                  </a:lnTo>
                  <a:lnTo>
                    <a:pt x="34" y="62"/>
                  </a:lnTo>
                  <a:lnTo>
                    <a:pt x="18" y="58"/>
                  </a:lnTo>
                  <a:lnTo>
                    <a:pt x="5" y="47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0" name="Freeform 110"/>
            <p:cNvSpPr>
              <a:spLocks/>
            </p:cNvSpPr>
            <p:nvPr/>
          </p:nvSpPr>
          <p:spPr bwMode="auto">
            <a:xfrm>
              <a:off x="2820" y="2167"/>
              <a:ext cx="62" cy="62"/>
            </a:xfrm>
            <a:custGeom>
              <a:avLst/>
              <a:gdLst>
                <a:gd name="T0" fmla="*/ 0 w 62"/>
                <a:gd name="T1" fmla="*/ 31 h 62"/>
                <a:gd name="T2" fmla="*/ 4 w 62"/>
                <a:gd name="T3" fmla="*/ 15 h 62"/>
                <a:gd name="T4" fmla="*/ 15 w 62"/>
                <a:gd name="T5" fmla="*/ 4 h 62"/>
                <a:gd name="T6" fmla="*/ 31 w 62"/>
                <a:gd name="T7" fmla="*/ 0 h 62"/>
                <a:gd name="T8" fmla="*/ 46 w 62"/>
                <a:gd name="T9" fmla="*/ 4 h 62"/>
                <a:gd name="T10" fmla="*/ 57 w 62"/>
                <a:gd name="T11" fmla="*/ 15 h 62"/>
                <a:gd name="T12" fmla="*/ 62 w 62"/>
                <a:gd name="T13" fmla="*/ 31 h 62"/>
                <a:gd name="T14" fmla="*/ 57 w 62"/>
                <a:gd name="T15" fmla="*/ 46 h 62"/>
                <a:gd name="T16" fmla="*/ 46 w 62"/>
                <a:gd name="T17" fmla="*/ 57 h 62"/>
                <a:gd name="T18" fmla="*/ 31 w 62"/>
                <a:gd name="T19" fmla="*/ 62 h 62"/>
                <a:gd name="T20" fmla="*/ 15 w 62"/>
                <a:gd name="T21" fmla="*/ 57 h 62"/>
                <a:gd name="T22" fmla="*/ 4 w 62"/>
                <a:gd name="T23" fmla="*/ 46 h 62"/>
                <a:gd name="T24" fmla="*/ 0 w 62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2"/>
                <a:gd name="T41" fmla="*/ 62 w 6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2">
                  <a:moveTo>
                    <a:pt x="0" y="31"/>
                  </a:moveTo>
                  <a:lnTo>
                    <a:pt x="4" y="15"/>
                  </a:lnTo>
                  <a:lnTo>
                    <a:pt x="15" y="4"/>
                  </a:lnTo>
                  <a:lnTo>
                    <a:pt x="31" y="0"/>
                  </a:lnTo>
                  <a:lnTo>
                    <a:pt x="46" y="4"/>
                  </a:lnTo>
                  <a:lnTo>
                    <a:pt x="57" y="15"/>
                  </a:lnTo>
                  <a:lnTo>
                    <a:pt x="62" y="31"/>
                  </a:lnTo>
                  <a:lnTo>
                    <a:pt x="57" y="46"/>
                  </a:lnTo>
                  <a:lnTo>
                    <a:pt x="46" y="57"/>
                  </a:lnTo>
                  <a:lnTo>
                    <a:pt x="31" y="62"/>
                  </a:lnTo>
                  <a:lnTo>
                    <a:pt x="15" y="57"/>
                  </a:lnTo>
                  <a:lnTo>
                    <a:pt x="4" y="4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51" name="Rectangle 111"/>
            <p:cNvSpPr>
              <a:spLocks noChangeArrowheads="1"/>
            </p:cNvSpPr>
            <p:nvPr/>
          </p:nvSpPr>
          <p:spPr bwMode="auto">
            <a:xfrm>
              <a:off x="1115" y="2428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</a:rPr>
                <a:t>b</a:t>
              </a:r>
              <a:endParaRPr lang="en-US" altLang="zh-CN" sz="2400"/>
            </a:p>
          </p:txBody>
        </p:sp>
        <p:sp>
          <p:nvSpPr>
            <p:cNvPr id="123952" name="Rectangle 112"/>
            <p:cNvSpPr>
              <a:spLocks noChangeArrowheads="1"/>
            </p:cNvSpPr>
            <p:nvPr/>
          </p:nvSpPr>
          <p:spPr bwMode="auto">
            <a:xfrm>
              <a:off x="1106" y="1718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</a:rPr>
                <a:t>a</a:t>
              </a:r>
              <a:endParaRPr lang="en-US" altLang="zh-CN" sz="2400"/>
            </a:p>
          </p:txBody>
        </p:sp>
        <p:sp>
          <p:nvSpPr>
            <p:cNvPr id="123953" name="Rectangle 113"/>
            <p:cNvSpPr>
              <a:spLocks noChangeArrowheads="1"/>
            </p:cNvSpPr>
            <p:nvPr/>
          </p:nvSpPr>
          <p:spPr bwMode="auto">
            <a:xfrm>
              <a:off x="2178" y="2582"/>
              <a:ext cx="11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</a:rPr>
                <a:t>d</a:t>
              </a:r>
              <a:endParaRPr lang="en-US" altLang="zh-CN" sz="2400"/>
            </a:p>
          </p:txBody>
        </p:sp>
        <p:sp>
          <p:nvSpPr>
            <p:cNvPr id="123954" name="Line 114"/>
            <p:cNvSpPr>
              <a:spLocks noChangeShapeType="1"/>
            </p:cNvSpPr>
            <p:nvPr/>
          </p:nvSpPr>
          <p:spPr bwMode="auto">
            <a:xfrm>
              <a:off x="2029" y="2529"/>
              <a:ext cx="1" cy="386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5" name="Line 115"/>
            <p:cNvSpPr>
              <a:spLocks noChangeShapeType="1"/>
            </p:cNvSpPr>
            <p:nvPr/>
          </p:nvSpPr>
          <p:spPr bwMode="auto">
            <a:xfrm>
              <a:off x="1896" y="2930"/>
              <a:ext cx="250" cy="1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6" name="Line 116"/>
            <p:cNvSpPr>
              <a:spLocks noChangeShapeType="1"/>
            </p:cNvSpPr>
            <p:nvPr/>
          </p:nvSpPr>
          <p:spPr bwMode="auto">
            <a:xfrm flipH="1">
              <a:off x="1275" y="2032"/>
              <a:ext cx="12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7" name="Freeform 117"/>
            <p:cNvSpPr>
              <a:spLocks/>
            </p:cNvSpPr>
            <p:nvPr/>
          </p:nvSpPr>
          <p:spPr bwMode="auto">
            <a:xfrm>
              <a:off x="1386" y="1986"/>
              <a:ext cx="139" cy="93"/>
            </a:xfrm>
            <a:custGeom>
              <a:avLst/>
              <a:gdLst>
                <a:gd name="T0" fmla="*/ 0 w 139"/>
                <a:gd name="T1" fmla="*/ 93 h 93"/>
                <a:gd name="T2" fmla="*/ 139 w 139"/>
                <a:gd name="T3" fmla="*/ 46 h 93"/>
                <a:gd name="T4" fmla="*/ 0 w 139"/>
                <a:gd name="T5" fmla="*/ 0 h 93"/>
                <a:gd name="T6" fmla="*/ 0 w 139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93"/>
                <a:gd name="T14" fmla="*/ 139 w 139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93">
                  <a:moveTo>
                    <a:pt x="0" y="93"/>
                  </a:moveTo>
                  <a:lnTo>
                    <a:pt x="139" y="46"/>
                  </a:lnTo>
                  <a:lnTo>
                    <a:pt x="0" y="0"/>
                  </a:lnTo>
                  <a:lnTo>
                    <a:pt x="0" y="9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8" name="Line 118"/>
            <p:cNvSpPr>
              <a:spLocks noChangeShapeType="1"/>
            </p:cNvSpPr>
            <p:nvPr/>
          </p:nvSpPr>
          <p:spPr bwMode="auto">
            <a:xfrm flipH="1">
              <a:off x="1275" y="2363"/>
              <a:ext cx="12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59" name="Freeform 119"/>
            <p:cNvSpPr>
              <a:spLocks/>
            </p:cNvSpPr>
            <p:nvPr/>
          </p:nvSpPr>
          <p:spPr bwMode="auto">
            <a:xfrm>
              <a:off x="1386" y="2317"/>
              <a:ext cx="139" cy="92"/>
            </a:xfrm>
            <a:custGeom>
              <a:avLst/>
              <a:gdLst>
                <a:gd name="T0" fmla="*/ 0 w 139"/>
                <a:gd name="T1" fmla="*/ 92 h 92"/>
                <a:gd name="T2" fmla="*/ 139 w 139"/>
                <a:gd name="T3" fmla="*/ 46 h 92"/>
                <a:gd name="T4" fmla="*/ 0 w 139"/>
                <a:gd name="T5" fmla="*/ 0 h 92"/>
                <a:gd name="T6" fmla="*/ 0 w 139"/>
                <a:gd name="T7" fmla="*/ 92 h 9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92"/>
                <a:gd name="T14" fmla="*/ 139 w 139"/>
                <a:gd name="T15" fmla="*/ 92 h 9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92">
                  <a:moveTo>
                    <a:pt x="0" y="92"/>
                  </a:moveTo>
                  <a:lnTo>
                    <a:pt x="139" y="46"/>
                  </a:lnTo>
                  <a:lnTo>
                    <a:pt x="0" y="0"/>
                  </a:lnTo>
                  <a:lnTo>
                    <a:pt x="0" y="9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60" name="Rectangle 120"/>
            <p:cNvSpPr>
              <a:spLocks noChangeArrowheads="1"/>
            </p:cNvSpPr>
            <p:nvPr/>
          </p:nvSpPr>
          <p:spPr bwMode="auto">
            <a:xfrm>
              <a:off x="856" y="1773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</a:rPr>
                <a:t>v</a:t>
              </a:r>
              <a:endParaRPr lang="en-US" altLang="zh-CN" sz="2400"/>
            </a:p>
          </p:txBody>
        </p:sp>
        <p:sp>
          <p:nvSpPr>
            <p:cNvPr id="123961" name="Rectangle 121"/>
            <p:cNvSpPr>
              <a:spLocks noChangeArrowheads="1"/>
            </p:cNvSpPr>
            <p:nvPr/>
          </p:nvSpPr>
          <p:spPr bwMode="auto">
            <a:xfrm>
              <a:off x="947" y="1918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900">
                  <a:solidFill>
                    <a:srgbClr val="000000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400"/>
            </a:p>
          </p:txBody>
        </p:sp>
        <p:sp>
          <p:nvSpPr>
            <p:cNvPr id="123962" name="Rectangle 122"/>
            <p:cNvSpPr>
              <a:spLocks noChangeArrowheads="1"/>
            </p:cNvSpPr>
            <p:nvPr/>
          </p:nvSpPr>
          <p:spPr bwMode="auto">
            <a:xfrm>
              <a:off x="1417" y="2397"/>
              <a:ext cx="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</a:rPr>
                <a:t>i</a:t>
              </a:r>
              <a:endParaRPr lang="en-US" altLang="zh-CN" sz="2400"/>
            </a:p>
          </p:txBody>
        </p:sp>
        <p:sp>
          <p:nvSpPr>
            <p:cNvPr id="123963" name="Rectangle 123"/>
            <p:cNvSpPr>
              <a:spLocks noChangeArrowheads="1"/>
            </p:cNvSpPr>
            <p:nvPr/>
          </p:nvSpPr>
          <p:spPr bwMode="auto">
            <a:xfrm>
              <a:off x="1473" y="2542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900">
                  <a:solidFill>
                    <a:srgbClr val="000000"/>
                  </a:solidFill>
                  <a:latin typeface="宋体" panose="02010600030101010101" pitchFamily="2" charset="-122"/>
                </a:rPr>
                <a:t>+</a:t>
              </a:r>
              <a:endParaRPr lang="en-US" altLang="zh-CN" sz="2400"/>
            </a:p>
          </p:txBody>
        </p:sp>
        <p:sp>
          <p:nvSpPr>
            <p:cNvPr id="123964" name="Rectangle 124"/>
            <p:cNvSpPr>
              <a:spLocks noChangeArrowheads="1"/>
            </p:cNvSpPr>
            <p:nvPr/>
          </p:nvSpPr>
          <p:spPr bwMode="auto">
            <a:xfrm>
              <a:off x="1417" y="1718"/>
              <a:ext cx="62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</a:rPr>
                <a:t>i</a:t>
              </a:r>
              <a:endParaRPr lang="en-US" altLang="zh-CN" sz="2400"/>
            </a:p>
          </p:txBody>
        </p:sp>
        <p:sp>
          <p:nvSpPr>
            <p:cNvPr id="123965" name="Rectangle 125"/>
            <p:cNvSpPr>
              <a:spLocks noChangeArrowheads="1"/>
            </p:cNvSpPr>
            <p:nvPr/>
          </p:nvSpPr>
          <p:spPr bwMode="auto">
            <a:xfrm>
              <a:off x="1473" y="1860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900">
                  <a:solidFill>
                    <a:srgbClr val="000000"/>
                  </a:solidFill>
                  <a:latin typeface="宋体" panose="02010600030101010101" pitchFamily="2" charset="-122"/>
                </a:rPr>
                <a:t>-</a:t>
              </a:r>
              <a:endParaRPr lang="en-US" altLang="zh-CN" sz="2400"/>
            </a:p>
          </p:txBody>
        </p:sp>
        <p:sp>
          <p:nvSpPr>
            <p:cNvPr id="123966" name="Rectangle 126"/>
            <p:cNvSpPr>
              <a:spLocks noChangeArrowheads="1"/>
            </p:cNvSpPr>
            <p:nvPr/>
          </p:nvSpPr>
          <p:spPr bwMode="auto">
            <a:xfrm>
              <a:off x="849" y="2264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</a:rPr>
                <a:t>v</a:t>
              </a:r>
              <a:endParaRPr lang="en-US" altLang="zh-CN" sz="2400"/>
            </a:p>
          </p:txBody>
        </p:sp>
        <p:sp>
          <p:nvSpPr>
            <p:cNvPr id="123967" name="Rectangle 127"/>
            <p:cNvSpPr>
              <a:spLocks noChangeArrowheads="1"/>
            </p:cNvSpPr>
            <p:nvPr/>
          </p:nvSpPr>
          <p:spPr bwMode="auto">
            <a:xfrm>
              <a:off x="941" y="2407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900">
                  <a:solidFill>
                    <a:srgbClr val="000000"/>
                  </a:solidFill>
                  <a:latin typeface="宋体" panose="02010600030101010101" pitchFamily="2" charset="-122"/>
                </a:rPr>
                <a:t>+</a:t>
              </a:r>
              <a:endParaRPr lang="en-US" altLang="zh-CN" sz="2400"/>
            </a:p>
          </p:txBody>
        </p:sp>
        <p:sp>
          <p:nvSpPr>
            <p:cNvPr id="123968" name="Rectangle 128"/>
            <p:cNvSpPr>
              <a:spLocks noChangeArrowheads="1"/>
            </p:cNvSpPr>
            <p:nvPr/>
          </p:nvSpPr>
          <p:spPr bwMode="auto">
            <a:xfrm>
              <a:off x="2789" y="2220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>
                  <a:solidFill>
                    <a:srgbClr val="000000"/>
                  </a:solidFill>
                </a:rPr>
                <a:t>v</a:t>
              </a:r>
              <a:endParaRPr lang="en-US" altLang="zh-CN" sz="2400"/>
            </a:p>
          </p:txBody>
        </p:sp>
        <p:sp>
          <p:nvSpPr>
            <p:cNvPr id="123969" name="Rectangle 129"/>
            <p:cNvSpPr>
              <a:spLocks noChangeArrowheads="1"/>
            </p:cNvSpPr>
            <p:nvPr/>
          </p:nvSpPr>
          <p:spPr bwMode="auto">
            <a:xfrm>
              <a:off x="2876" y="2325"/>
              <a:ext cx="77" cy="1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1900" dirty="0">
                  <a:solidFill>
                    <a:srgbClr val="000000"/>
                  </a:solidFill>
                  <a:latin typeface="宋体" panose="02010600030101010101" pitchFamily="2" charset="-122"/>
                </a:rPr>
                <a:t>o</a:t>
              </a:r>
              <a:endParaRPr lang="en-US" altLang="zh-CN" sz="2400" dirty="0"/>
            </a:p>
          </p:txBody>
        </p:sp>
        <p:sp>
          <p:nvSpPr>
            <p:cNvPr id="123970" name="Rectangle 130"/>
            <p:cNvSpPr>
              <a:spLocks noChangeArrowheads="1"/>
            </p:cNvSpPr>
            <p:nvPr/>
          </p:nvSpPr>
          <p:spPr bwMode="auto">
            <a:xfrm>
              <a:off x="2789" y="1846"/>
              <a:ext cx="9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solidFill>
                    <a:srgbClr val="000000"/>
                  </a:solidFill>
                </a:rPr>
                <a:t>c</a:t>
              </a:r>
              <a:endParaRPr lang="en-US" altLang="zh-CN" sz="2400"/>
            </a:p>
          </p:txBody>
        </p:sp>
        <p:sp>
          <p:nvSpPr>
            <p:cNvPr id="123971" name="Freeform 131"/>
            <p:cNvSpPr>
              <a:spLocks/>
            </p:cNvSpPr>
            <p:nvPr/>
          </p:nvSpPr>
          <p:spPr bwMode="auto">
            <a:xfrm>
              <a:off x="1991" y="2716"/>
              <a:ext cx="62" cy="62"/>
            </a:xfrm>
            <a:custGeom>
              <a:avLst/>
              <a:gdLst>
                <a:gd name="T0" fmla="*/ 0 w 62"/>
                <a:gd name="T1" fmla="*/ 31 h 62"/>
                <a:gd name="T2" fmla="*/ 2 w 62"/>
                <a:gd name="T3" fmla="*/ 15 h 62"/>
                <a:gd name="T4" fmla="*/ 16 w 62"/>
                <a:gd name="T5" fmla="*/ 4 h 62"/>
                <a:gd name="T6" fmla="*/ 31 w 62"/>
                <a:gd name="T7" fmla="*/ 0 h 62"/>
                <a:gd name="T8" fmla="*/ 47 w 62"/>
                <a:gd name="T9" fmla="*/ 4 h 62"/>
                <a:gd name="T10" fmla="*/ 58 w 62"/>
                <a:gd name="T11" fmla="*/ 15 h 62"/>
                <a:gd name="T12" fmla="*/ 62 w 62"/>
                <a:gd name="T13" fmla="*/ 31 h 62"/>
                <a:gd name="T14" fmla="*/ 58 w 62"/>
                <a:gd name="T15" fmla="*/ 46 h 62"/>
                <a:gd name="T16" fmla="*/ 47 w 62"/>
                <a:gd name="T17" fmla="*/ 57 h 62"/>
                <a:gd name="T18" fmla="*/ 31 w 62"/>
                <a:gd name="T19" fmla="*/ 62 h 62"/>
                <a:gd name="T20" fmla="*/ 16 w 62"/>
                <a:gd name="T21" fmla="*/ 57 h 62"/>
                <a:gd name="T22" fmla="*/ 2 w 62"/>
                <a:gd name="T23" fmla="*/ 46 h 62"/>
                <a:gd name="T24" fmla="*/ 0 w 62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2"/>
                <a:gd name="T41" fmla="*/ 62 w 6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2">
                  <a:moveTo>
                    <a:pt x="0" y="31"/>
                  </a:moveTo>
                  <a:lnTo>
                    <a:pt x="2" y="15"/>
                  </a:lnTo>
                  <a:lnTo>
                    <a:pt x="16" y="4"/>
                  </a:lnTo>
                  <a:lnTo>
                    <a:pt x="31" y="0"/>
                  </a:lnTo>
                  <a:lnTo>
                    <a:pt x="47" y="4"/>
                  </a:lnTo>
                  <a:lnTo>
                    <a:pt x="58" y="15"/>
                  </a:lnTo>
                  <a:lnTo>
                    <a:pt x="62" y="31"/>
                  </a:lnTo>
                  <a:lnTo>
                    <a:pt x="58" y="46"/>
                  </a:lnTo>
                  <a:lnTo>
                    <a:pt x="47" y="57"/>
                  </a:lnTo>
                  <a:lnTo>
                    <a:pt x="31" y="62"/>
                  </a:lnTo>
                  <a:lnTo>
                    <a:pt x="16" y="57"/>
                  </a:lnTo>
                  <a:lnTo>
                    <a:pt x="2" y="4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000000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72" name="Line 132"/>
            <p:cNvSpPr>
              <a:spLocks noChangeShapeType="1"/>
            </p:cNvSpPr>
            <p:nvPr/>
          </p:nvSpPr>
          <p:spPr bwMode="auto">
            <a:xfrm flipV="1">
              <a:off x="1817" y="1913"/>
              <a:ext cx="1" cy="56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3" name="Line 133"/>
            <p:cNvSpPr>
              <a:spLocks noChangeShapeType="1"/>
            </p:cNvSpPr>
            <p:nvPr/>
          </p:nvSpPr>
          <p:spPr bwMode="auto">
            <a:xfrm flipH="1" flipV="1">
              <a:off x="1817" y="1913"/>
              <a:ext cx="499" cy="285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4" name="Line 134"/>
            <p:cNvSpPr>
              <a:spLocks noChangeShapeType="1"/>
            </p:cNvSpPr>
            <p:nvPr/>
          </p:nvSpPr>
          <p:spPr bwMode="auto">
            <a:xfrm flipV="1">
              <a:off x="1817" y="2198"/>
              <a:ext cx="499" cy="282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5" name="Line 135"/>
            <p:cNvSpPr>
              <a:spLocks noChangeShapeType="1"/>
            </p:cNvSpPr>
            <p:nvPr/>
          </p:nvSpPr>
          <p:spPr bwMode="auto">
            <a:xfrm>
              <a:off x="2316" y="2198"/>
              <a:ext cx="8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6" name="Line 136"/>
            <p:cNvSpPr>
              <a:spLocks noChangeShapeType="1"/>
            </p:cNvSpPr>
            <p:nvPr/>
          </p:nvSpPr>
          <p:spPr bwMode="auto">
            <a:xfrm>
              <a:off x="1901" y="2299"/>
              <a:ext cx="1" cy="84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7" name="Line 137"/>
            <p:cNvSpPr>
              <a:spLocks noChangeShapeType="1"/>
            </p:cNvSpPr>
            <p:nvPr/>
          </p:nvSpPr>
          <p:spPr bwMode="auto">
            <a:xfrm>
              <a:off x="1859" y="2341"/>
              <a:ext cx="84" cy="1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8" name="Line 138"/>
            <p:cNvSpPr>
              <a:spLocks noChangeShapeType="1"/>
            </p:cNvSpPr>
            <p:nvPr/>
          </p:nvSpPr>
          <p:spPr bwMode="auto">
            <a:xfrm flipH="1">
              <a:off x="1859" y="2037"/>
              <a:ext cx="84" cy="1"/>
            </a:xfrm>
            <a:prstGeom prst="line">
              <a:avLst/>
            </a:prstGeom>
            <a:noFill/>
            <a:ln w="349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79" name="Line 139"/>
            <p:cNvSpPr>
              <a:spLocks noChangeShapeType="1"/>
            </p:cNvSpPr>
            <p:nvPr/>
          </p:nvSpPr>
          <p:spPr bwMode="auto">
            <a:xfrm>
              <a:off x="1735" y="2363"/>
              <a:ext cx="8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0" name="Line 140"/>
            <p:cNvSpPr>
              <a:spLocks noChangeShapeType="1"/>
            </p:cNvSpPr>
            <p:nvPr/>
          </p:nvSpPr>
          <p:spPr bwMode="auto">
            <a:xfrm>
              <a:off x="1735" y="2032"/>
              <a:ext cx="82" cy="1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1" name="Line 141"/>
            <p:cNvSpPr>
              <a:spLocks noChangeShapeType="1"/>
            </p:cNvSpPr>
            <p:nvPr/>
          </p:nvSpPr>
          <p:spPr bwMode="auto">
            <a:xfrm>
              <a:off x="2029" y="2363"/>
              <a:ext cx="1" cy="24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2" name="Freeform 142"/>
            <p:cNvSpPr>
              <a:spLocks/>
            </p:cNvSpPr>
            <p:nvPr/>
          </p:nvSpPr>
          <p:spPr bwMode="auto">
            <a:xfrm>
              <a:off x="1940" y="1517"/>
              <a:ext cx="62" cy="62"/>
            </a:xfrm>
            <a:custGeom>
              <a:avLst/>
              <a:gdLst>
                <a:gd name="T0" fmla="*/ 0 w 62"/>
                <a:gd name="T1" fmla="*/ 31 h 62"/>
                <a:gd name="T2" fmla="*/ 4 w 62"/>
                <a:gd name="T3" fmla="*/ 15 h 62"/>
                <a:gd name="T4" fmla="*/ 15 w 62"/>
                <a:gd name="T5" fmla="*/ 4 h 62"/>
                <a:gd name="T6" fmla="*/ 31 w 62"/>
                <a:gd name="T7" fmla="*/ 0 h 62"/>
                <a:gd name="T8" fmla="*/ 46 w 62"/>
                <a:gd name="T9" fmla="*/ 4 h 62"/>
                <a:gd name="T10" fmla="*/ 57 w 62"/>
                <a:gd name="T11" fmla="*/ 15 h 62"/>
                <a:gd name="T12" fmla="*/ 62 w 62"/>
                <a:gd name="T13" fmla="*/ 31 h 62"/>
                <a:gd name="T14" fmla="*/ 57 w 62"/>
                <a:gd name="T15" fmla="*/ 46 h 62"/>
                <a:gd name="T16" fmla="*/ 46 w 62"/>
                <a:gd name="T17" fmla="*/ 57 h 62"/>
                <a:gd name="T18" fmla="*/ 31 w 62"/>
                <a:gd name="T19" fmla="*/ 62 h 62"/>
                <a:gd name="T20" fmla="*/ 15 w 62"/>
                <a:gd name="T21" fmla="*/ 57 h 62"/>
                <a:gd name="T22" fmla="*/ 4 w 62"/>
                <a:gd name="T23" fmla="*/ 46 h 62"/>
                <a:gd name="T24" fmla="*/ 0 w 62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2"/>
                <a:gd name="T41" fmla="*/ 62 w 6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2">
                  <a:moveTo>
                    <a:pt x="0" y="31"/>
                  </a:moveTo>
                  <a:lnTo>
                    <a:pt x="4" y="15"/>
                  </a:lnTo>
                  <a:lnTo>
                    <a:pt x="15" y="4"/>
                  </a:lnTo>
                  <a:lnTo>
                    <a:pt x="31" y="0"/>
                  </a:lnTo>
                  <a:lnTo>
                    <a:pt x="46" y="4"/>
                  </a:lnTo>
                  <a:lnTo>
                    <a:pt x="57" y="15"/>
                  </a:lnTo>
                  <a:lnTo>
                    <a:pt x="62" y="31"/>
                  </a:lnTo>
                  <a:lnTo>
                    <a:pt x="57" y="46"/>
                  </a:lnTo>
                  <a:lnTo>
                    <a:pt x="46" y="57"/>
                  </a:lnTo>
                  <a:lnTo>
                    <a:pt x="31" y="62"/>
                  </a:lnTo>
                  <a:lnTo>
                    <a:pt x="15" y="57"/>
                  </a:lnTo>
                  <a:lnTo>
                    <a:pt x="4" y="4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3" name="Line 143"/>
            <p:cNvSpPr>
              <a:spLocks noChangeShapeType="1"/>
            </p:cNvSpPr>
            <p:nvPr/>
          </p:nvSpPr>
          <p:spPr bwMode="auto">
            <a:xfrm flipH="1" flipV="1">
              <a:off x="1973" y="1586"/>
              <a:ext cx="0" cy="40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4" name="Freeform 144"/>
            <p:cNvSpPr>
              <a:spLocks/>
            </p:cNvSpPr>
            <p:nvPr/>
          </p:nvSpPr>
          <p:spPr bwMode="auto">
            <a:xfrm>
              <a:off x="2121" y="1608"/>
              <a:ext cx="62" cy="62"/>
            </a:xfrm>
            <a:custGeom>
              <a:avLst/>
              <a:gdLst>
                <a:gd name="T0" fmla="*/ 0 w 62"/>
                <a:gd name="T1" fmla="*/ 31 h 62"/>
                <a:gd name="T2" fmla="*/ 4 w 62"/>
                <a:gd name="T3" fmla="*/ 15 h 62"/>
                <a:gd name="T4" fmla="*/ 15 w 62"/>
                <a:gd name="T5" fmla="*/ 4 h 62"/>
                <a:gd name="T6" fmla="*/ 31 w 62"/>
                <a:gd name="T7" fmla="*/ 0 h 62"/>
                <a:gd name="T8" fmla="*/ 46 w 62"/>
                <a:gd name="T9" fmla="*/ 4 h 62"/>
                <a:gd name="T10" fmla="*/ 57 w 62"/>
                <a:gd name="T11" fmla="*/ 15 h 62"/>
                <a:gd name="T12" fmla="*/ 62 w 62"/>
                <a:gd name="T13" fmla="*/ 31 h 62"/>
                <a:gd name="T14" fmla="*/ 57 w 62"/>
                <a:gd name="T15" fmla="*/ 46 h 62"/>
                <a:gd name="T16" fmla="*/ 46 w 62"/>
                <a:gd name="T17" fmla="*/ 57 h 62"/>
                <a:gd name="T18" fmla="*/ 31 w 62"/>
                <a:gd name="T19" fmla="*/ 62 h 62"/>
                <a:gd name="T20" fmla="*/ 15 w 62"/>
                <a:gd name="T21" fmla="*/ 57 h 62"/>
                <a:gd name="T22" fmla="*/ 4 w 62"/>
                <a:gd name="T23" fmla="*/ 46 h 62"/>
                <a:gd name="T24" fmla="*/ 0 w 62"/>
                <a:gd name="T25" fmla="*/ 31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62"/>
                <a:gd name="T40" fmla="*/ 0 h 62"/>
                <a:gd name="T41" fmla="*/ 62 w 62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62" h="62">
                  <a:moveTo>
                    <a:pt x="0" y="31"/>
                  </a:moveTo>
                  <a:lnTo>
                    <a:pt x="4" y="15"/>
                  </a:lnTo>
                  <a:lnTo>
                    <a:pt x="15" y="4"/>
                  </a:lnTo>
                  <a:lnTo>
                    <a:pt x="31" y="0"/>
                  </a:lnTo>
                  <a:lnTo>
                    <a:pt x="46" y="4"/>
                  </a:lnTo>
                  <a:lnTo>
                    <a:pt x="57" y="15"/>
                  </a:lnTo>
                  <a:lnTo>
                    <a:pt x="62" y="31"/>
                  </a:lnTo>
                  <a:lnTo>
                    <a:pt x="57" y="46"/>
                  </a:lnTo>
                  <a:lnTo>
                    <a:pt x="46" y="57"/>
                  </a:lnTo>
                  <a:lnTo>
                    <a:pt x="31" y="62"/>
                  </a:lnTo>
                  <a:lnTo>
                    <a:pt x="15" y="57"/>
                  </a:lnTo>
                  <a:lnTo>
                    <a:pt x="4" y="46"/>
                  </a:lnTo>
                  <a:lnTo>
                    <a:pt x="0" y="31"/>
                  </a:lnTo>
                  <a:close/>
                </a:path>
              </a:pathLst>
            </a:custGeom>
            <a:solidFill>
              <a:srgbClr val="FFFFFF"/>
            </a:solidFill>
            <a:ln w="2063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3985" name="Line 145"/>
            <p:cNvSpPr>
              <a:spLocks noChangeShapeType="1"/>
            </p:cNvSpPr>
            <p:nvPr/>
          </p:nvSpPr>
          <p:spPr bwMode="auto">
            <a:xfrm flipH="1" flipV="1">
              <a:off x="2154" y="1677"/>
              <a:ext cx="0" cy="40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986" name="Text Box 146"/>
            <p:cNvSpPr txBox="1">
              <a:spLocks noChangeArrowheads="1"/>
            </p:cNvSpPr>
            <p:nvPr/>
          </p:nvSpPr>
          <p:spPr bwMode="auto">
            <a:xfrm>
              <a:off x="1565" y="1389"/>
              <a:ext cx="3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V</a:t>
              </a:r>
              <a:r>
                <a:rPr lang="en-US" altLang="zh-CN" sz="2400" baseline="-25000"/>
                <a:t>S+</a:t>
              </a:r>
            </a:p>
          </p:txBody>
        </p:sp>
        <p:sp>
          <p:nvSpPr>
            <p:cNvPr id="123987" name="Text Box 147"/>
            <p:cNvSpPr txBox="1">
              <a:spLocks noChangeArrowheads="1"/>
            </p:cNvSpPr>
            <p:nvPr/>
          </p:nvSpPr>
          <p:spPr bwMode="auto">
            <a:xfrm>
              <a:off x="2154" y="1570"/>
              <a:ext cx="36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/>
                <a:t>V</a:t>
              </a:r>
              <a:r>
                <a:rPr lang="en-US" altLang="zh-CN" sz="2400" baseline="-25000"/>
                <a:t>S-</a:t>
              </a:r>
            </a:p>
          </p:txBody>
        </p:sp>
      </p:grpSp>
      <p:sp>
        <p:nvSpPr>
          <p:cNvPr id="361621" name="Rectangle 149"/>
          <p:cNvSpPr>
            <a:spLocks noChangeArrowheads="1"/>
          </p:cNvSpPr>
          <p:nvPr/>
        </p:nvSpPr>
        <p:spPr bwMode="auto">
          <a:xfrm>
            <a:off x="323850" y="908052"/>
            <a:ext cx="451485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/>
              <a:t>Op Amp Model :</a:t>
            </a:r>
            <a:endParaRPr lang="en-US" altLang="zh-CN" sz="2400"/>
          </a:p>
        </p:txBody>
      </p:sp>
      <p:sp>
        <p:nvSpPr>
          <p:cNvPr id="361622" name="Rectangle 150"/>
          <p:cNvSpPr>
            <a:spLocks noChangeArrowheads="1"/>
          </p:cNvSpPr>
          <p:nvPr/>
        </p:nvSpPr>
        <p:spPr bwMode="auto">
          <a:xfrm>
            <a:off x="468313" y="1628775"/>
            <a:ext cx="4514850" cy="142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/>
              <a:t>a: </a:t>
            </a:r>
            <a:r>
              <a:rPr lang="en-US" altLang="zh-CN" sz="2400" b="1" i="1" dirty="0"/>
              <a:t>v</a:t>
            </a:r>
            <a:r>
              <a:rPr lang="en-US" altLang="zh-CN" sz="2400" b="1" dirty="0"/>
              <a:t>- : inverting input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/>
              <a:t>b: </a:t>
            </a:r>
            <a:r>
              <a:rPr lang="en-US" altLang="zh-CN" sz="2400" b="1" i="1" dirty="0"/>
              <a:t>v+</a:t>
            </a:r>
            <a:r>
              <a:rPr lang="en-US" altLang="zh-CN" sz="2400" b="1" dirty="0"/>
              <a:t> : noninverting input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 dirty="0"/>
              <a:t>c: </a:t>
            </a:r>
            <a:r>
              <a:rPr lang="en-US" altLang="zh-CN" sz="2400" b="1" i="1" dirty="0" err="1"/>
              <a:t>v</a:t>
            </a:r>
            <a:r>
              <a:rPr lang="en-US" altLang="zh-CN" sz="2400" b="1" baseline="-25000" dirty="0" err="1"/>
              <a:t>o</a:t>
            </a:r>
            <a:r>
              <a:rPr lang="en-US" altLang="zh-CN" sz="2400" b="1" dirty="0"/>
              <a:t> : output</a:t>
            </a:r>
            <a:endParaRPr lang="en-US" altLang="zh-CN" sz="2400" dirty="0"/>
          </a:p>
        </p:txBody>
      </p:sp>
      <p:sp>
        <p:nvSpPr>
          <p:cNvPr id="361623" name="Rectangle 151"/>
          <p:cNvSpPr>
            <a:spLocks noChangeArrowheads="1"/>
          </p:cNvSpPr>
          <p:nvPr/>
        </p:nvSpPr>
        <p:spPr bwMode="auto">
          <a:xfrm>
            <a:off x="395288" y="3357565"/>
            <a:ext cx="4514850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/>
              <a:t>Ideal Op Amp Rules</a:t>
            </a:r>
            <a:endParaRPr lang="en-US" altLang="zh-CN" sz="2400"/>
          </a:p>
        </p:txBody>
      </p:sp>
      <p:sp>
        <p:nvSpPr>
          <p:cNvPr id="361624" name="Rectangle 152"/>
          <p:cNvSpPr>
            <a:spLocks noChangeArrowheads="1"/>
          </p:cNvSpPr>
          <p:nvPr/>
        </p:nvSpPr>
        <p:spPr bwMode="auto">
          <a:xfrm>
            <a:off x="611188" y="5373690"/>
            <a:ext cx="7777162" cy="978729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sz="2400" b="1"/>
              <a:t>No current flows into either input terminal.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AutoNum type="arabicPeriod"/>
            </a:pPr>
            <a:r>
              <a:rPr lang="en-US" altLang="zh-CN" sz="2400" b="1"/>
              <a:t>There is no voltage difference between the two inputs.</a:t>
            </a:r>
          </a:p>
        </p:txBody>
      </p:sp>
      <p:sp>
        <p:nvSpPr>
          <p:cNvPr id="361625" name="Text Box 153"/>
          <p:cNvSpPr txBox="1">
            <a:spLocks noChangeArrowheads="1"/>
          </p:cNvSpPr>
          <p:nvPr/>
        </p:nvSpPr>
        <p:spPr bwMode="auto">
          <a:xfrm>
            <a:off x="1331913" y="4076700"/>
            <a:ext cx="3040062" cy="965200"/>
          </a:xfrm>
          <a:prstGeom prst="rect">
            <a:avLst/>
          </a:prstGeom>
          <a:solidFill>
            <a:srgbClr val="FFFF00"/>
          </a:solidFill>
          <a:ln w="19050">
            <a:solidFill>
              <a:srgbClr val="000099"/>
            </a:solidFill>
            <a:miter lim="800000"/>
            <a:headEnd/>
            <a:tailEnd type="none" w="lg" len="med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= </a:t>
            </a:r>
            <a:r>
              <a:rPr lang="en-US" altLang="zh-CN" sz="2800" i="1" dirty="0" err="1"/>
              <a:t>i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= </a:t>
            </a:r>
            <a:r>
              <a:rPr lang="en-US" altLang="zh-CN" sz="2800" dirty="0"/>
              <a:t>0</a:t>
            </a:r>
            <a:r>
              <a:rPr lang="en-US" altLang="zh-CN" sz="2800" i="1" dirty="0"/>
              <a:t> , </a:t>
            </a:r>
            <a:br>
              <a:rPr lang="en-US" altLang="zh-CN" sz="2800" i="1" dirty="0"/>
            </a:br>
            <a:r>
              <a:rPr lang="en-US" altLang="zh-CN" sz="2800" i="1" dirty="0" err="1"/>
              <a:t>v</a:t>
            </a:r>
            <a:r>
              <a:rPr lang="en-US" altLang="zh-CN" sz="2800" baseline="-25000" dirty="0" err="1"/>
              <a:t>d</a:t>
            </a:r>
            <a:r>
              <a:rPr lang="en-US" altLang="zh-CN" sz="2800" i="1" baseline="-25000" dirty="0"/>
              <a:t> </a:t>
            </a:r>
            <a:r>
              <a:rPr lang="en-US" altLang="zh-CN" sz="2800" i="1" dirty="0"/>
              <a:t>= v</a:t>
            </a:r>
            <a:r>
              <a:rPr lang="en-US" altLang="zh-CN" sz="2800" i="1" baseline="-25000" dirty="0"/>
              <a:t>+</a:t>
            </a:r>
            <a:r>
              <a:rPr lang="en-US" altLang="zh-CN" sz="2800" i="1" dirty="0"/>
              <a:t> </a:t>
            </a:r>
            <a:r>
              <a:rPr lang="en-US" altLang="zh-CN" sz="2400" b="1" i="1" dirty="0"/>
              <a:t>–</a:t>
            </a:r>
            <a:r>
              <a:rPr lang="en-US" altLang="zh-CN" sz="2800" i="1" dirty="0"/>
              <a:t> v</a:t>
            </a:r>
            <a:r>
              <a:rPr lang="en-US" altLang="zh-CN" sz="2800" i="1" baseline="-25000" dirty="0"/>
              <a:t>-</a:t>
            </a:r>
            <a:r>
              <a:rPr lang="en-US" altLang="zh-CN" sz="2800" i="1" dirty="0"/>
              <a:t> = </a:t>
            </a:r>
            <a:r>
              <a:rPr lang="en-US" altLang="zh-CN" sz="2800" dirty="0"/>
              <a:t>0</a:t>
            </a:r>
          </a:p>
        </p:txBody>
      </p:sp>
      <p:sp>
        <p:nvSpPr>
          <p:cNvPr id="361626" name="Oval 154"/>
          <p:cNvSpPr>
            <a:spLocks noChangeArrowheads="1"/>
          </p:cNvSpPr>
          <p:nvPr/>
        </p:nvSpPr>
        <p:spPr bwMode="auto">
          <a:xfrm>
            <a:off x="6948488" y="4113262"/>
            <a:ext cx="431800" cy="649188"/>
          </a:xfrm>
          <a:prstGeom prst="ellipse">
            <a:avLst/>
          </a:prstGeom>
          <a:solidFill>
            <a:srgbClr val="FFFF00"/>
          </a:solidFill>
          <a:ln w="28575" algn="ctr">
            <a:solidFill>
              <a:schemeClr val="accent2"/>
            </a:solidFill>
            <a:round/>
            <a:headEnd/>
            <a:tailEnd type="none" w="lg" len="lg"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grpSp>
        <p:nvGrpSpPr>
          <p:cNvPr id="123916" name="Group 160"/>
          <p:cNvGrpSpPr>
            <a:grpSpLocks/>
          </p:cNvGrpSpPr>
          <p:nvPr/>
        </p:nvGrpSpPr>
        <p:grpSpPr bwMode="auto">
          <a:xfrm>
            <a:off x="5940425" y="3716340"/>
            <a:ext cx="2689225" cy="1393825"/>
            <a:chOff x="3742" y="2341"/>
            <a:chExt cx="1694" cy="878"/>
          </a:xfrm>
        </p:grpSpPr>
        <p:grpSp>
          <p:nvGrpSpPr>
            <p:cNvPr id="123917" name="Group 80"/>
            <p:cNvGrpSpPr>
              <a:grpSpLocks/>
            </p:cNvGrpSpPr>
            <p:nvPr/>
          </p:nvGrpSpPr>
          <p:grpSpPr bwMode="auto">
            <a:xfrm>
              <a:off x="3742" y="2478"/>
              <a:ext cx="1694" cy="670"/>
              <a:chOff x="3371" y="1890"/>
              <a:chExt cx="1694" cy="670"/>
            </a:xfrm>
          </p:grpSpPr>
          <p:sp>
            <p:nvSpPr>
              <p:cNvPr id="123922" name="Line 81"/>
              <p:cNvSpPr>
                <a:spLocks noChangeShapeType="1"/>
              </p:cNvSpPr>
              <p:nvPr/>
            </p:nvSpPr>
            <p:spPr bwMode="auto">
              <a:xfrm flipV="1">
                <a:off x="4078" y="1933"/>
                <a:ext cx="1" cy="569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3" name="Line 82"/>
              <p:cNvSpPr>
                <a:spLocks noChangeShapeType="1"/>
              </p:cNvSpPr>
              <p:nvPr/>
            </p:nvSpPr>
            <p:spPr bwMode="auto">
              <a:xfrm flipH="1" flipV="1">
                <a:off x="4078" y="1933"/>
                <a:ext cx="497" cy="285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4" name="Line 83"/>
              <p:cNvSpPr>
                <a:spLocks noChangeShapeType="1"/>
              </p:cNvSpPr>
              <p:nvPr/>
            </p:nvSpPr>
            <p:spPr bwMode="auto">
              <a:xfrm flipV="1">
                <a:off x="4078" y="2218"/>
                <a:ext cx="497" cy="284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5" name="Line 84"/>
              <p:cNvSpPr>
                <a:spLocks noChangeShapeType="1"/>
              </p:cNvSpPr>
              <p:nvPr/>
            </p:nvSpPr>
            <p:spPr bwMode="auto">
              <a:xfrm>
                <a:off x="4575" y="2218"/>
                <a:ext cx="82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6" name="Line 85"/>
              <p:cNvSpPr>
                <a:spLocks noChangeShapeType="1"/>
              </p:cNvSpPr>
              <p:nvPr/>
            </p:nvSpPr>
            <p:spPr bwMode="auto">
              <a:xfrm>
                <a:off x="4159" y="2319"/>
                <a:ext cx="1" cy="84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7" name="Line 86"/>
              <p:cNvSpPr>
                <a:spLocks noChangeShapeType="1"/>
              </p:cNvSpPr>
              <p:nvPr/>
            </p:nvSpPr>
            <p:spPr bwMode="auto">
              <a:xfrm>
                <a:off x="4117" y="2361"/>
                <a:ext cx="8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8" name="Line 87"/>
              <p:cNvSpPr>
                <a:spLocks noChangeShapeType="1"/>
              </p:cNvSpPr>
              <p:nvPr/>
            </p:nvSpPr>
            <p:spPr bwMode="auto">
              <a:xfrm flipH="1">
                <a:off x="4117" y="2059"/>
                <a:ext cx="84" cy="1"/>
              </a:xfrm>
              <a:prstGeom prst="line">
                <a:avLst/>
              </a:prstGeom>
              <a:noFill/>
              <a:ln w="349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29" name="Line 88"/>
              <p:cNvSpPr>
                <a:spLocks noChangeShapeType="1"/>
              </p:cNvSpPr>
              <p:nvPr/>
            </p:nvSpPr>
            <p:spPr bwMode="auto">
              <a:xfrm>
                <a:off x="3994" y="2383"/>
                <a:ext cx="84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0" name="Line 89"/>
              <p:cNvSpPr>
                <a:spLocks noChangeShapeType="1"/>
              </p:cNvSpPr>
              <p:nvPr/>
            </p:nvSpPr>
            <p:spPr bwMode="auto">
              <a:xfrm>
                <a:off x="3994" y="2052"/>
                <a:ext cx="84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1" name="Line 90"/>
              <p:cNvSpPr>
                <a:spLocks noChangeShapeType="1"/>
              </p:cNvSpPr>
              <p:nvPr/>
            </p:nvSpPr>
            <p:spPr bwMode="auto">
              <a:xfrm>
                <a:off x="3580" y="2052"/>
                <a:ext cx="414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2" name="Line 91"/>
              <p:cNvSpPr>
                <a:spLocks noChangeShapeType="1"/>
              </p:cNvSpPr>
              <p:nvPr/>
            </p:nvSpPr>
            <p:spPr bwMode="auto">
              <a:xfrm>
                <a:off x="3580" y="2383"/>
                <a:ext cx="420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3" name="Line 92"/>
              <p:cNvSpPr>
                <a:spLocks noChangeShapeType="1"/>
              </p:cNvSpPr>
              <p:nvPr/>
            </p:nvSpPr>
            <p:spPr bwMode="auto">
              <a:xfrm>
                <a:off x="4657" y="2218"/>
                <a:ext cx="331" cy="1"/>
              </a:xfrm>
              <a:prstGeom prst="line">
                <a:avLst/>
              </a:prstGeom>
              <a:noFill/>
              <a:ln w="2063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4" name="Freeform 93"/>
              <p:cNvSpPr>
                <a:spLocks/>
              </p:cNvSpPr>
              <p:nvPr/>
            </p:nvSpPr>
            <p:spPr bwMode="auto">
              <a:xfrm>
                <a:off x="3516" y="2021"/>
                <a:ext cx="64" cy="62"/>
              </a:xfrm>
              <a:custGeom>
                <a:avLst/>
                <a:gdLst>
                  <a:gd name="T0" fmla="*/ 0 w 64"/>
                  <a:gd name="T1" fmla="*/ 31 h 62"/>
                  <a:gd name="T2" fmla="*/ 5 w 64"/>
                  <a:gd name="T3" fmla="*/ 16 h 62"/>
                  <a:gd name="T4" fmla="*/ 16 w 64"/>
                  <a:gd name="T5" fmla="*/ 5 h 62"/>
                  <a:gd name="T6" fmla="*/ 31 w 64"/>
                  <a:gd name="T7" fmla="*/ 0 h 62"/>
                  <a:gd name="T8" fmla="*/ 47 w 64"/>
                  <a:gd name="T9" fmla="*/ 5 h 62"/>
                  <a:gd name="T10" fmla="*/ 60 w 64"/>
                  <a:gd name="T11" fmla="*/ 16 h 62"/>
                  <a:gd name="T12" fmla="*/ 64 w 64"/>
                  <a:gd name="T13" fmla="*/ 31 h 62"/>
                  <a:gd name="T14" fmla="*/ 60 w 64"/>
                  <a:gd name="T15" fmla="*/ 47 h 62"/>
                  <a:gd name="T16" fmla="*/ 47 w 64"/>
                  <a:gd name="T17" fmla="*/ 58 h 62"/>
                  <a:gd name="T18" fmla="*/ 31 w 64"/>
                  <a:gd name="T19" fmla="*/ 62 h 62"/>
                  <a:gd name="T20" fmla="*/ 16 w 64"/>
                  <a:gd name="T21" fmla="*/ 58 h 62"/>
                  <a:gd name="T22" fmla="*/ 5 w 64"/>
                  <a:gd name="T23" fmla="*/ 47 h 62"/>
                  <a:gd name="T24" fmla="*/ 0 w 64"/>
                  <a:gd name="T25" fmla="*/ 31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4"/>
                  <a:gd name="T40" fmla="*/ 0 h 62"/>
                  <a:gd name="T41" fmla="*/ 64 w 64"/>
                  <a:gd name="T42" fmla="*/ 62 h 6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4" h="62">
                    <a:moveTo>
                      <a:pt x="0" y="31"/>
                    </a:moveTo>
                    <a:lnTo>
                      <a:pt x="5" y="16"/>
                    </a:lnTo>
                    <a:lnTo>
                      <a:pt x="16" y="5"/>
                    </a:lnTo>
                    <a:lnTo>
                      <a:pt x="31" y="0"/>
                    </a:lnTo>
                    <a:lnTo>
                      <a:pt x="47" y="5"/>
                    </a:lnTo>
                    <a:lnTo>
                      <a:pt x="60" y="16"/>
                    </a:lnTo>
                    <a:lnTo>
                      <a:pt x="64" y="31"/>
                    </a:lnTo>
                    <a:lnTo>
                      <a:pt x="60" y="47"/>
                    </a:lnTo>
                    <a:lnTo>
                      <a:pt x="47" y="58"/>
                    </a:lnTo>
                    <a:lnTo>
                      <a:pt x="31" y="62"/>
                    </a:lnTo>
                    <a:lnTo>
                      <a:pt x="16" y="58"/>
                    </a:lnTo>
                    <a:lnTo>
                      <a:pt x="5" y="47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FFFFFF"/>
              </a:solidFill>
              <a:ln w="206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5" name="Freeform 94"/>
              <p:cNvSpPr>
                <a:spLocks/>
              </p:cNvSpPr>
              <p:nvPr/>
            </p:nvSpPr>
            <p:spPr bwMode="auto">
              <a:xfrm>
                <a:off x="3516" y="2352"/>
                <a:ext cx="64" cy="62"/>
              </a:xfrm>
              <a:custGeom>
                <a:avLst/>
                <a:gdLst>
                  <a:gd name="T0" fmla="*/ 0 w 64"/>
                  <a:gd name="T1" fmla="*/ 31 h 62"/>
                  <a:gd name="T2" fmla="*/ 5 w 64"/>
                  <a:gd name="T3" fmla="*/ 16 h 62"/>
                  <a:gd name="T4" fmla="*/ 16 w 64"/>
                  <a:gd name="T5" fmla="*/ 5 h 62"/>
                  <a:gd name="T6" fmla="*/ 31 w 64"/>
                  <a:gd name="T7" fmla="*/ 0 h 62"/>
                  <a:gd name="T8" fmla="*/ 47 w 64"/>
                  <a:gd name="T9" fmla="*/ 5 h 62"/>
                  <a:gd name="T10" fmla="*/ 60 w 64"/>
                  <a:gd name="T11" fmla="*/ 16 h 62"/>
                  <a:gd name="T12" fmla="*/ 64 w 64"/>
                  <a:gd name="T13" fmla="*/ 31 h 62"/>
                  <a:gd name="T14" fmla="*/ 60 w 64"/>
                  <a:gd name="T15" fmla="*/ 46 h 62"/>
                  <a:gd name="T16" fmla="*/ 47 w 64"/>
                  <a:gd name="T17" fmla="*/ 57 h 62"/>
                  <a:gd name="T18" fmla="*/ 31 w 64"/>
                  <a:gd name="T19" fmla="*/ 62 h 62"/>
                  <a:gd name="T20" fmla="*/ 16 w 64"/>
                  <a:gd name="T21" fmla="*/ 57 h 62"/>
                  <a:gd name="T22" fmla="*/ 5 w 64"/>
                  <a:gd name="T23" fmla="*/ 46 h 62"/>
                  <a:gd name="T24" fmla="*/ 0 w 64"/>
                  <a:gd name="T25" fmla="*/ 31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4"/>
                  <a:gd name="T40" fmla="*/ 0 h 62"/>
                  <a:gd name="T41" fmla="*/ 64 w 64"/>
                  <a:gd name="T42" fmla="*/ 62 h 6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4" h="62">
                    <a:moveTo>
                      <a:pt x="0" y="31"/>
                    </a:moveTo>
                    <a:lnTo>
                      <a:pt x="5" y="16"/>
                    </a:lnTo>
                    <a:lnTo>
                      <a:pt x="16" y="5"/>
                    </a:lnTo>
                    <a:lnTo>
                      <a:pt x="31" y="0"/>
                    </a:lnTo>
                    <a:lnTo>
                      <a:pt x="47" y="5"/>
                    </a:lnTo>
                    <a:lnTo>
                      <a:pt x="60" y="16"/>
                    </a:lnTo>
                    <a:lnTo>
                      <a:pt x="64" y="31"/>
                    </a:lnTo>
                    <a:lnTo>
                      <a:pt x="60" y="46"/>
                    </a:lnTo>
                    <a:lnTo>
                      <a:pt x="47" y="57"/>
                    </a:lnTo>
                    <a:lnTo>
                      <a:pt x="31" y="62"/>
                    </a:lnTo>
                    <a:lnTo>
                      <a:pt x="16" y="57"/>
                    </a:lnTo>
                    <a:lnTo>
                      <a:pt x="5" y="46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FFFFFF"/>
              </a:solidFill>
              <a:ln w="206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6" name="Freeform 95"/>
              <p:cNvSpPr>
                <a:spLocks/>
              </p:cNvSpPr>
              <p:nvPr/>
            </p:nvSpPr>
            <p:spPr bwMode="auto">
              <a:xfrm>
                <a:off x="4988" y="2187"/>
                <a:ext cx="64" cy="62"/>
              </a:xfrm>
              <a:custGeom>
                <a:avLst/>
                <a:gdLst>
                  <a:gd name="T0" fmla="*/ 0 w 64"/>
                  <a:gd name="T1" fmla="*/ 31 h 62"/>
                  <a:gd name="T2" fmla="*/ 5 w 64"/>
                  <a:gd name="T3" fmla="*/ 15 h 62"/>
                  <a:gd name="T4" fmla="*/ 16 w 64"/>
                  <a:gd name="T5" fmla="*/ 4 h 62"/>
                  <a:gd name="T6" fmla="*/ 31 w 64"/>
                  <a:gd name="T7" fmla="*/ 0 h 62"/>
                  <a:gd name="T8" fmla="*/ 49 w 64"/>
                  <a:gd name="T9" fmla="*/ 4 h 62"/>
                  <a:gd name="T10" fmla="*/ 60 w 64"/>
                  <a:gd name="T11" fmla="*/ 15 h 62"/>
                  <a:gd name="T12" fmla="*/ 64 w 64"/>
                  <a:gd name="T13" fmla="*/ 31 h 62"/>
                  <a:gd name="T14" fmla="*/ 60 w 64"/>
                  <a:gd name="T15" fmla="*/ 46 h 62"/>
                  <a:gd name="T16" fmla="*/ 49 w 64"/>
                  <a:gd name="T17" fmla="*/ 57 h 62"/>
                  <a:gd name="T18" fmla="*/ 31 w 64"/>
                  <a:gd name="T19" fmla="*/ 62 h 62"/>
                  <a:gd name="T20" fmla="*/ 16 w 64"/>
                  <a:gd name="T21" fmla="*/ 57 h 62"/>
                  <a:gd name="T22" fmla="*/ 5 w 64"/>
                  <a:gd name="T23" fmla="*/ 46 h 62"/>
                  <a:gd name="T24" fmla="*/ 0 w 64"/>
                  <a:gd name="T25" fmla="*/ 31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4"/>
                  <a:gd name="T40" fmla="*/ 0 h 62"/>
                  <a:gd name="T41" fmla="*/ 64 w 64"/>
                  <a:gd name="T42" fmla="*/ 62 h 6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4" h="62">
                    <a:moveTo>
                      <a:pt x="0" y="31"/>
                    </a:moveTo>
                    <a:lnTo>
                      <a:pt x="5" y="15"/>
                    </a:lnTo>
                    <a:lnTo>
                      <a:pt x="16" y="4"/>
                    </a:lnTo>
                    <a:lnTo>
                      <a:pt x="31" y="0"/>
                    </a:lnTo>
                    <a:lnTo>
                      <a:pt x="49" y="4"/>
                    </a:lnTo>
                    <a:lnTo>
                      <a:pt x="60" y="15"/>
                    </a:lnTo>
                    <a:lnTo>
                      <a:pt x="64" y="31"/>
                    </a:lnTo>
                    <a:lnTo>
                      <a:pt x="60" y="46"/>
                    </a:lnTo>
                    <a:lnTo>
                      <a:pt x="49" y="57"/>
                    </a:lnTo>
                    <a:lnTo>
                      <a:pt x="31" y="62"/>
                    </a:lnTo>
                    <a:lnTo>
                      <a:pt x="16" y="57"/>
                    </a:lnTo>
                    <a:lnTo>
                      <a:pt x="5" y="46"/>
                    </a:lnTo>
                    <a:lnTo>
                      <a:pt x="0" y="31"/>
                    </a:lnTo>
                    <a:close/>
                  </a:path>
                </a:pathLst>
              </a:custGeom>
              <a:solidFill>
                <a:srgbClr val="FFFFFF"/>
              </a:solidFill>
              <a:ln w="20638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37" name="Rectangle 96"/>
              <p:cNvSpPr>
                <a:spLocks noChangeArrowheads="1"/>
              </p:cNvSpPr>
              <p:nvPr/>
            </p:nvSpPr>
            <p:spPr bwMode="auto">
              <a:xfrm>
                <a:off x="4912" y="1890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3938" name="Rectangle 97"/>
              <p:cNvSpPr>
                <a:spLocks noChangeArrowheads="1"/>
              </p:cNvSpPr>
              <p:nvPr/>
            </p:nvSpPr>
            <p:spPr bwMode="auto">
              <a:xfrm>
                <a:off x="4988" y="1997"/>
                <a:ext cx="7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dirty="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o</a:t>
                </a:r>
                <a:endParaRPr lang="en-US" altLang="zh-CN" sz="2400" dirty="0"/>
              </a:p>
            </p:txBody>
          </p:sp>
          <p:sp>
            <p:nvSpPr>
              <p:cNvPr id="123939" name="Rectangle 98"/>
              <p:cNvSpPr>
                <a:spLocks noChangeArrowheads="1"/>
              </p:cNvSpPr>
              <p:nvPr/>
            </p:nvSpPr>
            <p:spPr bwMode="auto">
              <a:xfrm>
                <a:off x="3371" y="1903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3940" name="Rectangle 99"/>
              <p:cNvSpPr>
                <a:spLocks noChangeArrowheads="1"/>
              </p:cNvSpPr>
              <p:nvPr/>
            </p:nvSpPr>
            <p:spPr bwMode="auto">
              <a:xfrm>
                <a:off x="3462" y="2046"/>
                <a:ext cx="7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-</a:t>
                </a:r>
                <a:endParaRPr lang="en-US" altLang="zh-CN" sz="2400"/>
              </a:p>
            </p:txBody>
          </p:sp>
          <p:sp>
            <p:nvSpPr>
              <p:cNvPr id="123941" name="Rectangle 100"/>
              <p:cNvSpPr>
                <a:spLocks noChangeArrowheads="1"/>
              </p:cNvSpPr>
              <p:nvPr/>
            </p:nvSpPr>
            <p:spPr bwMode="auto">
              <a:xfrm>
                <a:off x="3371" y="2234"/>
                <a:ext cx="99" cy="2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3942" name="Rectangle 101"/>
              <p:cNvSpPr>
                <a:spLocks noChangeArrowheads="1"/>
              </p:cNvSpPr>
              <p:nvPr/>
            </p:nvSpPr>
            <p:spPr bwMode="auto">
              <a:xfrm>
                <a:off x="3462" y="2376"/>
                <a:ext cx="7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00"/>
                    </a:solidFill>
                    <a:latin typeface="宋体" panose="02010600030101010101" pitchFamily="2" charset="-122"/>
                  </a:rPr>
                  <a:t>+</a:t>
                </a:r>
                <a:endParaRPr lang="en-US" altLang="zh-CN" sz="2400"/>
              </a:p>
            </p:txBody>
          </p:sp>
        </p:grpSp>
        <p:sp>
          <p:nvSpPr>
            <p:cNvPr id="123918" name="Line 156"/>
            <p:cNvSpPr>
              <a:spLocks noChangeShapeType="1"/>
            </p:cNvSpPr>
            <p:nvPr/>
          </p:nvSpPr>
          <p:spPr bwMode="auto">
            <a:xfrm>
              <a:off x="4059" y="2968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3919" name="Line 157"/>
            <p:cNvSpPr>
              <a:spLocks noChangeShapeType="1"/>
            </p:cNvSpPr>
            <p:nvPr/>
          </p:nvSpPr>
          <p:spPr bwMode="auto">
            <a:xfrm>
              <a:off x="4059" y="2643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123920" name="Rectangle 158"/>
            <p:cNvSpPr>
              <a:spLocks noChangeArrowheads="1"/>
            </p:cNvSpPr>
            <p:nvPr/>
          </p:nvSpPr>
          <p:spPr bwMode="auto">
            <a:xfrm>
              <a:off x="4014" y="234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i</a:t>
              </a:r>
              <a:r>
                <a:rPr lang="en-US" altLang="zh-CN" sz="2400" b="1" i="1" baseline="-25000"/>
                <a:t>-</a:t>
              </a:r>
            </a:p>
          </p:txBody>
        </p:sp>
        <p:sp>
          <p:nvSpPr>
            <p:cNvPr id="123921" name="Rectangle 159"/>
            <p:cNvSpPr>
              <a:spLocks noChangeArrowheads="1"/>
            </p:cNvSpPr>
            <p:nvPr/>
          </p:nvSpPr>
          <p:spPr bwMode="auto">
            <a:xfrm>
              <a:off x="4020" y="2931"/>
              <a:ext cx="24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/>
                <a:t>i</a:t>
              </a:r>
              <a:r>
                <a:rPr lang="en-US" altLang="zh-CN" sz="2400" b="1" i="1" baseline="-25000"/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2128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1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61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1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61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1621" grpId="0" autoUpdateAnimBg="0"/>
      <p:bldP spid="361622" grpId="0" autoUpdateAnimBg="0"/>
      <p:bldP spid="361623" grpId="0" autoUpdateAnimBg="0"/>
      <p:bldP spid="361624" grpId="0" animBg="1" autoUpdateAnimBg="0"/>
      <p:bldP spid="361625" grpId="0" animBg="1" autoUpdateAnimBg="0"/>
      <p:bldP spid="3616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2" name="Rectangle 4"/>
          <p:cNvSpPr>
            <a:spLocks noGrp="1" noChangeArrowheads="1"/>
          </p:cNvSpPr>
          <p:nvPr>
            <p:ph type="title"/>
          </p:nvPr>
        </p:nvSpPr>
        <p:spPr>
          <a:xfrm>
            <a:off x="2320099" y="157160"/>
            <a:ext cx="4503802" cy="62865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Op Amp Circuits</a:t>
            </a:r>
          </a:p>
        </p:txBody>
      </p:sp>
      <p:graphicFrame>
        <p:nvGraphicFramePr>
          <p:cNvPr id="192734" name="Object 5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584954577"/>
              </p:ext>
            </p:extLst>
          </p:nvPr>
        </p:nvGraphicFramePr>
        <p:xfrm>
          <a:off x="2460620" y="3785395"/>
          <a:ext cx="226377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1612800" imgH="558720" progId="Equation.DSMT4">
                  <p:embed/>
                </p:oleObj>
              </mc:Choice>
              <mc:Fallback>
                <p:oleObj name="Equation" r:id="rId3" imgW="1612800" imgH="558720" progId="Equation.DSMT4">
                  <p:embed/>
                  <p:pic>
                    <p:nvPicPr>
                      <p:cNvPr id="192734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0620" y="3785395"/>
                        <a:ext cx="2263775" cy="784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93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207230-07ED-48EC-BA1D-6E521F316F70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sp>
        <p:nvSpPr>
          <p:cNvPr id="124934" name="Rectangle 209"/>
          <p:cNvSpPr>
            <a:spLocks noChangeArrowheads="1"/>
          </p:cNvSpPr>
          <p:nvPr/>
        </p:nvSpPr>
        <p:spPr bwMode="auto">
          <a:xfrm>
            <a:off x="179388" y="908050"/>
            <a:ext cx="3168650" cy="4572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Inverting amplifier</a:t>
            </a:r>
          </a:p>
        </p:txBody>
      </p:sp>
      <p:pic>
        <p:nvPicPr>
          <p:cNvPr id="124935" name="Picture 211" descr="060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5" y="836615"/>
            <a:ext cx="3475037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43" name="Picture 212" descr="060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6715" y="3716338"/>
            <a:ext cx="3697287" cy="274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4937" name="Rectangle 217"/>
          <p:cNvSpPr>
            <a:spLocks noChangeArrowheads="1"/>
          </p:cNvSpPr>
          <p:nvPr/>
        </p:nvSpPr>
        <p:spPr bwMode="auto">
          <a:xfrm>
            <a:off x="395288" y="1484313"/>
            <a:ext cx="4514850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/>
              <a:t>The goal of analysis of Op Amp is to obtain output and input relation.</a:t>
            </a:r>
            <a:endParaRPr lang="en-US" altLang="zh-CN" sz="2400"/>
          </a:p>
        </p:txBody>
      </p:sp>
      <p:sp>
        <p:nvSpPr>
          <p:cNvPr id="192730" name="Rectangle 218"/>
          <p:cNvSpPr>
            <a:spLocks noChangeArrowheads="1"/>
          </p:cNvSpPr>
          <p:nvPr/>
        </p:nvSpPr>
        <p:spPr bwMode="auto">
          <a:xfrm>
            <a:off x="179388" y="3946527"/>
            <a:ext cx="20510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 err="1"/>
              <a:t>i</a:t>
            </a:r>
            <a:r>
              <a:rPr lang="en-US" altLang="zh-CN" sz="2400" i="1" dirty="0"/>
              <a:t> </a:t>
            </a:r>
            <a:r>
              <a:rPr lang="en-US" altLang="zh-CN" sz="2400" b="1" i="1" baseline="-25000" dirty="0"/>
              <a:t>–</a:t>
            </a:r>
            <a:r>
              <a:rPr lang="en-US" altLang="zh-CN" sz="2400" dirty="0"/>
              <a:t> </a:t>
            </a:r>
            <a:r>
              <a:rPr lang="en-US" altLang="zh-CN" sz="2400" i="1" dirty="0"/>
              <a:t>= </a:t>
            </a:r>
            <a:r>
              <a:rPr lang="en-US" altLang="zh-CN" sz="2400" dirty="0"/>
              <a:t>0    KCL: </a:t>
            </a:r>
          </a:p>
        </p:txBody>
      </p:sp>
      <p:sp>
        <p:nvSpPr>
          <p:cNvPr id="192731" name="Rectangle 219"/>
          <p:cNvSpPr>
            <a:spLocks noChangeArrowheads="1"/>
          </p:cNvSpPr>
          <p:nvPr/>
        </p:nvSpPr>
        <p:spPr bwMode="auto">
          <a:xfrm>
            <a:off x="366713" y="3005138"/>
            <a:ext cx="161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i="1" dirty="0"/>
              <a:t>v</a:t>
            </a:r>
            <a:r>
              <a:rPr lang="en-US" altLang="zh-CN" sz="2400" i="1" baseline="-25000" dirty="0"/>
              <a:t>+</a:t>
            </a:r>
            <a:r>
              <a:rPr lang="en-US" altLang="zh-CN" sz="2400" i="1" dirty="0"/>
              <a:t> </a:t>
            </a:r>
            <a:r>
              <a:rPr lang="en-US" altLang="zh-CN" sz="2400" b="1" i="1" dirty="0"/>
              <a:t>=</a:t>
            </a:r>
            <a:r>
              <a:rPr lang="en-US" altLang="zh-CN" sz="2400" i="1" dirty="0"/>
              <a:t> v</a:t>
            </a:r>
            <a:r>
              <a:rPr lang="en-US" altLang="zh-CN" sz="2400" i="1" baseline="-25000" dirty="0"/>
              <a:t>-</a:t>
            </a:r>
            <a:r>
              <a:rPr lang="en-US" altLang="zh-CN" sz="2400" i="1" dirty="0"/>
              <a:t> = </a:t>
            </a:r>
            <a:r>
              <a:rPr lang="en-US" altLang="zh-CN" sz="2400" dirty="0"/>
              <a:t>0</a:t>
            </a:r>
          </a:p>
        </p:txBody>
      </p:sp>
      <p:graphicFrame>
        <p:nvGraphicFramePr>
          <p:cNvPr id="192732" name="Object 3"/>
          <p:cNvGraphicFramePr>
            <a:graphicFrameLocks noChangeAspect="1"/>
          </p:cNvGraphicFramePr>
          <p:nvPr/>
        </p:nvGraphicFramePr>
        <p:xfrm>
          <a:off x="2170113" y="2781302"/>
          <a:ext cx="135255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7" imgW="825480" imgH="558720" progId="Equation.DSMT4">
                  <p:embed/>
                </p:oleObj>
              </mc:Choice>
              <mc:Fallback>
                <p:oleObj name="Equation" r:id="rId7" imgW="825480" imgH="558720" progId="Equation.DSMT4">
                  <p:embed/>
                  <p:pic>
                    <p:nvPicPr>
                      <p:cNvPr id="192732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2781302"/>
                        <a:ext cx="135255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73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5593352"/>
              </p:ext>
            </p:extLst>
          </p:nvPr>
        </p:nvGraphicFramePr>
        <p:xfrm>
          <a:off x="1708151" y="4991104"/>
          <a:ext cx="163988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" name="Equation" r:id="rId9" imgW="1079280" imgH="558720" progId="Equation.DSMT4">
                  <p:embed/>
                </p:oleObj>
              </mc:Choice>
              <mc:Fallback>
                <p:oleObj name="Equation" r:id="rId9" imgW="1079280" imgH="558720" progId="Equation.DSMT4">
                  <p:embed/>
                  <p:pic>
                    <p:nvPicPr>
                      <p:cNvPr id="19273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8151" y="4991104"/>
                        <a:ext cx="1639887" cy="8477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737" name="AutoShape 225"/>
          <p:cNvSpPr>
            <a:spLocks/>
          </p:cNvSpPr>
          <p:nvPr/>
        </p:nvSpPr>
        <p:spPr bwMode="auto">
          <a:xfrm>
            <a:off x="7380288" y="3068640"/>
            <a:ext cx="1435100" cy="835025"/>
          </a:xfrm>
          <a:prstGeom prst="borderCallout2">
            <a:avLst>
              <a:gd name="adj1" fmla="val 13690"/>
              <a:gd name="adj2" fmla="val -5310"/>
              <a:gd name="adj3" fmla="val 13690"/>
              <a:gd name="adj4" fmla="val -10731"/>
              <a:gd name="adj5" fmla="val -84602"/>
              <a:gd name="adj6" fmla="val -16259"/>
            </a:avLst>
          </a:prstGeom>
          <a:solidFill>
            <a:srgbClr val="FFFF00"/>
          </a:solidFill>
          <a:ln w="28575" algn="ctr">
            <a:solidFill>
              <a:schemeClr val="accent2"/>
            </a:solidFill>
            <a:miter lim="800000"/>
            <a:headEnd type="none" w="lg" len="lg"/>
            <a:tailEnd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Virtual ground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8001002" y="785813"/>
            <a:ext cx="569913" cy="4619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     </a:t>
            </a: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3516284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92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730" grpId="0"/>
      <p:bldP spid="192731" grpId="0"/>
      <p:bldP spid="192737" grpId="0" animBg="1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6" name="Rectangle 2"/>
          <p:cNvSpPr>
            <a:spLocks noGrp="1" noChangeArrowheads="1"/>
          </p:cNvSpPr>
          <p:nvPr>
            <p:ph type="title"/>
          </p:nvPr>
        </p:nvSpPr>
        <p:spPr>
          <a:xfrm>
            <a:off x="2260600" y="18128"/>
            <a:ext cx="4617032" cy="89137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Op Amp Circuits</a:t>
            </a:r>
          </a:p>
        </p:txBody>
      </p:sp>
      <p:graphicFrame>
        <p:nvGraphicFramePr>
          <p:cNvPr id="382982" name="Object 2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70421477"/>
              </p:ext>
            </p:extLst>
          </p:nvPr>
        </p:nvGraphicFramePr>
        <p:xfrm>
          <a:off x="1042988" y="2295525"/>
          <a:ext cx="2435225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1396800" imgH="558720" progId="Equation.DSMT4">
                  <p:embed/>
                </p:oleObj>
              </mc:Choice>
              <mc:Fallback>
                <p:oleObj name="Equation" r:id="rId3" imgW="1396800" imgH="558720" progId="Equation.DSMT4">
                  <p:embed/>
                  <p:pic>
                    <p:nvPicPr>
                      <p:cNvPr id="3829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2295525"/>
                        <a:ext cx="2435225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lg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2994" name="Object 4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237552486"/>
              </p:ext>
            </p:extLst>
          </p:nvPr>
        </p:nvGraphicFramePr>
        <p:xfrm>
          <a:off x="1042988" y="4680064"/>
          <a:ext cx="2072156" cy="87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1320480" imgH="558720" progId="Equation.DSMT4">
                  <p:embed/>
                </p:oleObj>
              </mc:Choice>
              <mc:Fallback>
                <p:oleObj name="Equation" r:id="rId5" imgW="1320480" imgH="558720" progId="Equation.DSMT4">
                  <p:embed/>
                  <p:pic>
                    <p:nvPicPr>
                      <p:cNvPr id="38299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680064"/>
                        <a:ext cx="2072156" cy="8765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95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E6FD3D-8887-4681-8DAD-9622B2152401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sp>
        <p:nvSpPr>
          <p:cNvPr id="125958" name="Rectangle 3"/>
          <p:cNvSpPr>
            <a:spLocks noChangeArrowheads="1"/>
          </p:cNvSpPr>
          <p:nvPr/>
        </p:nvSpPr>
        <p:spPr bwMode="auto">
          <a:xfrm>
            <a:off x="179390" y="908050"/>
            <a:ext cx="4537075" cy="4572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Noninverting amplifier</a:t>
            </a: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250827" y="1557338"/>
            <a:ext cx="26527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Node equation at</a:t>
            </a:r>
            <a:r>
              <a:rPr lang="en-US" altLang="zh-CN" sz="2400" i="1"/>
              <a:t> v-</a:t>
            </a:r>
            <a:r>
              <a:rPr lang="en-US" altLang="zh-CN" sz="2400"/>
              <a:t> </a:t>
            </a:r>
          </a:p>
        </p:txBody>
      </p:sp>
      <p:graphicFrame>
        <p:nvGraphicFramePr>
          <p:cNvPr id="382986" name="Object 3"/>
          <p:cNvGraphicFramePr>
            <a:graphicFrameLocks noChangeAspect="1"/>
          </p:cNvGraphicFramePr>
          <p:nvPr/>
        </p:nvGraphicFramePr>
        <p:xfrm>
          <a:off x="1042988" y="3644902"/>
          <a:ext cx="18732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公式" r:id="rId7" imgW="672808" imgH="203112" progId="Equation.3">
                  <p:embed/>
                </p:oleObj>
              </mc:Choice>
              <mc:Fallback>
                <p:oleObj name="公式" r:id="rId7" imgW="672808" imgH="203112" progId="Equation.3">
                  <p:embed/>
                  <p:pic>
                    <p:nvPicPr>
                      <p:cNvPr id="38298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644902"/>
                        <a:ext cx="187325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lg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5961" name="Picture 13" descr="0605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993"/>
          <a:stretch>
            <a:fillRect/>
          </a:stretch>
        </p:blipFill>
        <p:spPr bwMode="auto">
          <a:xfrm>
            <a:off x="5724525" y="836615"/>
            <a:ext cx="3067050" cy="287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067" name="Picture 15" descr="0606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065" y="3789363"/>
            <a:ext cx="3563937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5068" name="AutoShape 20"/>
          <p:cNvSpPr>
            <a:spLocks/>
          </p:cNvSpPr>
          <p:nvPr/>
        </p:nvSpPr>
        <p:spPr bwMode="auto">
          <a:xfrm>
            <a:off x="4211638" y="2565400"/>
            <a:ext cx="1439862" cy="1081088"/>
          </a:xfrm>
          <a:prstGeom prst="borderCallout2">
            <a:avLst>
              <a:gd name="adj1" fmla="val 10574"/>
              <a:gd name="adj2" fmla="val 105292"/>
              <a:gd name="adj3" fmla="val 10574"/>
              <a:gd name="adj4" fmla="val 151380"/>
              <a:gd name="adj5" fmla="val -32894"/>
              <a:gd name="adj6" fmla="val 198236"/>
            </a:avLst>
          </a:prstGeom>
          <a:solidFill>
            <a:srgbClr val="FFFF00"/>
          </a:solidFill>
          <a:ln w="28575" algn="ctr">
            <a:solidFill>
              <a:schemeClr val="accent2"/>
            </a:solidFill>
            <a:miter lim="800000"/>
            <a:headEnd/>
            <a:tailEnd type="triangle" w="lg" len="lg"/>
          </a:ln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Virtual short-circuited</a:t>
            </a:r>
          </a:p>
        </p:txBody>
      </p:sp>
    </p:spTree>
    <p:extLst>
      <p:ext uri="{BB962C8B-B14F-4D97-AF65-F5344CB8AC3E}">
        <p14:creationId xmlns:p14="http://schemas.microsoft.com/office/powerpoint/2010/main" val="1590150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82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5" grpId="0"/>
      <p:bldP spid="450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80" name="Rectangle 2"/>
          <p:cNvSpPr>
            <a:spLocks noGrp="1" noChangeArrowheads="1"/>
          </p:cNvSpPr>
          <p:nvPr>
            <p:ph type="title"/>
          </p:nvPr>
        </p:nvSpPr>
        <p:spPr>
          <a:xfrm>
            <a:off x="2171700" y="44448"/>
            <a:ext cx="4937126" cy="857252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Typical Op Amp Circuits</a:t>
            </a:r>
          </a:p>
        </p:txBody>
      </p:sp>
      <p:sp>
        <p:nvSpPr>
          <p:cNvPr id="12697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C51298E-F763-415F-BEE7-7833A3AE54E0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sp>
        <p:nvSpPr>
          <p:cNvPr id="126981" name="Rectangle 4"/>
          <p:cNvSpPr>
            <a:spLocks noChangeArrowheads="1"/>
          </p:cNvSpPr>
          <p:nvPr/>
        </p:nvSpPr>
        <p:spPr bwMode="auto">
          <a:xfrm>
            <a:off x="179390" y="908050"/>
            <a:ext cx="4537075" cy="4572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Voltage follower</a:t>
            </a:r>
          </a:p>
        </p:txBody>
      </p:sp>
      <p:sp>
        <p:nvSpPr>
          <p:cNvPr id="386062" name="Text Box 14"/>
          <p:cNvSpPr txBox="1">
            <a:spLocks noChangeArrowheads="1"/>
          </p:cNvSpPr>
          <p:nvPr/>
        </p:nvSpPr>
        <p:spPr bwMode="auto">
          <a:xfrm>
            <a:off x="539750" y="2565400"/>
            <a:ext cx="362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/>
              <a:t>As buffer, isolator   </a:t>
            </a:r>
          </a:p>
        </p:txBody>
      </p:sp>
      <p:graphicFrame>
        <p:nvGraphicFramePr>
          <p:cNvPr id="38606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1994485"/>
              </p:ext>
            </p:extLst>
          </p:nvPr>
        </p:nvGraphicFramePr>
        <p:xfrm>
          <a:off x="6083299" y="4284861"/>
          <a:ext cx="1947865" cy="92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" imgW="1168200" imgH="558720" progId="Equation.DSMT4">
                  <p:embed/>
                </p:oleObj>
              </mc:Choice>
              <mc:Fallback>
                <p:oleObj name="Equation" r:id="rId3" imgW="1168200" imgH="558720" progId="Equation.DSMT4">
                  <p:embed/>
                  <p:pic>
                    <p:nvPicPr>
                      <p:cNvPr id="38606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3299" y="4284861"/>
                        <a:ext cx="1947865" cy="92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6064" name="Text Box 16"/>
          <p:cNvSpPr txBox="1">
            <a:spLocks noChangeArrowheads="1"/>
          </p:cNvSpPr>
          <p:nvPr/>
        </p:nvSpPr>
        <p:spPr bwMode="auto">
          <a:xfrm>
            <a:off x="5722938" y="5564188"/>
            <a:ext cx="33131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1" i="1" dirty="0" err="1"/>
              <a:t>v</a:t>
            </a:r>
            <a:r>
              <a:rPr lang="en-US" altLang="zh-CN" sz="2400" b="1" baseline="-25000" dirty="0" err="1"/>
              <a:t>o</a:t>
            </a:r>
            <a:r>
              <a:rPr lang="en-US" altLang="zh-CN" sz="2400" b="1" baseline="-25000" dirty="0"/>
              <a:t>  </a:t>
            </a:r>
            <a:r>
              <a:rPr lang="en-US" altLang="zh-CN" sz="2400" b="1" dirty="0"/>
              <a:t>is independent of </a:t>
            </a:r>
            <a:r>
              <a:rPr lang="en-US" altLang="zh-CN" sz="2400" b="1" i="1" dirty="0"/>
              <a:t>R</a:t>
            </a:r>
            <a:r>
              <a:rPr lang="en-US" altLang="zh-CN" sz="2400" b="1" baseline="-25000" dirty="0"/>
              <a:t>L</a:t>
            </a:r>
            <a:r>
              <a:rPr lang="en-US" altLang="zh-CN" sz="2400" b="1" dirty="0"/>
              <a:t>.</a:t>
            </a:r>
          </a:p>
        </p:txBody>
      </p:sp>
      <p:sp>
        <p:nvSpPr>
          <p:cNvPr id="386065" name="Text Box 17"/>
          <p:cNvSpPr txBox="1">
            <a:spLocks noChangeArrowheads="1"/>
          </p:cNvSpPr>
          <p:nvPr/>
        </p:nvSpPr>
        <p:spPr bwMode="auto">
          <a:xfrm>
            <a:off x="665165" y="1554165"/>
            <a:ext cx="31146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 type="none" w="lg" len="med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i="1" dirty="0" err="1"/>
              <a:t>v</a:t>
            </a:r>
            <a:r>
              <a:rPr lang="en-US" altLang="zh-CN" baseline="-25000" dirty="0" err="1"/>
              <a:t>o</a:t>
            </a:r>
            <a:r>
              <a:rPr lang="en-US" altLang="zh-CN" i="1" dirty="0"/>
              <a:t>= v</a:t>
            </a:r>
            <a:r>
              <a:rPr lang="en-US" altLang="zh-CN" i="1" baseline="-25000" dirty="0"/>
              <a:t>-</a:t>
            </a:r>
            <a:r>
              <a:rPr lang="en-US" altLang="zh-CN" i="1" dirty="0"/>
              <a:t>=v</a:t>
            </a:r>
            <a:r>
              <a:rPr lang="en-US" altLang="zh-CN" i="1" baseline="-25000" dirty="0"/>
              <a:t>+</a:t>
            </a:r>
            <a:r>
              <a:rPr lang="en-US" altLang="zh-CN" i="1" dirty="0"/>
              <a:t>= v</a:t>
            </a:r>
            <a:r>
              <a:rPr lang="en-US" altLang="zh-CN" baseline="-25000" dirty="0"/>
              <a:t>i</a:t>
            </a:r>
            <a:endParaRPr lang="en-US" altLang="zh-CN" dirty="0"/>
          </a:p>
        </p:txBody>
      </p:sp>
      <p:grpSp>
        <p:nvGrpSpPr>
          <p:cNvPr id="5" name="组合 4"/>
          <p:cNvGrpSpPr/>
          <p:nvPr/>
        </p:nvGrpSpPr>
        <p:grpSpPr>
          <a:xfrm>
            <a:off x="5180015" y="981075"/>
            <a:ext cx="3727449" cy="2560638"/>
            <a:chOff x="5180015" y="981075"/>
            <a:chExt cx="3727449" cy="2560638"/>
          </a:xfrm>
        </p:grpSpPr>
        <p:grpSp>
          <p:nvGrpSpPr>
            <p:cNvPr id="126986" name="Group 18"/>
            <p:cNvGrpSpPr>
              <a:grpSpLocks/>
            </p:cNvGrpSpPr>
            <p:nvPr/>
          </p:nvGrpSpPr>
          <p:grpSpPr bwMode="auto">
            <a:xfrm>
              <a:off x="5180015" y="981075"/>
              <a:ext cx="3727449" cy="2560638"/>
              <a:chOff x="1673" y="1804"/>
              <a:chExt cx="2348" cy="1613"/>
            </a:xfrm>
          </p:grpSpPr>
          <p:sp>
            <p:nvSpPr>
              <p:cNvPr id="127042" name="Rectangle 19"/>
              <p:cNvSpPr>
                <a:spLocks noChangeArrowheads="1"/>
              </p:cNvSpPr>
              <p:nvPr/>
            </p:nvSpPr>
            <p:spPr bwMode="auto">
              <a:xfrm>
                <a:off x="2258" y="1804"/>
                <a:ext cx="1221" cy="123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7048" name="Line 25"/>
              <p:cNvSpPr>
                <a:spLocks noChangeShapeType="1"/>
              </p:cNvSpPr>
              <p:nvPr/>
            </p:nvSpPr>
            <p:spPr bwMode="auto">
              <a:xfrm>
                <a:off x="1910" y="3416"/>
                <a:ext cx="22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49" name="Line 26"/>
              <p:cNvSpPr>
                <a:spLocks noChangeShapeType="1"/>
              </p:cNvSpPr>
              <p:nvPr/>
            </p:nvSpPr>
            <p:spPr bwMode="auto">
              <a:xfrm>
                <a:off x="2015" y="3162"/>
                <a:ext cx="8" cy="25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0" name="Freeform 27"/>
              <p:cNvSpPr>
                <a:spLocks/>
              </p:cNvSpPr>
              <p:nvPr/>
            </p:nvSpPr>
            <p:spPr bwMode="auto">
              <a:xfrm>
                <a:off x="2022" y="2604"/>
                <a:ext cx="510" cy="253"/>
              </a:xfrm>
              <a:custGeom>
                <a:avLst/>
                <a:gdLst>
                  <a:gd name="T0" fmla="*/ 0 w 510"/>
                  <a:gd name="T1" fmla="*/ 101 h 101"/>
                  <a:gd name="T2" fmla="*/ 0 w 510"/>
                  <a:gd name="T3" fmla="*/ 0 h 101"/>
                  <a:gd name="T4" fmla="*/ 510 w 510"/>
                  <a:gd name="T5" fmla="*/ 0 h 101"/>
                  <a:gd name="T6" fmla="*/ 0 60000 65536"/>
                  <a:gd name="T7" fmla="*/ 0 60000 65536"/>
                  <a:gd name="T8" fmla="*/ 0 60000 65536"/>
                  <a:gd name="T9" fmla="*/ 0 w 510"/>
                  <a:gd name="T10" fmla="*/ 0 h 101"/>
                  <a:gd name="T11" fmla="*/ 510 w 510"/>
                  <a:gd name="T12" fmla="*/ 101 h 1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0" h="101">
                    <a:moveTo>
                      <a:pt x="0" y="101"/>
                    </a:moveTo>
                    <a:lnTo>
                      <a:pt x="0" y="0"/>
                    </a:lnTo>
                    <a:lnTo>
                      <a:pt x="51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1" name="Rectangle 28"/>
              <p:cNvSpPr>
                <a:spLocks noChangeArrowheads="1"/>
              </p:cNvSpPr>
              <p:nvPr/>
            </p:nvSpPr>
            <p:spPr bwMode="auto">
              <a:xfrm>
                <a:off x="3666" y="2756"/>
                <a:ext cx="99" cy="3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7052" name="Line 29"/>
              <p:cNvSpPr>
                <a:spLocks noChangeShapeType="1"/>
              </p:cNvSpPr>
              <p:nvPr/>
            </p:nvSpPr>
            <p:spPr bwMode="auto">
              <a:xfrm flipV="1">
                <a:off x="3716" y="2604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3" name="Line 30"/>
              <p:cNvSpPr>
                <a:spLocks noChangeShapeType="1"/>
              </p:cNvSpPr>
              <p:nvPr/>
            </p:nvSpPr>
            <p:spPr bwMode="auto">
              <a:xfrm>
                <a:off x="3716" y="3061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4" name="Freeform 31"/>
              <p:cNvSpPr>
                <a:spLocks/>
              </p:cNvSpPr>
              <p:nvPr/>
            </p:nvSpPr>
            <p:spPr bwMode="auto">
              <a:xfrm>
                <a:off x="2346" y="1877"/>
                <a:ext cx="261" cy="422"/>
              </a:xfrm>
              <a:custGeom>
                <a:avLst/>
                <a:gdLst>
                  <a:gd name="T0" fmla="*/ 0 w 261"/>
                  <a:gd name="T1" fmla="*/ 0 h 431"/>
                  <a:gd name="T2" fmla="*/ 0 w 261"/>
                  <a:gd name="T3" fmla="*/ 431 h 431"/>
                  <a:gd name="T4" fmla="*/ 261 w 261"/>
                  <a:gd name="T5" fmla="*/ 431 h 431"/>
                  <a:gd name="T6" fmla="*/ 0 60000 65536"/>
                  <a:gd name="T7" fmla="*/ 0 60000 65536"/>
                  <a:gd name="T8" fmla="*/ 0 60000 65536"/>
                  <a:gd name="T9" fmla="*/ 0 w 261"/>
                  <a:gd name="T10" fmla="*/ 0 h 431"/>
                  <a:gd name="T11" fmla="*/ 261 w 261"/>
                  <a:gd name="T12" fmla="*/ 431 h 4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1" h="431">
                    <a:moveTo>
                      <a:pt x="0" y="0"/>
                    </a:moveTo>
                    <a:lnTo>
                      <a:pt x="0" y="431"/>
                    </a:lnTo>
                    <a:lnTo>
                      <a:pt x="261" y="4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5" name="Freeform 32"/>
              <p:cNvSpPr>
                <a:spLocks/>
              </p:cNvSpPr>
              <p:nvPr/>
            </p:nvSpPr>
            <p:spPr bwMode="auto">
              <a:xfrm>
                <a:off x="2346" y="1880"/>
                <a:ext cx="1021" cy="571"/>
              </a:xfrm>
              <a:custGeom>
                <a:avLst/>
                <a:gdLst>
                  <a:gd name="T0" fmla="*/ 0 w 1021"/>
                  <a:gd name="T1" fmla="*/ 0 h 571"/>
                  <a:gd name="T2" fmla="*/ 1021 w 1021"/>
                  <a:gd name="T3" fmla="*/ 0 h 571"/>
                  <a:gd name="T4" fmla="*/ 1021 w 1021"/>
                  <a:gd name="T5" fmla="*/ 571 h 571"/>
                  <a:gd name="T6" fmla="*/ 0 60000 65536"/>
                  <a:gd name="T7" fmla="*/ 0 60000 65536"/>
                  <a:gd name="T8" fmla="*/ 0 60000 65536"/>
                  <a:gd name="T9" fmla="*/ 0 w 1021"/>
                  <a:gd name="T10" fmla="*/ 0 h 571"/>
                  <a:gd name="T11" fmla="*/ 1021 w 1021"/>
                  <a:gd name="T12" fmla="*/ 571 h 5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1" h="571">
                    <a:moveTo>
                      <a:pt x="0" y="0"/>
                    </a:moveTo>
                    <a:lnTo>
                      <a:pt x="1021" y="0"/>
                    </a:lnTo>
                    <a:lnTo>
                      <a:pt x="1021" y="57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6" name="Line 33"/>
              <p:cNvSpPr>
                <a:spLocks noChangeShapeType="1"/>
              </p:cNvSpPr>
              <p:nvPr/>
            </p:nvSpPr>
            <p:spPr bwMode="auto">
              <a:xfrm>
                <a:off x="3604" y="3416"/>
                <a:ext cx="22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7" name="Line 34"/>
              <p:cNvSpPr>
                <a:spLocks noChangeShapeType="1"/>
              </p:cNvSpPr>
              <p:nvPr/>
            </p:nvSpPr>
            <p:spPr bwMode="auto">
              <a:xfrm>
                <a:off x="3716" y="3264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8" name="Freeform 35"/>
              <p:cNvSpPr>
                <a:spLocks/>
              </p:cNvSpPr>
              <p:nvPr/>
            </p:nvSpPr>
            <p:spPr bwMode="auto">
              <a:xfrm>
                <a:off x="3716" y="3213"/>
                <a:ext cx="1" cy="51"/>
              </a:xfrm>
              <a:custGeom>
                <a:avLst/>
                <a:gdLst>
                  <a:gd name="T0" fmla="*/ 0 w 1"/>
                  <a:gd name="T1" fmla="*/ 0 h 51"/>
                  <a:gd name="T2" fmla="*/ 0 w 1"/>
                  <a:gd name="T3" fmla="*/ 25 h 51"/>
                  <a:gd name="T4" fmla="*/ 0 w 1"/>
                  <a:gd name="T5" fmla="*/ 25 h 51"/>
                  <a:gd name="T6" fmla="*/ 0 w 1"/>
                  <a:gd name="T7" fmla="*/ 51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51"/>
                  <a:gd name="T14" fmla="*/ 1 w 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51">
                    <a:moveTo>
                      <a:pt x="0" y="0"/>
                    </a:moveTo>
                    <a:lnTo>
                      <a:pt x="0" y="25"/>
                    </a:lnTo>
                    <a:lnTo>
                      <a:pt x="0" y="5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59" name="Rectangle 36"/>
              <p:cNvSpPr>
                <a:spLocks noChangeArrowheads="1"/>
              </p:cNvSpPr>
              <p:nvPr/>
            </p:nvSpPr>
            <p:spPr bwMode="auto">
              <a:xfrm>
                <a:off x="2383" y="2591"/>
                <a:ext cx="1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60" name="Rectangle 37"/>
              <p:cNvSpPr>
                <a:spLocks noChangeArrowheads="1"/>
              </p:cNvSpPr>
              <p:nvPr/>
            </p:nvSpPr>
            <p:spPr bwMode="auto">
              <a:xfrm>
                <a:off x="2483" y="2731"/>
                <a:ext cx="10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i="1">
                    <a:solidFill>
                      <a:srgbClr val="000000"/>
                    </a:solidFill>
                  </a:rPr>
                  <a:t>+</a:t>
                </a:r>
                <a:endParaRPr lang="en-US" altLang="zh-CN" sz="2400"/>
              </a:p>
            </p:txBody>
          </p:sp>
          <p:sp>
            <p:nvSpPr>
              <p:cNvPr id="127061" name="Rectangle 38"/>
              <p:cNvSpPr>
                <a:spLocks noChangeArrowheads="1"/>
              </p:cNvSpPr>
              <p:nvPr/>
            </p:nvSpPr>
            <p:spPr bwMode="auto">
              <a:xfrm>
                <a:off x="2408" y="2020"/>
                <a:ext cx="1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62" name="Rectangle 39"/>
              <p:cNvSpPr>
                <a:spLocks noChangeArrowheads="1"/>
              </p:cNvSpPr>
              <p:nvPr/>
            </p:nvSpPr>
            <p:spPr bwMode="auto">
              <a:xfrm>
                <a:off x="2507" y="2147"/>
                <a:ext cx="5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i="1">
                    <a:solidFill>
                      <a:srgbClr val="000000"/>
                    </a:solidFill>
                  </a:rPr>
                  <a:t>-</a:t>
                </a:r>
                <a:endParaRPr lang="en-US" altLang="zh-CN" sz="2400"/>
              </a:p>
            </p:txBody>
          </p:sp>
          <p:sp>
            <p:nvSpPr>
              <p:cNvPr id="127063" name="Rectangle 40"/>
              <p:cNvSpPr>
                <a:spLocks noChangeArrowheads="1"/>
              </p:cNvSpPr>
              <p:nvPr/>
            </p:nvSpPr>
            <p:spPr bwMode="auto">
              <a:xfrm>
                <a:off x="3778" y="2756"/>
                <a:ext cx="14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R</a:t>
                </a:r>
                <a:endParaRPr lang="en-US" altLang="zh-CN" sz="2400"/>
              </a:p>
            </p:txBody>
          </p:sp>
          <p:sp>
            <p:nvSpPr>
              <p:cNvPr id="127064" name="Rectangle 41"/>
              <p:cNvSpPr>
                <a:spLocks noChangeArrowheads="1"/>
              </p:cNvSpPr>
              <p:nvPr/>
            </p:nvSpPr>
            <p:spPr bwMode="auto">
              <a:xfrm>
                <a:off x="3927" y="2883"/>
                <a:ext cx="9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dirty="0">
                    <a:solidFill>
                      <a:srgbClr val="000000"/>
                    </a:solidFill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127065" name="Rectangle 42"/>
              <p:cNvSpPr>
                <a:spLocks noChangeArrowheads="1"/>
              </p:cNvSpPr>
              <p:nvPr/>
            </p:nvSpPr>
            <p:spPr bwMode="auto">
              <a:xfrm>
                <a:off x="3541" y="2122"/>
                <a:ext cx="6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i</a:t>
                </a:r>
                <a:endParaRPr lang="en-US" altLang="zh-CN" sz="2400"/>
              </a:p>
            </p:txBody>
          </p:sp>
          <p:sp>
            <p:nvSpPr>
              <p:cNvPr id="127066" name="Rectangle 43"/>
              <p:cNvSpPr>
                <a:spLocks noChangeArrowheads="1"/>
              </p:cNvSpPr>
              <p:nvPr/>
            </p:nvSpPr>
            <p:spPr bwMode="auto">
              <a:xfrm>
                <a:off x="3604" y="2249"/>
                <a:ext cx="9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dirty="0">
                    <a:solidFill>
                      <a:srgbClr val="000000"/>
                    </a:solidFill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127067" name="Rectangle 44"/>
              <p:cNvSpPr>
                <a:spLocks noChangeArrowheads="1"/>
              </p:cNvSpPr>
              <p:nvPr/>
            </p:nvSpPr>
            <p:spPr bwMode="auto">
              <a:xfrm>
                <a:off x="3292" y="2502"/>
                <a:ext cx="1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68" name="Rectangle 45"/>
              <p:cNvSpPr>
                <a:spLocks noChangeArrowheads="1"/>
              </p:cNvSpPr>
              <p:nvPr/>
            </p:nvSpPr>
            <p:spPr bwMode="auto">
              <a:xfrm>
                <a:off x="3392" y="2629"/>
                <a:ext cx="7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00"/>
                    </a:solidFill>
                  </a:rPr>
                  <a:t>o</a:t>
                </a:r>
                <a:endParaRPr lang="en-US" altLang="zh-CN" sz="2400"/>
              </a:p>
            </p:txBody>
          </p:sp>
          <p:sp>
            <p:nvSpPr>
              <p:cNvPr id="127069" name="Rectangle 46"/>
              <p:cNvSpPr>
                <a:spLocks noChangeArrowheads="1"/>
              </p:cNvSpPr>
              <p:nvPr/>
            </p:nvSpPr>
            <p:spPr bwMode="auto">
              <a:xfrm>
                <a:off x="1673" y="2832"/>
                <a:ext cx="108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70" name="Rectangle 47"/>
              <p:cNvSpPr>
                <a:spLocks noChangeArrowheads="1"/>
              </p:cNvSpPr>
              <p:nvPr/>
            </p:nvSpPr>
            <p:spPr bwMode="auto">
              <a:xfrm>
                <a:off x="1773" y="2959"/>
                <a:ext cx="4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00"/>
                    </a:solidFill>
                  </a:rPr>
                  <a:t>i</a:t>
                </a:r>
                <a:endParaRPr lang="en-US" altLang="zh-CN" sz="2400"/>
              </a:p>
            </p:txBody>
          </p:sp>
          <p:sp>
            <p:nvSpPr>
              <p:cNvPr id="127071" name="Line 48"/>
              <p:cNvSpPr>
                <a:spLocks noChangeShapeType="1"/>
              </p:cNvSpPr>
              <p:nvPr/>
            </p:nvSpPr>
            <p:spPr bwMode="auto">
              <a:xfrm>
                <a:off x="2607" y="2198"/>
                <a:ext cx="1" cy="5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2" name="Line 49"/>
              <p:cNvSpPr>
                <a:spLocks noChangeShapeType="1"/>
              </p:cNvSpPr>
              <p:nvPr/>
            </p:nvSpPr>
            <p:spPr bwMode="auto">
              <a:xfrm flipH="1">
                <a:off x="2607" y="2451"/>
                <a:ext cx="449" cy="26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3" name="Line 50"/>
              <p:cNvSpPr>
                <a:spLocks noChangeShapeType="1"/>
              </p:cNvSpPr>
              <p:nvPr/>
            </p:nvSpPr>
            <p:spPr bwMode="auto">
              <a:xfrm>
                <a:off x="2607" y="2198"/>
                <a:ext cx="449" cy="2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4" name="Line 51"/>
              <p:cNvSpPr>
                <a:spLocks noChangeShapeType="1"/>
              </p:cNvSpPr>
              <p:nvPr/>
            </p:nvSpPr>
            <p:spPr bwMode="auto">
              <a:xfrm>
                <a:off x="3056" y="2451"/>
                <a:ext cx="7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5" name="Line 52"/>
              <p:cNvSpPr>
                <a:spLocks noChangeShapeType="1"/>
              </p:cNvSpPr>
              <p:nvPr/>
            </p:nvSpPr>
            <p:spPr bwMode="auto">
              <a:xfrm flipV="1">
                <a:off x="2682" y="2565"/>
                <a:ext cx="1" cy="77"/>
              </a:xfrm>
              <a:prstGeom prst="line">
                <a:avLst/>
              </a:prstGeom>
              <a:noFill/>
              <a:ln w="396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6" name="Line 53"/>
              <p:cNvSpPr>
                <a:spLocks noChangeShapeType="1"/>
              </p:cNvSpPr>
              <p:nvPr/>
            </p:nvSpPr>
            <p:spPr bwMode="auto">
              <a:xfrm>
                <a:off x="2644" y="2325"/>
                <a:ext cx="75" cy="1"/>
              </a:xfrm>
              <a:prstGeom prst="line">
                <a:avLst/>
              </a:prstGeom>
              <a:noFill/>
              <a:ln w="396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7" name="Line 54"/>
              <p:cNvSpPr>
                <a:spLocks noChangeShapeType="1"/>
              </p:cNvSpPr>
              <p:nvPr/>
            </p:nvSpPr>
            <p:spPr bwMode="auto">
              <a:xfrm flipH="1">
                <a:off x="2644" y="2604"/>
                <a:ext cx="75" cy="1"/>
              </a:xfrm>
              <a:prstGeom prst="line">
                <a:avLst/>
              </a:prstGeom>
              <a:noFill/>
              <a:ln w="396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8" name="Line 55"/>
              <p:cNvSpPr>
                <a:spLocks noChangeShapeType="1"/>
              </p:cNvSpPr>
              <p:nvPr/>
            </p:nvSpPr>
            <p:spPr bwMode="auto">
              <a:xfrm>
                <a:off x="2532" y="2299"/>
                <a:ext cx="7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79" name="Line 56"/>
              <p:cNvSpPr>
                <a:spLocks noChangeShapeType="1"/>
              </p:cNvSpPr>
              <p:nvPr/>
            </p:nvSpPr>
            <p:spPr bwMode="auto">
              <a:xfrm>
                <a:off x="2532" y="2604"/>
                <a:ext cx="7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80" name="Freeform 57"/>
              <p:cNvSpPr>
                <a:spLocks/>
              </p:cNvSpPr>
              <p:nvPr/>
            </p:nvSpPr>
            <p:spPr bwMode="auto">
              <a:xfrm>
                <a:off x="3093" y="2451"/>
                <a:ext cx="623" cy="191"/>
              </a:xfrm>
              <a:custGeom>
                <a:avLst/>
                <a:gdLst>
                  <a:gd name="T0" fmla="*/ 0 w 623"/>
                  <a:gd name="T1" fmla="*/ 0 h 191"/>
                  <a:gd name="T2" fmla="*/ 623 w 623"/>
                  <a:gd name="T3" fmla="*/ 0 h 191"/>
                  <a:gd name="T4" fmla="*/ 623 w 623"/>
                  <a:gd name="T5" fmla="*/ 191 h 191"/>
                  <a:gd name="T6" fmla="*/ 0 60000 65536"/>
                  <a:gd name="T7" fmla="*/ 0 60000 65536"/>
                  <a:gd name="T8" fmla="*/ 0 60000 65536"/>
                  <a:gd name="T9" fmla="*/ 0 w 623"/>
                  <a:gd name="T10" fmla="*/ 0 h 191"/>
                  <a:gd name="T11" fmla="*/ 623 w 623"/>
                  <a:gd name="T12" fmla="*/ 191 h 1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3" h="191">
                    <a:moveTo>
                      <a:pt x="0" y="0"/>
                    </a:moveTo>
                    <a:lnTo>
                      <a:pt x="623" y="0"/>
                    </a:lnTo>
                    <a:lnTo>
                      <a:pt x="623" y="19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81" name="Line 58"/>
              <p:cNvSpPr>
                <a:spLocks noChangeShapeType="1"/>
              </p:cNvSpPr>
              <p:nvPr/>
            </p:nvSpPr>
            <p:spPr bwMode="auto">
              <a:xfrm flipH="1">
                <a:off x="3479" y="2451"/>
                <a:ext cx="112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82" name="Freeform 59"/>
              <p:cNvSpPr>
                <a:spLocks/>
              </p:cNvSpPr>
              <p:nvPr/>
            </p:nvSpPr>
            <p:spPr bwMode="auto">
              <a:xfrm>
                <a:off x="3579" y="2413"/>
                <a:ext cx="124" cy="89"/>
              </a:xfrm>
              <a:custGeom>
                <a:avLst/>
                <a:gdLst>
                  <a:gd name="T0" fmla="*/ 0 w 124"/>
                  <a:gd name="T1" fmla="*/ 89 h 89"/>
                  <a:gd name="T2" fmla="*/ 124 w 124"/>
                  <a:gd name="T3" fmla="*/ 38 h 89"/>
                  <a:gd name="T4" fmla="*/ 0 w 124"/>
                  <a:gd name="T5" fmla="*/ 0 h 89"/>
                  <a:gd name="T6" fmla="*/ 0 w 124"/>
                  <a:gd name="T7" fmla="*/ 89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89"/>
                  <a:gd name="T14" fmla="*/ 124 w 124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89">
                    <a:moveTo>
                      <a:pt x="0" y="89"/>
                    </a:moveTo>
                    <a:lnTo>
                      <a:pt x="124" y="38"/>
                    </a:lnTo>
                    <a:lnTo>
                      <a:pt x="0" y="0"/>
                    </a:lnTo>
                    <a:lnTo>
                      <a:pt x="0" y="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83" name="Oval 60"/>
              <p:cNvSpPr>
                <a:spLocks noChangeArrowheads="1"/>
              </p:cNvSpPr>
              <p:nvPr/>
            </p:nvSpPr>
            <p:spPr bwMode="auto">
              <a:xfrm>
                <a:off x="3331" y="2413"/>
                <a:ext cx="61" cy="6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</p:grpSp>
        <p:sp>
          <p:nvSpPr>
            <p:cNvPr id="2" name="椭圆 1"/>
            <p:cNvSpPr/>
            <p:nvPr/>
          </p:nvSpPr>
          <p:spPr>
            <a:xfrm>
              <a:off x="5504528" y="2638682"/>
              <a:ext cx="455612" cy="4841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566660" y="2535639"/>
              <a:ext cx="3063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+</a:t>
              </a:r>
              <a:endParaRPr lang="zh-CN" altLang="en-US" sz="2400" dirty="0"/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5578524" y="2804172"/>
              <a:ext cx="306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84840" y="3644106"/>
            <a:ext cx="5119688" cy="2582863"/>
            <a:chOff x="384840" y="3644106"/>
            <a:chExt cx="5119688" cy="2582863"/>
          </a:xfrm>
        </p:grpSpPr>
        <p:grpSp>
          <p:nvGrpSpPr>
            <p:cNvPr id="3" name="Group 61"/>
            <p:cNvGrpSpPr>
              <a:grpSpLocks/>
            </p:cNvGrpSpPr>
            <p:nvPr/>
          </p:nvGrpSpPr>
          <p:grpSpPr bwMode="auto">
            <a:xfrm>
              <a:off x="384840" y="3644106"/>
              <a:ext cx="5119688" cy="2582863"/>
              <a:chOff x="899" y="1632"/>
              <a:chExt cx="3225" cy="1627"/>
            </a:xfrm>
          </p:grpSpPr>
          <p:sp>
            <p:nvSpPr>
              <p:cNvPr id="126988" name="Rectangle 62"/>
              <p:cNvSpPr>
                <a:spLocks noChangeArrowheads="1"/>
              </p:cNvSpPr>
              <p:nvPr/>
            </p:nvSpPr>
            <p:spPr bwMode="auto">
              <a:xfrm>
                <a:off x="2361" y="1632"/>
                <a:ext cx="1221" cy="1231"/>
              </a:xfrm>
              <a:prstGeom prst="rect">
                <a:avLst/>
              </a:prstGeom>
              <a:solidFill>
                <a:srgbClr val="00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6990" name="Line 64"/>
              <p:cNvSpPr>
                <a:spLocks noChangeShapeType="1"/>
              </p:cNvSpPr>
              <p:nvPr/>
            </p:nvSpPr>
            <p:spPr bwMode="auto">
              <a:xfrm flipH="1">
                <a:off x="1242" y="2208"/>
                <a:ext cx="6" cy="37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4" name="Line 68"/>
              <p:cNvSpPr>
                <a:spLocks noChangeShapeType="1"/>
              </p:cNvSpPr>
              <p:nvPr/>
            </p:nvSpPr>
            <p:spPr bwMode="auto">
              <a:xfrm flipV="1">
                <a:off x="1128" y="3256"/>
                <a:ext cx="222" cy="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5" name="Line 69"/>
              <p:cNvSpPr>
                <a:spLocks noChangeShapeType="1"/>
              </p:cNvSpPr>
              <p:nvPr/>
            </p:nvSpPr>
            <p:spPr bwMode="auto">
              <a:xfrm>
                <a:off x="1233" y="2895"/>
                <a:ext cx="1" cy="3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6" name="Freeform 70"/>
              <p:cNvSpPr>
                <a:spLocks/>
              </p:cNvSpPr>
              <p:nvPr/>
            </p:nvSpPr>
            <p:spPr bwMode="auto">
              <a:xfrm>
                <a:off x="1920" y="2434"/>
                <a:ext cx="720" cy="96"/>
              </a:xfrm>
              <a:custGeom>
                <a:avLst/>
                <a:gdLst>
                  <a:gd name="T0" fmla="*/ 0 w 510"/>
                  <a:gd name="T1" fmla="*/ 24 h 101"/>
                  <a:gd name="T2" fmla="*/ 0 w 510"/>
                  <a:gd name="T3" fmla="*/ 0 h 101"/>
                  <a:gd name="T4" fmla="*/ 11225359 w 510"/>
                  <a:gd name="T5" fmla="*/ 0 h 101"/>
                  <a:gd name="T6" fmla="*/ 0 60000 65536"/>
                  <a:gd name="T7" fmla="*/ 0 60000 65536"/>
                  <a:gd name="T8" fmla="*/ 0 60000 65536"/>
                  <a:gd name="T9" fmla="*/ 0 w 510"/>
                  <a:gd name="T10" fmla="*/ 0 h 101"/>
                  <a:gd name="T11" fmla="*/ 510 w 510"/>
                  <a:gd name="T12" fmla="*/ 101 h 1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10" h="101">
                    <a:moveTo>
                      <a:pt x="0" y="101"/>
                    </a:moveTo>
                    <a:lnTo>
                      <a:pt x="0" y="0"/>
                    </a:lnTo>
                    <a:lnTo>
                      <a:pt x="510" y="0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7" name="Rectangle 71"/>
              <p:cNvSpPr>
                <a:spLocks noChangeArrowheads="1"/>
              </p:cNvSpPr>
              <p:nvPr/>
            </p:nvSpPr>
            <p:spPr bwMode="auto">
              <a:xfrm>
                <a:off x="3769" y="2584"/>
                <a:ext cx="99" cy="3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6998" name="Line 72"/>
              <p:cNvSpPr>
                <a:spLocks noChangeShapeType="1"/>
              </p:cNvSpPr>
              <p:nvPr/>
            </p:nvSpPr>
            <p:spPr bwMode="auto">
              <a:xfrm flipV="1">
                <a:off x="3819" y="2432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99" name="Line 73"/>
              <p:cNvSpPr>
                <a:spLocks noChangeShapeType="1"/>
              </p:cNvSpPr>
              <p:nvPr/>
            </p:nvSpPr>
            <p:spPr bwMode="auto">
              <a:xfrm>
                <a:off x="3819" y="2889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0" name="Freeform 74"/>
              <p:cNvSpPr>
                <a:spLocks/>
              </p:cNvSpPr>
              <p:nvPr/>
            </p:nvSpPr>
            <p:spPr bwMode="auto">
              <a:xfrm>
                <a:off x="2449" y="1704"/>
                <a:ext cx="261" cy="423"/>
              </a:xfrm>
              <a:custGeom>
                <a:avLst/>
                <a:gdLst>
                  <a:gd name="T0" fmla="*/ 0 w 261"/>
                  <a:gd name="T1" fmla="*/ 0 h 431"/>
                  <a:gd name="T2" fmla="*/ 0 w 261"/>
                  <a:gd name="T3" fmla="*/ 431 h 431"/>
                  <a:gd name="T4" fmla="*/ 261 w 261"/>
                  <a:gd name="T5" fmla="*/ 431 h 431"/>
                  <a:gd name="T6" fmla="*/ 0 60000 65536"/>
                  <a:gd name="T7" fmla="*/ 0 60000 65536"/>
                  <a:gd name="T8" fmla="*/ 0 60000 65536"/>
                  <a:gd name="T9" fmla="*/ 0 w 261"/>
                  <a:gd name="T10" fmla="*/ 0 h 431"/>
                  <a:gd name="T11" fmla="*/ 261 w 261"/>
                  <a:gd name="T12" fmla="*/ 431 h 4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1" h="431">
                    <a:moveTo>
                      <a:pt x="0" y="0"/>
                    </a:moveTo>
                    <a:lnTo>
                      <a:pt x="0" y="431"/>
                    </a:lnTo>
                    <a:lnTo>
                      <a:pt x="261" y="43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1" name="Freeform 75"/>
              <p:cNvSpPr>
                <a:spLocks/>
              </p:cNvSpPr>
              <p:nvPr/>
            </p:nvSpPr>
            <p:spPr bwMode="auto">
              <a:xfrm>
                <a:off x="2449" y="1708"/>
                <a:ext cx="1021" cy="571"/>
              </a:xfrm>
              <a:custGeom>
                <a:avLst/>
                <a:gdLst>
                  <a:gd name="T0" fmla="*/ 0 w 1021"/>
                  <a:gd name="T1" fmla="*/ 0 h 571"/>
                  <a:gd name="T2" fmla="*/ 1021 w 1021"/>
                  <a:gd name="T3" fmla="*/ 0 h 571"/>
                  <a:gd name="T4" fmla="*/ 1021 w 1021"/>
                  <a:gd name="T5" fmla="*/ 571 h 571"/>
                  <a:gd name="T6" fmla="*/ 0 60000 65536"/>
                  <a:gd name="T7" fmla="*/ 0 60000 65536"/>
                  <a:gd name="T8" fmla="*/ 0 60000 65536"/>
                  <a:gd name="T9" fmla="*/ 0 w 1021"/>
                  <a:gd name="T10" fmla="*/ 0 h 571"/>
                  <a:gd name="T11" fmla="*/ 1021 w 1021"/>
                  <a:gd name="T12" fmla="*/ 571 h 5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1" h="571">
                    <a:moveTo>
                      <a:pt x="0" y="0"/>
                    </a:moveTo>
                    <a:lnTo>
                      <a:pt x="1021" y="0"/>
                    </a:lnTo>
                    <a:lnTo>
                      <a:pt x="1021" y="57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2" name="Line 76"/>
              <p:cNvSpPr>
                <a:spLocks noChangeShapeType="1"/>
              </p:cNvSpPr>
              <p:nvPr/>
            </p:nvSpPr>
            <p:spPr bwMode="auto">
              <a:xfrm>
                <a:off x="3707" y="3244"/>
                <a:ext cx="22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3" name="Line 77"/>
              <p:cNvSpPr>
                <a:spLocks noChangeShapeType="1"/>
              </p:cNvSpPr>
              <p:nvPr/>
            </p:nvSpPr>
            <p:spPr bwMode="auto">
              <a:xfrm>
                <a:off x="3819" y="3092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4" name="Freeform 78"/>
              <p:cNvSpPr>
                <a:spLocks/>
              </p:cNvSpPr>
              <p:nvPr/>
            </p:nvSpPr>
            <p:spPr bwMode="auto">
              <a:xfrm>
                <a:off x="3819" y="3041"/>
                <a:ext cx="1" cy="51"/>
              </a:xfrm>
              <a:custGeom>
                <a:avLst/>
                <a:gdLst>
                  <a:gd name="T0" fmla="*/ 0 w 1"/>
                  <a:gd name="T1" fmla="*/ 0 h 51"/>
                  <a:gd name="T2" fmla="*/ 0 w 1"/>
                  <a:gd name="T3" fmla="*/ 25 h 51"/>
                  <a:gd name="T4" fmla="*/ 0 w 1"/>
                  <a:gd name="T5" fmla="*/ 25 h 51"/>
                  <a:gd name="T6" fmla="*/ 0 w 1"/>
                  <a:gd name="T7" fmla="*/ 51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51"/>
                  <a:gd name="T14" fmla="*/ 1 w 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51">
                    <a:moveTo>
                      <a:pt x="0" y="0"/>
                    </a:moveTo>
                    <a:lnTo>
                      <a:pt x="0" y="25"/>
                    </a:lnTo>
                    <a:lnTo>
                      <a:pt x="0" y="5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05" name="Rectangle 79"/>
              <p:cNvSpPr>
                <a:spLocks noChangeArrowheads="1"/>
              </p:cNvSpPr>
              <p:nvPr/>
            </p:nvSpPr>
            <p:spPr bwMode="auto">
              <a:xfrm>
                <a:off x="2486" y="2419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06" name="Rectangle 80"/>
              <p:cNvSpPr>
                <a:spLocks noChangeArrowheads="1"/>
              </p:cNvSpPr>
              <p:nvPr/>
            </p:nvSpPr>
            <p:spPr bwMode="auto">
              <a:xfrm>
                <a:off x="2586" y="2559"/>
                <a:ext cx="10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i="1">
                    <a:solidFill>
                      <a:srgbClr val="000000"/>
                    </a:solidFill>
                  </a:rPr>
                  <a:t>+</a:t>
                </a:r>
                <a:endParaRPr lang="en-US" altLang="zh-CN" sz="2400"/>
              </a:p>
            </p:txBody>
          </p:sp>
          <p:sp>
            <p:nvSpPr>
              <p:cNvPr id="127007" name="Rectangle 81"/>
              <p:cNvSpPr>
                <a:spLocks noChangeArrowheads="1"/>
              </p:cNvSpPr>
              <p:nvPr/>
            </p:nvSpPr>
            <p:spPr bwMode="auto">
              <a:xfrm>
                <a:off x="2511" y="1848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08" name="Rectangle 82"/>
              <p:cNvSpPr>
                <a:spLocks noChangeArrowheads="1"/>
              </p:cNvSpPr>
              <p:nvPr/>
            </p:nvSpPr>
            <p:spPr bwMode="auto">
              <a:xfrm>
                <a:off x="2610" y="1975"/>
                <a:ext cx="51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i="1">
                    <a:solidFill>
                      <a:srgbClr val="000000"/>
                    </a:solidFill>
                  </a:rPr>
                  <a:t>-</a:t>
                </a:r>
                <a:endParaRPr lang="en-US" altLang="zh-CN" sz="2400"/>
              </a:p>
            </p:txBody>
          </p:sp>
          <p:sp>
            <p:nvSpPr>
              <p:cNvPr id="127009" name="Rectangle 83"/>
              <p:cNvSpPr>
                <a:spLocks noChangeArrowheads="1"/>
              </p:cNvSpPr>
              <p:nvPr/>
            </p:nvSpPr>
            <p:spPr bwMode="auto">
              <a:xfrm>
                <a:off x="3881" y="2584"/>
                <a:ext cx="14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 dirty="0">
                    <a:solidFill>
                      <a:srgbClr val="000000"/>
                    </a:solidFill>
                  </a:rPr>
                  <a:t>R</a:t>
                </a:r>
                <a:endParaRPr lang="en-US" altLang="zh-CN" sz="2400" dirty="0"/>
              </a:p>
            </p:txBody>
          </p:sp>
          <p:sp>
            <p:nvSpPr>
              <p:cNvPr id="127010" name="Rectangle 84"/>
              <p:cNvSpPr>
                <a:spLocks noChangeArrowheads="1"/>
              </p:cNvSpPr>
              <p:nvPr/>
            </p:nvSpPr>
            <p:spPr bwMode="auto">
              <a:xfrm>
                <a:off x="4030" y="2711"/>
                <a:ext cx="9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dirty="0">
                    <a:solidFill>
                      <a:srgbClr val="000000"/>
                    </a:solidFill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127011" name="Rectangle 85"/>
              <p:cNvSpPr>
                <a:spLocks noChangeArrowheads="1"/>
              </p:cNvSpPr>
              <p:nvPr/>
            </p:nvSpPr>
            <p:spPr bwMode="auto">
              <a:xfrm>
                <a:off x="3644" y="1950"/>
                <a:ext cx="6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i</a:t>
                </a:r>
                <a:endParaRPr lang="en-US" altLang="zh-CN" sz="2400"/>
              </a:p>
            </p:txBody>
          </p:sp>
          <p:sp>
            <p:nvSpPr>
              <p:cNvPr id="127012" name="Rectangle 86"/>
              <p:cNvSpPr>
                <a:spLocks noChangeArrowheads="1"/>
              </p:cNvSpPr>
              <p:nvPr/>
            </p:nvSpPr>
            <p:spPr bwMode="auto">
              <a:xfrm>
                <a:off x="3707" y="2077"/>
                <a:ext cx="94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 dirty="0">
                    <a:solidFill>
                      <a:srgbClr val="000000"/>
                    </a:solidFill>
                  </a:rPr>
                  <a:t>L</a:t>
                </a:r>
                <a:endParaRPr lang="en-US" altLang="zh-CN" sz="2400" dirty="0"/>
              </a:p>
            </p:txBody>
          </p:sp>
          <p:sp>
            <p:nvSpPr>
              <p:cNvPr id="127013" name="Rectangle 87"/>
              <p:cNvSpPr>
                <a:spLocks noChangeArrowheads="1"/>
              </p:cNvSpPr>
              <p:nvPr/>
            </p:nvSpPr>
            <p:spPr bwMode="auto">
              <a:xfrm>
                <a:off x="3395" y="2330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14" name="Rectangle 88"/>
              <p:cNvSpPr>
                <a:spLocks noChangeArrowheads="1"/>
              </p:cNvSpPr>
              <p:nvPr/>
            </p:nvSpPr>
            <p:spPr bwMode="auto">
              <a:xfrm>
                <a:off x="3495" y="2457"/>
                <a:ext cx="77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00"/>
                    </a:solidFill>
                  </a:rPr>
                  <a:t>o</a:t>
                </a:r>
                <a:endParaRPr lang="en-US" altLang="zh-CN" sz="2400"/>
              </a:p>
            </p:txBody>
          </p:sp>
          <p:sp>
            <p:nvSpPr>
              <p:cNvPr id="127015" name="Rectangle 89"/>
              <p:cNvSpPr>
                <a:spLocks noChangeArrowheads="1"/>
              </p:cNvSpPr>
              <p:nvPr/>
            </p:nvSpPr>
            <p:spPr bwMode="auto">
              <a:xfrm>
                <a:off x="899" y="2547"/>
                <a:ext cx="10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3000" i="1">
                    <a:solidFill>
                      <a:srgbClr val="000000"/>
                    </a:solidFill>
                  </a:rPr>
                  <a:t>v</a:t>
                </a:r>
                <a:endParaRPr lang="en-US" altLang="zh-CN" sz="2400"/>
              </a:p>
            </p:txBody>
          </p:sp>
          <p:sp>
            <p:nvSpPr>
              <p:cNvPr id="127016" name="Rectangle 90"/>
              <p:cNvSpPr>
                <a:spLocks noChangeArrowheads="1"/>
              </p:cNvSpPr>
              <p:nvPr/>
            </p:nvSpPr>
            <p:spPr bwMode="auto">
              <a:xfrm>
                <a:off x="999" y="2674"/>
                <a:ext cx="42" cy="18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1900">
                    <a:solidFill>
                      <a:srgbClr val="000000"/>
                    </a:solidFill>
                  </a:rPr>
                  <a:t>i</a:t>
                </a:r>
                <a:endParaRPr lang="en-US" altLang="zh-CN" sz="2400"/>
              </a:p>
            </p:txBody>
          </p:sp>
          <p:sp>
            <p:nvSpPr>
              <p:cNvPr id="127017" name="Line 91"/>
              <p:cNvSpPr>
                <a:spLocks noChangeShapeType="1"/>
              </p:cNvSpPr>
              <p:nvPr/>
            </p:nvSpPr>
            <p:spPr bwMode="auto">
              <a:xfrm>
                <a:off x="2710" y="2026"/>
                <a:ext cx="1" cy="52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18" name="Line 92"/>
              <p:cNvSpPr>
                <a:spLocks noChangeShapeType="1"/>
              </p:cNvSpPr>
              <p:nvPr/>
            </p:nvSpPr>
            <p:spPr bwMode="auto">
              <a:xfrm flipH="1">
                <a:off x="2710" y="2279"/>
                <a:ext cx="449" cy="26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19" name="Line 93"/>
              <p:cNvSpPr>
                <a:spLocks noChangeShapeType="1"/>
              </p:cNvSpPr>
              <p:nvPr/>
            </p:nvSpPr>
            <p:spPr bwMode="auto">
              <a:xfrm>
                <a:off x="2710" y="2026"/>
                <a:ext cx="449" cy="25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0" name="Line 94"/>
              <p:cNvSpPr>
                <a:spLocks noChangeShapeType="1"/>
              </p:cNvSpPr>
              <p:nvPr/>
            </p:nvSpPr>
            <p:spPr bwMode="auto">
              <a:xfrm>
                <a:off x="3159" y="2279"/>
                <a:ext cx="7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1" name="Line 95"/>
              <p:cNvSpPr>
                <a:spLocks noChangeShapeType="1"/>
              </p:cNvSpPr>
              <p:nvPr/>
            </p:nvSpPr>
            <p:spPr bwMode="auto">
              <a:xfrm flipV="1">
                <a:off x="2785" y="2393"/>
                <a:ext cx="1" cy="77"/>
              </a:xfrm>
              <a:prstGeom prst="line">
                <a:avLst/>
              </a:prstGeom>
              <a:noFill/>
              <a:ln w="396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2" name="Line 96"/>
              <p:cNvSpPr>
                <a:spLocks noChangeShapeType="1"/>
              </p:cNvSpPr>
              <p:nvPr/>
            </p:nvSpPr>
            <p:spPr bwMode="auto">
              <a:xfrm>
                <a:off x="2747" y="2153"/>
                <a:ext cx="75" cy="1"/>
              </a:xfrm>
              <a:prstGeom prst="line">
                <a:avLst/>
              </a:prstGeom>
              <a:noFill/>
              <a:ln w="396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3" name="Line 97"/>
              <p:cNvSpPr>
                <a:spLocks noChangeShapeType="1"/>
              </p:cNvSpPr>
              <p:nvPr/>
            </p:nvSpPr>
            <p:spPr bwMode="auto">
              <a:xfrm flipH="1">
                <a:off x="2747" y="2432"/>
                <a:ext cx="75" cy="1"/>
              </a:xfrm>
              <a:prstGeom prst="line">
                <a:avLst/>
              </a:prstGeom>
              <a:noFill/>
              <a:ln w="39688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4" name="Line 98"/>
              <p:cNvSpPr>
                <a:spLocks noChangeShapeType="1"/>
              </p:cNvSpPr>
              <p:nvPr/>
            </p:nvSpPr>
            <p:spPr bwMode="auto">
              <a:xfrm>
                <a:off x="2635" y="2127"/>
                <a:ext cx="7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5" name="Line 99"/>
              <p:cNvSpPr>
                <a:spLocks noChangeShapeType="1"/>
              </p:cNvSpPr>
              <p:nvPr/>
            </p:nvSpPr>
            <p:spPr bwMode="auto">
              <a:xfrm>
                <a:off x="2635" y="2432"/>
                <a:ext cx="75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6" name="Freeform 100"/>
              <p:cNvSpPr>
                <a:spLocks/>
              </p:cNvSpPr>
              <p:nvPr/>
            </p:nvSpPr>
            <p:spPr bwMode="auto">
              <a:xfrm>
                <a:off x="3196" y="2279"/>
                <a:ext cx="623" cy="191"/>
              </a:xfrm>
              <a:custGeom>
                <a:avLst/>
                <a:gdLst>
                  <a:gd name="T0" fmla="*/ 0 w 623"/>
                  <a:gd name="T1" fmla="*/ 0 h 191"/>
                  <a:gd name="T2" fmla="*/ 623 w 623"/>
                  <a:gd name="T3" fmla="*/ 0 h 191"/>
                  <a:gd name="T4" fmla="*/ 623 w 623"/>
                  <a:gd name="T5" fmla="*/ 191 h 191"/>
                  <a:gd name="T6" fmla="*/ 0 60000 65536"/>
                  <a:gd name="T7" fmla="*/ 0 60000 65536"/>
                  <a:gd name="T8" fmla="*/ 0 60000 65536"/>
                  <a:gd name="T9" fmla="*/ 0 w 623"/>
                  <a:gd name="T10" fmla="*/ 0 h 191"/>
                  <a:gd name="T11" fmla="*/ 623 w 623"/>
                  <a:gd name="T12" fmla="*/ 191 h 1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3" h="191">
                    <a:moveTo>
                      <a:pt x="0" y="0"/>
                    </a:moveTo>
                    <a:lnTo>
                      <a:pt x="623" y="0"/>
                    </a:lnTo>
                    <a:lnTo>
                      <a:pt x="623" y="19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7" name="Line 101"/>
              <p:cNvSpPr>
                <a:spLocks noChangeShapeType="1"/>
              </p:cNvSpPr>
              <p:nvPr/>
            </p:nvSpPr>
            <p:spPr bwMode="auto">
              <a:xfrm flipH="1">
                <a:off x="3582" y="2279"/>
                <a:ext cx="112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8" name="Freeform 102"/>
              <p:cNvSpPr>
                <a:spLocks/>
              </p:cNvSpPr>
              <p:nvPr/>
            </p:nvSpPr>
            <p:spPr bwMode="auto">
              <a:xfrm>
                <a:off x="3682" y="2241"/>
                <a:ext cx="124" cy="89"/>
              </a:xfrm>
              <a:custGeom>
                <a:avLst/>
                <a:gdLst>
                  <a:gd name="T0" fmla="*/ 0 w 124"/>
                  <a:gd name="T1" fmla="*/ 89 h 89"/>
                  <a:gd name="T2" fmla="*/ 124 w 124"/>
                  <a:gd name="T3" fmla="*/ 38 h 89"/>
                  <a:gd name="T4" fmla="*/ 0 w 124"/>
                  <a:gd name="T5" fmla="*/ 0 h 89"/>
                  <a:gd name="T6" fmla="*/ 0 w 124"/>
                  <a:gd name="T7" fmla="*/ 89 h 8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4"/>
                  <a:gd name="T13" fmla="*/ 0 h 89"/>
                  <a:gd name="T14" fmla="*/ 124 w 124"/>
                  <a:gd name="T15" fmla="*/ 89 h 8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4" h="89">
                    <a:moveTo>
                      <a:pt x="0" y="89"/>
                    </a:moveTo>
                    <a:lnTo>
                      <a:pt x="124" y="38"/>
                    </a:lnTo>
                    <a:lnTo>
                      <a:pt x="0" y="0"/>
                    </a:lnTo>
                    <a:lnTo>
                      <a:pt x="0" y="8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29" name="Rectangle 103"/>
              <p:cNvSpPr>
                <a:spLocks noChangeArrowheads="1"/>
              </p:cNvSpPr>
              <p:nvPr/>
            </p:nvSpPr>
            <p:spPr bwMode="auto">
              <a:xfrm rot="-5400000">
                <a:off x="1543" y="2057"/>
                <a:ext cx="99" cy="3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7030" name="Rectangle 104"/>
              <p:cNvSpPr>
                <a:spLocks noChangeArrowheads="1"/>
              </p:cNvSpPr>
              <p:nvPr/>
            </p:nvSpPr>
            <p:spPr bwMode="auto">
              <a:xfrm>
                <a:off x="1869" y="2592"/>
                <a:ext cx="99" cy="30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7031" name="Line 105"/>
              <p:cNvSpPr>
                <a:spLocks noChangeShapeType="1"/>
              </p:cNvSpPr>
              <p:nvPr/>
            </p:nvSpPr>
            <p:spPr bwMode="auto">
              <a:xfrm flipH="1">
                <a:off x="1248" y="2208"/>
                <a:ext cx="192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2" name="Line 106"/>
              <p:cNvSpPr>
                <a:spLocks noChangeShapeType="1"/>
              </p:cNvSpPr>
              <p:nvPr/>
            </p:nvSpPr>
            <p:spPr bwMode="auto">
              <a:xfrm flipH="1">
                <a:off x="1728" y="2208"/>
                <a:ext cx="192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3" name="Line 107"/>
              <p:cNvSpPr>
                <a:spLocks noChangeShapeType="1"/>
              </p:cNvSpPr>
              <p:nvPr/>
            </p:nvSpPr>
            <p:spPr bwMode="auto">
              <a:xfrm flipH="1">
                <a:off x="1920" y="2208"/>
                <a:ext cx="0" cy="38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4" name="Line 108"/>
              <p:cNvSpPr>
                <a:spLocks noChangeShapeType="1"/>
              </p:cNvSpPr>
              <p:nvPr/>
            </p:nvSpPr>
            <p:spPr bwMode="auto">
              <a:xfrm>
                <a:off x="1920" y="2903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5" name="Line 109"/>
              <p:cNvSpPr>
                <a:spLocks noChangeShapeType="1"/>
              </p:cNvSpPr>
              <p:nvPr/>
            </p:nvSpPr>
            <p:spPr bwMode="auto">
              <a:xfrm>
                <a:off x="1808" y="3258"/>
                <a:ext cx="224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6" name="Line 110"/>
              <p:cNvSpPr>
                <a:spLocks noChangeShapeType="1"/>
              </p:cNvSpPr>
              <p:nvPr/>
            </p:nvSpPr>
            <p:spPr bwMode="auto">
              <a:xfrm>
                <a:off x="1920" y="3106"/>
                <a:ext cx="1" cy="1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7" name="Freeform 111"/>
              <p:cNvSpPr>
                <a:spLocks/>
              </p:cNvSpPr>
              <p:nvPr/>
            </p:nvSpPr>
            <p:spPr bwMode="auto">
              <a:xfrm>
                <a:off x="1920" y="3055"/>
                <a:ext cx="1" cy="51"/>
              </a:xfrm>
              <a:custGeom>
                <a:avLst/>
                <a:gdLst>
                  <a:gd name="T0" fmla="*/ 0 w 1"/>
                  <a:gd name="T1" fmla="*/ 0 h 51"/>
                  <a:gd name="T2" fmla="*/ 0 w 1"/>
                  <a:gd name="T3" fmla="*/ 25 h 51"/>
                  <a:gd name="T4" fmla="*/ 0 w 1"/>
                  <a:gd name="T5" fmla="*/ 25 h 51"/>
                  <a:gd name="T6" fmla="*/ 0 w 1"/>
                  <a:gd name="T7" fmla="*/ 51 h 5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"/>
                  <a:gd name="T13" fmla="*/ 0 h 51"/>
                  <a:gd name="T14" fmla="*/ 1 w 1"/>
                  <a:gd name="T15" fmla="*/ 51 h 5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" h="51">
                    <a:moveTo>
                      <a:pt x="0" y="0"/>
                    </a:moveTo>
                    <a:lnTo>
                      <a:pt x="0" y="25"/>
                    </a:lnTo>
                    <a:lnTo>
                      <a:pt x="0" y="51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38" name="Oval 112"/>
              <p:cNvSpPr>
                <a:spLocks noChangeArrowheads="1"/>
              </p:cNvSpPr>
              <p:nvPr/>
            </p:nvSpPr>
            <p:spPr bwMode="auto">
              <a:xfrm>
                <a:off x="1892" y="2395"/>
                <a:ext cx="62" cy="73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7039" name="Oval 113"/>
              <p:cNvSpPr>
                <a:spLocks noChangeArrowheads="1"/>
              </p:cNvSpPr>
              <p:nvPr/>
            </p:nvSpPr>
            <p:spPr bwMode="auto">
              <a:xfrm>
                <a:off x="3441" y="2227"/>
                <a:ext cx="66" cy="7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squar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400"/>
              </a:p>
            </p:txBody>
          </p:sp>
          <p:sp>
            <p:nvSpPr>
              <p:cNvPr id="127040" name="Rectangle 114"/>
              <p:cNvSpPr>
                <a:spLocks noChangeArrowheads="1"/>
              </p:cNvSpPr>
              <p:nvPr/>
            </p:nvSpPr>
            <p:spPr bwMode="auto">
              <a:xfrm>
                <a:off x="1488" y="1872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i="1">
                    <a:solidFill>
                      <a:srgbClr val="000000"/>
                    </a:solidFill>
                  </a:rPr>
                  <a:t>R</a:t>
                </a:r>
                <a:r>
                  <a:rPr lang="en-US" altLang="zh-CN" sz="2600" baseline="-25000">
                    <a:solidFill>
                      <a:srgbClr val="000000"/>
                    </a:solidFill>
                  </a:rPr>
                  <a:t>1</a:t>
                </a:r>
                <a:endParaRPr lang="en-US" altLang="zh-CN" sz="2000" baseline="-25000"/>
              </a:p>
            </p:txBody>
          </p:sp>
          <p:sp>
            <p:nvSpPr>
              <p:cNvPr id="127041" name="Rectangle 115"/>
              <p:cNvSpPr>
                <a:spLocks noChangeArrowheads="1"/>
              </p:cNvSpPr>
              <p:nvPr/>
            </p:nvSpPr>
            <p:spPr bwMode="auto">
              <a:xfrm>
                <a:off x="1632" y="2592"/>
                <a:ext cx="1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600" i="1">
                    <a:solidFill>
                      <a:srgbClr val="000000"/>
                    </a:solidFill>
                  </a:rPr>
                  <a:t>R</a:t>
                </a:r>
                <a:r>
                  <a:rPr lang="en-US" altLang="zh-CN" sz="2600" baseline="-25000">
                    <a:solidFill>
                      <a:srgbClr val="000000"/>
                    </a:solidFill>
                  </a:rPr>
                  <a:t>2</a:t>
                </a:r>
                <a:endParaRPr lang="en-US" altLang="zh-CN" sz="2000" baseline="-25000"/>
              </a:p>
            </p:txBody>
          </p:sp>
        </p:grpSp>
        <p:sp>
          <p:nvSpPr>
            <p:cNvPr id="111" name="椭圆 110"/>
            <p:cNvSpPr/>
            <p:nvPr/>
          </p:nvSpPr>
          <p:spPr>
            <a:xfrm>
              <a:off x="685912" y="5165034"/>
              <a:ext cx="455612" cy="48418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748044" y="5061991"/>
              <a:ext cx="30638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 smtClean="0"/>
                <a:t>+</a:t>
              </a:r>
              <a:endParaRPr lang="zh-CN" altLang="en-US" sz="2400" dirty="0"/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759908" y="5330524"/>
              <a:ext cx="3063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  <a:endParaRPr lang="zh-CN" altLang="en-US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1635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60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86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86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6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6062" grpId="0" autoUpdateAnimBg="0"/>
      <p:bldP spid="386064" grpId="0" autoUpdateAnimBg="0"/>
      <p:bldP spid="386065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4" name="Rectangle 2"/>
          <p:cNvSpPr>
            <a:spLocks noGrp="1" noChangeArrowheads="1"/>
          </p:cNvSpPr>
          <p:nvPr>
            <p:ph type="title"/>
          </p:nvPr>
        </p:nvSpPr>
        <p:spPr>
          <a:xfrm>
            <a:off x="1029836" y="285750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Op Amp circuits</a:t>
            </a:r>
          </a:p>
        </p:txBody>
      </p:sp>
      <p:sp>
        <p:nvSpPr>
          <p:cNvPr id="128003" name="灯片编号占位符 6"/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DB065B-D4A0-4854-8190-B9F3F7DAE060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sp>
        <p:nvSpPr>
          <p:cNvPr id="194730" name="Rectangle 170"/>
          <p:cNvSpPr>
            <a:spLocks noChangeArrowheads="1"/>
          </p:cNvSpPr>
          <p:nvPr/>
        </p:nvSpPr>
        <p:spPr bwMode="auto">
          <a:xfrm>
            <a:off x="323850" y="981075"/>
            <a:ext cx="8351838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/>
              <a:t>Analysis of Op Amp :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/>
              <a:t>	Find output - input relation.</a:t>
            </a: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400" b="1"/>
              <a:t>	Find input resistance.</a:t>
            </a:r>
            <a:endParaRPr lang="en-US" altLang="zh-CN" sz="2400"/>
          </a:p>
        </p:txBody>
      </p:sp>
      <p:sp>
        <p:nvSpPr>
          <p:cNvPr id="194732" name="Rectangle 172"/>
          <p:cNvSpPr>
            <a:spLocks noChangeArrowheads="1"/>
          </p:cNvSpPr>
          <p:nvPr/>
        </p:nvSpPr>
        <p:spPr bwMode="auto">
          <a:xfrm>
            <a:off x="395290" y="2565400"/>
            <a:ext cx="8497887" cy="367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2800" b="1"/>
              <a:t>Method of Analysis :</a:t>
            </a:r>
            <a:endParaRPr lang="en-US" altLang="zh-CN" sz="2400">
              <a:ea typeface="Batang" pitchFamily="18" charset="-127"/>
            </a:endParaRP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</a:pPr>
            <a:r>
              <a:rPr lang="en-US" altLang="zh-CN" sz="2400"/>
              <a:t>Use nodal analysis or KCL equations</a:t>
            </a:r>
            <a:r>
              <a:rPr lang="en-US" altLang="zh-CN" sz="2400">
                <a:ea typeface="Batang" pitchFamily="18" charset="-127"/>
              </a:rPr>
              <a:t>.</a:t>
            </a: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</a:pPr>
            <a:r>
              <a:rPr lang="en-US" altLang="zh-CN" sz="2400">
                <a:ea typeface="Batang" pitchFamily="18" charset="-127"/>
              </a:rPr>
              <a:t>Start from input nodes .</a:t>
            </a: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</a:pPr>
            <a:r>
              <a:rPr lang="en-US" altLang="zh-CN" sz="2400">
                <a:ea typeface="Batang" pitchFamily="18" charset="-127"/>
              </a:rPr>
              <a:t>The Op amp output current is unknown, avoid the calculation of this current.</a:t>
            </a:r>
          </a:p>
          <a:p>
            <a:pPr lvl="1" eaLnBrk="1" hangingPunct="1">
              <a:lnSpc>
                <a:spcPct val="120000"/>
              </a:lnSpc>
              <a:buClr>
                <a:srgbClr val="0000FF"/>
              </a:buClr>
              <a:buFontTx/>
              <a:buNone/>
            </a:pPr>
            <a:endParaRPr lang="en-US" altLang="zh-CN" sz="2400">
              <a:ea typeface="Batang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73787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947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7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947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947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730" grpId="0" autoUpdateAnimBg="0"/>
      <p:bldP spid="19473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8" name="Rectangle 2"/>
          <p:cNvSpPr>
            <a:spLocks noGrp="1" noChangeArrowheads="1"/>
          </p:cNvSpPr>
          <p:nvPr>
            <p:ph type="title"/>
          </p:nvPr>
        </p:nvSpPr>
        <p:spPr>
          <a:xfrm>
            <a:off x="700486" y="153934"/>
            <a:ext cx="5257552" cy="766819"/>
          </a:xfrm>
        </p:spPr>
        <p:txBody>
          <a:bodyPr/>
          <a:lstStyle/>
          <a:p>
            <a:pPr eaLnBrk="1" hangingPunct="1"/>
            <a:r>
              <a:rPr lang="en-US" altLang="zh-CN" sz="3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Op Amp circuits</a:t>
            </a:r>
          </a:p>
        </p:txBody>
      </p:sp>
      <p:graphicFrame>
        <p:nvGraphicFramePr>
          <p:cNvPr id="362664" name="Object 2"/>
          <p:cNvGraphicFramePr>
            <a:graphicFrameLocks noGrp="1" noChangeAspect="1"/>
          </p:cNvGraphicFramePr>
          <p:nvPr>
            <p:ph idx="1"/>
          </p:nvPr>
        </p:nvGraphicFramePr>
        <p:xfrm>
          <a:off x="539750" y="4579938"/>
          <a:ext cx="4032250" cy="184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公式" r:id="rId3" imgW="1752600" imgH="800100" progId="Equation.3">
                  <p:embed/>
                </p:oleObj>
              </mc:Choice>
              <mc:Fallback>
                <p:oleObj name="公式" r:id="rId3" imgW="1752600" imgH="800100" progId="Equation.3">
                  <p:embed/>
                  <p:pic>
                    <p:nvPicPr>
                      <p:cNvPr id="36266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579938"/>
                        <a:ext cx="4032250" cy="184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027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7988E2-FD14-433B-B4E2-C6D645E1CB6B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solidFill>
                <a:srgbClr val="99CCFF"/>
              </a:solidFill>
            </a:endParaRPr>
          </a:p>
        </p:txBody>
      </p:sp>
      <p:pic>
        <p:nvPicPr>
          <p:cNvPr id="129029" name="Picture 16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5" y="1339852"/>
            <a:ext cx="6696075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9030" name="Rectangle 164"/>
          <p:cNvSpPr>
            <a:spLocks noChangeArrowheads="1"/>
          </p:cNvSpPr>
          <p:nvPr/>
        </p:nvSpPr>
        <p:spPr bwMode="auto">
          <a:xfrm>
            <a:off x="1619252" y="924351"/>
            <a:ext cx="619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dirty="0"/>
              <a:t>Find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 in terms of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and </a:t>
            </a:r>
            <a:r>
              <a:rPr lang="en-US" altLang="zh-CN" sz="2400" i="1" dirty="0"/>
              <a:t>v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.</a:t>
            </a:r>
          </a:p>
        </p:txBody>
      </p:sp>
      <p:sp>
        <p:nvSpPr>
          <p:cNvPr id="129031" name="Rectangle 165"/>
          <p:cNvSpPr>
            <a:spLocks noChangeArrowheads="1"/>
          </p:cNvSpPr>
          <p:nvPr/>
        </p:nvSpPr>
        <p:spPr bwMode="auto">
          <a:xfrm>
            <a:off x="180977" y="908050"/>
            <a:ext cx="1438275" cy="4572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Arial" panose="020B0604020202020204" pitchFamily="34" charset="0"/>
              </a:rPr>
              <a:t>Example</a:t>
            </a:r>
          </a:p>
        </p:txBody>
      </p:sp>
      <p:sp>
        <p:nvSpPr>
          <p:cNvPr id="129032" name="Rectangle 167"/>
          <p:cNvSpPr>
            <a:spLocks noChangeArrowheads="1"/>
          </p:cNvSpPr>
          <p:nvPr/>
        </p:nvSpPr>
        <p:spPr bwMode="auto">
          <a:xfrm>
            <a:off x="395288" y="3716340"/>
            <a:ext cx="76327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/>
              <a:t>Treat </a:t>
            </a:r>
            <a:r>
              <a:rPr lang="en-US" altLang="zh-CN" sz="2400" i="1"/>
              <a:t>v</a:t>
            </a:r>
            <a:r>
              <a:rPr lang="en-US" altLang="zh-CN" sz="2400" baseline="-25000"/>
              <a:t>1</a:t>
            </a:r>
            <a:r>
              <a:rPr lang="en-US" altLang="zh-CN" sz="2400"/>
              <a:t> , </a:t>
            </a:r>
            <a:r>
              <a:rPr lang="en-US" altLang="zh-CN" sz="2400" i="1"/>
              <a:t>v</a:t>
            </a:r>
            <a:r>
              <a:rPr lang="en-US" altLang="zh-CN" sz="2400" baseline="-25000"/>
              <a:t>2</a:t>
            </a:r>
            <a:r>
              <a:rPr lang="en-US" altLang="zh-CN" sz="2400"/>
              <a:t> and </a:t>
            </a:r>
            <a:r>
              <a:rPr lang="en-US" altLang="zh-CN" sz="2400" i="1"/>
              <a:t>v</a:t>
            </a:r>
            <a:r>
              <a:rPr lang="en-US" altLang="zh-CN" sz="2400" baseline="-25000"/>
              <a:t>0</a:t>
            </a:r>
            <a:r>
              <a:rPr lang="en-US" altLang="zh-CN" sz="2400"/>
              <a:t>  as known voltages. Write node equations at unknown voltage nodes.</a:t>
            </a:r>
          </a:p>
        </p:txBody>
      </p:sp>
      <p:graphicFrame>
        <p:nvGraphicFramePr>
          <p:cNvPr id="362666" name="Object 3"/>
          <p:cNvGraphicFramePr>
            <a:graphicFrameLocks noChangeAspect="1"/>
          </p:cNvGraphicFramePr>
          <p:nvPr/>
        </p:nvGraphicFramePr>
        <p:xfrm>
          <a:off x="5580065" y="4651375"/>
          <a:ext cx="2543175" cy="1403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公式" r:id="rId6" imgW="1104900" imgH="609600" progId="Equation.3">
                  <p:embed/>
                </p:oleObj>
              </mc:Choice>
              <mc:Fallback>
                <p:oleObj name="公式" r:id="rId6" imgW="1104900" imgH="609600" progId="Equation.3">
                  <p:embed/>
                  <p:pic>
                    <p:nvPicPr>
                      <p:cNvPr id="36266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5" y="4651375"/>
                        <a:ext cx="2543175" cy="1403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6530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2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2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6" name="Rectangle 5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200"/>
              <a:t>Homework</a:t>
            </a:r>
            <a:endParaRPr lang="zh-CN" altLang="en-US" sz="3200"/>
          </a:p>
        </p:txBody>
      </p:sp>
      <p:sp>
        <p:nvSpPr>
          <p:cNvPr id="131077" name="Rectangle 52"/>
          <p:cNvSpPr>
            <a:spLocks noGrp="1" noChangeArrowheads="1"/>
          </p:cNvSpPr>
          <p:nvPr>
            <p:ph idx="1"/>
          </p:nvPr>
        </p:nvSpPr>
        <p:spPr>
          <a:xfrm>
            <a:off x="755650" y="1412875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/>
              <a:t>2.15, 2.34, 2.36, 2.38</a:t>
            </a:r>
          </a:p>
        </p:txBody>
      </p:sp>
      <p:sp>
        <p:nvSpPr>
          <p:cNvPr id="131075" name="灯片编号占位符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ECF257-8F52-444D-BD9B-3DCD26F3DD29}" type="slidenum">
              <a:rPr lang="en-US" altLang="zh-CN" sz="1400">
                <a:solidFill>
                  <a:srgbClr val="99CCFF"/>
                </a:solidFill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solidFill>
                <a:srgbClr val="99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88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952901" y="336884"/>
            <a:ext cx="6679933" cy="567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78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1886552" y="1116530"/>
            <a:ext cx="5823284" cy="4071485"/>
          </a:xfrm>
          <a:prstGeom prst="rect">
            <a:avLst/>
          </a:prstGeom>
        </p:spPr>
      </p:pic>
      <p:pic>
        <p:nvPicPr>
          <p:cNvPr id="3" name="图片 2"/>
          <p:cNvPicPr/>
          <p:nvPr/>
        </p:nvPicPr>
        <p:blipFill>
          <a:blip r:embed="rId3"/>
          <a:stretch>
            <a:fillRect/>
          </a:stretch>
        </p:blipFill>
        <p:spPr>
          <a:xfrm>
            <a:off x="2348565" y="5284268"/>
            <a:ext cx="3888606" cy="119311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0257" y="266110"/>
            <a:ext cx="88937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 amplifier of low level signals used in process control or measurement applications and commercially available in single-package units. </a:t>
            </a:r>
          </a:p>
        </p:txBody>
      </p:sp>
    </p:spTree>
    <p:extLst>
      <p:ext uri="{BB962C8B-B14F-4D97-AF65-F5344CB8AC3E}">
        <p14:creationId xmlns:p14="http://schemas.microsoft.com/office/powerpoint/2010/main" val="348927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/>
          <p:nvPr/>
        </p:nvPicPr>
        <p:blipFill>
          <a:blip r:embed="rId2"/>
          <a:stretch>
            <a:fillRect/>
          </a:stretch>
        </p:blipFill>
        <p:spPr>
          <a:xfrm>
            <a:off x="644892" y="635268"/>
            <a:ext cx="7218947" cy="4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319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C6C15B6-AF71-430F-A07E-2EE05FFD02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972151" y="712269"/>
            <a:ext cx="6651057" cy="3994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60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539</TotalTime>
  <Words>383</Words>
  <Application>Microsoft Office PowerPoint</Application>
  <PresentationFormat>全屏显示(4:3)</PresentationFormat>
  <Paragraphs>122</Paragraphs>
  <Slides>15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Batang</vt:lpstr>
      <vt:lpstr>等线</vt:lpstr>
      <vt:lpstr>等线 Light</vt:lpstr>
      <vt:lpstr>黑体</vt:lpstr>
      <vt:lpstr>宋体</vt:lpstr>
      <vt:lpstr>Arial</vt:lpstr>
      <vt:lpstr>Calibri</vt:lpstr>
      <vt:lpstr>Calibri Light</vt:lpstr>
      <vt:lpstr>Times New Roman</vt:lpstr>
      <vt:lpstr>Wingdings</vt:lpstr>
      <vt:lpstr>Office 主题​​</vt:lpstr>
      <vt:lpstr>Equation</vt:lpstr>
      <vt:lpstr>公式</vt:lpstr>
      <vt:lpstr>The Operational Amplifier</vt:lpstr>
      <vt:lpstr>Op Amp and Ideal Op Amp Model</vt:lpstr>
      <vt:lpstr>PowerPoint 演示文稿</vt:lpstr>
      <vt:lpstr>PowerPoint 演示文稿</vt:lpstr>
      <vt:lpstr>Op Amp and Ideal Op Amp Model</vt:lpstr>
      <vt:lpstr>Typical Op Amp Circuits</vt:lpstr>
      <vt:lpstr>Typical Op Amp Circuits</vt:lpstr>
      <vt:lpstr>Typical Op Amp Circuits</vt:lpstr>
      <vt:lpstr>Analysis of Op Amp circuits</vt:lpstr>
      <vt:lpstr>Analysis of Op Amp circuits</vt:lpstr>
      <vt:lpstr>Homework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Windows 用户</dc:creator>
  <cp:lastModifiedBy>Administrator</cp:lastModifiedBy>
  <cp:revision>15</cp:revision>
  <dcterms:created xsi:type="dcterms:W3CDTF">2018-04-12T13:12:05Z</dcterms:created>
  <dcterms:modified xsi:type="dcterms:W3CDTF">2023-04-02T13:45:46Z</dcterms:modified>
</cp:coreProperties>
</file>