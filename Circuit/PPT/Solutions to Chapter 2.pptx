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77" r:id="rId26"/>
    <p:sldId id="278" r:id="rId27"/>
    <p:sldId id="280" r:id="rId28"/>
    <p:sldId id="281" r:id="rId29"/>
    <p:sldId id="282" r:id="rId30"/>
    <p:sldId id="283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4" Type="http://schemas.openxmlformats.org/officeDocument/2006/relationships/image" Target="../media/image8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2.wmf"/><Relationship Id="rId7" Type="http://schemas.openxmlformats.org/officeDocument/2006/relationships/image" Target="../media/image85.wmf"/><Relationship Id="rId2" Type="http://schemas.openxmlformats.org/officeDocument/2006/relationships/image" Target="../media/image81.wmf"/><Relationship Id="rId1" Type="http://schemas.openxmlformats.org/officeDocument/2006/relationships/image" Target="../media/image77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10" Type="http://schemas.openxmlformats.org/officeDocument/2006/relationships/image" Target="../media/image88.wmf"/><Relationship Id="rId4" Type="http://schemas.openxmlformats.org/officeDocument/2006/relationships/image" Target="../media/image78.wmf"/><Relationship Id="rId9" Type="http://schemas.openxmlformats.org/officeDocument/2006/relationships/image" Target="../media/image8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4" Type="http://schemas.openxmlformats.org/officeDocument/2006/relationships/image" Target="../media/image10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Relationship Id="rId5" Type="http://schemas.openxmlformats.org/officeDocument/2006/relationships/image" Target="../media/image111.emf"/><Relationship Id="rId4" Type="http://schemas.openxmlformats.org/officeDocument/2006/relationships/image" Target="../media/image11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e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4" Type="http://schemas.openxmlformats.org/officeDocument/2006/relationships/image" Target="../media/image13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4" Type="http://schemas.openxmlformats.org/officeDocument/2006/relationships/image" Target="../media/image13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e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10" Type="http://schemas.openxmlformats.org/officeDocument/2006/relationships/image" Target="../media/image157.wmf"/><Relationship Id="rId4" Type="http://schemas.openxmlformats.org/officeDocument/2006/relationships/image" Target="../media/image151.wmf"/><Relationship Id="rId9" Type="http://schemas.openxmlformats.org/officeDocument/2006/relationships/image" Target="../media/image15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9.26407" units="1/cm"/>
          <inkml:channelProperty channel="Y" name="resolution" value="69.36416" units="1/cm"/>
          <inkml:channelProperty channel="T" name="resolution" value="1" units="1/dev"/>
        </inkml:channelProperties>
      </inkml:inkSource>
      <inkml:timestamp xml:id="ts0" timeString="2022-04-15T02:28:17.99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17764 3826 0,'32'0'156,"16"0"-156,-1 0 16,1 0-1,15 0 1,33 0-16,-1 0 16,0 0 15,-79 0-15</inkml:trace>
  <inkml:trace contextRef="#ctx0" brushRef="#br0" timeOffset="45383.11">15050 18971 0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5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9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4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1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9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3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9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9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2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7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8DD83-7951-469D-BB45-E390645E8E3C}" type="datetimeFigureOut">
              <a:rPr lang="en-US" smtClean="0"/>
              <a:t>6/9/2022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2B955-3B19-4D49-A357-A6B85E32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9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4" Type="http://schemas.openxmlformats.org/officeDocument/2006/relationships/image" Target="../media/image3.wmf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0.emf"/><Relationship Id="rId4" Type="http://schemas.openxmlformats.org/officeDocument/2006/relationships/image" Target="../media/image6.wmf"/><Relationship Id="rId9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image" Target="../media/image16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9.bin"/><Relationship Id="rId7" Type="http://schemas.openxmlformats.org/officeDocument/2006/relationships/image" Target="../media/image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35.bin"/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emf"/><Relationship Id="rId11" Type="http://schemas.openxmlformats.org/officeDocument/2006/relationships/oleObject" Target="../embeddings/oleObject34.bin"/><Relationship Id="rId5" Type="http://schemas.openxmlformats.org/officeDocument/2006/relationships/image" Target="../media/image58.emf"/><Relationship Id="rId10" Type="http://schemas.openxmlformats.org/officeDocument/2006/relationships/image" Target="../media/image53.w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5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66.emf"/><Relationship Id="rId4" Type="http://schemas.openxmlformats.org/officeDocument/2006/relationships/image" Target="../media/image62.wmf"/><Relationship Id="rId9" Type="http://schemas.openxmlformats.org/officeDocument/2006/relationships/image" Target="../media/image6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8.emf"/><Relationship Id="rId4" Type="http://schemas.openxmlformats.org/officeDocument/2006/relationships/image" Target="../media/image6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7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5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9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9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7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7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1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110.w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8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119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115.wmf"/><Relationship Id="rId4" Type="http://schemas.openxmlformats.org/officeDocument/2006/relationships/image" Target="../media/image112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11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12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8.wmf"/><Relationship Id="rId11" Type="http://schemas.openxmlformats.org/officeDocument/2006/relationships/image" Target="../media/image130.wmf"/><Relationship Id="rId5" Type="http://schemas.openxmlformats.org/officeDocument/2006/relationships/oleObject" Target="../embeddings/oleObject101.bin"/><Relationship Id="rId10" Type="http://schemas.openxmlformats.org/officeDocument/2006/relationships/oleObject" Target="../embeddings/oleObject103.bin"/><Relationship Id="rId4" Type="http://schemas.openxmlformats.org/officeDocument/2006/relationships/image" Target="../media/image127.wmf"/><Relationship Id="rId9" Type="http://schemas.openxmlformats.org/officeDocument/2006/relationships/image" Target="../media/image131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0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1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4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55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4.wmf"/><Relationship Id="rId20" Type="http://schemas.openxmlformats.org/officeDocument/2006/relationships/image" Target="../media/image15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51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48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53.wmf"/><Relationship Id="rId22" Type="http://schemas.openxmlformats.org/officeDocument/2006/relationships/image" Target="../media/image1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Solutions to Chapter 2 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9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71D7FC3-D516-4585-B677-0F8396AB8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92" y="191193"/>
            <a:ext cx="8682653" cy="36939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E23004-A0EA-4F31-B073-09E91884A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995593"/>
            <a:ext cx="9144000" cy="267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9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9738" y="299259"/>
            <a:ext cx="8348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2.3 If the voltage of the 48V source drops to 24V, find the change caused in current </a:t>
            </a:r>
            <a:r>
              <a:rPr lang="en-US" sz="2400" i="1" dirty="0"/>
              <a:t>i</a:t>
            </a:r>
            <a:r>
              <a:rPr lang="en-US" sz="2400" baseline="-25000" dirty="0"/>
              <a:t>2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080064" y="708916"/>
            <a:ext cx="14186089" cy="47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339952"/>
              </p:ext>
            </p:extLst>
          </p:nvPr>
        </p:nvGraphicFramePr>
        <p:xfrm>
          <a:off x="4869951" y="708916"/>
          <a:ext cx="3928362" cy="2521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Visio" r:id="rId3" imgW="2183226" imgH="1405218" progId="Visio.Drawing.11">
                  <p:embed/>
                </p:oleObj>
              </mc:Choice>
              <mc:Fallback>
                <p:oleObj name="Visio" r:id="rId3" imgW="2183226" imgH="140521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9951" y="708916"/>
                        <a:ext cx="3928362" cy="25216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9738" y="1273996"/>
            <a:ext cx="46977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Solution</a:t>
            </a:r>
            <a:endParaRPr lang="en-US" sz="2400" dirty="0"/>
          </a:p>
          <a:p>
            <a:r>
              <a:rPr lang="en-US" sz="2400" dirty="0"/>
              <a:t>According to superposition, </a:t>
            </a:r>
            <a:r>
              <a:rPr lang="en-US" sz="2400" dirty="0">
                <a:sym typeface="Symbol" panose="05050102010706020507" pitchFamily="18" charset="2"/>
              </a:rPr>
              <a:t></a:t>
            </a:r>
            <a:r>
              <a:rPr lang="en-US" sz="2400" i="1" dirty="0"/>
              <a:t>I</a:t>
            </a:r>
            <a:r>
              <a:rPr lang="en-US" sz="2400" baseline="-25000" dirty="0"/>
              <a:t>2</a:t>
            </a:r>
            <a:r>
              <a:rPr lang="en-US" sz="2400" dirty="0"/>
              <a:t> results from change of 48 V voltage source directly.</a:t>
            </a:r>
          </a:p>
          <a:p>
            <a:endParaRPr lang="en-US" sz="3200" dirty="0"/>
          </a:p>
        </p:txBody>
      </p:sp>
      <p:pic>
        <p:nvPicPr>
          <p:cNvPr id="6" name="图片 5" descr="C:\Users\dell\Pictures\2-3.png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9" b="16807"/>
          <a:stretch/>
        </p:blipFill>
        <p:spPr bwMode="auto">
          <a:xfrm>
            <a:off x="5020483" y="3886503"/>
            <a:ext cx="3627298" cy="21444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42481" y="40377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510659"/>
              </p:ext>
            </p:extLst>
          </p:nvPr>
        </p:nvGraphicFramePr>
        <p:xfrm>
          <a:off x="595901" y="4091748"/>
          <a:ext cx="4014185" cy="736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Equation" r:id="rId6" imgW="2794000" imgH="508000" progId="Equation.DSMT4">
                  <p:embed/>
                </p:oleObj>
              </mc:Choice>
              <mc:Fallback>
                <p:oleObj name="Equation" r:id="rId6" imgW="2794000" imgH="508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01" y="4091748"/>
                        <a:ext cx="4014185" cy="7362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下箭头 8"/>
          <p:cNvSpPr/>
          <p:nvPr/>
        </p:nvSpPr>
        <p:spPr>
          <a:xfrm>
            <a:off x="6698751" y="3230615"/>
            <a:ext cx="215757" cy="5175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4D8148FB-C7CC-4FF7-830F-ACBBC1110B9E}"/>
                  </a:ext>
                </a:extLst>
              </p14:cNvPr>
              <p14:cNvContentPartPr/>
              <p14:nvPr/>
            </p14:nvContentPartPr>
            <p14:xfrm>
              <a:off x="5418000" y="1377360"/>
              <a:ext cx="1171800" cy="54525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4D8148FB-C7CC-4FF7-830F-ACBBC1110B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08640" y="1368000"/>
                <a:ext cx="1190520" cy="54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021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0144" y="146519"/>
            <a:ext cx="8034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2.4 Find </a:t>
            </a:r>
            <a:r>
              <a:rPr lang="en-US" sz="2400" i="1" dirty="0"/>
              <a:t>I</a:t>
            </a:r>
            <a:r>
              <a:rPr lang="en-US" sz="2400" i="1" baseline="-25000" dirty="0"/>
              <a:t>x</a:t>
            </a:r>
            <a:r>
              <a:rPr lang="en-US" sz="2400" dirty="0"/>
              <a:t> in figure P2-4 by using superposition.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244957" y="739738"/>
            <a:ext cx="15667151" cy="4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47272" y="66889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531049"/>
              </p:ext>
            </p:extLst>
          </p:nvPr>
        </p:nvGraphicFramePr>
        <p:xfrm>
          <a:off x="1122363" y="3498850"/>
          <a:ext cx="258603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" name="Equation" r:id="rId3" imgW="1968480" imgH="1130040" progId="Equation.DSMT4">
                  <p:embed/>
                </p:oleObj>
              </mc:Choice>
              <mc:Fallback>
                <p:oleObj name="Equation" r:id="rId3" imgW="1968480" imgH="1130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3498850"/>
                        <a:ext cx="2586037" cy="1470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740107" y="5447676"/>
            <a:ext cx="120752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135618"/>
              </p:ext>
            </p:extLst>
          </p:nvPr>
        </p:nvGraphicFramePr>
        <p:xfrm>
          <a:off x="4584700" y="5057775"/>
          <a:ext cx="4341813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" name="Equation" r:id="rId5" imgW="3644640" imgH="1371600" progId="Equation.DSMT4">
                  <p:embed/>
                </p:oleObj>
              </mc:Choice>
              <mc:Fallback>
                <p:oleObj name="Equation" r:id="rId5" imgW="3644640" imgH="1371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5057775"/>
                        <a:ext cx="4341813" cy="1633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79584" y="2322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713996"/>
              </p:ext>
            </p:extLst>
          </p:nvPr>
        </p:nvGraphicFramePr>
        <p:xfrm>
          <a:off x="698277" y="5493396"/>
          <a:ext cx="3137315" cy="675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Equation" r:id="rId7" imgW="2387600" imgH="508000" progId="Equation.DSMT4">
                  <p:embed/>
                </p:oleObj>
              </mc:Choice>
              <mc:Fallback>
                <p:oleObj name="Equation" r:id="rId7" imgW="2387600" imgH="50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277" y="5493396"/>
                        <a:ext cx="3137315" cy="675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57125" y="704310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C25F1B7-0DEA-4B3F-AA26-D67E6374D7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584" y="531458"/>
            <a:ext cx="3846311" cy="226493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30A184F-EA9C-4448-A55B-966CD4E1E1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479" y="1058167"/>
            <a:ext cx="3591670" cy="209278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F0B74C8-9615-4EB4-91EE-07E24E492A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1583" y="2776280"/>
            <a:ext cx="3870793" cy="217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4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400300" y="101262"/>
            <a:ext cx="9700231" cy="160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49250"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32385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2.5 In the circuit shown in Figure P2-5,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N</a:t>
            </a:r>
            <a:r>
              <a:rPr kumimoji="0" lang="en-US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 is a linear passive network with unknown circuit structure. Given the following measurement results: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492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3850" algn="l"/>
              </a:tabLs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=5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V,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1A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；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2V, 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4A, 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2A.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Determine 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when</a:t>
            </a:r>
          </a:p>
          <a:p>
            <a:pPr marL="0" marR="0" lvl="0" indent="349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385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GillSans-Bold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1V and 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1A.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0322" y="1232899"/>
            <a:ext cx="15750922" cy="51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82113" y="2421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2502"/>
              </p:ext>
            </p:extLst>
          </p:nvPr>
        </p:nvGraphicFramePr>
        <p:xfrm>
          <a:off x="1797674" y="2195843"/>
          <a:ext cx="2015447" cy="45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Equation" r:id="rId3" imgW="1016000" imgH="228600" progId="Equation.DSMT4">
                  <p:embed/>
                </p:oleObj>
              </mc:Choice>
              <mc:Fallback>
                <p:oleObj name="Equation" r:id="rId3" imgW="10160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674" y="2195843"/>
                        <a:ext cx="2015447" cy="452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181339"/>
              </p:ext>
            </p:extLst>
          </p:nvPr>
        </p:nvGraphicFramePr>
        <p:xfrm>
          <a:off x="1160977" y="3448965"/>
          <a:ext cx="3288839" cy="131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Equation" r:id="rId5" imgW="1638300" imgH="660400" progId="Equation.DSMT4">
                  <p:embed/>
                </p:oleObj>
              </mc:Choice>
              <mc:Fallback>
                <p:oleObj name="Equation" r:id="rId5" imgW="1638300" imgH="660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977" y="3448965"/>
                        <a:ext cx="3288839" cy="1319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917466"/>
              </p:ext>
            </p:extLst>
          </p:nvPr>
        </p:nvGraphicFramePr>
        <p:xfrm>
          <a:off x="2038859" y="5020081"/>
          <a:ext cx="1899004" cy="37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Equation" r:id="rId7" imgW="1409700" imgH="279400" progId="Equation.DSMT4">
                  <p:embed/>
                </p:oleObj>
              </mc:Choice>
              <mc:Fallback>
                <p:oleObj name="Equation" r:id="rId7" imgW="1409700" imgH="279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859" y="5020081"/>
                        <a:ext cx="1899004" cy="3723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075434" y="539243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075344"/>
              </p:ext>
            </p:extLst>
          </p:nvPr>
        </p:nvGraphicFramePr>
        <p:xfrm>
          <a:off x="2202012" y="5777778"/>
          <a:ext cx="1572698" cy="629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Equation" r:id="rId9" imgW="1282700" imgH="508000" progId="Equation.DSMT4">
                  <p:embed/>
                </p:oleObj>
              </mc:Choice>
              <mc:Fallback>
                <p:oleObj name="Equation" r:id="rId9" imgW="1282700" imgH="508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012" y="5777778"/>
                        <a:ext cx="1572698" cy="6290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32423" y="2153535"/>
            <a:ext cx="1457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Assuming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32423" y="2639179"/>
            <a:ext cx="4884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substitute given measurement results and get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60288" y="4869951"/>
            <a:ext cx="1623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16168" y="5861486"/>
            <a:ext cx="1417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obtain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18306" y="1702179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9AB54BE-5375-41C8-9529-EFA4AFBE8D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8679" y="1232899"/>
            <a:ext cx="3288838" cy="268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5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6305" y="195209"/>
            <a:ext cx="86302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2.7 Figure P2-7 shows an R-2R type resistor pack. Various equivalent resistors can be obtained by properly connecting its lead pins. All but one of the following resistance values are available : R/2</a:t>
            </a:r>
            <a:r>
              <a:rPr lang="zh-CN" altLang="en-US" sz="2400" dirty="0"/>
              <a:t>，</a:t>
            </a:r>
            <a:r>
              <a:rPr lang="en-US" sz="2400" dirty="0"/>
              <a:t>2</a:t>
            </a:r>
            <a:r>
              <a:rPr lang="en-US" sz="2400" i="1" dirty="0"/>
              <a:t>R</a:t>
            </a:r>
            <a:r>
              <a:rPr lang="en-US" sz="2400" dirty="0"/>
              <a:t>/3</a:t>
            </a:r>
            <a:r>
              <a:rPr lang="zh-CN" altLang="en-US" sz="2400" dirty="0"/>
              <a:t>，</a:t>
            </a:r>
            <a:r>
              <a:rPr lang="en-US" sz="2400" i="1" dirty="0"/>
              <a:t>R</a:t>
            </a:r>
            <a:r>
              <a:rPr lang="zh-CN" altLang="en-US" sz="2400" dirty="0"/>
              <a:t>，</a:t>
            </a:r>
            <a:r>
              <a:rPr lang="en-US" sz="2400" dirty="0"/>
              <a:t>8</a:t>
            </a:r>
            <a:r>
              <a:rPr lang="en-US" sz="2400" i="1" dirty="0"/>
              <a:t>R</a:t>
            </a:r>
            <a:r>
              <a:rPr lang="en-US" sz="2400" dirty="0"/>
              <a:t>/3</a:t>
            </a:r>
            <a:r>
              <a:rPr lang="zh-CN" altLang="en-US" sz="2400" dirty="0"/>
              <a:t>，</a:t>
            </a:r>
            <a:r>
              <a:rPr lang="en-US" sz="2400" dirty="0"/>
              <a:t>5</a:t>
            </a:r>
            <a:r>
              <a:rPr lang="en-US" sz="2400" i="1" dirty="0"/>
              <a:t>R</a:t>
            </a:r>
            <a:r>
              <a:rPr lang="en-US" sz="2400" dirty="0"/>
              <a:t>/3</a:t>
            </a:r>
            <a:r>
              <a:rPr lang="zh-CN" altLang="en-US" sz="2400" dirty="0"/>
              <a:t>，</a:t>
            </a:r>
            <a:r>
              <a:rPr lang="en-US" sz="2400" dirty="0"/>
              <a:t>2</a:t>
            </a:r>
            <a:r>
              <a:rPr lang="en-US" sz="2400" i="1" dirty="0"/>
              <a:t>R</a:t>
            </a:r>
            <a:r>
              <a:rPr lang="zh-CN" altLang="en-US" sz="2400" dirty="0"/>
              <a:t>，</a:t>
            </a:r>
            <a:r>
              <a:rPr lang="en-US" sz="2400" dirty="0"/>
              <a:t>3</a:t>
            </a:r>
            <a:r>
              <a:rPr lang="en-US" sz="2400" i="1" dirty="0"/>
              <a:t>R</a:t>
            </a:r>
            <a:r>
              <a:rPr lang="zh-CN" altLang="en-US" sz="2400" dirty="0"/>
              <a:t>，</a:t>
            </a:r>
            <a:r>
              <a:rPr lang="en-US" sz="2400" dirty="0"/>
              <a:t>4</a:t>
            </a:r>
            <a:r>
              <a:rPr lang="en-US" sz="2400" i="1" dirty="0"/>
              <a:t>R</a:t>
            </a:r>
            <a:r>
              <a:rPr lang="en-US" sz="2400" dirty="0"/>
              <a:t> . Find the value that is </a:t>
            </a:r>
            <a:r>
              <a:rPr lang="en-US" sz="2400" b="1" dirty="0"/>
              <a:t>not</a:t>
            </a:r>
            <a:r>
              <a:rPr lang="en-US" sz="2400" dirty="0"/>
              <a:t> available and draw the connections for other values.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702157" y="2589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7025"/>
              </p:ext>
            </p:extLst>
          </p:nvPr>
        </p:nvGraphicFramePr>
        <p:xfrm>
          <a:off x="5332289" y="1863690"/>
          <a:ext cx="3760341" cy="2529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6" name="Visio" r:id="rId3" imgW="2154411" imgH="1445559" progId="Visio.Drawing.11">
                  <p:embed/>
                </p:oleObj>
              </mc:Choice>
              <mc:Fallback>
                <p:oleObj name="Visio" r:id="rId3" imgW="2154411" imgH="144555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289" y="1863690"/>
                        <a:ext cx="3760341" cy="25290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768902"/>
              </p:ext>
            </p:extLst>
          </p:nvPr>
        </p:nvGraphicFramePr>
        <p:xfrm>
          <a:off x="1962365" y="2244142"/>
          <a:ext cx="2496620" cy="179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7" name="Visio" r:id="rId5" imgW="1482852" imgH="1059180" progId="Visio.Drawing.11">
                  <p:embed/>
                </p:oleObj>
              </mc:Choice>
              <mc:Fallback>
                <p:oleObj name="Visio" r:id="rId5" imgW="1482852" imgH="105918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365" y="2244142"/>
                        <a:ext cx="2496620" cy="17924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541647"/>
              </p:ext>
            </p:extLst>
          </p:nvPr>
        </p:nvGraphicFramePr>
        <p:xfrm>
          <a:off x="1089061" y="2812019"/>
          <a:ext cx="786668" cy="63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" name="Equation" r:id="rId7" imgW="482391" imgH="393529" progId="Equation.DSMT4">
                  <p:embed/>
                </p:oleObj>
              </mc:Choice>
              <mc:Fallback>
                <p:oleObj name="Equation" r:id="rId7" imgW="482391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61" y="2812019"/>
                        <a:ext cx="786668" cy="6324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008955"/>
              </p:ext>
            </p:extLst>
          </p:nvPr>
        </p:nvGraphicFramePr>
        <p:xfrm>
          <a:off x="2578814" y="4264129"/>
          <a:ext cx="1993186" cy="1906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" name="Visio" r:id="rId9" imgW="1097280" imgH="1043940" progId="Visio.Drawing.11">
                  <p:embed/>
                </p:oleObj>
              </mc:Choice>
              <mc:Fallback>
                <p:oleObj name="Visio" r:id="rId9" imgW="1097280" imgH="104394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814" y="4264129"/>
                        <a:ext cx="1993186" cy="19065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706905"/>
              </p:ext>
            </p:extLst>
          </p:nvPr>
        </p:nvGraphicFramePr>
        <p:xfrm>
          <a:off x="1294704" y="4552467"/>
          <a:ext cx="989281" cy="664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" name="Equation" r:id="rId11" imgW="583947" imgH="393529" progId="Equation.DSMT4">
                  <p:embed/>
                </p:oleObj>
              </mc:Choice>
              <mc:Fallback>
                <p:oleObj name="Equation" r:id="rId11" imgW="583947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704" y="4552467"/>
                        <a:ext cx="989281" cy="6649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49376"/>
              </p:ext>
            </p:extLst>
          </p:nvPr>
        </p:nvGraphicFramePr>
        <p:xfrm>
          <a:off x="7335831" y="4636160"/>
          <a:ext cx="1363256" cy="189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1" name="Visio" r:id="rId13" imgW="752856" imgH="1043940" progId="Visio.Drawing.11">
                  <p:embed/>
                </p:oleObj>
              </mc:Choice>
              <mc:Fallback>
                <p:oleObj name="Visio" r:id="rId13" imgW="752856" imgH="1043940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1" y="4636160"/>
                        <a:ext cx="1363256" cy="18982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670227"/>
              </p:ext>
            </p:extLst>
          </p:nvPr>
        </p:nvGraphicFramePr>
        <p:xfrm>
          <a:off x="6092575" y="5375154"/>
          <a:ext cx="927977" cy="420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2" name="Equation" r:id="rId15" imgW="508000" imgH="228600" progId="Equation.DSMT4">
                  <p:embed/>
                </p:oleObj>
              </mc:Choice>
              <mc:Fallback>
                <p:oleObj name="Equation" r:id="rId15" imgW="5080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575" y="5375154"/>
                        <a:ext cx="927977" cy="420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90904" y="2244142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316156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9771"/>
              </p:ext>
            </p:extLst>
          </p:nvPr>
        </p:nvGraphicFramePr>
        <p:xfrm>
          <a:off x="1571946" y="927675"/>
          <a:ext cx="2845941" cy="192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9" name="Visio" r:id="rId3" imgW="1554480" imgH="1043940" progId="Visio.Drawing.11">
                  <p:embed/>
                </p:oleObj>
              </mc:Choice>
              <mc:Fallback>
                <p:oleObj name="Visio" r:id="rId3" imgW="1554480" imgH="10439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946" y="927675"/>
                        <a:ext cx="2845941" cy="1920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089744"/>
              </p:ext>
            </p:extLst>
          </p:nvPr>
        </p:nvGraphicFramePr>
        <p:xfrm>
          <a:off x="585628" y="1450565"/>
          <a:ext cx="986318" cy="673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0" name="Equation" r:id="rId5" imgW="571252" imgH="393529" progId="Equation.DSMT4">
                  <p:embed/>
                </p:oleObj>
              </mc:Choice>
              <mc:Fallback>
                <p:oleObj name="Equation" r:id="rId5" imgW="571252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" y="1450565"/>
                        <a:ext cx="986318" cy="6739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801198"/>
              </p:ext>
            </p:extLst>
          </p:nvPr>
        </p:nvGraphicFramePr>
        <p:xfrm>
          <a:off x="6132812" y="1040446"/>
          <a:ext cx="1900719" cy="1818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Visio" r:id="rId7" imgW="1095756" imgH="1043940" progId="Visio.Drawing.11">
                  <p:embed/>
                </p:oleObj>
              </mc:Choice>
              <mc:Fallback>
                <p:oleObj name="Visio" r:id="rId7" imgW="1095756" imgH="104394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812" y="1040446"/>
                        <a:ext cx="1900719" cy="18180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020492"/>
              </p:ext>
            </p:extLst>
          </p:nvPr>
        </p:nvGraphicFramePr>
        <p:xfrm>
          <a:off x="5085707" y="1664415"/>
          <a:ext cx="910975" cy="390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Equation" r:id="rId9" imgW="533169" imgH="228501" progId="Equation.DSMT4">
                  <p:embed/>
                </p:oleObj>
              </mc:Choice>
              <mc:Fallback>
                <p:oleObj name="Equation" r:id="rId9" imgW="533169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707" y="1664415"/>
                        <a:ext cx="910975" cy="3904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4628"/>
              </p:ext>
            </p:extLst>
          </p:nvPr>
        </p:nvGraphicFramePr>
        <p:xfrm>
          <a:off x="2005756" y="3771686"/>
          <a:ext cx="2108235" cy="18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" name="Visio" r:id="rId11" imgW="1126236" imgH="958596" progId="Visio.Drawing.11">
                  <p:embed/>
                </p:oleObj>
              </mc:Choice>
              <mc:Fallback>
                <p:oleObj name="Visio" r:id="rId11" imgW="1126236" imgH="958596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756" y="3771686"/>
                        <a:ext cx="2108235" cy="18045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492303"/>
              </p:ext>
            </p:extLst>
          </p:nvPr>
        </p:nvGraphicFramePr>
        <p:xfrm>
          <a:off x="965770" y="4407613"/>
          <a:ext cx="896305" cy="39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" name="Equation" r:id="rId13" imgW="520700" imgH="228600" progId="Equation.DSMT4">
                  <p:embed/>
                </p:oleObj>
              </mc:Choice>
              <mc:Fallback>
                <p:oleObj name="Equation" r:id="rId13" imgW="5207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770" y="4407613"/>
                        <a:ext cx="896305" cy="391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660058"/>
              </p:ext>
            </p:extLst>
          </p:nvPr>
        </p:nvGraphicFramePr>
        <p:xfrm>
          <a:off x="5889682" y="3735365"/>
          <a:ext cx="2395597" cy="1877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5" name="Visio" r:id="rId15" imgW="1274064" imgH="1001268" progId="Visio.Drawing.11">
                  <p:embed/>
                </p:oleObj>
              </mc:Choice>
              <mc:Fallback>
                <p:oleObj name="Visio" r:id="rId15" imgW="1274064" imgH="1001268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82" y="3735365"/>
                        <a:ext cx="2395597" cy="18771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14277"/>
              </p:ext>
            </p:extLst>
          </p:nvPr>
        </p:nvGraphicFramePr>
        <p:xfrm>
          <a:off x="4972772" y="4407613"/>
          <a:ext cx="912602" cy="39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6" name="Equation" r:id="rId17" imgW="533169" imgH="228501" progId="Equation.DSMT4">
                  <p:embed/>
                </p:oleObj>
              </mc:Choice>
              <mc:Fallback>
                <p:oleObj name="Equation" r:id="rId17" imgW="533169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772" y="4407613"/>
                        <a:ext cx="912602" cy="391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429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4804" y="267128"/>
            <a:ext cx="6955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2.9 Simplify the circuits in figure P2-9.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051424" y="193154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357420"/>
              </p:ext>
            </p:extLst>
          </p:nvPr>
        </p:nvGraphicFramePr>
        <p:xfrm>
          <a:off x="2136359" y="557217"/>
          <a:ext cx="4777483" cy="4529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Visio" r:id="rId3" imgW="2945654" imgH="2785418" progId="Visio.Drawing.11">
                  <p:embed/>
                </p:oleObj>
              </mc:Choice>
              <mc:Fallback>
                <p:oleObj name="Visio" r:id="rId3" imgW="2945654" imgH="278541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359" y="557217"/>
                        <a:ext cx="4777483" cy="45293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4804" y="1786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r="47474"/>
          <a:stretch/>
        </p:blipFill>
        <p:spPr>
          <a:xfrm>
            <a:off x="157411" y="1098125"/>
            <a:ext cx="1656348" cy="14596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l="56814"/>
          <a:stretch/>
        </p:blipFill>
        <p:spPr>
          <a:xfrm>
            <a:off x="7366363" y="1171254"/>
            <a:ext cx="1539999" cy="1650614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>
            <a:off x="6996701" y="1786538"/>
            <a:ext cx="410967" cy="2785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右箭头 9"/>
          <p:cNvSpPr/>
          <p:nvPr/>
        </p:nvSpPr>
        <p:spPr>
          <a:xfrm rot="10800000">
            <a:off x="1720224" y="1740665"/>
            <a:ext cx="397393" cy="204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6"/>
          <a:srcRect r="67593"/>
          <a:stretch/>
        </p:blipFill>
        <p:spPr>
          <a:xfrm>
            <a:off x="1253656" y="4543391"/>
            <a:ext cx="2079337" cy="197658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6"/>
          <a:srcRect l="38653"/>
          <a:stretch/>
        </p:blipFill>
        <p:spPr>
          <a:xfrm>
            <a:off x="5340708" y="4596732"/>
            <a:ext cx="3842913" cy="1929717"/>
          </a:xfrm>
          <a:prstGeom prst="rect">
            <a:avLst/>
          </a:prstGeom>
        </p:spPr>
      </p:pic>
      <p:sp>
        <p:nvSpPr>
          <p:cNvPr id="13" name="左弧形箭头 12"/>
          <p:cNvSpPr/>
          <p:nvPr/>
        </p:nvSpPr>
        <p:spPr>
          <a:xfrm>
            <a:off x="475906" y="3843760"/>
            <a:ext cx="616450" cy="139926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右弧形箭头 13"/>
          <p:cNvSpPr/>
          <p:nvPr/>
        </p:nvSpPr>
        <p:spPr>
          <a:xfrm>
            <a:off x="7077395" y="3611992"/>
            <a:ext cx="369537" cy="103159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4091" y="691703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358909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1515" y="308225"/>
            <a:ext cx="8147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2.10 The </a:t>
            </a:r>
            <a:r>
              <a:rPr lang="en-US" sz="2400" i="1" dirty="0"/>
              <a:t>v</a:t>
            </a:r>
            <a:r>
              <a:rPr lang="en-US" sz="2400" dirty="0"/>
              <a:t>-</a:t>
            </a:r>
            <a:r>
              <a:rPr lang="en-US" sz="2400" i="1" dirty="0" err="1"/>
              <a:t>i</a:t>
            </a:r>
            <a:r>
              <a:rPr lang="en-US" sz="2400" dirty="0"/>
              <a:t> relationship for the two-terminal circuit in Figure P2-10(a) is shown in Figure P2-10(b). Find the equivalent circuit for the two-terminal circuit.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991524"/>
              </p:ext>
            </p:extLst>
          </p:nvPr>
        </p:nvGraphicFramePr>
        <p:xfrm>
          <a:off x="2866488" y="1345914"/>
          <a:ext cx="3958573" cy="2054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Visio" r:id="rId3" imgW="2491812" imgH="1291482" progId="Visio.Drawing.11">
                  <p:embed/>
                </p:oleObj>
              </mc:Choice>
              <mc:Fallback>
                <p:oleObj name="Visio" r:id="rId3" imgW="2491812" imgH="129148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488" y="1345914"/>
                        <a:ext cx="3958573" cy="20548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911267"/>
              </p:ext>
            </p:extLst>
          </p:nvPr>
        </p:nvGraphicFramePr>
        <p:xfrm>
          <a:off x="2311685" y="3666034"/>
          <a:ext cx="1253447" cy="378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Equation" r:id="rId5" imgW="596641" imgH="177723" progId="Equation.DSMT4">
                  <p:embed/>
                </p:oleObj>
              </mc:Choice>
              <mc:Fallback>
                <p:oleObj name="Equation" r:id="rId5" imgW="596641" imgH="17772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685" y="3666034"/>
                        <a:ext cx="1253447" cy="378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319469"/>
              </p:ext>
            </p:extLst>
          </p:nvPr>
        </p:nvGraphicFramePr>
        <p:xfrm>
          <a:off x="2174875" y="4203700"/>
          <a:ext cx="5341938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Visio" r:id="rId7" imgW="3151632" imgH="1382268" progId="Visio.Drawing.11">
                  <p:embed/>
                </p:oleObj>
              </mc:Choice>
              <mc:Fallback>
                <p:oleObj name="Visio" r:id="rId7" imgW="3151632" imgH="138226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5625"/>
                      <a:stretch>
                        <a:fillRect/>
                      </a:stretch>
                    </p:blipFill>
                    <p:spPr bwMode="auto">
                      <a:xfrm>
                        <a:off x="2174875" y="4203700"/>
                        <a:ext cx="5341938" cy="1970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68661" y="3169913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298668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1789" y="226031"/>
            <a:ext cx="84453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2.11 Find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X</a:t>
            </a:r>
            <a:r>
              <a:rPr lang="en-US" sz="2400" i="1" dirty="0"/>
              <a:t> </a:t>
            </a:r>
            <a:r>
              <a:rPr lang="en-US" sz="2400" dirty="0"/>
              <a:t>and</a:t>
            </a:r>
            <a:r>
              <a:rPr lang="en-US" sz="2400" i="1" dirty="0"/>
              <a:t> </a:t>
            </a:r>
            <a:r>
              <a:rPr lang="en-US" sz="2400" i="1" dirty="0" err="1"/>
              <a:t>i</a:t>
            </a:r>
            <a:r>
              <a:rPr lang="en-US" sz="2400" baseline="-25000" dirty="0" err="1"/>
              <a:t>X</a:t>
            </a:r>
            <a:r>
              <a:rPr lang="en-US" sz="2400" i="1" dirty="0"/>
              <a:t> </a:t>
            </a:r>
            <a:r>
              <a:rPr lang="en-US" sz="2400" dirty="0"/>
              <a:t>in Figure P2-11 by simplifying the circuit to its equivalent.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右箭头 9"/>
          <p:cNvSpPr/>
          <p:nvPr/>
        </p:nvSpPr>
        <p:spPr>
          <a:xfrm>
            <a:off x="4804120" y="4112263"/>
            <a:ext cx="410967" cy="2785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右箭头 10"/>
          <p:cNvSpPr/>
          <p:nvPr/>
        </p:nvSpPr>
        <p:spPr>
          <a:xfrm rot="10800000">
            <a:off x="4471538" y="2067402"/>
            <a:ext cx="397393" cy="2178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下箭头 11"/>
          <p:cNvSpPr/>
          <p:nvPr/>
        </p:nvSpPr>
        <p:spPr>
          <a:xfrm>
            <a:off x="2794570" y="3022727"/>
            <a:ext cx="215757" cy="3768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2794570" y="52340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957685"/>
              </p:ext>
            </p:extLst>
          </p:nvPr>
        </p:nvGraphicFramePr>
        <p:xfrm>
          <a:off x="3400024" y="5456198"/>
          <a:ext cx="3926758" cy="105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1" name="Equation" r:id="rId3" imgW="3035160" imgH="812520" progId="Equation.DSMT4">
                  <p:embed/>
                </p:oleObj>
              </mc:Choice>
              <mc:Fallback>
                <p:oleObj name="Equation" r:id="rId3" imgW="3035160" imgH="8125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024" y="5456198"/>
                        <a:ext cx="3926758" cy="10559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1"/>
          <p:cNvSpPr>
            <a:spLocks noChangeArrowheads="1"/>
          </p:cNvSpPr>
          <p:nvPr/>
        </p:nvSpPr>
        <p:spPr bwMode="auto">
          <a:xfrm flipV="1">
            <a:off x="310325" y="1557162"/>
            <a:ext cx="140329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文本框 20"/>
          <p:cNvSpPr txBox="1"/>
          <p:nvPr/>
        </p:nvSpPr>
        <p:spPr>
          <a:xfrm>
            <a:off x="304800" y="1039091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DABCBE1-34E6-4F33-BE96-22EB5EA6E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687" y="3296318"/>
            <a:ext cx="3531446" cy="1760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90D21254-9771-42E8-8A31-3AFA09DE2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8709" y="3224967"/>
            <a:ext cx="3551758" cy="2231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6926D9B-A4A2-47CF-A721-001A39C04F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740" y="758028"/>
            <a:ext cx="2959304" cy="2369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11DFFEF-AB69-435B-9654-FF44659AE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0468" y="965202"/>
            <a:ext cx="4280712" cy="217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3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7951" y="174660"/>
            <a:ext cx="8250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2.13 Use circuit transformation to find the equivalent circuit for the circuit in Fig. P2-13.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46016" y="15496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7683" y="858882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6160325-D2C0-4F91-8914-CD579ACA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840" y="643334"/>
            <a:ext cx="3245209" cy="21851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B325077-922F-41BE-8B0C-9BB768CBC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95" y="913914"/>
            <a:ext cx="3725256" cy="1956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0615B68-356F-4253-92F6-D4271428A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538" y="2828441"/>
            <a:ext cx="3169115" cy="1914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E8DCED2-AD10-4472-9472-6A4BDD73F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794" y="3099296"/>
            <a:ext cx="4051355" cy="1709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AC526F5-81C4-410B-A288-7A491AFD2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32" y="4808305"/>
            <a:ext cx="2969943" cy="16079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69DB539-C8B3-450A-8BD5-9A43ADBD64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4272" y="4848108"/>
            <a:ext cx="2191777" cy="17663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C0B2C1C-A549-40A0-8203-01C5A83519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8017" y="4763711"/>
            <a:ext cx="1872455" cy="1959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644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2611" y="277403"/>
            <a:ext cx="826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2.14 Find the input resistances for the circuits in fig. P2-14. 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130072"/>
              </p:ext>
            </p:extLst>
          </p:nvPr>
        </p:nvGraphicFramePr>
        <p:xfrm>
          <a:off x="1181527" y="719191"/>
          <a:ext cx="7197392" cy="2188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Visio" r:id="rId3" imgW="4222743" imgH="1288604" progId="Visio.Drawing.11">
                  <p:embed/>
                </p:oleObj>
              </mc:Choice>
              <mc:Fallback>
                <p:oleObj name="Visio" r:id="rId3" imgW="4222743" imgH="128860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527" y="719191"/>
                        <a:ext cx="7197392" cy="21883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892149"/>
              </p:ext>
            </p:extLst>
          </p:nvPr>
        </p:nvGraphicFramePr>
        <p:xfrm>
          <a:off x="1797976" y="3349375"/>
          <a:ext cx="4911477" cy="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Equation" r:id="rId5" imgW="2933700" imgH="457200" progId="Equation.DSMT4">
                  <p:embed/>
                </p:oleObj>
              </mc:Choice>
              <mc:Fallback>
                <p:oleObj name="Equation" r:id="rId5" imgW="29337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76" y="3349375"/>
                        <a:ext cx="4911477" cy="765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831868"/>
              </p:ext>
            </p:extLst>
          </p:nvPr>
        </p:nvGraphicFramePr>
        <p:xfrm>
          <a:off x="1797976" y="4633645"/>
          <a:ext cx="6087141" cy="79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Equation" r:id="rId7" imgW="3340100" imgH="444500" progId="Equation.DSMT4">
                  <p:embed/>
                </p:oleObj>
              </mc:Choice>
              <mc:Fallback>
                <p:oleObj name="Equation" r:id="rId7" imgW="33401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76" y="4633645"/>
                        <a:ext cx="6087141" cy="7977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91110" y="3554858"/>
            <a:ext cx="873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24673" y="4847851"/>
            <a:ext cx="873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6485" y="2673503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71063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911" y="714375"/>
            <a:ext cx="1801909" cy="1466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196" y="3841331"/>
            <a:ext cx="2015724" cy="15399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919" y="3897574"/>
            <a:ext cx="2265106" cy="15006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9755" y="3824432"/>
            <a:ext cx="2005277" cy="15737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9755" y="2306100"/>
            <a:ext cx="2080032" cy="14026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432" y="743590"/>
            <a:ext cx="2229463" cy="1337842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2768800" y="2181225"/>
            <a:ext cx="584000" cy="561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6048375" y="2033167"/>
            <a:ext cx="704850" cy="62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69755" y="1703770"/>
            <a:ext cx="70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(a)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743870" y="1703770"/>
            <a:ext cx="70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(b)</a:t>
            </a:r>
            <a:endParaRPr lang="zh-CN" altLang="en-US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/>
          </p:nvPr>
        </p:nvGraphicFramePr>
        <p:xfrm>
          <a:off x="1444280" y="5772150"/>
          <a:ext cx="1430646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9" imgW="1155600" imgH="393480" progId="Equation.DSMT4">
                  <p:embed/>
                </p:oleObj>
              </mc:Choice>
              <mc:Fallback>
                <p:oleObj name="Equation" r:id="rId9" imgW="1155600" imgH="3934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44280" y="5772150"/>
                        <a:ext cx="1430646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/>
          </p:nvPr>
        </p:nvGraphicFramePr>
        <p:xfrm>
          <a:off x="6310249" y="5886450"/>
          <a:ext cx="1430646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11" imgW="1155600" imgH="393480" progId="Equation.DSMT4">
                  <p:embed/>
                </p:oleObj>
              </mc:Choice>
              <mc:Fallback>
                <p:oleObj name="Equation" r:id="rId11" imgW="1155600" imgH="39348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10249" y="5886450"/>
                        <a:ext cx="1430646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/>
          </p:nvPr>
        </p:nvGraphicFramePr>
        <p:xfrm>
          <a:off x="3668713" y="5772150"/>
          <a:ext cx="17303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13" imgW="1396800" imgH="393480" progId="Equation.DSMT4">
                  <p:embed/>
                </p:oleObj>
              </mc:Choice>
              <mc:Fallback>
                <p:oleObj name="Equation" r:id="rId13" imgW="1396800" imgH="39348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68713" y="5772150"/>
                        <a:ext cx="1730375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71500" y="121665"/>
            <a:ext cx="7629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2-15. Use Tee-</a:t>
            </a:r>
            <a:r>
              <a:rPr lang="en-US" altLang="zh-CN" dirty="0" err="1" smtClean="0"/>
              <a:t>Pai</a:t>
            </a:r>
            <a:r>
              <a:rPr lang="en-US" altLang="zh-CN" dirty="0" smtClean="0"/>
              <a:t> transformation to find the equivalent resistors for the circuits in Fig. P2-15. The resistance of all resistors is 1 </a:t>
            </a:r>
            <a:r>
              <a:rPr lang="en-US" altLang="zh-CN" dirty="0" smtClean="0">
                <a:sym typeface="Symbol" panose="05050102010706020507" pitchFamily="18" charset="2"/>
              </a:rPr>
              <a:t>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923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4112" y="205483"/>
            <a:ext cx="87433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2.17 For the circuit in figure P2-17, (1) Find its </a:t>
            </a:r>
            <a:r>
              <a:rPr lang="en-US" sz="2400" dirty="0" err="1"/>
              <a:t>Thevenin</a:t>
            </a:r>
            <a:r>
              <a:rPr lang="en-US" sz="2400" dirty="0"/>
              <a:t> equivalent circuit. (2) Calculate the power absorbed by a 10Ω resistor connected to the terminals A and B. (3) Connect the positive terminal of a 5V voltage source to A and the negative end to B. Calculate the power delivered to this source.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624129"/>
              </p:ext>
            </p:extLst>
          </p:nvPr>
        </p:nvGraphicFramePr>
        <p:xfrm>
          <a:off x="1191802" y="2490248"/>
          <a:ext cx="40798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" name="Equation" r:id="rId3" imgW="2882880" imgH="507960" progId="Equation.DSMT4">
                  <p:embed/>
                </p:oleObj>
              </mc:Choice>
              <mc:Fallback>
                <p:oleObj name="Equation" r:id="rId3" imgW="288288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802" y="2490248"/>
                        <a:ext cx="4079875" cy="708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661304"/>
              </p:ext>
            </p:extLst>
          </p:nvPr>
        </p:nvGraphicFramePr>
        <p:xfrm>
          <a:off x="1191802" y="3467676"/>
          <a:ext cx="3453871" cy="79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8" name="Equation" r:id="rId5" imgW="1714500" imgH="393700" progId="Equation.DSMT4">
                  <p:embed/>
                </p:oleObj>
              </mc:Choice>
              <mc:Fallback>
                <p:oleObj name="Equation" r:id="rId5" imgW="17145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802" y="3467676"/>
                        <a:ext cx="3453871" cy="7911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42115" y="2644967"/>
            <a:ext cx="94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35031"/>
              </p:ext>
            </p:extLst>
          </p:nvPr>
        </p:nvGraphicFramePr>
        <p:xfrm>
          <a:off x="1191802" y="4545487"/>
          <a:ext cx="4354119" cy="1498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" name="Equation" r:id="rId7" imgW="3098800" imgH="1066800" progId="Equation.DSMT4">
                  <p:embed/>
                </p:oleObj>
              </mc:Choice>
              <mc:Fallback>
                <p:oleObj name="Equation" r:id="rId7" imgW="3098800" imgH="106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802" y="4545487"/>
                        <a:ext cx="4354119" cy="14989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98544" y="4676647"/>
            <a:ext cx="94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2276" y="2101572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4FAF0D8-2071-4563-A90F-9082615905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8659" y="3997317"/>
            <a:ext cx="2646565" cy="204712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535621B-5668-4C27-B258-91B0C3CAED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7024" y="1711463"/>
            <a:ext cx="3682480" cy="204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4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391071"/>
              </p:ext>
            </p:extLst>
          </p:nvPr>
        </p:nvGraphicFramePr>
        <p:xfrm>
          <a:off x="1387010" y="2357646"/>
          <a:ext cx="3000055" cy="161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Equation" r:id="rId3" imgW="1968500" imgH="1066800" progId="Equation.DSMT4">
                  <p:embed/>
                </p:oleObj>
              </mc:Choice>
              <mc:Fallback>
                <p:oleObj name="Equation" r:id="rId3" imgW="1968500" imgH="106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010" y="2357646"/>
                        <a:ext cx="3000055" cy="1618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72612" y="637413"/>
            <a:ext cx="5219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(3) Connect 5Vvoltage source to terminal AB as shown in Fig.(c) and find</a:t>
            </a:r>
          </a:p>
          <a:p>
            <a:endParaRPr 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9100F6-7FF9-43DF-B6F2-8FDFFBE60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691" y="1245361"/>
            <a:ext cx="3160606" cy="246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6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1442" y="115867"/>
            <a:ext cx="86611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2.18 For the circuit in figure P2-18, the voltage </a:t>
            </a:r>
            <a:r>
              <a:rPr lang="en-US" sz="2400" i="1" dirty="0"/>
              <a:t>v</a:t>
            </a:r>
            <a:r>
              <a:rPr lang="en-US" sz="2400" baseline="-25000" dirty="0"/>
              <a:t>2</a:t>
            </a:r>
            <a:r>
              <a:rPr lang="en-US" sz="2400" dirty="0"/>
              <a:t> is 12.5V. If terminal a and b are short-circuited, the short-circuit current from a to b is </a:t>
            </a:r>
            <a:r>
              <a:rPr lang="en-US" sz="2400" i="1" dirty="0"/>
              <a:t>I</a:t>
            </a:r>
            <a:r>
              <a:rPr lang="en-US" sz="2400" baseline="-25000" dirty="0"/>
              <a:t>SC</a:t>
            </a:r>
            <a:r>
              <a:rPr lang="en-US" sz="2400" dirty="0"/>
              <a:t>=10mA. Find the equivalent circuit of N seen at a-b terminals.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09557"/>
              </p:ext>
            </p:extLst>
          </p:nvPr>
        </p:nvGraphicFramePr>
        <p:xfrm>
          <a:off x="5465852" y="1181527"/>
          <a:ext cx="3890268" cy="2370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9" name="Visio" r:id="rId3" imgW="2274006" imgH="1376877" progId="Visio.Drawing.11">
                  <p:embed/>
                </p:oleObj>
              </mc:Choice>
              <mc:Fallback>
                <p:oleObj name="Visio" r:id="rId3" imgW="2274006" imgH="137687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852" y="1181527"/>
                        <a:ext cx="3890268" cy="23701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30494"/>
              </p:ext>
            </p:extLst>
          </p:nvPr>
        </p:nvGraphicFramePr>
        <p:xfrm>
          <a:off x="5698187" y="3742360"/>
          <a:ext cx="3445813" cy="171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0" name="Visio" r:id="rId5" imgW="1949196" imgH="1211580" progId="Visio.Drawing.11">
                  <p:embed/>
                </p:oleObj>
              </mc:Choice>
              <mc:Fallback>
                <p:oleObj name="Visio" r:id="rId5" imgW="1949196" imgH="121158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9875"/>
                      <a:stretch>
                        <a:fillRect/>
                      </a:stretch>
                    </p:blipFill>
                    <p:spPr bwMode="auto">
                      <a:xfrm>
                        <a:off x="5698187" y="3742360"/>
                        <a:ext cx="3445813" cy="17145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10966" y="1703224"/>
            <a:ext cx="4972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(1) Disconnect a-b and find the Norton equivalence. 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713307"/>
              </p:ext>
            </p:extLst>
          </p:nvPr>
        </p:nvGraphicFramePr>
        <p:xfrm>
          <a:off x="580365" y="4306551"/>
          <a:ext cx="45910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1" name="Equation" r:id="rId7" imgW="2857320" imgH="279360" progId="Equation.DSMT4">
                  <p:embed/>
                </p:oleObj>
              </mc:Choice>
              <mc:Fallback>
                <p:oleObj name="Equation" r:id="rId7" imgW="2857320" imgH="279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65" y="4306551"/>
                        <a:ext cx="4591050" cy="446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611552"/>
              </p:ext>
            </p:extLst>
          </p:nvPr>
        </p:nvGraphicFramePr>
        <p:xfrm>
          <a:off x="698796" y="2524608"/>
          <a:ext cx="2177094" cy="744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2" name="Equation" r:id="rId9" imgW="1485720" imgH="507960" progId="Equation.DSMT4">
                  <p:embed/>
                </p:oleObj>
              </mc:Choice>
              <mc:Fallback>
                <p:oleObj name="Equation" r:id="rId9" imgW="148572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8796" y="2524608"/>
                        <a:ext cx="2177094" cy="744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551575"/>
              </p:ext>
            </p:extLst>
          </p:nvPr>
        </p:nvGraphicFramePr>
        <p:xfrm>
          <a:off x="3417375" y="2539998"/>
          <a:ext cx="2401288" cy="744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3" name="Equation" r:id="rId11" imgW="1638000" imgH="507960" progId="Equation.DSMT4">
                  <p:embed/>
                </p:oleObj>
              </mc:Choice>
              <mc:Fallback>
                <p:oleObj name="Equation" r:id="rId11" imgW="1638000" imgH="50796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7375" y="2539998"/>
                        <a:ext cx="2401288" cy="744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54804" y="3380198"/>
            <a:ext cx="5835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(2) Assume the Norton equivalence of network N and apply given conditions.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197891"/>
              </p:ext>
            </p:extLst>
          </p:nvPr>
        </p:nvGraphicFramePr>
        <p:xfrm>
          <a:off x="410966" y="4847995"/>
          <a:ext cx="5000819" cy="1470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4" name="Equation" r:id="rId13" imgW="3403600" imgH="990600" progId="Equation.DSMT4">
                  <p:embed/>
                </p:oleObj>
              </mc:Choice>
              <mc:Fallback>
                <p:oleObj name="Equation" r:id="rId13" imgW="3403600" imgH="990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66" y="4847995"/>
                        <a:ext cx="5000819" cy="14708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483603"/>
              </p:ext>
            </p:extLst>
          </p:nvPr>
        </p:nvGraphicFramePr>
        <p:xfrm>
          <a:off x="4578469" y="6318824"/>
          <a:ext cx="1240194" cy="40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5" name="Equation" r:id="rId15" imgW="850531" imgH="279279" progId="Equation.DSMT4">
                  <p:embed/>
                </p:oleObj>
              </mc:Choice>
              <mc:Fallback>
                <p:oleObj name="Equation" r:id="rId15" imgW="850531" imgH="27927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469" y="6318824"/>
                        <a:ext cx="1240194" cy="4072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143706"/>
              </p:ext>
            </p:extLst>
          </p:nvPr>
        </p:nvGraphicFramePr>
        <p:xfrm>
          <a:off x="6606283" y="5463158"/>
          <a:ext cx="2081693" cy="1262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6" name="Visio" r:id="rId17" imgW="1428655" imgH="1087847" progId="Visio.Drawing.11">
                  <p:embed/>
                </p:oleObj>
              </mc:Choice>
              <mc:Fallback>
                <p:oleObj name="Visio" r:id="rId17" imgW="1428655" imgH="1087847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9894"/>
                      <a:stretch>
                        <a:fillRect/>
                      </a:stretch>
                    </p:blipFill>
                    <p:spPr bwMode="auto">
                      <a:xfrm>
                        <a:off x="6606283" y="5463158"/>
                        <a:ext cx="2081693" cy="12628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28772" y="1295996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408923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2742" y="226031"/>
            <a:ext cx="9041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2.19 Find the </a:t>
            </a:r>
            <a:r>
              <a:rPr lang="en-US" sz="2400" dirty="0" err="1"/>
              <a:t>Thevenin</a:t>
            </a:r>
            <a:r>
              <a:rPr lang="en-US" sz="2400" dirty="0"/>
              <a:t> equivalent circuit</a:t>
            </a:r>
            <a:r>
              <a:rPr lang="en-US" sz="2400" i="1" dirty="0"/>
              <a:t> </a:t>
            </a:r>
            <a:r>
              <a:rPr lang="en-US" sz="2400" dirty="0"/>
              <a:t>for the circuit in figure P2-19. 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83075"/>
              </p:ext>
            </p:extLst>
          </p:nvPr>
        </p:nvGraphicFramePr>
        <p:xfrm>
          <a:off x="4952143" y="625513"/>
          <a:ext cx="3899793" cy="2251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Visio" r:id="rId3" imgW="2270168" imgH="1314510" progId="Visio.Drawing.11">
                  <p:embed/>
                </p:oleObj>
              </mc:Choice>
              <mc:Fallback>
                <p:oleObj name="Visio" r:id="rId3" imgW="2270168" imgH="131451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43" y="625513"/>
                        <a:ext cx="3899793" cy="2251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95209" y="729465"/>
            <a:ext cx="43767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</a:t>
            </a:r>
            <a:endParaRPr lang="en-US" sz="2400" dirty="0"/>
          </a:p>
          <a:p>
            <a:r>
              <a:rPr lang="en-US" sz="2400" dirty="0"/>
              <a:t>Transform the circuit in Fig. P2-19 into the following circuit (a)</a:t>
            </a:r>
            <a:r>
              <a:rPr lang="zh-CN" altLang="en-US" sz="2400" dirty="0"/>
              <a:t>：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850932"/>
              </p:ext>
            </p:extLst>
          </p:nvPr>
        </p:nvGraphicFramePr>
        <p:xfrm>
          <a:off x="574675" y="1941513"/>
          <a:ext cx="4249738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1" name="Visio" r:id="rId5" imgW="2589276" imgH="1107948" progId="Visio.Drawing.11">
                  <p:embed/>
                </p:oleObj>
              </mc:Choice>
              <mc:Fallback>
                <p:oleObj name="Visio" r:id="rId5" imgW="2589276" imgH="110794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7749"/>
                      <a:stretch>
                        <a:fillRect/>
                      </a:stretch>
                    </p:blipFill>
                    <p:spPr bwMode="auto">
                      <a:xfrm>
                        <a:off x="574675" y="1941513"/>
                        <a:ext cx="4249738" cy="1500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12375" y="3441843"/>
            <a:ext cx="45000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(1)Find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kumimoji="0" lang="en-US" altLang="zh-CN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Voc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apply KCL, get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16454"/>
              </p:ext>
            </p:extLst>
          </p:nvPr>
        </p:nvGraphicFramePr>
        <p:xfrm>
          <a:off x="1667835" y="4230340"/>
          <a:ext cx="2646291" cy="1423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2" name="Equation" r:id="rId7" imgW="2031840" imgH="1091880" progId="Equation.DSMT4">
                  <p:embed/>
                </p:oleObj>
              </mc:Choice>
              <mc:Fallback>
                <p:oleObj name="Equation" r:id="rId7" imgW="2031840" imgH="10918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835" y="4230340"/>
                        <a:ext cx="2646291" cy="14230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624722"/>
              </p:ext>
            </p:extLst>
          </p:nvPr>
        </p:nvGraphicFramePr>
        <p:xfrm>
          <a:off x="5269310" y="4322436"/>
          <a:ext cx="2604180" cy="730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3" name="Equation" r:id="rId9" imgW="1816100" imgH="508000" progId="Equation.DSMT4">
                  <p:embed/>
                </p:oleObj>
              </mc:Choice>
              <mc:Fallback>
                <p:oleObj name="Equation" r:id="rId9" imgW="1816100" imgH="508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9310" y="4322436"/>
                        <a:ext cx="2604180" cy="7306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2749B21-F10C-4873-B2DD-9DA24655A88B}"/>
              </a:ext>
            </a:extLst>
          </p:cNvPr>
          <p:cNvCxnSpPr/>
          <p:nvPr/>
        </p:nvCxnSpPr>
        <p:spPr>
          <a:xfrm>
            <a:off x="656706" y="2078182"/>
            <a:ext cx="0" cy="2209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C5B94AC-D27E-47F0-A7E0-2DAA62DA6BF5}"/>
              </a:ext>
            </a:extLst>
          </p:cNvPr>
          <p:cNvSpPr txBox="1"/>
          <p:nvPr/>
        </p:nvSpPr>
        <p:spPr>
          <a:xfrm>
            <a:off x="385378" y="2078182"/>
            <a:ext cx="47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54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2742" y="226031"/>
            <a:ext cx="9041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2.19 Find the </a:t>
            </a:r>
            <a:r>
              <a:rPr lang="en-US" sz="2400" dirty="0" err="1"/>
              <a:t>Thevenin</a:t>
            </a:r>
            <a:r>
              <a:rPr lang="en-US" sz="2400" dirty="0"/>
              <a:t> equivalent circuit</a:t>
            </a:r>
            <a:r>
              <a:rPr lang="en-US" sz="2400" i="1" dirty="0"/>
              <a:t> </a:t>
            </a:r>
            <a:r>
              <a:rPr lang="en-US" sz="2400" dirty="0"/>
              <a:t>for the circuit in figure P2-19. 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952143" y="625513"/>
          <a:ext cx="3899793" cy="2251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" name="Visio" r:id="rId3" imgW="2270168" imgH="1314510" progId="Visio.Drawing.11">
                  <p:embed/>
                </p:oleObj>
              </mc:Choice>
              <mc:Fallback>
                <p:oleObj name="Visio" r:id="rId3" imgW="2270168" imgH="1314510" progId="Visio.Drawing.11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43" y="625513"/>
                        <a:ext cx="3899793" cy="2251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95209" y="729465"/>
            <a:ext cx="4376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</a:t>
            </a:r>
            <a:endParaRPr lang="en-US" sz="24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77402" y="1329629"/>
            <a:ext cx="45000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(2)Determine R</a:t>
            </a: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0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865041"/>
              </p:ext>
            </p:extLst>
          </p:nvPr>
        </p:nvGraphicFramePr>
        <p:xfrm>
          <a:off x="4863095" y="2616129"/>
          <a:ext cx="4077887" cy="1812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0" name="Visio" r:id="rId5" imgW="2219325" imgH="1143000" progId="Visio.Drawing.11">
                  <p:embed/>
                </p:oleObj>
              </mc:Choice>
              <mc:Fallback>
                <p:oleObj name="Visio" r:id="rId5" imgW="2219325" imgH="11430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3901"/>
                      <a:stretch>
                        <a:fillRect/>
                      </a:stretch>
                    </p:blipFill>
                    <p:spPr bwMode="auto">
                      <a:xfrm>
                        <a:off x="4863095" y="2616129"/>
                        <a:ext cx="4077887" cy="18123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062281"/>
              </p:ext>
            </p:extLst>
          </p:nvPr>
        </p:nvGraphicFramePr>
        <p:xfrm>
          <a:off x="1020123" y="3458158"/>
          <a:ext cx="2646291" cy="1423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1" name="Equation" r:id="rId7" imgW="2031840" imgH="1091880" progId="Equation.DSMT4">
                  <p:embed/>
                </p:oleObj>
              </mc:Choice>
              <mc:Fallback>
                <p:oleObj name="Equation" r:id="rId7" imgW="2031840" imgH="10918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123" y="3458158"/>
                        <a:ext cx="2646291" cy="14230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-44603" y="1823808"/>
            <a:ext cx="4581734" cy="1500027"/>
            <a:chOff x="373126" y="1941816"/>
            <a:chExt cx="4581734" cy="1500027"/>
          </a:xfrm>
        </p:grpSpPr>
        <p:grpSp>
          <p:nvGrpSpPr>
            <p:cNvPr id="26" name="组合 25"/>
            <p:cNvGrpSpPr/>
            <p:nvPr/>
          </p:nvGrpSpPr>
          <p:grpSpPr>
            <a:xfrm>
              <a:off x="574021" y="1941816"/>
              <a:ext cx="4380839" cy="1500027"/>
              <a:chOff x="574021" y="1941816"/>
              <a:chExt cx="4380839" cy="1500027"/>
            </a:xfrm>
          </p:grpSpPr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3702948"/>
                  </p:ext>
                </p:extLst>
              </p:nvPr>
            </p:nvGraphicFramePr>
            <p:xfrm>
              <a:off x="574021" y="1941816"/>
              <a:ext cx="4250078" cy="15000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72" name="Visio" r:id="rId9" imgW="2589276" imgH="1107948" progId="Visio.Drawing.11">
                      <p:embed/>
                    </p:oleObj>
                  </mc:Choice>
                  <mc:Fallback>
                    <p:oleObj name="Visio" r:id="rId9" imgW="2589276" imgH="1107948" progId="Visio.Drawing.11">
                      <p:embed/>
                      <p:pic>
                        <p:nvPicPr>
                          <p:cNvPr id="7" name="对象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17749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4021" y="1941816"/>
                            <a:ext cx="4250078" cy="150002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7" name="直接连接符 16"/>
              <p:cNvCxnSpPr/>
              <p:nvPr/>
            </p:nvCxnSpPr>
            <p:spPr>
              <a:xfrm>
                <a:off x="4954860" y="2050473"/>
                <a:ext cx="0" cy="1315093"/>
              </a:xfrm>
              <a:prstGeom prst="line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4572000" y="2050473"/>
                <a:ext cx="38014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4571995" y="3338956"/>
                <a:ext cx="38014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4952138" y="2493818"/>
                <a:ext cx="0" cy="383459"/>
              </a:xfrm>
              <a:prstGeom prst="straightConnector1">
                <a:avLst/>
              </a:prstGeom>
              <a:ln w="15875"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本框 22"/>
              <p:cNvSpPr txBox="1"/>
              <p:nvPr/>
            </p:nvSpPr>
            <p:spPr>
              <a:xfrm>
                <a:off x="4336470" y="2577195"/>
                <a:ext cx="48763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277153" y="2124486"/>
                <a:ext cx="48763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328180" y="2912383"/>
                <a:ext cx="48763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9" name="直接箭头连接符 28"/>
            <p:cNvCxnSpPr/>
            <p:nvPr/>
          </p:nvCxnSpPr>
          <p:spPr>
            <a:xfrm>
              <a:off x="671006" y="2055211"/>
              <a:ext cx="0" cy="36933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373126" y="2124486"/>
              <a:ext cx="401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</p:grp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320857"/>
              </p:ext>
            </p:extLst>
          </p:nvPr>
        </p:nvGraphicFramePr>
        <p:xfrm>
          <a:off x="1423167" y="5211419"/>
          <a:ext cx="96043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3" name="Equation" r:id="rId11" imgW="736560" imgH="279360" progId="Equation.DSMT4">
                  <p:embed/>
                </p:oleObj>
              </mc:Choice>
              <mc:Fallback>
                <p:oleObj name="Equation" r:id="rId11" imgW="736560" imgH="27936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167" y="5211419"/>
                        <a:ext cx="960437" cy="363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142106"/>
              </p:ext>
            </p:extLst>
          </p:nvPr>
        </p:nvGraphicFramePr>
        <p:xfrm>
          <a:off x="724267" y="5748215"/>
          <a:ext cx="31130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4" name="Equation" r:id="rId13" imgW="2387520" imgH="558720" progId="Equation.DSMT4">
                  <p:embed/>
                </p:oleObj>
              </mc:Choice>
              <mc:Fallback>
                <p:oleObj name="Equation" r:id="rId13" imgW="2387520" imgH="55872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67" y="5748215"/>
                        <a:ext cx="3113088" cy="727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4777483" y="4367945"/>
            <a:ext cx="3493681" cy="446712"/>
            <a:chOff x="4777483" y="4367945"/>
            <a:chExt cx="3493681" cy="446712"/>
          </a:xfrm>
        </p:grpSpPr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3733009"/>
                </p:ext>
              </p:extLst>
            </p:nvPr>
          </p:nvGraphicFramePr>
          <p:xfrm>
            <a:off x="6206836" y="4482111"/>
            <a:ext cx="817418" cy="332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75" name="Equation" r:id="rId15" imgW="609336" imgH="241195" progId="Equation.DSMT4">
                    <p:embed/>
                  </p:oleObj>
                </mc:Choice>
                <mc:Fallback>
                  <p:oleObj name="Equation" r:id="rId15" imgW="609336" imgH="24119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6836" y="4482111"/>
                          <a:ext cx="817418" cy="3325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文本框 35"/>
            <p:cNvSpPr txBox="1"/>
            <p:nvPr/>
          </p:nvSpPr>
          <p:spPr>
            <a:xfrm>
              <a:off x="4777483" y="4367945"/>
              <a:ext cx="3493681" cy="292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Assuming               , get</a:t>
              </a:r>
            </a:p>
          </p:txBody>
        </p:sp>
      </p:grp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25930"/>
              </p:ext>
            </p:extLst>
          </p:nvPr>
        </p:nvGraphicFramePr>
        <p:xfrm>
          <a:off x="4344337" y="4928669"/>
          <a:ext cx="2378681" cy="710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" name="Equation" r:id="rId17" imgW="1663700" imgH="508000" progId="Equation.DSMT4">
                  <p:embed/>
                </p:oleObj>
              </mc:Choice>
              <mc:Fallback>
                <p:oleObj name="Equation" r:id="rId17" imgW="1663700" imgH="508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337" y="4928669"/>
                        <a:ext cx="2378681" cy="7100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930585"/>
              </p:ext>
            </p:extLst>
          </p:nvPr>
        </p:nvGraphicFramePr>
        <p:xfrm>
          <a:off x="7216768" y="5105602"/>
          <a:ext cx="1844933" cy="357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7" name="Equation" r:id="rId19" imgW="1016000" imgH="203200" progId="Equation.DSMT4">
                  <p:embed/>
                </p:oleObj>
              </mc:Choice>
              <mc:Fallback>
                <p:oleObj name="Equation" r:id="rId19" imgW="1016000" imgH="203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6768" y="5105602"/>
                        <a:ext cx="1844933" cy="3576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473652"/>
              </p:ext>
            </p:extLst>
          </p:nvPr>
        </p:nvGraphicFramePr>
        <p:xfrm>
          <a:off x="4777483" y="5578865"/>
          <a:ext cx="3933216" cy="1195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8" name="Equation" r:id="rId21" imgW="3251200" imgH="990600" progId="Equation.DSMT4">
                  <p:embed/>
                </p:oleObj>
              </mc:Choice>
              <mc:Fallback>
                <p:oleObj name="Equation" r:id="rId21" imgW="3251200" imgH="990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7483" y="5578865"/>
                        <a:ext cx="3933216" cy="11950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78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7818" y="263236"/>
            <a:ext cx="8825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2.22 For the circuit in figure P2-22, find a load R</a:t>
            </a:r>
            <a:r>
              <a:rPr lang="en-US" sz="2400" baseline="-25000" dirty="0"/>
              <a:t>L</a:t>
            </a:r>
            <a:r>
              <a:rPr lang="en-US" sz="2400" dirty="0"/>
              <a:t> that draws maximum power from the circuit, and calculate this maximum power.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344189"/>
              </p:ext>
            </p:extLst>
          </p:nvPr>
        </p:nvGraphicFramePr>
        <p:xfrm>
          <a:off x="5486401" y="1010367"/>
          <a:ext cx="3546762" cy="284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5" name="Visio" r:id="rId3" imgW="2209720" imgH="1772190" progId="Visio.Drawing.11">
                  <p:embed/>
                </p:oleObj>
              </mc:Choice>
              <mc:Fallback>
                <p:oleObj name="Visio" r:id="rId3" imgW="2209720" imgH="177219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1010367"/>
                        <a:ext cx="3546762" cy="2843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23446"/>
              </p:ext>
            </p:extLst>
          </p:nvPr>
        </p:nvGraphicFramePr>
        <p:xfrm>
          <a:off x="876058" y="1561116"/>
          <a:ext cx="3942103" cy="206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6" name="Visio" r:id="rId5" imgW="2366772" imgH="1458468" progId="Visio.Drawing.11">
                  <p:embed/>
                </p:oleObj>
              </mc:Choice>
              <mc:Fallback>
                <p:oleObj name="Visio" r:id="rId5" imgW="2366772" imgH="145846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5103"/>
                      <a:stretch>
                        <a:fillRect/>
                      </a:stretch>
                    </p:blipFill>
                    <p:spPr bwMode="auto">
                      <a:xfrm>
                        <a:off x="876058" y="1561116"/>
                        <a:ext cx="3942103" cy="2066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926067"/>
              </p:ext>
            </p:extLst>
          </p:nvPr>
        </p:nvGraphicFramePr>
        <p:xfrm>
          <a:off x="792430" y="3584276"/>
          <a:ext cx="4432605" cy="697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7" name="Equation" r:id="rId7" imgW="3263900" imgH="508000" progId="Equation.DSMT4">
                  <p:embed/>
                </p:oleObj>
              </mc:Choice>
              <mc:Fallback>
                <p:oleObj name="Equation" r:id="rId7" imgW="32639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30" y="3584276"/>
                        <a:ext cx="4432605" cy="697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04800" y="1108364"/>
            <a:ext cx="5181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</a:t>
            </a:r>
            <a:r>
              <a:rPr lang="en-US" sz="2400" dirty="0"/>
              <a:t>     (1) Remove R</a:t>
            </a:r>
            <a:r>
              <a:rPr lang="en-US" sz="2400" baseline="-25000" dirty="0"/>
              <a:t>L</a:t>
            </a:r>
            <a:r>
              <a:rPr lang="en-US" sz="2400" dirty="0"/>
              <a:t> and find V</a:t>
            </a:r>
            <a:r>
              <a:rPr lang="en-US" sz="2400" baseline="-25000" dirty="0"/>
              <a:t>OC</a:t>
            </a:r>
            <a:r>
              <a:rPr lang="en-US" sz="2400" dirty="0"/>
              <a:t>. 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692275"/>
              </p:ext>
            </p:extLst>
          </p:nvPr>
        </p:nvGraphicFramePr>
        <p:xfrm>
          <a:off x="4853586" y="3920172"/>
          <a:ext cx="4051828" cy="216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8" name="Visio" r:id="rId9" imgW="2219325" imgH="1371600" progId="Visio.Drawing.11">
                  <p:embed/>
                </p:oleObj>
              </mc:Choice>
              <mc:Fallback>
                <p:oleObj name="Visio" r:id="rId9" imgW="2219325" imgH="137160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3768"/>
                      <a:stretch>
                        <a:fillRect/>
                      </a:stretch>
                    </p:blipFill>
                    <p:spPr bwMode="auto">
                      <a:xfrm>
                        <a:off x="4853586" y="3920172"/>
                        <a:ext cx="4051828" cy="2164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983380"/>
              </p:ext>
            </p:extLst>
          </p:nvPr>
        </p:nvGraphicFramePr>
        <p:xfrm>
          <a:off x="792430" y="4790268"/>
          <a:ext cx="2647744" cy="1308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9" name="Equation" r:id="rId11" imgW="2171700" imgH="1066800" progId="Equation.DSMT4">
                  <p:embed/>
                </p:oleObj>
              </mc:Choice>
              <mc:Fallback>
                <p:oleObj name="Equation" r:id="rId11" imgW="2171700" imgH="106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30" y="4790268"/>
                        <a:ext cx="2647744" cy="1308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584541"/>
              </p:ext>
            </p:extLst>
          </p:nvPr>
        </p:nvGraphicFramePr>
        <p:xfrm>
          <a:off x="603264" y="6134955"/>
          <a:ext cx="1367955" cy="614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0" name="Equation" r:id="rId13" imgW="1130040" imgH="507960" progId="Equation.DSMT4">
                  <p:embed/>
                </p:oleObj>
              </mc:Choice>
              <mc:Fallback>
                <p:oleObj name="Equation" r:id="rId13" imgW="1130040" imgH="5079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64" y="6134955"/>
                        <a:ext cx="1367955" cy="6140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61221" y="4298243"/>
            <a:ext cx="439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(2) Assuming v</a:t>
            </a:r>
            <a:r>
              <a:rPr lang="en-US" sz="2400" baseline="-25000" dirty="0"/>
              <a:t>0</a:t>
            </a:r>
            <a:r>
              <a:rPr lang="en-US" sz="2400" dirty="0"/>
              <a:t>=1V, get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203535"/>
              </p:ext>
            </p:extLst>
          </p:nvPr>
        </p:nvGraphicFramePr>
        <p:xfrm>
          <a:off x="3910907" y="5766213"/>
          <a:ext cx="2628256" cy="105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1" name="Equation" r:id="rId15" imgW="1701720" imgH="685800" progId="Equation.DSMT4">
                  <p:embed/>
                </p:oleObj>
              </mc:Choice>
              <mc:Fallback>
                <p:oleObj name="Equation" r:id="rId15" imgW="170172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10907" y="5766213"/>
                        <a:ext cx="2628256" cy="1059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822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" y="249382"/>
            <a:ext cx="8520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2.23 The node equations for a circuit are as following. Draw a circuit that satisfies the equations.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177765"/>
              </p:ext>
            </p:extLst>
          </p:nvPr>
        </p:nvGraphicFramePr>
        <p:xfrm>
          <a:off x="2715491" y="1080379"/>
          <a:ext cx="3060777" cy="1288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Equation" r:id="rId3" imgW="1435100" imgH="609600" progId="Equation.DSMT4">
                  <p:embed/>
                </p:oleObj>
              </mc:Choice>
              <mc:Fallback>
                <p:oleObj name="Equation" r:id="rId3" imgW="1435100" imgH="609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491" y="1080379"/>
                        <a:ext cx="3060777" cy="12887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790261"/>
              </p:ext>
            </p:extLst>
          </p:nvPr>
        </p:nvGraphicFramePr>
        <p:xfrm>
          <a:off x="65487" y="2937164"/>
          <a:ext cx="8759858" cy="282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2" name="Visio" r:id="rId5" imgW="4757928" imgH="1734312" progId="Visio.Drawing.11">
                  <p:embed/>
                </p:oleObj>
              </mc:Choice>
              <mc:Fallback>
                <p:oleObj name="Visio" r:id="rId5" imgW="4757928" imgH="173431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1649"/>
                      <a:stretch>
                        <a:fillRect/>
                      </a:stretch>
                    </p:blipFill>
                    <p:spPr bwMode="auto">
                      <a:xfrm>
                        <a:off x="65487" y="2937164"/>
                        <a:ext cx="8759858" cy="28263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04800" y="2475499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2815420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304800"/>
            <a:ext cx="9310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2.24 Use nodal analysis to find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a</a:t>
            </a:r>
            <a:r>
              <a:rPr lang="en-US" sz="2400" dirty="0"/>
              <a:t>,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b</a:t>
            </a:r>
            <a:r>
              <a:rPr lang="en-US" sz="2400" dirty="0"/>
              <a:t> and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c</a:t>
            </a:r>
            <a:r>
              <a:rPr lang="en-US" sz="2400" dirty="0"/>
              <a:t> for the circuit in figure P2-24.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135168"/>
              </p:ext>
            </p:extLst>
          </p:nvPr>
        </p:nvGraphicFramePr>
        <p:xfrm>
          <a:off x="5478607" y="766465"/>
          <a:ext cx="3665393" cy="2694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9" name="Visio" r:id="rId3" imgW="2082107" imgH="1531356" progId="Visio.Drawing.11">
                  <p:embed/>
                </p:oleObj>
              </mc:Choice>
              <mc:Fallback>
                <p:oleObj name="Visio" r:id="rId3" imgW="2082107" imgH="15313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607" y="766465"/>
                        <a:ext cx="3665393" cy="26946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886181"/>
              </p:ext>
            </p:extLst>
          </p:nvPr>
        </p:nvGraphicFramePr>
        <p:xfrm>
          <a:off x="449409" y="1840133"/>
          <a:ext cx="4862943" cy="1620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Equation" r:id="rId5" imgW="2146300" imgH="711200" progId="Equation.DSMT4">
                  <p:embed/>
                </p:oleObj>
              </mc:Choice>
              <mc:Fallback>
                <p:oleObj name="Equation" r:id="rId5" imgW="21463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09" y="1840133"/>
                        <a:ext cx="4862943" cy="1620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620318"/>
              </p:ext>
            </p:extLst>
          </p:nvPr>
        </p:nvGraphicFramePr>
        <p:xfrm>
          <a:off x="900545" y="3922779"/>
          <a:ext cx="3629891" cy="1756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Equation" r:id="rId7" imgW="1473200" imgH="711200" progId="Equation.DSMT4">
                  <p:embed/>
                </p:oleObj>
              </mc:Choice>
              <mc:Fallback>
                <p:oleObj name="Equation" r:id="rId7" imgW="14732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545" y="3922779"/>
                        <a:ext cx="3629891" cy="17563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504163"/>
              </p:ext>
            </p:extLst>
          </p:nvPr>
        </p:nvGraphicFramePr>
        <p:xfrm>
          <a:off x="6012872" y="3922779"/>
          <a:ext cx="2102571" cy="1587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2" name="Equation" r:id="rId9" imgW="1206360" imgH="914400" progId="Equation.DSMT4">
                  <p:embed/>
                </p:oleObj>
              </mc:Choice>
              <mc:Fallback>
                <p:oleObj name="Equation" r:id="rId9" imgW="1206360" imgH="914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872" y="3922779"/>
                        <a:ext cx="2102571" cy="15873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04800" y="1039091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392264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7927" y="263236"/>
            <a:ext cx="8368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2.29 Use mesh analysis to repeat the calculations in problem 2.26.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885193"/>
              </p:ext>
            </p:extLst>
          </p:nvPr>
        </p:nvGraphicFramePr>
        <p:xfrm>
          <a:off x="4599709" y="748145"/>
          <a:ext cx="4544291" cy="3065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name="Visio" r:id="rId3" imgW="2390775" imgH="1809750" progId="Visio.Drawing.11">
                  <p:embed/>
                </p:oleObj>
              </mc:Choice>
              <mc:Fallback>
                <p:oleObj name="Visio" r:id="rId3" imgW="2390775" imgH="180975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1665"/>
                      <a:stretch>
                        <a:fillRect/>
                      </a:stretch>
                    </p:blipFill>
                    <p:spPr bwMode="auto">
                      <a:xfrm>
                        <a:off x="4599709" y="748145"/>
                        <a:ext cx="4544291" cy="30655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496521"/>
              </p:ext>
            </p:extLst>
          </p:nvPr>
        </p:nvGraphicFramePr>
        <p:xfrm>
          <a:off x="754936" y="2273490"/>
          <a:ext cx="3477765" cy="10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Equation" r:id="rId5" imgW="1651000" imgH="482600" progId="Equation.DSMT4">
                  <p:embed/>
                </p:oleObj>
              </mc:Choice>
              <mc:Fallback>
                <p:oleObj name="Equation" r:id="rId5" imgW="16510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36" y="2273490"/>
                        <a:ext cx="3477765" cy="1025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85012"/>
              </p:ext>
            </p:extLst>
          </p:nvPr>
        </p:nvGraphicFramePr>
        <p:xfrm>
          <a:off x="922978" y="1586879"/>
          <a:ext cx="1310906" cy="472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Equation" r:id="rId7" imgW="774364" imgH="279279" progId="Equation.DSMT4">
                  <p:embed/>
                </p:oleObj>
              </mc:Choice>
              <mc:Fallback>
                <p:oleObj name="Equation" r:id="rId7" imgW="774364" imgH="27927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978" y="1586879"/>
                        <a:ext cx="1310906" cy="4727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395870"/>
              </p:ext>
            </p:extLst>
          </p:nvPr>
        </p:nvGraphicFramePr>
        <p:xfrm>
          <a:off x="784433" y="3513706"/>
          <a:ext cx="4009240" cy="100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Equation" r:id="rId9" imgW="2451100" imgH="609600" progId="Equation.DSMT4">
                  <p:embed/>
                </p:oleObj>
              </mc:Choice>
              <mc:Fallback>
                <p:oleObj name="Equation" r:id="rId9" imgW="2451100" imgH="609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33" y="3513706"/>
                        <a:ext cx="4009240" cy="1007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495401"/>
              </p:ext>
            </p:extLst>
          </p:nvPr>
        </p:nvGraphicFramePr>
        <p:xfrm>
          <a:off x="784433" y="4894005"/>
          <a:ext cx="7012025" cy="557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Equation" r:id="rId11" imgW="3797300" imgH="304800" progId="Equation.DSMT4">
                  <p:embed/>
                </p:oleObj>
              </mc:Choice>
              <mc:Fallback>
                <p:oleObj name="Equation" r:id="rId11" imgW="3797300" imgH="304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33" y="4894005"/>
                        <a:ext cx="7012025" cy="5572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04800" y="1039091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376287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964" y="235528"/>
            <a:ext cx="8950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2.32 Use both nodal and mesh analysis to find </a:t>
            </a:r>
            <a:r>
              <a:rPr lang="en-US" sz="2400" i="1" dirty="0"/>
              <a:t>I</a:t>
            </a:r>
            <a:r>
              <a:rPr lang="en-US" sz="2400" baseline="-25000" dirty="0"/>
              <a:t>A</a:t>
            </a:r>
            <a:r>
              <a:rPr lang="en-US" sz="2400" dirty="0"/>
              <a:t> and the power of the dependent source in the circuit of figure P2-32.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155324"/>
              </p:ext>
            </p:extLst>
          </p:nvPr>
        </p:nvGraphicFramePr>
        <p:xfrm>
          <a:off x="5632738" y="710214"/>
          <a:ext cx="3354178" cy="3923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7" name="Visio" r:id="rId3" imgW="1542970" imgH="1809810" progId="Visio.Drawing.11">
                  <p:embed/>
                </p:oleObj>
              </mc:Choice>
              <mc:Fallback>
                <p:oleObj name="Visio" r:id="rId3" imgW="1542970" imgH="180981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738" y="710214"/>
                        <a:ext cx="3354178" cy="3923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416973"/>
              </p:ext>
            </p:extLst>
          </p:nvPr>
        </p:nvGraphicFramePr>
        <p:xfrm>
          <a:off x="1144228" y="4207425"/>
          <a:ext cx="4488509" cy="1316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" name="Equation" r:id="rId5" imgW="3073320" imgH="914400" progId="Equation.DSMT4">
                  <p:embed/>
                </p:oleObj>
              </mc:Choice>
              <mc:Fallback>
                <p:oleObj name="Equation" r:id="rId5" imgW="307332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228" y="4207425"/>
                        <a:ext cx="4488509" cy="13169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980704"/>
              </p:ext>
            </p:extLst>
          </p:nvPr>
        </p:nvGraphicFramePr>
        <p:xfrm>
          <a:off x="1144228" y="5720140"/>
          <a:ext cx="2851781" cy="43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9" name="Equation" r:id="rId7" imgW="1968480" imgH="304560" progId="Equation.DSMT4">
                  <p:embed/>
                </p:oleObj>
              </mc:Choice>
              <mc:Fallback>
                <p:oleObj name="Equation" r:id="rId7" imgW="1968480" imgH="304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228" y="5720140"/>
                        <a:ext cx="2851781" cy="43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183871"/>
              </p:ext>
            </p:extLst>
          </p:nvPr>
        </p:nvGraphicFramePr>
        <p:xfrm>
          <a:off x="4992688" y="5812084"/>
          <a:ext cx="28098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0" name="Equation" r:id="rId9" imgW="1688760" imgH="279360" progId="Equation.DSMT4">
                  <p:embed/>
                </p:oleObj>
              </mc:Choice>
              <mc:Fallback>
                <p:oleObj name="Equation" r:id="rId9" imgW="1688760" imgH="279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5812084"/>
                        <a:ext cx="2809875" cy="458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04800" y="1039091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959623"/>
              </p:ext>
            </p:extLst>
          </p:nvPr>
        </p:nvGraphicFramePr>
        <p:xfrm>
          <a:off x="1948568" y="835692"/>
          <a:ext cx="3178603" cy="3718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1" name="Visio" r:id="rId11" imgW="1542970" imgH="1809810" progId="Visio.Drawing.11">
                  <p:embed/>
                </p:oleObj>
              </mc:Choice>
              <mc:Fallback>
                <p:oleObj name="Visio" r:id="rId11" imgW="1542970" imgH="180981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568" y="835692"/>
                        <a:ext cx="3178603" cy="37180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981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566732"/>
              </p:ext>
            </p:extLst>
          </p:nvPr>
        </p:nvGraphicFramePr>
        <p:xfrm>
          <a:off x="5286508" y="0"/>
          <a:ext cx="3511263" cy="410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4" name="Visio" r:id="rId3" imgW="1542970" imgH="1809810" progId="Visio.Drawing.11">
                  <p:embed/>
                </p:oleObj>
              </mc:Choice>
              <mc:Fallback>
                <p:oleObj name="Visio" r:id="rId3" imgW="1542970" imgH="180981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508" y="0"/>
                        <a:ext cx="3511263" cy="4107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216301"/>
              </p:ext>
            </p:extLst>
          </p:nvPr>
        </p:nvGraphicFramePr>
        <p:xfrm>
          <a:off x="559293" y="1307694"/>
          <a:ext cx="4495686" cy="2030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5" name="Equation" r:id="rId5" imgW="2755800" imgH="1244520" progId="Equation.DSMT4">
                  <p:embed/>
                </p:oleObj>
              </mc:Choice>
              <mc:Fallback>
                <p:oleObj name="Equation" r:id="rId5" imgW="275580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9293" y="1307694"/>
                        <a:ext cx="4495686" cy="2030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977820"/>
              </p:ext>
            </p:extLst>
          </p:nvPr>
        </p:nvGraphicFramePr>
        <p:xfrm>
          <a:off x="820106" y="3429345"/>
          <a:ext cx="219551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6" name="Equation" r:id="rId7" imgW="1346040" imgH="838080" progId="Equation.DSMT4">
                  <p:embed/>
                </p:oleObj>
              </mc:Choice>
              <mc:Fallback>
                <p:oleObj name="Equation" r:id="rId7" imgW="13460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0106" y="3429345"/>
                        <a:ext cx="2195512" cy="136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97251"/>
              </p:ext>
            </p:extLst>
          </p:nvPr>
        </p:nvGraphicFramePr>
        <p:xfrm>
          <a:off x="3784600" y="3476625"/>
          <a:ext cx="16764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7" name="Equation" r:id="rId9" imgW="1028520" imgH="838080" progId="Equation.DSMT4">
                  <p:embed/>
                </p:oleObj>
              </mc:Choice>
              <mc:Fallback>
                <p:oleObj name="Equation" r:id="rId9" imgW="102852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84600" y="3476625"/>
                        <a:ext cx="1676400" cy="136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282712"/>
              </p:ext>
            </p:extLst>
          </p:nvPr>
        </p:nvGraphicFramePr>
        <p:xfrm>
          <a:off x="6135610" y="3902677"/>
          <a:ext cx="9937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8" name="Equation" r:id="rId11" imgW="609480" imgH="482400" progId="Equation.DSMT4">
                  <p:embed/>
                </p:oleObj>
              </mc:Choice>
              <mc:Fallback>
                <p:oleObj name="Equation" r:id="rId11" imgW="609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35610" y="3902677"/>
                        <a:ext cx="993775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817934"/>
              </p:ext>
            </p:extLst>
          </p:nvPr>
        </p:nvGraphicFramePr>
        <p:xfrm>
          <a:off x="1065043" y="5162797"/>
          <a:ext cx="24860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9" name="Equation" r:id="rId13" imgW="1523880" imgH="393480" progId="Equation.DSMT4">
                  <p:embed/>
                </p:oleObj>
              </mc:Choice>
              <mc:Fallback>
                <p:oleObj name="Equation" r:id="rId13" imgW="1523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65043" y="5162797"/>
                        <a:ext cx="2486025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56948" y="488272"/>
            <a:ext cx="2894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Nodal analysis</a:t>
            </a:r>
            <a:endParaRPr lang="zh-CN" altLang="en-US" sz="2000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86628"/>
              </p:ext>
            </p:extLst>
          </p:nvPr>
        </p:nvGraphicFramePr>
        <p:xfrm>
          <a:off x="4000500" y="5162550"/>
          <a:ext cx="29210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0" name="Equation" r:id="rId15" imgW="1790640" imgH="393480" progId="Equation.DSMT4">
                  <p:embed/>
                </p:oleObj>
              </mc:Choice>
              <mc:Fallback>
                <p:oleObj name="Equation" r:id="rId15" imgW="17906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00500" y="5162550"/>
                        <a:ext cx="2921000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749170"/>
              </p:ext>
            </p:extLst>
          </p:nvPr>
        </p:nvGraphicFramePr>
        <p:xfrm>
          <a:off x="2870200" y="6121400"/>
          <a:ext cx="35067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1" name="Equation" r:id="rId17" imgW="2108160" imgH="279360" progId="Equation.DSMT4">
                  <p:embed/>
                </p:oleObj>
              </mc:Choice>
              <mc:Fallback>
                <p:oleObj name="Equation" r:id="rId17" imgW="2108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6121400"/>
                        <a:ext cx="3506788" cy="458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676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7926" y="211791"/>
            <a:ext cx="845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/>
              <a:t>2.33 Use nodal or mesh analysis to find </a:t>
            </a:r>
            <a:r>
              <a:rPr lang="en-US" sz="2400" i="1" dirty="0"/>
              <a:t>V</a:t>
            </a:r>
            <a:r>
              <a:rPr lang="en-US" sz="2400" baseline="-25000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I</a:t>
            </a:r>
            <a:r>
              <a:rPr lang="en-US" sz="2400" baseline="-25000" dirty="0"/>
              <a:t>B</a:t>
            </a:r>
            <a:r>
              <a:rPr lang="en-US" sz="2400" dirty="0"/>
              <a:t> in figure P2-33.</a:t>
            </a:r>
          </a:p>
          <a:p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294826"/>
              </p:ext>
            </p:extLst>
          </p:nvPr>
        </p:nvGraphicFramePr>
        <p:xfrm>
          <a:off x="5430982" y="700873"/>
          <a:ext cx="3045402" cy="3278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7" name="Visio" r:id="rId3" imgW="1733810" imgH="1881572" progId="Visio.Drawing.11">
                  <p:embed/>
                </p:oleObj>
              </mc:Choice>
              <mc:Fallback>
                <p:oleObj name="Visio" r:id="rId3" imgW="1733810" imgH="188157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982" y="700873"/>
                        <a:ext cx="3045402" cy="3278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535052"/>
              </p:ext>
            </p:extLst>
          </p:nvPr>
        </p:nvGraphicFramePr>
        <p:xfrm>
          <a:off x="1123277" y="1559422"/>
          <a:ext cx="2779873" cy="4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8" name="Equation" r:id="rId5" imgW="1739880" imgH="279360" progId="Equation.DSMT4">
                  <p:embed/>
                </p:oleObj>
              </mc:Choice>
              <mc:Fallback>
                <p:oleObj name="Equation" r:id="rId5" imgW="173988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277" y="1559422"/>
                        <a:ext cx="2779873" cy="439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993520"/>
              </p:ext>
            </p:extLst>
          </p:nvPr>
        </p:nvGraphicFramePr>
        <p:xfrm>
          <a:off x="595560" y="2069721"/>
          <a:ext cx="4072555" cy="173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9" name="Equation" r:id="rId7" imgW="2146300" imgH="914400" progId="Equation.DSMT4">
                  <p:embed/>
                </p:oleObj>
              </mc:Choice>
              <mc:Fallback>
                <p:oleObj name="Equation" r:id="rId7" imgW="21463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560" y="2069721"/>
                        <a:ext cx="4072555" cy="17338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549818"/>
              </p:ext>
            </p:extLst>
          </p:nvPr>
        </p:nvGraphicFramePr>
        <p:xfrm>
          <a:off x="851215" y="3973764"/>
          <a:ext cx="1742701" cy="1357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0" name="Equation" r:id="rId9" imgW="812447" imgH="634725" progId="Equation.DSMT4">
                  <p:embed/>
                </p:oleObj>
              </mc:Choice>
              <mc:Fallback>
                <p:oleObj name="Equation" r:id="rId9" imgW="812447" imgH="63472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215" y="3973764"/>
                        <a:ext cx="1742701" cy="13579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5583382" y="1425315"/>
            <a:ext cx="3379210" cy="2341971"/>
            <a:chOff x="5583382" y="1541860"/>
            <a:chExt cx="3379210" cy="2341971"/>
          </a:xfrm>
        </p:grpSpPr>
        <p:grpSp>
          <p:nvGrpSpPr>
            <p:cNvPr id="15" name="组合 14"/>
            <p:cNvGrpSpPr/>
            <p:nvPr/>
          </p:nvGrpSpPr>
          <p:grpSpPr>
            <a:xfrm>
              <a:off x="7107382" y="2632364"/>
              <a:ext cx="1233054" cy="1066801"/>
              <a:chOff x="7107382" y="2632364"/>
              <a:chExt cx="1233054" cy="1066801"/>
            </a:xfrm>
          </p:grpSpPr>
          <p:cxnSp>
            <p:nvCxnSpPr>
              <p:cNvPr id="6" name="直接连接符 5"/>
              <p:cNvCxnSpPr/>
              <p:nvPr/>
            </p:nvCxnSpPr>
            <p:spPr>
              <a:xfrm>
                <a:off x="7107382" y="2632364"/>
                <a:ext cx="1027401" cy="704011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8124392" y="3338945"/>
                <a:ext cx="0" cy="332510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V="1">
                <a:off x="7966364" y="3689665"/>
                <a:ext cx="374072" cy="950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本框 21"/>
            <p:cNvSpPr txBox="1"/>
            <p:nvPr/>
          </p:nvSpPr>
          <p:spPr>
            <a:xfrm>
              <a:off x="5583382" y="1648415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162801" y="154186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352992" y="1648415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162801" y="351449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92716"/>
              </p:ext>
            </p:extLst>
          </p:nvPr>
        </p:nvGraphicFramePr>
        <p:xfrm>
          <a:off x="4152900" y="4153603"/>
          <a:ext cx="3981883" cy="1197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1" name="Equation" r:id="rId11" imgW="2095200" imgH="634680" progId="Equation.DSMT4">
                  <p:embed/>
                </p:oleObj>
              </mc:Choice>
              <mc:Fallback>
                <p:oleObj name="Equation" r:id="rId11" imgW="2095200" imgH="6346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4153603"/>
                        <a:ext cx="3981883" cy="11978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691207"/>
              </p:ext>
            </p:extLst>
          </p:nvPr>
        </p:nvGraphicFramePr>
        <p:xfrm>
          <a:off x="1169988" y="5674658"/>
          <a:ext cx="1644599" cy="89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2" name="Equation" r:id="rId13" imgW="838080" imgH="457200" progId="Equation.DSMT4">
                  <p:embed/>
                </p:oleObj>
              </mc:Choice>
              <mc:Fallback>
                <p:oleObj name="Equation" r:id="rId13" imgW="83808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5674658"/>
                        <a:ext cx="1644599" cy="8975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940693"/>
              </p:ext>
            </p:extLst>
          </p:nvPr>
        </p:nvGraphicFramePr>
        <p:xfrm>
          <a:off x="4048125" y="5529364"/>
          <a:ext cx="3446369" cy="1201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3" name="Equation" r:id="rId15" imgW="1828800" imgH="634680" progId="Equation.DSMT4">
                  <p:embed/>
                </p:oleObj>
              </mc:Choice>
              <mc:Fallback>
                <p:oleObj name="Equation" r:id="rId15" imgW="1828800" imgH="6346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5529364"/>
                        <a:ext cx="3446369" cy="1201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387926" y="713292"/>
            <a:ext cx="490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</a:t>
            </a:r>
            <a:r>
              <a:rPr lang="en-US" sz="2400" dirty="0"/>
              <a:t>  (1) nodal analysis</a:t>
            </a:r>
          </a:p>
        </p:txBody>
      </p:sp>
    </p:spTree>
    <p:extLst>
      <p:ext uri="{BB962C8B-B14F-4D97-AF65-F5344CB8AC3E}">
        <p14:creationId xmlns:p14="http://schemas.microsoft.com/office/powerpoint/2010/main" val="367902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348124"/>
              </p:ext>
            </p:extLst>
          </p:nvPr>
        </p:nvGraphicFramePr>
        <p:xfrm>
          <a:off x="831738" y="1156911"/>
          <a:ext cx="35179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" name="Equation" r:id="rId3" imgW="1536480" imgH="482400" progId="Equation.DSMT4">
                  <p:embed/>
                </p:oleObj>
              </mc:Choice>
              <mc:Fallback>
                <p:oleObj name="Equation" r:id="rId3" imgW="15364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738" y="1156911"/>
                        <a:ext cx="3517900" cy="1109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056610"/>
              </p:ext>
            </p:extLst>
          </p:nvPr>
        </p:nvGraphicFramePr>
        <p:xfrm>
          <a:off x="1251323" y="2372309"/>
          <a:ext cx="13684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" name="Equation" r:id="rId5" imgW="660240" imgH="228600" progId="Equation.DSMT4">
                  <p:embed/>
                </p:oleObj>
              </mc:Choice>
              <mc:Fallback>
                <p:oleObj name="Equation" r:id="rId5" imgW="66024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323" y="2372309"/>
                        <a:ext cx="1368425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976056"/>
              </p:ext>
            </p:extLst>
          </p:nvPr>
        </p:nvGraphicFramePr>
        <p:xfrm>
          <a:off x="1163311" y="2928028"/>
          <a:ext cx="1632294" cy="1524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" name="Equation" r:id="rId7" imgW="761760" imgH="711000" progId="Equation.DSMT4">
                  <p:embed/>
                </p:oleObj>
              </mc:Choice>
              <mc:Fallback>
                <p:oleObj name="Equation" r:id="rId7" imgW="761760" imgH="71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311" y="2928028"/>
                        <a:ext cx="1632294" cy="15247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99834" y="538049"/>
            <a:ext cx="4184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(2) Mesh analysis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2496" y="1569816"/>
            <a:ext cx="2961612" cy="2716423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4200"/>
              </p:ext>
            </p:extLst>
          </p:nvPr>
        </p:nvGraphicFramePr>
        <p:xfrm>
          <a:off x="1251323" y="4795964"/>
          <a:ext cx="25288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" name="Equation" r:id="rId10" imgW="1218960" imgH="228600" progId="Equation.DSMT4">
                  <p:embed/>
                </p:oleObj>
              </mc:Choice>
              <mc:Fallback>
                <p:oleObj name="Equation" r:id="rId10" imgW="1218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323" y="4795964"/>
                        <a:ext cx="2528887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96"/>
          <p:cNvSpPr>
            <a:spLocks noChangeArrowheads="1"/>
          </p:cNvSpPr>
          <p:nvPr/>
        </p:nvSpPr>
        <p:spPr bwMode="auto">
          <a:xfrm>
            <a:off x="2867866" y="2372309"/>
            <a:ext cx="2576512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Constraint equation</a:t>
            </a:r>
          </a:p>
        </p:txBody>
      </p:sp>
      <p:sp>
        <p:nvSpPr>
          <p:cNvPr id="19" name="Rectangle 96"/>
          <p:cNvSpPr>
            <a:spLocks noChangeArrowheads="1"/>
          </p:cNvSpPr>
          <p:nvPr/>
        </p:nvSpPr>
        <p:spPr bwMode="auto">
          <a:xfrm>
            <a:off x="4378433" y="1197786"/>
            <a:ext cx="1859805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Super mesh 1</a:t>
            </a:r>
          </a:p>
        </p:txBody>
      </p:sp>
      <p:sp>
        <p:nvSpPr>
          <p:cNvPr id="20" name="Rectangle 96"/>
          <p:cNvSpPr>
            <a:spLocks noChangeArrowheads="1"/>
          </p:cNvSpPr>
          <p:nvPr/>
        </p:nvSpPr>
        <p:spPr bwMode="auto">
          <a:xfrm>
            <a:off x="4362030" y="1711742"/>
            <a:ext cx="1099980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Mesh 2</a:t>
            </a:r>
          </a:p>
        </p:txBody>
      </p:sp>
    </p:spTree>
    <p:extLst>
      <p:ext uri="{BB962C8B-B14F-4D97-AF65-F5344CB8AC3E}">
        <p14:creationId xmlns:p14="http://schemas.microsoft.com/office/powerpoint/2010/main" val="71006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6699" y="36900"/>
            <a:ext cx="7368988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400" dirty="0"/>
              <a:t>2-34. For the circuit of figure P2-34</a:t>
            </a:r>
            <a:endParaRPr lang="zh-CN" altLang="zh-CN" sz="2400" dirty="0"/>
          </a:p>
          <a:p>
            <a:pPr lvl="0">
              <a:lnSpc>
                <a:spcPct val="150000"/>
              </a:lnSpc>
            </a:pPr>
            <a:r>
              <a:rPr lang="en-US" altLang="zh-CN" sz="2400" dirty="0"/>
              <a:t>Find the relation of </a:t>
            </a:r>
            <a:r>
              <a:rPr lang="en-US" altLang="zh-CN" sz="2400" i="1" dirty="0" err="1"/>
              <a:t>v</a:t>
            </a:r>
            <a:r>
              <a:rPr lang="en-US" altLang="zh-CN" sz="2400" baseline="-25000" dirty="0" err="1"/>
              <a:t>o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s1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s2 .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Determine </a:t>
            </a:r>
            <a:r>
              <a:rPr lang="en-US" altLang="zh-CN" sz="2400" i="1" dirty="0" err="1"/>
              <a:t>v</a:t>
            </a:r>
            <a:r>
              <a:rPr lang="en-US" altLang="zh-CN" sz="2400" baseline="-25000" dirty="0" err="1"/>
              <a:t>o</a:t>
            </a:r>
            <a:r>
              <a:rPr lang="en-US" altLang="zh-CN" sz="2400" dirty="0"/>
              <a:t> if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s1</a:t>
            </a:r>
            <a:r>
              <a:rPr lang="en-US" altLang="zh-CN" sz="2400" dirty="0"/>
              <a:t> = 6V and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s2 </a:t>
            </a:r>
            <a:r>
              <a:rPr lang="en-US" altLang="zh-CN" sz="2400" dirty="0"/>
              <a:t>= 3V.</a:t>
            </a:r>
            <a:r>
              <a:rPr lang="en-US" altLang="zh-CN" sz="2400" baseline="-25000" dirty="0"/>
              <a:t>.</a:t>
            </a:r>
            <a:endParaRPr lang="zh-CN" alt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516096" y="75303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260340"/>
              </p:ext>
            </p:extLst>
          </p:nvPr>
        </p:nvGraphicFramePr>
        <p:xfrm>
          <a:off x="5516095" y="89892"/>
          <a:ext cx="3493434" cy="2871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name="Visio" r:id="rId3" imgW="2088824" imgH="1711741" progId="Visio.Drawing.11">
                  <p:embed/>
                </p:oleObj>
              </mc:Choice>
              <mc:Fallback>
                <p:oleObj name="Visio" r:id="rId3" imgW="2088824" imgH="171174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095" y="89892"/>
                        <a:ext cx="3493434" cy="28713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3"/>
          <p:cNvSpPr txBox="1">
            <a:spLocks noChangeArrowheads="1"/>
          </p:cNvSpPr>
          <p:nvPr/>
        </p:nvSpPr>
        <p:spPr bwMode="auto">
          <a:xfrm>
            <a:off x="1986338" y="2399416"/>
            <a:ext cx="3040062" cy="965200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99"/>
            </a:solidFill>
            <a:miter lim="800000"/>
            <a:headEnd/>
            <a:tailEnd type="none" w="lg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= </a:t>
            </a: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= </a:t>
            </a:r>
            <a:r>
              <a:rPr lang="en-US" altLang="zh-CN" sz="2800" dirty="0"/>
              <a:t>0</a:t>
            </a:r>
            <a:r>
              <a:rPr lang="en-US" altLang="zh-CN" sz="2800" i="1" dirty="0"/>
              <a:t> , </a:t>
            </a:r>
            <a:br>
              <a:rPr lang="en-US" altLang="zh-CN" sz="2800" i="1" dirty="0"/>
            </a:br>
            <a:r>
              <a:rPr lang="en-US" altLang="zh-CN" sz="2800" i="1" dirty="0"/>
              <a:t>v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 </a:t>
            </a:r>
            <a:r>
              <a:rPr lang="en-US" altLang="zh-CN" sz="2400" b="1" i="1" dirty="0"/>
              <a:t>=</a:t>
            </a:r>
            <a:r>
              <a:rPr lang="en-US" altLang="zh-CN" sz="2800" i="1" dirty="0"/>
              <a:t> v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 = v</a:t>
            </a:r>
            <a:r>
              <a:rPr lang="en-US" altLang="zh-CN" sz="2800" baseline="-25000" dirty="0"/>
              <a:t>s1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4847" y="1802965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26753" y="3571337"/>
            <a:ext cx="389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nodal equation at v-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064619"/>
              </p:ext>
            </p:extLst>
          </p:nvPr>
        </p:nvGraphicFramePr>
        <p:xfrm>
          <a:off x="1741955" y="4101999"/>
          <a:ext cx="4685740" cy="687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Equation" r:id="rId5" imgW="2679480" imgH="393480" progId="Equation.DSMT4">
                  <p:embed/>
                </p:oleObj>
              </mc:Choice>
              <mc:Fallback>
                <p:oleObj name="Equation" r:id="rId5" imgW="2679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1955" y="4101999"/>
                        <a:ext cx="4685740" cy="687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130775"/>
              </p:ext>
            </p:extLst>
          </p:nvPr>
        </p:nvGraphicFramePr>
        <p:xfrm>
          <a:off x="1865250" y="5136774"/>
          <a:ext cx="2155943" cy="43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name="Equation" r:id="rId7" imgW="1130040" imgH="228600" progId="Equation.DSMT4">
                  <p:embed/>
                </p:oleObj>
              </mc:Choice>
              <mc:Fallback>
                <p:oleObj name="Equation" r:id="rId7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65250" y="5136774"/>
                        <a:ext cx="2155943" cy="43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669442"/>
              </p:ext>
            </p:extLst>
          </p:nvPr>
        </p:nvGraphicFramePr>
        <p:xfrm>
          <a:off x="1637555" y="5836312"/>
          <a:ext cx="38306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7" name="Equation" r:id="rId9" imgW="2006280" imgH="228600" progId="Equation.DSMT4">
                  <p:embed/>
                </p:oleObj>
              </mc:Choice>
              <mc:Fallback>
                <p:oleObj name="Equation" r:id="rId9" imgW="2006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7555" y="5836312"/>
                        <a:ext cx="3830638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60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2046" y="63328"/>
            <a:ext cx="5585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/>
              <a:t>2.36 For the circuit of figure P2-36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en-US" altLang="zh-CN" sz="2000" dirty="0"/>
              <a:t>(1) Find the relation of </a:t>
            </a:r>
            <a:r>
              <a:rPr lang="en-US" altLang="zh-CN" sz="2000" i="1" dirty="0" err="1"/>
              <a:t>v</a:t>
            </a:r>
            <a:r>
              <a:rPr lang="en-US" altLang="zh-CN" sz="2000" baseline="-25000" dirty="0" err="1"/>
              <a:t>o</a:t>
            </a:r>
            <a:r>
              <a:rPr lang="en-US" altLang="zh-CN" sz="2000" dirty="0"/>
              <a:t> to </a:t>
            </a:r>
            <a:r>
              <a:rPr lang="en-US" altLang="zh-CN" sz="2000" i="1" dirty="0"/>
              <a:t>v</a:t>
            </a:r>
            <a:r>
              <a:rPr lang="en-US" altLang="zh-CN" sz="2000" baseline="-25000" dirty="0"/>
              <a:t>s</a:t>
            </a:r>
            <a:r>
              <a:rPr lang="en-US" altLang="zh-CN" sz="2000" dirty="0"/>
              <a:t> .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en-US" altLang="zh-CN" sz="2000" dirty="0"/>
              <a:t>(2) If </a:t>
            </a:r>
            <a:r>
              <a:rPr lang="en-US" altLang="zh-CN" sz="2000" i="1" dirty="0" err="1"/>
              <a:t>v</a:t>
            </a:r>
            <a:r>
              <a:rPr lang="en-US" altLang="zh-CN" sz="2000" baseline="-25000" dirty="0" err="1"/>
              <a:t>S</a:t>
            </a:r>
            <a:r>
              <a:rPr lang="en-US" altLang="zh-CN" sz="2000" dirty="0"/>
              <a:t> =1.5V, compute the power supplied by voltage source and the power delivered to the 5-k</a:t>
            </a:r>
            <a:r>
              <a:rPr lang="en-US" altLang="zh-CN" sz="2000" dirty="0">
                <a:sym typeface="Symbol" panose="05050102010706020507" pitchFamily="18" charset="2"/>
              </a:rPr>
              <a:t></a:t>
            </a:r>
            <a:r>
              <a:rPr lang="en-US" altLang="zh-CN" sz="2000" dirty="0"/>
              <a:t> load resistor.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20459"/>
              </p:ext>
            </p:extLst>
          </p:nvPr>
        </p:nvGraphicFramePr>
        <p:xfrm>
          <a:off x="5522259" y="63328"/>
          <a:ext cx="3225513" cy="2475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3" name="Visio" r:id="rId3" imgW="2170739" imgH="1668396" progId="Visio.Drawing.11">
                  <p:embed/>
                </p:oleObj>
              </mc:Choice>
              <mc:Fallback>
                <p:oleObj name="Visio" r:id="rId3" imgW="2170739" imgH="166839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259" y="63328"/>
                        <a:ext cx="3225513" cy="24757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3"/>
          <p:cNvSpPr txBox="1">
            <a:spLocks noChangeArrowheads="1"/>
          </p:cNvSpPr>
          <p:nvPr/>
        </p:nvSpPr>
        <p:spPr bwMode="auto">
          <a:xfrm>
            <a:off x="1681539" y="2505716"/>
            <a:ext cx="3040062" cy="9652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none" w="lg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= </a:t>
            </a: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= </a:t>
            </a:r>
            <a:r>
              <a:rPr lang="en-US" altLang="zh-CN" sz="2800" dirty="0"/>
              <a:t>0</a:t>
            </a:r>
            <a:r>
              <a:rPr lang="en-US" altLang="zh-CN" sz="2800" i="1" dirty="0"/>
              <a:t> , </a:t>
            </a:r>
            <a:br>
              <a:rPr lang="en-US" altLang="zh-CN" sz="2800" i="1" dirty="0"/>
            </a:br>
            <a:r>
              <a:rPr lang="en-US" altLang="zh-CN" sz="2800" i="1" dirty="0"/>
              <a:t>v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 </a:t>
            </a:r>
            <a:r>
              <a:rPr lang="en-US" altLang="zh-CN" sz="2400" b="1" i="1" dirty="0"/>
              <a:t>=</a:t>
            </a:r>
            <a:r>
              <a:rPr lang="en-US" altLang="zh-CN" sz="2800" i="1" dirty="0"/>
              <a:t> v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 = v</a:t>
            </a:r>
            <a:r>
              <a:rPr lang="en-US" altLang="zh-CN" sz="2800" baseline="-25000" dirty="0"/>
              <a:t>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2046" y="2416280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26753" y="3571337"/>
            <a:ext cx="389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nodal equation at v-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702988"/>
              </p:ext>
            </p:extLst>
          </p:nvPr>
        </p:nvGraphicFramePr>
        <p:xfrm>
          <a:off x="1968876" y="4164308"/>
          <a:ext cx="24653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4" name="Equation" r:id="rId5" imgW="1409400" imgH="393480" progId="Equation.DSMT4">
                  <p:embed/>
                </p:oleObj>
              </mc:Choice>
              <mc:Fallback>
                <p:oleObj name="Equation" r:id="rId5" imgW="1409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8876" y="4164308"/>
                        <a:ext cx="2465388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959668"/>
              </p:ext>
            </p:extLst>
          </p:nvPr>
        </p:nvGraphicFramePr>
        <p:xfrm>
          <a:off x="2459038" y="5137150"/>
          <a:ext cx="9683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5" name="Equation" r:id="rId7" imgW="507960" imgH="228600" progId="Equation.DSMT4">
                  <p:embed/>
                </p:oleObj>
              </mc:Choice>
              <mc:Fallback>
                <p:oleObj name="Equation" r:id="rId7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9038" y="5137150"/>
                        <a:ext cx="96837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408893"/>
              </p:ext>
            </p:extLst>
          </p:nvPr>
        </p:nvGraphicFramePr>
        <p:xfrm>
          <a:off x="2201396" y="5809354"/>
          <a:ext cx="2667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Equation" r:id="rId9" imgW="1396800" imgH="228600" progId="Equation.DSMT4">
                  <p:embed/>
                </p:oleObj>
              </mc:Choice>
              <mc:Fallback>
                <p:oleObj name="Equation" r:id="rId9" imgW="1396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1396" y="5809354"/>
                        <a:ext cx="2667000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448350"/>
              </p:ext>
            </p:extLst>
          </p:nvPr>
        </p:nvGraphicFramePr>
        <p:xfrm>
          <a:off x="5590241" y="5572125"/>
          <a:ext cx="232727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Equation" r:id="rId11" imgW="1218960" imgH="419040" progId="Equation.DSMT4">
                  <p:embed/>
                </p:oleObj>
              </mc:Choice>
              <mc:Fallback>
                <p:oleObj name="Equation" r:id="rId11" imgW="1218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90241" y="5572125"/>
                        <a:ext cx="2327275" cy="798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093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2730" y="143435"/>
            <a:ext cx="850750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2.37 For the circuit in figure P2-37, use nodal analysis to find the voltage gain </a:t>
            </a:r>
            <a:r>
              <a:rPr lang="en-US" altLang="zh-CN" sz="2000" i="1" dirty="0" err="1"/>
              <a:t>v</a:t>
            </a:r>
            <a:r>
              <a:rPr lang="en-US" altLang="zh-CN" sz="2000" baseline="-25000" dirty="0" err="1"/>
              <a:t>o</a:t>
            </a:r>
            <a:r>
              <a:rPr lang="en-US" altLang="zh-CN" sz="2000" dirty="0"/>
              <a:t> /</a:t>
            </a:r>
            <a:r>
              <a:rPr lang="en-US" altLang="zh-CN" sz="2000" i="1" dirty="0"/>
              <a:t>v</a:t>
            </a:r>
            <a:r>
              <a:rPr lang="en-US" altLang="zh-CN" sz="2000" baseline="-25000" dirty="0"/>
              <a:t>s</a:t>
            </a:r>
            <a:r>
              <a:rPr lang="en-US" altLang="zh-CN" sz="2000" dirty="0"/>
              <a:t>, and use EWB simulation to verify the result.</a:t>
            </a:r>
            <a:endParaRPr lang="zh-CN" altLang="en-US" sz="20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25877"/>
              </p:ext>
            </p:extLst>
          </p:nvPr>
        </p:nvGraphicFramePr>
        <p:xfrm>
          <a:off x="4356846" y="533213"/>
          <a:ext cx="4787154" cy="2922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0" name="Visio" r:id="rId3" imgW="3273801" imgH="2001509" progId="Visio.Drawing.11">
                  <p:embed/>
                </p:oleObj>
              </mc:Choice>
              <mc:Fallback>
                <p:oleObj name="Visio" r:id="rId3" imgW="3273801" imgH="200150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846" y="533213"/>
                        <a:ext cx="4787154" cy="29223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3"/>
          <p:cNvSpPr txBox="1">
            <a:spLocks noChangeArrowheads="1"/>
          </p:cNvSpPr>
          <p:nvPr/>
        </p:nvSpPr>
        <p:spPr bwMode="auto">
          <a:xfrm>
            <a:off x="991258" y="1620590"/>
            <a:ext cx="3040062" cy="9652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none" w="lg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= </a:t>
            </a: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= </a:t>
            </a:r>
            <a:r>
              <a:rPr lang="en-US" altLang="zh-CN" sz="2800" dirty="0"/>
              <a:t>0</a:t>
            </a:r>
            <a:r>
              <a:rPr lang="en-US" altLang="zh-CN" sz="2800" i="1" dirty="0"/>
              <a:t> , </a:t>
            </a:r>
            <a:br>
              <a:rPr lang="en-US" altLang="zh-CN" sz="2800" i="1" dirty="0"/>
            </a:br>
            <a:r>
              <a:rPr lang="en-US" altLang="zh-CN" sz="2800" i="1" dirty="0" err="1"/>
              <a:t>v</a:t>
            </a:r>
            <a:r>
              <a:rPr lang="en-US" altLang="zh-CN" sz="2800" baseline="-25000" dirty="0" err="1"/>
              <a:t>B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 </a:t>
            </a:r>
            <a:r>
              <a:rPr lang="en-US" altLang="zh-CN" sz="2400" b="1" i="1" dirty="0"/>
              <a:t>=</a:t>
            </a:r>
            <a:r>
              <a:rPr lang="en-US" altLang="zh-CN" sz="2800" i="1" dirty="0"/>
              <a:t> </a:t>
            </a:r>
            <a:r>
              <a:rPr lang="en-US" altLang="zh-CN" sz="2800" i="1" dirty="0" err="1"/>
              <a:t>v</a:t>
            </a:r>
            <a:r>
              <a:rPr lang="en-US" altLang="zh-CN" sz="2800" baseline="-25000" dirty="0" err="1"/>
              <a:t>B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 = </a:t>
            </a:r>
            <a:r>
              <a:rPr lang="en-US" altLang="zh-CN" sz="2800" dirty="0"/>
              <a:t>0</a:t>
            </a:r>
            <a:endParaRPr lang="en-US" altLang="zh-CN" sz="2800" baseline="-25000" dirty="0"/>
          </a:p>
        </p:txBody>
      </p:sp>
      <p:sp>
        <p:nvSpPr>
          <p:cNvPr id="6" name="文本框 5"/>
          <p:cNvSpPr txBox="1"/>
          <p:nvPr/>
        </p:nvSpPr>
        <p:spPr>
          <a:xfrm>
            <a:off x="322730" y="1137772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6166" y="2643529"/>
            <a:ext cx="441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nodal equations at B and E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105878"/>
              </p:ext>
            </p:extLst>
          </p:nvPr>
        </p:nvGraphicFramePr>
        <p:xfrm>
          <a:off x="817660" y="3362407"/>
          <a:ext cx="49291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1" name="Equation" r:id="rId5" imgW="2819160" imgH="393480" progId="Equation.DSMT4">
                  <p:embed/>
                </p:oleObj>
              </mc:Choice>
              <mc:Fallback>
                <p:oleObj name="Equation" r:id="rId5" imgW="2819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7660" y="3362407"/>
                        <a:ext cx="4929188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614538"/>
              </p:ext>
            </p:extLst>
          </p:nvPr>
        </p:nvGraphicFramePr>
        <p:xfrm>
          <a:off x="4737100" y="5297488"/>
          <a:ext cx="106521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2" name="Equation" r:id="rId7" imgW="558720" imgH="431640" progId="Equation.DSMT4">
                  <p:embed/>
                </p:oleObj>
              </mc:Choice>
              <mc:Fallback>
                <p:oleObj name="Equation" r:id="rId7" imgW="558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37100" y="5297488"/>
                        <a:ext cx="1065213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172069"/>
              </p:ext>
            </p:extLst>
          </p:nvPr>
        </p:nvGraphicFramePr>
        <p:xfrm>
          <a:off x="844833" y="4149286"/>
          <a:ext cx="29305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" name="Equation" r:id="rId9" imgW="1676160" imgH="393480" progId="Equation.DSMT4">
                  <p:embed/>
                </p:oleObj>
              </mc:Choice>
              <mc:Fallback>
                <p:oleObj name="Equation" r:id="rId9" imgW="1676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4833" y="4149286"/>
                        <a:ext cx="2930525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084745"/>
              </p:ext>
            </p:extLst>
          </p:nvPr>
        </p:nvGraphicFramePr>
        <p:xfrm>
          <a:off x="890260" y="5024658"/>
          <a:ext cx="20208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4" name="Equation" r:id="rId11" imgW="1155600" imgH="228600" progId="Equation.DSMT4">
                  <p:embed/>
                </p:oleObj>
              </mc:Choice>
              <mc:Fallback>
                <p:oleObj name="Equation" r:id="rId11" imgW="1155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0260" y="5024658"/>
                        <a:ext cx="202088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766380"/>
              </p:ext>
            </p:extLst>
          </p:nvPr>
        </p:nvGraphicFramePr>
        <p:xfrm>
          <a:off x="4242034" y="4254941"/>
          <a:ext cx="128746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5" name="Equation" r:id="rId13" imgW="736560" imgH="393480" progId="Equation.DSMT4">
                  <p:embed/>
                </p:oleObj>
              </mc:Choice>
              <mc:Fallback>
                <p:oleObj name="Equation" r:id="rId13" imgW="736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42034" y="4254941"/>
                        <a:ext cx="1287462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161362"/>
              </p:ext>
            </p:extLst>
          </p:nvPr>
        </p:nvGraphicFramePr>
        <p:xfrm>
          <a:off x="6104778" y="3506076"/>
          <a:ext cx="19542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6" name="Equation" r:id="rId15" imgW="1117440" imgH="228600" progId="Equation.DSMT4">
                  <p:embed/>
                </p:oleObj>
              </mc:Choice>
              <mc:Fallback>
                <p:oleObj name="Equation" r:id="rId15" imgW="1117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04778" y="3506076"/>
                        <a:ext cx="1954213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左大括号 13"/>
          <p:cNvSpPr/>
          <p:nvPr/>
        </p:nvSpPr>
        <p:spPr>
          <a:xfrm>
            <a:off x="484093" y="3706101"/>
            <a:ext cx="385482" cy="15185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7" grpId="0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0749" y="103393"/>
            <a:ext cx="7485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400" dirty="0"/>
              <a:t>2.38 For the circuit in figure P2-38</a:t>
            </a:r>
            <a:endParaRPr lang="zh-CN" altLang="zh-CN" sz="2400" dirty="0"/>
          </a:p>
          <a:p>
            <a:pPr lvl="0"/>
            <a:r>
              <a:rPr lang="en-US" altLang="zh-CN" sz="2400" dirty="0"/>
              <a:t>(1) Use nodal analysis to find the voltage gain </a:t>
            </a:r>
            <a:r>
              <a:rPr lang="en-US" altLang="zh-CN" sz="2400" i="1" dirty="0" err="1"/>
              <a:t>v</a:t>
            </a:r>
            <a:r>
              <a:rPr lang="en-US" altLang="zh-CN" sz="2400" baseline="-25000" dirty="0" err="1"/>
              <a:t>o</a:t>
            </a:r>
            <a:r>
              <a:rPr lang="en-US" altLang="zh-CN" sz="2400" dirty="0"/>
              <a:t> /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.</a:t>
            </a:r>
            <a:endParaRPr lang="zh-CN" altLang="zh-CN" sz="2400" dirty="0"/>
          </a:p>
          <a:p>
            <a:pPr lvl="0"/>
            <a:r>
              <a:rPr lang="en-US" altLang="zh-CN" sz="2400" dirty="0"/>
              <a:t>(2) Find the input resistor seen by the voltage source</a:t>
            </a:r>
            <a:r>
              <a:rPr lang="en-US" altLang="zh-CN" sz="2400" i="1" dirty="0"/>
              <a:t> 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.</a:t>
            </a:r>
            <a:endParaRPr lang="zh-CN" altLang="zh-CN" sz="2400" dirty="0"/>
          </a:p>
          <a:p>
            <a:endParaRPr lang="zh-CN" alt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030477"/>
              </p:ext>
            </p:extLst>
          </p:nvPr>
        </p:nvGraphicFramePr>
        <p:xfrm>
          <a:off x="5367338" y="1279525"/>
          <a:ext cx="3905250" cy="227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4" name="Visio" r:id="rId3" imgW="2533722" imgH="1485810" progId="Visio.Drawing.11">
                  <p:embed/>
                </p:oleObj>
              </mc:Choice>
              <mc:Fallback>
                <p:oleObj name="Visio" r:id="rId3" imgW="2533722" imgH="148581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7338" y="1279525"/>
                        <a:ext cx="3905250" cy="2278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48402" y="1850256"/>
            <a:ext cx="49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29718" y="1556508"/>
            <a:ext cx="49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CN" alt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07625" y="2338216"/>
            <a:ext cx="49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zh-CN" alt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153"/>
          <p:cNvSpPr txBox="1">
            <a:spLocks noChangeArrowheads="1"/>
          </p:cNvSpPr>
          <p:nvPr/>
        </p:nvSpPr>
        <p:spPr bwMode="auto">
          <a:xfrm>
            <a:off x="1137489" y="1845118"/>
            <a:ext cx="3040062" cy="52322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none" w="lg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= </a:t>
            </a: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= </a:t>
            </a:r>
            <a:r>
              <a:rPr lang="en-US" altLang="zh-CN" sz="2800" dirty="0"/>
              <a:t>0</a:t>
            </a:r>
            <a:r>
              <a:rPr lang="en-US" altLang="zh-CN" sz="2800" i="1" dirty="0"/>
              <a:t> , v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 </a:t>
            </a:r>
            <a:r>
              <a:rPr lang="en-US" altLang="zh-CN" sz="2400" b="1" i="1" dirty="0"/>
              <a:t>=</a:t>
            </a:r>
            <a:r>
              <a:rPr lang="en-US" altLang="zh-CN" sz="2800" i="1" dirty="0"/>
              <a:t> v</a:t>
            </a:r>
            <a:r>
              <a:rPr lang="en-US" altLang="zh-CN" sz="2800" i="1" baseline="-25000" dirty="0"/>
              <a:t>-</a:t>
            </a:r>
            <a:endParaRPr lang="en-US" altLang="zh-CN" sz="2800" baseline="-25000" dirty="0"/>
          </a:p>
        </p:txBody>
      </p:sp>
      <p:sp>
        <p:nvSpPr>
          <p:cNvPr id="9" name="文本框 8"/>
          <p:cNvSpPr txBox="1"/>
          <p:nvPr/>
        </p:nvSpPr>
        <p:spPr>
          <a:xfrm>
            <a:off x="206189" y="1283962"/>
            <a:ext cx="2382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6166" y="2643529"/>
            <a:ext cx="5129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nodal equations at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 </a:t>
            </a:r>
            <a:r>
              <a:rPr lang="en-US" altLang="zh-CN" sz="2000" b="1" i="1" dirty="0"/>
              <a:t>,</a:t>
            </a:r>
            <a:r>
              <a:rPr lang="en-US" altLang="zh-CN" sz="2400" i="1" dirty="0"/>
              <a:t> v</a:t>
            </a:r>
            <a:r>
              <a:rPr lang="en-US" altLang="zh-CN" sz="2400" baseline="-25000" dirty="0"/>
              <a:t>+</a:t>
            </a:r>
            <a:r>
              <a:rPr lang="en-US" sz="2400" dirty="0"/>
              <a:t> and </a:t>
            </a:r>
            <a:r>
              <a:rPr lang="en-US" altLang="zh-CN" sz="2400" i="1" dirty="0"/>
              <a:t>v</a:t>
            </a:r>
            <a:r>
              <a:rPr lang="en-US" altLang="zh-CN" sz="2400" i="1" baseline="-25000" dirty="0"/>
              <a:t>-</a:t>
            </a:r>
            <a:endParaRPr lang="en-US" sz="2400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961473"/>
              </p:ext>
            </p:extLst>
          </p:nvPr>
        </p:nvGraphicFramePr>
        <p:xfrm>
          <a:off x="549182" y="3273425"/>
          <a:ext cx="38195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5" name="Equation" r:id="rId5" imgW="2184120" imgH="393480" progId="Equation.DSMT4">
                  <p:embed/>
                </p:oleObj>
              </mc:Choice>
              <mc:Fallback>
                <p:oleObj name="Equation" r:id="rId5" imgW="21841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9182" y="3273425"/>
                        <a:ext cx="3819525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680092"/>
              </p:ext>
            </p:extLst>
          </p:nvPr>
        </p:nvGraphicFramePr>
        <p:xfrm>
          <a:off x="7775666" y="4133757"/>
          <a:ext cx="846137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6" name="Equation" r:id="rId7" imgW="444240" imgH="431640" progId="Equation.DSMT4">
                  <p:embed/>
                </p:oleObj>
              </mc:Choice>
              <mc:Fallback>
                <p:oleObj name="Equation" r:id="rId7" imgW="444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75666" y="4133757"/>
                        <a:ext cx="846137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120639"/>
              </p:ext>
            </p:extLst>
          </p:nvPr>
        </p:nvGraphicFramePr>
        <p:xfrm>
          <a:off x="942346" y="4746931"/>
          <a:ext cx="2043112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7" name="Equation" r:id="rId9" imgW="1168200" imgH="393480" progId="Equation.DSMT4">
                  <p:embed/>
                </p:oleObj>
              </mc:Choice>
              <mc:Fallback>
                <p:oleObj name="Equation" r:id="rId9" imgW="1168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2346" y="4746931"/>
                        <a:ext cx="2043112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950905"/>
              </p:ext>
            </p:extLst>
          </p:nvPr>
        </p:nvGraphicFramePr>
        <p:xfrm>
          <a:off x="809789" y="4023735"/>
          <a:ext cx="230822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8" name="Equation" r:id="rId11" imgW="1320480" imgH="393480" progId="Equation.DSMT4">
                  <p:embed/>
                </p:oleObj>
              </mc:Choice>
              <mc:Fallback>
                <p:oleObj name="Equation" r:id="rId11" imgW="1320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9789" y="4023735"/>
                        <a:ext cx="2308225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108767"/>
              </p:ext>
            </p:extLst>
          </p:nvPr>
        </p:nvGraphicFramePr>
        <p:xfrm>
          <a:off x="3701301" y="4746931"/>
          <a:ext cx="12668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9" name="Equation" r:id="rId13" imgW="723600" imgH="393480" progId="Equation.DSMT4">
                  <p:embed/>
                </p:oleObj>
              </mc:Choice>
              <mc:Fallback>
                <p:oleObj name="Equation" r:id="rId13" imgW="723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01301" y="4746931"/>
                        <a:ext cx="1266825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830385"/>
              </p:ext>
            </p:extLst>
          </p:nvPr>
        </p:nvGraphicFramePr>
        <p:xfrm>
          <a:off x="3701301" y="4059543"/>
          <a:ext cx="18669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0" name="Equation" r:id="rId15" imgW="1066680" imgH="393480" progId="Equation.DSMT4">
                  <p:embed/>
                </p:oleObj>
              </mc:Choice>
              <mc:Fallback>
                <p:oleObj name="Equation" r:id="rId15" imgW="1066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01301" y="4059543"/>
                        <a:ext cx="1866900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544802"/>
              </p:ext>
            </p:extLst>
          </p:nvPr>
        </p:nvGraphicFramePr>
        <p:xfrm>
          <a:off x="4356100" y="3435350"/>
          <a:ext cx="25955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1" name="Equation" r:id="rId17" imgW="1485720" imgH="228600" progId="Equation.DSMT4">
                  <p:embed/>
                </p:oleObj>
              </mc:Choice>
              <mc:Fallback>
                <p:oleObj name="Equation" r:id="rId17" imgW="1485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56100" y="3435350"/>
                        <a:ext cx="2595563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左大括号 18"/>
          <p:cNvSpPr/>
          <p:nvPr/>
        </p:nvSpPr>
        <p:spPr>
          <a:xfrm>
            <a:off x="349623" y="3503734"/>
            <a:ext cx="349624" cy="18284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大括号 19"/>
          <p:cNvSpPr/>
          <p:nvPr/>
        </p:nvSpPr>
        <p:spPr>
          <a:xfrm>
            <a:off x="7176247" y="3557588"/>
            <a:ext cx="349624" cy="18167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746376" y="1914117"/>
            <a:ext cx="134471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634317" y="1525050"/>
            <a:ext cx="49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950892"/>
              </p:ext>
            </p:extLst>
          </p:nvPr>
        </p:nvGraphicFramePr>
        <p:xfrm>
          <a:off x="984156" y="5578781"/>
          <a:ext cx="31194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2" name="Equation" r:id="rId19" imgW="1638000" imgH="571320" progId="Equation.DSMT4">
                  <p:embed/>
                </p:oleObj>
              </mc:Choice>
              <mc:Fallback>
                <p:oleObj name="Equation" r:id="rId19" imgW="16380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84156" y="5578781"/>
                        <a:ext cx="3119438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304110"/>
              </p:ext>
            </p:extLst>
          </p:nvPr>
        </p:nvGraphicFramePr>
        <p:xfrm>
          <a:off x="4918075" y="5397500"/>
          <a:ext cx="241776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3" name="Equation" r:id="rId21" imgW="1269720" imgH="761760" progId="Equation.DSMT4">
                  <p:embed/>
                </p:oleObj>
              </mc:Choice>
              <mc:Fallback>
                <p:oleObj name="Equation" r:id="rId21" imgW="126972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18075" y="5397500"/>
                        <a:ext cx="2417763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577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 autoUpdateAnimBg="0"/>
      <p:bldP spid="10" grpId="0"/>
      <p:bldP spid="19" grpId="0" animBg="1"/>
      <p:bldP spid="20" grpId="0" animBg="1"/>
      <p:bldP spid="2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3038</TotalTime>
  <Words>888</Words>
  <Application>Microsoft Office PowerPoint</Application>
  <PresentationFormat>全屏显示(4:3)</PresentationFormat>
  <Paragraphs>101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GillSans-Bold</vt:lpstr>
      <vt:lpstr>等线</vt:lpstr>
      <vt:lpstr>等线 Light</vt:lpstr>
      <vt:lpstr>宋体</vt:lpstr>
      <vt:lpstr>Arial</vt:lpstr>
      <vt:lpstr>Calibri</vt:lpstr>
      <vt:lpstr>Calibri Light</vt:lpstr>
      <vt:lpstr>Symbol</vt:lpstr>
      <vt:lpstr>Times New Roman</vt:lpstr>
      <vt:lpstr>Office 主题​​</vt:lpstr>
      <vt:lpstr>Visio</vt:lpstr>
      <vt:lpstr>Equation</vt:lpstr>
      <vt:lpstr>Solutions to Chapter 2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Solutions to Chapter 2</dc:title>
  <dc:creator>Windows 用户</dc:creator>
  <cp:lastModifiedBy>Administrator</cp:lastModifiedBy>
  <cp:revision>47</cp:revision>
  <dcterms:created xsi:type="dcterms:W3CDTF">2019-04-10T03:30:10Z</dcterms:created>
  <dcterms:modified xsi:type="dcterms:W3CDTF">2022-06-09T02:15:15Z</dcterms:modified>
</cp:coreProperties>
</file>