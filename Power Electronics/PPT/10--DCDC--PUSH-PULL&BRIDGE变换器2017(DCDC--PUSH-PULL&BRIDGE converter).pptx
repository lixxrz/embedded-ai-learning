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vsd" ContentType="application/vnd.visio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450" r:id="rId3"/>
    <p:sldId id="451" r:id="rId4"/>
    <p:sldId id="452" r:id="rId5"/>
    <p:sldId id="453" r:id="rId6"/>
    <p:sldId id="454" r:id="rId7"/>
    <p:sldId id="455" r:id="rId8"/>
    <p:sldId id="456" r:id="rId9"/>
    <p:sldId id="457" r:id="rId10"/>
    <p:sldId id="458" r:id="rId11"/>
    <p:sldId id="415" r:id="rId12"/>
    <p:sldId id="416" r:id="rId13"/>
    <p:sldId id="417" r:id="rId14"/>
    <p:sldId id="418" r:id="rId15"/>
    <p:sldId id="419" r:id="rId16"/>
    <p:sldId id="420" r:id="rId17"/>
    <p:sldId id="421" r:id="rId18"/>
    <p:sldId id="459" r:id="rId19"/>
    <p:sldId id="422" r:id="rId20"/>
    <p:sldId id="423" r:id="rId21"/>
    <p:sldId id="424" r:id="rId22"/>
    <p:sldId id="425" r:id="rId23"/>
    <p:sldId id="426" r:id="rId24"/>
    <p:sldId id="427" r:id="rId25"/>
    <p:sldId id="428" r:id="rId26"/>
    <p:sldId id="429" r:id="rId27"/>
    <p:sldId id="430" r:id="rId28"/>
    <p:sldId id="431" r:id="rId29"/>
    <p:sldId id="442" r:id="rId30"/>
    <p:sldId id="443" r:id="rId31"/>
    <p:sldId id="444" r:id="rId32"/>
    <p:sldId id="445" r:id="rId33"/>
    <p:sldId id="446" r:id="rId34"/>
    <p:sldId id="448" r:id="rId35"/>
    <p:sldId id="449" r:id="rId3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57" autoAdjust="0"/>
    <p:restoredTop sz="94660"/>
  </p:normalViewPr>
  <p:slideViewPr>
    <p:cSldViewPr>
      <p:cViewPr>
        <p:scale>
          <a:sx n="70" d="100"/>
          <a:sy n="70" d="100"/>
        </p:scale>
        <p:origin x="17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>
                <a:latin typeface="Arial" pitchFamily="34" charset="0"/>
              </a:defRPr>
            </a:lvl1pPr>
          </a:lstStyle>
          <a:p>
            <a:pPr>
              <a:defRPr/>
            </a:pPr>
            <a:fld id="{5D1E94E0-D658-4FF9-BF4E-1AE5F42A3E84}" type="datetimeFigureOut">
              <a:rPr lang="zh-CN" altLang="en-US"/>
              <a:pPr>
                <a:defRPr/>
              </a:pPr>
              <a:t>2021/4/9</a:t>
            </a:fld>
            <a:endParaRPr lang="en-US" altLang="zh-CN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42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2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>
                <a:latin typeface="Arial" pitchFamily="34" charset="0"/>
              </a:defRPr>
            </a:lvl1pPr>
          </a:lstStyle>
          <a:p>
            <a:pPr>
              <a:defRPr/>
            </a:pPr>
            <a:fld id="{9B5874C8-2745-4715-8D2E-169168947B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08259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C628140-0907-4361-B993-EB1F0AC4FDFD}" type="datetime1">
              <a:rPr lang="zh-CN" altLang="en-US"/>
              <a:pPr>
                <a:defRPr/>
              </a:pPr>
              <a:t>2021/4/9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60D7E0-BD1C-43D4-8099-8729B1F6DC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68AA1A2-7981-42BC-8671-F89AB4D8273E}" type="datetime1">
              <a:rPr lang="zh-CN" altLang="en-US"/>
              <a:pPr>
                <a:defRPr/>
              </a:pPr>
              <a:t>2021/4/9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288061-5F67-4BC1-9162-6A82CC8F35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64119A9-864F-438D-B055-056A53C22EA1}" type="datetime1">
              <a:rPr lang="zh-CN" altLang="en-US"/>
              <a:pPr>
                <a:defRPr/>
              </a:pPr>
              <a:t>2021/4/9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BE8391-FE46-4873-BDDC-2ADBA6551F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9A2D4CC-62C8-4443-A440-26A85ADC877D}" type="datetime1">
              <a:rPr lang="zh-CN" altLang="en-US"/>
              <a:pPr>
                <a:defRPr/>
              </a:pPr>
              <a:t>2021/4/9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F2CC22-DDCE-4826-947A-C636E99F35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AAC4258-7A5F-4F20-BEFE-419FDDC1FDC7}" type="datetime1">
              <a:rPr lang="zh-CN" altLang="en-US"/>
              <a:pPr>
                <a:defRPr/>
              </a:pPr>
              <a:t>2021/4/9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405C20-9606-46D9-B3F7-7A8211544F0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60A92A1-091F-4828-8B09-E9F3DA8526AD}" type="datetime1">
              <a:rPr lang="zh-CN" altLang="en-US"/>
              <a:pPr>
                <a:defRPr/>
              </a:pPr>
              <a:t>2021/4/9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DE154-8C02-4434-8201-F43F64B4BA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82F50BE-F203-44E5-A950-288D1F889492}" type="datetime1">
              <a:rPr lang="zh-CN" altLang="en-US"/>
              <a:pPr>
                <a:defRPr/>
              </a:pPr>
              <a:t>2021/4/9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8737D1-FB46-43EF-BF3D-B56959EC2D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52AA85C-D100-458E-9EBD-611B3719CC4A}" type="datetime1">
              <a:rPr lang="zh-CN" altLang="en-US"/>
              <a:pPr>
                <a:defRPr/>
              </a:pPr>
              <a:t>2021/4/9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1BDC7C-354C-4B4B-9E59-B84F42B84D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F628775-1CBE-4C40-8A5E-D1CA47281DA4}" type="datetime1">
              <a:rPr lang="zh-CN" altLang="en-US"/>
              <a:pPr>
                <a:defRPr/>
              </a:pPr>
              <a:t>2021/4/9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8254E4-0A9C-4D09-975A-5651B03C211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6998636-2A3D-4561-A9BA-4CA28B904FC4}" type="datetime1">
              <a:rPr lang="zh-CN" altLang="en-US"/>
              <a:pPr>
                <a:defRPr/>
              </a:pPr>
              <a:t>2021/4/9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674302-B99B-4E4F-9DCA-79683F8A1E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BE9BFEA-9A4A-4B53-BA8E-548BD601618B}" type="datetime1">
              <a:rPr lang="zh-CN" altLang="en-US"/>
              <a:pPr>
                <a:defRPr/>
              </a:pPr>
              <a:t>2021/4/9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869D78-5839-4C93-823D-89C3B77769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pitchFamily="34" charset="0"/>
              </a:defRPr>
            </a:lvl1pPr>
          </a:lstStyle>
          <a:p>
            <a:pPr>
              <a:defRPr/>
            </a:pPr>
            <a:fld id="{DDE9E614-CCAC-4C52-9192-5C8EFE101FCA}" type="datetime1">
              <a:rPr lang="zh-CN" altLang="en-US"/>
              <a:pPr>
                <a:defRPr/>
              </a:pPr>
              <a:t>2021/4/9</a:t>
            </a:fld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</a:defRPr>
            </a:lvl1pPr>
          </a:lstStyle>
          <a:p>
            <a:pPr>
              <a:defRPr/>
            </a:pPr>
            <a:fld id="{9FCBBAC6-EF2C-4CBF-AB65-FBD1224684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ransition>
    <p:wip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6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9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5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6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7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8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0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Visio_2003-2010___1.vsd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4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25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26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7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29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30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33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59F36AC-81A7-4C53-B4F8-EC5E725A85BD}" type="slidenum">
              <a:rPr lang="en-US" altLang="zh-CN" smtClean="0"/>
              <a:pPr/>
              <a:t>1</a:t>
            </a:fld>
            <a:endParaRPr lang="en-US" altLang="zh-CN" smtClean="0"/>
          </a:p>
        </p:txBody>
      </p:sp>
      <p:sp>
        <p:nvSpPr>
          <p:cNvPr id="29699" name="Rectangle 16"/>
          <p:cNvSpPr>
            <a:spLocks noChangeArrowheads="1"/>
          </p:cNvSpPr>
          <p:nvPr/>
        </p:nvSpPr>
        <p:spPr bwMode="auto">
          <a:xfrm>
            <a:off x="827088" y="981075"/>
            <a:ext cx="7920037" cy="1074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10000"/>
              </a:lnSpc>
              <a:spcBef>
                <a:spcPct val="10000"/>
              </a:spcBef>
            </a:pPr>
            <a:r>
              <a:rPr lang="en-US" altLang="zh-CN" sz="2800" b="1">
                <a:solidFill>
                  <a:srgbClr val="A50021"/>
                </a:solidFill>
              </a:rPr>
              <a:t>Chapter 10</a:t>
            </a:r>
            <a:r>
              <a:rPr lang="zh-CN" altLang="en-US" sz="2800" b="1">
                <a:solidFill>
                  <a:srgbClr val="A50021"/>
                </a:solidFill>
              </a:rPr>
              <a:t>：</a:t>
            </a:r>
            <a:r>
              <a:rPr lang="en-US" altLang="zh-CN" sz="2800" b="1">
                <a:solidFill>
                  <a:srgbClr val="A50021"/>
                </a:solidFill>
              </a:rPr>
              <a:t>Switching DC Power Supplies</a:t>
            </a:r>
          </a:p>
          <a:p>
            <a:pPr algn="ctr">
              <a:lnSpc>
                <a:spcPct val="110000"/>
              </a:lnSpc>
              <a:spcBef>
                <a:spcPct val="10000"/>
              </a:spcBef>
            </a:pPr>
            <a:r>
              <a:rPr lang="zh-CN" altLang="en-US" sz="2800" b="1">
                <a:solidFill>
                  <a:srgbClr val="A50021"/>
                </a:solidFill>
              </a:rPr>
              <a:t>（开关电源）</a:t>
            </a:r>
          </a:p>
        </p:txBody>
      </p:sp>
      <p:sp>
        <p:nvSpPr>
          <p:cNvPr id="29700" name="Rectangle 11"/>
          <p:cNvSpPr>
            <a:spLocks noChangeArrowheads="1"/>
          </p:cNvSpPr>
          <p:nvPr/>
        </p:nvSpPr>
        <p:spPr bwMode="auto">
          <a:xfrm>
            <a:off x="1000125" y="2428875"/>
            <a:ext cx="47355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A50021"/>
                </a:solidFill>
              </a:rPr>
              <a:t>10-4-4 </a:t>
            </a:r>
            <a:r>
              <a:rPr lang="en-US" altLang="zh-CN" sz="2800" b="1" i="1" u="sng">
                <a:solidFill>
                  <a:srgbClr val="A50021"/>
                </a:solidFill>
              </a:rPr>
              <a:t>Push-Pull Converter</a:t>
            </a:r>
          </a:p>
        </p:txBody>
      </p:sp>
      <p:sp>
        <p:nvSpPr>
          <p:cNvPr id="29701" name="Rectangle 11"/>
          <p:cNvSpPr>
            <a:spLocks noChangeArrowheads="1"/>
          </p:cNvSpPr>
          <p:nvPr/>
        </p:nvSpPr>
        <p:spPr bwMode="auto">
          <a:xfrm>
            <a:off x="1000125" y="3286125"/>
            <a:ext cx="50149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A50021"/>
                </a:solidFill>
              </a:rPr>
              <a:t>10-4-5 </a:t>
            </a:r>
            <a:r>
              <a:rPr lang="en-US" altLang="zh-CN" sz="2800" b="1" i="1" u="sng">
                <a:solidFill>
                  <a:srgbClr val="A50021"/>
                </a:solidFill>
              </a:rPr>
              <a:t>Half-Bridge</a:t>
            </a:r>
            <a:r>
              <a:rPr lang="en-US" altLang="zh-CN" sz="2800" b="1">
                <a:solidFill>
                  <a:srgbClr val="A50021"/>
                </a:solidFill>
              </a:rPr>
              <a:t> Converter</a:t>
            </a:r>
          </a:p>
        </p:txBody>
      </p:sp>
      <p:sp>
        <p:nvSpPr>
          <p:cNvPr id="29702" name="Rectangle 11"/>
          <p:cNvSpPr>
            <a:spLocks noChangeArrowheads="1"/>
          </p:cNvSpPr>
          <p:nvPr/>
        </p:nvSpPr>
        <p:spPr bwMode="auto">
          <a:xfrm>
            <a:off x="1000125" y="4143375"/>
            <a:ext cx="4973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A50021"/>
                </a:solidFill>
              </a:rPr>
              <a:t>10-4-6 Full-Bridge Converter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Text Box 4"/>
          <p:cNvSpPr txBox="1">
            <a:spLocks noChangeArrowheads="1"/>
          </p:cNvSpPr>
          <p:nvPr/>
        </p:nvSpPr>
        <p:spPr bwMode="auto">
          <a:xfrm>
            <a:off x="306957" y="1796609"/>
            <a:ext cx="862464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25000"/>
              </a:lnSpc>
              <a:buFont typeface="Wingdings" pitchFamily="2" charset="2"/>
              <a:buChar char="ü"/>
            </a:pPr>
            <a:r>
              <a:rPr lang="en-US" altLang="zh-CN" sz="2400" dirty="0"/>
              <a:t> On the primary side, a push-pull inverter is used to produce a </a:t>
            </a:r>
            <a:r>
              <a:rPr lang="en-US" altLang="zh-CN" sz="2400" b="1" u="sng" dirty="0">
                <a:solidFill>
                  <a:srgbClr val="A50021"/>
                </a:solidFill>
              </a:rPr>
              <a:t>square-wave ac voltage</a:t>
            </a:r>
            <a:r>
              <a:rPr lang="en-US" altLang="zh-CN" sz="2400" b="1" u="sng" dirty="0"/>
              <a:t> </a:t>
            </a:r>
            <a:r>
              <a:rPr lang="en-US" altLang="zh-CN" sz="2400" dirty="0"/>
              <a:t>at the input of the high-frequency transformer.</a:t>
            </a:r>
          </a:p>
        </p:txBody>
      </p:sp>
      <p:sp>
        <p:nvSpPr>
          <p:cNvPr id="93188" name="Text Box 5"/>
          <p:cNvSpPr txBox="1">
            <a:spLocks noChangeArrowheads="1"/>
          </p:cNvSpPr>
          <p:nvPr/>
        </p:nvSpPr>
        <p:spPr bwMode="auto">
          <a:xfrm>
            <a:off x="0" y="1214438"/>
            <a:ext cx="33845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</a:rPr>
              <a:t>1 converter circuit</a:t>
            </a:r>
          </a:p>
        </p:txBody>
      </p:sp>
      <p:graphicFrame>
        <p:nvGraphicFramePr>
          <p:cNvPr id="77827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690688"/>
              </p:ext>
            </p:extLst>
          </p:nvPr>
        </p:nvGraphicFramePr>
        <p:xfrm>
          <a:off x="202059" y="3376438"/>
          <a:ext cx="8834437" cy="343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44" name="Visio" r:id="rId3" imgW="11574780" imgH="4928870" progId="Visio.Drawing.11">
                  <p:embed/>
                </p:oleObj>
              </mc:Choice>
              <mc:Fallback>
                <p:oleObj name="Visio" r:id="rId3" imgW="11574780" imgH="4928870" progId="Visio.Drawing.11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59" y="3376438"/>
                        <a:ext cx="8834437" cy="3436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3923928" y="260648"/>
            <a:ext cx="47355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A50021"/>
                </a:solidFill>
              </a:rPr>
              <a:t>10-4-4 </a:t>
            </a:r>
            <a:r>
              <a:rPr lang="en-US" altLang="zh-CN" sz="2800" b="1" i="1" u="sng" dirty="0">
                <a:solidFill>
                  <a:srgbClr val="A50021"/>
                </a:solidFill>
              </a:rPr>
              <a:t>Push-Pull Converter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ext Box 243"/>
          <p:cNvSpPr txBox="1">
            <a:spLocks noChangeArrowheads="1"/>
          </p:cNvSpPr>
          <p:nvPr/>
        </p:nvSpPr>
        <p:spPr bwMode="auto">
          <a:xfrm>
            <a:off x="0" y="980728"/>
            <a:ext cx="9144000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buFont typeface="Wingdings" pitchFamily="2" charset="2"/>
              <a:buChar char="ü"/>
            </a:pPr>
            <a:r>
              <a:rPr lang="en-US" altLang="zh-CN" sz="2400" dirty="0"/>
              <a:t> On the secondary side, a </a:t>
            </a:r>
            <a:r>
              <a:rPr lang="en-US" altLang="zh-CN" sz="2400" b="1" u="sng" dirty="0">
                <a:solidFill>
                  <a:srgbClr val="A50021"/>
                </a:solidFill>
              </a:rPr>
              <a:t>full-wave rectifier</a:t>
            </a:r>
            <a:r>
              <a:rPr lang="en-US" altLang="zh-CN" sz="2400" b="1" dirty="0"/>
              <a:t> </a:t>
            </a:r>
            <a:r>
              <a:rPr lang="en-US" altLang="zh-CN" sz="2400" dirty="0"/>
              <a:t>is used to rectify the high-frequency ac voltage into dc voltage.</a:t>
            </a:r>
          </a:p>
          <a:p>
            <a:pPr eaLnBrk="1" hangingPunct="1">
              <a:lnSpc>
                <a:spcPct val="125000"/>
              </a:lnSpc>
              <a:buFont typeface="Wingdings" pitchFamily="2" charset="2"/>
              <a:buChar char="ü"/>
            </a:pPr>
            <a:r>
              <a:rPr lang="en-US" altLang="zh-CN" sz="2400" dirty="0"/>
              <a:t> The switches Q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and Q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are turned on alternatively, each for an interval t</a:t>
            </a:r>
            <a:r>
              <a:rPr lang="en-US" altLang="zh-CN" sz="2400" baseline="-25000" dirty="0"/>
              <a:t>on</a:t>
            </a:r>
            <a:r>
              <a:rPr lang="en-US" altLang="zh-CN" sz="2400" dirty="0"/>
              <a:t>.  thus the transformer be provided by a bidirectional excitation. </a:t>
            </a:r>
          </a:p>
        </p:txBody>
      </p:sp>
      <p:graphicFrame>
        <p:nvGraphicFramePr>
          <p:cNvPr id="94211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112200"/>
              </p:ext>
            </p:extLst>
          </p:nvPr>
        </p:nvGraphicFramePr>
        <p:xfrm>
          <a:off x="202059" y="3376438"/>
          <a:ext cx="8834437" cy="343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68" name="Visio" r:id="rId3" imgW="11574780" imgH="4928870" progId="Visio.Drawing.11">
                  <p:embed/>
                </p:oleObj>
              </mc:Choice>
              <mc:Fallback>
                <p:oleObj name="Visio" r:id="rId3" imgW="11574780" imgH="4928870" progId="Visio.Drawing.11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59" y="3376438"/>
                        <a:ext cx="8834437" cy="3436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ext Box 382"/>
          <p:cNvSpPr txBox="1">
            <a:spLocks noChangeArrowheads="1"/>
          </p:cNvSpPr>
          <p:nvPr/>
        </p:nvSpPr>
        <p:spPr bwMode="auto">
          <a:xfrm>
            <a:off x="0" y="1143000"/>
            <a:ext cx="40322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</a:rPr>
              <a:t>2 Operation principle</a:t>
            </a:r>
          </a:p>
        </p:txBody>
      </p:sp>
      <p:sp>
        <p:nvSpPr>
          <p:cNvPr id="95235" name="Text Box 383"/>
          <p:cNvSpPr txBox="1">
            <a:spLocks noChangeArrowheads="1"/>
          </p:cNvSpPr>
          <p:nvPr/>
        </p:nvSpPr>
        <p:spPr bwMode="auto">
          <a:xfrm>
            <a:off x="35371" y="1714500"/>
            <a:ext cx="4392613" cy="189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A50021"/>
                </a:solidFill>
              </a:rPr>
              <a:t>(1)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A50021"/>
                </a:solidFill>
              </a:rPr>
              <a:t>When 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1</a:t>
            </a:r>
            <a:r>
              <a:rPr lang="en-US" altLang="zh-CN" sz="2400" dirty="0">
                <a:solidFill>
                  <a:srgbClr val="A50021"/>
                </a:solidFill>
              </a:rPr>
              <a:t> is on and 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2</a:t>
            </a:r>
            <a:r>
              <a:rPr lang="en-US" altLang="zh-CN" sz="2400" dirty="0">
                <a:solidFill>
                  <a:srgbClr val="A50021"/>
                </a:solidFill>
              </a:rPr>
              <a:t> is off (0&lt;t&lt;t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on</a:t>
            </a:r>
            <a:r>
              <a:rPr lang="en-US" altLang="zh-CN" sz="2400" dirty="0">
                <a:solidFill>
                  <a:srgbClr val="A50021"/>
                </a:solidFill>
              </a:rPr>
              <a:t>)</a:t>
            </a:r>
            <a:r>
              <a:rPr lang="en-US" altLang="zh-CN" sz="2400" dirty="0"/>
              <a:t>:  D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conducts and D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gets reverse biased. </a:t>
            </a:r>
            <a:r>
              <a:rPr lang="en-US" altLang="zh-CN" sz="2400" dirty="0" err="1">
                <a:solidFill>
                  <a:srgbClr val="A50021"/>
                </a:solidFill>
              </a:rPr>
              <a:t>i</a:t>
            </a:r>
            <a:r>
              <a:rPr lang="en-US" altLang="zh-CN" sz="2400" baseline="-25000" dirty="0" err="1">
                <a:solidFill>
                  <a:srgbClr val="A50021"/>
                </a:solidFill>
              </a:rPr>
              <a:t>L</a:t>
            </a:r>
            <a:r>
              <a:rPr lang="en-US" altLang="zh-CN" sz="2400" dirty="0">
                <a:solidFill>
                  <a:srgbClr val="A50021"/>
                </a:solidFill>
              </a:rPr>
              <a:t> through D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1</a:t>
            </a:r>
            <a:r>
              <a:rPr lang="en-US" altLang="zh-CN" sz="2400" dirty="0">
                <a:solidFill>
                  <a:srgbClr val="A50021"/>
                </a:solidFill>
              </a:rPr>
              <a:t> increase linearly</a:t>
            </a:r>
            <a:r>
              <a:rPr lang="en-US" altLang="zh-CN" sz="2400" dirty="0"/>
              <a:t>.</a:t>
            </a:r>
          </a:p>
        </p:txBody>
      </p:sp>
      <p:grpSp>
        <p:nvGrpSpPr>
          <p:cNvPr id="2" name="Group 386"/>
          <p:cNvGrpSpPr>
            <a:grpSpLocks/>
          </p:cNvGrpSpPr>
          <p:nvPr/>
        </p:nvGrpSpPr>
        <p:grpSpPr bwMode="auto">
          <a:xfrm>
            <a:off x="4418013" y="1000125"/>
            <a:ext cx="4583112" cy="5857875"/>
            <a:chOff x="3243" y="845"/>
            <a:chExt cx="2344" cy="3317"/>
          </a:xfrm>
        </p:grpSpPr>
        <p:sp>
          <p:nvSpPr>
            <p:cNvPr id="95238" name="Freeform 194"/>
            <p:cNvSpPr>
              <a:spLocks/>
            </p:cNvSpPr>
            <p:nvPr/>
          </p:nvSpPr>
          <p:spPr bwMode="auto">
            <a:xfrm>
              <a:off x="3374" y="2319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39" name="Freeform 195"/>
            <p:cNvSpPr>
              <a:spLocks/>
            </p:cNvSpPr>
            <p:nvPr/>
          </p:nvSpPr>
          <p:spPr bwMode="auto">
            <a:xfrm>
              <a:off x="3374" y="2319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0" name="Line 196"/>
            <p:cNvSpPr>
              <a:spLocks noChangeShapeType="1"/>
            </p:cNvSpPr>
            <p:nvPr/>
          </p:nvSpPr>
          <p:spPr bwMode="auto">
            <a:xfrm>
              <a:off x="3382" y="2378"/>
              <a:ext cx="1" cy="7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1" name="Freeform 197"/>
            <p:cNvSpPr>
              <a:spLocks/>
            </p:cNvSpPr>
            <p:nvPr/>
          </p:nvSpPr>
          <p:spPr bwMode="auto">
            <a:xfrm>
              <a:off x="5461" y="2901"/>
              <a:ext cx="54" cy="17"/>
            </a:xfrm>
            <a:custGeom>
              <a:avLst/>
              <a:gdLst>
                <a:gd name="T0" fmla="*/ 2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2" name="Freeform 198"/>
            <p:cNvSpPr>
              <a:spLocks/>
            </p:cNvSpPr>
            <p:nvPr/>
          </p:nvSpPr>
          <p:spPr bwMode="auto">
            <a:xfrm>
              <a:off x="5461" y="2901"/>
              <a:ext cx="54" cy="17"/>
            </a:xfrm>
            <a:custGeom>
              <a:avLst/>
              <a:gdLst>
                <a:gd name="T0" fmla="*/ 2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3" name="Line 199"/>
            <p:cNvSpPr>
              <a:spLocks noChangeShapeType="1"/>
            </p:cNvSpPr>
            <p:nvPr/>
          </p:nvSpPr>
          <p:spPr bwMode="auto">
            <a:xfrm flipH="1">
              <a:off x="3382" y="2910"/>
              <a:ext cx="207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4" name="Line 200"/>
            <p:cNvSpPr>
              <a:spLocks noChangeShapeType="1"/>
            </p:cNvSpPr>
            <p:nvPr/>
          </p:nvSpPr>
          <p:spPr bwMode="auto">
            <a:xfrm>
              <a:off x="3382" y="2430"/>
              <a:ext cx="32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5" name="Freeform 201"/>
            <p:cNvSpPr>
              <a:spLocks/>
            </p:cNvSpPr>
            <p:nvPr/>
          </p:nvSpPr>
          <p:spPr bwMode="auto">
            <a:xfrm>
              <a:off x="5458" y="3952"/>
              <a:ext cx="54" cy="17"/>
            </a:xfrm>
            <a:custGeom>
              <a:avLst/>
              <a:gdLst>
                <a:gd name="T0" fmla="*/ 2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6" name="Freeform 202"/>
            <p:cNvSpPr>
              <a:spLocks/>
            </p:cNvSpPr>
            <p:nvPr/>
          </p:nvSpPr>
          <p:spPr bwMode="auto">
            <a:xfrm>
              <a:off x="5458" y="3952"/>
              <a:ext cx="54" cy="17"/>
            </a:xfrm>
            <a:custGeom>
              <a:avLst/>
              <a:gdLst>
                <a:gd name="T0" fmla="*/ 2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7" name="Line 203"/>
            <p:cNvSpPr>
              <a:spLocks noChangeShapeType="1"/>
            </p:cNvSpPr>
            <p:nvPr/>
          </p:nvSpPr>
          <p:spPr bwMode="auto">
            <a:xfrm flipH="1">
              <a:off x="3379" y="3961"/>
              <a:ext cx="207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8" name="Rectangle 204"/>
            <p:cNvSpPr>
              <a:spLocks noChangeArrowheads="1"/>
            </p:cNvSpPr>
            <p:nvPr/>
          </p:nvSpPr>
          <p:spPr bwMode="auto">
            <a:xfrm>
              <a:off x="3379" y="2192"/>
              <a:ext cx="152" cy="21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</a:rPr>
                <a:t>oi</a:t>
              </a:r>
            </a:p>
          </p:txBody>
        </p:sp>
        <p:sp>
          <p:nvSpPr>
            <p:cNvPr id="95249" name="Rectangle 205"/>
            <p:cNvSpPr>
              <a:spLocks noChangeArrowheads="1"/>
            </p:cNvSpPr>
            <p:nvPr/>
          </p:nvSpPr>
          <p:spPr bwMode="auto">
            <a:xfrm>
              <a:off x="3313" y="2841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95250" name="Rectangle 206"/>
            <p:cNvSpPr>
              <a:spLocks noChangeArrowheads="1"/>
            </p:cNvSpPr>
            <p:nvPr/>
          </p:nvSpPr>
          <p:spPr bwMode="auto">
            <a:xfrm>
              <a:off x="3312" y="3890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95251" name="Rectangle 207"/>
            <p:cNvSpPr>
              <a:spLocks noChangeArrowheads="1"/>
            </p:cNvSpPr>
            <p:nvPr/>
          </p:nvSpPr>
          <p:spPr bwMode="auto">
            <a:xfrm>
              <a:off x="5547" y="2838"/>
              <a:ext cx="40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95252" name="Rectangle 208"/>
            <p:cNvSpPr>
              <a:spLocks noChangeArrowheads="1"/>
            </p:cNvSpPr>
            <p:nvPr/>
          </p:nvSpPr>
          <p:spPr bwMode="auto">
            <a:xfrm>
              <a:off x="5544" y="3871"/>
              <a:ext cx="40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95253" name="Line 209"/>
            <p:cNvSpPr>
              <a:spLocks noChangeShapeType="1"/>
            </p:cNvSpPr>
            <p:nvPr/>
          </p:nvSpPr>
          <p:spPr bwMode="auto">
            <a:xfrm>
              <a:off x="4235" y="2430"/>
              <a:ext cx="32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4" name="Line 210"/>
            <p:cNvSpPr>
              <a:spLocks noChangeShapeType="1"/>
            </p:cNvSpPr>
            <p:nvPr/>
          </p:nvSpPr>
          <p:spPr bwMode="auto">
            <a:xfrm>
              <a:off x="4555" y="2909"/>
              <a:ext cx="53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5" name="Line 211"/>
            <p:cNvSpPr>
              <a:spLocks noChangeShapeType="1"/>
            </p:cNvSpPr>
            <p:nvPr/>
          </p:nvSpPr>
          <p:spPr bwMode="auto">
            <a:xfrm>
              <a:off x="4555" y="2430"/>
              <a:ext cx="1" cy="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6" name="Line 212"/>
            <p:cNvSpPr>
              <a:spLocks noChangeShapeType="1"/>
            </p:cNvSpPr>
            <p:nvPr/>
          </p:nvSpPr>
          <p:spPr bwMode="auto">
            <a:xfrm>
              <a:off x="5089" y="2430"/>
              <a:ext cx="31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7" name="Line 213"/>
            <p:cNvSpPr>
              <a:spLocks noChangeShapeType="1"/>
            </p:cNvSpPr>
            <p:nvPr/>
          </p:nvSpPr>
          <p:spPr bwMode="auto">
            <a:xfrm>
              <a:off x="5089" y="2430"/>
              <a:ext cx="1" cy="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8" name="Line 214"/>
            <p:cNvSpPr>
              <a:spLocks noChangeShapeType="1"/>
            </p:cNvSpPr>
            <p:nvPr/>
          </p:nvSpPr>
          <p:spPr bwMode="auto">
            <a:xfrm>
              <a:off x="3567" y="2720"/>
              <a:ext cx="5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9" name="Rectangle 215"/>
            <p:cNvSpPr>
              <a:spLocks noChangeArrowheads="1"/>
            </p:cNvSpPr>
            <p:nvPr/>
          </p:nvSpPr>
          <p:spPr bwMode="auto">
            <a:xfrm>
              <a:off x="3550" y="2607"/>
              <a:ext cx="6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95260" name="Rectangle 216"/>
            <p:cNvSpPr>
              <a:spLocks noChangeArrowheads="1"/>
            </p:cNvSpPr>
            <p:nvPr/>
          </p:nvSpPr>
          <p:spPr bwMode="auto">
            <a:xfrm>
              <a:off x="3607" y="2650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 dirty="0"/>
            </a:p>
          </p:txBody>
        </p:sp>
        <p:sp>
          <p:nvSpPr>
            <p:cNvPr id="95261" name="Rectangle 217"/>
            <p:cNvSpPr>
              <a:spLocks noChangeArrowheads="1"/>
            </p:cNvSpPr>
            <p:nvPr/>
          </p:nvSpPr>
          <p:spPr bwMode="auto">
            <a:xfrm>
              <a:off x="3540" y="2715"/>
              <a:ext cx="6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95262" name="Rectangle 218"/>
            <p:cNvSpPr>
              <a:spLocks noChangeArrowheads="1"/>
            </p:cNvSpPr>
            <p:nvPr/>
          </p:nvSpPr>
          <p:spPr bwMode="auto">
            <a:xfrm>
              <a:off x="3604" y="2746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 i="1" dirty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 dirty="0"/>
            </a:p>
          </p:txBody>
        </p:sp>
        <p:sp>
          <p:nvSpPr>
            <p:cNvPr id="95263" name="Rectangle 219"/>
            <p:cNvSpPr>
              <a:spLocks noChangeArrowheads="1"/>
            </p:cNvSpPr>
            <p:nvPr/>
          </p:nvSpPr>
          <p:spPr bwMode="auto">
            <a:xfrm>
              <a:off x="3659" y="2715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95264" name="Rectangle 220"/>
            <p:cNvSpPr>
              <a:spLocks noChangeArrowheads="1"/>
            </p:cNvSpPr>
            <p:nvPr/>
          </p:nvSpPr>
          <p:spPr bwMode="auto">
            <a:xfrm>
              <a:off x="3621" y="2654"/>
              <a:ext cx="75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U</a:t>
              </a:r>
              <a:endParaRPr lang="en-US" altLang="zh-CN"/>
            </a:p>
          </p:txBody>
        </p:sp>
        <p:sp>
          <p:nvSpPr>
            <p:cNvPr id="95265" name="Line 221"/>
            <p:cNvSpPr>
              <a:spLocks noChangeShapeType="1"/>
            </p:cNvSpPr>
            <p:nvPr/>
          </p:nvSpPr>
          <p:spPr bwMode="auto">
            <a:xfrm>
              <a:off x="3542" y="2487"/>
              <a:ext cx="1" cy="3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66" name="Freeform 222"/>
            <p:cNvSpPr>
              <a:spLocks/>
            </p:cNvSpPr>
            <p:nvPr/>
          </p:nvSpPr>
          <p:spPr bwMode="auto">
            <a:xfrm>
              <a:off x="3507" y="2430"/>
              <a:ext cx="70" cy="75"/>
            </a:xfrm>
            <a:custGeom>
              <a:avLst/>
              <a:gdLst>
                <a:gd name="T0" fmla="*/ 2 w 140"/>
                <a:gd name="T1" fmla="*/ 0 h 75"/>
                <a:gd name="T2" fmla="*/ 3 w 140"/>
                <a:gd name="T3" fmla="*/ 75 h 75"/>
                <a:gd name="T4" fmla="*/ 3 w 140"/>
                <a:gd name="T5" fmla="*/ 73 h 75"/>
                <a:gd name="T6" fmla="*/ 2 w 140"/>
                <a:gd name="T7" fmla="*/ 71 h 75"/>
                <a:gd name="T8" fmla="*/ 2 w 140"/>
                <a:gd name="T9" fmla="*/ 69 h 75"/>
                <a:gd name="T10" fmla="*/ 2 w 140"/>
                <a:gd name="T11" fmla="*/ 68 h 75"/>
                <a:gd name="T12" fmla="*/ 2 w 140"/>
                <a:gd name="T13" fmla="*/ 67 h 75"/>
                <a:gd name="T14" fmla="*/ 2 w 140"/>
                <a:gd name="T15" fmla="*/ 67 h 75"/>
                <a:gd name="T16" fmla="*/ 2 w 140"/>
                <a:gd name="T17" fmla="*/ 66 h 75"/>
                <a:gd name="T18" fmla="*/ 2 w 140"/>
                <a:gd name="T19" fmla="*/ 66 h 75"/>
                <a:gd name="T20" fmla="*/ 1 w 140"/>
                <a:gd name="T21" fmla="*/ 66 h 75"/>
                <a:gd name="T22" fmla="*/ 1 w 140"/>
                <a:gd name="T23" fmla="*/ 67 h 75"/>
                <a:gd name="T24" fmla="*/ 1 w 140"/>
                <a:gd name="T25" fmla="*/ 67 h 75"/>
                <a:gd name="T26" fmla="*/ 1 w 140"/>
                <a:gd name="T27" fmla="*/ 68 h 75"/>
                <a:gd name="T28" fmla="*/ 1 w 140"/>
                <a:gd name="T29" fmla="*/ 69 h 75"/>
                <a:gd name="T30" fmla="*/ 1 w 140"/>
                <a:gd name="T31" fmla="*/ 71 h 75"/>
                <a:gd name="T32" fmla="*/ 1 w 140"/>
                <a:gd name="T33" fmla="*/ 73 h 75"/>
                <a:gd name="T34" fmla="*/ 0 w 140"/>
                <a:gd name="T35" fmla="*/ 75 h 75"/>
                <a:gd name="T36" fmla="*/ 0 w 140"/>
                <a:gd name="T37" fmla="*/ 75 h 75"/>
                <a:gd name="T38" fmla="*/ 2 w 140"/>
                <a:gd name="T39" fmla="*/ 0 h 75"/>
                <a:gd name="T40" fmla="*/ 2 w 140"/>
                <a:gd name="T41" fmla="*/ 0 h 7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5"/>
                <a:gd name="T65" fmla="*/ 140 w 140"/>
                <a:gd name="T66" fmla="*/ 75 h 7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5">
                  <a:moveTo>
                    <a:pt x="70" y="0"/>
                  </a:moveTo>
                  <a:lnTo>
                    <a:pt x="140" y="75"/>
                  </a:lnTo>
                  <a:lnTo>
                    <a:pt x="130" y="73"/>
                  </a:lnTo>
                  <a:lnTo>
                    <a:pt x="123" y="71"/>
                  </a:lnTo>
                  <a:lnTo>
                    <a:pt x="113" y="69"/>
                  </a:lnTo>
                  <a:lnTo>
                    <a:pt x="106" y="68"/>
                  </a:lnTo>
                  <a:lnTo>
                    <a:pt x="96" y="67"/>
                  </a:lnTo>
                  <a:lnTo>
                    <a:pt x="87" y="67"/>
                  </a:lnTo>
                  <a:lnTo>
                    <a:pt x="79" y="66"/>
                  </a:lnTo>
                  <a:lnTo>
                    <a:pt x="70" y="66"/>
                  </a:lnTo>
                  <a:lnTo>
                    <a:pt x="61" y="66"/>
                  </a:lnTo>
                  <a:lnTo>
                    <a:pt x="53" y="67"/>
                  </a:lnTo>
                  <a:lnTo>
                    <a:pt x="44" y="67"/>
                  </a:lnTo>
                  <a:lnTo>
                    <a:pt x="34" y="68"/>
                  </a:lnTo>
                  <a:lnTo>
                    <a:pt x="27" y="69"/>
                  </a:lnTo>
                  <a:lnTo>
                    <a:pt x="17" y="71"/>
                  </a:lnTo>
                  <a:lnTo>
                    <a:pt x="10" y="73"/>
                  </a:lnTo>
                  <a:lnTo>
                    <a:pt x="0" y="75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67" name="Freeform 223"/>
            <p:cNvSpPr>
              <a:spLocks/>
            </p:cNvSpPr>
            <p:nvPr/>
          </p:nvSpPr>
          <p:spPr bwMode="auto">
            <a:xfrm>
              <a:off x="3507" y="2833"/>
              <a:ext cx="70" cy="75"/>
            </a:xfrm>
            <a:custGeom>
              <a:avLst/>
              <a:gdLst>
                <a:gd name="T0" fmla="*/ 2 w 140"/>
                <a:gd name="T1" fmla="*/ 75 h 75"/>
                <a:gd name="T2" fmla="*/ 0 w 140"/>
                <a:gd name="T3" fmla="*/ 0 h 75"/>
                <a:gd name="T4" fmla="*/ 1 w 140"/>
                <a:gd name="T5" fmla="*/ 2 h 75"/>
                <a:gd name="T6" fmla="*/ 1 w 140"/>
                <a:gd name="T7" fmla="*/ 4 h 75"/>
                <a:gd name="T8" fmla="*/ 1 w 140"/>
                <a:gd name="T9" fmla="*/ 5 h 75"/>
                <a:gd name="T10" fmla="*/ 1 w 140"/>
                <a:gd name="T11" fmla="*/ 7 h 75"/>
                <a:gd name="T12" fmla="*/ 1 w 140"/>
                <a:gd name="T13" fmla="*/ 8 h 75"/>
                <a:gd name="T14" fmla="*/ 1 w 140"/>
                <a:gd name="T15" fmla="*/ 8 h 75"/>
                <a:gd name="T16" fmla="*/ 1 w 140"/>
                <a:gd name="T17" fmla="*/ 9 h 75"/>
                <a:gd name="T18" fmla="*/ 2 w 140"/>
                <a:gd name="T19" fmla="*/ 9 h 75"/>
                <a:gd name="T20" fmla="*/ 2 w 140"/>
                <a:gd name="T21" fmla="*/ 9 h 75"/>
                <a:gd name="T22" fmla="*/ 2 w 140"/>
                <a:gd name="T23" fmla="*/ 8 h 75"/>
                <a:gd name="T24" fmla="*/ 2 w 140"/>
                <a:gd name="T25" fmla="*/ 8 h 75"/>
                <a:gd name="T26" fmla="*/ 2 w 140"/>
                <a:gd name="T27" fmla="*/ 7 h 75"/>
                <a:gd name="T28" fmla="*/ 2 w 140"/>
                <a:gd name="T29" fmla="*/ 5 h 75"/>
                <a:gd name="T30" fmla="*/ 2 w 140"/>
                <a:gd name="T31" fmla="*/ 4 h 75"/>
                <a:gd name="T32" fmla="*/ 3 w 140"/>
                <a:gd name="T33" fmla="*/ 2 h 75"/>
                <a:gd name="T34" fmla="*/ 3 w 140"/>
                <a:gd name="T35" fmla="*/ 0 h 75"/>
                <a:gd name="T36" fmla="*/ 3 w 140"/>
                <a:gd name="T37" fmla="*/ 0 h 75"/>
                <a:gd name="T38" fmla="*/ 2 w 140"/>
                <a:gd name="T39" fmla="*/ 75 h 75"/>
                <a:gd name="T40" fmla="*/ 2 w 140"/>
                <a:gd name="T41" fmla="*/ 75 h 7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5"/>
                <a:gd name="T65" fmla="*/ 140 w 140"/>
                <a:gd name="T66" fmla="*/ 75 h 7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5">
                  <a:moveTo>
                    <a:pt x="70" y="75"/>
                  </a:moveTo>
                  <a:lnTo>
                    <a:pt x="0" y="0"/>
                  </a:lnTo>
                  <a:lnTo>
                    <a:pt x="10" y="2"/>
                  </a:lnTo>
                  <a:lnTo>
                    <a:pt x="17" y="4"/>
                  </a:lnTo>
                  <a:lnTo>
                    <a:pt x="27" y="5"/>
                  </a:lnTo>
                  <a:lnTo>
                    <a:pt x="34" y="7"/>
                  </a:lnTo>
                  <a:lnTo>
                    <a:pt x="44" y="8"/>
                  </a:lnTo>
                  <a:lnTo>
                    <a:pt x="53" y="8"/>
                  </a:lnTo>
                  <a:lnTo>
                    <a:pt x="61" y="9"/>
                  </a:lnTo>
                  <a:lnTo>
                    <a:pt x="70" y="9"/>
                  </a:lnTo>
                  <a:lnTo>
                    <a:pt x="79" y="9"/>
                  </a:lnTo>
                  <a:lnTo>
                    <a:pt x="87" y="8"/>
                  </a:lnTo>
                  <a:lnTo>
                    <a:pt x="96" y="8"/>
                  </a:lnTo>
                  <a:lnTo>
                    <a:pt x="106" y="7"/>
                  </a:lnTo>
                  <a:lnTo>
                    <a:pt x="113" y="5"/>
                  </a:lnTo>
                  <a:lnTo>
                    <a:pt x="123" y="4"/>
                  </a:lnTo>
                  <a:lnTo>
                    <a:pt x="130" y="2"/>
                  </a:lnTo>
                  <a:lnTo>
                    <a:pt x="140" y="0"/>
                  </a:lnTo>
                  <a:lnTo>
                    <a:pt x="70" y="75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68" name="Line 224"/>
            <p:cNvSpPr>
              <a:spLocks noChangeShapeType="1"/>
            </p:cNvSpPr>
            <p:nvPr/>
          </p:nvSpPr>
          <p:spPr bwMode="auto">
            <a:xfrm>
              <a:off x="3702" y="2956"/>
              <a:ext cx="1" cy="1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69" name="Line 225"/>
            <p:cNvSpPr>
              <a:spLocks noChangeShapeType="1"/>
            </p:cNvSpPr>
            <p:nvPr/>
          </p:nvSpPr>
          <p:spPr bwMode="auto">
            <a:xfrm>
              <a:off x="4235" y="2956"/>
              <a:ext cx="1" cy="1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0" name="Line 226"/>
            <p:cNvSpPr>
              <a:spLocks noChangeShapeType="1"/>
            </p:cNvSpPr>
            <p:nvPr/>
          </p:nvSpPr>
          <p:spPr bwMode="auto">
            <a:xfrm>
              <a:off x="4235" y="2956"/>
              <a:ext cx="1" cy="2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1" name="Line 227"/>
            <p:cNvSpPr>
              <a:spLocks noChangeShapeType="1"/>
            </p:cNvSpPr>
            <p:nvPr/>
          </p:nvSpPr>
          <p:spPr bwMode="auto">
            <a:xfrm>
              <a:off x="3382" y="3108"/>
              <a:ext cx="1" cy="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2" name="Line 228"/>
            <p:cNvSpPr>
              <a:spLocks noChangeShapeType="1"/>
            </p:cNvSpPr>
            <p:nvPr/>
          </p:nvSpPr>
          <p:spPr bwMode="auto">
            <a:xfrm>
              <a:off x="3434" y="3015"/>
              <a:ext cx="21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3" name="Freeform 229"/>
            <p:cNvSpPr>
              <a:spLocks/>
            </p:cNvSpPr>
            <p:nvPr/>
          </p:nvSpPr>
          <p:spPr bwMode="auto">
            <a:xfrm>
              <a:off x="3382" y="2977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2 w 140"/>
                <a:gd name="T3" fmla="*/ 0 h 76"/>
                <a:gd name="T4" fmla="*/ 2 w 140"/>
                <a:gd name="T5" fmla="*/ 5 h 76"/>
                <a:gd name="T6" fmla="*/ 2 w 140"/>
                <a:gd name="T7" fmla="*/ 9 h 76"/>
                <a:gd name="T8" fmla="*/ 2 w 140"/>
                <a:gd name="T9" fmla="*/ 14 h 76"/>
                <a:gd name="T10" fmla="*/ 1 w 140"/>
                <a:gd name="T11" fmla="*/ 18 h 76"/>
                <a:gd name="T12" fmla="*/ 1 w 140"/>
                <a:gd name="T13" fmla="*/ 23 h 76"/>
                <a:gd name="T14" fmla="*/ 1 w 140"/>
                <a:gd name="T15" fmla="*/ 29 h 76"/>
                <a:gd name="T16" fmla="*/ 1 w 140"/>
                <a:gd name="T17" fmla="*/ 33 h 76"/>
                <a:gd name="T18" fmla="*/ 1 w 140"/>
                <a:gd name="T19" fmla="*/ 38 h 76"/>
                <a:gd name="T20" fmla="*/ 1 w 140"/>
                <a:gd name="T21" fmla="*/ 43 h 76"/>
                <a:gd name="T22" fmla="*/ 1 w 140"/>
                <a:gd name="T23" fmla="*/ 47 h 76"/>
                <a:gd name="T24" fmla="*/ 1 w 140"/>
                <a:gd name="T25" fmla="*/ 52 h 76"/>
                <a:gd name="T26" fmla="*/ 1 w 140"/>
                <a:gd name="T27" fmla="*/ 58 h 76"/>
                <a:gd name="T28" fmla="*/ 2 w 140"/>
                <a:gd name="T29" fmla="*/ 62 h 76"/>
                <a:gd name="T30" fmla="*/ 2 w 140"/>
                <a:gd name="T31" fmla="*/ 67 h 76"/>
                <a:gd name="T32" fmla="*/ 2 w 140"/>
                <a:gd name="T33" fmla="*/ 71 h 76"/>
                <a:gd name="T34" fmla="*/ 2 w 140"/>
                <a:gd name="T35" fmla="*/ 76 h 76"/>
                <a:gd name="T36" fmla="*/ 2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4" name="Freeform 230"/>
            <p:cNvSpPr>
              <a:spLocks/>
            </p:cNvSpPr>
            <p:nvPr/>
          </p:nvSpPr>
          <p:spPr bwMode="auto">
            <a:xfrm>
              <a:off x="3633" y="2977"/>
              <a:ext cx="69" cy="76"/>
            </a:xfrm>
            <a:custGeom>
              <a:avLst/>
              <a:gdLst>
                <a:gd name="T0" fmla="*/ 2 w 140"/>
                <a:gd name="T1" fmla="*/ 38 h 76"/>
                <a:gd name="T2" fmla="*/ 0 w 140"/>
                <a:gd name="T3" fmla="*/ 76 h 76"/>
                <a:gd name="T4" fmla="*/ 0 w 140"/>
                <a:gd name="T5" fmla="*/ 71 h 76"/>
                <a:gd name="T6" fmla="*/ 0 w 140"/>
                <a:gd name="T7" fmla="*/ 67 h 76"/>
                <a:gd name="T8" fmla="*/ 0 w 140"/>
                <a:gd name="T9" fmla="*/ 62 h 76"/>
                <a:gd name="T10" fmla="*/ 0 w 140"/>
                <a:gd name="T11" fmla="*/ 58 h 76"/>
                <a:gd name="T12" fmla="*/ 0 w 140"/>
                <a:gd name="T13" fmla="*/ 52 h 76"/>
                <a:gd name="T14" fmla="*/ 0 w 140"/>
                <a:gd name="T15" fmla="*/ 47 h 76"/>
                <a:gd name="T16" fmla="*/ 0 w 140"/>
                <a:gd name="T17" fmla="*/ 43 h 76"/>
                <a:gd name="T18" fmla="*/ 0 w 140"/>
                <a:gd name="T19" fmla="*/ 38 h 76"/>
                <a:gd name="T20" fmla="*/ 0 w 140"/>
                <a:gd name="T21" fmla="*/ 33 h 76"/>
                <a:gd name="T22" fmla="*/ 0 w 140"/>
                <a:gd name="T23" fmla="*/ 29 h 76"/>
                <a:gd name="T24" fmla="*/ 0 w 140"/>
                <a:gd name="T25" fmla="*/ 23 h 76"/>
                <a:gd name="T26" fmla="*/ 0 w 140"/>
                <a:gd name="T27" fmla="*/ 18 h 76"/>
                <a:gd name="T28" fmla="*/ 0 w 140"/>
                <a:gd name="T29" fmla="*/ 14 h 76"/>
                <a:gd name="T30" fmla="*/ 0 w 140"/>
                <a:gd name="T31" fmla="*/ 9 h 76"/>
                <a:gd name="T32" fmla="*/ 0 w 140"/>
                <a:gd name="T33" fmla="*/ 5 h 76"/>
                <a:gd name="T34" fmla="*/ 0 w 140"/>
                <a:gd name="T35" fmla="*/ 0 h 76"/>
                <a:gd name="T36" fmla="*/ 0 w 140"/>
                <a:gd name="T37" fmla="*/ 0 h 76"/>
                <a:gd name="T38" fmla="*/ 2 w 140"/>
                <a:gd name="T39" fmla="*/ 38 h 76"/>
                <a:gd name="T40" fmla="*/ 2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140" y="38"/>
                  </a:moveTo>
                  <a:lnTo>
                    <a:pt x="0" y="76"/>
                  </a:lnTo>
                  <a:lnTo>
                    <a:pt x="4" y="71"/>
                  </a:lnTo>
                  <a:lnTo>
                    <a:pt x="8" y="67"/>
                  </a:lnTo>
                  <a:lnTo>
                    <a:pt x="11" y="62"/>
                  </a:lnTo>
                  <a:lnTo>
                    <a:pt x="13" y="58"/>
                  </a:lnTo>
                  <a:lnTo>
                    <a:pt x="15" y="52"/>
                  </a:lnTo>
                  <a:lnTo>
                    <a:pt x="17" y="47"/>
                  </a:lnTo>
                  <a:lnTo>
                    <a:pt x="17" y="43"/>
                  </a:lnTo>
                  <a:lnTo>
                    <a:pt x="17" y="38"/>
                  </a:lnTo>
                  <a:lnTo>
                    <a:pt x="17" y="33"/>
                  </a:lnTo>
                  <a:lnTo>
                    <a:pt x="17" y="29"/>
                  </a:lnTo>
                  <a:lnTo>
                    <a:pt x="15" y="23"/>
                  </a:lnTo>
                  <a:lnTo>
                    <a:pt x="13" y="18"/>
                  </a:lnTo>
                  <a:lnTo>
                    <a:pt x="11" y="14"/>
                  </a:lnTo>
                  <a:lnTo>
                    <a:pt x="8" y="9"/>
                  </a:lnTo>
                  <a:lnTo>
                    <a:pt x="4" y="5"/>
                  </a:lnTo>
                  <a:lnTo>
                    <a:pt x="0" y="0"/>
                  </a:lnTo>
                  <a:lnTo>
                    <a:pt x="14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5" name="Line 231"/>
            <p:cNvSpPr>
              <a:spLocks noChangeShapeType="1"/>
            </p:cNvSpPr>
            <p:nvPr/>
          </p:nvSpPr>
          <p:spPr bwMode="auto">
            <a:xfrm>
              <a:off x="3754" y="3015"/>
              <a:ext cx="42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6" name="Freeform 232"/>
            <p:cNvSpPr>
              <a:spLocks/>
            </p:cNvSpPr>
            <p:nvPr/>
          </p:nvSpPr>
          <p:spPr bwMode="auto">
            <a:xfrm>
              <a:off x="3702" y="2977"/>
              <a:ext cx="69" cy="76"/>
            </a:xfrm>
            <a:custGeom>
              <a:avLst/>
              <a:gdLst>
                <a:gd name="T0" fmla="*/ 0 w 137"/>
                <a:gd name="T1" fmla="*/ 38 h 76"/>
                <a:gd name="T2" fmla="*/ 3 w 137"/>
                <a:gd name="T3" fmla="*/ 0 h 76"/>
                <a:gd name="T4" fmla="*/ 3 w 137"/>
                <a:gd name="T5" fmla="*/ 5 h 76"/>
                <a:gd name="T6" fmla="*/ 3 w 137"/>
                <a:gd name="T7" fmla="*/ 9 h 76"/>
                <a:gd name="T8" fmla="*/ 2 w 137"/>
                <a:gd name="T9" fmla="*/ 14 h 76"/>
                <a:gd name="T10" fmla="*/ 2 w 137"/>
                <a:gd name="T11" fmla="*/ 18 h 76"/>
                <a:gd name="T12" fmla="*/ 2 w 137"/>
                <a:gd name="T13" fmla="*/ 23 h 76"/>
                <a:gd name="T14" fmla="*/ 2 w 137"/>
                <a:gd name="T15" fmla="*/ 29 h 76"/>
                <a:gd name="T16" fmla="*/ 2 w 137"/>
                <a:gd name="T17" fmla="*/ 33 h 76"/>
                <a:gd name="T18" fmla="*/ 2 w 137"/>
                <a:gd name="T19" fmla="*/ 38 h 76"/>
                <a:gd name="T20" fmla="*/ 2 w 137"/>
                <a:gd name="T21" fmla="*/ 43 h 76"/>
                <a:gd name="T22" fmla="*/ 2 w 137"/>
                <a:gd name="T23" fmla="*/ 47 h 76"/>
                <a:gd name="T24" fmla="*/ 2 w 137"/>
                <a:gd name="T25" fmla="*/ 52 h 76"/>
                <a:gd name="T26" fmla="*/ 2 w 137"/>
                <a:gd name="T27" fmla="*/ 58 h 76"/>
                <a:gd name="T28" fmla="*/ 2 w 137"/>
                <a:gd name="T29" fmla="*/ 62 h 76"/>
                <a:gd name="T30" fmla="*/ 3 w 137"/>
                <a:gd name="T31" fmla="*/ 67 h 76"/>
                <a:gd name="T32" fmla="*/ 3 w 137"/>
                <a:gd name="T33" fmla="*/ 71 h 76"/>
                <a:gd name="T34" fmla="*/ 3 w 137"/>
                <a:gd name="T35" fmla="*/ 76 h 76"/>
                <a:gd name="T36" fmla="*/ 3 w 137"/>
                <a:gd name="T37" fmla="*/ 76 h 76"/>
                <a:gd name="T38" fmla="*/ 0 w 137"/>
                <a:gd name="T39" fmla="*/ 38 h 76"/>
                <a:gd name="T40" fmla="*/ 0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0" y="38"/>
                  </a:moveTo>
                  <a:lnTo>
                    <a:pt x="137" y="0"/>
                  </a:lnTo>
                  <a:lnTo>
                    <a:pt x="134" y="5"/>
                  </a:lnTo>
                  <a:lnTo>
                    <a:pt x="130" y="9"/>
                  </a:lnTo>
                  <a:lnTo>
                    <a:pt x="128" y="14"/>
                  </a:lnTo>
                  <a:lnTo>
                    <a:pt x="124" y="18"/>
                  </a:lnTo>
                  <a:lnTo>
                    <a:pt x="122" y="23"/>
                  </a:lnTo>
                  <a:lnTo>
                    <a:pt x="122" y="29"/>
                  </a:lnTo>
                  <a:lnTo>
                    <a:pt x="120" y="33"/>
                  </a:lnTo>
                  <a:lnTo>
                    <a:pt x="120" y="38"/>
                  </a:lnTo>
                  <a:lnTo>
                    <a:pt x="120" y="43"/>
                  </a:lnTo>
                  <a:lnTo>
                    <a:pt x="122" y="47"/>
                  </a:lnTo>
                  <a:lnTo>
                    <a:pt x="122" y="52"/>
                  </a:lnTo>
                  <a:lnTo>
                    <a:pt x="124" y="58"/>
                  </a:lnTo>
                  <a:lnTo>
                    <a:pt x="128" y="62"/>
                  </a:lnTo>
                  <a:lnTo>
                    <a:pt x="130" y="67"/>
                  </a:lnTo>
                  <a:lnTo>
                    <a:pt x="134" y="71"/>
                  </a:lnTo>
                  <a:lnTo>
                    <a:pt x="137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7" name="Freeform 233"/>
            <p:cNvSpPr>
              <a:spLocks/>
            </p:cNvSpPr>
            <p:nvPr/>
          </p:nvSpPr>
          <p:spPr bwMode="auto">
            <a:xfrm>
              <a:off x="4166" y="2977"/>
              <a:ext cx="69" cy="76"/>
            </a:xfrm>
            <a:custGeom>
              <a:avLst/>
              <a:gdLst>
                <a:gd name="T0" fmla="*/ 3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3 w 137"/>
                <a:gd name="T39" fmla="*/ 38 h 76"/>
                <a:gd name="T40" fmla="*/ 3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8" name="Line 234"/>
            <p:cNvSpPr>
              <a:spLocks noChangeShapeType="1"/>
            </p:cNvSpPr>
            <p:nvPr/>
          </p:nvSpPr>
          <p:spPr bwMode="auto">
            <a:xfrm>
              <a:off x="3434" y="3132"/>
              <a:ext cx="74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9" name="Freeform 235"/>
            <p:cNvSpPr>
              <a:spLocks/>
            </p:cNvSpPr>
            <p:nvPr/>
          </p:nvSpPr>
          <p:spPr bwMode="auto">
            <a:xfrm>
              <a:off x="3382" y="3094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2 w 140"/>
                <a:gd name="T3" fmla="*/ 0 h 76"/>
                <a:gd name="T4" fmla="*/ 2 w 140"/>
                <a:gd name="T5" fmla="*/ 5 h 76"/>
                <a:gd name="T6" fmla="*/ 2 w 140"/>
                <a:gd name="T7" fmla="*/ 9 h 76"/>
                <a:gd name="T8" fmla="*/ 2 w 140"/>
                <a:gd name="T9" fmla="*/ 14 h 76"/>
                <a:gd name="T10" fmla="*/ 1 w 140"/>
                <a:gd name="T11" fmla="*/ 18 h 76"/>
                <a:gd name="T12" fmla="*/ 1 w 140"/>
                <a:gd name="T13" fmla="*/ 23 h 76"/>
                <a:gd name="T14" fmla="*/ 1 w 140"/>
                <a:gd name="T15" fmla="*/ 29 h 76"/>
                <a:gd name="T16" fmla="*/ 1 w 140"/>
                <a:gd name="T17" fmla="*/ 33 h 76"/>
                <a:gd name="T18" fmla="*/ 1 w 140"/>
                <a:gd name="T19" fmla="*/ 38 h 76"/>
                <a:gd name="T20" fmla="*/ 1 w 140"/>
                <a:gd name="T21" fmla="*/ 43 h 76"/>
                <a:gd name="T22" fmla="*/ 1 w 140"/>
                <a:gd name="T23" fmla="*/ 47 h 76"/>
                <a:gd name="T24" fmla="*/ 1 w 140"/>
                <a:gd name="T25" fmla="*/ 52 h 76"/>
                <a:gd name="T26" fmla="*/ 1 w 140"/>
                <a:gd name="T27" fmla="*/ 58 h 76"/>
                <a:gd name="T28" fmla="*/ 2 w 140"/>
                <a:gd name="T29" fmla="*/ 62 h 76"/>
                <a:gd name="T30" fmla="*/ 2 w 140"/>
                <a:gd name="T31" fmla="*/ 67 h 76"/>
                <a:gd name="T32" fmla="*/ 2 w 140"/>
                <a:gd name="T33" fmla="*/ 71 h 76"/>
                <a:gd name="T34" fmla="*/ 2 w 140"/>
                <a:gd name="T35" fmla="*/ 76 h 76"/>
                <a:gd name="T36" fmla="*/ 2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80" name="Freeform 236"/>
            <p:cNvSpPr>
              <a:spLocks/>
            </p:cNvSpPr>
            <p:nvPr/>
          </p:nvSpPr>
          <p:spPr bwMode="auto">
            <a:xfrm>
              <a:off x="4166" y="3094"/>
              <a:ext cx="69" cy="76"/>
            </a:xfrm>
            <a:custGeom>
              <a:avLst/>
              <a:gdLst>
                <a:gd name="T0" fmla="*/ 3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3 w 137"/>
                <a:gd name="T39" fmla="*/ 38 h 76"/>
                <a:gd name="T40" fmla="*/ 3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81" name="Rectangle 237"/>
            <p:cNvSpPr>
              <a:spLocks noChangeArrowheads="1"/>
            </p:cNvSpPr>
            <p:nvPr/>
          </p:nvSpPr>
          <p:spPr bwMode="auto">
            <a:xfrm>
              <a:off x="3539" y="2936"/>
              <a:ext cx="72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on</a:t>
              </a:r>
              <a:endParaRPr lang="en-US" altLang="zh-CN"/>
            </a:p>
          </p:txBody>
        </p:sp>
        <p:sp>
          <p:nvSpPr>
            <p:cNvPr id="95282" name="Rectangle 238"/>
            <p:cNvSpPr>
              <a:spLocks noChangeArrowheads="1"/>
            </p:cNvSpPr>
            <p:nvPr/>
          </p:nvSpPr>
          <p:spPr bwMode="auto">
            <a:xfrm>
              <a:off x="3520" y="2890"/>
              <a:ext cx="2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95283" name="Line 239"/>
            <p:cNvSpPr>
              <a:spLocks noChangeShapeType="1"/>
            </p:cNvSpPr>
            <p:nvPr/>
          </p:nvSpPr>
          <p:spPr bwMode="auto">
            <a:xfrm flipV="1">
              <a:off x="3699" y="3910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84" name="Line 240"/>
            <p:cNvSpPr>
              <a:spLocks noChangeShapeType="1"/>
            </p:cNvSpPr>
            <p:nvPr/>
          </p:nvSpPr>
          <p:spPr bwMode="auto">
            <a:xfrm flipV="1">
              <a:off x="4232" y="3910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85" name="Line 241"/>
            <p:cNvSpPr>
              <a:spLocks noChangeShapeType="1"/>
            </p:cNvSpPr>
            <p:nvPr/>
          </p:nvSpPr>
          <p:spPr bwMode="auto">
            <a:xfrm flipV="1">
              <a:off x="4552" y="3910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86" name="Line 242"/>
            <p:cNvSpPr>
              <a:spLocks noChangeShapeType="1"/>
            </p:cNvSpPr>
            <p:nvPr/>
          </p:nvSpPr>
          <p:spPr bwMode="auto">
            <a:xfrm flipV="1">
              <a:off x="5086" y="3910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87" name="Freeform 243"/>
            <p:cNvSpPr>
              <a:spLocks/>
            </p:cNvSpPr>
            <p:nvPr/>
          </p:nvSpPr>
          <p:spPr bwMode="auto">
            <a:xfrm>
              <a:off x="3382" y="3483"/>
              <a:ext cx="1898" cy="234"/>
            </a:xfrm>
            <a:custGeom>
              <a:avLst/>
              <a:gdLst>
                <a:gd name="T0" fmla="*/ 0 w 3797"/>
                <a:gd name="T1" fmla="*/ 234 h 234"/>
                <a:gd name="T2" fmla="*/ 10 w 3797"/>
                <a:gd name="T3" fmla="*/ 0 h 234"/>
                <a:gd name="T4" fmla="*/ 26 w 3797"/>
                <a:gd name="T5" fmla="*/ 234 h 234"/>
                <a:gd name="T6" fmla="*/ 36 w 3797"/>
                <a:gd name="T7" fmla="*/ 0 h 234"/>
                <a:gd name="T8" fmla="*/ 53 w 3797"/>
                <a:gd name="T9" fmla="*/ 234 h 234"/>
                <a:gd name="T10" fmla="*/ 59 w 3797"/>
                <a:gd name="T11" fmla="*/ 117 h 2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797"/>
                <a:gd name="T19" fmla="*/ 0 h 234"/>
                <a:gd name="T20" fmla="*/ 3797 w 3797"/>
                <a:gd name="T21" fmla="*/ 234 h 2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797" h="234">
                  <a:moveTo>
                    <a:pt x="0" y="234"/>
                  </a:moveTo>
                  <a:lnTo>
                    <a:pt x="642" y="0"/>
                  </a:lnTo>
                  <a:lnTo>
                    <a:pt x="1707" y="234"/>
                  </a:lnTo>
                  <a:lnTo>
                    <a:pt x="2347" y="0"/>
                  </a:lnTo>
                  <a:lnTo>
                    <a:pt x="3414" y="234"/>
                  </a:lnTo>
                  <a:lnTo>
                    <a:pt x="3797" y="11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88" name="Freeform 244"/>
            <p:cNvSpPr>
              <a:spLocks/>
            </p:cNvSpPr>
            <p:nvPr/>
          </p:nvSpPr>
          <p:spPr bwMode="auto">
            <a:xfrm>
              <a:off x="3702" y="2430"/>
              <a:ext cx="533" cy="479"/>
            </a:xfrm>
            <a:custGeom>
              <a:avLst/>
              <a:gdLst>
                <a:gd name="T0" fmla="*/ 0 w 1065"/>
                <a:gd name="T1" fmla="*/ 0 h 479"/>
                <a:gd name="T2" fmla="*/ 0 w 1065"/>
                <a:gd name="T3" fmla="*/ 479 h 479"/>
                <a:gd name="T4" fmla="*/ 17 w 1065"/>
                <a:gd name="T5" fmla="*/ 479 h 479"/>
                <a:gd name="T6" fmla="*/ 17 w 1065"/>
                <a:gd name="T7" fmla="*/ 0 h 4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5"/>
                <a:gd name="T13" fmla="*/ 0 h 479"/>
                <a:gd name="T14" fmla="*/ 1065 w 1065"/>
                <a:gd name="T15" fmla="*/ 479 h 4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5" h="479">
                  <a:moveTo>
                    <a:pt x="0" y="0"/>
                  </a:moveTo>
                  <a:lnTo>
                    <a:pt x="0" y="479"/>
                  </a:lnTo>
                  <a:lnTo>
                    <a:pt x="1065" y="479"/>
                  </a:lnTo>
                  <a:lnTo>
                    <a:pt x="106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89" name="Freeform 245"/>
            <p:cNvSpPr>
              <a:spLocks noEditPoints="1"/>
            </p:cNvSpPr>
            <p:nvPr/>
          </p:nvSpPr>
          <p:spPr bwMode="auto">
            <a:xfrm>
              <a:off x="3376" y="2610"/>
              <a:ext cx="2039" cy="13"/>
            </a:xfrm>
            <a:custGeom>
              <a:avLst/>
              <a:gdLst>
                <a:gd name="T0" fmla="*/ 4 w 4078"/>
                <a:gd name="T1" fmla="*/ 5 h 13"/>
                <a:gd name="T2" fmla="*/ 3 w 4078"/>
                <a:gd name="T3" fmla="*/ 13 h 13"/>
                <a:gd name="T4" fmla="*/ 0 w 4078"/>
                <a:gd name="T5" fmla="*/ 6 h 13"/>
                <a:gd name="T6" fmla="*/ 1 w 4078"/>
                <a:gd name="T7" fmla="*/ 0 h 13"/>
                <a:gd name="T8" fmla="*/ 8 w 4078"/>
                <a:gd name="T9" fmla="*/ 5 h 13"/>
                <a:gd name="T10" fmla="*/ 8 w 4078"/>
                <a:gd name="T11" fmla="*/ 13 h 13"/>
                <a:gd name="T12" fmla="*/ 5 w 4078"/>
                <a:gd name="T13" fmla="*/ 6 h 13"/>
                <a:gd name="T14" fmla="*/ 5 w 4078"/>
                <a:gd name="T15" fmla="*/ 0 h 13"/>
                <a:gd name="T16" fmla="*/ 13 w 4078"/>
                <a:gd name="T17" fmla="*/ 5 h 13"/>
                <a:gd name="T18" fmla="*/ 13 w 4078"/>
                <a:gd name="T19" fmla="*/ 13 h 13"/>
                <a:gd name="T20" fmla="*/ 10 w 4078"/>
                <a:gd name="T21" fmla="*/ 6 h 13"/>
                <a:gd name="T22" fmla="*/ 10 w 4078"/>
                <a:gd name="T23" fmla="*/ 0 h 13"/>
                <a:gd name="T24" fmla="*/ 18 w 4078"/>
                <a:gd name="T25" fmla="*/ 5 h 13"/>
                <a:gd name="T26" fmla="*/ 18 w 4078"/>
                <a:gd name="T27" fmla="*/ 13 h 13"/>
                <a:gd name="T28" fmla="*/ 15 w 4078"/>
                <a:gd name="T29" fmla="*/ 6 h 13"/>
                <a:gd name="T30" fmla="*/ 15 w 4078"/>
                <a:gd name="T31" fmla="*/ 0 h 13"/>
                <a:gd name="T32" fmla="*/ 23 w 4078"/>
                <a:gd name="T33" fmla="*/ 5 h 13"/>
                <a:gd name="T34" fmla="*/ 23 w 4078"/>
                <a:gd name="T35" fmla="*/ 13 h 13"/>
                <a:gd name="T36" fmla="*/ 20 w 4078"/>
                <a:gd name="T37" fmla="*/ 6 h 13"/>
                <a:gd name="T38" fmla="*/ 20 w 4078"/>
                <a:gd name="T39" fmla="*/ 0 h 13"/>
                <a:gd name="T40" fmla="*/ 28 w 4078"/>
                <a:gd name="T41" fmla="*/ 5 h 13"/>
                <a:gd name="T42" fmla="*/ 27 w 4078"/>
                <a:gd name="T43" fmla="*/ 13 h 13"/>
                <a:gd name="T44" fmla="*/ 24 w 4078"/>
                <a:gd name="T45" fmla="*/ 6 h 13"/>
                <a:gd name="T46" fmla="*/ 25 w 4078"/>
                <a:gd name="T47" fmla="*/ 0 h 13"/>
                <a:gd name="T48" fmla="*/ 32 w 4078"/>
                <a:gd name="T49" fmla="*/ 5 h 13"/>
                <a:gd name="T50" fmla="*/ 32 w 4078"/>
                <a:gd name="T51" fmla="*/ 13 h 13"/>
                <a:gd name="T52" fmla="*/ 29 w 4078"/>
                <a:gd name="T53" fmla="*/ 6 h 13"/>
                <a:gd name="T54" fmla="*/ 29 w 4078"/>
                <a:gd name="T55" fmla="*/ 0 h 13"/>
                <a:gd name="T56" fmla="*/ 37 w 4078"/>
                <a:gd name="T57" fmla="*/ 5 h 13"/>
                <a:gd name="T58" fmla="*/ 37 w 4078"/>
                <a:gd name="T59" fmla="*/ 13 h 13"/>
                <a:gd name="T60" fmla="*/ 34 w 4078"/>
                <a:gd name="T61" fmla="*/ 6 h 13"/>
                <a:gd name="T62" fmla="*/ 34 w 4078"/>
                <a:gd name="T63" fmla="*/ 0 h 13"/>
                <a:gd name="T64" fmla="*/ 42 w 4078"/>
                <a:gd name="T65" fmla="*/ 5 h 13"/>
                <a:gd name="T66" fmla="*/ 42 w 4078"/>
                <a:gd name="T67" fmla="*/ 13 h 13"/>
                <a:gd name="T68" fmla="*/ 39 w 4078"/>
                <a:gd name="T69" fmla="*/ 6 h 13"/>
                <a:gd name="T70" fmla="*/ 39 w 4078"/>
                <a:gd name="T71" fmla="*/ 0 h 13"/>
                <a:gd name="T72" fmla="*/ 47 w 4078"/>
                <a:gd name="T73" fmla="*/ 5 h 13"/>
                <a:gd name="T74" fmla="*/ 47 w 4078"/>
                <a:gd name="T75" fmla="*/ 13 h 13"/>
                <a:gd name="T76" fmla="*/ 44 w 4078"/>
                <a:gd name="T77" fmla="*/ 6 h 13"/>
                <a:gd name="T78" fmla="*/ 44 w 4078"/>
                <a:gd name="T79" fmla="*/ 0 h 13"/>
                <a:gd name="T80" fmla="*/ 52 w 4078"/>
                <a:gd name="T81" fmla="*/ 5 h 13"/>
                <a:gd name="T82" fmla="*/ 51 w 4078"/>
                <a:gd name="T83" fmla="*/ 13 h 13"/>
                <a:gd name="T84" fmla="*/ 48 w 4078"/>
                <a:gd name="T85" fmla="*/ 6 h 13"/>
                <a:gd name="T86" fmla="*/ 49 w 4078"/>
                <a:gd name="T87" fmla="*/ 0 h 13"/>
                <a:gd name="T88" fmla="*/ 56 w 4078"/>
                <a:gd name="T89" fmla="*/ 5 h 13"/>
                <a:gd name="T90" fmla="*/ 56 w 4078"/>
                <a:gd name="T91" fmla="*/ 13 h 13"/>
                <a:gd name="T92" fmla="*/ 53 w 4078"/>
                <a:gd name="T93" fmla="*/ 6 h 13"/>
                <a:gd name="T94" fmla="*/ 53 w 4078"/>
                <a:gd name="T95" fmla="*/ 0 h 13"/>
                <a:gd name="T96" fmla="*/ 61 w 4078"/>
                <a:gd name="T97" fmla="*/ 5 h 13"/>
                <a:gd name="T98" fmla="*/ 61 w 4078"/>
                <a:gd name="T99" fmla="*/ 13 h 13"/>
                <a:gd name="T100" fmla="*/ 58 w 4078"/>
                <a:gd name="T101" fmla="*/ 6 h 13"/>
                <a:gd name="T102" fmla="*/ 58 w 4078"/>
                <a:gd name="T103" fmla="*/ 0 h 13"/>
                <a:gd name="T104" fmla="*/ 64 w 4078"/>
                <a:gd name="T105" fmla="*/ 5 h 13"/>
                <a:gd name="T106" fmla="*/ 64 w 4078"/>
                <a:gd name="T107" fmla="*/ 13 h 13"/>
                <a:gd name="T108" fmla="*/ 63 w 4078"/>
                <a:gd name="T109" fmla="*/ 6 h 13"/>
                <a:gd name="T110" fmla="*/ 63 w 4078"/>
                <a:gd name="T111" fmla="*/ 0 h 13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4078"/>
                <a:gd name="T169" fmla="*/ 0 h 13"/>
                <a:gd name="T170" fmla="*/ 4078 w 4078"/>
                <a:gd name="T171" fmla="*/ 13 h 13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4078" h="13">
                  <a:moveTo>
                    <a:pt x="11" y="0"/>
                  </a:moveTo>
                  <a:lnTo>
                    <a:pt x="191" y="0"/>
                  </a:lnTo>
                  <a:lnTo>
                    <a:pt x="194" y="0"/>
                  </a:lnTo>
                  <a:lnTo>
                    <a:pt x="196" y="0"/>
                  </a:lnTo>
                  <a:lnTo>
                    <a:pt x="200" y="2"/>
                  </a:lnTo>
                  <a:lnTo>
                    <a:pt x="202" y="4"/>
                  </a:lnTo>
                  <a:lnTo>
                    <a:pt x="204" y="5"/>
                  </a:lnTo>
                  <a:lnTo>
                    <a:pt x="204" y="6"/>
                  </a:lnTo>
                  <a:lnTo>
                    <a:pt x="204" y="8"/>
                  </a:lnTo>
                  <a:lnTo>
                    <a:pt x="202" y="9"/>
                  </a:lnTo>
                  <a:lnTo>
                    <a:pt x="200" y="11"/>
                  </a:lnTo>
                  <a:lnTo>
                    <a:pt x="196" y="13"/>
                  </a:lnTo>
                  <a:lnTo>
                    <a:pt x="194" y="13"/>
                  </a:lnTo>
                  <a:lnTo>
                    <a:pt x="191" y="13"/>
                  </a:lnTo>
                  <a:lnTo>
                    <a:pt x="11" y="13"/>
                  </a:lnTo>
                  <a:lnTo>
                    <a:pt x="9" y="13"/>
                  </a:lnTo>
                  <a:lnTo>
                    <a:pt x="8" y="13"/>
                  </a:lnTo>
                  <a:lnTo>
                    <a:pt x="4" y="11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4" y="2"/>
                  </a:lnTo>
                  <a:lnTo>
                    <a:pt x="8" y="0"/>
                  </a:lnTo>
                  <a:lnTo>
                    <a:pt x="9" y="0"/>
                  </a:lnTo>
                  <a:lnTo>
                    <a:pt x="11" y="0"/>
                  </a:lnTo>
                  <a:close/>
                  <a:moveTo>
                    <a:pt x="319" y="0"/>
                  </a:moveTo>
                  <a:lnTo>
                    <a:pt x="498" y="0"/>
                  </a:lnTo>
                  <a:lnTo>
                    <a:pt x="500" y="0"/>
                  </a:lnTo>
                  <a:lnTo>
                    <a:pt x="502" y="0"/>
                  </a:lnTo>
                  <a:lnTo>
                    <a:pt x="507" y="2"/>
                  </a:lnTo>
                  <a:lnTo>
                    <a:pt x="509" y="4"/>
                  </a:lnTo>
                  <a:lnTo>
                    <a:pt x="509" y="5"/>
                  </a:lnTo>
                  <a:lnTo>
                    <a:pt x="511" y="6"/>
                  </a:lnTo>
                  <a:lnTo>
                    <a:pt x="509" y="8"/>
                  </a:lnTo>
                  <a:lnTo>
                    <a:pt x="509" y="9"/>
                  </a:lnTo>
                  <a:lnTo>
                    <a:pt x="507" y="11"/>
                  </a:lnTo>
                  <a:lnTo>
                    <a:pt x="502" y="13"/>
                  </a:lnTo>
                  <a:lnTo>
                    <a:pt x="500" y="13"/>
                  </a:lnTo>
                  <a:lnTo>
                    <a:pt x="498" y="13"/>
                  </a:lnTo>
                  <a:lnTo>
                    <a:pt x="319" y="13"/>
                  </a:lnTo>
                  <a:lnTo>
                    <a:pt x="317" y="13"/>
                  </a:lnTo>
                  <a:lnTo>
                    <a:pt x="313" y="13"/>
                  </a:lnTo>
                  <a:lnTo>
                    <a:pt x="309" y="11"/>
                  </a:lnTo>
                  <a:lnTo>
                    <a:pt x="307" y="9"/>
                  </a:lnTo>
                  <a:lnTo>
                    <a:pt x="306" y="8"/>
                  </a:lnTo>
                  <a:lnTo>
                    <a:pt x="306" y="6"/>
                  </a:lnTo>
                  <a:lnTo>
                    <a:pt x="306" y="5"/>
                  </a:lnTo>
                  <a:lnTo>
                    <a:pt x="307" y="4"/>
                  </a:lnTo>
                  <a:lnTo>
                    <a:pt x="309" y="2"/>
                  </a:lnTo>
                  <a:lnTo>
                    <a:pt x="313" y="0"/>
                  </a:lnTo>
                  <a:lnTo>
                    <a:pt x="317" y="0"/>
                  </a:lnTo>
                  <a:lnTo>
                    <a:pt x="319" y="0"/>
                  </a:lnTo>
                  <a:close/>
                  <a:moveTo>
                    <a:pt x="626" y="0"/>
                  </a:moveTo>
                  <a:lnTo>
                    <a:pt x="804" y="0"/>
                  </a:lnTo>
                  <a:lnTo>
                    <a:pt x="807" y="0"/>
                  </a:lnTo>
                  <a:lnTo>
                    <a:pt x="809" y="0"/>
                  </a:lnTo>
                  <a:lnTo>
                    <a:pt x="813" y="2"/>
                  </a:lnTo>
                  <a:lnTo>
                    <a:pt x="817" y="4"/>
                  </a:lnTo>
                  <a:lnTo>
                    <a:pt x="817" y="5"/>
                  </a:lnTo>
                  <a:lnTo>
                    <a:pt x="817" y="6"/>
                  </a:lnTo>
                  <a:lnTo>
                    <a:pt x="817" y="8"/>
                  </a:lnTo>
                  <a:lnTo>
                    <a:pt x="817" y="9"/>
                  </a:lnTo>
                  <a:lnTo>
                    <a:pt x="813" y="11"/>
                  </a:lnTo>
                  <a:lnTo>
                    <a:pt x="809" y="13"/>
                  </a:lnTo>
                  <a:lnTo>
                    <a:pt x="807" y="13"/>
                  </a:lnTo>
                  <a:lnTo>
                    <a:pt x="804" y="13"/>
                  </a:lnTo>
                  <a:lnTo>
                    <a:pt x="626" y="13"/>
                  </a:lnTo>
                  <a:lnTo>
                    <a:pt x="622" y="13"/>
                  </a:lnTo>
                  <a:lnTo>
                    <a:pt x="621" y="13"/>
                  </a:lnTo>
                  <a:lnTo>
                    <a:pt x="617" y="11"/>
                  </a:lnTo>
                  <a:lnTo>
                    <a:pt x="613" y="9"/>
                  </a:lnTo>
                  <a:lnTo>
                    <a:pt x="613" y="8"/>
                  </a:lnTo>
                  <a:lnTo>
                    <a:pt x="613" y="6"/>
                  </a:lnTo>
                  <a:lnTo>
                    <a:pt x="613" y="5"/>
                  </a:lnTo>
                  <a:lnTo>
                    <a:pt x="613" y="4"/>
                  </a:lnTo>
                  <a:lnTo>
                    <a:pt x="617" y="2"/>
                  </a:lnTo>
                  <a:lnTo>
                    <a:pt x="621" y="0"/>
                  </a:lnTo>
                  <a:lnTo>
                    <a:pt x="622" y="0"/>
                  </a:lnTo>
                  <a:lnTo>
                    <a:pt x="626" y="0"/>
                  </a:lnTo>
                  <a:close/>
                  <a:moveTo>
                    <a:pt x="932" y="0"/>
                  </a:moveTo>
                  <a:lnTo>
                    <a:pt x="1111" y="0"/>
                  </a:lnTo>
                  <a:lnTo>
                    <a:pt x="1113" y="0"/>
                  </a:lnTo>
                  <a:lnTo>
                    <a:pt x="1117" y="0"/>
                  </a:lnTo>
                  <a:lnTo>
                    <a:pt x="1120" y="2"/>
                  </a:lnTo>
                  <a:lnTo>
                    <a:pt x="1122" y="4"/>
                  </a:lnTo>
                  <a:lnTo>
                    <a:pt x="1124" y="5"/>
                  </a:lnTo>
                  <a:lnTo>
                    <a:pt x="1124" y="6"/>
                  </a:lnTo>
                  <a:lnTo>
                    <a:pt x="1124" y="8"/>
                  </a:lnTo>
                  <a:lnTo>
                    <a:pt x="1122" y="9"/>
                  </a:lnTo>
                  <a:lnTo>
                    <a:pt x="1120" y="11"/>
                  </a:lnTo>
                  <a:lnTo>
                    <a:pt x="1117" y="13"/>
                  </a:lnTo>
                  <a:lnTo>
                    <a:pt x="1113" y="13"/>
                  </a:lnTo>
                  <a:lnTo>
                    <a:pt x="1111" y="13"/>
                  </a:lnTo>
                  <a:lnTo>
                    <a:pt x="932" y="13"/>
                  </a:lnTo>
                  <a:lnTo>
                    <a:pt x="930" y="13"/>
                  </a:lnTo>
                  <a:lnTo>
                    <a:pt x="926" y="13"/>
                  </a:lnTo>
                  <a:lnTo>
                    <a:pt x="922" y="11"/>
                  </a:lnTo>
                  <a:lnTo>
                    <a:pt x="920" y="9"/>
                  </a:lnTo>
                  <a:lnTo>
                    <a:pt x="919" y="8"/>
                  </a:lnTo>
                  <a:lnTo>
                    <a:pt x="919" y="6"/>
                  </a:lnTo>
                  <a:lnTo>
                    <a:pt x="919" y="5"/>
                  </a:lnTo>
                  <a:lnTo>
                    <a:pt x="920" y="4"/>
                  </a:lnTo>
                  <a:lnTo>
                    <a:pt x="922" y="2"/>
                  </a:lnTo>
                  <a:lnTo>
                    <a:pt x="926" y="0"/>
                  </a:lnTo>
                  <a:lnTo>
                    <a:pt x="930" y="0"/>
                  </a:lnTo>
                  <a:lnTo>
                    <a:pt x="932" y="0"/>
                  </a:lnTo>
                  <a:close/>
                  <a:moveTo>
                    <a:pt x="1239" y="0"/>
                  </a:moveTo>
                  <a:lnTo>
                    <a:pt x="1417" y="0"/>
                  </a:lnTo>
                  <a:lnTo>
                    <a:pt x="1420" y="0"/>
                  </a:lnTo>
                  <a:lnTo>
                    <a:pt x="1422" y="0"/>
                  </a:lnTo>
                  <a:lnTo>
                    <a:pt x="1426" y="2"/>
                  </a:lnTo>
                  <a:lnTo>
                    <a:pt x="1430" y="4"/>
                  </a:lnTo>
                  <a:lnTo>
                    <a:pt x="1430" y="5"/>
                  </a:lnTo>
                  <a:lnTo>
                    <a:pt x="1430" y="6"/>
                  </a:lnTo>
                  <a:lnTo>
                    <a:pt x="1430" y="8"/>
                  </a:lnTo>
                  <a:lnTo>
                    <a:pt x="1430" y="9"/>
                  </a:lnTo>
                  <a:lnTo>
                    <a:pt x="1426" y="11"/>
                  </a:lnTo>
                  <a:lnTo>
                    <a:pt x="1422" y="13"/>
                  </a:lnTo>
                  <a:lnTo>
                    <a:pt x="1420" y="13"/>
                  </a:lnTo>
                  <a:lnTo>
                    <a:pt x="1417" y="13"/>
                  </a:lnTo>
                  <a:lnTo>
                    <a:pt x="1239" y="13"/>
                  </a:lnTo>
                  <a:lnTo>
                    <a:pt x="1235" y="13"/>
                  </a:lnTo>
                  <a:lnTo>
                    <a:pt x="1234" y="13"/>
                  </a:lnTo>
                  <a:lnTo>
                    <a:pt x="1230" y="11"/>
                  </a:lnTo>
                  <a:lnTo>
                    <a:pt x="1226" y="9"/>
                  </a:lnTo>
                  <a:lnTo>
                    <a:pt x="1226" y="8"/>
                  </a:lnTo>
                  <a:lnTo>
                    <a:pt x="1226" y="6"/>
                  </a:lnTo>
                  <a:lnTo>
                    <a:pt x="1226" y="5"/>
                  </a:lnTo>
                  <a:lnTo>
                    <a:pt x="1226" y="4"/>
                  </a:lnTo>
                  <a:lnTo>
                    <a:pt x="1230" y="2"/>
                  </a:lnTo>
                  <a:lnTo>
                    <a:pt x="1234" y="0"/>
                  </a:lnTo>
                  <a:lnTo>
                    <a:pt x="1235" y="0"/>
                  </a:lnTo>
                  <a:lnTo>
                    <a:pt x="1239" y="0"/>
                  </a:lnTo>
                  <a:close/>
                  <a:moveTo>
                    <a:pt x="1545" y="0"/>
                  </a:moveTo>
                  <a:lnTo>
                    <a:pt x="1724" y="0"/>
                  </a:lnTo>
                  <a:lnTo>
                    <a:pt x="1726" y="0"/>
                  </a:lnTo>
                  <a:lnTo>
                    <a:pt x="1730" y="0"/>
                  </a:lnTo>
                  <a:lnTo>
                    <a:pt x="1733" y="2"/>
                  </a:lnTo>
                  <a:lnTo>
                    <a:pt x="1735" y="4"/>
                  </a:lnTo>
                  <a:lnTo>
                    <a:pt x="1737" y="5"/>
                  </a:lnTo>
                  <a:lnTo>
                    <a:pt x="1737" y="6"/>
                  </a:lnTo>
                  <a:lnTo>
                    <a:pt x="1737" y="8"/>
                  </a:lnTo>
                  <a:lnTo>
                    <a:pt x="1735" y="9"/>
                  </a:lnTo>
                  <a:lnTo>
                    <a:pt x="1733" y="11"/>
                  </a:lnTo>
                  <a:lnTo>
                    <a:pt x="1730" y="13"/>
                  </a:lnTo>
                  <a:lnTo>
                    <a:pt x="1726" y="13"/>
                  </a:lnTo>
                  <a:lnTo>
                    <a:pt x="1724" y="13"/>
                  </a:lnTo>
                  <a:lnTo>
                    <a:pt x="1545" y="13"/>
                  </a:lnTo>
                  <a:lnTo>
                    <a:pt x="1543" y="13"/>
                  </a:lnTo>
                  <a:lnTo>
                    <a:pt x="1541" y="13"/>
                  </a:lnTo>
                  <a:lnTo>
                    <a:pt x="1535" y="11"/>
                  </a:lnTo>
                  <a:lnTo>
                    <a:pt x="1533" y="9"/>
                  </a:lnTo>
                  <a:lnTo>
                    <a:pt x="1533" y="8"/>
                  </a:lnTo>
                  <a:lnTo>
                    <a:pt x="1532" y="6"/>
                  </a:lnTo>
                  <a:lnTo>
                    <a:pt x="1533" y="5"/>
                  </a:lnTo>
                  <a:lnTo>
                    <a:pt x="1533" y="4"/>
                  </a:lnTo>
                  <a:lnTo>
                    <a:pt x="1535" y="2"/>
                  </a:lnTo>
                  <a:lnTo>
                    <a:pt x="1541" y="0"/>
                  </a:lnTo>
                  <a:lnTo>
                    <a:pt x="1543" y="0"/>
                  </a:lnTo>
                  <a:lnTo>
                    <a:pt x="1545" y="0"/>
                  </a:lnTo>
                  <a:close/>
                  <a:moveTo>
                    <a:pt x="1852" y="0"/>
                  </a:moveTo>
                  <a:lnTo>
                    <a:pt x="2031" y="0"/>
                  </a:lnTo>
                  <a:lnTo>
                    <a:pt x="2033" y="0"/>
                  </a:lnTo>
                  <a:lnTo>
                    <a:pt x="2035" y="0"/>
                  </a:lnTo>
                  <a:lnTo>
                    <a:pt x="2039" y="2"/>
                  </a:lnTo>
                  <a:lnTo>
                    <a:pt x="2043" y="4"/>
                  </a:lnTo>
                  <a:lnTo>
                    <a:pt x="2043" y="5"/>
                  </a:lnTo>
                  <a:lnTo>
                    <a:pt x="2043" y="6"/>
                  </a:lnTo>
                  <a:lnTo>
                    <a:pt x="2043" y="8"/>
                  </a:lnTo>
                  <a:lnTo>
                    <a:pt x="2043" y="9"/>
                  </a:lnTo>
                  <a:lnTo>
                    <a:pt x="2039" y="11"/>
                  </a:lnTo>
                  <a:lnTo>
                    <a:pt x="2035" y="13"/>
                  </a:lnTo>
                  <a:lnTo>
                    <a:pt x="2033" y="13"/>
                  </a:lnTo>
                  <a:lnTo>
                    <a:pt x="2031" y="13"/>
                  </a:lnTo>
                  <a:lnTo>
                    <a:pt x="1852" y="13"/>
                  </a:lnTo>
                  <a:lnTo>
                    <a:pt x="1848" y="13"/>
                  </a:lnTo>
                  <a:lnTo>
                    <a:pt x="1847" y="13"/>
                  </a:lnTo>
                  <a:lnTo>
                    <a:pt x="1843" y="11"/>
                  </a:lnTo>
                  <a:lnTo>
                    <a:pt x="1839" y="9"/>
                  </a:lnTo>
                  <a:lnTo>
                    <a:pt x="1839" y="8"/>
                  </a:lnTo>
                  <a:lnTo>
                    <a:pt x="1839" y="6"/>
                  </a:lnTo>
                  <a:lnTo>
                    <a:pt x="1839" y="5"/>
                  </a:lnTo>
                  <a:lnTo>
                    <a:pt x="1839" y="4"/>
                  </a:lnTo>
                  <a:lnTo>
                    <a:pt x="1843" y="2"/>
                  </a:lnTo>
                  <a:lnTo>
                    <a:pt x="1847" y="0"/>
                  </a:lnTo>
                  <a:lnTo>
                    <a:pt x="1848" y="0"/>
                  </a:lnTo>
                  <a:lnTo>
                    <a:pt x="1852" y="0"/>
                  </a:lnTo>
                  <a:close/>
                  <a:moveTo>
                    <a:pt x="2158" y="0"/>
                  </a:moveTo>
                  <a:lnTo>
                    <a:pt x="2337" y="0"/>
                  </a:lnTo>
                  <a:lnTo>
                    <a:pt x="2341" y="0"/>
                  </a:lnTo>
                  <a:lnTo>
                    <a:pt x="2343" y="0"/>
                  </a:lnTo>
                  <a:lnTo>
                    <a:pt x="2346" y="2"/>
                  </a:lnTo>
                  <a:lnTo>
                    <a:pt x="2348" y="4"/>
                  </a:lnTo>
                  <a:lnTo>
                    <a:pt x="2350" y="5"/>
                  </a:lnTo>
                  <a:lnTo>
                    <a:pt x="2350" y="6"/>
                  </a:lnTo>
                  <a:lnTo>
                    <a:pt x="2350" y="8"/>
                  </a:lnTo>
                  <a:lnTo>
                    <a:pt x="2348" y="9"/>
                  </a:lnTo>
                  <a:lnTo>
                    <a:pt x="2346" y="11"/>
                  </a:lnTo>
                  <a:lnTo>
                    <a:pt x="2343" y="13"/>
                  </a:lnTo>
                  <a:lnTo>
                    <a:pt x="2341" y="13"/>
                  </a:lnTo>
                  <a:lnTo>
                    <a:pt x="2337" y="13"/>
                  </a:lnTo>
                  <a:lnTo>
                    <a:pt x="2158" y="13"/>
                  </a:lnTo>
                  <a:lnTo>
                    <a:pt x="2156" y="13"/>
                  </a:lnTo>
                  <a:lnTo>
                    <a:pt x="2154" y="13"/>
                  </a:lnTo>
                  <a:lnTo>
                    <a:pt x="2148" y="11"/>
                  </a:lnTo>
                  <a:lnTo>
                    <a:pt x="2146" y="9"/>
                  </a:lnTo>
                  <a:lnTo>
                    <a:pt x="2146" y="8"/>
                  </a:lnTo>
                  <a:lnTo>
                    <a:pt x="2146" y="6"/>
                  </a:lnTo>
                  <a:lnTo>
                    <a:pt x="2146" y="5"/>
                  </a:lnTo>
                  <a:lnTo>
                    <a:pt x="2146" y="4"/>
                  </a:lnTo>
                  <a:lnTo>
                    <a:pt x="2148" y="2"/>
                  </a:lnTo>
                  <a:lnTo>
                    <a:pt x="2154" y="0"/>
                  </a:lnTo>
                  <a:lnTo>
                    <a:pt x="2156" y="0"/>
                  </a:lnTo>
                  <a:lnTo>
                    <a:pt x="2158" y="0"/>
                  </a:lnTo>
                  <a:close/>
                  <a:moveTo>
                    <a:pt x="2465" y="0"/>
                  </a:moveTo>
                  <a:lnTo>
                    <a:pt x="2644" y="0"/>
                  </a:lnTo>
                  <a:lnTo>
                    <a:pt x="2646" y="0"/>
                  </a:lnTo>
                  <a:lnTo>
                    <a:pt x="2648" y="0"/>
                  </a:lnTo>
                  <a:lnTo>
                    <a:pt x="2652" y="2"/>
                  </a:lnTo>
                  <a:lnTo>
                    <a:pt x="2656" y="4"/>
                  </a:lnTo>
                  <a:lnTo>
                    <a:pt x="2656" y="5"/>
                  </a:lnTo>
                  <a:lnTo>
                    <a:pt x="2656" y="6"/>
                  </a:lnTo>
                  <a:lnTo>
                    <a:pt x="2656" y="8"/>
                  </a:lnTo>
                  <a:lnTo>
                    <a:pt x="2656" y="9"/>
                  </a:lnTo>
                  <a:lnTo>
                    <a:pt x="2652" y="11"/>
                  </a:lnTo>
                  <a:lnTo>
                    <a:pt x="2648" y="13"/>
                  </a:lnTo>
                  <a:lnTo>
                    <a:pt x="2646" y="13"/>
                  </a:lnTo>
                  <a:lnTo>
                    <a:pt x="2644" y="13"/>
                  </a:lnTo>
                  <a:lnTo>
                    <a:pt x="2465" y="13"/>
                  </a:lnTo>
                  <a:lnTo>
                    <a:pt x="2463" y="13"/>
                  </a:lnTo>
                  <a:lnTo>
                    <a:pt x="2460" y="13"/>
                  </a:lnTo>
                  <a:lnTo>
                    <a:pt x="2456" y="11"/>
                  </a:lnTo>
                  <a:lnTo>
                    <a:pt x="2454" y="9"/>
                  </a:lnTo>
                  <a:lnTo>
                    <a:pt x="2452" y="8"/>
                  </a:lnTo>
                  <a:lnTo>
                    <a:pt x="2452" y="6"/>
                  </a:lnTo>
                  <a:lnTo>
                    <a:pt x="2452" y="5"/>
                  </a:lnTo>
                  <a:lnTo>
                    <a:pt x="2454" y="4"/>
                  </a:lnTo>
                  <a:lnTo>
                    <a:pt x="2456" y="2"/>
                  </a:lnTo>
                  <a:lnTo>
                    <a:pt x="2460" y="0"/>
                  </a:lnTo>
                  <a:lnTo>
                    <a:pt x="2463" y="0"/>
                  </a:lnTo>
                  <a:lnTo>
                    <a:pt x="2465" y="0"/>
                  </a:lnTo>
                  <a:close/>
                  <a:moveTo>
                    <a:pt x="2771" y="0"/>
                  </a:moveTo>
                  <a:lnTo>
                    <a:pt x="2950" y="0"/>
                  </a:lnTo>
                  <a:lnTo>
                    <a:pt x="2954" y="0"/>
                  </a:lnTo>
                  <a:lnTo>
                    <a:pt x="2956" y="0"/>
                  </a:lnTo>
                  <a:lnTo>
                    <a:pt x="2959" y="2"/>
                  </a:lnTo>
                  <a:lnTo>
                    <a:pt x="2961" y="4"/>
                  </a:lnTo>
                  <a:lnTo>
                    <a:pt x="2963" y="5"/>
                  </a:lnTo>
                  <a:lnTo>
                    <a:pt x="2963" y="6"/>
                  </a:lnTo>
                  <a:lnTo>
                    <a:pt x="2963" y="8"/>
                  </a:lnTo>
                  <a:lnTo>
                    <a:pt x="2961" y="9"/>
                  </a:lnTo>
                  <a:lnTo>
                    <a:pt x="2959" y="11"/>
                  </a:lnTo>
                  <a:lnTo>
                    <a:pt x="2956" y="13"/>
                  </a:lnTo>
                  <a:lnTo>
                    <a:pt x="2954" y="13"/>
                  </a:lnTo>
                  <a:lnTo>
                    <a:pt x="2950" y="13"/>
                  </a:lnTo>
                  <a:lnTo>
                    <a:pt x="2771" y="13"/>
                  </a:lnTo>
                  <a:lnTo>
                    <a:pt x="2769" y="13"/>
                  </a:lnTo>
                  <a:lnTo>
                    <a:pt x="2767" y="13"/>
                  </a:lnTo>
                  <a:lnTo>
                    <a:pt x="2763" y="11"/>
                  </a:lnTo>
                  <a:lnTo>
                    <a:pt x="2759" y="9"/>
                  </a:lnTo>
                  <a:lnTo>
                    <a:pt x="2759" y="8"/>
                  </a:lnTo>
                  <a:lnTo>
                    <a:pt x="2759" y="6"/>
                  </a:lnTo>
                  <a:lnTo>
                    <a:pt x="2759" y="5"/>
                  </a:lnTo>
                  <a:lnTo>
                    <a:pt x="2759" y="4"/>
                  </a:lnTo>
                  <a:lnTo>
                    <a:pt x="2763" y="2"/>
                  </a:lnTo>
                  <a:lnTo>
                    <a:pt x="2767" y="0"/>
                  </a:lnTo>
                  <a:lnTo>
                    <a:pt x="2769" y="0"/>
                  </a:lnTo>
                  <a:lnTo>
                    <a:pt x="2771" y="0"/>
                  </a:lnTo>
                  <a:close/>
                  <a:moveTo>
                    <a:pt x="3078" y="0"/>
                  </a:moveTo>
                  <a:lnTo>
                    <a:pt x="3257" y="0"/>
                  </a:lnTo>
                  <a:lnTo>
                    <a:pt x="3259" y="0"/>
                  </a:lnTo>
                  <a:lnTo>
                    <a:pt x="3261" y="0"/>
                  </a:lnTo>
                  <a:lnTo>
                    <a:pt x="3267" y="2"/>
                  </a:lnTo>
                  <a:lnTo>
                    <a:pt x="3269" y="4"/>
                  </a:lnTo>
                  <a:lnTo>
                    <a:pt x="3269" y="5"/>
                  </a:lnTo>
                  <a:lnTo>
                    <a:pt x="3271" y="6"/>
                  </a:lnTo>
                  <a:lnTo>
                    <a:pt x="3269" y="8"/>
                  </a:lnTo>
                  <a:lnTo>
                    <a:pt x="3269" y="9"/>
                  </a:lnTo>
                  <a:lnTo>
                    <a:pt x="3267" y="11"/>
                  </a:lnTo>
                  <a:lnTo>
                    <a:pt x="3261" y="13"/>
                  </a:lnTo>
                  <a:lnTo>
                    <a:pt x="3259" y="13"/>
                  </a:lnTo>
                  <a:lnTo>
                    <a:pt x="3257" y="13"/>
                  </a:lnTo>
                  <a:lnTo>
                    <a:pt x="3078" y="13"/>
                  </a:lnTo>
                  <a:lnTo>
                    <a:pt x="3076" y="13"/>
                  </a:lnTo>
                  <a:lnTo>
                    <a:pt x="3073" y="13"/>
                  </a:lnTo>
                  <a:lnTo>
                    <a:pt x="3069" y="11"/>
                  </a:lnTo>
                  <a:lnTo>
                    <a:pt x="3067" y="9"/>
                  </a:lnTo>
                  <a:lnTo>
                    <a:pt x="3065" y="8"/>
                  </a:lnTo>
                  <a:lnTo>
                    <a:pt x="3065" y="6"/>
                  </a:lnTo>
                  <a:lnTo>
                    <a:pt x="3065" y="5"/>
                  </a:lnTo>
                  <a:lnTo>
                    <a:pt x="3067" y="4"/>
                  </a:lnTo>
                  <a:lnTo>
                    <a:pt x="3069" y="2"/>
                  </a:lnTo>
                  <a:lnTo>
                    <a:pt x="3073" y="0"/>
                  </a:lnTo>
                  <a:lnTo>
                    <a:pt x="3076" y="0"/>
                  </a:lnTo>
                  <a:lnTo>
                    <a:pt x="3078" y="0"/>
                  </a:lnTo>
                  <a:close/>
                  <a:moveTo>
                    <a:pt x="3386" y="0"/>
                  </a:moveTo>
                  <a:lnTo>
                    <a:pt x="3563" y="0"/>
                  </a:lnTo>
                  <a:lnTo>
                    <a:pt x="3567" y="0"/>
                  </a:lnTo>
                  <a:lnTo>
                    <a:pt x="3569" y="0"/>
                  </a:lnTo>
                  <a:lnTo>
                    <a:pt x="3572" y="2"/>
                  </a:lnTo>
                  <a:lnTo>
                    <a:pt x="3576" y="4"/>
                  </a:lnTo>
                  <a:lnTo>
                    <a:pt x="3576" y="5"/>
                  </a:lnTo>
                  <a:lnTo>
                    <a:pt x="3576" y="6"/>
                  </a:lnTo>
                  <a:lnTo>
                    <a:pt x="3576" y="8"/>
                  </a:lnTo>
                  <a:lnTo>
                    <a:pt x="3576" y="9"/>
                  </a:lnTo>
                  <a:lnTo>
                    <a:pt x="3572" y="11"/>
                  </a:lnTo>
                  <a:lnTo>
                    <a:pt x="3569" y="13"/>
                  </a:lnTo>
                  <a:lnTo>
                    <a:pt x="3567" y="13"/>
                  </a:lnTo>
                  <a:lnTo>
                    <a:pt x="3563" y="13"/>
                  </a:lnTo>
                  <a:lnTo>
                    <a:pt x="3386" y="13"/>
                  </a:lnTo>
                  <a:lnTo>
                    <a:pt x="3382" y="13"/>
                  </a:lnTo>
                  <a:lnTo>
                    <a:pt x="3380" y="13"/>
                  </a:lnTo>
                  <a:lnTo>
                    <a:pt x="3376" y="11"/>
                  </a:lnTo>
                  <a:lnTo>
                    <a:pt x="3373" y="9"/>
                  </a:lnTo>
                  <a:lnTo>
                    <a:pt x="3373" y="8"/>
                  </a:lnTo>
                  <a:lnTo>
                    <a:pt x="3373" y="6"/>
                  </a:lnTo>
                  <a:lnTo>
                    <a:pt x="3373" y="5"/>
                  </a:lnTo>
                  <a:lnTo>
                    <a:pt x="3373" y="4"/>
                  </a:lnTo>
                  <a:lnTo>
                    <a:pt x="3376" y="2"/>
                  </a:lnTo>
                  <a:lnTo>
                    <a:pt x="3380" y="0"/>
                  </a:lnTo>
                  <a:lnTo>
                    <a:pt x="3382" y="0"/>
                  </a:lnTo>
                  <a:lnTo>
                    <a:pt x="3386" y="0"/>
                  </a:lnTo>
                  <a:close/>
                  <a:moveTo>
                    <a:pt x="3691" y="0"/>
                  </a:moveTo>
                  <a:lnTo>
                    <a:pt x="3870" y="0"/>
                  </a:lnTo>
                  <a:lnTo>
                    <a:pt x="3872" y="0"/>
                  </a:lnTo>
                  <a:lnTo>
                    <a:pt x="3876" y="0"/>
                  </a:lnTo>
                  <a:lnTo>
                    <a:pt x="3880" y="2"/>
                  </a:lnTo>
                  <a:lnTo>
                    <a:pt x="3882" y="4"/>
                  </a:lnTo>
                  <a:lnTo>
                    <a:pt x="3884" y="5"/>
                  </a:lnTo>
                  <a:lnTo>
                    <a:pt x="3884" y="6"/>
                  </a:lnTo>
                  <a:lnTo>
                    <a:pt x="3884" y="8"/>
                  </a:lnTo>
                  <a:lnTo>
                    <a:pt x="3882" y="9"/>
                  </a:lnTo>
                  <a:lnTo>
                    <a:pt x="3880" y="11"/>
                  </a:lnTo>
                  <a:lnTo>
                    <a:pt x="3876" y="13"/>
                  </a:lnTo>
                  <a:lnTo>
                    <a:pt x="3872" y="13"/>
                  </a:lnTo>
                  <a:lnTo>
                    <a:pt x="3870" y="13"/>
                  </a:lnTo>
                  <a:lnTo>
                    <a:pt x="3691" y="13"/>
                  </a:lnTo>
                  <a:lnTo>
                    <a:pt x="3689" y="13"/>
                  </a:lnTo>
                  <a:lnTo>
                    <a:pt x="3686" y="13"/>
                  </a:lnTo>
                  <a:lnTo>
                    <a:pt x="3682" y="11"/>
                  </a:lnTo>
                  <a:lnTo>
                    <a:pt x="3680" y="9"/>
                  </a:lnTo>
                  <a:lnTo>
                    <a:pt x="3678" y="8"/>
                  </a:lnTo>
                  <a:lnTo>
                    <a:pt x="3678" y="6"/>
                  </a:lnTo>
                  <a:lnTo>
                    <a:pt x="3678" y="5"/>
                  </a:lnTo>
                  <a:lnTo>
                    <a:pt x="3680" y="4"/>
                  </a:lnTo>
                  <a:lnTo>
                    <a:pt x="3682" y="2"/>
                  </a:lnTo>
                  <a:lnTo>
                    <a:pt x="3686" y="0"/>
                  </a:lnTo>
                  <a:lnTo>
                    <a:pt x="3689" y="0"/>
                  </a:lnTo>
                  <a:lnTo>
                    <a:pt x="3691" y="0"/>
                  </a:lnTo>
                  <a:close/>
                  <a:moveTo>
                    <a:pt x="3999" y="0"/>
                  </a:moveTo>
                  <a:lnTo>
                    <a:pt x="4065" y="0"/>
                  </a:lnTo>
                  <a:lnTo>
                    <a:pt x="4067" y="0"/>
                  </a:lnTo>
                  <a:lnTo>
                    <a:pt x="4068" y="0"/>
                  </a:lnTo>
                  <a:lnTo>
                    <a:pt x="4074" y="2"/>
                  </a:lnTo>
                  <a:lnTo>
                    <a:pt x="4076" y="4"/>
                  </a:lnTo>
                  <a:lnTo>
                    <a:pt x="4078" y="5"/>
                  </a:lnTo>
                  <a:lnTo>
                    <a:pt x="4078" y="6"/>
                  </a:lnTo>
                  <a:lnTo>
                    <a:pt x="4078" y="8"/>
                  </a:lnTo>
                  <a:lnTo>
                    <a:pt x="4076" y="9"/>
                  </a:lnTo>
                  <a:lnTo>
                    <a:pt x="4074" y="11"/>
                  </a:lnTo>
                  <a:lnTo>
                    <a:pt x="4068" y="13"/>
                  </a:lnTo>
                  <a:lnTo>
                    <a:pt x="4067" y="13"/>
                  </a:lnTo>
                  <a:lnTo>
                    <a:pt x="4065" y="13"/>
                  </a:lnTo>
                  <a:lnTo>
                    <a:pt x="3999" y="13"/>
                  </a:lnTo>
                  <a:lnTo>
                    <a:pt x="3995" y="13"/>
                  </a:lnTo>
                  <a:lnTo>
                    <a:pt x="3993" y="13"/>
                  </a:lnTo>
                  <a:lnTo>
                    <a:pt x="3989" y="11"/>
                  </a:lnTo>
                  <a:lnTo>
                    <a:pt x="3986" y="9"/>
                  </a:lnTo>
                  <a:lnTo>
                    <a:pt x="3986" y="8"/>
                  </a:lnTo>
                  <a:lnTo>
                    <a:pt x="3986" y="6"/>
                  </a:lnTo>
                  <a:lnTo>
                    <a:pt x="3986" y="5"/>
                  </a:lnTo>
                  <a:lnTo>
                    <a:pt x="3986" y="4"/>
                  </a:lnTo>
                  <a:lnTo>
                    <a:pt x="3989" y="2"/>
                  </a:lnTo>
                  <a:lnTo>
                    <a:pt x="3993" y="0"/>
                  </a:lnTo>
                  <a:lnTo>
                    <a:pt x="3995" y="0"/>
                  </a:lnTo>
                  <a:lnTo>
                    <a:pt x="3999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90" name="Rectangle 246"/>
            <p:cNvSpPr>
              <a:spLocks noChangeArrowheads="1"/>
            </p:cNvSpPr>
            <p:nvPr/>
          </p:nvSpPr>
          <p:spPr bwMode="auto">
            <a:xfrm>
              <a:off x="3909" y="2901"/>
              <a:ext cx="59" cy="11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/>
            </a:p>
          </p:txBody>
        </p:sp>
        <p:sp>
          <p:nvSpPr>
            <p:cNvPr id="95291" name="Rectangle 247"/>
            <p:cNvSpPr>
              <a:spLocks noChangeArrowheads="1"/>
            </p:cNvSpPr>
            <p:nvPr/>
          </p:nvSpPr>
          <p:spPr bwMode="auto">
            <a:xfrm>
              <a:off x="3697" y="3145"/>
              <a:ext cx="197" cy="18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/2</a:t>
              </a:r>
              <a:endParaRPr lang="en-US" altLang="zh-CN" sz="2000"/>
            </a:p>
          </p:txBody>
        </p:sp>
        <p:sp>
          <p:nvSpPr>
            <p:cNvPr id="95292" name="Rectangle 248"/>
            <p:cNvSpPr>
              <a:spLocks noChangeArrowheads="1"/>
            </p:cNvSpPr>
            <p:nvPr/>
          </p:nvSpPr>
          <p:spPr bwMode="auto">
            <a:xfrm>
              <a:off x="3425" y="3281"/>
              <a:ext cx="102" cy="21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</a:p>
          </p:txBody>
        </p:sp>
        <p:sp>
          <p:nvSpPr>
            <p:cNvPr id="95293" name="Freeform 249"/>
            <p:cNvSpPr>
              <a:spLocks noEditPoints="1"/>
            </p:cNvSpPr>
            <p:nvPr/>
          </p:nvSpPr>
          <p:spPr bwMode="auto">
            <a:xfrm>
              <a:off x="3378" y="3608"/>
              <a:ext cx="1980" cy="8"/>
            </a:xfrm>
            <a:custGeom>
              <a:avLst/>
              <a:gdLst>
                <a:gd name="T0" fmla="*/ 1 w 3961"/>
                <a:gd name="T1" fmla="*/ 5 h 8"/>
                <a:gd name="T2" fmla="*/ 0 w 3961"/>
                <a:gd name="T3" fmla="*/ 5 h 8"/>
                <a:gd name="T4" fmla="*/ 3 w 3961"/>
                <a:gd name="T5" fmla="*/ 0 h 8"/>
                <a:gd name="T6" fmla="*/ 4 w 3961"/>
                <a:gd name="T7" fmla="*/ 6 h 8"/>
                <a:gd name="T8" fmla="*/ 2 w 3961"/>
                <a:gd name="T9" fmla="*/ 4 h 8"/>
                <a:gd name="T10" fmla="*/ 7 w 3961"/>
                <a:gd name="T11" fmla="*/ 0 h 8"/>
                <a:gd name="T12" fmla="*/ 7 w 3961"/>
                <a:gd name="T13" fmla="*/ 7 h 8"/>
                <a:gd name="T14" fmla="*/ 5 w 3961"/>
                <a:gd name="T15" fmla="*/ 2 h 8"/>
                <a:gd name="T16" fmla="*/ 10 w 3961"/>
                <a:gd name="T17" fmla="*/ 0 h 8"/>
                <a:gd name="T18" fmla="*/ 10 w 3961"/>
                <a:gd name="T19" fmla="*/ 8 h 8"/>
                <a:gd name="T20" fmla="*/ 8 w 3961"/>
                <a:gd name="T21" fmla="*/ 1 h 8"/>
                <a:gd name="T22" fmla="*/ 13 w 3961"/>
                <a:gd name="T23" fmla="*/ 1 h 8"/>
                <a:gd name="T24" fmla="*/ 11 w 3961"/>
                <a:gd name="T25" fmla="*/ 8 h 8"/>
                <a:gd name="T26" fmla="*/ 11 w 3961"/>
                <a:gd name="T27" fmla="*/ 0 h 8"/>
                <a:gd name="T28" fmla="*/ 16 w 3961"/>
                <a:gd name="T29" fmla="*/ 2 h 8"/>
                <a:gd name="T30" fmla="*/ 14 w 3961"/>
                <a:gd name="T31" fmla="*/ 7 h 8"/>
                <a:gd name="T32" fmla="*/ 14 w 3961"/>
                <a:gd name="T33" fmla="*/ 0 h 8"/>
                <a:gd name="T34" fmla="*/ 19 w 3961"/>
                <a:gd name="T35" fmla="*/ 4 h 8"/>
                <a:gd name="T36" fmla="*/ 17 w 3961"/>
                <a:gd name="T37" fmla="*/ 6 h 8"/>
                <a:gd name="T38" fmla="*/ 17 w 3961"/>
                <a:gd name="T39" fmla="*/ 0 h 8"/>
                <a:gd name="T40" fmla="*/ 22 w 3961"/>
                <a:gd name="T41" fmla="*/ 5 h 8"/>
                <a:gd name="T42" fmla="*/ 20 w 3961"/>
                <a:gd name="T43" fmla="*/ 5 h 8"/>
                <a:gd name="T44" fmla="*/ 23 w 3961"/>
                <a:gd name="T45" fmla="*/ 0 h 8"/>
                <a:gd name="T46" fmla="*/ 24 w 3961"/>
                <a:gd name="T47" fmla="*/ 6 h 8"/>
                <a:gd name="T48" fmla="*/ 23 w 3961"/>
                <a:gd name="T49" fmla="*/ 4 h 8"/>
                <a:gd name="T50" fmla="*/ 27 w 3961"/>
                <a:gd name="T51" fmla="*/ 0 h 8"/>
                <a:gd name="T52" fmla="*/ 27 w 3961"/>
                <a:gd name="T53" fmla="*/ 7 h 8"/>
                <a:gd name="T54" fmla="*/ 25 w 3961"/>
                <a:gd name="T55" fmla="*/ 2 h 8"/>
                <a:gd name="T56" fmla="*/ 30 w 3961"/>
                <a:gd name="T57" fmla="*/ 0 h 8"/>
                <a:gd name="T58" fmla="*/ 30 w 3961"/>
                <a:gd name="T59" fmla="*/ 8 h 8"/>
                <a:gd name="T60" fmla="*/ 28 w 3961"/>
                <a:gd name="T61" fmla="*/ 1 h 8"/>
                <a:gd name="T62" fmla="*/ 33 w 3961"/>
                <a:gd name="T63" fmla="*/ 1 h 8"/>
                <a:gd name="T64" fmla="*/ 31 w 3961"/>
                <a:gd name="T65" fmla="*/ 8 h 8"/>
                <a:gd name="T66" fmla="*/ 31 w 3961"/>
                <a:gd name="T67" fmla="*/ 0 h 8"/>
                <a:gd name="T68" fmla="*/ 36 w 3961"/>
                <a:gd name="T69" fmla="*/ 2 h 8"/>
                <a:gd name="T70" fmla="*/ 34 w 3961"/>
                <a:gd name="T71" fmla="*/ 7 h 8"/>
                <a:gd name="T72" fmla="*/ 34 w 3961"/>
                <a:gd name="T73" fmla="*/ 0 h 8"/>
                <a:gd name="T74" fmla="*/ 39 w 3961"/>
                <a:gd name="T75" fmla="*/ 4 h 8"/>
                <a:gd name="T76" fmla="*/ 37 w 3961"/>
                <a:gd name="T77" fmla="*/ 6 h 8"/>
                <a:gd name="T78" fmla="*/ 37 w 3961"/>
                <a:gd name="T79" fmla="*/ 0 h 8"/>
                <a:gd name="T80" fmla="*/ 42 w 3961"/>
                <a:gd name="T81" fmla="*/ 5 h 8"/>
                <a:gd name="T82" fmla="*/ 40 w 3961"/>
                <a:gd name="T83" fmla="*/ 5 h 8"/>
                <a:gd name="T84" fmla="*/ 43 w 3961"/>
                <a:gd name="T85" fmla="*/ 0 h 8"/>
                <a:gd name="T86" fmla="*/ 45 w 3961"/>
                <a:gd name="T87" fmla="*/ 6 h 8"/>
                <a:gd name="T88" fmla="*/ 43 w 3961"/>
                <a:gd name="T89" fmla="*/ 4 h 8"/>
                <a:gd name="T90" fmla="*/ 47 w 3961"/>
                <a:gd name="T91" fmla="*/ 0 h 8"/>
                <a:gd name="T92" fmla="*/ 47 w 3961"/>
                <a:gd name="T93" fmla="*/ 7 h 8"/>
                <a:gd name="T94" fmla="*/ 46 w 3961"/>
                <a:gd name="T95" fmla="*/ 2 h 8"/>
                <a:gd name="T96" fmla="*/ 50 w 3961"/>
                <a:gd name="T97" fmla="*/ 0 h 8"/>
                <a:gd name="T98" fmla="*/ 50 w 3961"/>
                <a:gd name="T99" fmla="*/ 8 h 8"/>
                <a:gd name="T100" fmla="*/ 48 w 3961"/>
                <a:gd name="T101" fmla="*/ 1 h 8"/>
                <a:gd name="T102" fmla="*/ 53 w 3961"/>
                <a:gd name="T103" fmla="*/ 1 h 8"/>
                <a:gd name="T104" fmla="*/ 51 w 3961"/>
                <a:gd name="T105" fmla="*/ 8 h 8"/>
                <a:gd name="T106" fmla="*/ 51 w 3961"/>
                <a:gd name="T107" fmla="*/ 0 h 8"/>
                <a:gd name="T108" fmla="*/ 56 w 3961"/>
                <a:gd name="T109" fmla="*/ 2 h 8"/>
                <a:gd name="T110" fmla="*/ 54 w 3961"/>
                <a:gd name="T111" fmla="*/ 7 h 8"/>
                <a:gd name="T112" fmla="*/ 54 w 3961"/>
                <a:gd name="T113" fmla="*/ 0 h 8"/>
                <a:gd name="T114" fmla="*/ 59 w 3961"/>
                <a:gd name="T115" fmla="*/ 4 h 8"/>
                <a:gd name="T116" fmla="*/ 57 w 3961"/>
                <a:gd name="T117" fmla="*/ 6 h 8"/>
                <a:gd name="T118" fmla="*/ 57 w 3961"/>
                <a:gd name="T119" fmla="*/ 0 h 8"/>
                <a:gd name="T120" fmla="*/ 61 w 3961"/>
                <a:gd name="T121" fmla="*/ 5 h 8"/>
                <a:gd name="T122" fmla="*/ 60 w 3961"/>
                <a:gd name="T123" fmla="*/ 5 h 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961"/>
                <a:gd name="T187" fmla="*/ 0 h 8"/>
                <a:gd name="T188" fmla="*/ 3961 w 3961"/>
                <a:gd name="T189" fmla="*/ 8 h 8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961" h="8">
                  <a:moveTo>
                    <a:pt x="7" y="0"/>
                  </a:moveTo>
                  <a:lnTo>
                    <a:pt x="115" y="0"/>
                  </a:lnTo>
                  <a:lnTo>
                    <a:pt x="119" y="0"/>
                  </a:lnTo>
                  <a:lnTo>
                    <a:pt x="121" y="1"/>
                  </a:lnTo>
                  <a:lnTo>
                    <a:pt x="122" y="2"/>
                  </a:lnTo>
                  <a:lnTo>
                    <a:pt x="122" y="4"/>
                  </a:lnTo>
                  <a:lnTo>
                    <a:pt x="122" y="5"/>
                  </a:lnTo>
                  <a:lnTo>
                    <a:pt x="121" y="6"/>
                  </a:lnTo>
                  <a:lnTo>
                    <a:pt x="119" y="7"/>
                  </a:lnTo>
                  <a:lnTo>
                    <a:pt x="115" y="8"/>
                  </a:lnTo>
                  <a:lnTo>
                    <a:pt x="7" y="8"/>
                  </a:lnTo>
                  <a:lnTo>
                    <a:pt x="5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1"/>
                  </a:lnTo>
                  <a:lnTo>
                    <a:pt x="5" y="0"/>
                  </a:lnTo>
                  <a:lnTo>
                    <a:pt x="7" y="0"/>
                  </a:lnTo>
                  <a:close/>
                  <a:moveTo>
                    <a:pt x="192" y="0"/>
                  </a:moveTo>
                  <a:lnTo>
                    <a:pt x="300" y="0"/>
                  </a:lnTo>
                  <a:lnTo>
                    <a:pt x="302" y="0"/>
                  </a:lnTo>
                  <a:lnTo>
                    <a:pt x="305" y="1"/>
                  </a:lnTo>
                  <a:lnTo>
                    <a:pt x="307" y="2"/>
                  </a:lnTo>
                  <a:lnTo>
                    <a:pt x="307" y="4"/>
                  </a:lnTo>
                  <a:lnTo>
                    <a:pt x="307" y="5"/>
                  </a:lnTo>
                  <a:lnTo>
                    <a:pt x="305" y="6"/>
                  </a:lnTo>
                  <a:lnTo>
                    <a:pt x="302" y="7"/>
                  </a:lnTo>
                  <a:lnTo>
                    <a:pt x="300" y="8"/>
                  </a:lnTo>
                  <a:lnTo>
                    <a:pt x="192" y="8"/>
                  </a:lnTo>
                  <a:lnTo>
                    <a:pt x="188" y="7"/>
                  </a:lnTo>
                  <a:lnTo>
                    <a:pt x="187" y="6"/>
                  </a:lnTo>
                  <a:lnTo>
                    <a:pt x="185" y="5"/>
                  </a:lnTo>
                  <a:lnTo>
                    <a:pt x="185" y="4"/>
                  </a:lnTo>
                  <a:lnTo>
                    <a:pt x="185" y="2"/>
                  </a:lnTo>
                  <a:lnTo>
                    <a:pt x="187" y="1"/>
                  </a:lnTo>
                  <a:lnTo>
                    <a:pt x="188" y="0"/>
                  </a:lnTo>
                  <a:lnTo>
                    <a:pt x="192" y="0"/>
                  </a:lnTo>
                  <a:close/>
                  <a:moveTo>
                    <a:pt x="375" y="0"/>
                  </a:moveTo>
                  <a:lnTo>
                    <a:pt x="483" y="0"/>
                  </a:lnTo>
                  <a:lnTo>
                    <a:pt x="486" y="0"/>
                  </a:lnTo>
                  <a:lnTo>
                    <a:pt x="488" y="1"/>
                  </a:lnTo>
                  <a:lnTo>
                    <a:pt x="490" y="2"/>
                  </a:lnTo>
                  <a:lnTo>
                    <a:pt x="490" y="4"/>
                  </a:lnTo>
                  <a:lnTo>
                    <a:pt x="490" y="5"/>
                  </a:lnTo>
                  <a:lnTo>
                    <a:pt x="488" y="6"/>
                  </a:lnTo>
                  <a:lnTo>
                    <a:pt x="486" y="7"/>
                  </a:lnTo>
                  <a:lnTo>
                    <a:pt x="483" y="8"/>
                  </a:lnTo>
                  <a:lnTo>
                    <a:pt x="375" y="8"/>
                  </a:lnTo>
                  <a:lnTo>
                    <a:pt x="373" y="7"/>
                  </a:lnTo>
                  <a:lnTo>
                    <a:pt x="371" y="6"/>
                  </a:lnTo>
                  <a:lnTo>
                    <a:pt x="370" y="5"/>
                  </a:lnTo>
                  <a:lnTo>
                    <a:pt x="368" y="4"/>
                  </a:lnTo>
                  <a:lnTo>
                    <a:pt x="370" y="2"/>
                  </a:lnTo>
                  <a:lnTo>
                    <a:pt x="371" y="1"/>
                  </a:lnTo>
                  <a:lnTo>
                    <a:pt x="373" y="0"/>
                  </a:lnTo>
                  <a:lnTo>
                    <a:pt x="375" y="0"/>
                  </a:lnTo>
                  <a:close/>
                  <a:moveTo>
                    <a:pt x="560" y="0"/>
                  </a:moveTo>
                  <a:lnTo>
                    <a:pt x="668" y="0"/>
                  </a:lnTo>
                  <a:lnTo>
                    <a:pt x="669" y="0"/>
                  </a:lnTo>
                  <a:lnTo>
                    <a:pt x="673" y="1"/>
                  </a:lnTo>
                  <a:lnTo>
                    <a:pt x="675" y="2"/>
                  </a:lnTo>
                  <a:lnTo>
                    <a:pt x="675" y="4"/>
                  </a:lnTo>
                  <a:lnTo>
                    <a:pt x="675" y="5"/>
                  </a:lnTo>
                  <a:lnTo>
                    <a:pt x="673" y="6"/>
                  </a:lnTo>
                  <a:lnTo>
                    <a:pt x="669" y="7"/>
                  </a:lnTo>
                  <a:lnTo>
                    <a:pt x="668" y="8"/>
                  </a:lnTo>
                  <a:lnTo>
                    <a:pt x="560" y="8"/>
                  </a:lnTo>
                  <a:lnTo>
                    <a:pt x="556" y="7"/>
                  </a:lnTo>
                  <a:lnTo>
                    <a:pt x="554" y="6"/>
                  </a:lnTo>
                  <a:lnTo>
                    <a:pt x="552" y="5"/>
                  </a:lnTo>
                  <a:lnTo>
                    <a:pt x="552" y="4"/>
                  </a:lnTo>
                  <a:lnTo>
                    <a:pt x="552" y="2"/>
                  </a:lnTo>
                  <a:lnTo>
                    <a:pt x="554" y="1"/>
                  </a:lnTo>
                  <a:lnTo>
                    <a:pt x="556" y="0"/>
                  </a:lnTo>
                  <a:lnTo>
                    <a:pt x="560" y="0"/>
                  </a:lnTo>
                  <a:close/>
                  <a:moveTo>
                    <a:pt x="745" y="0"/>
                  </a:moveTo>
                  <a:lnTo>
                    <a:pt x="850" y="0"/>
                  </a:lnTo>
                  <a:lnTo>
                    <a:pt x="854" y="0"/>
                  </a:lnTo>
                  <a:lnTo>
                    <a:pt x="856" y="1"/>
                  </a:lnTo>
                  <a:lnTo>
                    <a:pt x="858" y="2"/>
                  </a:lnTo>
                  <a:lnTo>
                    <a:pt x="860" y="4"/>
                  </a:lnTo>
                  <a:lnTo>
                    <a:pt x="858" y="5"/>
                  </a:lnTo>
                  <a:lnTo>
                    <a:pt x="856" y="6"/>
                  </a:lnTo>
                  <a:lnTo>
                    <a:pt x="854" y="7"/>
                  </a:lnTo>
                  <a:lnTo>
                    <a:pt x="850" y="8"/>
                  </a:lnTo>
                  <a:lnTo>
                    <a:pt x="745" y="8"/>
                  </a:lnTo>
                  <a:lnTo>
                    <a:pt x="741" y="7"/>
                  </a:lnTo>
                  <a:lnTo>
                    <a:pt x="739" y="6"/>
                  </a:lnTo>
                  <a:lnTo>
                    <a:pt x="737" y="5"/>
                  </a:lnTo>
                  <a:lnTo>
                    <a:pt x="735" y="4"/>
                  </a:lnTo>
                  <a:lnTo>
                    <a:pt x="737" y="2"/>
                  </a:lnTo>
                  <a:lnTo>
                    <a:pt x="739" y="1"/>
                  </a:lnTo>
                  <a:lnTo>
                    <a:pt x="741" y="0"/>
                  </a:lnTo>
                  <a:lnTo>
                    <a:pt x="745" y="0"/>
                  </a:lnTo>
                  <a:close/>
                  <a:moveTo>
                    <a:pt x="928" y="0"/>
                  </a:moveTo>
                  <a:lnTo>
                    <a:pt x="1035" y="0"/>
                  </a:lnTo>
                  <a:lnTo>
                    <a:pt x="1037" y="0"/>
                  </a:lnTo>
                  <a:lnTo>
                    <a:pt x="1041" y="1"/>
                  </a:lnTo>
                  <a:lnTo>
                    <a:pt x="1043" y="2"/>
                  </a:lnTo>
                  <a:lnTo>
                    <a:pt x="1043" y="4"/>
                  </a:lnTo>
                  <a:lnTo>
                    <a:pt x="1043" y="5"/>
                  </a:lnTo>
                  <a:lnTo>
                    <a:pt x="1041" y="6"/>
                  </a:lnTo>
                  <a:lnTo>
                    <a:pt x="1037" y="7"/>
                  </a:lnTo>
                  <a:lnTo>
                    <a:pt x="1035" y="8"/>
                  </a:lnTo>
                  <a:lnTo>
                    <a:pt x="928" y="8"/>
                  </a:lnTo>
                  <a:lnTo>
                    <a:pt x="924" y="7"/>
                  </a:lnTo>
                  <a:lnTo>
                    <a:pt x="922" y="6"/>
                  </a:lnTo>
                  <a:lnTo>
                    <a:pt x="920" y="5"/>
                  </a:lnTo>
                  <a:lnTo>
                    <a:pt x="920" y="4"/>
                  </a:lnTo>
                  <a:lnTo>
                    <a:pt x="920" y="2"/>
                  </a:lnTo>
                  <a:lnTo>
                    <a:pt x="922" y="1"/>
                  </a:lnTo>
                  <a:lnTo>
                    <a:pt x="924" y="0"/>
                  </a:lnTo>
                  <a:lnTo>
                    <a:pt x="928" y="0"/>
                  </a:lnTo>
                  <a:close/>
                  <a:moveTo>
                    <a:pt x="1113" y="0"/>
                  </a:moveTo>
                  <a:lnTo>
                    <a:pt x="1220" y="0"/>
                  </a:lnTo>
                  <a:lnTo>
                    <a:pt x="1222" y="0"/>
                  </a:lnTo>
                  <a:lnTo>
                    <a:pt x="1224" y="1"/>
                  </a:lnTo>
                  <a:lnTo>
                    <a:pt x="1226" y="2"/>
                  </a:lnTo>
                  <a:lnTo>
                    <a:pt x="1228" y="4"/>
                  </a:lnTo>
                  <a:lnTo>
                    <a:pt x="1226" y="5"/>
                  </a:lnTo>
                  <a:lnTo>
                    <a:pt x="1224" y="6"/>
                  </a:lnTo>
                  <a:lnTo>
                    <a:pt x="1222" y="7"/>
                  </a:lnTo>
                  <a:lnTo>
                    <a:pt x="1220" y="8"/>
                  </a:lnTo>
                  <a:lnTo>
                    <a:pt x="1113" y="8"/>
                  </a:lnTo>
                  <a:lnTo>
                    <a:pt x="1109" y="7"/>
                  </a:lnTo>
                  <a:lnTo>
                    <a:pt x="1107" y="6"/>
                  </a:lnTo>
                  <a:lnTo>
                    <a:pt x="1105" y="5"/>
                  </a:lnTo>
                  <a:lnTo>
                    <a:pt x="1105" y="4"/>
                  </a:lnTo>
                  <a:lnTo>
                    <a:pt x="1105" y="2"/>
                  </a:lnTo>
                  <a:lnTo>
                    <a:pt x="1107" y="1"/>
                  </a:lnTo>
                  <a:lnTo>
                    <a:pt x="1109" y="0"/>
                  </a:lnTo>
                  <a:lnTo>
                    <a:pt x="1113" y="0"/>
                  </a:lnTo>
                  <a:close/>
                  <a:moveTo>
                    <a:pt x="1296" y="0"/>
                  </a:moveTo>
                  <a:lnTo>
                    <a:pt x="1403" y="0"/>
                  </a:lnTo>
                  <a:lnTo>
                    <a:pt x="1407" y="0"/>
                  </a:lnTo>
                  <a:lnTo>
                    <a:pt x="1409" y="1"/>
                  </a:lnTo>
                  <a:lnTo>
                    <a:pt x="1411" y="2"/>
                  </a:lnTo>
                  <a:lnTo>
                    <a:pt x="1411" y="4"/>
                  </a:lnTo>
                  <a:lnTo>
                    <a:pt x="1411" y="5"/>
                  </a:lnTo>
                  <a:lnTo>
                    <a:pt x="1409" y="6"/>
                  </a:lnTo>
                  <a:lnTo>
                    <a:pt x="1407" y="7"/>
                  </a:lnTo>
                  <a:lnTo>
                    <a:pt x="1403" y="8"/>
                  </a:lnTo>
                  <a:lnTo>
                    <a:pt x="1296" y="8"/>
                  </a:lnTo>
                  <a:lnTo>
                    <a:pt x="1294" y="7"/>
                  </a:lnTo>
                  <a:lnTo>
                    <a:pt x="1290" y="6"/>
                  </a:lnTo>
                  <a:lnTo>
                    <a:pt x="1288" y="5"/>
                  </a:lnTo>
                  <a:lnTo>
                    <a:pt x="1288" y="4"/>
                  </a:lnTo>
                  <a:lnTo>
                    <a:pt x="1288" y="2"/>
                  </a:lnTo>
                  <a:lnTo>
                    <a:pt x="1290" y="1"/>
                  </a:lnTo>
                  <a:lnTo>
                    <a:pt x="1294" y="0"/>
                  </a:lnTo>
                  <a:lnTo>
                    <a:pt x="1296" y="0"/>
                  </a:lnTo>
                  <a:close/>
                  <a:moveTo>
                    <a:pt x="1480" y="0"/>
                  </a:moveTo>
                  <a:lnTo>
                    <a:pt x="1588" y="0"/>
                  </a:lnTo>
                  <a:lnTo>
                    <a:pt x="1590" y="0"/>
                  </a:lnTo>
                  <a:lnTo>
                    <a:pt x="1592" y="1"/>
                  </a:lnTo>
                  <a:lnTo>
                    <a:pt x="1594" y="2"/>
                  </a:lnTo>
                  <a:lnTo>
                    <a:pt x="1596" y="4"/>
                  </a:lnTo>
                  <a:lnTo>
                    <a:pt x="1594" y="5"/>
                  </a:lnTo>
                  <a:lnTo>
                    <a:pt x="1592" y="6"/>
                  </a:lnTo>
                  <a:lnTo>
                    <a:pt x="1590" y="7"/>
                  </a:lnTo>
                  <a:lnTo>
                    <a:pt x="1588" y="8"/>
                  </a:lnTo>
                  <a:lnTo>
                    <a:pt x="1480" y="8"/>
                  </a:lnTo>
                  <a:lnTo>
                    <a:pt x="1477" y="7"/>
                  </a:lnTo>
                  <a:lnTo>
                    <a:pt x="1475" y="6"/>
                  </a:lnTo>
                  <a:lnTo>
                    <a:pt x="1473" y="5"/>
                  </a:lnTo>
                  <a:lnTo>
                    <a:pt x="1473" y="4"/>
                  </a:lnTo>
                  <a:lnTo>
                    <a:pt x="1473" y="2"/>
                  </a:lnTo>
                  <a:lnTo>
                    <a:pt x="1475" y="1"/>
                  </a:lnTo>
                  <a:lnTo>
                    <a:pt x="1477" y="0"/>
                  </a:lnTo>
                  <a:lnTo>
                    <a:pt x="1480" y="0"/>
                  </a:lnTo>
                  <a:close/>
                  <a:moveTo>
                    <a:pt x="1663" y="0"/>
                  </a:moveTo>
                  <a:lnTo>
                    <a:pt x="1771" y="0"/>
                  </a:lnTo>
                  <a:lnTo>
                    <a:pt x="1775" y="0"/>
                  </a:lnTo>
                  <a:lnTo>
                    <a:pt x="1777" y="1"/>
                  </a:lnTo>
                  <a:lnTo>
                    <a:pt x="1778" y="2"/>
                  </a:lnTo>
                  <a:lnTo>
                    <a:pt x="1778" y="4"/>
                  </a:lnTo>
                  <a:lnTo>
                    <a:pt x="1778" y="5"/>
                  </a:lnTo>
                  <a:lnTo>
                    <a:pt x="1777" y="6"/>
                  </a:lnTo>
                  <a:lnTo>
                    <a:pt x="1775" y="7"/>
                  </a:lnTo>
                  <a:lnTo>
                    <a:pt x="1771" y="8"/>
                  </a:lnTo>
                  <a:lnTo>
                    <a:pt x="1663" y="8"/>
                  </a:lnTo>
                  <a:lnTo>
                    <a:pt x="1662" y="7"/>
                  </a:lnTo>
                  <a:lnTo>
                    <a:pt x="1658" y="6"/>
                  </a:lnTo>
                  <a:lnTo>
                    <a:pt x="1656" y="5"/>
                  </a:lnTo>
                  <a:lnTo>
                    <a:pt x="1656" y="4"/>
                  </a:lnTo>
                  <a:lnTo>
                    <a:pt x="1656" y="2"/>
                  </a:lnTo>
                  <a:lnTo>
                    <a:pt x="1658" y="1"/>
                  </a:lnTo>
                  <a:lnTo>
                    <a:pt x="1662" y="0"/>
                  </a:lnTo>
                  <a:lnTo>
                    <a:pt x="1663" y="0"/>
                  </a:lnTo>
                  <a:close/>
                  <a:moveTo>
                    <a:pt x="1848" y="0"/>
                  </a:moveTo>
                  <a:lnTo>
                    <a:pt x="1956" y="0"/>
                  </a:lnTo>
                  <a:lnTo>
                    <a:pt x="1958" y="0"/>
                  </a:lnTo>
                  <a:lnTo>
                    <a:pt x="1960" y="1"/>
                  </a:lnTo>
                  <a:lnTo>
                    <a:pt x="1961" y="2"/>
                  </a:lnTo>
                  <a:lnTo>
                    <a:pt x="1963" y="4"/>
                  </a:lnTo>
                  <a:lnTo>
                    <a:pt x="1961" y="5"/>
                  </a:lnTo>
                  <a:lnTo>
                    <a:pt x="1960" y="6"/>
                  </a:lnTo>
                  <a:lnTo>
                    <a:pt x="1958" y="7"/>
                  </a:lnTo>
                  <a:lnTo>
                    <a:pt x="1956" y="8"/>
                  </a:lnTo>
                  <a:lnTo>
                    <a:pt x="1848" y="8"/>
                  </a:lnTo>
                  <a:lnTo>
                    <a:pt x="1844" y="7"/>
                  </a:lnTo>
                  <a:lnTo>
                    <a:pt x="1843" y="6"/>
                  </a:lnTo>
                  <a:lnTo>
                    <a:pt x="1841" y="5"/>
                  </a:lnTo>
                  <a:lnTo>
                    <a:pt x="1841" y="4"/>
                  </a:lnTo>
                  <a:lnTo>
                    <a:pt x="1841" y="2"/>
                  </a:lnTo>
                  <a:lnTo>
                    <a:pt x="1843" y="1"/>
                  </a:lnTo>
                  <a:lnTo>
                    <a:pt x="1844" y="0"/>
                  </a:lnTo>
                  <a:lnTo>
                    <a:pt x="1848" y="0"/>
                  </a:lnTo>
                  <a:close/>
                  <a:moveTo>
                    <a:pt x="2031" y="0"/>
                  </a:moveTo>
                  <a:lnTo>
                    <a:pt x="2139" y="0"/>
                  </a:lnTo>
                  <a:lnTo>
                    <a:pt x="2142" y="0"/>
                  </a:lnTo>
                  <a:lnTo>
                    <a:pt x="2144" y="1"/>
                  </a:lnTo>
                  <a:lnTo>
                    <a:pt x="2146" y="2"/>
                  </a:lnTo>
                  <a:lnTo>
                    <a:pt x="2146" y="4"/>
                  </a:lnTo>
                  <a:lnTo>
                    <a:pt x="2146" y="5"/>
                  </a:lnTo>
                  <a:lnTo>
                    <a:pt x="2144" y="6"/>
                  </a:lnTo>
                  <a:lnTo>
                    <a:pt x="2142" y="7"/>
                  </a:lnTo>
                  <a:lnTo>
                    <a:pt x="2139" y="8"/>
                  </a:lnTo>
                  <a:lnTo>
                    <a:pt x="2031" y="8"/>
                  </a:lnTo>
                  <a:lnTo>
                    <a:pt x="2029" y="7"/>
                  </a:lnTo>
                  <a:lnTo>
                    <a:pt x="2026" y="6"/>
                  </a:lnTo>
                  <a:lnTo>
                    <a:pt x="2024" y="5"/>
                  </a:lnTo>
                  <a:lnTo>
                    <a:pt x="2024" y="4"/>
                  </a:lnTo>
                  <a:lnTo>
                    <a:pt x="2024" y="2"/>
                  </a:lnTo>
                  <a:lnTo>
                    <a:pt x="2026" y="1"/>
                  </a:lnTo>
                  <a:lnTo>
                    <a:pt x="2029" y="0"/>
                  </a:lnTo>
                  <a:lnTo>
                    <a:pt x="2031" y="0"/>
                  </a:lnTo>
                  <a:close/>
                  <a:moveTo>
                    <a:pt x="2216" y="0"/>
                  </a:moveTo>
                  <a:lnTo>
                    <a:pt x="2324" y="0"/>
                  </a:lnTo>
                  <a:lnTo>
                    <a:pt x="2325" y="0"/>
                  </a:lnTo>
                  <a:lnTo>
                    <a:pt x="2329" y="1"/>
                  </a:lnTo>
                  <a:lnTo>
                    <a:pt x="2329" y="2"/>
                  </a:lnTo>
                  <a:lnTo>
                    <a:pt x="2331" y="4"/>
                  </a:lnTo>
                  <a:lnTo>
                    <a:pt x="2329" y="5"/>
                  </a:lnTo>
                  <a:lnTo>
                    <a:pt x="2329" y="6"/>
                  </a:lnTo>
                  <a:lnTo>
                    <a:pt x="2325" y="7"/>
                  </a:lnTo>
                  <a:lnTo>
                    <a:pt x="2324" y="8"/>
                  </a:lnTo>
                  <a:lnTo>
                    <a:pt x="2216" y="8"/>
                  </a:lnTo>
                  <a:lnTo>
                    <a:pt x="2212" y="7"/>
                  </a:lnTo>
                  <a:lnTo>
                    <a:pt x="2210" y="6"/>
                  </a:lnTo>
                  <a:lnTo>
                    <a:pt x="2209" y="5"/>
                  </a:lnTo>
                  <a:lnTo>
                    <a:pt x="2209" y="4"/>
                  </a:lnTo>
                  <a:lnTo>
                    <a:pt x="2209" y="2"/>
                  </a:lnTo>
                  <a:lnTo>
                    <a:pt x="2210" y="1"/>
                  </a:lnTo>
                  <a:lnTo>
                    <a:pt x="2212" y="0"/>
                  </a:lnTo>
                  <a:lnTo>
                    <a:pt x="2216" y="0"/>
                  </a:lnTo>
                  <a:close/>
                  <a:moveTo>
                    <a:pt x="2399" y="0"/>
                  </a:moveTo>
                  <a:lnTo>
                    <a:pt x="2507" y="0"/>
                  </a:lnTo>
                  <a:lnTo>
                    <a:pt x="2510" y="0"/>
                  </a:lnTo>
                  <a:lnTo>
                    <a:pt x="2512" y="1"/>
                  </a:lnTo>
                  <a:lnTo>
                    <a:pt x="2514" y="2"/>
                  </a:lnTo>
                  <a:lnTo>
                    <a:pt x="2514" y="4"/>
                  </a:lnTo>
                  <a:lnTo>
                    <a:pt x="2514" y="5"/>
                  </a:lnTo>
                  <a:lnTo>
                    <a:pt x="2512" y="6"/>
                  </a:lnTo>
                  <a:lnTo>
                    <a:pt x="2510" y="7"/>
                  </a:lnTo>
                  <a:lnTo>
                    <a:pt x="2507" y="8"/>
                  </a:lnTo>
                  <a:lnTo>
                    <a:pt x="2399" y="8"/>
                  </a:lnTo>
                  <a:lnTo>
                    <a:pt x="2397" y="7"/>
                  </a:lnTo>
                  <a:lnTo>
                    <a:pt x="2393" y="6"/>
                  </a:lnTo>
                  <a:lnTo>
                    <a:pt x="2393" y="5"/>
                  </a:lnTo>
                  <a:lnTo>
                    <a:pt x="2391" y="4"/>
                  </a:lnTo>
                  <a:lnTo>
                    <a:pt x="2393" y="2"/>
                  </a:lnTo>
                  <a:lnTo>
                    <a:pt x="2393" y="1"/>
                  </a:lnTo>
                  <a:lnTo>
                    <a:pt x="2397" y="0"/>
                  </a:lnTo>
                  <a:lnTo>
                    <a:pt x="2399" y="0"/>
                  </a:lnTo>
                  <a:close/>
                  <a:moveTo>
                    <a:pt x="2584" y="0"/>
                  </a:moveTo>
                  <a:lnTo>
                    <a:pt x="2691" y="0"/>
                  </a:lnTo>
                  <a:lnTo>
                    <a:pt x="2693" y="0"/>
                  </a:lnTo>
                  <a:lnTo>
                    <a:pt x="2697" y="1"/>
                  </a:lnTo>
                  <a:lnTo>
                    <a:pt x="2699" y="2"/>
                  </a:lnTo>
                  <a:lnTo>
                    <a:pt x="2699" y="4"/>
                  </a:lnTo>
                  <a:lnTo>
                    <a:pt x="2699" y="5"/>
                  </a:lnTo>
                  <a:lnTo>
                    <a:pt x="2697" y="6"/>
                  </a:lnTo>
                  <a:lnTo>
                    <a:pt x="2693" y="7"/>
                  </a:lnTo>
                  <a:lnTo>
                    <a:pt x="2691" y="8"/>
                  </a:lnTo>
                  <a:lnTo>
                    <a:pt x="2584" y="8"/>
                  </a:lnTo>
                  <a:lnTo>
                    <a:pt x="2580" y="7"/>
                  </a:lnTo>
                  <a:lnTo>
                    <a:pt x="2578" y="6"/>
                  </a:lnTo>
                  <a:lnTo>
                    <a:pt x="2576" y="5"/>
                  </a:lnTo>
                  <a:lnTo>
                    <a:pt x="2576" y="4"/>
                  </a:lnTo>
                  <a:lnTo>
                    <a:pt x="2576" y="2"/>
                  </a:lnTo>
                  <a:lnTo>
                    <a:pt x="2578" y="1"/>
                  </a:lnTo>
                  <a:lnTo>
                    <a:pt x="2580" y="0"/>
                  </a:lnTo>
                  <a:lnTo>
                    <a:pt x="2584" y="0"/>
                  </a:lnTo>
                  <a:close/>
                  <a:moveTo>
                    <a:pt x="2767" y="0"/>
                  </a:moveTo>
                  <a:lnTo>
                    <a:pt x="2874" y="0"/>
                  </a:lnTo>
                  <a:lnTo>
                    <a:pt x="2878" y="0"/>
                  </a:lnTo>
                  <a:lnTo>
                    <a:pt x="2880" y="1"/>
                  </a:lnTo>
                  <a:lnTo>
                    <a:pt x="2882" y="2"/>
                  </a:lnTo>
                  <a:lnTo>
                    <a:pt x="2882" y="4"/>
                  </a:lnTo>
                  <a:lnTo>
                    <a:pt x="2882" y="5"/>
                  </a:lnTo>
                  <a:lnTo>
                    <a:pt x="2880" y="6"/>
                  </a:lnTo>
                  <a:lnTo>
                    <a:pt x="2878" y="7"/>
                  </a:lnTo>
                  <a:lnTo>
                    <a:pt x="2874" y="8"/>
                  </a:lnTo>
                  <a:lnTo>
                    <a:pt x="2767" y="8"/>
                  </a:lnTo>
                  <a:lnTo>
                    <a:pt x="2765" y="7"/>
                  </a:lnTo>
                  <a:lnTo>
                    <a:pt x="2763" y="6"/>
                  </a:lnTo>
                  <a:lnTo>
                    <a:pt x="2761" y="5"/>
                  </a:lnTo>
                  <a:lnTo>
                    <a:pt x="2759" y="4"/>
                  </a:lnTo>
                  <a:lnTo>
                    <a:pt x="2761" y="2"/>
                  </a:lnTo>
                  <a:lnTo>
                    <a:pt x="2763" y="1"/>
                  </a:lnTo>
                  <a:lnTo>
                    <a:pt x="2765" y="0"/>
                  </a:lnTo>
                  <a:lnTo>
                    <a:pt x="2767" y="0"/>
                  </a:lnTo>
                  <a:close/>
                  <a:moveTo>
                    <a:pt x="2952" y="0"/>
                  </a:moveTo>
                  <a:lnTo>
                    <a:pt x="3059" y="0"/>
                  </a:lnTo>
                  <a:lnTo>
                    <a:pt x="3061" y="0"/>
                  </a:lnTo>
                  <a:lnTo>
                    <a:pt x="3065" y="1"/>
                  </a:lnTo>
                  <a:lnTo>
                    <a:pt x="3067" y="2"/>
                  </a:lnTo>
                  <a:lnTo>
                    <a:pt x="3067" y="4"/>
                  </a:lnTo>
                  <a:lnTo>
                    <a:pt x="3067" y="5"/>
                  </a:lnTo>
                  <a:lnTo>
                    <a:pt x="3065" y="6"/>
                  </a:lnTo>
                  <a:lnTo>
                    <a:pt x="3061" y="7"/>
                  </a:lnTo>
                  <a:lnTo>
                    <a:pt x="3059" y="8"/>
                  </a:lnTo>
                  <a:lnTo>
                    <a:pt x="2952" y="8"/>
                  </a:lnTo>
                  <a:lnTo>
                    <a:pt x="2948" y="7"/>
                  </a:lnTo>
                  <a:lnTo>
                    <a:pt x="2946" y="6"/>
                  </a:lnTo>
                  <a:lnTo>
                    <a:pt x="2944" y="5"/>
                  </a:lnTo>
                  <a:lnTo>
                    <a:pt x="2944" y="4"/>
                  </a:lnTo>
                  <a:lnTo>
                    <a:pt x="2944" y="2"/>
                  </a:lnTo>
                  <a:lnTo>
                    <a:pt x="2946" y="1"/>
                  </a:lnTo>
                  <a:lnTo>
                    <a:pt x="2948" y="0"/>
                  </a:lnTo>
                  <a:lnTo>
                    <a:pt x="2952" y="0"/>
                  </a:lnTo>
                  <a:close/>
                  <a:moveTo>
                    <a:pt x="3137" y="0"/>
                  </a:moveTo>
                  <a:lnTo>
                    <a:pt x="3242" y="0"/>
                  </a:lnTo>
                  <a:lnTo>
                    <a:pt x="3246" y="0"/>
                  </a:lnTo>
                  <a:lnTo>
                    <a:pt x="3248" y="1"/>
                  </a:lnTo>
                  <a:lnTo>
                    <a:pt x="3250" y="2"/>
                  </a:lnTo>
                  <a:lnTo>
                    <a:pt x="3250" y="4"/>
                  </a:lnTo>
                  <a:lnTo>
                    <a:pt x="3250" y="5"/>
                  </a:lnTo>
                  <a:lnTo>
                    <a:pt x="3248" y="6"/>
                  </a:lnTo>
                  <a:lnTo>
                    <a:pt x="3246" y="7"/>
                  </a:lnTo>
                  <a:lnTo>
                    <a:pt x="3242" y="8"/>
                  </a:lnTo>
                  <a:lnTo>
                    <a:pt x="3137" y="8"/>
                  </a:lnTo>
                  <a:lnTo>
                    <a:pt x="3133" y="7"/>
                  </a:lnTo>
                  <a:lnTo>
                    <a:pt x="3131" y="6"/>
                  </a:lnTo>
                  <a:lnTo>
                    <a:pt x="3129" y="5"/>
                  </a:lnTo>
                  <a:lnTo>
                    <a:pt x="3127" y="4"/>
                  </a:lnTo>
                  <a:lnTo>
                    <a:pt x="3129" y="2"/>
                  </a:lnTo>
                  <a:lnTo>
                    <a:pt x="3131" y="1"/>
                  </a:lnTo>
                  <a:lnTo>
                    <a:pt x="3133" y="0"/>
                  </a:lnTo>
                  <a:lnTo>
                    <a:pt x="3137" y="0"/>
                  </a:lnTo>
                  <a:close/>
                  <a:moveTo>
                    <a:pt x="3319" y="0"/>
                  </a:moveTo>
                  <a:lnTo>
                    <a:pt x="3427" y="0"/>
                  </a:lnTo>
                  <a:lnTo>
                    <a:pt x="3429" y="0"/>
                  </a:lnTo>
                  <a:lnTo>
                    <a:pt x="3433" y="1"/>
                  </a:lnTo>
                  <a:lnTo>
                    <a:pt x="3435" y="2"/>
                  </a:lnTo>
                  <a:lnTo>
                    <a:pt x="3435" y="4"/>
                  </a:lnTo>
                  <a:lnTo>
                    <a:pt x="3435" y="5"/>
                  </a:lnTo>
                  <a:lnTo>
                    <a:pt x="3433" y="6"/>
                  </a:lnTo>
                  <a:lnTo>
                    <a:pt x="3429" y="7"/>
                  </a:lnTo>
                  <a:lnTo>
                    <a:pt x="3427" y="8"/>
                  </a:lnTo>
                  <a:lnTo>
                    <a:pt x="3319" y="8"/>
                  </a:lnTo>
                  <a:lnTo>
                    <a:pt x="3316" y="7"/>
                  </a:lnTo>
                  <a:lnTo>
                    <a:pt x="3314" y="6"/>
                  </a:lnTo>
                  <a:lnTo>
                    <a:pt x="3312" y="5"/>
                  </a:lnTo>
                  <a:lnTo>
                    <a:pt x="3312" y="4"/>
                  </a:lnTo>
                  <a:lnTo>
                    <a:pt x="3312" y="2"/>
                  </a:lnTo>
                  <a:lnTo>
                    <a:pt x="3314" y="1"/>
                  </a:lnTo>
                  <a:lnTo>
                    <a:pt x="3316" y="0"/>
                  </a:lnTo>
                  <a:lnTo>
                    <a:pt x="3319" y="0"/>
                  </a:lnTo>
                  <a:close/>
                  <a:moveTo>
                    <a:pt x="3504" y="0"/>
                  </a:moveTo>
                  <a:lnTo>
                    <a:pt x="3610" y="0"/>
                  </a:lnTo>
                  <a:lnTo>
                    <a:pt x="3614" y="0"/>
                  </a:lnTo>
                  <a:lnTo>
                    <a:pt x="3616" y="1"/>
                  </a:lnTo>
                  <a:lnTo>
                    <a:pt x="3617" y="2"/>
                  </a:lnTo>
                  <a:lnTo>
                    <a:pt x="3619" y="4"/>
                  </a:lnTo>
                  <a:lnTo>
                    <a:pt x="3617" y="5"/>
                  </a:lnTo>
                  <a:lnTo>
                    <a:pt x="3616" y="6"/>
                  </a:lnTo>
                  <a:lnTo>
                    <a:pt x="3614" y="7"/>
                  </a:lnTo>
                  <a:lnTo>
                    <a:pt x="3610" y="8"/>
                  </a:lnTo>
                  <a:lnTo>
                    <a:pt x="3504" y="8"/>
                  </a:lnTo>
                  <a:lnTo>
                    <a:pt x="3501" y="7"/>
                  </a:lnTo>
                  <a:lnTo>
                    <a:pt x="3499" y="6"/>
                  </a:lnTo>
                  <a:lnTo>
                    <a:pt x="3497" y="5"/>
                  </a:lnTo>
                  <a:lnTo>
                    <a:pt x="3497" y="4"/>
                  </a:lnTo>
                  <a:lnTo>
                    <a:pt x="3497" y="2"/>
                  </a:lnTo>
                  <a:lnTo>
                    <a:pt x="3499" y="1"/>
                  </a:lnTo>
                  <a:lnTo>
                    <a:pt x="3501" y="0"/>
                  </a:lnTo>
                  <a:lnTo>
                    <a:pt x="3504" y="0"/>
                  </a:lnTo>
                  <a:close/>
                  <a:moveTo>
                    <a:pt x="3687" y="0"/>
                  </a:moveTo>
                  <a:lnTo>
                    <a:pt x="3795" y="0"/>
                  </a:lnTo>
                  <a:lnTo>
                    <a:pt x="3799" y="0"/>
                  </a:lnTo>
                  <a:lnTo>
                    <a:pt x="3800" y="1"/>
                  </a:lnTo>
                  <a:lnTo>
                    <a:pt x="3802" y="2"/>
                  </a:lnTo>
                  <a:lnTo>
                    <a:pt x="3802" y="4"/>
                  </a:lnTo>
                  <a:lnTo>
                    <a:pt x="3802" y="5"/>
                  </a:lnTo>
                  <a:lnTo>
                    <a:pt x="3800" y="6"/>
                  </a:lnTo>
                  <a:lnTo>
                    <a:pt x="3799" y="7"/>
                  </a:lnTo>
                  <a:lnTo>
                    <a:pt x="3795" y="8"/>
                  </a:lnTo>
                  <a:lnTo>
                    <a:pt x="3687" y="8"/>
                  </a:lnTo>
                  <a:lnTo>
                    <a:pt x="3685" y="7"/>
                  </a:lnTo>
                  <a:lnTo>
                    <a:pt x="3682" y="6"/>
                  </a:lnTo>
                  <a:lnTo>
                    <a:pt x="3680" y="5"/>
                  </a:lnTo>
                  <a:lnTo>
                    <a:pt x="3680" y="4"/>
                  </a:lnTo>
                  <a:lnTo>
                    <a:pt x="3680" y="2"/>
                  </a:lnTo>
                  <a:lnTo>
                    <a:pt x="3682" y="1"/>
                  </a:lnTo>
                  <a:lnTo>
                    <a:pt x="3685" y="0"/>
                  </a:lnTo>
                  <a:lnTo>
                    <a:pt x="3687" y="0"/>
                  </a:lnTo>
                  <a:close/>
                  <a:moveTo>
                    <a:pt x="3872" y="0"/>
                  </a:moveTo>
                  <a:lnTo>
                    <a:pt x="3953" y="0"/>
                  </a:lnTo>
                  <a:lnTo>
                    <a:pt x="3957" y="0"/>
                  </a:lnTo>
                  <a:lnTo>
                    <a:pt x="3959" y="1"/>
                  </a:lnTo>
                  <a:lnTo>
                    <a:pt x="3961" y="2"/>
                  </a:lnTo>
                  <a:lnTo>
                    <a:pt x="3961" y="4"/>
                  </a:lnTo>
                  <a:lnTo>
                    <a:pt x="3961" y="5"/>
                  </a:lnTo>
                  <a:lnTo>
                    <a:pt x="3959" y="6"/>
                  </a:lnTo>
                  <a:lnTo>
                    <a:pt x="3957" y="7"/>
                  </a:lnTo>
                  <a:lnTo>
                    <a:pt x="3953" y="8"/>
                  </a:lnTo>
                  <a:lnTo>
                    <a:pt x="3872" y="8"/>
                  </a:lnTo>
                  <a:lnTo>
                    <a:pt x="3868" y="7"/>
                  </a:lnTo>
                  <a:lnTo>
                    <a:pt x="3866" y="6"/>
                  </a:lnTo>
                  <a:lnTo>
                    <a:pt x="3865" y="5"/>
                  </a:lnTo>
                  <a:lnTo>
                    <a:pt x="3865" y="4"/>
                  </a:lnTo>
                  <a:lnTo>
                    <a:pt x="3865" y="2"/>
                  </a:lnTo>
                  <a:lnTo>
                    <a:pt x="3866" y="1"/>
                  </a:lnTo>
                  <a:lnTo>
                    <a:pt x="3868" y="0"/>
                  </a:lnTo>
                  <a:lnTo>
                    <a:pt x="3872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94" name="Rectangle 250"/>
            <p:cNvSpPr>
              <a:spLocks noChangeArrowheads="1"/>
            </p:cNvSpPr>
            <p:nvPr/>
          </p:nvSpPr>
          <p:spPr bwMode="auto">
            <a:xfrm>
              <a:off x="4468" y="3689"/>
              <a:ext cx="109" cy="18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宋体" pitchFamily="2" charset="-122"/>
                </a:rPr>
                <a:t>I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宋体" pitchFamily="2" charset="-122"/>
                </a:rPr>
                <a:t>o</a:t>
              </a:r>
            </a:p>
          </p:txBody>
        </p:sp>
        <p:sp>
          <p:nvSpPr>
            <p:cNvPr id="95295" name="Line 251"/>
            <p:cNvSpPr>
              <a:spLocks noChangeShapeType="1"/>
            </p:cNvSpPr>
            <p:nvPr/>
          </p:nvSpPr>
          <p:spPr bwMode="auto">
            <a:xfrm>
              <a:off x="4555" y="2675"/>
              <a:ext cx="1" cy="2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96" name="Line 252"/>
            <p:cNvSpPr>
              <a:spLocks noChangeShapeType="1"/>
            </p:cNvSpPr>
            <p:nvPr/>
          </p:nvSpPr>
          <p:spPr bwMode="auto">
            <a:xfrm>
              <a:off x="5089" y="2675"/>
              <a:ext cx="1" cy="2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97" name="Line 253"/>
            <p:cNvSpPr>
              <a:spLocks noChangeShapeType="1"/>
            </p:cNvSpPr>
            <p:nvPr/>
          </p:nvSpPr>
          <p:spPr bwMode="auto">
            <a:xfrm flipV="1">
              <a:off x="3915" y="2674"/>
              <a:ext cx="1" cy="1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98" name="Freeform 254"/>
            <p:cNvSpPr>
              <a:spLocks/>
            </p:cNvSpPr>
            <p:nvPr/>
          </p:nvSpPr>
          <p:spPr bwMode="auto">
            <a:xfrm>
              <a:off x="3881" y="2834"/>
              <a:ext cx="68" cy="75"/>
            </a:xfrm>
            <a:custGeom>
              <a:avLst/>
              <a:gdLst>
                <a:gd name="T0" fmla="*/ 1 w 138"/>
                <a:gd name="T1" fmla="*/ 75 h 75"/>
                <a:gd name="T2" fmla="*/ 0 w 138"/>
                <a:gd name="T3" fmla="*/ 0 h 75"/>
                <a:gd name="T4" fmla="*/ 0 w 138"/>
                <a:gd name="T5" fmla="*/ 2 h 75"/>
                <a:gd name="T6" fmla="*/ 0 w 138"/>
                <a:gd name="T7" fmla="*/ 4 h 75"/>
                <a:gd name="T8" fmla="*/ 0 w 138"/>
                <a:gd name="T9" fmla="*/ 5 h 75"/>
                <a:gd name="T10" fmla="*/ 0 w 138"/>
                <a:gd name="T11" fmla="*/ 6 h 75"/>
                <a:gd name="T12" fmla="*/ 0 w 138"/>
                <a:gd name="T13" fmla="*/ 7 h 75"/>
                <a:gd name="T14" fmla="*/ 0 w 138"/>
                <a:gd name="T15" fmla="*/ 8 h 75"/>
                <a:gd name="T16" fmla="*/ 0 w 138"/>
                <a:gd name="T17" fmla="*/ 8 h 75"/>
                <a:gd name="T18" fmla="*/ 1 w 138"/>
                <a:gd name="T19" fmla="*/ 9 h 75"/>
                <a:gd name="T20" fmla="*/ 1 w 138"/>
                <a:gd name="T21" fmla="*/ 8 h 75"/>
                <a:gd name="T22" fmla="*/ 1 w 138"/>
                <a:gd name="T23" fmla="*/ 8 h 75"/>
                <a:gd name="T24" fmla="*/ 1 w 138"/>
                <a:gd name="T25" fmla="*/ 7 h 75"/>
                <a:gd name="T26" fmla="*/ 1 w 138"/>
                <a:gd name="T27" fmla="*/ 6 h 75"/>
                <a:gd name="T28" fmla="*/ 1 w 138"/>
                <a:gd name="T29" fmla="*/ 5 h 75"/>
                <a:gd name="T30" fmla="*/ 1 w 138"/>
                <a:gd name="T31" fmla="*/ 4 h 75"/>
                <a:gd name="T32" fmla="*/ 2 w 138"/>
                <a:gd name="T33" fmla="*/ 2 h 75"/>
                <a:gd name="T34" fmla="*/ 2 w 138"/>
                <a:gd name="T35" fmla="*/ 0 h 75"/>
                <a:gd name="T36" fmla="*/ 1 w 138"/>
                <a:gd name="T37" fmla="*/ 75 h 75"/>
                <a:gd name="T38" fmla="*/ 1 w 138"/>
                <a:gd name="T39" fmla="*/ 75 h 7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38"/>
                <a:gd name="T61" fmla="*/ 0 h 75"/>
                <a:gd name="T62" fmla="*/ 138 w 138"/>
                <a:gd name="T63" fmla="*/ 75 h 7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38" h="75">
                  <a:moveTo>
                    <a:pt x="70" y="75"/>
                  </a:moveTo>
                  <a:lnTo>
                    <a:pt x="0" y="0"/>
                  </a:lnTo>
                  <a:lnTo>
                    <a:pt x="10" y="2"/>
                  </a:lnTo>
                  <a:lnTo>
                    <a:pt x="17" y="4"/>
                  </a:lnTo>
                  <a:lnTo>
                    <a:pt x="25" y="5"/>
                  </a:lnTo>
                  <a:lnTo>
                    <a:pt x="34" y="6"/>
                  </a:lnTo>
                  <a:lnTo>
                    <a:pt x="44" y="7"/>
                  </a:lnTo>
                  <a:lnTo>
                    <a:pt x="51" y="8"/>
                  </a:lnTo>
                  <a:lnTo>
                    <a:pt x="60" y="8"/>
                  </a:lnTo>
                  <a:lnTo>
                    <a:pt x="70" y="9"/>
                  </a:lnTo>
                  <a:lnTo>
                    <a:pt x="77" y="8"/>
                  </a:lnTo>
                  <a:lnTo>
                    <a:pt x="87" y="8"/>
                  </a:lnTo>
                  <a:lnTo>
                    <a:pt x="96" y="7"/>
                  </a:lnTo>
                  <a:lnTo>
                    <a:pt x="104" y="6"/>
                  </a:lnTo>
                  <a:lnTo>
                    <a:pt x="113" y="5"/>
                  </a:lnTo>
                  <a:lnTo>
                    <a:pt x="121" y="4"/>
                  </a:lnTo>
                  <a:lnTo>
                    <a:pt x="130" y="2"/>
                  </a:lnTo>
                  <a:lnTo>
                    <a:pt x="138" y="0"/>
                  </a:lnTo>
                  <a:lnTo>
                    <a:pt x="70" y="75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99" name="Freeform 255"/>
            <p:cNvSpPr>
              <a:spLocks/>
            </p:cNvSpPr>
            <p:nvPr/>
          </p:nvSpPr>
          <p:spPr bwMode="auto">
            <a:xfrm>
              <a:off x="3881" y="2616"/>
              <a:ext cx="68" cy="77"/>
            </a:xfrm>
            <a:custGeom>
              <a:avLst/>
              <a:gdLst>
                <a:gd name="T0" fmla="*/ 1 w 138"/>
                <a:gd name="T1" fmla="*/ 0 h 77"/>
                <a:gd name="T2" fmla="*/ 2 w 138"/>
                <a:gd name="T3" fmla="*/ 77 h 77"/>
                <a:gd name="T4" fmla="*/ 2 w 138"/>
                <a:gd name="T5" fmla="*/ 75 h 77"/>
                <a:gd name="T6" fmla="*/ 1 w 138"/>
                <a:gd name="T7" fmla="*/ 73 h 77"/>
                <a:gd name="T8" fmla="*/ 1 w 138"/>
                <a:gd name="T9" fmla="*/ 71 h 77"/>
                <a:gd name="T10" fmla="*/ 1 w 138"/>
                <a:gd name="T11" fmla="*/ 70 h 77"/>
                <a:gd name="T12" fmla="*/ 1 w 138"/>
                <a:gd name="T13" fmla="*/ 69 h 77"/>
                <a:gd name="T14" fmla="*/ 1 w 138"/>
                <a:gd name="T15" fmla="*/ 69 h 77"/>
                <a:gd name="T16" fmla="*/ 1 w 138"/>
                <a:gd name="T17" fmla="*/ 68 h 77"/>
                <a:gd name="T18" fmla="*/ 1 w 138"/>
                <a:gd name="T19" fmla="*/ 68 h 77"/>
                <a:gd name="T20" fmla="*/ 0 w 138"/>
                <a:gd name="T21" fmla="*/ 68 h 77"/>
                <a:gd name="T22" fmla="*/ 0 w 138"/>
                <a:gd name="T23" fmla="*/ 69 h 77"/>
                <a:gd name="T24" fmla="*/ 0 w 138"/>
                <a:gd name="T25" fmla="*/ 69 h 77"/>
                <a:gd name="T26" fmla="*/ 0 w 138"/>
                <a:gd name="T27" fmla="*/ 70 h 77"/>
                <a:gd name="T28" fmla="*/ 0 w 138"/>
                <a:gd name="T29" fmla="*/ 71 h 77"/>
                <a:gd name="T30" fmla="*/ 0 w 138"/>
                <a:gd name="T31" fmla="*/ 73 h 77"/>
                <a:gd name="T32" fmla="*/ 0 w 138"/>
                <a:gd name="T33" fmla="*/ 75 h 77"/>
                <a:gd name="T34" fmla="*/ 0 w 138"/>
                <a:gd name="T35" fmla="*/ 77 h 77"/>
                <a:gd name="T36" fmla="*/ 0 w 138"/>
                <a:gd name="T37" fmla="*/ 77 h 77"/>
                <a:gd name="T38" fmla="*/ 1 w 138"/>
                <a:gd name="T39" fmla="*/ 0 h 77"/>
                <a:gd name="T40" fmla="*/ 1 w 138"/>
                <a:gd name="T41" fmla="*/ 0 h 7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8"/>
                <a:gd name="T64" fmla="*/ 0 h 77"/>
                <a:gd name="T65" fmla="*/ 138 w 138"/>
                <a:gd name="T66" fmla="*/ 77 h 7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8" h="77">
                  <a:moveTo>
                    <a:pt x="70" y="0"/>
                  </a:moveTo>
                  <a:lnTo>
                    <a:pt x="138" y="77"/>
                  </a:lnTo>
                  <a:lnTo>
                    <a:pt x="130" y="75"/>
                  </a:lnTo>
                  <a:lnTo>
                    <a:pt x="121" y="73"/>
                  </a:lnTo>
                  <a:lnTo>
                    <a:pt x="113" y="71"/>
                  </a:lnTo>
                  <a:lnTo>
                    <a:pt x="104" y="70"/>
                  </a:lnTo>
                  <a:lnTo>
                    <a:pt x="96" y="69"/>
                  </a:lnTo>
                  <a:lnTo>
                    <a:pt x="87" y="69"/>
                  </a:lnTo>
                  <a:lnTo>
                    <a:pt x="77" y="68"/>
                  </a:lnTo>
                  <a:lnTo>
                    <a:pt x="70" y="68"/>
                  </a:lnTo>
                  <a:lnTo>
                    <a:pt x="60" y="68"/>
                  </a:lnTo>
                  <a:lnTo>
                    <a:pt x="51" y="69"/>
                  </a:lnTo>
                  <a:lnTo>
                    <a:pt x="44" y="69"/>
                  </a:lnTo>
                  <a:lnTo>
                    <a:pt x="34" y="70"/>
                  </a:lnTo>
                  <a:lnTo>
                    <a:pt x="25" y="71"/>
                  </a:lnTo>
                  <a:lnTo>
                    <a:pt x="17" y="73"/>
                  </a:lnTo>
                  <a:lnTo>
                    <a:pt x="10" y="75"/>
                  </a:lnTo>
                  <a:lnTo>
                    <a:pt x="0" y="77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00" name="Rectangle 256"/>
            <p:cNvSpPr>
              <a:spLocks noChangeArrowheads="1"/>
            </p:cNvSpPr>
            <p:nvPr/>
          </p:nvSpPr>
          <p:spPr bwMode="auto">
            <a:xfrm>
              <a:off x="3969" y="2691"/>
              <a:ext cx="109" cy="18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</p:txBody>
        </p:sp>
        <p:sp>
          <p:nvSpPr>
            <p:cNvPr id="95301" name="Rectangle 257"/>
            <p:cNvSpPr>
              <a:spLocks noChangeArrowheads="1"/>
            </p:cNvSpPr>
            <p:nvPr/>
          </p:nvSpPr>
          <p:spPr bwMode="auto">
            <a:xfrm>
              <a:off x="4377" y="2147"/>
              <a:ext cx="156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(a)</a:t>
              </a:r>
              <a:endParaRPr lang="en-US" altLang="zh-CN"/>
            </a:p>
          </p:txBody>
        </p:sp>
        <p:sp>
          <p:nvSpPr>
            <p:cNvPr id="95302" name="Rectangle 258"/>
            <p:cNvSpPr>
              <a:spLocks noChangeArrowheads="1"/>
            </p:cNvSpPr>
            <p:nvPr/>
          </p:nvSpPr>
          <p:spPr bwMode="auto">
            <a:xfrm>
              <a:off x="4374" y="4037"/>
              <a:ext cx="156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(b)</a:t>
              </a:r>
              <a:endParaRPr lang="en-US" altLang="zh-CN"/>
            </a:p>
          </p:txBody>
        </p:sp>
        <p:sp>
          <p:nvSpPr>
            <p:cNvPr id="95303" name="Rectangle 259"/>
            <p:cNvSpPr>
              <a:spLocks noChangeArrowheads="1"/>
            </p:cNvSpPr>
            <p:nvPr/>
          </p:nvSpPr>
          <p:spPr bwMode="auto">
            <a:xfrm>
              <a:off x="4940" y="845"/>
              <a:ext cx="2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endParaRPr lang="en-US" altLang="zh-CN"/>
            </a:p>
          </p:txBody>
        </p:sp>
        <p:sp>
          <p:nvSpPr>
            <p:cNvPr id="95304" name="Line 260"/>
            <p:cNvSpPr>
              <a:spLocks noChangeShapeType="1"/>
            </p:cNvSpPr>
            <p:nvPr/>
          </p:nvSpPr>
          <p:spPr bwMode="auto">
            <a:xfrm flipV="1">
              <a:off x="4423" y="3598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05" name="Line 261"/>
            <p:cNvSpPr>
              <a:spLocks noChangeShapeType="1"/>
            </p:cNvSpPr>
            <p:nvPr/>
          </p:nvSpPr>
          <p:spPr bwMode="auto">
            <a:xfrm>
              <a:off x="4423" y="3780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06" name="Line 262"/>
            <p:cNvSpPr>
              <a:spLocks noChangeShapeType="1"/>
            </p:cNvSpPr>
            <p:nvPr/>
          </p:nvSpPr>
          <p:spPr bwMode="auto">
            <a:xfrm flipV="1">
              <a:off x="3379" y="3372"/>
              <a:ext cx="0" cy="5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07" name="Freeform 263"/>
            <p:cNvSpPr>
              <a:spLocks/>
            </p:cNvSpPr>
            <p:nvPr/>
          </p:nvSpPr>
          <p:spPr bwMode="auto">
            <a:xfrm>
              <a:off x="4243" y="1153"/>
              <a:ext cx="32" cy="234"/>
            </a:xfrm>
            <a:custGeom>
              <a:avLst/>
              <a:gdLst>
                <a:gd name="T0" fmla="*/ 0 w 65"/>
                <a:gd name="T1" fmla="*/ 0 h 234"/>
                <a:gd name="T2" fmla="*/ 0 w 65"/>
                <a:gd name="T3" fmla="*/ 1 h 234"/>
                <a:gd name="T4" fmla="*/ 0 w 65"/>
                <a:gd name="T5" fmla="*/ 4 h 234"/>
                <a:gd name="T6" fmla="*/ 0 w 65"/>
                <a:gd name="T7" fmla="*/ 11 h 234"/>
                <a:gd name="T8" fmla="*/ 0 w 65"/>
                <a:gd name="T9" fmla="*/ 17 h 234"/>
                <a:gd name="T10" fmla="*/ 0 w 65"/>
                <a:gd name="T11" fmla="*/ 22 h 234"/>
                <a:gd name="T12" fmla="*/ 1 w 65"/>
                <a:gd name="T13" fmla="*/ 28 h 234"/>
                <a:gd name="T14" fmla="*/ 0 w 65"/>
                <a:gd name="T15" fmla="*/ 34 h 234"/>
                <a:gd name="T16" fmla="*/ 0 w 65"/>
                <a:gd name="T17" fmla="*/ 39 h 234"/>
                <a:gd name="T18" fmla="*/ 0 w 65"/>
                <a:gd name="T19" fmla="*/ 45 h 234"/>
                <a:gd name="T20" fmla="*/ 0 w 65"/>
                <a:gd name="T21" fmla="*/ 49 h 234"/>
                <a:gd name="T22" fmla="*/ 0 w 65"/>
                <a:gd name="T23" fmla="*/ 56 h 234"/>
                <a:gd name="T24" fmla="*/ 0 w 65"/>
                <a:gd name="T25" fmla="*/ 58 h 234"/>
                <a:gd name="T26" fmla="*/ 0 w 65"/>
                <a:gd name="T27" fmla="*/ 59 h 234"/>
                <a:gd name="T28" fmla="*/ 0 w 65"/>
                <a:gd name="T29" fmla="*/ 59 h 234"/>
                <a:gd name="T30" fmla="*/ 0 w 65"/>
                <a:gd name="T31" fmla="*/ 59 h 234"/>
                <a:gd name="T32" fmla="*/ 0 w 65"/>
                <a:gd name="T33" fmla="*/ 63 h 234"/>
                <a:gd name="T34" fmla="*/ 0 w 65"/>
                <a:gd name="T35" fmla="*/ 71 h 234"/>
                <a:gd name="T36" fmla="*/ 0 w 65"/>
                <a:gd name="T37" fmla="*/ 76 h 234"/>
                <a:gd name="T38" fmla="*/ 0 w 65"/>
                <a:gd name="T39" fmla="*/ 81 h 234"/>
                <a:gd name="T40" fmla="*/ 1 w 65"/>
                <a:gd name="T41" fmla="*/ 87 h 234"/>
                <a:gd name="T42" fmla="*/ 0 w 65"/>
                <a:gd name="T43" fmla="*/ 92 h 234"/>
                <a:gd name="T44" fmla="*/ 0 w 65"/>
                <a:gd name="T45" fmla="*/ 98 h 234"/>
                <a:gd name="T46" fmla="*/ 0 w 65"/>
                <a:gd name="T47" fmla="*/ 104 h 234"/>
                <a:gd name="T48" fmla="*/ 0 w 65"/>
                <a:gd name="T49" fmla="*/ 108 h 234"/>
                <a:gd name="T50" fmla="*/ 0 w 65"/>
                <a:gd name="T51" fmla="*/ 114 h 234"/>
                <a:gd name="T52" fmla="*/ 0 w 65"/>
                <a:gd name="T53" fmla="*/ 116 h 234"/>
                <a:gd name="T54" fmla="*/ 0 w 65"/>
                <a:gd name="T55" fmla="*/ 117 h 234"/>
                <a:gd name="T56" fmla="*/ 0 w 65"/>
                <a:gd name="T57" fmla="*/ 117 h 234"/>
                <a:gd name="T58" fmla="*/ 0 w 65"/>
                <a:gd name="T59" fmla="*/ 118 h 234"/>
                <a:gd name="T60" fmla="*/ 0 w 65"/>
                <a:gd name="T61" fmla="*/ 121 h 234"/>
                <a:gd name="T62" fmla="*/ 0 w 65"/>
                <a:gd name="T63" fmla="*/ 130 h 234"/>
                <a:gd name="T64" fmla="*/ 0 w 65"/>
                <a:gd name="T65" fmla="*/ 134 h 234"/>
                <a:gd name="T66" fmla="*/ 0 w 65"/>
                <a:gd name="T67" fmla="*/ 139 h 234"/>
                <a:gd name="T68" fmla="*/ 1 w 65"/>
                <a:gd name="T69" fmla="*/ 145 h 234"/>
                <a:gd name="T70" fmla="*/ 0 w 65"/>
                <a:gd name="T71" fmla="*/ 151 h 234"/>
                <a:gd name="T72" fmla="*/ 0 w 65"/>
                <a:gd name="T73" fmla="*/ 156 h 234"/>
                <a:gd name="T74" fmla="*/ 0 w 65"/>
                <a:gd name="T75" fmla="*/ 162 h 234"/>
                <a:gd name="T76" fmla="*/ 0 w 65"/>
                <a:gd name="T77" fmla="*/ 167 h 234"/>
                <a:gd name="T78" fmla="*/ 0 w 65"/>
                <a:gd name="T79" fmla="*/ 173 h 234"/>
                <a:gd name="T80" fmla="*/ 0 w 65"/>
                <a:gd name="T81" fmla="*/ 175 h 234"/>
                <a:gd name="T82" fmla="*/ 0 w 65"/>
                <a:gd name="T83" fmla="*/ 176 h 234"/>
                <a:gd name="T84" fmla="*/ 0 w 65"/>
                <a:gd name="T85" fmla="*/ 176 h 234"/>
                <a:gd name="T86" fmla="*/ 0 w 65"/>
                <a:gd name="T87" fmla="*/ 177 h 234"/>
                <a:gd name="T88" fmla="*/ 0 w 65"/>
                <a:gd name="T89" fmla="*/ 180 h 234"/>
                <a:gd name="T90" fmla="*/ 0 w 65"/>
                <a:gd name="T91" fmla="*/ 188 h 234"/>
                <a:gd name="T92" fmla="*/ 0 w 65"/>
                <a:gd name="T93" fmla="*/ 193 h 234"/>
                <a:gd name="T94" fmla="*/ 0 w 65"/>
                <a:gd name="T95" fmla="*/ 198 h 234"/>
                <a:gd name="T96" fmla="*/ 1 w 65"/>
                <a:gd name="T97" fmla="*/ 204 h 234"/>
                <a:gd name="T98" fmla="*/ 0 w 65"/>
                <a:gd name="T99" fmla="*/ 209 h 234"/>
                <a:gd name="T100" fmla="*/ 0 w 65"/>
                <a:gd name="T101" fmla="*/ 215 h 234"/>
                <a:gd name="T102" fmla="*/ 0 w 65"/>
                <a:gd name="T103" fmla="*/ 221 h 234"/>
                <a:gd name="T104" fmla="*/ 0 w 65"/>
                <a:gd name="T105" fmla="*/ 225 h 234"/>
                <a:gd name="T106" fmla="*/ 0 w 65"/>
                <a:gd name="T107" fmla="*/ 231 h 234"/>
                <a:gd name="T108" fmla="*/ 0 w 65"/>
                <a:gd name="T109" fmla="*/ 233 h 234"/>
                <a:gd name="T110" fmla="*/ 0 w 65"/>
                <a:gd name="T111" fmla="*/ 234 h 23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65"/>
                <a:gd name="T169" fmla="*/ 0 h 234"/>
                <a:gd name="T170" fmla="*/ 65 w 65"/>
                <a:gd name="T171" fmla="*/ 234 h 234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65" h="234">
                  <a:moveTo>
                    <a:pt x="0" y="0"/>
                  </a:moveTo>
                  <a:lnTo>
                    <a:pt x="6" y="0"/>
                  </a:lnTo>
                  <a:lnTo>
                    <a:pt x="12" y="0"/>
                  </a:lnTo>
                  <a:lnTo>
                    <a:pt x="19" y="1"/>
                  </a:lnTo>
                  <a:lnTo>
                    <a:pt x="25" y="2"/>
                  </a:lnTo>
                  <a:lnTo>
                    <a:pt x="34" y="4"/>
                  </a:lnTo>
                  <a:lnTo>
                    <a:pt x="44" y="7"/>
                  </a:lnTo>
                  <a:lnTo>
                    <a:pt x="51" y="11"/>
                  </a:lnTo>
                  <a:lnTo>
                    <a:pt x="55" y="15"/>
                  </a:lnTo>
                  <a:lnTo>
                    <a:pt x="59" y="17"/>
                  </a:lnTo>
                  <a:lnTo>
                    <a:pt x="61" y="20"/>
                  </a:lnTo>
                  <a:lnTo>
                    <a:pt x="63" y="22"/>
                  </a:lnTo>
                  <a:lnTo>
                    <a:pt x="63" y="25"/>
                  </a:lnTo>
                  <a:lnTo>
                    <a:pt x="65" y="28"/>
                  </a:lnTo>
                  <a:lnTo>
                    <a:pt x="65" y="31"/>
                  </a:lnTo>
                  <a:lnTo>
                    <a:pt x="63" y="34"/>
                  </a:lnTo>
                  <a:lnTo>
                    <a:pt x="63" y="37"/>
                  </a:lnTo>
                  <a:lnTo>
                    <a:pt x="61" y="39"/>
                  </a:lnTo>
                  <a:lnTo>
                    <a:pt x="57" y="43"/>
                  </a:lnTo>
                  <a:lnTo>
                    <a:pt x="55" y="45"/>
                  </a:lnTo>
                  <a:lnTo>
                    <a:pt x="51" y="47"/>
                  </a:lnTo>
                  <a:lnTo>
                    <a:pt x="48" y="49"/>
                  </a:lnTo>
                  <a:lnTo>
                    <a:pt x="38" y="53"/>
                  </a:lnTo>
                  <a:lnTo>
                    <a:pt x="29" y="56"/>
                  </a:lnTo>
                  <a:lnTo>
                    <a:pt x="23" y="57"/>
                  </a:lnTo>
                  <a:lnTo>
                    <a:pt x="17" y="58"/>
                  </a:lnTo>
                  <a:lnTo>
                    <a:pt x="12" y="58"/>
                  </a:lnTo>
                  <a:lnTo>
                    <a:pt x="4" y="59"/>
                  </a:lnTo>
                  <a:lnTo>
                    <a:pt x="0" y="59"/>
                  </a:lnTo>
                  <a:lnTo>
                    <a:pt x="6" y="59"/>
                  </a:lnTo>
                  <a:lnTo>
                    <a:pt x="12" y="59"/>
                  </a:lnTo>
                  <a:lnTo>
                    <a:pt x="19" y="59"/>
                  </a:lnTo>
                  <a:lnTo>
                    <a:pt x="25" y="60"/>
                  </a:lnTo>
                  <a:lnTo>
                    <a:pt x="34" y="63"/>
                  </a:lnTo>
                  <a:lnTo>
                    <a:pt x="44" y="66"/>
                  </a:lnTo>
                  <a:lnTo>
                    <a:pt x="51" y="71"/>
                  </a:lnTo>
                  <a:lnTo>
                    <a:pt x="55" y="73"/>
                  </a:lnTo>
                  <a:lnTo>
                    <a:pt x="59" y="76"/>
                  </a:lnTo>
                  <a:lnTo>
                    <a:pt x="61" y="78"/>
                  </a:lnTo>
                  <a:lnTo>
                    <a:pt x="63" y="81"/>
                  </a:lnTo>
                  <a:lnTo>
                    <a:pt x="63" y="84"/>
                  </a:lnTo>
                  <a:lnTo>
                    <a:pt x="65" y="87"/>
                  </a:lnTo>
                  <a:lnTo>
                    <a:pt x="65" y="90"/>
                  </a:lnTo>
                  <a:lnTo>
                    <a:pt x="63" y="92"/>
                  </a:lnTo>
                  <a:lnTo>
                    <a:pt x="63" y="95"/>
                  </a:lnTo>
                  <a:lnTo>
                    <a:pt x="61" y="98"/>
                  </a:lnTo>
                  <a:lnTo>
                    <a:pt x="57" y="101"/>
                  </a:lnTo>
                  <a:lnTo>
                    <a:pt x="55" y="104"/>
                  </a:lnTo>
                  <a:lnTo>
                    <a:pt x="51" y="106"/>
                  </a:lnTo>
                  <a:lnTo>
                    <a:pt x="48" y="108"/>
                  </a:lnTo>
                  <a:lnTo>
                    <a:pt x="38" y="112"/>
                  </a:lnTo>
                  <a:lnTo>
                    <a:pt x="29" y="114"/>
                  </a:lnTo>
                  <a:lnTo>
                    <a:pt x="23" y="115"/>
                  </a:lnTo>
                  <a:lnTo>
                    <a:pt x="17" y="116"/>
                  </a:lnTo>
                  <a:lnTo>
                    <a:pt x="12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6" y="117"/>
                  </a:lnTo>
                  <a:lnTo>
                    <a:pt x="12" y="117"/>
                  </a:lnTo>
                  <a:lnTo>
                    <a:pt x="19" y="118"/>
                  </a:lnTo>
                  <a:lnTo>
                    <a:pt x="25" y="119"/>
                  </a:lnTo>
                  <a:lnTo>
                    <a:pt x="34" y="121"/>
                  </a:lnTo>
                  <a:lnTo>
                    <a:pt x="44" y="125"/>
                  </a:lnTo>
                  <a:lnTo>
                    <a:pt x="51" y="130"/>
                  </a:lnTo>
                  <a:lnTo>
                    <a:pt x="55" y="132"/>
                  </a:lnTo>
                  <a:lnTo>
                    <a:pt x="59" y="134"/>
                  </a:lnTo>
                  <a:lnTo>
                    <a:pt x="61" y="137"/>
                  </a:lnTo>
                  <a:lnTo>
                    <a:pt x="63" y="139"/>
                  </a:lnTo>
                  <a:lnTo>
                    <a:pt x="63" y="142"/>
                  </a:lnTo>
                  <a:lnTo>
                    <a:pt x="65" y="145"/>
                  </a:lnTo>
                  <a:lnTo>
                    <a:pt x="65" y="148"/>
                  </a:lnTo>
                  <a:lnTo>
                    <a:pt x="63" y="151"/>
                  </a:lnTo>
                  <a:lnTo>
                    <a:pt x="63" y="154"/>
                  </a:lnTo>
                  <a:lnTo>
                    <a:pt x="61" y="156"/>
                  </a:lnTo>
                  <a:lnTo>
                    <a:pt x="57" y="160"/>
                  </a:lnTo>
                  <a:lnTo>
                    <a:pt x="55" y="162"/>
                  </a:lnTo>
                  <a:lnTo>
                    <a:pt x="51" y="164"/>
                  </a:lnTo>
                  <a:lnTo>
                    <a:pt x="48" y="167"/>
                  </a:lnTo>
                  <a:lnTo>
                    <a:pt x="38" y="170"/>
                  </a:lnTo>
                  <a:lnTo>
                    <a:pt x="29" y="173"/>
                  </a:lnTo>
                  <a:lnTo>
                    <a:pt x="23" y="174"/>
                  </a:lnTo>
                  <a:lnTo>
                    <a:pt x="17" y="175"/>
                  </a:lnTo>
                  <a:lnTo>
                    <a:pt x="12" y="175"/>
                  </a:lnTo>
                  <a:lnTo>
                    <a:pt x="4" y="176"/>
                  </a:lnTo>
                  <a:lnTo>
                    <a:pt x="0" y="176"/>
                  </a:lnTo>
                  <a:lnTo>
                    <a:pt x="6" y="176"/>
                  </a:lnTo>
                  <a:lnTo>
                    <a:pt x="12" y="176"/>
                  </a:lnTo>
                  <a:lnTo>
                    <a:pt x="19" y="177"/>
                  </a:lnTo>
                  <a:lnTo>
                    <a:pt x="25" y="177"/>
                  </a:lnTo>
                  <a:lnTo>
                    <a:pt x="34" y="180"/>
                  </a:lnTo>
                  <a:lnTo>
                    <a:pt x="44" y="183"/>
                  </a:lnTo>
                  <a:lnTo>
                    <a:pt x="51" y="188"/>
                  </a:lnTo>
                  <a:lnTo>
                    <a:pt x="55" y="190"/>
                  </a:lnTo>
                  <a:lnTo>
                    <a:pt x="59" y="193"/>
                  </a:lnTo>
                  <a:lnTo>
                    <a:pt x="61" y="195"/>
                  </a:lnTo>
                  <a:lnTo>
                    <a:pt x="63" y="198"/>
                  </a:lnTo>
                  <a:lnTo>
                    <a:pt x="63" y="201"/>
                  </a:lnTo>
                  <a:lnTo>
                    <a:pt x="65" y="204"/>
                  </a:lnTo>
                  <a:lnTo>
                    <a:pt x="65" y="207"/>
                  </a:lnTo>
                  <a:lnTo>
                    <a:pt x="63" y="209"/>
                  </a:lnTo>
                  <a:lnTo>
                    <a:pt x="63" y="212"/>
                  </a:lnTo>
                  <a:lnTo>
                    <a:pt x="61" y="215"/>
                  </a:lnTo>
                  <a:lnTo>
                    <a:pt x="57" y="218"/>
                  </a:lnTo>
                  <a:lnTo>
                    <a:pt x="55" y="221"/>
                  </a:lnTo>
                  <a:lnTo>
                    <a:pt x="51" y="223"/>
                  </a:lnTo>
                  <a:lnTo>
                    <a:pt x="48" y="225"/>
                  </a:lnTo>
                  <a:lnTo>
                    <a:pt x="38" y="229"/>
                  </a:lnTo>
                  <a:lnTo>
                    <a:pt x="29" y="231"/>
                  </a:lnTo>
                  <a:lnTo>
                    <a:pt x="23" y="233"/>
                  </a:lnTo>
                  <a:lnTo>
                    <a:pt x="17" y="233"/>
                  </a:lnTo>
                  <a:lnTo>
                    <a:pt x="12" y="234"/>
                  </a:lnTo>
                  <a:lnTo>
                    <a:pt x="4" y="234"/>
                  </a:lnTo>
                  <a:lnTo>
                    <a:pt x="0" y="2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08" name="Freeform 264"/>
            <p:cNvSpPr>
              <a:spLocks/>
            </p:cNvSpPr>
            <p:nvPr/>
          </p:nvSpPr>
          <p:spPr bwMode="auto">
            <a:xfrm>
              <a:off x="4333" y="1153"/>
              <a:ext cx="32" cy="234"/>
            </a:xfrm>
            <a:custGeom>
              <a:avLst/>
              <a:gdLst>
                <a:gd name="T0" fmla="*/ 0 w 65"/>
                <a:gd name="T1" fmla="*/ 0 h 234"/>
                <a:gd name="T2" fmla="*/ 0 w 65"/>
                <a:gd name="T3" fmla="*/ 1 h 234"/>
                <a:gd name="T4" fmla="*/ 0 w 65"/>
                <a:gd name="T5" fmla="*/ 4 h 234"/>
                <a:gd name="T6" fmla="*/ 0 w 65"/>
                <a:gd name="T7" fmla="*/ 11 h 234"/>
                <a:gd name="T8" fmla="*/ 0 w 65"/>
                <a:gd name="T9" fmla="*/ 17 h 234"/>
                <a:gd name="T10" fmla="*/ 0 w 65"/>
                <a:gd name="T11" fmla="*/ 22 h 234"/>
                <a:gd name="T12" fmla="*/ 0 w 65"/>
                <a:gd name="T13" fmla="*/ 28 h 234"/>
                <a:gd name="T14" fmla="*/ 0 w 65"/>
                <a:gd name="T15" fmla="*/ 34 h 234"/>
                <a:gd name="T16" fmla="*/ 0 w 65"/>
                <a:gd name="T17" fmla="*/ 39 h 234"/>
                <a:gd name="T18" fmla="*/ 0 w 65"/>
                <a:gd name="T19" fmla="*/ 45 h 234"/>
                <a:gd name="T20" fmla="*/ 0 w 65"/>
                <a:gd name="T21" fmla="*/ 49 h 234"/>
                <a:gd name="T22" fmla="*/ 0 w 65"/>
                <a:gd name="T23" fmla="*/ 56 h 234"/>
                <a:gd name="T24" fmla="*/ 0 w 65"/>
                <a:gd name="T25" fmla="*/ 58 h 234"/>
                <a:gd name="T26" fmla="*/ 0 w 65"/>
                <a:gd name="T27" fmla="*/ 59 h 234"/>
                <a:gd name="T28" fmla="*/ 0 w 65"/>
                <a:gd name="T29" fmla="*/ 59 h 234"/>
                <a:gd name="T30" fmla="*/ 0 w 65"/>
                <a:gd name="T31" fmla="*/ 59 h 234"/>
                <a:gd name="T32" fmla="*/ 0 w 65"/>
                <a:gd name="T33" fmla="*/ 63 h 234"/>
                <a:gd name="T34" fmla="*/ 0 w 65"/>
                <a:gd name="T35" fmla="*/ 71 h 234"/>
                <a:gd name="T36" fmla="*/ 0 w 65"/>
                <a:gd name="T37" fmla="*/ 76 h 234"/>
                <a:gd name="T38" fmla="*/ 0 w 65"/>
                <a:gd name="T39" fmla="*/ 81 h 234"/>
                <a:gd name="T40" fmla="*/ 0 w 65"/>
                <a:gd name="T41" fmla="*/ 87 h 234"/>
                <a:gd name="T42" fmla="*/ 0 w 65"/>
                <a:gd name="T43" fmla="*/ 92 h 234"/>
                <a:gd name="T44" fmla="*/ 0 w 65"/>
                <a:gd name="T45" fmla="*/ 98 h 234"/>
                <a:gd name="T46" fmla="*/ 0 w 65"/>
                <a:gd name="T47" fmla="*/ 104 h 234"/>
                <a:gd name="T48" fmla="*/ 0 w 65"/>
                <a:gd name="T49" fmla="*/ 108 h 234"/>
                <a:gd name="T50" fmla="*/ 0 w 65"/>
                <a:gd name="T51" fmla="*/ 114 h 234"/>
                <a:gd name="T52" fmla="*/ 0 w 65"/>
                <a:gd name="T53" fmla="*/ 116 h 234"/>
                <a:gd name="T54" fmla="*/ 0 w 65"/>
                <a:gd name="T55" fmla="*/ 117 h 234"/>
                <a:gd name="T56" fmla="*/ 0 w 65"/>
                <a:gd name="T57" fmla="*/ 117 h 234"/>
                <a:gd name="T58" fmla="*/ 0 w 65"/>
                <a:gd name="T59" fmla="*/ 118 h 234"/>
                <a:gd name="T60" fmla="*/ 0 w 65"/>
                <a:gd name="T61" fmla="*/ 121 h 234"/>
                <a:gd name="T62" fmla="*/ 0 w 65"/>
                <a:gd name="T63" fmla="*/ 130 h 234"/>
                <a:gd name="T64" fmla="*/ 0 w 65"/>
                <a:gd name="T65" fmla="*/ 134 h 234"/>
                <a:gd name="T66" fmla="*/ 0 w 65"/>
                <a:gd name="T67" fmla="*/ 139 h 234"/>
                <a:gd name="T68" fmla="*/ 0 w 65"/>
                <a:gd name="T69" fmla="*/ 145 h 234"/>
                <a:gd name="T70" fmla="*/ 0 w 65"/>
                <a:gd name="T71" fmla="*/ 151 h 234"/>
                <a:gd name="T72" fmla="*/ 0 w 65"/>
                <a:gd name="T73" fmla="*/ 156 h 234"/>
                <a:gd name="T74" fmla="*/ 0 w 65"/>
                <a:gd name="T75" fmla="*/ 162 h 234"/>
                <a:gd name="T76" fmla="*/ 0 w 65"/>
                <a:gd name="T77" fmla="*/ 167 h 234"/>
                <a:gd name="T78" fmla="*/ 0 w 65"/>
                <a:gd name="T79" fmla="*/ 173 h 234"/>
                <a:gd name="T80" fmla="*/ 0 w 65"/>
                <a:gd name="T81" fmla="*/ 175 h 234"/>
                <a:gd name="T82" fmla="*/ 0 w 65"/>
                <a:gd name="T83" fmla="*/ 176 h 234"/>
                <a:gd name="T84" fmla="*/ 0 w 65"/>
                <a:gd name="T85" fmla="*/ 176 h 234"/>
                <a:gd name="T86" fmla="*/ 0 w 65"/>
                <a:gd name="T87" fmla="*/ 177 h 234"/>
                <a:gd name="T88" fmla="*/ 0 w 65"/>
                <a:gd name="T89" fmla="*/ 180 h 234"/>
                <a:gd name="T90" fmla="*/ 0 w 65"/>
                <a:gd name="T91" fmla="*/ 188 h 234"/>
                <a:gd name="T92" fmla="*/ 0 w 65"/>
                <a:gd name="T93" fmla="*/ 193 h 234"/>
                <a:gd name="T94" fmla="*/ 0 w 65"/>
                <a:gd name="T95" fmla="*/ 198 h 234"/>
                <a:gd name="T96" fmla="*/ 0 w 65"/>
                <a:gd name="T97" fmla="*/ 204 h 234"/>
                <a:gd name="T98" fmla="*/ 0 w 65"/>
                <a:gd name="T99" fmla="*/ 209 h 234"/>
                <a:gd name="T100" fmla="*/ 0 w 65"/>
                <a:gd name="T101" fmla="*/ 215 h 234"/>
                <a:gd name="T102" fmla="*/ 0 w 65"/>
                <a:gd name="T103" fmla="*/ 221 h 234"/>
                <a:gd name="T104" fmla="*/ 0 w 65"/>
                <a:gd name="T105" fmla="*/ 225 h 234"/>
                <a:gd name="T106" fmla="*/ 0 w 65"/>
                <a:gd name="T107" fmla="*/ 231 h 234"/>
                <a:gd name="T108" fmla="*/ 0 w 65"/>
                <a:gd name="T109" fmla="*/ 233 h 234"/>
                <a:gd name="T110" fmla="*/ 0 w 65"/>
                <a:gd name="T111" fmla="*/ 234 h 23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65"/>
                <a:gd name="T169" fmla="*/ 0 h 234"/>
                <a:gd name="T170" fmla="*/ 65 w 65"/>
                <a:gd name="T171" fmla="*/ 234 h 234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65" h="234">
                  <a:moveTo>
                    <a:pt x="65" y="0"/>
                  </a:moveTo>
                  <a:lnTo>
                    <a:pt x="59" y="0"/>
                  </a:lnTo>
                  <a:lnTo>
                    <a:pt x="51" y="0"/>
                  </a:lnTo>
                  <a:lnTo>
                    <a:pt x="46" y="1"/>
                  </a:lnTo>
                  <a:lnTo>
                    <a:pt x="40" y="2"/>
                  </a:lnTo>
                  <a:lnTo>
                    <a:pt x="29" y="4"/>
                  </a:lnTo>
                  <a:lnTo>
                    <a:pt x="19" y="7"/>
                  </a:lnTo>
                  <a:lnTo>
                    <a:pt x="12" y="11"/>
                  </a:lnTo>
                  <a:lnTo>
                    <a:pt x="10" y="15"/>
                  </a:lnTo>
                  <a:lnTo>
                    <a:pt x="6" y="17"/>
                  </a:lnTo>
                  <a:lnTo>
                    <a:pt x="4" y="20"/>
                  </a:lnTo>
                  <a:lnTo>
                    <a:pt x="2" y="22"/>
                  </a:lnTo>
                  <a:lnTo>
                    <a:pt x="0" y="25"/>
                  </a:lnTo>
                  <a:lnTo>
                    <a:pt x="0" y="28"/>
                  </a:lnTo>
                  <a:lnTo>
                    <a:pt x="0" y="31"/>
                  </a:lnTo>
                  <a:lnTo>
                    <a:pt x="0" y="34"/>
                  </a:lnTo>
                  <a:lnTo>
                    <a:pt x="2" y="37"/>
                  </a:lnTo>
                  <a:lnTo>
                    <a:pt x="4" y="39"/>
                  </a:lnTo>
                  <a:lnTo>
                    <a:pt x="6" y="43"/>
                  </a:lnTo>
                  <a:lnTo>
                    <a:pt x="10" y="45"/>
                  </a:lnTo>
                  <a:lnTo>
                    <a:pt x="14" y="47"/>
                  </a:lnTo>
                  <a:lnTo>
                    <a:pt x="17" y="49"/>
                  </a:lnTo>
                  <a:lnTo>
                    <a:pt x="25" y="53"/>
                  </a:lnTo>
                  <a:lnTo>
                    <a:pt x="36" y="56"/>
                  </a:lnTo>
                  <a:lnTo>
                    <a:pt x="42" y="57"/>
                  </a:lnTo>
                  <a:lnTo>
                    <a:pt x="48" y="58"/>
                  </a:lnTo>
                  <a:lnTo>
                    <a:pt x="53" y="58"/>
                  </a:lnTo>
                  <a:lnTo>
                    <a:pt x="59" y="59"/>
                  </a:lnTo>
                  <a:lnTo>
                    <a:pt x="65" y="59"/>
                  </a:lnTo>
                  <a:lnTo>
                    <a:pt x="59" y="59"/>
                  </a:lnTo>
                  <a:lnTo>
                    <a:pt x="51" y="59"/>
                  </a:lnTo>
                  <a:lnTo>
                    <a:pt x="46" y="59"/>
                  </a:lnTo>
                  <a:lnTo>
                    <a:pt x="40" y="60"/>
                  </a:lnTo>
                  <a:lnTo>
                    <a:pt x="29" y="63"/>
                  </a:lnTo>
                  <a:lnTo>
                    <a:pt x="19" y="66"/>
                  </a:lnTo>
                  <a:lnTo>
                    <a:pt x="12" y="71"/>
                  </a:lnTo>
                  <a:lnTo>
                    <a:pt x="10" y="73"/>
                  </a:lnTo>
                  <a:lnTo>
                    <a:pt x="6" y="76"/>
                  </a:lnTo>
                  <a:lnTo>
                    <a:pt x="4" y="78"/>
                  </a:lnTo>
                  <a:lnTo>
                    <a:pt x="2" y="81"/>
                  </a:lnTo>
                  <a:lnTo>
                    <a:pt x="0" y="84"/>
                  </a:lnTo>
                  <a:lnTo>
                    <a:pt x="0" y="87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2" y="95"/>
                  </a:lnTo>
                  <a:lnTo>
                    <a:pt x="4" y="98"/>
                  </a:lnTo>
                  <a:lnTo>
                    <a:pt x="6" y="101"/>
                  </a:lnTo>
                  <a:lnTo>
                    <a:pt x="10" y="104"/>
                  </a:lnTo>
                  <a:lnTo>
                    <a:pt x="14" y="106"/>
                  </a:lnTo>
                  <a:lnTo>
                    <a:pt x="17" y="108"/>
                  </a:lnTo>
                  <a:lnTo>
                    <a:pt x="25" y="112"/>
                  </a:lnTo>
                  <a:lnTo>
                    <a:pt x="36" y="114"/>
                  </a:lnTo>
                  <a:lnTo>
                    <a:pt x="42" y="115"/>
                  </a:lnTo>
                  <a:lnTo>
                    <a:pt x="48" y="116"/>
                  </a:lnTo>
                  <a:lnTo>
                    <a:pt x="53" y="117"/>
                  </a:lnTo>
                  <a:lnTo>
                    <a:pt x="59" y="117"/>
                  </a:lnTo>
                  <a:lnTo>
                    <a:pt x="65" y="117"/>
                  </a:lnTo>
                  <a:lnTo>
                    <a:pt x="59" y="117"/>
                  </a:lnTo>
                  <a:lnTo>
                    <a:pt x="51" y="117"/>
                  </a:lnTo>
                  <a:lnTo>
                    <a:pt x="46" y="118"/>
                  </a:lnTo>
                  <a:lnTo>
                    <a:pt x="40" y="119"/>
                  </a:lnTo>
                  <a:lnTo>
                    <a:pt x="29" y="121"/>
                  </a:lnTo>
                  <a:lnTo>
                    <a:pt x="19" y="125"/>
                  </a:lnTo>
                  <a:lnTo>
                    <a:pt x="12" y="130"/>
                  </a:lnTo>
                  <a:lnTo>
                    <a:pt x="10" y="132"/>
                  </a:lnTo>
                  <a:lnTo>
                    <a:pt x="6" y="134"/>
                  </a:lnTo>
                  <a:lnTo>
                    <a:pt x="4" y="137"/>
                  </a:lnTo>
                  <a:lnTo>
                    <a:pt x="2" y="139"/>
                  </a:lnTo>
                  <a:lnTo>
                    <a:pt x="0" y="142"/>
                  </a:lnTo>
                  <a:lnTo>
                    <a:pt x="0" y="145"/>
                  </a:lnTo>
                  <a:lnTo>
                    <a:pt x="0" y="148"/>
                  </a:lnTo>
                  <a:lnTo>
                    <a:pt x="0" y="151"/>
                  </a:lnTo>
                  <a:lnTo>
                    <a:pt x="2" y="154"/>
                  </a:lnTo>
                  <a:lnTo>
                    <a:pt x="4" y="156"/>
                  </a:lnTo>
                  <a:lnTo>
                    <a:pt x="6" y="160"/>
                  </a:lnTo>
                  <a:lnTo>
                    <a:pt x="10" y="162"/>
                  </a:lnTo>
                  <a:lnTo>
                    <a:pt x="14" y="164"/>
                  </a:lnTo>
                  <a:lnTo>
                    <a:pt x="17" y="167"/>
                  </a:lnTo>
                  <a:lnTo>
                    <a:pt x="25" y="170"/>
                  </a:lnTo>
                  <a:lnTo>
                    <a:pt x="36" y="173"/>
                  </a:lnTo>
                  <a:lnTo>
                    <a:pt x="42" y="174"/>
                  </a:lnTo>
                  <a:lnTo>
                    <a:pt x="48" y="175"/>
                  </a:lnTo>
                  <a:lnTo>
                    <a:pt x="53" y="175"/>
                  </a:lnTo>
                  <a:lnTo>
                    <a:pt x="59" y="176"/>
                  </a:lnTo>
                  <a:lnTo>
                    <a:pt x="65" y="176"/>
                  </a:lnTo>
                  <a:lnTo>
                    <a:pt x="59" y="176"/>
                  </a:lnTo>
                  <a:lnTo>
                    <a:pt x="51" y="176"/>
                  </a:lnTo>
                  <a:lnTo>
                    <a:pt x="46" y="177"/>
                  </a:lnTo>
                  <a:lnTo>
                    <a:pt x="40" y="177"/>
                  </a:lnTo>
                  <a:lnTo>
                    <a:pt x="29" y="180"/>
                  </a:lnTo>
                  <a:lnTo>
                    <a:pt x="19" y="183"/>
                  </a:lnTo>
                  <a:lnTo>
                    <a:pt x="12" y="188"/>
                  </a:lnTo>
                  <a:lnTo>
                    <a:pt x="10" y="190"/>
                  </a:lnTo>
                  <a:lnTo>
                    <a:pt x="6" y="193"/>
                  </a:lnTo>
                  <a:lnTo>
                    <a:pt x="4" y="195"/>
                  </a:lnTo>
                  <a:lnTo>
                    <a:pt x="2" y="198"/>
                  </a:lnTo>
                  <a:lnTo>
                    <a:pt x="0" y="201"/>
                  </a:lnTo>
                  <a:lnTo>
                    <a:pt x="0" y="204"/>
                  </a:lnTo>
                  <a:lnTo>
                    <a:pt x="0" y="207"/>
                  </a:lnTo>
                  <a:lnTo>
                    <a:pt x="0" y="209"/>
                  </a:lnTo>
                  <a:lnTo>
                    <a:pt x="2" y="212"/>
                  </a:lnTo>
                  <a:lnTo>
                    <a:pt x="4" y="215"/>
                  </a:lnTo>
                  <a:lnTo>
                    <a:pt x="6" y="218"/>
                  </a:lnTo>
                  <a:lnTo>
                    <a:pt x="10" y="221"/>
                  </a:lnTo>
                  <a:lnTo>
                    <a:pt x="14" y="223"/>
                  </a:lnTo>
                  <a:lnTo>
                    <a:pt x="17" y="225"/>
                  </a:lnTo>
                  <a:lnTo>
                    <a:pt x="25" y="229"/>
                  </a:lnTo>
                  <a:lnTo>
                    <a:pt x="36" y="231"/>
                  </a:lnTo>
                  <a:lnTo>
                    <a:pt x="42" y="233"/>
                  </a:lnTo>
                  <a:lnTo>
                    <a:pt x="48" y="233"/>
                  </a:lnTo>
                  <a:lnTo>
                    <a:pt x="53" y="234"/>
                  </a:lnTo>
                  <a:lnTo>
                    <a:pt x="59" y="234"/>
                  </a:lnTo>
                  <a:lnTo>
                    <a:pt x="65" y="2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09" name="Line 265"/>
            <p:cNvSpPr>
              <a:spLocks noChangeShapeType="1"/>
            </p:cNvSpPr>
            <p:nvPr/>
          </p:nvSpPr>
          <p:spPr bwMode="auto">
            <a:xfrm>
              <a:off x="4295" y="1159"/>
              <a:ext cx="1" cy="2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10" name="Line 266"/>
            <p:cNvSpPr>
              <a:spLocks noChangeShapeType="1"/>
            </p:cNvSpPr>
            <p:nvPr/>
          </p:nvSpPr>
          <p:spPr bwMode="auto">
            <a:xfrm flipV="1">
              <a:off x="4308" y="1159"/>
              <a:ext cx="1" cy="2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11" name="Rectangle 267"/>
            <p:cNvSpPr>
              <a:spLocks noChangeArrowheads="1"/>
            </p:cNvSpPr>
            <p:nvPr/>
          </p:nvSpPr>
          <p:spPr bwMode="auto">
            <a:xfrm>
              <a:off x="5331" y="1169"/>
              <a:ext cx="42" cy="117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/>
            </a:p>
          </p:txBody>
        </p:sp>
        <p:sp>
          <p:nvSpPr>
            <p:cNvPr id="95312" name="Rectangle 268"/>
            <p:cNvSpPr>
              <a:spLocks noChangeArrowheads="1"/>
            </p:cNvSpPr>
            <p:nvPr/>
          </p:nvSpPr>
          <p:spPr bwMode="auto">
            <a:xfrm>
              <a:off x="5331" y="1169"/>
              <a:ext cx="42" cy="117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/>
            </a:p>
          </p:txBody>
        </p:sp>
        <p:sp>
          <p:nvSpPr>
            <p:cNvPr id="95313" name="Line 269"/>
            <p:cNvSpPr>
              <a:spLocks noChangeShapeType="1"/>
            </p:cNvSpPr>
            <p:nvPr/>
          </p:nvSpPr>
          <p:spPr bwMode="auto">
            <a:xfrm>
              <a:off x="5139" y="1215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14" name="Line 270"/>
            <p:cNvSpPr>
              <a:spLocks noChangeShapeType="1"/>
            </p:cNvSpPr>
            <p:nvPr/>
          </p:nvSpPr>
          <p:spPr bwMode="auto">
            <a:xfrm>
              <a:off x="5139" y="1250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15" name="Line 271"/>
            <p:cNvSpPr>
              <a:spLocks noChangeShapeType="1"/>
            </p:cNvSpPr>
            <p:nvPr/>
          </p:nvSpPr>
          <p:spPr bwMode="auto">
            <a:xfrm>
              <a:off x="5182" y="1250"/>
              <a:ext cx="1" cy="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16" name="Line 272"/>
            <p:cNvSpPr>
              <a:spLocks noChangeShapeType="1"/>
            </p:cNvSpPr>
            <p:nvPr/>
          </p:nvSpPr>
          <p:spPr bwMode="auto">
            <a:xfrm flipV="1">
              <a:off x="5182" y="1110"/>
              <a:ext cx="1" cy="10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17" name="Line 273"/>
            <p:cNvSpPr>
              <a:spLocks noChangeShapeType="1"/>
            </p:cNvSpPr>
            <p:nvPr/>
          </p:nvSpPr>
          <p:spPr bwMode="auto">
            <a:xfrm flipV="1">
              <a:off x="5182" y="1086"/>
              <a:ext cx="1" cy="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18" name="Freeform 274"/>
            <p:cNvSpPr>
              <a:spLocks/>
            </p:cNvSpPr>
            <p:nvPr/>
          </p:nvSpPr>
          <p:spPr bwMode="auto">
            <a:xfrm>
              <a:off x="4224" y="1348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1 w 60"/>
                <a:gd name="T3" fmla="*/ 12 h 33"/>
                <a:gd name="T4" fmla="*/ 1 w 60"/>
                <a:gd name="T5" fmla="*/ 9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9 h 33"/>
                <a:gd name="T30" fmla="*/ 1 w 60"/>
                <a:gd name="T31" fmla="*/ 12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3 h 33"/>
                <a:gd name="T40" fmla="*/ 1 w 60"/>
                <a:gd name="T41" fmla="*/ 25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5 h 33"/>
                <a:gd name="T62" fmla="*/ 1 w 60"/>
                <a:gd name="T63" fmla="*/ 23 h 33"/>
                <a:gd name="T64" fmla="*/ 1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2" y="12"/>
                  </a:lnTo>
                  <a:lnTo>
                    <a:pt x="3" y="9"/>
                  </a:lnTo>
                  <a:lnTo>
                    <a:pt x="5" y="7"/>
                  </a:lnTo>
                  <a:lnTo>
                    <a:pt x="9" y="4"/>
                  </a:lnTo>
                  <a:lnTo>
                    <a:pt x="15" y="2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7" y="0"/>
                  </a:lnTo>
                  <a:lnTo>
                    <a:pt x="43" y="1"/>
                  </a:lnTo>
                  <a:lnTo>
                    <a:pt x="47" y="2"/>
                  </a:lnTo>
                  <a:lnTo>
                    <a:pt x="53" y="4"/>
                  </a:lnTo>
                  <a:lnTo>
                    <a:pt x="56" y="7"/>
                  </a:lnTo>
                  <a:lnTo>
                    <a:pt x="58" y="9"/>
                  </a:lnTo>
                  <a:lnTo>
                    <a:pt x="60" y="12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3"/>
                  </a:lnTo>
                  <a:lnTo>
                    <a:pt x="56" y="25"/>
                  </a:lnTo>
                  <a:lnTo>
                    <a:pt x="53" y="28"/>
                  </a:lnTo>
                  <a:lnTo>
                    <a:pt x="47" y="30"/>
                  </a:lnTo>
                  <a:lnTo>
                    <a:pt x="43" y="31"/>
                  </a:lnTo>
                  <a:lnTo>
                    <a:pt x="37" y="32"/>
                  </a:lnTo>
                  <a:lnTo>
                    <a:pt x="30" y="33"/>
                  </a:lnTo>
                  <a:lnTo>
                    <a:pt x="24" y="32"/>
                  </a:lnTo>
                  <a:lnTo>
                    <a:pt x="19" y="31"/>
                  </a:lnTo>
                  <a:lnTo>
                    <a:pt x="15" y="30"/>
                  </a:lnTo>
                  <a:lnTo>
                    <a:pt x="9" y="28"/>
                  </a:lnTo>
                  <a:lnTo>
                    <a:pt x="5" y="25"/>
                  </a:lnTo>
                  <a:lnTo>
                    <a:pt x="3" y="23"/>
                  </a:lnTo>
                  <a:lnTo>
                    <a:pt x="2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19" name="Freeform 275"/>
            <p:cNvSpPr>
              <a:spLocks/>
            </p:cNvSpPr>
            <p:nvPr/>
          </p:nvSpPr>
          <p:spPr bwMode="auto">
            <a:xfrm>
              <a:off x="4359" y="1153"/>
              <a:ext cx="30" cy="33"/>
            </a:xfrm>
            <a:custGeom>
              <a:avLst/>
              <a:gdLst>
                <a:gd name="T0" fmla="*/ 0 w 61"/>
                <a:gd name="T1" fmla="*/ 17 h 33"/>
                <a:gd name="T2" fmla="*/ 0 w 61"/>
                <a:gd name="T3" fmla="*/ 14 h 33"/>
                <a:gd name="T4" fmla="*/ 0 w 61"/>
                <a:gd name="T5" fmla="*/ 10 h 33"/>
                <a:gd name="T6" fmla="*/ 0 w 61"/>
                <a:gd name="T7" fmla="*/ 7 h 33"/>
                <a:gd name="T8" fmla="*/ 0 w 61"/>
                <a:gd name="T9" fmla="*/ 4 h 33"/>
                <a:gd name="T10" fmla="*/ 0 w 61"/>
                <a:gd name="T11" fmla="*/ 3 h 33"/>
                <a:gd name="T12" fmla="*/ 0 w 61"/>
                <a:gd name="T13" fmla="*/ 1 h 33"/>
                <a:gd name="T14" fmla="*/ 0 w 61"/>
                <a:gd name="T15" fmla="*/ 0 h 33"/>
                <a:gd name="T16" fmla="*/ 0 w 61"/>
                <a:gd name="T17" fmla="*/ 0 h 33"/>
                <a:gd name="T18" fmla="*/ 0 w 61"/>
                <a:gd name="T19" fmla="*/ 0 h 33"/>
                <a:gd name="T20" fmla="*/ 0 w 61"/>
                <a:gd name="T21" fmla="*/ 1 h 33"/>
                <a:gd name="T22" fmla="*/ 0 w 61"/>
                <a:gd name="T23" fmla="*/ 3 h 33"/>
                <a:gd name="T24" fmla="*/ 0 w 61"/>
                <a:gd name="T25" fmla="*/ 4 h 33"/>
                <a:gd name="T26" fmla="*/ 0 w 61"/>
                <a:gd name="T27" fmla="*/ 7 h 33"/>
                <a:gd name="T28" fmla="*/ 0 w 61"/>
                <a:gd name="T29" fmla="*/ 10 h 33"/>
                <a:gd name="T30" fmla="*/ 0 w 61"/>
                <a:gd name="T31" fmla="*/ 14 h 33"/>
                <a:gd name="T32" fmla="*/ 0 w 61"/>
                <a:gd name="T33" fmla="*/ 17 h 33"/>
                <a:gd name="T34" fmla="*/ 0 w 61"/>
                <a:gd name="T35" fmla="*/ 17 h 33"/>
                <a:gd name="T36" fmla="*/ 0 w 61"/>
                <a:gd name="T37" fmla="*/ 20 h 33"/>
                <a:gd name="T38" fmla="*/ 0 w 61"/>
                <a:gd name="T39" fmla="*/ 23 h 33"/>
                <a:gd name="T40" fmla="*/ 0 w 61"/>
                <a:gd name="T41" fmla="*/ 26 h 33"/>
                <a:gd name="T42" fmla="*/ 0 w 61"/>
                <a:gd name="T43" fmla="*/ 28 h 33"/>
                <a:gd name="T44" fmla="*/ 0 w 61"/>
                <a:gd name="T45" fmla="*/ 30 h 33"/>
                <a:gd name="T46" fmla="*/ 0 w 61"/>
                <a:gd name="T47" fmla="*/ 32 h 33"/>
                <a:gd name="T48" fmla="*/ 0 w 61"/>
                <a:gd name="T49" fmla="*/ 32 h 33"/>
                <a:gd name="T50" fmla="*/ 0 w 61"/>
                <a:gd name="T51" fmla="*/ 33 h 33"/>
                <a:gd name="T52" fmla="*/ 0 w 61"/>
                <a:gd name="T53" fmla="*/ 32 h 33"/>
                <a:gd name="T54" fmla="*/ 0 w 61"/>
                <a:gd name="T55" fmla="*/ 32 h 33"/>
                <a:gd name="T56" fmla="*/ 0 w 61"/>
                <a:gd name="T57" fmla="*/ 30 h 33"/>
                <a:gd name="T58" fmla="*/ 0 w 61"/>
                <a:gd name="T59" fmla="*/ 28 h 33"/>
                <a:gd name="T60" fmla="*/ 0 w 61"/>
                <a:gd name="T61" fmla="*/ 26 h 33"/>
                <a:gd name="T62" fmla="*/ 0 w 61"/>
                <a:gd name="T63" fmla="*/ 23 h 33"/>
                <a:gd name="T64" fmla="*/ 0 w 61"/>
                <a:gd name="T65" fmla="*/ 20 h 33"/>
                <a:gd name="T66" fmla="*/ 0 w 61"/>
                <a:gd name="T67" fmla="*/ 17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1"/>
                <a:gd name="T103" fmla="*/ 0 h 33"/>
                <a:gd name="T104" fmla="*/ 61 w 61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1" h="33">
                  <a:moveTo>
                    <a:pt x="0" y="17"/>
                  </a:moveTo>
                  <a:lnTo>
                    <a:pt x="0" y="14"/>
                  </a:lnTo>
                  <a:lnTo>
                    <a:pt x="2" y="10"/>
                  </a:lnTo>
                  <a:lnTo>
                    <a:pt x="4" y="7"/>
                  </a:lnTo>
                  <a:lnTo>
                    <a:pt x="8" y="4"/>
                  </a:lnTo>
                  <a:lnTo>
                    <a:pt x="14" y="3"/>
                  </a:lnTo>
                  <a:lnTo>
                    <a:pt x="17" y="1"/>
                  </a:lnTo>
                  <a:lnTo>
                    <a:pt x="23" y="0"/>
                  </a:lnTo>
                  <a:lnTo>
                    <a:pt x="31" y="0"/>
                  </a:lnTo>
                  <a:lnTo>
                    <a:pt x="36" y="0"/>
                  </a:lnTo>
                  <a:lnTo>
                    <a:pt x="42" y="1"/>
                  </a:lnTo>
                  <a:lnTo>
                    <a:pt x="46" y="3"/>
                  </a:lnTo>
                  <a:lnTo>
                    <a:pt x="51" y="4"/>
                  </a:lnTo>
                  <a:lnTo>
                    <a:pt x="55" y="7"/>
                  </a:lnTo>
                  <a:lnTo>
                    <a:pt x="57" y="10"/>
                  </a:lnTo>
                  <a:lnTo>
                    <a:pt x="59" y="14"/>
                  </a:lnTo>
                  <a:lnTo>
                    <a:pt x="61" y="17"/>
                  </a:lnTo>
                  <a:lnTo>
                    <a:pt x="59" y="20"/>
                  </a:lnTo>
                  <a:lnTo>
                    <a:pt x="57" y="23"/>
                  </a:lnTo>
                  <a:lnTo>
                    <a:pt x="55" y="26"/>
                  </a:lnTo>
                  <a:lnTo>
                    <a:pt x="51" y="28"/>
                  </a:lnTo>
                  <a:lnTo>
                    <a:pt x="46" y="30"/>
                  </a:lnTo>
                  <a:lnTo>
                    <a:pt x="42" y="32"/>
                  </a:lnTo>
                  <a:lnTo>
                    <a:pt x="36" y="32"/>
                  </a:lnTo>
                  <a:lnTo>
                    <a:pt x="31" y="33"/>
                  </a:lnTo>
                  <a:lnTo>
                    <a:pt x="23" y="32"/>
                  </a:lnTo>
                  <a:lnTo>
                    <a:pt x="17" y="32"/>
                  </a:lnTo>
                  <a:lnTo>
                    <a:pt x="14" y="30"/>
                  </a:lnTo>
                  <a:lnTo>
                    <a:pt x="8" y="28"/>
                  </a:lnTo>
                  <a:lnTo>
                    <a:pt x="4" y="26"/>
                  </a:lnTo>
                  <a:lnTo>
                    <a:pt x="2" y="23"/>
                  </a:lnTo>
                  <a:lnTo>
                    <a:pt x="0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20" name="Rectangle 276"/>
            <p:cNvSpPr>
              <a:spLocks noChangeArrowheads="1"/>
            </p:cNvSpPr>
            <p:nvPr/>
          </p:nvSpPr>
          <p:spPr bwMode="auto">
            <a:xfrm>
              <a:off x="3243" y="1149"/>
              <a:ext cx="124" cy="91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endParaRPr lang="en-US" altLang="zh-CN" sz="20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</a:p>
            <a:p>
              <a:pPr eaLnBrk="1" hangingPunct="1"/>
              <a:endParaRPr lang="en-US" altLang="zh-CN" sz="20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2000"/>
            </a:p>
          </p:txBody>
        </p:sp>
        <p:sp>
          <p:nvSpPr>
            <p:cNvPr id="95321" name="Rectangle 277"/>
            <p:cNvSpPr>
              <a:spLocks noChangeArrowheads="1"/>
            </p:cNvSpPr>
            <p:nvPr/>
          </p:nvSpPr>
          <p:spPr bwMode="auto">
            <a:xfrm>
              <a:off x="5239" y="1104"/>
              <a:ext cx="64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R</a:t>
              </a:r>
              <a:endParaRPr lang="en-US" altLang="zh-CN"/>
            </a:p>
          </p:txBody>
        </p:sp>
        <p:sp>
          <p:nvSpPr>
            <p:cNvPr id="95322" name="Rectangle 278"/>
            <p:cNvSpPr>
              <a:spLocks noChangeArrowheads="1"/>
            </p:cNvSpPr>
            <p:nvPr/>
          </p:nvSpPr>
          <p:spPr bwMode="auto">
            <a:xfrm>
              <a:off x="4272" y="1613"/>
              <a:ext cx="64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95323" name="Rectangle 279"/>
            <p:cNvSpPr>
              <a:spLocks noChangeArrowheads="1"/>
            </p:cNvSpPr>
            <p:nvPr/>
          </p:nvSpPr>
          <p:spPr bwMode="auto">
            <a:xfrm>
              <a:off x="5420" y="968"/>
              <a:ext cx="109" cy="54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2000"/>
            </a:p>
          </p:txBody>
        </p:sp>
        <p:sp>
          <p:nvSpPr>
            <p:cNvPr id="95324" name="Freeform 280"/>
            <p:cNvSpPr>
              <a:spLocks noEditPoints="1"/>
            </p:cNvSpPr>
            <p:nvPr/>
          </p:nvSpPr>
          <p:spPr bwMode="auto">
            <a:xfrm>
              <a:off x="3608" y="1837"/>
              <a:ext cx="14" cy="131"/>
            </a:xfrm>
            <a:custGeom>
              <a:avLst/>
              <a:gdLst>
                <a:gd name="T0" fmla="*/ 1 w 26"/>
                <a:gd name="T1" fmla="*/ 117 h 131"/>
                <a:gd name="T2" fmla="*/ 1 w 26"/>
                <a:gd name="T3" fmla="*/ 117 h 131"/>
                <a:gd name="T4" fmla="*/ 1 w 26"/>
                <a:gd name="T5" fmla="*/ 118 h 131"/>
                <a:gd name="T6" fmla="*/ 1 w 26"/>
                <a:gd name="T7" fmla="*/ 119 h 131"/>
                <a:gd name="T8" fmla="*/ 0 w 26"/>
                <a:gd name="T9" fmla="*/ 121 h 131"/>
                <a:gd name="T10" fmla="*/ 0 w 26"/>
                <a:gd name="T11" fmla="*/ 123 h 131"/>
                <a:gd name="T12" fmla="*/ 0 w 26"/>
                <a:gd name="T13" fmla="*/ 124 h 131"/>
                <a:gd name="T14" fmla="*/ 0 w 26"/>
                <a:gd name="T15" fmla="*/ 126 h 131"/>
                <a:gd name="T16" fmla="*/ 0 w 26"/>
                <a:gd name="T17" fmla="*/ 127 h 131"/>
                <a:gd name="T18" fmla="*/ 1 w 26"/>
                <a:gd name="T19" fmla="*/ 129 h 131"/>
                <a:gd name="T20" fmla="*/ 1 w 26"/>
                <a:gd name="T21" fmla="*/ 131 h 131"/>
                <a:gd name="T22" fmla="*/ 1 w 26"/>
                <a:gd name="T23" fmla="*/ 131 h 131"/>
                <a:gd name="T24" fmla="*/ 1 w 26"/>
                <a:gd name="T25" fmla="*/ 131 h 131"/>
                <a:gd name="T26" fmla="*/ 1 w 26"/>
                <a:gd name="T27" fmla="*/ 131 h 131"/>
                <a:gd name="T28" fmla="*/ 1 w 26"/>
                <a:gd name="T29" fmla="*/ 131 h 131"/>
                <a:gd name="T30" fmla="*/ 1 w 26"/>
                <a:gd name="T31" fmla="*/ 131 h 131"/>
                <a:gd name="T32" fmla="*/ 1 w 26"/>
                <a:gd name="T33" fmla="*/ 129 h 131"/>
                <a:gd name="T34" fmla="*/ 1 w 26"/>
                <a:gd name="T35" fmla="*/ 127 h 131"/>
                <a:gd name="T36" fmla="*/ 1 w 26"/>
                <a:gd name="T37" fmla="*/ 126 h 131"/>
                <a:gd name="T38" fmla="*/ 1 w 26"/>
                <a:gd name="T39" fmla="*/ 124 h 131"/>
                <a:gd name="T40" fmla="*/ 1 w 26"/>
                <a:gd name="T41" fmla="*/ 123 h 131"/>
                <a:gd name="T42" fmla="*/ 1 w 26"/>
                <a:gd name="T43" fmla="*/ 121 h 131"/>
                <a:gd name="T44" fmla="*/ 1 w 26"/>
                <a:gd name="T45" fmla="*/ 119 h 131"/>
                <a:gd name="T46" fmla="*/ 1 w 26"/>
                <a:gd name="T47" fmla="*/ 118 h 131"/>
                <a:gd name="T48" fmla="*/ 1 w 26"/>
                <a:gd name="T49" fmla="*/ 117 h 131"/>
                <a:gd name="T50" fmla="*/ 1 w 26"/>
                <a:gd name="T51" fmla="*/ 117 h 131"/>
                <a:gd name="T52" fmla="*/ 1 w 26"/>
                <a:gd name="T53" fmla="*/ 117 h 131"/>
                <a:gd name="T54" fmla="*/ 1 w 26"/>
                <a:gd name="T55" fmla="*/ 117 h 131"/>
                <a:gd name="T56" fmla="*/ 1 w 26"/>
                <a:gd name="T57" fmla="*/ 0 h 131"/>
                <a:gd name="T58" fmla="*/ 1 w 26"/>
                <a:gd name="T59" fmla="*/ 0 h 131"/>
                <a:gd name="T60" fmla="*/ 1 w 26"/>
                <a:gd name="T61" fmla="*/ 1 h 131"/>
                <a:gd name="T62" fmla="*/ 1 w 26"/>
                <a:gd name="T63" fmla="*/ 2 h 131"/>
                <a:gd name="T64" fmla="*/ 0 w 26"/>
                <a:gd name="T65" fmla="*/ 4 h 131"/>
                <a:gd name="T66" fmla="*/ 0 w 26"/>
                <a:gd name="T67" fmla="*/ 6 h 131"/>
                <a:gd name="T68" fmla="*/ 0 w 26"/>
                <a:gd name="T69" fmla="*/ 7 h 131"/>
                <a:gd name="T70" fmla="*/ 0 w 26"/>
                <a:gd name="T71" fmla="*/ 9 h 131"/>
                <a:gd name="T72" fmla="*/ 0 w 26"/>
                <a:gd name="T73" fmla="*/ 10 h 131"/>
                <a:gd name="T74" fmla="*/ 1 w 26"/>
                <a:gd name="T75" fmla="*/ 12 h 131"/>
                <a:gd name="T76" fmla="*/ 1 w 26"/>
                <a:gd name="T77" fmla="*/ 14 h 131"/>
                <a:gd name="T78" fmla="*/ 1 w 26"/>
                <a:gd name="T79" fmla="*/ 14 h 131"/>
                <a:gd name="T80" fmla="*/ 1 w 26"/>
                <a:gd name="T81" fmla="*/ 14 h 131"/>
                <a:gd name="T82" fmla="*/ 1 w 26"/>
                <a:gd name="T83" fmla="*/ 14 h 131"/>
                <a:gd name="T84" fmla="*/ 1 w 26"/>
                <a:gd name="T85" fmla="*/ 14 h 131"/>
                <a:gd name="T86" fmla="*/ 1 w 26"/>
                <a:gd name="T87" fmla="*/ 14 h 131"/>
                <a:gd name="T88" fmla="*/ 1 w 26"/>
                <a:gd name="T89" fmla="*/ 12 h 131"/>
                <a:gd name="T90" fmla="*/ 1 w 26"/>
                <a:gd name="T91" fmla="*/ 10 h 131"/>
                <a:gd name="T92" fmla="*/ 1 w 26"/>
                <a:gd name="T93" fmla="*/ 9 h 131"/>
                <a:gd name="T94" fmla="*/ 1 w 26"/>
                <a:gd name="T95" fmla="*/ 7 h 131"/>
                <a:gd name="T96" fmla="*/ 1 w 26"/>
                <a:gd name="T97" fmla="*/ 6 h 131"/>
                <a:gd name="T98" fmla="*/ 1 w 26"/>
                <a:gd name="T99" fmla="*/ 4 h 131"/>
                <a:gd name="T100" fmla="*/ 1 w 26"/>
                <a:gd name="T101" fmla="*/ 2 h 131"/>
                <a:gd name="T102" fmla="*/ 1 w 26"/>
                <a:gd name="T103" fmla="*/ 1 h 131"/>
                <a:gd name="T104" fmla="*/ 1 w 26"/>
                <a:gd name="T105" fmla="*/ 0 h 131"/>
                <a:gd name="T106" fmla="*/ 1 w 26"/>
                <a:gd name="T107" fmla="*/ 0 h 131"/>
                <a:gd name="T108" fmla="*/ 1 w 26"/>
                <a:gd name="T109" fmla="*/ 0 h 131"/>
                <a:gd name="T110" fmla="*/ 1 w 26"/>
                <a:gd name="T111" fmla="*/ 0 h 131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26"/>
                <a:gd name="T169" fmla="*/ 0 h 131"/>
                <a:gd name="T170" fmla="*/ 26 w 26"/>
                <a:gd name="T171" fmla="*/ 131 h 131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26" h="131">
                  <a:moveTo>
                    <a:pt x="13" y="117"/>
                  </a:moveTo>
                  <a:lnTo>
                    <a:pt x="11" y="117"/>
                  </a:lnTo>
                  <a:lnTo>
                    <a:pt x="8" y="118"/>
                  </a:lnTo>
                  <a:lnTo>
                    <a:pt x="4" y="119"/>
                  </a:lnTo>
                  <a:lnTo>
                    <a:pt x="0" y="121"/>
                  </a:lnTo>
                  <a:lnTo>
                    <a:pt x="0" y="123"/>
                  </a:lnTo>
                  <a:lnTo>
                    <a:pt x="0" y="124"/>
                  </a:lnTo>
                  <a:lnTo>
                    <a:pt x="0" y="126"/>
                  </a:lnTo>
                  <a:lnTo>
                    <a:pt x="0" y="127"/>
                  </a:lnTo>
                  <a:lnTo>
                    <a:pt x="4" y="129"/>
                  </a:lnTo>
                  <a:lnTo>
                    <a:pt x="8" y="131"/>
                  </a:lnTo>
                  <a:lnTo>
                    <a:pt x="9" y="131"/>
                  </a:lnTo>
                  <a:lnTo>
                    <a:pt x="13" y="131"/>
                  </a:lnTo>
                  <a:lnTo>
                    <a:pt x="15" y="131"/>
                  </a:lnTo>
                  <a:lnTo>
                    <a:pt x="19" y="131"/>
                  </a:lnTo>
                  <a:lnTo>
                    <a:pt x="23" y="129"/>
                  </a:lnTo>
                  <a:lnTo>
                    <a:pt x="25" y="127"/>
                  </a:lnTo>
                  <a:lnTo>
                    <a:pt x="26" y="126"/>
                  </a:lnTo>
                  <a:lnTo>
                    <a:pt x="26" y="124"/>
                  </a:lnTo>
                  <a:lnTo>
                    <a:pt x="26" y="123"/>
                  </a:lnTo>
                  <a:lnTo>
                    <a:pt x="25" y="121"/>
                  </a:lnTo>
                  <a:lnTo>
                    <a:pt x="23" y="119"/>
                  </a:lnTo>
                  <a:lnTo>
                    <a:pt x="19" y="118"/>
                  </a:lnTo>
                  <a:lnTo>
                    <a:pt x="15" y="117"/>
                  </a:lnTo>
                  <a:lnTo>
                    <a:pt x="13" y="117"/>
                  </a:lnTo>
                  <a:close/>
                  <a:moveTo>
                    <a:pt x="13" y="0"/>
                  </a:moveTo>
                  <a:lnTo>
                    <a:pt x="11" y="0"/>
                  </a:lnTo>
                  <a:lnTo>
                    <a:pt x="8" y="1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12"/>
                  </a:lnTo>
                  <a:lnTo>
                    <a:pt x="8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9" y="14"/>
                  </a:lnTo>
                  <a:lnTo>
                    <a:pt x="23" y="12"/>
                  </a:lnTo>
                  <a:lnTo>
                    <a:pt x="25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3" y="2"/>
                  </a:lnTo>
                  <a:lnTo>
                    <a:pt x="19" y="1"/>
                  </a:lnTo>
                  <a:lnTo>
                    <a:pt x="15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25" name="Freeform 281"/>
            <p:cNvSpPr>
              <a:spLocks/>
            </p:cNvSpPr>
            <p:nvPr/>
          </p:nvSpPr>
          <p:spPr bwMode="auto">
            <a:xfrm>
              <a:off x="3608" y="1954"/>
              <a:ext cx="14" cy="14"/>
            </a:xfrm>
            <a:custGeom>
              <a:avLst/>
              <a:gdLst>
                <a:gd name="T0" fmla="*/ 1 w 26"/>
                <a:gd name="T1" fmla="*/ 0 h 14"/>
                <a:gd name="T2" fmla="*/ 1 w 26"/>
                <a:gd name="T3" fmla="*/ 0 h 14"/>
                <a:gd name="T4" fmla="*/ 1 w 26"/>
                <a:gd name="T5" fmla="*/ 1 h 14"/>
                <a:gd name="T6" fmla="*/ 1 w 26"/>
                <a:gd name="T7" fmla="*/ 2 h 14"/>
                <a:gd name="T8" fmla="*/ 0 w 26"/>
                <a:gd name="T9" fmla="*/ 4 h 14"/>
                <a:gd name="T10" fmla="*/ 0 w 26"/>
                <a:gd name="T11" fmla="*/ 6 h 14"/>
                <a:gd name="T12" fmla="*/ 0 w 26"/>
                <a:gd name="T13" fmla="*/ 7 h 14"/>
                <a:gd name="T14" fmla="*/ 0 w 26"/>
                <a:gd name="T15" fmla="*/ 9 h 14"/>
                <a:gd name="T16" fmla="*/ 0 w 26"/>
                <a:gd name="T17" fmla="*/ 10 h 14"/>
                <a:gd name="T18" fmla="*/ 1 w 26"/>
                <a:gd name="T19" fmla="*/ 12 h 14"/>
                <a:gd name="T20" fmla="*/ 1 w 26"/>
                <a:gd name="T21" fmla="*/ 14 h 14"/>
                <a:gd name="T22" fmla="*/ 1 w 26"/>
                <a:gd name="T23" fmla="*/ 14 h 14"/>
                <a:gd name="T24" fmla="*/ 1 w 26"/>
                <a:gd name="T25" fmla="*/ 14 h 14"/>
                <a:gd name="T26" fmla="*/ 1 w 26"/>
                <a:gd name="T27" fmla="*/ 14 h 14"/>
                <a:gd name="T28" fmla="*/ 1 w 26"/>
                <a:gd name="T29" fmla="*/ 14 h 14"/>
                <a:gd name="T30" fmla="*/ 1 w 26"/>
                <a:gd name="T31" fmla="*/ 14 h 14"/>
                <a:gd name="T32" fmla="*/ 1 w 26"/>
                <a:gd name="T33" fmla="*/ 12 h 14"/>
                <a:gd name="T34" fmla="*/ 1 w 26"/>
                <a:gd name="T35" fmla="*/ 10 h 14"/>
                <a:gd name="T36" fmla="*/ 1 w 26"/>
                <a:gd name="T37" fmla="*/ 9 h 14"/>
                <a:gd name="T38" fmla="*/ 1 w 26"/>
                <a:gd name="T39" fmla="*/ 7 h 14"/>
                <a:gd name="T40" fmla="*/ 1 w 26"/>
                <a:gd name="T41" fmla="*/ 6 h 14"/>
                <a:gd name="T42" fmla="*/ 1 w 26"/>
                <a:gd name="T43" fmla="*/ 4 h 14"/>
                <a:gd name="T44" fmla="*/ 1 w 26"/>
                <a:gd name="T45" fmla="*/ 2 h 14"/>
                <a:gd name="T46" fmla="*/ 1 w 26"/>
                <a:gd name="T47" fmla="*/ 1 h 14"/>
                <a:gd name="T48" fmla="*/ 1 w 26"/>
                <a:gd name="T49" fmla="*/ 0 h 14"/>
                <a:gd name="T50" fmla="*/ 1 w 26"/>
                <a:gd name="T51" fmla="*/ 0 h 14"/>
                <a:gd name="T52" fmla="*/ 1 w 26"/>
                <a:gd name="T53" fmla="*/ 0 h 1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6"/>
                <a:gd name="T82" fmla="*/ 0 h 14"/>
                <a:gd name="T83" fmla="*/ 26 w 26"/>
                <a:gd name="T84" fmla="*/ 14 h 1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6" h="14">
                  <a:moveTo>
                    <a:pt x="13" y="0"/>
                  </a:moveTo>
                  <a:lnTo>
                    <a:pt x="11" y="0"/>
                  </a:lnTo>
                  <a:lnTo>
                    <a:pt x="8" y="1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12"/>
                  </a:lnTo>
                  <a:lnTo>
                    <a:pt x="8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9" y="14"/>
                  </a:lnTo>
                  <a:lnTo>
                    <a:pt x="23" y="12"/>
                  </a:lnTo>
                  <a:lnTo>
                    <a:pt x="25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3" y="2"/>
                  </a:lnTo>
                  <a:lnTo>
                    <a:pt x="19" y="1"/>
                  </a:lnTo>
                  <a:lnTo>
                    <a:pt x="15" y="0"/>
                  </a:lnTo>
                  <a:lnTo>
                    <a:pt x="1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26" name="Freeform 282"/>
            <p:cNvSpPr>
              <a:spLocks/>
            </p:cNvSpPr>
            <p:nvPr/>
          </p:nvSpPr>
          <p:spPr bwMode="auto">
            <a:xfrm>
              <a:off x="3608" y="1837"/>
              <a:ext cx="14" cy="14"/>
            </a:xfrm>
            <a:custGeom>
              <a:avLst/>
              <a:gdLst>
                <a:gd name="T0" fmla="*/ 1 w 26"/>
                <a:gd name="T1" fmla="*/ 0 h 14"/>
                <a:gd name="T2" fmla="*/ 1 w 26"/>
                <a:gd name="T3" fmla="*/ 0 h 14"/>
                <a:gd name="T4" fmla="*/ 1 w 26"/>
                <a:gd name="T5" fmla="*/ 1 h 14"/>
                <a:gd name="T6" fmla="*/ 1 w 26"/>
                <a:gd name="T7" fmla="*/ 2 h 14"/>
                <a:gd name="T8" fmla="*/ 0 w 26"/>
                <a:gd name="T9" fmla="*/ 4 h 14"/>
                <a:gd name="T10" fmla="*/ 0 w 26"/>
                <a:gd name="T11" fmla="*/ 6 h 14"/>
                <a:gd name="T12" fmla="*/ 0 w 26"/>
                <a:gd name="T13" fmla="*/ 7 h 14"/>
                <a:gd name="T14" fmla="*/ 0 w 26"/>
                <a:gd name="T15" fmla="*/ 9 h 14"/>
                <a:gd name="T16" fmla="*/ 0 w 26"/>
                <a:gd name="T17" fmla="*/ 10 h 14"/>
                <a:gd name="T18" fmla="*/ 1 w 26"/>
                <a:gd name="T19" fmla="*/ 12 h 14"/>
                <a:gd name="T20" fmla="*/ 1 w 26"/>
                <a:gd name="T21" fmla="*/ 14 h 14"/>
                <a:gd name="T22" fmla="*/ 1 w 26"/>
                <a:gd name="T23" fmla="*/ 14 h 14"/>
                <a:gd name="T24" fmla="*/ 1 w 26"/>
                <a:gd name="T25" fmla="*/ 14 h 14"/>
                <a:gd name="T26" fmla="*/ 1 w 26"/>
                <a:gd name="T27" fmla="*/ 14 h 14"/>
                <a:gd name="T28" fmla="*/ 1 w 26"/>
                <a:gd name="T29" fmla="*/ 14 h 14"/>
                <a:gd name="T30" fmla="*/ 1 w 26"/>
                <a:gd name="T31" fmla="*/ 14 h 14"/>
                <a:gd name="T32" fmla="*/ 1 w 26"/>
                <a:gd name="T33" fmla="*/ 12 h 14"/>
                <a:gd name="T34" fmla="*/ 1 w 26"/>
                <a:gd name="T35" fmla="*/ 10 h 14"/>
                <a:gd name="T36" fmla="*/ 1 w 26"/>
                <a:gd name="T37" fmla="*/ 9 h 14"/>
                <a:gd name="T38" fmla="*/ 1 w 26"/>
                <a:gd name="T39" fmla="*/ 7 h 14"/>
                <a:gd name="T40" fmla="*/ 1 w 26"/>
                <a:gd name="T41" fmla="*/ 6 h 14"/>
                <a:gd name="T42" fmla="*/ 1 w 26"/>
                <a:gd name="T43" fmla="*/ 4 h 14"/>
                <a:gd name="T44" fmla="*/ 1 w 26"/>
                <a:gd name="T45" fmla="*/ 2 h 14"/>
                <a:gd name="T46" fmla="*/ 1 w 26"/>
                <a:gd name="T47" fmla="*/ 1 h 14"/>
                <a:gd name="T48" fmla="*/ 1 w 26"/>
                <a:gd name="T49" fmla="*/ 0 h 14"/>
                <a:gd name="T50" fmla="*/ 1 w 26"/>
                <a:gd name="T51" fmla="*/ 0 h 14"/>
                <a:gd name="T52" fmla="*/ 1 w 26"/>
                <a:gd name="T53" fmla="*/ 0 h 1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6"/>
                <a:gd name="T82" fmla="*/ 0 h 14"/>
                <a:gd name="T83" fmla="*/ 26 w 26"/>
                <a:gd name="T84" fmla="*/ 14 h 1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6" h="14">
                  <a:moveTo>
                    <a:pt x="13" y="0"/>
                  </a:moveTo>
                  <a:lnTo>
                    <a:pt x="11" y="0"/>
                  </a:lnTo>
                  <a:lnTo>
                    <a:pt x="8" y="1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12"/>
                  </a:lnTo>
                  <a:lnTo>
                    <a:pt x="8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9" y="14"/>
                  </a:lnTo>
                  <a:lnTo>
                    <a:pt x="23" y="12"/>
                  </a:lnTo>
                  <a:lnTo>
                    <a:pt x="25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3" y="2"/>
                  </a:lnTo>
                  <a:lnTo>
                    <a:pt x="19" y="1"/>
                  </a:lnTo>
                  <a:lnTo>
                    <a:pt x="15" y="0"/>
                  </a:lnTo>
                  <a:lnTo>
                    <a:pt x="1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27" name="Line 283"/>
            <p:cNvSpPr>
              <a:spLocks noChangeShapeType="1"/>
            </p:cNvSpPr>
            <p:nvPr/>
          </p:nvSpPr>
          <p:spPr bwMode="auto">
            <a:xfrm>
              <a:off x="3618" y="1851"/>
              <a:ext cx="30" cy="9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28" name="Freeform 284"/>
            <p:cNvSpPr>
              <a:spLocks/>
            </p:cNvSpPr>
            <p:nvPr/>
          </p:nvSpPr>
          <p:spPr bwMode="auto">
            <a:xfrm>
              <a:off x="5167" y="1043"/>
              <a:ext cx="30" cy="33"/>
            </a:xfrm>
            <a:custGeom>
              <a:avLst/>
              <a:gdLst>
                <a:gd name="T0" fmla="*/ 0 w 60"/>
                <a:gd name="T1" fmla="*/ 17 h 33"/>
                <a:gd name="T2" fmla="*/ 0 w 60"/>
                <a:gd name="T3" fmla="*/ 13 h 33"/>
                <a:gd name="T4" fmla="*/ 1 w 60"/>
                <a:gd name="T5" fmla="*/ 10 h 33"/>
                <a:gd name="T6" fmla="*/ 1 w 60"/>
                <a:gd name="T7" fmla="*/ 8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8 h 33"/>
                <a:gd name="T28" fmla="*/ 1 w 60"/>
                <a:gd name="T29" fmla="*/ 10 h 33"/>
                <a:gd name="T30" fmla="*/ 1 w 60"/>
                <a:gd name="T31" fmla="*/ 13 h 33"/>
                <a:gd name="T32" fmla="*/ 1 w 60"/>
                <a:gd name="T33" fmla="*/ 17 h 33"/>
                <a:gd name="T34" fmla="*/ 1 w 60"/>
                <a:gd name="T35" fmla="*/ 17 h 33"/>
                <a:gd name="T36" fmla="*/ 1 w 60"/>
                <a:gd name="T37" fmla="*/ 20 h 33"/>
                <a:gd name="T38" fmla="*/ 1 w 60"/>
                <a:gd name="T39" fmla="*/ 23 h 33"/>
                <a:gd name="T40" fmla="*/ 1 w 60"/>
                <a:gd name="T41" fmla="*/ 25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5 h 33"/>
                <a:gd name="T62" fmla="*/ 1 w 60"/>
                <a:gd name="T63" fmla="*/ 23 h 33"/>
                <a:gd name="T64" fmla="*/ 0 w 60"/>
                <a:gd name="T65" fmla="*/ 20 h 33"/>
                <a:gd name="T66" fmla="*/ 0 w 60"/>
                <a:gd name="T67" fmla="*/ 17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7"/>
                  </a:moveTo>
                  <a:lnTo>
                    <a:pt x="0" y="13"/>
                  </a:lnTo>
                  <a:lnTo>
                    <a:pt x="2" y="10"/>
                  </a:lnTo>
                  <a:lnTo>
                    <a:pt x="4" y="8"/>
                  </a:lnTo>
                  <a:lnTo>
                    <a:pt x="7" y="4"/>
                  </a:lnTo>
                  <a:lnTo>
                    <a:pt x="13" y="2"/>
                  </a:lnTo>
                  <a:lnTo>
                    <a:pt x="17" y="1"/>
                  </a:lnTo>
                  <a:lnTo>
                    <a:pt x="22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5" y="2"/>
                  </a:lnTo>
                  <a:lnTo>
                    <a:pt x="51" y="4"/>
                  </a:lnTo>
                  <a:lnTo>
                    <a:pt x="55" y="8"/>
                  </a:lnTo>
                  <a:lnTo>
                    <a:pt x="56" y="10"/>
                  </a:lnTo>
                  <a:lnTo>
                    <a:pt x="58" y="13"/>
                  </a:lnTo>
                  <a:lnTo>
                    <a:pt x="60" y="17"/>
                  </a:lnTo>
                  <a:lnTo>
                    <a:pt x="58" y="20"/>
                  </a:lnTo>
                  <a:lnTo>
                    <a:pt x="56" y="23"/>
                  </a:lnTo>
                  <a:lnTo>
                    <a:pt x="55" y="25"/>
                  </a:lnTo>
                  <a:lnTo>
                    <a:pt x="51" y="28"/>
                  </a:lnTo>
                  <a:lnTo>
                    <a:pt x="45" y="30"/>
                  </a:lnTo>
                  <a:lnTo>
                    <a:pt x="41" y="31"/>
                  </a:lnTo>
                  <a:lnTo>
                    <a:pt x="36" y="32"/>
                  </a:lnTo>
                  <a:lnTo>
                    <a:pt x="30" y="33"/>
                  </a:lnTo>
                  <a:lnTo>
                    <a:pt x="22" y="32"/>
                  </a:lnTo>
                  <a:lnTo>
                    <a:pt x="17" y="31"/>
                  </a:lnTo>
                  <a:lnTo>
                    <a:pt x="13" y="30"/>
                  </a:lnTo>
                  <a:lnTo>
                    <a:pt x="7" y="28"/>
                  </a:lnTo>
                  <a:lnTo>
                    <a:pt x="4" y="25"/>
                  </a:lnTo>
                  <a:lnTo>
                    <a:pt x="2" y="23"/>
                  </a:lnTo>
                  <a:lnTo>
                    <a:pt x="0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29" name="Line 285"/>
            <p:cNvSpPr>
              <a:spLocks noChangeShapeType="1"/>
            </p:cNvSpPr>
            <p:nvPr/>
          </p:nvSpPr>
          <p:spPr bwMode="auto">
            <a:xfrm flipV="1">
              <a:off x="4365" y="1059"/>
              <a:ext cx="1" cy="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30" name="Freeform 286"/>
            <p:cNvSpPr>
              <a:spLocks/>
            </p:cNvSpPr>
            <p:nvPr/>
          </p:nvSpPr>
          <p:spPr bwMode="auto">
            <a:xfrm>
              <a:off x="5080" y="1058"/>
              <a:ext cx="274" cy="111"/>
            </a:xfrm>
            <a:custGeom>
              <a:avLst/>
              <a:gdLst>
                <a:gd name="T0" fmla="*/ 9 w 547"/>
                <a:gd name="T1" fmla="*/ 111 h 111"/>
                <a:gd name="T2" fmla="*/ 9 w 547"/>
                <a:gd name="T3" fmla="*/ 2 h 111"/>
                <a:gd name="T4" fmla="*/ 0 w 547"/>
                <a:gd name="T5" fmla="*/ 0 h 111"/>
                <a:gd name="T6" fmla="*/ 0 60000 65536"/>
                <a:gd name="T7" fmla="*/ 0 60000 65536"/>
                <a:gd name="T8" fmla="*/ 0 60000 65536"/>
                <a:gd name="T9" fmla="*/ 0 w 547"/>
                <a:gd name="T10" fmla="*/ 0 h 111"/>
                <a:gd name="T11" fmla="*/ 547 w 547"/>
                <a:gd name="T12" fmla="*/ 111 h 1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7" h="111">
                  <a:moveTo>
                    <a:pt x="547" y="111"/>
                  </a:moveTo>
                  <a:lnTo>
                    <a:pt x="547" y="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31" name="Line 287"/>
            <p:cNvSpPr>
              <a:spLocks noChangeShapeType="1"/>
            </p:cNvSpPr>
            <p:nvPr/>
          </p:nvSpPr>
          <p:spPr bwMode="auto">
            <a:xfrm flipH="1" flipV="1">
              <a:off x="5180" y="1059"/>
              <a:ext cx="2" cy="2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32" name="Freeform 288"/>
            <p:cNvSpPr>
              <a:spLocks/>
            </p:cNvSpPr>
            <p:nvPr/>
          </p:nvSpPr>
          <p:spPr bwMode="auto">
            <a:xfrm>
              <a:off x="4867" y="1025"/>
              <a:ext cx="213" cy="35"/>
            </a:xfrm>
            <a:custGeom>
              <a:avLst/>
              <a:gdLst>
                <a:gd name="T0" fmla="*/ 0 w 426"/>
                <a:gd name="T1" fmla="*/ 31 h 35"/>
                <a:gd name="T2" fmla="*/ 1 w 426"/>
                <a:gd name="T3" fmla="*/ 25 h 35"/>
                <a:gd name="T4" fmla="*/ 1 w 426"/>
                <a:gd name="T5" fmla="*/ 15 h 35"/>
                <a:gd name="T6" fmla="*/ 1 w 426"/>
                <a:gd name="T7" fmla="*/ 6 h 35"/>
                <a:gd name="T8" fmla="*/ 1 w 426"/>
                <a:gd name="T9" fmla="*/ 3 h 35"/>
                <a:gd name="T10" fmla="*/ 1 w 426"/>
                <a:gd name="T11" fmla="*/ 1 h 35"/>
                <a:gd name="T12" fmla="*/ 1 w 426"/>
                <a:gd name="T13" fmla="*/ 0 h 35"/>
                <a:gd name="T14" fmla="*/ 1 w 426"/>
                <a:gd name="T15" fmla="*/ 0 h 35"/>
                <a:gd name="T16" fmla="*/ 2 w 426"/>
                <a:gd name="T17" fmla="*/ 2 h 35"/>
                <a:gd name="T18" fmla="*/ 2 w 426"/>
                <a:gd name="T19" fmla="*/ 4 h 35"/>
                <a:gd name="T20" fmla="*/ 2 w 426"/>
                <a:gd name="T21" fmla="*/ 8 h 35"/>
                <a:gd name="T22" fmla="*/ 2 w 426"/>
                <a:gd name="T23" fmla="*/ 18 h 35"/>
                <a:gd name="T24" fmla="*/ 2 w 426"/>
                <a:gd name="T25" fmla="*/ 25 h 35"/>
                <a:gd name="T26" fmla="*/ 2 w 426"/>
                <a:gd name="T27" fmla="*/ 32 h 35"/>
                <a:gd name="T28" fmla="*/ 2 w 426"/>
                <a:gd name="T29" fmla="*/ 31 h 35"/>
                <a:gd name="T30" fmla="*/ 2 w 426"/>
                <a:gd name="T31" fmla="*/ 25 h 35"/>
                <a:gd name="T32" fmla="*/ 2 w 426"/>
                <a:gd name="T33" fmla="*/ 15 h 35"/>
                <a:gd name="T34" fmla="*/ 2 w 426"/>
                <a:gd name="T35" fmla="*/ 6 h 35"/>
                <a:gd name="T36" fmla="*/ 3 w 426"/>
                <a:gd name="T37" fmla="*/ 3 h 35"/>
                <a:gd name="T38" fmla="*/ 3 w 426"/>
                <a:gd name="T39" fmla="*/ 1 h 35"/>
                <a:gd name="T40" fmla="*/ 3 w 426"/>
                <a:gd name="T41" fmla="*/ 0 h 35"/>
                <a:gd name="T42" fmla="*/ 3 w 426"/>
                <a:gd name="T43" fmla="*/ 0 h 35"/>
                <a:gd name="T44" fmla="*/ 3 w 426"/>
                <a:gd name="T45" fmla="*/ 2 h 35"/>
                <a:gd name="T46" fmla="*/ 3 w 426"/>
                <a:gd name="T47" fmla="*/ 4 h 35"/>
                <a:gd name="T48" fmla="*/ 4 w 426"/>
                <a:gd name="T49" fmla="*/ 8 h 35"/>
                <a:gd name="T50" fmla="*/ 4 w 426"/>
                <a:gd name="T51" fmla="*/ 18 h 35"/>
                <a:gd name="T52" fmla="*/ 4 w 426"/>
                <a:gd name="T53" fmla="*/ 25 h 35"/>
                <a:gd name="T54" fmla="*/ 4 w 426"/>
                <a:gd name="T55" fmla="*/ 32 h 35"/>
                <a:gd name="T56" fmla="*/ 4 w 426"/>
                <a:gd name="T57" fmla="*/ 31 h 35"/>
                <a:gd name="T58" fmla="*/ 4 w 426"/>
                <a:gd name="T59" fmla="*/ 25 h 35"/>
                <a:gd name="T60" fmla="*/ 4 w 426"/>
                <a:gd name="T61" fmla="*/ 15 h 35"/>
                <a:gd name="T62" fmla="*/ 4 w 426"/>
                <a:gd name="T63" fmla="*/ 6 h 35"/>
                <a:gd name="T64" fmla="*/ 4 w 426"/>
                <a:gd name="T65" fmla="*/ 3 h 35"/>
                <a:gd name="T66" fmla="*/ 4 w 426"/>
                <a:gd name="T67" fmla="*/ 1 h 35"/>
                <a:gd name="T68" fmla="*/ 5 w 426"/>
                <a:gd name="T69" fmla="*/ 0 h 35"/>
                <a:gd name="T70" fmla="*/ 5 w 426"/>
                <a:gd name="T71" fmla="*/ 0 h 35"/>
                <a:gd name="T72" fmla="*/ 5 w 426"/>
                <a:gd name="T73" fmla="*/ 2 h 35"/>
                <a:gd name="T74" fmla="*/ 5 w 426"/>
                <a:gd name="T75" fmla="*/ 4 h 35"/>
                <a:gd name="T76" fmla="*/ 5 w 426"/>
                <a:gd name="T77" fmla="*/ 8 h 35"/>
                <a:gd name="T78" fmla="*/ 5 w 426"/>
                <a:gd name="T79" fmla="*/ 18 h 35"/>
                <a:gd name="T80" fmla="*/ 5 w 426"/>
                <a:gd name="T81" fmla="*/ 25 h 35"/>
                <a:gd name="T82" fmla="*/ 6 w 426"/>
                <a:gd name="T83" fmla="*/ 32 h 35"/>
                <a:gd name="T84" fmla="*/ 6 w 426"/>
                <a:gd name="T85" fmla="*/ 31 h 35"/>
                <a:gd name="T86" fmla="*/ 6 w 426"/>
                <a:gd name="T87" fmla="*/ 25 h 35"/>
                <a:gd name="T88" fmla="*/ 6 w 426"/>
                <a:gd name="T89" fmla="*/ 15 h 35"/>
                <a:gd name="T90" fmla="*/ 6 w 426"/>
                <a:gd name="T91" fmla="*/ 6 h 35"/>
                <a:gd name="T92" fmla="*/ 6 w 426"/>
                <a:gd name="T93" fmla="*/ 3 h 35"/>
                <a:gd name="T94" fmla="*/ 6 w 426"/>
                <a:gd name="T95" fmla="*/ 1 h 35"/>
                <a:gd name="T96" fmla="*/ 6 w 426"/>
                <a:gd name="T97" fmla="*/ 0 h 35"/>
                <a:gd name="T98" fmla="*/ 6 w 426"/>
                <a:gd name="T99" fmla="*/ 0 h 35"/>
                <a:gd name="T100" fmla="*/ 7 w 426"/>
                <a:gd name="T101" fmla="*/ 2 h 35"/>
                <a:gd name="T102" fmla="*/ 7 w 426"/>
                <a:gd name="T103" fmla="*/ 4 h 35"/>
                <a:gd name="T104" fmla="*/ 7 w 426"/>
                <a:gd name="T105" fmla="*/ 8 h 35"/>
                <a:gd name="T106" fmla="*/ 7 w 426"/>
                <a:gd name="T107" fmla="*/ 18 h 35"/>
                <a:gd name="T108" fmla="*/ 7 w 426"/>
                <a:gd name="T109" fmla="*/ 25 h 35"/>
                <a:gd name="T110" fmla="*/ 7 w 426"/>
                <a:gd name="T111" fmla="*/ 32 h 35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426"/>
                <a:gd name="T169" fmla="*/ 0 h 35"/>
                <a:gd name="T170" fmla="*/ 426 w 426"/>
                <a:gd name="T171" fmla="*/ 35 h 35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426" h="35">
                  <a:moveTo>
                    <a:pt x="0" y="35"/>
                  </a:moveTo>
                  <a:lnTo>
                    <a:pt x="0" y="31"/>
                  </a:lnTo>
                  <a:lnTo>
                    <a:pt x="0" y="28"/>
                  </a:lnTo>
                  <a:lnTo>
                    <a:pt x="2" y="25"/>
                  </a:lnTo>
                  <a:lnTo>
                    <a:pt x="4" y="21"/>
                  </a:lnTo>
                  <a:lnTo>
                    <a:pt x="8" y="15"/>
                  </a:lnTo>
                  <a:lnTo>
                    <a:pt x="13" y="10"/>
                  </a:lnTo>
                  <a:lnTo>
                    <a:pt x="21" y="6"/>
                  </a:lnTo>
                  <a:lnTo>
                    <a:pt x="26" y="4"/>
                  </a:lnTo>
                  <a:lnTo>
                    <a:pt x="30" y="3"/>
                  </a:lnTo>
                  <a:lnTo>
                    <a:pt x="36" y="1"/>
                  </a:lnTo>
                  <a:lnTo>
                    <a:pt x="40" y="1"/>
                  </a:lnTo>
                  <a:lnTo>
                    <a:pt x="45" y="0"/>
                  </a:lnTo>
                  <a:lnTo>
                    <a:pt x="51" y="0"/>
                  </a:lnTo>
                  <a:lnTo>
                    <a:pt x="57" y="0"/>
                  </a:lnTo>
                  <a:lnTo>
                    <a:pt x="62" y="0"/>
                  </a:lnTo>
                  <a:lnTo>
                    <a:pt x="68" y="1"/>
                  </a:lnTo>
                  <a:lnTo>
                    <a:pt x="72" y="2"/>
                  </a:lnTo>
                  <a:lnTo>
                    <a:pt x="77" y="3"/>
                  </a:lnTo>
                  <a:lnTo>
                    <a:pt x="81" y="4"/>
                  </a:lnTo>
                  <a:lnTo>
                    <a:pt x="85" y="6"/>
                  </a:lnTo>
                  <a:lnTo>
                    <a:pt x="89" y="8"/>
                  </a:lnTo>
                  <a:lnTo>
                    <a:pt x="96" y="13"/>
                  </a:lnTo>
                  <a:lnTo>
                    <a:pt x="102" y="18"/>
                  </a:lnTo>
                  <a:lnTo>
                    <a:pt x="104" y="21"/>
                  </a:lnTo>
                  <a:lnTo>
                    <a:pt x="106" y="25"/>
                  </a:lnTo>
                  <a:lnTo>
                    <a:pt x="106" y="29"/>
                  </a:lnTo>
                  <a:lnTo>
                    <a:pt x="106" y="32"/>
                  </a:lnTo>
                  <a:lnTo>
                    <a:pt x="106" y="35"/>
                  </a:lnTo>
                  <a:lnTo>
                    <a:pt x="108" y="31"/>
                  </a:lnTo>
                  <a:lnTo>
                    <a:pt x="108" y="28"/>
                  </a:lnTo>
                  <a:lnTo>
                    <a:pt x="108" y="25"/>
                  </a:lnTo>
                  <a:lnTo>
                    <a:pt x="109" y="21"/>
                  </a:lnTo>
                  <a:lnTo>
                    <a:pt x="115" y="15"/>
                  </a:lnTo>
                  <a:lnTo>
                    <a:pt x="121" y="10"/>
                  </a:lnTo>
                  <a:lnTo>
                    <a:pt x="128" y="6"/>
                  </a:lnTo>
                  <a:lnTo>
                    <a:pt x="132" y="4"/>
                  </a:lnTo>
                  <a:lnTo>
                    <a:pt x="138" y="3"/>
                  </a:lnTo>
                  <a:lnTo>
                    <a:pt x="142" y="1"/>
                  </a:lnTo>
                  <a:lnTo>
                    <a:pt x="147" y="1"/>
                  </a:lnTo>
                  <a:lnTo>
                    <a:pt x="153" y="0"/>
                  </a:lnTo>
                  <a:lnTo>
                    <a:pt x="159" y="0"/>
                  </a:lnTo>
                  <a:lnTo>
                    <a:pt x="164" y="0"/>
                  </a:lnTo>
                  <a:lnTo>
                    <a:pt x="168" y="0"/>
                  </a:lnTo>
                  <a:lnTo>
                    <a:pt x="174" y="1"/>
                  </a:lnTo>
                  <a:lnTo>
                    <a:pt x="179" y="2"/>
                  </a:lnTo>
                  <a:lnTo>
                    <a:pt x="183" y="3"/>
                  </a:lnTo>
                  <a:lnTo>
                    <a:pt x="189" y="4"/>
                  </a:lnTo>
                  <a:lnTo>
                    <a:pt x="192" y="6"/>
                  </a:lnTo>
                  <a:lnTo>
                    <a:pt x="196" y="8"/>
                  </a:lnTo>
                  <a:lnTo>
                    <a:pt x="204" y="13"/>
                  </a:lnTo>
                  <a:lnTo>
                    <a:pt x="208" y="18"/>
                  </a:lnTo>
                  <a:lnTo>
                    <a:pt x="209" y="21"/>
                  </a:lnTo>
                  <a:lnTo>
                    <a:pt x="211" y="25"/>
                  </a:lnTo>
                  <a:lnTo>
                    <a:pt x="213" y="29"/>
                  </a:lnTo>
                  <a:lnTo>
                    <a:pt x="213" y="32"/>
                  </a:lnTo>
                  <a:lnTo>
                    <a:pt x="213" y="35"/>
                  </a:lnTo>
                  <a:lnTo>
                    <a:pt x="213" y="31"/>
                  </a:lnTo>
                  <a:lnTo>
                    <a:pt x="213" y="28"/>
                  </a:lnTo>
                  <a:lnTo>
                    <a:pt x="215" y="25"/>
                  </a:lnTo>
                  <a:lnTo>
                    <a:pt x="217" y="21"/>
                  </a:lnTo>
                  <a:lnTo>
                    <a:pt x="221" y="15"/>
                  </a:lnTo>
                  <a:lnTo>
                    <a:pt x="226" y="10"/>
                  </a:lnTo>
                  <a:lnTo>
                    <a:pt x="236" y="6"/>
                  </a:lnTo>
                  <a:lnTo>
                    <a:pt x="240" y="4"/>
                  </a:lnTo>
                  <a:lnTo>
                    <a:pt x="243" y="3"/>
                  </a:lnTo>
                  <a:lnTo>
                    <a:pt x="249" y="1"/>
                  </a:lnTo>
                  <a:lnTo>
                    <a:pt x="253" y="1"/>
                  </a:lnTo>
                  <a:lnTo>
                    <a:pt x="258" y="0"/>
                  </a:lnTo>
                  <a:lnTo>
                    <a:pt x="264" y="0"/>
                  </a:lnTo>
                  <a:lnTo>
                    <a:pt x="270" y="0"/>
                  </a:lnTo>
                  <a:lnTo>
                    <a:pt x="275" y="0"/>
                  </a:lnTo>
                  <a:lnTo>
                    <a:pt x="281" y="1"/>
                  </a:lnTo>
                  <a:lnTo>
                    <a:pt x="285" y="2"/>
                  </a:lnTo>
                  <a:lnTo>
                    <a:pt x="291" y="3"/>
                  </a:lnTo>
                  <a:lnTo>
                    <a:pt x="294" y="4"/>
                  </a:lnTo>
                  <a:lnTo>
                    <a:pt x="298" y="6"/>
                  </a:lnTo>
                  <a:lnTo>
                    <a:pt x="302" y="8"/>
                  </a:lnTo>
                  <a:lnTo>
                    <a:pt x="309" y="13"/>
                  </a:lnTo>
                  <a:lnTo>
                    <a:pt x="315" y="18"/>
                  </a:lnTo>
                  <a:lnTo>
                    <a:pt x="317" y="21"/>
                  </a:lnTo>
                  <a:lnTo>
                    <a:pt x="319" y="25"/>
                  </a:lnTo>
                  <a:lnTo>
                    <a:pt x="319" y="29"/>
                  </a:lnTo>
                  <a:lnTo>
                    <a:pt x="321" y="32"/>
                  </a:lnTo>
                  <a:lnTo>
                    <a:pt x="321" y="35"/>
                  </a:lnTo>
                  <a:lnTo>
                    <a:pt x="321" y="31"/>
                  </a:lnTo>
                  <a:lnTo>
                    <a:pt x="321" y="28"/>
                  </a:lnTo>
                  <a:lnTo>
                    <a:pt x="321" y="25"/>
                  </a:lnTo>
                  <a:lnTo>
                    <a:pt x="323" y="21"/>
                  </a:lnTo>
                  <a:lnTo>
                    <a:pt x="328" y="15"/>
                  </a:lnTo>
                  <a:lnTo>
                    <a:pt x="334" y="10"/>
                  </a:lnTo>
                  <a:lnTo>
                    <a:pt x="341" y="6"/>
                  </a:lnTo>
                  <a:lnTo>
                    <a:pt x="345" y="4"/>
                  </a:lnTo>
                  <a:lnTo>
                    <a:pt x="351" y="3"/>
                  </a:lnTo>
                  <a:lnTo>
                    <a:pt x="355" y="1"/>
                  </a:lnTo>
                  <a:lnTo>
                    <a:pt x="360" y="1"/>
                  </a:lnTo>
                  <a:lnTo>
                    <a:pt x="366" y="0"/>
                  </a:lnTo>
                  <a:lnTo>
                    <a:pt x="372" y="0"/>
                  </a:lnTo>
                  <a:lnTo>
                    <a:pt x="377" y="0"/>
                  </a:lnTo>
                  <a:lnTo>
                    <a:pt x="381" y="0"/>
                  </a:lnTo>
                  <a:lnTo>
                    <a:pt x="387" y="1"/>
                  </a:lnTo>
                  <a:lnTo>
                    <a:pt x="392" y="2"/>
                  </a:lnTo>
                  <a:lnTo>
                    <a:pt x="396" y="3"/>
                  </a:lnTo>
                  <a:lnTo>
                    <a:pt x="402" y="4"/>
                  </a:lnTo>
                  <a:lnTo>
                    <a:pt x="406" y="6"/>
                  </a:lnTo>
                  <a:lnTo>
                    <a:pt x="409" y="8"/>
                  </a:lnTo>
                  <a:lnTo>
                    <a:pt x="417" y="13"/>
                  </a:lnTo>
                  <a:lnTo>
                    <a:pt x="421" y="18"/>
                  </a:lnTo>
                  <a:lnTo>
                    <a:pt x="423" y="21"/>
                  </a:lnTo>
                  <a:lnTo>
                    <a:pt x="424" y="25"/>
                  </a:lnTo>
                  <a:lnTo>
                    <a:pt x="426" y="29"/>
                  </a:lnTo>
                  <a:lnTo>
                    <a:pt x="426" y="32"/>
                  </a:lnTo>
                  <a:lnTo>
                    <a:pt x="426" y="3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33" name="Rectangle 289"/>
            <p:cNvSpPr>
              <a:spLocks noChangeArrowheads="1"/>
            </p:cNvSpPr>
            <p:nvPr/>
          </p:nvSpPr>
          <p:spPr bwMode="auto">
            <a:xfrm>
              <a:off x="4560" y="934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95334" name="Rectangle 290"/>
            <p:cNvSpPr>
              <a:spLocks noChangeArrowheads="1"/>
            </p:cNvSpPr>
            <p:nvPr/>
          </p:nvSpPr>
          <p:spPr bwMode="auto">
            <a:xfrm>
              <a:off x="4496" y="890"/>
              <a:ext cx="75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95335" name="Rectangle 291"/>
            <p:cNvSpPr>
              <a:spLocks noChangeArrowheads="1"/>
            </p:cNvSpPr>
            <p:nvPr/>
          </p:nvSpPr>
          <p:spPr bwMode="auto">
            <a:xfrm>
              <a:off x="4571" y="1591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95336" name="Rectangle 292"/>
            <p:cNvSpPr>
              <a:spLocks noChangeArrowheads="1"/>
            </p:cNvSpPr>
            <p:nvPr/>
          </p:nvSpPr>
          <p:spPr bwMode="auto">
            <a:xfrm>
              <a:off x="4506" y="1544"/>
              <a:ext cx="75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95337" name="Rectangle 293"/>
            <p:cNvSpPr>
              <a:spLocks noChangeArrowheads="1"/>
            </p:cNvSpPr>
            <p:nvPr/>
          </p:nvSpPr>
          <p:spPr bwMode="auto">
            <a:xfrm>
              <a:off x="4960" y="1058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宋体" pitchFamily="2" charset="-122"/>
                </a:rPr>
                <a:t>L</a:t>
              </a:r>
              <a:endParaRPr lang="en-US" altLang="zh-CN"/>
            </a:p>
          </p:txBody>
        </p:sp>
        <p:sp>
          <p:nvSpPr>
            <p:cNvPr id="95338" name="Rectangle 294"/>
            <p:cNvSpPr>
              <a:spLocks noChangeArrowheads="1"/>
            </p:cNvSpPr>
            <p:nvPr/>
          </p:nvSpPr>
          <p:spPr bwMode="auto">
            <a:xfrm>
              <a:off x="4105" y="1194"/>
              <a:ext cx="111" cy="13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95339" name="Rectangle 295"/>
            <p:cNvSpPr>
              <a:spLocks noChangeArrowheads="1"/>
            </p:cNvSpPr>
            <p:nvPr/>
          </p:nvSpPr>
          <p:spPr bwMode="auto">
            <a:xfrm>
              <a:off x="4377" y="1194"/>
              <a:ext cx="111" cy="13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95340" name="Freeform 296"/>
            <p:cNvSpPr>
              <a:spLocks noEditPoints="1"/>
            </p:cNvSpPr>
            <p:nvPr/>
          </p:nvSpPr>
          <p:spPr bwMode="auto">
            <a:xfrm>
              <a:off x="3977" y="1837"/>
              <a:ext cx="13" cy="131"/>
            </a:xfrm>
            <a:custGeom>
              <a:avLst/>
              <a:gdLst>
                <a:gd name="T0" fmla="*/ 1 w 26"/>
                <a:gd name="T1" fmla="*/ 117 h 131"/>
                <a:gd name="T2" fmla="*/ 1 w 26"/>
                <a:gd name="T3" fmla="*/ 117 h 131"/>
                <a:gd name="T4" fmla="*/ 1 w 26"/>
                <a:gd name="T5" fmla="*/ 118 h 131"/>
                <a:gd name="T6" fmla="*/ 1 w 26"/>
                <a:gd name="T7" fmla="*/ 119 h 131"/>
                <a:gd name="T8" fmla="*/ 0 w 26"/>
                <a:gd name="T9" fmla="*/ 121 h 131"/>
                <a:gd name="T10" fmla="*/ 0 w 26"/>
                <a:gd name="T11" fmla="*/ 123 h 131"/>
                <a:gd name="T12" fmla="*/ 0 w 26"/>
                <a:gd name="T13" fmla="*/ 124 h 131"/>
                <a:gd name="T14" fmla="*/ 0 w 26"/>
                <a:gd name="T15" fmla="*/ 126 h 131"/>
                <a:gd name="T16" fmla="*/ 0 w 26"/>
                <a:gd name="T17" fmla="*/ 127 h 131"/>
                <a:gd name="T18" fmla="*/ 1 w 26"/>
                <a:gd name="T19" fmla="*/ 129 h 131"/>
                <a:gd name="T20" fmla="*/ 1 w 26"/>
                <a:gd name="T21" fmla="*/ 131 h 131"/>
                <a:gd name="T22" fmla="*/ 1 w 26"/>
                <a:gd name="T23" fmla="*/ 131 h 131"/>
                <a:gd name="T24" fmla="*/ 1 w 26"/>
                <a:gd name="T25" fmla="*/ 131 h 131"/>
                <a:gd name="T26" fmla="*/ 1 w 26"/>
                <a:gd name="T27" fmla="*/ 131 h 131"/>
                <a:gd name="T28" fmla="*/ 1 w 26"/>
                <a:gd name="T29" fmla="*/ 131 h 131"/>
                <a:gd name="T30" fmla="*/ 1 w 26"/>
                <a:gd name="T31" fmla="*/ 131 h 131"/>
                <a:gd name="T32" fmla="*/ 1 w 26"/>
                <a:gd name="T33" fmla="*/ 129 h 131"/>
                <a:gd name="T34" fmla="*/ 1 w 26"/>
                <a:gd name="T35" fmla="*/ 127 h 131"/>
                <a:gd name="T36" fmla="*/ 1 w 26"/>
                <a:gd name="T37" fmla="*/ 126 h 131"/>
                <a:gd name="T38" fmla="*/ 1 w 26"/>
                <a:gd name="T39" fmla="*/ 124 h 131"/>
                <a:gd name="T40" fmla="*/ 1 w 26"/>
                <a:gd name="T41" fmla="*/ 123 h 131"/>
                <a:gd name="T42" fmla="*/ 1 w 26"/>
                <a:gd name="T43" fmla="*/ 121 h 131"/>
                <a:gd name="T44" fmla="*/ 1 w 26"/>
                <a:gd name="T45" fmla="*/ 119 h 131"/>
                <a:gd name="T46" fmla="*/ 1 w 26"/>
                <a:gd name="T47" fmla="*/ 118 h 131"/>
                <a:gd name="T48" fmla="*/ 1 w 26"/>
                <a:gd name="T49" fmla="*/ 117 h 131"/>
                <a:gd name="T50" fmla="*/ 1 w 26"/>
                <a:gd name="T51" fmla="*/ 117 h 131"/>
                <a:gd name="T52" fmla="*/ 1 w 26"/>
                <a:gd name="T53" fmla="*/ 117 h 131"/>
                <a:gd name="T54" fmla="*/ 1 w 26"/>
                <a:gd name="T55" fmla="*/ 117 h 131"/>
                <a:gd name="T56" fmla="*/ 1 w 26"/>
                <a:gd name="T57" fmla="*/ 0 h 131"/>
                <a:gd name="T58" fmla="*/ 1 w 26"/>
                <a:gd name="T59" fmla="*/ 0 h 131"/>
                <a:gd name="T60" fmla="*/ 1 w 26"/>
                <a:gd name="T61" fmla="*/ 1 h 131"/>
                <a:gd name="T62" fmla="*/ 1 w 26"/>
                <a:gd name="T63" fmla="*/ 2 h 131"/>
                <a:gd name="T64" fmla="*/ 0 w 26"/>
                <a:gd name="T65" fmla="*/ 4 h 131"/>
                <a:gd name="T66" fmla="*/ 0 w 26"/>
                <a:gd name="T67" fmla="*/ 6 h 131"/>
                <a:gd name="T68" fmla="*/ 0 w 26"/>
                <a:gd name="T69" fmla="*/ 7 h 131"/>
                <a:gd name="T70" fmla="*/ 0 w 26"/>
                <a:gd name="T71" fmla="*/ 9 h 131"/>
                <a:gd name="T72" fmla="*/ 0 w 26"/>
                <a:gd name="T73" fmla="*/ 10 h 131"/>
                <a:gd name="T74" fmla="*/ 1 w 26"/>
                <a:gd name="T75" fmla="*/ 12 h 131"/>
                <a:gd name="T76" fmla="*/ 1 w 26"/>
                <a:gd name="T77" fmla="*/ 14 h 131"/>
                <a:gd name="T78" fmla="*/ 1 w 26"/>
                <a:gd name="T79" fmla="*/ 14 h 131"/>
                <a:gd name="T80" fmla="*/ 1 w 26"/>
                <a:gd name="T81" fmla="*/ 14 h 131"/>
                <a:gd name="T82" fmla="*/ 1 w 26"/>
                <a:gd name="T83" fmla="*/ 14 h 131"/>
                <a:gd name="T84" fmla="*/ 1 w 26"/>
                <a:gd name="T85" fmla="*/ 14 h 131"/>
                <a:gd name="T86" fmla="*/ 1 w 26"/>
                <a:gd name="T87" fmla="*/ 14 h 131"/>
                <a:gd name="T88" fmla="*/ 1 w 26"/>
                <a:gd name="T89" fmla="*/ 12 h 131"/>
                <a:gd name="T90" fmla="*/ 1 w 26"/>
                <a:gd name="T91" fmla="*/ 10 h 131"/>
                <a:gd name="T92" fmla="*/ 1 w 26"/>
                <a:gd name="T93" fmla="*/ 9 h 131"/>
                <a:gd name="T94" fmla="*/ 1 w 26"/>
                <a:gd name="T95" fmla="*/ 7 h 131"/>
                <a:gd name="T96" fmla="*/ 1 w 26"/>
                <a:gd name="T97" fmla="*/ 6 h 131"/>
                <a:gd name="T98" fmla="*/ 1 w 26"/>
                <a:gd name="T99" fmla="*/ 4 h 131"/>
                <a:gd name="T100" fmla="*/ 1 w 26"/>
                <a:gd name="T101" fmla="*/ 2 h 131"/>
                <a:gd name="T102" fmla="*/ 1 w 26"/>
                <a:gd name="T103" fmla="*/ 1 h 131"/>
                <a:gd name="T104" fmla="*/ 1 w 26"/>
                <a:gd name="T105" fmla="*/ 0 h 131"/>
                <a:gd name="T106" fmla="*/ 1 w 26"/>
                <a:gd name="T107" fmla="*/ 0 h 131"/>
                <a:gd name="T108" fmla="*/ 1 w 26"/>
                <a:gd name="T109" fmla="*/ 0 h 131"/>
                <a:gd name="T110" fmla="*/ 1 w 26"/>
                <a:gd name="T111" fmla="*/ 0 h 131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26"/>
                <a:gd name="T169" fmla="*/ 0 h 131"/>
                <a:gd name="T170" fmla="*/ 26 w 26"/>
                <a:gd name="T171" fmla="*/ 131 h 131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26" h="131">
                  <a:moveTo>
                    <a:pt x="13" y="117"/>
                  </a:moveTo>
                  <a:lnTo>
                    <a:pt x="11" y="117"/>
                  </a:lnTo>
                  <a:lnTo>
                    <a:pt x="7" y="118"/>
                  </a:lnTo>
                  <a:lnTo>
                    <a:pt x="3" y="119"/>
                  </a:lnTo>
                  <a:lnTo>
                    <a:pt x="0" y="121"/>
                  </a:lnTo>
                  <a:lnTo>
                    <a:pt x="0" y="123"/>
                  </a:lnTo>
                  <a:lnTo>
                    <a:pt x="0" y="124"/>
                  </a:lnTo>
                  <a:lnTo>
                    <a:pt x="0" y="126"/>
                  </a:lnTo>
                  <a:lnTo>
                    <a:pt x="0" y="127"/>
                  </a:lnTo>
                  <a:lnTo>
                    <a:pt x="3" y="129"/>
                  </a:lnTo>
                  <a:lnTo>
                    <a:pt x="7" y="131"/>
                  </a:lnTo>
                  <a:lnTo>
                    <a:pt x="9" y="131"/>
                  </a:lnTo>
                  <a:lnTo>
                    <a:pt x="13" y="131"/>
                  </a:lnTo>
                  <a:lnTo>
                    <a:pt x="15" y="131"/>
                  </a:lnTo>
                  <a:lnTo>
                    <a:pt x="18" y="131"/>
                  </a:lnTo>
                  <a:lnTo>
                    <a:pt x="22" y="129"/>
                  </a:lnTo>
                  <a:lnTo>
                    <a:pt x="24" y="127"/>
                  </a:lnTo>
                  <a:lnTo>
                    <a:pt x="26" y="126"/>
                  </a:lnTo>
                  <a:lnTo>
                    <a:pt x="26" y="124"/>
                  </a:lnTo>
                  <a:lnTo>
                    <a:pt x="26" y="123"/>
                  </a:lnTo>
                  <a:lnTo>
                    <a:pt x="24" y="121"/>
                  </a:lnTo>
                  <a:lnTo>
                    <a:pt x="22" y="119"/>
                  </a:lnTo>
                  <a:lnTo>
                    <a:pt x="18" y="118"/>
                  </a:lnTo>
                  <a:lnTo>
                    <a:pt x="15" y="117"/>
                  </a:lnTo>
                  <a:lnTo>
                    <a:pt x="13" y="117"/>
                  </a:lnTo>
                  <a:close/>
                  <a:moveTo>
                    <a:pt x="13" y="0"/>
                  </a:moveTo>
                  <a:lnTo>
                    <a:pt x="11" y="0"/>
                  </a:lnTo>
                  <a:lnTo>
                    <a:pt x="7" y="1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3" y="12"/>
                  </a:lnTo>
                  <a:lnTo>
                    <a:pt x="7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8" y="14"/>
                  </a:lnTo>
                  <a:lnTo>
                    <a:pt x="22" y="12"/>
                  </a:lnTo>
                  <a:lnTo>
                    <a:pt x="24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2" y="2"/>
                  </a:lnTo>
                  <a:lnTo>
                    <a:pt x="18" y="1"/>
                  </a:lnTo>
                  <a:lnTo>
                    <a:pt x="15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41" name="Freeform 297"/>
            <p:cNvSpPr>
              <a:spLocks/>
            </p:cNvSpPr>
            <p:nvPr/>
          </p:nvSpPr>
          <p:spPr bwMode="auto">
            <a:xfrm>
              <a:off x="3977" y="1954"/>
              <a:ext cx="13" cy="14"/>
            </a:xfrm>
            <a:custGeom>
              <a:avLst/>
              <a:gdLst>
                <a:gd name="T0" fmla="*/ 1 w 26"/>
                <a:gd name="T1" fmla="*/ 0 h 14"/>
                <a:gd name="T2" fmla="*/ 1 w 26"/>
                <a:gd name="T3" fmla="*/ 0 h 14"/>
                <a:gd name="T4" fmla="*/ 1 w 26"/>
                <a:gd name="T5" fmla="*/ 1 h 14"/>
                <a:gd name="T6" fmla="*/ 1 w 26"/>
                <a:gd name="T7" fmla="*/ 2 h 14"/>
                <a:gd name="T8" fmla="*/ 0 w 26"/>
                <a:gd name="T9" fmla="*/ 4 h 14"/>
                <a:gd name="T10" fmla="*/ 0 w 26"/>
                <a:gd name="T11" fmla="*/ 6 h 14"/>
                <a:gd name="T12" fmla="*/ 0 w 26"/>
                <a:gd name="T13" fmla="*/ 7 h 14"/>
                <a:gd name="T14" fmla="*/ 0 w 26"/>
                <a:gd name="T15" fmla="*/ 9 h 14"/>
                <a:gd name="T16" fmla="*/ 0 w 26"/>
                <a:gd name="T17" fmla="*/ 10 h 14"/>
                <a:gd name="T18" fmla="*/ 1 w 26"/>
                <a:gd name="T19" fmla="*/ 12 h 14"/>
                <a:gd name="T20" fmla="*/ 1 w 26"/>
                <a:gd name="T21" fmla="*/ 14 h 14"/>
                <a:gd name="T22" fmla="*/ 1 w 26"/>
                <a:gd name="T23" fmla="*/ 14 h 14"/>
                <a:gd name="T24" fmla="*/ 1 w 26"/>
                <a:gd name="T25" fmla="*/ 14 h 14"/>
                <a:gd name="T26" fmla="*/ 1 w 26"/>
                <a:gd name="T27" fmla="*/ 14 h 14"/>
                <a:gd name="T28" fmla="*/ 1 w 26"/>
                <a:gd name="T29" fmla="*/ 14 h 14"/>
                <a:gd name="T30" fmla="*/ 1 w 26"/>
                <a:gd name="T31" fmla="*/ 14 h 14"/>
                <a:gd name="T32" fmla="*/ 1 w 26"/>
                <a:gd name="T33" fmla="*/ 12 h 14"/>
                <a:gd name="T34" fmla="*/ 1 w 26"/>
                <a:gd name="T35" fmla="*/ 10 h 14"/>
                <a:gd name="T36" fmla="*/ 1 w 26"/>
                <a:gd name="T37" fmla="*/ 9 h 14"/>
                <a:gd name="T38" fmla="*/ 1 w 26"/>
                <a:gd name="T39" fmla="*/ 7 h 14"/>
                <a:gd name="T40" fmla="*/ 1 w 26"/>
                <a:gd name="T41" fmla="*/ 6 h 14"/>
                <a:gd name="T42" fmla="*/ 1 w 26"/>
                <a:gd name="T43" fmla="*/ 4 h 14"/>
                <a:gd name="T44" fmla="*/ 1 w 26"/>
                <a:gd name="T45" fmla="*/ 2 h 14"/>
                <a:gd name="T46" fmla="*/ 1 w 26"/>
                <a:gd name="T47" fmla="*/ 1 h 14"/>
                <a:gd name="T48" fmla="*/ 1 w 26"/>
                <a:gd name="T49" fmla="*/ 0 h 14"/>
                <a:gd name="T50" fmla="*/ 1 w 26"/>
                <a:gd name="T51" fmla="*/ 0 h 14"/>
                <a:gd name="T52" fmla="*/ 1 w 26"/>
                <a:gd name="T53" fmla="*/ 0 h 1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6"/>
                <a:gd name="T82" fmla="*/ 0 h 14"/>
                <a:gd name="T83" fmla="*/ 26 w 26"/>
                <a:gd name="T84" fmla="*/ 14 h 1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6" h="14">
                  <a:moveTo>
                    <a:pt x="13" y="0"/>
                  </a:moveTo>
                  <a:lnTo>
                    <a:pt x="11" y="0"/>
                  </a:lnTo>
                  <a:lnTo>
                    <a:pt x="7" y="1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3" y="12"/>
                  </a:lnTo>
                  <a:lnTo>
                    <a:pt x="7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8" y="14"/>
                  </a:lnTo>
                  <a:lnTo>
                    <a:pt x="22" y="12"/>
                  </a:lnTo>
                  <a:lnTo>
                    <a:pt x="24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2" y="2"/>
                  </a:lnTo>
                  <a:lnTo>
                    <a:pt x="18" y="1"/>
                  </a:lnTo>
                  <a:lnTo>
                    <a:pt x="15" y="0"/>
                  </a:lnTo>
                  <a:lnTo>
                    <a:pt x="1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42" name="Freeform 298"/>
            <p:cNvSpPr>
              <a:spLocks/>
            </p:cNvSpPr>
            <p:nvPr/>
          </p:nvSpPr>
          <p:spPr bwMode="auto">
            <a:xfrm>
              <a:off x="3977" y="1837"/>
              <a:ext cx="13" cy="14"/>
            </a:xfrm>
            <a:custGeom>
              <a:avLst/>
              <a:gdLst>
                <a:gd name="T0" fmla="*/ 1 w 26"/>
                <a:gd name="T1" fmla="*/ 0 h 14"/>
                <a:gd name="T2" fmla="*/ 1 w 26"/>
                <a:gd name="T3" fmla="*/ 0 h 14"/>
                <a:gd name="T4" fmla="*/ 1 w 26"/>
                <a:gd name="T5" fmla="*/ 1 h 14"/>
                <a:gd name="T6" fmla="*/ 1 w 26"/>
                <a:gd name="T7" fmla="*/ 2 h 14"/>
                <a:gd name="T8" fmla="*/ 0 w 26"/>
                <a:gd name="T9" fmla="*/ 4 h 14"/>
                <a:gd name="T10" fmla="*/ 0 w 26"/>
                <a:gd name="T11" fmla="*/ 6 h 14"/>
                <a:gd name="T12" fmla="*/ 0 w 26"/>
                <a:gd name="T13" fmla="*/ 7 h 14"/>
                <a:gd name="T14" fmla="*/ 0 w 26"/>
                <a:gd name="T15" fmla="*/ 9 h 14"/>
                <a:gd name="T16" fmla="*/ 0 w 26"/>
                <a:gd name="T17" fmla="*/ 10 h 14"/>
                <a:gd name="T18" fmla="*/ 1 w 26"/>
                <a:gd name="T19" fmla="*/ 12 h 14"/>
                <a:gd name="T20" fmla="*/ 1 w 26"/>
                <a:gd name="T21" fmla="*/ 14 h 14"/>
                <a:gd name="T22" fmla="*/ 1 w 26"/>
                <a:gd name="T23" fmla="*/ 14 h 14"/>
                <a:gd name="T24" fmla="*/ 1 w 26"/>
                <a:gd name="T25" fmla="*/ 14 h 14"/>
                <a:gd name="T26" fmla="*/ 1 w 26"/>
                <a:gd name="T27" fmla="*/ 14 h 14"/>
                <a:gd name="T28" fmla="*/ 1 w 26"/>
                <a:gd name="T29" fmla="*/ 14 h 14"/>
                <a:gd name="T30" fmla="*/ 1 w 26"/>
                <a:gd name="T31" fmla="*/ 14 h 14"/>
                <a:gd name="T32" fmla="*/ 1 w 26"/>
                <a:gd name="T33" fmla="*/ 12 h 14"/>
                <a:gd name="T34" fmla="*/ 1 w 26"/>
                <a:gd name="T35" fmla="*/ 10 h 14"/>
                <a:gd name="T36" fmla="*/ 1 w 26"/>
                <a:gd name="T37" fmla="*/ 9 h 14"/>
                <a:gd name="T38" fmla="*/ 1 w 26"/>
                <a:gd name="T39" fmla="*/ 7 h 14"/>
                <a:gd name="T40" fmla="*/ 1 w 26"/>
                <a:gd name="T41" fmla="*/ 6 h 14"/>
                <a:gd name="T42" fmla="*/ 1 w 26"/>
                <a:gd name="T43" fmla="*/ 4 h 14"/>
                <a:gd name="T44" fmla="*/ 1 w 26"/>
                <a:gd name="T45" fmla="*/ 2 h 14"/>
                <a:gd name="T46" fmla="*/ 1 w 26"/>
                <a:gd name="T47" fmla="*/ 1 h 14"/>
                <a:gd name="T48" fmla="*/ 1 w 26"/>
                <a:gd name="T49" fmla="*/ 0 h 14"/>
                <a:gd name="T50" fmla="*/ 1 w 26"/>
                <a:gd name="T51" fmla="*/ 0 h 14"/>
                <a:gd name="T52" fmla="*/ 1 w 26"/>
                <a:gd name="T53" fmla="*/ 0 h 1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6"/>
                <a:gd name="T82" fmla="*/ 0 h 14"/>
                <a:gd name="T83" fmla="*/ 26 w 26"/>
                <a:gd name="T84" fmla="*/ 14 h 1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6" h="14">
                  <a:moveTo>
                    <a:pt x="13" y="0"/>
                  </a:moveTo>
                  <a:lnTo>
                    <a:pt x="11" y="0"/>
                  </a:lnTo>
                  <a:lnTo>
                    <a:pt x="7" y="1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3" y="12"/>
                  </a:lnTo>
                  <a:lnTo>
                    <a:pt x="7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8" y="14"/>
                  </a:lnTo>
                  <a:lnTo>
                    <a:pt x="22" y="12"/>
                  </a:lnTo>
                  <a:lnTo>
                    <a:pt x="24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2" y="2"/>
                  </a:lnTo>
                  <a:lnTo>
                    <a:pt x="18" y="1"/>
                  </a:lnTo>
                  <a:lnTo>
                    <a:pt x="15" y="0"/>
                  </a:lnTo>
                  <a:lnTo>
                    <a:pt x="1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43" name="Line 299"/>
            <p:cNvSpPr>
              <a:spLocks noChangeShapeType="1"/>
            </p:cNvSpPr>
            <p:nvPr/>
          </p:nvSpPr>
          <p:spPr bwMode="auto">
            <a:xfrm>
              <a:off x="3986" y="1851"/>
              <a:ext cx="30" cy="9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44" name="Freeform 300"/>
            <p:cNvSpPr>
              <a:spLocks/>
            </p:cNvSpPr>
            <p:nvPr/>
          </p:nvSpPr>
          <p:spPr bwMode="auto">
            <a:xfrm>
              <a:off x="4242" y="1387"/>
              <a:ext cx="32" cy="234"/>
            </a:xfrm>
            <a:custGeom>
              <a:avLst/>
              <a:gdLst>
                <a:gd name="T0" fmla="*/ 1 w 64"/>
                <a:gd name="T1" fmla="*/ 0 h 234"/>
                <a:gd name="T2" fmla="*/ 1 w 64"/>
                <a:gd name="T3" fmla="*/ 1 h 234"/>
                <a:gd name="T4" fmla="*/ 1 w 64"/>
                <a:gd name="T5" fmla="*/ 4 h 234"/>
                <a:gd name="T6" fmla="*/ 1 w 64"/>
                <a:gd name="T7" fmla="*/ 13 h 234"/>
                <a:gd name="T8" fmla="*/ 1 w 64"/>
                <a:gd name="T9" fmla="*/ 17 h 234"/>
                <a:gd name="T10" fmla="*/ 1 w 64"/>
                <a:gd name="T11" fmla="*/ 23 h 234"/>
                <a:gd name="T12" fmla="*/ 1 w 64"/>
                <a:gd name="T13" fmla="*/ 28 h 234"/>
                <a:gd name="T14" fmla="*/ 1 w 64"/>
                <a:gd name="T15" fmla="*/ 34 h 234"/>
                <a:gd name="T16" fmla="*/ 1 w 64"/>
                <a:gd name="T17" fmla="*/ 39 h 234"/>
                <a:gd name="T18" fmla="*/ 1 w 64"/>
                <a:gd name="T19" fmla="*/ 45 h 234"/>
                <a:gd name="T20" fmla="*/ 1 w 64"/>
                <a:gd name="T21" fmla="*/ 53 h 234"/>
                <a:gd name="T22" fmla="*/ 1 w 64"/>
                <a:gd name="T23" fmla="*/ 57 h 234"/>
                <a:gd name="T24" fmla="*/ 1 w 64"/>
                <a:gd name="T25" fmla="*/ 58 h 234"/>
                <a:gd name="T26" fmla="*/ 0 w 64"/>
                <a:gd name="T27" fmla="*/ 59 h 234"/>
                <a:gd name="T28" fmla="*/ 1 w 64"/>
                <a:gd name="T29" fmla="*/ 59 h 234"/>
                <a:gd name="T30" fmla="*/ 1 w 64"/>
                <a:gd name="T31" fmla="*/ 60 h 234"/>
                <a:gd name="T32" fmla="*/ 1 w 64"/>
                <a:gd name="T33" fmla="*/ 66 h 234"/>
                <a:gd name="T34" fmla="*/ 1 w 64"/>
                <a:gd name="T35" fmla="*/ 73 h 234"/>
                <a:gd name="T36" fmla="*/ 1 w 64"/>
                <a:gd name="T37" fmla="*/ 78 h 234"/>
                <a:gd name="T38" fmla="*/ 1 w 64"/>
                <a:gd name="T39" fmla="*/ 84 h 234"/>
                <a:gd name="T40" fmla="*/ 1 w 64"/>
                <a:gd name="T41" fmla="*/ 90 h 234"/>
                <a:gd name="T42" fmla="*/ 1 w 64"/>
                <a:gd name="T43" fmla="*/ 95 h 234"/>
                <a:gd name="T44" fmla="*/ 1 w 64"/>
                <a:gd name="T45" fmla="*/ 101 h 234"/>
                <a:gd name="T46" fmla="*/ 1 w 64"/>
                <a:gd name="T47" fmla="*/ 108 h 234"/>
                <a:gd name="T48" fmla="*/ 1 w 64"/>
                <a:gd name="T49" fmla="*/ 115 h 234"/>
                <a:gd name="T50" fmla="*/ 1 w 64"/>
                <a:gd name="T51" fmla="*/ 116 h 234"/>
                <a:gd name="T52" fmla="*/ 1 w 64"/>
                <a:gd name="T53" fmla="*/ 117 h 234"/>
                <a:gd name="T54" fmla="*/ 1 w 64"/>
                <a:gd name="T55" fmla="*/ 117 h 234"/>
                <a:gd name="T56" fmla="*/ 1 w 64"/>
                <a:gd name="T57" fmla="*/ 118 h 234"/>
                <a:gd name="T58" fmla="*/ 1 w 64"/>
                <a:gd name="T59" fmla="*/ 121 h 234"/>
                <a:gd name="T60" fmla="*/ 1 w 64"/>
                <a:gd name="T61" fmla="*/ 130 h 234"/>
                <a:gd name="T62" fmla="*/ 1 w 64"/>
                <a:gd name="T63" fmla="*/ 134 h 234"/>
                <a:gd name="T64" fmla="*/ 1 w 64"/>
                <a:gd name="T65" fmla="*/ 140 h 234"/>
                <a:gd name="T66" fmla="*/ 1 w 64"/>
                <a:gd name="T67" fmla="*/ 145 h 234"/>
                <a:gd name="T68" fmla="*/ 1 w 64"/>
                <a:gd name="T69" fmla="*/ 151 h 234"/>
                <a:gd name="T70" fmla="*/ 1 w 64"/>
                <a:gd name="T71" fmla="*/ 156 h 234"/>
                <a:gd name="T72" fmla="*/ 1 w 64"/>
                <a:gd name="T73" fmla="*/ 162 h 234"/>
                <a:gd name="T74" fmla="*/ 1 w 64"/>
                <a:gd name="T75" fmla="*/ 170 h 234"/>
                <a:gd name="T76" fmla="*/ 1 w 64"/>
                <a:gd name="T77" fmla="*/ 174 h 234"/>
                <a:gd name="T78" fmla="*/ 1 w 64"/>
                <a:gd name="T79" fmla="*/ 175 h 234"/>
                <a:gd name="T80" fmla="*/ 0 w 64"/>
                <a:gd name="T81" fmla="*/ 176 h 234"/>
                <a:gd name="T82" fmla="*/ 1 w 64"/>
                <a:gd name="T83" fmla="*/ 176 h 234"/>
                <a:gd name="T84" fmla="*/ 1 w 64"/>
                <a:gd name="T85" fmla="*/ 178 h 234"/>
                <a:gd name="T86" fmla="*/ 1 w 64"/>
                <a:gd name="T87" fmla="*/ 183 h 234"/>
                <a:gd name="T88" fmla="*/ 1 w 64"/>
                <a:gd name="T89" fmla="*/ 191 h 234"/>
                <a:gd name="T90" fmla="*/ 1 w 64"/>
                <a:gd name="T91" fmla="*/ 196 h 234"/>
                <a:gd name="T92" fmla="*/ 1 w 64"/>
                <a:gd name="T93" fmla="*/ 201 h 234"/>
                <a:gd name="T94" fmla="*/ 1 w 64"/>
                <a:gd name="T95" fmla="*/ 207 h 234"/>
                <a:gd name="T96" fmla="*/ 1 w 64"/>
                <a:gd name="T97" fmla="*/ 212 h 234"/>
                <a:gd name="T98" fmla="*/ 1 w 64"/>
                <a:gd name="T99" fmla="*/ 218 h 234"/>
                <a:gd name="T100" fmla="*/ 1 w 64"/>
                <a:gd name="T101" fmla="*/ 225 h 234"/>
                <a:gd name="T102" fmla="*/ 1 w 64"/>
                <a:gd name="T103" fmla="*/ 232 h 234"/>
                <a:gd name="T104" fmla="*/ 1 w 64"/>
                <a:gd name="T105" fmla="*/ 233 h 234"/>
                <a:gd name="T106" fmla="*/ 1 w 64"/>
                <a:gd name="T107" fmla="*/ 234 h 23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64"/>
                <a:gd name="T163" fmla="*/ 0 h 234"/>
                <a:gd name="T164" fmla="*/ 64 w 64"/>
                <a:gd name="T165" fmla="*/ 234 h 23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64" h="234">
                  <a:moveTo>
                    <a:pt x="0" y="0"/>
                  </a:moveTo>
                  <a:lnTo>
                    <a:pt x="7" y="0"/>
                  </a:lnTo>
                  <a:lnTo>
                    <a:pt x="13" y="0"/>
                  </a:lnTo>
                  <a:lnTo>
                    <a:pt x="18" y="1"/>
                  </a:lnTo>
                  <a:lnTo>
                    <a:pt x="24" y="2"/>
                  </a:lnTo>
                  <a:lnTo>
                    <a:pt x="35" y="4"/>
                  </a:lnTo>
                  <a:lnTo>
                    <a:pt x="45" y="8"/>
                  </a:lnTo>
                  <a:lnTo>
                    <a:pt x="52" y="13"/>
                  </a:lnTo>
                  <a:lnTo>
                    <a:pt x="56" y="15"/>
                  </a:lnTo>
                  <a:lnTo>
                    <a:pt x="58" y="17"/>
                  </a:lnTo>
                  <a:lnTo>
                    <a:pt x="60" y="20"/>
                  </a:lnTo>
                  <a:lnTo>
                    <a:pt x="62" y="23"/>
                  </a:lnTo>
                  <a:lnTo>
                    <a:pt x="64" y="25"/>
                  </a:lnTo>
                  <a:lnTo>
                    <a:pt x="64" y="28"/>
                  </a:lnTo>
                  <a:lnTo>
                    <a:pt x="64" y="31"/>
                  </a:lnTo>
                  <a:lnTo>
                    <a:pt x="64" y="34"/>
                  </a:lnTo>
                  <a:lnTo>
                    <a:pt x="62" y="37"/>
                  </a:lnTo>
                  <a:lnTo>
                    <a:pt x="60" y="39"/>
                  </a:lnTo>
                  <a:lnTo>
                    <a:pt x="58" y="43"/>
                  </a:lnTo>
                  <a:lnTo>
                    <a:pt x="54" y="45"/>
                  </a:lnTo>
                  <a:lnTo>
                    <a:pt x="49" y="50"/>
                  </a:lnTo>
                  <a:lnTo>
                    <a:pt x="39" y="53"/>
                  </a:lnTo>
                  <a:lnTo>
                    <a:pt x="28" y="56"/>
                  </a:lnTo>
                  <a:lnTo>
                    <a:pt x="24" y="57"/>
                  </a:lnTo>
                  <a:lnTo>
                    <a:pt x="17" y="58"/>
                  </a:lnTo>
                  <a:lnTo>
                    <a:pt x="11" y="58"/>
                  </a:lnTo>
                  <a:lnTo>
                    <a:pt x="5" y="59"/>
                  </a:lnTo>
                  <a:lnTo>
                    <a:pt x="0" y="59"/>
                  </a:lnTo>
                  <a:lnTo>
                    <a:pt x="7" y="59"/>
                  </a:lnTo>
                  <a:lnTo>
                    <a:pt x="13" y="59"/>
                  </a:lnTo>
                  <a:lnTo>
                    <a:pt x="18" y="60"/>
                  </a:lnTo>
                  <a:lnTo>
                    <a:pt x="24" y="60"/>
                  </a:lnTo>
                  <a:lnTo>
                    <a:pt x="35" y="63"/>
                  </a:lnTo>
                  <a:lnTo>
                    <a:pt x="45" y="66"/>
                  </a:lnTo>
                  <a:lnTo>
                    <a:pt x="52" y="71"/>
                  </a:lnTo>
                  <a:lnTo>
                    <a:pt x="56" y="73"/>
                  </a:lnTo>
                  <a:lnTo>
                    <a:pt x="58" y="76"/>
                  </a:lnTo>
                  <a:lnTo>
                    <a:pt x="60" y="78"/>
                  </a:lnTo>
                  <a:lnTo>
                    <a:pt x="62" y="81"/>
                  </a:lnTo>
                  <a:lnTo>
                    <a:pt x="64" y="84"/>
                  </a:lnTo>
                  <a:lnTo>
                    <a:pt x="64" y="87"/>
                  </a:lnTo>
                  <a:lnTo>
                    <a:pt x="64" y="90"/>
                  </a:lnTo>
                  <a:lnTo>
                    <a:pt x="64" y="92"/>
                  </a:lnTo>
                  <a:lnTo>
                    <a:pt x="62" y="95"/>
                  </a:lnTo>
                  <a:lnTo>
                    <a:pt x="60" y="98"/>
                  </a:lnTo>
                  <a:lnTo>
                    <a:pt x="58" y="101"/>
                  </a:lnTo>
                  <a:lnTo>
                    <a:pt x="54" y="104"/>
                  </a:lnTo>
                  <a:lnTo>
                    <a:pt x="49" y="108"/>
                  </a:lnTo>
                  <a:lnTo>
                    <a:pt x="39" y="112"/>
                  </a:lnTo>
                  <a:lnTo>
                    <a:pt x="28" y="115"/>
                  </a:lnTo>
                  <a:lnTo>
                    <a:pt x="24" y="116"/>
                  </a:lnTo>
                  <a:lnTo>
                    <a:pt x="17" y="116"/>
                  </a:lnTo>
                  <a:lnTo>
                    <a:pt x="11" y="117"/>
                  </a:lnTo>
                  <a:lnTo>
                    <a:pt x="5" y="117"/>
                  </a:lnTo>
                  <a:lnTo>
                    <a:pt x="0" y="117"/>
                  </a:lnTo>
                  <a:lnTo>
                    <a:pt x="7" y="117"/>
                  </a:lnTo>
                  <a:lnTo>
                    <a:pt x="13" y="118"/>
                  </a:lnTo>
                  <a:lnTo>
                    <a:pt x="18" y="118"/>
                  </a:lnTo>
                  <a:lnTo>
                    <a:pt x="24" y="119"/>
                  </a:lnTo>
                  <a:lnTo>
                    <a:pt x="35" y="121"/>
                  </a:lnTo>
                  <a:lnTo>
                    <a:pt x="45" y="125"/>
                  </a:lnTo>
                  <a:lnTo>
                    <a:pt x="52" y="130"/>
                  </a:lnTo>
                  <a:lnTo>
                    <a:pt x="56" y="132"/>
                  </a:lnTo>
                  <a:lnTo>
                    <a:pt x="58" y="134"/>
                  </a:lnTo>
                  <a:lnTo>
                    <a:pt x="60" y="137"/>
                  </a:lnTo>
                  <a:lnTo>
                    <a:pt x="62" y="140"/>
                  </a:lnTo>
                  <a:lnTo>
                    <a:pt x="64" y="142"/>
                  </a:lnTo>
                  <a:lnTo>
                    <a:pt x="64" y="145"/>
                  </a:lnTo>
                  <a:lnTo>
                    <a:pt x="64" y="148"/>
                  </a:lnTo>
                  <a:lnTo>
                    <a:pt x="64" y="151"/>
                  </a:lnTo>
                  <a:lnTo>
                    <a:pt x="62" y="154"/>
                  </a:lnTo>
                  <a:lnTo>
                    <a:pt x="60" y="156"/>
                  </a:lnTo>
                  <a:lnTo>
                    <a:pt x="58" y="160"/>
                  </a:lnTo>
                  <a:lnTo>
                    <a:pt x="54" y="162"/>
                  </a:lnTo>
                  <a:lnTo>
                    <a:pt x="49" y="167"/>
                  </a:lnTo>
                  <a:lnTo>
                    <a:pt x="39" y="170"/>
                  </a:lnTo>
                  <a:lnTo>
                    <a:pt x="28" y="173"/>
                  </a:lnTo>
                  <a:lnTo>
                    <a:pt x="24" y="174"/>
                  </a:lnTo>
                  <a:lnTo>
                    <a:pt x="17" y="175"/>
                  </a:lnTo>
                  <a:lnTo>
                    <a:pt x="11" y="175"/>
                  </a:lnTo>
                  <a:lnTo>
                    <a:pt x="5" y="176"/>
                  </a:lnTo>
                  <a:lnTo>
                    <a:pt x="0" y="176"/>
                  </a:lnTo>
                  <a:lnTo>
                    <a:pt x="7" y="176"/>
                  </a:lnTo>
                  <a:lnTo>
                    <a:pt x="13" y="176"/>
                  </a:lnTo>
                  <a:lnTo>
                    <a:pt x="18" y="177"/>
                  </a:lnTo>
                  <a:lnTo>
                    <a:pt x="24" y="178"/>
                  </a:lnTo>
                  <a:lnTo>
                    <a:pt x="35" y="180"/>
                  </a:lnTo>
                  <a:lnTo>
                    <a:pt x="45" y="183"/>
                  </a:lnTo>
                  <a:lnTo>
                    <a:pt x="52" y="188"/>
                  </a:lnTo>
                  <a:lnTo>
                    <a:pt x="56" y="191"/>
                  </a:lnTo>
                  <a:lnTo>
                    <a:pt x="58" y="193"/>
                  </a:lnTo>
                  <a:lnTo>
                    <a:pt x="60" y="196"/>
                  </a:lnTo>
                  <a:lnTo>
                    <a:pt x="62" y="198"/>
                  </a:lnTo>
                  <a:lnTo>
                    <a:pt x="64" y="201"/>
                  </a:lnTo>
                  <a:lnTo>
                    <a:pt x="64" y="204"/>
                  </a:lnTo>
                  <a:lnTo>
                    <a:pt x="64" y="207"/>
                  </a:lnTo>
                  <a:lnTo>
                    <a:pt x="64" y="210"/>
                  </a:lnTo>
                  <a:lnTo>
                    <a:pt x="62" y="212"/>
                  </a:lnTo>
                  <a:lnTo>
                    <a:pt x="60" y="216"/>
                  </a:lnTo>
                  <a:lnTo>
                    <a:pt x="58" y="218"/>
                  </a:lnTo>
                  <a:lnTo>
                    <a:pt x="54" y="221"/>
                  </a:lnTo>
                  <a:lnTo>
                    <a:pt x="49" y="225"/>
                  </a:lnTo>
                  <a:lnTo>
                    <a:pt x="39" y="229"/>
                  </a:lnTo>
                  <a:lnTo>
                    <a:pt x="28" y="232"/>
                  </a:lnTo>
                  <a:lnTo>
                    <a:pt x="24" y="233"/>
                  </a:lnTo>
                  <a:lnTo>
                    <a:pt x="17" y="233"/>
                  </a:lnTo>
                  <a:lnTo>
                    <a:pt x="11" y="234"/>
                  </a:lnTo>
                  <a:lnTo>
                    <a:pt x="5" y="234"/>
                  </a:lnTo>
                  <a:lnTo>
                    <a:pt x="0" y="2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45" name="Freeform 301"/>
            <p:cNvSpPr>
              <a:spLocks/>
            </p:cNvSpPr>
            <p:nvPr/>
          </p:nvSpPr>
          <p:spPr bwMode="auto">
            <a:xfrm>
              <a:off x="4332" y="1387"/>
              <a:ext cx="32" cy="234"/>
            </a:xfrm>
            <a:custGeom>
              <a:avLst/>
              <a:gdLst>
                <a:gd name="T0" fmla="*/ 1 w 64"/>
                <a:gd name="T1" fmla="*/ 0 h 234"/>
                <a:gd name="T2" fmla="*/ 1 w 64"/>
                <a:gd name="T3" fmla="*/ 1 h 234"/>
                <a:gd name="T4" fmla="*/ 1 w 64"/>
                <a:gd name="T5" fmla="*/ 4 h 234"/>
                <a:gd name="T6" fmla="*/ 1 w 64"/>
                <a:gd name="T7" fmla="*/ 13 h 234"/>
                <a:gd name="T8" fmla="*/ 1 w 64"/>
                <a:gd name="T9" fmla="*/ 17 h 234"/>
                <a:gd name="T10" fmla="*/ 1 w 64"/>
                <a:gd name="T11" fmla="*/ 23 h 234"/>
                <a:gd name="T12" fmla="*/ 0 w 64"/>
                <a:gd name="T13" fmla="*/ 28 h 234"/>
                <a:gd name="T14" fmla="*/ 1 w 64"/>
                <a:gd name="T15" fmla="*/ 34 h 234"/>
                <a:gd name="T16" fmla="*/ 1 w 64"/>
                <a:gd name="T17" fmla="*/ 39 h 234"/>
                <a:gd name="T18" fmla="*/ 1 w 64"/>
                <a:gd name="T19" fmla="*/ 45 h 234"/>
                <a:gd name="T20" fmla="*/ 1 w 64"/>
                <a:gd name="T21" fmla="*/ 50 h 234"/>
                <a:gd name="T22" fmla="*/ 1 w 64"/>
                <a:gd name="T23" fmla="*/ 56 h 234"/>
                <a:gd name="T24" fmla="*/ 1 w 64"/>
                <a:gd name="T25" fmla="*/ 58 h 234"/>
                <a:gd name="T26" fmla="*/ 1 w 64"/>
                <a:gd name="T27" fmla="*/ 59 h 234"/>
                <a:gd name="T28" fmla="*/ 1 w 64"/>
                <a:gd name="T29" fmla="*/ 59 h 234"/>
                <a:gd name="T30" fmla="*/ 1 w 64"/>
                <a:gd name="T31" fmla="*/ 60 h 234"/>
                <a:gd name="T32" fmla="*/ 1 w 64"/>
                <a:gd name="T33" fmla="*/ 63 h 234"/>
                <a:gd name="T34" fmla="*/ 1 w 64"/>
                <a:gd name="T35" fmla="*/ 71 h 234"/>
                <a:gd name="T36" fmla="*/ 1 w 64"/>
                <a:gd name="T37" fmla="*/ 76 h 234"/>
                <a:gd name="T38" fmla="*/ 1 w 64"/>
                <a:gd name="T39" fmla="*/ 81 h 234"/>
                <a:gd name="T40" fmla="*/ 0 w 64"/>
                <a:gd name="T41" fmla="*/ 87 h 234"/>
                <a:gd name="T42" fmla="*/ 1 w 64"/>
                <a:gd name="T43" fmla="*/ 92 h 234"/>
                <a:gd name="T44" fmla="*/ 1 w 64"/>
                <a:gd name="T45" fmla="*/ 98 h 234"/>
                <a:gd name="T46" fmla="*/ 1 w 64"/>
                <a:gd name="T47" fmla="*/ 104 h 234"/>
                <a:gd name="T48" fmla="*/ 1 w 64"/>
                <a:gd name="T49" fmla="*/ 108 h 234"/>
                <a:gd name="T50" fmla="*/ 1 w 64"/>
                <a:gd name="T51" fmla="*/ 115 h 234"/>
                <a:gd name="T52" fmla="*/ 1 w 64"/>
                <a:gd name="T53" fmla="*/ 116 h 234"/>
                <a:gd name="T54" fmla="*/ 1 w 64"/>
                <a:gd name="T55" fmla="*/ 117 h 234"/>
                <a:gd name="T56" fmla="*/ 1 w 64"/>
                <a:gd name="T57" fmla="*/ 117 h 234"/>
                <a:gd name="T58" fmla="*/ 1 w 64"/>
                <a:gd name="T59" fmla="*/ 118 h 234"/>
                <a:gd name="T60" fmla="*/ 1 w 64"/>
                <a:gd name="T61" fmla="*/ 121 h 234"/>
                <a:gd name="T62" fmla="*/ 1 w 64"/>
                <a:gd name="T63" fmla="*/ 130 h 234"/>
                <a:gd name="T64" fmla="*/ 1 w 64"/>
                <a:gd name="T65" fmla="*/ 134 h 234"/>
                <a:gd name="T66" fmla="*/ 1 w 64"/>
                <a:gd name="T67" fmla="*/ 140 h 234"/>
                <a:gd name="T68" fmla="*/ 0 w 64"/>
                <a:gd name="T69" fmla="*/ 145 h 234"/>
                <a:gd name="T70" fmla="*/ 1 w 64"/>
                <a:gd name="T71" fmla="*/ 151 h 234"/>
                <a:gd name="T72" fmla="*/ 1 w 64"/>
                <a:gd name="T73" fmla="*/ 156 h 234"/>
                <a:gd name="T74" fmla="*/ 1 w 64"/>
                <a:gd name="T75" fmla="*/ 162 h 234"/>
                <a:gd name="T76" fmla="*/ 1 w 64"/>
                <a:gd name="T77" fmla="*/ 167 h 234"/>
                <a:gd name="T78" fmla="*/ 1 w 64"/>
                <a:gd name="T79" fmla="*/ 173 h 234"/>
                <a:gd name="T80" fmla="*/ 1 w 64"/>
                <a:gd name="T81" fmla="*/ 175 h 234"/>
                <a:gd name="T82" fmla="*/ 1 w 64"/>
                <a:gd name="T83" fmla="*/ 176 h 234"/>
                <a:gd name="T84" fmla="*/ 1 w 64"/>
                <a:gd name="T85" fmla="*/ 176 h 234"/>
                <a:gd name="T86" fmla="*/ 1 w 64"/>
                <a:gd name="T87" fmla="*/ 177 h 234"/>
                <a:gd name="T88" fmla="*/ 1 w 64"/>
                <a:gd name="T89" fmla="*/ 180 h 234"/>
                <a:gd name="T90" fmla="*/ 1 w 64"/>
                <a:gd name="T91" fmla="*/ 188 h 234"/>
                <a:gd name="T92" fmla="*/ 1 w 64"/>
                <a:gd name="T93" fmla="*/ 193 h 234"/>
                <a:gd name="T94" fmla="*/ 1 w 64"/>
                <a:gd name="T95" fmla="*/ 198 h 234"/>
                <a:gd name="T96" fmla="*/ 0 w 64"/>
                <a:gd name="T97" fmla="*/ 204 h 234"/>
                <a:gd name="T98" fmla="*/ 1 w 64"/>
                <a:gd name="T99" fmla="*/ 210 h 234"/>
                <a:gd name="T100" fmla="*/ 1 w 64"/>
                <a:gd name="T101" fmla="*/ 216 h 234"/>
                <a:gd name="T102" fmla="*/ 1 w 64"/>
                <a:gd name="T103" fmla="*/ 221 h 234"/>
                <a:gd name="T104" fmla="*/ 1 w 64"/>
                <a:gd name="T105" fmla="*/ 225 h 234"/>
                <a:gd name="T106" fmla="*/ 1 w 64"/>
                <a:gd name="T107" fmla="*/ 232 h 234"/>
                <a:gd name="T108" fmla="*/ 1 w 64"/>
                <a:gd name="T109" fmla="*/ 233 h 234"/>
                <a:gd name="T110" fmla="*/ 1 w 64"/>
                <a:gd name="T111" fmla="*/ 234 h 23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64"/>
                <a:gd name="T169" fmla="*/ 0 h 234"/>
                <a:gd name="T170" fmla="*/ 64 w 64"/>
                <a:gd name="T171" fmla="*/ 234 h 234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64" h="234">
                  <a:moveTo>
                    <a:pt x="64" y="0"/>
                  </a:moveTo>
                  <a:lnTo>
                    <a:pt x="58" y="0"/>
                  </a:lnTo>
                  <a:lnTo>
                    <a:pt x="52" y="0"/>
                  </a:lnTo>
                  <a:lnTo>
                    <a:pt x="47" y="1"/>
                  </a:lnTo>
                  <a:lnTo>
                    <a:pt x="41" y="2"/>
                  </a:lnTo>
                  <a:lnTo>
                    <a:pt x="30" y="4"/>
                  </a:lnTo>
                  <a:lnTo>
                    <a:pt x="20" y="8"/>
                  </a:lnTo>
                  <a:lnTo>
                    <a:pt x="13" y="13"/>
                  </a:lnTo>
                  <a:lnTo>
                    <a:pt x="9" y="15"/>
                  </a:lnTo>
                  <a:lnTo>
                    <a:pt x="7" y="17"/>
                  </a:lnTo>
                  <a:lnTo>
                    <a:pt x="3" y="20"/>
                  </a:lnTo>
                  <a:lnTo>
                    <a:pt x="1" y="23"/>
                  </a:lnTo>
                  <a:lnTo>
                    <a:pt x="1" y="25"/>
                  </a:lnTo>
                  <a:lnTo>
                    <a:pt x="0" y="28"/>
                  </a:lnTo>
                  <a:lnTo>
                    <a:pt x="1" y="31"/>
                  </a:lnTo>
                  <a:lnTo>
                    <a:pt x="1" y="34"/>
                  </a:lnTo>
                  <a:lnTo>
                    <a:pt x="3" y="37"/>
                  </a:lnTo>
                  <a:lnTo>
                    <a:pt x="5" y="39"/>
                  </a:lnTo>
                  <a:lnTo>
                    <a:pt x="7" y="43"/>
                  </a:lnTo>
                  <a:lnTo>
                    <a:pt x="9" y="45"/>
                  </a:lnTo>
                  <a:lnTo>
                    <a:pt x="13" y="47"/>
                  </a:lnTo>
                  <a:lnTo>
                    <a:pt x="17" y="50"/>
                  </a:lnTo>
                  <a:lnTo>
                    <a:pt x="26" y="53"/>
                  </a:lnTo>
                  <a:lnTo>
                    <a:pt x="35" y="56"/>
                  </a:lnTo>
                  <a:lnTo>
                    <a:pt x="41" y="57"/>
                  </a:lnTo>
                  <a:lnTo>
                    <a:pt x="47" y="58"/>
                  </a:lnTo>
                  <a:lnTo>
                    <a:pt x="52" y="58"/>
                  </a:lnTo>
                  <a:lnTo>
                    <a:pt x="60" y="59"/>
                  </a:lnTo>
                  <a:lnTo>
                    <a:pt x="64" y="59"/>
                  </a:lnTo>
                  <a:lnTo>
                    <a:pt x="58" y="59"/>
                  </a:lnTo>
                  <a:lnTo>
                    <a:pt x="52" y="59"/>
                  </a:lnTo>
                  <a:lnTo>
                    <a:pt x="47" y="60"/>
                  </a:lnTo>
                  <a:lnTo>
                    <a:pt x="41" y="60"/>
                  </a:lnTo>
                  <a:lnTo>
                    <a:pt x="30" y="63"/>
                  </a:lnTo>
                  <a:lnTo>
                    <a:pt x="20" y="66"/>
                  </a:lnTo>
                  <a:lnTo>
                    <a:pt x="13" y="71"/>
                  </a:lnTo>
                  <a:lnTo>
                    <a:pt x="9" y="73"/>
                  </a:lnTo>
                  <a:lnTo>
                    <a:pt x="7" y="76"/>
                  </a:lnTo>
                  <a:lnTo>
                    <a:pt x="3" y="78"/>
                  </a:lnTo>
                  <a:lnTo>
                    <a:pt x="1" y="81"/>
                  </a:lnTo>
                  <a:lnTo>
                    <a:pt x="1" y="84"/>
                  </a:lnTo>
                  <a:lnTo>
                    <a:pt x="0" y="87"/>
                  </a:lnTo>
                  <a:lnTo>
                    <a:pt x="1" y="90"/>
                  </a:lnTo>
                  <a:lnTo>
                    <a:pt x="1" y="92"/>
                  </a:lnTo>
                  <a:lnTo>
                    <a:pt x="3" y="95"/>
                  </a:lnTo>
                  <a:lnTo>
                    <a:pt x="5" y="98"/>
                  </a:lnTo>
                  <a:lnTo>
                    <a:pt x="7" y="101"/>
                  </a:lnTo>
                  <a:lnTo>
                    <a:pt x="9" y="104"/>
                  </a:lnTo>
                  <a:lnTo>
                    <a:pt x="13" y="106"/>
                  </a:lnTo>
                  <a:lnTo>
                    <a:pt x="17" y="108"/>
                  </a:lnTo>
                  <a:lnTo>
                    <a:pt x="26" y="112"/>
                  </a:lnTo>
                  <a:lnTo>
                    <a:pt x="35" y="115"/>
                  </a:lnTo>
                  <a:lnTo>
                    <a:pt x="41" y="116"/>
                  </a:lnTo>
                  <a:lnTo>
                    <a:pt x="47" y="116"/>
                  </a:lnTo>
                  <a:lnTo>
                    <a:pt x="52" y="117"/>
                  </a:lnTo>
                  <a:lnTo>
                    <a:pt x="60" y="117"/>
                  </a:lnTo>
                  <a:lnTo>
                    <a:pt x="64" y="117"/>
                  </a:lnTo>
                  <a:lnTo>
                    <a:pt x="58" y="117"/>
                  </a:lnTo>
                  <a:lnTo>
                    <a:pt x="52" y="118"/>
                  </a:lnTo>
                  <a:lnTo>
                    <a:pt x="47" y="118"/>
                  </a:lnTo>
                  <a:lnTo>
                    <a:pt x="41" y="119"/>
                  </a:lnTo>
                  <a:lnTo>
                    <a:pt x="30" y="121"/>
                  </a:lnTo>
                  <a:lnTo>
                    <a:pt x="20" y="125"/>
                  </a:lnTo>
                  <a:lnTo>
                    <a:pt x="13" y="130"/>
                  </a:lnTo>
                  <a:lnTo>
                    <a:pt x="9" y="132"/>
                  </a:lnTo>
                  <a:lnTo>
                    <a:pt x="7" y="134"/>
                  </a:lnTo>
                  <a:lnTo>
                    <a:pt x="3" y="137"/>
                  </a:lnTo>
                  <a:lnTo>
                    <a:pt x="1" y="140"/>
                  </a:lnTo>
                  <a:lnTo>
                    <a:pt x="1" y="142"/>
                  </a:lnTo>
                  <a:lnTo>
                    <a:pt x="0" y="145"/>
                  </a:lnTo>
                  <a:lnTo>
                    <a:pt x="1" y="148"/>
                  </a:lnTo>
                  <a:lnTo>
                    <a:pt x="1" y="151"/>
                  </a:lnTo>
                  <a:lnTo>
                    <a:pt x="3" y="154"/>
                  </a:lnTo>
                  <a:lnTo>
                    <a:pt x="5" y="156"/>
                  </a:lnTo>
                  <a:lnTo>
                    <a:pt x="7" y="160"/>
                  </a:lnTo>
                  <a:lnTo>
                    <a:pt x="9" y="162"/>
                  </a:lnTo>
                  <a:lnTo>
                    <a:pt x="13" y="165"/>
                  </a:lnTo>
                  <a:lnTo>
                    <a:pt x="17" y="167"/>
                  </a:lnTo>
                  <a:lnTo>
                    <a:pt x="26" y="170"/>
                  </a:lnTo>
                  <a:lnTo>
                    <a:pt x="35" y="173"/>
                  </a:lnTo>
                  <a:lnTo>
                    <a:pt x="41" y="174"/>
                  </a:lnTo>
                  <a:lnTo>
                    <a:pt x="47" y="175"/>
                  </a:lnTo>
                  <a:lnTo>
                    <a:pt x="52" y="175"/>
                  </a:lnTo>
                  <a:lnTo>
                    <a:pt x="60" y="176"/>
                  </a:lnTo>
                  <a:lnTo>
                    <a:pt x="64" y="176"/>
                  </a:lnTo>
                  <a:lnTo>
                    <a:pt x="58" y="176"/>
                  </a:lnTo>
                  <a:lnTo>
                    <a:pt x="52" y="176"/>
                  </a:lnTo>
                  <a:lnTo>
                    <a:pt x="47" y="177"/>
                  </a:lnTo>
                  <a:lnTo>
                    <a:pt x="41" y="178"/>
                  </a:lnTo>
                  <a:lnTo>
                    <a:pt x="30" y="180"/>
                  </a:lnTo>
                  <a:lnTo>
                    <a:pt x="20" y="183"/>
                  </a:lnTo>
                  <a:lnTo>
                    <a:pt x="13" y="188"/>
                  </a:lnTo>
                  <a:lnTo>
                    <a:pt x="9" y="191"/>
                  </a:lnTo>
                  <a:lnTo>
                    <a:pt x="7" y="193"/>
                  </a:lnTo>
                  <a:lnTo>
                    <a:pt x="3" y="196"/>
                  </a:lnTo>
                  <a:lnTo>
                    <a:pt x="1" y="198"/>
                  </a:lnTo>
                  <a:lnTo>
                    <a:pt x="1" y="201"/>
                  </a:lnTo>
                  <a:lnTo>
                    <a:pt x="0" y="204"/>
                  </a:lnTo>
                  <a:lnTo>
                    <a:pt x="1" y="207"/>
                  </a:lnTo>
                  <a:lnTo>
                    <a:pt x="1" y="210"/>
                  </a:lnTo>
                  <a:lnTo>
                    <a:pt x="3" y="212"/>
                  </a:lnTo>
                  <a:lnTo>
                    <a:pt x="5" y="216"/>
                  </a:lnTo>
                  <a:lnTo>
                    <a:pt x="7" y="218"/>
                  </a:lnTo>
                  <a:lnTo>
                    <a:pt x="9" y="221"/>
                  </a:lnTo>
                  <a:lnTo>
                    <a:pt x="13" y="223"/>
                  </a:lnTo>
                  <a:lnTo>
                    <a:pt x="17" y="225"/>
                  </a:lnTo>
                  <a:lnTo>
                    <a:pt x="26" y="229"/>
                  </a:lnTo>
                  <a:lnTo>
                    <a:pt x="35" y="232"/>
                  </a:lnTo>
                  <a:lnTo>
                    <a:pt x="41" y="233"/>
                  </a:lnTo>
                  <a:lnTo>
                    <a:pt x="47" y="233"/>
                  </a:lnTo>
                  <a:lnTo>
                    <a:pt x="52" y="234"/>
                  </a:lnTo>
                  <a:lnTo>
                    <a:pt x="60" y="234"/>
                  </a:lnTo>
                  <a:lnTo>
                    <a:pt x="64" y="2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46" name="Line 302"/>
            <p:cNvSpPr>
              <a:spLocks noChangeShapeType="1"/>
            </p:cNvSpPr>
            <p:nvPr/>
          </p:nvSpPr>
          <p:spPr bwMode="auto">
            <a:xfrm>
              <a:off x="4295" y="1393"/>
              <a:ext cx="1" cy="22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47" name="Line 303"/>
            <p:cNvSpPr>
              <a:spLocks noChangeShapeType="1"/>
            </p:cNvSpPr>
            <p:nvPr/>
          </p:nvSpPr>
          <p:spPr bwMode="auto">
            <a:xfrm flipV="1">
              <a:off x="4307" y="1393"/>
              <a:ext cx="1" cy="22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48" name="Freeform 304"/>
            <p:cNvSpPr>
              <a:spLocks/>
            </p:cNvSpPr>
            <p:nvPr/>
          </p:nvSpPr>
          <p:spPr bwMode="auto">
            <a:xfrm>
              <a:off x="4224" y="1582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1 w 60"/>
                <a:gd name="T3" fmla="*/ 12 h 33"/>
                <a:gd name="T4" fmla="*/ 1 w 60"/>
                <a:gd name="T5" fmla="*/ 9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9 h 33"/>
                <a:gd name="T30" fmla="*/ 1 w 60"/>
                <a:gd name="T31" fmla="*/ 12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3 h 33"/>
                <a:gd name="T40" fmla="*/ 1 w 60"/>
                <a:gd name="T41" fmla="*/ 26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6 h 33"/>
                <a:gd name="T62" fmla="*/ 1 w 60"/>
                <a:gd name="T63" fmla="*/ 23 h 33"/>
                <a:gd name="T64" fmla="*/ 1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2" y="12"/>
                  </a:lnTo>
                  <a:lnTo>
                    <a:pt x="3" y="9"/>
                  </a:lnTo>
                  <a:lnTo>
                    <a:pt x="5" y="7"/>
                  </a:lnTo>
                  <a:lnTo>
                    <a:pt x="9" y="4"/>
                  </a:lnTo>
                  <a:lnTo>
                    <a:pt x="15" y="2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7" y="0"/>
                  </a:lnTo>
                  <a:lnTo>
                    <a:pt x="43" y="1"/>
                  </a:lnTo>
                  <a:lnTo>
                    <a:pt x="47" y="2"/>
                  </a:lnTo>
                  <a:lnTo>
                    <a:pt x="53" y="4"/>
                  </a:lnTo>
                  <a:lnTo>
                    <a:pt x="56" y="7"/>
                  </a:lnTo>
                  <a:lnTo>
                    <a:pt x="58" y="9"/>
                  </a:lnTo>
                  <a:lnTo>
                    <a:pt x="60" y="12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3"/>
                  </a:lnTo>
                  <a:lnTo>
                    <a:pt x="56" y="26"/>
                  </a:lnTo>
                  <a:lnTo>
                    <a:pt x="53" y="28"/>
                  </a:lnTo>
                  <a:lnTo>
                    <a:pt x="47" y="30"/>
                  </a:lnTo>
                  <a:lnTo>
                    <a:pt x="43" y="31"/>
                  </a:lnTo>
                  <a:lnTo>
                    <a:pt x="37" y="32"/>
                  </a:lnTo>
                  <a:lnTo>
                    <a:pt x="30" y="33"/>
                  </a:lnTo>
                  <a:lnTo>
                    <a:pt x="24" y="32"/>
                  </a:lnTo>
                  <a:lnTo>
                    <a:pt x="19" y="31"/>
                  </a:lnTo>
                  <a:lnTo>
                    <a:pt x="15" y="30"/>
                  </a:lnTo>
                  <a:lnTo>
                    <a:pt x="9" y="28"/>
                  </a:lnTo>
                  <a:lnTo>
                    <a:pt x="5" y="26"/>
                  </a:lnTo>
                  <a:lnTo>
                    <a:pt x="3" y="23"/>
                  </a:lnTo>
                  <a:lnTo>
                    <a:pt x="2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49" name="Freeform 305"/>
            <p:cNvSpPr>
              <a:spLocks/>
            </p:cNvSpPr>
            <p:nvPr/>
          </p:nvSpPr>
          <p:spPr bwMode="auto">
            <a:xfrm>
              <a:off x="4352" y="1394"/>
              <a:ext cx="30" cy="34"/>
            </a:xfrm>
            <a:custGeom>
              <a:avLst/>
              <a:gdLst>
                <a:gd name="T0" fmla="*/ 0 w 61"/>
                <a:gd name="T1" fmla="*/ 17 h 34"/>
                <a:gd name="T2" fmla="*/ 0 w 61"/>
                <a:gd name="T3" fmla="*/ 14 h 34"/>
                <a:gd name="T4" fmla="*/ 0 w 61"/>
                <a:gd name="T5" fmla="*/ 11 h 34"/>
                <a:gd name="T6" fmla="*/ 0 w 61"/>
                <a:gd name="T7" fmla="*/ 8 h 34"/>
                <a:gd name="T8" fmla="*/ 0 w 61"/>
                <a:gd name="T9" fmla="*/ 5 h 34"/>
                <a:gd name="T10" fmla="*/ 0 w 61"/>
                <a:gd name="T11" fmla="*/ 2 h 34"/>
                <a:gd name="T12" fmla="*/ 0 w 61"/>
                <a:gd name="T13" fmla="*/ 1 h 34"/>
                <a:gd name="T14" fmla="*/ 0 w 61"/>
                <a:gd name="T15" fmla="*/ 0 h 34"/>
                <a:gd name="T16" fmla="*/ 0 w 61"/>
                <a:gd name="T17" fmla="*/ 0 h 34"/>
                <a:gd name="T18" fmla="*/ 0 w 61"/>
                <a:gd name="T19" fmla="*/ 0 h 34"/>
                <a:gd name="T20" fmla="*/ 0 w 61"/>
                <a:gd name="T21" fmla="*/ 1 h 34"/>
                <a:gd name="T22" fmla="*/ 0 w 61"/>
                <a:gd name="T23" fmla="*/ 2 h 34"/>
                <a:gd name="T24" fmla="*/ 0 w 61"/>
                <a:gd name="T25" fmla="*/ 5 h 34"/>
                <a:gd name="T26" fmla="*/ 0 w 61"/>
                <a:gd name="T27" fmla="*/ 8 h 34"/>
                <a:gd name="T28" fmla="*/ 0 w 61"/>
                <a:gd name="T29" fmla="*/ 11 h 34"/>
                <a:gd name="T30" fmla="*/ 0 w 61"/>
                <a:gd name="T31" fmla="*/ 14 h 34"/>
                <a:gd name="T32" fmla="*/ 0 w 61"/>
                <a:gd name="T33" fmla="*/ 17 h 34"/>
                <a:gd name="T34" fmla="*/ 0 w 61"/>
                <a:gd name="T35" fmla="*/ 17 h 34"/>
                <a:gd name="T36" fmla="*/ 0 w 61"/>
                <a:gd name="T37" fmla="*/ 20 h 34"/>
                <a:gd name="T38" fmla="*/ 0 w 61"/>
                <a:gd name="T39" fmla="*/ 23 h 34"/>
                <a:gd name="T40" fmla="*/ 0 w 61"/>
                <a:gd name="T41" fmla="*/ 26 h 34"/>
                <a:gd name="T42" fmla="*/ 0 w 61"/>
                <a:gd name="T43" fmla="*/ 28 h 34"/>
                <a:gd name="T44" fmla="*/ 0 w 61"/>
                <a:gd name="T45" fmla="*/ 30 h 34"/>
                <a:gd name="T46" fmla="*/ 0 w 61"/>
                <a:gd name="T47" fmla="*/ 31 h 34"/>
                <a:gd name="T48" fmla="*/ 0 w 61"/>
                <a:gd name="T49" fmla="*/ 32 h 34"/>
                <a:gd name="T50" fmla="*/ 0 w 61"/>
                <a:gd name="T51" fmla="*/ 34 h 34"/>
                <a:gd name="T52" fmla="*/ 0 w 61"/>
                <a:gd name="T53" fmla="*/ 32 h 34"/>
                <a:gd name="T54" fmla="*/ 0 w 61"/>
                <a:gd name="T55" fmla="*/ 31 h 34"/>
                <a:gd name="T56" fmla="*/ 0 w 61"/>
                <a:gd name="T57" fmla="*/ 30 h 34"/>
                <a:gd name="T58" fmla="*/ 0 w 61"/>
                <a:gd name="T59" fmla="*/ 28 h 34"/>
                <a:gd name="T60" fmla="*/ 0 w 61"/>
                <a:gd name="T61" fmla="*/ 26 h 34"/>
                <a:gd name="T62" fmla="*/ 0 w 61"/>
                <a:gd name="T63" fmla="*/ 23 h 34"/>
                <a:gd name="T64" fmla="*/ 0 w 61"/>
                <a:gd name="T65" fmla="*/ 20 h 34"/>
                <a:gd name="T66" fmla="*/ 0 w 61"/>
                <a:gd name="T67" fmla="*/ 17 h 3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1"/>
                <a:gd name="T103" fmla="*/ 0 h 34"/>
                <a:gd name="T104" fmla="*/ 61 w 61"/>
                <a:gd name="T105" fmla="*/ 34 h 3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1" h="34">
                  <a:moveTo>
                    <a:pt x="0" y="17"/>
                  </a:moveTo>
                  <a:lnTo>
                    <a:pt x="0" y="14"/>
                  </a:lnTo>
                  <a:lnTo>
                    <a:pt x="2" y="11"/>
                  </a:lnTo>
                  <a:lnTo>
                    <a:pt x="6" y="8"/>
                  </a:lnTo>
                  <a:lnTo>
                    <a:pt x="10" y="5"/>
                  </a:lnTo>
                  <a:lnTo>
                    <a:pt x="13" y="2"/>
                  </a:lnTo>
                  <a:lnTo>
                    <a:pt x="19" y="1"/>
                  </a:lnTo>
                  <a:lnTo>
                    <a:pt x="25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2" y="1"/>
                  </a:lnTo>
                  <a:lnTo>
                    <a:pt x="47" y="2"/>
                  </a:lnTo>
                  <a:lnTo>
                    <a:pt x="51" y="5"/>
                  </a:lnTo>
                  <a:lnTo>
                    <a:pt x="55" y="8"/>
                  </a:lnTo>
                  <a:lnTo>
                    <a:pt x="59" y="11"/>
                  </a:lnTo>
                  <a:lnTo>
                    <a:pt x="61" y="14"/>
                  </a:lnTo>
                  <a:lnTo>
                    <a:pt x="61" y="17"/>
                  </a:lnTo>
                  <a:lnTo>
                    <a:pt x="61" y="20"/>
                  </a:lnTo>
                  <a:lnTo>
                    <a:pt x="59" y="23"/>
                  </a:lnTo>
                  <a:lnTo>
                    <a:pt x="55" y="26"/>
                  </a:lnTo>
                  <a:lnTo>
                    <a:pt x="51" y="28"/>
                  </a:lnTo>
                  <a:lnTo>
                    <a:pt x="47" y="30"/>
                  </a:lnTo>
                  <a:lnTo>
                    <a:pt x="42" y="31"/>
                  </a:lnTo>
                  <a:lnTo>
                    <a:pt x="36" y="32"/>
                  </a:lnTo>
                  <a:lnTo>
                    <a:pt x="30" y="34"/>
                  </a:lnTo>
                  <a:lnTo>
                    <a:pt x="25" y="32"/>
                  </a:lnTo>
                  <a:lnTo>
                    <a:pt x="19" y="31"/>
                  </a:lnTo>
                  <a:lnTo>
                    <a:pt x="13" y="30"/>
                  </a:lnTo>
                  <a:lnTo>
                    <a:pt x="10" y="28"/>
                  </a:lnTo>
                  <a:lnTo>
                    <a:pt x="6" y="26"/>
                  </a:lnTo>
                  <a:lnTo>
                    <a:pt x="2" y="23"/>
                  </a:lnTo>
                  <a:lnTo>
                    <a:pt x="0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50" name="Freeform 306"/>
            <p:cNvSpPr>
              <a:spLocks/>
            </p:cNvSpPr>
            <p:nvPr/>
          </p:nvSpPr>
          <p:spPr bwMode="auto">
            <a:xfrm>
              <a:off x="3606" y="1153"/>
              <a:ext cx="637" cy="691"/>
            </a:xfrm>
            <a:custGeom>
              <a:avLst/>
              <a:gdLst>
                <a:gd name="T0" fmla="*/ 47 w 1073"/>
                <a:gd name="T1" fmla="*/ 0 h 691"/>
                <a:gd name="T2" fmla="*/ 0 w 1073"/>
                <a:gd name="T3" fmla="*/ 0 h 691"/>
                <a:gd name="T4" fmla="*/ 0 w 1073"/>
                <a:gd name="T5" fmla="*/ 691 h 691"/>
                <a:gd name="T6" fmla="*/ 0 60000 65536"/>
                <a:gd name="T7" fmla="*/ 0 60000 65536"/>
                <a:gd name="T8" fmla="*/ 0 60000 65536"/>
                <a:gd name="T9" fmla="*/ 0 w 1073"/>
                <a:gd name="T10" fmla="*/ 0 h 691"/>
                <a:gd name="T11" fmla="*/ 1073 w 1073"/>
                <a:gd name="T12" fmla="*/ 691 h 6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73" h="691">
                  <a:moveTo>
                    <a:pt x="1073" y="0"/>
                  </a:moveTo>
                  <a:lnTo>
                    <a:pt x="0" y="0"/>
                  </a:lnTo>
                  <a:lnTo>
                    <a:pt x="0" y="69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51" name="Line 307"/>
            <p:cNvSpPr>
              <a:spLocks noChangeShapeType="1"/>
            </p:cNvSpPr>
            <p:nvPr/>
          </p:nvSpPr>
          <p:spPr bwMode="auto">
            <a:xfrm flipH="1">
              <a:off x="3615" y="1715"/>
              <a:ext cx="14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52" name="Line 308"/>
            <p:cNvSpPr>
              <a:spLocks noChangeShapeType="1"/>
            </p:cNvSpPr>
            <p:nvPr/>
          </p:nvSpPr>
          <p:spPr bwMode="auto">
            <a:xfrm flipH="1">
              <a:off x="3983" y="1621"/>
              <a:ext cx="25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53" name="Line 309"/>
            <p:cNvSpPr>
              <a:spLocks noChangeShapeType="1"/>
            </p:cNvSpPr>
            <p:nvPr/>
          </p:nvSpPr>
          <p:spPr bwMode="auto">
            <a:xfrm flipV="1">
              <a:off x="3983" y="1621"/>
              <a:ext cx="1" cy="22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54" name="Line 310"/>
            <p:cNvSpPr>
              <a:spLocks noChangeShapeType="1"/>
            </p:cNvSpPr>
            <p:nvPr/>
          </p:nvSpPr>
          <p:spPr bwMode="auto">
            <a:xfrm flipH="1">
              <a:off x="3983" y="1715"/>
              <a:ext cx="17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55" name="Freeform 311"/>
            <p:cNvSpPr>
              <a:spLocks/>
            </p:cNvSpPr>
            <p:nvPr/>
          </p:nvSpPr>
          <p:spPr bwMode="auto">
            <a:xfrm>
              <a:off x="3600" y="1694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3 h 33"/>
                <a:gd name="T4" fmla="*/ 1 w 60"/>
                <a:gd name="T5" fmla="*/ 10 h 33"/>
                <a:gd name="T6" fmla="*/ 1 w 60"/>
                <a:gd name="T7" fmla="*/ 7 h 33"/>
                <a:gd name="T8" fmla="*/ 1 w 60"/>
                <a:gd name="T9" fmla="*/ 5 h 33"/>
                <a:gd name="T10" fmla="*/ 1 w 60"/>
                <a:gd name="T11" fmla="*/ 3 h 33"/>
                <a:gd name="T12" fmla="*/ 1 w 60"/>
                <a:gd name="T13" fmla="*/ 1 h 33"/>
                <a:gd name="T14" fmla="*/ 1 w 60"/>
                <a:gd name="T15" fmla="*/ 1 h 33"/>
                <a:gd name="T16" fmla="*/ 1 w 60"/>
                <a:gd name="T17" fmla="*/ 0 h 33"/>
                <a:gd name="T18" fmla="*/ 1 w 60"/>
                <a:gd name="T19" fmla="*/ 1 h 33"/>
                <a:gd name="T20" fmla="*/ 1 w 60"/>
                <a:gd name="T21" fmla="*/ 1 h 33"/>
                <a:gd name="T22" fmla="*/ 1 w 60"/>
                <a:gd name="T23" fmla="*/ 3 h 33"/>
                <a:gd name="T24" fmla="*/ 1 w 60"/>
                <a:gd name="T25" fmla="*/ 5 h 33"/>
                <a:gd name="T26" fmla="*/ 1 w 60"/>
                <a:gd name="T27" fmla="*/ 7 h 33"/>
                <a:gd name="T28" fmla="*/ 1 w 60"/>
                <a:gd name="T29" fmla="*/ 10 h 33"/>
                <a:gd name="T30" fmla="*/ 1 w 60"/>
                <a:gd name="T31" fmla="*/ 13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2 h 33"/>
                <a:gd name="T40" fmla="*/ 1 w 60"/>
                <a:gd name="T41" fmla="*/ 26 h 33"/>
                <a:gd name="T42" fmla="*/ 1 w 60"/>
                <a:gd name="T43" fmla="*/ 29 h 33"/>
                <a:gd name="T44" fmla="*/ 1 w 60"/>
                <a:gd name="T45" fmla="*/ 30 h 33"/>
                <a:gd name="T46" fmla="*/ 1 w 60"/>
                <a:gd name="T47" fmla="*/ 32 h 33"/>
                <a:gd name="T48" fmla="*/ 1 w 60"/>
                <a:gd name="T49" fmla="*/ 33 h 33"/>
                <a:gd name="T50" fmla="*/ 1 w 60"/>
                <a:gd name="T51" fmla="*/ 33 h 33"/>
                <a:gd name="T52" fmla="*/ 1 w 60"/>
                <a:gd name="T53" fmla="*/ 33 h 33"/>
                <a:gd name="T54" fmla="*/ 1 w 60"/>
                <a:gd name="T55" fmla="*/ 32 h 33"/>
                <a:gd name="T56" fmla="*/ 1 w 60"/>
                <a:gd name="T57" fmla="*/ 30 h 33"/>
                <a:gd name="T58" fmla="*/ 1 w 60"/>
                <a:gd name="T59" fmla="*/ 29 h 33"/>
                <a:gd name="T60" fmla="*/ 1 w 60"/>
                <a:gd name="T61" fmla="*/ 26 h 33"/>
                <a:gd name="T62" fmla="*/ 1 w 60"/>
                <a:gd name="T63" fmla="*/ 22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3"/>
                  </a:lnTo>
                  <a:lnTo>
                    <a:pt x="2" y="10"/>
                  </a:lnTo>
                  <a:lnTo>
                    <a:pt x="6" y="7"/>
                  </a:lnTo>
                  <a:lnTo>
                    <a:pt x="9" y="5"/>
                  </a:lnTo>
                  <a:lnTo>
                    <a:pt x="13" y="3"/>
                  </a:lnTo>
                  <a:lnTo>
                    <a:pt x="19" y="1"/>
                  </a:lnTo>
                  <a:lnTo>
                    <a:pt x="25" y="1"/>
                  </a:lnTo>
                  <a:lnTo>
                    <a:pt x="30" y="0"/>
                  </a:lnTo>
                  <a:lnTo>
                    <a:pt x="36" y="1"/>
                  </a:lnTo>
                  <a:lnTo>
                    <a:pt x="42" y="1"/>
                  </a:lnTo>
                  <a:lnTo>
                    <a:pt x="47" y="3"/>
                  </a:lnTo>
                  <a:lnTo>
                    <a:pt x="51" y="5"/>
                  </a:lnTo>
                  <a:lnTo>
                    <a:pt x="55" y="7"/>
                  </a:lnTo>
                  <a:lnTo>
                    <a:pt x="58" y="10"/>
                  </a:lnTo>
                  <a:lnTo>
                    <a:pt x="60" y="13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2"/>
                  </a:lnTo>
                  <a:lnTo>
                    <a:pt x="55" y="26"/>
                  </a:lnTo>
                  <a:lnTo>
                    <a:pt x="51" y="29"/>
                  </a:lnTo>
                  <a:lnTo>
                    <a:pt x="47" y="30"/>
                  </a:lnTo>
                  <a:lnTo>
                    <a:pt x="42" y="32"/>
                  </a:lnTo>
                  <a:lnTo>
                    <a:pt x="36" y="33"/>
                  </a:lnTo>
                  <a:lnTo>
                    <a:pt x="30" y="33"/>
                  </a:lnTo>
                  <a:lnTo>
                    <a:pt x="25" y="33"/>
                  </a:lnTo>
                  <a:lnTo>
                    <a:pt x="19" y="32"/>
                  </a:lnTo>
                  <a:lnTo>
                    <a:pt x="13" y="30"/>
                  </a:lnTo>
                  <a:lnTo>
                    <a:pt x="9" y="29"/>
                  </a:lnTo>
                  <a:lnTo>
                    <a:pt x="6" y="26"/>
                  </a:lnTo>
                  <a:lnTo>
                    <a:pt x="2" y="22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56" name="Freeform 312"/>
            <p:cNvSpPr>
              <a:spLocks/>
            </p:cNvSpPr>
            <p:nvPr/>
          </p:nvSpPr>
          <p:spPr bwMode="auto">
            <a:xfrm>
              <a:off x="3968" y="1699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3 h 33"/>
                <a:gd name="T4" fmla="*/ 1 w 60"/>
                <a:gd name="T5" fmla="*/ 10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10 h 33"/>
                <a:gd name="T30" fmla="*/ 1 w 60"/>
                <a:gd name="T31" fmla="*/ 13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3 h 33"/>
                <a:gd name="T40" fmla="*/ 1 w 60"/>
                <a:gd name="T41" fmla="*/ 26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6 h 33"/>
                <a:gd name="T62" fmla="*/ 1 w 60"/>
                <a:gd name="T63" fmla="*/ 23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3"/>
                  </a:lnTo>
                  <a:lnTo>
                    <a:pt x="1" y="10"/>
                  </a:lnTo>
                  <a:lnTo>
                    <a:pt x="5" y="7"/>
                  </a:lnTo>
                  <a:lnTo>
                    <a:pt x="9" y="4"/>
                  </a:lnTo>
                  <a:lnTo>
                    <a:pt x="13" y="2"/>
                  </a:lnTo>
                  <a:lnTo>
                    <a:pt x="18" y="1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5" y="0"/>
                  </a:lnTo>
                  <a:lnTo>
                    <a:pt x="41" y="1"/>
                  </a:lnTo>
                  <a:lnTo>
                    <a:pt x="47" y="2"/>
                  </a:lnTo>
                  <a:lnTo>
                    <a:pt x="50" y="4"/>
                  </a:lnTo>
                  <a:lnTo>
                    <a:pt x="54" y="7"/>
                  </a:lnTo>
                  <a:lnTo>
                    <a:pt x="58" y="10"/>
                  </a:lnTo>
                  <a:lnTo>
                    <a:pt x="60" y="13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3"/>
                  </a:lnTo>
                  <a:lnTo>
                    <a:pt x="54" y="26"/>
                  </a:lnTo>
                  <a:lnTo>
                    <a:pt x="50" y="28"/>
                  </a:lnTo>
                  <a:lnTo>
                    <a:pt x="47" y="30"/>
                  </a:lnTo>
                  <a:lnTo>
                    <a:pt x="41" y="31"/>
                  </a:lnTo>
                  <a:lnTo>
                    <a:pt x="35" y="32"/>
                  </a:lnTo>
                  <a:lnTo>
                    <a:pt x="30" y="33"/>
                  </a:lnTo>
                  <a:lnTo>
                    <a:pt x="24" y="32"/>
                  </a:lnTo>
                  <a:lnTo>
                    <a:pt x="18" y="31"/>
                  </a:lnTo>
                  <a:lnTo>
                    <a:pt x="13" y="30"/>
                  </a:lnTo>
                  <a:lnTo>
                    <a:pt x="9" y="28"/>
                  </a:lnTo>
                  <a:lnTo>
                    <a:pt x="5" y="26"/>
                  </a:lnTo>
                  <a:lnTo>
                    <a:pt x="1" y="23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57" name="Freeform 313"/>
            <p:cNvSpPr>
              <a:spLocks/>
            </p:cNvSpPr>
            <p:nvPr/>
          </p:nvSpPr>
          <p:spPr bwMode="auto">
            <a:xfrm>
              <a:off x="3600" y="2074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2 h 33"/>
                <a:gd name="T4" fmla="*/ 1 w 60"/>
                <a:gd name="T5" fmla="*/ 9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9 h 33"/>
                <a:gd name="T30" fmla="*/ 1 w 60"/>
                <a:gd name="T31" fmla="*/ 12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2 h 33"/>
                <a:gd name="T40" fmla="*/ 1 w 60"/>
                <a:gd name="T41" fmla="*/ 26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6 h 33"/>
                <a:gd name="T62" fmla="*/ 1 w 60"/>
                <a:gd name="T63" fmla="*/ 22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2"/>
                  </a:lnTo>
                  <a:lnTo>
                    <a:pt x="2" y="9"/>
                  </a:lnTo>
                  <a:lnTo>
                    <a:pt x="6" y="7"/>
                  </a:lnTo>
                  <a:lnTo>
                    <a:pt x="9" y="4"/>
                  </a:lnTo>
                  <a:lnTo>
                    <a:pt x="13" y="2"/>
                  </a:lnTo>
                  <a:lnTo>
                    <a:pt x="19" y="1"/>
                  </a:lnTo>
                  <a:lnTo>
                    <a:pt x="25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2" y="1"/>
                  </a:lnTo>
                  <a:lnTo>
                    <a:pt x="47" y="2"/>
                  </a:lnTo>
                  <a:lnTo>
                    <a:pt x="51" y="4"/>
                  </a:lnTo>
                  <a:lnTo>
                    <a:pt x="55" y="7"/>
                  </a:lnTo>
                  <a:lnTo>
                    <a:pt x="58" y="9"/>
                  </a:lnTo>
                  <a:lnTo>
                    <a:pt x="60" y="12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2"/>
                  </a:lnTo>
                  <a:lnTo>
                    <a:pt x="55" y="26"/>
                  </a:lnTo>
                  <a:lnTo>
                    <a:pt x="51" y="28"/>
                  </a:lnTo>
                  <a:lnTo>
                    <a:pt x="47" y="30"/>
                  </a:lnTo>
                  <a:lnTo>
                    <a:pt x="42" y="31"/>
                  </a:lnTo>
                  <a:lnTo>
                    <a:pt x="36" y="32"/>
                  </a:lnTo>
                  <a:lnTo>
                    <a:pt x="30" y="33"/>
                  </a:lnTo>
                  <a:lnTo>
                    <a:pt x="25" y="32"/>
                  </a:lnTo>
                  <a:lnTo>
                    <a:pt x="19" y="31"/>
                  </a:lnTo>
                  <a:lnTo>
                    <a:pt x="13" y="30"/>
                  </a:lnTo>
                  <a:lnTo>
                    <a:pt x="9" y="28"/>
                  </a:lnTo>
                  <a:lnTo>
                    <a:pt x="6" y="26"/>
                  </a:lnTo>
                  <a:lnTo>
                    <a:pt x="2" y="22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58" name="Freeform 314"/>
            <p:cNvSpPr>
              <a:spLocks/>
            </p:cNvSpPr>
            <p:nvPr/>
          </p:nvSpPr>
          <p:spPr bwMode="auto">
            <a:xfrm>
              <a:off x="3749" y="2069"/>
              <a:ext cx="30" cy="34"/>
            </a:xfrm>
            <a:custGeom>
              <a:avLst/>
              <a:gdLst>
                <a:gd name="T0" fmla="*/ 0 w 60"/>
                <a:gd name="T1" fmla="*/ 17 h 34"/>
                <a:gd name="T2" fmla="*/ 1 w 60"/>
                <a:gd name="T3" fmla="*/ 14 h 34"/>
                <a:gd name="T4" fmla="*/ 1 w 60"/>
                <a:gd name="T5" fmla="*/ 11 h 34"/>
                <a:gd name="T6" fmla="*/ 1 w 60"/>
                <a:gd name="T7" fmla="*/ 8 h 34"/>
                <a:gd name="T8" fmla="*/ 1 w 60"/>
                <a:gd name="T9" fmla="*/ 6 h 34"/>
                <a:gd name="T10" fmla="*/ 1 w 60"/>
                <a:gd name="T11" fmla="*/ 4 h 34"/>
                <a:gd name="T12" fmla="*/ 1 w 60"/>
                <a:gd name="T13" fmla="*/ 2 h 34"/>
                <a:gd name="T14" fmla="*/ 1 w 60"/>
                <a:gd name="T15" fmla="*/ 0 h 34"/>
                <a:gd name="T16" fmla="*/ 1 w 60"/>
                <a:gd name="T17" fmla="*/ 0 h 34"/>
                <a:gd name="T18" fmla="*/ 1 w 60"/>
                <a:gd name="T19" fmla="*/ 0 h 34"/>
                <a:gd name="T20" fmla="*/ 1 w 60"/>
                <a:gd name="T21" fmla="*/ 2 h 34"/>
                <a:gd name="T22" fmla="*/ 1 w 60"/>
                <a:gd name="T23" fmla="*/ 4 h 34"/>
                <a:gd name="T24" fmla="*/ 1 w 60"/>
                <a:gd name="T25" fmla="*/ 6 h 34"/>
                <a:gd name="T26" fmla="*/ 1 w 60"/>
                <a:gd name="T27" fmla="*/ 8 h 34"/>
                <a:gd name="T28" fmla="*/ 1 w 60"/>
                <a:gd name="T29" fmla="*/ 11 h 34"/>
                <a:gd name="T30" fmla="*/ 1 w 60"/>
                <a:gd name="T31" fmla="*/ 14 h 34"/>
                <a:gd name="T32" fmla="*/ 1 w 60"/>
                <a:gd name="T33" fmla="*/ 17 h 34"/>
                <a:gd name="T34" fmla="*/ 1 w 60"/>
                <a:gd name="T35" fmla="*/ 17 h 34"/>
                <a:gd name="T36" fmla="*/ 1 w 60"/>
                <a:gd name="T37" fmla="*/ 20 h 34"/>
                <a:gd name="T38" fmla="*/ 1 w 60"/>
                <a:gd name="T39" fmla="*/ 23 h 34"/>
                <a:gd name="T40" fmla="*/ 1 w 60"/>
                <a:gd name="T41" fmla="*/ 26 h 34"/>
                <a:gd name="T42" fmla="*/ 1 w 60"/>
                <a:gd name="T43" fmla="*/ 28 h 34"/>
                <a:gd name="T44" fmla="*/ 1 w 60"/>
                <a:gd name="T45" fmla="*/ 31 h 34"/>
                <a:gd name="T46" fmla="*/ 1 w 60"/>
                <a:gd name="T47" fmla="*/ 33 h 34"/>
                <a:gd name="T48" fmla="*/ 1 w 60"/>
                <a:gd name="T49" fmla="*/ 34 h 34"/>
                <a:gd name="T50" fmla="*/ 1 w 60"/>
                <a:gd name="T51" fmla="*/ 34 h 34"/>
                <a:gd name="T52" fmla="*/ 1 w 60"/>
                <a:gd name="T53" fmla="*/ 34 h 34"/>
                <a:gd name="T54" fmla="*/ 1 w 60"/>
                <a:gd name="T55" fmla="*/ 33 h 34"/>
                <a:gd name="T56" fmla="*/ 1 w 60"/>
                <a:gd name="T57" fmla="*/ 31 h 34"/>
                <a:gd name="T58" fmla="*/ 1 w 60"/>
                <a:gd name="T59" fmla="*/ 28 h 34"/>
                <a:gd name="T60" fmla="*/ 1 w 60"/>
                <a:gd name="T61" fmla="*/ 26 h 34"/>
                <a:gd name="T62" fmla="*/ 1 w 60"/>
                <a:gd name="T63" fmla="*/ 23 h 34"/>
                <a:gd name="T64" fmla="*/ 1 w 60"/>
                <a:gd name="T65" fmla="*/ 20 h 34"/>
                <a:gd name="T66" fmla="*/ 0 w 60"/>
                <a:gd name="T67" fmla="*/ 17 h 3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4"/>
                <a:gd name="T104" fmla="*/ 60 w 60"/>
                <a:gd name="T105" fmla="*/ 34 h 3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4">
                  <a:moveTo>
                    <a:pt x="0" y="17"/>
                  </a:moveTo>
                  <a:lnTo>
                    <a:pt x="2" y="14"/>
                  </a:lnTo>
                  <a:lnTo>
                    <a:pt x="4" y="11"/>
                  </a:lnTo>
                  <a:lnTo>
                    <a:pt x="6" y="8"/>
                  </a:lnTo>
                  <a:lnTo>
                    <a:pt x="9" y="6"/>
                  </a:lnTo>
                  <a:lnTo>
                    <a:pt x="13" y="4"/>
                  </a:lnTo>
                  <a:lnTo>
                    <a:pt x="19" y="2"/>
                  </a:lnTo>
                  <a:lnTo>
                    <a:pt x="25" y="0"/>
                  </a:lnTo>
                  <a:lnTo>
                    <a:pt x="30" y="0"/>
                  </a:lnTo>
                  <a:lnTo>
                    <a:pt x="38" y="0"/>
                  </a:lnTo>
                  <a:lnTo>
                    <a:pt x="43" y="2"/>
                  </a:lnTo>
                  <a:lnTo>
                    <a:pt x="47" y="4"/>
                  </a:lnTo>
                  <a:lnTo>
                    <a:pt x="53" y="6"/>
                  </a:lnTo>
                  <a:lnTo>
                    <a:pt x="57" y="8"/>
                  </a:lnTo>
                  <a:lnTo>
                    <a:pt x="59" y="11"/>
                  </a:lnTo>
                  <a:lnTo>
                    <a:pt x="60" y="14"/>
                  </a:lnTo>
                  <a:lnTo>
                    <a:pt x="60" y="17"/>
                  </a:lnTo>
                  <a:lnTo>
                    <a:pt x="60" y="20"/>
                  </a:lnTo>
                  <a:lnTo>
                    <a:pt x="59" y="23"/>
                  </a:lnTo>
                  <a:lnTo>
                    <a:pt x="57" y="26"/>
                  </a:lnTo>
                  <a:lnTo>
                    <a:pt x="53" y="28"/>
                  </a:lnTo>
                  <a:lnTo>
                    <a:pt x="47" y="31"/>
                  </a:lnTo>
                  <a:lnTo>
                    <a:pt x="43" y="33"/>
                  </a:lnTo>
                  <a:lnTo>
                    <a:pt x="38" y="34"/>
                  </a:lnTo>
                  <a:lnTo>
                    <a:pt x="30" y="34"/>
                  </a:lnTo>
                  <a:lnTo>
                    <a:pt x="25" y="34"/>
                  </a:lnTo>
                  <a:lnTo>
                    <a:pt x="19" y="33"/>
                  </a:lnTo>
                  <a:lnTo>
                    <a:pt x="13" y="31"/>
                  </a:lnTo>
                  <a:lnTo>
                    <a:pt x="9" y="28"/>
                  </a:lnTo>
                  <a:lnTo>
                    <a:pt x="6" y="26"/>
                  </a:lnTo>
                  <a:lnTo>
                    <a:pt x="4" y="23"/>
                  </a:lnTo>
                  <a:lnTo>
                    <a:pt x="2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59" name="Freeform 315"/>
            <p:cNvSpPr>
              <a:spLocks/>
            </p:cNvSpPr>
            <p:nvPr/>
          </p:nvSpPr>
          <p:spPr bwMode="auto">
            <a:xfrm>
              <a:off x="3968" y="2074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2 h 33"/>
                <a:gd name="T4" fmla="*/ 1 w 60"/>
                <a:gd name="T5" fmla="*/ 9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9 h 33"/>
                <a:gd name="T30" fmla="*/ 1 w 60"/>
                <a:gd name="T31" fmla="*/ 12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2 h 33"/>
                <a:gd name="T40" fmla="*/ 1 w 60"/>
                <a:gd name="T41" fmla="*/ 26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6 h 33"/>
                <a:gd name="T62" fmla="*/ 1 w 60"/>
                <a:gd name="T63" fmla="*/ 22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2"/>
                  </a:lnTo>
                  <a:lnTo>
                    <a:pt x="1" y="9"/>
                  </a:lnTo>
                  <a:lnTo>
                    <a:pt x="5" y="7"/>
                  </a:lnTo>
                  <a:lnTo>
                    <a:pt x="9" y="4"/>
                  </a:lnTo>
                  <a:lnTo>
                    <a:pt x="13" y="2"/>
                  </a:lnTo>
                  <a:lnTo>
                    <a:pt x="18" y="1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5" y="0"/>
                  </a:lnTo>
                  <a:lnTo>
                    <a:pt x="41" y="1"/>
                  </a:lnTo>
                  <a:lnTo>
                    <a:pt x="47" y="2"/>
                  </a:lnTo>
                  <a:lnTo>
                    <a:pt x="50" y="4"/>
                  </a:lnTo>
                  <a:lnTo>
                    <a:pt x="54" y="7"/>
                  </a:lnTo>
                  <a:lnTo>
                    <a:pt x="58" y="9"/>
                  </a:lnTo>
                  <a:lnTo>
                    <a:pt x="60" y="12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2"/>
                  </a:lnTo>
                  <a:lnTo>
                    <a:pt x="54" y="26"/>
                  </a:lnTo>
                  <a:lnTo>
                    <a:pt x="50" y="28"/>
                  </a:lnTo>
                  <a:lnTo>
                    <a:pt x="47" y="30"/>
                  </a:lnTo>
                  <a:lnTo>
                    <a:pt x="41" y="31"/>
                  </a:lnTo>
                  <a:lnTo>
                    <a:pt x="35" y="32"/>
                  </a:lnTo>
                  <a:lnTo>
                    <a:pt x="30" y="33"/>
                  </a:lnTo>
                  <a:lnTo>
                    <a:pt x="24" y="32"/>
                  </a:lnTo>
                  <a:lnTo>
                    <a:pt x="18" y="31"/>
                  </a:lnTo>
                  <a:lnTo>
                    <a:pt x="13" y="30"/>
                  </a:lnTo>
                  <a:lnTo>
                    <a:pt x="9" y="28"/>
                  </a:lnTo>
                  <a:lnTo>
                    <a:pt x="5" y="26"/>
                  </a:lnTo>
                  <a:lnTo>
                    <a:pt x="1" y="22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60" name="Line 316"/>
            <p:cNvSpPr>
              <a:spLocks noChangeShapeType="1"/>
            </p:cNvSpPr>
            <p:nvPr/>
          </p:nvSpPr>
          <p:spPr bwMode="auto">
            <a:xfrm flipH="1" flipV="1">
              <a:off x="4364" y="1621"/>
              <a:ext cx="7" cy="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61" name="Line 317"/>
            <p:cNvSpPr>
              <a:spLocks noChangeShapeType="1"/>
            </p:cNvSpPr>
            <p:nvPr/>
          </p:nvSpPr>
          <p:spPr bwMode="auto">
            <a:xfrm flipH="1" flipV="1">
              <a:off x="4706" y="1059"/>
              <a:ext cx="3" cy="6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62" name="Line 318"/>
            <p:cNvSpPr>
              <a:spLocks noChangeShapeType="1"/>
            </p:cNvSpPr>
            <p:nvPr/>
          </p:nvSpPr>
          <p:spPr bwMode="auto">
            <a:xfrm>
              <a:off x="4706" y="1059"/>
              <a:ext cx="16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63" name="Line 319"/>
            <p:cNvSpPr>
              <a:spLocks noChangeShapeType="1"/>
            </p:cNvSpPr>
            <p:nvPr/>
          </p:nvSpPr>
          <p:spPr bwMode="auto">
            <a:xfrm>
              <a:off x="5353" y="1286"/>
              <a:ext cx="1" cy="5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64" name="Freeform 320"/>
            <p:cNvSpPr>
              <a:spLocks/>
            </p:cNvSpPr>
            <p:nvPr/>
          </p:nvSpPr>
          <p:spPr bwMode="auto">
            <a:xfrm>
              <a:off x="4364" y="1387"/>
              <a:ext cx="985" cy="1"/>
            </a:xfrm>
            <a:custGeom>
              <a:avLst/>
              <a:gdLst>
                <a:gd name="T0" fmla="*/ 0 w 1969"/>
                <a:gd name="T1" fmla="*/ 0 h 1"/>
                <a:gd name="T2" fmla="*/ 31 w 1969"/>
                <a:gd name="T3" fmla="*/ 0 h 1"/>
                <a:gd name="T4" fmla="*/ 31 w 1969"/>
                <a:gd name="T5" fmla="*/ 0 h 1"/>
                <a:gd name="T6" fmla="*/ 0 60000 65536"/>
                <a:gd name="T7" fmla="*/ 0 60000 65536"/>
                <a:gd name="T8" fmla="*/ 0 60000 65536"/>
                <a:gd name="T9" fmla="*/ 0 w 1969"/>
                <a:gd name="T10" fmla="*/ 0 h 1"/>
                <a:gd name="T11" fmla="*/ 1969 w 196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9" h="1">
                  <a:moveTo>
                    <a:pt x="0" y="0"/>
                  </a:moveTo>
                  <a:lnTo>
                    <a:pt x="1969" y="0"/>
                  </a:lnTo>
                  <a:lnTo>
                    <a:pt x="195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65" name="Line 321"/>
            <p:cNvSpPr>
              <a:spLocks noChangeShapeType="1"/>
            </p:cNvSpPr>
            <p:nvPr/>
          </p:nvSpPr>
          <p:spPr bwMode="auto">
            <a:xfrm>
              <a:off x="5353" y="1341"/>
              <a:ext cx="1" cy="4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66" name="Line 322"/>
            <p:cNvSpPr>
              <a:spLocks noChangeShapeType="1"/>
            </p:cNvSpPr>
            <p:nvPr/>
          </p:nvSpPr>
          <p:spPr bwMode="auto">
            <a:xfrm>
              <a:off x="5182" y="1341"/>
              <a:ext cx="1" cy="4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67" name="Freeform 323"/>
            <p:cNvSpPr>
              <a:spLocks/>
            </p:cNvSpPr>
            <p:nvPr/>
          </p:nvSpPr>
          <p:spPr bwMode="auto">
            <a:xfrm>
              <a:off x="5167" y="1371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3 h 33"/>
                <a:gd name="T4" fmla="*/ 1 w 60"/>
                <a:gd name="T5" fmla="*/ 10 h 33"/>
                <a:gd name="T6" fmla="*/ 1 w 60"/>
                <a:gd name="T7" fmla="*/ 7 h 33"/>
                <a:gd name="T8" fmla="*/ 1 w 60"/>
                <a:gd name="T9" fmla="*/ 5 h 33"/>
                <a:gd name="T10" fmla="*/ 1 w 60"/>
                <a:gd name="T11" fmla="*/ 3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3 h 33"/>
                <a:gd name="T24" fmla="*/ 1 w 60"/>
                <a:gd name="T25" fmla="*/ 5 h 33"/>
                <a:gd name="T26" fmla="*/ 1 w 60"/>
                <a:gd name="T27" fmla="*/ 7 h 33"/>
                <a:gd name="T28" fmla="*/ 1 w 60"/>
                <a:gd name="T29" fmla="*/ 10 h 33"/>
                <a:gd name="T30" fmla="*/ 1 w 60"/>
                <a:gd name="T31" fmla="*/ 13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2 h 33"/>
                <a:gd name="T40" fmla="*/ 1 w 60"/>
                <a:gd name="T41" fmla="*/ 25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2 h 33"/>
                <a:gd name="T48" fmla="*/ 1 w 60"/>
                <a:gd name="T49" fmla="*/ 33 h 33"/>
                <a:gd name="T50" fmla="*/ 1 w 60"/>
                <a:gd name="T51" fmla="*/ 33 h 33"/>
                <a:gd name="T52" fmla="*/ 1 w 60"/>
                <a:gd name="T53" fmla="*/ 33 h 33"/>
                <a:gd name="T54" fmla="*/ 1 w 60"/>
                <a:gd name="T55" fmla="*/ 32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5 h 33"/>
                <a:gd name="T62" fmla="*/ 1 w 60"/>
                <a:gd name="T63" fmla="*/ 22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3"/>
                  </a:lnTo>
                  <a:lnTo>
                    <a:pt x="2" y="10"/>
                  </a:lnTo>
                  <a:lnTo>
                    <a:pt x="4" y="7"/>
                  </a:lnTo>
                  <a:lnTo>
                    <a:pt x="7" y="5"/>
                  </a:lnTo>
                  <a:lnTo>
                    <a:pt x="13" y="3"/>
                  </a:lnTo>
                  <a:lnTo>
                    <a:pt x="17" y="1"/>
                  </a:lnTo>
                  <a:lnTo>
                    <a:pt x="22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5" y="3"/>
                  </a:lnTo>
                  <a:lnTo>
                    <a:pt x="51" y="5"/>
                  </a:lnTo>
                  <a:lnTo>
                    <a:pt x="55" y="7"/>
                  </a:lnTo>
                  <a:lnTo>
                    <a:pt x="56" y="10"/>
                  </a:lnTo>
                  <a:lnTo>
                    <a:pt x="58" y="13"/>
                  </a:lnTo>
                  <a:lnTo>
                    <a:pt x="60" y="16"/>
                  </a:lnTo>
                  <a:lnTo>
                    <a:pt x="58" y="19"/>
                  </a:lnTo>
                  <a:lnTo>
                    <a:pt x="56" y="22"/>
                  </a:lnTo>
                  <a:lnTo>
                    <a:pt x="55" y="25"/>
                  </a:lnTo>
                  <a:lnTo>
                    <a:pt x="51" y="28"/>
                  </a:lnTo>
                  <a:lnTo>
                    <a:pt x="45" y="30"/>
                  </a:lnTo>
                  <a:lnTo>
                    <a:pt x="41" y="32"/>
                  </a:lnTo>
                  <a:lnTo>
                    <a:pt x="36" y="33"/>
                  </a:lnTo>
                  <a:lnTo>
                    <a:pt x="30" y="33"/>
                  </a:lnTo>
                  <a:lnTo>
                    <a:pt x="22" y="33"/>
                  </a:lnTo>
                  <a:lnTo>
                    <a:pt x="17" y="32"/>
                  </a:lnTo>
                  <a:lnTo>
                    <a:pt x="13" y="30"/>
                  </a:lnTo>
                  <a:lnTo>
                    <a:pt x="7" y="28"/>
                  </a:lnTo>
                  <a:lnTo>
                    <a:pt x="4" y="25"/>
                  </a:lnTo>
                  <a:lnTo>
                    <a:pt x="2" y="22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68" name="Line 324"/>
            <p:cNvSpPr>
              <a:spLocks noChangeShapeType="1"/>
            </p:cNvSpPr>
            <p:nvPr/>
          </p:nvSpPr>
          <p:spPr bwMode="auto">
            <a:xfrm>
              <a:off x="3379" y="1467"/>
              <a:ext cx="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69" name="Line 325"/>
            <p:cNvSpPr>
              <a:spLocks noChangeShapeType="1"/>
            </p:cNvSpPr>
            <p:nvPr/>
          </p:nvSpPr>
          <p:spPr bwMode="auto">
            <a:xfrm>
              <a:off x="3379" y="1512"/>
              <a:ext cx="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70" name="Freeform 326"/>
            <p:cNvSpPr>
              <a:spLocks/>
            </p:cNvSpPr>
            <p:nvPr/>
          </p:nvSpPr>
          <p:spPr bwMode="auto">
            <a:xfrm>
              <a:off x="4691" y="1042"/>
              <a:ext cx="30" cy="33"/>
            </a:xfrm>
            <a:custGeom>
              <a:avLst/>
              <a:gdLst>
                <a:gd name="T0" fmla="*/ 0 w 61"/>
                <a:gd name="T1" fmla="*/ 17 h 33"/>
                <a:gd name="T2" fmla="*/ 0 w 61"/>
                <a:gd name="T3" fmla="*/ 14 h 33"/>
                <a:gd name="T4" fmla="*/ 0 w 61"/>
                <a:gd name="T5" fmla="*/ 11 h 33"/>
                <a:gd name="T6" fmla="*/ 0 w 61"/>
                <a:gd name="T7" fmla="*/ 8 h 33"/>
                <a:gd name="T8" fmla="*/ 0 w 61"/>
                <a:gd name="T9" fmla="*/ 5 h 33"/>
                <a:gd name="T10" fmla="*/ 0 w 61"/>
                <a:gd name="T11" fmla="*/ 3 h 33"/>
                <a:gd name="T12" fmla="*/ 0 w 61"/>
                <a:gd name="T13" fmla="*/ 1 h 33"/>
                <a:gd name="T14" fmla="*/ 0 w 61"/>
                <a:gd name="T15" fmla="*/ 0 h 33"/>
                <a:gd name="T16" fmla="*/ 0 w 61"/>
                <a:gd name="T17" fmla="*/ 0 h 33"/>
                <a:gd name="T18" fmla="*/ 0 w 61"/>
                <a:gd name="T19" fmla="*/ 0 h 33"/>
                <a:gd name="T20" fmla="*/ 0 w 61"/>
                <a:gd name="T21" fmla="*/ 1 h 33"/>
                <a:gd name="T22" fmla="*/ 0 w 61"/>
                <a:gd name="T23" fmla="*/ 3 h 33"/>
                <a:gd name="T24" fmla="*/ 0 w 61"/>
                <a:gd name="T25" fmla="*/ 5 h 33"/>
                <a:gd name="T26" fmla="*/ 0 w 61"/>
                <a:gd name="T27" fmla="*/ 8 h 33"/>
                <a:gd name="T28" fmla="*/ 0 w 61"/>
                <a:gd name="T29" fmla="*/ 11 h 33"/>
                <a:gd name="T30" fmla="*/ 0 w 61"/>
                <a:gd name="T31" fmla="*/ 14 h 33"/>
                <a:gd name="T32" fmla="*/ 0 w 61"/>
                <a:gd name="T33" fmla="*/ 17 h 33"/>
                <a:gd name="T34" fmla="*/ 0 w 61"/>
                <a:gd name="T35" fmla="*/ 17 h 33"/>
                <a:gd name="T36" fmla="*/ 0 w 61"/>
                <a:gd name="T37" fmla="*/ 20 h 33"/>
                <a:gd name="T38" fmla="*/ 0 w 61"/>
                <a:gd name="T39" fmla="*/ 23 h 33"/>
                <a:gd name="T40" fmla="*/ 0 w 61"/>
                <a:gd name="T41" fmla="*/ 26 h 33"/>
                <a:gd name="T42" fmla="*/ 0 w 61"/>
                <a:gd name="T43" fmla="*/ 28 h 33"/>
                <a:gd name="T44" fmla="*/ 0 w 61"/>
                <a:gd name="T45" fmla="*/ 30 h 33"/>
                <a:gd name="T46" fmla="*/ 0 w 61"/>
                <a:gd name="T47" fmla="*/ 32 h 33"/>
                <a:gd name="T48" fmla="*/ 0 w 61"/>
                <a:gd name="T49" fmla="*/ 33 h 33"/>
                <a:gd name="T50" fmla="*/ 0 w 61"/>
                <a:gd name="T51" fmla="*/ 33 h 33"/>
                <a:gd name="T52" fmla="*/ 0 w 61"/>
                <a:gd name="T53" fmla="*/ 33 h 33"/>
                <a:gd name="T54" fmla="*/ 0 w 61"/>
                <a:gd name="T55" fmla="*/ 32 h 33"/>
                <a:gd name="T56" fmla="*/ 0 w 61"/>
                <a:gd name="T57" fmla="*/ 30 h 33"/>
                <a:gd name="T58" fmla="*/ 0 w 61"/>
                <a:gd name="T59" fmla="*/ 28 h 33"/>
                <a:gd name="T60" fmla="*/ 0 w 61"/>
                <a:gd name="T61" fmla="*/ 26 h 33"/>
                <a:gd name="T62" fmla="*/ 0 w 61"/>
                <a:gd name="T63" fmla="*/ 23 h 33"/>
                <a:gd name="T64" fmla="*/ 0 w 61"/>
                <a:gd name="T65" fmla="*/ 20 h 33"/>
                <a:gd name="T66" fmla="*/ 0 w 61"/>
                <a:gd name="T67" fmla="*/ 17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1"/>
                <a:gd name="T103" fmla="*/ 0 h 33"/>
                <a:gd name="T104" fmla="*/ 61 w 61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1" h="33">
                  <a:moveTo>
                    <a:pt x="0" y="17"/>
                  </a:moveTo>
                  <a:lnTo>
                    <a:pt x="2" y="14"/>
                  </a:lnTo>
                  <a:lnTo>
                    <a:pt x="4" y="11"/>
                  </a:lnTo>
                  <a:lnTo>
                    <a:pt x="6" y="8"/>
                  </a:lnTo>
                  <a:lnTo>
                    <a:pt x="10" y="5"/>
                  </a:lnTo>
                  <a:lnTo>
                    <a:pt x="14" y="3"/>
                  </a:lnTo>
                  <a:lnTo>
                    <a:pt x="19" y="1"/>
                  </a:lnTo>
                  <a:lnTo>
                    <a:pt x="25" y="0"/>
                  </a:lnTo>
                  <a:lnTo>
                    <a:pt x="31" y="0"/>
                  </a:lnTo>
                  <a:lnTo>
                    <a:pt x="38" y="0"/>
                  </a:lnTo>
                  <a:lnTo>
                    <a:pt x="44" y="1"/>
                  </a:lnTo>
                  <a:lnTo>
                    <a:pt x="48" y="3"/>
                  </a:lnTo>
                  <a:lnTo>
                    <a:pt x="53" y="5"/>
                  </a:lnTo>
                  <a:lnTo>
                    <a:pt x="57" y="8"/>
                  </a:lnTo>
                  <a:lnTo>
                    <a:pt x="59" y="11"/>
                  </a:lnTo>
                  <a:lnTo>
                    <a:pt x="61" y="14"/>
                  </a:lnTo>
                  <a:lnTo>
                    <a:pt x="61" y="17"/>
                  </a:lnTo>
                  <a:lnTo>
                    <a:pt x="61" y="20"/>
                  </a:lnTo>
                  <a:lnTo>
                    <a:pt x="59" y="23"/>
                  </a:lnTo>
                  <a:lnTo>
                    <a:pt x="57" y="26"/>
                  </a:lnTo>
                  <a:lnTo>
                    <a:pt x="53" y="28"/>
                  </a:lnTo>
                  <a:lnTo>
                    <a:pt x="48" y="30"/>
                  </a:lnTo>
                  <a:lnTo>
                    <a:pt x="44" y="32"/>
                  </a:lnTo>
                  <a:lnTo>
                    <a:pt x="38" y="33"/>
                  </a:lnTo>
                  <a:lnTo>
                    <a:pt x="31" y="33"/>
                  </a:lnTo>
                  <a:lnTo>
                    <a:pt x="25" y="33"/>
                  </a:lnTo>
                  <a:lnTo>
                    <a:pt x="19" y="32"/>
                  </a:lnTo>
                  <a:lnTo>
                    <a:pt x="14" y="30"/>
                  </a:lnTo>
                  <a:lnTo>
                    <a:pt x="10" y="28"/>
                  </a:lnTo>
                  <a:lnTo>
                    <a:pt x="6" y="26"/>
                  </a:lnTo>
                  <a:lnTo>
                    <a:pt x="4" y="23"/>
                  </a:lnTo>
                  <a:lnTo>
                    <a:pt x="2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71" name="Rectangle 327"/>
            <p:cNvSpPr>
              <a:spLocks noChangeArrowheads="1"/>
            </p:cNvSpPr>
            <p:nvPr/>
          </p:nvSpPr>
          <p:spPr bwMode="auto">
            <a:xfrm>
              <a:off x="3432" y="1716"/>
              <a:ext cx="148" cy="21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95372" name="Freeform 328"/>
            <p:cNvSpPr>
              <a:spLocks/>
            </p:cNvSpPr>
            <p:nvPr/>
          </p:nvSpPr>
          <p:spPr bwMode="auto">
            <a:xfrm>
              <a:off x="4968" y="973"/>
              <a:ext cx="53" cy="16"/>
            </a:xfrm>
            <a:custGeom>
              <a:avLst/>
              <a:gdLst>
                <a:gd name="T0" fmla="*/ 2 w 106"/>
                <a:gd name="T1" fmla="*/ 8 h 16"/>
                <a:gd name="T2" fmla="*/ 0 w 106"/>
                <a:gd name="T3" fmla="*/ 0 h 16"/>
                <a:gd name="T4" fmla="*/ 0 w 106"/>
                <a:gd name="T5" fmla="*/ 16 h 16"/>
                <a:gd name="T6" fmla="*/ 2 w 106"/>
                <a:gd name="T7" fmla="*/ 8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"/>
                <a:gd name="T13" fmla="*/ 0 h 16"/>
                <a:gd name="T14" fmla="*/ 106 w 106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" h="16">
                  <a:moveTo>
                    <a:pt x="106" y="8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106" y="8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73" name="Freeform 329"/>
            <p:cNvSpPr>
              <a:spLocks/>
            </p:cNvSpPr>
            <p:nvPr/>
          </p:nvSpPr>
          <p:spPr bwMode="auto">
            <a:xfrm>
              <a:off x="4968" y="973"/>
              <a:ext cx="53" cy="16"/>
            </a:xfrm>
            <a:custGeom>
              <a:avLst/>
              <a:gdLst>
                <a:gd name="T0" fmla="*/ 2 w 106"/>
                <a:gd name="T1" fmla="*/ 8 h 16"/>
                <a:gd name="T2" fmla="*/ 0 w 106"/>
                <a:gd name="T3" fmla="*/ 0 h 16"/>
                <a:gd name="T4" fmla="*/ 0 w 106"/>
                <a:gd name="T5" fmla="*/ 16 h 16"/>
                <a:gd name="T6" fmla="*/ 2 w 106"/>
                <a:gd name="T7" fmla="*/ 8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"/>
                <a:gd name="T13" fmla="*/ 0 h 16"/>
                <a:gd name="T14" fmla="*/ 106 w 106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" h="16">
                  <a:moveTo>
                    <a:pt x="106" y="8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106" y="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74" name="Line 330"/>
            <p:cNvSpPr>
              <a:spLocks noChangeShapeType="1"/>
            </p:cNvSpPr>
            <p:nvPr/>
          </p:nvSpPr>
          <p:spPr bwMode="auto">
            <a:xfrm flipH="1">
              <a:off x="4899" y="981"/>
              <a:ext cx="6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75" name="Freeform 331"/>
            <p:cNvSpPr>
              <a:spLocks/>
            </p:cNvSpPr>
            <p:nvPr/>
          </p:nvSpPr>
          <p:spPr bwMode="auto">
            <a:xfrm>
              <a:off x="5266" y="989"/>
              <a:ext cx="54" cy="17"/>
            </a:xfrm>
            <a:custGeom>
              <a:avLst/>
              <a:gdLst>
                <a:gd name="T0" fmla="*/ 2 w 107"/>
                <a:gd name="T1" fmla="*/ 9 h 17"/>
                <a:gd name="T2" fmla="*/ 0 w 107"/>
                <a:gd name="T3" fmla="*/ 0 h 17"/>
                <a:gd name="T4" fmla="*/ 0 w 107"/>
                <a:gd name="T5" fmla="*/ 17 h 17"/>
                <a:gd name="T6" fmla="*/ 2 w 107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7"/>
                <a:gd name="T13" fmla="*/ 0 h 17"/>
                <a:gd name="T14" fmla="*/ 107 w 107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7" h="17">
                  <a:moveTo>
                    <a:pt x="107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7" y="9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76" name="Freeform 332"/>
            <p:cNvSpPr>
              <a:spLocks/>
            </p:cNvSpPr>
            <p:nvPr/>
          </p:nvSpPr>
          <p:spPr bwMode="auto">
            <a:xfrm>
              <a:off x="5266" y="989"/>
              <a:ext cx="54" cy="17"/>
            </a:xfrm>
            <a:custGeom>
              <a:avLst/>
              <a:gdLst>
                <a:gd name="T0" fmla="*/ 2 w 107"/>
                <a:gd name="T1" fmla="*/ 9 h 17"/>
                <a:gd name="T2" fmla="*/ 0 w 107"/>
                <a:gd name="T3" fmla="*/ 0 h 17"/>
                <a:gd name="T4" fmla="*/ 0 w 107"/>
                <a:gd name="T5" fmla="*/ 17 h 17"/>
                <a:gd name="T6" fmla="*/ 2 w 107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7"/>
                <a:gd name="T13" fmla="*/ 0 h 17"/>
                <a:gd name="T14" fmla="*/ 107 w 107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7" h="17">
                  <a:moveTo>
                    <a:pt x="107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7" y="9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77" name="Line 333"/>
            <p:cNvSpPr>
              <a:spLocks noChangeShapeType="1"/>
            </p:cNvSpPr>
            <p:nvPr/>
          </p:nvSpPr>
          <p:spPr bwMode="auto">
            <a:xfrm flipH="1">
              <a:off x="5198" y="998"/>
              <a:ext cx="6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78" name="Rectangle 334"/>
            <p:cNvSpPr>
              <a:spLocks noChangeArrowheads="1"/>
            </p:cNvSpPr>
            <p:nvPr/>
          </p:nvSpPr>
          <p:spPr bwMode="auto">
            <a:xfrm>
              <a:off x="4959" y="896"/>
              <a:ext cx="40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 i="1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  <a:endParaRPr lang="en-US" altLang="zh-CN"/>
            </a:p>
          </p:txBody>
        </p:sp>
        <p:sp>
          <p:nvSpPr>
            <p:cNvPr id="95379" name="Rectangle 335"/>
            <p:cNvSpPr>
              <a:spLocks noChangeArrowheads="1"/>
            </p:cNvSpPr>
            <p:nvPr/>
          </p:nvSpPr>
          <p:spPr bwMode="auto">
            <a:xfrm>
              <a:off x="5237" y="876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宋体" pitchFamily="2" charset="-122"/>
                </a:rPr>
                <a:t>I</a:t>
              </a:r>
              <a:endParaRPr lang="en-US" altLang="zh-CN"/>
            </a:p>
          </p:txBody>
        </p:sp>
        <p:sp>
          <p:nvSpPr>
            <p:cNvPr id="95380" name="Rectangle 336"/>
            <p:cNvSpPr>
              <a:spLocks noChangeArrowheads="1"/>
            </p:cNvSpPr>
            <p:nvPr/>
          </p:nvSpPr>
          <p:spPr bwMode="auto">
            <a:xfrm>
              <a:off x="5278" y="915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宋体" pitchFamily="2" charset="-122"/>
                </a:rPr>
                <a:t>o</a:t>
              </a:r>
              <a:endParaRPr lang="en-US" altLang="zh-CN"/>
            </a:p>
          </p:txBody>
        </p:sp>
        <p:sp>
          <p:nvSpPr>
            <p:cNvPr id="95381" name="Freeform 337"/>
            <p:cNvSpPr>
              <a:spLocks/>
            </p:cNvSpPr>
            <p:nvPr/>
          </p:nvSpPr>
          <p:spPr bwMode="auto">
            <a:xfrm>
              <a:off x="3723" y="1854"/>
              <a:ext cx="84" cy="93"/>
            </a:xfrm>
            <a:custGeom>
              <a:avLst/>
              <a:gdLst>
                <a:gd name="T0" fmla="*/ 0 w 168"/>
                <a:gd name="T1" fmla="*/ 93 h 93"/>
                <a:gd name="T2" fmla="*/ 2 w 168"/>
                <a:gd name="T3" fmla="*/ 0 h 93"/>
                <a:gd name="T4" fmla="*/ 3 w 168"/>
                <a:gd name="T5" fmla="*/ 93 h 93"/>
                <a:gd name="T6" fmla="*/ 0 w 168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3"/>
                <a:gd name="T14" fmla="*/ 168 w 16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3">
                  <a:moveTo>
                    <a:pt x="0" y="93"/>
                  </a:moveTo>
                  <a:lnTo>
                    <a:pt x="83" y="0"/>
                  </a:lnTo>
                  <a:lnTo>
                    <a:pt x="168" y="93"/>
                  </a:lnTo>
                  <a:lnTo>
                    <a:pt x="0" y="9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82" name="Line 338"/>
            <p:cNvSpPr>
              <a:spLocks noChangeShapeType="1"/>
            </p:cNvSpPr>
            <p:nvPr/>
          </p:nvSpPr>
          <p:spPr bwMode="auto">
            <a:xfrm flipH="1">
              <a:off x="3723" y="1854"/>
              <a:ext cx="8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83" name="Freeform 339"/>
            <p:cNvSpPr>
              <a:spLocks/>
            </p:cNvSpPr>
            <p:nvPr/>
          </p:nvSpPr>
          <p:spPr bwMode="auto">
            <a:xfrm>
              <a:off x="3723" y="1854"/>
              <a:ext cx="84" cy="93"/>
            </a:xfrm>
            <a:custGeom>
              <a:avLst/>
              <a:gdLst>
                <a:gd name="T0" fmla="*/ 0 w 168"/>
                <a:gd name="T1" fmla="*/ 93 h 93"/>
                <a:gd name="T2" fmla="*/ 2 w 168"/>
                <a:gd name="T3" fmla="*/ 0 h 93"/>
                <a:gd name="T4" fmla="*/ 3 w 168"/>
                <a:gd name="T5" fmla="*/ 93 h 93"/>
                <a:gd name="T6" fmla="*/ 0 w 168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3"/>
                <a:gd name="T14" fmla="*/ 168 w 16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3">
                  <a:moveTo>
                    <a:pt x="0" y="93"/>
                  </a:moveTo>
                  <a:lnTo>
                    <a:pt x="83" y="0"/>
                  </a:lnTo>
                  <a:lnTo>
                    <a:pt x="168" y="93"/>
                  </a:lnTo>
                  <a:lnTo>
                    <a:pt x="0" y="9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84" name="Line 340"/>
            <p:cNvSpPr>
              <a:spLocks noChangeShapeType="1"/>
            </p:cNvSpPr>
            <p:nvPr/>
          </p:nvSpPr>
          <p:spPr bwMode="auto">
            <a:xfrm flipV="1">
              <a:off x="3764" y="1715"/>
              <a:ext cx="1" cy="37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85" name="Freeform 341"/>
            <p:cNvSpPr>
              <a:spLocks/>
            </p:cNvSpPr>
            <p:nvPr/>
          </p:nvSpPr>
          <p:spPr bwMode="auto">
            <a:xfrm>
              <a:off x="3723" y="1854"/>
              <a:ext cx="84" cy="93"/>
            </a:xfrm>
            <a:custGeom>
              <a:avLst/>
              <a:gdLst>
                <a:gd name="T0" fmla="*/ 2 w 168"/>
                <a:gd name="T1" fmla="*/ 0 h 93"/>
                <a:gd name="T2" fmla="*/ 0 w 168"/>
                <a:gd name="T3" fmla="*/ 93 h 93"/>
                <a:gd name="T4" fmla="*/ 3 w 168"/>
                <a:gd name="T5" fmla="*/ 93 h 93"/>
                <a:gd name="T6" fmla="*/ 2 w 16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3"/>
                <a:gd name="T14" fmla="*/ 168 w 16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3">
                  <a:moveTo>
                    <a:pt x="83" y="0"/>
                  </a:moveTo>
                  <a:lnTo>
                    <a:pt x="0" y="93"/>
                  </a:lnTo>
                  <a:lnTo>
                    <a:pt x="168" y="93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86" name="Freeform 342"/>
            <p:cNvSpPr>
              <a:spLocks/>
            </p:cNvSpPr>
            <p:nvPr/>
          </p:nvSpPr>
          <p:spPr bwMode="auto">
            <a:xfrm>
              <a:off x="3723" y="1854"/>
              <a:ext cx="84" cy="93"/>
            </a:xfrm>
            <a:custGeom>
              <a:avLst/>
              <a:gdLst>
                <a:gd name="T0" fmla="*/ 2 w 168"/>
                <a:gd name="T1" fmla="*/ 0 h 93"/>
                <a:gd name="T2" fmla="*/ 0 w 168"/>
                <a:gd name="T3" fmla="*/ 93 h 93"/>
                <a:gd name="T4" fmla="*/ 3 w 168"/>
                <a:gd name="T5" fmla="*/ 93 h 93"/>
                <a:gd name="T6" fmla="*/ 2 w 16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3"/>
                <a:gd name="T14" fmla="*/ 168 w 16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3">
                  <a:moveTo>
                    <a:pt x="83" y="0"/>
                  </a:moveTo>
                  <a:lnTo>
                    <a:pt x="0" y="93"/>
                  </a:lnTo>
                  <a:lnTo>
                    <a:pt x="168" y="93"/>
                  </a:lnTo>
                  <a:lnTo>
                    <a:pt x="83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87" name="Line 343"/>
            <p:cNvSpPr>
              <a:spLocks noChangeShapeType="1"/>
            </p:cNvSpPr>
            <p:nvPr/>
          </p:nvSpPr>
          <p:spPr bwMode="auto">
            <a:xfrm flipV="1">
              <a:off x="3764" y="1854"/>
              <a:ext cx="1" cy="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88" name="Line 344"/>
            <p:cNvSpPr>
              <a:spLocks noChangeShapeType="1"/>
            </p:cNvSpPr>
            <p:nvPr/>
          </p:nvSpPr>
          <p:spPr bwMode="auto">
            <a:xfrm flipH="1">
              <a:off x="3723" y="1854"/>
              <a:ext cx="8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89" name="Freeform 345"/>
            <p:cNvSpPr>
              <a:spLocks/>
            </p:cNvSpPr>
            <p:nvPr/>
          </p:nvSpPr>
          <p:spPr bwMode="auto">
            <a:xfrm>
              <a:off x="4112" y="1855"/>
              <a:ext cx="85" cy="92"/>
            </a:xfrm>
            <a:custGeom>
              <a:avLst/>
              <a:gdLst>
                <a:gd name="T0" fmla="*/ 0 w 170"/>
                <a:gd name="T1" fmla="*/ 92 h 92"/>
                <a:gd name="T2" fmla="*/ 2 w 170"/>
                <a:gd name="T3" fmla="*/ 0 h 92"/>
                <a:gd name="T4" fmla="*/ 3 w 170"/>
                <a:gd name="T5" fmla="*/ 92 h 92"/>
                <a:gd name="T6" fmla="*/ 0 w 170"/>
                <a:gd name="T7" fmla="*/ 92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92"/>
                <a:gd name="T14" fmla="*/ 170 w 170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92">
                  <a:moveTo>
                    <a:pt x="0" y="92"/>
                  </a:moveTo>
                  <a:lnTo>
                    <a:pt x="85" y="0"/>
                  </a:lnTo>
                  <a:lnTo>
                    <a:pt x="170" y="92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90" name="Line 346"/>
            <p:cNvSpPr>
              <a:spLocks noChangeShapeType="1"/>
            </p:cNvSpPr>
            <p:nvPr/>
          </p:nvSpPr>
          <p:spPr bwMode="auto">
            <a:xfrm flipH="1">
              <a:off x="4112" y="1855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91" name="Freeform 347"/>
            <p:cNvSpPr>
              <a:spLocks/>
            </p:cNvSpPr>
            <p:nvPr/>
          </p:nvSpPr>
          <p:spPr bwMode="auto">
            <a:xfrm>
              <a:off x="4112" y="1855"/>
              <a:ext cx="85" cy="92"/>
            </a:xfrm>
            <a:custGeom>
              <a:avLst/>
              <a:gdLst>
                <a:gd name="T0" fmla="*/ 0 w 170"/>
                <a:gd name="T1" fmla="*/ 92 h 92"/>
                <a:gd name="T2" fmla="*/ 2 w 170"/>
                <a:gd name="T3" fmla="*/ 0 h 92"/>
                <a:gd name="T4" fmla="*/ 3 w 170"/>
                <a:gd name="T5" fmla="*/ 92 h 92"/>
                <a:gd name="T6" fmla="*/ 0 w 170"/>
                <a:gd name="T7" fmla="*/ 92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92"/>
                <a:gd name="T14" fmla="*/ 170 w 170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92">
                  <a:moveTo>
                    <a:pt x="0" y="92"/>
                  </a:moveTo>
                  <a:lnTo>
                    <a:pt x="85" y="0"/>
                  </a:lnTo>
                  <a:lnTo>
                    <a:pt x="170" y="92"/>
                  </a:lnTo>
                  <a:lnTo>
                    <a:pt x="0" y="9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92" name="Freeform 348"/>
            <p:cNvSpPr>
              <a:spLocks/>
            </p:cNvSpPr>
            <p:nvPr/>
          </p:nvSpPr>
          <p:spPr bwMode="auto">
            <a:xfrm>
              <a:off x="4112" y="1855"/>
              <a:ext cx="85" cy="92"/>
            </a:xfrm>
            <a:custGeom>
              <a:avLst/>
              <a:gdLst>
                <a:gd name="T0" fmla="*/ 2 w 170"/>
                <a:gd name="T1" fmla="*/ 0 h 92"/>
                <a:gd name="T2" fmla="*/ 0 w 170"/>
                <a:gd name="T3" fmla="*/ 92 h 92"/>
                <a:gd name="T4" fmla="*/ 3 w 170"/>
                <a:gd name="T5" fmla="*/ 92 h 92"/>
                <a:gd name="T6" fmla="*/ 2 w 170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92"/>
                <a:gd name="T14" fmla="*/ 170 w 170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92">
                  <a:moveTo>
                    <a:pt x="85" y="0"/>
                  </a:moveTo>
                  <a:lnTo>
                    <a:pt x="0" y="92"/>
                  </a:lnTo>
                  <a:lnTo>
                    <a:pt x="170" y="92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93" name="Freeform 349"/>
            <p:cNvSpPr>
              <a:spLocks/>
            </p:cNvSpPr>
            <p:nvPr/>
          </p:nvSpPr>
          <p:spPr bwMode="auto">
            <a:xfrm>
              <a:off x="4112" y="1855"/>
              <a:ext cx="85" cy="92"/>
            </a:xfrm>
            <a:custGeom>
              <a:avLst/>
              <a:gdLst>
                <a:gd name="T0" fmla="*/ 2 w 170"/>
                <a:gd name="T1" fmla="*/ 0 h 92"/>
                <a:gd name="T2" fmla="*/ 0 w 170"/>
                <a:gd name="T3" fmla="*/ 92 h 92"/>
                <a:gd name="T4" fmla="*/ 3 w 170"/>
                <a:gd name="T5" fmla="*/ 92 h 92"/>
                <a:gd name="T6" fmla="*/ 2 w 170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92"/>
                <a:gd name="T14" fmla="*/ 170 w 170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92">
                  <a:moveTo>
                    <a:pt x="85" y="0"/>
                  </a:moveTo>
                  <a:lnTo>
                    <a:pt x="0" y="92"/>
                  </a:lnTo>
                  <a:lnTo>
                    <a:pt x="170" y="92"/>
                  </a:lnTo>
                  <a:lnTo>
                    <a:pt x="85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94" name="Line 350"/>
            <p:cNvSpPr>
              <a:spLocks noChangeShapeType="1"/>
            </p:cNvSpPr>
            <p:nvPr/>
          </p:nvSpPr>
          <p:spPr bwMode="auto">
            <a:xfrm flipV="1">
              <a:off x="4154" y="1855"/>
              <a:ext cx="1" cy="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95" name="Line 351"/>
            <p:cNvSpPr>
              <a:spLocks noChangeShapeType="1"/>
            </p:cNvSpPr>
            <p:nvPr/>
          </p:nvSpPr>
          <p:spPr bwMode="auto">
            <a:xfrm flipH="1">
              <a:off x="4112" y="1855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96" name="Freeform 352"/>
            <p:cNvSpPr>
              <a:spLocks/>
            </p:cNvSpPr>
            <p:nvPr/>
          </p:nvSpPr>
          <p:spPr bwMode="auto">
            <a:xfrm>
              <a:off x="4497" y="1669"/>
              <a:ext cx="85" cy="93"/>
            </a:xfrm>
            <a:custGeom>
              <a:avLst/>
              <a:gdLst>
                <a:gd name="T0" fmla="*/ 0 w 169"/>
                <a:gd name="T1" fmla="*/ 0 h 93"/>
                <a:gd name="T2" fmla="*/ 3 w 169"/>
                <a:gd name="T3" fmla="*/ 46 h 93"/>
                <a:gd name="T4" fmla="*/ 0 w 169"/>
                <a:gd name="T5" fmla="*/ 93 h 93"/>
                <a:gd name="T6" fmla="*/ 0 w 169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93"/>
                <a:gd name="T14" fmla="*/ 169 w 16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93">
                  <a:moveTo>
                    <a:pt x="0" y="0"/>
                  </a:moveTo>
                  <a:lnTo>
                    <a:pt x="169" y="46"/>
                  </a:lnTo>
                  <a:lnTo>
                    <a:pt x="0" y="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97" name="Line 353"/>
            <p:cNvSpPr>
              <a:spLocks noChangeShapeType="1"/>
            </p:cNvSpPr>
            <p:nvPr/>
          </p:nvSpPr>
          <p:spPr bwMode="auto">
            <a:xfrm flipV="1">
              <a:off x="4582" y="1669"/>
              <a:ext cx="1" cy="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98" name="Freeform 354"/>
            <p:cNvSpPr>
              <a:spLocks/>
            </p:cNvSpPr>
            <p:nvPr/>
          </p:nvSpPr>
          <p:spPr bwMode="auto">
            <a:xfrm>
              <a:off x="4497" y="1669"/>
              <a:ext cx="85" cy="93"/>
            </a:xfrm>
            <a:custGeom>
              <a:avLst/>
              <a:gdLst>
                <a:gd name="T0" fmla="*/ 0 w 169"/>
                <a:gd name="T1" fmla="*/ 0 h 93"/>
                <a:gd name="T2" fmla="*/ 3 w 169"/>
                <a:gd name="T3" fmla="*/ 46 h 93"/>
                <a:gd name="T4" fmla="*/ 0 w 169"/>
                <a:gd name="T5" fmla="*/ 93 h 93"/>
                <a:gd name="T6" fmla="*/ 0 w 169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93"/>
                <a:gd name="T14" fmla="*/ 169 w 16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93">
                  <a:moveTo>
                    <a:pt x="0" y="0"/>
                  </a:moveTo>
                  <a:lnTo>
                    <a:pt x="169" y="46"/>
                  </a:lnTo>
                  <a:lnTo>
                    <a:pt x="0" y="93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99" name="Line 355"/>
            <p:cNvSpPr>
              <a:spLocks noChangeShapeType="1"/>
            </p:cNvSpPr>
            <p:nvPr/>
          </p:nvSpPr>
          <p:spPr bwMode="auto">
            <a:xfrm>
              <a:off x="4371" y="1715"/>
              <a:ext cx="33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400" name="Freeform 356"/>
            <p:cNvSpPr>
              <a:spLocks/>
            </p:cNvSpPr>
            <p:nvPr/>
          </p:nvSpPr>
          <p:spPr bwMode="auto">
            <a:xfrm>
              <a:off x="4497" y="1669"/>
              <a:ext cx="85" cy="93"/>
            </a:xfrm>
            <a:custGeom>
              <a:avLst/>
              <a:gdLst>
                <a:gd name="T0" fmla="*/ 3 w 169"/>
                <a:gd name="T1" fmla="*/ 46 h 93"/>
                <a:gd name="T2" fmla="*/ 0 w 169"/>
                <a:gd name="T3" fmla="*/ 0 h 93"/>
                <a:gd name="T4" fmla="*/ 0 w 169"/>
                <a:gd name="T5" fmla="*/ 93 h 93"/>
                <a:gd name="T6" fmla="*/ 3 w 169"/>
                <a:gd name="T7" fmla="*/ 46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93"/>
                <a:gd name="T14" fmla="*/ 169 w 16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93">
                  <a:moveTo>
                    <a:pt x="169" y="46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169" y="46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401" name="Freeform 357"/>
            <p:cNvSpPr>
              <a:spLocks/>
            </p:cNvSpPr>
            <p:nvPr/>
          </p:nvSpPr>
          <p:spPr bwMode="auto">
            <a:xfrm>
              <a:off x="4497" y="1669"/>
              <a:ext cx="85" cy="93"/>
            </a:xfrm>
            <a:custGeom>
              <a:avLst/>
              <a:gdLst>
                <a:gd name="T0" fmla="*/ 3 w 169"/>
                <a:gd name="T1" fmla="*/ 46 h 93"/>
                <a:gd name="T2" fmla="*/ 0 w 169"/>
                <a:gd name="T3" fmla="*/ 0 h 93"/>
                <a:gd name="T4" fmla="*/ 0 w 169"/>
                <a:gd name="T5" fmla="*/ 93 h 93"/>
                <a:gd name="T6" fmla="*/ 3 w 169"/>
                <a:gd name="T7" fmla="*/ 46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93"/>
                <a:gd name="T14" fmla="*/ 169 w 16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93">
                  <a:moveTo>
                    <a:pt x="169" y="46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169" y="46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402" name="Line 358"/>
            <p:cNvSpPr>
              <a:spLocks noChangeShapeType="1"/>
            </p:cNvSpPr>
            <p:nvPr/>
          </p:nvSpPr>
          <p:spPr bwMode="auto">
            <a:xfrm>
              <a:off x="4497" y="1715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403" name="Line 359"/>
            <p:cNvSpPr>
              <a:spLocks noChangeShapeType="1"/>
            </p:cNvSpPr>
            <p:nvPr/>
          </p:nvSpPr>
          <p:spPr bwMode="auto">
            <a:xfrm flipV="1">
              <a:off x="4582" y="1669"/>
              <a:ext cx="1" cy="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404" name="Freeform 360"/>
            <p:cNvSpPr>
              <a:spLocks/>
            </p:cNvSpPr>
            <p:nvPr/>
          </p:nvSpPr>
          <p:spPr bwMode="auto">
            <a:xfrm>
              <a:off x="4493" y="1012"/>
              <a:ext cx="84" cy="92"/>
            </a:xfrm>
            <a:custGeom>
              <a:avLst/>
              <a:gdLst>
                <a:gd name="T0" fmla="*/ 0 w 168"/>
                <a:gd name="T1" fmla="*/ 0 h 92"/>
                <a:gd name="T2" fmla="*/ 3 w 168"/>
                <a:gd name="T3" fmla="*/ 46 h 92"/>
                <a:gd name="T4" fmla="*/ 0 w 168"/>
                <a:gd name="T5" fmla="*/ 92 h 92"/>
                <a:gd name="T6" fmla="*/ 0 w 16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2"/>
                <a:gd name="T14" fmla="*/ 168 w 16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2">
                  <a:moveTo>
                    <a:pt x="0" y="0"/>
                  </a:moveTo>
                  <a:lnTo>
                    <a:pt x="168" y="46"/>
                  </a:lnTo>
                  <a:lnTo>
                    <a:pt x="0" y="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405" name="Line 361"/>
            <p:cNvSpPr>
              <a:spLocks noChangeShapeType="1"/>
            </p:cNvSpPr>
            <p:nvPr/>
          </p:nvSpPr>
          <p:spPr bwMode="auto">
            <a:xfrm flipV="1">
              <a:off x="4577" y="1012"/>
              <a:ext cx="1" cy="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406" name="Freeform 362"/>
            <p:cNvSpPr>
              <a:spLocks/>
            </p:cNvSpPr>
            <p:nvPr/>
          </p:nvSpPr>
          <p:spPr bwMode="auto">
            <a:xfrm>
              <a:off x="4493" y="1012"/>
              <a:ext cx="84" cy="92"/>
            </a:xfrm>
            <a:custGeom>
              <a:avLst/>
              <a:gdLst>
                <a:gd name="T0" fmla="*/ 0 w 168"/>
                <a:gd name="T1" fmla="*/ 0 h 92"/>
                <a:gd name="T2" fmla="*/ 3 w 168"/>
                <a:gd name="T3" fmla="*/ 46 h 92"/>
                <a:gd name="T4" fmla="*/ 0 w 168"/>
                <a:gd name="T5" fmla="*/ 92 h 92"/>
                <a:gd name="T6" fmla="*/ 0 w 16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2"/>
                <a:gd name="T14" fmla="*/ 168 w 16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2">
                  <a:moveTo>
                    <a:pt x="0" y="0"/>
                  </a:moveTo>
                  <a:lnTo>
                    <a:pt x="168" y="46"/>
                  </a:lnTo>
                  <a:lnTo>
                    <a:pt x="0" y="9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407" name="Line 363"/>
            <p:cNvSpPr>
              <a:spLocks noChangeShapeType="1"/>
            </p:cNvSpPr>
            <p:nvPr/>
          </p:nvSpPr>
          <p:spPr bwMode="auto">
            <a:xfrm>
              <a:off x="4365" y="1058"/>
              <a:ext cx="33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408" name="Freeform 364"/>
            <p:cNvSpPr>
              <a:spLocks/>
            </p:cNvSpPr>
            <p:nvPr/>
          </p:nvSpPr>
          <p:spPr bwMode="auto">
            <a:xfrm>
              <a:off x="4493" y="1012"/>
              <a:ext cx="84" cy="92"/>
            </a:xfrm>
            <a:custGeom>
              <a:avLst/>
              <a:gdLst>
                <a:gd name="T0" fmla="*/ 3 w 168"/>
                <a:gd name="T1" fmla="*/ 46 h 92"/>
                <a:gd name="T2" fmla="*/ 0 w 168"/>
                <a:gd name="T3" fmla="*/ 0 h 92"/>
                <a:gd name="T4" fmla="*/ 0 w 168"/>
                <a:gd name="T5" fmla="*/ 92 h 92"/>
                <a:gd name="T6" fmla="*/ 3 w 168"/>
                <a:gd name="T7" fmla="*/ 46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2"/>
                <a:gd name="T14" fmla="*/ 168 w 16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2">
                  <a:moveTo>
                    <a:pt x="168" y="46"/>
                  </a:moveTo>
                  <a:lnTo>
                    <a:pt x="0" y="0"/>
                  </a:lnTo>
                  <a:lnTo>
                    <a:pt x="0" y="92"/>
                  </a:lnTo>
                  <a:lnTo>
                    <a:pt x="168" y="46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409" name="Freeform 365"/>
            <p:cNvSpPr>
              <a:spLocks/>
            </p:cNvSpPr>
            <p:nvPr/>
          </p:nvSpPr>
          <p:spPr bwMode="auto">
            <a:xfrm>
              <a:off x="4493" y="1012"/>
              <a:ext cx="84" cy="92"/>
            </a:xfrm>
            <a:custGeom>
              <a:avLst/>
              <a:gdLst>
                <a:gd name="T0" fmla="*/ 3 w 168"/>
                <a:gd name="T1" fmla="*/ 46 h 92"/>
                <a:gd name="T2" fmla="*/ 0 w 168"/>
                <a:gd name="T3" fmla="*/ 0 h 92"/>
                <a:gd name="T4" fmla="*/ 0 w 168"/>
                <a:gd name="T5" fmla="*/ 92 h 92"/>
                <a:gd name="T6" fmla="*/ 3 w 168"/>
                <a:gd name="T7" fmla="*/ 46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2"/>
                <a:gd name="T14" fmla="*/ 168 w 16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2">
                  <a:moveTo>
                    <a:pt x="168" y="46"/>
                  </a:moveTo>
                  <a:lnTo>
                    <a:pt x="0" y="0"/>
                  </a:lnTo>
                  <a:lnTo>
                    <a:pt x="0" y="92"/>
                  </a:lnTo>
                  <a:lnTo>
                    <a:pt x="168" y="46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410" name="Line 366"/>
            <p:cNvSpPr>
              <a:spLocks noChangeShapeType="1"/>
            </p:cNvSpPr>
            <p:nvPr/>
          </p:nvSpPr>
          <p:spPr bwMode="auto">
            <a:xfrm>
              <a:off x="4493" y="1058"/>
              <a:ext cx="8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411" name="Line 367"/>
            <p:cNvSpPr>
              <a:spLocks noChangeShapeType="1"/>
            </p:cNvSpPr>
            <p:nvPr/>
          </p:nvSpPr>
          <p:spPr bwMode="auto">
            <a:xfrm flipV="1">
              <a:off x="4577" y="1012"/>
              <a:ext cx="1" cy="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412" name="Rectangle 368"/>
            <p:cNvSpPr>
              <a:spLocks noChangeArrowheads="1"/>
            </p:cNvSpPr>
            <p:nvPr/>
          </p:nvSpPr>
          <p:spPr bwMode="auto">
            <a:xfrm>
              <a:off x="4738" y="1101"/>
              <a:ext cx="48" cy="11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宋体" pitchFamily="2" charset="-122"/>
                </a:rPr>
                <a:t>+</a:t>
              </a:r>
              <a:endParaRPr lang="en-US" altLang="zh-CN"/>
            </a:p>
          </p:txBody>
        </p:sp>
        <p:sp>
          <p:nvSpPr>
            <p:cNvPr id="95413" name="Rectangle 369"/>
            <p:cNvSpPr>
              <a:spLocks noChangeArrowheads="1"/>
            </p:cNvSpPr>
            <p:nvPr/>
          </p:nvSpPr>
          <p:spPr bwMode="auto">
            <a:xfrm>
              <a:off x="4738" y="1277"/>
              <a:ext cx="48" cy="11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宋体" pitchFamily="2" charset="-122"/>
                </a:rPr>
                <a:t>-</a:t>
              </a:r>
              <a:endParaRPr lang="en-US" altLang="zh-CN"/>
            </a:p>
          </p:txBody>
        </p:sp>
        <p:sp>
          <p:nvSpPr>
            <p:cNvPr id="95414" name="Rectangle 370"/>
            <p:cNvSpPr>
              <a:spLocks noChangeArrowheads="1"/>
            </p:cNvSpPr>
            <p:nvPr/>
          </p:nvSpPr>
          <p:spPr bwMode="auto">
            <a:xfrm>
              <a:off x="4777" y="1227"/>
              <a:ext cx="5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oi</a:t>
              </a:r>
              <a:endParaRPr lang="en-US" altLang="zh-CN"/>
            </a:p>
          </p:txBody>
        </p:sp>
        <p:sp>
          <p:nvSpPr>
            <p:cNvPr id="95415" name="Rectangle 371"/>
            <p:cNvSpPr>
              <a:spLocks noChangeArrowheads="1"/>
            </p:cNvSpPr>
            <p:nvPr/>
          </p:nvSpPr>
          <p:spPr bwMode="auto">
            <a:xfrm>
              <a:off x="4735" y="1180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u</a:t>
              </a:r>
              <a:endParaRPr lang="en-US" altLang="zh-CN"/>
            </a:p>
          </p:txBody>
        </p:sp>
        <p:sp>
          <p:nvSpPr>
            <p:cNvPr id="95416" name="Line 372"/>
            <p:cNvSpPr>
              <a:spLocks noChangeShapeType="1"/>
            </p:cNvSpPr>
            <p:nvPr/>
          </p:nvSpPr>
          <p:spPr bwMode="auto">
            <a:xfrm flipH="1">
              <a:off x="4060" y="1376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417" name="Line 373"/>
            <p:cNvSpPr>
              <a:spLocks noChangeShapeType="1"/>
            </p:cNvSpPr>
            <p:nvPr/>
          </p:nvSpPr>
          <p:spPr bwMode="auto">
            <a:xfrm flipV="1">
              <a:off x="4060" y="1058"/>
              <a:ext cx="0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418" name="Line 374"/>
            <p:cNvSpPr>
              <a:spLocks noChangeShapeType="1"/>
            </p:cNvSpPr>
            <p:nvPr/>
          </p:nvSpPr>
          <p:spPr bwMode="auto">
            <a:xfrm flipH="1">
              <a:off x="3379" y="1058"/>
              <a:ext cx="6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419" name="Line 375"/>
            <p:cNvSpPr>
              <a:spLocks noChangeShapeType="1"/>
            </p:cNvSpPr>
            <p:nvPr/>
          </p:nvSpPr>
          <p:spPr bwMode="auto">
            <a:xfrm flipV="1">
              <a:off x="3424" y="1058"/>
              <a:ext cx="0" cy="4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420" name="Line 376"/>
            <p:cNvSpPr>
              <a:spLocks noChangeShapeType="1"/>
            </p:cNvSpPr>
            <p:nvPr/>
          </p:nvSpPr>
          <p:spPr bwMode="auto">
            <a:xfrm flipV="1">
              <a:off x="3424" y="1512"/>
              <a:ext cx="0" cy="5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421" name="Rectangle 377"/>
            <p:cNvSpPr>
              <a:spLocks noChangeArrowheads="1"/>
            </p:cNvSpPr>
            <p:nvPr/>
          </p:nvSpPr>
          <p:spPr bwMode="auto">
            <a:xfrm>
              <a:off x="3801" y="1716"/>
              <a:ext cx="148" cy="21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95422" name="Line 378"/>
            <p:cNvSpPr>
              <a:spLocks noChangeShapeType="1"/>
            </p:cNvSpPr>
            <p:nvPr/>
          </p:nvSpPr>
          <p:spPr bwMode="auto">
            <a:xfrm>
              <a:off x="3334" y="2102"/>
              <a:ext cx="8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423" name="Line 379"/>
            <p:cNvSpPr>
              <a:spLocks noChangeShapeType="1"/>
            </p:cNvSpPr>
            <p:nvPr/>
          </p:nvSpPr>
          <p:spPr bwMode="auto">
            <a:xfrm flipV="1">
              <a:off x="3606" y="1965"/>
              <a:ext cx="0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424" name="Line 380"/>
            <p:cNvSpPr>
              <a:spLocks noChangeShapeType="1"/>
            </p:cNvSpPr>
            <p:nvPr/>
          </p:nvSpPr>
          <p:spPr bwMode="auto">
            <a:xfrm flipV="1">
              <a:off x="3969" y="1965"/>
              <a:ext cx="0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425" name="Line 381"/>
            <p:cNvSpPr>
              <a:spLocks noChangeShapeType="1"/>
            </p:cNvSpPr>
            <p:nvPr/>
          </p:nvSpPr>
          <p:spPr bwMode="auto">
            <a:xfrm>
              <a:off x="4150" y="1693"/>
              <a:ext cx="0" cy="4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426" name="Rectangle 384"/>
            <p:cNvSpPr>
              <a:spLocks noChangeArrowheads="1"/>
            </p:cNvSpPr>
            <p:nvPr/>
          </p:nvSpPr>
          <p:spPr bwMode="auto">
            <a:xfrm>
              <a:off x="4105" y="1434"/>
              <a:ext cx="111" cy="13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95427" name="Rectangle 385"/>
            <p:cNvSpPr>
              <a:spLocks noChangeArrowheads="1"/>
            </p:cNvSpPr>
            <p:nvPr/>
          </p:nvSpPr>
          <p:spPr bwMode="auto">
            <a:xfrm>
              <a:off x="4377" y="1480"/>
              <a:ext cx="111" cy="13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</p:grpSp>
      <p:graphicFrame>
        <p:nvGraphicFramePr>
          <p:cNvPr id="9523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001016"/>
              </p:ext>
            </p:extLst>
          </p:nvPr>
        </p:nvGraphicFramePr>
        <p:xfrm>
          <a:off x="179586" y="4004270"/>
          <a:ext cx="3816350" cy="230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92" name="公式" r:id="rId3" imgW="1828800" imgH="1104840" progId="">
                  <p:embed/>
                </p:oleObj>
              </mc:Choice>
              <mc:Fallback>
                <p:oleObj name="公式" r:id="rId3" imgW="1828800" imgH="110484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86" y="4004270"/>
                        <a:ext cx="3816350" cy="230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4"/>
          <p:cNvSpPr txBox="1">
            <a:spLocks noChangeArrowheads="1"/>
          </p:cNvSpPr>
          <p:nvPr/>
        </p:nvSpPr>
        <p:spPr bwMode="auto">
          <a:xfrm>
            <a:off x="107379" y="1319381"/>
            <a:ext cx="4392613" cy="189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A50021"/>
                </a:solidFill>
              </a:rPr>
              <a:t>(2)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A50021"/>
                </a:solidFill>
              </a:rPr>
              <a:t>When 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1</a:t>
            </a:r>
            <a:r>
              <a:rPr lang="en-US" altLang="zh-CN" sz="2400" dirty="0">
                <a:solidFill>
                  <a:srgbClr val="A50021"/>
                </a:solidFill>
              </a:rPr>
              <a:t> is off and 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2</a:t>
            </a:r>
            <a:r>
              <a:rPr lang="en-US" altLang="zh-CN" sz="2400" dirty="0">
                <a:solidFill>
                  <a:srgbClr val="A50021"/>
                </a:solidFill>
              </a:rPr>
              <a:t> is on (0&lt;t&lt;t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on</a:t>
            </a:r>
            <a:r>
              <a:rPr lang="en-US" altLang="zh-CN" sz="2400" dirty="0">
                <a:solidFill>
                  <a:srgbClr val="A50021"/>
                </a:solidFill>
              </a:rPr>
              <a:t>)</a:t>
            </a:r>
            <a:r>
              <a:rPr lang="en-US" altLang="zh-CN" sz="2400" dirty="0"/>
              <a:t>:  D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gets reverse biased and D</a:t>
            </a:r>
            <a:r>
              <a:rPr lang="en-US" altLang="zh-CN" sz="2400" baseline="-25000" dirty="0"/>
              <a:t>2 </a:t>
            </a:r>
            <a:r>
              <a:rPr lang="en-US" altLang="zh-CN" sz="2400" dirty="0"/>
              <a:t>conducts. </a:t>
            </a:r>
            <a:r>
              <a:rPr lang="en-US" altLang="zh-CN" sz="2400" dirty="0" err="1">
                <a:solidFill>
                  <a:srgbClr val="A50021"/>
                </a:solidFill>
              </a:rPr>
              <a:t>i</a:t>
            </a:r>
            <a:r>
              <a:rPr lang="en-US" altLang="zh-CN" sz="2400" baseline="-25000" dirty="0" err="1">
                <a:solidFill>
                  <a:srgbClr val="A50021"/>
                </a:solidFill>
              </a:rPr>
              <a:t>L</a:t>
            </a:r>
            <a:r>
              <a:rPr lang="en-US" altLang="zh-CN" sz="2400" dirty="0">
                <a:solidFill>
                  <a:srgbClr val="A50021"/>
                </a:solidFill>
              </a:rPr>
              <a:t> through D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2</a:t>
            </a:r>
            <a:r>
              <a:rPr lang="en-US" altLang="zh-CN" sz="2400" dirty="0">
                <a:solidFill>
                  <a:srgbClr val="A50021"/>
                </a:solidFill>
              </a:rPr>
              <a:t> increase linearly</a:t>
            </a:r>
            <a:r>
              <a:rPr lang="en-US" altLang="zh-CN" sz="2400" dirty="0"/>
              <a:t>.</a:t>
            </a:r>
          </a:p>
        </p:txBody>
      </p:sp>
      <p:graphicFrame>
        <p:nvGraphicFramePr>
          <p:cNvPr id="9625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2221922"/>
              </p:ext>
            </p:extLst>
          </p:nvPr>
        </p:nvGraphicFramePr>
        <p:xfrm>
          <a:off x="189359" y="3601368"/>
          <a:ext cx="4238625" cy="234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16" name="公式" r:id="rId3" imgW="1993900" imgH="1104900" progId="">
                  <p:embed/>
                </p:oleObj>
              </mc:Choice>
              <mc:Fallback>
                <p:oleObj name="公式" r:id="rId3" imgW="1993900" imgH="11049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359" y="3601368"/>
                        <a:ext cx="4238625" cy="2347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86"/>
          <p:cNvGrpSpPr>
            <a:grpSpLocks/>
          </p:cNvGrpSpPr>
          <p:nvPr/>
        </p:nvGrpSpPr>
        <p:grpSpPr bwMode="auto">
          <a:xfrm>
            <a:off x="4418013" y="1000125"/>
            <a:ext cx="4583112" cy="5857875"/>
            <a:chOff x="3243" y="845"/>
            <a:chExt cx="2344" cy="3317"/>
          </a:xfrm>
        </p:grpSpPr>
        <p:sp>
          <p:nvSpPr>
            <p:cNvPr id="196" name="Freeform 194"/>
            <p:cNvSpPr>
              <a:spLocks/>
            </p:cNvSpPr>
            <p:nvPr/>
          </p:nvSpPr>
          <p:spPr bwMode="auto">
            <a:xfrm>
              <a:off x="3374" y="2319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Freeform 195"/>
            <p:cNvSpPr>
              <a:spLocks/>
            </p:cNvSpPr>
            <p:nvPr/>
          </p:nvSpPr>
          <p:spPr bwMode="auto">
            <a:xfrm>
              <a:off x="3374" y="2319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Line 196"/>
            <p:cNvSpPr>
              <a:spLocks noChangeShapeType="1"/>
            </p:cNvSpPr>
            <p:nvPr/>
          </p:nvSpPr>
          <p:spPr bwMode="auto">
            <a:xfrm>
              <a:off x="3382" y="2378"/>
              <a:ext cx="1" cy="7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Freeform 197"/>
            <p:cNvSpPr>
              <a:spLocks/>
            </p:cNvSpPr>
            <p:nvPr/>
          </p:nvSpPr>
          <p:spPr bwMode="auto">
            <a:xfrm>
              <a:off x="5461" y="2901"/>
              <a:ext cx="54" cy="17"/>
            </a:xfrm>
            <a:custGeom>
              <a:avLst/>
              <a:gdLst>
                <a:gd name="T0" fmla="*/ 2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Freeform 198"/>
            <p:cNvSpPr>
              <a:spLocks/>
            </p:cNvSpPr>
            <p:nvPr/>
          </p:nvSpPr>
          <p:spPr bwMode="auto">
            <a:xfrm>
              <a:off x="5461" y="2901"/>
              <a:ext cx="54" cy="17"/>
            </a:xfrm>
            <a:custGeom>
              <a:avLst/>
              <a:gdLst>
                <a:gd name="T0" fmla="*/ 2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Line 199"/>
            <p:cNvSpPr>
              <a:spLocks noChangeShapeType="1"/>
            </p:cNvSpPr>
            <p:nvPr/>
          </p:nvSpPr>
          <p:spPr bwMode="auto">
            <a:xfrm flipH="1">
              <a:off x="3382" y="2910"/>
              <a:ext cx="207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Line 200"/>
            <p:cNvSpPr>
              <a:spLocks noChangeShapeType="1"/>
            </p:cNvSpPr>
            <p:nvPr/>
          </p:nvSpPr>
          <p:spPr bwMode="auto">
            <a:xfrm>
              <a:off x="3382" y="2430"/>
              <a:ext cx="32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Freeform 201"/>
            <p:cNvSpPr>
              <a:spLocks/>
            </p:cNvSpPr>
            <p:nvPr/>
          </p:nvSpPr>
          <p:spPr bwMode="auto">
            <a:xfrm>
              <a:off x="5458" y="3952"/>
              <a:ext cx="54" cy="17"/>
            </a:xfrm>
            <a:custGeom>
              <a:avLst/>
              <a:gdLst>
                <a:gd name="T0" fmla="*/ 2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Freeform 202"/>
            <p:cNvSpPr>
              <a:spLocks/>
            </p:cNvSpPr>
            <p:nvPr/>
          </p:nvSpPr>
          <p:spPr bwMode="auto">
            <a:xfrm>
              <a:off x="5458" y="3952"/>
              <a:ext cx="54" cy="17"/>
            </a:xfrm>
            <a:custGeom>
              <a:avLst/>
              <a:gdLst>
                <a:gd name="T0" fmla="*/ 2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" name="Line 203"/>
            <p:cNvSpPr>
              <a:spLocks noChangeShapeType="1"/>
            </p:cNvSpPr>
            <p:nvPr/>
          </p:nvSpPr>
          <p:spPr bwMode="auto">
            <a:xfrm flipH="1">
              <a:off x="3379" y="3961"/>
              <a:ext cx="207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Rectangle 204"/>
            <p:cNvSpPr>
              <a:spLocks noChangeArrowheads="1"/>
            </p:cNvSpPr>
            <p:nvPr/>
          </p:nvSpPr>
          <p:spPr bwMode="auto">
            <a:xfrm>
              <a:off x="3379" y="2192"/>
              <a:ext cx="152" cy="21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</a:rPr>
                <a:t>oi</a:t>
              </a:r>
            </a:p>
          </p:txBody>
        </p:sp>
        <p:sp>
          <p:nvSpPr>
            <p:cNvPr id="207" name="Rectangle 205"/>
            <p:cNvSpPr>
              <a:spLocks noChangeArrowheads="1"/>
            </p:cNvSpPr>
            <p:nvPr/>
          </p:nvSpPr>
          <p:spPr bwMode="auto">
            <a:xfrm>
              <a:off x="3313" y="2841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208" name="Rectangle 206"/>
            <p:cNvSpPr>
              <a:spLocks noChangeArrowheads="1"/>
            </p:cNvSpPr>
            <p:nvPr/>
          </p:nvSpPr>
          <p:spPr bwMode="auto">
            <a:xfrm>
              <a:off x="3312" y="3890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209" name="Rectangle 207"/>
            <p:cNvSpPr>
              <a:spLocks noChangeArrowheads="1"/>
            </p:cNvSpPr>
            <p:nvPr/>
          </p:nvSpPr>
          <p:spPr bwMode="auto">
            <a:xfrm>
              <a:off x="5547" y="2838"/>
              <a:ext cx="40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210" name="Rectangle 208"/>
            <p:cNvSpPr>
              <a:spLocks noChangeArrowheads="1"/>
            </p:cNvSpPr>
            <p:nvPr/>
          </p:nvSpPr>
          <p:spPr bwMode="auto">
            <a:xfrm>
              <a:off x="5544" y="3871"/>
              <a:ext cx="40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211" name="Line 209"/>
            <p:cNvSpPr>
              <a:spLocks noChangeShapeType="1"/>
            </p:cNvSpPr>
            <p:nvPr/>
          </p:nvSpPr>
          <p:spPr bwMode="auto">
            <a:xfrm>
              <a:off x="4235" y="2430"/>
              <a:ext cx="32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Line 210"/>
            <p:cNvSpPr>
              <a:spLocks noChangeShapeType="1"/>
            </p:cNvSpPr>
            <p:nvPr/>
          </p:nvSpPr>
          <p:spPr bwMode="auto">
            <a:xfrm>
              <a:off x="4555" y="2909"/>
              <a:ext cx="53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3" name="Line 211"/>
            <p:cNvSpPr>
              <a:spLocks noChangeShapeType="1"/>
            </p:cNvSpPr>
            <p:nvPr/>
          </p:nvSpPr>
          <p:spPr bwMode="auto">
            <a:xfrm>
              <a:off x="4555" y="2430"/>
              <a:ext cx="1" cy="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Line 212"/>
            <p:cNvSpPr>
              <a:spLocks noChangeShapeType="1"/>
            </p:cNvSpPr>
            <p:nvPr/>
          </p:nvSpPr>
          <p:spPr bwMode="auto">
            <a:xfrm>
              <a:off x="5089" y="2430"/>
              <a:ext cx="31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Line 213"/>
            <p:cNvSpPr>
              <a:spLocks noChangeShapeType="1"/>
            </p:cNvSpPr>
            <p:nvPr/>
          </p:nvSpPr>
          <p:spPr bwMode="auto">
            <a:xfrm>
              <a:off x="5089" y="2430"/>
              <a:ext cx="1" cy="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Line 214"/>
            <p:cNvSpPr>
              <a:spLocks noChangeShapeType="1"/>
            </p:cNvSpPr>
            <p:nvPr/>
          </p:nvSpPr>
          <p:spPr bwMode="auto">
            <a:xfrm>
              <a:off x="3567" y="2720"/>
              <a:ext cx="5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7" name="Rectangle 215"/>
            <p:cNvSpPr>
              <a:spLocks noChangeArrowheads="1"/>
            </p:cNvSpPr>
            <p:nvPr/>
          </p:nvSpPr>
          <p:spPr bwMode="auto">
            <a:xfrm>
              <a:off x="3550" y="2607"/>
              <a:ext cx="6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218" name="Rectangle 216"/>
            <p:cNvSpPr>
              <a:spLocks noChangeArrowheads="1"/>
            </p:cNvSpPr>
            <p:nvPr/>
          </p:nvSpPr>
          <p:spPr bwMode="auto">
            <a:xfrm>
              <a:off x="3607" y="2650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 dirty="0"/>
            </a:p>
          </p:txBody>
        </p:sp>
        <p:sp>
          <p:nvSpPr>
            <p:cNvPr id="219" name="Rectangle 217"/>
            <p:cNvSpPr>
              <a:spLocks noChangeArrowheads="1"/>
            </p:cNvSpPr>
            <p:nvPr/>
          </p:nvSpPr>
          <p:spPr bwMode="auto">
            <a:xfrm>
              <a:off x="3540" y="2715"/>
              <a:ext cx="6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220" name="Rectangle 218"/>
            <p:cNvSpPr>
              <a:spLocks noChangeArrowheads="1"/>
            </p:cNvSpPr>
            <p:nvPr/>
          </p:nvSpPr>
          <p:spPr bwMode="auto">
            <a:xfrm>
              <a:off x="3604" y="2746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 i="1" dirty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 dirty="0"/>
            </a:p>
          </p:txBody>
        </p:sp>
        <p:sp>
          <p:nvSpPr>
            <p:cNvPr id="221" name="Rectangle 219"/>
            <p:cNvSpPr>
              <a:spLocks noChangeArrowheads="1"/>
            </p:cNvSpPr>
            <p:nvPr/>
          </p:nvSpPr>
          <p:spPr bwMode="auto">
            <a:xfrm>
              <a:off x="3659" y="2715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222" name="Rectangle 220"/>
            <p:cNvSpPr>
              <a:spLocks noChangeArrowheads="1"/>
            </p:cNvSpPr>
            <p:nvPr/>
          </p:nvSpPr>
          <p:spPr bwMode="auto">
            <a:xfrm>
              <a:off x="3621" y="2654"/>
              <a:ext cx="75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U</a:t>
              </a:r>
              <a:endParaRPr lang="en-US" altLang="zh-CN"/>
            </a:p>
          </p:txBody>
        </p:sp>
        <p:sp>
          <p:nvSpPr>
            <p:cNvPr id="223" name="Line 221"/>
            <p:cNvSpPr>
              <a:spLocks noChangeShapeType="1"/>
            </p:cNvSpPr>
            <p:nvPr/>
          </p:nvSpPr>
          <p:spPr bwMode="auto">
            <a:xfrm>
              <a:off x="3542" y="2487"/>
              <a:ext cx="1" cy="3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4" name="Freeform 222"/>
            <p:cNvSpPr>
              <a:spLocks/>
            </p:cNvSpPr>
            <p:nvPr/>
          </p:nvSpPr>
          <p:spPr bwMode="auto">
            <a:xfrm>
              <a:off x="3507" y="2430"/>
              <a:ext cx="70" cy="75"/>
            </a:xfrm>
            <a:custGeom>
              <a:avLst/>
              <a:gdLst>
                <a:gd name="T0" fmla="*/ 2 w 140"/>
                <a:gd name="T1" fmla="*/ 0 h 75"/>
                <a:gd name="T2" fmla="*/ 3 w 140"/>
                <a:gd name="T3" fmla="*/ 75 h 75"/>
                <a:gd name="T4" fmla="*/ 3 w 140"/>
                <a:gd name="T5" fmla="*/ 73 h 75"/>
                <a:gd name="T6" fmla="*/ 2 w 140"/>
                <a:gd name="T7" fmla="*/ 71 h 75"/>
                <a:gd name="T8" fmla="*/ 2 w 140"/>
                <a:gd name="T9" fmla="*/ 69 h 75"/>
                <a:gd name="T10" fmla="*/ 2 w 140"/>
                <a:gd name="T11" fmla="*/ 68 h 75"/>
                <a:gd name="T12" fmla="*/ 2 w 140"/>
                <a:gd name="T13" fmla="*/ 67 h 75"/>
                <a:gd name="T14" fmla="*/ 2 w 140"/>
                <a:gd name="T15" fmla="*/ 67 h 75"/>
                <a:gd name="T16" fmla="*/ 2 w 140"/>
                <a:gd name="T17" fmla="*/ 66 h 75"/>
                <a:gd name="T18" fmla="*/ 2 w 140"/>
                <a:gd name="T19" fmla="*/ 66 h 75"/>
                <a:gd name="T20" fmla="*/ 1 w 140"/>
                <a:gd name="T21" fmla="*/ 66 h 75"/>
                <a:gd name="T22" fmla="*/ 1 w 140"/>
                <a:gd name="T23" fmla="*/ 67 h 75"/>
                <a:gd name="T24" fmla="*/ 1 w 140"/>
                <a:gd name="T25" fmla="*/ 67 h 75"/>
                <a:gd name="T26" fmla="*/ 1 w 140"/>
                <a:gd name="T27" fmla="*/ 68 h 75"/>
                <a:gd name="T28" fmla="*/ 1 w 140"/>
                <a:gd name="T29" fmla="*/ 69 h 75"/>
                <a:gd name="T30" fmla="*/ 1 w 140"/>
                <a:gd name="T31" fmla="*/ 71 h 75"/>
                <a:gd name="T32" fmla="*/ 1 w 140"/>
                <a:gd name="T33" fmla="*/ 73 h 75"/>
                <a:gd name="T34" fmla="*/ 0 w 140"/>
                <a:gd name="T35" fmla="*/ 75 h 75"/>
                <a:gd name="T36" fmla="*/ 0 w 140"/>
                <a:gd name="T37" fmla="*/ 75 h 75"/>
                <a:gd name="T38" fmla="*/ 2 w 140"/>
                <a:gd name="T39" fmla="*/ 0 h 75"/>
                <a:gd name="T40" fmla="*/ 2 w 140"/>
                <a:gd name="T41" fmla="*/ 0 h 7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5"/>
                <a:gd name="T65" fmla="*/ 140 w 140"/>
                <a:gd name="T66" fmla="*/ 75 h 7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5">
                  <a:moveTo>
                    <a:pt x="70" y="0"/>
                  </a:moveTo>
                  <a:lnTo>
                    <a:pt x="140" y="75"/>
                  </a:lnTo>
                  <a:lnTo>
                    <a:pt x="130" y="73"/>
                  </a:lnTo>
                  <a:lnTo>
                    <a:pt x="123" y="71"/>
                  </a:lnTo>
                  <a:lnTo>
                    <a:pt x="113" y="69"/>
                  </a:lnTo>
                  <a:lnTo>
                    <a:pt x="106" y="68"/>
                  </a:lnTo>
                  <a:lnTo>
                    <a:pt x="96" y="67"/>
                  </a:lnTo>
                  <a:lnTo>
                    <a:pt x="87" y="67"/>
                  </a:lnTo>
                  <a:lnTo>
                    <a:pt x="79" y="66"/>
                  </a:lnTo>
                  <a:lnTo>
                    <a:pt x="70" y="66"/>
                  </a:lnTo>
                  <a:lnTo>
                    <a:pt x="61" y="66"/>
                  </a:lnTo>
                  <a:lnTo>
                    <a:pt x="53" y="67"/>
                  </a:lnTo>
                  <a:lnTo>
                    <a:pt x="44" y="67"/>
                  </a:lnTo>
                  <a:lnTo>
                    <a:pt x="34" y="68"/>
                  </a:lnTo>
                  <a:lnTo>
                    <a:pt x="27" y="69"/>
                  </a:lnTo>
                  <a:lnTo>
                    <a:pt x="17" y="71"/>
                  </a:lnTo>
                  <a:lnTo>
                    <a:pt x="10" y="73"/>
                  </a:lnTo>
                  <a:lnTo>
                    <a:pt x="0" y="75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Freeform 223"/>
            <p:cNvSpPr>
              <a:spLocks/>
            </p:cNvSpPr>
            <p:nvPr/>
          </p:nvSpPr>
          <p:spPr bwMode="auto">
            <a:xfrm>
              <a:off x="3507" y="2833"/>
              <a:ext cx="70" cy="75"/>
            </a:xfrm>
            <a:custGeom>
              <a:avLst/>
              <a:gdLst>
                <a:gd name="T0" fmla="*/ 2 w 140"/>
                <a:gd name="T1" fmla="*/ 75 h 75"/>
                <a:gd name="T2" fmla="*/ 0 w 140"/>
                <a:gd name="T3" fmla="*/ 0 h 75"/>
                <a:gd name="T4" fmla="*/ 1 w 140"/>
                <a:gd name="T5" fmla="*/ 2 h 75"/>
                <a:gd name="T6" fmla="*/ 1 w 140"/>
                <a:gd name="T7" fmla="*/ 4 h 75"/>
                <a:gd name="T8" fmla="*/ 1 w 140"/>
                <a:gd name="T9" fmla="*/ 5 h 75"/>
                <a:gd name="T10" fmla="*/ 1 w 140"/>
                <a:gd name="T11" fmla="*/ 7 h 75"/>
                <a:gd name="T12" fmla="*/ 1 w 140"/>
                <a:gd name="T13" fmla="*/ 8 h 75"/>
                <a:gd name="T14" fmla="*/ 1 w 140"/>
                <a:gd name="T15" fmla="*/ 8 h 75"/>
                <a:gd name="T16" fmla="*/ 1 w 140"/>
                <a:gd name="T17" fmla="*/ 9 h 75"/>
                <a:gd name="T18" fmla="*/ 2 w 140"/>
                <a:gd name="T19" fmla="*/ 9 h 75"/>
                <a:gd name="T20" fmla="*/ 2 w 140"/>
                <a:gd name="T21" fmla="*/ 9 h 75"/>
                <a:gd name="T22" fmla="*/ 2 w 140"/>
                <a:gd name="T23" fmla="*/ 8 h 75"/>
                <a:gd name="T24" fmla="*/ 2 w 140"/>
                <a:gd name="T25" fmla="*/ 8 h 75"/>
                <a:gd name="T26" fmla="*/ 2 w 140"/>
                <a:gd name="T27" fmla="*/ 7 h 75"/>
                <a:gd name="T28" fmla="*/ 2 w 140"/>
                <a:gd name="T29" fmla="*/ 5 h 75"/>
                <a:gd name="T30" fmla="*/ 2 w 140"/>
                <a:gd name="T31" fmla="*/ 4 h 75"/>
                <a:gd name="T32" fmla="*/ 3 w 140"/>
                <a:gd name="T33" fmla="*/ 2 h 75"/>
                <a:gd name="T34" fmla="*/ 3 w 140"/>
                <a:gd name="T35" fmla="*/ 0 h 75"/>
                <a:gd name="T36" fmla="*/ 3 w 140"/>
                <a:gd name="T37" fmla="*/ 0 h 75"/>
                <a:gd name="T38" fmla="*/ 2 w 140"/>
                <a:gd name="T39" fmla="*/ 75 h 75"/>
                <a:gd name="T40" fmla="*/ 2 w 140"/>
                <a:gd name="T41" fmla="*/ 75 h 7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5"/>
                <a:gd name="T65" fmla="*/ 140 w 140"/>
                <a:gd name="T66" fmla="*/ 75 h 7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5">
                  <a:moveTo>
                    <a:pt x="70" y="75"/>
                  </a:moveTo>
                  <a:lnTo>
                    <a:pt x="0" y="0"/>
                  </a:lnTo>
                  <a:lnTo>
                    <a:pt x="10" y="2"/>
                  </a:lnTo>
                  <a:lnTo>
                    <a:pt x="17" y="4"/>
                  </a:lnTo>
                  <a:lnTo>
                    <a:pt x="27" y="5"/>
                  </a:lnTo>
                  <a:lnTo>
                    <a:pt x="34" y="7"/>
                  </a:lnTo>
                  <a:lnTo>
                    <a:pt x="44" y="8"/>
                  </a:lnTo>
                  <a:lnTo>
                    <a:pt x="53" y="8"/>
                  </a:lnTo>
                  <a:lnTo>
                    <a:pt x="61" y="9"/>
                  </a:lnTo>
                  <a:lnTo>
                    <a:pt x="70" y="9"/>
                  </a:lnTo>
                  <a:lnTo>
                    <a:pt x="79" y="9"/>
                  </a:lnTo>
                  <a:lnTo>
                    <a:pt x="87" y="8"/>
                  </a:lnTo>
                  <a:lnTo>
                    <a:pt x="96" y="8"/>
                  </a:lnTo>
                  <a:lnTo>
                    <a:pt x="106" y="7"/>
                  </a:lnTo>
                  <a:lnTo>
                    <a:pt x="113" y="5"/>
                  </a:lnTo>
                  <a:lnTo>
                    <a:pt x="123" y="4"/>
                  </a:lnTo>
                  <a:lnTo>
                    <a:pt x="130" y="2"/>
                  </a:lnTo>
                  <a:lnTo>
                    <a:pt x="140" y="0"/>
                  </a:lnTo>
                  <a:lnTo>
                    <a:pt x="70" y="75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Line 224"/>
            <p:cNvSpPr>
              <a:spLocks noChangeShapeType="1"/>
            </p:cNvSpPr>
            <p:nvPr/>
          </p:nvSpPr>
          <p:spPr bwMode="auto">
            <a:xfrm>
              <a:off x="3702" y="2956"/>
              <a:ext cx="1" cy="1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" name="Line 225"/>
            <p:cNvSpPr>
              <a:spLocks noChangeShapeType="1"/>
            </p:cNvSpPr>
            <p:nvPr/>
          </p:nvSpPr>
          <p:spPr bwMode="auto">
            <a:xfrm>
              <a:off x="4235" y="2956"/>
              <a:ext cx="1" cy="1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8" name="Line 226"/>
            <p:cNvSpPr>
              <a:spLocks noChangeShapeType="1"/>
            </p:cNvSpPr>
            <p:nvPr/>
          </p:nvSpPr>
          <p:spPr bwMode="auto">
            <a:xfrm>
              <a:off x="4235" y="2956"/>
              <a:ext cx="1" cy="2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9" name="Line 227"/>
            <p:cNvSpPr>
              <a:spLocks noChangeShapeType="1"/>
            </p:cNvSpPr>
            <p:nvPr/>
          </p:nvSpPr>
          <p:spPr bwMode="auto">
            <a:xfrm>
              <a:off x="3382" y="3108"/>
              <a:ext cx="1" cy="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0" name="Line 228"/>
            <p:cNvSpPr>
              <a:spLocks noChangeShapeType="1"/>
            </p:cNvSpPr>
            <p:nvPr/>
          </p:nvSpPr>
          <p:spPr bwMode="auto">
            <a:xfrm>
              <a:off x="3434" y="3015"/>
              <a:ext cx="21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" name="Freeform 229"/>
            <p:cNvSpPr>
              <a:spLocks/>
            </p:cNvSpPr>
            <p:nvPr/>
          </p:nvSpPr>
          <p:spPr bwMode="auto">
            <a:xfrm>
              <a:off x="3382" y="2977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2 w 140"/>
                <a:gd name="T3" fmla="*/ 0 h 76"/>
                <a:gd name="T4" fmla="*/ 2 w 140"/>
                <a:gd name="T5" fmla="*/ 5 h 76"/>
                <a:gd name="T6" fmla="*/ 2 w 140"/>
                <a:gd name="T7" fmla="*/ 9 h 76"/>
                <a:gd name="T8" fmla="*/ 2 w 140"/>
                <a:gd name="T9" fmla="*/ 14 h 76"/>
                <a:gd name="T10" fmla="*/ 1 w 140"/>
                <a:gd name="T11" fmla="*/ 18 h 76"/>
                <a:gd name="T12" fmla="*/ 1 w 140"/>
                <a:gd name="T13" fmla="*/ 23 h 76"/>
                <a:gd name="T14" fmla="*/ 1 w 140"/>
                <a:gd name="T15" fmla="*/ 29 h 76"/>
                <a:gd name="T16" fmla="*/ 1 w 140"/>
                <a:gd name="T17" fmla="*/ 33 h 76"/>
                <a:gd name="T18" fmla="*/ 1 w 140"/>
                <a:gd name="T19" fmla="*/ 38 h 76"/>
                <a:gd name="T20" fmla="*/ 1 w 140"/>
                <a:gd name="T21" fmla="*/ 43 h 76"/>
                <a:gd name="T22" fmla="*/ 1 w 140"/>
                <a:gd name="T23" fmla="*/ 47 h 76"/>
                <a:gd name="T24" fmla="*/ 1 w 140"/>
                <a:gd name="T25" fmla="*/ 52 h 76"/>
                <a:gd name="T26" fmla="*/ 1 w 140"/>
                <a:gd name="T27" fmla="*/ 58 h 76"/>
                <a:gd name="T28" fmla="*/ 2 w 140"/>
                <a:gd name="T29" fmla="*/ 62 h 76"/>
                <a:gd name="T30" fmla="*/ 2 w 140"/>
                <a:gd name="T31" fmla="*/ 67 h 76"/>
                <a:gd name="T32" fmla="*/ 2 w 140"/>
                <a:gd name="T33" fmla="*/ 71 h 76"/>
                <a:gd name="T34" fmla="*/ 2 w 140"/>
                <a:gd name="T35" fmla="*/ 76 h 76"/>
                <a:gd name="T36" fmla="*/ 2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Freeform 230"/>
            <p:cNvSpPr>
              <a:spLocks/>
            </p:cNvSpPr>
            <p:nvPr/>
          </p:nvSpPr>
          <p:spPr bwMode="auto">
            <a:xfrm>
              <a:off x="3633" y="2977"/>
              <a:ext cx="69" cy="76"/>
            </a:xfrm>
            <a:custGeom>
              <a:avLst/>
              <a:gdLst>
                <a:gd name="T0" fmla="*/ 2 w 140"/>
                <a:gd name="T1" fmla="*/ 38 h 76"/>
                <a:gd name="T2" fmla="*/ 0 w 140"/>
                <a:gd name="T3" fmla="*/ 76 h 76"/>
                <a:gd name="T4" fmla="*/ 0 w 140"/>
                <a:gd name="T5" fmla="*/ 71 h 76"/>
                <a:gd name="T6" fmla="*/ 0 w 140"/>
                <a:gd name="T7" fmla="*/ 67 h 76"/>
                <a:gd name="T8" fmla="*/ 0 w 140"/>
                <a:gd name="T9" fmla="*/ 62 h 76"/>
                <a:gd name="T10" fmla="*/ 0 w 140"/>
                <a:gd name="T11" fmla="*/ 58 h 76"/>
                <a:gd name="T12" fmla="*/ 0 w 140"/>
                <a:gd name="T13" fmla="*/ 52 h 76"/>
                <a:gd name="T14" fmla="*/ 0 w 140"/>
                <a:gd name="T15" fmla="*/ 47 h 76"/>
                <a:gd name="T16" fmla="*/ 0 w 140"/>
                <a:gd name="T17" fmla="*/ 43 h 76"/>
                <a:gd name="T18" fmla="*/ 0 w 140"/>
                <a:gd name="T19" fmla="*/ 38 h 76"/>
                <a:gd name="T20" fmla="*/ 0 w 140"/>
                <a:gd name="T21" fmla="*/ 33 h 76"/>
                <a:gd name="T22" fmla="*/ 0 w 140"/>
                <a:gd name="T23" fmla="*/ 29 h 76"/>
                <a:gd name="T24" fmla="*/ 0 w 140"/>
                <a:gd name="T25" fmla="*/ 23 h 76"/>
                <a:gd name="T26" fmla="*/ 0 w 140"/>
                <a:gd name="T27" fmla="*/ 18 h 76"/>
                <a:gd name="T28" fmla="*/ 0 w 140"/>
                <a:gd name="T29" fmla="*/ 14 h 76"/>
                <a:gd name="T30" fmla="*/ 0 w 140"/>
                <a:gd name="T31" fmla="*/ 9 h 76"/>
                <a:gd name="T32" fmla="*/ 0 w 140"/>
                <a:gd name="T33" fmla="*/ 5 h 76"/>
                <a:gd name="T34" fmla="*/ 0 w 140"/>
                <a:gd name="T35" fmla="*/ 0 h 76"/>
                <a:gd name="T36" fmla="*/ 0 w 140"/>
                <a:gd name="T37" fmla="*/ 0 h 76"/>
                <a:gd name="T38" fmla="*/ 2 w 140"/>
                <a:gd name="T39" fmla="*/ 38 h 76"/>
                <a:gd name="T40" fmla="*/ 2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140" y="38"/>
                  </a:moveTo>
                  <a:lnTo>
                    <a:pt x="0" y="76"/>
                  </a:lnTo>
                  <a:lnTo>
                    <a:pt x="4" y="71"/>
                  </a:lnTo>
                  <a:lnTo>
                    <a:pt x="8" y="67"/>
                  </a:lnTo>
                  <a:lnTo>
                    <a:pt x="11" y="62"/>
                  </a:lnTo>
                  <a:lnTo>
                    <a:pt x="13" y="58"/>
                  </a:lnTo>
                  <a:lnTo>
                    <a:pt x="15" y="52"/>
                  </a:lnTo>
                  <a:lnTo>
                    <a:pt x="17" y="47"/>
                  </a:lnTo>
                  <a:lnTo>
                    <a:pt x="17" y="43"/>
                  </a:lnTo>
                  <a:lnTo>
                    <a:pt x="17" y="38"/>
                  </a:lnTo>
                  <a:lnTo>
                    <a:pt x="17" y="33"/>
                  </a:lnTo>
                  <a:lnTo>
                    <a:pt x="17" y="29"/>
                  </a:lnTo>
                  <a:lnTo>
                    <a:pt x="15" y="23"/>
                  </a:lnTo>
                  <a:lnTo>
                    <a:pt x="13" y="18"/>
                  </a:lnTo>
                  <a:lnTo>
                    <a:pt x="11" y="14"/>
                  </a:lnTo>
                  <a:lnTo>
                    <a:pt x="8" y="9"/>
                  </a:lnTo>
                  <a:lnTo>
                    <a:pt x="4" y="5"/>
                  </a:lnTo>
                  <a:lnTo>
                    <a:pt x="0" y="0"/>
                  </a:lnTo>
                  <a:lnTo>
                    <a:pt x="14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Line 231"/>
            <p:cNvSpPr>
              <a:spLocks noChangeShapeType="1"/>
            </p:cNvSpPr>
            <p:nvPr/>
          </p:nvSpPr>
          <p:spPr bwMode="auto">
            <a:xfrm>
              <a:off x="3754" y="3015"/>
              <a:ext cx="42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Freeform 232"/>
            <p:cNvSpPr>
              <a:spLocks/>
            </p:cNvSpPr>
            <p:nvPr/>
          </p:nvSpPr>
          <p:spPr bwMode="auto">
            <a:xfrm>
              <a:off x="3702" y="2977"/>
              <a:ext cx="69" cy="76"/>
            </a:xfrm>
            <a:custGeom>
              <a:avLst/>
              <a:gdLst>
                <a:gd name="T0" fmla="*/ 0 w 137"/>
                <a:gd name="T1" fmla="*/ 38 h 76"/>
                <a:gd name="T2" fmla="*/ 3 w 137"/>
                <a:gd name="T3" fmla="*/ 0 h 76"/>
                <a:gd name="T4" fmla="*/ 3 w 137"/>
                <a:gd name="T5" fmla="*/ 5 h 76"/>
                <a:gd name="T6" fmla="*/ 3 w 137"/>
                <a:gd name="T7" fmla="*/ 9 h 76"/>
                <a:gd name="T8" fmla="*/ 2 w 137"/>
                <a:gd name="T9" fmla="*/ 14 h 76"/>
                <a:gd name="T10" fmla="*/ 2 w 137"/>
                <a:gd name="T11" fmla="*/ 18 h 76"/>
                <a:gd name="T12" fmla="*/ 2 w 137"/>
                <a:gd name="T13" fmla="*/ 23 h 76"/>
                <a:gd name="T14" fmla="*/ 2 w 137"/>
                <a:gd name="T15" fmla="*/ 29 h 76"/>
                <a:gd name="T16" fmla="*/ 2 w 137"/>
                <a:gd name="T17" fmla="*/ 33 h 76"/>
                <a:gd name="T18" fmla="*/ 2 w 137"/>
                <a:gd name="T19" fmla="*/ 38 h 76"/>
                <a:gd name="T20" fmla="*/ 2 w 137"/>
                <a:gd name="T21" fmla="*/ 43 h 76"/>
                <a:gd name="T22" fmla="*/ 2 w 137"/>
                <a:gd name="T23" fmla="*/ 47 h 76"/>
                <a:gd name="T24" fmla="*/ 2 w 137"/>
                <a:gd name="T25" fmla="*/ 52 h 76"/>
                <a:gd name="T26" fmla="*/ 2 w 137"/>
                <a:gd name="T27" fmla="*/ 58 h 76"/>
                <a:gd name="T28" fmla="*/ 2 w 137"/>
                <a:gd name="T29" fmla="*/ 62 h 76"/>
                <a:gd name="T30" fmla="*/ 3 w 137"/>
                <a:gd name="T31" fmla="*/ 67 h 76"/>
                <a:gd name="T32" fmla="*/ 3 w 137"/>
                <a:gd name="T33" fmla="*/ 71 h 76"/>
                <a:gd name="T34" fmla="*/ 3 w 137"/>
                <a:gd name="T35" fmla="*/ 76 h 76"/>
                <a:gd name="T36" fmla="*/ 3 w 137"/>
                <a:gd name="T37" fmla="*/ 76 h 76"/>
                <a:gd name="T38" fmla="*/ 0 w 137"/>
                <a:gd name="T39" fmla="*/ 38 h 76"/>
                <a:gd name="T40" fmla="*/ 0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0" y="38"/>
                  </a:moveTo>
                  <a:lnTo>
                    <a:pt x="137" y="0"/>
                  </a:lnTo>
                  <a:lnTo>
                    <a:pt x="134" y="5"/>
                  </a:lnTo>
                  <a:lnTo>
                    <a:pt x="130" y="9"/>
                  </a:lnTo>
                  <a:lnTo>
                    <a:pt x="128" y="14"/>
                  </a:lnTo>
                  <a:lnTo>
                    <a:pt x="124" y="18"/>
                  </a:lnTo>
                  <a:lnTo>
                    <a:pt x="122" y="23"/>
                  </a:lnTo>
                  <a:lnTo>
                    <a:pt x="122" y="29"/>
                  </a:lnTo>
                  <a:lnTo>
                    <a:pt x="120" y="33"/>
                  </a:lnTo>
                  <a:lnTo>
                    <a:pt x="120" y="38"/>
                  </a:lnTo>
                  <a:lnTo>
                    <a:pt x="120" y="43"/>
                  </a:lnTo>
                  <a:lnTo>
                    <a:pt x="122" y="47"/>
                  </a:lnTo>
                  <a:lnTo>
                    <a:pt x="122" y="52"/>
                  </a:lnTo>
                  <a:lnTo>
                    <a:pt x="124" y="58"/>
                  </a:lnTo>
                  <a:lnTo>
                    <a:pt x="128" y="62"/>
                  </a:lnTo>
                  <a:lnTo>
                    <a:pt x="130" y="67"/>
                  </a:lnTo>
                  <a:lnTo>
                    <a:pt x="134" y="71"/>
                  </a:lnTo>
                  <a:lnTo>
                    <a:pt x="137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Freeform 233"/>
            <p:cNvSpPr>
              <a:spLocks/>
            </p:cNvSpPr>
            <p:nvPr/>
          </p:nvSpPr>
          <p:spPr bwMode="auto">
            <a:xfrm>
              <a:off x="4166" y="2977"/>
              <a:ext cx="69" cy="76"/>
            </a:xfrm>
            <a:custGeom>
              <a:avLst/>
              <a:gdLst>
                <a:gd name="T0" fmla="*/ 3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3 w 137"/>
                <a:gd name="T39" fmla="*/ 38 h 76"/>
                <a:gd name="T40" fmla="*/ 3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Line 234"/>
            <p:cNvSpPr>
              <a:spLocks noChangeShapeType="1"/>
            </p:cNvSpPr>
            <p:nvPr/>
          </p:nvSpPr>
          <p:spPr bwMode="auto">
            <a:xfrm>
              <a:off x="3434" y="3132"/>
              <a:ext cx="74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Freeform 235"/>
            <p:cNvSpPr>
              <a:spLocks/>
            </p:cNvSpPr>
            <p:nvPr/>
          </p:nvSpPr>
          <p:spPr bwMode="auto">
            <a:xfrm>
              <a:off x="3382" y="3094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2 w 140"/>
                <a:gd name="T3" fmla="*/ 0 h 76"/>
                <a:gd name="T4" fmla="*/ 2 w 140"/>
                <a:gd name="T5" fmla="*/ 5 h 76"/>
                <a:gd name="T6" fmla="*/ 2 w 140"/>
                <a:gd name="T7" fmla="*/ 9 h 76"/>
                <a:gd name="T8" fmla="*/ 2 w 140"/>
                <a:gd name="T9" fmla="*/ 14 h 76"/>
                <a:gd name="T10" fmla="*/ 1 w 140"/>
                <a:gd name="T11" fmla="*/ 18 h 76"/>
                <a:gd name="T12" fmla="*/ 1 w 140"/>
                <a:gd name="T13" fmla="*/ 23 h 76"/>
                <a:gd name="T14" fmla="*/ 1 w 140"/>
                <a:gd name="T15" fmla="*/ 29 h 76"/>
                <a:gd name="T16" fmla="*/ 1 w 140"/>
                <a:gd name="T17" fmla="*/ 33 h 76"/>
                <a:gd name="T18" fmla="*/ 1 w 140"/>
                <a:gd name="T19" fmla="*/ 38 h 76"/>
                <a:gd name="T20" fmla="*/ 1 w 140"/>
                <a:gd name="T21" fmla="*/ 43 h 76"/>
                <a:gd name="T22" fmla="*/ 1 w 140"/>
                <a:gd name="T23" fmla="*/ 47 h 76"/>
                <a:gd name="T24" fmla="*/ 1 w 140"/>
                <a:gd name="T25" fmla="*/ 52 h 76"/>
                <a:gd name="T26" fmla="*/ 1 w 140"/>
                <a:gd name="T27" fmla="*/ 58 h 76"/>
                <a:gd name="T28" fmla="*/ 2 w 140"/>
                <a:gd name="T29" fmla="*/ 62 h 76"/>
                <a:gd name="T30" fmla="*/ 2 w 140"/>
                <a:gd name="T31" fmla="*/ 67 h 76"/>
                <a:gd name="T32" fmla="*/ 2 w 140"/>
                <a:gd name="T33" fmla="*/ 71 h 76"/>
                <a:gd name="T34" fmla="*/ 2 w 140"/>
                <a:gd name="T35" fmla="*/ 76 h 76"/>
                <a:gd name="T36" fmla="*/ 2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Freeform 236"/>
            <p:cNvSpPr>
              <a:spLocks/>
            </p:cNvSpPr>
            <p:nvPr/>
          </p:nvSpPr>
          <p:spPr bwMode="auto">
            <a:xfrm>
              <a:off x="4166" y="3094"/>
              <a:ext cx="69" cy="76"/>
            </a:xfrm>
            <a:custGeom>
              <a:avLst/>
              <a:gdLst>
                <a:gd name="T0" fmla="*/ 3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3 w 137"/>
                <a:gd name="T39" fmla="*/ 38 h 76"/>
                <a:gd name="T40" fmla="*/ 3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" name="Rectangle 237"/>
            <p:cNvSpPr>
              <a:spLocks noChangeArrowheads="1"/>
            </p:cNvSpPr>
            <p:nvPr/>
          </p:nvSpPr>
          <p:spPr bwMode="auto">
            <a:xfrm>
              <a:off x="3539" y="2936"/>
              <a:ext cx="72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on</a:t>
              </a:r>
              <a:endParaRPr lang="en-US" altLang="zh-CN"/>
            </a:p>
          </p:txBody>
        </p:sp>
        <p:sp>
          <p:nvSpPr>
            <p:cNvPr id="240" name="Rectangle 238"/>
            <p:cNvSpPr>
              <a:spLocks noChangeArrowheads="1"/>
            </p:cNvSpPr>
            <p:nvPr/>
          </p:nvSpPr>
          <p:spPr bwMode="auto">
            <a:xfrm>
              <a:off x="3520" y="2890"/>
              <a:ext cx="2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241" name="Line 239"/>
            <p:cNvSpPr>
              <a:spLocks noChangeShapeType="1"/>
            </p:cNvSpPr>
            <p:nvPr/>
          </p:nvSpPr>
          <p:spPr bwMode="auto">
            <a:xfrm flipV="1">
              <a:off x="3699" y="3910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Line 240"/>
            <p:cNvSpPr>
              <a:spLocks noChangeShapeType="1"/>
            </p:cNvSpPr>
            <p:nvPr/>
          </p:nvSpPr>
          <p:spPr bwMode="auto">
            <a:xfrm flipV="1">
              <a:off x="4232" y="3910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" name="Line 241"/>
            <p:cNvSpPr>
              <a:spLocks noChangeShapeType="1"/>
            </p:cNvSpPr>
            <p:nvPr/>
          </p:nvSpPr>
          <p:spPr bwMode="auto">
            <a:xfrm flipV="1">
              <a:off x="4552" y="3910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" name="Line 242"/>
            <p:cNvSpPr>
              <a:spLocks noChangeShapeType="1"/>
            </p:cNvSpPr>
            <p:nvPr/>
          </p:nvSpPr>
          <p:spPr bwMode="auto">
            <a:xfrm flipV="1">
              <a:off x="5086" y="3910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Freeform 243"/>
            <p:cNvSpPr>
              <a:spLocks/>
            </p:cNvSpPr>
            <p:nvPr/>
          </p:nvSpPr>
          <p:spPr bwMode="auto">
            <a:xfrm>
              <a:off x="3382" y="3483"/>
              <a:ext cx="1898" cy="234"/>
            </a:xfrm>
            <a:custGeom>
              <a:avLst/>
              <a:gdLst>
                <a:gd name="T0" fmla="*/ 0 w 3797"/>
                <a:gd name="T1" fmla="*/ 234 h 234"/>
                <a:gd name="T2" fmla="*/ 10 w 3797"/>
                <a:gd name="T3" fmla="*/ 0 h 234"/>
                <a:gd name="T4" fmla="*/ 26 w 3797"/>
                <a:gd name="T5" fmla="*/ 234 h 234"/>
                <a:gd name="T6" fmla="*/ 36 w 3797"/>
                <a:gd name="T7" fmla="*/ 0 h 234"/>
                <a:gd name="T8" fmla="*/ 53 w 3797"/>
                <a:gd name="T9" fmla="*/ 234 h 234"/>
                <a:gd name="T10" fmla="*/ 59 w 3797"/>
                <a:gd name="T11" fmla="*/ 117 h 2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797"/>
                <a:gd name="T19" fmla="*/ 0 h 234"/>
                <a:gd name="T20" fmla="*/ 3797 w 3797"/>
                <a:gd name="T21" fmla="*/ 234 h 2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797" h="234">
                  <a:moveTo>
                    <a:pt x="0" y="234"/>
                  </a:moveTo>
                  <a:lnTo>
                    <a:pt x="642" y="0"/>
                  </a:lnTo>
                  <a:lnTo>
                    <a:pt x="1707" y="234"/>
                  </a:lnTo>
                  <a:lnTo>
                    <a:pt x="2347" y="0"/>
                  </a:lnTo>
                  <a:lnTo>
                    <a:pt x="3414" y="234"/>
                  </a:lnTo>
                  <a:lnTo>
                    <a:pt x="3797" y="11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" name="Freeform 244"/>
            <p:cNvSpPr>
              <a:spLocks/>
            </p:cNvSpPr>
            <p:nvPr/>
          </p:nvSpPr>
          <p:spPr bwMode="auto">
            <a:xfrm>
              <a:off x="3702" y="2430"/>
              <a:ext cx="533" cy="479"/>
            </a:xfrm>
            <a:custGeom>
              <a:avLst/>
              <a:gdLst>
                <a:gd name="T0" fmla="*/ 0 w 1065"/>
                <a:gd name="T1" fmla="*/ 0 h 479"/>
                <a:gd name="T2" fmla="*/ 0 w 1065"/>
                <a:gd name="T3" fmla="*/ 479 h 479"/>
                <a:gd name="T4" fmla="*/ 17 w 1065"/>
                <a:gd name="T5" fmla="*/ 479 h 479"/>
                <a:gd name="T6" fmla="*/ 17 w 1065"/>
                <a:gd name="T7" fmla="*/ 0 h 4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5"/>
                <a:gd name="T13" fmla="*/ 0 h 479"/>
                <a:gd name="T14" fmla="*/ 1065 w 1065"/>
                <a:gd name="T15" fmla="*/ 479 h 4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5" h="479">
                  <a:moveTo>
                    <a:pt x="0" y="0"/>
                  </a:moveTo>
                  <a:lnTo>
                    <a:pt x="0" y="479"/>
                  </a:lnTo>
                  <a:lnTo>
                    <a:pt x="1065" y="479"/>
                  </a:lnTo>
                  <a:lnTo>
                    <a:pt x="106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" name="Freeform 245"/>
            <p:cNvSpPr>
              <a:spLocks noEditPoints="1"/>
            </p:cNvSpPr>
            <p:nvPr/>
          </p:nvSpPr>
          <p:spPr bwMode="auto">
            <a:xfrm>
              <a:off x="3376" y="2610"/>
              <a:ext cx="2039" cy="13"/>
            </a:xfrm>
            <a:custGeom>
              <a:avLst/>
              <a:gdLst>
                <a:gd name="T0" fmla="*/ 4 w 4078"/>
                <a:gd name="T1" fmla="*/ 5 h 13"/>
                <a:gd name="T2" fmla="*/ 3 w 4078"/>
                <a:gd name="T3" fmla="*/ 13 h 13"/>
                <a:gd name="T4" fmla="*/ 0 w 4078"/>
                <a:gd name="T5" fmla="*/ 6 h 13"/>
                <a:gd name="T6" fmla="*/ 1 w 4078"/>
                <a:gd name="T7" fmla="*/ 0 h 13"/>
                <a:gd name="T8" fmla="*/ 8 w 4078"/>
                <a:gd name="T9" fmla="*/ 5 h 13"/>
                <a:gd name="T10" fmla="*/ 8 w 4078"/>
                <a:gd name="T11" fmla="*/ 13 h 13"/>
                <a:gd name="T12" fmla="*/ 5 w 4078"/>
                <a:gd name="T13" fmla="*/ 6 h 13"/>
                <a:gd name="T14" fmla="*/ 5 w 4078"/>
                <a:gd name="T15" fmla="*/ 0 h 13"/>
                <a:gd name="T16" fmla="*/ 13 w 4078"/>
                <a:gd name="T17" fmla="*/ 5 h 13"/>
                <a:gd name="T18" fmla="*/ 13 w 4078"/>
                <a:gd name="T19" fmla="*/ 13 h 13"/>
                <a:gd name="T20" fmla="*/ 10 w 4078"/>
                <a:gd name="T21" fmla="*/ 6 h 13"/>
                <a:gd name="T22" fmla="*/ 10 w 4078"/>
                <a:gd name="T23" fmla="*/ 0 h 13"/>
                <a:gd name="T24" fmla="*/ 18 w 4078"/>
                <a:gd name="T25" fmla="*/ 5 h 13"/>
                <a:gd name="T26" fmla="*/ 18 w 4078"/>
                <a:gd name="T27" fmla="*/ 13 h 13"/>
                <a:gd name="T28" fmla="*/ 15 w 4078"/>
                <a:gd name="T29" fmla="*/ 6 h 13"/>
                <a:gd name="T30" fmla="*/ 15 w 4078"/>
                <a:gd name="T31" fmla="*/ 0 h 13"/>
                <a:gd name="T32" fmla="*/ 23 w 4078"/>
                <a:gd name="T33" fmla="*/ 5 h 13"/>
                <a:gd name="T34" fmla="*/ 23 w 4078"/>
                <a:gd name="T35" fmla="*/ 13 h 13"/>
                <a:gd name="T36" fmla="*/ 20 w 4078"/>
                <a:gd name="T37" fmla="*/ 6 h 13"/>
                <a:gd name="T38" fmla="*/ 20 w 4078"/>
                <a:gd name="T39" fmla="*/ 0 h 13"/>
                <a:gd name="T40" fmla="*/ 28 w 4078"/>
                <a:gd name="T41" fmla="*/ 5 h 13"/>
                <a:gd name="T42" fmla="*/ 27 w 4078"/>
                <a:gd name="T43" fmla="*/ 13 h 13"/>
                <a:gd name="T44" fmla="*/ 24 w 4078"/>
                <a:gd name="T45" fmla="*/ 6 h 13"/>
                <a:gd name="T46" fmla="*/ 25 w 4078"/>
                <a:gd name="T47" fmla="*/ 0 h 13"/>
                <a:gd name="T48" fmla="*/ 32 w 4078"/>
                <a:gd name="T49" fmla="*/ 5 h 13"/>
                <a:gd name="T50" fmla="*/ 32 w 4078"/>
                <a:gd name="T51" fmla="*/ 13 h 13"/>
                <a:gd name="T52" fmla="*/ 29 w 4078"/>
                <a:gd name="T53" fmla="*/ 6 h 13"/>
                <a:gd name="T54" fmla="*/ 29 w 4078"/>
                <a:gd name="T55" fmla="*/ 0 h 13"/>
                <a:gd name="T56" fmla="*/ 37 w 4078"/>
                <a:gd name="T57" fmla="*/ 5 h 13"/>
                <a:gd name="T58" fmla="*/ 37 w 4078"/>
                <a:gd name="T59" fmla="*/ 13 h 13"/>
                <a:gd name="T60" fmla="*/ 34 w 4078"/>
                <a:gd name="T61" fmla="*/ 6 h 13"/>
                <a:gd name="T62" fmla="*/ 34 w 4078"/>
                <a:gd name="T63" fmla="*/ 0 h 13"/>
                <a:gd name="T64" fmla="*/ 42 w 4078"/>
                <a:gd name="T65" fmla="*/ 5 h 13"/>
                <a:gd name="T66" fmla="*/ 42 w 4078"/>
                <a:gd name="T67" fmla="*/ 13 h 13"/>
                <a:gd name="T68" fmla="*/ 39 w 4078"/>
                <a:gd name="T69" fmla="*/ 6 h 13"/>
                <a:gd name="T70" fmla="*/ 39 w 4078"/>
                <a:gd name="T71" fmla="*/ 0 h 13"/>
                <a:gd name="T72" fmla="*/ 47 w 4078"/>
                <a:gd name="T73" fmla="*/ 5 h 13"/>
                <a:gd name="T74" fmla="*/ 47 w 4078"/>
                <a:gd name="T75" fmla="*/ 13 h 13"/>
                <a:gd name="T76" fmla="*/ 44 w 4078"/>
                <a:gd name="T77" fmla="*/ 6 h 13"/>
                <a:gd name="T78" fmla="*/ 44 w 4078"/>
                <a:gd name="T79" fmla="*/ 0 h 13"/>
                <a:gd name="T80" fmla="*/ 52 w 4078"/>
                <a:gd name="T81" fmla="*/ 5 h 13"/>
                <a:gd name="T82" fmla="*/ 51 w 4078"/>
                <a:gd name="T83" fmla="*/ 13 h 13"/>
                <a:gd name="T84" fmla="*/ 48 w 4078"/>
                <a:gd name="T85" fmla="*/ 6 h 13"/>
                <a:gd name="T86" fmla="*/ 49 w 4078"/>
                <a:gd name="T87" fmla="*/ 0 h 13"/>
                <a:gd name="T88" fmla="*/ 56 w 4078"/>
                <a:gd name="T89" fmla="*/ 5 h 13"/>
                <a:gd name="T90" fmla="*/ 56 w 4078"/>
                <a:gd name="T91" fmla="*/ 13 h 13"/>
                <a:gd name="T92" fmla="*/ 53 w 4078"/>
                <a:gd name="T93" fmla="*/ 6 h 13"/>
                <a:gd name="T94" fmla="*/ 53 w 4078"/>
                <a:gd name="T95" fmla="*/ 0 h 13"/>
                <a:gd name="T96" fmla="*/ 61 w 4078"/>
                <a:gd name="T97" fmla="*/ 5 h 13"/>
                <a:gd name="T98" fmla="*/ 61 w 4078"/>
                <a:gd name="T99" fmla="*/ 13 h 13"/>
                <a:gd name="T100" fmla="*/ 58 w 4078"/>
                <a:gd name="T101" fmla="*/ 6 h 13"/>
                <a:gd name="T102" fmla="*/ 58 w 4078"/>
                <a:gd name="T103" fmla="*/ 0 h 13"/>
                <a:gd name="T104" fmla="*/ 64 w 4078"/>
                <a:gd name="T105" fmla="*/ 5 h 13"/>
                <a:gd name="T106" fmla="*/ 64 w 4078"/>
                <a:gd name="T107" fmla="*/ 13 h 13"/>
                <a:gd name="T108" fmla="*/ 63 w 4078"/>
                <a:gd name="T109" fmla="*/ 6 h 13"/>
                <a:gd name="T110" fmla="*/ 63 w 4078"/>
                <a:gd name="T111" fmla="*/ 0 h 13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4078"/>
                <a:gd name="T169" fmla="*/ 0 h 13"/>
                <a:gd name="T170" fmla="*/ 4078 w 4078"/>
                <a:gd name="T171" fmla="*/ 13 h 13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4078" h="13">
                  <a:moveTo>
                    <a:pt x="11" y="0"/>
                  </a:moveTo>
                  <a:lnTo>
                    <a:pt x="191" y="0"/>
                  </a:lnTo>
                  <a:lnTo>
                    <a:pt x="194" y="0"/>
                  </a:lnTo>
                  <a:lnTo>
                    <a:pt x="196" y="0"/>
                  </a:lnTo>
                  <a:lnTo>
                    <a:pt x="200" y="2"/>
                  </a:lnTo>
                  <a:lnTo>
                    <a:pt x="202" y="4"/>
                  </a:lnTo>
                  <a:lnTo>
                    <a:pt x="204" y="5"/>
                  </a:lnTo>
                  <a:lnTo>
                    <a:pt x="204" y="6"/>
                  </a:lnTo>
                  <a:lnTo>
                    <a:pt x="204" y="8"/>
                  </a:lnTo>
                  <a:lnTo>
                    <a:pt x="202" y="9"/>
                  </a:lnTo>
                  <a:lnTo>
                    <a:pt x="200" y="11"/>
                  </a:lnTo>
                  <a:lnTo>
                    <a:pt x="196" y="13"/>
                  </a:lnTo>
                  <a:lnTo>
                    <a:pt x="194" y="13"/>
                  </a:lnTo>
                  <a:lnTo>
                    <a:pt x="191" y="13"/>
                  </a:lnTo>
                  <a:lnTo>
                    <a:pt x="11" y="13"/>
                  </a:lnTo>
                  <a:lnTo>
                    <a:pt x="9" y="13"/>
                  </a:lnTo>
                  <a:lnTo>
                    <a:pt x="8" y="13"/>
                  </a:lnTo>
                  <a:lnTo>
                    <a:pt x="4" y="11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4" y="2"/>
                  </a:lnTo>
                  <a:lnTo>
                    <a:pt x="8" y="0"/>
                  </a:lnTo>
                  <a:lnTo>
                    <a:pt x="9" y="0"/>
                  </a:lnTo>
                  <a:lnTo>
                    <a:pt x="11" y="0"/>
                  </a:lnTo>
                  <a:close/>
                  <a:moveTo>
                    <a:pt x="319" y="0"/>
                  </a:moveTo>
                  <a:lnTo>
                    <a:pt x="498" y="0"/>
                  </a:lnTo>
                  <a:lnTo>
                    <a:pt x="500" y="0"/>
                  </a:lnTo>
                  <a:lnTo>
                    <a:pt x="502" y="0"/>
                  </a:lnTo>
                  <a:lnTo>
                    <a:pt x="507" y="2"/>
                  </a:lnTo>
                  <a:lnTo>
                    <a:pt x="509" y="4"/>
                  </a:lnTo>
                  <a:lnTo>
                    <a:pt x="509" y="5"/>
                  </a:lnTo>
                  <a:lnTo>
                    <a:pt x="511" y="6"/>
                  </a:lnTo>
                  <a:lnTo>
                    <a:pt x="509" y="8"/>
                  </a:lnTo>
                  <a:lnTo>
                    <a:pt x="509" y="9"/>
                  </a:lnTo>
                  <a:lnTo>
                    <a:pt x="507" y="11"/>
                  </a:lnTo>
                  <a:lnTo>
                    <a:pt x="502" y="13"/>
                  </a:lnTo>
                  <a:lnTo>
                    <a:pt x="500" y="13"/>
                  </a:lnTo>
                  <a:lnTo>
                    <a:pt x="498" y="13"/>
                  </a:lnTo>
                  <a:lnTo>
                    <a:pt x="319" y="13"/>
                  </a:lnTo>
                  <a:lnTo>
                    <a:pt x="317" y="13"/>
                  </a:lnTo>
                  <a:lnTo>
                    <a:pt x="313" y="13"/>
                  </a:lnTo>
                  <a:lnTo>
                    <a:pt x="309" y="11"/>
                  </a:lnTo>
                  <a:lnTo>
                    <a:pt x="307" y="9"/>
                  </a:lnTo>
                  <a:lnTo>
                    <a:pt x="306" y="8"/>
                  </a:lnTo>
                  <a:lnTo>
                    <a:pt x="306" y="6"/>
                  </a:lnTo>
                  <a:lnTo>
                    <a:pt x="306" y="5"/>
                  </a:lnTo>
                  <a:lnTo>
                    <a:pt x="307" y="4"/>
                  </a:lnTo>
                  <a:lnTo>
                    <a:pt x="309" y="2"/>
                  </a:lnTo>
                  <a:lnTo>
                    <a:pt x="313" y="0"/>
                  </a:lnTo>
                  <a:lnTo>
                    <a:pt x="317" y="0"/>
                  </a:lnTo>
                  <a:lnTo>
                    <a:pt x="319" y="0"/>
                  </a:lnTo>
                  <a:close/>
                  <a:moveTo>
                    <a:pt x="626" y="0"/>
                  </a:moveTo>
                  <a:lnTo>
                    <a:pt x="804" y="0"/>
                  </a:lnTo>
                  <a:lnTo>
                    <a:pt x="807" y="0"/>
                  </a:lnTo>
                  <a:lnTo>
                    <a:pt x="809" y="0"/>
                  </a:lnTo>
                  <a:lnTo>
                    <a:pt x="813" y="2"/>
                  </a:lnTo>
                  <a:lnTo>
                    <a:pt x="817" y="4"/>
                  </a:lnTo>
                  <a:lnTo>
                    <a:pt x="817" y="5"/>
                  </a:lnTo>
                  <a:lnTo>
                    <a:pt x="817" y="6"/>
                  </a:lnTo>
                  <a:lnTo>
                    <a:pt x="817" y="8"/>
                  </a:lnTo>
                  <a:lnTo>
                    <a:pt x="817" y="9"/>
                  </a:lnTo>
                  <a:lnTo>
                    <a:pt x="813" y="11"/>
                  </a:lnTo>
                  <a:lnTo>
                    <a:pt x="809" y="13"/>
                  </a:lnTo>
                  <a:lnTo>
                    <a:pt x="807" y="13"/>
                  </a:lnTo>
                  <a:lnTo>
                    <a:pt x="804" y="13"/>
                  </a:lnTo>
                  <a:lnTo>
                    <a:pt x="626" y="13"/>
                  </a:lnTo>
                  <a:lnTo>
                    <a:pt x="622" y="13"/>
                  </a:lnTo>
                  <a:lnTo>
                    <a:pt x="621" y="13"/>
                  </a:lnTo>
                  <a:lnTo>
                    <a:pt x="617" y="11"/>
                  </a:lnTo>
                  <a:lnTo>
                    <a:pt x="613" y="9"/>
                  </a:lnTo>
                  <a:lnTo>
                    <a:pt x="613" y="8"/>
                  </a:lnTo>
                  <a:lnTo>
                    <a:pt x="613" y="6"/>
                  </a:lnTo>
                  <a:lnTo>
                    <a:pt x="613" y="5"/>
                  </a:lnTo>
                  <a:lnTo>
                    <a:pt x="613" y="4"/>
                  </a:lnTo>
                  <a:lnTo>
                    <a:pt x="617" y="2"/>
                  </a:lnTo>
                  <a:lnTo>
                    <a:pt x="621" y="0"/>
                  </a:lnTo>
                  <a:lnTo>
                    <a:pt x="622" y="0"/>
                  </a:lnTo>
                  <a:lnTo>
                    <a:pt x="626" y="0"/>
                  </a:lnTo>
                  <a:close/>
                  <a:moveTo>
                    <a:pt x="932" y="0"/>
                  </a:moveTo>
                  <a:lnTo>
                    <a:pt x="1111" y="0"/>
                  </a:lnTo>
                  <a:lnTo>
                    <a:pt x="1113" y="0"/>
                  </a:lnTo>
                  <a:lnTo>
                    <a:pt x="1117" y="0"/>
                  </a:lnTo>
                  <a:lnTo>
                    <a:pt x="1120" y="2"/>
                  </a:lnTo>
                  <a:lnTo>
                    <a:pt x="1122" y="4"/>
                  </a:lnTo>
                  <a:lnTo>
                    <a:pt x="1124" y="5"/>
                  </a:lnTo>
                  <a:lnTo>
                    <a:pt x="1124" y="6"/>
                  </a:lnTo>
                  <a:lnTo>
                    <a:pt x="1124" y="8"/>
                  </a:lnTo>
                  <a:lnTo>
                    <a:pt x="1122" y="9"/>
                  </a:lnTo>
                  <a:lnTo>
                    <a:pt x="1120" y="11"/>
                  </a:lnTo>
                  <a:lnTo>
                    <a:pt x="1117" y="13"/>
                  </a:lnTo>
                  <a:lnTo>
                    <a:pt x="1113" y="13"/>
                  </a:lnTo>
                  <a:lnTo>
                    <a:pt x="1111" y="13"/>
                  </a:lnTo>
                  <a:lnTo>
                    <a:pt x="932" y="13"/>
                  </a:lnTo>
                  <a:lnTo>
                    <a:pt x="930" y="13"/>
                  </a:lnTo>
                  <a:lnTo>
                    <a:pt x="926" y="13"/>
                  </a:lnTo>
                  <a:lnTo>
                    <a:pt x="922" y="11"/>
                  </a:lnTo>
                  <a:lnTo>
                    <a:pt x="920" y="9"/>
                  </a:lnTo>
                  <a:lnTo>
                    <a:pt x="919" y="8"/>
                  </a:lnTo>
                  <a:lnTo>
                    <a:pt x="919" y="6"/>
                  </a:lnTo>
                  <a:lnTo>
                    <a:pt x="919" y="5"/>
                  </a:lnTo>
                  <a:lnTo>
                    <a:pt x="920" y="4"/>
                  </a:lnTo>
                  <a:lnTo>
                    <a:pt x="922" y="2"/>
                  </a:lnTo>
                  <a:lnTo>
                    <a:pt x="926" y="0"/>
                  </a:lnTo>
                  <a:lnTo>
                    <a:pt x="930" y="0"/>
                  </a:lnTo>
                  <a:lnTo>
                    <a:pt x="932" y="0"/>
                  </a:lnTo>
                  <a:close/>
                  <a:moveTo>
                    <a:pt x="1239" y="0"/>
                  </a:moveTo>
                  <a:lnTo>
                    <a:pt x="1417" y="0"/>
                  </a:lnTo>
                  <a:lnTo>
                    <a:pt x="1420" y="0"/>
                  </a:lnTo>
                  <a:lnTo>
                    <a:pt x="1422" y="0"/>
                  </a:lnTo>
                  <a:lnTo>
                    <a:pt x="1426" y="2"/>
                  </a:lnTo>
                  <a:lnTo>
                    <a:pt x="1430" y="4"/>
                  </a:lnTo>
                  <a:lnTo>
                    <a:pt x="1430" y="5"/>
                  </a:lnTo>
                  <a:lnTo>
                    <a:pt x="1430" y="6"/>
                  </a:lnTo>
                  <a:lnTo>
                    <a:pt x="1430" y="8"/>
                  </a:lnTo>
                  <a:lnTo>
                    <a:pt x="1430" y="9"/>
                  </a:lnTo>
                  <a:lnTo>
                    <a:pt x="1426" y="11"/>
                  </a:lnTo>
                  <a:lnTo>
                    <a:pt x="1422" y="13"/>
                  </a:lnTo>
                  <a:lnTo>
                    <a:pt x="1420" y="13"/>
                  </a:lnTo>
                  <a:lnTo>
                    <a:pt x="1417" y="13"/>
                  </a:lnTo>
                  <a:lnTo>
                    <a:pt x="1239" y="13"/>
                  </a:lnTo>
                  <a:lnTo>
                    <a:pt x="1235" y="13"/>
                  </a:lnTo>
                  <a:lnTo>
                    <a:pt x="1234" y="13"/>
                  </a:lnTo>
                  <a:lnTo>
                    <a:pt x="1230" y="11"/>
                  </a:lnTo>
                  <a:lnTo>
                    <a:pt x="1226" y="9"/>
                  </a:lnTo>
                  <a:lnTo>
                    <a:pt x="1226" y="8"/>
                  </a:lnTo>
                  <a:lnTo>
                    <a:pt x="1226" y="6"/>
                  </a:lnTo>
                  <a:lnTo>
                    <a:pt x="1226" y="5"/>
                  </a:lnTo>
                  <a:lnTo>
                    <a:pt x="1226" y="4"/>
                  </a:lnTo>
                  <a:lnTo>
                    <a:pt x="1230" y="2"/>
                  </a:lnTo>
                  <a:lnTo>
                    <a:pt x="1234" y="0"/>
                  </a:lnTo>
                  <a:lnTo>
                    <a:pt x="1235" y="0"/>
                  </a:lnTo>
                  <a:lnTo>
                    <a:pt x="1239" y="0"/>
                  </a:lnTo>
                  <a:close/>
                  <a:moveTo>
                    <a:pt x="1545" y="0"/>
                  </a:moveTo>
                  <a:lnTo>
                    <a:pt x="1724" y="0"/>
                  </a:lnTo>
                  <a:lnTo>
                    <a:pt x="1726" y="0"/>
                  </a:lnTo>
                  <a:lnTo>
                    <a:pt x="1730" y="0"/>
                  </a:lnTo>
                  <a:lnTo>
                    <a:pt x="1733" y="2"/>
                  </a:lnTo>
                  <a:lnTo>
                    <a:pt x="1735" y="4"/>
                  </a:lnTo>
                  <a:lnTo>
                    <a:pt x="1737" y="5"/>
                  </a:lnTo>
                  <a:lnTo>
                    <a:pt x="1737" y="6"/>
                  </a:lnTo>
                  <a:lnTo>
                    <a:pt x="1737" y="8"/>
                  </a:lnTo>
                  <a:lnTo>
                    <a:pt x="1735" y="9"/>
                  </a:lnTo>
                  <a:lnTo>
                    <a:pt x="1733" y="11"/>
                  </a:lnTo>
                  <a:lnTo>
                    <a:pt x="1730" y="13"/>
                  </a:lnTo>
                  <a:lnTo>
                    <a:pt x="1726" y="13"/>
                  </a:lnTo>
                  <a:lnTo>
                    <a:pt x="1724" y="13"/>
                  </a:lnTo>
                  <a:lnTo>
                    <a:pt x="1545" y="13"/>
                  </a:lnTo>
                  <a:lnTo>
                    <a:pt x="1543" y="13"/>
                  </a:lnTo>
                  <a:lnTo>
                    <a:pt x="1541" y="13"/>
                  </a:lnTo>
                  <a:lnTo>
                    <a:pt x="1535" y="11"/>
                  </a:lnTo>
                  <a:lnTo>
                    <a:pt x="1533" y="9"/>
                  </a:lnTo>
                  <a:lnTo>
                    <a:pt x="1533" y="8"/>
                  </a:lnTo>
                  <a:lnTo>
                    <a:pt x="1532" y="6"/>
                  </a:lnTo>
                  <a:lnTo>
                    <a:pt x="1533" y="5"/>
                  </a:lnTo>
                  <a:lnTo>
                    <a:pt x="1533" y="4"/>
                  </a:lnTo>
                  <a:lnTo>
                    <a:pt x="1535" y="2"/>
                  </a:lnTo>
                  <a:lnTo>
                    <a:pt x="1541" y="0"/>
                  </a:lnTo>
                  <a:lnTo>
                    <a:pt x="1543" y="0"/>
                  </a:lnTo>
                  <a:lnTo>
                    <a:pt x="1545" y="0"/>
                  </a:lnTo>
                  <a:close/>
                  <a:moveTo>
                    <a:pt x="1852" y="0"/>
                  </a:moveTo>
                  <a:lnTo>
                    <a:pt x="2031" y="0"/>
                  </a:lnTo>
                  <a:lnTo>
                    <a:pt x="2033" y="0"/>
                  </a:lnTo>
                  <a:lnTo>
                    <a:pt x="2035" y="0"/>
                  </a:lnTo>
                  <a:lnTo>
                    <a:pt x="2039" y="2"/>
                  </a:lnTo>
                  <a:lnTo>
                    <a:pt x="2043" y="4"/>
                  </a:lnTo>
                  <a:lnTo>
                    <a:pt x="2043" y="5"/>
                  </a:lnTo>
                  <a:lnTo>
                    <a:pt x="2043" y="6"/>
                  </a:lnTo>
                  <a:lnTo>
                    <a:pt x="2043" y="8"/>
                  </a:lnTo>
                  <a:lnTo>
                    <a:pt x="2043" y="9"/>
                  </a:lnTo>
                  <a:lnTo>
                    <a:pt x="2039" y="11"/>
                  </a:lnTo>
                  <a:lnTo>
                    <a:pt x="2035" y="13"/>
                  </a:lnTo>
                  <a:lnTo>
                    <a:pt x="2033" y="13"/>
                  </a:lnTo>
                  <a:lnTo>
                    <a:pt x="2031" y="13"/>
                  </a:lnTo>
                  <a:lnTo>
                    <a:pt x="1852" y="13"/>
                  </a:lnTo>
                  <a:lnTo>
                    <a:pt x="1848" y="13"/>
                  </a:lnTo>
                  <a:lnTo>
                    <a:pt x="1847" y="13"/>
                  </a:lnTo>
                  <a:lnTo>
                    <a:pt x="1843" y="11"/>
                  </a:lnTo>
                  <a:lnTo>
                    <a:pt x="1839" y="9"/>
                  </a:lnTo>
                  <a:lnTo>
                    <a:pt x="1839" y="8"/>
                  </a:lnTo>
                  <a:lnTo>
                    <a:pt x="1839" y="6"/>
                  </a:lnTo>
                  <a:lnTo>
                    <a:pt x="1839" y="5"/>
                  </a:lnTo>
                  <a:lnTo>
                    <a:pt x="1839" y="4"/>
                  </a:lnTo>
                  <a:lnTo>
                    <a:pt x="1843" y="2"/>
                  </a:lnTo>
                  <a:lnTo>
                    <a:pt x="1847" y="0"/>
                  </a:lnTo>
                  <a:lnTo>
                    <a:pt x="1848" y="0"/>
                  </a:lnTo>
                  <a:lnTo>
                    <a:pt x="1852" y="0"/>
                  </a:lnTo>
                  <a:close/>
                  <a:moveTo>
                    <a:pt x="2158" y="0"/>
                  </a:moveTo>
                  <a:lnTo>
                    <a:pt x="2337" y="0"/>
                  </a:lnTo>
                  <a:lnTo>
                    <a:pt x="2341" y="0"/>
                  </a:lnTo>
                  <a:lnTo>
                    <a:pt x="2343" y="0"/>
                  </a:lnTo>
                  <a:lnTo>
                    <a:pt x="2346" y="2"/>
                  </a:lnTo>
                  <a:lnTo>
                    <a:pt x="2348" y="4"/>
                  </a:lnTo>
                  <a:lnTo>
                    <a:pt x="2350" y="5"/>
                  </a:lnTo>
                  <a:lnTo>
                    <a:pt x="2350" y="6"/>
                  </a:lnTo>
                  <a:lnTo>
                    <a:pt x="2350" y="8"/>
                  </a:lnTo>
                  <a:lnTo>
                    <a:pt x="2348" y="9"/>
                  </a:lnTo>
                  <a:lnTo>
                    <a:pt x="2346" y="11"/>
                  </a:lnTo>
                  <a:lnTo>
                    <a:pt x="2343" y="13"/>
                  </a:lnTo>
                  <a:lnTo>
                    <a:pt x="2341" y="13"/>
                  </a:lnTo>
                  <a:lnTo>
                    <a:pt x="2337" y="13"/>
                  </a:lnTo>
                  <a:lnTo>
                    <a:pt x="2158" y="13"/>
                  </a:lnTo>
                  <a:lnTo>
                    <a:pt x="2156" y="13"/>
                  </a:lnTo>
                  <a:lnTo>
                    <a:pt x="2154" y="13"/>
                  </a:lnTo>
                  <a:lnTo>
                    <a:pt x="2148" y="11"/>
                  </a:lnTo>
                  <a:lnTo>
                    <a:pt x="2146" y="9"/>
                  </a:lnTo>
                  <a:lnTo>
                    <a:pt x="2146" y="8"/>
                  </a:lnTo>
                  <a:lnTo>
                    <a:pt x="2146" y="6"/>
                  </a:lnTo>
                  <a:lnTo>
                    <a:pt x="2146" y="5"/>
                  </a:lnTo>
                  <a:lnTo>
                    <a:pt x="2146" y="4"/>
                  </a:lnTo>
                  <a:lnTo>
                    <a:pt x="2148" y="2"/>
                  </a:lnTo>
                  <a:lnTo>
                    <a:pt x="2154" y="0"/>
                  </a:lnTo>
                  <a:lnTo>
                    <a:pt x="2156" y="0"/>
                  </a:lnTo>
                  <a:lnTo>
                    <a:pt x="2158" y="0"/>
                  </a:lnTo>
                  <a:close/>
                  <a:moveTo>
                    <a:pt x="2465" y="0"/>
                  </a:moveTo>
                  <a:lnTo>
                    <a:pt x="2644" y="0"/>
                  </a:lnTo>
                  <a:lnTo>
                    <a:pt x="2646" y="0"/>
                  </a:lnTo>
                  <a:lnTo>
                    <a:pt x="2648" y="0"/>
                  </a:lnTo>
                  <a:lnTo>
                    <a:pt x="2652" y="2"/>
                  </a:lnTo>
                  <a:lnTo>
                    <a:pt x="2656" y="4"/>
                  </a:lnTo>
                  <a:lnTo>
                    <a:pt x="2656" y="5"/>
                  </a:lnTo>
                  <a:lnTo>
                    <a:pt x="2656" y="6"/>
                  </a:lnTo>
                  <a:lnTo>
                    <a:pt x="2656" y="8"/>
                  </a:lnTo>
                  <a:lnTo>
                    <a:pt x="2656" y="9"/>
                  </a:lnTo>
                  <a:lnTo>
                    <a:pt x="2652" y="11"/>
                  </a:lnTo>
                  <a:lnTo>
                    <a:pt x="2648" y="13"/>
                  </a:lnTo>
                  <a:lnTo>
                    <a:pt x="2646" y="13"/>
                  </a:lnTo>
                  <a:lnTo>
                    <a:pt x="2644" y="13"/>
                  </a:lnTo>
                  <a:lnTo>
                    <a:pt x="2465" y="13"/>
                  </a:lnTo>
                  <a:lnTo>
                    <a:pt x="2463" y="13"/>
                  </a:lnTo>
                  <a:lnTo>
                    <a:pt x="2460" y="13"/>
                  </a:lnTo>
                  <a:lnTo>
                    <a:pt x="2456" y="11"/>
                  </a:lnTo>
                  <a:lnTo>
                    <a:pt x="2454" y="9"/>
                  </a:lnTo>
                  <a:lnTo>
                    <a:pt x="2452" y="8"/>
                  </a:lnTo>
                  <a:lnTo>
                    <a:pt x="2452" y="6"/>
                  </a:lnTo>
                  <a:lnTo>
                    <a:pt x="2452" y="5"/>
                  </a:lnTo>
                  <a:lnTo>
                    <a:pt x="2454" y="4"/>
                  </a:lnTo>
                  <a:lnTo>
                    <a:pt x="2456" y="2"/>
                  </a:lnTo>
                  <a:lnTo>
                    <a:pt x="2460" y="0"/>
                  </a:lnTo>
                  <a:lnTo>
                    <a:pt x="2463" y="0"/>
                  </a:lnTo>
                  <a:lnTo>
                    <a:pt x="2465" y="0"/>
                  </a:lnTo>
                  <a:close/>
                  <a:moveTo>
                    <a:pt x="2771" y="0"/>
                  </a:moveTo>
                  <a:lnTo>
                    <a:pt x="2950" y="0"/>
                  </a:lnTo>
                  <a:lnTo>
                    <a:pt x="2954" y="0"/>
                  </a:lnTo>
                  <a:lnTo>
                    <a:pt x="2956" y="0"/>
                  </a:lnTo>
                  <a:lnTo>
                    <a:pt x="2959" y="2"/>
                  </a:lnTo>
                  <a:lnTo>
                    <a:pt x="2961" y="4"/>
                  </a:lnTo>
                  <a:lnTo>
                    <a:pt x="2963" y="5"/>
                  </a:lnTo>
                  <a:lnTo>
                    <a:pt x="2963" y="6"/>
                  </a:lnTo>
                  <a:lnTo>
                    <a:pt x="2963" y="8"/>
                  </a:lnTo>
                  <a:lnTo>
                    <a:pt x="2961" y="9"/>
                  </a:lnTo>
                  <a:lnTo>
                    <a:pt x="2959" y="11"/>
                  </a:lnTo>
                  <a:lnTo>
                    <a:pt x="2956" y="13"/>
                  </a:lnTo>
                  <a:lnTo>
                    <a:pt x="2954" y="13"/>
                  </a:lnTo>
                  <a:lnTo>
                    <a:pt x="2950" y="13"/>
                  </a:lnTo>
                  <a:lnTo>
                    <a:pt x="2771" y="13"/>
                  </a:lnTo>
                  <a:lnTo>
                    <a:pt x="2769" y="13"/>
                  </a:lnTo>
                  <a:lnTo>
                    <a:pt x="2767" y="13"/>
                  </a:lnTo>
                  <a:lnTo>
                    <a:pt x="2763" y="11"/>
                  </a:lnTo>
                  <a:lnTo>
                    <a:pt x="2759" y="9"/>
                  </a:lnTo>
                  <a:lnTo>
                    <a:pt x="2759" y="8"/>
                  </a:lnTo>
                  <a:lnTo>
                    <a:pt x="2759" y="6"/>
                  </a:lnTo>
                  <a:lnTo>
                    <a:pt x="2759" y="5"/>
                  </a:lnTo>
                  <a:lnTo>
                    <a:pt x="2759" y="4"/>
                  </a:lnTo>
                  <a:lnTo>
                    <a:pt x="2763" y="2"/>
                  </a:lnTo>
                  <a:lnTo>
                    <a:pt x="2767" y="0"/>
                  </a:lnTo>
                  <a:lnTo>
                    <a:pt x="2769" y="0"/>
                  </a:lnTo>
                  <a:lnTo>
                    <a:pt x="2771" y="0"/>
                  </a:lnTo>
                  <a:close/>
                  <a:moveTo>
                    <a:pt x="3078" y="0"/>
                  </a:moveTo>
                  <a:lnTo>
                    <a:pt x="3257" y="0"/>
                  </a:lnTo>
                  <a:lnTo>
                    <a:pt x="3259" y="0"/>
                  </a:lnTo>
                  <a:lnTo>
                    <a:pt x="3261" y="0"/>
                  </a:lnTo>
                  <a:lnTo>
                    <a:pt x="3267" y="2"/>
                  </a:lnTo>
                  <a:lnTo>
                    <a:pt x="3269" y="4"/>
                  </a:lnTo>
                  <a:lnTo>
                    <a:pt x="3269" y="5"/>
                  </a:lnTo>
                  <a:lnTo>
                    <a:pt x="3271" y="6"/>
                  </a:lnTo>
                  <a:lnTo>
                    <a:pt x="3269" y="8"/>
                  </a:lnTo>
                  <a:lnTo>
                    <a:pt x="3269" y="9"/>
                  </a:lnTo>
                  <a:lnTo>
                    <a:pt x="3267" y="11"/>
                  </a:lnTo>
                  <a:lnTo>
                    <a:pt x="3261" y="13"/>
                  </a:lnTo>
                  <a:lnTo>
                    <a:pt x="3259" y="13"/>
                  </a:lnTo>
                  <a:lnTo>
                    <a:pt x="3257" y="13"/>
                  </a:lnTo>
                  <a:lnTo>
                    <a:pt x="3078" y="13"/>
                  </a:lnTo>
                  <a:lnTo>
                    <a:pt x="3076" y="13"/>
                  </a:lnTo>
                  <a:lnTo>
                    <a:pt x="3073" y="13"/>
                  </a:lnTo>
                  <a:lnTo>
                    <a:pt x="3069" y="11"/>
                  </a:lnTo>
                  <a:lnTo>
                    <a:pt x="3067" y="9"/>
                  </a:lnTo>
                  <a:lnTo>
                    <a:pt x="3065" y="8"/>
                  </a:lnTo>
                  <a:lnTo>
                    <a:pt x="3065" y="6"/>
                  </a:lnTo>
                  <a:lnTo>
                    <a:pt x="3065" y="5"/>
                  </a:lnTo>
                  <a:lnTo>
                    <a:pt x="3067" y="4"/>
                  </a:lnTo>
                  <a:lnTo>
                    <a:pt x="3069" y="2"/>
                  </a:lnTo>
                  <a:lnTo>
                    <a:pt x="3073" y="0"/>
                  </a:lnTo>
                  <a:lnTo>
                    <a:pt x="3076" y="0"/>
                  </a:lnTo>
                  <a:lnTo>
                    <a:pt x="3078" y="0"/>
                  </a:lnTo>
                  <a:close/>
                  <a:moveTo>
                    <a:pt x="3386" y="0"/>
                  </a:moveTo>
                  <a:lnTo>
                    <a:pt x="3563" y="0"/>
                  </a:lnTo>
                  <a:lnTo>
                    <a:pt x="3567" y="0"/>
                  </a:lnTo>
                  <a:lnTo>
                    <a:pt x="3569" y="0"/>
                  </a:lnTo>
                  <a:lnTo>
                    <a:pt x="3572" y="2"/>
                  </a:lnTo>
                  <a:lnTo>
                    <a:pt x="3576" y="4"/>
                  </a:lnTo>
                  <a:lnTo>
                    <a:pt x="3576" y="5"/>
                  </a:lnTo>
                  <a:lnTo>
                    <a:pt x="3576" y="6"/>
                  </a:lnTo>
                  <a:lnTo>
                    <a:pt x="3576" y="8"/>
                  </a:lnTo>
                  <a:lnTo>
                    <a:pt x="3576" y="9"/>
                  </a:lnTo>
                  <a:lnTo>
                    <a:pt x="3572" y="11"/>
                  </a:lnTo>
                  <a:lnTo>
                    <a:pt x="3569" y="13"/>
                  </a:lnTo>
                  <a:lnTo>
                    <a:pt x="3567" y="13"/>
                  </a:lnTo>
                  <a:lnTo>
                    <a:pt x="3563" y="13"/>
                  </a:lnTo>
                  <a:lnTo>
                    <a:pt x="3386" y="13"/>
                  </a:lnTo>
                  <a:lnTo>
                    <a:pt x="3382" y="13"/>
                  </a:lnTo>
                  <a:lnTo>
                    <a:pt x="3380" y="13"/>
                  </a:lnTo>
                  <a:lnTo>
                    <a:pt x="3376" y="11"/>
                  </a:lnTo>
                  <a:lnTo>
                    <a:pt x="3373" y="9"/>
                  </a:lnTo>
                  <a:lnTo>
                    <a:pt x="3373" y="8"/>
                  </a:lnTo>
                  <a:lnTo>
                    <a:pt x="3373" y="6"/>
                  </a:lnTo>
                  <a:lnTo>
                    <a:pt x="3373" y="5"/>
                  </a:lnTo>
                  <a:lnTo>
                    <a:pt x="3373" y="4"/>
                  </a:lnTo>
                  <a:lnTo>
                    <a:pt x="3376" y="2"/>
                  </a:lnTo>
                  <a:lnTo>
                    <a:pt x="3380" y="0"/>
                  </a:lnTo>
                  <a:lnTo>
                    <a:pt x="3382" y="0"/>
                  </a:lnTo>
                  <a:lnTo>
                    <a:pt x="3386" y="0"/>
                  </a:lnTo>
                  <a:close/>
                  <a:moveTo>
                    <a:pt x="3691" y="0"/>
                  </a:moveTo>
                  <a:lnTo>
                    <a:pt x="3870" y="0"/>
                  </a:lnTo>
                  <a:lnTo>
                    <a:pt x="3872" y="0"/>
                  </a:lnTo>
                  <a:lnTo>
                    <a:pt x="3876" y="0"/>
                  </a:lnTo>
                  <a:lnTo>
                    <a:pt x="3880" y="2"/>
                  </a:lnTo>
                  <a:lnTo>
                    <a:pt x="3882" y="4"/>
                  </a:lnTo>
                  <a:lnTo>
                    <a:pt x="3884" y="5"/>
                  </a:lnTo>
                  <a:lnTo>
                    <a:pt x="3884" y="6"/>
                  </a:lnTo>
                  <a:lnTo>
                    <a:pt x="3884" y="8"/>
                  </a:lnTo>
                  <a:lnTo>
                    <a:pt x="3882" y="9"/>
                  </a:lnTo>
                  <a:lnTo>
                    <a:pt x="3880" y="11"/>
                  </a:lnTo>
                  <a:lnTo>
                    <a:pt x="3876" y="13"/>
                  </a:lnTo>
                  <a:lnTo>
                    <a:pt x="3872" y="13"/>
                  </a:lnTo>
                  <a:lnTo>
                    <a:pt x="3870" y="13"/>
                  </a:lnTo>
                  <a:lnTo>
                    <a:pt x="3691" y="13"/>
                  </a:lnTo>
                  <a:lnTo>
                    <a:pt x="3689" y="13"/>
                  </a:lnTo>
                  <a:lnTo>
                    <a:pt x="3686" y="13"/>
                  </a:lnTo>
                  <a:lnTo>
                    <a:pt x="3682" y="11"/>
                  </a:lnTo>
                  <a:lnTo>
                    <a:pt x="3680" y="9"/>
                  </a:lnTo>
                  <a:lnTo>
                    <a:pt x="3678" y="8"/>
                  </a:lnTo>
                  <a:lnTo>
                    <a:pt x="3678" y="6"/>
                  </a:lnTo>
                  <a:lnTo>
                    <a:pt x="3678" y="5"/>
                  </a:lnTo>
                  <a:lnTo>
                    <a:pt x="3680" y="4"/>
                  </a:lnTo>
                  <a:lnTo>
                    <a:pt x="3682" y="2"/>
                  </a:lnTo>
                  <a:lnTo>
                    <a:pt x="3686" y="0"/>
                  </a:lnTo>
                  <a:lnTo>
                    <a:pt x="3689" y="0"/>
                  </a:lnTo>
                  <a:lnTo>
                    <a:pt x="3691" y="0"/>
                  </a:lnTo>
                  <a:close/>
                  <a:moveTo>
                    <a:pt x="3999" y="0"/>
                  </a:moveTo>
                  <a:lnTo>
                    <a:pt x="4065" y="0"/>
                  </a:lnTo>
                  <a:lnTo>
                    <a:pt x="4067" y="0"/>
                  </a:lnTo>
                  <a:lnTo>
                    <a:pt x="4068" y="0"/>
                  </a:lnTo>
                  <a:lnTo>
                    <a:pt x="4074" y="2"/>
                  </a:lnTo>
                  <a:lnTo>
                    <a:pt x="4076" y="4"/>
                  </a:lnTo>
                  <a:lnTo>
                    <a:pt x="4078" y="5"/>
                  </a:lnTo>
                  <a:lnTo>
                    <a:pt x="4078" y="6"/>
                  </a:lnTo>
                  <a:lnTo>
                    <a:pt x="4078" y="8"/>
                  </a:lnTo>
                  <a:lnTo>
                    <a:pt x="4076" y="9"/>
                  </a:lnTo>
                  <a:lnTo>
                    <a:pt x="4074" y="11"/>
                  </a:lnTo>
                  <a:lnTo>
                    <a:pt x="4068" y="13"/>
                  </a:lnTo>
                  <a:lnTo>
                    <a:pt x="4067" y="13"/>
                  </a:lnTo>
                  <a:lnTo>
                    <a:pt x="4065" y="13"/>
                  </a:lnTo>
                  <a:lnTo>
                    <a:pt x="3999" y="13"/>
                  </a:lnTo>
                  <a:lnTo>
                    <a:pt x="3995" y="13"/>
                  </a:lnTo>
                  <a:lnTo>
                    <a:pt x="3993" y="13"/>
                  </a:lnTo>
                  <a:lnTo>
                    <a:pt x="3989" y="11"/>
                  </a:lnTo>
                  <a:lnTo>
                    <a:pt x="3986" y="9"/>
                  </a:lnTo>
                  <a:lnTo>
                    <a:pt x="3986" y="8"/>
                  </a:lnTo>
                  <a:lnTo>
                    <a:pt x="3986" y="6"/>
                  </a:lnTo>
                  <a:lnTo>
                    <a:pt x="3986" y="5"/>
                  </a:lnTo>
                  <a:lnTo>
                    <a:pt x="3986" y="4"/>
                  </a:lnTo>
                  <a:lnTo>
                    <a:pt x="3989" y="2"/>
                  </a:lnTo>
                  <a:lnTo>
                    <a:pt x="3993" y="0"/>
                  </a:lnTo>
                  <a:lnTo>
                    <a:pt x="3995" y="0"/>
                  </a:lnTo>
                  <a:lnTo>
                    <a:pt x="3999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Rectangle 246"/>
            <p:cNvSpPr>
              <a:spLocks noChangeArrowheads="1"/>
            </p:cNvSpPr>
            <p:nvPr/>
          </p:nvSpPr>
          <p:spPr bwMode="auto">
            <a:xfrm>
              <a:off x="3909" y="2901"/>
              <a:ext cx="59" cy="11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/>
            </a:p>
          </p:txBody>
        </p:sp>
        <p:sp>
          <p:nvSpPr>
            <p:cNvPr id="249" name="Rectangle 247"/>
            <p:cNvSpPr>
              <a:spLocks noChangeArrowheads="1"/>
            </p:cNvSpPr>
            <p:nvPr/>
          </p:nvSpPr>
          <p:spPr bwMode="auto">
            <a:xfrm>
              <a:off x="3697" y="3145"/>
              <a:ext cx="197" cy="18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/2</a:t>
              </a:r>
              <a:endParaRPr lang="en-US" altLang="zh-CN" sz="2000"/>
            </a:p>
          </p:txBody>
        </p:sp>
        <p:sp>
          <p:nvSpPr>
            <p:cNvPr id="250" name="Rectangle 248"/>
            <p:cNvSpPr>
              <a:spLocks noChangeArrowheads="1"/>
            </p:cNvSpPr>
            <p:nvPr/>
          </p:nvSpPr>
          <p:spPr bwMode="auto">
            <a:xfrm>
              <a:off x="3425" y="3281"/>
              <a:ext cx="102" cy="21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</a:p>
          </p:txBody>
        </p:sp>
        <p:sp>
          <p:nvSpPr>
            <p:cNvPr id="251" name="Freeform 249"/>
            <p:cNvSpPr>
              <a:spLocks noEditPoints="1"/>
            </p:cNvSpPr>
            <p:nvPr/>
          </p:nvSpPr>
          <p:spPr bwMode="auto">
            <a:xfrm>
              <a:off x="3378" y="3608"/>
              <a:ext cx="1980" cy="8"/>
            </a:xfrm>
            <a:custGeom>
              <a:avLst/>
              <a:gdLst>
                <a:gd name="T0" fmla="*/ 1 w 3961"/>
                <a:gd name="T1" fmla="*/ 5 h 8"/>
                <a:gd name="T2" fmla="*/ 0 w 3961"/>
                <a:gd name="T3" fmla="*/ 5 h 8"/>
                <a:gd name="T4" fmla="*/ 3 w 3961"/>
                <a:gd name="T5" fmla="*/ 0 h 8"/>
                <a:gd name="T6" fmla="*/ 4 w 3961"/>
                <a:gd name="T7" fmla="*/ 6 h 8"/>
                <a:gd name="T8" fmla="*/ 2 w 3961"/>
                <a:gd name="T9" fmla="*/ 4 h 8"/>
                <a:gd name="T10" fmla="*/ 7 w 3961"/>
                <a:gd name="T11" fmla="*/ 0 h 8"/>
                <a:gd name="T12" fmla="*/ 7 w 3961"/>
                <a:gd name="T13" fmla="*/ 7 h 8"/>
                <a:gd name="T14" fmla="*/ 5 w 3961"/>
                <a:gd name="T15" fmla="*/ 2 h 8"/>
                <a:gd name="T16" fmla="*/ 10 w 3961"/>
                <a:gd name="T17" fmla="*/ 0 h 8"/>
                <a:gd name="T18" fmla="*/ 10 w 3961"/>
                <a:gd name="T19" fmla="*/ 8 h 8"/>
                <a:gd name="T20" fmla="*/ 8 w 3961"/>
                <a:gd name="T21" fmla="*/ 1 h 8"/>
                <a:gd name="T22" fmla="*/ 13 w 3961"/>
                <a:gd name="T23" fmla="*/ 1 h 8"/>
                <a:gd name="T24" fmla="*/ 11 w 3961"/>
                <a:gd name="T25" fmla="*/ 8 h 8"/>
                <a:gd name="T26" fmla="*/ 11 w 3961"/>
                <a:gd name="T27" fmla="*/ 0 h 8"/>
                <a:gd name="T28" fmla="*/ 16 w 3961"/>
                <a:gd name="T29" fmla="*/ 2 h 8"/>
                <a:gd name="T30" fmla="*/ 14 w 3961"/>
                <a:gd name="T31" fmla="*/ 7 h 8"/>
                <a:gd name="T32" fmla="*/ 14 w 3961"/>
                <a:gd name="T33" fmla="*/ 0 h 8"/>
                <a:gd name="T34" fmla="*/ 19 w 3961"/>
                <a:gd name="T35" fmla="*/ 4 h 8"/>
                <a:gd name="T36" fmla="*/ 17 w 3961"/>
                <a:gd name="T37" fmla="*/ 6 h 8"/>
                <a:gd name="T38" fmla="*/ 17 w 3961"/>
                <a:gd name="T39" fmla="*/ 0 h 8"/>
                <a:gd name="T40" fmla="*/ 22 w 3961"/>
                <a:gd name="T41" fmla="*/ 5 h 8"/>
                <a:gd name="T42" fmla="*/ 20 w 3961"/>
                <a:gd name="T43" fmla="*/ 5 h 8"/>
                <a:gd name="T44" fmla="*/ 23 w 3961"/>
                <a:gd name="T45" fmla="*/ 0 h 8"/>
                <a:gd name="T46" fmla="*/ 24 w 3961"/>
                <a:gd name="T47" fmla="*/ 6 h 8"/>
                <a:gd name="T48" fmla="*/ 23 w 3961"/>
                <a:gd name="T49" fmla="*/ 4 h 8"/>
                <a:gd name="T50" fmla="*/ 27 w 3961"/>
                <a:gd name="T51" fmla="*/ 0 h 8"/>
                <a:gd name="T52" fmla="*/ 27 w 3961"/>
                <a:gd name="T53" fmla="*/ 7 h 8"/>
                <a:gd name="T54" fmla="*/ 25 w 3961"/>
                <a:gd name="T55" fmla="*/ 2 h 8"/>
                <a:gd name="T56" fmla="*/ 30 w 3961"/>
                <a:gd name="T57" fmla="*/ 0 h 8"/>
                <a:gd name="T58" fmla="*/ 30 w 3961"/>
                <a:gd name="T59" fmla="*/ 8 h 8"/>
                <a:gd name="T60" fmla="*/ 28 w 3961"/>
                <a:gd name="T61" fmla="*/ 1 h 8"/>
                <a:gd name="T62" fmla="*/ 33 w 3961"/>
                <a:gd name="T63" fmla="*/ 1 h 8"/>
                <a:gd name="T64" fmla="*/ 31 w 3961"/>
                <a:gd name="T65" fmla="*/ 8 h 8"/>
                <a:gd name="T66" fmla="*/ 31 w 3961"/>
                <a:gd name="T67" fmla="*/ 0 h 8"/>
                <a:gd name="T68" fmla="*/ 36 w 3961"/>
                <a:gd name="T69" fmla="*/ 2 h 8"/>
                <a:gd name="T70" fmla="*/ 34 w 3961"/>
                <a:gd name="T71" fmla="*/ 7 h 8"/>
                <a:gd name="T72" fmla="*/ 34 w 3961"/>
                <a:gd name="T73" fmla="*/ 0 h 8"/>
                <a:gd name="T74" fmla="*/ 39 w 3961"/>
                <a:gd name="T75" fmla="*/ 4 h 8"/>
                <a:gd name="T76" fmla="*/ 37 w 3961"/>
                <a:gd name="T77" fmla="*/ 6 h 8"/>
                <a:gd name="T78" fmla="*/ 37 w 3961"/>
                <a:gd name="T79" fmla="*/ 0 h 8"/>
                <a:gd name="T80" fmla="*/ 42 w 3961"/>
                <a:gd name="T81" fmla="*/ 5 h 8"/>
                <a:gd name="T82" fmla="*/ 40 w 3961"/>
                <a:gd name="T83" fmla="*/ 5 h 8"/>
                <a:gd name="T84" fmla="*/ 43 w 3961"/>
                <a:gd name="T85" fmla="*/ 0 h 8"/>
                <a:gd name="T86" fmla="*/ 45 w 3961"/>
                <a:gd name="T87" fmla="*/ 6 h 8"/>
                <a:gd name="T88" fmla="*/ 43 w 3961"/>
                <a:gd name="T89" fmla="*/ 4 h 8"/>
                <a:gd name="T90" fmla="*/ 47 w 3961"/>
                <a:gd name="T91" fmla="*/ 0 h 8"/>
                <a:gd name="T92" fmla="*/ 47 w 3961"/>
                <a:gd name="T93" fmla="*/ 7 h 8"/>
                <a:gd name="T94" fmla="*/ 46 w 3961"/>
                <a:gd name="T95" fmla="*/ 2 h 8"/>
                <a:gd name="T96" fmla="*/ 50 w 3961"/>
                <a:gd name="T97" fmla="*/ 0 h 8"/>
                <a:gd name="T98" fmla="*/ 50 w 3961"/>
                <a:gd name="T99" fmla="*/ 8 h 8"/>
                <a:gd name="T100" fmla="*/ 48 w 3961"/>
                <a:gd name="T101" fmla="*/ 1 h 8"/>
                <a:gd name="T102" fmla="*/ 53 w 3961"/>
                <a:gd name="T103" fmla="*/ 1 h 8"/>
                <a:gd name="T104" fmla="*/ 51 w 3961"/>
                <a:gd name="T105" fmla="*/ 8 h 8"/>
                <a:gd name="T106" fmla="*/ 51 w 3961"/>
                <a:gd name="T107" fmla="*/ 0 h 8"/>
                <a:gd name="T108" fmla="*/ 56 w 3961"/>
                <a:gd name="T109" fmla="*/ 2 h 8"/>
                <a:gd name="T110" fmla="*/ 54 w 3961"/>
                <a:gd name="T111" fmla="*/ 7 h 8"/>
                <a:gd name="T112" fmla="*/ 54 w 3961"/>
                <a:gd name="T113" fmla="*/ 0 h 8"/>
                <a:gd name="T114" fmla="*/ 59 w 3961"/>
                <a:gd name="T115" fmla="*/ 4 h 8"/>
                <a:gd name="T116" fmla="*/ 57 w 3961"/>
                <a:gd name="T117" fmla="*/ 6 h 8"/>
                <a:gd name="T118" fmla="*/ 57 w 3961"/>
                <a:gd name="T119" fmla="*/ 0 h 8"/>
                <a:gd name="T120" fmla="*/ 61 w 3961"/>
                <a:gd name="T121" fmla="*/ 5 h 8"/>
                <a:gd name="T122" fmla="*/ 60 w 3961"/>
                <a:gd name="T123" fmla="*/ 5 h 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961"/>
                <a:gd name="T187" fmla="*/ 0 h 8"/>
                <a:gd name="T188" fmla="*/ 3961 w 3961"/>
                <a:gd name="T189" fmla="*/ 8 h 8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961" h="8">
                  <a:moveTo>
                    <a:pt x="7" y="0"/>
                  </a:moveTo>
                  <a:lnTo>
                    <a:pt x="115" y="0"/>
                  </a:lnTo>
                  <a:lnTo>
                    <a:pt x="119" y="0"/>
                  </a:lnTo>
                  <a:lnTo>
                    <a:pt x="121" y="1"/>
                  </a:lnTo>
                  <a:lnTo>
                    <a:pt x="122" y="2"/>
                  </a:lnTo>
                  <a:lnTo>
                    <a:pt x="122" y="4"/>
                  </a:lnTo>
                  <a:lnTo>
                    <a:pt x="122" y="5"/>
                  </a:lnTo>
                  <a:lnTo>
                    <a:pt x="121" y="6"/>
                  </a:lnTo>
                  <a:lnTo>
                    <a:pt x="119" y="7"/>
                  </a:lnTo>
                  <a:lnTo>
                    <a:pt x="115" y="8"/>
                  </a:lnTo>
                  <a:lnTo>
                    <a:pt x="7" y="8"/>
                  </a:lnTo>
                  <a:lnTo>
                    <a:pt x="5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1"/>
                  </a:lnTo>
                  <a:lnTo>
                    <a:pt x="5" y="0"/>
                  </a:lnTo>
                  <a:lnTo>
                    <a:pt x="7" y="0"/>
                  </a:lnTo>
                  <a:close/>
                  <a:moveTo>
                    <a:pt x="192" y="0"/>
                  </a:moveTo>
                  <a:lnTo>
                    <a:pt x="300" y="0"/>
                  </a:lnTo>
                  <a:lnTo>
                    <a:pt x="302" y="0"/>
                  </a:lnTo>
                  <a:lnTo>
                    <a:pt x="305" y="1"/>
                  </a:lnTo>
                  <a:lnTo>
                    <a:pt x="307" y="2"/>
                  </a:lnTo>
                  <a:lnTo>
                    <a:pt x="307" y="4"/>
                  </a:lnTo>
                  <a:lnTo>
                    <a:pt x="307" y="5"/>
                  </a:lnTo>
                  <a:lnTo>
                    <a:pt x="305" y="6"/>
                  </a:lnTo>
                  <a:lnTo>
                    <a:pt x="302" y="7"/>
                  </a:lnTo>
                  <a:lnTo>
                    <a:pt x="300" y="8"/>
                  </a:lnTo>
                  <a:lnTo>
                    <a:pt x="192" y="8"/>
                  </a:lnTo>
                  <a:lnTo>
                    <a:pt x="188" y="7"/>
                  </a:lnTo>
                  <a:lnTo>
                    <a:pt x="187" y="6"/>
                  </a:lnTo>
                  <a:lnTo>
                    <a:pt x="185" y="5"/>
                  </a:lnTo>
                  <a:lnTo>
                    <a:pt x="185" y="4"/>
                  </a:lnTo>
                  <a:lnTo>
                    <a:pt x="185" y="2"/>
                  </a:lnTo>
                  <a:lnTo>
                    <a:pt x="187" y="1"/>
                  </a:lnTo>
                  <a:lnTo>
                    <a:pt x="188" y="0"/>
                  </a:lnTo>
                  <a:lnTo>
                    <a:pt x="192" y="0"/>
                  </a:lnTo>
                  <a:close/>
                  <a:moveTo>
                    <a:pt x="375" y="0"/>
                  </a:moveTo>
                  <a:lnTo>
                    <a:pt x="483" y="0"/>
                  </a:lnTo>
                  <a:lnTo>
                    <a:pt x="486" y="0"/>
                  </a:lnTo>
                  <a:lnTo>
                    <a:pt x="488" y="1"/>
                  </a:lnTo>
                  <a:lnTo>
                    <a:pt x="490" y="2"/>
                  </a:lnTo>
                  <a:lnTo>
                    <a:pt x="490" y="4"/>
                  </a:lnTo>
                  <a:lnTo>
                    <a:pt x="490" y="5"/>
                  </a:lnTo>
                  <a:lnTo>
                    <a:pt x="488" y="6"/>
                  </a:lnTo>
                  <a:lnTo>
                    <a:pt x="486" y="7"/>
                  </a:lnTo>
                  <a:lnTo>
                    <a:pt x="483" y="8"/>
                  </a:lnTo>
                  <a:lnTo>
                    <a:pt x="375" y="8"/>
                  </a:lnTo>
                  <a:lnTo>
                    <a:pt x="373" y="7"/>
                  </a:lnTo>
                  <a:lnTo>
                    <a:pt x="371" y="6"/>
                  </a:lnTo>
                  <a:lnTo>
                    <a:pt x="370" y="5"/>
                  </a:lnTo>
                  <a:lnTo>
                    <a:pt x="368" y="4"/>
                  </a:lnTo>
                  <a:lnTo>
                    <a:pt x="370" y="2"/>
                  </a:lnTo>
                  <a:lnTo>
                    <a:pt x="371" y="1"/>
                  </a:lnTo>
                  <a:lnTo>
                    <a:pt x="373" y="0"/>
                  </a:lnTo>
                  <a:lnTo>
                    <a:pt x="375" y="0"/>
                  </a:lnTo>
                  <a:close/>
                  <a:moveTo>
                    <a:pt x="560" y="0"/>
                  </a:moveTo>
                  <a:lnTo>
                    <a:pt x="668" y="0"/>
                  </a:lnTo>
                  <a:lnTo>
                    <a:pt x="669" y="0"/>
                  </a:lnTo>
                  <a:lnTo>
                    <a:pt x="673" y="1"/>
                  </a:lnTo>
                  <a:lnTo>
                    <a:pt x="675" y="2"/>
                  </a:lnTo>
                  <a:lnTo>
                    <a:pt x="675" y="4"/>
                  </a:lnTo>
                  <a:lnTo>
                    <a:pt x="675" y="5"/>
                  </a:lnTo>
                  <a:lnTo>
                    <a:pt x="673" y="6"/>
                  </a:lnTo>
                  <a:lnTo>
                    <a:pt x="669" y="7"/>
                  </a:lnTo>
                  <a:lnTo>
                    <a:pt x="668" y="8"/>
                  </a:lnTo>
                  <a:lnTo>
                    <a:pt x="560" y="8"/>
                  </a:lnTo>
                  <a:lnTo>
                    <a:pt x="556" y="7"/>
                  </a:lnTo>
                  <a:lnTo>
                    <a:pt x="554" y="6"/>
                  </a:lnTo>
                  <a:lnTo>
                    <a:pt x="552" y="5"/>
                  </a:lnTo>
                  <a:lnTo>
                    <a:pt x="552" y="4"/>
                  </a:lnTo>
                  <a:lnTo>
                    <a:pt x="552" y="2"/>
                  </a:lnTo>
                  <a:lnTo>
                    <a:pt x="554" y="1"/>
                  </a:lnTo>
                  <a:lnTo>
                    <a:pt x="556" y="0"/>
                  </a:lnTo>
                  <a:lnTo>
                    <a:pt x="560" y="0"/>
                  </a:lnTo>
                  <a:close/>
                  <a:moveTo>
                    <a:pt x="745" y="0"/>
                  </a:moveTo>
                  <a:lnTo>
                    <a:pt x="850" y="0"/>
                  </a:lnTo>
                  <a:lnTo>
                    <a:pt x="854" y="0"/>
                  </a:lnTo>
                  <a:lnTo>
                    <a:pt x="856" y="1"/>
                  </a:lnTo>
                  <a:lnTo>
                    <a:pt x="858" y="2"/>
                  </a:lnTo>
                  <a:lnTo>
                    <a:pt x="860" y="4"/>
                  </a:lnTo>
                  <a:lnTo>
                    <a:pt x="858" y="5"/>
                  </a:lnTo>
                  <a:lnTo>
                    <a:pt x="856" y="6"/>
                  </a:lnTo>
                  <a:lnTo>
                    <a:pt x="854" y="7"/>
                  </a:lnTo>
                  <a:lnTo>
                    <a:pt x="850" y="8"/>
                  </a:lnTo>
                  <a:lnTo>
                    <a:pt x="745" y="8"/>
                  </a:lnTo>
                  <a:lnTo>
                    <a:pt x="741" y="7"/>
                  </a:lnTo>
                  <a:lnTo>
                    <a:pt x="739" y="6"/>
                  </a:lnTo>
                  <a:lnTo>
                    <a:pt x="737" y="5"/>
                  </a:lnTo>
                  <a:lnTo>
                    <a:pt x="735" y="4"/>
                  </a:lnTo>
                  <a:lnTo>
                    <a:pt x="737" y="2"/>
                  </a:lnTo>
                  <a:lnTo>
                    <a:pt x="739" y="1"/>
                  </a:lnTo>
                  <a:lnTo>
                    <a:pt x="741" y="0"/>
                  </a:lnTo>
                  <a:lnTo>
                    <a:pt x="745" y="0"/>
                  </a:lnTo>
                  <a:close/>
                  <a:moveTo>
                    <a:pt x="928" y="0"/>
                  </a:moveTo>
                  <a:lnTo>
                    <a:pt x="1035" y="0"/>
                  </a:lnTo>
                  <a:lnTo>
                    <a:pt x="1037" y="0"/>
                  </a:lnTo>
                  <a:lnTo>
                    <a:pt x="1041" y="1"/>
                  </a:lnTo>
                  <a:lnTo>
                    <a:pt x="1043" y="2"/>
                  </a:lnTo>
                  <a:lnTo>
                    <a:pt x="1043" y="4"/>
                  </a:lnTo>
                  <a:lnTo>
                    <a:pt x="1043" y="5"/>
                  </a:lnTo>
                  <a:lnTo>
                    <a:pt x="1041" y="6"/>
                  </a:lnTo>
                  <a:lnTo>
                    <a:pt x="1037" y="7"/>
                  </a:lnTo>
                  <a:lnTo>
                    <a:pt x="1035" y="8"/>
                  </a:lnTo>
                  <a:lnTo>
                    <a:pt x="928" y="8"/>
                  </a:lnTo>
                  <a:lnTo>
                    <a:pt x="924" y="7"/>
                  </a:lnTo>
                  <a:lnTo>
                    <a:pt x="922" y="6"/>
                  </a:lnTo>
                  <a:lnTo>
                    <a:pt x="920" y="5"/>
                  </a:lnTo>
                  <a:lnTo>
                    <a:pt x="920" y="4"/>
                  </a:lnTo>
                  <a:lnTo>
                    <a:pt x="920" y="2"/>
                  </a:lnTo>
                  <a:lnTo>
                    <a:pt x="922" y="1"/>
                  </a:lnTo>
                  <a:lnTo>
                    <a:pt x="924" y="0"/>
                  </a:lnTo>
                  <a:lnTo>
                    <a:pt x="928" y="0"/>
                  </a:lnTo>
                  <a:close/>
                  <a:moveTo>
                    <a:pt x="1113" y="0"/>
                  </a:moveTo>
                  <a:lnTo>
                    <a:pt x="1220" y="0"/>
                  </a:lnTo>
                  <a:lnTo>
                    <a:pt x="1222" y="0"/>
                  </a:lnTo>
                  <a:lnTo>
                    <a:pt x="1224" y="1"/>
                  </a:lnTo>
                  <a:lnTo>
                    <a:pt x="1226" y="2"/>
                  </a:lnTo>
                  <a:lnTo>
                    <a:pt x="1228" y="4"/>
                  </a:lnTo>
                  <a:lnTo>
                    <a:pt x="1226" y="5"/>
                  </a:lnTo>
                  <a:lnTo>
                    <a:pt x="1224" y="6"/>
                  </a:lnTo>
                  <a:lnTo>
                    <a:pt x="1222" y="7"/>
                  </a:lnTo>
                  <a:lnTo>
                    <a:pt x="1220" y="8"/>
                  </a:lnTo>
                  <a:lnTo>
                    <a:pt x="1113" y="8"/>
                  </a:lnTo>
                  <a:lnTo>
                    <a:pt x="1109" y="7"/>
                  </a:lnTo>
                  <a:lnTo>
                    <a:pt x="1107" y="6"/>
                  </a:lnTo>
                  <a:lnTo>
                    <a:pt x="1105" y="5"/>
                  </a:lnTo>
                  <a:lnTo>
                    <a:pt x="1105" y="4"/>
                  </a:lnTo>
                  <a:lnTo>
                    <a:pt x="1105" y="2"/>
                  </a:lnTo>
                  <a:lnTo>
                    <a:pt x="1107" y="1"/>
                  </a:lnTo>
                  <a:lnTo>
                    <a:pt x="1109" y="0"/>
                  </a:lnTo>
                  <a:lnTo>
                    <a:pt x="1113" y="0"/>
                  </a:lnTo>
                  <a:close/>
                  <a:moveTo>
                    <a:pt x="1296" y="0"/>
                  </a:moveTo>
                  <a:lnTo>
                    <a:pt x="1403" y="0"/>
                  </a:lnTo>
                  <a:lnTo>
                    <a:pt x="1407" y="0"/>
                  </a:lnTo>
                  <a:lnTo>
                    <a:pt x="1409" y="1"/>
                  </a:lnTo>
                  <a:lnTo>
                    <a:pt x="1411" y="2"/>
                  </a:lnTo>
                  <a:lnTo>
                    <a:pt x="1411" y="4"/>
                  </a:lnTo>
                  <a:lnTo>
                    <a:pt x="1411" y="5"/>
                  </a:lnTo>
                  <a:lnTo>
                    <a:pt x="1409" y="6"/>
                  </a:lnTo>
                  <a:lnTo>
                    <a:pt x="1407" y="7"/>
                  </a:lnTo>
                  <a:lnTo>
                    <a:pt x="1403" y="8"/>
                  </a:lnTo>
                  <a:lnTo>
                    <a:pt x="1296" y="8"/>
                  </a:lnTo>
                  <a:lnTo>
                    <a:pt x="1294" y="7"/>
                  </a:lnTo>
                  <a:lnTo>
                    <a:pt x="1290" y="6"/>
                  </a:lnTo>
                  <a:lnTo>
                    <a:pt x="1288" y="5"/>
                  </a:lnTo>
                  <a:lnTo>
                    <a:pt x="1288" y="4"/>
                  </a:lnTo>
                  <a:lnTo>
                    <a:pt x="1288" y="2"/>
                  </a:lnTo>
                  <a:lnTo>
                    <a:pt x="1290" y="1"/>
                  </a:lnTo>
                  <a:lnTo>
                    <a:pt x="1294" y="0"/>
                  </a:lnTo>
                  <a:lnTo>
                    <a:pt x="1296" y="0"/>
                  </a:lnTo>
                  <a:close/>
                  <a:moveTo>
                    <a:pt x="1480" y="0"/>
                  </a:moveTo>
                  <a:lnTo>
                    <a:pt x="1588" y="0"/>
                  </a:lnTo>
                  <a:lnTo>
                    <a:pt x="1590" y="0"/>
                  </a:lnTo>
                  <a:lnTo>
                    <a:pt x="1592" y="1"/>
                  </a:lnTo>
                  <a:lnTo>
                    <a:pt x="1594" y="2"/>
                  </a:lnTo>
                  <a:lnTo>
                    <a:pt x="1596" y="4"/>
                  </a:lnTo>
                  <a:lnTo>
                    <a:pt x="1594" y="5"/>
                  </a:lnTo>
                  <a:lnTo>
                    <a:pt x="1592" y="6"/>
                  </a:lnTo>
                  <a:lnTo>
                    <a:pt x="1590" y="7"/>
                  </a:lnTo>
                  <a:lnTo>
                    <a:pt x="1588" y="8"/>
                  </a:lnTo>
                  <a:lnTo>
                    <a:pt x="1480" y="8"/>
                  </a:lnTo>
                  <a:lnTo>
                    <a:pt x="1477" y="7"/>
                  </a:lnTo>
                  <a:lnTo>
                    <a:pt x="1475" y="6"/>
                  </a:lnTo>
                  <a:lnTo>
                    <a:pt x="1473" y="5"/>
                  </a:lnTo>
                  <a:lnTo>
                    <a:pt x="1473" y="4"/>
                  </a:lnTo>
                  <a:lnTo>
                    <a:pt x="1473" y="2"/>
                  </a:lnTo>
                  <a:lnTo>
                    <a:pt x="1475" y="1"/>
                  </a:lnTo>
                  <a:lnTo>
                    <a:pt x="1477" y="0"/>
                  </a:lnTo>
                  <a:lnTo>
                    <a:pt x="1480" y="0"/>
                  </a:lnTo>
                  <a:close/>
                  <a:moveTo>
                    <a:pt x="1663" y="0"/>
                  </a:moveTo>
                  <a:lnTo>
                    <a:pt x="1771" y="0"/>
                  </a:lnTo>
                  <a:lnTo>
                    <a:pt x="1775" y="0"/>
                  </a:lnTo>
                  <a:lnTo>
                    <a:pt x="1777" y="1"/>
                  </a:lnTo>
                  <a:lnTo>
                    <a:pt x="1778" y="2"/>
                  </a:lnTo>
                  <a:lnTo>
                    <a:pt x="1778" y="4"/>
                  </a:lnTo>
                  <a:lnTo>
                    <a:pt x="1778" y="5"/>
                  </a:lnTo>
                  <a:lnTo>
                    <a:pt x="1777" y="6"/>
                  </a:lnTo>
                  <a:lnTo>
                    <a:pt x="1775" y="7"/>
                  </a:lnTo>
                  <a:lnTo>
                    <a:pt x="1771" y="8"/>
                  </a:lnTo>
                  <a:lnTo>
                    <a:pt x="1663" y="8"/>
                  </a:lnTo>
                  <a:lnTo>
                    <a:pt x="1662" y="7"/>
                  </a:lnTo>
                  <a:lnTo>
                    <a:pt x="1658" y="6"/>
                  </a:lnTo>
                  <a:lnTo>
                    <a:pt x="1656" y="5"/>
                  </a:lnTo>
                  <a:lnTo>
                    <a:pt x="1656" y="4"/>
                  </a:lnTo>
                  <a:lnTo>
                    <a:pt x="1656" y="2"/>
                  </a:lnTo>
                  <a:lnTo>
                    <a:pt x="1658" y="1"/>
                  </a:lnTo>
                  <a:lnTo>
                    <a:pt x="1662" y="0"/>
                  </a:lnTo>
                  <a:lnTo>
                    <a:pt x="1663" y="0"/>
                  </a:lnTo>
                  <a:close/>
                  <a:moveTo>
                    <a:pt x="1848" y="0"/>
                  </a:moveTo>
                  <a:lnTo>
                    <a:pt x="1956" y="0"/>
                  </a:lnTo>
                  <a:lnTo>
                    <a:pt x="1958" y="0"/>
                  </a:lnTo>
                  <a:lnTo>
                    <a:pt x="1960" y="1"/>
                  </a:lnTo>
                  <a:lnTo>
                    <a:pt x="1961" y="2"/>
                  </a:lnTo>
                  <a:lnTo>
                    <a:pt x="1963" y="4"/>
                  </a:lnTo>
                  <a:lnTo>
                    <a:pt x="1961" y="5"/>
                  </a:lnTo>
                  <a:lnTo>
                    <a:pt x="1960" y="6"/>
                  </a:lnTo>
                  <a:lnTo>
                    <a:pt x="1958" y="7"/>
                  </a:lnTo>
                  <a:lnTo>
                    <a:pt x="1956" y="8"/>
                  </a:lnTo>
                  <a:lnTo>
                    <a:pt x="1848" y="8"/>
                  </a:lnTo>
                  <a:lnTo>
                    <a:pt x="1844" y="7"/>
                  </a:lnTo>
                  <a:lnTo>
                    <a:pt x="1843" y="6"/>
                  </a:lnTo>
                  <a:lnTo>
                    <a:pt x="1841" y="5"/>
                  </a:lnTo>
                  <a:lnTo>
                    <a:pt x="1841" y="4"/>
                  </a:lnTo>
                  <a:lnTo>
                    <a:pt x="1841" y="2"/>
                  </a:lnTo>
                  <a:lnTo>
                    <a:pt x="1843" y="1"/>
                  </a:lnTo>
                  <a:lnTo>
                    <a:pt x="1844" y="0"/>
                  </a:lnTo>
                  <a:lnTo>
                    <a:pt x="1848" y="0"/>
                  </a:lnTo>
                  <a:close/>
                  <a:moveTo>
                    <a:pt x="2031" y="0"/>
                  </a:moveTo>
                  <a:lnTo>
                    <a:pt x="2139" y="0"/>
                  </a:lnTo>
                  <a:lnTo>
                    <a:pt x="2142" y="0"/>
                  </a:lnTo>
                  <a:lnTo>
                    <a:pt x="2144" y="1"/>
                  </a:lnTo>
                  <a:lnTo>
                    <a:pt x="2146" y="2"/>
                  </a:lnTo>
                  <a:lnTo>
                    <a:pt x="2146" y="4"/>
                  </a:lnTo>
                  <a:lnTo>
                    <a:pt x="2146" y="5"/>
                  </a:lnTo>
                  <a:lnTo>
                    <a:pt x="2144" y="6"/>
                  </a:lnTo>
                  <a:lnTo>
                    <a:pt x="2142" y="7"/>
                  </a:lnTo>
                  <a:lnTo>
                    <a:pt x="2139" y="8"/>
                  </a:lnTo>
                  <a:lnTo>
                    <a:pt x="2031" y="8"/>
                  </a:lnTo>
                  <a:lnTo>
                    <a:pt x="2029" y="7"/>
                  </a:lnTo>
                  <a:lnTo>
                    <a:pt x="2026" y="6"/>
                  </a:lnTo>
                  <a:lnTo>
                    <a:pt x="2024" y="5"/>
                  </a:lnTo>
                  <a:lnTo>
                    <a:pt x="2024" y="4"/>
                  </a:lnTo>
                  <a:lnTo>
                    <a:pt x="2024" y="2"/>
                  </a:lnTo>
                  <a:lnTo>
                    <a:pt x="2026" y="1"/>
                  </a:lnTo>
                  <a:lnTo>
                    <a:pt x="2029" y="0"/>
                  </a:lnTo>
                  <a:lnTo>
                    <a:pt x="2031" y="0"/>
                  </a:lnTo>
                  <a:close/>
                  <a:moveTo>
                    <a:pt x="2216" y="0"/>
                  </a:moveTo>
                  <a:lnTo>
                    <a:pt x="2324" y="0"/>
                  </a:lnTo>
                  <a:lnTo>
                    <a:pt x="2325" y="0"/>
                  </a:lnTo>
                  <a:lnTo>
                    <a:pt x="2329" y="1"/>
                  </a:lnTo>
                  <a:lnTo>
                    <a:pt x="2329" y="2"/>
                  </a:lnTo>
                  <a:lnTo>
                    <a:pt x="2331" y="4"/>
                  </a:lnTo>
                  <a:lnTo>
                    <a:pt x="2329" y="5"/>
                  </a:lnTo>
                  <a:lnTo>
                    <a:pt x="2329" y="6"/>
                  </a:lnTo>
                  <a:lnTo>
                    <a:pt x="2325" y="7"/>
                  </a:lnTo>
                  <a:lnTo>
                    <a:pt x="2324" y="8"/>
                  </a:lnTo>
                  <a:lnTo>
                    <a:pt x="2216" y="8"/>
                  </a:lnTo>
                  <a:lnTo>
                    <a:pt x="2212" y="7"/>
                  </a:lnTo>
                  <a:lnTo>
                    <a:pt x="2210" y="6"/>
                  </a:lnTo>
                  <a:lnTo>
                    <a:pt x="2209" y="5"/>
                  </a:lnTo>
                  <a:lnTo>
                    <a:pt x="2209" y="4"/>
                  </a:lnTo>
                  <a:lnTo>
                    <a:pt x="2209" y="2"/>
                  </a:lnTo>
                  <a:lnTo>
                    <a:pt x="2210" y="1"/>
                  </a:lnTo>
                  <a:lnTo>
                    <a:pt x="2212" y="0"/>
                  </a:lnTo>
                  <a:lnTo>
                    <a:pt x="2216" y="0"/>
                  </a:lnTo>
                  <a:close/>
                  <a:moveTo>
                    <a:pt x="2399" y="0"/>
                  </a:moveTo>
                  <a:lnTo>
                    <a:pt x="2507" y="0"/>
                  </a:lnTo>
                  <a:lnTo>
                    <a:pt x="2510" y="0"/>
                  </a:lnTo>
                  <a:lnTo>
                    <a:pt x="2512" y="1"/>
                  </a:lnTo>
                  <a:lnTo>
                    <a:pt x="2514" y="2"/>
                  </a:lnTo>
                  <a:lnTo>
                    <a:pt x="2514" y="4"/>
                  </a:lnTo>
                  <a:lnTo>
                    <a:pt x="2514" y="5"/>
                  </a:lnTo>
                  <a:lnTo>
                    <a:pt x="2512" y="6"/>
                  </a:lnTo>
                  <a:lnTo>
                    <a:pt x="2510" y="7"/>
                  </a:lnTo>
                  <a:lnTo>
                    <a:pt x="2507" y="8"/>
                  </a:lnTo>
                  <a:lnTo>
                    <a:pt x="2399" y="8"/>
                  </a:lnTo>
                  <a:lnTo>
                    <a:pt x="2397" y="7"/>
                  </a:lnTo>
                  <a:lnTo>
                    <a:pt x="2393" y="6"/>
                  </a:lnTo>
                  <a:lnTo>
                    <a:pt x="2393" y="5"/>
                  </a:lnTo>
                  <a:lnTo>
                    <a:pt x="2391" y="4"/>
                  </a:lnTo>
                  <a:lnTo>
                    <a:pt x="2393" y="2"/>
                  </a:lnTo>
                  <a:lnTo>
                    <a:pt x="2393" y="1"/>
                  </a:lnTo>
                  <a:lnTo>
                    <a:pt x="2397" y="0"/>
                  </a:lnTo>
                  <a:lnTo>
                    <a:pt x="2399" y="0"/>
                  </a:lnTo>
                  <a:close/>
                  <a:moveTo>
                    <a:pt x="2584" y="0"/>
                  </a:moveTo>
                  <a:lnTo>
                    <a:pt x="2691" y="0"/>
                  </a:lnTo>
                  <a:lnTo>
                    <a:pt x="2693" y="0"/>
                  </a:lnTo>
                  <a:lnTo>
                    <a:pt x="2697" y="1"/>
                  </a:lnTo>
                  <a:lnTo>
                    <a:pt x="2699" y="2"/>
                  </a:lnTo>
                  <a:lnTo>
                    <a:pt x="2699" y="4"/>
                  </a:lnTo>
                  <a:lnTo>
                    <a:pt x="2699" y="5"/>
                  </a:lnTo>
                  <a:lnTo>
                    <a:pt x="2697" y="6"/>
                  </a:lnTo>
                  <a:lnTo>
                    <a:pt x="2693" y="7"/>
                  </a:lnTo>
                  <a:lnTo>
                    <a:pt x="2691" y="8"/>
                  </a:lnTo>
                  <a:lnTo>
                    <a:pt x="2584" y="8"/>
                  </a:lnTo>
                  <a:lnTo>
                    <a:pt x="2580" y="7"/>
                  </a:lnTo>
                  <a:lnTo>
                    <a:pt x="2578" y="6"/>
                  </a:lnTo>
                  <a:lnTo>
                    <a:pt x="2576" y="5"/>
                  </a:lnTo>
                  <a:lnTo>
                    <a:pt x="2576" y="4"/>
                  </a:lnTo>
                  <a:lnTo>
                    <a:pt x="2576" y="2"/>
                  </a:lnTo>
                  <a:lnTo>
                    <a:pt x="2578" y="1"/>
                  </a:lnTo>
                  <a:lnTo>
                    <a:pt x="2580" y="0"/>
                  </a:lnTo>
                  <a:lnTo>
                    <a:pt x="2584" y="0"/>
                  </a:lnTo>
                  <a:close/>
                  <a:moveTo>
                    <a:pt x="2767" y="0"/>
                  </a:moveTo>
                  <a:lnTo>
                    <a:pt x="2874" y="0"/>
                  </a:lnTo>
                  <a:lnTo>
                    <a:pt x="2878" y="0"/>
                  </a:lnTo>
                  <a:lnTo>
                    <a:pt x="2880" y="1"/>
                  </a:lnTo>
                  <a:lnTo>
                    <a:pt x="2882" y="2"/>
                  </a:lnTo>
                  <a:lnTo>
                    <a:pt x="2882" y="4"/>
                  </a:lnTo>
                  <a:lnTo>
                    <a:pt x="2882" y="5"/>
                  </a:lnTo>
                  <a:lnTo>
                    <a:pt x="2880" y="6"/>
                  </a:lnTo>
                  <a:lnTo>
                    <a:pt x="2878" y="7"/>
                  </a:lnTo>
                  <a:lnTo>
                    <a:pt x="2874" y="8"/>
                  </a:lnTo>
                  <a:lnTo>
                    <a:pt x="2767" y="8"/>
                  </a:lnTo>
                  <a:lnTo>
                    <a:pt x="2765" y="7"/>
                  </a:lnTo>
                  <a:lnTo>
                    <a:pt x="2763" y="6"/>
                  </a:lnTo>
                  <a:lnTo>
                    <a:pt x="2761" y="5"/>
                  </a:lnTo>
                  <a:lnTo>
                    <a:pt x="2759" y="4"/>
                  </a:lnTo>
                  <a:lnTo>
                    <a:pt x="2761" y="2"/>
                  </a:lnTo>
                  <a:lnTo>
                    <a:pt x="2763" y="1"/>
                  </a:lnTo>
                  <a:lnTo>
                    <a:pt x="2765" y="0"/>
                  </a:lnTo>
                  <a:lnTo>
                    <a:pt x="2767" y="0"/>
                  </a:lnTo>
                  <a:close/>
                  <a:moveTo>
                    <a:pt x="2952" y="0"/>
                  </a:moveTo>
                  <a:lnTo>
                    <a:pt x="3059" y="0"/>
                  </a:lnTo>
                  <a:lnTo>
                    <a:pt x="3061" y="0"/>
                  </a:lnTo>
                  <a:lnTo>
                    <a:pt x="3065" y="1"/>
                  </a:lnTo>
                  <a:lnTo>
                    <a:pt x="3067" y="2"/>
                  </a:lnTo>
                  <a:lnTo>
                    <a:pt x="3067" y="4"/>
                  </a:lnTo>
                  <a:lnTo>
                    <a:pt x="3067" y="5"/>
                  </a:lnTo>
                  <a:lnTo>
                    <a:pt x="3065" y="6"/>
                  </a:lnTo>
                  <a:lnTo>
                    <a:pt x="3061" y="7"/>
                  </a:lnTo>
                  <a:lnTo>
                    <a:pt x="3059" y="8"/>
                  </a:lnTo>
                  <a:lnTo>
                    <a:pt x="2952" y="8"/>
                  </a:lnTo>
                  <a:lnTo>
                    <a:pt x="2948" y="7"/>
                  </a:lnTo>
                  <a:lnTo>
                    <a:pt x="2946" y="6"/>
                  </a:lnTo>
                  <a:lnTo>
                    <a:pt x="2944" y="5"/>
                  </a:lnTo>
                  <a:lnTo>
                    <a:pt x="2944" y="4"/>
                  </a:lnTo>
                  <a:lnTo>
                    <a:pt x="2944" y="2"/>
                  </a:lnTo>
                  <a:lnTo>
                    <a:pt x="2946" y="1"/>
                  </a:lnTo>
                  <a:lnTo>
                    <a:pt x="2948" y="0"/>
                  </a:lnTo>
                  <a:lnTo>
                    <a:pt x="2952" y="0"/>
                  </a:lnTo>
                  <a:close/>
                  <a:moveTo>
                    <a:pt x="3137" y="0"/>
                  </a:moveTo>
                  <a:lnTo>
                    <a:pt x="3242" y="0"/>
                  </a:lnTo>
                  <a:lnTo>
                    <a:pt x="3246" y="0"/>
                  </a:lnTo>
                  <a:lnTo>
                    <a:pt x="3248" y="1"/>
                  </a:lnTo>
                  <a:lnTo>
                    <a:pt x="3250" y="2"/>
                  </a:lnTo>
                  <a:lnTo>
                    <a:pt x="3250" y="4"/>
                  </a:lnTo>
                  <a:lnTo>
                    <a:pt x="3250" y="5"/>
                  </a:lnTo>
                  <a:lnTo>
                    <a:pt x="3248" y="6"/>
                  </a:lnTo>
                  <a:lnTo>
                    <a:pt x="3246" y="7"/>
                  </a:lnTo>
                  <a:lnTo>
                    <a:pt x="3242" y="8"/>
                  </a:lnTo>
                  <a:lnTo>
                    <a:pt x="3137" y="8"/>
                  </a:lnTo>
                  <a:lnTo>
                    <a:pt x="3133" y="7"/>
                  </a:lnTo>
                  <a:lnTo>
                    <a:pt x="3131" y="6"/>
                  </a:lnTo>
                  <a:lnTo>
                    <a:pt x="3129" y="5"/>
                  </a:lnTo>
                  <a:lnTo>
                    <a:pt x="3127" y="4"/>
                  </a:lnTo>
                  <a:lnTo>
                    <a:pt x="3129" y="2"/>
                  </a:lnTo>
                  <a:lnTo>
                    <a:pt x="3131" y="1"/>
                  </a:lnTo>
                  <a:lnTo>
                    <a:pt x="3133" y="0"/>
                  </a:lnTo>
                  <a:lnTo>
                    <a:pt x="3137" y="0"/>
                  </a:lnTo>
                  <a:close/>
                  <a:moveTo>
                    <a:pt x="3319" y="0"/>
                  </a:moveTo>
                  <a:lnTo>
                    <a:pt x="3427" y="0"/>
                  </a:lnTo>
                  <a:lnTo>
                    <a:pt x="3429" y="0"/>
                  </a:lnTo>
                  <a:lnTo>
                    <a:pt x="3433" y="1"/>
                  </a:lnTo>
                  <a:lnTo>
                    <a:pt x="3435" y="2"/>
                  </a:lnTo>
                  <a:lnTo>
                    <a:pt x="3435" y="4"/>
                  </a:lnTo>
                  <a:lnTo>
                    <a:pt x="3435" y="5"/>
                  </a:lnTo>
                  <a:lnTo>
                    <a:pt x="3433" y="6"/>
                  </a:lnTo>
                  <a:lnTo>
                    <a:pt x="3429" y="7"/>
                  </a:lnTo>
                  <a:lnTo>
                    <a:pt x="3427" y="8"/>
                  </a:lnTo>
                  <a:lnTo>
                    <a:pt x="3319" y="8"/>
                  </a:lnTo>
                  <a:lnTo>
                    <a:pt x="3316" y="7"/>
                  </a:lnTo>
                  <a:lnTo>
                    <a:pt x="3314" y="6"/>
                  </a:lnTo>
                  <a:lnTo>
                    <a:pt x="3312" y="5"/>
                  </a:lnTo>
                  <a:lnTo>
                    <a:pt x="3312" y="4"/>
                  </a:lnTo>
                  <a:lnTo>
                    <a:pt x="3312" y="2"/>
                  </a:lnTo>
                  <a:lnTo>
                    <a:pt x="3314" y="1"/>
                  </a:lnTo>
                  <a:lnTo>
                    <a:pt x="3316" y="0"/>
                  </a:lnTo>
                  <a:lnTo>
                    <a:pt x="3319" y="0"/>
                  </a:lnTo>
                  <a:close/>
                  <a:moveTo>
                    <a:pt x="3504" y="0"/>
                  </a:moveTo>
                  <a:lnTo>
                    <a:pt x="3610" y="0"/>
                  </a:lnTo>
                  <a:lnTo>
                    <a:pt x="3614" y="0"/>
                  </a:lnTo>
                  <a:lnTo>
                    <a:pt x="3616" y="1"/>
                  </a:lnTo>
                  <a:lnTo>
                    <a:pt x="3617" y="2"/>
                  </a:lnTo>
                  <a:lnTo>
                    <a:pt x="3619" y="4"/>
                  </a:lnTo>
                  <a:lnTo>
                    <a:pt x="3617" y="5"/>
                  </a:lnTo>
                  <a:lnTo>
                    <a:pt x="3616" y="6"/>
                  </a:lnTo>
                  <a:lnTo>
                    <a:pt x="3614" y="7"/>
                  </a:lnTo>
                  <a:lnTo>
                    <a:pt x="3610" y="8"/>
                  </a:lnTo>
                  <a:lnTo>
                    <a:pt x="3504" y="8"/>
                  </a:lnTo>
                  <a:lnTo>
                    <a:pt x="3501" y="7"/>
                  </a:lnTo>
                  <a:lnTo>
                    <a:pt x="3499" y="6"/>
                  </a:lnTo>
                  <a:lnTo>
                    <a:pt x="3497" y="5"/>
                  </a:lnTo>
                  <a:lnTo>
                    <a:pt x="3497" y="4"/>
                  </a:lnTo>
                  <a:lnTo>
                    <a:pt x="3497" y="2"/>
                  </a:lnTo>
                  <a:lnTo>
                    <a:pt x="3499" y="1"/>
                  </a:lnTo>
                  <a:lnTo>
                    <a:pt x="3501" y="0"/>
                  </a:lnTo>
                  <a:lnTo>
                    <a:pt x="3504" y="0"/>
                  </a:lnTo>
                  <a:close/>
                  <a:moveTo>
                    <a:pt x="3687" y="0"/>
                  </a:moveTo>
                  <a:lnTo>
                    <a:pt x="3795" y="0"/>
                  </a:lnTo>
                  <a:lnTo>
                    <a:pt x="3799" y="0"/>
                  </a:lnTo>
                  <a:lnTo>
                    <a:pt x="3800" y="1"/>
                  </a:lnTo>
                  <a:lnTo>
                    <a:pt x="3802" y="2"/>
                  </a:lnTo>
                  <a:lnTo>
                    <a:pt x="3802" y="4"/>
                  </a:lnTo>
                  <a:lnTo>
                    <a:pt x="3802" y="5"/>
                  </a:lnTo>
                  <a:lnTo>
                    <a:pt x="3800" y="6"/>
                  </a:lnTo>
                  <a:lnTo>
                    <a:pt x="3799" y="7"/>
                  </a:lnTo>
                  <a:lnTo>
                    <a:pt x="3795" y="8"/>
                  </a:lnTo>
                  <a:lnTo>
                    <a:pt x="3687" y="8"/>
                  </a:lnTo>
                  <a:lnTo>
                    <a:pt x="3685" y="7"/>
                  </a:lnTo>
                  <a:lnTo>
                    <a:pt x="3682" y="6"/>
                  </a:lnTo>
                  <a:lnTo>
                    <a:pt x="3680" y="5"/>
                  </a:lnTo>
                  <a:lnTo>
                    <a:pt x="3680" y="4"/>
                  </a:lnTo>
                  <a:lnTo>
                    <a:pt x="3680" y="2"/>
                  </a:lnTo>
                  <a:lnTo>
                    <a:pt x="3682" y="1"/>
                  </a:lnTo>
                  <a:lnTo>
                    <a:pt x="3685" y="0"/>
                  </a:lnTo>
                  <a:lnTo>
                    <a:pt x="3687" y="0"/>
                  </a:lnTo>
                  <a:close/>
                  <a:moveTo>
                    <a:pt x="3872" y="0"/>
                  </a:moveTo>
                  <a:lnTo>
                    <a:pt x="3953" y="0"/>
                  </a:lnTo>
                  <a:lnTo>
                    <a:pt x="3957" y="0"/>
                  </a:lnTo>
                  <a:lnTo>
                    <a:pt x="3959" y="1"/>
                  </a:lnTo>
                  <a:lnTo>
                    <a:pt x="3961" y="2"/>
                  </a:lnTo>
                  <a:lnTo>
                    <a:pt x="3961" y="4"/>
                  </a:lnTo>
                  <a:lnTo>
                    <a:pt x="3961" y="5"/>
                  </a:lnTo>
                  <a:lnTo>
                    <a:pt x="3959" y="6"/>
                  </a:lnTo>
                  <a:lnTo>
                    <a:pt x="3957" y="7"/>
                  </a:lnTo>
                  <a:lnTo>
                    <a:pt x="3953" y="8"/>
                  </a:lnTo>
                  <a:lnTo>
                    <a:pt x="3872" y="8"/>
                  </a:lnTo>
                  <a:lnTo>
                    <a:pt x="3868" y="7"/>
                  </a:lnTo>
                  <a:lnTo>
                    <a:pt x="3866" y="6"/>
                  </a:lnTo>
                  <a:lnTo>
                    <a:pt x="3865" y="5"/>
                  </a:lnTo>
                  <a:lnTo>
                    <a:pt x="3865" y="4"/>
                  </a:lnTo>
                  <a:lnTo>
                    <a:pt x="3865" y="2"/>
                  </a:lnTo>
                  <a:lnTo>
                    <a:pt x="3866" y="1"/>
                  </a:lnTo>
                  <a:lnTo>
                    <a:pt x="3868" y="0"/>
                  </a:lnTo>
                  <a:lnTo>
                    <a:pt x="3872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" name="Rectangle 250"/>
            <p:cNvSpPr>
              <a:spLocks noChangeArrowheads="1"/>
            </p:cNvSpPr>
            <p:nvPr/>
          </p:nvSpPr>
          <p:spPr bwMode="auto">
            <a:xfrm>
              <a:off x="4468" y="3689"/>
              <a:ext cx="109" cy="18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宋体" pitchFamily="2" charset="-122"/>
                </a:rPr>
                <a:t>I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宋体" pitchFamily="2" charset="-122"/>
                </a:rPr>
                <a:t>o</a:t>
              </a:r>
            </a:p>
          </p:txBody>
        </p:sp>
        <p:sp>
          <p:nvSpPr>
            <p:cNvPr id="253" name="Line 251"/>
            <p:cNvSpPr>
              <a:spLocks noChangeShapeType="1"/>
            </p:cNvSpPr>
            <p:nvPr/>
          </p:nvSpPr>
          <p:spPr bwMode="auto">
            <a:xfrm>
              <a:off x="4555" y="2675"/>
              <a:ext cx="1" cy="2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4" name="Line 252"/>
            <p:cNvSpPr>
              <a:spLocks noChangeShapeType="1"/>
            </p:cNvSpPr>
            <p:nvPr/>
          </p:nvSpPr>
          <p:spPr bwMode="auto">
            <a:xfrm>
              <a:off x="5089" y="2675"/>
              <a:ext cx="1" cy="2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5" name="Line 253"/>
            <p:cNvSpPr>
              <a:spLocks noChangeShapeType="1"/>
            </p:cNvSpPr>
            <p:nvPr/>
          </p:nvSpPr>
          <p:spPr bwMode="auto">
            <a:xfrm flipV="1">
              <a:off x="3915" y="2674"/>
              <a:ext cx="1" cy="1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" name="Freeform 254"/>
            <p:cNvSpPr>
              <a:spLocks/>
            </p:cNvSpPr>
            <p:nvPr/>
          </p:nvSpPr>
          <p:spPr bwMode="auto">
            <a:xfrm>
              <a:off x="3881" y="2834"/>
              <a:ext cx="68" cy="75"/>
            </a:xfrm>
            <a:custGeom>
              <a:avLst/>
              <a:gdLst>
                <a:gd name="T0" fmla="*/ 1 w 138"/>
                <a:gd name="T1" fmla="*/ 75 h 75"/>
                <a:gd name="T2" fmla="*/ 0 w 138"/>
                <a:gd name="T3" fmla="*/ 0 h 75"/>
                <a:gd name="T4" fmla="*/ 0 w 138"/>
                <a:gd name="T5" fmla="*/ 2 h 75"/>
                <a:gd name="T6" fmla="*/ 0 w 138"/>
                <a:gd name="T7" fmla="*/ 4 h 75"/>
                <a:gd name="T8" fmla="*/ 0 w 138"/>
                <a:gd name="T9" fmla="*/ 5 h 75"/>
                <a:gd name="T10" fmla="*/ 0 w 138"/>
                <a:gd name="T11" fmla="*/ 6 h 75"/>
                <a:gd name="T12" fmla="*/ 0 w 138"/>
                <a:gd name="T13" fmla="*/ 7 h 75"/>
                <a:gd name="T14" fmla="*/ 0 w 138"/>
                <a:gd name="T15" fmla="*/ 8 h 75"/>
                <a:gd name="T16" fmla="*/ 0 w 138"/>
                <a:gd name="T17" fmla="*/ 8 h 75"/>
                <a:gd name="T18" fmla="*/ 1 w 138"/>
                <a:gd name="T19" fmla="*/ 9 h 75"/>
                <a:gd name="T20" fmla="*/ 1 w 138"/>
                <a:gd name="T21" fmla="*/ 8 h 75"/>
                <a:gd name="T22" fmla="*/ 1 w 138"/>
                <a:gd name="T23" fmla="*/ 8 h 75"/>
                <a:gd name="T24" fmla="*/ 1 w 138"/>
                <a:gd name="T25" fmla="*/ 7 h 75"/>
                <a:gd name="T26" fmla="*/ 1 w 138"/>
                <a:gd name="T27" fmla="*/ 6 h 75"/>
                <a:gd name="T28" fmla="*/ 1 w 138"/>
                <a:gd name="T29" fmla="*/ 5 h 75"/>
                <a:gd name="T30" fmla="*/ 1 w 138"/>
                <a:gd name="T31" fmla="*/ 4 h 75"/>
                <a:gd name="T32" fmla="*/ 2 w 138"/>
                <a:gd name="T33" fmla="*/ 2 h 75"/>
                <a:gd name="T34" fmla="*/ 2 w 138"/>
                <a:gd name="T35" fmla="*/ 0 h 75"/>
                <a:gd name="T36" fmla="*/ 1 w 138"/>
                <a:gd name="T37" fmla="*/ 75 h 75"/>
                <a:gd name="T38" fmla="*/ 1 w 138"/>
                <a:gd name="T39" fmla="*/ 75 h 7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38"/>
                <a:gd name="T61" fmla="*/ 0 h 75"/>
                <a:gd name="T62" fmla="*/ 138 w 138"/>
                <a:gd name="T63" fmla="*/ 75 h 7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38" h="75">
                  <a:moveTo>
                    <a:pt x="70" y="75"/>
                  </a:moveTo>
                  <a:lnTo>
                    <a:pt x="0" y="0"/>
                  </a:lnTo>
                  <a:lnTo>
                    <a:pt x="10" y="2"/>
                  </a:lnTo>
                  <a:lnTo>
                    <a:pt x="17" y="4"/>
                  </a:lnTo>
                  <a:lnTo>
                    <a:pt x="25" y="5"/>
                  </a:lnTo>
                  <a:lnTo>
                    <a:pt x="34" y="6"/>
                  </a:lnTo>
                  <a:lnTo>
                    <a:pt x="44" y="7"/>
                  </a:lnTo>
                  <a:lnTo>
                    <a:pt x="51" y="8"/>
                  </a:lnTo>
                  <a:lnTo>
                    <a:pt x="60" y="8"/>
                  </a:lnTo>
                  <a:lnTo>
                    <a:pt x="70" y="9"/>
                  </a:lnTo>
                  <a:lnTo>
                    <a:pt x="77" y="8"/>
                  </a:lnTo>
                  <a:lnTo>
                    <a:pt x="87" y="8"/>
                  </a:lnTo>
                  <a:lnTo>
                    <a:pt x="96" y="7"/>
                  </a:lnTo>
                  <a:lnTo>
                    <a:pt x="104" y="6"/>
                  </a:lnTo>
                  <a:lnTo>
                    <a:pt x="113" y="5"/>
                  </a:lnTo>
                  <a:lnTo>
                    <a:pt x="121" y="4"/>
                  </a:lnTo>
                  <a:lnTo>
                    <a:pt x="130" y="2"/>
                  </a:lnTo>
                  <a:lnTo>
                    <a:pt x="138" y="0"/>
                  </a:lnTo>
                  <a:lnTo>
                    <a:pt x="70" y="75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Freeform 255"/>
            <p:cNvSpPr>
              <a:spLocks/>
            </p:cNvSpPr>
            <p:nvPr/>
          </p:nvSpPr>
          <p:spPr bwMode="auto">
            <a:xfrm>
              <a:off x="3881" y="2616"/>
              <a:ext cx="68" cy="77"/>
            </a:xfrm>
            <a:custGeom>
              <a:avLst/>
              <a:gdLst>
                <a:gd name="T0" fmla="*/ 1 w 138"/>
                <a:gd name="T1" fmla="*/ 0 h 77"/>
                <a:gd name="T2" fmla="*/ 2 w 138"/>
                <a:gd name="T3" fmla="*/ 77 h 77"/>
                <a:gd name="T4" fmla="*/ 2 w 138"/>
                <a:gd name="T5" fmla="*/ 75 h 77"/>
                <a:gd name="T6" fmla="*/ 1 w 138"/>
                <a:gd name="T7" fmla="*/ 73 h 77"/>
                <a:gd name="T8" fmla="*/ 1 w 138"/>
                <a:gd name="T9" fmla="*/ 71 h 77"/>
                <a:gd name="T10" fmla="*/ 1 w 138"/>
                <a:gd name="T11" fmla="*/ 70 h 77"/>
                <a:gd name="T12" fmla="*/ 1 w 138"/>
                <a:gd name="T13" fmla="*/ 69 h 77"/>
                <a:gd name="T14" fmla="*/ 1 w 138"/>
                <a:gd name="T15" fmla="*/ 69 h 77"/>
                <a:gd name="T16" fmla="*/ 1 w 138"/>
                <a:gd name="T17" fmla="*/ 68 h 77"/>
                <a:gd name="T18" fmla="*/ 1 w 138"/>
                <a:gd name="T19" fmla="*/ 68 h 77"/>
                <a:gd name="T20" fmla="*/ 0 w 138"/>
                <a:gd name="T21" fmla="*/ 68 h 77"/>
                <a:gd name="T22" fmla="*/ 0 w 138"/>
                <a:gd name="T23" fmla="*/ 69 h 77"/>
                <a:gd name="T24" fmla="*/ 0 w 138"/>
                <a:gd name="T25" fmla="*/ 69 h 77"/>
                <a:gd name="T26" fmla="*/ 0 w 138"/>
                <a:gd name="T27" fmla="*/ 70 h 77"/>
                <a:gd name="T28" fmla="*/ 0 w 138"/>
                <a:gd name="T29" fmla="*/ 71 h 77"/>
                <a:gd name="T30" fmla="*/ 0 w 138"/>
                <a:gd name="T31" fmla="*/ 73 h 77"/>
                <a:gd name="T32" fmla="*/ 0 w 138"/>
                <a:gd name="T33" fmla="*/ 75 h 77"/>
                <a:gd name="T34" fmla="*/ 0 w 138"/>
                <a:gd name="T35" fmla="*/ 77 h 77"/>
                <a:gd name="T36" fmla="*/ 0 w 138"/>
                <a:gd name="T37" fmla="*/ 77 h 77"/>
                <a:gd name="T38" fmla="*/ 1 w 138"/>
                <a:gd name="T39" fmla="*/ 0 h 77"/>
                <a:gd name="T40" fmla="*/ 1 w 138"/>
                <a:gd name="T41" fmla="*/ 0 h 7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8"/>
                <a:gd name="T64" fmla="*/ 0 h 77"/>
                <a:gd name="T65" fmla="*/ 138 w 138"/>
                <a:gd name="T66" fmla="*/ 77 h 7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8" h="77">
                  <a:moveTo>
                    <a:pt x="70" y="0"/>
                  </a:moveTo>
                  <a:lnTo>
                    <a:pt x="138" y="77"/>
                  </a:lnTo>
                  <a:lnTo>
                    <a:pt x="130" y="75"/>
                  </a:lnTo>
                  <a:lnTo>
                    <a:pt x="121" y="73"/>
                  </a:lnTo>
                  <a:lnTo>
                    <a:pt x="113" y="71"/>
                  </a:lnTo>
                  <a:lnTo>
                    <a:pt x="104" y="70"/>
                  </a:lnTo>
                  <a:lnTo>
                    <a:pt x="96" y="69"/>
                  </a:lnTo>
                  <a:lnTo>
                    <a:pt x="87" y="69"/>
                  </a:lnTo>
                  <a:lnTo>
                    <a:pt x="77" y="68"/>
                  </a:lnTo>
                  <a:lnTo>
                    <a:pt x="70" y="68"/>
                  </a:lnTo>
                  <a:lnTo>
                    <a:pt x="60" y="68"/>
                  </a:lnTo>
                  <a:lnTo>
                    <a:pt x="51" y="69"/>
                  </a:lnTo>
                  <a:lnTo>
                    <a:pt x="44" y="69"/>
                  </a:lnTo>
                  <a:lnTo>
                    <a:pt x="34" y="70"/>
                  </a:lnTo>
                  <a:lnTo>
                    <a:pt x="25" y="71"/>
                  </a:lnTo>
                  <a:lnTo>
                    <a:pt x="17" y="73"/>
                  </a:lnTo>
                  <a:lnTo>
                    <a:pt x="10" y="75"/>
                  </a:lnTo>
                  <a:lnTo>
                    <a:pt x="0" y="77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Rectangle 256"/>
            <p:cNvSpPr>
              <a:spLocks noChangeArrowheads="1"/>
            </p:cNvSpPr>
            <p:nvPr/>
          </p:nvSpPr>
          <p:spPr bwMode="auto">
            <a:xfrm>
              <a:off x="3969" y="2691"/>
              <a:ext cx="109" cy="18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</p:txBody>
        </p:sp>
        <p:sp>
          <p:nvSpPr>
            <p:cNvPr id="259" name="Rectangle 257"/>
            <p:cNvSpPr>
              <a:spLocks noChangeArrowheads="1"/>
            </p:cNvSpPr>
            <p:nvPr/>
          </p:nvSpPr>
          <p:spPr bwMode="auto">
            <a:xfrm>
              <a:off x="4377" y="2147"/>
              <a:ext cx="156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(a)</a:t>
              </a:r>
              <a:endParaRPr lang="en-US" altLang="zh-CN"/>
            </a:p>
          </p:txBody>
        </p:sp>
        <p:sp>
          <p:nvSpPr>
            <p:cNvPr id="260" name="Rectangle 258"/>
            <p:cNvSpPr>
              <a:spLocks noChangeArrowheads="1"/>
            </p:cNvSpPr>
            <p:nvPr/>
          </p:nvSpPr>
          <p:spPr bwMode="auto">
            <a:xfrm>
              <a:off x="4374" y="4037"/>
              <a:ext cx="156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(b)</a:t>
              </a:r>
              <a:endParaRPr lang="en-US" altLang="zh-CN"/>
            </a:p>
          </p:txBody>
        </p:sp>
        <p:sp>
          <p:nvSpPr>
            <p:cNvPr id="261" name="Rectangle 259"/>
            <p:cNvSpPr>
              <a:spLocks noChangeArrowheads="1"/>
            </p:cNvSpPr>
            <p:nvPr/>
          </p:nvSpPr>
          <p:spPr bwMode="auto">
            <a:xfrm>
              <a:off x="4940" y="845"/>
              <a:ext cx="2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endParaRPr lang="en-US" altLang="zh-CN"/>
            </a:p>
          </p:txBody>
        </p:sp>
        <p:sp>
          <p:nvSpPr>
            <p:cNvPr id="262" name="Line 260"/>
            <p:cNvSpPr>
              <a:spLocks noChangeShapeType="1"/>
            </p:cNvSpPr>
            <p:nvPr/>
          </p:nvSpPr>
          <p:spPr bwMode="auto">
            <a:xfrm flipV="1">
              <a:off x="4423" y="3598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" name="Line 261"/>
            <p:cNvSpPr>
              <a:spLocks noChangeShapeType="1"/>
            </p:cNvSpPr>
            <p:nvPr/>
          </p:nvSpPr>
          <p:spPr bwMode="auto">
            <a:xfrm>
              <a:off x="4423" y="3780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Line 262"/>
            <p:cNvSpPr>
              <a:spLocks noChangeShapeType="1"/>
            </p:cNvSpPr>
            <p:nvPr/>
          </p:nvSpPr>
          <p:spPr bwMode="auto">
            <a:xfrm flipV="1">
              <a:off x="3379" y="3372"/>
              <a:ext cx="0" cy="5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" name="Freeform 263"/>
            <p:cNvSpPr>
              <a:spLocks/>
            </p:cNvSpPr>
            <p:nvPr/>
          </p:nvSpPr>
          <p:spPr bwMode="auto">
            <a:xfrm>
              <a:off x="4243" y="1153"/>
              <a:ext cx="32" cy="234"/>
            </a:xfrm>
            <a:custGeom>
              <a:avLst/>
              <a:gdLst>
                <a:gd name="T0" fmla="*/ 0 w 65"/>
                <a:gd name="T1" fmla="*/ 0 h 234"/>
                <a:gd name="T2" fmla="*/ 0 w 65"/>
                <a:gd name="T3" fmla="*/ 1 h 234"/>
                <a:gd name="T4" fmla="*/ 0 w 65"/>
                <a:gd name="T5" fmla="*/ 4 h 234"/>
                <a:gd name="T6" fmla="*/ 0 w 65"/>
                <a:gd name="T7" fmla="*/ 11 h 234"/>
                <a:gd name="T8" fmla="*/ 0 w 65"/>
                <a:gd name="T9" fmla="*/ 17 h 234"/>
                <a:gd name="T10" fmla="*/ 0 w 65"/>
                <a:gd name="T11" fmla="*/ 22 h 234"/>
                <a:gd name="T12" fmla="*/ 1 w 65"/>
                <a:gd name="T13" fmla="*/ 28 h 234"/>
                <a:gd name="T14" fmla="*/ 0 w 65"/>
                <a:gd name="T15" fmla="*/ 34 h 234"/>
                <a:gd name="T16" fmla="*/ 0 w 65"/>
                <a:gd name="T17" fmla="*/ 39 h 234"/>
                <a:gd name="T18" fmla="*/ 0 w 65"/>
                <a:gd name="T19" fmla="*/ 45 h 234"/>
                <a:gd name="T20" fmla="*/ 0 w 65"/>
                <a:gd name="T21" fmla="*/ 49 h 234"/>
                <a:gd name="T22" fmla="*/ 0 w 65"/>
                <a:gd name="T23" fmla="*/ 56 h 234"/>
                <a:gd name="T24" fmla="*/ 0 w 65"/>
                <a:gd name="T25" fmla="*/ 58 h 234"/>
                <a:gd name="T26" fmla="*/ 0 w 65"/>
                <a:gd name="T27" fmla="*/ 59 h 234"/>
                <a:gd name="T28" fmla="*/ 0 w 65"/>
                <a:gd name="T29" fmla="*/ 59 h 234"/>
                <a:gd name="T30" fmla="*/ 0 w 65"/>
                <a:gd name="T31" fmla="*/ 59 h 234"/>
                <a:gd name="T32" fmla="*/ 0 w 65"/>
                <a:gd name="T33" fmla="*/ 63 h 234"/>
                <a:gd name="T34" fmla="*/ 0 w 65"/>
                <a:gd name="T35" fmla="*/ 71 h 234"/>
                <a:gd name="T36" fmla="*/ 0 w 65"/>
                <a:gd name="T37" fmla="*/ 76 h 234"/>
                <a:gd name="T38" fmla="*/ 0 w 65"/>
                <a:gd name="T39" fmla="*/ 81 h 234"/>
                <a:gd name="T40" fmla="*/ 1 w 65"/>
                <a:gd name="T41" fmla="*/ 87 h 234"/>
                <a:gd name="T42" fmla="*/ 0 w 65"/>
                <a:gd name="T43" fmla="*/ 92 h 234"/>
                <a:gd name="T44" fmla="*/ 0 w 65"/>
                <a:gd name="T45" fmla="*/ 98 h 234"/>
                <a:gd name="T46" fmla="*/ 0 w 65"/>
                <a:gd name="T47" fmla="*/ 104 h 234"/>
                <a:gd name="T48" fmla="*/ 0 w 65"/>
                <a:gd name="T49" fmla="*/ 108 h 234"/>
                <a:gd name="T50" fmla="*/ 0 w 65"/>
                <a:gd name="T51" fmla="*/ 114 h 234"/>
                <a:gd name="T52" fmla="*/ 0 w 65"/>
                <a:gd name="T53" fmla="*/ 116 h 234"/>
                <a:gd name="T54" fmla="*/ 0 w 65"/>
                <a:gd name="T55" fmla="*/ 117 h 234"/>
                <a:gd name="T56" fmla="*/ 0 w 65"/>
                <a:gd name="T57" fmla="*/ 117 h 234"/>
                <a:gd name="T58" fmla="*/ 0 w 65"/>
                <a:gd name="T59" fmla="*/ 118 h 234"/>
                <a:gd name="T60" fmla="*/ 0 w 65"/>
                <a:gd name="T61" fmla="*/ 121 h 234"/>
                <a:gd name="T62" fmla="*/ 0 w 65"/>
                <a:gd name="T63" fmla="*/ 130 h 234"/>
                <a:gd name="T64" fmla="*/ 0 w 65"/>
                <a:gd name="T65" fmla="*/ 134 h 234"/>
                <a:gd name="T66" fmla="*/ 0 w 65"/>
                <a:gd name="T67" fmla="*/ 139 h 234"/>
                <a:gd name="T68" fmla="*/ 1 w 65"/>
                <a:gd name="T69" fmla="*/ 145 h 234"/>
                <a:gd name="T70" fmla="*/ 0 w 65"/>
                <a:gd name="T71" fmla="*/ 151 h 234"/>
                <a:gd name="T72" fmla="*/ 0 w 65"/>
                <a:gd name="T73" fmla="*/ 156 h 234"/>
                <a:gd name="T74" fmla="*/ 0 w 65"/>
                <a:gd name="T75" fmla="*/ 162 h 234"/>
                <a:gd name="T76" fmla="*/ 0 w 65"/>
                <a:gd name="T77" fmla="*/ 167 h 234"/>
                <a:gd name="T78" fmla="*/ 0 w 65"/>
                <a:gd name="T79" fmla="*/ 173 h 234"/>
                <a:gd name="T80" fmla="*/ 0 w 65"/>
                <a:gd name="T81" fmla="*/ 175 h 234"/>
                <a:gd name="T82" fmla="*/ 0 w 65"/>
                <a:gd name="T83" fmla="*/ 176 h 234"/>
                <a:gd name="T84" fmla="*/ 0 w 65"/>
                <a:gd name="T85" fmla="*/ 176 h 234"/>
                <a:gd name="T86" fmla="*/ 0 w 65"/>
                <a:gd name="T87" fmla="*/ 177 h 234"/>
                <a:gd name="T88" fmla="*/ 0 w 65"/>
                <a:gd name="T89" fmla="*/ 180 h 234"/>
                <a:gd name="T90" fmla="*/ 0 w 65"/>
                <a:gd name="T91" fmla="*/ 188 h 234"/>
                <a:gd name="T92" fmla="*/ 0 w 65"/>
                <a:gd name="T93" fmla="*/ 193 h 234"/>
                <a:gd name="T94" fmla="*/ 0 w 65"/>
                <a:gd name="T95" fmla="*/ 198 h 234"/>
                <a:gd name="T96" fmla="*/ 1 w 65"/>
                <a:gd name="T97" fmla="*/ 204 h 234"/>
                <a:gd name="T98" fmla="*/ 0 w 65"/>
                <a:gd name="T99" fmla="*/ 209 h 234"/>
                <a:gd name="T100" fmla="*/ 0 w 65"/>
                <a:gd name="T101" fmla="*/ 215 h 234"/>
                <a:gd name="T102" fmla="*/ 0 w 65"/>
                <a:gd name="T103" fmla="*/ 221 h 234"/>
                <a:gd name="T104" fmla="*/ 0 w 65"/>
                <a:gd name="T105" fmla="*/ 225 h 234"/>
                <a:gd name="T106" fmla="*/ 0 w 65"/>
                <a:gd name="T107" fmla="*/ 231 h 234"/>
                <a:gd name="T108" fmla="*/ 0 w 65"/>
                <a:gd name="T109" fmla="*/ 233 h 234"/>
                <a:gd name="T110" fmla="*/ 0 w 65"/>
                <a:gd name="T111" fmla="*/ 234 h 23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65"/>
                <a:gd name="T169" fmla="*/ 0 h 234"/>
                <a:gd name="T170" fmla="*/ 65 w 65"/>
                <a:gd name="T171" fmla="*/ 234 h 234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65" h="234">
                  <a:moveTo>
                    <a:pt x="0" y="0"/>
                  </a:moveTo>
                  <a:lnTo>
                    <a:pt x="6" y="0"/>
                  </a:lnTo>
                  <a:lnTo>
                    <a:pt x="12" y="0"/>
                  </a:lnTo>
                  <a:lnTo>
                    <a:pt x="19" y="1"/>
                  </a:lnTo>
                  <a:lnTo>
                    <a:pt x="25" y="2"/>
                  </a:lnTo>
                  <a:lnTo>
                    <a:pt x="34" y="4"/>
                  </a:lnTo>
                  <a:lnTo>
                    <a:pt x="44" y="7"/>
                  </a:lnTo>
                  <a:lnTo>
                    <a:pt x="51" y="11"/>
                  </a:lnTo>
                  <a:lnTo>
                    <a:pt x="55" y="15"/>
                  </a:lnTo>
                  <a:lnTo>
                    <a:pt x="59" y="17"/>
                  </a:lnTo>
                  <a:lnTo>
                    <a:pt x="61" y="20"/>
                  </a:lnTo>
                  <a:lnTo>
                    <a:pt x="63" y="22"/>
                  </a:lnTo>
                  <a:lnTo>
                    <a:pt x="63" y="25"/>
                  </a:lnTo>
                  <a:lnTo>
                    <a:pt x="65" y="28"/>
                  </a:lnTo>
                  <a:lnTo>
                    <a:pt x="65" y="31"/>
                  </a:lnTo>
                  <a:lnTo>
                    <a:pt x="63" y="34"/>
                  </a:lnTo>
                  <a:lnTo>
                    <a:pt x="63" y="37"/>
                  </a:lnTo>
                  <a:lnTo>
                    <a:pt x="61" y="39"/>
                  </a:lnTo>
                  <a:lnTo>
                    <a:pt x="57" y="43"/>
                  </a:lnTo>
                  <a:lnTo>
                    <a:pt x="55" y="45"/>
                  </a:lnTo>
                  <a:lnTo>
                    <a:pt x="51" y="47"/>
                  </a:lnTo>
                  <a:lnTo>
                    <a:pt x="48" y="49"/>
                  </a:lnTo>
                  <a:lnTo>
                    <a:pt x="38" y="53"/>
                  </a:lnTo>
                  <a:lnTo>
                    <a:pt x="29" y="56"/>
                  </a:lnTo>
                  <a:lnTo>
                    <a:pt x="23" y="57"/>
                  </a:lnTo>
                  <a:lnTo>
                    <a:pt x="17" y="58"/>
                  </a:lnTo>
                  <a:lnTo>
                    <a:pt x="12" y="58"/>
                  </a:lnTo>
                  <a:lnTo>
                    <a:pt x="4" y="59"/>
                  </a:lnTo>
                  <a:lnTo>
                    <a:pt x="0" y="59"/>
                  </a:lnTo>
                  <a:lnTo>
                    <a:pt x="6" y="59"/>
                  </a:lnTo>
                  <a:lnTo>
                    <a:pt x="12" y="59"/>
                  </a:lnTo>
                  <a:lnTo>
                    <a:pt x="19" y="59"/>
                  </a:lnTo>
                  <a:lnTo>
                    <a:pt x="25" y="60"/>
                  </a:lnTo>
                  <a:lnTo>
                    <a:pt x="34" y="63"/>
                  </a:lnTo>
                  <a:lnTo>
                    <a:pt x="44" y="66"/>
                  </a:lnTo>
                  <a:lnTo>
                    <a:pt x="51" y="71"/>
                  </a:lnTo>
                  <a:lnTo>
                    <a:pt x="55" y="73"/>
                  </a:lnTo>
                  <a:lnTo>
                    <a:pt x="59" y="76"/>
                  </a:lnTo>
                  <a:lnTo>
                    <a:pt x="61" y="78"/>
                  </a:lnTo>
                  <a:lnTo>
                    <a:pt x="63" y="81"/>
                  </a:lnTo>
                  <a:lnTo>
                    <a:pt x="63" y="84"/>
                  </a:lnTo>
                  <a:lnTo>
                    <a:pt x="65" y="87"/>
                  </a:lnTo>
                  <a:lnTo>
                    <a:pt x="65" y="90"/>
                  </a:lnTo>
                  <a:lnTo>
                    <a:pt x="63" y="92"/>
                  </a:lnTo>
                  <a:lnTo>
                    <a:pt x="63" y="95"/>
                  </a:lnTo>
                  <a:lnTo>
                    <a:pt x="61" y="98"/>
                  </a:lnTo>
                  <a:lnTo>
                    <a:pt x="57" y="101"/>
                  </a:lnTo>
                  <a:lnTo>
                    <a:pt x="55" y="104"/>
                  </a:lnTo>
                  <a:lnTo>
                    <a:pt x="51" y="106"/>
                  </a:lnTo>
                  <a:lnTo>
                    <a:pt x="48" y="108"/>
                  </a:lnTo>
                  <a:lnTo>
                    <a:pt x="38" y="112"/>
                  </a:lnTo>
                  <a:lnTo>
                    <a:pt x="29" y="114"/>
                  </a:lnTo>
                  <a:lnTo>
                    <a:pt x="23" y="115"/>
                  </a:lnTo>
                  <a:lnTo>
                    <a:pt x="17" y="116"/>
                  </a:lnTo>
                  <a:lnTo>
                    <a:pt x="12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6" y="117"/>
                  </a:lnTo>
                  <a:lnTo>
                    <a:pt x="12" y="117"/>
                  </a:lnTo>
                  <a:lnTo>
                    <a:pt x="19" y="118"/>
                  </a:lnTo>
                  <a:lnTo>
                    <a:pt x="25" y="119"/>
                  </a:lnTo>
                  <a:lnTo>
                    <a:pt x="34" y="121"/>
                  </a:lnTo>
                  <a:lnTo>
                    <a:pt x="44" y="125"/>
                  </a:lnTo>
                  <a:lnTo>
                    <a:pt x="51" y="130"/>
                  </a:lnTo>
                  <a:lnTo>
                    <a:pt x="55" y="132"/>
                  </a:lnTo>
                  <a:lnTo>
                    <a:pt x="59" y="134"/>
                  </a:lnTo>
                  <a:lnTo>
                    <a:pt x="61" y="137"/>
                  </a:lnTo>
                  <a:lnTo>
                    <a:pt x="63" y="139"/>
                  </a:lnTo>
                  <a:lnTo>
                    <a:pt x="63" y="142"/>
                  </a:lnTo>
                  <a:lnTo>
                    <a:pt x="65" y="145"/>
                  </a:lnTo>
                  <a:lnTo>
                    <a:pt x="65" y="148"/>
                  </a:lnTo>
                  <a:lnTo>
                    <a:pt x="63" y="151"/>
                  </a:lnTo>
                  <a:lnTo>
                    <a:pt x="63" y="154"/>
                  </a:lnTo>
                  <a:lnTo>
                    <a:pt x="61" y="156"/>
                  </a:lnTo>
                  <a:lnTo>
                    <a:pt x="57" y="160"/>
                  </a:lnTo>
                  <a:lnTo>
                    <a:pt x="55" y="162"/>
                  </a:lnTo>
                  <a:lnTo>
                    <a:pt x="51" y="164"/>
                  </a:lnTo>
                  <a:lnTo>
                    <a:pt x="48" y="167"/>
                  </a:lnTo>
                  <a:lnTo>
                    <a:pt x="38" y="170"/>
                  </a:lnTo>
                  <a:lnTo>
                    <a:pt x="29" y="173"/>
                  </a:lnTo>
                  <a:lnTo>
                    <a:pt x="23" y="174"/>
                  </a:lnTo>
                  <a:lnTo>
                    <a:pt x="17" y="175"/>
                  </a:lnTo>
                  <a:lnTo>
                    <a:pt x="12" y="175"/>
                  </a:lnTo>
                  <a:lnTo>
                    <a:pt x="4" y="176"/>
                  </a:lnTo>
                  <a:lnTo>
                    <a:pt x="0" y="176"/>
                  </a:lnTo>
                  <a:lnTo>
                    <a:pt x="6" y="176"/>
                  </a:lnTo>
                  <a:lnTo>
                    <a:pt x="12" y="176"/>
                  </a:lnTo>
                  <a:lnTo>
                    <a:pt x="19" y="177"/>
                  </a:lnTo>
                  <a:lnTo>
                    <a:pt x="25" y="177"/>
                  </a:lnTo>
                  <a:lnTo>
                    <a:pt x="34" y="180"/>
                  </a:lnTo>
                  <a:lnTo>
                    <a:pt x="44" y="183"/>
                  </a:lnTo>
                  <a:lnTo>
                    <a:pt x="51" y="188"/>
                  </a:lnTo>
                  <a:lnTo>
                    <a:pt x="55" y="190"/>
                  </a:lnTo>
                  <a:lnTo>
                    <a:pt x="59" y="193"/>
                  </a:lnTo>
                  <a:lnTo>
                    <a:pt x="61" y="195"/>
                  </a:lnTo>
                  <a:lnTo>
                    <a:pt x="63" y="198"/>
                  </a:lnTo>
                  <a:lnTo>
                    <a:pt x="63" y="201"/>
                  </a:lnTo>
                  <a:lnTo>
                    <a:pt x="65" y="204"/>
                  </a:lnTo>
                  <a:lnTo>
                    <a:pt x="65" y="207"/>
                  </a:lnTo>
                  <a:lnTo>
                    <a:pt x="63" y="209"/>
                  </a:lnTo>
                  <a:lnTo>
                    <a:pt x="63" y="212"/>
                  </a:lnTo>
                  <a:lnTo>
                    <a:pt x="61" y="215"/>
                  </a:lnTo>
                  <a:lnTo>
                    <a:pt x="57" y="218"/>
                  </a:lnTo>
                  <a:lnTo>
                    <a:pt x="55" y="221"/>
                  </a:lnTo>
                  <a:lnTo>
                    <a:pt x="51" y="223"/>
                  </a:lnTo>
                  <a:lnTo>
                    <a:pt x="48" y="225"/>
                  </a:lnTo>
                  <a:lnTo>
                    <a:pt x="38" y="229"/>
                  </a:lnTo>
                  <a:lnTo>
                    <a:pt x="29" y="231"/>
                  </a:lnTo>
                  <a:lnTo>
                    <a:pt x="23" y="233"/>
                  </a:lnTo>
                  <a:lnTo>
                    <a:pt x="17" y="233"/>
                  </a:lnTo>
                  <a:lnTo>
                    <a:pt x="12" y="234"/>
                  </a:lnTo>
                  <a:lnTo>
                    <a:pt x="4" y="234"/>
                  </a:lnTo>
                  <a:lnTo>
                    <a:pt x="0" y="2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" name="Freeform 264"/>
            <p:cNvSpPr>
              <a:spLocks/>
            </p:cNvSpPr>
            <p:nvPr/>
          </p:nvSpPr>
          <p:spPr bwMode="auto">
            <a:xfrm>
              <a:off x="4333" y="1153"/>
              <a:ext cx="32" cy="234"/>
            </a:xfrm>
            <a:custGeom>
              <a:avLst/>
              <a:gdLst>
                <a:gd name="T0" fmla="*/ 0 w 65"/>
                <a:gd name="T1" fmla="*/ 0 h 234"/>
                <a:gd name="T2" fmla="*/ 0 w 65"/>
                <a:gd name="T3" fmla="*/ 1 h 234"/>
                <a:gd name="T4" fmla="*/ 0 w 65"/>
                <a:gd name="T5" fmla="*/ 4 h 234"/>
                <a:gd name="T6" fmla="*/ 0 w 65"/>
                <a:gd name="T7" fmla="*/ 11 h 234"/>
                <a:gd name="T8" fmla="*/ 0 w 65"/>
                <a:gd name="T9" fmla="*/ 17 h 234"/>
                <a:gd name="T10" fmla="*/ 0 w 65"/>
                <a:gd name="T11" fmla="*/ 22 h 234"/>
                <a:gd name="T12" fmla="*/ 0 w 65"/>
                <a:gd name="T13" fmla="*/ 28 h 234"/>
                <a:gd name="T14" fmla="*/ 0 w 65"/>
                <a:gd name="T15" fmla="*/ 34 h 234"/>
                <a:gd name="T16" fmla="*/ 0 w 65"/>
                <a:gd name="T17" fmla="*/ 39 h 234"/>
                <a:gd name="T18" fmla="*/ 0 w 65"/>
                <a:gd name="T19" fmla="*/ 45 h 234"/>
                <a:gd name="T20" fmla="*/ 0 w 65"/>
                <a:gd name="T21" fmla="*/ 49 h 234"/>
                <a:gd name="T22" fmla="*/ 0 w 65"/>
                <a:gd name="T23" fmla="*/ 56 h 234"/>
                <a:gd name="T24" fmla="*/ 0 w 65"/>
                <a:gd name="T25" fmla="*/ 58 h 234"/>
                <a:gd name="T26" fmla="*/ 0 w 65"/>
                <a:gd name="T27" fmla="*/ 59 h 234"/>
                <a:gd name="T28" fmla="*/ 0 w 65"/>
                <a:gd name="T29" fmla="*/ 59 h 234"/>
                <a:gd name="T30" fmla="*/ 0 w 65"/>
                <a:gd name="T31" fmla="*/ 59 h 234"/>
                <a:gd name="T32" fmla="*/ 0 w 65"/>
                <a:gd name="T33" fmla="*/ 63 h 234"/>
                <a:gd name="T34" fmla="*/ 0 w 65"/>
                <a:gd name="T35" fmla="*/ 71 h 234"/>
                <a:gd name="T36" fmla="*/ 0 w 65"/>
                <a:gd name="T37" fmla="*/ 76 h 234"/>
                <a:gd name="T38" fmla="*/ 0 w 65"/>
                <a:gd name="T39" fmla="*/ 81 h 234"/>
                <a:gd name="T40" fmla="*/ 0 w 65"/>
                <a:gd name="T41" fmla="*/ 87 h 234"/>
                <a:gd name="T42" fmla="*/ 0 w 65"/>
                <a:gd name="T43" fmla="*/ 92 h 234"/>
                <a:gd name="T44" fmla="*/ 0 w 65"/>
                <a:gd name="T45" fmla="*/ 98 h 234"/>
                <a:gd name="T46" fmla="*/ 0 w 65"/>
                <a:gd name="T47" fmla="*/ 104 h 234"/>
                <a:gd name="T48" fmla="*/ 0 w 65"/>
                <a:gd name="T49" fmla="*/ 108 h 234"/>
                <a:gd name="T50" fmla="*/ 0 w 65"/>
                <a:gd name="T51" fmla="*/ 114 h 234"/>
                <a:gd name="T52" fmla="*/ 0 w 65"/>
                <a:gd name="T53" fmla="*/ 116 h 234"/>
                <a:gd name="T54" fmla="*/ 0 w 65"/>
                <a:gd name="T55" fmla="*/ 117 h 234"/>
                <a:gd name="T56" fmla="*/ 0 w 65"/>
                <a:gd name="T57" fmla="*/ 117 h 234"/>
                <a:gd name="T58" fmla="*/ 0 w 65"/>
                <a:gd name="T59" fmla="*/ 118 h 234"/>
                <a:gd name="T60" fmla="*/ 0 w 65"/>
                <a:gd name="T61" fmla="*/ 121 h 234"/>
                <a:gd name="T62" fmla="*/ 0 w 65"/>
                <a:gd name="T63" fmla="*/ 130 h 234"/>
                <a:gd name="T64" fmla="*/ 0 w 65"/>
                <a:gd name="T65" fmla="*/ 134 h 234"/>
                <a:gd name="T66" fmla="*/ 0 w 65"/>
                <a:gd name="T67" fmla="*/ 139 h 234"/>
                <a:gd name="T68" fmla="*/ 0 w 65"/>
                <a:gd name="T69" fmla="*/ 145 h 234"/>
                <a:gd name="T70" fmla="*/ 0 w 65"/>
                <a:gd name="T71" fmla="*/ 151 h 234"/>
                <a:gd name="T72" fmla="*/ 0 w 65"/>
                <a:gd name="T73" fmla="*/ 156 h 234"/>
                <a:gd name="T74" fmla="*/ 0 w 65"/>
                <a:gd name="T75" fmla="*/ 162 h 234"/>
                <a:gd name="T76" fmla="*/ 0 w 65"/>
                <a:gd name="T77" fmla="*/ 167 h 234"/>
                <a:gd name="T78" fmla="*/ 0 w 65"/>
                <a:gd name="T79" fmla="*/ 173 h 234"/>
                <a:gd name="T80" fmla="*/ 0 w 65"/>
                <a:gd name="T81" fmla="*/ 175 h 234"/>
                <a:gd name="T82" fmla="*/ 0 w 65"/>
                <a:gd name="T83" fmla="*/ 176 h 234"/>
                <a:gd name="T84" fmla="*/ 0 w 65"/>
                <a:gd name="T85" fmla="*/ 176 h 234"/>
                <a:gd name="T86" fmla="*/ 0 w 65"/>
                <a:gd name="T87" fmla="*/ 177 h 234"/>
                <a:gd name="T88" fmla="*/ 0 w 65"/>
                <a:gd name="T89" fmla="*/ 180 h 234"/>
                <a:gd name="T90" fmla="*/ 0 w 65"/>
                <a:gd name="T91" fmla="*/ 188 h 234"/>
                <a:gd name="T92" fmla="*/ 0 w 65"/>
                <a:gd name="T93" fmla="*/ 193 h 234"/>
                <a:gd name="T94" fmla="*/ 0 w 65"/>
                <a:gd name="T95" fmla="*/ 198 h 234"/>
                <a:gd name="T96" fmla="*/ 0 w 65"/>
                <a:gd name="T97" fmla="*/ 204 h 234"/>
                <a:gd name="T98" fmla="*/ 0 w 65"/>
                <a:gd name="T99" fmla="*/ 209 h 234"/>
                <a:gd name="T100" fmla="*/ 0 w 65"/>
                <a:gd name="T101" fmla="*/ 215 h 234"/>
                <a:gd name="T102" fmla="*/ 0 w 65"/>
                <a:gd name="T103" fmla="*/ 221 h 234"/>
                <a:gd name="T104" fmla="*/ 0 w 65"/>
                <a:gd name="T105" fmla="*/ 225 h 234"/>
                <a:gd name="T106" fmla="*/ 0 w 65"/>
                <a:gd name="T107" fmla="*/ 231 h 234"/>
                <a:gd name="T108" fmla="*/ 0 w 65"/>
                <a:gd name="T109" fmla="*/ 233 h 234"/>
                <a:gd name="T110" fmla="*/ 0 w 65"/>
                <a:gd name="T111" fmla="*/ 234 h 23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65"/>
                <a:gd name="T169" fmla="*/ 0 h 234"/>
                <a:gd name="T170" fmla="*/ 65 w 65"/>
                <a:gd name="T171" fmla="*/ 234 h 234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65" h="234">
                  <a:moveTo>
                    <a:pt x="65" y="0"/>
                  </a:moveTo>
                  <a:lnTo>
                    <a:pt x="59" y="0"/>
                  </a:lnTo>
                  <a:lnTo>
                    <a:pt x="51" y="0"/>
                  </a:lnTo>
                  <a:lnTo>
                    <a:pt x="46" y="1"/>
                  </a:lnTo>
                  <a:lnTo>
                    <a:pt x="40" y="2"/>
                  </a:lnTo>
                  <a:lnTo>
                    <a:pt x="29" y="4"/>
                  </a:lnTo>
                  <a:lnTo>
                    <a:pt x="19" y="7"/>
                  </a:lnTo>
                  <a:lnTo>
                    <a:pt x="12" y="11"/>
                  </a:lnTo>
                  <a:lnTo>
                    <a:pt x="10" y="15"/>
                  </a:lnTo>
                  <a:lnTo>
                    <a:pt x="6" y="17"/>
                  </a:lnTo>
                  <a:lnTo>
                    <a:pt x="4" y="20"/>
                  </a:lnTo>
                  <a:lnTo>
                    <a:pt x="2" y="22"/>
                  </a:lnTo>
                  <a:lnTo>
                    <a:pt x="0" y="25"/>
                  </a:lnTo>
                  <a:lnTo>
                    <a:pt x="0" y="28"/>
                  </a:lnTo>
                  <a:lnTo>
                    <a:pt x="0" y="31"/>
                  </a:lnTo>
                  <a:lnTo>
                    <a:pt x="0" y="34"/>
                  </a:lnTo>
                  <a:lnTo>
                    <a:pt x="2" y="37"/>
                  </a:lnTo>
                  <a:lnTo>
                    <a:pt x="4" y="39"/>
                  </a:lnTo>
                  <a:lnTo>
                    <a:pt x="6" y="43"/>
                  </a:lnTo>
                  <a:lnTo>
                    <a:pt x="10" y="45"/>
                  </a:lnTo>
                  <a:lnTo>
                    <a:pt x="14" y="47"/>
                  </a:lnTo>
                  <a:lnTo>
                    <a:pt x="17" y="49"/>
                  </a:lnTo>
                  <a:lnTo>
                    <a:pt x="25" y="53"/>
                  </a:lnTo>
                  <a:lnTo>
                    <a:pt x="36" y="56"/>
                  </a:lnTo>
                  <a:lnTo>
                    <a:pt x="42" y="57"/>
                  </a:lnTo>
                  <a:lnTo>
                    <a:pt x="48" y="58"/>
                  </a:lnTo>
                  <a:lnTo>
                    <a:pt x="53" y="58"/>
                  </a:lnTo>
                  <a:lnTo>
                    <a:pt x="59" y="59"/>
                  </a:lnTo>
                  <a:lnTo>
                    <a:pt x="65" y="59"/>
                  </a:lnTo>
                  <a:lnTo>
                    <a:pt x="59" y="59"/>
                  </a:lnTo>
                  <a:lnTo>
                    <a:pt x="51" y="59"/>
                  </a:lnTo>
                  <a:lnTo>
                    <a:pt x="46" y="59"/>
                  </a:lnTo>
                  <a:lnTo>
                    <a:pt x="40" y="60"/>
                  </a:lnTo>
                  <a:lnTo>
                    <a:pt x="29" y="63"/>
                  </a:lnTo>
                  <a:lnTo>
                    <a:pt x="19" y="66"/>
                  </a:lnTo>
                  <a:lnTo>
                    <a:pt x="12" y="71"/>
                  </a:lnTo>
                  <a:lnTo>
                    <a:pt x="10" y="73"/>
                  </a:lnTo>
                  <a:lnTo>
                    <a:pt x="6" y="76"/>
                  </a:lnTo>
                  <a:lnTo>
                    <a:pt x="4" y="78"/>
                  </a:lnTo>
                  <a:lnTo>
                    <a:pt x="2" y="81"/>
                  </a:lnTo>
                  <a:lnTo>
                    <a:pt x="0" y="84"/>
                  </a:lnTo>
                  <a:lnTo>
                    <a:pt x="0" y="87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2" y="95"/>
                  </a:lnTo>
                  <a:lnTo>
                    <a:pt x="4" y="98"/>
                  </a:lnTo>
                  <a:lnTo>
                    <a:pt x="6" y="101"/>
                  </a:lnTo>
                  <a:lnTo>
                    <a:pt x="10" y="104"/>
                  </a:lnTo>
                  <a:lnTo>
                    <a:pt x="14" y="106"/>
                  </a:lnTo>
                  <a:lnTo>
                    <a:pt x="17" y="108"/>
                  </a:lnTo>
                  <a:lnTo>
                    <a:pt x="25" y="112"/>
                  </a:lnTo>
                  <a:lnTo>
                    <a:pt x="36" y="114"/>
                  </a:lnTo>
                  <a:lnTo>
                    <a:pt x="42" y="115"/>
                  </a:lnTo>
                  <a:lnTo>
                    <a:pt x="48" y="116"/>
                  </a:lnTo>
                  <a:lnTo>
                    <a:pt x="53" y="117"/>
                  </a:lnTo>
                  <a:lnTo>
                    <a:pt x="59" y="117"/>
                  </a:lnTo>
                  <a:lnTo>
                    <a:pt x="65" y="117"/>
                  </a:lnTo>
                  <a:lnTo>
                    <a:pt x="59" y="117"/>
                  </a:lnTo>
                  <a:lnTo>
                    <a:pt x="51" y="117"/>
                  </a:lnTo>
                  <a:lnTo>
                    <a:pt x="46" y="118"/>
                  </a:lnTo>
                  <a:lnTo>
                    <a:pt x="40" y="119"/>
                  </a:lnTo>
                  <a:lnTo>
                    <a:pt x="29" y="121"/>
                  </a:lnTo>
                  <a:lnTo>
                    <a:pt x="19" y="125"/>
                  </a:lnTo>
                  <a:lnTo>
                    <a:pt x="12" y="130"/>
                  </a:lnTo>
                  <a:lnTo>
                    <a:pt x="10" y="132"/>
                  </a:lnTo>
                  <a:lnTo>
                    <a:pt x="6" y="134"/>
                  </a:lnTo>
                  <a:lnTo>
                    <a:pt x="4" y="137"/>
                  </a:lnTo>
                  <a:lnTo>
                    <a:pt x="2" y="139"/>
                  </a:lnTo>
                  <a:lnTo>
                    <a:pt x="0" y="142"/>
                  </a:lnTo>
                  <a:lnTo>
                    <a:pt x="0" y="145"/>
                  </a:lnTo>
                  <a:lnTo>
                    <a:pt x="0" y="148"/>
                  </a:lnTo>
                  <a:lnTo>
                    <a:pt x="0" y="151"/>
                  </a:lnTo>
                  <a:lnTo>
                    <a:pt x="2" y="154"/>
                  </a:lnTo>
                  <a:lnTo>
                    <a:pt x="4" y="156"/>
                  </a:lnTo>
                  <a:lnTo>
                    <a:pt x="6" y="160"/>
                  </a:lnTo>
                  <a:lnTo>
                    <a:pt x="10" y="162"/>
                  </a:lnTo>
                  <a:lnTo>
                    <a:pt x="14" y="164"/>
                  </a:lnTo>
                  <a:lnTo>
                    <a:pt x="17" y="167"/>
                  </a:lnTo>
                  <a:lnTo>
                    <a:pt x="25" y="170"/>
                  </a:lnTo>
                  <a:lnTo>
                    <a:pt x="36" y="173"/>
                  </a:lnTo>
                  <a:lnTo>
                    <a:pt x="42" y="174"/>
                  </a:lnTo>
                  <a:lnTo>
                    <a:pt x="48" y="175"/>
                  </a:lnTo>
                  <a:lnTo>
                    <a:pt x="53" y="175"/>
                  </a:lnTo>
                  <a:lnTo>
                    <a:pt x="59" y="176"/>
                  </a:lnTo>
                  <a:lnTo>
                    <a:pt x="65" y="176"/>
                  </a:lnTo>
                  <a:lnTo>
                    <a:pt x="59" y="176"/>
                  </a:lnTo>
                  <a:lnTo>
                    <a:pt x="51" y="176"/>
                  </a:lnTo>
                  <a:lnTo>
                    <a:pt x="46" y="177"/>
                  </a:lnTo>
                  <a:lnTo>
                    <a:pt x="40" y="177"/>
                  </a:lnTo>
                  <a:lnTo>
                    <a:pt x="29" y="180"/>
                  </a:lnTo>
                  <a:lnTo>
                    <a:pt x="19" y="183"/>
                  </a:lnTo>
                  <a:lnTo>
                    <a:pt x="12" y="188"/>
                  </a:lnTo>
                  <a:lnTo>
                    <a:pt x="10" y="190"/>
                  </a:lnTo>
                  <a:lnTo>
                    <a:pt x="6" y="193"/>
                  </a:lnTo>
                  <a:lnTo>
                    <a:pt x="4" y="195"/>
                  </a:lnTo>
                  <a:lnTo>
                    <a:pt x="2" y="198"/>
                  </a:lnTo>
                  <a:lnTo>
                    <a:pt x="0" y="201"/>
                  </a:lnTo>
                  <a:lnTo>
                    <a:pt x="0" y="204"/>
                  </a:lnTo>
                  <a:lnTo>
                    <a:pt x="0" y="207"/>
                  </a:lnTo>
                  <a:lnTo>
                    <a:pt x="0" y="209"/>
                  </a:lnTo>
                  <a:lnTo>
                    <a:pt x="2" y="212"/>
                  </a:lnTo>
                  <a:lnTo>
                    <a:pt x="4" y="215"/>
                  </a:lnTo>
                  <a:lnTo>
                    <a:pt x="6" y="218"/>
                  </a:lnTo>
                  <a:lnTo>
                    <a:pt x="10" y="221"/>
                  </a:lnTo>
                  <a:lnTo>
                    <a:pt x="14" y="223"/>
                  </a:lnTo>
                  <a:lnTo>
                    <a:pt x="17" y="225"/>
                  </a:lnTo>
                  <a:lnTo>
                    <a:pt x="25" y="229"/>
                  </a:lnTo>
                  <a:lnTo>
                    <a:pt x="36" y="231"/>
                  </a:lnTo>
                  <a:lnTo>
                    <a:pt x="42" y="233"/>
                  </a:lnTo>
                  <a:lnTo>
                    <a:pt x="48" y="233"/>
                  </a:lnTo>
                  <a:lnTo>
                    <a:pt x="53" y="234"/>
                  </a:lnTo>
                  <a:lnTo>
                    <a:pt x="59" y="234"/>
                  </a:lnTo>
                  <a:lnTo>
                    <a:pt x="65" y="2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" name="Line 265"/>
            <p:cNvSpPr>
              <a:spLocks noChangeShapeType="1"/>
            </p:cNvSpPr>
            <p:nvPr/>
          </p:nvSpPr>
          <p:spPr bwMode="auto">
            <a:xfrm>
              <a:off x="4295" y="1159"/>
              <a:ext cx="1" cy="2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8" name="Line 266"/>
            <p:cNvSpPr>
              <a:spLocks noChangeShapeType="1"/>
            </p:cNvSpPr>
            <p:nvPr/>
          </p:nvSpPr>
          <p:spPr bwMode="auto">
            <a:xfrm flipV="1">
              <a:off x="4308" y="1159"/>
              <a:ext cx="1" cy="2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" name="Rectangle 267"/>
            <p:cNvSpPr>
              <a:spLocks noChangeArrowheads="1"/>
            </p:cNvSpPr>
            <p:nvPr/>
          </p:nvSpPr>
          <p:spPr bwMode="auto">
            <a:xfrm>
              <a:off x="5331" y="1169"/>
              <a:ext cx="42" cy="117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/>
            </a:p>
          </p:txBody>
        </p:sp>
        <p:sp>
          <p:nvSpPr>
            <p:cNvPr id="270" name="Rectangle 268"/>
            <p:cNvSpPr>
              <a:spLocks noChangeArrowheads="1"/>
            </p:cNvSpPr>
            <p:nvPr/>
          </p:nvSpPr>
          <p:spPr bwMode="auto">
            <a:xfrm>
              <a:off x="5331" y="1169"/>
              <a:ext cx="42" cy="117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/>
            </a:p>
          </p:txBody>
        </p:sp>
        <p:sp>
          <p:nvSpPr>
            <p:cNvPr id="271" name="Line 269"/>
            <p:cNvSpPr>
              <a:spLocks noChangeShapeType="1"/>
            </p:cNvSpPr>
            <p:nvPr/>
          </p:nvSpPr>
          <p:spPr bwMode="auto">
            <a:xfrm>
              <a:off x="5139" y="1215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2" name="Line 270"/>
            <p:cNvSpPr>
              <a:spLocks noChangeShapeType="1"/>
            </p:cNvSpPr>
            <p:nvPr/>
          </p:nvSpPr>
          <p:spPr bwMode="auto">
            <a:xfrm>
              <a:off x="5139" y="1250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" name="Line 271"/>
            <p:cNvSpPr>
              <a:spLocks noChangeShapeType="1"/>
            </p:cNvSpPr>
            <p:nvPr/>
          </p:nvSpPr>
          <p:spPr bwMode="auto">
            <a:xfrm>
              <a:off x="5182" y="1250"/>
              <a:ext cx="1" cy="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" name="Line 272"/>
            <p:cNvSpPr>
              <a:spLocks noChangeShapeType="1"/>
            </p:cNvSpPr>
            <p:nvPr/>
          </p:nvSpPr>
          <p:spPr bwMode="auto">
            <a:xfrm flipV="1">
              <a:off x="5182" y="1110"/>
              <a:ext cx="1" cy="10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5" name="Line 273"/>
            <p:cNvSpPr>
              <a:spLocks noChangeShapeType="1"/>
            </p:cNvSpPr>
            <p:nvPr/>
          </p:nvSpPr>
          <p:spPr bwMode="auto">
            <a:xfrm flipV="1">
              <a:off x="5182" y="1086"/>
              <a:ext cx="1" cy="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" name="Freeform 274"/>
            <p:cNvSpPr>
              <a:spLocks/>
            </p:cNvSpPr>
            <p:nvPr/>
          </p:nvSpPr>
          <p:spPr bwMode="auto">
            <a:xfrm>
              <a:off x="4224" y="1348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1 w 60"/>
                <a:gd name="T3" fmla="*/ 12 h 33"/>
                <a:gd name="T4" fmla="*/ 1 w 60"/>
                <a:gd name="T5" fmla="*/ 9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9 h 33"/>
                <a:gd name="T30" fmla="*/ 1 w 60"/>
                <a:gd name="T31" fmla="*/ 12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3 h 33"/>
                <a:gd name="T40" fmla="*/ 1 w 60"/>
                <a:gd name="T41" fmla="*/ 25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5 h 33"/>
                <a:gd name="T62" fmla="*/ 1 w 60"/>
                <a:gd name="T63" fmla="*/ 23 h 33"/>
                <a:gd name="T64" fmla="*/ 1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2" y="12"/>
                  </a:lnTo>
                  <a:lnTo>
                    <a:pt x="3" y="9"/>
                  </a:lnTo>
                  <a:lnTo>
                    <a:pt x="5" y="7"/>
                  </a:lnTo>
                  <a:lnTo>
                    <a:pt x="9" y="4"/>
                  </a:lnTo>
                  <a:lnTo>
                    <a:pt x="15" y="2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7" y="0"/>
                  </a:lnTo>
                  <a:lnTo>
                    <a:pt x="43" y="1"/>
                  </a:lnTo>
                  <a:lnTo>
                    <a:pt x="47" y="2"/>
                  </a:lnTo>
                  <a:lnTo>
                    <a:pt x="53" y="4"/>
                  </a:lnTo>
                  <a:lnTo>
                    <a:pt x="56" y="7"/>
                  </a:lnTo>
                  <a:lnTo>
                    <a:pt x="58" y="9"/>
                  </a:lnTo>
                  <a:lnTo>
                    <a:pt x="60" y="12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3"/>
                  </a:lnTo>
                  <a:lnTo>
                    <a:pt x="56" y="25"/>
                  </a:lnTo>
                  <a:lnTo>
                    <a:pt x="53" y="28"/>
                  </a:lnTo>
                  <a:lnTo>
                    <a:pt x="47" y="30"/>
                  </a:lnTo>
                  <a:lnTo>
                    <a:pt x="43" y="31"/>
                  </a:lnTo>
                  <a:lnTo>
                    <a:pt x="37" y="32"/>
                  </a:lnTo>
                  <a:lnTo>
                    <a:pt x="30" y="33"/>
                  </a:lnTo>
                  <a:lnTo>
                    <a:pt x="24" y="32"/>
                  </a:lnTo>
                  <a:lnTo>
                    <a:pt x="19" y="31"/>
                  </a:lnTo>
                  <a:lnTo>
                    <a:pt x="15" y="30"/>
                  </a:lnTo>
                  <a:lnTo>
                    <a:pt x="9" y="28"/>
                  </a:lnTo>
                  <a:lnTo>
                    <a:pt x="5" y="25"/>
                  </a:lnTo>
                  <a:lnTo>
                    <a:pt x="3" y="23"/>
                  </a:lnTo>
                  <a:lnTo>
                    <a:pt x="2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" name="Freeform 275"/>
            <p:cNvSpPr>
              <a:spLocks/>
            </p:cNvSpPr>
            <p:nvPr/>
          </p:nvSpPr>
          <p:spPr bwMode="auto">
            <a:xfrm>
              <a:off x="4359" y="1153"/>
              <a:ext cx="30" cy="33"/>
            </a:xfrm>
            <a:custGeom>
              <a:avLst/>
              <a:gdLst>
                <a:gd name="T0" fmla="*/ 0 w 61"/>
                <a:gd name="T1" fmla="*/ 17 h 33"/>
                <a:gd name="T2" fmla="*/ 0 w 61"/>
                <a:gd name="T3" fmla="*/ 14 h 33"/>
                <a:gd name="T4" fmla="*/ 0 w 61"/>
                <a:gd name="T5" fmla="*/ 10 h 33"/>
                <a:gd name="T6" fmla="*/ 0 w 61"/>
                <a:gd name="T7" fmla="*/ 7 h 33"/>
                <a:gd name="T8" fmla="*/ 0 w 61"/>
                <a:gd name="T9" fmla="*/ 4 h 33"/>
                <a:gd name="T10" fmla="*/ 0 w 61"/>
                <a:gd name="T11" fmla="*/ 3 h 33"/>
                <a:gd name="T12" fmla="*/ 0 w 61"/>
                <a:gd name="T13" fmla="*/ 1 h 33"/>
                <a:gd name="T14" fmla="*/ 0 w 61"/>
                <a:gd name="T15" fmla="*/ 0 h 33"/>
                <a:gd name="T16" fmla="*/ 0 w 61"/>
                <a:gd name="T17" fmla="*/ 0 h 33"/>
                <a:gd name="T18" fmla="*/ 0 w 61"/>
                <a:gd name="T19" fmla="*/ 0 h 33"/>
                <a:gd name="T20" fmla="*/ 0 w 61"/>
                <a:gd name="T21" fmla="*/ 1 h 33"/>
                <a:gd name="T22" fmla="*/ 0 w 61"/>
                <a:gd name="T23" fmla="*/ 3 h 33"/>
                <a:gd name="T24" fmla="*/ 0 w 61"/>
                <a:gd name="T25" fmla="*/ 4 h 33"/>
                <a:gd name="T26" fmla="*/ 0 w 61"/>
                <a:gd name="T27" fmla="*/ 7 h 33"/>
                <a:gd name="T28" fmla="*/ 0 w 61"/>
                <a:gd name="T29" fmla="*/ 10 h 33"/>
                <a:gd name="T30" fmla="*/ 0 w 61"/>
                <a:gd name="T31" fmla="*/ 14 h 33"/>
                <a:gd name="T32" fmla="*/ 0 w 61"/>
                <a:gd name="T33" fmla="*/ 17 h 33"/>
                <a:gd name="T34" fmla="*/ 0 w 61"/>
                <a:gd name="T35" fmla="*/ 17 h 33"/>
                <a:gd name="T36" fmla="*/ 0 w 61"/>
                <a:gd name="T37" fmla="*/ 20 h 33"/>
                <a:gd name="T38" fmla="*/ 0 w 61"/>
                <a:gd name="T39" fmla="*/ 23 h 33"/>
                <a:gd name="T40" fmla="*/ 0 w 61"/>
                <a:gd name="T41" fmla="*/ 26 h 33"/>
                <a:gd name="T42" fmla="*/ 0 w 61"/>
                <a:gd name="T43" fmla="*/ 28 h 33"/>
                <a:gd name="T44" fmla="*/ 0 w 61"/>
                <a:gd name="T45" fmla="*/ 30 h 33"/>
                <a:gd name="T46" fmla="*/ 0 w 61"/>
                <a:gd name="T47" fmla="*/ 32 h 33"/>
                <a:gd name="T48" fmla="*/ 0 w 61"/>
                <a:gd name="T49" fmla="*/ 32 h 33"/>
                <a:gd name="T50" fmla="*/ 0 w 61"/>
                <a:gd name="T51" fmla="*/ 33 h 33"/>
                <a:gd name="T52" fmla="*/ 0 w 61"/>
                <a:gd name="T53" fmla="*/ 32 h 33"/>
                <a:gd name="T54" fmla="*/ 0 w 61"/>
                <a:gd name="T55" fmla="*/ 32 h 33"/>
                <a:gd name="T56" fmla="*/ 0 w 61"/>
                <a:gd name="T57" fmla="*/ 30 h 33"/>
                <a:gd name="T58" fmla="*/ 0 w 61"/>
                <a:gd name="T59" fmla="*/ 28 h 33"/>
                <a:gd name="T60" fmla="*/ 0 w 61"/>
                <a:gd name="T61" fmla="*/ 26 h 33"/>
                <a:gd name="T62" fmla="*/ 0 w 61"/>
                <a:gd name="T63" fmla="*/ 23 h 33"/>
                <a:gd name="T64" fmla="*/ 0 w 61"/>
                <a:gd name="T65" fmla="*/ 20 h 33"/>
                <a:gd name="T66" fmla="*/ 0 w 61"/>
                <a:gd name="T67" fmla="*/ 17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1"/>
                <a:gd name="T103" fmla="*/ 0 h 33"/>
                <a:gd name="T104" fmla="*/ 61 w 61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1" h="33">
                  <a:moveTo>
                    <a:pt x="0" y="17"/>
                  </a:moveTo>
                  <a:lnTo>
                    <a:pt x="0" y="14"/>
                  </a:lnTo>
                  <a:lnTo>
                    <a:pt x="2" y="10"/>
                  </a:lnTo>
                  <a:lnTo>
                    <a:pt x="4" y="7"/>
                  </a:lnTo>
                  <a:lnTo>
                    <a:pt x="8" y="4"/>
                  </a:lnTo>
                  <a:lnTo>
                    <a:pt x="14" y="3"/>
                  </a:lnTo>
                  <a:lnTo>
                    <a:pt x="17" y="1"/>
                  </a:lnTo>
                  <a:lnTo>
                    <a:pt x="23" y="0"/>
                  </a:lnTo>
                  <a:lnTo>
                    <a:pt x="31" y="0"/>
                  </a:lnTo>
                  <a:lnTo>
                    <a:pt x="36" y="0"/>
                  </a:lnTo>
                  <a:lnTo>
                    <a:pt x="42" y="1"/>
                  </a:lnTo>
                  <a:lnTo>
                    <a:pt x="46" y="3"/>
                  </a:lnTo>
                  <a:lnTo>
                    <a:pt x="51" y="4"/>
                  </a:lnTo>
                  <a:lnTo>
                    <a:pt x="55" y="7"/>
                  </a:lnTo>
                  <a:lnTo>
                    <a:pt x="57" y="10"/>
                  </a:lnTo>
                  <a:lnTo>
                    <a:pt x="59" y="14"/>
                  </a:lnTo>
                  <a:lnTo>
                    <a:pt x="61" y="17"/>
                  </a:lnTo>
                  <a:lnTo>
                    <a:pt x="59" y="20"/>
                  </a:lnTo>
                  <a:lnTo>
                    <a:pt x="57" y="23"/>
                  </a:lnTo>
                  <a:lnTo>
                    <a:pt x="55" y="26"/>
                  </a:lnTo>
                  <a:lnTo>
                    <a:pt x="51" y="28"/>
                  </a:lnTo>
                  <a:lnTo>
                    <a:pt x="46" y="30"/>
                  </a:lnTo>
                  <a:lnTo>
                    <a:pt x="42" y="32"/>
                  </a:lnTo>
                  <a:lnTo>
                    <a:pt x="36" y="32"/>
                  </a:lnTo>
                  <a:lnTo>
                    <a:pt x="31" y="33"/>
                  </a:lnTo>
                  <a:lnTo>
                    <a:pt x="23" y="32"/>
                  </a:lnTo>
                  <a:lnTo>
                    <a:pt x="17" y="32"/>
                  </a:lnTo>
                  <a:lnTo>
                    <a:pt x="14" y="30"/>
                  </a:lnTo>
                  <a:lnTo>
                    <a:pt x="8" y="28"/>
                  </a:lnTo>
                  <a:lnTo>
                    <a:pt x="4" y="26"/>
                  </a:lnTo>
                  <a:lnTo>
                    <a:pt x="2" y="23"/>
                  </a:lnTo>
                  <a:lnTo>
                    <a:pt x="0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" name="Rectangle 276"/>
            <p:cNvSpPr>
              <a:spLocks noChangeArrowheads="1"/>
            </p:cNvSpPr>
            <p:nvPr/>
          </p:nvSpPr>
          <p:spPr bwMode="auto">
            <a:xfrm>
              <a:off x="3243" y="1149"/>
              <a:ext cx="124" cy="91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endParaRPr lang="en-US" altLang="zh-CN" sz="20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</a:p>
            <a:p>
              <a:pPr eaLnBrk="1" hangingPunct="1"/>
              <a:endParaRPr lang="en-US" altLang="zh-CN" sz="20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2000"/>
            </a:p>
          </p:txBody>
        </p:sp>
        <p:sp>
          <p:nvSpPr>
            <p:cNvPr id="279" name="Rectangle 277"/>
            <p:cNvSpPr>
              <a:spLocks noChangeArrowheads="1"/>
            </p:cNvSpPr>
            <p:nvPr/>
          </p:nvSpPr>
          <p:spPr bwMode="auto">
            <a:xfrm>
              <a:off x="5239" y="1104"/>
              <a:ext cx="64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R</a:t>
              </a:r>
              <a:endParaRPr lang="en-US" altLang="zh-CN"/>
            </a:p>
          </p:txBody>
        </p:sp>
        <p:sp>
          <p:nvSpPr>
            <p:cNvPr id="280" name="Rectangle 278"/>
            <p:cNvSpPr>
              <a:spLocks noChangeArrowheads="1"/>
            </p:cNvSpPr>
            <p:nvPr/>
          </p:nvSpPr>
          <p:spPr bwMode="auto">
            <a:xfrm>
              <a:off x="4272" y="1613"/>
              <a:ext cx="64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281" name="Rectangle 279"/>
            <p:cNvSpPr>
              <a:spLocks noChangeArrowheads="1"/>
            </p:cNvSpPr>
            <p:nvPr/>
          </p:nvSpPr>
          <p:spPr bwMode="auto">
            <a:xfrm>
              <a:off x="5420" y="968"/>
              <a:ext cx="109" cy="54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2000"/>
            </a:p>
          </p:txBody>
        </p:sp>
        <p:sp>
          <p:nvSpPr>
            <p:cNvPr id="282" name="Freeform 280"/>
            <p:cNvSpPr>
              <a:spLocks noEditPoints="1"/>
            </p:cNvSpPr>
            <p:nvPr/>
          </p:nvSpPr>
          <p:spPr bwMode="auto">
            <a:xfrm>
              <a:off x="3608" y="1837"/>
              <a:ext cx="14" cy="131"/>
            </a:xfrm>
            <a:custGeom>
              <a:avLst/>
              <a:gdLst>
                <a:gd name="T0" fmla="*/ 1 w 26"/>
                <a:gd name="T1" fmla="*/ 117 h 131"/>
                <a:gd name="T2" fmla="*/ 1 w 26"/>
                <a:gd name="T3" fmla="*/ 117 h 131"/>
                <a:gd name="T4" fmla="*/ 1 w 26"/>
                <a:gd name="T5" fmla="*/ 118 h 131"/>
                <a:gd name="T6" fmla="*/ 1 w 26"/>
                <a:gd name="T7" fmla="*/ 119 h 131"/>
                <a:gd name="T8" fmla="*/ 0 w 26"/>
                <a:gd name="T9" fmla="*/ 121 h 131"/>
                <a:gd name="T10" fmla="*/ 0 w 26"/>
                <a:gd name="T11" fmla="*/ 123 h 131"/>
                <a:gd name="T12" fmla="*/ 0 w 26"/>
                <a:gd name="T13" fmla="*/ 124 h 131"/>
                <a:gd name="T14" fmla="*/ 0 w 26"/>
                <a:gd name="T15" fmla="*/ 126 h 131"/>
                <a:gd name="T16" fmla="*/ 0 w 26"/>
                <a:gd name="T17" fmla="*/ 127 h 131"/>
                <a:gd name="T18" fmla="*/ 1 w 26"/>
                <a:gd name="T19" fmla="*/ 129 h 131"/>
                <a:gd name="T20" fmla="*/ 1 w 26"/>
                <a:gd name="T21" fmla="*/ 131 h 131"/>
                <a:gd name="T22" fmla="*/ 1 w 26"/>
                <a:gd name="T23" fmla="*/ 131 h 131"/>
                <a:gd name="T24" fmla="*/ 1 w 26"/>
                <a:gd name="T25" fmla="*/ 131 h 131"/>
                <a:gd name="T26" fmla="*/ 1 w 26"/>
                <a:gd name="T27" fmla="*/ 131 h 131"/>
                <a:gd name="T28" fmla="*/ 1 w 26"/>
                <a:gd name="T29" fmla="*/ 131 h 131"/>
                <a:gd name="T30" fmla="*/ 1 w 26"/>
                <a:gd name="T31" fmla="*/ 131 h 131"/>
                <a:gd name="T32" fmla="*/ 1 w 26"/>
                <a:gd name="T33" fmla="*/ 129 h 131"/>
                <a:gd name="T34" fmla="*/ 1 w 26"/>
                <a:gd name="T35" fmla="*/ 127 h 131"/>
                <a:gd name="T36" fmla="*/ 1 w 26"/>
                <a:gd name="T37" fmla="*/ 126 h 131"/>
                <a:gd name="T38" fmla="*/ 1 w 26"/>
                <a:gd name="T39" fmla="*/ 124 h 131"/>
                <a:gd name="T40" fmla="*/ 1 w 26"/>
                <a:gd name="T41" fmla="*/ 123 h 131"/>
                <a:gd name="T42" fmla="*/ 1 w 26"/>
                <a:gd name="T43" fmla="*/ 121 h 131"/>
                <a:gd name="T44" fmla="*/ 1 w 26"/>
                <a:gd name="T45" fmla="*/ 119 h 131"/>
                <a:gd name="T46" fmla="*/ 1 w 26"/>
                <a:gd name="T47" fmla="*/ 118 h 131"/>
                <a:gd name="T48" fmla="*/ 1 w 26"/>
                <a:gd name="T49" fmla="*/ 117 h 131"/>
                <a:gd name="T50" fmla="*/ 1 w 26"/>
                <a:gd name="T51" fmla="*/ 117 h 131"/>
                <a:gd name="T52" fmla="*/ 1 w 26"/>
                <a:gd name="T53" fmla="*/ 117 h 131"/>
                <a:gd name="T54" fmla="*/ 1 w 26"/>
                <a:gd name="T55" fmla="*/ 117 h 131"/>
                <a:gd name="T56" fmla="*/ 1 w 26"/>
                <a:gd name="T57" fmla="*/ 0 h 131"/>
                <a:gd name="T58" fmla="*/ 1 w 26"/>
                <a:gd name="T59" fmla="*/ 0 h 131"/>
                <a:gd name="T60" fmla="*/ 1 w 26"/>
                <a:gd name="T61" fmla="*/ 1 h 131"/>
                <a:gd name="T62" fmla="*/ 1 w 26"/>
                <a:gd name="T63" fmla="*/ 2 h 131"/>
                <a:gd name="T64" fmla="*/ 0 w 26"/>
                <a:gd name="T65" fmla="*/ 4 h 131"/>
                <a:gd name="T66" fmla="*/ 0 w 26"/>
                <a:gd name="T67" fmla="*/ 6 h 131"/>
                <a:gd name="T68" fmla="*/ 0 w 26"/>
                <a:gd name="T69" fmla="*/ 7 h 131"/>
                <a:gd name="T70" fmla="*/ 0 w 26"/>
                <a:gd name="T71" fmla="*/ 9 h 131"/>
                <a:gd name="T72" fmla="*/ 0 w 26"/>
                <a:gd name="T73" fmla="*/ 10 h 131"/>
                <a:gd name="T74" fmla="*/ 1 w 26"/>
                <a:gd name="T75" fmla="*/ 12 h 131"/>
                <a:gd name="T76" fmla="*/ 1 w 26"/>
                <a:gd name="T77" fmla="*/ 14 h 131"/>
                <a:gd name="T78" fmla="*/ 1 w 26"/>
                <a:gd name="T79" fmla="*/ 14 h 131"/>
                <a:gd name="T80" fmla="*/ 1 w 26"/>
                <a:gd name="T81" fmla="*/ 14 h 131"/>
                <a:gd name="T82" fmla="*/ 1 w 26"/>
                <a:gd name="T83" fmla="*/ 14 h 131"/>
                <a:gd name="T84" fmla="*/ 1 w 26"/>
                <a:gd name="T85" fmla="*/ 14 h 131"/>
                <a:gd name="T86" fmla="*/ 1 w 26"/>
                <a:gd name="T87" fmla="*/ 14 h 131"/>
                <a:gd name="T88" fmla="*/ 1 w 26"/>
                <a:gd name="T89" fmla="*/ 12 h 131"/>
                <a:gd name="T90" fmla="*/ 1 w 26"/>
                <a:gd name="T91" fmla="*/ 10 h 131"/>
                <a:gd name="T92" fmla="*/ 1 w 26"/>
                <a:gd name="T93" fmla="*/ 9 h 131"/>
                <a:gd name="T94" fmla="*/ 1 w 26"/>
                <a:gd name="T95" fmla="*/ 7 h 131"/>
                <a:gd name="T96" fmla="*/ 1 w 26"/>
                <a:gd name="T97" fmla="*/ 6 h 131"/>
                <a:gd name="T98" fmla="*/ 1 w 26"/>
                <a:gd name="T99" fmla="*/ 4 h 131"/>
                <a:gd name="T100" fmla="*/ 1 w 26"/>
                <a:gd name="T101" fmla="*/ 2 h 131"/>
                <a:gd name="T102" fmla="*/ 1 w 26"/>
                <a:gd name="T103" fmla="*/ 1 h 131"/>
                <a:gd name="T104" fmla="*/ 1 w 26"/>
                <a:gd name="T105" fmla="*/ 0 h 131"/>
                <a:gd name="T106" fmla="*/ 1 w 26"/>
                <a:gd name="T107" fmla="*/ 0 h 131"/>
                <a:gd name="T108" fmla="*/ 1 w 26"/>
                <a:gd name="T109" fmla="*/ 0 h 131"/>
                <a:gd name="T110" fmla="*/ 1 w 26"/>
                <a:gd name="T111" fmla="*/ 0 h 131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26"/>
                <a:gd name="T169" fmla="*/ 0 h 131"/>
                <a:gd name="T170" fmla="*/ 26 w 26"/>
                <a:gd name="T171" fmla="*/ 131 h 131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26" h="131">
                  <a:moveTo>
                    <a:pt x="13" y="117"/>
                  </a:moveTo>
                  <a:lnTo>
                    <a:pt x="11" y="117"/>
                  </a:lnTo>
                  <a:lnTo>
                    <a:pt x="8" y="118"/>
                  </a:lnTo>
                  <a:lnTo>
                    <a:pt x="4" y="119"/>
                  </a:lnTo>
                  <a:lnTo>
                    <a:pt x="0" y="121"/>
                  </a:lnTo>
                  <a:lnTo>
                    <a:pt x="0" y="123"/>
                  </a:lnTo>
                  <a:lnTo>
                    <a:pt x="0" y="124"/>
                  </a:lnTo>
                  <a:lnTo>
                    <a:pt x="0" y="126"/>
                  </a:lnTo>
                  <a:lnTo>
                    <a:pt x="0" y="127"/>
                  </a:lnTo>
                  <a:lnTo>
                    <a:pt x="4" y="129"/>
                  </a:lnTo>
                  <a:lnTo>
                    <a:pt x="8" y="131"/>
                  </a:lnTo>
                  <a:lnTo>
                    <a:pt x="9" y="131"/>
                  </a:lnTo>
                  <a:lnTo>
                    <a:pt x="13" y="131"/>
                  </a:lnTo>
                  <a:lnTo>
                    <a:pt x="15" y="131"/>
                  </a:lnTo>
                  <a:lnTo>
                    <a:pt x="19" y="131"/>
                  </a:lnTo>
                  <a:lnTo>
                    <a:pt x="23" y="129"/>
                  </a:lnTo>
                  <a:lnTo>
                    <a:pt x="25" y="127"/>
                  </a:lnTo>
                  <a:lnTo>
                    <a:pt x="26" y="126"/>
                  </a:lnTo>
                  <a:lnTo>
                    <a:pt x="26" y="124"/>
                  </a:lnTo>
                  <a:lnTo>
                    <a:pt x="26" y="123"/>
                  </a:lnTo>
                  <a:lnTo>
                    <a:pt x="25" y="121"/>
                  </a:lnTo>
                  <a:lnTo>
                    <a:pt x="23" y="119"/>
                  </a:lnTo>
                  <a:lnTo>
                    <a:pt x="19" y="118"/>
                  </a:lnTo>
                  <a:lnTo>
                    <a:pt x="15" y="117"/>
                  </a:lnTo>
                  <a:lnTo>
                    <a:pt x="13" y="117"/>
                  </a:lnTo>
                  <a:close/>
                  <a:moveTo>
                    <a:pt x="13" y="0"/>
                  </a:moveTo>
                  <a:lnTo>
                    <a:pt x="11" y="0"/>
                  </a:lnTo>
                  <a:lnTo>
                    <a:pt x="8" y="1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12"/>
                  </a:lnTo>
                  <a:lnTo>
                    <a:pt x="8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9" y="14"/>
                  </a:lnTo>
                  <a:lnTo>
                    <a:pt x="23" y="12"/>
                  </a:lnTo>
                  <a:lnTo>
                    <a:pt x="25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3" y="2"/>
                  </a:lnTo>
                  <a:lnTo>
                    <a:pt x="19" y="1"/>
                  </a:lnTo>
                  <a:lnTo>
                    <a:pt x="15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" name="Freeform 281"/>
            <p:cNvSpPr>
              <a:spLocks/>
            </p:cNvSpPr>
            <p:nvPr/>
          </p:nvSpPr>
          <p:spPr bwMode="auto">
            <a:xfrm>
              <a:off x="3608" y="1954"/>
              <a:ext cx="14" cy="14"/>
            </a:xfrm>
            <a:custGeom>
              <a:avLst/>
              <a:gdLst>
                <a:gd name="T0" fmla="*/ 1 w 26"/>
                <a:gd name="T1" fmla="*/ 0 h 14"/>
                <a:gd name="T2" fmla="*/ 1 w 26"/>
                <a:gd name="T3" fmla="*/ 0 h 14"/>
                <a:gd name="T4" fmla="*/ 1 w 26"/>
                <a:gd name="T5" fmla="*/ 1 h 14"/>
                <a:gd name="T6" fmla="*/ 1 w 26"/>
                <a:gd name="T7" fmla="*/ 2 h 14"/>
                <a:gd name="T8" fmla="*/ 0 w 26"/>
                <a:gd name="T9" fmla="*/ 4 h 14"/>
                <a:gd name="T10" fmla="*/ 0 w 26"/>
                <a:gd name="T11" fmla="*/ 6 h 14"/>
                <a:gd name="T12" fmla="*/ 0 w 26"/>
                <a:gd name="T13" fmla="*/ 7 h 14"/>
                <a:gd name="T14" fmla="*/ 0 w 26"/>
                <a:gd name="T15" fmla="*/ 9 h 14"/>
                <a:gd name="T16" fmla="*/ 0 w 26"/>
                <a:gd name="T17" fmla="*/ 10 h 14"/>
                <a:gd name="T18" fmla="*/ 1 w 26"/>
                <a:gd name="T19" fmla="*/ 12 h 14"/>
                <a:gd name="T20" fmla="*/ 1 w 26"/>
                <a:gd name="T21" fmla="*/ 14 h 14"/>
                <a:gd name="T22" fmla="*/ 1 w 26"/>
                <a:gd name="T23" fmla="*/ 14 h 14"/>
                <a:gd name="T24" fmla="*/ 1 w 26"/>
                <a:gd name="T25" fmla="*/ 14 h 14"/>
                <a:gd name="T26" fmla="*/ 1 w 26"/>
                <a:gd name="T27" fmla="*/ 14 h 14"/>
                <a:gd name="T28" fmla="*/ 1 w 26"/>
                <a:gd name="T29" fmla="*/ 14 h 14"/>
                <a:gd name="T30" fmla="*/ 1 w 26"/>
                <a:gd name="T31" fmla="*/ 14 h 14"/>
                <a:gd name="T32" fmla="*/ 1 w 26"/>
                <a:gd name="T33" fmla="*/ 12 h 14"/>
                <a:gd name="T34" fmla="*/ 1 w 26"/>
                <a:gd name="T35" fmla="*/ 10 h 14"/>
                <a:gd name="T36" fmla="*/ 1 w 26"/>
                <a:gd name="T37" fmla="*/ 9 h 14"/>
                <a:gd name="T38" fmla="*/ 1 w 26"/>
                <a:gd name="T39" fmla="*/ 7 h 14"/>
                <a:gd name="T40" fmla="*/ 1 w 26"/>
                <a:gd name="T41" fmla="*/ 6 h 14"/>
                <a:gd name="T42" fmla="*/ 1 w 26"/>
                <a:gd name="T43" fmla="*/ 4 h 14"/>
                <a:gd name="T44" fmla="*/ 1 w 26"/>
                <a:gd name="T45" fmla="*/ 2 h 14"/>
                <a:gd name="T46" fmla="*/ 1 w 26"/>
                <a:gd name="T47" fmla="*/ 1 h 14"/>
                <a:gd name="T48" fmla="*/ 1 w 26"/>
                <a:gd name="T49" fmla="*/ 0 h 14"/>
                <a:gd name="T50" fmla="*/ 1 w 26"/>
                <a:gd name="T51" fmla="*/ 0 h 14"/>
                <a:gd name="T52" fmla="*/ 1 w 26"/>
                <a:gd name="T53" fmla="*/ 0 h 1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6"/>
                <a:gd name="T82" fmla="*/ 0 h 14"/>
                <a:gd name="T83" fmla="*/ 26 w 26"/>
                <a:gd name="T84" fmla="*/ 14 h 1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6" h="14">
                  <a:moveTo>
                    <a:pt x="13" y="0"/>
                  </a:moveTo>
                  <a:lnTo>
                    <a:pt x="11" y="0"/>
                  </a:lnTo>
                  <a:lnTo>
                    <a:pt x="8" y="1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12"/>
                  </a:lnTo>
                  <a:lnTo>
                    <a:pt x="8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9" y="14"/>
                  </a:lnTo>
                  <a:lnTo>
                    <a:pt x="23" y="12"/>
                  </a:lnTo>
                  <a:lnTo>
                    <a:pt x="25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3" y="2"/>
                  </a:lnTo>
                  <a:lnTo>
                    <a:pt x="19" y="1"/>
                  </a:lnTo>
                  <a:lnTo>
                    <a:pt x="15" y="0"/>
                  </a:lnTo>
                  <a:lnTo>
                    <a:pt x="1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4" name="Freeform 282"/>
            <p:cNvSpPr>
              <a:spLocks/>
            </p:cNvSpPr>
            <p:nvPr/>
          </p:nvSpPr>
          <p:spPr bwMode="auto">
            <a:xfrm>
              <a:off x="3608" y="1837"/>
              <a:ext cx="14" cy="14"/>
            </a:xfrm>
            <a:custGeom>
              <a:avLst/>
              <a:gdLst>
                <a:gd name="T0" fmla="*/ 1 w 26"/>
                <a:gd name="T1" fmla="*/ 0 h 14"/>
                <a:gd name="T2" fmla="*/ 1 w 26"/>
                <a:gd name="T3" fmla="*/ 0 h 14"/>
                <a:gd name="T4" fmla="*/ 1 w 26"/>
                <a:gd name="T5" fmla="*/ 1 h 14"/>
                <a:gd name="T6" fmla="*/ 1 w 26"/>
                <a:gd name="T7" fmla="*/ 2 h 14"/>
                <a:gd name="T8" fmla="*/ 0 w 26"/>
                <a:gd name="T9" fmla="*/ 4 h 14"/>
                <a:gd name="T10" fmla="*/ 0 w 26"/>
                <a:gd name="T11" fmla="*/ 6 h 14"/>
                <a:gd name="T12" fmla="*/ 0 w 26"/>
                <a:gd name="T13" fmla="*/ 7 h 14"/>
                <a:gd name="T14" fmla="*/ 0 w 26"/>
                <a:gd name="T15" fmla="*/ 9 h 14"/>
                <a:gd name="T16" fmla="*/ 0 w 26"/>
                <a:gd name="T17" fmla="*/ 10 h 14"/>
                <a:gd name="T18" fmla="*/ 1 w 26"/>
                <a:gd name="T19" fmla="*/ 12 h 14"/>
                <a:gd name="T20" fmla="*/ 1 w 26"/>
                <a:gd name="T21" fmla="*/ 14 h 14"/>
                <a:gd name="T22" fmla="*/ 1 w 26"/>
                <a:gd name="T23" fmla="*/ 14 h 14"/>
                <a:gd name="T24" fmla="*/ 1 w 26"/>
                <a:gd name="T25" fmla="*/ 14 h 14"/>
                <a:gd name="T26" fmla="*/ 1 w 26"/>
                <a:gd name="T27" fmla="*/ 14 h 14"/>
                <a:gd name="T28" fmla="*/ 1 w 26"/>
                <a:gd name="T29" fmla="*/ 14 h 14"/>
                <a:gd name="T30" fmla="*/ 1 w 26"/>
                <a:gd name="T31" fmla="*/ 14 h 14"/>
                <a:gd name="T32" fmla="*/ 1 w 26"/>
                <a:gd name="T33" fmla="*/ 12 h 14"/>
                <a:gd name="T34" fmla="*/ 1 w 26"/>
                <a:gd name="T35" fmla="*/ 10 h 14"/>
                <a:gd name="T36" fmla="*/ 1 w 26"/>
                <a:gd name="T37" fmla="*/ 9 h 14"/>
                <a:gd name="T38" fmla="*/ 1 w 26"/>
                <a:gd name="T39" fmla="*/ 7 h 14"/>
                <a:gd name="T40" fmla="*/ 1 w 26"/>
                <a:gd name="T41" fmla="*/ 6 h 14"/>
                <a:gd name="T42" fmla="*/ 1 w 26"/>
                <a:gd name="T43" fmla="*/ 4 h 14"/>
                <a:gd name="T44" fmla="*/ 1 w 26"/>
                <a:gd name="T45" fmla="*/ 2 h 14"/>
                <a:gd name="T46" fmla="*/ 1 w 26"/>
                <a:gd name="T47" fmla="*/ 1 h 14"/>
                <a:gd name="T48" fmla="*/ 1 w 26"/>
                <a:gd name="T49" fmla="*/ 0 h 14"/>
                <a:gd name="T50" fmla="*/ 1 w 26"/>
                <a:gd name="T51" fmla="*/ 0 h 14"/>
                <a:gd name="T52" fmla="*/ 1 w 26"/>
                <a:gd name="T53" fmla="*/ 0 h 1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6"/>
                <a:gd name="T82" fmla="*/ 0 h 14"/>
                <a:gd name="T83" fmla="*/ 26 w 26"/>
                <a:gd name="T84" fmla="*/ 14 h 1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6" h="14">
                  <a:moveTo>
                    <a:pt x="13" y="0"/>
                  </a:moveTo>
                  <a:lnTo>
                    <a:pt x="11" y="0"/>
                  </a:lnTo>
                  <a:lnTo>
                    <a:pt x="8" y="1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12"/>
                  </a:lnTo>
                  <a:lnTo>
                    <a:pt x="8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9" y="14"/>
                  </a:lnTo>
                  <a:lnTo>
                    <a:pt x="23" y="12"/>
                  </a:lnTo>
                  <a:lnTo>
                    <a:pt x="25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3" y="2"/>
                  </a:lnTo>
                  <a:lnTo>
                    <a:pt x="19" y="1"/>
                  </a:lnTo>
                  <a:lnTo>
                    <a:pt x="15" y="0"/>
                  </a:lnTo>
                  <a:lnTo>
                    <a:pt x="1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5" name="Line 283"/>
            <p:cNvSpPr>
              <a:spLocks noChangeShapeType="1"/>
            </p:cNvSpPr>
            <p:nvPr/>
          </p:nvSpPr>
          <p:spPr bwMode="auto">
            <a:xfrm>
              <a:off x="3618" y="1851"/>
              <a:ext cx="30" cy="9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" name="Freeform 284"/>
            <p:cNvSpPr>
              <a:spLocks/>
            </p:cNvSpPr>
            <p:nvPr/>
          </p:nvSpPr>
          <p:spPr bwMode="auto">
            <a:xfrm>
              <a:off x="5167" y="1043"/>
              <a:ext cx="30" cy="33"/>
            </a:xfrm>
            <a:custGeom>
              <a:avLst/>
              <a:gdLst>
                <a:gd name="T0" fmla="*/ 0 w 60"/>
                <a:gd name="T1" fmla="*/ 17 h 33"/>
                <a:gd name="T2" fmla="*/ 0 w 60"/>
                <a:gd name="T3" fmla="*/ 13 h 33"/>
                <a:gd name="T4" fmla="*/ 1 w 60"/>
                <a:gd name="T5" fmla="*/ 10 h 33"/>
                <a:gd name="T6" fmla="*/ 1 w 60"/>
                <a:gd name="T7" fmla="*/ 8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8 h 33"/>
                <a:gd name="T28" fmla="*/ 1 w 60"/>
                <a:gd name="T29" fmla="*/ 10 h 33"/>
                <a:gd name="T30" fmla="*/ 1 w 60"/>
                <a:gd name="T31" fmla="*/ 13 h 33"/>
                <a:gd name="T32" fmla="*/ 1 w 60"/>
                <a:gd name="T33" fmla="*/ 17 h 33"/>
                <a:gd name="T34" fmla="*/ 1 w 60"/>
                <a:gd name="T35" fmla="*/ 17 h 33"/>
                <a:gd name="T36" fmla="*/ 1 w 60"/>
                <a:gd name="T37" fmla="*/ 20 h 33"/>
                <a:gd name="T38" fmla="*/ 1 w 60"/>
                <a:gd name="T39" fmla="*/ 23 h 33"/>
                <a:gd name="T40" fmla="*/ 1 w 60"/>
                <a:gd name="T41" fmla="*/ 25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5 h 33"/>
                <a:gd name="T62" fmla="*/ 1 w 60"/>
                <a:gd name="T63" fmla="*/ 23 h 33"/>
                <a:gd name="T64" fmla="*/ 0 w 60"/>
                <a:gd name="T65" fmla="*/ 20 h 33"/>
                <a:gd name="T66" fmla="*/ 0 w 60"/>
                <a:gd name="T67" fmla="*/ 17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7"/>
                  </a:moveTo>
                  <a:lnTo>
                    <a:pt x="0" y="13"/>
                  </a:lnTo>
                  <a:lnTo>
                    <a:pt x="2" y="10"/>
                  </a:lnTo>
                  <a:lnTo>
                    <a:pt x="4" y="8"/>
                  </a:lnTo>
                  <a:lnTo>
                    <a:pt x="7" y="4"/>
                  </a:lnTo>
                  <a:lnTo>
                    <a:pt x="13" y="2"/>
                  </a:lnTo>
                  <a:lnTo>
                    <a:pt x="17" y="1"/>
                  </a:lnTo>
                  <a:lnTo>
                    <a:pt x="22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5" y="2"/>
                  </a:lnTo>
                  <a:lnTo>
                    <a:pt x="51" y="4"/>
                  </a:lnTo>
                  <a:lnTo>
                    <a:pt x="55" y="8"/>
                  </a:lnTo>
                  <a:lnTo>
                    <a:pt x="56" y="10"/>
                  </a:lnTo>
                  <a:lnTo>
                    <a:pt x="58" y="13"/>
                  </a:lnTo>
                  <a:lnTo>
                    <a:pt x="60" y="17"/>
                  </a:lnTo>
                  <a:lnTo>
                    <a:pt x="58" y="20"/>
                  </a:lnTo>
                  <a:lnTo>
                    <a:pt x="56" y="23"/>
                  </a:lnTo>
                  <a:lnTo>
                    <a:pt x="55" y="25"/>
                  </a:lnTo>
                  <a:lnTo>
                    <a:pt x="51" y="28"/>
                  </a:lnTo>
                  <a:lnTo>
                    <a:pt x="45" y="30"/>
                  </a:lnTo>
                  <a:lnTo>
                    <a:pt x="41" y="31"/>
                  </a:lnTo>
                  <a:lnTo>
                    <a:pt x="36" y="32"/>
                  </a:lnTo>
                  <a:lnTo>
                    <a:pt x="30" y="33"/>
                  </a:lnTo>
                  <a:lnTo>
                    <a:pt x="22" y="32"/>
                  </a:lnTo>
                  <a:lnTo>
                    <a:pt x="17" y="31"/>
                  </a:lnTo>
                  <a:lnTo>
                    <a:pt x="13" y="30"/>
                  </a:lnTo>
                  <a:lnTo>
                    <a:pt x="7" y="28"/>
                  </a:lnTo>
                  <a:lnTo>
                    <a:pt x="4" y="25"/>
                  </a:lnTo>
                  <a:lnTo>
                    <a:pt x="2" y="23"/>
                  </a:lnTo>
                  <a:lnTo>
                    <a:pt x="0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" name="Line 285"/>
            <p:cNvSpPr>
              <a:spLocks noChangeShapeType="1"/>
            </p:cNvSpPr>
            <p:nvPr/>
          </p:nvSpPr>
          <p:spPr bwMode="auto">
            <a:xfrm flipV="1">
              <a:off x="4365" y="1059"/>
              <a:ext cx="1" cy="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Freeform 286"/>
            <p:cNvSpPr>
              <a:spLocks/>
            </p:cNvSpPr>
            <p:nvPr/>
          </p:nvSpPr>
          <p:spPr bwMode="auto">
            <a:xfrm>
              <a:off x="5080" y="1058"/>
              <a:ext cx="274" cy="111"/>
            </a:xfrm>
            <a:custGeom>
              <a:avLst/>
              <a:gdLst>
                <a:gd name="T0" fmla="*/ 9 w 547"/>
                <a:gd name="T1" fmla="*/ 111 h 111"/>
                <a:gd name="T2" fmla="*/ 9 w 547"/>
                <a:gd name="T3" fmla="*/ 2 h 111"/>
                <a:gd name="T4" fmla="*/ 0 w 547"/>
                <a:gd name="T5" fmla="*/ 0 h 111"/>
                <a:gd name="T6" fmla="*/ 0 60000 65536"/>
                <a:gd name="T7" fmla="*/ 0 60000 65536"/>
                <a:gd name="T8" fmla="*/ 0 60000 65536"/>
                <a:gd name="T9" fmla="*/ 0 w 547"/>
                <a:gd name="T10" fmla="*/ 0 h 111"/>
                <a:gd name="T11" fmla="*/ 547 w 547"/>
                <a:gd name="T12" fmla="*/ 111 h 1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7" h="111">
                  <a:moveTo>
                    <a:pt x="547" y="111"/>
                  </a:moveTo>
                  <a:lnTo>
                    <a:pt x="547" y="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Line 287"/>
            <p:cNvSpPr>
              <a:spLocks noChangeShapeType="1"/>
            </p:cNvSpPr>
            <p:nvPr/>
          </p:nvSpPr>
          <p:spPr bwMode="auto">
            <a:xfrm flipH="1" flipV="1">
              <a:off x="5180" y="1059"/>
              <a:ext cx="2" cy="2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0" name="Freeform 288"/>
            <p:cNvSpPr>
              <a:spLocks/>
            </p:cNvSpPr>
            <p:nvPr/>
          </p:nvSpPr>
          <p:spPr bwMode="auto">
            <a:xfrm>
              <a:off x="4867" y="1025"/>
              <a:ext cx="213" cy="35"/>
            </a:xfrm>
            <a:custGeom>
              <a:avLst/>
              <a:gdLst>
                <a:gd name="T0" fmla="*/ 0 w 426"/>
                <a:gd name="T1" fmla="*/ 31 h 35"/>
                <a:gd name="T2" fmla="*/ 1 w 426"/>
                <a:gd name="T3" fmla="*/ 25 h 35"/>
                <a:gd name="T4" fmla="*/ 1 w 426"/>
                <a:gd name="T5" fmla="*/ 15 h 35"/>
                <a:gd name="T6" fmla="*/ 1 w 426"/>
                <a:gd name="T7" fmla="*/ 6 h 35"/>
                <a:gd name="T8" fmla="*/ 1 w 426"/>
                <a:gd name="T9" fmla="*/ 3 h 35"/>
                <a:gd name="T10" fmla="*/ 1 w 426"/>
                <a:gd name="T11" fmla="*/ 1 h 35"/>
                <a:gd name="T12" fmla="*/ 1 w 426"/>
                <a:gd name="T13" fmla="*/ 0 h 35"/>
                <a:gd name="T14" fmla="*/ 1 w 426"/>
                <a:gd name="T15" fmla="*/ 0 h 35"/>
                <a:gd name="T16" fmla="*/ 2 w 426"/>
                <a:gd name="T17" fmla="*/ 2 h 35"/>
                <a:gd name="T18" fmla="*/ 2 w 426"/>
                <a:gd name="T19" fmla="*/ 4 h 35"/>
                <a:gd name="T20" fmla="*/ 2 w 426"/>
                <a:gd name="T21" fmla="*/ 8 h 35"/>
                <a:gd name="T22" fmla="*/ 2 w 426"/>
                <a:gd name="T23" fmla="*/ 18 h 35"/>
                <a:gd name="T24" fmla="*/ 2 w 426"/>
                <a:gd name="T25" fmla="*/ 25 h 35"/>
                <a:gd name="T26" fmla="*/ 2 w 426"/>
                <a:gd name="T27" fmla="*/ 32 h 35"/>
                <a:gd name="T28" fmla="*/ 2 w 426"/>
                <a:gd name="T29" fmla="*/ 31 h 35"/>
                <a:gd name="T30" fmla="*/ 2 w 426"/>
                <a:gd name="T31" fmla="*/ 25 h 35"/>
                <a:gd name="T32" fmla="*/ 2 w 426"/>
                <a:gd name="T33" fmla="*/ 15 h 35"/>
                <a:gd name="T34" fmla="*/ 2 w 426"/>
                <a:gd name="T35" fmla="*/ 6 h 35"/>
                <a:gd name="T36" fmla="*/ 3 w 426"/>
                <a:gd name="T37" fmla="*/ 3 h 35"/>
                <a:gd name="T38" fmla="*/ 3 w 426"/>
                <a:gd name="T39" fmla="*/ 1 h 35"/>
                <a:gd name="T40" fmla="*/ 3 w 426"/>
                <a:gd name="T41" fmla="*/ 0 h 35"/>
                <a:gd name="T42" fmla="*/ 3 w 426"/>
                <a:gd name="T43" fmla="*/ 0 h 35"/>
                <a:gd name="T44" fmla="*/ 3 w 426"/>
                <a:gd name="T45" fmla="*/ 2 h 35"/>
                <a:gd name="T46" fmla="*/ 3 w 426"/>
                <a:gd name="T47" fmla="*/ 4 h 35"/>
                <a:gd name="T48" fmla="*/ 4 w 426"/>
                <a:gd name="T49" fmla="*/ 8 h 35"/>
                <a:gd name="T50" fmla="*/ 4 w 426"/>
                <a:gd name="T51" fmla="*/ 18 h 35"/>
                <a:gd name="T52" fmla="*/ 4 w 426"/>
                <a:gd name="T53" fmla="*/ 25 h 35"/>
                <a:gd name="T54" fmla="*/ 4 w 426"/>
                <a:gd name="T55" fmla="*/ 32 h 35"/>
                <a:gd name="T56" fmla="*/ 4 w 426"/>
                <a:gd name="T57" fmla="*/ 31 h 35"/>
                <a:gd name="T58" fmla="*/ 4 w 426"/>
                <a:gd name="T59" fmla="*/ 25 h 35"/>
                <a:gd name="T60" fmla="*/ 4 w 426"/>
                <a:gd name="T61" fmla="*/ 15 h 35"/>
                <a:gd name="T62" fmla="*/ 4 w 426"/>
                <a:gd name="T63" fmla="*/ 6 h 35"/>
                <a:gd name="T64" fmla="*/ 4 w 426"/>
                <a:gd name="T65" fmla="*/ 3 h 35"/>
                <a:gd name="T66" fmla="*/ 4 w 426"/>
                <a:gd name="T67" fmla="*/ 1 h 35"/>
                <a:gd name="T68" fmla="*/ 5 w 426"/>
                <a:gd name="T69" fmla="*/ 0 h 35"/>
                <a:gd name="T70" fmla="*/ 5 w 426"/>
                <a:gd name="T71" fmla="*/ 0 h 35"/>
                <a:gd name="T72" fmla="*/ 5 w 426"/>
                <a:gd name="T73" fmla="*/ 2 h 35"/>
                <a:gd name="T74" fmla="*/ 5 w 426"/>
                <a:gd name="T75" fmla="*/ 4 h 35"/>
                <a:gd name="T76" fmla="*/ 5 w 426"/>
                <a:gd name="T77" fmla="*/ 8 h 35"/>
                <a:gd name="T78" fmla="*/ 5 w 426"/>
                <a:gd name="T79" fmla="*/ 18 h 35"/>
                <a:gd name="T80" fmla="*/ 5 w 426"/>
                <a:gd name="T81" fmla="*/ 25 h 35"/>
                <a:gd name="T82" fmla="*/ 6 w 426"/>
                <a:gd name="T83" fmla="*/ 32 h 35"/>
                <a:gd name="T84" fmla="*/ 6 w 426"/>
                <a:gd name="T85" fmla="*/ 31 h 35"/>
                <a:gd name="T86" fmla="*/ 6 w 426"/>
                <a:gd name="T87" fmla="*/ 25 h 35"/>
                <a:gd name="T88" fmla="*/ 6 w 426"/>
                <a:gd name="T89" fmla="*/ 15 h 35"/>
                <a:gd name="T90" fmla="*/ 6 w 426"/>
                <a:gd name="T91" fmla="*/ 6 h 35"/>
                <a:gd name="T92" fmla="*/ 6 w 426"/>
                <a:gd name="T93" fmla="*/ 3 h 35"/>
                <a:gd name="T94" fmla="*/ 6 w 426"/>
                <a:gd name="T95" fmla="*/ 1 h 35"/>
                <a:gd name="T96" fmla="*/ 6 w 426"/>
                <a:gd name="T97" fmla="*/ 0 h 35"/>
                <a:gd name="T98" fmla="*/ 6 w 426"/>
                <a:gd name="T99" fmla="*/ 0 h 35"/>
                <a:gd name="T100" fmla="*/ 7 w 426"/>
                <a:gd name="T101" fmla="*/ 2 h 35"/>
                <a:gd name="T102" fmla="*/ 7 w 426"/>
                <a:gd name="T103" fmla="*/ 4 h 35"/>
                <a:gd name="T104" fmla="*/ 7 w 426"/>
                <a:gd name="T105" fmla="*/ 8 h 35"/>
                <a:gd name="T106" fmla="*/ 7 w 426"/>
                <a:gd name="T107" fmla="*/ 18 h 35"/>
                <a:gd name="T108" fmla="*/ 7 w 426"/>
                <a:gd name="T109" fmla="*/ 25 h 35"/>
                <a:gd name="T110" fmla="*/ 7 w 426"/>
                <a:gd name="T111" fmla="*/ 32 h 35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426"/>
                <a:gd name="T169" fmla="*/ 0 h 35"/>
                <a:gd name="T170" fmla="*/ 426 w 426"/>
                <a:gd name="T171" fmla="*/ 35 h 35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426" h="35">
                  <a:moveTo>
                    <a:pt x="0" y="35"/>
                  </a:moveTo>
                  <a:lnTo>
                    <a:pt x="0" y="31"/>
                  </a:lnTo>
                  <a:lnTo>
                    <a:pt x="0" y="28"/>
                  </a:lnTo>
                  <a:lnTo>
                    <a:pt x="2" y="25"/>
                  </a:lnTo>
                  <a:lnTo>
                    <a:pt x="4" y="21"/>
                  </a:lnTo>
                  <a:lnTo>
                    <a:pt x="8" y="15"/>
                  </a:lnTo>
                  <a:lnTo>
                    <a:pt x="13" y="10"/>
                  </a:lnTo>
                  <a:lnTo>
                    <a:pt x="21" y="6"/>
                  </a:lnTo>
                  <a:lnTo>
                    <a:pt x="26" y="4"/>
                  </a:lnTo>
                  <a:lnTo>
                    <a:pt x="30" y="3"/>
                  </a:lnTo>
                  <a:lnTo>
                    <a:pt x="36" y="1"/>
                  </a:lnTo>
                  <a:lnTo>
                    <a:pt x="40" y="1"/>
                  </a:lnTo>
                  <a:lnTo>
                    <a:pt x="45" y="0"/>
                  </a:lnTo>
                  <a:lnTo>
                    <a:pt x="51" y="0"/>
                  </a:lnTo>
                  <a:lnTo>
                    <a:pt x="57" y="0"/>
                  </a:lnTo>
                  <a:lnTo>
                    <a:pt x="62" y="0"/>
                  </a:lnTo>
                  <a:lnTo>
                    <a:pt x="68" y="1"/>
                  </a:lnTo>
                  <a:lnTo>
                    <a:pt x="72" y="2"/>
                  </a:lnTo>
                  <a:lnTo>
                    <a:pt x="77" y="3"/>
                  </a:lnTo>
                  <a:lnTo>
                    <a:pt x="81" y="4"/>
                  </a:lnTo>
                  <a:lnTo>
                    <a:pt x="85" y="6"/>
                  </a:lnTo>
                  <a:lnTo>
                    <a:pt x="89" y="8"/>
                  </a:lnTo>
                  <a:lnTo>
                    <a:pt x="96" y="13"/>
                  </a:lnTo>
                  <a:lnTo>
                    <a:pt x="102" y="18"/>
                  </a:lnTo>
                  <a:lnTo>
                    <a:pt x="104" y="21"/>
                  </a:lnTo>
                  <a:lnTo>
                    <a:pt x="106" y="25"/>
                  </a:lnTo>
                  <a:lnTo>
                    <a:pt x="106" y="29"/>
                  </a:lnTo>
                  <a:lnTo>
                    <a:pt x="106" y="32"/>
                  </a:lnTo>
                  <a:lnTo>
                    <a:pt x="106" y="35"/>
                  </a:lnTo>
                  <a:lnTo>
                    <a:pt x="108" y="31"/>
                  </a:lnTo>
                  <a:lnTo>
                    <a:pt x="108" y="28"/>
                  </a:lnTo>
                  <a:lnTo>
                    <a:pt x="108" y="25"/>
                  </a:lnTo>
                  <a:lnTo>
                    <a:pt x="109" y="21"/>
                  </a:lnTo>
                  <a:lnTo>
                    <a:pt x="115" y="15"/>
                  </a:lnTo>
                  <a:lnTo>
                    <a:pt x="121" y="10"/>
                  </a:lnTo>
                  <a:lnTo>
                    <a:pt x="128" y="6"/>
                  </a:lnTo>
                  <a:lnTo>
                    <a:pt x="132" y="4"/>
                  </a:lnTo>
                  <a:lnTo>
                    <a:pt x="138" y="3"/>
                  </a:lnTo>
                  <a:lnTo>
                    <a:pt x="142" y="1"/>
                  </a:lnTo>
                  <a:lnTo>
                    <a:pt x="147" y="1"/>
                  </a:lnTo>
                  <a:lnTo>
                    <a:pt x="153" y="0"/>
                  </a:lnTo>
                  <a:lnTo>
                    <a:pt x="159" y="0"/>
                  </a:lnTo>
                  <a:lnTo>
                    <a:pt x="164" y="0"/>
                  </a:lnTo>
                  <a:lnTo>
                    <a:pt x="168" y="0"/>
                  </a:lnTo>
                  <a:lnTo>
                    <a:pt x="174" y="1"/>
                  </a:lnTo>
                  <a:lnTo>
                    <a:pt x="179" y="2"/>
                  </a:lnTo>
                  <a:lnTo>
                    <a:pt x="183" y="3"/>
                  </a:lnTo>
                  <a:lnTo>
                    <a:pt x="189" y="4"/>
                  </a:lnTo>
                  <a:lnTo>
                    <a:pt x="192" y="6"/>
                  </a:lnTo>
                  <a:lnTo>
                    <a:pt x="196" y="8"/>
                  </a:lnTo>
                  <a:lnTo>
                    <a:pt x="204" y="13"/>
                  </a:lnTo>
                  <a:lnTo>
                    <a:pt x="208" y="18"/>
                  </a:lnTo>
                  <a:lnTo>
                    <a:pt x="209" y="21"/>
                  </a:lnTo>
                  <a:lnTo>
                    <a:pt x="211" y="25"/>
                  </a:lnTo>
                  <a:lnTo>
                    <a:pt x="213" y="29"/>
                  </a:lnTo>
                  <a:lnTo>
                    <a:pt x="213" y="32"/>
                  </a:lnTo>
                  <a:lnTo>
                    <a:pt x="213" y="35"/>
                  </a:lnTo>
                  <a:lnTo>
                    <a:pt x="213" y="31"/>
                  </a:lnTo>
                  <a:lnTo>
                    <a:pt x="213" y="28"/>
                  </a:lnTo>
                  <a:lnTo>
                    <a:pt x="215" y="25"/>
                  </a:lnTo>
                  <a:lnTo>
                    <a:pt x="217" y="21"/>
                  </a:lnTo>
                  <a:lnTo>
                    <a:pt x="221" y="15"/>
                  </a:lnTo>
                  <a:lnTo>
                    <a:pt x="226" y="10"/>
                  </a:lnTo>
                  <a:lnTo>
                    <a:pt x="236" y="6"/>
                  </a:lnTo>
                  <a:lnTo>
                    <a:pt x="240" y="4"/>
                  </a:lnTo>
                  <a:lnTo>
                    <a:pt x="243" y="3"/>
                  </a:lnTo>
                  <a:lnTo>
                    <a:pt x="249" y="1"/>
                  </a:lnTo>
                  <a:lnTo>
                    <a:pt x="253" y="1"/>
                  </a:lnTo>
                  <a:lnTo>
                    <a:pt x="258" y="0"/>
                  </a:lnTo>
                  <a:lnTo>
                    <a:pt x="264" y="0"/>
                  </a:lnTo>
                  <a:lnTo>
                    <a:pt x="270" y="0"/>
                  </a:lnTo>
                  <a:lnTo>
                    <a:pt x="275" y="0"/>
                  </a:lnTo>
                  <a:lnTo>
                    <a:pt x="281" y="1"/>
                  </a:lnTo>
                  <a:lnTo>
                    <a:pt x="285" y="2"/>
                  </a:lnTo>
                  <a:lnTo>
                    <a:pt x="291" y="3"/>
                  </a:lnTo>
                  <a:lnTo>
                    <a:pt x="294" y="4"/>
                  </a:lnTo>
                  <a:lnTo>
                    <a:pt x="298" y="6"/>
                  </a:lnTo>
                  <a:lnTo>
                    <a:pt x="302" y="8"/>
                  </a:lnTo>
                  <a:lnTo>
                    <a:pt x="309" y="13"/>
                  </a:lnTo>
                  <a:lnTo>
                    <a:pt x="315" y="18"/>
                  </a:lnTo>
                  <a:lnTo>
                    <a:pt x="317" y="21"/>
                  </a:lnTo>
                  <a:lnTo>
                    <a:pt x="319" y="25"/>
                  </a:lnTo>
                  <a:lnTo>
                    <a:pt x="319" y="29"/>
                  </a:lnTo>
                  <a:lnTo>
                    <a:pt x="321" y="32"/>
                  </a:lnTo>
                  <a:lnTo>
                    <a:pt x="321" y="35"/>
                  </a:lnTo>
                  <a:lnTo>
                    <a:pt x="321" y="31"/>
                  </a:lnTo>
                  <a:lnTo>
                    <a:pt x="321" y="28"/>
                  </a:lnTo>
                  <a:lnTo>
                    <a:pt x="321" y="25"/>
                  </a:lnTo>
                  <a:lnTo>
                    <a:pt x="323" y="21"/>
                  </a:lnTo>
                  <a:lnTo>
                    <a:pt x="328" y="15"/>
                  </a:lnTo>
                  <a:lnTo>
                    <a:pt x="334" y="10"/>
                  </a:lnTo>
                  <a:lnTo>
                    <a:pt x="341" y="6"/>
                  </a:lnTo>
                  <a:lnTo>
                    <a:pt x="345" y="4"/>
                  </a:lnTo>
                  <a:lnTo>
                    <a:pt x="351" y="3"/>
                  </a:lnTo>
                  <a:lnTo>
                    <a:pt x="355" y="1"/>
                  </a:lnTo>
                  <a:lnTo>
                    <a:pt x="360" y="1"/>
                  </a:lnTo>
                  <a:lnTo>
                    <a:pt x="366" y="0"/>
                  </a:lnTo>
                  <a:lnTo>
                    <a:pt x="372" y="0"/>
                  </a:lnTo>
                  <a:lnTo>
                    <a:pt x="377" y="0"/>
                  </a:lnTo>
                  <a:lnTo>
                    <a:pt x="381" y="0"/>
                  </a:lnTo>
                  <a:lnTo>
                    <a:pt x="387" y="1"/>
                  </a:lnTo>
                  <a:lnTo>
                    <a:pt x="392" y="2"/>
                  </a:lnTo>
                  <a:lnTo>
                    <a:pt x="396" y="3"/>
                  </a:lnTo>
                  <a:lnTo>
                    <a:pt x="402" y="4"/>
                  </a:lnTo>
                  <a:lnTo>
                    <a:pt x="406" y="6"/>
                  </a:lnTo>
                  <a:lnTo>
                    <a:pt x="409" y="8"/>
                  </a:lnTo>
                  <a:lnTo>
                    <a:pt x="417" y="13"/>
                  </a:lnTo>
                  <a:lnTo>
                    <a:pt x="421" y="18"/>
                  </a:lnTo>
                  <a:lnTo>
                    <a:pt x="423" y="21"/>
                  </a:lnTo>
                  <a:lnTo>
                    <a:pt x="424" y="25"/>
                  </a:lnTo>
                  <a:lnTo>
                    <a:pt x="426" y="29"/>
                  </a:lnTo>
                  <a:lnTo>
                    <a:pt x="426" y="32"/>
                  </a:lnTo>
                  <a:lnTo>
                    <a:pt x="426" y="3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Rectangle 289"/>
            <p:cNvSpPr>
              <a:spLocks noChangeArrowheads="1"/>
            </p:cNvSpPr>
            <p:nvPr/>
          </p:nvSpPr>
          <p:spPr bwMode="auto">
            <a:xfrm>
              <a:off x="4560" y="934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292" name="Rectangle 290"/>
            <p:cNvSpPr>
              <a:spLocks noChangeArrowheads="1"/>
            </p:cNvSpPr>
            <p:nvPr/>
          </p:nvSpPr>
          <p:spPr bwMode="auto">
            <a:xfrm>
              <a:off x="4496" y="890"/>
              <a:ext cx="75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293" name="Rectangle 291"/>
            <p:cNvSpPr>
              <a:spLocks noChangeArrowheads="1"/>
            </p:cNvSpPr>
            <p:nvPr/>
          </p:nvSpPr>
          <p:spPr bwMode="auto">
            <a:xfrm>
              <a:off x="4571" y="1591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94" name="Rectangle 292"/>
            <p:cNvSpPr>
              <a:spLocks noChangeArrowheads="1"/>
            </p:cNvSpPr>
            <p:nvPr/>
          </p:nvSpPr>
          <p:spPr bwMode="auto">
            <a:xfrm>
              <a:off x="4506" y="1544"/>
              <a:ext cx="75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295" name="Rectangle 293"/>
            <p:cNvSpPr>
              <a:spLocks noChangeArrowheads="1"/>
            </p:cNvSpPr>
            <p:nvPr/>
          </p:nvSpPr>
          <p:spPr bwMode="auto">
            <a:xfrm>
              <a:off x="4960" y="1058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宋体" pitchFamily="2" charset="-122"/>
                </a:rPr>
                <a:t>L</a:t>
              </a:r>
              <a:endParaRPr lang="en-US" altLang="zh-CN"/>
            </a:p>
          </p:txBody>
        </p:sp>
        <p:sp>
          <p:nvSpPr>
            <p:cNvPr id="296" name="Rectangle 294"/>
            <p:cNvSpPr>
              <a:spLocks noChangeArrowheads="1"/>
            </p:cNvSpPr>
            <p:nvPr/>
          </p:nvSpPr>
          <p:spPr bwMode="auto">
            <a:xfrm>
              <a:off x="4105" y="1194"/>
              <a:ext cx="111" cy="13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97" name="Rectangle 295"/>
            <p:cNvSpPr>
              <a:spLocks noChangeArrowheads="1"/>
            </p:cNvSpPr>
            <p:nvPr/>
          </p:nvSpPr>
          <p:spPr bwMode="auto">
            <a:xfrm>
              <a:off x="4377" y="1194"/>
              <a:ext cx="111" cy="13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98" name="Freeform 296"/>
            <p:cNvSpPr>
              <a:spLocks noEditPoints="1"/>
            </p:cNvSpPr>
            <p:nvPr/>
          </p:nvSpPr>
          <p:spPr bwMode="auto">
            <a:xfrm>
              <a:off x="3977" y="1837"/>
              <a:ext cx="13" cy="131"/>
            </a:xfrm>
            <a:custGeom>
              <a:avLst/>
              <a:gdLst>
                <a:gd name="T0" fmla="*/ 1 w 26"/>
                <a:gd name="T1" fmla="*/ 117 h 131"/>
                <a:gd name="T2" fmla="*/ 1 w 26"/>
                <a:gd name="T3" fmla="*/ 117 h 131"/>
                <a:gd name="T4" fmla="*/ 1 w 26"/>
                <a:gd name="T5" fmla="*/ 118 h 131"/>
                <a:gd name="T6" fmla="*/ 1 w 26"/>
                <a:gd name="T7" fmla="*/ 119 h 131"/>
                <a:gd name="T8" fmla="*/ 0 w 26"/>
                <a:gd name="T9" fmla="*/ 121 h 131"/>
                <a:gd name="T10" fmla="*/ 0 w 26"/>
                <a:gd name="T11" fmla="*/ 123 h 131"/>
                <a:gd name="T12" fmla="*/ 0 w 26"/>
                <a:gd name="T13" fmla="*/ 124 h 131"/>
                <a:gd name="T14" fmla="*/ 0 w 26"/>
                <a:gd name="T15" fmla="*/ 126 h 131"/>
                <a:gd name="T16" fmla="*/ 0 w 26"/>
                <a:gd name="T17" fmla="*/ 127 h 131"/>
                <a:gd name="T18" fmla="*/ 1 w 26"/>
                <a:gd name="T19" fmla="*/ 129 h 131"/>
                <a:gd name="T20" fmla="*/ 1 w 26"/>
                <a:gd name="T21" fmla="*/ 131 h 131"/>
                <a:gd name="T22" fmla="*/ 1 w 26"/>
                <a:gd name="T23" fmla="*/ 131 h 131"/>
                <a:gd name="T24" fmla="*/ 1 w 26"/>
                <a:gd name="T25" fmla="*/ 131 h 131"/>
                <a:gd name="T26" fmla="*/ 1 w 26"/>
                <a:gd name="T27" fmla="*/ 131 h 131"/>
                <a:gd name="T28" fmla="*/ 1 w 26"/>
                <a:gd name="T29" fmla="*/ 131 h 131"/>
                <a:gd name="T30" fmla="*/ 1 w 26"/>
                <a:gd name="T31" fmla="*/ 131 h 131"/>
                <a:gd name="T32" fmla="*/ 1 w 26"/>
                <a:gd name="T33" fmla="*/ 129 h 131"/>
                <a:gd name="T34" fmla="*/ 1 w 26"/>
                <a:gd name="T35" fmla="*/ 127 h 131"/>
                <a:gd name="T36" fmla="*/ 1 w 26"/>
                <a:gd name="T37" fmla="*/ 126 h 131"/>
                <a:gd name="T38" fmla="*/ 1 w 26"/>
                <a:gd name="T39" fmla="*/ 124 h 131"/>
                <a:gd name="T40" fmla="*/ 1 w 26"/>
                <a:gd name="T41" fmla="*/ 123 h 131"/>
                <a:gd name="T42" fmla="*/ 1 w 26"/>
                <a:gd name="T43" fmla="*/ 121 h 131"/>
                <a:gd name="T44" fmla="*/ 1 w 26"/>
                <a:gd name="T45" fmla="*/ 119 h 131"/>
                <a:gd name="T46" fmla="*/ 1 w 26"/>
                <a:gd name="T47" fmla="*/ 118 h 131"/>
                <a:gd name="T48" fmla="*/ 1 w 26"/>
                <a:gd name="T49" fmla="*/ 117 h 131"/>
                <a:gd name="T50" fmla="*/ 1 w 26"/>
                <a:gd name="T51" fmla="*/ 117 h 131"/>
                <a:gd name="T52" fmla="*/ 1 w 26"/>
                <a:gd name="T53" fmla="*/ 117 h 131"/>
                <a:gd name="T54" fmla="*/ 1 w 26"/>
                <a:gd name="T55" fmla="*/ 117 h 131"/>
                <a:gd name="T56" fmla="*/ 1 w 26"/>
                <a:gd name="T57" fmla="*/ 0 h 131"/>
                <a:gd name="T58" fmla="*/ 1 w 26"/>
                <a:gd name="T59" fmla="*/ 0 h 131"/>
                <a:gd name="T60" fmla="*/ 1 w 26"/>
                <a:gd name="T61" fmla="*/ 1 h 131"/>
                <a:gd name="T62" fmla="*/ 1 w 26"/>
                <a:gd name="T63" fmla="*/ 2 h 131"/>
                <a:gd name="T64" fmla="*/ 0 w 26"/>
                <a:gd name="T65" fmla="*/ 4 h 131"/>
                <a:gd name="T66" fmla="*/ 0 w 26"/>
                <a:gd name="T67" fmla="*/ 6 h 131"/>
                <a:gd name="T68" fmla="*/ 0 w 26"/>
                <a:gd name="T69" fmla="*/ 7 h 131"/>
                <a:gd name="T70" fmla="*/ 0 w 26"/>
                <a:gd name="T71" fmla="*/ 9 h 131"/>
                <a:gd name="T72" fmla="*/ 0 w 26"/>
                <a:gd name="T73" fmla="*/ 10 h 131"/>
                <a:gd name="T74" fmla="*/ 1 w 26"/>
                <a:gd name="T75" fmla="*/ 12 h 131"/>
                <a:gd name="T76" fmla="*/ 1 w 26"/>
                <a:gd name="T77" fmla="*/ 14 h 131"/>
                <a:gd name="T78" fmla="*/ 1 w 26"/>
                <a:gd name="T79" fmla="*/ 14 h 131"/>
                <a:gd name="T80" fmla="*/ 1 w 26"/>
                <a:gd name="T81" fmla="*/ 14 h 131"/>
                <a:gd name="T82" fmla="*/ 1 w 26"/>
                <a:gd name="T83" fmla="*/ 14 h 131"/>
                <a:gd name="T84" fmla="*/ 1 w 26"/>
                <a:gd name="T85" fmla="*/ 14 h 131"/>
                <a:gd name="T86" fmla="*/ 1 w 26"/>
                <a:gd name="T87" fmla="*/ 14 h 131"/>
                <a:gd name="T88" fmla="*/ 1 w 26"/>
                <a:gd name="T89" fmla="*/ 12 h 131"/>
                <a:gd name="T90" fmla="*/ 1 w 26"/>
                <a:gd name="T91" fmla="*/ 10 h 131"/>
                <a:gd name="T92" fmla="*/ 1 w 26"/>
                <a:gd name="T93" fmla="*/ 9 h 131"/>
                <a:gd name="T94" fmla="*/ 1 w 26"/>
                <a:gd name="T95" fmla="*/ 7 h 131"/>
                <a:gd name="T96" fmla="*/ 1 w 26"/>
                <a:gd name="T97" fmla="*/ 6 h 131"/>
                <a:gd name="T98" fmla="*/ 1 w 26"/>
                <a:gd name="T99" fmla="*/ 4 h 131"/>
                <a:gd name="T100" fmla="*/ 1 w 26"/>
                <a:gd name="T101" fmla="*/ 2 h 131"/>
                <a:gd name="T102" fmla="*/ 1 w 26"/>
                <a:gd name="T103" fmla="*/ 1 h 131"/>
                <a:gd name="T104" fmla="*/ 1 w 26"/>
                <a:gd name="T105" fmla="*/ 0 h 131"/>
                <a:gd name="T106" fmla="*/ 1 w 26"/>
                <a:gd name="T107" fmla="*/ 0 h 131"/>
                <a:gd name="T108" fmla="*/ 1 w 26"/>
                <a:gd name="T109" fmla="*/ 0 h 131"/>
                <a:gd name="T110" fmla="*/ 1 w 26"/>
                <a:gd name="T111" fmla="*/ 0 h 131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26"/>
                <a:gd name="T169" fmla="*/ 0 h 131"/>
                <a:gd name="T170" fmla="*/ 26 w 26"/>
                <a:gd name="T171" fmla="*/ 131 h 131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26" h="131">
                  <a:moveTo>
                    <a:pt x="13" y="117"/>
                  </a:moveTo>
                  <a:lnTo>
                    <a:pt x="11" y="117"/>
                  </a:lnTo>
                  <a:lnTo>
                    <a:pt x="7" y="118"/>
                  </a:lnTo>
                  <a:lnTo>
                    <a:pt x="3" y="119"/>
                  </a:lnTo>
                  <a:lnTo>
                    <a:pt x="0" y="121"/>
                  </a:lnTo>
                  <a:lnTo>
                    <a:pt x="0" y="123"/>
                  </a:lnTo>
                  <a:lnTo>
                    <a:pt x="0" y="124"/>
                  </a:lnTo>
                  <a:lnTo>
                    <a:pt x="0" y="126"/>
                  </a:lnTo>
                  <a:lnTo>
                    <a:pt x="0" y="127"/>
                  </a:lnTo>
                  <a:lnTo>
                    <a:pt x="3" y="129"/>
                  </a:lnTo>
                  <a:lnTo>
                    <a:pt x="7" y="131"/>
                  </a:lnTo>
                  <a:lnTo>
                    <a:pt x="9" y="131"/>
                  </a:lnTo>
                  <a:lnTo>
                    <a:pt x="13" y="131"/>
                  </a:lnTo>
                  <a:lnTo>
                    <a:pt x="15" y="131"/>
                  </a:lnTo>
                  <a:lnTo>
                    <a:pt x="18" y="131"/>
                  </a:lnTo>
                  <a:lnTo>
                    <a:pt x="22" y="129"/>
                  </a:lnTo>
                  <a:lnTo>
                    <a:pt x="24" y="127"/>
                  </a:lnTo>
                  <a:lnTo>
                    <a:pt x="26" y="126"/>
                  </a:lnTo>
                  <a:lnTo>
                    <a:pt x="26" y="124"/>
                  </a:lnTo>
                  <a:lnTo>
                    <a:pt x="26" y="123"/>
                  </a:lnTo>
                  <a:lnTo>
                    <a:pt x="24" y="121"/>
                  </a:lnTo>
                  <a:lnTo>
                    <a:pt x="22" y="119"/>
                  </a:lnTo>
                  <a:lnTo>
                    <a:pt x="18" y="118"/>
                  </a:lnTo>
                  <a:lnTo>
                    <a:pt x="15" y="117"/>
                  </a:lnTo>
                  <a:lnTo>
                    <a:pt x="13" y="117"/>
                  </a:lnTo>
                  <a:close/>
                  <a:moveTo>
                    <a:pt x="13" y="0"/>
                  </a:moveTo>
                  <a:lnTo>
                    <a:pt x="11" y="0"/>
                  </a:lnTo>
                  <a:lnTo>
                    <a:pt x="7" y="1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3" y="12"/>
                  </a:lnTo>
                  <a:lnTo>
                    <a:pt x="7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8" y="14"/>
                  </a:lnTo>
                  <a:lnTo>
                    <a:pt x="22" y="12"/>
                  </a:lnTo>
                  <a:lnTo>
                    <a:pt x="24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2" y="2"/>
                  </a:lnTo>
                  <a:lnTo>
                    <a:pt x="18" y="1"/>
                  </a:lnTo>
                  <a:lnTo>
                    <a:pt x="15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" name="Freeform 297"/>
            <p:cNvSpPr>
              <a:spLocks/>
            </p:cNvSpPr>
            <p:nvPr/>
          </p:nvSpPr>
          <p:spPr bwMode="auto">
            <a:xfrm>
              <a:off x="3977" y="1954"/>
              <a:ext cx="13" cy="14"/>
            </a:xfrm>
            <a:custGeom>
              <a:avLst/>
              <a:gdLst>
                <a:gd name="T0" fmla="*/ 1 w 26"/>
                <a:gd name="T1" fmla="*/ 0 h 14"/>
                <a:gd name="T2" fmla="*/ 1 w 26"/>
                <a:gd name="T3" fmla="*/ 0 h 14"/>
                <a:gd name="T4" fmla="*/ 1 w 26"/>
                <a:gd name="T5" fmla="*/ 1 h 14"/>
                <a:gd name="T6" fmla="*/ 1 w 26"/>
                <a:gd name="T7" fmla="*/ 2 h 14"/>
                <a:gd name="T8" fmla="*/ 0 w 26"/>
                <a:gd name="T9" fmla="*/ 4 h 14"/>
                <a:gd name="T10" fmla="*/ 0 w 26"/>
                <a:gd name="T11" fmla="*/ 6 h 14"/>
                <a:gd name="T12" fmla="*/ 0 w 26"/>
                <a:gd name="T13" fmla="*/ 7 h 14"/>
                <a:gd name="T14" fmla="*/ 0 w 26"/>
                <a:gd name="T15" fmla="*/ 9 h 14"/>
                <a:gd name="T16" fmla="*/ 0 w 26"/>
                <a:gd name="T17" fmla="*/ 10 h 14"/>
                <a:gd name="T18" fmla="*/ 1 w 26"/>
                <a:gd name="T19" fmla="*/ 12 h 14"/>
                <a:gd name="T20" fmla="*/ 1 w 26"/>
                <a:gd name="T21" fmla="*/ 14 h 14"/>
                <a:gd name="T22" fmla="*/ 1 w 26"/>
                <a:gd name="T23" fmla="*/ 14 h 14"/>
                <a:gd name="T24" fmla="*/ 1 w 26"/>
                <a:gd name="T25" fmla="*/ 14 h 14"/>
                <a:gd name="T26" fmla="*/ 1 w 26"/>
                <a:gd name="T27" fmla="*/ 14 h 14"/>
                <a:gd name="T28" fmla="*/ 1 w 26"/>
                <a:gd name="T29" fmla="*/ 14 h 14"/>
                <a:gd name="T30" fmla="*/ 1 w 26"/>
                <a:gd name="T31" fmla="*/ 14 h 14"/>
                <a:gd name="T32" fmla="*/ 1 w 26"/>
                <a:gd name="T33" fmla="*/ 12 h 14"/>
                <a:gd name="T34" fmla="*/ 1 w 26"/>
                <a:gd name="T35" fmla="*/ 10 h 14"/>
                <a:gd name="T36" fmla="*/ 1 w 26"/>
                <a:gd name="T37" fmla="*/ 9 h 14"/>
                <a:gd name="T38" fmla="*/ 1 w 26"/>
                <a:gd name="T39" fmla="*/ 7 h 14"/>
                <a:gd name="T40" fmla="*/ 1 w 26"/>
                <a:gd name="T41" fmla="*/ 6 h 14"/>
                <a:gd name="T42" fmla="*/ 1 w 26"/>
                <a:gd name="T43" fmla="*/ 4 h 14"/>
                <a:gd name="T44" fmla="*/ 1 w 26"/>
                <a:gd name="T45" fmla="*/ 2 h 14"/>
                <a:gd name="T46" fmla="*/ 1 w 26"/>
                <a:gd name="T47" fmla="*/ 1 h 14"/>
                <a:gd name="T48" fmla="*/ 1 w 26"/>
                <a:gd name="T49" fmla="*/ 0 h 14"/>
                <a:gd name="T50" fmla="*/ 1 w 26"/>
                <a:gd name="T51" fmla="*/ 0 h 14"/>
                <a:gd name="T52" fmla="*/ 1 w 26"/>
                <a:gd name="T53" fmla="*/ 0 h 1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6"/>
                <a:gd name="T82" fmla="*/ 0 h 14"/>
                <a:gd name="T83" fmla="*/ 26 w 26"/>
                <a:gd name="T84" fmla="*/ 14 h 1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6" h="14">
                  <a:moveTo>
                    <a:pt x="13" y="0"/>
                  </a:moveTo>
                  <a:lnTo>
                    <a:pt x="11" y="0"/>
                  </a:lnTo>
                  <a:lnTo>
                    <a:pt x="7" y="1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3" y="12"/>
                  </a:lnTo>
                  <a:lnTo>
                    <a:pt x="7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8" y="14"/>
                  </a:lnTo>
                  <a:lnTo>
                    <a:pt x="22" y="12"/>
                  </a:lnTo>
                  <a:lnTo>
                    <a:pt x="24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2" y="2"/>
                  </a:lnTo>
                  <a:lnTo>
                    <a:pt x="18" y="1"/>
                  </a:lnTo>
                  <a:lnTo>
                    <a:pt x="15" y="0"/>
                  </a:lnTo>
                  <a:lnTo>
                    <a:pt x="1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" name="Freeform 298"/>
            <p:cNvSpPr>
              <a:spLocks/>
            </p:cNvSpPr>
            <p:nvPr/>
          </p:nvSpPr>
          <p:spPr bwMode="auto">
            <a:xfrm>
              <a:off x="3977" y="1837"/>
              <a:ext cx="13" cy="14"/>
            </a:xfrm>
            <a:custGeom>
              <a:avLst/>
              <a:gdLst>
                <a:gd name="T0" fmla="*/ 1 w 26"/>
                <a:gd name="T1" fmla="*/ 0 h 14"/>
                <a:gd name="T2" fmla="*/ 1 w 26"/>
                <a:gd name="T3" fmla="*/ 0 h 14"/>
                <a:gd name="T4" fmla="*/ 1 w 26"/>
                <a:gd name="T5" fmla="*/ 1 h 14"/>
                <a:gd name="T6" fmla="*/ 1 w 26"/>
                <a:gd name="T7" fmla="*/ 2 h 14"/>
                <a:gd name="T8" fmla="*/ 0 w 26"/>
                <a:gd name="T9" fmla="*/ 4 h 14"/>
                <a:gd name="T10" fmla="*/ 0 w 26"/>
                <a:gd name="T11" fmla="*/ 6 h 14"/>
                <a:gd name="T12" fmla="*/ 0 w 26"/>
                <a:gd name="T13" fmla="*/ 7 h 14"/>
                <a:gd name="T14" fmla="*/ 0 w 26"/>
                <a:gd name="T15" fmla="*/ 9 h 14"/>
                <a:gd name="T16" fmla="*/ 0 w 26"/>
                <a:gd name="T17" fmla="*/ 10 h 14"/>
                <a:gd name="T18" fmla="*/ 1 w 26"/>
                <a:gd name="T19" fmla="*/ 12 h 14"/>
                <a:gd name="T20" fmla="*/ 1 w 26"/>
                <a:gd name="T21" fmla="*/ 14 h 14"/>
                <a:gd name="T22" fmla="*/ 1 w 26"/>
                <a:gd name="T23" fmla="*/ 14 h 14"/>
                <a:gd name="T24" fmla="*/ 1 w 26"/>
                <a:gd name="T25" fmla="*/ 14 h 14"/>
                <a:gd name="T26" fmla="*/ 1 w 26"/>
                <a:gd name="T27" fmla="*/ 14 h 14"/>
                <a:gd name="T28" fmla="*/ 1 w 26"/>
                <a:gd name="T29" fmla="*/ 14 h 14"/>
                <a:gd name="T30" fmla="*/ 1 w 26"/>
                <a:gd name="T31" fmla="*/ 14 h 14"/>
                <a:gd name="T32" fmla="*/ 1 w 26"/>
                <a:gd name="T33" fmla="*/ 12 h 14"/>
                <a:gd name="T34" fmla="*/ 1 w 26"/>
                <a:gd name="T35" fmla="*/ 10 h 14"/>
                <a:gd name="T36" fmla="*/ 1 w 26"/>
                <a:gd name="T37" fmla="*/ 9 h 14"/>
                <a:gd name="T38" fmla="*/ 1 w 26"/>
                <a:gd name="T39" fmla="*/ 7 h 14"/>
                <a:gd name="T40" fmla="*/ 1 w 26"/>
                <a:gd name="T41" fmla="*/ 6 h 14"/>
                <a:gd name="T42" fmla="*/ 1 w 26"/>
                <a:gd name="T43" fmla="*/ 4 h 14"/>
                <a:gd name="T44" fmla="*/ 1 w 26"/>
                <a:gd name="T45" fmla="*/ 2 h 14"/>
                <a:gd name="T46" fmla="*/ 1 w 26"/>
                <a:gd name="T47" fmla="*/ 1 h 14"/>
                <a:gd name="T48" fmla="*/ 1 w 26"/>
                <a:gd name="T49" fmla="*/ 0 h 14"/>
                <a:gd name="T50" fmla="*/ 1 w 26"/>
                <a:gd name="T51" fmla="*/ 0 h 14"/>
                <a:gd name="T52" fmla="*/ 1 w 26"/>
                <a:gd name="T53" fmla="*/ 0 h 1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6"/>
                <a:gd name="T82" fmla="*/ 0 h 14"/>
                <a:gd name="T83" fmla="*/ 26 w 26"/>
                <a:gd name="T84" fmla="*/ 14 h 1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6" h="14">
                  <a:moveTo>
                    <a:pt x="13" y="0"/>
                  </a:moveTo>
                  <a:lnTo>
                    <a:pt x="11" y="0"/>
                  </a:lnTo>
                  <a:lnTo>
                    <a:pt x="7" y="1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3" y="12"/>
                  </a:lnTo>
                  <a:lnTo>
                    <a:pt x="7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8" y="14"/>
                  </a:lnTo>
                  <a:lnTo>
                    <a:pt x="22" y="12"/>
                  </a:lnTo>
                  <a:lnTo>
                    <a:pt x="24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2" y="2"/>
                  </a:lnTo>
                  <a:lnTo>
                    <a:pt x="18" y="1"/>
                  </a:lnTo>
                  <a:lnTo>
                    <a:pt x="15" y="0"/>
                  </a:lnTo>
                  <a:lnTo>
                    <a:pt x="1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" name="Line 299"/>
            <p:cNvSpPr>
              <a:spLocks noChangeShapeType="1"/>
            </p:cNvSpPr>
            <p:nvPr/>
          </p:nvSpPr>
          <p:spPr bwMode="auto">
            <a:xfrm>
              <a:off x="3986" y="1851"/>
              <a:ext cx="30" cy="9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2" name="Freeform 300"/>
            <p:cNvSpPr>
              <a:spLocks/>
            </p:cNvSpPr>
            <p:nvPr/>
          </p:nvSpPr>
          <p:spPr bwMode="auto">
            <a:xfrm>
              <a:off x="4242" y="1387"/>
              <a:ext cx="32" cy="234"/>
            </a:xfrm>
            <a:custGeom>
              <a:avLst/>
              <a:gdLst>
                <a:gd name="T0" fmla="*/ 1 w 64"/>
                <a:gd name="T1" fmla="*/ 0 h 234"/>
                <a:gd name="T2" fmla="*/ 1 w 64"/>
                <a:gd name="T3" fmla="*/ 1 h 234"/>
                <a:gd name="T4" fmla="*/ 1 w 64"/>
                <a:gd name="T5" fmla="*/ 4 h 234"/>
                <a:gd name="T6" fmla="*/ 1 w 64"/>
                <a:gd name="T7" fmla="*/ 13 h 234"/>
                <a:gd name="T8" fmla="*/ 1 w 64"/>
                <a:gd name="T9" fmla="*/ 17 h 234"/>
                <a:gd name="T10" fmla="*/ 1 w 64"/>
                <a:gd name="T11" fmla="*/ 23 h 234"/>
                <a:gd name="T12" fmla="*/ 1 w 64"/>
                <a:gd name="T13" fmla="*/ 28 h 234"/>
                <a:gd name="T14" fmla="*/ 1 w 64"/>
                <a:gd name="T15" fmla="*/ 34 h 234"/>
                <a:gd name="T16" fmla="*/ 1 w 64"/>
                <a:gd name="T17" fmla="*/ 39 h 234"/>
                <a:gd name="T18" fmla="*/ 1 w 64"/>
                <a:gd name="T19" fmla="*/ 45 h 234"/>
                <a:gd name="T20" fmla="*/ 1 w 64"/>
                <a:gd name="T21" fmla="*/ 53 h 234"/>
                <a:gd name="T22" fmla="*/ 1 w 64"/>
                <a:gd name="T23" fmla="*/ 57 h 234"/>
                <a:gd name="T24" fmla="*/ 1 w 64"/>
                <a:gd name="T25" fmla="*/ 58 h 234"/>
                <a:gd name="T26" fmla="*/ 0 w 64"/>
                <a:gd name="T27" fmla="*/ 59 h 234"/>
                <a:gd name="T28" fmla="*/ 1 w 64"/>
                <a:gd name="T29" fmla="*/ 59 h 234"/>
                <a:gd name="T30" fmla="*/ 1 w 64"/>
                <a:gd name="T31" fmla="*/ 60 h 234"/>
                <a:gd name="T32" fmla="*/ 1 w 64"/>
                <a:gd name="T33" fmla="*/ 66 h 234"/>
                <a:gd name="T34" fmla="*/ 1 w 64"/>
                <a:gd name="T35" fmla="*/ 73 h 234"/>
                <a:gd name="T36" fmla="*/ 1 w 64"/>
                <a:gd name="T37" fmla="*/ 78 h 234"/>
                <a:gd name="T38" fmla="*/ 1 w 64"/>
                <a:gd name="T39" fmla="*/ 84 h 234"/>
                <a:gd name="T40" fmla="*/ 1 w 64"/>
                <a:gd name="T41" fmla="*/ 90 h 234"/>
                <a:gd name="T42" fmla="*/ 1 w 64"/>
                <a:gd name="T43" fmla="*/ 95 h 234"/>
                <a:gd name="T44" fmla="*/ 1 w 64"/>
                <a:gd name="T45" fmla="*/ 101 h 234"/>
                <a:gd name="T46" fmla="*/ 1 w 64"/>
                <a:gd name="T47" fmla="*/ 108 h 234"/>
                <a:gd name="T48" fmla="*/ 1 w 64"/>
                <a:gd name="T49" fmla="*/ 115 h 234"/>
                <a:gd name="T50" fmla="*/ 1 w 64"/>
                <a:gd name="T51" fmla="*/ 116 h 234"/>
                <a:gd name="T52" fmla="*/ 1 w 64"/>
                <a:gd name="T53" fmla="*/ 117 h 234"/>
                <a:gd name="T54" fmla="*/ 1 w 64"/>
                <a:gd name="T55" fmla="*/ 117 h 234"/>
                <a:gd name="T56" fmla="*/ 1 w 64"/>
                <a:gd name="T57" fmla="*/ 118 h 234"/>
                <a:gd name="T58" fmla="*/ 1 w 64"/>
                <a:gd name="T59" fmla="*/ 121 h 234"/>
                <a:gd name="T60" fmla="*/ 1 w 64"/>
                <a:gd name="T61" fmla="*/ 130 h 234"/>
                <a:gd name="T62" fmla="*/ 1 w 64"/>
                <a:gd name="T63" fmla="*/ 134 h 234"/>
                <a:gd name="T64" fmla="*/ 1 w 64"/>
                <a:gd name="T65" fmla="*/ 140 h 234"/>
                <a:gd name="T66" fmla="*/ 1 w 64"/>
                <a:gd name="T67" fmla="*/ 145 h 234"/>
                <a:gd name="T68" fmla="*/ 1 w 64"/>
                <a:gd name="T69" fmla="*/ 151 h 234"/>
                <a:gd name="T70" fmla="*/ 1 w 64"/>
                <a:gd name="T71" fmla="*/ 156 h 234"/>
                <a:gd name="T72" fmla="*/ 1 w 64"/>
                <a:gd name="T73" fmla="*/ 162 h 234"/>
                <a:gd name="T74" fmla="*/ 1 w 64"/>
                <a:gd name="T75" fmla="*/ 170 h 234"/>
                <a:gd name="T76" fmla="*/ 1 w 64"/>
                <a:gd name="T77" fmla="*/ 174 h 234"/>
                <a:gd name="T78" fmla="*/ 1 w 64"/>
                <a:gd name="T79" fmla="*/ 175 h 234"/>
                <a:gd name="T80" fmla="*/ 0 w 64"/>
                <a:gd name="T81" fmla="*/ 176 h 234"/>
                <a:gd name="T82" fmla="*/ 1 w 64"/>
                <a:gd name="T83" fmla="*/ 176 h 234"/>
                <a:gd name="T84" fmla="*/ 1 w 64"/>
                <a:gd name="T85" fmla="*/ 178 h 234"/>
                <a:gd name="T86" fmla="*/ 1 w 64"/>
                <a:gd name="T87" fmla="*/ 183 h 234"/>
                <a:gd name="T88" fmla="*/ 1 w 64"/>
                <a:gd name="T89" fmla="*/ 191 h 234"/>
                <a:gd name="T90" fmla="*/ 1 w 64"/>
                <a:gd name="T91" fmla="*/ 196 h 234"/>
                <a:gd name="T92" fmla="*/ 1 w 64"/>
                <a:gd name="T93" fmla="*/ 201 h 234"/>
                <a:gd name="T94" fmla="*/ 1 w 64"/>
                <a:gd name="T95" fmla="*/ 207 h 234"/>
                <a:gd name="T96" fmla="*/ 1 w 64"/>
                <a:gd name="T97" fmla="*/ 212 h 234"/>
                <a:gd name="T98" fmla="*/ 1 w 64"/>
                <a:gd name="T99" fmla="*/ 218 h 234"/>
                <a:gd name="T100" fmla="*/ 1 w 64"/>
                <a:gd name="T101" fmla="*/ 225 h 234"/>
                <a:gd name="T102" fmla="*/ 1 w 64"/>
                <a:gd name="T103" fmla="*/ 232 h 234"/>
                <a:gd name="T104" fmla="*/ 1 w 64"/>
                <a:gd name="T105" fmla="*/ 233 h 234"/>
                <a:gd name="T106" fmla="*/ 1 w 64"/>
                <a:gd name="T107" fmla="*/ 234 h 23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64"/>
                <a:gd name="T163" fmla="*/ 0 h 234"/>
                <a:gd name="T164" fmla="*/ 64 w 64"/>
                <a:gd name="T165" fmla="*/ 234 h 23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64" h="234">
                  <a:moveTo>
                    <a:pt x="0" y="0"/>
                  </a:moveTo>
                  <a:lnTo>
                    <a:pt x="7" y="0"/>
                  </a:lnTo>
                  <a:lnTo>
                    <a:pt x="13" y="0"/>
                  </a:lnTo>
                  <a:lnTo>
                    <a:pt x="18" y="1"/>
                  </a:lnTo>
                  <a:lnTo>
                    <a:pt x="24" y="2"/>
                  </a:lnTo>
                  <a:lnTo>
                    <a:pt x="35" y="4"/>
                  </a:lnTo>
                  <a:lnTo>
                    <a:pt x="45" y="8"/>
                  </a:lnTo>
                  <a:lnTo>
                    <a:pt x="52" y="13"/>
                  </a:lnTo>
                  <a:lnTo>
                    <a:pt x="56" y="15"/>
                  </a:lnTo>
                  <a:lnTo>
                    <a:pt x="58" y="17"/>
                  </a:lnTo>
                  <a:lnTo>
                    <a:pt x="60" y="20"/>
                  </a:lnTo>
                  <a:lnTo>
                    <a:pt x="62" y="23"/>
                  </a:lnTo>
                  <a:lnTo>
                    <a:pt x="64" y="25"/>
                  </a:lnTo>
                  <a:lnTo>
                    <a:pt x="64" y="28"/>
                  </a:lnTo>
                  <a:lnTo>
                    <a:pt x="64" y="31"/>
                  </a:lnTo>
                  <a:lnTo>
                    <a:pt x="64" y="34"/>
                  </a:lnTo>
                  <a:lnTo>
                    <a:pt x="62" y="37"/>
                  </a:lnTo>
                  <a:lnTo>
                    <a:pt x="60" y="39"/>
                  </a:lnTo>
                  <a:lnTo>
                    <a:pt x="58" y="43"/>
                  </a:lnTo>
                  <a:lnTo>
                    <a:pt x="54" y="45"/>
                  </a:lnTo>
                  <a:lnTo>
                    <a:pt x="49" y="50"/>
                  </a:lnTo>
                  <a:lnTo>
                    <a:pt x="39" y="53"/>
                  </a:lnTo>
                  <a:lnTo>
                    <a:pt x="28" y="56"/>
                  </a:lnTo>
                  <a:lnTo>
                    <a:pt x="24" y="57"/>
                  </a:lnTo>
                  <a:lnTo>
                    <a:pt x="17" y="58"/>
                  </a:lnTo>
                  <a:lnTo>
                    <a:pt x="11" y="58"/>
                  </a:lnTo>
                  <a:lnTo>
                    <a:pt x="5" y="59"/>
                  </a:lnTo>
                  <a:lnTo>
                    <a:pt x="0" y="59"/>
                  </a:lnTo>
                  <a:lnTo>
                    <a:pt x="7" y="59"/>
                  </a:lnTo>
                  <a:lnTo>
                    <a:pt x="13" y="59"/>
                  </a:lnTo>
                  <a:lnTo>
                    <a:pt x="18" y="60"/>
                  </a:lnTo>
                  <a:lnTo>
                    <a:pt x="24" y="60"/>
                  </a:lnTo>
                  <a:lnTo>
                    <a:pt x="35" y="63"/>
                  </a:lnTo>
                  <a:lnTo>
                    <a:pt x="45" y="66"/>
                  </a:lnTo>
                  <a:lnTo>
                    <a:pt x="52" y="71"/>
                  </a:lnTo>
                  <a:lnTo>
                    <a:pt x="56" y="73"/>
                  </a:lnTo>
                  <a:lnTo>
                    <a:pt x="58" y="76"/>
                  </a:lnTo>
                  <a:lnTo>
                    <a:pt x="60" y="78"/>
                  </a:lnTo>
                  <a:lnTo>
                    <a:pt x="62" y="81"/>
                  </a:lnTo>
                  <a:lnTo>
                    <a:pt x="64" y="84"/>
                  </a:lnTo>
                  <a:lnTo>
                    <a:pt x="64" y="87"/>
                  </a:lnTo>
                  <a:lnTo>
                    <a:pt x="64" y="90"/>
                  </a:lnTo>
                  <a:lnTo>
                    <a:pt x="64" y="92"/>
                  </a:lnTo>
                  <a:lnTo>
                    <a:pt x="62" y="95"/>
                  </a:lnTo>
                  <a:lnTo>
                    <a:pt x="60" y="98"/>
                  </a:lnTo>
                  <a:lnTo>
                    <a:pt x="58" y="101"/>
                  </a:lnTo>
                  <a:lnTo>
                    <a:pt x="54" y="104"/>
                  </a:lnTo>
                  <a:lnTo>
                    <a:pt x="49" y="108"/>
                  </a:lnTo>
                  <a:lnTo>
                    <a:pt x="39" y="112"/>
                  </a:lnTo>
                  <a:lnTo>
                    <a:pt x="28" y="115"/>
                  </a:lnTo>
                  <a:lnTo>
                    <a:pt x="24" y="116"/>
                  </a:lnTo>
                  <a:lnTo>
                    <a:pt x="17" y="116"/>
                  </a:lnTo>
                  <a:lnTo>
                    <a:pt x="11" y="117"/>
                  </a:lnTo>
                  <a:lnTo>
                    <a:pt x="5" y="117"/>
                  </a:lnTo>
                  <a:lnTo>
                    <a:pt x="0" y="117"/>
                  </a:lnTo>
                  <a:lnTo>
                    <a:pt x="7" y="117"/>
                  </a:lnTo>
                  <a:lnTo>
                    <a:pt x="13" y="118"/>
                  </a:lnTo>
                  <a:lnTo>
                    <a:pt x="18" y="118"/>
                  </a:lnTo>
                  <a:lnTo>
                    <a:pt x="24" y="119"/>
                  </a:lnTo>
                  <a:lnTo>
                    <a:pt x="35" y="121"/>
                  </a:lnTo>
                  <a:lnTo>
                    <a:pt x="45" y="125"/>
                  </a:lnTo>
                  <a:lnTo>
                    <a:pt x="52" y="130"/>
                  </a:lnTo>
                  <a:lnTo>
                    <a:pt x="56" y="132"/>
                  </a:lnTo>
                  <a:lnTo>
                    <a:pt x="58" y="134"/>
                  </a:lnTo>
                  <a:lnTo>
                    <a:pt x="60" y="137"/>
                  </a:lnTo>
                  <a:lnTo>
                    <a:pt x="62" y="140"/>
                  </a:lnTo>
                  <a:lnTo>
                    <a:pt x="64" y="142"/>
                  </a:lnTo>
                  <a:lnTo>
                    <a:pt x="64" y="145"/>
                  </a:lnTo>
                  <a:lnTo>
                    <a:pt x="64" y="148"/>
                  </a:lnTo>
                  <a:lnTo>
                    <a:pt x="64" y="151"/>
                  </a:lnTo>
                  <a:lnTo>
                    <a:pt x="62" y="154"/>
                  </a:lnTo>
                  <a:lnTo>
                    <a:pt x="60" y="156"/>
                  </a:lnTo>
                  <a:lnTo>
                    <a:pt x="58" y="160"/>
                  </a:lnTo>
                  <a:lnTo>
                    <a:pt x="54" y="162"/>
                  </a:lnTo>
                  <a:lnTo>
                    <a:pt x="49" y="167"/>
                  </a:lnTo>
                  <a:lnTo>
                    <a:pt x="39" y="170"/>
                  </a:lnTo>
                  <a:lnTo>
                    <a:pt x="28" y="173"/>
                  </a:lnTo>
                  <a:lnTo>
                    <a:pt x="24" y="174"/>
                  </a:lnTo>
                  <a:lnTo>
                    <a:pt x="17" y="175"/>
                  </a:lnTo>
                  <a:lnTo>
                    <a:pt x="11" y="175"/>
                  </a:lnTo>
                  <a:lnTo>
                    <a:pt x="5" y="176"/>
                  </a:lnTo>
                  <a:lnTo>
                    <a:pt x="0" y="176"/>
                  </a:lnTo>
                  <a:lnTo>
                    <a:pt x="7" y="176"/>
                  </a:lnTo>
                  <a:lnTo>
                    <a:pt x="13" y="176"/>
                  </a:lnTo>
                  <a:lnTo>
                    <a:pt x="18" y="177"/>
                  </a:lnTo>
                  <a:lnTo>
                    <a:pt x="24" y="178"/>
                  </a:lnTo>
                  <a:lnTo>
                    <a:pt x="35" y="180"/>
                  </a:lnTo>
                  <a:lnTo>
                    <a:pt x="45" y="183"/>
                  </a:lnTo>
                  <a:lnTo>
                    <a:pt x="52" y="188"/>
                  </a:lnTo>
                  <a:lnTo>
                    <a:pt x="56" y="191"/>
                  </a:lnTo>
                  <a:lnTo>
                    <a:pt x="58" y="193"/>
                  </a:lnTo>
                  <a:lnTo>
                    <a:pt x="60" y="196"/>
                  </a:lnTo>
                  <a:lnTo>
                    <a:pt x="62" y="198"/>
                  </a:lnTo>
                  <a:lnTo>
                    <a:pt x="64" y="201"/>
                  </a:lnTo>
                  <a:lnTo>
                    <a:pt x="64" y="204"/>
                  </a:lnTo>
                  <a:lnTo>
                    <a:pt x="64" y="207"/>
                  </a:lnTo>
                  <a:lnTo>
                    <a:pt x="64" y="210"/>
                  </a:lnTo>
                  <a:lnTo>
                    <a:pt x="62" y="212"/>
                  </a:lnTo>
                  <a:lnTo>
                    <a:pt x="60" y="216"/>
                  </a:lnTo>
                  <a:lnTo>
                    <a:pt x="58" y="218"/>
                  </a:lnTo>
                  <a:lnTo>
                    <a:pt x="54" y="221"/>
                  </a:lnTo>
                  <a:lnTo>
                    <a:pt x="49" y="225"/>
                  </a:lnTo>
                  <a:lnTo>
                    <a:pt x="39" y="229"/>
                  </a:lnTo>
                  <a:lnTo>
                    <a:pt x="28" y="232"/>
                  </a:lnTo>
                  <a:lnTo>
                    <a:pt x="24" y="233"/>
                  </a:lnTo>
                  <a:lnTo>
                    <a:pt x="17" y="233"/>
                  </a:lnTo>
                  <a:lnTo>
                    <a:pt x="11" y="234"/>
                  </a:lnTo>
                  <a:lnTo>
                    <a:pt x="5" y="234"/>
                  </a:lnTo>
                  <a:lnTo>
                    <a:pt x="0" y="2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3" name="Freeform 301"/>
            <p:cNvSpPr>
              <a:spLocks/>
            </p:cNvSpPr>
            <p:nvPr/>
          </p:nvSpPr>
          <p:spPr bwMode="auto">
            <a:xfrm>
              <a:off x="4332" y="1387"/>
              <a:ext cx="32" cy="234"/>
            </a:xfrm>
            <a:custGeom>
              <a:avLst/>
              <a:gdLst>
                <a:gd name="T0" fmla="*/ 1 w 64"/>
                <a:gd name="T1" fmla="*/ 0 h 234"/>
                <a:gd name="T2" fmla="*/ 1 w 64"/>
                <a:gd name="T3" fmla="*/ 1 h 234"/>
                <a:gd name="T4" fmla="*/ 1 w 64"/>
                <a:gd name="T5" fmla="*/ 4 h 234"/>
                <a:gd name="T6" fmla="*/ 1 w 64"/>
                <a:gd name="T7" fmla="*/ 13 h 234"/>
                <a:gd name="T8" fmla="*/ 1 w 64"/>
                <a:gd name="T9" fmla="*/ 17 h 234"/>
                <a:gd name="T10" fmla="*/ 1 w 64"/>
                <a:gd name="T11" fmla="*/ 23 h 234"/>
                <a:gd name="T12" fmla="*/ 0 w 64"/>
                <a:gd name="T13" fmla="*/ 28 h 234"/>
                <a:gd name="T14" fmla="*/ 1 w 64"/>
                <a:gd name="T15" fmla="*/ 34 h 234"/>
                <a:gd name="T16" fmla="*/ 1 w 64"/>
                <a:gd name="T17" fmla="*/ 39 h 234"/>
                <a:gd name="T18" fmla="*/ 1 w 64"/>
                <a:gd name="T19" fmla="*/ 45 h 234"/>
                <a:gd name="T20" fmla="*/ 1 w 64"/>
                <a:gd name="T21" fmla="*/ 50 h 234"/>
                <a:gd name="T22" fmla="*/ 1 w 64"/>
                <a:gd name="T23" fmla="*/ 56 h 234"/>
                <a:gd name="T24" fmla="*/ 1 w 64"/>
                <a:gd name="T25" fmla="*/ 58 h 234"/>
                <a:gd name="T26" fmla="*/ 1 w 64"/>
                <a:gd name="T27" fmla="*/ 59 h 234"/>
                <a:gd name="T28" fmla="*/ 1 w 64"/>
                <a:gd name="T29" fmla="*/ 59 h 234"/>
                <a:gd name="T30" fmla="*/ 1 w 64"/>
                <a:gd name="T31" fmla="*/ 60 h 234"/>
                <a:gd name="T32" fmla="*/ 1 w 64"/>
                <a:gd name="T33" fmla="*/ 63 h 234"/>
                <a:gd name="T34" fmla="*/ 1 w 64"/>
                <a:gd name="T35" fmla="*/ 71 h 234"/>
                <a:gd name="T36" fmla="*/ 1 w 64"/>
                <a:gd name="T37" fmla="*/ 76 h 234"/>
                <a:gd name="T38" fmla="*/ 1 w 64"/>
                <a:gd name="T39" fmla="*/ 81 h 234"/>
                <a:gd name="T40" fmla="*/ 0 w 64"/>
                <a:gd name="T41" fmla="*/ 87 h 234"/>
                <a:gd name="T42" fmla="*/ 1 w 64"/>
                <a:gd name="T43" fmla="*/ 92 h 234"/>
                <a:gd name="T44" fmla="*/ 1 w 64"/>
                <a:gd name="T45" fmla="*/ 98 h 234"/>
                <a:gd name="T46" fmla="*/ 1 w 64"/>
                <a:gd name="T47" fmla="*/ 104 h 234"/>
                <a:gd name="T48" fmla="*/ 1 w 64"/>
                <a:gd name="T49" fmla="*/ 108 h 234"/>
                <a:gd name="T50" fmla="*/ 1 w 64"/>
                <a:gd name="T51" fmla="*/ 115 h 234"/>
                <a:gd name="T52" fmla="*/ 1 w 64"/>
                <a:gd name="T53" fmla="*/ 116 h 234"/>
                <a:gd name="T54" fmla="*/ 1 w 64"/>
                <a:gd name="T55" fmla="*/ 117 h 234"/>
                <a:gd name="T56" fmla="*/ 1 w 64"/>
                <a:gd name="T57" fmla="*/ 117 h 234"/>
                <a:gd name="T58" fmla="*/ 1 w 64"/>
                <a:gd name="T59" fmla="*/ 118 h 234"/>
                <a:gd name="T60" fmla="*/ 1 w 64"/>
                <a:gd name="T61" fmla="*/ 121 h 234"/>
                <a:gd name="T62" fmla="*/ 1 w 64"/>
                <a:gd name="T63" fmla="*/ 130 h 234"/>
                <a:gd name="T64" fmla="*/ 1 w 64"/>
                <a:gd name="T65" fmla="*/ 134 h 234"/>
                <a:gd name="T66" fmla="*/ 1 w 64"/>
                <a:gd name="T67" fmla="*/ 140 h 234"/>
                <a:gd name="T68" fmla="*/ 0 w 64"/>
                <a:gd name="T69" fmla="*/ 145 h 234"/>
                <a:gd name="T70" fmla="*/ 1 w 64"/>
                <a:gd name="T71" fmla="*/ 151 h 234"/>
                <a:gd name="T72" fmla="*/ 1 w 64"/>
                <a:gd name="T73" fmla="*/ 156 h 234"/>
                <a:gd name="T74" fmla="*/ 1 w 64"/>
                <a:gd name="T75" fmla="*/ 162 h 234"/>
                <a:gd name="T76" fmla="*/ 1 w 64"/>
                <a:gd name="T77" fmla="*/ 167 h 234"/>
                <a:gd name="T78" fmla="*/ 1 w 64"/>
                <a:gd name="T79" fmla="*/ 173 h 234"/>
                <a:gd name="T80" fmla="*/ 1 w 64"/>
                <a:gd name="T81" fmla="*/ 175 h 234"/>
                <a:gd name="T82" fmla="*/ 1 w 64"/>
                <a:gd name="T83" fmla="*/ 176 h 234"/>
                <a:gd name="T84" fmla="*/ 1 w 64"/>
                <a:gd name="T85" fmla="*/ 176 h 234"/>
                <a:gd name="T86" fmla="*/ 1 w 64"/>
                <a:gd name="T87" fmla="*/ 177 h 234"/>
                <a:gd name="T88" fmla="*/ 1 w 64"/>
                <a:gd name="T89" fmla="*/ 180 h 234"/>
                <a:gd name="T90" fmla="*/ 1 w 64"/>
                <a:gd name="T91" fmla="*/ 188 h 234"/>
                <a:gd name="T92" fmla="*/ 1 w 64"/>
                <a:gd name="T93" fmla="*/ 193 h 234"/>
                <a:gd name="T94" fmla="*/ 1 w 64"/>
                <a:gd name="T95" fmla="*/ 198 h 234"/>
                <a:gd name="T96" fmla="*/ 0 w 64"/>
                <a:gd name="T97" fmla="*/ 204 h 234"/>
                <a:gd name="T98" fmla="*/ 1 w 64"/>
                <a:gd name="T99" fmla="*/ 210 h 234"/>
                <a:gd name="T100" fmla="*/ 1 w 64"/>
                <a:gd name="T101" fmla="*/ 216 h 234"/>
                <a:gd name="T102" fmla="*/ 1 w 64"/>
                <a:gd name="T103" fmla="*/ 221 h 234"/>
                <a:gd name="T104" fmla="*/ 1 w 64"/>
                <a:gd name="T105" fmla="*/ 225 h 234"/>
                <a:gd name="T106" fmla="*/ 1 w 64"/>
                <a:gd name="T107" fmla="*/ 232 h 234"/>
                <a:gd name="T108" fmla="*/ 1 w 64"/>
                <a:gd name="T109" fmla="*/ 233 h 234"/>
                <a:gd name="T110" fmla="*/ 1 w 64"/>
                <a:gd name="T111" fmla="*/ 234 h 23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64"/>
                <a:gd name="T169" fmla="*/ 0 h 234"/>
                <a:gd name="T170" fmla="*/ 64 w 64"/>
                <a:gd name="T171" fmla="*/ 234 h 234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64" h="234">
                  <a:moveTo>
                    <a:pt x="64" y="0"/>
                  </a:moveTo>
                  <a:lnTo>
                    <a:pt x="58" y="0"/>
                  </a:lnTo>
                  <a:lnTo>
                    <a:pt x="52" y="0"/>
                  </a:lnTo>
                  <a:lnTo>
                    <a:pt x="47" y="1"/>
                  </a:lnTo>
                  <a:lnTo>
                    <a:pt x="41" y="2"/>
                  </a:lnTo>
                  <a:lnTo>
                    <a:pt x="30" y="4"/>
                  </a:lnTo>
                  <a:lnTo>
                    <a:pt x="20" y="8"/>
                  </a:lnTo>
                  <a:lnTo>
                    <a:pt x="13" y="13"/>
                  </a:lnTo>
                  <a:lnTo>
                    <a:pt x="9" y="15"/>
                  </a:lnTo>
                  <a:lnTo>
                    <a:pt x="7" y="17"/>
                  </a:lnTo>
                  <a:lnTo>
                    <a:pt x="3" y="20"/>
                  </a:lnTo>
                  <a:lnTo>
                    <a:pt x="1" y="23"/>
                  </a:lnTo>
                  <a:lnTo>
                    <a:pt x="1" y="25"/>
                  </a:lnTo>
                  <a:lnTo>
                    <a:pt x="0" y="28"/>
                  </a:lnTo>
                  <a:lnTo>
                    <a:pt x="1" y="31"/>
                  </a:lnTo>
                  <a:lnTo>
                    <a:pt x="1" y="34"/>
                  </a:lnTo>
                  <a:lnTo>
                    <a:pt x="3" y="37"/>
                  </a:lnTo>
                  <a:lnTo>
                    <a:pt x="5" y="39"/>
                  </a:lnTo>
                  <a:lnTo>
                    <a:pt x="7" y="43"/>
                  </a:lnTo>
                  <a:lnTo>
                    <a:pt x="9" y="45"/>
                  </a:lnTo>
                  <a:lnTo>
                    <a:pt x="13" y="47"/>
                  </a:lnTo>
                  <a:lnTo>
                    <a:pt x="17" y="50"/>
                  </a:lnTo>
                  <a:lnTo>
                    <a:pt x="26" y="53"/>
                  </a:lnTo>
                  <a:lnTo>
                    <a:pt x="35" y="56"/>
                  </a:lnTo>
                  <a:lnTo>
                    <a:pt x="41" y="57"/>
                  </a:lnTo>
                  <a:lnTo>
                    <a:pt x="47" y="58"/>
                  </a:lnTo>
                  <a:lnTo>
                    <a:pt x="52" y="58"/>
                  </a:lnTo>
                  <a:lnTo>
                    <a:pt x="60" y="59"/>
                  </a:lnTo>
                  <a:lnTo>
                    <a:pt x="64" y="59"/>
                  </a:lnTo>
                  <a:lnTo>
                    <a:pt x="58" y="59"/>
                  </a:lnTo>
                  <a:lnTo>
                    <a:pt x="52" y="59"/>
                  </a:lnTo>
                  <a:lnTo>
                    <a:pt x="47" y="60"/>
                  </a:lnTo>
                  <a:lnTo>
                    <a:pt x="41" y="60"/>
                  </a:lnTo>
                  <a:lnTo>
                    <a:pt x="30" y="63"/>
                  </a:lnTo>
                  <a:lnTo>
                    <a:pt x="20" y="66"/>
                  </a:lnTo>
                  <a:lnTo>
                    <a:pt x="13" y="71"/>
                  </a:lnTo>
                  <a:lnTo>
                    <a:pt x="9" y="73"/>
                  </a:lnTo>
                  <a:lnTo>
                    <a:pt x="7" y="76"/>
                  </a:lnTo>
                  <a:lnTo>
                    <a:pt x="3" y="78"/>
                  </a:lnTo>
                  <a:lnTo>
                    <a:pt x="1" y="81"/>
                  </a:lnTo>
                  <a:lnTo>
                    <a:pt x="1" y="84"/>
                  </a:lnTo>
                  <a:lnTo>
                    <a:pt x="0" y="87"/>
                  </a:lnTo>
                  <a:lnTo>
                    <a:pt x="1" y="90"/>
                  </a:lnTo>
                  <a:lnTo>
                    <a:pt x="1" y="92"/>
                  </a:lnTo>
                  <a:lnTo>
                    <a:pt x="3" y="95"/>
                  </a:lnTo>
                  <a:lnTo>
                    <a:pt x="5" y="98"/>
                  </a:lnTo>
                  <a:lnTo>
                    <a:pt x="7" y="101"/>
                  </a:lnTo>
                  <a:lnTo>
                    <a:pt x="9" y="104"/>
                  </a:lnTo>
                  <a:lnTo>
                    <a:pt x="13" y="106"/>
                  </a:lnTo>
                  <a:lnTo>
                    <a:pt x="17" y="108"/>
                  </a:lnTo>
                  <a:lnTo>
                    <a:pt x="26" y="112"/>
                  </a:lnTo>
                  <a:lnTo>
                    <a:pt x="35" y="115"/>
                  </a:lnTo>
                  <a:lnTo>
                    <a:pt x="41" y="116"/>
                  </a:lnTo>
                  <a:lnTo>
                    <a:pt x="47" y="116"/>
                  </a:lnTo>
                  <a:lnTo>
                    <a:pt x="52" y="117"/>
                  </a:lnTo>
                  <a:lnTo>
                    <a:pt x="60" y="117"/>
                  </a:lnTo>
                  <a:lnTo>
                    <a:pt x="64" y="117"/>
                  </a:lnTo>
                  <a:lnTo>
                    <a:pt x="58" y="117"/>
                  </a:lnTo>
                  <a:lnTo>
                    <a:pt x="52" y="118"/>
                  </a:lnTo>
                  <a:lnTo>
                    <a:pt x="47" y="118"/>
                  </a:lnTo>
                  <a:lnTo>
                    <a:pt x="41" y="119"/>
                  </a:lnTo>
                  <a:lnTo>
                    <a:pt x="30" y="121"/>
                  </a:lnTo>
                  <a:lnTo>
                    <a:pt x="20" y="125"/>
                  </a:lnTo>
                  <a:lnTo>
                    <a:pt x="13" y="130"/>
                  </a:lnTo>
                  <a:lnTo>
                    <a:pt x="9" y="132"/>
                  </a:lnTo>
                  <a:lnTo>
                    <a:pt x="7" y="134"/>
                  </a:lnTo>
                  <a:lnTo>
                    <a:pt x="3" y="137"/>
                  </a:lnTo>
                  <a:lnTo>
                    <a:pt x="1" y="140"/>
                  </a:lnTo>
                  <a:lnTo>
                    <a:pt x="1" y="142"/>
                  </a:lnTo>
                  <a:lnTo>
                    <a:pt x="0" y="145"/>
                  </a:lnTo>
                  <a:lnTo>
                    <a:pt x="1" y="148"/>
                  </a:lnTo>
                  <a:lnTo>
                    <a:pt x="1" y="151"/>
                  </a:lnTo>
                  <a:lnTo>
                    <a:pt x="3" y="154"/>
                  </a:lnTo>
                  <a:lnTo>
                    <a:pt x="5" y="156"/>
                  </a:lnTo>
                  <a:lnTo>
                    <a:pt x="7" y="160"/>
                  </a:lnTo>
                  <a:lnTo>
                    <a:pt x="9" y="162"/>
                  </a:lnTo>
                  <a:lnTo>
                    <a:pt x="13" y="165"/>
                  </a:lnTo>
                  <a:lnTo>
                    <a:pt x="17" y="167"/>
                  </a:lnTo>
                  <a:lnTo>
                    <a:pt x="26" y="170"/>
                  </a:lnTo>
                  <a:lnTo>
                    <a:pt x="35" y="173"/>
                  </a:lnTo>
                  <a:lnTo>
                    <a:pt x="41" y="174"/>
                  </a:lnTo>
                  <a:lnTo>
                    <a:pt x="47" y="175"/>
                  </a:lnTo>
                  <a:lnTo>
                    <a:pt x="52" y="175"/>
                  </a:lnTo>
                  <a:lnTo>
                    <a:pt x="60" y="176"/>
                  </a:lnTo>
                  <a:lnTo>
                    <a:pt x="64" y="176"/>
                  </a:lnTo>
                  <a:lnTo>
                    <a:pt x="58" y="176"/>
                  </a:lnTo>
                  <a:lnTo>
                    <a:pt x="52" y="176"/>
                  </a:lnTo>
                  <a:lnTo>
                    <a:pt x="47" y="177"/>
                  </a:lnTo>
                  <a:lnTo>
                    <a:pt x="41" y="178"/>
                  </a:lnTo>
                  <a:lnTo>
                    <a:pt x="30" y="180"/>
                  </a:lnTo>
                  <a:lnTo>
                    <a:pt x="20" y="183"/>
                  </a:lnTo>
                  <a:lnTo>
                    <a:pt x="13" y="188"/>
                  </a:lnTo>
                  <a:lnTo>
                    <a:pt x="9" y="191"/>
                  </a:lnTo>
                  <a:lnTo>
                    <a:pt x="7" y="193"/>
                  </a:lnTo>
                  <a:lnTo>
                    <a:pt x="3" y="196"/>
                  </a:lnTo>
                  <a:lnTo>
                    <a:pt x="1" y="198"/>
                  </a:lnTo>
                  <a:lnTo>
                    <a:pt x="1" y="201"/>
                  </a:lnTo>
                  <a:lnTo>
                    <a:pt x="0" y="204"/>
                  </a:lnTo>
                  <a:lnTo>
                    <a:pt x="1" y="207"/>
                  </a:lnTo>
                  <a:lnTo>
                    <a:pt x="1" y="210"/>
                  </a:lnTo>
                  <a:lnTo>
                    <a:pt x="3" y="212"/>
                  </a:lnTo>
                  <a:lnTo>
                    <a:pt x="5" y="216"/>
                  </a:lnTo>
                  <a:lnTo>
                    <a:pt x="7" y="218"/>
                  </a:lnTo>
                  <a:lnTo>
                    <a:pt x="9" y="221"/>
                  </a:lnTo>
                  <a:lnTo>
                    <a:pt x="13" y="223"/>
                  </a:lnTo>
                  <a:lnTo>
                    <a:pt x="17" y="225"/>
                  </a:lnTo>
                  <a:lnTo>
                    <a:pt x="26" y="229"/>
                  </a:lnTo>
                  <a:lnTo>
                    <a:pt x="35" y="232"/>
                  </a:lnTo>
                  <a:lnTo>
                    <a:pt x="41" y="233"/>
                  </a:lnTo>
                  <a:lnTo>
                    <a:pt x="47" y="233"/>
                  </a:lnTo>
                  <a:lnTo>
                    <a:pt x="52" y="234"/>
                  </a:lnTo>
                  <a:lnTo>
                    <a:pt x="60" y="234"/>
                  </a:lnTo>
                  <a:lnTo>
                    <a:pt x="64" y="2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4" name="Line 302"/>
            <p:cNvSpPr>
              <a:spLocks noChangeShapeType="1"/>
            </p:cNvSpPr>
            <p:nvPr/>
          </p:nvSpPr>
          <p:spPr bwMode="auto">
            <a:xfrm>
              <a:off x="4295" y="1393"/>
              <a:ext cx="1" cy="22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5" name="Line 303"/>
            <p:cNvSpPr>
              <a:spLocks noChangeShapeType="1"/>
            </p:cNvSpPr>
            <p:nvPr/>
          </p:nvSpPr>
          <p:spPr bwMode="auto">
            <a:xfrm flipV="1">
              <a:off x="4307" y="1393"/>
              <a:ext cx="1" cy="22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6" name="Freeform 304"/>
            <p:cNvSpPr>
              <a:spLocks/>
            </p:cNvSpPr>
            <p:nvPr/>
          </p:nvSpPr>
          <p:spPr bwMode="auto">
            <a:xfrm>
              <a:off x="4224" y="1582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1 w 60"/>
                <a:gd name="T3" fmla="*/ 12 h 33"/>
                <a:gd name="T4" fmla="*/ 1 w 60"/>
                <a:gd name="T5" fmla="*/ 9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9 h 33"/>
                <a:gd name="T30" fmla="*/ 1 w 60"/>
                <a:gd name="T31" fmla="*/ 12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3 h 33"/>
                <a:gd name="T40" fmla="*/ 1 w 60"/>
                <a:gd name="T41" fmla="*/ 26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6 h 33"/>
                <a:gd name="T62" fmla="*/ 1 w 60"/>
                <a:gd name="T63" fmla="*/ 23 h 33"/>
                <a:gd name="T64" fmla="*/ 1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2" y="12"/>
                  </a:lnTo>
                  <a:lnTo>
                    <a:pt x="3" y="9"/>
                  </a:lnTo>
                  <a:lnTo>
                    <a:pt x="5" y="7"/>
                  </a:lnTo>
                  <a:lnTo>
                    <a:pt x="9" y="4"/>
                  </a:lnTo>
                  <a:lnTo>
                    <a:pt x="15" y="2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7" y="0"/>
                  </a:lnTo>
                  <a:lnTo>
                    <a:pt x="43" y="1"/>
                  </a:lnTo>
                  <a:lnTo>
                    <a:pt x="47" y="2"/>
                  </a:lnTo>
                  <a:lnTo>
                    <a:pt x="53" y="4"/>
                  </a:lnTo>
                  <a:lnTo>
                    <a:pt x="56" y="7"/>
                  </a:lnTo>
                  <a:lnTo>
                    <a:pt x="58" y="9"/>
                  </a:lnTo>
                  <a:lnTo>
                    <a:pt x="60" y="12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3"/>
                  </a:lnTo>
                  <a:lnTo>
                    <a:pt x="56" y="26"/>
                  </a:lnTo>
                  <a:lnTo>
                    <a:pt x="53" y="28"/>
                  </a:lnTo>
                  <a:lnTo>
                    <a:pt x="47" y="30"/>
                  </a:lnTo>
                  <a:lnTo>
                    <a:pt x="43" y="31"/>
                  </a:lnTo>
                  <a:lnTo>
                    <a:pt x="37" y="32"/>
                  </a:lnTo>
                  <a:lnTo>
                    <a:pt x="30" y="33"/>
                  </a:lnTo>
                  <a:lnTo>
                    <a:pt x="24" y="32"/>
                  </a:lnTo>
                  <a:lnTo>
                    <a:pt x="19" y="31"/>
                  </a:lnTo>
                  <a:lnTo>
                    <a:pt x="15" y="30"/>
                  </a:lnTo>
                  <a:lnTo>
                    <a:pt x="9" y="28"/>
                  </a:lnTo>
                  <a:lnTo>
                    <a:pt x="5" y="26"/>
                  </a:lnTo>
                  <a:lnTo>
                    <a:pt x="3" y="23"/>
                  </a:lnTo>
                  <a:lnTo>
                    <a:pt x="2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" name="Freeform 305"/>
            <p:cNvSpPr>
              <a:spLocks/>
            </p:cNvSpPr>
            <p:nvPr/>
          </p:nvSpPr>
          <p:spPr bwMode="auto">
            <a:xfrm>
              <a:off x="4352" y="1394"/>
              <a:ext cx="30" cy="34"/>
            </a:xfrm>
            <a:custGeom>
              <a:avLst/>
              <a:gdLst>
                <a:gd name="T0" fmla="*/ 0 w 61"/>
                <a:gd name="T1" fmla="*/ 17 h 34"/>
                <a:gd name="T2" fmla="*/ 0 w 61"/>
                <a:gd name="T3" fmla="*/ 14 h 34"/>
                <a:gd name="T4" fmla="*/ 0 w 61"/>
                <a:gd name="T5" fmla="*/ 11 h 34"/>
                <a:gd name="T6" fmla="*/ 0 w 61"/>
                <a:gd name="T7" fmla="*/ 8 h 34"/>
                <a:gd name="T8" fmla="*/ 0 w 61"/>
                <a:gd name="T9" fmla="*/ 5 h 34"/>
                <a:gd name="T10" fmla="*/ 0 w 61"/>
                <a:gd name="T11" fmla="*/ 2 h 34"/>
                <a:gd name="T12" fmla="*/ 0 w 61"/>
                <a:gd name="T13" fmla="*/ 1 h 34"/>
                <a:gd name="T14" fmla="*/ 0 w 61"/>
                <a:gd name="T15" fmla="*/ 0 h 34"/>
                <a:gd name="T16" fmla="*/ 0 w 61"/>
                <a:gd name="T17" fmla="*/ 0 h 34"/>
                <a:gd name="T18" fmla="*/ 0 w 61"/>
                <a:gd name="T19" fmla="*/ 0 h 34"/>
                <a:gd name="T20" fmla="*/ 0 w 61"/>
                <a:gd name="T21" fmla="*/ 1 h 34"/>
                <a:gd name="T22" fmla="*/ 0 w 61"/>
                <a:gd name="T23" fmla="*/ 2 h 34"/>
                <a:gd name="T24" fmla="*/ 0 w 61"/>
                <a:gd name="T25" fmla="*/ 5 h 34"/>
                <a:gd name="T26" fmla="*/ 0 w 61"/>
                <a:gd name="T27" fmla="*/ 8 h 34"/>
                <a:gd name="T28" fmla="*/ 0 w 61"/>
                <a:gd name="T29" fmla="*/ 11 h 34"/>
                <a:gd name="T30" fmla="*/ 0 w 61"/>
                <a:gd name="T31" fmla="*/ 14 h 34"/>
                <a:gd name="T32" fmla="*/ 0 w 61"/>
                <a:gd name="T33" fmla="*/ 17 h 34"/>
                <a:gd name="T34" fmla="*/ 0 w 61"/>
                <a:gd name="T35" fmla="*/ 17 h 34"/>
                <a:gd name="T36" fmla="*/ 0 w 61"/>
                <a:gd name="T37" fmla="*/ 20 h 34"/>
                <a:gd name="T38" fmla="*/ 0 w 61"/>
                <a:gd name="T39" fmla="*/ 23 h 34"/>
                <a:gd name="T40" fmla="*/ 0 w 61"/>
                <a:gd name="T41" fmla="*/ 26 h 34"/>
                <a:gd name="T42" fmla="*/ 0 w 61"/>
                <a:gd name="T43" fmla="*/ 28 h 34"/>
                <a:gd name="T44" fmla="*/ 0 w 61"/>
                <a:gd name="T45" fmla="*/ 30 h 34"/>
                <a:gd name="T46" fmla="*/ 0 w 61"/>
                <a:gd name="T47" fmla="*/ 31 h 34"/>
                <a:gd name="T48" fmla="*/ 0 w 61"/>
                <a:gd name="T49" fmla="*/ 32 h 34"/>
                <a:gd name="T50" fmla="*/ 0 w 61"/>
                <a:gd name="T51" fmla="*/ 34 h 34"/>
                <a:gd name="T52" fmla="*/ 0 w 61"/>
                <a:gd name="T53" fmla="*/ 32 h 34"/>
                <a:gd name="T54" fmla="*/ 0 w 61"/>
                <a:gd name="T55" fmla="*/ 31 h 34"/>
                <a:gd name="T56" fmla="*/ 0 w 61"/>
                <a:gd name="T57" fmla="*/ 30 h 34"/>
                <a:gd name="T58" fmla="*/ 0 w 61"/>
                <a:gd name="T59" fmla="*/ 28 h 34"/>
                <a:gd name="T60" fmla="*/ 0 w 61"/>
                <a:gd name="T61" fmla="*/ 26 h 34"/>
                <a:gd name="T62" fmla="*/ 0 w 61"/>
                <a:gd name="T63" fmla="*/ 23 h 34"/>
                <a:gd name="T64" fmla="*/ 0 w 61"/>
                <a:gd name="T65" fmla="*/ 20 h 34"/>
                <a:gd name="T66" fmla="*/ 0 w 61"/>
                <a:gd name="T67" fmla="*/ 17 h 3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1"/>
                <a:gd name="T103" fmla="*/ 0 h 34"/>
                <a:gd name="T104" fmla="*/ 61 w 61"/>
                <a:gd name="T105" fmla="*/ 34 h 3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1" h="34">
                  <a:moveTo>
                    <a:pt x="0" y="17"/>
                  </a:moveTo>
                  <a:lnTo>
                    <a:pt x="0" y="14"/>
                  </a:lnTo>
                  <a:lnTo>
                    <a:pt x="2" y="11"/>
                  </a:lnTo>
                  <a:lnTo>
                    <a:pt x="6" y="8"/>
                  </a:lnTo>
                  <a:lnTo>
                    <a:pt x="10" y="5"/>
                  </a:lnTo>
                  <a:lnTo>
                    <a:pt x="13" y="2"/>
                  </a:lnTo>
                  <a:lnTo>
                    <a:pt x="19" y="1"/>
                  </a:lnTo>
                  <a:lnTo>
                    <a:pt x="25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2" y="1"/>
                  </a:lnTo>
                  <a:lnTo>
                    <a:pt x="47" y="2"/>
                  </a:lnTo>
                  <a:lnTo>
                    <a:pt x="51" y="5"/>
                  </a:lnTo>
                  <a:lnTo>
                    <a:pt x="55" y="8"/>
                  </a:lnTo>
                  <a:lnTo>
                    <a:pt x="59" y="11"/>
                  </a:lnTo>
                  <a:lnTo>
                    <a:pt x="61" y="14"/>
                  </a:lnTo>
                  <a:lnTo>
                    <a:pt x="61" y="17"/>
                  </a:lnTo>
                  <a:lnTo>
                    <a:pt x="61" y="20"/>
                  </a:lnTo>
                  <a:lnTo>
                    <a:pt x="59" y="23"/>
                  </a:lnTo>
                  <a:lnTo>
                    <a:pt x="55" y="26"/>
                  </a:lnTo>
                  <a:lnTo>
                    <a:pt x="51" y="28"/>
                  </a:lnTo>
                  <a:lnTo>
                    <a:pt x="47" y="30"/>
                  </a:lnTo>
                  <a:lnTo>
                    <a:pt x="42" y="31"/>
                  </a:lnTo>
                  <a:lnTo>
                    <a:pt x="36" y="32"/>
                  </a:lnTo>
                  <a:lnTo>
                    <a:pt x="30" y="34"/>
                  </a:lnTo>
                  <a:lnTo>
                    <a:pt x="25" y="32"/>
                  </a:lnTo>
                  <a:lnTo>
                    <a:pt x="19" y="31"/>
                  </a:lnTo>
                  <a:lnTo>
                    <a:pt x="13" y="30"/>
                  </a:lnTo>
                  <a:lnTo>
                    <a:pt x="10" y="28"/>
                  </a:lnTo>
                  <a:lnTo>
                    <a:pt x="6" y="26"/>
                  </a:lnTo>
                  <a:lnTo>
                    <a:pt x="2" y="23"/>
                  </a:lnTo>
                  <a:lnTo>
                    <a:pt x="0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" name="Freeform 306"/>
            <p:cNvSpPr>
              <a:spLocks/>
            </p:cNvSpPr>
            <p:nvPr/>
          </p:nvSpPr>
          <p:spPr bwMode="auto">
            <a:xfrm>
              <a:off x="3606" y="1153"/>
              <a:ext cx="637" cy="691"/>
            </a:xfrm>
            <a:custGeom>
              <a:avLst/>
              <a:gdLst>
                <a:gd name="T0" fmla="*/ 47 w 1073"/>
                <a:gd name="T1" fmla="*/ 0 h 691"/>
                <a:gd name="T2" fmla="*/ 0 w 1073"/>
                <a:gd name="T3" fmla="*/ 0 h 691"/>
                <a:gd name="T4" fmla="*/ 0 w 1073"/>
                <a:gd name="T5" fmla="*/ 691 h 691"/>
                <a:gd name="T6" fmla="*/ 0 60000 65536"/>
                <a:gd name="T7" fmla="*/ 0 60000 65536"/>
                <a:gd name="T8" fmla="*/ 0 60000 65536"/>
                <a:gd name="T9" fmla="*/ 0 w 1073"/>
                <a:gd name="T10" fmla="*/ 0 h 691"/>
                <a:gd name="T11" fmla="*/ 1073 w 1073"/>
                <a:gd name="T12" fmla="*/ 691 h 6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73" h="691">
                  <a:moveTo>
                    <a:pt x="1073" y="0"/>
                  </a:moveTo>
                  <a:lnTo>
                    <a:pt x="0" y="0"/>
                  </a:lnTo>
                  <a:lnTo>
                    <a:pt x="0" y="69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" name="Line 307"/>
            <p:cNvSpPr>
              <a:spLocks noChangeShapeType="1"/>
            </p:cNvSpPr>
            <p:nvPr/>
          </p:nvSpPr>
          <p:spPr bwMode="auto">
            <a:xfrm flipH="1">
              <a:off x="3615" y="1715"/>
              <a:ext cx="14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" name="Line 308"/>
            <p:cNvSpPr>
              <a:spLocks noChangeShapeType="1"/>
            </p:cNvSpPr>
            <p:nvPr/>
          </p:nvSpPr>
          <p:spPr bwMode="auto">
            <a:xfrm flipH="1">
              <a:off x="3983" y="1621"/>
              <a:ext cx="25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" name="Line 309"/>
            <p:cNvSpPr>
              <a:spLocks noChangeShapeType="1"/>
            </p:cNvSpPr>
            <p:nvPr/>
          </p:nvSpPr>
          <p:spPr bwMode="auto">
            <a:xfrm flipV="1">
              <a:off x="3983" y="1621"/>
              <a:ext cx="1" cy="22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" name="Line 310"/>
            <p:cNvSpPr>
              <a:spLocks noChangeShapeType="1"/>
            </p:cNvSpPr>
            <p:nvPr/>
          </p:nvSpPr>
          <p:spPr bwMode="auto">
            <a:xfrm flipH="1">
              <a:off x="3983" y="1715"/>
              <a:ext cx="17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" name="Freeform 311"/>
            <p:cNvSpPr>
              <a:spLocks/>
            </p:cNvSpPr>
            <p:nvPr/>
          </p:nvSpPr>
          <p:spPr bwMode="auto">
            <a:xfrm>
              <a:off x="3600" y="1694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3 h 33"/>
                <a:gd name="T4" fmla="*/ 1 w 60"/>
                <a:gd name="T5" fmla="*/ 10 h 33"/>
                <a:gd name="T6" fmla="*/ 1 w 60"/>
                <a:gd name="T7" fmla="*/ 7 h 33"/>
                <a:gd name="T8" fmla="*/ 1 w 60"/>
                <a:gd name="T9" fmla="*/ 5 h 33"/>
                <a:gd name="T10" fmla="*/ 1 w 60"/>
                <a:gd name="T11" fmla="*/ 3 h 33"/>
                <a:gd name="T12" fmla="*/ 1 w 60"/>
                <a:gd name="T13" fmla="*/ 1 h 33"/>
                <a:gd name="T14" fmla="*/ 1 w 60"/>
                <a:gd name="T15" fmla="*/ 1 h 33"/>
                <a:gd name="T16" fmla="*/ 1 w 60"/>
                <a:gd name="T17" fmla="*/ 0 h 33"/>
                <a:gd name="T18" fmla="*/ 1 w 60"/>
                <a:gd name="T19" fmla="*/ 1 h 33"/>
                <a:gd name="T20" fmla="*/ 1 w 60"/>
                <a:gd name="T21" fmla="*/ 1 h 33"/>
                <a:gd name="T22" fmla="*/ 1 w 60"/>
                <a:gd name="T23" fmla="*/ 3 h 33"/>
                <a:gd name="T24" fmla="*/ 1 w 60"/>
                <a:gd name="T25" fmla="*/ 5 h 33"/>
                <a:gd name="T26" fmla="*/ 1 w 60"/>
                <a:gd name="T27" fmla="*/ 7 h 33"/>
                <a:gd name="T28" fmla="*/ 1 w 60"/>
                <a:gd name="T29" fmla="*/ 10 h 33"/>
                <a:gd name="T30" fmla="*/ 1 w 60"/>
                <a:gd name="T31" fmla="*/ 13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2 h 33"/>
                <a:gd name="T40" fmla="*/ 1 w 60"/>
                <a:gd name="T41" fmla="*/ 26 h 33"/>
                <a:gd name="T42" fmla="*/ 1 w 60"/>
                <a:gd name="T43" fmla="*/ 29 h 33"/>
                <a:gd name="T44" fmla="*/ 1 w 60"/>
                <a:gd name="T45" fmla="*/ 30 h 33"/>
                <a:gd name="T46" fmla="*/ 1 w 60"/>
                <a:gd name="T47" fmla="*/ 32 h 33"/>
                <a:gd name="T48" fmla="*/ 1 w 60"/>
                <a:gd name="T49" fmla="*/ 33 h 33"/>
                <a:gd name="T50" fmla="*/ 1 w 60"/>
                <a:gd name="T51" fmla="*/ 33 h 33"/>
                <a:gd name="T52" fmla="*/ 1 w 60"/>
                <a:gd name="T53" fmla="*/ 33 h 33"/>
                <a:gd name="T54" fmla="*/ 1 w 60"/>
                <a:gd name="T55" fmla="*/ 32 h 33"/>
                <a:gd name="T56" fmla="*/ 1 w 60"/>
                <a:gd name="T57" fmla="*/ 30 h 33"/>
                <a:gd name="T58" fmla="*/ 1 w 60"/>
                <a:gd name="T59" fmla="*/ 29 h 33"/>
                <a:gd name="T60" fmla="*/ 1 w 60"/>
                <a:gd name="T61" fmla="*/ 26 h 33"/>
                <a:gd name="T62" fmla="*/ 1 w 60"/>
                <a:gd name="T63" fmla="*/ 22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3"/>
                  </a:lnTo>
                  <a:lnTo>
                    <a:pt x="2" y="10"/>
                  </a:lnTo>
                  <a:lnTo>
                    <a:pt x="6" y="7"/>
                  </a:lnTo>
                  <a:lnTo>
                    <a:pt x="9" y="5"/>
                  </a:lnTo>
                  <a:lnTo>
                    <a:pt x="13" y="3"/>
                  </a:lnTo>
                  <a:lnTo>
                    <a:pt x="19" y="1"/>
                  </a:lnTo>
                  <a:lnTo>
                    <a:pt x="25" y="1"/>
                  </a:lnTo>
                  <a:lnTo>
                    <a:pt x="30" y="0"/>
                  </a:lnTo>
                  <a:lnTo>
                    <a:pt x="36" y="1"/>
                  </a:lnTo>
                  <a:lnTo>
                    <a:pt x="42" y="1"/>
                  </a:lnTo>
                  <a:lnTo>
                    <a:pt x="47" y="3"/>
                  </a:lnTo>
                  <a:lnTo>
                    <a:pt x="51" y="5"/>
                  </a:lnTo>
                  <a:lnTo>
                    <a:pt x="55" y="7"/>
                  </a:lnTo>
                  <a:lnTo>
                    <a:pt x="58" y="10"/>
                  </a:lnTo>
                  <a:lnTo>
                    <a:pt x="60" y="13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2"/>
                  </a:lnTo>
                  <a:lnTo>
                    <a:pt x="55" y="26"/>
                  </a:lnTo>
                  <a:lnTo>
                    <a:pt x="51" y="29"/>
                  </a:lnTo>
                  <a:lnTo>
                    <a:pt x="47" y="30"/>
                  </a:lnTo>
                  <a:lnTo>
                    <a:pt x="42" y="32"/>
                  </a:lnTo>
                  <a:lnTo>
                    <a:pt x="36" y="33"/>
                  </a:lnTo>
                  <a:lnTo>
                    <a:pt x="30" y="33"/>
                  </a:lnTo>
                  <a:lnTo>
                    <a:pt x="25" y="33"/>
                  </a:lnTo>
                  <a:lnTo>
                    <a:pt x="19" y="32"/>
                  </a:lnTo>
                  <a:lnTo>
                    <a:pt x="13" y="30"/>
                  </a:lnTo>
                  <a:lnTo>
                    <a:pt x="9" y="29"/>
                  </a:lnTo>
                  <a:lnTo>
                    <a:pt x="6" y="26"/>
                  </a:lnTo>
                  <a:lnTo>
                    <a:pt x="2" y="22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" name="Freeform 312"/>
            <p:cNvSpPr>
              <a:spLocks/>
            </p:cNvSpPr>
            <p:nvPr/>
          </p:nvSpPr>
          <p:spPr bwMode="auto">
            <a:xfrm>
              <a:off x="3968" y="1699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3 h 33"/>
                <a:gd name="T4" fmla="*/ 1 w 60"/>
                <a:gd name="T5" fmla="*/ 10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10 h 33"/>
                <a:gd name="T30" fmla="*/ 1 w 60"/>
                <a:gd name="T31" fmla="*/ 13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3 h 33"/>
                <a:gd name="T40" fmla="*/ 1 w 60"/>
                <a:gd name="T41" fmla="*/ 26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6 h 33"/>
                <a:gd name="T62" fmla="*/ 1 w 60"/>
                <a:gd name="T63" fmla="*/ 23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3"/>
                  </a:lnTo>
                  <a:lnTo>
                    <a:pt x="1" y="10"/>
                  </a:lnTo>
                  <a:lnTo>
                    <a:pt x="5" y="7"/>
                  </a:lnTo>
                  <a:lnTo>
                    <a:pt x="9" y="4"/>
                  </a:lnTo>
                  <a:lnTo>
                    <a:pt x="13" y="2"/>
                  </a:lnTo>
                  <a:lnTo>
                    <a:pt x="18" y="1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5" y="0"/>
                  </a:lnTo>
                  <a:lnTo>
                    <a:pt x="41" y="1"/>
                  </a:lnTo>
                  <a:lnTo>
                    <a:pt x="47" y="2"/>
                  </a:lnTo>
                  <a:lnTo>
                    <a:pt x="50" y="4"/>
                  </a:lnTo>
                  <a:lnTo>
                    <a:pt x="54" y="7"/>
                  </a:lnTo>
                  <a:lnTo>
                    <a:pt x="58" y="10"/>
                  </a:lnTo>
                  <a:lnTo>
                    <a:pt x="60" y="13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3"/>
                  </a:lnTo>
                  <a:lnTo>
                    <a:pt x="54" y="26"/>
                  </a:lnTo>
                  <a:lnTo>
                    <a:pt x="50" y="28"/>
                  </a:lnTo>
                  <a:lnTo>
                    <a:pt x="47" y="30"/>
                  </a:lnTo>
                  <a:lnTo>
                    <a:pt x="41" y="31"/>
                  </a:lnTo>
                  <a:lnTo>
                    <a:pt x="35" y="32"/>
                  </a:lnTo>
                  <a:lnTo>
                    <a:pt x="30" y="33"/>
                  </a:lnTo>
                  <a:lnTo>
                    <a:pt x="24" y="32"/>
                  </a:lnTo>
                  <a:lnTo>
                    <a:pt x="18" y="31"/>
                  </a:lnTo>
                  <a:lnTo>
                    <a:pt x="13" y="30"/>
                  </a:lnTo>
                  <a:lnTo>
                    <a:pt x="9" y="28"/>
                  </a:lnTo>
                  <a:lnTo>
                    <a:pt x="5" y="26"/>
                  </a:lnTo>
                  <a:lnTo>
                    <a:pt x="1" y="23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" name="Freeform 313"/>
            <p:cNvSpPr>
              <a:spLocks/>
            </p:cNvSpPr>
            <p:nvPr/>
          </p:nvSpPr>
          <p:spPr bwMode="auto">
            <a:xfrm>
              <a:off x="3600" y="2074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2 h 33"/>
                <a:gd name="T4" fmla="*/ 1 w 60"/>
                <a:gd name="T5" fmla="*/ 9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9 h 33"/>
                <a:gd name="T30" fmla="*/ 1 w 60"/>
                <a:gd name="T31" fmla="*/ 12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2 h 33"/>
                <a:gd name="T40" fmla="*/ 1 w 60"/>
                <a:gd name="T41" fmla="*/ 26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6 h 33"/>
                <a:gd name="T62" fmla="*/ 1 w 60"/>
                <a:gd name="T63" fmla="*/ 22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2"/>
                  </a:lnTo>
                  <a:lnTo>
                    <a:pt x="2" y="9"/>
                  </a:lnTo>
                  <a:lnTo>
                    <a:pt x="6" y="7"/>
                  </a:lnTo>
                  <a:lnTo>
                    <a:pt x="9" y="4"/>
                  </a:lnTo>
                  <a:lnTo>
                    <a:pt x="13" y="2"/>
                  </a:lnTo>
                  <a:lnTo>
                    <a:pt x="19" y="1"/>
                  </a:lnTo>
                  <a:lnTo>
                    <a:pt x="25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2" y="1"/>
                  </a:lnTo>
                  <a:lnTo>
                    <a:pt x="47" y="2"/>
                  </a:lnTo>
                  <a:lnTo>
                    <a:pt x="51" y="4"/>
                  </a:lnTo>
                  <a:lnTo>
                    <a:pt x="55" y="7"/>
                  </a:lnTo>
                  <a:lnTo>
                    <a:pt x="58" y="9"/>
                  </a:lnTo>
                  <a:lnTo>
                    <a:pt x="60" y="12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2"/>
                  </a:lnTo>
                  <a:lnTo>
                    <a:pt x="55" y="26"/>
                  </a:lnTo>
                  <a:lnTo>
                    <a:pt x="51" y="28"/>
                  </a:lnTo>
                  <a:lnTo>
                    <a:pt x="47" y="30"/>
                  </a:lnTo>
                  <a:lnTo>
                    <a:pt x="42" y="31"/>
                  </a:lnTo>
                  <a:lnTo>
                    <a:pt x="36" y="32"/>
                  </a:lnTo>
                  <a:lnTo>
                    <a:pt x="30" y="33"/>
                  </a:lnTo>
                  <a:lnTo>
                    <a:pt x="25" y="32"/>
                  </a:lnTo>
                  <a:lnTo>
                    <a:pt x="19" y="31"/>
                  </a:lnTo>
                  <a:lnTo>
                    <a:pt x="13" y="30"/>
                  </a:lnTo>
                  <a:lnTo>
                    <a:pt x="9" y="28"/>
                  </a:lnTo>
                  <a:lnTo>
                    <a:pt x="6" y="26"/>
                  </a:lnTo>
                  <a:lnTo>
                    <a:pt x="2" y="22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" name="Freeform 314"/>
            <p:cNvSpPr>
              <a:spLocks/>
            </p:cNvSpPr>
            <p:nvPr/>
          </p:nvSpPr>
          <p:spPr bwMode="auto">
            <a:xfrm>
              <a:off x="3749" y="2069"/>
              <a:ext cx="30" cy="34"/>
            </a:xfrm>
            <a:custGeom>
              <a:avLst/>
              <a:gdLst>
                <a:gd name="T0" fmla="*/ 0 w 60"/>
                <a:gd name="T1" fmla="*/ 17 h 34"/>
                <a:gd name="T2" fmla="*/ 1 w 60"/>
                <a:gd name="T3" fmla="*/ 14 h 34"/>
                <a:gd name="T4" fmla="*/ 1 w 60"/>
                <a:gd name="T5" fmla="*/ 11 h 34"/>
                <a:gd name="T6" fmla="*/ 1 w 60"/>
                <a:gd name="T7" fmla="*/ 8 h 34"/>
                <a:gd name="T8" fmla="*/ 1 w 60"/>
                <a:gd name="T9" fmla="*/ 6 h 34"/>
                <a:gd name="T10" fmla="*/ 1 w 60"/>
                <a:gd name="T11" fmla="*/ 4 h 34"/>
                <a:gd name="T12" fmla="*/ 1 w 60"/>
                <a:gd name="T13" fmla="*/ 2 h 34"/>
                <a:gd name="T14" fmla="*/ 1 w 60"/>
                <a:gd name="T15" fmla="*/ 0 h 34"/>
                <a:gd name="T16" fmla="*/ 1 w 60"/>
                <a:gd name="T17" fmla="*/ 0 h 34"/>
                <a:gd name="T18" fmla="*/ 1 w 60"/>
                <a:gd name="T19" fmla="*/ 0 h 34"/>
                <a:gd name="T20" fmla="*/ 1 w 60"/>
                <a:gd name="T21" fmla="*/ 2 h 34"/>
                <a:gd name="T22" fmla="*/ 1 w 60"/>
                <a:gd name="T23" fmla="*/ 4 h 34"/>
                <a:gd name="T24" fmla="*/ 1 w 60"/>
                <a:gd name="T25" fmla="*/ 6 h 34"/>
                <a:gd name="T26" fmla="*/ 1 w 60"/>
                <a:gd name="T27" fmla="*/ 8 h 34"/>
                <a:gd name="T28" fmla="*/ 1 w 60"/>
                <a:gd name="T29" fmla="*/ 11 h 34"/>
                <a:gd name="T30" fmla="*/ 1 w 60"/>
                <a:gd name="T31" fmla="*/ 14 h 34"/>
                <a:gd name="T32" fmla="*/ 1 w 60"/>
                <a:gd name="T33" fmla="*/ 17 h 34"/>
                <a:gd name="T34" fmla="*/ 1 w 60"/>
                <a:gd name="T35" fmla="*/ 17 h 34"/>
                <a:gd name="T36" fmla="*/ 1 w 60"/>
                <a:gd name="T37" fmla="*/ 20 h 34"/>
                <a:gd name="T38" fmla="*/ 1 w 60"/>
                <a:gd name="T39" fmla="*/ 23 h 34"/>
                <a:gd name="T40" fmla="*/ 1 w 60"/>
                <a:gd name="T41" fmla="*/ 26 h 34"/>
                <a:gd name="T42" fmla="*/ 1 w 60"/>
                <a:gd name="T43" fmla="*/ 28 h 34"/>
                <a:gd name="T44" fmla="*/ 1 w 60"/>
                <a:gd name="T45" fmla="*/ 31 h 34"/>
                <a:gd name="T46" fmla="*/ 1 w 60"/>
                <a:gd name="T47" fmla="*/ 33 h 34"/>
                <a:gd name="T48" fmla="*/ 1 w 60"/>
                <a:gd name="T49" fmla="*/ 34 h 34"/>
                <a:gd name="T50" fmla="*/ 1 w 60"/>
                <a:gd name="T51" fmla="*/ 34 h 34"/>
                <a:gd name="T52" fmla="*/ 1 w 60"/>
                <a:gd name="T53" fmla="*/ 34 h 34"/>
                <a:gd name="T54" fmla="*/ 1 w 60"/>
                <a:gd name="T55" fmla="*/ 33 h 34"/>
                <a:gd name="T56" fmla="*/ 1 w 60"/>
                <a:gd name="T57" fmla="*/ 31 h 34"/>
                <a:gd name="T58" fmla="*/ 1 w 60"/>
                <a:gd name="T59" fmla="*/ 28 h 34"/>
                <a:gd name="T60" fmla="*/ 1 w 60"/>
                <a:gd name="T61" fmla="*/ 26 h 34"/>
                <a:gd name="T62" fmla="*/ 1 w 60"/>
                <a:gd name="T63" fmla="*/ 23 h 34"/>
                <a:gd name="T64" fmla="*/ 1 w 60"/>
                <a:gd name="T65" fmla="*/ 20 h 34"/>
                <a:gd name="T66" fmla="*/ 0 w 60"/>
                <a:gd name="T67" fmla="*/ 17 h 3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4"/>
                <a:gd name="T104" fmla="*/ 60 w 60"/>
                <a:gd name="T105" fmla="*/ 34 h 3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4">
                  <a:moveTo>
                    <a:pt x="0" y="17"/>
                  </a:moveTo>
                  <a:lnTo>
                    <a:pt x="2" y="14"/>
                  </a:lnTo>
                  <a:lnTo>
                    <a:pt x="4" y="11"/>
                  </a:lnTo>
                  <a:lnTo>
                    <a:pt x="6" y="8"/>
                  </a:lnTo>
                  <a:lnTo>
                    <a:pt x="9" y="6"/>
                  </a:lnTo>
                  <a:lnTo>
                    <a:pt x="13" y="4"/>
                  </a:lnTo>
                  <a:lnTo>
                    <a:pt x="19" y="2"/>
                  </a:lnTo>
                  <a:lnTo>
                    <a:pt x="25" y="0"/>
                  </a:lnTo>
                  <a:lnTo>
                    <a:pt x="30" y="0"/>
                  </a:lnTo>
                  <a:lnTo>
                    <a:pt x="38" y="0"/>
                  </a:lnTo>
                  <a:lnTo>
                    <a:pt x="43" y="2"/>
                  </a:lnTo>
                  <a:lnTo>
                    <a:pt x="47" y="4"/>
                  </a:lnTo>
                  <a:lnTo>
                    <a:pt x="53" y="6"/>
                  </a:lnTo>
                  <a:lnTo>
                    <a:pt x="57" y="8"/>
                  </a:lnTo>
                  <a:lnTo>
                    <a:pt x="59" y="11"/>
                  </a:lnTo>
                  <a:lnTo>
                    <a:pt x="60" y="14"/>
                  </a:lnTo>
                  <a:lnTo>
                    <a:pt x="60" y="17"/>
                  </a:lnTo>
                  <a:lnTo>
                    <a:pt x="60" y="20"/>
                  </a:lnTo>
                  <a:lnTo>
                    <a:pt x="59" y="23"/>
                  </a:lnTo>
                  <a:lnTo>
                    <a:pt x="57" y="26"/>
                  </a:lnTo>
                  <a:lnTo>
                    <a:pt x="53" y="28"/>
                  </a:lnTo>
                  <a:lnTo>
                    <a:pt x="47" y="31"/>
                  </a:lnTo>
                  <a:lnTo>
                    <a:pt x="43" y="33"/>
                  </a:lnTo>
                  <a:lnTo>
                    <a:pt x="38" y="34"/>
                  </a:lnTo>
                  <a:lnTo>
                    <a:pt x="30" y="34"/>
                  </a:lnTo>
                  <a:lnTo>
                    <a:pt x="25" y="34"/>
                  </a:lnTo>
                  <a:lnTo>
                    <a:pt x="19" y="33"/>
                  </a:lnTo>
                  <a:lnTo>
                    <a:pt x="13" y="31"/>
                  </a:lnTo>
                  <a:lnTo>
                    <a:pt x="9" y="28"/>
                  </a:lnTo>
                  <a:lnTo>
                    <a:pt x="6" y="26"/>
                  </a:lnTo>
                  <a:lnTo>
                    <a:pt x="4" y="23"/>
                  </a:lnTo>
                  <a:lnTo>
                    <a:pt x="2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" name="Freeform 315"/>
            <p:cNvSpPr>
              <a:spLocks/>
            </p:cNvSpPr>
            <p:nvPr/>
          </p:nvSpPr>
          <p:spPr bwMode="auto">
            <a:xfrm>
              <a:off x="3968" y="2074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2 h 33"/>
                <a:gd name="T4" fmla="*/ 1 w 60"/>
                <a:gd name="T5" fmla="*/ 9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9 h 33"/>
                <a:gd name="T30" fmla="*/ 1 w 60"/>
                <a:gd name="T31" fmla="*/ 12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2 h 33"/>
                <a:gd name="T40" fmla="*/ 1 w 60"/>
                <a:gd name="T41" fmla="*/ 26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6 h 33"/>
                <a:gd name="T62" fmla="*/ 1 w 60"/>
                <a:gd name="T63" fmla="*/ 22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2"/>
                  </a:lnTo>
                  <a:lnTo>
                    <a:pt x="1" y="9"/>
                  </a:lnTo>
                  <a:lnTo>
                    <a:pt x="5" y="7"/>
                  </a:lnTo>
                  <a:lnTo>
                    <a:pt x="9" y="4"/>
                  </a:lnTo>
                  <a:lnTo>
                    <a:pt x="13" y="2"/>
                  </a:lnTo>
                  <a:lnTo>
                    <a:pt x="18" y="1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5" y="0"/>
                  </a:lnTo>
                  <a:lnTo>
                    <a:pt x="41" y="1"/>
                  </a:lnTo>
                  <a:lnTo>
                    <a:pt x="47" y="2"/>
                  </a:lnTo>
                  <a:lnTo>
                    <a:pt x="50" y="4"/>
                  </a:lnTo>
                  <a:lnTo>
                    <a:pt x="54" y="7"/>
                  </a:lnTo>
                  <a:lnTo>
                    <a:pt x="58" y="9"/>
                  </a:lnTo>
                  <a:lnTo>
                    <a:pt x="60" y="12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2"/>
                  </a:lnTo>
                  <a:lnTo>
                    <a:pt x="54" y="26"/>
                  </a:lnTo>
                  <a:lnTo>
                    <a:pt x="50" y="28"/>
                  </a:lnTo>
                  <a:lnTo>
                    <a:pt x="47" y="30"/>
                  </a:lnTo>
                  <a:lnTo>
                    <a:pt x="41" y="31"/>
                  </a:lnTo>
                  <a:lnTo>
                    <a:pt x="35" y="32"/>
                  </a:lnTo>
                  <a:lnTo>
                    <a:pt x="30" y="33"/>
                  </a:lnTo>
                  <a:lnTo>
                    <a:pt x="24" y="32"/>
                  </a:lnTo>
                  <a:lnTo>
                    <a:pt x="18" y="31"/>
                  </a:lnTo>
                  <a:lnTo>
                    <a:pt x="13" y="30"/>
                  </a:lnTo>
                  <a:lnTo>
                    <a:pt x="9" y="28"/>
                  </a:lnTo>
                  <a:lnTo>
                    <a:pt x="5" y="26"/>
                  </a:lnTo>
                  <a:lnTo>
                    <a:pt x="1" y="22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" name="Line 316"/>
            <p:cNvSpPr>
              <a:spLocks noChangeShapeType="1"/>
            </p:cNvSpPr>
            <p:nvPr/>
          </p:nvSpPr>
          <p:spPr bwMode="auto">
            <a:xfrm flipH="1" flipV="1">
              <a:off x="4364" y="1621"/>
              <a:ext cx="7" cy="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" name="Line 317"/>
            <p:cNvSpPr>
              <a:spLocks noChangeShapeType="1"/>
            </p:cNvSpPr>
            <p:nvPr/>
          </p:nvSpPr>
          <p:spPr bwMode="auto">
            <a:xfrm flipH="1" flipV="1">
              <a:off x="4706" y="1059"/>
              <a:ext cx="3" cy="6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" name="Line 318"/>
            <p:cNvSpPr>
              <a:spLocks noChangeShapeType="1"/>
            </p:cNvSpPr>
            <p:nvPr/>
          </p:nvSpPr>
          <p:spPr bwMode="auto">
            <a:xfrm>
              <a:off x="4706" y="1059"/>
              <a:ext cx="16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" name="Line 319"/>
            <p:cNvSpPr>
              <a:spLocks noChangeShapeType="1"/>
            </p:cNvSpPr>
            <p:nvPr/>
          </p:nvSpPr>
          <p:spPr bwMode="auto">
            <a:xfrm>
              <a:off x="5353" y="1286"/>
              <a:ext cx="1" cy="5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" name="Freeform 320"/>
            <p:cNvSpPr>
              <a:spLocks/>
            </p:cNvSpPr>
            <p:nvPr/>
          </p:nvSpPr>
          <p:spPr bwMode="auto">
            <a:xfrm>
              <a:off x="4364" y="1387"/>
              <a:ext cx="985" cy="1"/>
            </a:xfrm>
            <a:custGeom>
              <a:avLst/>
              <a:gdLst>
                <a:gd name="T0" fmla="*/ 0 w 1969"/>
                <a:gd name="T1" fmla="*/ 0 h 1"/>
                <a:gd name="T2" fmla="*/ 31 w 1969"/>
                <a:gd name="T3" fmla="*/ 0 h 1"/>
                <a:gd name="T4" fmla="*/ 31 w 1969"/>
                <a:gd name="T5" fmla="*/ 0 h 1"/>
                <a:gd name="T6" fmla="*/ 0 60000 65536"/>
                <a:gd name="T7" fmla="*/ 0 60000 65536"/>
                <a:gd name="T8" fmla="*/ 0 60000 65536"/>
                <a:gd name="T9" fmla="*/ 0 w 1969"/>
                <a:gd name="T10" fmla="*/ 0 h 1"/>
                <a:gd name="T11" fmla="*/ 1969 w 196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9" h="1">
                  <a:moveTo>
                    <a:pt x="0" y="0"/>
                  </a:moveTo>
                  <a:lnTo>
                    <a:pt x="1969" y="0"/>
                  </a:lnTo>
                  <a:lnTo>
                    <a:pt x="195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" name="Line 321"/>
            <p:cNvSpPr>
              <a:spLocks noChangeShapeType="1"/>
            </p:cNvSpPr>
            <p:nvPr/>
          </p:nvSpPr>
          <p:spPr bwMode="auto">
            <a:xfrm>
              <a:off x="5353" y="1341"/>
              <a:ext cx="1" cy="4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4" name="Line 322"/>
            <p:cNvSpPr>
              <a:spLocks noChangeShapeType="1"/>
            </p:cNvSpPr>
            <p:nvPr/>
          </p:nvSpPr>
          <p:spPr bwMode="auto">
            <a:xfrm>
              <a:off x="5182" y="1341"/>
              <a:ext cx="1" cy="4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5" name="Freeform 323"/>
            <p:cNvSpPr>
              <a:spLocks/>
            </p:cNvSpPr>
            <p:nvPr/>
          </p:nvSpPr>
          <p:spPr bwMode="auto">
            <a:xfrm>
              <a:off x="5167" y="1371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3 h 33"/>
                <a:gd name="T4" fmla="*/ 1 w 60"/>
                <a:gd name="T5" fmla="*/ 10 h 33"/>
                <a:gd name="T6" fmla="*/ 1 w 60"/>
                <a:gd name="T7" fmla="*/ 7 h 33"/>
                <a:gd name="T8" fmla="*/ 1 w 60"/>
                <a:gd name="T9" fmla="*/ 5 h 33"/>
                <a:gd name="T10" fmla="*/ 1 w 60"/>
                <a:gd name="T11" fmla="*/ 3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3 h 33"/>
                <a:gd name="T24" fmla="*/ 1 w 60"/>
                <a:gd name="T25" fmla="*/ 5 h 33"/>
                <a:gd name="T26" fmla="*/ 1 w 60"/>
                <a:gd name="T27" fmla="*/ 7 h 33"/>
                <a:gd name="T28" fmla="*/ 1 w 60"/>
                <a:gd name="T29" fmla="*/ 10 h 33"/>
                <a:gd name="T30" fmla="*/ 1 w 60"/>
                <a:gd name="T31" fmla="*/ 13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2 h 33"/>
                <a:gd name="T40" fmla="*/ 1 w 60"/>
                <a:gd name="T41" fmla="*/ 25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2 h 33"/>
                <a:gd name="T48" fmla="*/ 1 w 60"/>
                <a:gd name="T49" fmla="*/ 33 h 33"/>
                <a:gd name="T50" fmla="*/ 1 w 60"/>
                <a:gd name="T51" fmla="*/ 33 h 33"/>
                <a:gd name="T52" fmla="*/ 1 w 60"/>
                <a:gd name="T53" fmla="*/ 33 h 33"/>
                <a:gd name="T54" fmla="*/ 1 w 60"/>
                <a:gd name="T55" fmla="*/ 32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5 h 33"/>
                <a:gd name="T62" fmla="*/ 1 w 60"/>
                <a:gd name="T63" fmla="*/ 22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3"/>
                  </a:lnTo>
                  <a:lnTo>
                    <a:pt x="2" y="10"/>
                  </a:lnTo>
                  <a:lnTo>
                    <a:pt x="4" y="7"/>
                  </a:lnTo>
                  <a:lnTo>
                    <a:pt x="7" y="5"/>
                  </a:lnTo>
                  <a:lnTo>
                    <a:pt x="13" y="3"/>
                  </a:lnTo>
                  <a:lnTo>
                    <a:pt x="17" y="1"/>
                  </a:lnTo>
                  <a:lnTo>
                    <a:pt x="22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5" y="3"/>
                  </a:lnTo>
                  <a:lnTo>
                    <a:pt x="51" y="5"/>
                  </a:lnTo>
                  <a:lnTo>
                    <a:pt x="55" y="7"/>
                  </a:lnTo>
                  <a:lnTo>
                    <a:pt x="56" y="10"/>
                  </a:lnTo>
                  <a:lnTo>
                    <a:pt x="58" y="13"/>
                  </a:lnTo>
                  <a:lnTo>
                    <a:pt x="60" y="16"/>
                  </a:lnTo>
                  <a:lnTo>
                    <a:pt x="58" y="19"/>
                  </a:lnTo>
                  <a:lnTo>
                    <a:pt x="56" y="22"/>
                  </a:lnTo>
                  <a:lnTo>
                    <a:pt x="55" y="25"/>
                  </a:lnTo>
                  <a:lnTo>
                    <a:pt x="51" y="28"/>
                  </a:lnTo>
                  <a:lnTo>
                    <a:pt x="45" y="30"/>
                  </a:lnTo>
                  <a:lnTo>
                    <a:pt x="41" y="32"/>
                  </a:lnTo>
                  <a:lnTo>
                    <a:pt x="36" y="33"/>
                  </a:lnTo>
                  <a:lnTo>
                    <a:pt x="30" y="33"/>
                  </a:lnTo>
                  <a:lnTo>
                    <a:pt x="22" y="33"/>
                  </a:lnTo>
                  <a:lnTo>
                    <a:pt x="17" y="32"/>
                  </a:lnTo>
                  <a:lnTo>
                    <a:pt x="13" y="30"/>
                  </a:lnTo>
                  <a:lnTo>
                    <a:pt x="7" y="28"/>
                  </a:lnTo>
                  <a:lnTo>
                    <a:pt x="4" y="25"/>
                  </a:lnTo>
                  <a:lnTo>
                    <a:pt x="2" y="22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" name="Line 324"/>
            <p:cNvSpPr>
              <a:spLocks noChangeShapeType="1"/>
            </p:cNvSpPr>
            <p:nvPr/>
          </p:nvSpPr>
          <p:spPr bwMode="auto">
            <a:xfrm>
              <a:off x="3379" y="1467"/>
              <a:ext cx="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" name="Line 325"/>
            <p:cNvSpPr>
              <a:spLocks noChangeShapeType="1"/>
            </p:cNvSpPr>
            <p:nvPr/>
          </p:nvSpPr>
          <p:spPr bwMode="auto">
            <a:xfrm>
              <a:off x="3379" y="1512"/>
              <a:ext cx="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" name="Freeform 326"/>
            <p:cNvSpPr>
              <a:spLocks/>
            </p:cNvSpPr>
            <p:nvPr/>
          </p:nvSpPr>
          <p:spPr bwMode="auto">
            <a:xfrm>
              <a:off x="4691" y="1042"/>
              <a:ext cx="30" cy="33"/>
            </a:xfrm>
            <a:custGeom>
              <a:avLst/>
              <a:gdLst>
                <a:gd name="T0" fmla="*/ 0 w 61"/>
                <a:gd name="T1" fmla="*/ 17 h 33"/>
                <a:gd name="T2" fmla="*/ 0 w 61"/>
                <a:gd name="T3" fmla="*/ 14 h 33"/>
                <a:gd name="T4" fmla="*/ 0 w 61"/>
                <a:gd name="T5" fmla="*/ 11 h 33"/>
                <a:gd name="T6" fmla="*/ 0 w 61"/>
                <a:gd name="T7" fmla="*/ 8 h 33"/>
                <a:gd name="T8" fmla="*/ 0 w 61"/>
                <a:gd name="T9" fmla="*/ 5 h 33"/>
                <a:gd name="T10" fmla="*/ 0 w 61"/>
                <a:gd name="T11" fmla="*/ 3 h 33"/>
                <a:gd name="T12" fmla="*/ 0 w 61"/>
                <a:gd name="T13" fmla="*/ 1 h 33"/>
                <a:gd name="T14" fmla="*/ 0 w 61"/>
                <a:gd name="T15" fmla="*/ 0 h 33"/>
                <a:gd name="T16" fmla="*/ 0 w 61"/>
                <a:gd name="T17" fmla="*/ 0 h 33"/>
                <a:gd name="T18" fmla="*/ 0 w 61"/>
                <a:gd name="T19" fmla="*/ 0 h 33"/>
                <a:gd name="T20" fmla="*/ 0 w 61"/>
                <a:gd name="T21" fmla="*/ 1 h 33"/>
                <a:gd name="T22" fmla="*/ 0 w 61"/>
                <a:gd name="T23" fmla="*/ 3 h 33"/>
                <a:gd name="T24" fmla="*/ 0 w 61"/>
                <a:gd name="T25" fmla="*/ 5 h 33"/>
                <a:gd name="T26" fmla="*/ 0 w 61"/>
                <a:gd name="T27" fmla="*/ 8 h 33"/>
                <a:gd name="T28" fmla="*/ 0 w 61"/>
                <a:gd name="T29" fmla="*/ 11 h 33"/>
                <a:gd name="T30" fmla="*/ 0 w 61"/>
                <a:gd name="T31" fmla="*/ 14 h 33"/>
                <a:gd name="T32" fmla="*/ 0 w 61"/>
                <a:gd name="T33" fmla="*/ 17 h 33"/>
                <a:gd name="T34" fmla="*/ 0 w 61"/>
                <a:gd name="T35" fmla="*/ 17 h 33"/>
                <a:gd name="T36" fmla="*/ 0 w 61"/>
                <a:gd name="T37" fmla="*/ 20 h 33"/>
                <a:gd name="T38" fmla="*/ 0 w 61"/>
                <a:gd name="T39" fmla="*/ 23 h 33"/>
                <a:gd name="T40" fmla="*/ 0 w 61"/>
                <a:gd name="T41" fmla="*/ 26 h 33"/>
                <a:gd name="T42" fmla="*/ 0 w 61"/>
                <a:gd name="T43" fmla="*/ 28 h 33"/>
                <a:gd name="T44" fmla="*/ 0 w 61"/>
                <a:gd name="T45" fmla="*/ 30 h 33"/>
                <a:gd name="T46" fmla="*/ 0 w 61"/>
                <a:gd name="T47" fmla="*/ 32 h 33"/>
                <a:gd name="T48" fmla="*/ 0 w 61"/>
                <a:gd name="T49" fmla="*/ 33 h 33"/>
                <a:gd name="T50" fmla="*/ 0 w 61"/>
                <a:gd name="T51" fmla="*/ 33 h 33"/>
                <a:gd name="T52" fmla="*/ 0 w 61"/>
                <a:gd name="T53" fmla="*/ 33 h 33"/>
                <a:gd name="T54" fmla="*/ 0 w 61"/>
                <a:gd name="T55" fmla="*/ 32 h 33"/>
                <a:gd name="T56" fmla="*/ 0 w 61"/>
                <a:gd name="T57" fmla="*/ 30 h 33"/>
                <a:gd name="T58" fmla="*/ 0 w 61"/>
                <a:gd name="T59" fmla="*/ 28 h 33"/>
                <a:gd name="T60" fmla="*/ 0 w 61"/>
                <a:gd name="T61" fmla="*/ 26 h 33"/>
                <a:gd name="T62" fmla="*/ 0 w 61"/>
                <a:gd name="T63" fmla="*/ 23 h 33"/>
                <a:gd name="T64" fmla="*/ 0 w 61"/>
                <a:gd name="T65" fmla="*/ 20 h 33"/>
                <a:gd name="T66" fmla="*/ 0 w 61"/>
                <a:gd name="T67" fmla="*/ 17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1"/>
                <a:gd name="T103" fmla="*/ 0 h 33"/>
                <a:gd name="T104" fmla="*/ 61 w 61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1" h="33">
                  <a:moveTo>
                    <a:pt x="0" y="17"/>
                  </a:moveTo>
                  <a:lnTo>
                    <a:pt x="2" y="14"/>
                  </a:lnTo>
                  <a:lnTo>
                    <a:pt x="4" y="11"/>
                  </a:lnTo>
                  <a:lnTo>
                    <a:pt x="6" y="8"/>
                  </a:lnTo>
                  <a:lnTo>
                    <a:pt x="10" y="5"/>
                  </a:lnTo>
                  <a:lnTo>
                    <a:pt x="14" y="3"/>
                  </a:lnTo>
                  <a:lnTo>
                    <a:pt x="19" y="1"/>
                  </a:lnTo>
                  <a:lnTo>
                    <a:pt x="25" y="0"/>
                  </a:lnTo>
                  <a:lnTo>
                    <a:pt x="31" y="0"/>
                  </a:lnTo>
                  <a:lnTo>
                    <a:pt x="38" y="0"/>
                  </a:lnTo>
                  <a:lnTo>
                    <a:pt x="44" y="1"/>
                  </a:lnTo>
                  <a:lnTo>
                    <a:pt x="48" y="3"/>
                  </a:lnTo>
                  <a:lnTo>
                    <a:pt x="53" y="5"/>
                  </a:lnTo>
                  <a:lnTo>
                    <a:pt x="57" y="8"/>
                  </a:lnTo>
                  <a:lnTo>
                    <a:pt x="59" y="11"/>
                  </a:lnTo>
                  <a:lnTo>
                    <a:pt x="61" y="14"/>
                  </a:lnTo>
                  <a:lnTo>
                    <a:pt x="61" y="17"/>
                  </a:lnTo>
                  <a:lnTo>
                    <a:pt x="61" y="20"/>
                  </a:lnTo>
                  <a:lnTo>
                    <a:pt x="59" y="23"/>
                  </a:lnTo>
                  <a:lnTo>
                    <a:pt x="57" y="26"/>
                  </a:lnTo>
                  <a:lnTo>
                    <a:pt x="53" y="28"/>
                  </a:lnTo>
                  <a:lnTo>
                    <a:pt x="48" y="30"/>
                  </a:lnTo>
                  <a:lnTo>
                    <a:pt x="44" y="32"/>
                  </a:lnTo>
                  <a:lnTo>
                    <a:pt x="38" y="33"/>
                  </a:lnTo>
                  <a:lnTo>
                    <a:pt x="31" y="33"/>
                  </a:lnTo>
                  <a:lnTo>
                    <a:pt x="25" y="33"/>
                  </a:lnTo>
                  <a:lnTo>
                    <a:pt x="19" y="32"/>
                  </a:lnTo>
                  <a:lnTo>
                    <a:pt x="14" y="30"/>
                  </a:lnTo>
                  <a:lnTo>
                    <a:pt x="10" y="28"/>
                  </a:lnTo>
                  <a:lnTo>
                    <a:pt x="6" y="26"/>
                  </a:lnTo>
                  <a:lnTo>
                    <a:pt x="4" y="23"/>
                  </a:lnTo>
                  <a:lnTo>
                    <a:pt x="2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" name="Rectangle 327"/>
            <p:cNvSpPr>
              <a:spLocks noChangeArrowheads="1"/>
            </p:cNvSpPr>
            <p:nvPr/>
          </p:nvSpPr>
          <p:spPr bwMode="auto">
            <a:xfrm>
              <a:off x="3432" y="1716"/>
              <a:ext cx="148" cy="21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30" name="Freeform 328"/>
            <p:cNvSpPr>
              <a:spLocks/>
            </p:cNvSpPr>
            <p:nvPr/>
          </p:nvSpPr>
          <p:spPr bwMode="auto">
            <a:xfrm>
              <a:off x="4968" y="973"/>
              <a:ext cx="53" cy="16"/>
            </a:xfrm>
            <a:custGeom>
              <a:avLst/>
              <a:gdLst>
                <a:gd name="T0" fmla="*/ 2 w 106"/>
                <a:gd name="T1" fmla="*/ 8 h 16"/>
                <a:gd name="T2" fmla="*/ 0 w 106"/>
                <a:gd name="T3" fmla="*/ 0 h 16"/>
                <a:gd name="T4" fmla="*/ 0 w 106"/>
                <a:gd name="T5" fmla="*/ 16 h 16"/>
                <a:gd name="T6" fmla="*/ 2 w 106"/>
                <a:gd name="T7" fmla="*/ 8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"/>
                <a:gd name="T13" fmla="*/ 0 h 16"/>
                <a:gd name="T14" fmla="*/ 106 w 106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" h="16">
                  <a:moveTo>
                    <a:pt x="106" y="8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106" y="8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1" name="Freeform 329"/>
            <p:cNvSpPr>
              <a:spLocks/>
            </p:cNvSpPr>
            <p:nvPr/>
          </p:nvSpPr>
          <p:spPr bwMode="auto">
            <a:xfrm>
              <a:off x="4968" y="973"/>
              <a:ext cx="53" cy="16"/>
            </a:xfrm>
            <a:custGeom>
              <a:avLst/>
              <a:gdLst>
                <a:gd name="T0" fmla="*/ 2 w 106"/>
                <a:gd name="T1" fmla="*/ 8 h 16"/>
                <a:gd name="T2" fmla="*/ 0 w 106"/>
                <a:gd name="T3" fmla="*/ 0 h 16"/>
                <a:gd name="T4" fmla="*/ 0 w 106"/>
                <a:gd name="T5" fmla="*/ 16 h 16"/>
                <a:gd name="T6" fmla="*/ 2 w 106"/>
                <a:gd name="T7" fmla="*/ 8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"/>
                <a:gd name="T13" fmla="*/ 0 h 16"/>
                <a:gd name="T14" fmla="*/ 106 w 106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" h="16">
                  <a:moveTo>
                    <a:pt x="106" y="8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106" y="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2" name="Line 330"/>
            <p:cNvSpPr>
              <a:spLocks noChangeShapeType="1"/>
            </p:cNvSpPr>
            <p:nvPr/>
          </p:nvSpPr>
          <p:spPr bwMode="auto">
            <a:xfrm flipH="1">
              <a:off x="4899" y="981"/>
              <a:ext cx="6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" name="Freeform 331"/>
            <p:cNvSpPr>
              <a:spLocks/>
            </p:cNvSpPr>
            <p:nvPr/>
          </p:nvSpPr>
          <p:spPr bwMode="auto">
            <a:xfrm>
              <a:off x="5266" y="989"/>
              <a:ext cx="54" cy="17"/>
            </a:xfrm>
            <a:custGeom>
              <a:avLst/>
              <a:gdLst>
                <a:gd name="T0" fmla="*/ 2 w 107"/>
                <a:gd name="T1" fmla="*/ 9 h 17"/>
                <a:gd name="T2" fmla="*/ 0 w 107"/>
                <a:gd name="T3" fmla="*/ 0 h 17"/>
                <a:gd name="T4" fmla="*/ 0 w 107"/>
                <a:gd name="T5" fmla="*/ 17 h 17"/>
                <a:gd name="T6" fmla="*/ 2 w 107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7"/>
                <a:gd name="T13" fmla="*/ 0 h 17"/>
                <a:gd name="T14" fmla="*/ 107 w 107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7" h="17">
                  <a:moveTo>
                    <a:pt x="107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7" y="9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" name="Freeform 332"/>
            <p:cNvSpPr>
              <a:spLocks/>
            </p:cNvSpPr>
            <p:nvPr/>
          </p:nvSpPr>
          <p:spPr bwMode="auto">
            <a:xfrm>
              <a:off x="5266" y="989"/>
              <a:ext cx="54" cy="17"/>
            </a:xfrm>
            <a:custGeom>
              <a:avLst/>
              <a:gdLst>
                <a:gd name="T0" fmla="*/ 2 w 107"/>
                <a:gd name="T1" fmla="*/ 9 h 17"/>
                <a:gd name="T2" fmla="*/ 0 w 107"/>
                <a:gd name="T3" fmla="*/ 0 h 17"/>
                <a:gd name="T4" fmla="*/ 0 w 107"/>
                <a:gd name="T5" fmla="*/ 17 h 17"/>
                <a:gd name="T6" fmla="*/ 2 w 107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7"/>
                <a:gd name="T13" fmla="*/ 0 h 17"/>
                <a:gd name="T14" fmla="*/ 107 w 107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7" h="17">
                  <a:moveTo>
                    <a:pt x="107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7" y="9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" name="Line 333"/>
            <p:cNvSpPr>
              <a:spLocks noChangeShapeType="1"/>
            </p:cNvSpPr>
            <p:nvPr/>
          </p:nvSpPr>
          <p:spPr bwMode="auto">
            <a:xfrm flipH="1">
              <a:off x="5198" y="998"/>
              <a:ext cx="6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" name="Rectangle 334"/>
            <p:cNvSpPr>
              <a:spLocks noChangeArrowheads="1"/>
            </p:cNvSpPr>
            <p:nvPr/>
          </p:nvSpPr>
          <p:spPr bwMode="auto">
            <a:xfrm>
              <a:off x="4959" y="896"/>
              <a:ext cx="40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 i="1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  <a:endParaRPr lang="en-US" altLang="zh-CN"/>
            </a:p>
          </p:txBody>
        </p:sp>
        <p:sp>
          <p:nvSpPr>
            <p:cNvPr id="337" name="Rectangle 335"/>
            <p:cNvSpPr>
              <a:spLocks noChangeArrowheads="1"/>
            </p:cNvSpPr>
            <p:nvPr/>
          </p:nvSpPr>
          <p:spPr bwMode="auto">
            <a:xfrm>
              <a:off x="5237" y="876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宋体" pitchFamily="2" charset="-122"/>
                </a:rPr>
                <a:t>I</a:t>
              </a:r>
              <a:endParaRPr lang="en-US" altLang="zh-CN"/>
            </a:p>
          </p:txBody>
        </p:sp>
        <p:sp>
          <p:nvSpPr>
            <p:cNvPr id="338" name="Rectangle 336"/>
            <p:cNvSpPr>
              <a:spLocks noChangeArrowheads="1"/>
            </p:cNvSpPr>
            <p:nvPr/>
          </p:nvSpPr>
          <p:spPr bwMode="auto">
            <a:xfrm>
              <a:off x="5278" y="915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宋体" pitchFamily="2" charset="-122"/>
                </a:rPr>
                <a:t>o</a:t>
              </a:r>
              <a:endParaRPr lang="en-US" altLang="zh-CN"/>
            </a:p>
          </p:txBody>
        </p:sp>
        <p:sp>
          <p:nvSpPr>
            <p:cNvPr id="339" name="Freeform 337"/>
            <p:cNvSpPr>
              <a:spLocks/>
            </p:cNvSpPr>
            <p:nvPr/>
          </p:nvSpPr>
          <p:spPr bwMode="auto">
            <a:xfrm>
              <a:off x="3723" y="1854"/>
              <a:ext cx="84" cy="93"/>
            </a:xfrm>
            <a:custGeom>
              <a:avLst/>
              <a:gdLst>
                <a:gd name="T0" fmla="*/ 0 w 168"/>
                <a:gd name="T1" fmla="*/ 93 h 93"/>
                <a:gd name="T2" fmla="*/ 2 w 168"/>
                <a:gd name="T3" fmla="*/ 0 h 93"/>
                <a:gd name="T4" fmla="*/ 3 w 168"/>
                <a:gd name="T5" fmla="*/ 93 h 93"/>
                <a:gd name="T6" fmla="*/ 0 w 168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3"/>
                <a:gd name="T14" fmla="*/ 168 w 16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3">
                  <a:moveTo>
                    <a:pt x="0" y="93"/>
                  </a:moveTo>
                  <a:lnTo>
                    <a:pt x="83" y="0"/>
                  </a:lnTo>
                  <a:lnTo>
                    <a:pt x="168" y="93"/>
                  </a:lnTo>
                  <a:lnTo>
                    <a:pt x="0" y="9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" name="Line 338"/>
            <p:cNvSpPr>
              <a:spLocks noChangeShapeType="1"/>
            </p:cNvSpPr>
            <p:nvPr/>
          </p:nvSpPr>
          <p:spPr bwMode="auto">
            <a:xfrm flipH="1">
              <a:off x="3723" y="1854"/>
              <a:ext cx="8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" name="Freeform 339"/>
            <p:cNvSpPr>
              <a:spLocks/>
            </p:cNvSpPr>
            <p:nvPr/>
          </p:nvSpPr>
          <p:spPr bwMode="auto">
            <a:xfrm>
              <a:off x="3723" y="1854"/>
              <a:ext cx="84" cy="93"/>
            </a:xfrm>
            <a:custGeom>
              <a:avLst/>
              <a:gdLst>
                <a:gd name="T0" fmla="*/ 0 w 168"/>
                <a:gd name="T1" fmla="*/ 93 h 93"/>
                <a:gd name="T2" fmla="*/ 2 w 168"/>
                <a:gd name="T3" fmla="*/ 0 h 93"/>
                <a:gd name="T4" fmla="*/ 3 w 168"/>
                <a:gd name="T5" fmla="*/ 93 h 93"/>
                <a:gd name="T6" fmla="*/ 0 w 168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3"/>
                <a:gd name="T14" fmla="*/ 168 w 16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3">
                  <a:moveTo>
                    <a:pt x="0" y="93"/>
                  </a:moveTo>
                  <a:lnTo>
                    <a:pt x="83" y="0"/>
                  </a:lnTo>
                  <a:lnTo>
                    <a:pt x="168" y="93"/>
                  </a:lnTo>
                  <a:lnTo>
                    <a:pt x="0" y="9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" name="Line 340"/>
            <p:cNvSpPr>
              <a:spLocks noChangeShapeType="1"/>
            </p:cNvSpPr>
            <p:nvPr/>
          </p:nvSpPr>
          <p:spPr bwMode="auto">
            <a:xfrm flipV="1">
              <a:off x="3764" y="1715"/>
              <a:ext cx="1" cy="37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" name="Freeform 341"/>
            <p:cNvSpPr>
              <a:spLocks/>
            </p:cNvSpPr>
            <p:nvPr/>
          </p:nvSpPr>
          <p:spPr bwMode="auto">
            <a:xfrm>
              <a:off x="3723" y="1854"/>
              <a:ext cx="84" cy="93"/>
            </a:xfrm>
            <a:custGeom>
              <a:avLst/>
              <a:gdLst>
                <a:gd name="T0" fmla="*/ 2 w 168"/>
                <a:gd name="T1" fmla="*/ 0 h 93"/>
                <a:gd name="T2" fmla="*/ 0 w 168"/>
                <a:gd name="T3" fmla="*/ 93 h 93"/>
                <a:gd name="T4" fmla="*/ 3 w 168"/>
                <a:gd name="T5" fmla="*/ 93 h 93"/>
                <a:gd name="T6" fmla="*/ 2 w 16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3"/>
                <a:gd name="T14" fmla="*/ 168 w 16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3">
                  <a:moveTo>
                    <a:pt x="83" y="0"/>
                  </a:moveTo>
                  <a:lnTo>
                    <a:pt x="0" y="93"/>
                  </a:lnTo>
                  <a:lnTo>
                    <a:pt x="168" y="93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4" name="Freeform 342"/>
            <p:cNvSpPr>
              <a:spLocks/>
            </p:cNvSpPr>
            <p:nvPr/>
          </p:nvSpPr>
          <p:spPr bwMode="auto">
            <a:xfrm>
              <a:off x="3723" y="1854"/>
              <a:ext cx="84" cy="93"/>
            </a:xfrm>
            <a:custGeom>
              <a:avLst/>
              <a:gdLst>
                <a:gd name="T0" fmla="*/ 2 w 168"/>
                <a:gd name="T1" fmla="*/ 0 h 93"/>
                <a:gd name="T2" fmla="*/ 0 w 168"/>
                <a:gd name="T3" fmla="*/ 93 h 93"/>
                <a:gd name="T4" fmla="*/ 3 w 168"/>
                <a:gd name="T5" fmla="*/ 93 h 93"/>
                <a:gd name="T6" fmla="*/ 2 w 16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3"/>
                <a:gd name="T14" fmla="*/ 168 w 16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3">
                  <a:moveTo>
                    <a:pt x="83" y="0"/>
                  </a:moveTo>
                  <a:lnTo>
                    <a:pt x="0" y="93"/>
                  </a:lnTo>
                  <a:lnTo>
                    <a:pt x="168" y="93"/>
                  </a:lnTo>
                  <a:lnTo>
                    <a:pt x="83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" name="Line 343"/>
            <p:cNvSpPr>
              <a:spLocks noChangeShapeType="1"/>
            </p:cNvSpPr>
            <p:nvPr/>
          </p:nvSpPr>
          <p:spPr bwMode="auto">
            <a:xfrm flipV="1">
              <a:off x="3764" y="1854"/>
              <a:ext cx="1" cy="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6" name="Line 344"/>
            <p:cNvSpPr>
              <a:spLocks noChangeShapeType="1"/>
            </p:cNvSpPr>
            <p:nvPr/>
          </p:nvSpPr>
          <p:spPr bwMode="auto">
            <a:xfrm flipH="1">
              <a:off x="3723" y="1854"/>
              <a:ext cx="8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7" name="Freeform 345"/>
            <p:cNvSpPr>
              <a:spLocks/>
            </p:cNvSpPr>
            <p:nvPr/>
          </p:nvSpPr>
          <p:spPr bwMode="auto">
            <a:xfrm>
              <a:off x="4112" y="1855"/>
              <a:ext cx="85" cy="92"/>
            </a:xfrm>
            <a:custGeom>
              <a:avLst/>
              <a:gdLst>
                <a:gd name="T0" fmla="*/ 0 w 170"/>
                <a:gd name="T1" fmla="*/ 92 h 92"/>
                <a:gd name="T2" fmla="*/ 2 w 170"/>
                <a:gd name="T3" fmla="*/ 0 h 92"/>
                <a:gd name="T4" fmla="*/ 3 w 170"/>
                <a:gd name="T5" fmla="*/ 92 h 92"/>
                <a:gd name="T6" fmla="*/ 0 w 170"/>
                <a:gd name="T7" fmla="*/ 92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92"/>
                <a:gd name="T14" fmla="*/ 170 w 170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92">
                  <a:moveTo>
                    <a:pt x="0" y="92"/>
                  </a:moveTo>
                  <a:lnTo>
                    <a:pt x="85" y="0"/>
                  </a:lnTo>
                  <a:lnTo>
                    <a:pt x="170" y="92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" name="Line 346"/>
            <p:cNvSpPr>
              <a:spLocks noChangeShapeType="1"/>
            </p:cNvSpPr>
            <p:nvPr/>
          </p:nvSpPr>
          <p:spPr bwMode="auto">
            <a:xfrm flipH="1">
              <a:off x="4112" y="1855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" name="Freeform 347"/>
            <p:cNvSpPr>
              <a:spLocks/>
            </p:cNvSpPr>
            <p:nvPr/>
          </p:nvSpPr>
          <p:spPr bwMode="auto">
            <a:xfrm>
              <a:off x="4112" y="1855"/>
              <a:ext cx="85" cy="92"/>
            </a:xfrm>
            <a:custGeom>
              <a:avLst/>
              <a:gdLst>
                <a:gd name="T0" fmla="*/ 0 w 170"/>
                <a:gd name="T1" fmla="*/ 92 h 92"/>
                <a:gd name="T2" fmla="*/ 2 w 170"/>
                <a:gd name="T3" fmla="*/ 0 h 92"/>
                <a:gd name="T4" fmla="*/ 3 w 170"/>
                <a:gd name="T5" fmla="*/ 92 h 92"/>
                <a:gd name="T6" fmla="*/ 0 w 170"/>
                <a:gd name="T7" fmla="*/ 92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92"/>
                <a:gd name="T14" fmla="*/ 170 w 170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92">
                  <a:moveTo>
                    <a:pt x="0" y="92"/>
                  </a:moveTo>
                  <a:lnTo>
                    <a:pt x="85" y="0"/>
                  </a:lnTo>
                  <a:lnTo>
                    <a:pt x="170" y="92"/>
                  </a:lnTo>
                  <a:lnTo>
                    <a:pt x="0" y="9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" name="Freeform 348"/>
            <p:cNvSpPr>
              <a:spLocks/>
            </p:cNvSpPr>
            <p:nvPr/>
          </p:nvSpPr>
          <p:spPr bwMode="auto">
            <a:xfrm>
              <a:off x="4112" y="1855"/>
              <a:ext cx="85" cy="92"/>
            </a:xfrm>
            <a:custGeom>
              <a:avLst/>
              <a:gdLst>
                <a:gd name="T0" fmla="*/ 2 w 170"/>
                <a:gd name="T1" fmla="*/ 0 h 92"/>
                <a:gd name="T2" fmla="*/ 0 w 170"/>
                <a:gd name="T3" fmla="*/ 92 h 92"/>
                <a:gd name="T4" fmla="*/ 3 w 170"/>
                <a:gd name="T5" fmla="*/ 92 h 92"/>
                <a:gd name="T6" fmla="*/ 2 w 170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92"/>
                <a:gd name="T14" fmla="*/ 170 w 170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92">
                  <a:moveTo>
                    <a:pt x="85" y="0"/>
                  </a:moveTo>
                  <a:lnTo>
                    <a:pt x="0" y="92"/>
                  </a:lnTo>
                  <a:lnTo>
                    <a:pt x="170" y="92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" name="Freeform 349"/>
            <p:cNvSpPr>
              <a:spLocks/>
            </p:cNvSpPr>
            <p:nvPr/>
          </p:nvSpPr>
          <p:spPr bwMode="auto">
            <a:xfrm>
              <a:off x="4112" y="1855"/>
              <a:ext cx="85" cy="92"/>
            </a:xfrm>
            <a:custGeom>
              <a:avLst/>
              <a:gdLst>
                <a:gd name="T0" fmla="*/ 2 w 170"/>
                <a:gd name="T1" fmla="*/ 0 h 92"/>
                <a:gd name="T2" fmla="*/ 0 w 170"/>
                <a:gd name="T3" fmla="*/ 92 h 92"/>
                <a:gd name="T4" fmla="*/ 3 w 170"/>
                <a:gd name="T5" fmla="*/ 92 h 92"/>
                <a:gd name="T6" fmla="*/ 2 w 170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92"/>
                <a:gd name="T14" fmla="*/ 170 w 170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92">
                  <a:moveTo>
                    <a:pt x="85" y="0"/>
                  </a:moveTo>
                  <a:lnTo>
                    <a:pt x="0" y="92"/>
                  </a:lnTo>
                  <a:lnTo>
                    <a:pt x="170" y="92"/>
                  </a:lnTo>
                  <a:lnTo>
                    <a:pt x="85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" name="Line 350"/>
            <p:cNvSpPr>
              <a:spLocks noChangeShapeType="1"/>
            </p:cNvSpPr>
            <p:nvPr/>
          </p:nvSpPr>
          <p:spPr bwMode="auto">
            <a:xfrm flipV="1">
              <a:off x="4154" y="1855"/>
              <a:ext cx="1" cy="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" name="Line 351"/>
            <p:cNvSpPr>
              <a:spLocks noChangeShapeType="1"/>
            </p:cNvSpPr>
            <p:nvPr/>
          </p:nvSpPr>
          <p:spPr bwMode="auto">
            <a:xfrm flipH="1">
              <a:off x="4112" y="1855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4" name="Freeform 352"/>
            <p:cNvSpPr>
              <a:spLocks/>
            </p:cNvSpPr>
            <p:nvPr/>
          </p:nvSpPr>
          <p:spPr bwMode="auto">
            <a:xfrm>
              <a:off x="4497" y="1669"/>
              <a:ext cx="85" cy="93"/>
            </a:xfrm>
            <a:custGeom>
              <a:avLst/>
              <a:gdLst>
                <a:gd name="T0" fmla="*/ 0 w 169"/>
                <a:gd name="T1" fmla="*/ 0 h 93"/>
                <a:gd name="T2" fmla="*/ 3 w 169"/>
                <a:gd name="T3" fmla="*/ 46 h 93"/>
                <a:gd name="T4" fmla="*/ 0 w 169"/>
                <a:gd name="T5" fmla="*/ 93 h 93"/>
                <a:gd name="T6" fmla="*/ 0 w 169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93"/>
                <a:gd name="T14" fmla="*/ 169 w 16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93">
                  <a:moveTo>
                    <a:pt x="0" y="0"/>
                  </a:moveTo>
                  <a:lnTo>
                    <a:pt x="169" y="46"/>
                  </a:lnTo>
                  <a:lnTo>
                    <a:pt x="0" y="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5" name="Line 353"/>
            <p:cNvSpPr>
              <a:spLocks noChangeShapeType="1"/>
            </p:cNvSpPr>
            <p:nvPr/>
          </p:nvSpPr>
          <p:spPr bwMode="auto">
            <a:xfrm flipV="1">
              <a:off x="4582" y="1669"/>
              <a:ext cx="1" cy="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6" name="Freeform 354"/>
            <p:cNvSpPr>
              <a:spLocks/>
            </p:cNvSpPr>
            <p:nvPr/>
          </p:nvSpPr>
          <p:spPr bwMode="auto">
            <a:xfrm>
              <a:off x="4497" y="1669"/>
              <a:ext cx="85" cy="93"/>
            </a:xfrm>
            <a:custGeom>
              <a:avLst/>
              <a:gdLst>
                <a:gd name="T0" fmla="*/ 0 w 169"/>
                <a:gd name="T1" fmla="*/ 0 h 93"/>
                <a:gd name="T2" fmla="*/ 3 w 169"/>
                <a:gd name="T3" fmla="*/ 46 h 93"/>
                <a:gd name="T4" fmla="*/ 0 w 169"/>
                <a:gd name="T5" fmla="*/ 93 h 93"/>
                <a:gd name="T6" fmla="*/ 0 w 169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93"/>
                <a:gd name="T14" fmla="*/ 169 w 16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93">
                  <a:moveTo>
                    <a:pt x="0" y="0"/>
                  </a:moveTo>
                  <a:lnTo>
                    <a:pt x="169" y="46"/>
                  </a:lnTo>
                  <a:lnTo>
                    <a:pt x="0" y="93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7" name="Line 355"/>
            <p:cNvSpPr>
              <a:spLocks noChangeShapeType="1"/>
            </p:cNvSpPr>
            <p:nvPr/>
          </p:nvSpPr>
          <p:spPr bwMode="auto">
            <a:xfrm>
              <a:off x="4371" y="1715"/>
              <a:ext cx="33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" name="Freeform 356"/>
            <p:cNvSpPr>
              <a:spLocks/>
            </p:cNvSpPr>
            <p:nvPr/>
          </p:nvSpPr>
          <p:spPr bwMode="auto">
            <a:xfrm>
              <a:off x="4497" y="1669"/>
              <a:ext cx="85" cy="93"/>
            </a:xfrm>
            <a:custGeom>
              <a:avLst/>
              <a:gdLst>
                <a:gd name="T0" fmla="*/ 3 w 169"/>
                <a:gd name="T1" fmla="*/ 46 h 93"/>
                <a:gd name="T2" fmla="*/ 0 w 169"/>
                <a:gd name="T3" fmla="*/ 0 h 93"/>
                <a:gd name="T4" fmla="*/ 0 w 169"/>
                <a:gd name="T5" fmla="*/ 93 h 93"/>
                <a:gd name="T6" fmla="*/ 3 w 169"/>
                <a:gd name="T7" fmla="*/ 46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93"/>
                <a:gd name="T14" fmla="*/ 169 w 16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93">
                  <a:moveTo>
                    <a:pt x="169" y="46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169" y="46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" name="Freeform 357"/>
            <p:cNvSpPr>
              <a:spLocks/>
            </p:cNvSpPr>
            <p:nvPr/>
          </p:nvSpPr>
          <p:spPr bwMode="auto">
            <a:xfrm>
              <a:off x="4497" y="1669"/>
              <a:ext cx="85" cy="93"/>
            </a:xfrm>
            <a:custGeom>
              <a:avLst/>
              <a:gdLst>
                <a:gd name="T0" fmla="*/ 3 w 169"/>
                <a:gd name="T1" fmla="*/ 46 h 93"/>
                <a:gd name="T2" fmla="*/ 0 w 169"/>
                <a:gd name="T3" fmla="*/ 0 h 93"/>
                <a:gd name="T4" fmla="*/ 0 w 169"/>
                <a:gd name="T5" fmla="*/ 93 h 93"/>
                <a:gd name="T6" fmla="*/ 3 w 169"/>
                <a:gd name="T7" fmla="*/ 46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93"/>
                <a:gd name="T14" fmla="*/ 169 w 16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93">
                  <a:moveTo>
                    <a:pt x="169" y="46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169" y="46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0" name="Line 358"/>
            <p:cNvSpPr>
              <a:spLocks noChangeShapeType="1"/>
            </p:cNvSpPr>
            <p:nvPr/>
          </p:nvSpPr>
          <p:spPr bwMode="auto">
            <a:xfrm>
              <a:off x="4497" y="1715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" name="Line 359"/>
            <p:cNvSpPr>
              <a:spLocks noChangeShapeType="1"/>
            </p:cNvSpPr>
            <p:nvPr/>
          </p:nvSpPr>
          <p:spPr bwMode="auto">
            <a:xfrm flipV="1">
              <a:off x="4582" y="1669"/>
              <a:ext cx="1" cy="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2" name="Freeform 360"/>
            <p:cNvSpPr>
              <a:spLocks/>
            </p:cNvSpPr>
            <p:nvPr/>
          </p:nvSpPr>
          <p:spPr bwMode="auto">
            <a:xfrm>
              <a:off x="4493" y="1012"/>
              <a:ext cx="84" cy="92"/>
            </a:xfrm>
            <a:custGeom>
              <a:avLst/>
              <a:gdLst>
                <a:gd name="T0" fmla="*/ 0 w 168"/>
                <a:gd name="T1" fmla="*/ 0 h 92"/>
                <a:gd name="T2" fmla="*/ 3 w 168"/>
                <a:gd name="T3" fmla="*/ 46 h 92"/>
                <a:gd name="T4" fmla="*/ 0 w 168"/>
                <a:gd name="T5" fmla="*/ 92 h 92"/>
                <a:gd name="T6" fmla="*/ 0 w 16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2"/>
                <a:gd name="T14" fmla="*/ 168 w 16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2">
                  <a:moveTo>
                    <a:pt x="0" y="0"/>
                  </a:moveTo>
                  <a:lnTo>
                    <a:pt x="168" y="46"/>
                  </a:lnTo>
                  <a:lnTo>
                    <a:pt x="0" y="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3" name="Line 361"/>
            <p:cNvSpPr>
              <a:spLocks noChangeShapeType="1"/>
            </p:cNvSpPr>
            <p:nvPr/>
          </p:nvSpPr>
          <p:spPr bwMode="auto">
            <a:xfrm flipV="1">
              <a:off x="4577" y="1012"/>
              <a:ext cx="1" cy="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" name="Freeform 362"/>
            <p:cNvSpPr>
              <a:spLocks/>
            </p:cNvSpPr>
            <p:nvPr/>
          </p:nvSpPr>
          <p:spPr bwMode="auto">
            <a:xfrm>
              <a:off x="4493" y="1012"/>
              <a:ext cx="84" cy="92"/>
            </a:xfrm>
            <a:custGeom>
              <a:avLst/>
              <a:gdLst>
                <a:gd name="T0" fmla="*/ 0 w 168"/>
                <a:gd name="T1" fmla="*/ 0 h 92"/>
                <a:gd name="T2" fmla="*/ 3 w 168"/>
                <a:gd name="T3" fmla="*/ 46 h 92"/>
                <a:gd name="T4" fmla="*/ 0 w 168"/>
                <a:gd name="T5" fmla="*/ 92 h 92"/>
                <a:gd name="T6" fmla="*/ 0 w 16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2"/>
                <a:gd name="T14" fmla="*/ 168 w 16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2">
                  <a:moveTo>
                    <a:pt x="0" y="0"/>
                  </a:moveTo>
                  <a:lnTo>
                    <a:pt x="168" y="46"/>
                  </a:lnTo>
                  <a:lnTo>
                    <a:pt x="0" y="9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5" name="Line 363"/>
            <p:cNvSpPr>
              <a:spLocks noChangeShapeType="1"/>
            </p:cNvSpPr>
            <p:nvPr/>
          </p:nvSpPr>
          <p:spPr bwMode="auto">
            <a:xfrm>
              <a:off x="4365" y="1058"/>
              <a:ext cx="33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" name="Freeform 364"/>
            <p:cNvSpPr>
              <a:spLocks/>
            </p:cNvSpPr>
            <p:nvPr/>
          </p:nvSpPr>
          <p:spPr bwMode="auto">
            <a:xfrm>
              <a:off x="4493" y="1012"/>
              <a:ext cx="84" cy="92"/>
            </a:xfrm>
            <a:custGeom>
              <a:avLst/>
              <a:gdLst>
                <a:gd name="T0" fmla="*/ 3 w 168"/>
                <a:gd name="T1" fmla="*/ 46 h 92"/>
                <a:gd name="T2" fmla="*/ 0 w 168"/>
                <a:gd name="T3" fmla="*/ 0 h 92"/>
                <a:gd name="T4" fmla="*/ 0 w 168"/>
                <a:gd name="T5" fmla="*/ 92 h 92"/>
                <a:gd name="T6" fmla="*/ 3 w 168"/>
                <a:gd name="T7" fmla="*/ 46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2"/>
                <a:gd name="T14" fmla="*/ 168 w 16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2">
                  <a:moveTo>
                    <a:pt x="168" y="46"/>
                  </a:moveTo>
                  <a:lnTo>
                    <a:pt x="0" y="0"/>
                  </a:lnTo>
                  <a:lnTo>
                    <a:pt x="0" y="92"/>
                  </a:lnTo>
                  <a:lnTo>
                    <a:pt x="168" y="46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7" name="Freeform 365"/>
            <p:cNvSpPr>
              <a:spLocks/>
            </p:cNvSpPr>
            <p:nvPr/>
          </p:nvSpPr>
          <p:spPr bwMode="auto">
            <a:xfrm>
              <a:off x="4493" y="1012"/>
              <a:ext cx="84" cy="92"/>
            </a:xfrm>
            <a:custGeom>
              <a:avLst/>
              <a:gdLst>
                <a:gd name="T0" fmla="*/ 3 w 168"/>
                <a:gd name="T1" fmla="*/ 46 h 92"/>
                <a:gd name="T2" fmla="*/ 0 w 168"/>
                <a:gd name="T3" fmla="*/ 0 h 92"/>
                <a:gd name="T4" fmla="*/ 0 w 168"/>
                <a:gd name="T5" fmla="*/ 92 h 92"/>
                <a:gd name="T6" fmla="*/ 3 w 168"/>
                <a:gd name="T7" fmla="*/ 46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2"/>
                <a:gd name="T14" fmla="*/ 168 w 16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2">
                  <a:moveTo>
                    <a:pt x="168" y="46"/>
                  </a:moveTo>
                  <a:lnTo>
                    <a:pt x="0" y="0"/>
                  </a:lnTo>
                  <a:lnTo>
                    <a:pt x="0" y="92"/>
                  </a:lnTo>
                  <a:lnTo>
                    <a:pt x="168" y="46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" name="Line 366"/>
            <p:cNvSpPr>
              <a:spLocks noChangeShapeType="1"/>
            </p:cNvSpPr>
            <p:nvPr/>
          </p:nvSpPr>
          <p:spPr bwMode="auto">
            <a:xfrm>
              <a:off x="4493" y="1058"/>
              <a:ext cx="8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" name="Line 367"/>
            <p:cNvSpPr>
              <a:spLocks noChangeShapeType="1"/>
            </p:cNvSpPr>
            <p:nvPr/>
          </p:nvSpPr>
          <p:spPr bwMode="auto">
            <a:xfrm flipV="1">
              <a:off x="4577" y="1012"/>
              <a:ext cx="1" cy="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0" name="Rectangle 368"/>
            <p:cNvSpPr>
              <a:spLocks noChangeArrowheads="1"/>
            </p:cNvSpPr>
            <p:nvPr/>
          </p:nvSpPr>
          <p:spPr bwMode="auto">
            <a:xfrm>
              <a:off x="4738" y="1101"/>
              <a:ext cx="48" cy="11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宋体" pitchFamily="2" charset="-122"/>
                </a:rPr>
                <a:t>+</a:t>
              </a:r>
              <a:endParaRPr lang="en-US" altLang="zh-CN"/>
            </a:p>
          </p:txBody>
        </p:sp>
        <p:sp>
          <p:nvSpPr>
            <p:cNvPr id="371" name="Rectangle 369"/>
            <p:cNvSpPr>
              <a:spLocks noChangeArrowheads="1"/>
            </p:cNvSpPr>
            <p:nvPr/>
          </p:nvSpPr>
          <p:spPr bwMode="auto">
            <a:xfrm>
              <a:off x="4738" y="1277"/>
              <a:ext cx="48" cy="11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宋体" pitchFamily="2" charset="-122"/>
                </a:rPr>
                <a:t>-</a:t>
              </a:r>
              <a:endParaRPr lang="en-US" altLang="zh-CN"/>
            </a:p>
          </p:txBody>
        </p:sp>
        <p:sp>
          <p:nvSpPr>
            <p:cNvPr id="372" name="Rectangle 370"/>
            <p:cNvSpPr>
              <a:spLocks noChangeArrowheads="1"/>
            </p:cNvSpPr>
            <p:nvPr/>
          </p:nvSpPr>
          <p:spPr bwMode="auto">
            <a:xfrm>
              <a:off x="4777" y="1227"/>
              <a:ext cx="5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oi</a:t>
              </a:r>
              <a:endParaRPr lang="en-US" altLang="zh-CN"/>
            </a:p>
          </p:txBody>
        </p:sp>
        <p:sp>
          <p:nvSpPr>
            <p:cNvPr id="373" name="Rectangle 371"/>
            <p:cNvSpPr>
              <a:spLocks noChangeArrowheads="1"/>
            </p:cNvSpPr>
            <p:nvPr/>
          </p:nvSpPr>
          <p:spPr bwMode="auto">
            <a:xfrm>
              <a:off x="4735" y="1180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u</a:t>
              </a:r>
              <a:endParaRPr lang="en-US" altLang="zh-CN"/>
            </a:p>
          </p:txBody>
        </p:sp>
        <p:sp>
          <p:nvSpPr>
            <p:cNvPr id="374" name="Line 372"/>
            <p:cNvSpPr>
              <a:spLocks noChangeShapeType="1"/>
            </p:cNvSpPr>
            <p:nvPr/>
          </p:nvSpPr>
          <p:spPr bwMode="auto">
            <a:xfrm flipH="1">
              <a:off x="4060" y="1376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" name="Line 373"/>
            <p:cNvSpPr>
              <a:spLocks noChangeShapeType="1"/>
            </p:cNvSpPr>
            <p:nvPr/>
          </p:nvSpPr>
          <p:spPr bwMode="auto">
            <a:xfrm flipV="1">
              <a:off x="4060" y="1058"/>
              <a:ext cx="0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6" name="Line 374"/>
            <p:cNvSpPr>
              <a:spLocks noChangeShapeType="1"/>
            </p:cNvSpPr>
            <p:nvPr/>
          </p:nvSpPr>
          <p:spPr bwMode="auto">
            <a:xfrm flipH="1">
              <a:off x="3379" y="1058"/>
              <a:ext cx="6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7" name="Line 375"/>
            <p:cNvSpPr>
              <a:spLocks noChangeShapeType="1"/>
            </p:cNvSpPr>
            <p:nvPr/>
          </p:nvSpPr>
          <p:spPr bwMode="auto">
            <a:xfrm flipV="1">
              <a:off x="3424" y="1058"/>
              <a:ext cx="0" cy="4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" name="Line 376"/>
            <p:cNvSpPr>
              <a:spLocks noChangeShapeType="1"/>
            </p:cNvSpPr>
            <p:nvPr/>
          </p:nvSpPr>
          <p:spPr bwMode="auto">
            <a:xfrm flipV="1">
              <a:off x="3424" y="1512"/>
              <a:ext cx="0" cy="5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" name="Rectangle 377"/>
            <p:cNvSpPr>
              <a:spLocks noChangeArrowheads="1"/>
            </p:cNvSpPr>
            <p:nvPr/>
          </p:nvSpPr>
          <p:spPr bwMode="auto">
            <a:xfrm>
              <a:off x="3801" y="1716"/>
              <a:ext cx="148" cy="21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80" name="Line 378"/>
            <p:cNvSpPr>
              <a:spLocks noChangeShapeType="1"/>
            </p:cNvSpPr>
            <p:nvPr/>
          </p:nvSpPr>
          <p:spPr bwMode="auto">
            <a:xfrm>
              <a:off x="3334" y="2102"/>
              <a:ext cx="8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1" name="Line 379"/>
            <p:cNvSpPr>
              <a:spLocks noChangeShapeType="1"/>
            </p:cNvSpPr>
            <p:nvPr/>
          </p:nvSpPr>
          <p:spPr bwMode="auto">
            <a:xfrm flipV="1">
              <a:off x="3606" y="1965"/>
              <a:ext cx="0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2" name="Line 380"/>
            <p:cNvSpPr>
              <a:spLocks noChangeShapeType="1"/>
            </p:cNvSpPr>
            <p:nvPr/>
          </p:nvSpPr>
          <p:spPr bwMode="auto">
            <a:xfrm flipV="1">
              <a:off x="3969" y="1965"/>
              <a:ext cx="0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3" name="Line 381"/>
            <p:cNvSpPr>
              <a:spLocks noChangeShapeType="1"/>
            </p:cNvSpPr>
            <p:nvPr/>
          </p:nvSpPr>
          <p:spPr bwMode="auto">
            <a:xfrm>
              <a:off x="4150" y="1693"/>
              <a:ext cx="0" cy="4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4" name="Rectangle 384"/>
            <p:cNvSpPr>
              <a:spLocks noChangeArrowheads="1"/>
            </p:cNvSpPr>
            <p:nvPr/>
          </p:nvSpPr>
          <p:spPr bwMode="auto">
            <a:xfrm>
              <a:off x="4105" y="1434"/>
              <a:ext cx="111" cy="13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85" name="Rectangle 385"/>
            <p:cNvSpPr>
              <a:spLocks noChangeArrowheads="1"/>
            </p:cNvSpPr>
            <p:nvPr/>
          </p:nvSpPr>
          <p:spPr bwMode="auto">
            <a:xfrm>
              <a:off x="4377" y="1480"/>
              <a:ext cx="111" cy="13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i="1" dirty="0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sz="14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 Box 3"/>
          <p:cNvSpPr txBox="1">
            <a:spLocks noChangeArrowheads="1"/>
          </p:cNvSpPr>
          <p:nvPr/>
        </p:nvSpPr>
        <p:spPr bwMode="auto">
          <a:xfrm>
            <a:off x="0" y="1241416"/>
            <a:ext cx="4392613" cy="189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A50021"/>
                </a:solidFill>
              </a:rPr>
              <a:t>(3)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A50021"/>
                </a:solidFill>
              </a:rPr>
              <a:t>When 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1</a:t>
            </a:r>
            <a:r>
              <a:rPr lang="en-US" altLang="zh-CN" sz="2400" dirty="0">
                <a:solidFill>
                  <a:srgbClr val="A50021"/>
                </a:solidFill>
              </a:rPr>
              <a:t> and 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2</a:t>
            </a:r>
            <a:r>
              <a:rPr lang="en-US" altLang="zh-CN" sz="2400" dirty="0">
                <a:solidFill>
                  <a:srgbClr val="A50021"/>
                </a:solidFill>
              </a:rPr>
              <a:t> are off (t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on</a:t>
            </a:r>
            <a:r>
              <a:rPr lang="en-US" altLang="zh-CN" sz="2400" dirty="0">
                <a:solidFill>
                  <a:srgbClr val="A50021"/>
                </a:solidFill>
              </a:rPr>
              <a:t>&lt;t&lt;t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on</a:t>
            </a:r>
            <a:r>
              <a:rPr lang="en-US" altLang="zh-CN" sz="2400" dirty="0">
                <a:solidFill>
                  <a:srgbClr val="A50021"/>
                </a:solidFill>
              </a:rPr>
              <a:t>+</a:t>
            </a:r>
            <a:r>
              <a:rPr lang="el-GR" altLang="zh-CN" sz="2400" dirty="0">
                <a:solidFill>
                  <a:srgbClr val="A50021"/>
                </a:solidFill>
                <a:cs typeface="Arial" charset="0"/>
              </a:rPr>
              <a:t>Δ</a:t>
            </a:r>
            <a:r>
              <a:rPr lang="en-US" altLang="zh-CN" sz="2400" dirty="0">
                <a:solidFill>
                  <a:srgbClr val="A50021"/>
                </a:solidFill>
              </a:rPr>
              <a:t>)</a:t>
            </a:r>
            <a:r>
              <a:rPr lang="en-US" altLang="zh-CN" sz="2400" dirty="0"/>
              <a:t>:  D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and D</a:t>
            </a:r>
            <a:r>
              <a:rPr lang="en-US" altLang="zh-CN" sz="2400" baseline="-25000" dirty="0"/>
              <a:t>2 </a:t>
            </a:r>
            <a:r>
              <a:rPr lang="en-US" altLang="zh-CN" sz="2400" dirty="0"/>
              <a:t>conduct. </a:t>
            </a:r>
            <a:r>
              <a:rPr lang="en-US" altLang="zh-CN" sz="2400" dirty="0" err="1">
                <a:solidFill>
                  <a:srgbClr val="A50021"/>
                </a:solidFill>
              </a:rPr>
              <a:t>i</a:t>
            </a:r>
            <a:r>
              <a:rPr lang="en-US" altLang="zh-CN" sz="2400" baseline="-25000" dirty="0" err="1">
                <a:solidFill>
                  <a:srgbClr val="A50021"/>
                </a:solidFill>
              </a:rPr>
              <a:t>L</a:t>
            </a:r>
            <a:r>
              <a:rPr lang="en-US" altLang="zh-CN" sz="2400" dirty="0">
                <a:solidFill>
                  <a:srgbClr val="A50021"/>
                </a:solidFill>
              </a:rPr>
              <a:t> through D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1</a:t>
            </a:r>
            <a:r>
              <a:rPr lang="en-US" altLang="zh-CN" sz="2400" dirty="0">
                <a:solidFill>
                  <a:srgbClr val="A50021"/>
                </a:solidFill>
              </a:rPr>
              <a:t> and D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2</a:t>
            </a:r>
            <a:r>
              <a:rPr lang="en-US" altLang="zh-CN" sz="2400" dirty="0">
                <a:solidFill>
                  <a:srgbClr val="A50021"/>
                </a:solidFill>
              </a:rPr>
              <a:t> decrease linearly</a:t>
            </a:r>
            <a:r>
              <a:rPr lang="en-US" altLang="zh-CN" sz="2400" dirty="0"/>
              <a:t>.</a:t>
            </a:r>
          </a:p>
        </p:txBody>
      </p:sp>
      <p:graphicFrame>
        <p:nvGraphicFramePr>
          <p:cNvPr id="9728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2218147"/>
              </p:ext>
            </p:extLst>
          </p:nvPr>
        </p:nvGraphicFramePr>
        <p:xfrm>
          <a:off x="176324" y="3533897"/>
          <a:ext cx="3887788" cy="201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40" name="公式" r:id="rId3" imgW="1663700" imgH="863600" progId="">
                  <p:embed/>
                </p:oleObj>
              </mc:Choice>
              <mc:Fallback>
                <p:oleObj name="公式" r:id="rId3" imgW="1663700" imgH="8636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24" y="3533897"/>
                        <a:ext cx="3887788" cy="2017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86"/>
          <p:cNvGrpSpPr>
            <a:grpSpLocks/>
          </p:cNvGrpSpPr>
          <p:nvPr/>
        </p:nvGrpSpPr>
        <p:grpSpPr bwMode="auto">
          <a:xfrm>
            <a:off x="4418013" y="1000125"/>
            <a:ext cx="4583112" cy="5857875"/>
            <a:chOff x="3243" y="845"/>
            <a:chExt cx="2344" cy="3317"/>
          </a:xfrm>
        </p:grpSpPr>
        <p:sp>
          <p:nvSpPr>
            <p:cNvPr id="196" name="Freeform 194"/>
            <p:cNvSpPr>
              <a:spLocks/>
            </p:cNvSpPr>
            <p:nvPr/>
          </p:nvSpPr>
          <p:spPr bwMode="auto">
            <a:xfrm>
              <a:off x="3374" y="2319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Freeform 195"/>
            <p:cNvSpPr>
              <a:spLocks/>
            </p:cNvSpPr>
            <p:nvPr/>
          </p:nvSpPr>
          <p:spPr bwMode="auto">
            <a:xfrm>
              <a:off x="3374" y="2319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Line 196"/>
            <p:cNvSpPr>
              <a:spLocks noChangeShapeType="1"/>
            </p:cNvSpPr>
            <p:nvPr/>
          </p:nvSpPr>
          <p:spPr bwMode="auto">
            <a:xfrm>
              <a:off x="3382" y="2378"/>
              <a:ext cx="1" cy="7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Freeform 197"/>
            <p:cNvSpPr>
              <a:spLocks/>
            </p:cNvSpPr>
            <p:nvPr/>
          </p:nvSpPr>
          <p:spPr bwMode="auto">
            <a:xfrm>
              <a:off x="5461" y="2901"/>
              <a:ext cx="54" cy="17"/>
            </a:xfrm>
            <a:custGeom>
              <a:avLst/>
              <a:gdLst>
                <a:gd name="T0" fmla="*/ 2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Freeform 198"/>
            <p:cNvSpPr>
              <a:spLocks/>
            </p:cNvSpPr>
            <p:nvPr/>
          </p:nvSpPr>
          <p:spPr bwMode="auto">
            <a:xfrm>
              <a:off x="5461" y="2901"/>
              <a:ext cx="54" cy="17"/>
            </a:xfrm>
            <a:custGeom>
              <a:avLst/>
              <a:gdLst>
                <a:gd name="T0" fmla="*/ 2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Line 199"/>
            <p:cNvSpPr>
              <a:spLocks noChangeShapeType="1"/>
            </p:cNvSpPr>
            <p:nvPr/>
          </p:nvSpPr>
          <p:spPr bwMode="auto">
            <a:xfrm flipH="1">
              <a:off x="3382" y="2910"/>
              <a:ext cx="207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Line 200"/>
            <p:cNvSpPr>
              <a:spLocks noChangeShapeType="1"/>
            </p:cNvSpPr>
            <p:nvPr/>
          </p:nvSpPr>
          <p:spPr bwMode="auto">
            <a:xfrm>
              <a:off x="3382" y="2430"/>
              <a:ext cx="32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Freeform 201"/>
            <p:cNvSpPr>
              <a:spLocks/>
            </p:cNvSpPr>
            <p:nvPr/>
          </p:nvSpPr>
          <p:spPr bwMode="auto">
            <a:xfrm>
              <a:off x="5458" y="3952"/>
              <a:ext cx="54" cy="17"/>
            </a:xfrm>
            <a:custGeom>
              <a:avLst/>
              <a:gdLst>
                <a:gd name="T0" fmla="*/ 2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Freeform 202"/>
            <p:cNvSpPr>
              <a:spLocks/>
            </p:cNvSpPr>
            <p:nvPr/>
          </p:nvSpPr>
          <p:spPr bwMode="auto">
            <a:xfrm>
              <a:off x="5458" y="3952"/>
              <a:ext cx="54" cy="17"/>
            </a:xfrm>
            <a:custGeom>
              <a:avLst/>
              <a:gdLst>
                <a:gd name="T0" fmla="*/ 2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" name="Line 203"/>
            <p:cNvSpPr>
              <a:spLocks noChangeShapeType="1"/>
            </p:cNvSpPr>
            <p:nvPr/>
          </p:nvSpPr>
          <p:spPr bwMode="auto">
            <a:xfrm flipH="1">
              <a:off x="3379" y="3961"/>
              <a:ext cx="207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Rectangle 204"/>
            <p:cNvSpPr>
              <a:spLocks noChangeArrowheads="1"/>
            </p:cNvSpPr>
            <p:nvPr/>
          </p:nvSpPr>
          <p:spPr bwMode="auto">
            <a:xfrm>
              <a:off x="3379" y="2192"/>
              <a:ext cx="152" cy="21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</a:rPr>
                <a:t>oi</a:t>
              </a:r>
            </a:p>
          </p:txBody>
        </p:sp>
        <p:sp>
          <p:nvSpPr>
            <p:cNvPr id="207" name="Rectangle 205"/>
            <p:cNvSpPr>
              <a:spLocks noChangeArrowheads="1"/>
            </p:cNvSpPr>
            <p:nvPr/>
          </p:nvSpPr>
          <p:spPr bwMode="auto">
            <a:xfrm>
              <a:off x="3313" y="2841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208" name="Rectangle 206"/>
            <p:cNvSpPr>
              <a:spLocks noChangeArrowheads="1"/>
            </p:cNvSpPr>
            <p:nvPr/>
          </p:nvSpPr>
          <p:spPr bwMode="auto">
            <a:xfrm>
              <a:off x="3312" y="3890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209" name="Rectangle 207"/>
            <p:cNvSpPr>
              <a:spLocks noChangeArrowheads="1"/>
            </p:cNvSpPr>
            <p:nvPr/>
          </p:nvSpPr>
          <p:spPr bwMode="auto">
            <a:xfrm>
              <a:off x="5547" y="2838"/>
              <a:ext cx="40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210" name="Rectangle 208"/>
            <p:cNvSpPr>
              <a:spLocks noChangeArrowheads="1"/>
            </p:cNvSpPr>
            <p:nvPr/>
          </p:nvSpPr>
          <p:spPr bwMode="auto">
            <a:xfrm>
              <a:off x="5544" y="3871"/>
              <a:ext cx="40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211" name="Line 209"/>
            <p:cNvSpPr>
              <a:spLocks noChangeShapeType="1"/>
            </p:cNvSpPr>
            <p:nvPr/>
          </p:nvSpPr>
          <p:spPr bwMode="auto">
            <a:xfrm>
              <a:off x="4235" y="2430"/>
              <a:ext cx="32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Line 210"/>
            <p:cNvSpPr>
              <a:spLocks noChangeShapeType="1"/>
            </p:cNvSpPr>
            <p:nvPr/>
          </p:nvSpPr>
          <p:spPr bwMode="auto">
            <a:xfrm>
              <a:off x="4555" y="2909"/>
              <a:ext cx="53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3" name="Line 211"/>
            <p:cNvSpPr>
              <a:spLocks noChangeShapeType="1"/>
            </p:cNvSpPr>
            <p:nvPr/>
          </p:nvSpPr>
          <p:spPr bwMode="auto">
            <a:xfrm>
              <a:off x="4555" y="2430"/>
              <a:ext cx="1" cy="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Line 212"/>
            <p:cNvSpPr>
              <a:spLocks noChangeShapeType="1"/>
            </p:cNvSpPr>
            <p:nvPr/>
          </p:nvSpPr>
          <p:spPr bwMode="auto">
            <a:xfrm>
              <a:off x="5089" y="2430"/>
              <a:ext cx="31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Line 213"/>
            <p:cNvSpPr>
              <a:spLocks noChangeShapeType="1"/>
            </p:cNvSpPr>
            <p:nvPr/>
          </p:nvSpPr>
          <p:spPr bwMode="auto">
            <a:xfrm>
              <a:off x="5089" y="2430"/>
              <a:ext cx="1" cy="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Line 214"/>
            <p:cNvSpPr>
              <a:spLocks noChangeShapeType="1"/>
            </p:cNvSpPr>
            <p:nvPr/>
          </p:nvSpPr>
          <p:spPr bwMode="auto">
            <a:xfrm>
              <a:off x="3567" y="2720"/>
              <a:ext cx="5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7" name="Rectangle 215"/>
            <p:cNvSpPr>
              <a:spLocks noChangeArrowheads="1"/>
            </p:cNvSpPr>
            <p:nvPr/>
          </p:nvSpPr>
          <p:spPr bwMode="auto">
            <a:xfrm>
              <a:off x="3550" y="2607"/>
              <a:ext cx="6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218" name="Rectangle 216"/>
            <p:cNvSpPr>
              <a:spLocks noChangeArrowheads="1"/>
            </p:cNvSpPr>
            <p:nvPr/>
          </p:nvSpPr>
          <p:spPr bwMode="auto">
            <a:xfrm>
              <a:off x="3607" y="2650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 dirty="0"/>
            </a:p>
          </p:txBody>
        </p:sp>
        <p:sp>
          <p:nvSpPr>
            <p:cNvPr id="219" name="Rectangle 217"/>
            <p:cNvSpPr>
              <a:spLocks noChangeArrowheads="1"/>
            </p:cNvSpPr>
            <p:nvPr/>
          </p:nvSpPr>
          <p:spPr bwMode="auto">
            <a:xfrm>
              <a:off x="3540" y="2715"/>
              <a:ext cx="6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220" name="Rectangle 218"/>
            <p:cNvSpPr>
              <a:spLocks noChangeArrowheads="1"/>
            </p:cNvSpPr>
            <p:nvPr/>
          </p:nvSpPr>
          <p:spPr bwMode="auto">
            <a:xfrm>
              <a:off x="3604" y="2746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 i="1" dirty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 dirty="0"/>
            </a:p>
          </p:txBody>
        </p:sp>
        <p:sp>
          <p:nvSpPr>
            <p:cNvPr id="221" name="Rectangle 219"/>
            <p:cNvSpPr>
              <a:spLocks noChangeArrowheads="1"/>
            </p:cNvSpPr>
            <p:nvPr/>
          </p:nvSpPr>
          <p:spPr bwMode="auto">
            <a:xfrm>
              <a:off x="3659" y="2715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222" name="Rectangle 220"/>
            <p:cNvSpPr>
              <a:spLocks noChangeArrowheads="1"/>
            </p:cNvSpPr>
            <p:nvPr/>
          </p:nvSpPr>
          <p:spPr bwMode="auto">
            <a:xfrm>
              <a:off x="3621" y="2654"/>
              <a:ext cx="75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U</a:t>
              </a:r>
              <a:endParaRPr lang="en-US" altLang="zh-CN"/>
            </a:p>
          </p:txBody>
        </p:sp>
        <p:sp>
          <p:nvSpPr>
            <p:cNvPr id="223" name="Line 221"/>
            <p:cNvSpPr>
              <a:spLocks noChangeShapeType="1"/>
            </p:cNvSpPr>
            <p:nvPr/>
          </p:nvSpPr>
          <p:spPr bwMode="auto">
            <a:xfrm>
              <a:off x="3542" y="2487"/>
              <a:ext cx="1" cy="3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4" name="Freeform 222"/>
            <p:cNvSpPr>
              <a:spLocks/>
            </p:cNvSpPr>
            <p:nvPr/>
          </p:nvSpPr>
          <p:spPr bwMode="auto">
            <a:xfrm>
              <a:off x="3507" y="2430"/>
              <a:ext cx="70" cy="75"/>
            </a:xfrm>
            <a:custGeom>
              <a:avLst/>
              <a:gdLst>
                <a:gd name="T0" fmla="*/ 2 w 140"/>
                <a:gd name="T1" fmla="*/ 0 h 75"/>
                <a:gd name="T2" fmla="*/ 3 w 140"/>
                <a:gd name="T3" fmla="*/ 75 h 75"/>
                <a:gd name="T4" fmla="*/ 3 w 140"/>
                <a:gd name="T5" fmla="*/ 73 h 75"/>
                <a:gd name="T6" fmla="*/ 2 w 140"/>
                <a:gd name="T7" fmla="*/ 71 h 75"/>
                <a:gd name="T8" fmla="*/ 2 w 140"/>
                <a:gd name="T9" fmla="*/ 69 h 75"/>
                <a:gd name="T10" fmla="*/ 2 w 140"/>
                <a:gd name="T11" fmla="*/ 68 h 75"/>
                <a:gd name="T12" fmla="*/ 2 w 140"/>
                <a:gd name="T13" fmla="*/ 67 h 75"/>
                <a:gd name="T14" fmla="*/ 2 w 140"/>
                <a:gd name="T15" fmla="*/ 67 h 75"/>
                <a:gd name="T16" fmla="*/ 2 w 140"/>
                <a:gd name="T17" fmla="*/ 66 h 75"/>
                <a:gd name="T18" fmla="*/ 2 w 140"/>
                <a:gd name="T19" fmla="*/ 66 h 75"/>
                <a:gd name="T20" fmla="*/ 1 w 140"/>
                <a:gd name="T21" fmla="*/ 66 h 75"/>
                <a:gd name="T22" fmla="*/ 1 w 140"/>
                <a:gd name="T23" fmla="*/ 67 h 75"/>
                <a:gd name="T24" fmla="*/ 1 w 140"/>
                <a:gd name="T25" fmla="*/ 67 h 75"/>
                <a:gd name="T26" fmla="*/ 1 w 140"/>
                <a:gd name="T27" fmla="*/ 68 h 75"/>
                <a:gd name="T28" fmla="*/ 1 w 140"/>
                <a:gd name="T29" fmla="*/ 69 h 75"/>
                <a:gd name="T30" fmla="*/ 1 w 140"/>
                <a:gd name="T31" fmla="*/ 71 h 75"/>
                <a:gd name="T32" fmla="*/ 1 w 140"/>
                <a:gd name="T33" fmla="*/ 73 h 75"/>
                <a:gd name="T34" fmla="*/ 0 w 140"/>
                <a:gd name="T35" fmla="*/ 75 h 75"/>
                <a:gd name="T36" fmla="*/ 0 w 140"/>
                <a:gd name="T37" fmla="*/ 75 h 75"/>
                <a:gd name="T38" fmla="*/ 2 w 140"/>
                <a:gd name="T39" fmla="*/ 0 h 75"/>
                <a:gd name="T40" fmla="*/ 2 w 140"/>
                <a:gd name="T41" fmla="*/ 0 h 7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5"/>
                <a:gd name="T65" fmla="*/ 140 w 140"/>
                <a:gd name="T66" fmla="*/ 75 h 7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5">
                  <a:moveTo>
                    <a:pt x="70" y="0"/>
                  </a:moveTo>
                  <a:lnTo>
                    <a:pt x="140" y="75"/>
                  </a:lnTo>
                  <a:lnTo>
                    <a:pt x="130" y="73"/>
                  </a:lnTo>
                  <a:lnTo>
                    <a:pt x="123" y="71"/>
                  </a:lnTo>
                  <a:lnTo>
                    <a:pt x="113" y="69"/>
                  </a:lnTo>
                  <a:lnTo>
                    <a:pt x="106" y="68"/>
                  </a:lnTo>
                  <a:lnTo>
                    <a:pt x="96" y="67"/>
                  </a:lnTo>
                  <a:lnTo>
                    <a:pt x="87" y="67"/>
                  </a:lnTo>
                  <a:lnTo>
                    <a:pt x="79" y="66"/>
                  </a:lnTo>
                  <a:lnTo>
                    <a:pt x="70" y="66"/>
                  </a:lnTo>
                  <a:lnTo>
                    <a:pt x="61" y="66"/>
                  </a:lnTo>
                  <a:lnTo>
                    <a:pt x="53" y="67"/>
                  </a:lnTo>
                  <a:lnTo>
                    <a:pt x="44" y="67"/>
                  </a:lnTo>
                  <a:lnTo>
                    <a:pt x="34" y="68"/>
                  </a:lnTo>
                  <a:lnTo>
                    <a:pt x="27" y="69"/>
                  </a:lnTo>
                  <a:lnTo>
                    <a:pt x="17" y="71"/>
                  </a:lnTo>
                  <a:lnTo>
                    <a:pt x="10" y="73"/>
                  </a:lnTo>
                  <a:lnTo>
                    <a:pt x="0" y="75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Freeform 223"/>
            <p:cNvSpPr>
              <a:spLocks/>
            </p:cNvSpPr>
            <p:nvPr/>
          </p:nvSpPr>
          <p:spPr bwMode="auto">
            <a:xfrm>
              <a:off x="3507" y="2833"/>
              <a:ext cx="70" cy="75"/>
            </a:xfrm>
            <a:custGeom>
              <a:avLst/>
              <a:gdLst>
                <a:gd name="T0" fmla="*/ 2 w 140"/>
                <a:gd name="T1" fmla="*/ 75 h 75"/>
                <a:gd name="T2" fmla="*/ 0 w 140"/>
                <a:gd name="T3" fmla="*/ 0 h 75"/>
                <a:gd name="T4" fmla="*/ 1 w 140"/>
                <a:gd name="T5" fmla="*/ 2 h 75"/>
                <a:gd name="T6" fmla="*/ 1 w 140"/>
                <a:gd name="T7" fmla="*/ 4 h 75"/>
                <a:gd name="T8" fmla="*/ 1 w 140"/>
                <a:gd name="T9" fmla="*/ 5 h 75"/>
                <a:gd name="T10" fmla="*/ 1 w 140"/>
                <a:gd name="T11" fmla="*/ 7 h 75"/>
                <a:gd name="T12" fmla="*/ 1 w 140"/>
                <a:gd name="T13" fmla="*/ 8 h 75"/>
                <a:gd name="T14" fmla="*/ 1 w 140"/>
                <a:gd name="T15" fmla="*/ 8 h 75"/>
                <a:gd name="T16" fmla="*/ 1 w 140"/>
                <a:gd name="T17" fmla="*/ 9 h 75"/>
                <a:gd name="T18" fmla="*/ 2 w 140"/>
                <a:gd name="T19" fmla="*/ 9 h 75"/>
                <a:gd name="T20" fmla="*/ 2 w 140"/>
                <a:gd name="T21" fmla="*/ 9 h 75"/>
                <a:gd name="T22" fmla="*/ 2 w 140"/>
                <a:gd name="T23" fmla="*/ 8 h 75"/>
                <a:gd name="T24" fmla="*/ 2 w 140"/>
                <a:gd name="T25" fmla="*/ 8 h 75"/>
                <a:gd name="T26" fmla="*/ 2 w 140"/>
                <a:gd name="T27" fmla="*/ 7 h 75"/>
                <a:gd name="T28" fmla="*/ 2 w 140"/>
                <a:gd name="T29" fmla="*/ 5 h 75"/>
                <a:gd name="T30" fmla="*/ 2 w 140"/>
                <a:gd name="T31" fmla="*/ 4 h 75"/>
                <a:gd name="T32" fmla="*/ 3 w 140"/>
                <a:gd name="T33" fmla="*/ 2 h 75"/>
                <a:gd name="T34" fmla="*/ 3 w 140"/>
                <a:gd name="T35" fmla="*/ 0 h 75"/>
                <a:gd name="T36" fmla="*/ 3 w 140"/>
                <a:gd name="T37" fmla="*/ 0 h 75"/>
                <a:gd name="T38" fmla="*/ 2 w 140"/>
                <a:gd name="T39" fmla="*/ 75 h 75"/>
                <a:gd name="T40" fmla="*/ 2 w 140"/>
                <a:gd name="T41" fmla="*/ 75 h 7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5"/>
                <a:gd name="T65" fmla="*/ 140 w 140"/>
                <a:gd name="T66" fmla="*/ 75 h 7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5">
                  <a:moveTo>
                    <a:pt x="70" y="75"/>
                  </a:moveTo>
                  <a:lnTo>
                    <a:pt x="0" y="0"/>
                  </a:lnTo>
                  <a:lnTo>
                    <a:pt x="10" y="2"/>
                  </a:lnTo>
                  <a:lnTo>
                    <a:pt x="17" y="4"/>
                  </a:lnTo>
                  <a:lnTo>
                    <a:pt x="27" y="5"/>
                  </a:lnTo>
                  <a:lnTo>
                    <a:pt x="34" y="7"/>
                  </a:lnTo>
                  <a:lnTo>
                    <a:pt x="44" y="8"/>
                  </a:lnTo>
                  <a:lnTo>
                    <a:pt x="53" y="8"/>
                  </a:lnTo>
                  <a:lnTo>
                    <a:pt x="61" y="9"/>
                  </a:lnTo>
                  <a:lnTo>
                    <a:pt x="70" y="9"/>
                  </a:lnTo>
                  <a:lnTo>
                    <a:pt x="79" y="9"/>
                  </a:lnTo>
                  <a:lnTo>
                    <a:pt x="87" y="8"/>
                  </a:lnTo>
                  <a:lnTo>
                    <a:pt x="96" y="8"/>
                  </a:lnTo>
                  <a:lnTo>
                    <a:pt x="106" y="7"/>
                  </a:lnTo>
                  <a:lnTo>
                    <a:pt x="113" y="5"/>
                  </a:lnTo>
                  <a:lnTo>
                    <a:pt x="123" y="4"/>
                  </a:lnTo>
                  <a:lnTo>
                    <a:pt x="130" y="2"/>
                  </a:lnTo>
                  <a:lnTo>
                    <a:pt x="140" y="0"/>
                  </a:lnTo>
                  <a:lnTo>
                    <a:pt x="70" y="75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Line 224"/>
            <p:cNvSpPr>
              <a:spLocks noChangeShapeType="1"/>
            </p:cNvSpPr>
            <p:nvPr/>
          </p:nvSpPr>
          <p:spPr bwMode="auto">
            <a:xfrm>
              <a:off x="3702" y="2956"/>
              <a:ext cx="1" cy="1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" name="Line 225"/>
            <p:cNvSpPr>
              <a:spLocks noChangeShapeType="1"/>
            </p:cNvSpPr>
            <p:nvPr/>
          </p:nvSpPr>
          <p:spPr bwMode="auto">
            <a:xfrm>
              <a:off x="4235" y="2956"/>
              <a:ext cx="1" cy="1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8" name="Line 226"/>
            <p:cNvSpPr>
              <a:spLocks noChangeShapeType="1"/>
            </p:cNvSpPr>
            <p:nvPr/>
          </p:nvSpPr>
          <p:spPr bwMode="auto">
            <a:xfrm>
              <a:off x="4235" y="2956"/>
              <a:ext cx="1" cy="2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9" name="Line 227"/>
            <p:cNvSpPr>
              <a:spLocks noChangeShapeType="1"/>
            </p:cNvSpPr>
            <p:nvPr/>
          </p:nvSpPr>
          <p:spPr bwMode="auto">
            <a:xfrm>
              <a:off x="3382" y="3108"/>
              <a:ext cx="1" cy="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0" name="Line 228"/>
            <p:cNvSpPr>
              <a:spLocks noChangeShapeType="1"/>
            </p:cNvSpPr>
            <p:nvPr/>
          </p:nvSpPr>
          <p:spPr bwMode="auto">
            <a:xfrm>
              <a:off x="3434" y="3015"/>
              <a:ext cx="21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" name="Freeform 229"/>
            <p:cNvSpPr>
              <a:spLocks/>
            </p:cNvSpPr>
            <p:nvPr/>
          </p:nvSpPr>
          <p:spPr bwMode="auto">
            <a:xfrm>
              <a:off x="3382" y="2977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2 w 140"/>
                <a:gd name="T3" fmla="*/ 0 h 76"/>
                <a:gd name="T4" fmla="*/ 2 w 140"/>
                <a:gd name="T5" fmla="*/ 5 h 76"/>
                <a:gd name="T6" fmla="*/ 2 w 140"/>
                <a:gd name="T7" fmla="*/ 9 h 76"/>
                <a:gd name="T8" fmla="*/ 2 w 140"/>
                <a:gd name="T9" fmla="*/ 14 h 76"/>
                <a:gd name="T10" fmla="*/ 1 w 140"/>
                <a:gd name="T11" fmla="*/ 18 h 76"/>
                <a:gd name="T12" fmla="*/ 1 w 140"/>
                <a:gd name="T13" fmla="*/ 23 h 76"/>
                <a:gd name="T14" fmla="*/ 1 w 140"/>
                <a:gd name="T15" fmla="*/ 29 h 76"/>
                <a:gd name="T16" fmla="*/ 1 w 140"/>
                <a:gd name="T17" fmla="*/ 33 h 76"/>
                <a:gd name="T18" fmla="*/ 1 w 140"/>
                <a:gd name="T19" fmla="*/ 38 h 76"/>
                <a:gd name="T20" fmla="*/ 1 w 140"/>
                <a:gd name="T21" fmla="*/ 43 h 76"/>
                <a:gd name="T22" fmla="*/ 1 w 140"/>
                <a:gd name="T23" fmla="*/ 47 h 76"/>
                <a:gd name="T24" fmla="*/ 1 w 140"/>
                <a:gd name="T25" fmla="*/ 52 h 76"/>
                <a:gd name="T26" fmla="*/ 1 w 140"/>
                <a:gd name="T27" fmla="*/ 58 h 76"/>
                <a:gd name="T28" fmla="*/ 2 w 140"/>
                <a:gd name="T29" fmla="*/ 62 h 76"/>
                <a:gd name="T30" fmla="*/ 2 w 140"/>
                <a:gd name="T31" fmla="*/ 67 h 76"/>
                <a:gd name="T32" fmla="*/ 2 w 140"/>
                <a:gd name="T33" fmla="*/ 71 h 76"/>
                <a:gd name="T34" fmla="*/ 2 w 140"/>
                <a:gd name="T35" fmla="*/ 76 h 76"/>
                <a:gd name="T36" fmla="*/ 2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Freeform 230"/>
            <p:cNvSpPr>
              <a:spLocks/>
            </p:cNvSpPr>
            <p:nvPr/>
          </p:nvSpPr>
          <p:spPr bwMode="auto">
            <a:xfrm>
              <a:off x="3633" y="2977"/>
              <a:ext cx="69" cy="76"/>
            </a:xfrm>
            <a:custGeom>
              <a:avLst/>
              <a:gdLst>
                <a:gd name="T0" fmla="*/ 2 w 140"/>
                <a:gd name="T1" fmla="*/ 38 h 76"/>
                <a:gd name="T2" fmla="*/ 0 w 140"/>
                <a:gd name="T3" fmla="*/ 76 h 76"/>
                <a:gd name="T4" fmla="*/ 0 w 140"/>
                <a:gd name="T5" fmla="*/ 71 h 76"/>
                <a:gd name="T6" fmla="*/ 0 w 140"/>
                <a:gd name="T7" fmla="*/ 67 h 76"/>
                <a:gd name="T8" fmla="*/ 0 w 140"/>
                <a:gd name="T9" fmla="*/ 62 h 76"/>
                <a:gd name="T10" fmla="*/ 0 w 140"/>
                <a:gd name="T11" fmla="*/ 58 h 76"/>
                <a:gd name="T12" fmla="*/ 0 w 140"/>
                <a:gd name="T13" fmla="*/ 52 h 76"/>
                <a:gd name="T14" fmla="*/ 0 w 140"/>
                <a:gd name="T15" fmla="*/ 47 h 76"/>
                <a:gd name="T16" fmla="*/ 0 w 140"/>
                <a:gd name="T17" fmla="*/ 43 h 76"/>
                <a:gd name="T18" fmla="*/ 0 w 140"/>
                <a:gd name="T19" fmla="*/ 38 h 76"/>
                <a:gd name="T20" fmla="*/ 0 w 140"/>
                <a:gd name="T21" fmla="*/ 33 h 76"/>
                <a:gd name="T22" fmla="*/ 0 w 140"/>
                <a:gd name="T23" fmla="*/ 29 h 76"/>
                <a:gd name="T24" fmla="*/ 0 w 140"/>
                <a:gd name="T25" fmla="*/ 23 h 76"/>
                <a:gd name="T26" fmla="*/ 0 w 140"/>
                <a:gd name="T27" fmla="*/ 18 h 76"/>
                <a:gd name="T28" fmla="*/ 0 w 140"/>
                <a:gd name="T29" fmla="*/ 14 h 76"/>
                <a:gd name="T30" fmla="*/ 0 w 140"/>
                <a:gd name="T31" fmla="*/ 9 h 76"/>
                <a:gd name="T32" fmla="*/ 0 w 140"/>
                <a:gd name="T33" fmla="*/ 5 h 76"/>
                <a:gd name="T34" fmla="*/ 0 w 140"/>
                <a:gd name="T35" fmla="*/ 0 h 76"/>
                <a:gd name="T36" fmla="*/ 0 w 140"/>
                <a:gd name="T37" fmla="*/ 0 h 76"/>
                <a:gd name="T38" fmla="*/ 2 w 140"/>
                <a:gd name="T39" fmla="*/ 38 h 76"/>
                <a:gd name="T40" fmla="*/ 2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140" y="38"/>
                  </a:moveTo>
                  <a:lnTo>
                    <a:pt x="0" y="76"/>
                  </a:lnTo>
                  <a:lnTo>
                    <a:pt x="4" y="71"/>
                  </a:lnTo>
                  <a:lnTo>
                    <a:pt x="8" y="67"/>
                  </a:lnTo>
                  <a:lnTo>
                    <a:pt x="11" y="62"/>
                  </a:lnTo>
                  <a:lnTo>
                    <a:pt x="13" y="58"/>
                  </a:lnTo>
                  <a:lnTo>
                    <a:pt x="15" y="52"/>
                  </a:lnTo>
                  <a:lnTo>
                    <a:pt x="17" y="47"/>
                  </a:lnTo>
                  <a:lnTo>
                    <a:pt x="17" y="43"/>
                  </a:lnTo>
                  <a:lnTo>
                    <a:pt x="17" y="38"/>
                  </a:lnTo>
                  <a:lnTo>
                    <a:pt x="17" y="33"/>
                  </a:lnTo>
                  <a:lnTo>
                    <a:pt x="17" y="29"/>
                  </a:lnTo>
                  <a:lnTo>
                    <a:pt x="15" y="23"/>
                  </a:lnTo>
                  <a:lnTo>
                    <a:pt x="13" y="18"/>
                  </a:lnTo>
                  <a:lnTo>
                    <a:pt x="11" y="14"/>
                  </a:lnTo>
                  <a:lnTo>
                    <a:pt x="8" y="9"/>
                  </a:lnTo>
                  <a:lnTo>
                    <a:pt x="4" y="5"/>
                  </a:lnTo>
                  <a:lnTo>
                    <a:pt x="0" y="0"/>
                  </a:lnTo>
                  <a:lnTo>
                    <a:pt x="14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Line 231"/>
            <p:cNvSpPr>
              <a:spLocks noChangeShapeType="1"/>
            </p:cNvSpPr>
            <p:nvPr/>
          </p:nvSpPr>
          <p:spPr bwMode="auto">
            <a:xfrm>
              <a:off x="3754" y="3015"/>
              <a:ext cx="42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Freeform 232"/>
            <p:cNvSpPr>
              <a:spLocks/>
            </p:cNvSpPr>
            <p:nvPr/>
          </p:nvSpPr>
          <p:spPr bwMode="auto">
            <a:xfrm>
              <a:off x="3702" y="2977"/>
              <a:ext cx="69" cy="76"/>
            </a:xfrm>
            <a:custGeom>
              <a:avLst/>
              <a:gdLst>
                <a:gd name="T0" fmla="*/ 0 w 137"/>
                <a:gd name="T1" fmla="*/ 38 h 76"/>
                <a:gd name="T2" fmla="*/ 3 w 137"/>
                <a:gd name="T3" fmla="*/ 0 h 76"/>
                <a:gd name="T4" fmla="*/ 3 w 137"/>
                <a:gd name="T5" fmla="*/ 5 h 76"/>
                <a:gd name="T6" fmla="*/ 3 w 137"/>
                <a:gd name="T7" fmla="*/ 9 h 76"/>
                <a:gd name="T8" fmla="*/ 2 w 137"/>
                <a:gd name="T9" fmla="*/ 14 h 76"/>
                <a:gd name="T10" fmla="*/ 2 w 137"/>
                <a:gd name="T11" fmla="*/ 18 h 76"/>
                <a:gd name="T12" fmla="*/ 2 w 137"/>
                <a:gd name="T13" fmla="*/ 23 h 76"/>
                <a:gd name="T14" fmla="*/ 2 w 137"/>
                <a:gd name="T15" fmla="*/ 29 h 76"/>
                <a:gd name="T16" fmla="*/ 2 w 137"/>
                <a:gd name="T17" fmla="*/ 33 h 76"/>
                <a:gd name="T18" fmla="*/ 2 w 137"/>
                <a:gd name="T19" fmla="*/ 38 h 76"/>
                <a:gd name="T20" fmla="*/ 2 w 137"/>
                <a:gd name="T21" fmla="*/ 43 h 76"/>
                <a:gd name="T22" fmla="*/ 2 w 137"/>
                <a:gd name="T23" fmla="*/ 47 h 76"/>
                <a:gd name="T24" fmla="*/ 2 w 137"/>
                <a:gd name="T25" fmla="*/ 52 h 76"/>
                <a:gd name="T26" fmla="*/ 2 w 137"/>
                <a:gd name="T27" fmla="*/ 58 h 76"/>
                <a:gd name="T28" fmla="*/ 2 w 137"/>
                <a:gd name="T29" fmla="*/ 62 h 76"/>
                <a:gd name="T30" fmla="*/ 3 w 137"/>
                <a:gd name="T31" fmla="*/ 67 h 76"/>
                <a:gd name="T32" fmla="*/ 3 w 137"/>
                <a:gd name="T33" fmla="*/ 71 h 76"/>
                <a:gd name="T34" fmla="*/ 3 w 137"/>
                <a:gd name="T35" fmla="*/ 76 h 76"/>
                <a:gd name="T36" fmla="*/ 3 w 137"/>
                <a:gd name="T37" fmla="*/ 76 h 76"/>
                <a:gd name="T38" fmla="*/ 0 w 137"/>
                <a:gd name="T39" fmla="*/ 38 h 76"/>
                <a:gd name="T40" fmla="*/ 0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0" y="38"/>
                  </a:moveTo>
                  <a:lnTo>
                    <a:pt x="137" y="0"/>
                  </a:lnTo>
                  <a:lnTo>
                    <a:pt x="134" y="5"/>
                  </a:lnTo>
                  <a:lnTo>
                    <a:pt x="130" y="9"/>
                  </a:lnTo>
                  <a:lnTo>
                    <a:pt x="128" y="14"/>
                  </a:lnTo>
                  <a:lnTo>
                    <a:pt x="124" y="18"/>
                  </a:lnTo>
                  <a:lnTo>
                    <a:pt x="122" y="23"/>
                  </a:lnTo>
                  <a:lnTo>
                    <a:pt x="122" y="29"/>
                  </a:lnTo>
                  <a:lnTo>
                    <a:pt x="120" y="33"/>
                  </a:lnTo>
                  <a:lnTo>
                    <a:pt x="120" y="38"/>
                  </a:lnTo>
                  <a:lnTo>
                    <a:pt x="120" y="43"/>
                  </a:lnTo>
                  <a:lnTo>
                    <a:pt x="122" y="47"/>
                  </a:lnTo>
                  <a:lnTo>
                    <a:pt x="122" y="52"/>
                  </a:lnTo>
                  <a:lnTo>
                    <a:pt x="124" y="58"/>
                  </a:lnTo>
                  <a:lnTo>
                    <a:pt x="128" y="62"/>
                  </a:lnTo>
                  <a:lnTo>
                    <a:pt x="130" y="67"/>
                  </a:lnTo>
                  <a:lnTo>
                    <a:pt x="134" y="71"/>
                  </a:lnTo>
                  <a:lnTo>
                    <a:pt x="137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Freeform 233"/>
            <p:cNvSpPr>
              <a:spLocks/>
            </p:cNvSpPr>
            <p:nvPr/>
          </p:nvSpPr>
          <p:spPr bwMode="auto">
            <a:xfrm>
              <a:off x="4166" y="2977"/>
              <a:ext cx="69" cy="76"/>
            </a:xfrm>
            <a:custGeom>
              <a:avLst/>
              <a:gdLst>
                <a:gd name="T0" fmla="*/ 3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3 w 137"/>
                <a:gd name="T39" fmla="*/ 38 h 76"/>
                <a:gd name="T40" fmla="*/ 3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Line 234"/>
            <p:cNvSpPr>
              <a:spLocks noChangeShapeType="1"/>
            </p:cNvSpPr>
            <p:nvPr/>
          </p:nvSpPr>
          <p:spPr bwMode="auto">
            <a:xfrm>
              <a:off x="3434" y="3132"/>
              <a:ext cx="74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Freeform 235"/>
            <p:cNvSpPr>
              <a:spLocks/>
            </p:cNvSpPr>
            <p:nvPr/>
          </p:nvSpPr>
          <p:spPr bwMode="auto">
            <a:xfrm>
              <a:off x="3382" y="3094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2 w 140"/>
                <a:gd name="T3" fmla="*/ 0 h 76"/>
                <a:gd name="T4" fmla="*/ 2 w 140"/>
                <a:gd name="T5" fmla="*/ 5 h 76"/>
                <a:gd name="T6" fmla="*/ 2 w 140"/>
                <a:gd name="T7" fmla="*/ 9 h 76"/>
                <a:gd name="T8" fmla="*/ 2 w 140"/>
                <a:gd name="T9" fmla="*/ 14 h 76"/>
                <a:gd name="T10" fmla="*/ 1 w 140"/>
                <a:gd name="T11" fmla="*/ 18 h 76"/>
                <a:gd name="T12" fmla="*/ 1 w 140"/>
                <a:gd name="T13" fmla="*/ 23 h 76"/>
                <a:gd name="T14" fmla="*/ 1 w 140"/>
                <a:gd name="T15" fmla="*/ 29 h 76"/>
                <a:gd name="T16" fmla="*/ 1 w 140"/>
                <a:gd name="T17" fmla="*/ 33 h 76"/>
                <a:gd name="T18" fmla="*/ 1 w 140"/>
                <a:gd name="T19" fmla="*/ 38 h 76"/>
                <a:gd name="T20" fmla="*/ 1 w 140"/>
                <a:gd name="T21" fmla="*/ 43 h 76"/>
                <a:gd name="T22" fmla="*/ 1 w 140"/>
                <a:gd name="T23" fmla="*/ 47 h 76"/>
                <a:gd name="T24" fmla="*/ 1 w 140"/>
                <a:gd name="T25" fmla="*/ 52 h 76"/>
                <a:gd name="T26" fmla="*/ 1 w 140"/>
                <a:gd name="T27" fmla="*/ 58 h 76"/>
                <a:gd name="T28" fmla="*/ 2 w 140"/>
                <a:gd name="T29" fmla="*/ 62 h 76"/>
                <a:gd name="T30" fmla="*/ 2 w 140"/>
                <a:gd name="T31" fmla="*/ 67 h 76"/>
                <a:gd name="T32" fmla="*/ 2 w 140"/>
                <a:gd name="T33" fmla="*/ 71 h 76"/>
                <a:gd name="T34" fmla="*/ 2 w 140"/>
                <a:gd name="T35" fmla="*/ 76 h 76"/>
                <a:gd name="T36" fmla="*/ 2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Freeform 236"/>
            <p:cNvSpPr>
              <a:spLocks/>
            </p:cNvSpPr>
            <p:nvPr/>
          </p:nvSpPr>
          <p:spPr bwMode="auto">
            <a:xfrm>
              <a:off x="4166" y="3094"/>
              <a:ext cx="69" cy="76"/>
            </a:xfrm>
            <a:custGeom>
              <a:avLst/>
              <a:gdLst>
                <a:gd name="T0" fmla="*/ 3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3 w 137"/>
                <a:gd name="T39" fmla="*/ 38 h 76"/>
                <a:gd name="T40" fmla="*/ 3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" name="Rectangle 237"/>
            <p:cNvSpPr>
              <a:spLocks noChangeArrowheads="1"/>
            </p:cNvSpPr>
            <p:nvPr/>
          </p:nvSpPr>
          <p:spPr bwMode="auto">
            <a:xfrm>
              <a:off x="3539" y="2936"/>
              <a:ext cx="72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on</a:t>
              </a:r>
              <a:endParaRPr lang="en-US" altLang="zh-CN"/>
            </a:p>
          </p:txBody>
        </p:sp>
        <p:sp>
          <p:nvSpPr>
            <p:cNvPr id="240" name="Rectangle 238"/>
            <p:cNvSpPr>
              <a:spLocks noChangeArrowheads="1"/>
            </p:cNvSpPr>
            <p:nvPr/>
          </p:nvSpPr>
          <p:spPr bwMode="auto">
            <a:xfrm>
              <a:off x="3520" y="2890"/>
              <a:ext cx="2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241" name="Line 239"/>
            <p:cNvSpPr>
              <a:spLocks noChangeShapeType="1"/>
            </p:cNvSpPr>
            <p:nvPr/>
          </p:nvSpPr>
          <p:spPr bwMode="auto">
            <a:xfrm flipV="1">
              <a:off x="3699" y="3910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Line 240"/>
            <p:cNvSpPr>
              <a:spLocks noChangeShapeType="1"/>
            </p:cNvSpPr>
            <p:nvPr/>
          </p:nvSpPr>
          <p:spPr bwMode="auto">
            <a:xfrm flipV="1">
              <a:off x="4232" y="3910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" name="Line 241"/>
            <p:cNvSpPr>
              <a:spLocks noChangeShapeType="1"/>
            </p:cNvSpPr>
            <p:nvPr/>
          </p:nvSpPr>
          <p:spPr bwMode="auto">
            <a:xfrm flipV="1">
              <a:off x="4552" y="3910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" name="Line 242"/>
            <p:cNvSpPr>
              <a:spLocks noChangeShapeType="1"/>
            </p:cNvSpPr>
            <p:nvPr/>
          </p:nvSpPr>
          <p:spPr bwMode="auto">
            <a:xfrm flipV="1">
              <a:off x="5086" y="3910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Freeform 243"/>
            <p:cNvSpPr>
              <a:spLocks/>
            </p:cNvSpPr>
            <p:nvPr/>
          </p:nvSpPr>
          <p:spPr bwMode="auto">
            <a:xfrm>
              <a:off x="3382" y="3483"/>
              <a:ext cx="1898" cy="234"/>
            </a:xfrm>
            <a:custGeom>
              <a:avLst/>
              <a:gdLst>
                <a:gd name="T0" fmla="*/ 0 w 3797"/>
                <a:gd name="T1" fmla="*/ 234 h 234"/>
                <a:gd name="T2" fmla="*/ 10 w 3797"/>
                <a:gd name="T3" fmla="*/ 0 h 234"/>
                <a:gd name="T4" fmla="*/ 26 w 3797"/>
                <a:gd name="T5" fmla="*/ 234 h 234"/>
                <a:gd name="T6" fmla="*/ 36 w 3797"/>
                <a:gd name="T7" fmla="*/ 0 h 234"/>
                <a:gd name="T8" fmla="*/ 53 w 3797"/>
                <a:gd name="T9" fmla="*/ 234 h 234"/>
                <a:gd name="T10" fmla="*/ 59 w 3797"/>
                <a:gd name="T11" fmla="*/ 117 h 2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797"/>
                <a:gd name="T19" fmla="*/ 0 h 234"/>
                <a:gd name="T20" fmla="*/ 3797 w 3797"/>
                <a:gd name="T21" fmla="*/ 234 h 2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797" h="234">
                  <a:moveTo>
                    <a:pt x="0" y="234"/>
                  </a:moveTo>
                  <a:lnTo>
                    <a:pt x="642" y="0"/>
                  </a:lnTo>
                  <a:lnTo>
                    <a:pt x="1707" y="234"/>
                  </a:lnTo>
                  <a:lnTo>
                    <a:pt x="2347" y="0"/>
                  </a:lnTo>
                  <a:lnTo>
                    <a:pt x="3414" y="234"/>
                  </a:lnTo>
                  <a:lnTo>
                    <a:pt x="3797" y="11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" name="Freeform 244"/>
            <p:cNvSpPr>
              <a:spLocks/>
            </p:cNvSpPr>
            <p:nvPr/>
          </p:nvSpPr>
          <p:spPr bwMode="auto">
            <a:xfrm>
              <a:off x="3702" y="2430"/>
              <a:ext cx="533" cy="479"/>
            </a:xfrm>
            <a:custGeom>
              <a:avLst/>
              <a:gdLst>
                <a:gd name="T0" fmla="*/ 0 w 1065"/>
                <a:gd name="T1" fmla="*/ 0 h 479"/>
                <a:gd name="T2" fmla="*/ 0 w 1065"/>
                <a:gd name="T3" fmla="*/ 479 h 479"/>
                <a:gd name="T4" fmla="*/ 17 w 1065"/>
                <a:gd name="T5" fmla="*/ 479 h 479"/>
                <a:gd name="T6" fmla="*/ 17 w 1065"/>
                <a:gd name="T7" fmla="*/ 0 h 4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5"/>
                <a:gd name="T13" fmla="*/ 0 h 479"/>
                <a:gd name="T14" fmla="*/ 1065 w 1065"/>
                <a:gd name="T15" fmla="*/ 479 h 4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5" h="479">
                  <a:moveTo>
                    <a:pt x="0" y="0"/>
                  </a:moveTo>
                  <a:lnTo>
                    <a:pt x="0" y="479"/>
                  </a:lnTo>
                  <a:lnTo>
                    <a:pt x="1065" y="479"/>
                  </a:lnTo>
                  <a:lnTo>
                    <a:pt x="106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" name="Freeform 245"/>
            <p:cNvSpPr>
              <a:spLocks noEditPoints="1"/>
            </p:cNvSpPr>
            <p:nvPr/>
          </p:nvSpPr>
          <p:spPr bwMode="auto">
            <a:xfrm>
              <a:off x="3376" y="2610"/>
              <a:ext cx="2039" cy="13"/>
            </a:xfrm>
            <a:custGeom>
              <a:avLst/>
              <a:gdLst>
                <a:gd name="T0" fmla="*/ 4 w 4078"/>
                <a:gd name="T1" fmla="*/ 5 h 13"/>
                <a:gd name="T2" fmla="*/ 3 w 4078"/>
                <a:gd name="T3" fmla="*/ 13 h 13"/>
                <a:gd name="T4" fmla="*/ 0 w 4078"/>
                <a:gd name="T5" fmla="*/ 6 h 13"/>
                <a:gd name="T6" fmla="*/ 1 w 4078"/>
                <a:gd name="T7" fmla="*/ 0 h 13"/>
                <a:gd name="T8" fmla="*/ 8 w 4078"/>
                <a:gd name="T9" fmla="*/ 5 h 13"/>
                <a:gd name="T10" fmla="*/ 8 w 4078"/>
                <a:gd name="T11" fmla="*/ 13 h 13"/>
                <a:gd name="T12" fmla="*/ 5 w 4078"/>
                <a:gd name="T13" fmla="*/ 6 h 13"/>
                <a:gd name="T14" fmla="*/ 5 w 4078"/>
                <a:gd name="T15" fmla="*/ 0 h 13"/>
                <a:gd name="T16" fmla="*/ 13 w 4078"/>
                <a:gd name="T17" fmla="*/ 5 h 13"/>
                <a:gd name="T18" fmla="*/ 13 w 4078"/>
                <a:gd name="T19" fmla="*/ 13 h 13"/>
                <a:gd name="T20" fmla="*/ 10 w 4078"/>
                <a:gd name="T21" fmla="*/ 6 h 13"/>
                <a:gd name="T22" fmla="*/ 10 w 4078"/>
                <a:gd name="T23" fmla="*/ 0 h 13"/>
                <a:gd name="T24" fmla="*/ 18 w 4078"/>
                <a:gd name="T25" fmla="*/ 5 h 13"/>
                <a:gd name="T26" fmla="*/ 18 w 4078"/>
                <a:gd name="T27" fmla="*/ 13 h 13"/>
                <a:gd name="T28" fmla="*/ 15 w 4078"/>
                <a:gd name="T29" fmla="*/ 6 h 13"/>
                <a:gd name="T30" fmla="*/ 15 w 4078"/>
                <a:gd name="T31" fmla="*/ 0 h 13"/>
                <a:gd name="T32" fmla="*/ 23 w 4078"/>
                <a:gd name="T33" fmla="*/ 5 h 13"/>
                <a:gd name="T34" fmla="*/ 23 w 4078"/>
                <a:gd name="T35" fmla="*/ 13 h 13"/>
                <a:gd name="T36" fmla="*/ 20 w 4078"/>
                <a:gd name="T37" fmla="*/ 6 h 13"/>
                <a:gd name="T38" fmla="*/ 20 w 4078"/>
                <a:gd name="T39" fmla="*/ 0 h 13"/>
                <a:gd name="T40" fmla="*/ 28 w 4078"/>
                <a:gd name="T41" fmla="*/ 5 h 13"/>
                <a:gd name="T42" fmla="*/ 27 w 4078"/>
                <a:gd name="T43" fmla="*/ 13 h 13"/>
                <a:gd name="T44" fmla="*/ 24 w 4078"/>
                <a:gd name="T45" fmla="*/ 6 h 13"/>
                <a:gd name="T46" fmla="*/ 25 w 4078"/>
                <a:gd name="T47" fmla="*/ 0 h 13"/>
                <a:gd name="T48" fmla="*/ 32 w 4078"/>
                <a:gd name="T49" fmla="*/ 5 h 13"/>
                <a:gd name="T50" fmla="*/ 32 w 4078"/>
                <a:gd name="T51" fmla="*/ 13 h 13"/>
                <a:gd name="T52" fmla="*/ 29 w 4078"/>
                <a:gd name="T53" fmla="*/ 6 h 13"/>
                <a:gd name="T54" fmla="*/ 29 w 4078"/>
                <a:gd name="T55" fmla="*/ 0 h 13"/>
                <a:gd name="T56" fmla="*/ 37 w 4078"/>
                <a:gd name="T57" fmla="*/ 5 h 13"/>
                <a:gd name="T58" fmla="*/ 37 w 4078"/>
                <a:gd name="T59" fmla="*/ 13 h 13"/>
                <a:gd name="T60" fmla="*/ 34 w 4078"/>
                <a:gd name="T61" fmla="*/ 6 h 13"/>
                <a:gd name="T62" fmla="*/ 34 w 4078"/>
                <a:gd name="T63" fmla="*/ 0 h 13"/>
                <a:gd name="T64" fmla="*/ 42 w 4078"/>
                <a:gd name="T65" fmla="*/ 5 h 13"/>
                <a:gd name="T66" fmla="*/ 42 w 4078"/>
                <a:gd name="T67" fmla="*/ 13 h 13"/>
                <a:gd name="T68" fmla="*/ 39 w 4078"/>
                <a:gd name="T69" fmla="*/ 6 h 13"/>
                <a:gd name="T70" fmla="*/ 39 w 4078"/>
                <a:gd name="T71" fmla="*/ 0 h 13"/>
                <a:gd name="T72" fmla="*/ 47 w 4078"/>
                <a:gd name="T73" fmla="*/ 5 h 13"/>
                <a:gd name="T74" fmla="*/ 47 w 4078"/>
                <a:gd name="T75" fmla="*/ 13 h 13"/>
                <a:gd name="T76" fmla="*/ 44 w 4078"/>
                <a:gd name="T77" fmla="*/ 6 h 13"/>
                <a:gd name="T78" fmla="*/ 44 w 4078"/>
                <a:gd name="T79" fmla="*/ 0 h 13"/>
                <a:gd name="T80" fmla="*/ 52 w 4078"/>
                <a:gd name="T81" fmla="*/ 5 h 13"/>
                <a:gd name="T82" fmla="*/ 51 w 4078"/>
                <a:gd name="T83" fmla="*/ 13 h 13"/>
                <a:gd name="T84" fmla="*/ 48 w 4078"/>
                <a:gd name="T85" fmla="*/ 6 h 13"/>
                <a:gd name="T86" fmla="*/ 49 w 4078"/>
                <a:gd name="T87" fmla="*/ 0 h 13"/>
                <a:gd name="T88" fmla="*/ 56 w 4078"/>
                <a:gd name="T89" fmla="*/ 5 h 13"/>
                <a:gd name="T90" fmla="*/ 56 w 4078"/>
                <a:gd name="T91" fmla="*/ 13 h 13"/>
                <a:gd name="T92" fmla="*/ 53 w 4078"/>
                <a:gd name="T93" fmla="*/ 6 h 13"/>
                <a:gd name="T94" fmla="*/ 53 w 4078"/>
                <a:gd name="T95" fmla="*/ 0 h 13"/>
                <a:gd name="T96" fmla="*/ 61 w 4078"/>
                <a:gd name="T97" fmla="*/ 5 h 13"/>
                <a:gd name="T98" fmla="*/ 61 w 4078"/>
                <a:gd name="T99" fmla="*/ 13 h 13"/>
                <a:gd name="T100" fmla="*/ 58 w 4078"/>
                <a:gd name="T101" fmla="*/ 6 h 13"/>
                <a:gd name="T102" fmla="*/ 58 w 4078"/>
                <a:gd name="T103" fmla="*/ 0 h 13"/>
                <a:gd name="T104" fmla="*/ 64 w 4078"/>
                <a:gd name="T105" fmla="*/ 5 h 13"/>
                <a:gd name="T106" fmla="*/ 64 w 4078"/>
                <a:gd name="T107" fmla="*/ 13 h 13"/>
                <a:gd name="T108" fmla="*/ 63 w 4078"/>
                <a:gd name="T109" fmla="*/ 6 h 13"/>
                <a:gd name="T110" fmla="*/ 63 w 4078"/>
                <a:gd name="T111" fmla="*/ 0 h 13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4078"/>
                <a:gd name="T169" fmla="*/ 0 h 13"/>
                <a:gd name="T170" fmla="*/ 4078 w 4078"/>
                <a:gd name="T171" fmla="*/ 13 h 13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4078" h="13">
                  <a:moveTo>
                    <a:pt x="11" y="0"/>
                  </a:moveTo>
                  <a:lnTo>
                    <a:pt x="191" y="0"/>
                  </a:lnTo>
                  <a:lnTo>
                    <a:pt x="194" y="0"/>
                  </a:lnTo>
                  <a:lnTo>
                    <a:pt x="196" y="0"/>
                  </a:lnTo>
                  <a:lnTo>
                    <a:pt x="200" y="2"/>
                  </a:lnTo>
                  <a:lnTo>
                    <a:pt x="202" y="4"/>
                  </a:lnTo>
                  <a:lnTo>
                    <a:pt x="204" y="5"/>
                  </a:lnTo>
                  <a:lnTo>
                    <a:pt x="204" y="6"/>
                  </a:lnTo>
                  <a:lnTo>
                    <a:pt x="204" y="8"/>
                  </a:lnTo>
                  <a:lnTo>
                    <a:pt x="202" y="9"/>
                  </a:lnTo>
                  <a:lnTo>
                    <a:pt x="200" y="11"/>
                  </a:lnTo>
                  <a:lnTo>
                    <a:pt x="196" y="13"/>
                  </a:lnTo>
                  <a:lnTo>
                    <a:pt x="194" y="13"/>
                  </a:lnTo>
                  <a:lnTo>
                    <a:pt x="191" y="13"/>
                  </a:lnTo>
                  <a:lnTo>
                    <a:pt x="11" y="13"/>
                  </a:lnTo>
                  <a:lnTo>
                    <a:pt x="9" y="13"/>
                  </a:lnTo>
                  <a:lnTo>
                    <a:pt x="8" y="13"/>
                  </a:lnTo>
                  <a:lnTo>
                    <a:pt x="4" y="11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4" y="2"/>
                  </a:lnTo>
                  <a:lnTo>
                    <a:pt x="8" y="0"/>
                  </a:lnTo>
                  <a:lnTo>
                    <a:pt x="9" y="0"/>
                  </a:lnTo>
                  <a:lnTo>
                    <a:pt x="11" y="0"/>
                  </a:lnTo>
                  <a:close/>
                  <a:moveTo>
                    <a:pt x="319" y="0"/>
                  </a:moveTo>
                  <a:lnTo>
                    <a:pt x="498" y="0"/>
                  </a:lnTo>
                  <a:lnTo>
                    <a:pt x="500" y="0"/>
                  </a:lnTo>
                  <a:lnTo>
                    <a:pt x="502" y="0"/>
                  </a:lnTo>
                  <a:lnTo>
                    <a:pt x="507" y="2"/>
                  </a:lnTo>
                  <a:lnTo>
                    <a:pt x="509" y="4"/>
                  </a:lnTo>
                  <a:lnTo>
                    <a:pt x="509" y="5"/>
                  </a:lnTo>
                  <a:lnTo>
                    <a:pt x="511" y="6"/>
                  </a:lnTo>
                  <a:lnTo>
                    <a:pt x="509" y="8"/>
                  </a:lnTo>
                  <a:lnTo>
                    <a:pt x="509" y="9"/>
                  </a:lnTo>
                  <a:lnTo>
                    <a:pt x="507" y="11"/>
                  </a:lnTo>
                  <a:lnTo>
                    <a:pt x="502" y="13"/>
                  </a:lnTo>
                  <a:lnTo>
                    <a:pt x="500" y="13"/>
                  </a:lnTo>
                  <a:lnTo>
                    <a:pt x="498" y="13"/>
                  </a:lnTo>
                  <a:lnTo>
                    <a:pt x="319" y="13"/>
                  </a:lnTo>
                  <a:lnTo>
                    <a:pt x="317" y="13"/>
                  </a:lnTo>
                  <a:lnTo>
                    <a:pt x="313" y="13"/>
                  </a:lnTo>
                  <a:lnTo>
                    <a:pt x="309" y="11"/>
                  </a:lnTo>
                  <a:lnTo>
                    <a:pt x="307" y="9"/>
                  </a:lnTo>
                  <a:lnTo>
                    <a:pt x="306" y="8"/>
                  </a:lnTo>
                  <a:lnTo>
                    <a:pt x="306" y="6"/>
                  </a:lnTo>
                  <a:lnTo>
                    <a:pt x="306" y="5"/>
                  </a:lnTo>
                  <a:lnTo>
                    <a:pt x="307" y="4"/>
                  </a:lnTo>
                  <a:lnTo>
                    <a:pt x="309" y="2"/>
                  </a:lnTo>
                  <a:lnTo>
                    <a:pt x="313" y="0"/>
                  </a:lnTo>
                  <a:lnTo>
                    <a:pt x="317" y="0"/>
                  </a:lnTo>
                  <a:lnTo>
                    <a:pt x="319" y="0"/>
                  </a:lnTo>
                  <a:close/>
                  <a:moveTo>
                    <a:pt x="626" y="0"/>
                  </a:moveTo>
                  <a:lnTo>
                    <a:pt x="804" y="0"/>
                  </a:lnTo>
                  <a:lnTo>
                    <a:pt x="807" y="0"/>
                  </a:lnTo>
                  <a:lnTo>
                    <a:pt x="809" y="0"/>
                  </a:lnTo>
                  <a:lnTo>
                    <a:pt x="813" y="2"/>
                  </a:lnTo>
                  <a:lnTo>
                    <a:pt x="817" y="4"/>
                  </a:lnTo>
                  <a:lnTo>
                    <a:pt x="817" y="5"/>
                  </a:lnTo>
                  <a:lnTo>
                    <a:pt x="817" y="6"/>
                  </a:lnTo>
                  <a:lnTo>
                    <a:pt x="817" y="8"/>
                  </a:lnTo>
                  <a:lnTo>
                    <a:pt x="817" y="9"/>
                  </a:lnTo>
                  <a:lnTo>
                    <a:pt x="813" y="11"/>
                  </a:lnTo>
                  <a:lnTo>
                    <a:pt x="809" y="13"/>
                  </a:lnTo>
                  <a:lnTo>
                    <a:pt x="807" y="13"/>
                  </a:lnTo>
                  <a:lnTo>
                    <a:pt x="804" y="13"/>
                  </a:lnTo>
                  <a:lnTo>
                    <a:pt x="626" y="13"/>
                  </a:lnTo>
                  <a:lnTo>
                    <a:pt x="622" y="13"/>
                  </a:lnTo>
                  <a:lnTo>
                    <a:pt x="621" y="13"/>
                  </a:lnTo>
                  <a:lnTo>
                    <a:pt x="617" y="11"/>
                  </a:lnTo>
                  <a:lnTo>
                    <a:pt x="613" y="9"/>
                  </a:lnTo>
                  <a:lnTo>
                    <a:pt x="613" y="8"/>
                  </a:lnTo>
                  <a:lnTo>
                    <a:pt x="613" y="6"/>
                  </a:lnTo>
                  <a:lnTo>
                    <a:pt x="613" y="5"/>
                  </a:lnTo>
                  <a:lnTo>
                    <a:pt x="613" y="4"/>
                  </a:lnTo>
                  <a:lnTo>
                    <a:pt x="617" y="2"/>
                  </a:lnTo>
                  <a:lnTo>
                    <a:pt x="621" y="0"/>
                  </a:lnTo>
                  <a:lnTo>
                    <a:pt x="622" y="0"/>
                  </a:lnTo>
                  <a:lnTo>
                    <a:pt x="626" y="0"/>
                  </a:lnTo>
                  <a:close/>
                  <a:moveTo>
                    <a:pt x="932" y="0"/>
                  </a:moveTo>
                  <a:lnTo>
                    <a:pt x="1111" y="0"/>
                  </a:lnTo>
                  <a:lnTo>
                    <a:pt x="1113" y="0"/>
                  </a:lnTo>
                  <a:lnTo>
                    <a:pt x="1117" y="0"/>
                  </a:lnTo>
                  <a:lnTo>
                    <a:pt x="1120" y="2"/>
                  </a:lnTo>
                  <a:lnTo>
                    <a:pt x="1122" y="4"/>
                  </a:lnTo>
                  <a:lnTo>
                    <a:pt x="1124" y="5"/>
                  </a:lnTo>
                  <a:lnTo>
                    <a:pt x="1124" y="6"/>
                  </a:lnTo>
                  <a:lnTo>
                    <a:pt x="1124" y="8"/>
                  </a:lnTo>
                  <a:lnTo>
                    <a:pt x="1122" y="9"/>
                  </a:lnTo>
                  <a:lnTo>
                    <a:pt x="1120" y="11"/>
                  </a:lnTo>
                  <a:lnTo>
                    <a:pt x="1117" y="13"/>
                  </a:lnTo>
                  <a:lnTo>
                    <a:pt x="1113" y="13"/>
                  </a:lnTo>
                  <a:lnTo>
                    <a:pt x="1111" y="13"/>
                  </a:lnTo>
                  <a:lnTo>
                    <a:pt x="932" y="13"/>
                  </a:lnTo>
                  <a:lnTo>
                    <a:pt x="930" y="13"/>
                  </a:lnTo>
                  <a:lnTo>
                    <a:pt x="926" y="13"/>
                  </a:lnTo>
                  <a:lnTo>
                    <a:pt x="922" y="11"/>
                  </a:lnTo>
                  <a:lnTo>
                    <a:pt x="920" y="9"/>
                  </a:lnTo>
                  <a:lnTo>
                    <a:pt x="919" y="8"/>
                  </a:lnTo>
                  <a:lnTo>
                    <a:pt x="919" y="6"/>
                  </a:lnTo>
                  <a:lnTo>
                    <a:pt x="919" y="5"/>
                  </a:lnTo>
                  <a:lnTo>
                    <a:pt x="920" y="4"/>
                  </a:lnTo>
                  <a:lnTo>
                    <a:pt x="922" y="2"/>
                  </a:lnTo>
                  <a:lnTo>
                    <a:pt x="926" y="0"/>
                  </a:lnTo>
                  <a:lnTo>
                    <a:pt x="930" y="0"/>
                  </a:lnTo>
                  <a:lnTo>
                    <a:pt x="932" y="0"/>
                  </a:lnTo>
                  <a:close/>
                  <a:moveTo>
                    <a:pt x="1239" y="0"/>
                  </a:moveTo>
                  <a:lnTo>
                    <a:pt x="1417" y="0"/>
                  </a:lnTo>
                  <a:lnTo>
                    <a:pt x="1420" y="0"/>
                  </a:lnTo>
                  <a:lnTo>
                    <a:pt x="1422" y="0"/>
                  </a:lnTo>
                  <a:lnTo>
                    <a:pt x="1426" y="2"/>
                  </a:lnTo>
                  <a:lnTo>
                    <a:pt x="1430" y="4"/>
                  </a:lnTo>
                  <a:lnTo>
                    <a:pt x="1430" y="5"/>
                  </a:lnTo>
                  <a:lnTo>
                    <a:pt x="1430" y="6"/>
                  </a:lnTo>
                  <a:lnTo>
                    <a:pt x="1430" y="8"/>
                  </a:lnTo>
                  <a:lnTo>
                    <a:pt x="1430" y="9"/>
                  </a:lnTo>
                  <a:lnTo>
                    <a:pt x="1426" y="11"/>
                  </a:lnTo>
                  <a:lnTo>
                    <a:pt x="1422" y="13"/>
                  </a:lnTo>
                  <a:lnTo>
                    <a:pt x="1420" y="13"/>
                  </a:lnTo>
                  <a:lnTo>
                    <a:pt x="1417" y="13"/>
                  </a:lnTo>
                  <a:lnTo>
                    <a:pt x="1239" y="13"/>
                  </a:lnTo>
                  <a:lnTo>
                    <a:pt x="1235" y="13"/>
                  </a:lnTo>
                  <a:lnTo>
                    <a:pt x="1234" y="13"/>
                  </a:lnTo>
                  <a:lnTo>
                    <a:pt x="1230" y="11"/>
                  </a:lnTo>
                  <a:lnTo>
                    <a:pt x="1226" y="9"/>
                  </a:lnTo>
                  <a:lnTo>
                    <a:pt x="1226" y="8"/>
                  </a:lnTo>
                  <a:lnTo>
                    <a:pt x="1226" y="6"/>
                  </a:lnTo>
                  <a:lnTo>
                    <a:pt x="1226" y="5"/>
                  </a:lnTo>
                  <a:lnTo>
                    <a:pt x="1226" y="4"/>
                  </a:lnTo>
                  <a:lnTo>
                    <a:pt x="1230" y="2"/>
                  </a:lnTo>
                  <a:lnTo>
                    <a:pt x="1234" y="0"/>
                  </a:lnTo>
                  <a:lnTo>
                    <a:pt x="1235" y="0"/>
                  </a:lnTo>
                  <a:lnTo>
                    <a:pt x="1239" y="0"/>
                  </a:lnTo>
                  <a:close/>
                  <a:moveTo>
                    <a:pt x="1545" y="0"/>
                  </a:moveTo>
                  <a:lnTo>
                    <a:pt x="1724" y="0"/>
                  </a:lnTo>
                  <a:lnTo>
                    <a:pt x="1726" y="0"/>
                  </a:lnTo>
                  <a:lnTo>
                    <a:pt x="1730" y="0"/>
                  </a:lnTo>
                  <a:lnTo>
                    <a:pt x="1733" y="2"/>
                  </a:lnTo>
                  <a:lnTo>
                    <a:pt x="1735" y="4"/>
                  </a:lnTo>
                  <a:lnTo>
                    <a:pt x="1737" y="5"/>
                  </a:lnTo>
                  <a:lnTo>
                    <a:pt x="1737" y="6"/>
                  </a:lnTo>
                  <a:lnTo>
                    <a:pt x="1737" y="8"/>
                  </a:lnTo>
                  <a:lnTo>
                    <a:pt x="1735" y="9"/>
                  </a:lnTo>
                  <a:lnTo>
                    <a:pt x="1733" y="11"/>
                  </a:lnTo>
                  <a:lnTo>
                    <a:pt x="1730" y="13"/>
                  </a:lnTo>
                  <a:lnTo>
                    <a:pt x="1726" y="13"/>
                  </a:lnTo>
                  <a:lnTo>
                    <a:pt x="1724" y="13"/>
                  </a:lnTo>
                  <a:lnTo>
                    <a:pt x="1545" y="13"/>
                  </a:lnTo>
                  <a:lnTo>
                    <a:pt x="1543" y="13"/>
                  </a:lnTo>
                  <a:lnTo>
                    <a:pt x="1541" y="13"/>
                  </a:lnTo>
                  <a:lnTo>
                    <a:pt x="1535" y="11"/>
                  </a:lnTo>
                  <a:lnTo>
                    <a:pt x="1533" y="9"/>
                  </a:lnTo>
                  <a:lnTo>
                    <a:pt x="1533" y="8"/>
                  </a:lnTo>
                  <a:lnTo>
                    <a:pt x="1532" y="6"/>
                  </a:lnTo>
                  <a:lnTo>
                    <a:pt x="1533" y="5"/>
                  </a:lnTo>
                  <a:lnTo>
                    <a:pt x="1533" y="4"/>
                  </a:lnTo>
                  <a:lnTo>
                    <a:pt x="1535" y="2"/>
                  </a:lnTo>
                  <a:lnTo>
                    <a:pt x="1541" y="0"/>
                  </a:lnTo>
                  <a:lnTo>
                    <a:pt x="1543" y="0"/>
                  </a:lnTo>
                  <a:lnTo>
                    <a:pt x="1545" y="0"/>
                  </a:lnTo>
                  <a:close/>
                  <a:moveTo>
                    <a:pt x="1852" y="0"/>
                  </a:moveTo>
                  <a:lnTo>
                    <a:pt x="2031" y="0"/>
                  </a:lnTo>
                  <a:lnTo>
                    <a:pt x="2033" y="0"/>
                  </a:lnTo>
                  <a:lnTo>
                    <a:pt x="2035" y="0"/>
                  </a:lnTo>
                  <a:lnTo>
                    <a:pt x="2039" y="2"/>
                  </a:lnTo>
                  <a:lnTo>
                    <a:pt x="2043" y="4"/>
                  </a:lnTo>
                  <a:lnTo>
                    <a:pt x="2043" y="5"/>
                  </a:lnTo>
                  <a:lnTo>
                    <a:pt x="2043" y="6"/>
                  </a:lnTo>
                  <a:lnTo>
                    <a:pt x="2043" y="8"/>
                  </a:lnTo>
                  <a:lnTo>
                    <a:pt x="2043" y="9"/>
                  </a:lnTo>
                  <a:lnTo>
                    <a:pt x="2039" y="11"/>
                  </a:lnTo>
                  <a:lnTo>
                    <a:pt x="2035" y="13"/>
                  </a:lnTo>
                  <a:lnTo>
                    <a:pt x="2033" y="13"/>
                  </a:lnTo>
                  <a:lnTo>
                    <a:pt x="2031" y="13"/>
                  </a:lnTo>
                  <a:lnTo>
                    <a:pt x="1852" y="13"/>
                  </a:lnTo>
                  <a:lnTo>
                    <a:pt x="1848" y="13"/>
                  </a:lnTo>
                  <a:lnTo>
                    <a:pt x="1847" y="13"/>
                  </a:lnTo>
                  <a:lnTo>
                    <a:pt x="1843" y="11"/>
                  </a:lnTo>
                  <a:lnTo>
                    <a:pt x="1839" y="9"/>
                  </a:lnTo>
                  <a:lnTo>
                    <a:pt x="1839" y="8"/>
                  </a:lnTo>
                  <a:lnTo>
                    <a:pt x="1839" y="6"/>
                  </a:lnTo>
                  <a:lnTo>
                    <a:pt x="1839" y="5"/>
                  </a:lnTo>
                  <a:lnTo>
                    <a:pt x="1839" y="4"/>
                  </a:lnTo>
                  <a:lnTo>
                    <a:pt x="1843" y="2"/>
                  </a:lnTo>
                  <a:lnTo>
                    <a:pt x="1847" y="0"/>
                  </a:lnTo>
                  <a:lnTo>
                    <a:pt x="1848" y="0"/>
                  </a:lnTo>
                  <a:lnTo>
                    <a:pt x="1852" y="0"/>
                  </a:lnTo>
                  <a:close/>
                  <a:moveTo>
                    <a:pt x="2158" y="0"/>
                  </a:moveTo>
                  <a:lnTo>
                    <a:pt x="2337" y="0"/>
                  </a:lnTo>
                  <a:lnTo>
                    <a:pt x="2341" y="0"/>
                  </a:lnTo>
                  <a:lnTo>
                    <a:pt x="2343" y="0"/>
                  </a:lnTo>
                  <a:lnTo>
                    <a:pt x="2346" y="2"/>
                  </a:lnTo>
                  <a:lnTo>
                    <a:pt x="2348" y="4"/>
                  </a:lnTo>
                  <a:lnTo>
                    <a:pt x="2350" y="5"/>
                  </a:lnTo>
                  <a:lnTo>
                    <a:pt x="2350" y="6"/>
                  </a:lnTo>
                  <a:lnTo>
                    <a:pt x="2350" y="8"/>
                  </a:lnTo>
                  <a:lnTo>
                    <a:pt x="2348" y="9"/>
                  </a:lnTo>
                  <a:lnTo>
                    <a:pt x="2346" y="11"/>
                  </a:lnTo>
                  <a:lnTo>
                    <a:pt x="2343" y="13"/>
                  </a:lnTo>
                  <a:lnTo>
                    <a:pt x="2341" y="13"/>
                  </a:lnTo>
                  <a:lnTo>
                    <a:pt x="2337" y="13"/>
                  </a:lnTo>
                  <a:lnTo>
                    <a:pt x="2158" y="13"/>
                  </a:lnTo>
                  <a:lnTo>
                    <a:pt x="2156" y="13"/>
                  </a:lnTo>
                  <a:lnTo>
                    <a:pt x="2154" y="13"/>
                  </a:lnTo>
                  <a:lnTo>
                    <a:pt x="2148" y="11"/>
                  </a:lnTo>
                  <a:lnTo>
                    <a:pt x="2146" y="9"/>
                  </a:lnTo>
                  <a:lnTo>
                    <a:pt x="2146" y="8"/>
                  </a:lnTo>
                  <a:lnTo>
                    <a:pt x="2146" y="6"/>
                  </a:lnTo>
                  <a:lnTo>
                    <a:pt x="2146" y="5"/>
                  </a:lnTo>
                  <a:lnTo>
                    <a:pt x="2146" y="4"/>
                  </a:lnTo>
                  <a:lnTo>
                    <a:pt x="2148" y="2"/>
                  </a:lnTo>
                  <a:lnTo>
                    <a:pt x="2154" y="0"/>
                  </a:lnTo>
                  <a:lnTo>
                    <a:pt x="2156" y="0"/>
                  </a:lnTo>
                  <a:lnTo>
                    <a:pt x="2158" y="0"/>
                  </a:lnTo>
                  <a:close/>
                  <a:moveTo>
                    <a:pt x="2465" y="0"/>
                  </a:moveTo>
                  <a:lnTo>
                    <a:pt x="2644" y="0"/>
                  </a:lnTo>
                  <a:lnTo>
                    <a:pt x="2646" y="0"/>
                  </a:lnTo>
                  <a:lnTo>
                    <a:pt x="2648" y="0"/>
                  </a:lnTo>
                  <a:lnTo>
                    <a:pt x="2652" y="2"/>
                  </a:lnTo>
                  <a:lnTo>
                    <a:pt x="2656" y="4"/>
                  </a:lnTo>
                  <a:lnTo>
                    <a:pt x="2656" y="5"/>
                  </a:lnTo>
                  <a:lnTo>
                    <a:pt x="2656" y="6"/>
                  </a:lnTo>
                  <a:lnTo>
                    <a:pt x="2656" y="8"/>
                  </a:lnTo>
                  <a:lnTo>
                    <a:pt x="2656" y="9"/>
                  </a:lnTo>
                  <a:lnTo>
                    <a:pt x="2652" y="11"/>
                  </a:lnTo>
                  <a:lnTo>
                    <a:pt x="2648" y="13"/>
                  </a:lnTo>
                  <a:lnTo>
                    <a:pt x="2646" y="13"/>
                  </a:lnTo>
                  <a:lnTo>
                    <a:pt x="2644" y="13"/>
                  </a:lnTo>
                  <a:lnTo>
                    <a:pt x="2465" y="13"/>
                  </a:lnTo>
                  <a:lnTo>
                    <a:pt x="2463" y="13"/>
                  </a:lnTo>
                  <a:lnTo>
                    <a:pt x="2460" y="13"/>
                  </a:lnTo>
                  <a:lnTo>
                    <a:pt x="2456" y="11"/>
                  </a:lnTo>
                  <a:lnTo>
                    <a:pt x="2454" y="9"/>
                  </a:lnTo>
                  <a:lnTo>
                    <a:pt x="2452" y="8"/>
                  </a:lnTo>
                  <a:lnTo>
                    <a:pt x="2452" y="6"/>
                  </a:lnTo>
                  <a:lnTo>
                    <a:pt x="2452" y="5"/>
                  </a:lnTo>
                  <a:lnTo>
                    <a:pt x="2454" y="4"/>
                  </a:lnTo>
                  <a:lnTo>
                    <a:pt x="2456" y="2"/>
                  </a:lnTo>
                  <a:lnTo>
                    <a:pt x="2460" y="0"/>
                  </a:lnTo>
                  <a:lnTo>
                    <a:pt x="2463" y="0"/>
                  </a:lnTo>
                  <a:lnTo>
                    <a:pt x="2465" y="0"/>
                  </a:lnTo>
                  <a:close/>
                  <a:moveTo>
                    <a:pt x="2771" y="0"/>
                  </a:moveTo>
                  <a:lnTo>
                    <a:pt x="2950" y="0"/>
                  </a:lnTo>
                  <a:lnTo>
                    <a:pt x="2954" y="0"/>
                  </a:lnTo>
                  <a:lnTo>
                    <a:pt x="2956" y="0"/>
                  </a:lnTo>
                  <a:lnTo>
                    <a:pt x="2959" y="2"/>
                  </a:lnTo>
                  <a:lnTo>
                    <a:pt x="2961" y="4"/>
                  </a:lnTo>
                  <a:lnTo>
                    <a:pt x="2963" y="5"/>
                  </a:lnTo>
                  <a:lnTo>
                    <a:pt x="2963" y="6"/>
                  </a:lnTo>
                  <a:lnTo>
                    <a:pt x="2963" y="8"/>
                  </a:lnTo>
                  <a:lnTo>
                    <a:pt x="2961" y="9"/>
                  </a:lnTo>
                  <a:lnTo>
                    <a:pt x="2959" y="11"/>
                  </a:lnTo>
                  <a:lnTo>
                    <a:pt x="2956" y="13"/>
                  </a:lnTo>
                  <a:lnTo>
                    <a:pt x="2954" y="13"/>
                  </a:lnTo>
                  <a:lnTo>
                    <a:pt x="2950" y="13"/>
                  </a:lnTo>
                  <a:lnTo>
                    <a:pt x="2771" y="13"/>
                  </a:lnTo>
                  <a:lnTo>
                    <a:pt x="2769" y="13"/>
                  </a:lnTo>
                  <a:lnTo>
                    <a:pt x="2767" y="13"/>
                  </a:lnTo>
                  <a:lnTo>
                    <a:pt x="2763" y="11"/>
                  </a:lnTo>
                  <a:lnTo>
                    <a:pt x="2759" y="9"/>
                  </a:lnTo>
                  <a:lnTo>
                    <a:pt x="2759" y="8"/>
                  </a:lnTo>
                  <a:lnTo>
                    <a:pt x="2759" y="6"/>
                  </a:lnTo>
                  <a:lnTo>
                    <a:pt x="2759" y="5"/>
                  </a:lnTo>
                  <a:lnTo>
                    <a:pt x="2759" y="4"/>
                  </a:lnTo>
                  <a:lnTo>
                    <a:pt x="2763" y="2"/>
                  </a:lnTo>
                  <a:lnTo>
                    <a:pt x="2767" y="0"/>
                  </a:lnTo>
                  <a:lnTo>
                    <a:pt x="2769" y="0"/>
                  </a:lnTo>
                  <a:lnTo>
                    <a:pt x="2771" y="0"/>
                  </a:lnTo>
                  <a:close/>
                  <a:moveTo>
                    <a:pt x="3078" y="0"/>
                  </a:moveTo>
                  <a:lnTo>
                    <a:pt x="3257" y="0"/>
                  </a:lnTo>
                  <a:lnTo>
                    <a:pt x="3259" y="0"/>
                  </a:lnTo>
                  <a:lnTo>
                    <a:pt x="3261" y="0"/>
                  </a:lnTo>
                  <a:lnTo>
                    <a:pt x="3267" y="2"/>
                  </a:lnTo>
                  <a:lnTo>
                    <a:pt x="3269" y="4"/>
                  </a:lnTo>
                  <a:lnTo>
                    <a:pt x="3269" y="5"/>
                  </a:lnTo>
                  <a:lnTo>
                    <a:pt x="3271" y="6"/>
                  </a:lnTo>
                  <a:lnTo>
                    <a:pt x="3269" y="8"/>
                  </a:lnTo>
                  <a:lnTo>
                    <a:pt x="3269" y="9"/>
                  </a:lnTo>
                  <a:lnTo>
                    <a:pt x="3267" y="11"/>
                  </a:lnTo>
                  <a:lnTo>
                    <a:pt x="3261" y="13"/>
                  </a:lnTo>
                  <a:lnTo>
                    <a:pt x="3259" y="13"/>
                  </a:lnTo>
                  <a:lnTo>
                    <a:pt x="3257" y="13"/>
                  </a:lnTo>
                  <a:lnTo>
                    <a:pt x="3078" y="13"/>
                  </a:lnTo>
                  <a:lnTo>
                    <a:pt x="3076" y="13"/>
                  </a:lnTo>
                  <a:lnTo>
                    <a:pt x="3073" y="13"/>
                  </a:lnTo>
                  <a:lnTo>
                    <a:pt x="3069" y="11"/>
                  </a:lnTo>
                  <a:lnTo>
                    <a:pt x="3067" y="9"/>
                  </a:lnTo>
                  <a:lnTo>
                    <a:pt x="3065" y="8"/>
                  </a:lnTo>
                  <a:lnTo>
                    <a:pt x="3065" y="6"/>
                  </a:lnTo>
                  <a:lnTo>
                    <a:pt x="3065" y="5"/>
                  </a:lnTo>
                  <a:lnTo>
                    <a:pt x="3067" y="4"/>
                  </a:lnTo>
                  <a:lnTo>
                    <a:pt x="3069" y="2"/>
                  </a:lnTo>
                  <a:lnTo>
                    <a:pt x="3073" y="0"/>
                  </a:lnTo>
                  <a:lnTo>
                    <a:pt x="3076" y="0"/>
                  </a:lnTo>
                  <a:lnTo>
                    <a:pt x="3078" y="0"/>
                  </a:lnTo>
                  <a:close/>
                  <a:moveTo>
                    <a:pt x="3386" y="0"/>
                  </a:moveTo>
                  <a:lnTo>
                    <a:pt x="3563" y="0"/>
                  </a:lnTo>
                  <a:lnTo>
                    <a:pt x="3567" y="0"/>
                  </a:lnTo>
                  <a:lnTo>
                    <a:pt x="3569" y="0"/>
                  </a:lnTo>
                  <a:lnTo>
                    <a:pt x="3572" y="2"/>
                  </a:lnTo>
                  <a:lnTo>
                    <a:pt x="3576" y="4"/>
                  </a:lnTo>
                  <a:lnTo>
                    <a:pt x="3576" y="5"/>
                  </a:lnTo>
                  <a:lnTo>
                    <a:pt x="3576" y="6"/>
                  </a:lnTo>
                  <a:lnTo>
                    <a:pt x="3576" y="8"/>
                  </a:lnTo>
                  <a:lnTo>
                    <a:pt x="3576" y="9"/>
                  </a:lnTo>
                  <a:lnTo>
                    <a:pt x="3572" y="11"/>
                  </a:lnTo>
                  <a:lnTo>
                    <a:pt x="3569" y="13"/>
                  </a:lnTo>
                  <a:lnTo>
                    <a:pt x="3567" y="13"/>
                  </a:lnTo>
                  <a:lnTo>
                    <a:pt x="3563" y="13"/>
                  </a:lnTo>
                  <a:lnTo>
                    <a:pt x="3386" y="13"/>
                  </a:lnTo>
                  <a:lnTo>
                    <a:pt x="3382" y="13"/>
                  </a:lnTo>
                  <a:lnTo>
                    <a:pt x="3380" y="13"/>
                  </a:lnTo>
                  <a:lnTo>
                    <a:pt x="3376" y="11"/>
                  </a:lnTo>
                  <a:lnTo>
                    <a:pt x="3373" y="9"/>
                  </a:lnTo>
                  <a:lnTo>
                    <a:pt x="3373" y="8"/>
                  </a:lnTo>
                  <a:lnTo>
                    <a:pt x="3373" y="6"/>
                  </a:lnTo>
                  <a:lnTo>
                    <a:pt x="3373" y="5"/>
                  </a:lnTo>
                  <a:lnTo>
                    <a:pt x="3373" y="4"/>
                  </a:lnTo>
                  <a:lnTo>
                    <a:pt x="3376" y="2"/>
                  </a:lnTo>
                  <a:lnTo>
                    <a:pt x="3380" y="0"/>
                  </a:lnTo>
                  <a:lnTo>
                    <a:pt x="3382" y="0"/>
                  </a:lnTo>
                  <a:lnTo>
                    <a:pt x="3386" y="0"/>
                  </a:lnTo>
                  <a:close/>
                  <a:moveTo>
                    <a:pt x="3691" y="0"/>
                  </a:moveTo>
                  <a:lnTo>
                    <a:pt x="3870" y="0"/>
                  </a:lnTo>
                  <a:lnTo>
                    <a:pt x="3872" y="0"/>
                  </a:lnTo>
                  <a:lnTo>
                    <a:pt x="3876" y="0"/>
                  </a:lnTo>
                  <a:lnTo>
                    <a:pt x="3880" y="2"/>
                  </a:lnTo>
                  <a:lnTo>
                    <a:pt x="3882" y="4"/>
                  </a:lnTo>
                  <a:lnTo>
                    <a:pt x="3884" y="5"/>
                  </a:lnTo>
                  <a:lnTo>
                    <a:pt x="3884" y="6"/>
                  </a:lnTo>
                  <a:lnTo>
                    <a:pt x="3884" y="8"/>
                  </a:lnTo>
                  <a:lnTo>
                    <a:pt x="3882" y="9"/>
                  </a:lnTo>
                  <a:lnTo>
                    <a:pt x="3880" y="11"/>
                  </a:lnTo>
                  <a:lnTo>
                    <a:pt x="3876" y="13"/>
                  </a:lnTo>
                  <a:lnTo>
                    <a:pt x="3872" y="13"/>
                  </a:lnTo>
                  <a:lnTo>
                    <a:pt x="3870" y="13"/>
                  </a:lnTo>
                  <a:lnTo>
                    <a:pt x="3691" y="13"/>
                  </a:lnTo>
                  <a:lnTo>
                    <a:pt x="3689" y="13"/>
                  </a:lnTo>
                  <a:lnTo>
                    <a:pt x="3686" y="13"/>
                  </a:lnTo>
                  <a:lnTo>
                    <a:pt x="3682" y="11"/>
                  </a:lnTo>
                  <a:lnTo>
                    <a:pt x="3680" y="9"/>
                  </a:lnTo>
                  <a:lnTo>
                    <a:pt x="3678" y="8"/>
                  </a:lnTo>
                  <a:lnTo>
                    <a:pt x="3678" y="6"/>
                  </a:lnTo>
                  <a:lnTo>
                    <a:pt x="3678" y="5"/>
                  </a:lnTo>
                  <a:lnTo>
                    <a:pt x="3680" y="4"/>
                  </a:lnTo>
                  <a:lnTo>
                    <a:pt x="3682" y="2"/>
                  </a:lnTo>
                  <a:lnTo>
                    <a:pt x="3686" y="0"/>
                  </a:lnTo>
                  <a:lnTo>
                    <a:pt x="3689" y="0"/>
                  </a:lnTo>
                  <a:lnTo>
                    <a:pt x="3691" y="0"/>
                  </a:lnTo>
                  <a:close/>
                  <a:moveTo>
                    <a:pt x="3999" y="0"/>
                  </a:moveTo>
                  <a:lnTo>
                    <a:pt x="4065" y="0"/>
                  </a:lnTo>
                  <a:lnTo>
                    <a:pt x="4067" y="0"/>
                  </a:lnTo>
                  <a:lnTo>
                    <a:pt x="4068" y="0"/>
                  </a:lnTo>
                  <a:lnTo>
                    <a:pt x="4074" y="2"/>
                  </a:lnTo>
                  <a:lnTo>
                    <a:pt x="4076" y="4"/>
                  </a:lnTo>
                  <a:lnTo>
                    <a:pt x="4078" y="5"/>
                  </a:lnTo>
                  <a:lnTo>
                    <a:pt x="4078" y="6"/>
                  </a:lnTo>
                  <a:lnTo>
                    <a:pt x="4078" y="8"/>
                  </a:lnTo>
                  <a:lnTo>
                    <a:pt x="4076" y="9"/>
                  </a:lnTo>
                  <a:lnTo>
                    <a:pt x="4074" y="11"/>
                  </a:lnTo>
                  <a:lnTo>
                    <a:pt x="4068" y="13"/>
                  </a:lnTo>
                  <a:lnTo>
                    <a:pt x="4067" y="13"/>
                  </a:lnTo>
                  <a:lnTo>
                    <a:pt x="4065" y="13"/>
                  </a:lnTo>
                  <a:lnTo>
                    <a:pt x="3999" y="13"/>
                  </a:lnTo>
                  <a:lnTo>
                    <a:pt x="3995" y="13"/>
                  </a:lnTo>
                  <a:lnTo>
                    <a:pt x="3993" y="13"/>
                  </a:lnTo>
                  <a:lnTo>
                    <a:pt x="3989" y="11"/>
                  </a:lnTo>
                  <a:lnTo>
                    <a:pt x="3986" y="9"/>
                  </a:lnTo>
                  <a:lnTo>
                    <a:pt x="3986" y="8"/>
                  </a:lnTo>
                  <a:lnTo>
                    <a:pt x="3986" y="6"/>
                  </a:lnTo>
                  <a:lnTo>
                    <a:pt x="3986" y="5"/>
                  </a:lnTo>
                  <a:lnTo>
                    <a:pt x="3986" y="4"/>
                  </a:lnTo>
                  <a:lnTo>
                    <a:pt x="3989" y="2"/>
                  </a:lnTo>
                  <a:lnTo>
                    <a:pt x="3993" y="0"/>
                  </a:lnTo>
                  <a:lnTo>
                    <a:pt x="3995" y="0"/>
                  </a:lnTo>
                  <a:lnTo>
                    <a:pt x="3999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Rectangle 246"/>
            <p:cNvSpPr>
              <a:spLocks noChangeArrowheads="1"/>
            </p:cNvSpPr>
            <p:nvPr/>
          </p:nvSpPr>
          <p:spPr bwMode="auto">
            <a:xfrm>
              <a:off x="3909" y="2901"/>
              <a:ext cx="59" cy="11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/>
            </a:p>
          </p:txBody>
        </p:sp>
        <p:sp>
          <p:nvSpPr>
            <p:cNvPr id="249" name="Rectangle 247"/>
            <p:cNvSpPr>
              <a:spLocks noChangeArrowheads="1"/>
            </p:cNvSpPr>
            <p:nvPr/>
          </p:nvSpPr>
          <p:spPr bwMode="auto">
            <a:xfrm>
              <a:off x="3697" y="3145"/>
              <a:ext cx="197" cy="18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/2</a:t>
              </a:r>
              <a:endParaRPr lang="en-US" altLang="zh-CN" sz="2000"/>
            </a:p>
          </p:txBody>
        </p:sp>
        <p:sp>
          <p:nvSpPr>
            <p:cNvPr id="250" name="Rectangle 248"/>
            <p:cNvSpPr>
              <a:spLocks noChangeArrowheads="1"/>
            </p:cNvSpPr>
            <p:nvPr/>
          </p:nvSpPr>
          <p:spPr bwMode="auto">
            <a:xfrm>
              <a:off x="3425" y="3281"/>
              <a:ext cx="102" cy="21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</a:p>
          </p:txBody>
        </p:sp>
        <p:sp>
          <p:nvSpPr>
            <p:cNvPr id="251" name="Freeform 249"/>
            <p:cNvSpPr>
              <a:spLocks noEditPoints="1"/>
            </p:cNvSpPr>
            <p:nvPr/>
          </p:nvSpPr>
          <p:spPr bwMode="auto">
            <a:xfrm>
              <a:off x="3378" y="3608"/>
              <a:ext cx="1980" cy="8"/>
            </a:xfrm>
            <a:custGeom>
              <a:avLst/>
              <a:gdLst>
                <a:gd name="T0" fmla="*/ 1 w 3961"/>
                <a:gd name="T1" fmla="*/ 5 h 8"/>
                <a:gd name="T2" fmla="*/ 0 w 3961"/>
                <a:gd name="T3" fmla="*/ 5 h 8"/>
                <a:gd name="T4" fmla="*/ 3 w 3961"/>
                <a:gd name="T5" fmla="*/ 0 h 8"/>
                <a:gd name="T6" fmla="*/ 4 w 3961"/>
                <a:gd name="T7" fmla="*/ 6 h 8"/>
                <a:gd name="T8" fmla="*/ 2 w 3961"/>
                <a:gd name="T9" fmla="*/ 4 h 8"/>
                <a:gd name="T10" fmla="*/ 7 w 3961"/>
                <a:gd name="T11" fmla="*/ 0 h 8"/>
                <a:gd name="T12" fmla="*/ 7 w 3961"/>
                <a:gd name="T13" fmla="*/ 7 h 8"/>
                <a:gd name="T14" fmla="*/ 5 w 3961"/>
                <a:gd name="T15" fmla="*/ 2 h 8"/>
                <a:gd name="T16" fmla="*/ 10 w 3961"/>
                <a:gd name="T17" fmla="*/ 0 h 8"/>
                <a:gd name="T18" fmla="*/ 10 w 3961"/>
                <a:gd name="T19" fmla="*/ 8 h 8"/>
                <a:gd name="T20" fmla="*/ 8 w 3961"/>
                <a:gd name="T21" fmla="*/ 1 h 8"/>
                <a:gd name="T22" fmla="*/ 13 w 3961"/>
                <a:gd name="T23" fmla="*/ 1 h 8"/>
                <a:gd name="T24" fmla="*/ 11 w 3961"/>
                <a:gd name="T25" fmla="*/ 8 h 8"/>
                <a:gd name="T26" fmla="*/ 11 w 3961"/>
                <a:gd name="T27" fmla="*/ 0 h 8"/>
                <a:gd name="T28" fmla="*/ 16 w 3961"/>
                <a:gd name="T29" fmla="*/ 2 h 8"/>
                <a:gd name="T30" fmla="*/ 14 w 3961"/>
                <a:gd name="T31" fmla="*/ 7 h 8"/>
                <a:gd name="T32" fmla="*/ 14 w 3961"/>
                <a:gd name="T33" fmla="*/ 0 h 8"/>
                <a:gd name="T34" fmla="*/ 19 w 3961"/>
                <a:gd name="T35" fmla="*/ 4 h 8"/>
                <a:gd name="T36" fmla="*/ 17 w 3961"/>
                <a:gd name="T37" fmla="*/ 6 h 8"/>
                <a:gd name="T38" fmla="*/ 17 w 3961"/>
                <a:gd name="T39" fmla="*/ 0 h 8"/>
                <a:gd name="T40" fmla="*/ 22 w 3961"/>
                <a:gd name="T41" fmla="*/ 5 h 8"/>
                <a:gd name="T42" fmla="*/ 20 w 3961"/>
                <a:gd name="T43" fmla="*/ 5 h 8"/>
                <a:gd name="T44" fmla="*/ 23 w 3961"/>
                <a:gd name="T45" fmla="*/ 0 h 8"/>
                <a:gd name="T46" fmla="*/ 24 w 3961"/>
                <a:gd name="T47" fmla="*/ 6 h 8"/>
                <a:gd name="T48" fmla="*/ 23 w 3961"/>
                <a:gd name="T49" fmla="*/ 4 h 8"/>
                <a:gd name="T50" fmla="*/ 27 w 3961"/>
                <a:gd name="T51" fmla="*/ 0 h 8"/>
                <a:gd name="T52" fmla="*/ 27 w 3961"/>
                <a:gd name="T53" fmla="*/ 7 h 8"/>
                <a:gd name="T54" fmla="*/ 25 w 3961"/>
                <a:gd name="T55" fmla="*/ 2 h 8"/>
                <a:gd name="T56" fmla="*/ 30 w 3961"/>
                <a:gd name="T57" fmla="*/ 0 h 8"/>
                <a:gd name="T58" fmla="*/ 30 w 3961"/>
                <a:gd name="T59" fmla="*/ 8 h 8"/>
                <a:gd name="T60" fmla="*/ 28 w 3961"/>
                <a:gd name="T61" fmla="*/ 1 h 8"/>
                <a:gd name="T62" fmla="*/ 33 w 3961"/>
                <a:gd name="T63" fmla="*/ 1 h 8"/>
                <a:gd name="T64" fmla="*/ 31 w 3961"/>
                <a:gd name="T65" fmla="*/ 8 h 8"/>
                <a:gd name="T66" fmla="*/ 31 w 3961"/>
                <a:gd name="T67" fmla="*/ 0 h 8"/>
                <a:gd name="T68" fmla="*/ 36 w 3961"/>
                <a:gd name="T69" fmla="*/ 2 h 8"/>
                <a:gd name="T70" fmla="*/ 34 w 3961"/>
                <a:gd name="T71" fmla="*/ 7 h 8"/>
                <a:gd name="T72" fmla="*/ 34 w 3961"/>
                <a:gd name="T73" fmla="*/ 0 h 8"/>
                <a:gd name="T74" fmla="*/ 39 w 3961"/>
                <a:gd name="T75" fmla="*/ 4 h 8"/>
                <a:gd name="T76" fmla="*/ 37 w 3961"/>
                <a:gd name="T77" fmla="*/ 6 h 8"/>
                <a:gd name="T78" fmla="*/ 37 w 3961"/>
                <a:gd name="T79" fmla="*/ 0 h 8"/>
                <a:gd name="T80" fmla="*/ 42 w 3961"/>
                <a:gd name="T81" fmla="*/ 5 h 8"/>
                <a:gd name="T82" fmla="*/ 40 w 3961"/>
                <a:gd name="T83" fmla="*/ 5 h 8"/>
                <a:gd name="T84" fmla="*/ 43 w 3961"/>
                <a:gd name="T85" fmla="*/ 0 h 8"/>
                <a:gd name="T86" fmla="*/ 45 w 3961"/>
                <a:gd name="T87" fmla="*/ 6 h 8"/>
                <a:gd name="T88" fmla="*/ 43 w 3961"/>
                <a:gd name="T89" fmla="*/ 4 h 8"/>
                <a:gd name="T90" fmla="*/ 47 w 3961"/>
                <a:gd name="T91" fmla="*/ 0 h 8"/>
                <a:gd name="T92" fmla="*/ 47 w 3961"/>
                <a:gd name="T93" fmla="*/ 7 h 8"/>
                <a:gd name="T94" fmla="*/ 46 w 3961"/>
                <a:gd name="T95" fmla="*/ 2 h 8"/>
                <a:gd name="T96" fmla="*/ 50 w 3961"/>
                <a:gd name="T97" fmla="*/ 0 h 8"/>
                <a:gd name="T98" fmla="*/ 50 w 3961"/>
                <a:gd name="T99" fmla="*/ 8 h 8"/>
                <a:gd name="T100" fmla="*/ 48 w 3961"/>
                <a:gd name="T101" fmla="*/ 1 h 8"/>
                <a:gd name="T102" fmla="*/ 53 w 3961"/>
                <a:gd name="T103" fmla="*/ 1 h 8"/>
                <a:gd name="T104" fmla="*/ 51 w 3961"/>
                <a:gd name="T105" fmla="*/ 8 h 8"/>
                <a:gd name="T106" fmla="*/ 51 w 3961"/>
                <a:gd name="T107" fmla="*/ 0 h 8"/>
                <a:gd name="T108" fmla="*/ 56 w 3961"/>
                <a:gd name="T109" fmla="*/ 2 h 8"/>
                <a:gd name="T110" fmla="*/ 54 w 3961"/>
                <a:gd name="T111" fmla="*/ 7 h 8"/>
                <a:gd name="T112" fmla="*/ 54 w 3961"/>
                <a:gd name="T113" fmla="*/ 0 h 8"/>
                <a:gd name="T114" fmla="*/ 59 w 3961"/>
                <a:gd name="T115" fmla="*/ 4 h 8"/>
                <a:gd name="T116" fmla="*/ 57 w 3961"/>
                <a:gd name="T117" fmla="*/ 6 h 8"/>
                <a:gd name="T118" fmla="*/ 57 w 3961"/>
                <a:gd name="T119" fmla="*/ 0 h 8"/>
                <a:gd name="T120" fmla="*/ 61 w 3961"/>
                <a:gd name="T121" fmla="*/ 5 h 8"/>
                <a:gd name="T122" fmla="*/ 60 w 3961"/>
                <a:gd name="T123" fmla="*/ 5 h 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961"/>
                <a:gd name="T187" fmla="*/ 0 h 8"/>
                <a:gd name="T188" fmla="*/ 3961 w 3961"/>
                <a:gd name="T189" fmla="*/ 8 h 8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961" h="8">
                  <a:moveTo>
                    <a:pt x="7" y="0"/>
                  </a:moveTo>
                  <a:lnTo>
                    <a:pt x="115" y="0"/>
                  </a:lnTo>
                  <a:lnTo>
                    <a:pt x="119" y="0"/>
                  </a:lnTo>
                  <a:lnTo>
                    <a:pt x="121" y="1"/>
                  </a:lnTo>
                  <a:lnTo>
                    <a:pt x="122" y="2"/>
                  </a:lnTo>
                  <a:lnTo>
                    <a:pt x="122" y="4"/>
                  </a:lnTo>
                  <a:lnTo>
                    <a:pt x="122" y="5"/>
                  </a:lnTo>
                  <a:lnTo>
                    <a:pt x="121" y="6"/>
                  </a:lnTo>
                  <a:lnTo>
                    <a:pt x="119" y="7"/>
                  </a:lnTo>
                  <a:lnTo>
                    <a:pt x="115" y="8"/>
                  </a:lnTo>
                  <a:lnTo>
                    <a:pt x="7" y="8"/>
                  </a:lnTo>
                  <a:lnTo>
                    <a:pt x="5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1"/>
                  </a:lnTo>
                  <a:lnTo>
                    <a:pt x="5" y="0"/>
                  </a:lnTo>
                  <a:lnTo>
                    <a:pt x="7" y="0"/>
                  </a:lnTo>
                  <a:close/>
                  <a:moveTo>
                    <a:pt x="192" y="0"/>
                  </a:moveTo>
                  <a:lnTo>
                    <a:pt x="300" y="0"/>
                  </a:lnTo>
                  <a:lnTo>
                    <a:pt x="302" y="0"/>
                  </a:lnTo>
                  <a:lnTo>
                    <a:pt x="305" y="1"/>
                  </a:lnTo>
                  <a:lnTo>
                    <a:pt x="307" y="2"/>
                  </a:lnTo>
                  <a:lnTo>
                    <a:pt x="307" y="4"/>
                  </a:lnTo>
                  <a:lnTo>
                    <a:pt x="307" y="5"/>
                  </a:lnTo>
                  <a:lnTo>
                    <a:pt x="305" y="6"/>
                  </a:lnTo>
                  <a:lnTo>
                    <a:pt x="302" y="7"/>
                  </a:lnTo>
                  <a:lnTo>
                    <a:pt x="300" y="8"/>
                  </a:lnTo>
                  <a:lnTo>
                    <a:pt x="192" y="8"/>
                  </a:lnTo>
                  <a:lnTo>
                    <a:pt x="188" y="7"/>
                  </a:lnTo>
                  <a:lnTo>
                    <a:pt x="187" y="6"/>
                  </a:lnTo>
                  <a:lnTo>
                    <a:pt x="185" y="5"/>
                  </a:lnTo>
                  <a:lnTo>
                    <a:pt x="185" y="4"/>
                  </a:lnTo>
                  <a:lnTo>
                    <a:pt x="185" y="2"/>
                  </a:lnTo>
                  <a:lnTo>
                    <a:pt x="187" y="1"/>
                  </a:lnTo>
                  <a:lnTo>
                    <a:pt x="188" y="0"/>
                  </a:lnTo>
                  <a:lnTo>
                    <a:pt x="192" y="0"/>
                  </a:lnTo>
                  <a:close/>
                  <a:moveTo>
                    <a:pt x="375" y="0"/>
                  </a:moveTo>
                  <a:lnTo>
                    <a:pt x="483" y="0"/>
                  </a:lnTo>
                  <a:lnTo>
                    <a:pt x="486" y="0"/>
                  </a:lnTo>
                  <a:lnTo>
                    <a:pt x="488" y="1"/>
                  </a:lnTo>
                  <a:lnTo>
                    <a:pt x="490" y="2"/>
                  </a:lnTo>
                  <a:lnTo>
                    <a:pt x="490" y="4"/>
                  </a:lnTo>
                  <a:lnTo>
                    <a:pt x="490" y="5"/>
                  </a:lnTo>
                  <a:lnTo>
                    <a:pt x="488" y="6"/>
                  </a:lnTo>
                  <a:lnTo>
                    <a:pt x="486" y="7"/>
                  </a:lnTo>
                  <a:lnTo>
                    <a:pt x="483" y="8"/>
                  </a:lnTo>
                  <a:lnTo>
                    <a:pt x="375" y="8"/>
                  </a:lnTo>
                  <a:lnTo>
                    <a:pt x="373" y="7"/>
                  </a:lnTo>
                  <a:lnTo>
                    <a:pt x="371" y="6"/>
                  </a:lnTo>
                  <a:lnTo>
                    <a:pt x="370" y="5"/>
                  </a:lnTo>
                  <a:lnTo>
                    <a:pt x="368" y="4"/>
                  </a:lnTo>
                  <a:lnTo>
                    <a:pt x="370" y="2"/>
                  </a:lnTo>
                  <a:lnTo>
                    <a:pt x="371" y="1"/>
                  </a:lnTo>
                  <a:lnTo>
                    <a:pt x="373" y="0"/>
                  </a:lnTo>
                  <a:lnTo>
                    <a:pt x="375" y="0"/>
                  </a:lnTo>
                  <a:close/>
                  <a:moveTo>
                    <a:pt x="560" y="0"/>
                  </a:moveTo>
                  <a:lnTo>
                    <a:pt x="668" y="0"/>
                  </a:lnTo>
                  <a:lnTo>
                    <a:pt x="669" y="0"/>
                  </a:lnTo>
                  <a:lnTo>
                    <a:pt x="673" y="1"/>
                  </a:lnTo>
                  <a:lnTo>
                    <a:pt x="675" y="2"/>
                  </a:lnTo>
                  <a:lnTo>
                    <a:pt x="675" y="4"/>
                  </a:lnTo>
                  <a:lnTo>
                    <a:pt x="675" y="5"/>
                  </a:lnTo>
                  <a:lnTo>
                    <a:pt x="673" y="6"/>
                  </a:lnTo>
                  <a:lnTo>
                    <a:pt x="669" y="7"/>
                  </a:lnTo>
                  <a:lnTo>
                    <a:pt x="668" y="8"/>
                  </a:lnTo>
                  <a:lnTo>
                    <a:pt x="560" y="8"/>
                  </a:lnTo>
                  <a:lnTo>
                    <a:pt x="556" y="7"/>
                  </a:lnTo>
                  <a:lnTo>
                    <a:pt x="554" y="6"/>
                  </a:lnTo>
                  <a:lnTo>
                    <a:pt x="552" y="5"/>
                  </a:lnTo>
                  <a:lnTo>
                    <a:pt x="552" y="4"/>
                  </a:lnTo>
                  <a:lnTo>
                    <a:pt x="552" y="2"/>
                  </a:lnTo>
                  <a:lnTo>
                    <a:pt x="554" y="1"/>
                  </a:lnTo>
                  <a:lnTo>
                    <a:pt x="556" y="0"/>
                  </a:lnTo>
                  <a:lnTo>
                    <a:pt x="560" y="0"/>
                  </a:lnTo>
                  <a:close/>
                  <a:moveTo>
                    <a:pt x="745" y="0"/>
                  </a:moveTo>
                  <a:lnTo>
                    <a:pt x="850" y="0"/>
                  </a:lnTo>
                  <a:lnTo>
                    <a:pt x="854" y="0"/>
                  </a:lnTo>
                  <a:lnTo>
                    <a:pt x="856" y="1"/>
                  </a:lnTo>
                  <a:lnTo>
                    <a:pt x="858" y="2"/>
                  </a:lnTo>
                  <a:lnTo>
                    <a:pt x="860" y="4"/>
                  </a:lnTo>
                  <a:lnTo>
                    <a:pt x="858" y="5"/>
                  </a:lnTo>
                  <a:lnTo>
                    <a:pt x="856" y="6"/>
                  </a:lnTo>
                  <a:lnTo>
                    <a:pt x="854" y="7"/>
                  </a:lnTo>
                  <a:lnTo>
                    <a:pt x="850" y="8"/>
                  </a:lnTo>
                  <a:lnTo>
                    <a:pt x="745" y="8"/>
                  </a:lnTo>
                  <a:lnTo>
                    <a:pt x="741" y="7"/>
                  </a:lnTo>
                  <a:lnTo>
                    <a:pt x="739" y="6"/>
                  </a:lnTo>
                  <a:lnTo>
                    <a:pt x="737" y="5"/>
                  </a:lnTo>
                  <a:lnTo>
                    <a:pt x="735" y="4"/>
                  </a:lnTo>
                  <a:lnTo>
                    <a:pt x="737" y="2"/>
                  </a:lnTo>
                  <a:lnTo>
                    <a:pt x="739" y="1"/>
                  </a:lnTo>
                  <a:lnTo>
                    <a:pt x="741" y="0"/>
                  </a:lnTo>
                  <a:lnTo>
                    <a:pt x="745" y="0"/>
                  </a:lnTo>
                  <a:close/>
                  <a:moveTo>
                    <a:pt x="928" y="0"/>
                  </a:moveTo>
                  <a:lnTo>
                    <a:pt x="1035" y="0"/>
                  </a:lnTo>
                  <a:lnTo>
                    <a:pt x="1037" y="0"/>
                  </a:lnTo>
                  <a:lnTo>
                    <a:pt x="1041" y="1"/>
                  </a:lnTo>
                  <a:lnTo>
                    <a:pt x="1043" y="2"/>
                  </a:lnTo>
                  <a:lnTo>
                    <a:pt x="1043" y="4"/>
                  </a:lnTo>
                  <a:lnTo>
                    <a:pt x="1043" y="5"/>
                  </a:lnTo>
                  <a:lnTo>
                    <a:pt x="1041" y="6"/>
                  </a:lnTo>
                  <a:lnTo>
                    <a:pt x="1037" y="7"/>
                  </a:lnTo>
                  <a:lnTo>
                    <a:pt x="1035" y="8"/>
                  </a:lnTo>
                  <a:lnTo>
                    <a:pt x="928" y="8"/>
                  </a:lnTo>
                  <a:lnTo>
                    <a:pt x="924" y="7"/>
                  </a:lnTo>
                  <a:lnTo>
                    <a:pt x="922" y="6"/>
                  </a:lnTo>
                  <a:lnTo>
                    <a:pt x="920" y="5"/>
                  </a:lnTo>
                  <a:lnTo>
                    <a:pt x="920" y="4"/>
                  </a:lnTo>
                  <a:lnTo>
                    <a:pt x="920" y="2"/>
                  </a:lnTo>
                  <a:lnTo>
                    <a:pt x="922" y="1"/>
                  </a:lnTo>
                  <a:lnTo>
                    <a:pt x="924" y="0"/>
                  </a:lnTo>
                  <a:lnTo>
                    <a:pt x="928" y="0"/>
                  </a:lnTo>
                  <a:close/>
                  <a:moveTo>
                    <a:pt x="1113" y="0"/>
                  </a:moveTo>
                  <a:lnTo>
                    <a:pt x="1220" y="0"/>
                  </a:lnTo>
                  <a:lnTo>
                    <a:pt x="1222" y="0"/>
                  </a:lnTo>
                  <a:lnTo>
                    <a:pt x="1224" y="1"/>
                  </a:lnTo>
                  <a:lnTo>
                    <a:pt x="1226" y="2"/>
                  </a:lnTo>
                  <a:lnTo>
                    <a:pt x="1228" y="4"/>
                  </a:lnTo>
                  <a:lnTo>
                    <a:pt x="1226" y="5"/>
                  </a:lnTo>
                  <a:lnTo>
                    <a:pt x="1224" y="6"/>
                  </a:lnTo>
                  <a:lnTo>
                    <a:pt x="1222" y="7"/>
                  </a:lnTo>
                  <a:lnTo>
                    <a:pt x="1220" y="8"/>
                  </a:lnTo>
                  <a:lnTo>
                    <a:pt x="1113" y="8"/>
                  </a:lnTo>
                  <a:lnTo>
                    <a:pt x="1109" y="7"/>
                  </a:lnTo>
                  <a:lnTo>
                    <a:pt x="1107" y="6"/>
                  </a:lnTo>
                  <a:lnTo>
                    <a:pt x="1105" y="5"/>
                  </a:lnTo>
                  <a:lnTo>
                    <a:pt x="1105" y="4"/>
                  </a:lnTo>
                  <a:lnTo>
                    <a:pt x="1105" y="2"/>
                  </a:lnTo>
                  <a:lnTo>
                    <a:pt x="1107" y="1"/>
                  </a:lnTo>
                  <a:lnTo>
                    <a:pt x="1109" y="0"/>
                  </a:lnTo>
                  <a:lnTo>
                    <a:pt x="1113" y="0"/>
                  </a:lnTo>
                  <a:close/>
                  <a:moveTo>
                    <a:pt x="1296" y="0"/>
                  </a:moveTo>
                  <a:lnTo>
                    <a:pt x="1403" y="0"/>
                  </a:lnTo>
                  <a:lnTo>
                    <a:pt x="1407" y="0"/>
                  </a:lnTo>
                  <a:lnTo>
                    <a:pt x="1409" y="1"/>
                  </a:lnTo>
                  <a:lnTo>
                    <a:pt x="1411" y="2"/>
                  </a:lnTo>
                  <a:lnTo>
                    <a:pt x="1411" y="4"/>
                  </a:lnTo>
                  <a:lnTo>
                    <a:pt x="1411" y="5"/>
                  </a:lnTo>
                  <a:lnTo>
                    <a:pt x="1409" y="6"/>
                  </a:lnTo>
                  <a:lnTo>
                    <a:pt x="1407" y="7"/>
                  </a:lnTo>
                  <a:lnTo>
                    <a:pt x="1403" y="8"/>
                  </a:lnTo>
                  <a:lnTo>
                    <a:pt x="1296" y="8"/>
                  </a:lnTo>
                  <a:lnTo>
                    <a:pt x="1294" y="7"/>
                  </a:lnTo>
                  <a:lnTo>
                    <a:pt x="1290" y="6"/>
                  </a:lnTo>
                  <a:lnTo>
                    <a:pt x="1288" y="5"/>
                  </a:lnTo>
                  <a:lnTo>
                    <a:pt x="1288" y="4"/>
                  </a:lnTo>
                  <a:lnTo>
                    <a:pt x="1288" y="2"/>
                  </a:lnTo>
                  <a:lnTo>
                    <a:pt x="1290" y="1"/>
                  </a:lnTo>
                  <a:lnTo>
                    <a:pt x="1294" y="0"/>
                  </a:lnTo>
                  <a:lnTo>
                    <a:pt x="1296" y="0"/>
                  </a:lnTo>
                  <a:close/>
                  <a:moveTo>
                    <a:pt x="1480" y="0"/>
                  </a:moveTo>
                  <a:lnTo>
                    <a:pt x="1588" y="0"/>
                  </a:lnTo>
                  <a:lnTo>
                    <a:pt x="1590" y="0"/>
                  </a:lnTo>
                  <a:lnTo>
                    <a:pt x="1592" y="1"/>
                  </a:lnTo>
                  <a:lnTo>
                    <a:pt x="1594" y="2"/>
                  </a:lnTo>
                  <a:lnTo>
                    <a:pt x="1596" y="4"/>
                  </a:lnTo>
                  <a:lnTo>
                    <a:pt x="1594" y="5"/>
                  </a:lnTo>
                  <a:lnTo>
                    <a:pt x="1592" y="6"/>
                  </a:lnTo>
                  <a:lnTo>
                    <a:pt x="1590" y="7"/>
                  </a:lnTo>
                  <a:lnTo>
                    <a:pt x="1588" y="8"/>
                  </a:lnTo>
                  <a:lnTo>
                    <a:pt x="1480" y="8"/>
                  </a:lnTo>
                  <a:lnTo>
                    <a:pt x="1477" y="7"/>
                  </a:lnTo>
                  <a:lnTo>
                    <a:pt x="1475" y="6"/>
                  </a:lnTo>
                  <a:lnTo>
                    <a:pt x="1473" y="5"/>
                  </a:lnTo>
                  <a:lnTo>
                    <a:pt x="1473" y="4"/>
                  </a:lnTo>
                  <a:lnTo>
                    <a:pt x="1473" y="2"/>
                  </a:lnTo>
                  <a:lnTo>
                    <a:pt x="1475" y="1"/>
                  </a:lnTo>
                  <a:lnTo>
                    <a:pt x="1477" y="0"/>
                  </a:lnTo>
                  <a:lnTo>
                    <a:pt x="1480" y="0"/>
                  </a:lnTo>
                  <a:close/>
                  <a:moveTo>
                    <a:pt x="1663" y="0"/>
                  </a:moveTo>
                  <a:lnTo>
                    <a:pt x="1771" y="0"/>
                  </a:lnTo>
                  <a:lnTo>
                    <a:pt x="1775" y="0"/>
                  </a:lnTo>
                  <a:lnTo>
                    <a:pt x="1777" y="1"/>
                  </a:lnTo>
                  <a:lnTo>
                    <a:pt x="1778" y="2"/>
                  </a:lnTo>
                  <a:lnTo>
                    <a:pt x="1778" y="4"/>
                  </a:lnTo>
                  <a:lnTo>
                    <a:pt x="1778" y="5"/>
                  </a:lnTo>
                  <a:lnTo>
                    <a:pt x="1777" y="6"/>
                  </a:lnTo>
                  <a:lnTo>
                    <a:pt x="1775" y="7"/>
                  </a:lnTo>
                  <a:lnTo>
                    <a:pt x="1771" y="8"/>
                  </a:lnTo>
                  <a:lnTo>
                    <a:pt x="1663" y="8"/>
                  </a:lnTo>
                  <a:lnTo>
                    <a:pt x="1662" y="7"/>
                  </a:lnTo>
                  <a:lnTo>
                    <a:pt x="1658" y="6"/>
                  </a:lnTo>
                  <a:lnTo>
                    <a:pt x="1656" y="5"/>
                  </a:lnTo>
                  <a:lnTo>
                    <a:pt x="1656" y="4"/>
                  </a:lnTo>
                  <a:lnTo>
                    <a:pt x="1656" y="2"/>
                  </a:lnTo>
                  <a:lnTo>
                    <a:pt x="1658" y="1"/>
                  </a:lnTo>
                  <a:lnTo>
                    <a:pt x="1662" y="0"/>
                  </a:lnTo>
                  <a:lnTo>
                    <a:pt x="1663" y="0"/>
                  </a:lnTo>
                  <a:close/>
                  <a:moveTo>
                    <a:pt x="1848" y="0"/>
                  </a:moveTo>
                  <a:lnTo>
                    <a:pt x="1956" y="0"/>
                  </a:lnTo>
                  <a:lnTo>
                    <a:pt x="1958" y="0"/>
                  </a:lnTo>
                  <a:lnTo>
                    <a:pt x="1960" y="1"/>
                  </a:lnTo>
                  <a:lnTo>
                    <a:pt x="1961" y="2"/>
                  </a:lnTo>
                  <a:lnTo>
                    <a:pt x="1963" y="4"/>
                  </a:lnTo>
                  <a:lnTo>
                    <a:pt x="1961" y="5"/>
                  </a:lnTo>
                  <a:lnTo>
                    <a:pt x="1960" y="6"/>
                  </a:lnTo>
                  <a:lnTo>
                    <a:pt x="1958" y="7"/>
                  </a:lnTo>
                  <a:lnTo>
                    <a:pt x="1956" y="8"/>
                  </a:lnTo>
                  <a:lnTo>
                    <a:pt x="1848" y="8"/>
                  </a:lnTo>
                  <a:lnTo>
                    <a:pt x="1844" y="7"/>
                  </a:lnTo>
                  <a:lnTo>
                    <a:pt x="1843" y="6"/>
                  </a:lnTo>
                  <a:lnTo>
                    <a:pt x="1841" y="5"/>
                  </a:lnTo>
                  <a:lnTo>
                    <a:pt x="1841" y="4"/>
                  </a:lnTo>
                  <a:lnTo>
                    <a:pt x="1841" y="2"/>
                  </a:lnTo>
                  <a:lnTo>
                    <a:pt x="1843" y="1"/>
                  </a:lnTo>
                  <a:lnTo>
                    <a:pt x="1844" y="0"/>
                  </a:lnTo>
                  <a:lnTo>
                    <a:pt x="1848" y="0"/>
                  </a:lnTo>
                  <a:close/>
                  <a:moveTo>
                    <a:pt x="2031" y="0"/>
                  </a:moveTo>
                  <a:lnTo>
                    <a:pt x="2139" y="0"/>
                  </a:lnTo>
                  <a:lnTo>
                    <a:pt x="2142" y="0"/>
                  </a:lnTo>
                  <a:lnTo>
                    <a:pt x="2144" y="1"/>
                  </a:lnTo>
                  <a:lnTo>
                    <a:pt x="2146" y="2"/>
                  </a:lnTo>
                  <a:lnTo>
                    <a:pt x="2146" y="4"/>
                  </a:lnTo>
                  <a:lnTo>
                    <a:pt x="2146" y="5"/>
                  </a:lnTo>
                  <a:lnTo>
                    <a:pt x="2144" y="6"/>
                  </a:lnTo>
                  <a:lnTo>
                    <a:pt x="2142" y="7"/>
                  </a:lnTo>
                  <a:lnTo>
                    <a:pt x="2139" y="8"/>
                  </a:lnTo>
                  <a:lnTo>
                    <a:pt x="2031" y="8"/>
                  </a:lnTo>
                  <a:lnTo>
                    <a:pt x="2029" y="7"/>
                  </a:lnTo>
                  <a:lnTo>
                    <a:pt x="2026" y="6"/>
                  </a:lnTo>
                  <a:lnTo>
                    <a:pt x="2024" y="5"/>
                  </a:lnTo>
                  <a:lnTo>
                    <a:pt x="2024" y="4"/>
                  </a:lnTo>
                  <a:lnTo>
                    <a:pt x="2024" y="2"/>
                  </a:lnTo>
                  <a:lnTo>
                    <a:pt x="2026" y="1"/>
                  </a:lnTo>
                  <a:lnTo>
                    <a:pt x="2029" y="0"/>
                  </a:lnTo>
                  <a:lnTo>
                    <a:pt x="2031" y="0"/>
                  </a:lnTo>
                  <a:close/>
                  <a:moveTo>
                    <a:pt x="2216" y="0"/>
                  </a:moveTo>
                  <a:lnTo>
                    <a:pt x="2324" y="0"/>
                  </a:lnTo>
                  <a:lnTo>
                    <a:pt x="2325" y="0"/>
                  </a:lnTo>
                  <a:lnTo>
                    <a:pt x="2329" y="1"/>
                  </a:lnTo>
                  <a:lnTo>
                    <a:pt x="2329" y="2"/>
                  </a:lnTo>
                  <a:lnTo>
                    <a:pt x="2331" y="4"/>
                  </a:lnTo>
                  <a:lnTo>
                    <a:pt x="2329" y="5"/>
                  </a:lnTo>
                  <a:lnTo>
                    <a:pt x="2329" y="6"/>
                  </a:lnTo>
                  <a:lnTo>
                    <a:pt x="2325" y="7"/>
                  </a:lnTo>
                  <a:lnTo>
                    <a:pt x="2324" y="8"/>
                  </a:lnTo>
                  <a:lnTo>
                    <a:pt x="2216" y="8"/>
                  </a:lnTo>
                  <a:lnTo>
                    <a:pt x="2212" y="7"/>
                  </a:lnTo>
                  <a:lnTo>
                    <a:pt x="2210" y="6"/>
                  </a:lnTo>
                  <a:lnTo>
                    <a:pt x="2209" y="5"/>
                  </a:lnTo>
                  <a:lnTo>
                    <a:pt x="2209" y="4"/>
                  </a:lnTo>
                  <a:lnTo>
                    <a:pt x="2209" y="2"/>
                  </a:lnTo>
                  <a:lnTo>
                    <a:pt x="2210" y="1"/>
                  </a:lnTo>
                  <a:lnTo>
                    <a:pt x="2212" y="0"/>
                  </a:lnTo>
                  <a:lnTo>
                    <a:pt x="2216" y="0"/>
                  </a:lnTo>
                  <a:close/>
                  <a:moveTo>
                    <a:pt x="2399" y="0"/>
                  </a:moveTo>
                  <a:lnTo>
                    <a:pt x="2507" y="0"/>
                  </a:lnTo>
                  <a:lnTo>
                    <a:pt x="2510" y="0"/>
                  </a:lnTo>
                  <a:lnTo>
                    <a:pt x="2512" y="1"/>
                  </a:lnTo>
                  <a:lnTo>
                    <a:pt x="2514" y="2"/>
                  </a:lnTo>
                  <a:lnTo>
                    <a:pt x="2514" y="4"/>
                  </a:lnTo>
                  <a:lnTo>
                    <a:pt x="2514" y="5"/>
                  </a:lnTo>
                  <a:lnTo>
                    <a:pt x="2512" y="6"/>
                  </a:lnTo>
                  <a:lnTo>
                    <a:pt x="2510" y="7"/>
                  </a:lnTo>
                  <a:lnTo>
                    <a:pt x="2507" y="8"/>
                  </a:lnTo>
                  <a:lnTo>
                    <a:pt x="2399" y="8"/>
                  </a:lnTo>
                  <a:lnTo>
                    <a:pt x="2397" y="7"/>
                  </a:lnTo>
                  <a:lnTo>
                    <a:pt x="2393" y="6"/>
                  </a:lnTo>
                  <a:lnTo>
                    <a:pt x="2393" y="5"/>
                  </a:lnTo>
                  <a:lnTo>
                    <a:pt x="2391" y="4"/>
                  </a:lnTo>
                  <a:lnTo>
                    <a:pt x="2393" y="2"/>
                  </a:lnTo>
                  <a:lnTo>
                    <a:pt x="2393" y="1"/>
                  </a:lnTo>
                  <a:lnTo>
                    <a:pt x="2397" y="0"/>
                  </a:lnTo>
                  <a:lnTo>
                    <a:pt x="2399" y="0"/>
                  </a:lnTo>
                  <a:close/>
                  <a:moveTo>
                    <a:pt x="2584" y="0"/>
                  </a:moveTo>
                  <a:lnTo>
                    <a:pt x="2691" y="0"/>
                  </a:lnTo>
                  <a:lnTo>
                    <a:pt x="2693" y="0"/>
                  </a:lnTo>
                  <a:lnTo>
                    <a:pt x="2697" y="1"/>
                  </a:lnTo>
                  <a:lnTo>
                    <a:pt x="2699" y="2"/>
                  </a:lnTo>
                  <a:lnTo>
                    <a:pt x="2699" y="4"/>
                  </a:lnTo>
                  <a:lnTo>
                    <a:pt x="2699" y="5"/>
                  </a:lnTo>
                  <a:lnTo>
                    <a:pt x="2697" y="6"/>
                  </a:lnTo>
                  <a:lnTo>
                    <a:pt x="2693" y="7"/>
                  </a:lnTo>
                  <a:lnTo>
                    <a:pt x="2691" y="8"/>
                  </a:lnTo>
                  <a:lnTo>
                    <a:pt x="2584" y="8"/>
                  </a:lnTo>
                  <a:lnTo>
                    <a:pt x="2580" y="7"/>
                  </a:lnTo>
                  <a:lnTo>
                    <a:pt x="2578" y="6"/>
                  </a:lnTo>
                  <a:lnTo>
                    <a:pt x="2576" y="5"/>
                  </a:lnTo>
                  <a:lnTo>
                    <a:pt x="2576" y="4"/>
                  </a:lnTo>
                  <a:lnTo>
                    <a:pt x="2576" y="2"/>
                  </a:lnTo>
                  <a:lnTo>
                    <a:pt x="2578" y="1"/>
                  </a:lnTo>
                  <a:lnTo>
                    <a:pt x="2580" y="0"/>
                  </a:lnTo>
                  <a:lnTo>
                    <a:pt x="2584" y="0"/>
                  </a:lnTo>
                  <a:close/>
                  <a:moveTo>
                    <a:pt x="2767" y="0"/>
                  </a:moveTo>
                  <a:lnTo>
                    <a:pt x="2874" y="0"/>
                  </a:lnTo>
                  <a:lnTo>
                    <a:pt x="2878" y="0"/>
                  </a:lnTo>
                  <a:lnTo>
                    <a:pt x="2880" y="1"/>
                  </a:lnTo>
                  <a:lnTo>
                    <a:pt x="2882" y="2"/>
                  </a:lnTo>
                  <a:lnTo>
                    <a:pt x="2882" y="4"/>
                  </a:lnTo>
                  <a:lnTo>
                    <a:pt x="2882" y="5"/>
                  </a:lnTo>
                  <a:lnTo>
                    <a:pt x="2880" y="6"/>
                  </a:lnTo>
                  <a:lnTo>
                    <a:pt x="2878" y="7"/>
                  </a:lnTo>
                  <a:lnTo>
                    <a:pt x="2874" y="8"/>
                  </a:lnTo>
                  <a:lnTo>
                    <a:pt x="2767" y="8"/>
                  </a:lnTo>
                  <a:lnTo>
                    <a:pt x="2765" y="7"/>
                  </a:lnTo>
                  <a:lnTo>
                    <a:pt x="2763" y="6"/>
                  </a:lnTo>
                  <a:lnTo>
                    <a:pt x="2761" y="5"/>
                  </a:lnTo>
                  <a:lnTo>
                    <a:pt x="2759" y="4"/>
                  </a:lnTo>
                  <a:lnTo>
                    <a:pt x="2761" y="2"/>
                  </a:lnTo>
                  <a:lnTo>
                    <a:pt x="2763" y="1"/>
                  </a:lnTo>
                  <a:lnTo>
                    <a:pt x="2765" y="0"/>
                  </a:lnTo>
                  <a:lnTo>
                    <a:pt x="2767" y="0"/>
                  </a:lnTo>
                  <a:close/>
                  <a:moveTo>
                    <a:pt x="2952" y="0"/>
                  </a:moveTo>
                  <a:lnTo>
                    <a:pt x="3059" y="0"/>
                  </a:lnTo>
                  <a:lnTo>
                    <a:pt x="3061" y="0"/>
                  </a:lnTo>
                  <a:lnTo>
                    <a:pt x="3065" y="1"/>
                  </a:lnTo>
                  <a:lnTo>
                    <a:pt x="3067" y="2"/>
                  </a:lnTo>
                  <a:lnTo>
                    <a:pt x="3067" y="4"/>
                  </a:lnTo>
                  <a:lnTo>
                    <a:pt x="3067" y="5"/>
                  </a:lnTo>
                  <a:lnTo>
                    <a:pt x="3065" y="6"/>
                  </a:lnTo>
                  <a:lnTo>
                    <a:pt x="3061" y="7"/>
                  </a:lnTo>
                  <a:lnTo>
                    <a:pt x="3059" y="8"/>
                  </a:lnTo>
                  <a:lnTo>
                    <a:pt x="2952" y="8"/>
                  </a:lnTo>
                  <a:lnTo>
                    <a:pt x="2948" y="7"/>
                  </a:lnTo>
                  <a:lnTo>
                    <a:pt x="2946" y="6"/>
                  </a:lnTo>
                  <a:lnTo>
                    <a:pt x="2944" y="5"/>
                  </a:lnTo>
                  <a:lnTo>
                    <a:pt x="2944" y="4"/>
                  </a:lnTo>
                  <a:lnTo>
                    <a:pt x="2944" y="2"/>
                  </a:lnTo>
                  <a:lnTo>
                    <a:pt x="2946" y="1"/>
                  </a:lnTo>
                  <a:lnTo>
                    <a:pt x="2948" y="0"/>
                  </a:lnTo>
                  <a:lnTo>
                    <a:pt x="2952" y="0"/>
                  </a:lnTo>
                  <a:close/>
                  <a:moveTo>
                    <a:pt x="3137" y="0"/>
                  </a:moveTo>
                  <a:lnTo>
                    <a:pt x="3242" y="0"/>
                  </a:lnTo>
                  <a:lnTo>
                    <a:pt x="3246" y="0"/>
                  </a:lnTo>
                  <a:lnTo>
                    <a:pt x="3248" y="1"/>
                  </a:lnTo>
                  <a:lnTo>
                    <a:pt x="3250" y="2"/>
                  </a:lnTo>
                  <a:lnTo>
                    <a:pt x="3250" y="4"/>
                  </a:lnTo>
                  <a:lnTo>
                    <a:pt x="3250" y="5"/>
                  </a:lnTo>
                  <a:lnTo>
                    <a:pt x="3248" y="6"/>
                  </a:lnTo>
                  <a:lnTo>
                    <a:pt x="3246" y="7"/>
                  </a:lnTo>
                  <a:lnTo>
                    <a:pt x="3242" y="8"/>
                  </a:lnTo>
                  <a:lnTo>
                    <a:pt x="3137" y="8"/>
                  </a:lnTo>
                  <a:lnTo>
                    <a:pt x="3133" y="7"/>
                  </a:lnTo>
                  <a:lnTo>
                    <a:pt x="3131" y="6"/>
                  </a:lnTo>
                  <a:lnTo>
                    <a:pt x="3129" y="5"/>
                  </a:lnTo>
                  <a:lnTo>
                    <a:pt x="3127" y="4"/>
                  </a:lnTo>
                  <a:lnTo>
                    <a:pt x="3129" y="2"/>
                  </a:lnTo>
                  <a:lnTo>
                    <a:pt x="3131" y="1"/>
                  </a:lnTo>
                  <a:lnTo>
                    <a:pt x="3133" y="0"/>
                  </a:lnTo>
                  <a:lnTo>
                    <a:pt x="3137" y="0"/>
                  </a:lnTo>
                  <a:close/>
                  <a:moveTo>
                    <a:pt x="3319" y="0"/>
                  </a:moveTo>
                  <a:lnTo>
                    <a:pt x="3427" y="0"/>
                  </a:lnTo>
                  <a:lnTo>
                    <a:pt x="3429" y="0"/>
                  </a:lnTo>
                  <a:lnTo>
                    <a:pt x="3433" y="1"/>
                  </a:lnTo>
                  <a:lnTo>
                    <a:pt x="3435" y="2"/>
                  </a:lnTo>
                  <a:lnTo>
                    <a:pt x="3435" y="4"/>
                  </a:lnTo>
                  <a:lnTo>
                    <a:pt x="3435" y="5"/>
                  </a:lnTo>
                  <a:lnTo>
                    <a:pt x="3433" y="6"/>
                  </a:lnTo>
                  <a:lnTo>
                    <a:pt x="3429" y="7"/>
                  </a:lnTo>
                  <a:lnTo>
                    <a:pt x="3427" y="8"/>
                  </a:lnTo>
                  <a:lnTo>
                    <a:pt x="3319" y="8"/>
                  </a:lnTo>
                  <a:lnTo>
                    <a:pt x="3316" y="7"/>
                  </a:lnTo>
                  <a:lnTo>
                    <a:pt x="3314" y="6"/>
                  </a:lnTo>
                  <a:lnTo>
                    <a:pt x="3312" y="5"/>
                  </a:lnTo>
                  <a:lnTo>
                    <a:pt x="3312" y="4"/>
                  </a:lnTo>
                  <a:lnTo>
                    <a:pt x="3312" y="2"/>
                  </a:lnTo>
                  <a:lnTo>
                    <a:pt x="3314" y="1"/>
                  </a:lnTo>
                  <a:lnTo>
                    <a:pt x="3316" y="0"/>
                  </a:lnTo>
                  <a:lnTo>
                    <a:pt x="3319" y="0"/>
                  </a:lnTo>
                  <a:close/>
                  <a:moveTo>
                    <a:pt x="3504" y="0"/>
                  </a:moveTo>
                  <a:lnTo>
                    <a:pt x="3610" y="0"/>
                  </a:lnTo>
                  <a:lnTo>
                    <a:pt x="3614" y="0"/>
                  </a:lnTo>
                  <a:lnTo>
                    <a:pt x="3616" y="1"/>
                  </a:lnTo>
                  <a:lnTo>
                    <a:pt x="3617" y="2"/>
                  </a:lnTo>
                  <a:lnTo>
                    <a:pt x="3619" y="4"/>
                  </a:lnTo>
                  <a:lnTo>
                    <a:pt x="3617" y="5"/>
                  </a:lnTo>
                  <a:lnTo>
                    <a:pt x="3616" y="6"/>
                  </a:lnTo>
                  <a:lnTo>
                    <a:pt x="3614" y="7"/>
                  </a:lnTo>
                  <a:lnTo>
                    <a:pt x="3610" y="8"/>
                  </a:lnTo>
                  <a:lnTo>
                    <a:pt x="3504" y="8"/>
                  </a:lnTo>
                  <a:lnTo>
                    <a:pt x="3501" y="7"/>
                  </a:lnTo>
                  <a:lnTo>
                    <a:pt x="3499" y="6"/>
                  </a:lnTo>
                  <a:lnTo>
                    <a:pt x="3497" y="5"/>
                  </a:lnTo>
                  <a:lnTo>
                    <a:pt x="3497" y="4"/>
                  </a:lnTo>
                  <a:lnTo>
                    <a:pt x="3497" y="2"/>
                  </a:lnTo>
                  <a:lnTo>
                    <a:pt x="3499" y="1"/>
                  </a:lnTo>
                  <a:lnTo>
                    <a:pt x="3501" y="0"/>
                  </a:lnTo>
                  <a:lnTo>
                    <a:pt x="3504" y="0"/>
                  </a:lnTo>
                  <a:close/>
                  <a:moveTo>
                    <a:pt x="3687" y="0"/>
                  </a:moveTo>
                  <a:lnTo>
                    <a:pt x="3795" y="0"/>
                  </a:lnTo>
                  <a:lnTo>
                    <a:pt x="3799" y="0"/>
                  </a:lnTo>
                  <a:lnTo>
                    <a:pt x="3800" y="1"/>
                  </a:lnTo>
                  <a:lnTo>
                    <a:pt x="3802" y="2"/>
                  </a:lnTo>
                  <a:lnTo>
                    <a:pt x="3802" y="4"/>
                  </a:lnTo>
                  <a:lnTo>
                    <a:pt x="3802" y="5"/>
                  </a:lnTo>
                  <a:lnTo>
                    <a:pt x="3800" y="6"/>
                  </a:lnTo>
                  <a:lnTo>
                    <a:pt x="3799" y="7"/>
                  </a:lnTo>
                  <a:lnTo>
                    <a:pt x="3795" y="8"/>
                  </a:lnTo>
                  <a:lnTo>
                    <a:pt x="3687" y="8"/>
                  </a:lnTo>
                  <a:lnTo>
                    <a:pt x="3685" y="7"/>
                  </a:lnTo>
                  <a:lnTo>
                    <a:pt x="3682" y="6"/>
                  </a:lnTo>
                  <a:lnTo>
                    <a:pt x="3680" y="5"/>
                  </a:lnTo>
                  <a:lnTo>
                    <a:pt x="3680" y="4"/>
                  </a:lnTo>
                  <a:lnTo>
                    <a:pt x="3680" y="2"/>
                  </a:lnTo>
                  <a:lnTo>
                    <a:pt x="3682" y="1"/>
                  </a:lnTo>
                  <a:lnTo>
                    <a:pt x="3685" y="0"/>
                  </a:lnTo>
                  <a:lnTo>
                    <a:pt x="3687" y="0"/>
                  </a:lnTo>
                  <a:close/>
                  <a:moveTo>
                    <a:pt x="3872" y="0"/>
                  </a:moveTo>
                  <a:lnTo>
                    <a:pt x="3953" y="0"/>
                  </a:lnTo>
                  <a:lnTo>
                    <a:pt x="3957" y="0"/>
                  </a:lnTo>
                  <a:lnTo>
                    <a:pt x="3959" y="1"/>
                  </a:lnTo>
                  <a:lnTo>
                    <a:pt x="3961" y="2"/>
                  </a:lnTo>
                  <a:lnTo>
                    <a:pt x="3961" y="4"/>
                  </a:lnTo>
                  <a:lnTo>
                    <a:pt x="3961" y="5"/>
                  </a:lnTo>
                  <a:lnTo>
                    <a:pt x="3959" y="6"/>
                  </a:lnTo>
                  <a:lnTo>
                    <a:pt x="3957" y="7"/>
                  </a:lnTo>
                  <a:lnTo>
                    <a:pt x="3953" y="8"/>
                  </a:lnTo>
                  <a:lnTo>
                    <a:pt x="3872" y="8"/>
                  </a:lnTo>
                  <a:lnTo>
                    <a:pt x="3868" y="7"/>
                  </a:lnTo>
                  <a:lnTo>
                    <a:pt x="3866" y="6"/>
                  </a:lnTo>
                  <a:lnTo>
                    <a:pt x="3865" y="5"/>
                  </a:lnTo>
                  <a:lnTo>
                    <a:pt x="3865" y="4"/>
                  </a:lnTo>
                  <a:lnTo>
                    <a:pt x="3865" y="2"/>
                  </a:lnTo>
                  <a:lnTo>
                    <a:pt x="3866" y="1"/>
                  </a:lnTo>
                  <a:lnTo>
                    <a:pt x="3868" y="0"/>
                  </a:lnTo>
                  <a:lnTo>
                    <a:pt x="3872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" name="Rectangle 250"/>
            <p:cNvSpPr>
              <a:spLocks noChangeArrowheads="1"/>
            </p:cNvSpPr>
            <p:nvPr/>
          </p:nvSpPr>
          <p:spPr bwMode="auto">
            <a:xfrm>
              <a:off x="4468" y="3689"/>
              <a:ext cx="109" cy="18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宋体" pitchFamily="2" charset="-122"/>
                </a:rPr>
                <a:t>I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宋体" pitchFamily="2" charset="-122"/>
                </a:rPr>
                <a:t>o</a:t>
              </a:r>
            </a:p>
          </p:txBody>
        </p:sp>
        <p:sp>
          <p:nvSpPr>
            <p:cNvPr id="253" name="Line 251"/>
            <p:cNvSpPr>
              <a:spLocks noChangeShapeType="1"/>
            </p:cNvSpPr>
            <p:nvPr/>
          </p:nvSpPr>
          <p:spPr bwMode="auto">
            <a:xfrm>
              <a:off x="4555" y="2675"/>
              <a:ext cx="1" cy="2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4" name="Line 252"/>
            <p:cNvSpPr>
              <a:spLocks noChangeShapeType="1"/>
            </p:cNvSpPr>
            <p:nvPr/>
          </p:nvSpPr>
          <p:spPr bwMode="auto">
            <a:xfrm>
              <a:off x="5089" y="2675"/>
              <a:ext cx="1" cy="2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5" name="Line 253"/>
            <p:cNvSpPr>
              <a:spLocks noChangeShapeType="1"/>
            </p:cNvSpPr>
            <p:nvPr/>
          </p:nvSpPr>
          <p:spPr bwMode="auto">
            <a:xfrm flipV="1">
              <a:off x="3915" y="2674"/>
              <a:ext cx="1" cy="1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" name="Freeform 254"/>
            <p:cNvSpPr>
              <a:spLocks/>
            </p:cNvSpPr>
            <p:nvPr/>
          </p:nvSpPr>
          <p:spPr bwMode="auto">
            <a:xfrm>
              <a:off x="3881" y="2834"/>
              <a:ext cx="68" cy="75"/>
            </a:xfrm>
            <a:custGeom>
              <a:avLst/>
              <a:gdLst>
                <a:gd name="T0" fmla="*/ 1 w 138"/>
                <a:gd name="T1" fmla="*/ 75 h 75"/>
                <a:gd name="T2" fmla="*/ 0 w 138"/>
                <a:gd name="T3" fmla="*/ 0 h 75"/>
                <a:gd name="T4" fmla="*/ 0 w 138"/>
                <a:gd name="T5" fmla="*/ 2 h 75"/>
                <a:gd name="T6" fmla="*/ 0 w 138"/>
                <a:gd name="T7" fmla="*/ 4 h 75"/>
                <a:gd name="T8" fmla="*/ 0 w 138"/>
                <a:gd name="T9" fmla="*/ 5 h 75"/>
                <a:gd name="T10" fmla="*/ 0 w 138"/>
                <a:gd name="T11" fmla="*/ 6 h 75"/>
                <a:gd name="T12" fmla="*/ 0 w 138"/>
                <a:gd name="T13" fmla="*/ 7 h 75"/>
                <a:gd name="T14" fmla="*/ 0 w 138"/>
                <a:gd name="T15" fmla="*/ 8 h 75"/>
                <a:gd name="T16" fmla="*/ 0 w 138"/>
                <a:gd name="T17" fmla="*/ 8 h 75"/>
                <a:gd name="T18" fmla="*/ 1 w 138"/>
                <a:gd name="T19" fmla="*/ 9 h 75"/>
                <a:gd name="T20" fmla="*/ 1 w 138"/>
                <a:gd name="T21" fmla="*/ 8 h 75"/>
                <a:gd name="T22" fmla="*/ 1 w 138"/>
                <a:gd name="T23" fmla="*/ 8 h 75"/>
                <a:gd name="T24" fmla="*/ 1 w 138"/>
                <a:gd name="T25" fmla="*/ 7 h 75"/>
                <a:gd name="T26" fmla="*/ 1 w 138"/>
                <a:gd name="T27" fmla="*/ 6 h 75"/>
                <a:gd name="T28" fmla="*/ 1 w 138"/>
                <a:gd name="T29" fmla="*/ 5 h 75"/>
                <a:gd name="T30" fmla="*/ 1 w 138"/>
                <a:gd name="T31" fmla="*/ 4 h 75"/>
                <a:gd name="T32" fmla="*/ 2 w 138"/>
                <a:gd name="T33" fmla="*/ 2 h 75"/>
                <a:gd name="T34" fmla="*/ 2 w 138"/>
                <a:gd name="T35" fmla="*/ 0 h 75"/>
                <a:gd name="T36" fmla="*/ 1 w 138"/>
                <a:gd name="T37" fmla="*/ 75 h 75"/>
                <a:gd name="T38" fmla="*/ 1 w 138"/>
                <a:gd name="T39" fmla="*/ 75 h 7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38"/>
                <a:gd name="T61" fmla="*/ 0 h 75"/>
                <a:gd name="T62" fmla="*/ 138 w 138"/>
                <a:gd name="T63" fmla="*/ 75 h 7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38" h="75">
                  <a:moveTo>
                    <a:pt x="70" y="75"/>
                  </a:moveTo>
                  <a:lnTo>
                    <a:pt x="0" y="0"/>
                  </a:lnTo>
                  <a:lnTo>
                    <a:pt x="10" y="2"/>
                  </a:lnTo>
                  <a:lnTo>
                    <a:pt x="17" y="4"/>
                  </a:lnTo>
                  <a:lnTo>
                    <a:pt x="25" y="5"/>
                  </a:lnTo>
                  <a:lnTo>
                    <a:pt x="34" y="6"/>
                  </a:lnTo>
                  <a:lnTo>
                    <a:pt x="44" y="7"/>
                  </a:lnTo>
                  <a:lnTo>
                    <a:pt x="51" y="8"/>
                  </a:lnTo>
                  <a:lnTo>
                    <a:pt x="60" y="8"/>
                  </a:lnTo>
                  <a:lnTo>
                    <a:pt x="70" y="9"/>
                  </a:lnTo>
                  <a:lnTo>
                    <a:pt x="77" y="8"/>
                  </a:lnTo>
                  <a:lnTo>
                    <a:pt x="87" y="8"/>
                  </a:lnTo>
                  <a:lnTo>
                    <a:pt x="96" y="7"/>
                  </a:lnTo>
                  <a:lnTo>
                    <a:pt x="104" y="6"/>
                  </a:lnTo>
                  <a:lnTo>
                    <a:pt x="113" y="5"/>
                  </a:lnTo>
                  <a:lnTo>
                    <a:pt x="121" y="4"/>
                  </a:lnTo>
                  <a:lnTo>
                    <a:pt x="130" y="2"/>
                  </a:lnTo>
                  <a:lnTo>
                    <a:pt x="138" y="0"/>
                  </a:lnTo>
                  <a:lnTo>
                    <a:pt x="70" y="75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Freeform 255"/>
            <p:cNvSpPr>
              <a:spLocks/>
            </p:cNvSpPr>
            <p:nvPr/>
          </p:nvSpPr>
          <p:spPr bwMode="auto">
            <a:xfrm>
              <a:off x="3881" y="2616"/>
              <a:ext cx="68" cy="77"/>
            </a:xfrm>
            <a:custGeom>
              <a:avLst/>
              <a:gdLst>
                <a:gd name="T0" fmla="*/ 1 w 138"/>
                <a:gd name="T1" fmla="*/ 0 h 77"/>
                <a:gd name="T2" fmla="*/ 2 w 138"/>
                <a:gd name="T3" fmla="*/ 77 h 77"/>
                <a:gd name="T4" fmla="*/ 2 w 138"/>
                <a:gd name="T5" fmla="*/ 75 h 77"/>
                <a:gd name="T6" fmla="*/ 1 w 138"/>
                <a:gd name="T7" fmla="*/ 73 h 77"/>
                <a:gd name="T8" fmla="*/ 1 w 138"/>
                <a:gd name="T9" fmla="*/ 71 h 77"/>
                <a:gd name="T10" fmla="*/ 1 w 138"/>
                <a:gd name="T11" fmla="*/ 70 h 77"/>
                <a:gd name="T12" fmla="*/ 1 w 138"/>
                <a:gd name="T13" fmla="*/ 69 h 77"/>
                <a:gd name="T14" fmla="*/ 1 w 138"/>
                <a:gd name="T15" fmla="*/ 69 h 77"/>
                <a:gd name="T16" fmla="*/ 1 w 138"/>
                <a:gd name="T17" fmla="*/ 68 h 77"/>
                <a:gd name="T18" fmla="*/ 1 w 138"/>
                <a:gd name="T19" fmla="*/ 68 h 77"/>
                <a:gd name="T20" fmla="*/ 0 w 138"/>
                <a:gd name="T21" fmla="*/ 68 h 77"/>
                <a:gd name="T22" fmla="*/ 0 w 138"/>
                <a:gd name="T23" fmla="*/ 69 h 77"/>
                <a:gd name="T24" fmla="*/ 0 w 138"/>
                <a:gd name="T25" fmla="*/ 69 h 77"/>
                <a:gd name="T26" fmla="*/ 0 w 138"/>
                <a:gd name="T27" fmla="*/ 70 h 77"/>
                <a:gd name="T28" fmla="*/ 0 w 138"/>
                <a:gd name="T29" fmla="*/ 71 h 77"/>
                <a:gd name="T30" fmla="*/ 0 w 138"/>
                <a:gd name="T31" fmla="*/ 73 h 77"/>
                <a:gd name="T32" fmla="*/ 0 w 138"/>
                <a:gd name="T33" fmla="*/ 75 h 77"/>
                <a:gd name="T34" fmla="*/ 0 w 138"/>
                <a:gd name="T35" fmla="*/ 77 h 77"/>
                <a:gd name="T36" fmla="*/ 0 w 138"/>
                <a:gd name="T37" fmla="*/ 77 h 77"/>
                <a:gd name="T38" fmla="*/ 1 w 138"/>
                <a:gd name="T39" fmla="*/ 0 h 77"/>
                <a:gd name="T40" fmla="*/ 1 w 138"/>
                <a:gd name="T41" fmla="*/ 0 h 7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8"/>
                <a:gd name="T64" fmla="*/ 0 h 77"/>
                <a:gd name="T65" fmla="*/ 138 w 138"/>
                <a:gd name="T66" fmla="*/ 77 h 7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8" h="77">
                  <a:moveTo>
                    <a:pt x="70" y="0"/>
                  </a:moveTo>
                  <a:lnTo>
                    <a:pt x="138" y="77"/>
                  </a:lnTo>
                  <a:lnTo>
                    <a:pt x="130" y="75"/>
                  </a:lnTo>
                  <a:lnTo>
                    <a:pt x="121" y="73"/>
                  </a:lnTo>
                  <a:lnTo>
                    <a:pt x="113" y="71"/>
                  </a:lnTo>
                  <a:lnTo>
                    <a:pt x="104" y="70"/>
                  </a:lnTo>
                  <a:lnTo>
                    <a:pt x="96" y="69"/>
                  </a:lnTo>
                  <a:lnTo>
                    <a:pt x="87" y="69"/>
                  </a:lnTo>
                  <a:lnTo>
                    <a:pt x="77" y="68"/>
                  </a:lnTo>
                  <a:lnTo>
                    <a:pt x="70" y="68"/>
                  </a:lnTo>
                  <a:lnTo>
                    <a:pt x="60" y="68"/>
                  </a:lnTo>
                  <a:lnTo>
                    <a:pt x="51" y="69"/>
                  </a:lnTo>
                  <a:lnTo>
                    <a:pt x="44" y="69"/>
                  </a:lnTo>
                  <a:lnTo>
                    <a:pt x="34" y="70"/>
                  </a:lnTo>
                  <a:lnTo>
                    <a:pt x="25" y="71"/>
                  </a:lnTo>
                  <a:lnTo>
                    <a:pt x="17" y="73"/>
                  </a:lnTo>
                  <a:lnTo>
                    <a:pt x="10" y="75"/>
                  </a:lnTo>
                  <a:lnTo>
                    <a:pt x="0" y="77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Rectangle 256"/>
            <p:cNvSpPr>
              <a:spLocks noChangeArrowheads="1"/>
            </p:cNvSpPr>
            <p:nvPr/>
          </p:nvSpPr>
          <p:spPr bwMode="auto">
            <a:xfrm>
              <a:off x="3969" y="2691"/>
              <a:ext cx="109" cy="18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</p:txBody>
        </p:sp>
        <p:sp>
          <p:nvSpPr>
            <p:cNvPr id="259" name="Rectangle 257"/>
            <p:cNvSpPr>
              <a:spLocks noChangeArrowheads="1"/>
            </p:cNvSpPr>
            <p:nvPr/>
          </p:nvSpPr>
          <p:spPr bwMode="auto">
            <a:xfrm>
              <a:off x="4377" y="2147"/>
              <a:ext cx="156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(a)</a:t>
              </a:r>
              <a:endParaRPr lang="en-US" altLang="zh-CN"/>
            </a:p>
          </p:txBody>
        </p:sp>
        <p:sp>
          <p:nvSpPr>
            <p:cNvPr id="260" name="Rectangle 258"/>
            <p:cNvSpPr>
              <a:spLocks noChangeArrowheads="1"/>
            </p:cNvSpPr>
            <p:nvPr/>
          </p:nvSpPr>
          <p:spPr bwMode="auto">
            <a:xfrm>
              <a:off x="4374" y="4037"/>
              <a:ext cx="156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(b)</a:t>
              </a:r>
              <a:endParaRPr lang="en-US" altLang="zh-CN"/>
            </a:p>
          </p:txBody>
        </p:sp>
        <p:sp>
          <p:nvSpPr>
            <p:cNvPr id="261" name="Rectangle 259"/>
            <p:cNvSpPr>
              <a:spLocks noChangeArrowheads="1"/>
            </p:cNvSpPr>
            <p:nvPr/>
          </p:nvSpPr>
          <p:spPr bwMode="auto">
            <a:xfrm>
              <a:off x="4940" y="845"/>
              <a:ext cx="2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endParaRPr lang="en-US" altLang="zh-CN"/>
            </a:p>
          </p:txBody>
        </p:sp>
        <p:sp>
          <p:nvSpPr>
            <p:cNvPr id="262" name="Line 260"/>
            <p:cNvSpPr>
              <a:spLocks noChangeShapeType="1"/>
            </p:cNvSpPr>
            <p:nvPr/>
          </p:nvSpPr>
          <p:spPr bwMode="auto">
            <a:xfrm flipV="1">
              <a:off x="4423" y="3598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" name="Line 261"/>
            <p:cNvSpPr>
              <a:spLocks noChangeShapeType="1"/>
            </p:cNvSpPr>
            <p:nvPr/>
          </p:nvSpPr>
          <p:spPr bwMode="auto">
            <a:xfrm>
              <a:off x="4423" y="3780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Line 262"/>
            <p:cNvSpPr>
              <a:spLocks noChangeShapeType="1"/>
            </p:cNvSpPr>
            <p:nvPr/>
          </p:nvSpPr>
          <p:spPr bwMode="auto">
            <a:xfrm flipV="1">
              <a:off x="3379" y="3372"/>
              <a:ext cx="0" cy="5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" name="Freeform 263"/>
            <p:cNvSpPr>
              <a:spLocks/>
            </p:cNvSpPr>
            <p:nvPr/>
          </p:nvSpPr>
          <p:spPr bwMode="auto">
            <a:xfrm>
              <a:off x="4243" y="1153"/>
              <a:ext cx="32" cy="234"/>
            </a:xfrm>
            <a:custGeom>
              <a:avLst/>
              <a:gdLst>
                <a:gd name="T0" fmla="*/ 0 w 65"/>
                <a:gd name="T1" fmla="*/ 0 h 234"/>
                <a:gd name="T2" fmla="*/ 0 w 65"/>
                <a:gd name="T3" fmla="*/ 1 h 234"/>
                <a:gd name="T4" fmla="*/ 0 w 65"/>
                <a:gd name="T5" fmla="*/ 4 h 234"/>
                <a:gd name="T6" fmla="*/ 0 w 65"/>
                <a:gd name="T7" fmla="*/ 11 h 234"/>
                <a:gd name="T8" fmla="*/ 0 w 65"/>
                <a:gd name="T9" fmla="*/ 17 h 234"/>
                <a:gd name="T10" fmla="*/ 0 w 65"/>
                <a:gd name="T11" fmla="*/ 22 h 234"/>
                <a:gd name="T12" fmla="*/ 1 w 65"/>
                <a:gd name="T13" fmla="*/ 28 h 234"/>
                <a:gd name="T14" fmla="*/ 0 w 65"/>
                <a:gd name="T15" fmla="*/ 34 h 234"/>
                <a:gd name="T16" fmla="*/ 0 w 65"/>
                <a:gd name="T17" fmla="*/ 39 h 234"/>
                <a:gd name="T18" fmla="*/ 0 w 65"/>
                <a:gd name="T19" fmla="*/ 45 h 234"/>
                <a:gd name="T20" fmla="*/ 0 w 65"/>
                <a:gd name="T21" fmla="*/ 49 h 234"/>
                <a:gd name="T22" fmla="*/ 0 w 65"/>
                <a:gd name="T23" fmla="*/ 56 h 234"/>
                <a:gd name="T24" fmla="*/ 0 w 65"/>
                <a:gd name="T25" fmla="*/ 58 h 234"/>
                <a:gd name="T26" fmla="*/ 0 w 65"/>
                <a:gd name="T27" fmla="*/ 59 h 234"/>
                <a:gd name="T28" fmla="*/ 0 w 65"/>
                <a:gd name="T29" fmla="*/ 59 h 234"/>
                <a:gd name="T30" fmla="*/ 0 w 65"/>
                <a:gd name="T31" fmla="*/ 59 h 234"/>
                <a:gd name="T32" fmla="*/ 0 w 65"/>
                <a:gd name="T33" fmla="*/ 63 h 234"/>
                <a:gd name="T34" fmla="*/ 0 w 65"/>
                <a:gd name="T35" fmla="*/ 71 h 234"/>
                <a:gd name="T36" fmla="*/ 0 w 65"/>
                <a:gd name="T37" fmla="*/ 76 h 234"/>
                <a:gd name="T38" fmla="*/ 0 w 65"/>
                <a:gd name="T39" fmla="*/ 81 h 234"/>
                <a:gd name="T40" fmla="*/ 1 w 65"/>
                <a:gd name="T41" fmla="*/ 87 h 234"/>
                <a:gd name="T42" fmla="*/ 0 w 65"/>
                <a:gd name="T43" fmla="*/ 92 h 234"/>
                <a:gd name="T44" fmla="*/ 0 w 65"/>
                <a:gd name="T45" fmla="*/ 98 h 234"/>
                <a:gd name="T46" fmla="*/ 0 w 65"/>
                <a:gd name="T47" fmla="*/ 104 h 234"/>
                <a:gd name="T48" fmla="*/ 0 w 65"/>
                <a:gd name="T49" fmla="*/ 108 h 234"/>
                <a:gd name="T50" fmla="*/ 0 w 65"/>
                <a:gd name="T51" fmla="*/ 114 h 234"/>
                <a:gd name="T52" fmla="*/ 0 w 65"/>
                <a:gd name="T53" fmla="*/ 116 h 234"/>
                <a:gd name="T54" fmla="*/ 0 w 65"/>
                <a:gd name="T55" fmla="*/ 117 h 234"/>
                <a:gd name="T56" fmla="*/ 0 w 65"/>
                <a:gd name="T57" fmla="*/ 117 h 234"/>
                <a:gd name="T58" fmla="*/ 0 w 65"/>
                <a:gd name="T59" fmla="*/ 118 h 234"/>
                <a:gd name="T60" fmla="*/ 0 w 65"/>
                <a:gd name="T61" fmla="*/ 121 h 234"/>
                <a:gd name="T62" fmla="*/ 0 w 65"/>
                <a:gd name="T63" fmla="*/ 130 h 234"/>
                <a:gd name="T64" fmla="*/ 0 w 65"/>
                <a:gd name="T65" fmla="*/ 134 h 234"/>
                <a:gd name="T66" fmla="*/ 0 w 65"/>
                <a:gd name="T67" fmla="*/ 139 h 234"/>
                <a:gd name="T68" fmla="*/ 1 w 65"/>
                <a:gd name="T69" fmla="*/ 145 h 234"/>
                <a:gd name="T70" fmla="*/ 0 w 65"/>
                <a:gd name="T71" fmla="*/ 151 h 234"/>
                <a:gd name="T72" fmla="*/ 0 w 65"/>
                <a:gd name="T73" fmla="*/ 156 h 234"/>
                <a:gd name="T74" fmla="*/ 0 w 65"/>
                <a:gd name="T75" fmla="*/ 162 h 234"/>
                <a:gd name="T76" fmla="*/ 0 w 65"/>
                <a:gd name="T77" fmla="*/ 167 h 234"/>
                <a:gd name="T78" fmla="*/ 0 w 65"/>
                <a:gd name="T79" fmla="*/ 173 h 234"/>
                <a:gd name="T80" fmla="*/ 0 w 65"/>
                <a:gd name="T81" fmla="*/ 175 h 234"/>
                <a:gd name="T82" fmla="*/ 0 w 65"/>
                <a:gd name="T83" fmla="*/ 176 h 234"/>
                <a:gd name="T84" fmla="*/ 0 w 65"/>
                <a:gd name="T85" fmla="*/ 176 h 234"/>
                <a:gd name="T86" fmla="*/ 0 w 65"/>
                <a:gd name="T87" fmla="*/ 177 h 234"/>
                <a:gd name="T88" fmla="*/ 0 w 65"/>
                <a:gd name="T89" fmla="*/ 180 h 234"/>
                <a:gd name="T90" fmla="*/ 0 w 65"/>
                <a:gd name="T91" fmla="*/ 188 h 234"/>
                <a:gd name="T92" fmla="*/ 0 w 65"/>
                <a:gd name="T93" fmla="*/ 193 h 234"/>
                <a:gd name="T94" fmla="*/ 0 w 65"/>
                <a:gd name="T95" fmla="*/ 198 h 234"/>
                <a:gd name="T96" fmla="*/ 1 w 65"/>
                <a:gd name="T97" fmla="*/ 204 h 234"/>
                <a:gd name="T98" fmla="*/ 0 w 65"/>
                <a:gd name="T99" fmla="*/ 209 h 234"/>
                <a:gd name="T100" fmla="*/ 0 w 65"/>
                <a:gd name="T101" fmla="*/ 215 h 234"/>
                <a:gd name="T102" fmla="*/ 0 w 65"/>
                <a:gd name="T103" fmla="*/ 221 h 234"/>
                <a:gd name="T104" fmla="*/ 0 w 65"/>
                <a:gd name="T105" fmla="*/ 225 h 234"/>
                <a:gd name="T106" fmla="*/ 0 w 65"/>
                <a:gd name="T107" fmla="*/ 231 h 234"/>
                <a:gd name="T108" fmla="*/ 0 w 65"/>
                <a:gd name="T109" fmla="*/ 233 h 234"/>
                <a:gd name="T110" fmla="*/ 0 w 65"/>
                <a:gd name="T111" fmla="*/ 234 h 23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65"/>
                <a:gd name="T169" fmla="*/ 0 h 234"/>
                <a:gd name="T170" fmla="*/ 65 w 65"/>
                <a:gd name="T171" fmla="*/ 234 h 234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65" h="234">
                  <a:moveTo>
                    <a:pt x="0" y="0"/>
                  </a:moveTo>
                  <a:lnTo>
                    <a:pt x="6" y="0"/>
                  </a:lnTo>
                  <a:lnTo>
                    <a:pt x="12" y="0"/>
                  </a:lnTo>
                  <a:lnTo>
                    <a:pt x="19" y="1"/>
                  </a:lnTo>
                  <a:lnTo>
                    <a:pt x="25" y="2"/>
                  </a:lnTo>
                  <a:lnTo>
                    <a:pt x="34" y="4"/>
                  </a:lnTo>
                  <a:lnTo>
                    <a:pt x="44" y="7"/>
                  </a:lnTo>
                  <a:lnTo>
                    <a:pt x="51" y="11"/>
                  </a:lnTo>
                  <a:lnTo>
                    <a:pt x="55" y="15"/>
                  </a:lnTo>
                  <a:lnTo>
                    <a:pt x="59" y="17"/>
                  </a:lnTo>
                  <a:lnTo>
                    <a:pt x="61" y="20"/>
                  </a:lnTo>
                  <a:lnTo>
                    <a:pt x="63" y="22"/>
                  </a:lnTo>
                  <a:lnTo>
                    <a:pt x="63" y="25"/>
                  </a:lnTo>
                  <a:lnTo>
                    <a:pt x="65" y="28"/>
                  </a:lnTo>
                  <a:lnTo>
                    <a:pt x="65" y="31"/>
                  </a:lnTo>
                  <a:lnTo>
                    <a:pt x="63" y="34"/>
                  </a:lnTo>
                  <a:lnTo>
                    <a:pt x="63" y="37"/>
                  </a:lnTo>
                  <a:lnTo>
                    <a:pt x="61" y="39"/>
                  </a:lnTo>
                  <a:lnTo>
                    <a:pt x="57" y="43"/>
                  </a:lnTo>
                  <a:lnTo>
                    <a:pt x="55" y="45"/>
                  </a:lnTo>
                  <a:lnTo>
                    <a:pt x="51" y="47"/>
                  </a:lnTo>
                  <a:lnTo>
                    <a:pt x="48" y="49"/>
                  </a:lnTo>
                  <a:lnTo>
                    <a:pt x="38" y="53"/>
                  </a:lnTo>
                  <a:lnTo>
                    <a:pt x="29" y="56"/>
                  </a:lnTo>
                  <a:lnTo>
                    <a:pt x="23" y="57"/>
                  </a:lnTo>
                  <a:lnTo>
                    <a:pt x="17" y="58"/>
                  </a:lnTo>
                  <a:lnTo>
                    <a:pt x="12" y="58"/>
                  </a:lnTo>
                  <a:lnTo>
                    <a:pt x="4" y="59"/>
                  </a:lnTo>
                  <a:lnTo>
                    <a:pt x="0" y="59"/>
                  </a:lnTo>
                  <a:lnTo>
                    <a:pt x="6" y="59"/>
                  </a:lnTo>
                  <a:lnTo>
                    <a:pt x="12" y="59"/>
                  </a:lnTo>
                  <a:lnTo>
                    <a:pt x="19" y="59"/>
                  </a:lnTo>
                  <a:lnTo>
                    <a:pt x="25" y="60"/>
                  </a:lnTo>
                  <a:lnTo>
                    <a:pt x="34" y="63"/>
                  </a:lnTo>
                  <a:lnTo>
                    <a:pt x="44" y="66"/>
                  </a:lnTo>
                  <a:lnTo>
                    <a:pt x="51" y="71"/>
                  </a:lnTo>
                  <a:lnTo>
                    <a:pt x="55" y="73"/>
                  </a:lnTo>
                  <a:lnTo>
                    <a:pt x="59" y="76"/>
                  </a:lnTo>
                  <a:lnTo>
                    <a:pt x="61" y="78"/>
                  </a:lnTo>
                  <a:lnTo>
                    <a:pt x="63" y="81"/>
                  </a:lnTo>
                  <a:lnTo>
                    <a:pt x="63" y="84"/>
                  </a:lnTo>
                  <a:lnTo>
                    <a:pt x="65" y="87"/>
                  </a:lnTo>
                  <a:lnTo>
                    <a:pt x="65" y="90"/>
                  </a:lnTo>
                  <a:lnTo>
                    <a:pt x="63" y="92"/>
                  </a:lnTo>
                  <a:lnTo>
                    <a:pt x="63" y="95"/>
                  </a:lnTo>
                  <a:lnTo>
                    <a:pt x="61" y="98"/>
                  </a:lnTo>
                  <a:lnTo>
                    <a:pt x="57" y="101"/>
                  </a:lnTo>
                  <a:lnTo>
                    <a:pt x="55" y="104"/>
                  </a:lnTo>
                  <a:lnTo>
                    <a:pt x="51" y="106"/>
                  </a:lnTo>
                  <a:lnTo>
                    <a:pt x="48" y="108"/>
                  </a:lnTo>
                  <a:lnTo>
                    <a:pt x="38" y="112"/>
                  </a:lnTo>
                  <a:lnTo>
                    <a:pt x="29" y="114"/>
                  </a:lnTo>
                  <a:lnTo>
                    <a:pt x="23" y="115"/>
                  </a:lnTo>
                  <a:lnTo>
                    <a:pt x="17" y="116"/>
                  </a:lnTo>
                  <a:lnTo>
                    <a:pt x="12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6" y="117"/>
                  </a:lnTo>
                  <a:lnTo>
                    <a:pt x="12" y="117"/>
                  </a:lnTo>
                  <a:lnTo>
                    <a:pt x="19" y="118"/>
                  </a:lnTo>
                  <a:lnTo>
                    <a:pt x="25" y="119"/>
                  </a:lnTo>
                  <a:lnTo>
                    <a:pt x="34" y="121"/>
                  </a:lnTo>
                  <a:lnTo>
                    <a:pt x="44" y="125"/>
                  </a:lnTo>
                  <a:lnTo>
                    <a:pt x="51" y="130"/>
                  </a:lnTo>
                  <a:lnTo>
                    <a:pt x="55" y="132"/>
                  </a:lnTo>
                  <a:lnTo>
                    <a:pt x="59" y="134"/>
                  </a:lnTo>
                  <a:lnTo>
                    <a:pt x="61" y="137"/>
                  </a:lnTo>
                  <a:lnTo>
                    <a:pt x="63" y="139"/>
                  </a:lnTo>
                  <a:lnTo>
                    <a:pt x="63" y="142"/>
                  </a:lnTo>
                  <a:lnTo>
                    <a:pt x="65" y="145"/>
                  </a:lnTo>
                  <a:lnTo>
                    <a:pt x="65" y="148"/>
                  </a:lnTo>
                  <a:lnTo>
                    <a:pt x="63" y="151"/>
                  </a:lnTo>
                  <a:lnTo>
                    <a:pt x="63" y="154"/>
                  </a:lnTo>
                  <a:lnTo>
                    <a:pt x="61" y="156"/>
                  </a:lnTo>
                  <a:lnTo>
                    <a:pt x="57" y="160"/>
                  </a:lnTo>
                  <a:lnTo>
                    <a:pt x="55" y="162"/>
                  </a:lnTo>
                  <a:lnTo>
                    <a:pt x="51" y="164"/>
                  </a:lnTo>
                  <a:lnTo>
                    <a:pt x="48" y="167"/>
                  </a:lnTo>
                  <a:lnTo>
                    <a:pt x="38" y="170"/>
                  </a:lnTo>
                  <a:lnTo>
                    <a:pt x="29" y="173"/>
                  </a:lnTo>
                  <a:lnTo>
                    <a:pt x="23" y="174"/>
                  </a:lnTo>
                  <a:lnTo>
                    <a:pt x="17" y="175"/>
                  </a:lnTo>
                  <a:lnTo>
                    <a:pt x="12" y="175"/>
                  </a:lnTo>
                  <a:lnTo>
                    <a:pt x="4" y="176"/>
                  </a:lnTo>
                  <a:lnTo>
                    <a:pt x="0" y="176"/>
                  </a:lnTo>
                  <a:lnTo>
                    <a:pt x="6" y="176"/>
                  </a:lnTo>
                  <a:lnTo>
                    <a:pt x="12" y="176"/>
                  </a:lnTo>
                  <a:lnTo>
                    <a:pt x="19" y="177"/>
                  </a:lnTo>
                  <a:lnTo>
                    <a:pt x="25" y="177"/>
                  </a:lnTo>
                  <a:lnTo>
                    <a:pt x="34" y="180"/>
                  </a:lnTo>
                  <a:lnTo>
                    <a:pt x="44" y="183"/>
                  </a:lnTo>
                  <a:lnTo>
                    <a:pt x="51" y="188"/>
                  </a:lnTo>
                  <a:lnTo>
                    <a:pt x="55" y="190"/>
                  </a:lnTo>
                  <a:lnTo>
                    <a:pt x="59" y="193"/>
                  </a:lnTo>
                  <a:lnTo>
                    <a:pt x="61" y="195"/>
                  </a:lnTo>
                  <a:lnTo>
                    <a:pt x="63" y="198"/>
                  </a:lnTo>
                  <a:lnTo>
                    <a:pt x="63" y="201"/>
                  </a:lnTo>
                  <a:lnTo>
                    <a:pt x="65" y="204"/>
                  </a:lnTo>
                  <a:lnTo>
                    <a:pt x="65" y="207"/>
                  </a:lnTo>
                  <a:lnTo>
                    <a:pt x="63" y="209"/>
                  </a:lnTo>
                  <a:lnTo>
                    <a:pt x="63" y="212"/>
                  </a:lnTo>
                  <a:lnTo>
                    <a:pt x="61" y="215"/>
                  </a:lnTo>
                  <a:lnTo>
                    <a:pt x="57" y="218"/>
                  </a:lnTo>
                  <a:lnTo>
                    <a:pt x="55" y="221"/>
                  </a:lnTo>
                  <a:lnTo>
                    <a:pt x="51" y="223"/>
                  </a:lnTo>
                  <a:lnTo>
                    <a:pt x="48" y="225"/>
                  </a:lnTo>
                  <a:lnTo>
                    <a:pt x="38" y="229"/>
                  </a:lnTo>
                  <a:lnTo>
                    <a:pt x="29" y="231"/>
                  </a:lnTo>
                  <a:lnTo>
                    <a:pt x="23" y="233"/>
                  </a:lnTo>
                  <a:lnTo>
                    <a:pt x="17" y="233"/>
                  </a:lnTo>
                  <a:lnTo>
                    <a:pt x="12" y="234"/>
                  </a:lnTo>
                  <a:lnTo>
                    <a:pt x="4" y="234"/>
                  </a:lnTo>
                  <a:lnTo>
                    <a:pt x="0" y="2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" name="Freeform 264"/>
            <p:cNvSpPr>
              <a:spLocks/>
            </p:cNvSpPr>
            <p:nvPr/>
          </p:nvSpPr>
          <p:spPr bwMode="auto">
            <a:xfrm>
              <a:off x="4333" y="1153"/>
              <a:ext cx="32" cy="234"/>
            </a:xfrm>
            <a:custGeom>
              <a:avLst/>
              <a:gdLst>
                <a:gd name="T0" fmla="*/ 0 w 65"/>
                <a:gd name="T1" fmla="*/ 0 h 234"/>
                <a:gd name="T2" fmla="*/ 0 w 65"/>
                <a:gd name="T3" fmla="*/ 1 h 234"/>
                <a:gd name="T4" fmla="*/ 0 w 65"/>
                <a:gd name="T5" fmla="*/ 4 h 234"/>
                <a:gd name="T6" fmla="*/ 0 w 65"/>
                <a:gd name="T7" fmla="*/ 11 h 234"/>
                <a:gd name="T8" fmla="*/ 0 w 65"/>
                <a:gd name="T9" fmla="*/ 17 h 234"/>
                <a:gd name="T10" fmla="*/ 0 w 65"/>
                <a:gd name="T11" fmla="*/ 22 h 234"/>
                <a:gd name="T12" fmla="*/ 0 w 65"/>
                <a:gd name="T13" fmla="*/ 28 h 234"/>
                <a:gd name="T14" fmla="*/ 0 w 65"/>
                <a:gd name="T15" fmla="*/ 34 h 234"/>
                <a:gd name="T16" fmla="*/ 0 w 65"/>
                <a:gd name="T17" fmla="*/ 39 h 234"/>
                <a:gd name="T18" fmla="*/ 0 w 65"/>
                <a:gd name="T19" fmla="*/ 45 h 234"/>
                <a:gd name="T20" fmla="*/ 0 w 65"/>
                <a:gd name="T21" fmla="*/ 49 h 234"/>
                <a:gd name="T22" fmla="*/ 0 w 65"/>
                <a:gd name="T23" fmla="*/ 56 h 234"/>
                <a:gd name="T24" fmla="*/ 0 w 65"/>
                <a:gd name="T25" fmla="*/ 58 h 234"/>
                <a:gd name="T26" fmla="*/ 0 w 65"/>
                <a:gd name="T27" fmla="*/ 59 h 234"/>
                <a:gd name="T28" fmla="*/ 0 w 65"/>
                <a:gd name="T29" fmla="*/ 59 h 234"/>
                <a:gd name="T30" fmla="*/ 0 w 65"/>
                <a:gd name="T31" fmla="*/ 59 h 234"/>
                <a:gd name="T32" fmla="*/ 0 w 65"/>
                <a:gd name="T33" fmla="*/ 63 h 234"/>
                <a:gd name="T34" fmla="*/ 0 w 65"/>
                <a:gd name="T35" fmla="*/ 71 h 234"/>
                <a:gd name="T36" fmla="*/ 0 w 65"/>
                <a:gd name="T37" fmla="*/ 76 h 234"/>
                <a:gd name="T38" fmla="*/ 0 w 65"/>
                <a:gd name="T39" fmla="*/ 81 h 234"/>
                <a:gd name="T40" fmla="*/ 0 w 65"/>
                <a:gd name="T41" fmla="*/ 87 h 234"/>
                <a:gd name="T42" fmla="*/ 0 w 65"/>
                <a:gd name="T43" fmla="*/ 92 h 234"/>
                <a:gd name="T44" fmla="*/ 0 w 65"/>
                <a:gd name="T45" fmla="*/ 98 h 234"/>
                <a:gd name="T46" fmla="*/ 0 w 65"/>
                <a:gd name="T47" fmla="*/ 104 h 234"/>
                <a:gd name="T48" fmla="*/ 0 w 65"/>
                <a:gd name="T49" fmla="*/ 108 h 234"/>
                <a:gd name="T50" fmla="*/ 0 w 65"/>
                <a:gd name="T51" fmla="*/ 114 h 234"/>
                <a:gd name="T52" fmla="*/ 0 w 65"/>
                <a:gd name="T53" fmla="*/ 116 h 234"/>
                <a:gd name="T54" fmla="*/ 0 w 65"/>
                <a:gd name="T55" fmla="*/ 117 h 234"/>
                <a:gd name="T56" fmla="*/ 0 w 65"/>
                <a:gd name="T57" fmla="*/ 117 h 234"/>
                <a:gd name="T58" fmla="*/ 0 w 65"/>
                <a:gd name="T59" fmla="*/ 118 h 234"/>
                <a:gd name="T60" fmla="*/ 0 w 65"/>
                <a:gd name="T61" fmla="*/ 121 h 234"/>
                <a:gd name="T62" fmla="*/ 0 w 65"/>
                <a:gd name="T63" fmla="*/ 130 h 234"/>
                <a:gd name="T64" fmla="*/ 0 w 65"/>
                <a:gd name="T65" fmla="*/ 134 h 234"/>
                <a:gd name="T66" fmla="*/ 0 w 65"/>
                <a:gd name="T67" fmla="*/ 139 h 234"/>
                <a:gd name="T68" fmla="*/ 0 w 65"/>
                <a:gd name="T69" fmla="*/ 145 h 234"/>
                <a:gd name="T70" fmla="*/ 0 w 65"/>
                <a:gd name="T71" fmla="*/ 151 h 234"/>
                <a:gd name="T72" fmla="*/ 0 w 65"/>
                <a:gd name="T73" fmla="*/ 156 h 234"/>
                <a:gd name="T74" fmla="*/ 0 w 65"/>
                <a:gd name="T75" fmla="*/ 162 h 234"/>
                <a:gd name="T76" fmla="*/ 0 w 65"/>
                <a:gd name="T77" fmla="*/ 167 h 234"/>
                <a:gd name="T78" fmla="*/ 0 w 65"/>
                <a:gd name="T79" fmla="*/ 173 h 234"/>
                <a:gd name="T80" fmla="*/ 0 w 65"/>
                <a:gd name="T81" fmla="*/ 175 h 234"/>
                <a:gd name="T82" fmla="*/ 0 w 65"/>
                <a:gd name="T83" fmla="*/ 176 h 234"/>
                <a:gd name="T84" fmla="*/ 0 w 65"/>
                <a:gd name="T85" fmla="*/ 176 h 234"/>
                <a:gd name="T86" fmla="*/ 0 w 65"/>
                <a:gd name="T87" fmla="*/ 177 h 234"/>
                <a:gd name="T88" fmla="*/ 0 w 65"/>
                <a:gd name="T89" fmla="*/ 180 h 234"/>
                <a:gd name="T90" fmla="*/ 0 w 65"/>
                <a:gd name="T91" fmla="*/ 188 h 234"/>
                <a:gd name="T92" fmla="*/ 0 w 65"/>
                <a:gd name="T93" fmla="*/ 193 h 234"/>
                <a:gd name="T94" fmla="*/ 0 w 65"/>
                <a:gd name="T95" fmla="*/ 198 h 234"/>
                <a:gd name="T96" fmla="*/ 0 w 65"/>
                <a:gd name="T97" fmla="*/ 204 h 234"/>
                <a:gd name="T98" fmla="*/ 0 w 65"/>
                <a:gd name="T99" fmla="*/ 209 h 234"/>
                <a:gd name="T100" fmla="*/ 0 w 65"/>
                <a:gd name="T101" fmla="*/ 215 h 234"/>
                <a:gd name="T102" fmla="*/ 0 w 65"/>
                <a:gd name="T103" fmla="*/ 221 h 234"/>
                <a:gd name="T104" fmla="*/ 0 w 65"/>
                <a:gd name="T105" fmla="*/ 225 h 234"/>
                <a:gd name="T106" fmla="*/ 0 w 65"/>
                <a:gd name="T107" fmla="*/ 231 h 234"/>
                <a:gd name="T108" fmla="*/ 0 w 65"/>
                <a:gd name="T109" fmla="*/ 233 h 234"/>
                <a:gd name="T110" fmla="*/ 0 w 65"/>
                <a:gd name="T111" fmla="*/ 234 h 23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65"/>
                <a:gd name="T169" fmla="*/ 0 h 234"/>
                <a:gd name="T170" fmla="*/ 65 w 65"/>
                <a:gd name="T171" fmla="*/ 234 h 234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65" h="234">
                  <a:moveTo>
                    <a:pt x="65" y="0"/>
                  </a:moveTo>
                  <a:lnTo>
                    <a:pt x="59" y="0"/>
                  </a:lnTo>
                  <a:lnTo>
                    <a:pt x="51" y="0"/>
                  </a:lnTo>
                  <a:lnTo>
                    <a:pt x="46" y="1"/>
                  </a:lnTo>
                  <a:lnTo>
                    <a:pt x="40" y="2"/>
                  </a:lnTo>
                  <a:lnTo>
                    <a:pt x="29" y="4"/>
                  </a:lnTo>
                  <a:lnTo>
                    <a:pt x="19" y="7"/>
                  </a:lnTo>
                  <a:lnTo>
                    <a:pt x="12" y="11"/>
                  </a:lnTo>
                  <a:lnTo>
                    <a:pt x="10" y="15"/>
                  </a:lnTo>
                  <a:lnTo>
                    <a:pt x="6" y="17"/>
                  </a:lnTo>
                  <a:lnTo>
                    <a:pt x="4" y="20"/>
                  </a:lnTo>
                  <a:lnTo>
                    <a:pt x="2" y="22"/>
                  </a:lnTo>
                  <a:lnTo>
                    <a:pt x="0" y="25"/>
                  </a:lnTo>
                  <a:lnTo>
                    <a:pt x="0" y="28"/>
                  </a:lnTo>
                  <a:lnTo>
                    <a:pt x="0" y="31"/>
                  </a:lnTo>
                  <a:lnTo>
                    <a:pt x="0" y="34"/>
                  </a:lnTo>
                  <a:lnTo>
                    <a:pt x="2" y="37"/>
                  </a:lnTo>
                  <a:lnTo>
                    <a:pt x="4" y="39"/>
                  </a:lnTo>
                  <a:lnTo>
                    <a:pt x="6" y="43"/>
                  </a:lnTo>
                  <a:lnTo>
                    <a:pt x="10" y="45"/>
                  </a:lnTo>
                  <a:lnTo>
                    <a:pt x="14" y="47"/>
                  </a:lnTo>
                  <a:lnTo>
                    <a:pt x="17" y="49"/>
                  </a:lnTo>
                  <a:lnTo>
                    <a:pt x="25" y="53"/>
                  </a:lnTo>
                  <a:lnTo>
                    <a:pt x="36" y="56"/>
                  </a:lnTo>
                  <a:lnTo>
                    <a:pt x="42" y="57"/>
                  </a:lnTo>
                  <a:lnTo>
                    <a:pt x="48" y="58"/>
                  </a:lnTo>
                  <a:lnTo>
                    <a:pt x="53" y="58"/>
                  </a:lnTo>
                  <a:lnTo>
                    <a:pt x="59" y="59"/>
                  </a:lnTo>
                  <a:lnTo>
                    <a:pt x="65" y="59"/>
                  </a:lnTo>
                  <a:lnTo>
                    <a:pt x="59" y="59"/>
                  </a:lnTo>
                  <a:lnTo>
                    <a:pt x="51" y="59"/>
                  </a:lnTo>
                  <a:lnTo>
                    <a:pt x="46" y="59"/>
                  </a:lnTo>
                  <a:lnTo>
                    <a:pt x="40" y="60"/>
                  </a:lnTo>
                  <a:lnTo>
                    <a:pt x="29" y="63"/>
                  </a:lnTo>
                  <a:lnTo>
                    <a:pt x="19" y="66"/>
                  </a:lnTo>
                  <a:lnTo>
                    <a:pt x="12" y="71"/>
                  </a:lnTo>
                  <a:lnTo>
                    <a:pt x="10" y="73"/>
                  </a:lnTo>
                  <a:lnTo>
                    <a:pt x="6" y="76"/>
                  </a:lnTo>
                  <a:lnTo>
                    <a:pt x="4" y="78"/>
                  </a:lnTo>
                  <a:lnTo>
                    <a:pt x="2" y="81"/>
                  </a:lnTo>
                  <a:lnTo>
                    <a:pt x="0" y="84"/>
                  </a:lnTo>
                  <a:lnTo>
                    <a:pt x="0" y="87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2" y="95"/>
                  </a:lnTo>
                  <a:lnTo>
                    <a:pt x="4" y="98"/>
                  </a:lnTo>
                  <a:lnTo>
                    <a:pt x="6" y="101"/>
                  </a:lnTo>
                  <a:lnTo>
                    <a:pt x="10" y="104"/>
                  </a:lnTo>
                  <a:lnTo>
                    <a:pt x="14" y="106"/>
                  </a:lnTo>
                  <a:lnTo>
                    <a:pt x="17" y="108"/>
                  </a:lnTo>
                  <a:lnTo>
                    <a:pt x="25" y="112"/>
                  </a:lnTo>
                  <a:lnTo>
                    <a:pt x="36" y="114"/>
                  </a:lnTo>
                  <a:lnTo>
                    <a:pt x="42" y="115"/>
                  </a:lnTo>
                  <a:lnTo>
                    <a:pt x="48" y="116"/>
                  </a:lnTo>
                  <a:lnTo>
                    <a:pt x="53" y="117"/>
                  </a:lnTo>
                  <a:lnTo>
                    <a:pt x="59" y="117"/>
                  </a:lnTo>
                  <a:lnTo>
                    <a:pt x="65" y="117"/>
                  </a:lnTo>
                  <a:lnTo>
                    <a:pt x="59" y="117"/>
                  </a:lnTo>
                  <a:lnTo>
                    <a:pt x="51" y="117"/>
                  </a:lnTo>
                  <a:lnTo>
                    <a:pt x="46" y="118"/>
                  </a:lnTo>
                  <a:lnTo>
                    <a:pt x="40" y="119"/>
                  </a:lnTo>
                  <a:lnTo>
                    <a:pt x="29" y="121"/>
                  </a:lnTo>
                  <a:lnTo>
                    <a:pt x="19" y="125"/>
                  </a:lnTo>
                  <a:lnTo>
                    <a:pt x="12" y="130"/>
                  </a:lnTo>
                  <a:lnTo>
                    <a:pt x="10" y="132"/>
                  </a:lnTo>
                  <a:lnTo>
                    <a:pt x="6" y="134"/>
                  </a:lnTo>
                  <a:lnTo>
                    <a:pt x="4" y="137"/>
                  </a:lnTo>
                  <a:lnTo>
                    <a:pt x="2" y="139"/>
                  </a:lnTo>
                  <a:lnTo>
                    <a:pt x="0" y="142"/>
                  </a:lnTo>
                  <a:lnTo>
                    <a:pt x="0" y="145"/>
                  </a:lnTo>
                  <a:lnTo>
                    <a:pt x="0" y="148"/>
                  </a:lnTo>
                  <a:lnTo>
                    <a:pt x="0" y="151"/>
                  </a:lnTo>
                  <a:lnTo>
                    <a:pt x="2" y="154"/>
                  </a:lnTo>
                  <a:lnTo>
                    <a:pt x="4" y="156"/>
                  </a:lnTo>
                  <a:lnTo>
                    <a:pt x="6" y="160"/>
                  </a:lnTo>
                  <a:lnTo>
                    <a:pt x="10" y="162"/>
                  </a:lnTo>
                  <a:lnTo>
                    <a:pt x="14" y="164"/>
                  </a:lnTo>
                  <a:lnTo>
                    <a:pt x="17" y="167"/>
                  </a:lnTo>
                  <a:lnTo>
                    <a:pt x="25" y="170"/>
                  </a:lnTo>
                  <a:lnTo>
                    <a:pt x="36" y="173"/>
                  </a:lnTo>
                  <a:lnTo>
                    <a:pt x="42" y="174"/>
                  </a:lnTo>
                  <a:lnTo>
                    <a:pt x="48" y="175"/>
                  </a:lnTo>
                  <a:lnTo>
                    <a:pt x="53" y="175"/>
                  </a:lnTo>
                  <a:lnTo>
                    <a:pt x="59" y="176"/>
                  </a:lnTo>
                  <a:lnTo>
                    <a:pt x="65" y="176"/>
                  </a:lnTo>
                  <a:lnTo>
                    <a:pt x="59" y="176"/>
                  </a:lnTo>
                  <a:lnTo>
                    <a:pt x="51" y="176"/>
                  </a:lnTo>
                  <a:lnTo>
                    <a:pt x="46" y="177"/>
                  </a:lnTo>
                  <a:lnTo>
                    <a:pt x="40" y="177"/>
                  </a:lnTo>
                  <a:lnTo>
                    <a:pt x="29" y="180"/>
                  </a:lnTo>
                  <a:lnTo>
                    <a:pt x="19" y="183"/>
                  </a:lnTo>
                  <a:lnTo>
                    <a:pt x="12" y="188"/>
                  </a:lnTo>
                  <a:lnTo>
                    <a:pt x="10" y="190"/>
                  </a:lnTo>
                  <a:lnTo>
                    <a:pt x="6" y="193"/>
                  </a:lnTo>
                  <a:lnTo>
                    <a:pt x="4" y="195"/>
                  </a:lnTo>
                  <a:lnTo>
                    <a:pt x="2" y="198"/>
                  </a:lnTo>
                  <a:lnTo>
                    <a:pt x="0" y="201"/>
                  </a:lnTo>
                  <a:lnTo>
                    <a:pt x="0" y="204"/>
                  </a:lnTo>
                  <a:lnTo>
                    <a:pt x="0" y="207"/>
                  </a:lnTo>
                  <a:lnTo>
                    <a:pt x="0" y="209"/>
                  </a:lnTo>
                  <a:lnTo>
                    <a:pt x="2" y="212"/>
                  </a:lnTo>
                  <a:lnTo>
                    <a:pt x="4" y="215"/>
                  </a:lnTo>
                  <a:lnTo>
                    <a:pt x="6" y="218"/>
                  </a:lnTo>
                  <a:lnTo>
                    <a:pt x="10" y="221"/>
                  </a:lnTo>
                  <a:lnTo>
                    <a:pt x="14" y="223"/>
                  </a:lnTo>
                  <a:lnTo>
                    <a:pt x="17" y="225"/>
                  </a:lnTo>
                  <a:lnTo>
                    <a:pt x="25" y="229"/>
                  </a:lnTo>
                  <a:lnTo>
                    <a:pt x="36" y="231"/>
                  </a:lnTo>
                  <a:lnTo>
                    <a:pt x="42" y="233"/>
                  </a:lnTo>
                  <a:lnTo>
                    <a:pt x="48" y="233"/>
                  </a:lnTo>
                  <a:lnTo>
                    <a:pt x="53" y="234"/>
                  </a:lnTo>
                  <a:lnTo>
                    <a:pt x="59" y="234"/>
                  </a:lnTo>
                  <a:lnTo>
                    <a:pt x="65" y="2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" name="Line 265"/>
            <p:cNvSpPr>
              <a:spLocks noChangeShapeType="1"/>
            </p:cNvSpPr>
            <p:nvPr/>
          </p:nvSpPr>
          <p:spPr bwMode="auto">
            <a:xfrm>
              <a:off x="4295" y="1159"/>
              <a:ext cx="1" cy="2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8" name="Line 266"/>
            <p:cNvSpPr>
              <a:spLocks noChangeShapeType="1"/>
            </p:cNvSpPr>
            <p:nvPr/>
          </p:nvSpPr>
          <p:spPr bwMode="auto">
            <a:xfrm flipV="1">
              <a:off x="4308" y="1159"/>
              <a:ext cx="1" cy="2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" name="Rectangle 267"/>
            <p:cNvSpPr>
              <a:spLocks noChangeArrowheads="1"/>
            </p:cNvSpPr>
            <p:nvPr/>
          </p:nvSpPr>
          <p:spPr bwMode="auto">
            <a:xfrm>
              <a:off x="5331" y="1169"/>
              <a:ext cx="42" cy="117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/>
            </a:p>
          </p:txBody>
        </p:sp>
        <p:sp>
          <p:nvSpPr>
            <p:cNvPr id="270" name="Rectangle 268"/>
            <p:cNvSpPr>
              <a:spLocks noChangeArrowheads="1"/>
            </p:cNvSpPr>
            <p:nvPr/>
          </p:nvSpPr>
          <p:spPr bwMode="auto">
            <a:xfrm>
              <a:off x="5331" y="1169"/>
              <a:ext cx="42" cy="117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/>
            </a:p>
          </p:txBody>
        </p:sp>
        <p:sp>
          <p:nvSpPr>
            <p:cNvPr id="271" name="Line 269"/>
            <p:cNvSpPr>
              <a:spLocks noChangeShapeType="1"/>
            </p:cNvSpPr>
            <p:nvPr/>
          </p:nvSpPr>
          <p:spPr bwMode="auto">
            <a:xfrm>
              <a:off x="5139" y="1215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2" name="Line 270"/>
            <p:cNvSpPr>
              <a:spLocks noChangeShapeType="1"/>
            </p:cNvSpPr>
            <p:nvPr/>
          </p:nvSpPr>
          <p:spPr bwMode="auto">
            <a:xfrm>
              <a:off x="5139" y="1250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" name="Line 271"/>
            <p:cNvSpPr>
              <a:spLocks noChangeShapeType="1"/>
            </p:cNvSpPr>
            <p:nvPr/>
          </p:nvSpPr>
          <p:spPr bwMode="auto">
            <a:xfrm>
              <a:off x="5182" y="1250"/>
              <a:ext cx="1" cy="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" name="Line 272"/>
            <p:cNvSpPr>
              <a:spLocks noChangeShapeType="1"/>
            </p:cNvSpPr>
            <p:nvPr/>
          </p:nvSpPr>
          <p:spPr bwMode="auto">
            <a:xfrm flipV="1">
              <a:off x="5182" y="1110"/>
              <a:ext cx="1" cy="10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5" name="Line 273"/>
            <p:cNvSpPr>
              <a:spLocks noChangeShapeType="1"/>
            </p:cNvSpPr>
            <p:nvPr/>
          </p:nvSpPr>
          <p:spPr bwMode="auto">
            <a:xfrm flipV="1">
              <a:off x="5182" y="1086"/>
              <a:ext cx="1" cy="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" name="Freeform 274"/>
            <p:cNvSpPr>
              <a:spLocks/>
            </p:cNvSpPr>
            <p:nvPr/>
          </p:nvSpPr>
          <p:spPr bwMode="auto">
            <a:xfrm>
              <a:off x="4224" y="1348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1 w 60"/>
                <a:gd name="T3" fmla="*/ 12 h 33"/>
                <a:gd name="T4" fmla="*/ 1 w 60"/>
                <a:gd name="T5" fmla="*/ 9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9 h 33"/>
                <a:gd name="T30" fmla="*/ 1 w 60"/>
                <a:gd name="T31" fmla="*/ 12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3 h 33"/>
                <a:gd name="T40" fmla="*/ 1 w 60"/>
                <a:gd name="T41" fmla="*/ 25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5 h 33"/>
                <a:gd name="T62" fmla="*/ 1 w 60"/>
                <a:gd name="T63" fmla="*/ 23 h 33"/>
                <a:gd name="T64" fmla="*/ 1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2" y="12"/>
                  </a:lnTo>
                  <a:lnTo>
                    <a:pt x="3" y="9"/>
                  </a:lnTo>
                  <a:lnTo>
                    <a:pt x="5" y="7"/>
                  </a:lnTo>
                  <a:lnTo>
                    <a:pt x="9" y="4"/>
                  </a:lnTo>
                  <a:lnTo>
                    <a:pt x="15" y="2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7" y="0"/>
                  </a:lnTo>
                  <a:lnTo>
                    <a:pt x="43" y="1"/>
                  </a:lnTo>
                  <a:lnTo>
                    <a:pt x="47" y="2"/>
                  </a:lnTo>
                  <a:lnTo>
                    <a:pt x="53" y="4"/>
                  </a:lnTo>
                  <a:lnTo>
                    <a:pt x="56" y="7"/>
                  </a:lnTo>
                  <a:lnTo>
                    <a:pt x="58" y="9"/>
                  </a:lnTo>
                  <a:lnTo>
                    <a:pt x="60" y="12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3"/>
                  </a:lnTo>
                  <a:lnTo>
                    <a:pt x="56" y="25"/>
                  </a:lnTo>
                  <a:lnTo>
                    <a:pt x="53" y="28"/>
                  </a:lnTo>
                  <a:lnTo>
                    <a:pt x="47" y="30"/>
                  </a:lnTo>
                  <a:lnTo>
                    <a:pt x="43" y="31"/>
                  </a:lnTo>
                  <a:lnTo>
                    <a:pt x="37" y="32"/>
                  </a:lnTo>
                  <a:lnTo>
                    <a:pt x="30" y="33"/>
                  </a:lnTo>
                  <a:lnTo>
                    <a:pt x="24" y="32"/>
                  </a:lnTo>
                  <a:lnTo>
                    <a:pt x="19" y="31"/>
                  </a:lnTo>
                  <a:lnTo>
                    <a:pt x="15" y="30"/>
                  </a:lnTo>
                  <a:lnTo>
                    <a:pt x="9" y="28"/>
                  </a:lnTo>
                  <a:lnTo>
                    <a:pt x="5" y="25"/>
                  </a:lnTo>
                  <a:lnTo>
                    <a:pt x="3" y="23"/>
                  </a:lnTo>
                  <a:lnTo>
                    <a:pt x="2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" name="Freeform 275"/>
            <p:cNvSpPr>
              <a:spLocks/>
            </p:cNvSpPr>
            <p:nvPr/>
          </p:nvSpPr>
          <p:spPr bwMode="auto">
            <a:xfrm>
              <a:off x="4359" y="1153"/>
              <a:ext cx="30" cy="33"/>
            </a:xfrm>
            <a:custGeom>
              <a:avLst/>
              <a:gdLst>
                <a:gd name="T0" fmla="*/ 0 w 61"/>
                <a:gd name="T1" fmla="*/ 17 h 33"/>
                <a:gd name="T2" fmla="*/ 0 w 61"/>
                <a:gd name="T3" fmla="*/ 14 h 33"/>
                <a:gd name="T4" fmla="*/ 0 w 61"/>
                <a:gd name="T5" fmla="*/ 10 h 33"/>
                <a:gd name="T6" fmla="*/ 0 w 61"/>
                <a:gd name="T7" fmla="*/ 7 h 33"/>
                <a:gd name="T8" fmla="*/ 0 w 61"/>
                <a:gd name="T9" fmla="*/ 4 h 33"/>
                <a:gd name="T10" fmla="*/ 0 w 61"/>
                <a:gd name="T11" fmla="*/ 3 h 33"/>
                <a:gd name="T12" fmla="*/ 0 w 61"/>
                <a:gd name="T13" fmla="*/ 1 h 33"/>
                <a:gd name="T14" fmla="*/ 0 w 61"/>
                <a:gd name="T15" fmla="*/ 0 h 33"/>
                <a:gd name="T16" fmla="*/ 0 w 61"/>
                <a:gd name="T17" fmla="*/ 0 h 33"/>
                <a:gd name="T18" fmla="*/ 0 w 61"/>
                <a:gd name="T19" fmla="*/ 0 h 33"/>
                <a:gd name="T20" fmla="*/ 0 w 61"/>
                <a:gd name="T21" fmla="*/ 1 h 33"/>
                <a:gd name="T22" fmla="*/ 0 w 61"/>
                <a:gd name="T23" fmla="*/ 3 h 33"/>
                <a:gd name="T24" fmla="*/ 0 w 61"/>
                <a:gd name="T25" fmla="*/ 4 h 33"/>
                <a:gd name="T26" fmla="*/ 0 w 61"/>
                <a:gd name="T27" fmla="*/ 7 h 33"/>
                <a:gd name="T28" fmla="*/ 0 w 61"/>
                <a:gd name="T29" fmla="*/ 10 h 33"/>
                <a:gd name="T30" fmla="*/ 0 w 61"/>
                <a:gd name="T31" fmla="*/ 14 h 33"/>
                <a:gd name="T32" fmla="*/ 0 w 61"/>
                <a:gd name="T33" fmla="*/ 17 h 33"/>
                <a:gd name="T34" fmla="*/ 0 w 61"/>
                <a:gd name="T35" fmla="*/ 17 h 33"/>
                <a:gd name="T36" fmla="*/ 0 w 61"/>
                <a:gd name="T37" fmla="*/ 20 h 33"/>
                <a:gd name="T38" fmla="*/ 0 w 61"/>
                <a:gd name="T39" fmla="*/ 23 h 33"/>
                <a:gd name="T40" fmla="*/ 0 w 61"/>
                <a:gd name="T41" fmla="*/ 26 h 33"/>
                <a:gd name="T42" fmla="*/ 0 w 61"/>
                <a:gd name="T43" fmla="*/ 28 h 33"/>
                <a:gd name="T44" fmla="*/ 0 w 61"/>
                <a:gd name="T45" fmla="*/ 30 h 33"/>
                <a:gd name="T46" fmla="*/ 0 w 61"/>
                <a:gd name="T47" fmla="*/ 32 h 33"/>
                <a:gd name="T48" fmla="*/ 0 w 61"/>
                <a:gd name="T49" fmla="*/ 32 h 33"/>
                <a:gd name="T50" fmla="*/ 0 w 61"/>
                <a:gd name="T51" fmla="*/ 33 h 33"/>
                <a:gd name="T52" fmla="*/ 0 w 61"/>
                <a:gd name="T53" fmla="*/ 32 h 33"/>
                <a:gd name="T54" fmla="*/ 0 w 61"/>
                <a:gd name="T55" fmla="*/ 32 h 33"/>
                <a:gd name="T56" fmla="*/ 0 w 61"/>
                <a:gd name="T57" fmla="*/ 30 h 33"/>
                <a:gd name="T58" fmla="*/ 0 w 61"/>
                <a:gd name="T59" fmla="*/ 28 h 33"/>
                <a:gd name="T60" fmla="*/ 0 w 61"/>
                <a:gd name="T61" fmla="*/ 26 h 33"/>
                <a:gd name="T62" fmla="*/ 0 w 61"/>
                <a:gd name="T63" fmla="*/ 23 h 33"/>
                <a:gd name="T64" fmla="*/ 0 w 61"/>
                <a:gd name="T65" fmla="*/ 20 h 33"/>
                <a:gd name="T66" fmla="*/ 0 w 61"/>
                <a:gd name="T67" fmla="*/ 17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1"/>
                <a:gd name="T103" fmla="*/ 0 h 33"/>
                <a:gd name="T104" fmla="*/ 61 w 61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1" h="33">
                  <a:moveTo>
                    <a:pt x="0" y="17"/>
                  </a:moveTo>
                  <a:lnTo>
                    <a:pt x="0" y="14"/>
                  </a:lnTo>
                  <a:lnTo>
                    <a:pt x="2" y="10"/>
                  </a:lnTo>
                  <a:lnTo>
                    <a:pt x="4" y="7"/>
                  </a:lnTo>
                  <a:lnTo>
                    <a:pt x="8" y="4"/>
                  </a:lnTo>
                  <a:lnTo>
                    <a:pt x="14" y="3"/>
                  </a:lnTo>
                  <a:lnTo>
                    <a:pt x="17" y="1"/>
                  </a:lnTo>
                  <a:lnTo>
                    <a:pt x="23" y="0"/>
                  </a:lnTo>
                  <a:lnTo>
                    <a:pt x="31" y="0"/>
                  </a:lnTo>
                  <a:lnTo>
                    <a:pt x="36" y="0"/>
                  </a:lnTo>
                  <a:lnTo>
                    <a:pt x="42" y="1"/>
                  </a:lnTo>
                  <a:lnTo>
                    <a:pt x="46" y="3"/>
                  </a:lnTo>
                  <a:lnTo>
                    <a:pt x="51" y="4"/>
                  </a:lnTo>
                  <a:lnTo>
                    <a:pt x="55" y="7"/>
                  </a:lnTo>
                  <a:lnTo>
                    <a:pt x="57" y="10"/>
                  </a:lnTo>
                  <a:lnTo>
                    <a:pt x="59" y="14"/>
                  </a:lnTo>
                  <a:lnTo>
                    <a:pt x="61" y="17"/>
                  </a:lnTo>
                  <a:lnTo>
                    <a:pt x="59" y="20"/>
                  </a:lnTo>
                  <a:lnTo>
                    <a:pt x="57" y="23"/>
                  </a:lnTo>
                  <a:lnTo>
                    <a:pt x="55" y="26"/>
                  </a:lnTo>
                  <a:lnTo>
                    <a:pt x="51" y="28"/>
                  </a:lnTo>
                  <a:lnTo>
                    <a:pt x="46" y="30"/>
                  </a:lnTo>
                  <a:lnTo>
                    <a:pt x="42" y="32"/>
                  </a:lnTo>
                  <a:lnTo>
                    <a:pt x="36" y="32"/>
                  </a:lnTo>
                  <a:lnTo>
                    <a:pt x="31" y="33"/>
                  </a:lnTo>
                  <a:lnTo>
                    <a:pt x="23" y="32"/>
                  </a:lnTo>
                  <a:lnTo>
                    <a:pt x="17" y="32"/>
                  </a:lnTo>
                  <a:lnTo>
                    <a:pt x="14" y="30"/>
                  </a:lnTo>
                  <a:lnTo>
                    <a:pt x="8" y="28"/>
                  </a:lnTo>
                  <a:lnTo>
                    <a:pt x="4" y="26"/>
                  </a:lnTo>
                  <a:lnTo>
                    <a:pt x="2" y="23"/>
                  </a:lnTo>
                  <a:lnTo>
                    <a:pt x="0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" name="Rectangle 276"/>
            <p:cNvSpPr>
              <a:spLocks noChangeArrowheads="1"/>
            </p:cNvSpPr>
            <p:nvPr/>
          </p:nvSpPr>
          <p:spPr bwMode="auto">
            <a:xfrm>
              <a:off x="3243" y="1149"/>
              <a:ext cx="124" cy="91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endParaRPr lang="en-US" altLang="zh-CN" sz="20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</a:p>
            <a:p>
              <a:pPr eaLnBrk="1" hangingPunct="1"/>
              <a:endParaRPr lang="en-US" altLang="zh-CN" sz="20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2000"/>
            </a:p>
          </p:txBody>
        </p:sp>
        <p:sp>
          <p:nvSpPr>
            <p:cNvPr id="279" name="Rectangle 277"/>
            <p:cNvSpPr>
              <a:spLocks noChangeArrowheads="1"/>
            </p:cNvSpPr>
            <p:nvPr/>
          </p:nvSpPr>
          <p:spPr bwMode="auto">
            <a:xfrm>
              <a:off x="5239" y="1104"/>
              <a:ext cx="64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R</a:t>
              </a:r>
              <a:endParaRPr lang="en-US" altLang="zh-CN"/>
            </a:p>
          </p:txBody>
        </p:sp>
        <p:sp>
          <p:nvSpPr>
            <p:cNvPr id="280" name="Rectangle 278"/>
            <p:cNvSpPr>
              <a:spLocks noChangeArrowheads="1"/>
            </p:cNvSpPr>
            <p:nvPr/>
          </p:nvSpPr>
          <p:spPr bwMode="auto">
            <a:xfrm>
              <a:off x="4272" y="1613"/>
              <a:ext cx="64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281" name="Rectangle 279"/>
            <p:cNvSpPr>
              <a:spLocks noChangeArrowheads="1"/>
            </p:cNvSpPr>
            <p:nvPr/>
          </p:nvSpPr>
          <p:spPr bwMode="auto">
            <a:xfrm>
              <a:off x="5420" y="968"/>
              <a:ext cx="109" cy="54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2000"/>
            </a:p>
          </p:txBody>
        </p:sp>
        <p:sp>
          <p:nvSpPr>
            <p:cNvPr id="282" name="Freeform 280"/>
            <p:cNvSpPr>
              <a:spLocks noEditPoints="1"/>
            </p:cNvSpPr>
            <p:nvPr/>
          </p:nvSpPr>
          <p:spPr bwMode="auto">
            <a:xfrm>
              <a:off x="3608" y="1837"/>
              <a:ext cx="14" cy="131"/>
            </a:xfrm>
            <a:custGeom>
              <a:avLst/>
              <a:gdLst>
                <a:gd name="T0" fmla="*/ 1 w 26"/>
                <a:gd name="T1" fmla="*/ 117 h 131"/>
                <a:gd name="T2" fmla="*/ 1 w 26"/>
                <a:gd name="T3" fmla="*/ 117 h 131"/>
                <a:gd name="T4" fmla="*/ 1 w 26"/>
                <a:gd name="T5" fmla="*/ 118 h 131"/>
                <a:gd name="T6" fmla="*/ 1 w 26"/>
                <a:gd name="T7" fmla="*/ 119 h 131"/>
                <a:gd name="T8" fmla="*/ 0 w 26"/>
                <a:gd name="T9" fmla="*/ 121 h 131"/>
                <a:gd name="T10" fmla="*/ 0 w 26"/>
                <a:gd name="T11" fmla="*/ 123 h 131"/>
                <a:gd name="T12" fmla="*/ 0 w 26"/>
                <a:gd name="T13" fmla="*/ 124 h 131"/>
                <a:gd name="T14" fmla="*/ 0 w 26"/>
                <a:gd name="T15" fmla="*/ 126 h 131"/>
                <a:gd name="T16" fmla="*/ 0 w 26"/>
                <a:gd name="T17" fmla="*/ 127 h 131"/>
                <a:gd name="T18" fmla="*/ 1 w 26"/>
                <a:gd name="T19" fmla="*/ 129 h 131"/>
                <a:gd name="T20" fmla="*/ 1 w 26"/>
                <a:gd name="T21" fmla="*/ 131 h 131"/>
                <a:gd name="T22" fmla="*/ 1 w 26"/>
                <a:gd name="T23" fmla="*/ 131 h 131"/>
                <a:gd name="T24" fmla="*/ 1 w 26"/>
                <a:gd name="T25" fmla="*/ 131 h 131"/>
                <a:gd name="T26" fmla="*/ 1 w 26"/>
                <a:gd name="T27" fmla="*/ 131 h 131"/>
                <a:gd name="T28" fmla="*/ 1 w 26"/>
                <a:gd name="T29" fmla="*/ 131 h 131"/>
                <a:gd name="T30" fmla="*/ 1 w 26"/>
                <a:gd name="T31" fmla="*/ 131 h 131"/>
                <a:gd name="T32" fmla="*/ 1 w 26"/>
                <a:gd name="T33" fmla="*/ 129 h 131"/>
                <a:gd name="T34" fmla="*/ 1 w 26"/>
                <a:gd name="T35" fmla="*/ 127 h 131"/>
                <a:gd name="T36" fmla="*/ 1 w 26"/>
                <a:gd name="T37" fmla="*/ 126 h 131"/>
                <a:gd name="T38" fmla="*/ 1 w 26"/>
                <a:gd name="T39" fmla="*/ 124 h 131"/>
                <a:gd name="T40" fmla="*/ 1 w 26"/>
                <a:gd name="T41" fmla="*/ 123 h 131"/>
                <a:gd name="T42" fmla="*/ 1 w 26"/>
                <a:gd name="T43" fmla="*/ 121 h 131"/>
                <a:gd name="T44" fmla="*/ 1 w 26"/>
                <a:gd name="T45" fmla="*/ 119 h 131"/>
                <a:gd name="T46" fmla="*/ 1 w 26"/>
                <a:gd name="T47" fmla="*/ 118 h 131"/>
                <a:gd name="T48" fmla="*/ 1 w 26"/>
                <a:gd name="T49" fmla="*/ 117 h 131"/>
                <a:gd name="T50" fmla="*/ 1 w 26"/>
                <a:gd name="T51" fmla="*/ 117 h 131"/>
                <a:gd name="T52" fmla="*/ 1 w 26"/>
                <a:gd name="T53" fmla="*/ 117 h 131"/>
                <a:gd name="T54" fmla="*/ 1 w 26"/>
                <a:gd name="T55" fmla="*/ 117 h 131"/>
                <a:gd name="T56" fmla="*/ 1 w 26"/>
                <a:gd name="T57" fmla="*/ 0 h 131"/>
                <a:gd name="T58" fmla="*/ 1 w 26"/>
                <a:gd name="T59" fmla="*/ 0 h 131"/>
                <a:gd name="T60" fmla="*/ 1 w 26"/>
                <a:gd name="T61" fmla="*/ 1 h 131"/>
                <a:gd name="T62" fmla="*/ 1 w 26"/>
                <a:gd name="T63" fmla="*/ 2 h 131"/>
                <a:gd name="T64" fmla="*/ 0 w 26"/>
                <a:gd name="T65" fmla="*/ 4 h 131"/>
                <a:gd name="T66" fmla="*/ 0 w 26"/>
                <a:gd name="T67" fmla="*/ 6 h 131"/>
                <a:gd name="T68" fmla="*/ 0 w 26"/>
                <a:gd name="T69" fmla="*/ 7 h 131"/>
                <a:gd name="T70" fmla="*/ 0 w 26"/>
                <a:gd name="T71" fmla="*/ 9 h 131"/>
                <a:gd name="T72" fmla="*/ 0 w 26"/>
                <a:gd name="T73" fmla="*/ 10 h 131"/>
                <a:gd name="T74" fmla="*/ 1 w 26"/>
                <a:gd name="T75" fmla="*/ 12 h 131"/>
                <a:gd name="T76" fmla="*/ 1 w 26"/>
                <a:gd name="T77" fmla="*/ 14 h 131"/>
                <a:gd name="T78" fmla="*/ 1 w 26"/>
                <a:gd name="T79" fmla="*/ 14 h 131"/>
                <a:gd name="T80" fmla="*/ 1 w 26"/>
                <a:gd name="T81" fmla="*/ 14 h 131"/>
                <a:gd name="T82" fmla="*/ 1 w 26"/>
                <a:gd name="T83" fmla="*/ 14 h 131"/>
                <a:gd name="T84" fmla="*/ 1 w 26"/>
                <a:gd name="T85" fmla="*/ 14 h 131"/>
                <a:gd name="T86" fmla="*/ 1 w 26"/>
                <a:gd name="T87" fmla="*/ 14 h 131"/>
                <a:gd name="T88" fmla="*/ 1 w 26"/>
                <a:gd name="T89" fmla="*/ 12 h 131"/>
                <a:gd name="T90" fmla="*/ 1 w 26"/>
                <a:gd name="T91" fmla="*/ 10 h 131"/>
                <a:gd name="T92" fmla="*/ 1 w 26"/>
                <a:gd name="T93" fmla="*/ 9 h 131"/>
                <a:gd name="T94" fmla="*/ 1 w 26"/>
                <a:gd name="T95" fmla="*/ 7 h 131"/>
                <a:gd name="T96" fmla="*/ 1 w 26"/>
                <a:gd name="T97" fmla="*/ 6 h 131"/>
                <a:gd name="T98" fmla="*/ 1 w 26"/>
                <a:gd name="T99" fmla="*/ 4 h 131"/>
                <a:gd name="T100" fmla="*/ 1 w 26"/>
                <a:gd name="T101" fmla="*/ 2 h 131"/>
                <a:gd name="T102" fmla="*/ 1 w 26"/>
                <a:gd name="T103" fmla="*/ 1 h 131"/>
                <a:gd name="T104" fmla="*/ 1 w 26"/>
                <a:gd name="T105" fmla="*/ 0 h 131"/>
                <a:gd name="T106" fmla="*/ 1 w 26"/>
                <a:gd name="T107" fmla="*/ 0 h 131"/>
                <a:gd name="T108" fmla="*/ 1 w 26"/>
                <a:gd name="T109" fmla="*/ 0 h 131"/>
                <a:gd name="T110" fmla="*/ 1 w 26"/>
                <a:gd name="T111" fmla="*/ 0 h 131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26"/>
                <a:gd name="T169" fmla="*/ 0 h 131"/>
                <a:gd name="T170" fmla="*/ 26 w 26"/>
                <a:gd name="T171" fmla="*/ 131 h 131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26" h="131">
                  <a:moveTo>
                    <a:pt x="13" y="117"/>
                  </a:moveTo>
                  <a:lnTo>
                    <a:pt x="11" y="117"/>
                  </a:lnTo>
                  <a:lnTo>
                    <a:pt x="8" y="118"/>
                  </a:lnTo>
                  <a:lnTo>
                    <a:pt x="4" y="119"/>
                  </a:lnTo>
                  <a:lnTo>
                    <a:pt x="0" y="121"/>
                  </a:lnTo>
                  <a:lnTo>
                    <a:pt x="0" y="123"/>
                  </a:lnTo>
                  <a:lnTo>
                    <a:pt x="0" y="124"/>
                  </a:lnTo>
                  <a:lnTo>
                    <a:pt x="0" y="126"/>
                  </a:lnTo>
                  <a:lnTo>
                    <a:pt x="0" y="127"/>
                  </a:lnTo>
                  <a:lnTo>
                    <a:pt x="4" y="129"/>
                  </a:lnTo>
                  <a:lnTo>
                    <a:pt x="8" y="131"/>
                  </a:lnTo>
                  <a:lnTo>
                    <a:pt x="9" y="131"/>
                  </a:lnTo>
                  <a:lnTo>
                    <a:pt x="13" y="131"/>
                  </a:lnTo>
                  <a:lnTo>
                    <a:pt x="15" y="131"/>
                  </a:lnTo>
                  <a:lnTo>
                    <a:pt x="19" y="131"/>
                  </a:lnTo>
                  <a:lnTo>
                    <a:pt x="23" y="129"/>
                  </a:lnTo>
                  <a:lnTo>
                    <a:pt x="25" y="127"/>
                  </a:lnTo>
                  <a:lnTo>
                    <a:pt x="26" y="126"/>
                  </a:lnTo>
                  <a:lnTo>
                    <a:pt x="26" y="124"/>
                  </a:lnTo>
                  <a:lnTo>
                    <a:pt x="26" y="123"/>
                  </a:lnTo>
                  <a:lnTo>
                    <a:pt x="25" y="121"/>
                  </a:lnTo>
                  <a:lnTo>
                    <a:pt x="23" y="119"/>
                  </a:lnTo>
                  <a:lnTo>
                    <a:pt x="19" y="118"/>
                  </a:lnTo>
                  <a:lnTo>
                    <a:pt x="15" y="117"/>
                  </a:lnTo>
                  <a:lnTo>
                    <a:pt x="13" y="117"/>
                  </a:lnTo>
                  <a:close/>
                  <a:moveTo>
                    <a:pt x="13" y="0"/>
                  </a:moveTo>
                  <a:lnTo>
                    <a:pt x="11" y="0"/>
                  </a:lnTo>
                  <a:lnTo>
                    <a:pt x="8" y="1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12"/>
                  </a:lnTo>
                  <a:lnTo>
                    <a:pt x="8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9" y="14"/>
                  </a:lnTo>
                  <a:lnTo>
                    <a:pt x="23" y="12"/>
                  </a:lnTo>
                  <a:lnTo>
                    <a:pt x="25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3" y="2"/>
                  </a:lnTo>
                  <a:lnTo>
                    <a:pt x="19" y="1"/>
                  </a:lnTo>
                  <a:lnTo>
                    <a:pt x="15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" name="Freeform 281"/>
            <p:cNvSpPr>
              <a:spLocks/>
            </p:cNvSpPr>
            <p:nvPr/>
          </p:nvSpPr>
          <p:spPr bwMode="auto">
            <a:xfrm>
              <a:off x="3608" y="1954"/>
              <a:ext cx="14" cy="14"/>
            </a:xfrm>
            <a:custGeom>
              <a:avLst/>
              <a:gdLst>
                <a:gd name="T0" fmla="*/ 1 w 26"/>
                <a:gd name="T1" fmla="*/ 0 h 14"/>
                <a:gd name="T2" fmla="*/ 1 w 26"/>
                <a:gd name="T3" fmla="*/ 0 h 14"/>
                <a:gd name="T4" fmla="*/ 1 w 26"/>
                <a:gd name="T5" fmla="*/ 1 h 14"/>
                <a:gd name="T6" fmla="*/ 1 w 26"/>
                <a:gd name="T7" fmla="*/ 2 h 14"/>
                <a:gd name="T8" fmla="*/ 0 w 26"/>
                <a:gd name="T9" fmla="*/ 4 h 14"/>
                <a:gd name="T10" fmla="*/ 0 w 26"/>
                <a:gd name="T11" fmla="*/ 6 h 14"/>
                <a:gd name="T12" fmla="*/ 0 w 26"/>
                <a:gd name="T13" fmla="*/ 7 h 14"/>
                <a:gd name="T14" fmla="*/ 0 w 26"/>
                <a:gd name="T15" fmla="*/ 9 h 14"/>
                <a:gd name="T16" fmla="*/ 0 w 26"/>
                <a:gd name="T17" fmla="*/ 10 h 14"/>
                <a:gd name="T18" fmla="*/ 1 w 26"/>
                <a:gd name="T19" fmla="*/ 12 h 14"/>
                <a:gd name="T20" fmla="*/ 1 w 26"/>
                <a:gd name="T21" fmla="*/ 14 h 14"/>
                <a:gd name="T22" fmla="*/ 1 w 26"/>
                <a:gd name="T23" fmla="*/ 14 h 14"/>
                <a:gd name="T24" fmla="*/ 1 w 26"/>
                <a:gd name="T25" fmla="*/ 14 h 14"/>
                <a:gd name="T26" fmla="*/ 1 w 26"/>
                <a:gd name="T27" fmla="*/ 14 h 14"/>
                <a:gd name="T28" fmla="*/ 1 w 26"/>
                <a:gd name="T29" fmla="*/ 14 h 14"/>
                <a:gd name="T30" fmla="*/ 1 w 26"/>
                <a:gd name="T31" fmla="*/ 14 h 14"/>
                <a:gd name="T32" fmla="*/ 1 w 26"/>
                <a:gd name="T33" fmla="*/ 12 h 14"/>
                <a:gd name="T34" fmla="*/ 1 w 26"/>
                <a:gd name="T35" fmla="*/ 10 h 14"/>
                <a:gd name="T36" fmla="*/ 1 w 26"/>
                <a:gd name="T37" fmla="*/ 9 h 14"/>
                <a:gd name="T38" fmla="*/ 1 w 26"/>
                <a:gd name="T39" fmla="*/ 7 h 14"/>
                <a:gd name="T40" fmla="*/ 1 w 26"/>
                <a:gd name="T41" fmla="*/ 6 h 14"/>
                <a:gd name="T42" fmla="*/ 1 w 26"/>
                <a:gd name="T43" fmla="*/ 4 h 14"/>
                <a:gd name="T44" fmla="*/ 1 w 26"/>
                <a:gd name="T45" fmla="*/ 2 h 14"/>
                <a:gd name="T46" fmla="*/ 1 w 26"/>
                <a:gd name="T47" fmla="*/ 1 h 14"/>
                <a:gd name="T48" fmla="*/ 1 w 26"/>
                <a:gd name="T49" fmla="*/ 0 h 14"/>
                <a:gd name="T50" fmla="*/ 1 w 26"/>
                <a:gd name="T51" fmla="*/ 0 h 14"/>
                <a:gd name="T52" fmla="*/ 1 w 26"/>
                <a:gd name="T53" fmla="*/ 0 h 1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6"/>
                <a:gd name="T82" fmla="*/ 0 h 14"/>
                <a:gd name="T83" fmla="*/ 26 w 26"/>
                <a:gd name="T84" fmla="*/ 14 h 1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6" h="14">
                  <a:moveTo>
                    <a:pt x="13" y="0"/>
                  </a:moveTo>
                  <a:lnTo>
                    <a:pt x="11" y="0"/>
                  </a:lnTo>
                  <a:lnTo>
                    <a:pt x="8" y="1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12"/>
                  </a:lnTo>
                  <a:lnTo>
                    <a:pt x="8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9" y="14"/>
                  </a:lnTo>
                  <a:lnTo>
                    <a:pt x="23" y="12"/>
                  </a:lnTo>
                  <a:lnTo>
                    <a:pt x="25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3" y="2"/>
                  </a:lnTo>
                  <a:lnTo>
                    <a:pt x="19" y="1"/>
                  </a:lnTo>
                  <a:lnTo>
                    <a:pt x="15" y="0"/>
                  </a:lnTo>
                  <a:lnTo>
                    <a:pt x="1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4" name="Freeform 282"/>
            <p:cNvSpPr>
              <a:spLocks/>
            </p:cNvSpPr>
            <p:nvPr/>
          </p:nvSpPr>
          <p:spPr bwMode="auto">
            <a:xfrm>
              <a:off x="3608" y="1837"/>
              <a:ext cx="14" cy="14"/>
            </a:xfrm>
            <a:custGeom>
              <a:avLst/>
              <a:gdLst>
                <a:gd name="T0" fmla="*/ 1 w 26"/>
                <a:gd name="T1" fmla="*/ 0 h 14"/>
                <a:gd name="T2" fmla="*/ 1 w 26"/>
                <a:gd name="T3" fmla="*/ 0 h 14"/>
                <a:gd name="T4" fmla="*/ 1 w 26"/>
                <a:gd name="T5" fmla="*/ 1 h 14"/>
                <a:gd name="T6" fmla="*/ 1 w 26"/>
                <a:gd name="T7" fmla="*/ 2 h 14"/>
                <a:gd name="T8" fmla="*/ 0 w 26"/>
                <a:gd name="T9" fmla="*/ 4 h 14"/>
                <a:gd name="T10" fmla="*/ 0 w 26"/>
                <a:gd name="T11" fmla="*/ 6 h 14"/>
                <a:gd name="T12" fmla="*/ 0 w 26"/>
                <a:gd name="T13" fmla="*/ 7 h 14"/>
                <a:gd name="T14" fmla="*/ 0 w 26"/>
                <a:gd name="T15" fmla="*/ 9 h 14"/>
                <a:gd name="T16" fmla="*/ 0 w 26"/>
                <a:gd name="T17" fmla="*/ 10 h 14"/>
                <a:gd name="T18" fmla="*/ 1 w 26"/>
                <a:gd name="T19" fmla="*/ 12 h 14"/>
                <a:gd name="T20" fmla="*/ 1 w 26"/>
                <a:gd name="T21" fmla="*/ 14 h 14"/>
                <a:gd name="T22" fmla="*/ 1 w 26"/>
                <a:gd name="T23" fmla="*/ 14 h 14"/>
                <a:gd name="T24" fmla="*/ 1 w 26"/>
                <a:gd name="T25" fmla="*/ 14 h 14"/>
                <a:gd name="T26" fmla="*/ 1 w 26"/>
                <a:gd name="T27" fmla="*/ 14 h 14"/>
                <a:gd name="T28" fmla="*/ 1 w 26"/>
                <a:gd name="T29" fmla="*/ 14 h 14"/>
                <a:gd name="T30" fmla="*/ 1 w 26"/>
                <a:gd name="T31" fmla="*/ 14 h 14"/>
                <a:gd name="T32" fmla="*/ 1 w 26"/>
                <a:gd name="T33" fmla="*/ 12 h 14"/>
                <a:gd name="T34" fmla="*/ 1 w 26"/>
                <a:gd name="T35" fmla="*/ 10 h 14"/>
                <a:gd name="T36" fmla="*/ 1 w 26"/>
                <a:gd name="T37" fmla="*/ 9 h 14"/>
                <a:gd name="T38" fmla="*/ 1 w 26"/>
                <a:gd name="T39" fmla="*/ 7 h 14"/>
                <a:gd name="T40" fmla="*/ 1 w 26"/>
                <a:gd name="T41" fmla="*/ 6 h 14"/>
                <a:gd name="T42" fmla="*/ 1 w 26"/>
                <a:gd name="T43" fmla="*/ 4 h 14"/>
                <a:gd name="T44" fmla="*/ 1 w 26"/>
                <a:gd name="T45" fmla="*/ 2 h 14"/>
                <a:gd name="T46" fmla="*/ 1 w 26"/>
                <a:gd name="T47" fmla="*/ 1 h 14"/>
                <a:gd name="T48" fmla="*/ 1 w 26"/>
                <a:gd name="T49" fmla="*/ 0 h 14"/>
                <a:gd name="T50" fmla="*/ 1 w 26"/>
                <a:gd name="T51" fmla="*/ 0 h 14"/>
                <a:gd name="T52" fmla="*/ 1 w 26"/>
                <a:gd name="T53" fmla="*/ 0 h 1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6"/>
                <a:gd name="T82" fmla="*/ 0 h 14"/>
                <a:gd name="T83" fmla="*/ 26 w 26"/>
                <a:gd name="T84" fmla="*/ 14 h 1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6" h="14">
                  <a:moveTo>
                    <a:pt x="13" y="0"/>
                  </a:moveTo>
                  <a:lnTo>
                    <a:pt x="11" y="0"/>
                  </a:lnTo>
                  <a:lnTo>
                    <a:pt x="8" y="1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12"/>
                  </a:lnTo>
                  <a:lnTo>
                    <a:pt x="8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9" y="14"/>
                  </a:lnTo>
                  <a:lnTo>
                    <a:pt x="23" y="12"/>
                  </a:lnTo>
                  <a:lnTo>
                    <a:pt x="25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3" y="2"/>
                  </a:lnTo>
                  <a:lnTo>
                    <a:pt x="19" y="1"/>
                  </a:lnTo>
                  <a:lnTo>
                    <a:pt x="15" y="0"/>
                  </a:lnTo>
                  <a:lnTo>
                    <a:pt x="1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5" name="Line 283"/>
            <p:cNvSpPr>
              <a:spLocks noChangeShapeType="1"/>
            </p:cNvSpPr>
            <p:nvPr/>
          </p:nvSpPr>
          <p:spPr bwMode="auto">
            <a:xfrm>
              <a:off x="3618" y="1851"/>
              <a:ext cx="30" cy="9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" name="Freeform 284"/>
            <p:cNvSpPr>
              <a:spLocks/>
            </p:cNvSpPr>
            <p:nvPr/>
          </p:nvSpPr>
          <p:spPr bwMode="auto">
            <a:xfrm>
              <a:off x="5167" y="1043"/>
              <a:ext cx="30" cy="33"/>
            </a:xfrm>
            <a:custGeom>
              <a:avLst/>
              <a:gdLst>
                <a:gd name="T0" fmla="*/ 0 w 60"/>
                <a:gd name="T1" fmla="*/ 17 h 33"/>
                <a:gd name="T2" fmla="*/ 0 w 60"/>
                <a:gd name="T3" fmla="*/ 13 h 33"/>
                <a:gd name="T4" fmla="*/ 1 w 60"/>
                <a:gd name="T5" fmla="*/ 10 h 33"/>
                <a:gd name="T6" fmla="*/ 1 w 60"/>
                <a:gd name="T7" fmla="*/ 8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8 h 33"/>
                <a:gd name="T28" fmla="*/ 1 w 60"/>
                <a:gd name="T29" fmla="*/ 10 h 33"/>
                <a:gd name="T30" fmla="*/ 1 w 60"/>
                <a:gd name="T31" fmla="*/ 13 h 33"/>
                <a:gd name="T32" fmla="*/ 1 w 60"/>
                <a:gd name="T33" fmla="*/ 17 h 33"/>
                <a:gd name="T34" fmla="*/ 1 w 60"/>
                <a:gd name="T35" fmla="*/ 17 h 33"/>
                <a:gd name="T36" fmla="*/ 1 w 60"/>
                <a:gd name="T37" fmla="*/ 20 h 33"/>
                <a:gd name="T38" fmla="*/ 1 w 60"/>
                <a:gd name="T39" fmla="*/ 23 h 33"/>
                <a:gd name="T40" fmla="*/ 1 w 60"/>
                <a:gd name="T41" fmla="*/ 25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5 h 33"/>
                <a:gd name="T62" fmla="*/ 1 w 60"/>
                <a:gd name="T63" fmla="*/ 23 h 33"/>
                <a:gd name="T64" fmla="*/ 0 w 60"/>
                <a:gd name="T65" fmla="*/ 20 h 33"/>
                <a:gd name="T66" fmla="*/ 0 w 60"/>
                <a:gd name="T67" fmla="*/ 17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7"/>
                  </a:moveTo>
                  <a:lnTo>
                    <a:pt x="0" y="13"/>
                  </a:lnTo>
                  <a:lnTo>
                    <a:pt x="2" y="10"/>
                  </a:lnTo>
                  <a:lnTo>
                    <a:pt x="4" y="8"/>
                  </a:lnTo>
                  <a:lnTo>
                    <a:pt x="7" y="4"/>
                  </a:lnTo>
                  <a:lnTo>
                    <a:pt x="13" y="2"/>
                  </a:lnTo>
                  <a:lnTo>
                    <a:pt x="17" y="1"/>
                  </a:lnTo>
                  <a:lnTo>
                    <a:pt x="22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5" y="2"/>
                  </a:lnTo>
                  <a:lnTo>
                    <a:pt x="51" y="4"/>
                  </a:lnTo>
                  <a:lnTo>
                    <a:pt x="55" y="8"/>
                  </a:lnTo>
                  <a:lnTo>
                    <a:pt x="56" y="10"/>
                  </a:lnTo>
                  <a:lnTo>
                    <a:pt x="58" y="13"/>
                  </a:lnTo>
                  <a:lnTo>
                    <a:pt x="60" y="17"/>
                  </a:lnTo>
                  <a:lnTo>
                    <a:pt x="58" y="20"/>
                  </a:lnTo>
                  <a:lnTo>
                    <a:pt x="56" y="23"/>
                  </a:lnTo>
                  <a:lnTo>
                    <a:pt x="55" y="25"/>
                  </a:lnTo>
                  <a:lnTo>
                    <a:pt x="51" y="28"/>
                  </a:lnTo>
                  <a:lnTo>
                    <a:pt x="45" y="30"/>
                  </a:lnTo>
                  <a:lnTo>
                    <a:pt x="41" y="31"/>
                  </a:lnTo>
                  <a:lnTo>
                    <a:pt x="36" y="32"/>
                  </a:lnTo>
                  <a:lnTo>
                    <a:pt x="30" y="33"/>
                  </a:lnTo>
                  <a:lnTo>
                    <a:pt x="22" y="32"/>
                  </a:lnTo>
                  <a:lnTo>
                    <a:pt x="17" y="31"/>
                  </a:lnTo>
                  <a:lnTo>
                    <a:pt x="13" y="30"/>
                  </a:lnTo>
                  <a:lnTo>
                    <a:pt x="7" y="28"/>
                  </a:lnTo>
                  <a:lnTo>
                    <a:pt x="4" y="25"/>
                  </a:lnTo>
                  <a:lnTo>
                    <a:pt x="2" y="23"/>
                  </a:lnTo>
                  <a:lnTo>
                    <a:pt x="0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" name="Line 285"/>
            <p:cNvSpPr>
              <a:spLocks noChangeShapeType="1"/>
            </p:cNvSpPr>
            <p:nvPr/>
          </p:nvSpPr>
          <p:spPr bwMode="auto">
            <a:xfrm flipV="1">
              <a:off x="4365" y="1059"/>
              <a:ext cx="1" cy="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Freeform 286"/>
            <p:cNvSpPr>
              <a:spLocks/>
            </p:cNvSpPr>
            <p:nvPr/>
          </p:nvSpPr>
          <p:spPr bwMode="auto">
            <a:xfrm>
              <a:off x="5080" y="1058"/>
              <a:ext cx="274" cy="111"/>
            </a:xfrm>
            <a:custGeom>
              <a:avLst/>
              <a:gdLst>
                <a:gd name="T0" fmla="*/ 9 w 547"/>
                <a:gd name="T1" fmla="*/ 111 h 111"/>
                <a:gd name="T2" fmla="*/ 9 w 547"/>
                <a:gd name="T3" fmla="*/ 2 h 111"/>
                <a:gd name="T4" fmla="*/ 0 w 547"/>
                <a:gd name="T5" fmla="*/ 0 h 111"/>
                <a:gd name="T6" fmla="*/ 0 60000 65536"/>
                <a:gd name="T7" fmla="*/ 0 60000 65536"/>
                <a:gd name="T8" fmla="*/ 0 60000 65536"/>
                <a:gd name="T9" fmla="*/ 0 w 547"/>
                <a:gd name="T10" fmla="*/ 0 h 111"/>
                <a:gd name="T11" fmla="*/ 547 w 547"/>
                <a:gd name="T12" fmla="*/ 111 h 1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7" h="111">
                  <a:moveTo>
                    <a:pt x="547" y="111"/>
                  </a:moveTo>
                  <a:lnTo>
                    <a:pt x="547" y="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Line 287"/>
            <p:cNvSpPr>
              <a:spLocks noChangeShapeType="1"/>
            </p:cNvSpPr>
            <p:nvPr/>
          </p:nvSpPr>
          <p:spPr bwMode="auto">
            <a:xfrm flipH="1" flipV="1">
              <a:off x="5180" y="1059"/>
              <a:ext cx="2" cy="2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0" name="Freeform 288"/>
            <p:cNvSpPr>
              <a:spLocks/>
            </p:cNvSpPr>
            <p:nvPr/>
          </p:nvSpPr>
          <p:spPr bwMode="auto">
            <a:xfrm>
              <a:off x="4867" y="1025"/>
              <a:ext cx="213" cy="35"/>
            </a:xfrm>
            <a:custGeom>
              <a:avLst/>
              <a:gdLst>
                <a:gd name="T0" fmla="*/ 0 w 426"/>
                <a:gd name="T1" fmla="*/ 31 h 35"/>
                <a:gd name="T2" fmla="*/ 1 w 426"/>
                <a:gd name="T3" fmla="*/ 25 h 35"/>
                <a:gd name="T4" fmla="*/ 1 w 426"/>
                <a:gd name="T5" fmla="*/ 15 h 35"/>
                <a:gd name="T6" fmla="*/ 1 w 426"/>
                <a:gd name="T7" fmla="*/ 6 h 35"/>
                <a:gd name="T8" fmla="*/ 1 w 426"/>
                <a:gd name="T9" fmla="*/ 3 h 35"/>
                <a:gd name="T10" fmla="*/ 1 w 426"/>
                <a:gd name="T11" fmla="*/ 1 h 35"/>
                <a:gd name="T12" fmla="*/ 1 w 426"/>
                <a:gd name="T13" fmla="*/ 0 h 35"/>
                <a:gd name="T14" fmla="*/ 1 w 426"/>
                <a:gd name="T15" fmla="*/ 0 h 35"/>
                <a:gd name="T16" fmla="*/ 2 w 426"/>
                <a:gd name="T17" fmla="*/ 2 h 35"/>
                <a:gd name="T18" fmla="*/ 2 w 426"/>
                <a:gd name="T19" fmla="*/ 4 h 35"/>
                <a:gd name="T20" fmla="*/ 2 w 426"/>
                <a:gd name="T21" fmla="*/ 8 h 35"/>
                <a:gd name="T22" fmla="*/ 2 w 426"/>
                <a:gd name="T23" fmla="*/ 18 h 35"/>
                <a:gd name="T24" fmla="*/ 2 w 426"/>
                <a:gd name="T25" fmla="*/ 25 h 35"/>
                <a:gd name="T26" fmla="*/ 2 w 426"/>
                <a:gd name="T27" fmla="*/ 32 h 35"/>
                <a:gd name="T28" fmla="*/ 2 w 426"/>
                <a:gd name="T29" fmla="*/ 31 h 35"/>
                <a:gd name="T30" fmla="*/ 2 w 426"/>
                <a:gd name="T31" fmla="*/ 25 h 35"/>
                <a:gd name="T32" fmla="*/ 2 w 426"/>
                <a:gd name="T33" fmla="*/ 15 h 35"/>
                <a:gd name="T34" fmla="*/ 2 w 426"/>
                <a:gd name="T35" fmla="*/ 6 h 35"/>
                <a:gd name="T36" fmla="*/ 3 w 426"/>
                <a:gd name="T37" fmla="*/ 3 h 35"/>
                <a:gd name="T38" fmla="*/ 3 w 426"/>
                <a:gd name="T39" fmla="*/ 1 h 35"/>
                <a:gd name="T40" fmla="*/ 3 w 426"/>
                <a:gd name="T41" fmla="*/ 0 h 35"/>
                <a:gd name="T42" fmla="*/ 3 w 426"/>
                <a:gd name="T43" fmla="*/ 0 h 35"/>
                <a:gd name="T44" fmla="*/ 3 w 426"/>
                <a:gd name="T45" fmla="*/ 2 h 35"/>
                <a:gd name="T46" fmla="*/ 3 w 426"/>
                <a:gd name="T47" fmla="*/ 4 h 35"/>
                <a:gd name="T48" fmla="*/ 4 w 426"/>
                <a:gd name="T49" fmla="*/ 8 h 35"/>
                <a:gd name="T50" fmla="*/ 4 w 426"/>
                <a:gd name="T51" fmla="*/ 18 h 35"/>
                <a:gd name="T52" fmla="*/ 4 w 426"/>
                <a:gd name="T53" fmla="*/ 25 h 35"/>
                <a:gd name="T54" fmla="*/ 4 w 426"/>
                <a:gd name="T55" fmla="*/ 32 h 35"/>
                <a:gd name="T56" fmla="*/ 4 w 426"/>
                <a:gd name="T57" fmla="*/ 31 h 35"/>
                <a:gd name="T58" fmla="*/ 4 w 426"/>
                <a:gd name="T59" fmla="*/ 25 h 35"/>
                <a:gd name="T60" fmla="*/ 4 w 426"/>
                <a:gd name="T61" fmla="*/ 15 h 35"/>
                <a:gd name="T62" fmla="*/ 4 w 426"/>
                <a:gd name="T63" fmla="*/ 6 h 35"/>
                <a:gd name="T64" fmla="*/ 4 w 426"/>
                <a:gd name="T65" fmla="*/ 3 h 35"/>
                <a:gd name="T66" fmla="*/ 4 w 426"/>
                <a:gd name="T67" fmla="*/ 1 h 35"/>
                <a:gd name="T68" fmla="*/ 5 w 426"/>
                <a:gd name="T69" fmla="*/ 0 h 35"/>
                <a:gd name="T70" fmla="*/ 5 w 426"/>
                <a:gd name="T71" fmla="*/ 0 h 35"/>
                <a:gd name="T72" fmla="*/ 5 w 426"/>
                <a:gd name="T73" fmla="*/ 2 h 35"/>
                <a:gd name="T74" fmla="*/ 5 w 426"/>
                <a:gd name="T75" fmla="*/ 4 h 35"/>
                <a:gd name="T76" fmla="*/ 5 w 426"/>
                <a:gd name="T77" fmla="*/ 8 h 35"/>
                <a:gd name="T78" fmla="*/ 5 w 426"/>
                <a:gd name="T79" fmla="*/ 18 h 35"/>
                <a:gd name="T80" fmla="*/ 5 w 426"/>
                <a:gd name="T81" fmla="*/ 25 h 35"/>
                <a:gd name="T82" fmla="*/ 6 w 426"/>
                <a:gd name="T83" fmla="*/ 32 h 35"/>
                <a:gd name="T84" fmla="*/ 6 w 426"/>
                <a:gd name="T85" fmla="*/ 31 h 35"/>
                <a:gd name="T86" fmla="*/ 6 w 426"/>
                <a:gd name="T87" fmla="*/ 25 h 35"/>
                <a:gd name="T88" fmla="*/ 6 w 426"/>
                <a:gd name="T89" fmla="*/ 15 h 35"/>
                <a:gd name="T90" fmla="*/ 6 w 426"/>
                <a:gd name="T91" fmla="*/ 6 h 35"/>
                <a:gd name="T92" fmla="*/ 6 w 426"/>
                <a:gd name="T93" fmla="*/ 3 h 35"/>
                <a:gd name="T94" fmla="*/ 6 w 426"/>
                <a:gd name="T95" fmla="*/ 1 h 35"/>
                <a:gd name="T96" fmla="*/ 6 w 426"/>
                <a:gd name="T97" fmla="*/ 0 h 35"/>
                <a:gd name="T98" fmla="*/ 6 w 426"/>
                <a:gd name="T99" fmla="*/ 0 h 35"/>
                <a:gd name="T100" fmla="*/ 7 w 426"/>
                <a:gd name="T101" fmla="*/ 2 h 35"/>
                <a:gd name="T102" fmla="*/ 7 w 426"/>
                <a:gd name="T103" fmla="*/ 4 h 35"/>
                <a:gd name="T104" fmla="*/ 7 w 426"/>
                <a:gd name="T105" fmla="*/ 8 h 35"/>
                <a:gd name="T106" fmla="*/ 7 w 426"/>
                <a:gd name="T107" fmla="*/ 18 h 35"/>
                <a:gd name="T108" fmla="*/ 7 w 426"/>
                <a:gd name="T109" fmla="*/ 25 h 35"/>
                <a:gd name="T110" fmla="*/ 7 w 426"/>
                <a:gd name="T111" fmla="*/ 32 h 35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426"/>
                <a:gd name="T169" fmla="*/ 0 h 35"/>
                <a:gd name="T170" fmla="*/ 426 w 426"/>
                <a:gd name="T171" fmla="*/ 35 h 35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426" h="35">
                  <a:moveTo>
                    <a:pt x="0" y="35"/>
                  </a:moveTo>
                  <a:lnTo>
                    <a:pt x="0" y="31"/>
                  </a:lnTo>
                  <a:lnTo>
                    <a:pt x="0" y="28"/>
                  </a:lnTo>
                  <a:lnTo>
                    <a:pt x="2" y="25"/>
                  </a:lnTo>
                  <a:lnTo>
                    <a:pt x="4" y="21"/>
                  </a:lnTo>
                  <a:lnTo>
                    <a:pt x="8" y="15"/>
                  </a:lnTo>
                  <a:lnTo>
                    <a:pt x="13" y="10"/>
                  </a:lnTo>
                  <a:lnTo>
                    <a:pt x="21" y="6"/>
                  </a:lnTo>
                  <a:lnTo>
                    <a:pt x="26" y="4"/>
                  </a:lnTo>
                  <a:lnTo>
                    <a:pt x="30" y="3"/>
                  </a:lnTo>
                  <a:lnTo>
                    <a:pt x="36" y="1"/>
                  </a:lnTo>
                  <a:lnTo>
                    <a:pt x="40" y="1"/>
                  </a:lnTo>
                  <a:lnTo>
                    <a:pt x="45" y="0"/>
                  </a:lnTo>
                  <a:lnTo>
                    <a:pt x="51" y="0"/>
                  </a:lnTo>
                  <a:lnTo>
                    <a:pt x="57" y="0"/>
                  </a:lnTo>
                  <a:lnTo>
                    <a:pt x="62" y="0"/>
                  </a:lnTo>
                  <a:lnTo>
                    <a:pt x="68" y="1"/>
                  </a:lnTo>
                  <a:lnTo>
                    <a:pt x="72" y="2"/>
                  </a:lnTo>
                  <a:lnTo>
                    <a:pt x="77" y="3"/>
                  </a:lnTo>
                  <a:lnTo>
                    <a:pt x="81" y="4"/>
                  </a:lnTo>
                  <a:lnTo>
                    <a:pt x="85" y="6"/>
                  </a:lnTo>
                  <a:lnTo>
                    <a:pt x="89" y="8"/>
                  </a:lnTo>
                  <a:lnTo>
                    <a:pt x="96" y="13"/>
                  </a:lnTo>
                  <a:lnTo>
                    <a:pt x="102" y="18"/>
                  </a:lnTo>
                  <a:lnTo>
                    <a:pt x="104" y="21"/>
                  </a:lnTo>
                  <a:lnTo>
                    <a:pt x="106" y="25"/>
                  </a:lnTo>
                  <a:lnTo>
                    <a:pt x="106" y="29"/>
                  </a:lnTo>
                  <a:lnTo>
                    <a:pt x="106" y="32"/>
                  </a:lnTo>
                  <a:lnTo>
                    <a:pt x="106" y="35"/>
                  </a:lnTo>
                  <a:lnTo>
                    <a:pt x="108" y="31"/>
                  </a:lnTo>
                  <a:lnTo>
                    <a:pt x="108" y="28"/>
                  </a:lnTo>
                  <a:lnTo>
                    <a:pt x="108" y="25"/>
                  </a:lnTo>
                  <a:lnTo>
                    <a:pt x="109" y="21"/>
                  </a:lnTo>
                  <a:lnTo>
                    <a:pt x="115" y="15"/>
                  </a:lnTo>
                  <a:lnTo>
                    <a:pt x="121" y="10"/>
                  </a:lnTo>
                  <a:lnTo>
                    <a:pt x="128" y="6"/>
                  </a:lnTo>
                  <a:lnTo>
                    <a:pt x="132" y="4"/>
                  </a:lnTo>
                  <a:lnTo>
                    <a:pt x="138" y="3"/>
                  </a:lnTo>
                  <a:lnTo>
                    <a:pt x="142" y="1"/>
                  </a:lnTo>
                  <a:lnTo>
                    <a:pt x="147" y="1"/>
                  </a:lnTo>
                  <a:lnTo>
                    <a:pt x="153" y="0"/>
                  </a:lnTo>
                  <a:lnTo>
                    <a:pt x="159" y="0"/>
                  </a:lnTo>
                  <a:lnTo>
                    <a:pt x="164" y="0"/>
                  </a:lnTo>
                  <a:lnTo>
                    <a:pt x="168" y="0"/>
                  </a:lnTo>
                  <a:lnTo>
                    <a:pt x="174" y="1"/>
                  </a:lnTo>
                  <a:lnTo>
                    <a:pt x="179" y="2"/>
                  </a:lnTo>
                  <a:lnTo>
                    <a:pt x="183" y="3"/>
                  </a:lnTo>
                  <a:lnTo>
                    <a:pt x="189" y="4"/>
                  </a:lnTo>
                  <a:lnTo>
                    <a:pt x="192" y="6"/>
                  </a:lnTo>
                  <a:lnTo>
                    <a:pt x="196" y="8"/>
                  </a:lnTo>
                  <a:lnTo>
                    <a:pt x="204" y="13"/>
                  </a:lnTo>
                  <a:lnTo>
                    <a:pt x="208" y="18"/>
                  </a:lnTo>
                  <a:lnTo>
                    <a:pt x="209" y="21"/>
                  </a:lnTo>
                  <a:lnTo>
                    <a:pt x="211" y="25"/>
                  </a:lnTo>
                  <a:lnTo>
                    <a:pt x="213" y="29"/>
                  </a:lnTo>
                  <a:lnTo>
                    <a:pt x="213" y="32"/>
                  </a:lnTo>
                  <a:lnTo>
                    <a:pt x="213" y="35"/>
                  </a:lnTo>
                  <a:lnTo>
                    <a:pt x="213" y="31"/>
                  </a:lnTo>
                  <a:lnTo>
                    <a:pt x="213" y="28"/>
                  </a:lnTo>
                  <a:lnTo>
                    <a:pt x="215" y="25"/>
                  </a:lnTo>
                  <a:lnTo>
                    <a:pt x="217" y="21"/>
                  </a:lnTo>
                  <a:lnTo>
                    <a:pt x="221" y="15"/>
                  </a:lnTo>
                  <a:lnTo>
                    <a:pt x="226" y="10"/>
                  </a:lnTo>
                  <a:lnTo>
                    <a:pt x="236" y="6"/>
                  </a:lnTo>
                  <a:lnTo>
                    <a:pt x="240" y="4"/>
                  </a:lnTo>
                  <a:lnTo>
                    <a:pt x="243" y="3"/>
                  </a:lnTo>
                  <a:lnTo>
                    <a:pt x="249" y="1"/>
                  </a:lnTo>
                  <a:lnTo>
                    <a:pt x="253" y="1"/>
                  </a:lnTo>
                  <a:lnTo>
                    <a:pt x="258" y="0"/>
                  </a:lnTo>
                  <a:lnTo>
                    <a:pt x="264" y="0"/>
                  </a:lnTo>
                  <a:lnTo>
                    <a:pt x="270" y="0"/>
                  </a:lnTo>
                  <a:lnTo>
                    <a:pt x="275" y="0"/>
                  </a:lnTo>
                  <a:lnTo>
                    <a:pt x="281" y="1"/>
                  </a:lnTo>
                  <a:lnTo>
                    <a:pt x="285" y="2"/>
                  </a:lnTo>
                  <a:lnTo>
                    <a:pt x="291" y="3"/>
                  </a:lnTo>
                  <a:lnTo>
                    <a:pt x="294" y="4"/>
                  </a:lnTo>
                  <a:lnTo>
                    <a:pt x="298" y="6"/>
                  </a:lnTo>
                  <a:lnTo>
                    <a:pt x="302" y="8"/>
                  </a:lnTo>
                  <a:lnTo>
                    <a:pt x="309" y="13"/>
                  </a:lnTo>
                  <a:lnTo>
                    <a:pt x="315" y="18"/>
                  </a:lnTo>
                  <a:lnTo>
                    <a:pt x="317" y="21"/>
                  </a:lnTo>
                  <a:lnTo>
                    <a:pt x="319" y="25"/>
                  </a:lnTo>
                  <a:lnTo>
                    <a:pt x="319" y="29"/>
                  </a:lnTo>
                  <a:lnTo>
                    <a:pt x="321" y="32"/>
                  </a:lnTo>
                  <a:lnTo>
                    <a:pt x="321" y="35"/>
                  </a:lnTo>
                  <a:lnTo>
                    <a:pt x="321" y="31"/>
                  </a:lnTo>
                  <a:lnTo>
                    <a:pt x="321" y="28"/>
                  </a:lnTo>
                  <a:lnTo>
                    <a:pt x="321" y="25"/>
                  </a:lnTo>
                  <a:lnTo>
                    <a:pt x="323" y="21"/>
                  </a:lnTo>
                  <a:lnTo>
                    <a:pt x="328" y="15"/>
                  </a:lnTo>
                  <a:lnTo>
                    <a:pt x="334" y="10"/>
                  </a:lnTo>
                  <a:lnTo>
                    <a:pt x="341" y="6"/>
                  </a:lnTo>
                  <a:lnTo>
                    <a:pt x="345" y="4"/>
                  </a:lnTo>
                  <a:lnTo>
                    <a:pt x="351" y="3"/>
                  </a:lnTo>
                  <a:lnTo>
                    <a:pt x="355" y="1"/>
                  </a:lnTo>
                  <a:lnTo>
                    <a:pt x="360" y="1"/>
                  </a:lnTo>
                  <a:lnTo>
                    <a:pt x="366" y="0"/>
                  </a:lnTo>
                  <a:lnTo>
                    <a:pt x="372" y="0"/>
                  </a:lnTo>
                  <a:lnTo>
                    <a:pt x="377" y="0"/>
                  </a:lnTo>
                  <a:lnTo>
                    <a:pt x="381" y="0"/>
                  </a:lnTo>
                  <a:lnTo>
                    <a:pt x="387" y="1"/>
                  </a:lnTo>
                  <a:lnTo>
                    <a:pt x="392" y="2"/>
                  </a:lnTo>
                  <a:lnTo>
                    <a:pt x="396" y="3"/>
                  </a:lnTo>
                  <a:lnTo>
                    <a:pt x="402" y="4"/>
                  </a:lnTo>
                  <a:lnTo>
                    <a:pt x="406" y="6"/>
                  </a:lnTo>
                  <a:lnTo>
                    <a:pt x="409" y="8"/>
                  </a:lnTo>
                  <a:lnTo>
                    <a:pt x="417" y="13"/>
                  </a:lnTo>
                  <a:lnTo>
                    <a:pt x="421" y="18"/>
                  </a:lnTo>
                  <a:lnTo>
                    <a:pt x="423" y="21"/>
                  </a:lnTo>
                  <a:lnTo>
                    <a:pt x="424" y="25"/>
                  </a:lnTo>
                  <a:lnTo>
                    <a:pt x="426" y="29"/>
                  </a:lnTo>
                  <a:lnTo>
                    <a:pt x="426" y="32"/>
                  </a:lnTo>
                  <a:lnTo>
                    <a:pt x="426" y="3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Rectangle 289"/>
            <p:cNvSpPr>
              <a:spLocks noChangeArrowheads="1"/>
            </p:cNvSpPr>
            <p:nvPr/>
          </p:nvSpPr>
          <p:spPr bwMode="auto">
            <a:xfrm>
              <a:off x="4560" y="934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292" name="Rectangle 290"/>
            <p:cNvSpPr>
              <a:spLocks noChangeArrowheads="1"/>
            </p:cNvSpPr>
            <p:nvPr/>
          </p:nvSpPr>
          <p:spPr bwMode="auto">
            <a:xfrm>
              <a:off x="4496" y="890"/>
              <a:ext cx="75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293" name="Rectangle 291"/>
            <p:cNvSpPr>
              <a:spLocks noChangeArrowheads="1"/>
            </p:cNvSpPr>
            <p:nvPr/>
          </p:nvSpPr>
          <p:spPr bwMode="auto">
            <a:xfrm>
              <a:off x="4571" y="1591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94" name="Rectangle 292"/>
            <p:cNvSpPr>
              <a:spLocks noChangeArrowheads="1"/>
            </p:cNvSpPr>
            <p:nvPr/>
          </p:nvSpPr>
          <p:spPr bwMode="auto">
            <a:xfrm>
              <a:off x="4506" y="1544"/>
              <a:ext cx="75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295" name="Rectangle 293"/>
            <p:cNvSpPr>
              <a:spLocks noChangeArrowheads="1"/>
            </p:cNvSpPr>
            <p:nvPr/>
          </p:nvSpPr>
          <p:spPr bwMode="auto">
            <a:xfrm>
              <a:off x="4960" y="1058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宋体" pitchFamily="2" charset="-122"/>
                </a:rPr>
                <a:t>L</a:t>
              </a:r>
              <a:endParaRPr lang="en-US" altLang="zh-CN"/>
            </a:p>
          </p:txBody>
        </p:sp>
        <p:sp>
          <p:nvSpPr>
            <p:cNvPr id="296" name="Rectangle 294"/>
            <p:cNvSpPr>
              <a:spLocks noChangeArrowheads="1"/>
            </p:cNvSpPr>
            <p:nvPr/>
          </p:nvSpPr>
          <p:spPr bwMode="auto">
            <a:xfrm>
              <a:off x="4105" y="1194"/>
              <a:ext cx="111" cy="13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97" name="Rectangle 295"/>
            <p:cNvSpPr>
              <a:spLocks noChangeArrowheads="1"/>
            </p:cNvSpPr>
            <p:nvPr/>
          </p:nvSpPr>
          <p:spPr bwMode="auto">
            <a:xfrm>
              <a:off x="4377" y="1194"/>
              <a:ext cx="111" cy="13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98" name="Freeform 296"/>
            <p:cNvSpPr>
              <a:spLocks noEditPoints="1"/>
            </p:cNvSpPr>
            <p:nvPr/>
          </p:nvSpPr>
          <p:spPr bwMode="auto">
            <a:xfrm>
              <a:off x="3977" y="1837"/>
              <a:ext cx="13" cy="131"/>
            </a:xfrm>
            <a:custGeom>
              <a:avLst/>
              <a:gdLst>
                <a:gd name="T0" fmla="*/ 1 w 26"/>
                <a:gd name="T1" fmla="*/ 117 h 131"/>
                <a:gd name="T2" fmla="*/ 1 w 26"/>
                <a:gd name="T3" fmla="*/ 117 h 131"/>
                <a:gd name="T4" fmla="*/ 1 w 26"/>
                <a:gd name="T5" fmla="*/ 118 h 131"/>
                <a:gd name="T6" fmla="*/ 1 w 26"/>
                <a:gd name="T7" fmla="*/ 119 h 131"/>
                <a:gd name="T8" fmla="*/ 0 w 26"/>
                <a:gd name="T9" fmla="*/ 121 h 131"/>
                <a:gd name="T10" fmla="*/ 0 w 26"/>
                <a:gd name="T11" fmla="*/ 123 h 131"/>
                <a:gd name="T12" fmla="*/ 0 w 26"/>
                <a:gd name="T13" fmla="*/ 124 h 131"/>
                <a:gd name="T14" fmla="*/ 0 w 26"/>
                <a:gd name="T15" fmla="*/ 126 h 131"/>
                <a:gd name="T16" fmla="*/ 0 w 26"/>
                <a:gd name="T17" fmla="*/ 127 h 131"/>
                <a:gd name="T18" fmla="*/ 1 w 26"/>
                <a:gd name="T19" fmla="*/ 129 h 131"/>
                <a:gd name="T20" fmla="*/ 1 w 26"/>
                <a:gd name="T21" fmla="*/ 131 h 131"/>
                <a:gd name="T22" fmla="*/ 1 w 26"/>
                <a:gd name="T23" fmla="*/ 131 h 131"/>
                <a:gd name="T24" fmla="*/ 1 w 26"/>
                <a:gd name="T25" fmla="*/ 131 h 131"/>
                <a:gd name="T26" fmla="*/ 1 w 26"/>
                <a:gd name="T27" fmla="*/ 131 h 131"/>
                <a:gd name="T28" fmla="*/ 1 w 26"/>
                <a:gd name="T29" fmla="*/ 131 h 131"/>
                <a:gd name="T30" fmla="*/ 1 w 26"/>
                <a:gd name="T31" fmla="*/ 131 h 131"/>
                <a:gd name="T32" fmla="*/ 1 w 26"/>
                <a:gd name="T33" fmla="*/ 129 h 131"/>
                <a:gd name="T34" fmla="*/ 1 w 26"/>
                <a:gd name="T35" fmla="*/ 127 h 131"/>
                <a:gd name="T36" fmla="*/ 1 w 26"/>
                <a:gd name="T37" fmla="*/ 126 h 131"/>
                <a:gd name="T38" fmla="*/ 1 w 26"/>
                <a:gd name="T39" fmla="*/ 124 h 131"/>
                <a:gd name="T40" fmla="*/ 1 w 26"/>
                <a:gd name="T41" fmla="*/ 123 h 131"/>
                <a:gd name="T42" fmla="*/ 1 w 26"/>
                <a:gd name="T43" fmla="*/ 121 h 131"/>
                <a:gd name="T44" fmla="*/ 1 w 26"/>
                <a:gd name="T45" fmla="*/ 119 h 131"/>
                <a:gd name="T46" fmla="*/ 1 w 26"/>
                <a:gd name="T47" fmla="*/ 118 h 131"/>
                <a:gd name="T48" fmla="*/ 1 w 26"/>
                <a:gd name="T49" fmla="*/ 117 h 131"/>
                <a:gd name="T50" fmla="*/ 1 w 26"/>
                <a:gd name="T51" fmla="*/ 117 h 131"/>
                <a:gd name="T52" fmla="*/ 1 w 26"/>
                <a:gd name="T53" fmla="*/ 117 h 131"/>
                <a:gd name="T54" fmla="*/ 1 w 26"/>
                <a:gd name="T55" fmla="*/ 117 h 131"/>
                <a:gd name="T56" fmla="*/ 1 w 26"/>
                <a:gd name="T57" fmla="*/ 0 h 131"/>
                <a:gd name="T58" fmla="*/ 1 w 26"/>
                <a:gd name="T59" fmla="*/ 0 h 131"/>
                <a:gd name="T60" fmla="*/ 1 w 26"/>
                <a:gd name="T61" fmla="*/ 1 h 131"/>
                <a:gd name="T62" fmla="*/ 1 w 26"/>
                <a:gd name="T63" fmla="*/ 2 h 131"/>
                <a:gd name="T64" fmla="*/ 0 w 26"/>
                <a:gd name="T65" fmla="*/ 4 h 131"/>
                <a:gd name="T66" fmla="*/ 0 w 26"/>
                <a:gd name="T67" fmla="*/ 6 h 131"/>
                <a:gd name="T68" fmla="*/ 0 w 26"/>
                <a:gd name="T69" fmla="*/ 7 h 131"/>
                <a:gd name="T70" fmla="*/ 0 w 26"/>
                <a:gd name="T71" fmla="*/ 9 h 131"/>
                <a:gd name="T72" fmla="*/ 0 w 26"/>
                <a:gd name="T73" fmla="*/ 10 h 131"/>
                <a:gd name="T74" fmla="*/ 1 w 26"/>
                <a:gd name="T75" fmla="*/ 12 h 131"/>
                <a:gd name="T76" fmla="*/ 1 w 26"/>
                <a:gd name="T77" fmla="*/ 14 h 131"/>
                <a:gd name="T78" fmla="*/ 1 w 26"/>
                <a:gd name="T79" fmla="*/ 14 h 131"/>
                <a:gd name="T80" fmla="*/ 1 w 26"/>
                <a:gd name="T81" fmla="*/ 14 h 131"/>
                <a:gd name="T82" fmla="*/ 1 w 26"/>
                <a:gd name="T83" fmla="*/ 14 h 131"/>
                <a:gd name="T84" fmla="*/ 1 w 26"/>
                <a:gd name="T85" fmla="*/ 14 h 131"/>
                <a:gd name="T86" fmla="*/ 1 w 26"/>
                <a:gd name="T87" fmla="*/ 14 h 131"/>
                <a:gd name="T88" fmla="*/ 1 w 26"/>
                <a:gd name="T89" fmla="*/ 12 h 131"/>
                <a:gd name="T90" fmla="*/ 1 w 26"/>
                <a:gd name="T91" fmla="*/ 10 h 131"/>
                <a:gd name="T92" fmla="*/ 1 w 26"/>
                <a:gd name="T93" fmla="*/ 9 h 131"/>
                <a:gd name="T94" fmla="*/ 1 w 26"/>
                <a:gd name="T95" fmla="*/ 7 h 131"/>
                <a:gd name="T96" fmla="*/ 1 w 26"/>
                <a:gd name="T97" fmla="*/ 6 h 131"/>
                <a:gd name="T98" fmla="*/ 1 w 26"/>
                <a:gd name="T99" fmla="*/ 4 h 131"/>
                <a:gd name="T100" fmla="*/ 1 w 26"/>
                <a:gd name="T101" fmla="*/ 2 h 131"/>
                <a:gd name="T102" fmla="*/ 1 w 26"/>
                <a:gd name="T103" fmla="*/ 1 h 131"/>
                <a:gd name="T104" fmla="*/ 1 w 26"/>
                <a:gd name="T105" fmla="*/ 0 h 131"/>
                <a:gd name="T106" fmla="*/ 1 w 26"/>
                <a:gd name="T107" fmla="*/ 0 h 131"/>
                <a:gd name="T108" fmla="*/ 1 w 26"/>
                <a:gd name="T109" fmla="*/ 0 h 131"/>
                <a:gd name="T110" fmla="*/ 1 w 26"/>
                <a:gd name="T111" fmla="*/ 0 h 131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26"/>
                <a:gd name="T169" fmla="*/ 0 h 131"/>
                <a:gd name="T170" fmla="*/ 26 w 26"/>
                <a:gd name="T171" fmla="*/ 131 h 131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26" h="131">
                  <a:moveTo>
                    <a:pt x="13" y="117"/>
                  </a:moveTo>
                  <a:lnTo>
                    <a:pt x="11" y="117"/>
                  </a:lnTo>
                  <a:lnTo>
                    <a:pt x="7" y="118"/>
                  </a:lnTo>
                  <a:lnTo>
                    <a:pt x="3" y="119"/>
                  </a:lnTo>
                  <a:lnTo>
                    <a:pt x="0" y="121"/>
                  </a:lnTo>
                  <a:lnTo>
                    <a:pt x="0" y="123"/>
                  </a:lnTo>
                  <a:lnTo>
                    <a:pt x="0" y="124"/>
                  </a:lnTo>
                  <a:lnTo>
                    <a:pt x="0" y="126"/>
                  </a:lnTo>
                  <a:lnTo>
                    <a:pt x="0" y="127"/>
                  </a:lnTo>
                  <a:lnTo>
                    <a:pt x="3" y="129"/>
                  </a:lnTo>
                  <a:lnTo>
                    <a:pt x="7" y="131"/>
                  </a:lnTo>
                  <a:lnTo>
                    <a:pt x="9" y="131"/>
                  </a:lnTo>
                  <a:lnTo>
                    <a:pt x="13" y="131"/>
                  </a:lnTo>
                  <a:lnTo>
                    <a:pt x="15" y="131"/>
                  </a:lnTo>
                  <a:lnTo>
                    <a:pt x="18" y="131"/>
                  </a:lnTo>
                  <a:lnTo>
                    <a:pt x="22" y="129"/>
                  </a:lnTo>
                  <a:lnTo>
                    <a:pt x="24" y="127"/>
                  </a:lnTo>
                  <a:lnTo>
                    <a:pt x="26" y="126"/>
                  </a:lnTo>
                  <a:lnTo>
                    <a:pt x="26" y="124"/>
                  </a:lnTo>
                  <a:lnTo>
                    <a:pt x="26" y="123"/>
                  </a:lnTo>
                  <a:lnTo>
                    <a:pt x="24" y="121"/>
                  </a:lnTo>
                  <a:lnTo>
                    <a:pt x="22" y="119"/>
                  </a:lnTo>
                  <a:lnTo>
                    <a:pt x="18" y="118"/>
                  </a:lnTo>
                  <a:lnTo>
                    <a:pt x="15" y="117"/>
                  </a:lnTo>
                  <a:lnTo>
                    <a:pt x="13" y="117"/>
                  </a:lnTo>
                  <a:close/>
                  <a:moveTo>
                    <a:pt x="13" y="0"/>
                  </a:moveTo>
                  <a:lnTo>
                    <a:pt x="11" y="0"/>
                  </a:lnTo>
                  <a:lnTo>
                    <a:pt x="7" y="1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3" y="12"/>
                  </a:lnTo>
                  <a:lnTo>
                    <a:pt x="7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8" y="14"/>
                  </a:lnTo>
                  <a:lnTo>
                    <a:pt x="22" y="12"/>
                  </a:lnTo>
                  <a:lnTo>
                    <a:pt x="24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2" y="2"/>
                  </a:lnTo>
                  <a:lnTo>
                    <a:pt x="18" y="1"/>
                  </a:lnTo>
                  <a:lnTo>
                    <a:pt x="15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" name="Freeform 297"/>
            <p:cNvSpPr>
              <a:spLocks/>
            </p:cNvSpPr>
            <p:nvPr/>
          </p:nvSpPr>
          <p:spPr bwMode="auto">
            <a:xfrm>
              <a:off x="3977" y="1954"/>
              <a:ext cx="13" cy="14"/>
            </a:xfrm>
            <a:custGeom>
              <a:avLst/>
              <a:gdLst>
                <a:gd name="T0" fmla="*/ 1 w 26"/>
                <a:gd name="T1" fmla="*/ 0 h 14"/>
                <a:gd name="T2" fmla="*/ 1 w 26"/>
                <a:gd name="T3" fmla="*/ 0 h 14"/>
                <a:gd name="T4" fmla="*/ 1 w 26"/>
                <a:gd name="T5" fmla="*/ 1 h 14"/>
                <a:gd name="T6" fmla="*/ 1 w 26"/>
                <a:gd name="T7" fmla="*/ 2 h 14"/>
                <a:gd name="T8" fmla="*/ 0 w 26"/>
                <a:gd name="T9" fmla="*/ 4 h 14"/>
                <a:gd name="T10" fmla="*/ 0 w 26"/>
                <a:gd name="T11" fmla="*/ 6 h 14"/>
                <a:gd name="T12" fmla="*/ 0 w 26"/>
                <a:gd name="T13" fmla="*/ 7 h 14"/>
                <a:gd name="T14" fmla="*/ 0 w 26"/>
                <a:gd name="T15" fmla="*/ 9 h 14"/>
                <a:gd name="T16" fmla="*/ 0 w 26"/>
                <a:gd name="T17" fmla="*/ 10 h 14"/>
                <a:gd name="T18" fmla="*/ 1 w 26"/>
                <a:gd name="T19" fmla="*/ 12 h 14"/>
                <a:gd name="T20" fmla="*/ 1 w 26"/>
                <a:gd name="T21" fmla="*/ 14 h 14"/>
                <a:gd name="T22" fmla="*/ 1 w 26"/>
                <a:gd name="T23" fmla="*/ 14 h 14"/>
                <a:gd name="T24" fmla="*/ 1 w 26"/>
                <a:gd name="T25" fmla="*/ 14 h 14"/>
                <a:gd name="T26" fmla="*/ 1 w 26"/>
                <a:gd name="T27" fmla="*/ 14 h 14"/>
                <a:gd name="T28" fmla="*/ 1 w 26"/>
                <a:gd name="T29" fmla="*/ 14 h 14"/>
                <a:gd name="T30" fmla="*/ 1 w 26"/>
                <a:gd name="T31" fmla="*/ 14 h 14"/>
                <a:gd name="T32" fmla="*/ 1 w 26"/>
                <a:gd name="T33" fmla="*/ 12 h 14"/>
                <a:gd name="T34" fmla="*/ 1 w 26"/>
                <a:gd name="T35" fmla="*/ 10 h 14"/>
                <a:gd name="T36" fmla="*/ 1 w 26"/>
                <a:gd name="T37" fmla="*/ 9 h 14"/>
                <a:gd name="T38" fmla="*/ 1 w 26"/>
                <a:gd name="T39" fmla="*/ 7 h 14"/>
                <a:gd name="T40" fmla="*/ 1 w 26"/>
                <a:gd name="T41" fmla="*/ 6 h 14"/>
                <a:gd name="T42" fmla="*/ 1 w 26"/>
                <a:gd name="T43" fmla="*/ 4 h 14"/>
                <a:gd name="T44" fmla="*/ 1 w 26"/>
                <a:gd name="T45" fmla="*/ 2 h 14"/>
                <a:gd name="T46" fmla="*/ 1 w 26"/>
                <a:gd name="T47" fmla="*/ 1 h 14"/>
                <a:gd name="T48" fmla="*/ 1 w 26"/>
                <a:gd name="T49" fmla="*/ 0 h 14"/>
                <a:gd name="T50" fmla="*/ 1 w 26"/>
                <a:gd name="T51" fmla="*/ 0 h 14"/>
                <a:gd name="T52" fmla="*/ 1 w 26"/>
                <a:gd name="T53" fmla="*/ 0 h 1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6"/>
                <a:gd name="T82" fmla="*/ 0 h 14"/>
                <a:gd name="T83" fmla="*/ 26 w 26"/>
                <a:gd name="T84" fmla="*/ 14 h 1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6" h="14">
                  <a:moveTo>
                    <a:pt x="13" y="0"/>
                  </a:moveTo>
                  <a:lnTo>
                    <a:pt x="11" y="0"/>
                  </a:lnTo>
                  <a:lnTo>
                    <a:pt x="7" y="1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3" y="12"/>
                  </a:lnTo>
                  <a:lnTo>
                    <a:pt x="7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8" y="14"/>
                  </a:lnTo>
                  <a:lnTo>
                    <a:pt x="22" y="12"/>
                  </a:lnTo>
                  <a:lnTo>
                    <a:pt x="24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2" y="2"/>
                  </a:lnTo>
                  <a:lnTo>
                    <a:pt x="18" y="1"/>
                  </a:lnTo>
                  <a:lnTo>
                    <a:pt x="15" y="0"/>
                  </a:lnTo>
                  <a:lnTo>
                    <a:pt x="1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" name="Freeform 298"/>
            <p:cNvSpPr>
              <a:spLocks/>
            </p:cNvSpPr>
            <p:nvPr/>
          </p:nvSpPr>
          <p:spPr bwMode="auto">
            <a:xfrm>
              <a:off x="3977" y="1837"/>
              <a:ext cx="13" cy="14"/>
            </a:xfrm>
            <a:custGeom>
              <a:avLst/>
              <a:gdLst>
                <a:gd name="T0" fmla="*/ 1 w 26"/>
                <a:gd name="T1" fmla="*/ 0 h 14"/>
                <a:gd name="T2" fmla="*/ 1 w 26"/>
                <a:gd name="T3" fmla="*/ 0 h 14"/>
                <a:gd name="T4" fmla="*/ 1 w 26"/>
                <a:gd name="T5" fmla="*/ 1 h 14"/>
                <a:gd name="T6" fmla="*/ 1 w 26"/>
                <a:gd name="T7" fmla="*/ 2 h 14"/>
                <a:gd name="T8" fmla="*/ 0 w 26"/>
                <a:gd name="T9" fmla="*/ 4 h 14"/>
                <a:gd name="T10" fmla="*/ 0 w 26"/>
                <a:gd name="T11" fmla="*/ 6 h 14"/>
                <a:gd name="T12" fmla="*/ 0 w 26"/>
                <a:gd name="T13" fmla="*/ 7 h 14"/>
                <a:gd name="T14" fmla="*/ 0 w 26"/>
                <a:gd name="T15" fmla="*/ 9 h 14"/>
                <a:gd name="T16" fmla="*/ 0 w 26"/>
                <a:gd name="T17" fmla="*/ 10 h 14"/>
                <a:gd name="T18" fmla="*/ 1 w 26"/>
                <a:gd name="T19" fmla="*/ 12 h 14"/>
                <a:gd name="T20" fmla="*/ 1 w 26"/>
                <a:gd name="T21" fmla="*/ 14 h 14"/>
                <a:gd name="T22" fmla="*/ 1 w 26"/>
                <a:gd name="T23" fmla="*/ 14 h 14"/>
                <a:gd name="T24" fmla="*/ 1 w 26"/>
                <a:gd name="T25" fmla="*/ 14 h 14"/>
                <a:gd name="T26" fmla="*/ 1 w 26"/>
                <a:gd name="T27" fmla="*/ 14 h 14"/>
                <a:gd name="T28" fmla="*/ 1 w 26"/>
                <a:gd name="T29" fmla="*/ 14 h 14"/>
                <a:gd name="T30" fmla="*/ 1 w 26"/>
                <a:gd name="T31" fmla="*/ 14 h 14"/>
                <a:gd name="T32" fmla="*/ 1 w 26"/>
                <a:gd name="T33" fmla="*/ 12 h 14"/>
                <a:gd name="T34" fmla="*/ 1 w 26"/>
                <a:gd name="T35" fmla="*/ 10 h 14"/>
                <a:gd name="T36" fmla="*/ 1 w 26"/>
                <a:gd name="T37" fmla="*/ 9 h 14"/>
                <a:gd name="T38" fmla="*/ 1 w 26"/>
                <a:gd name="T39" fmla="*/ 7 h 14"/>
                <a:gd name="T40" fmla="*/ 1 w 26"/>
                <a:gd name="T41" fmla="*/ 6 h 14"/>
                <a:gd name="T42" fmla="*/ 1 w 26"/>
                <a:gd name="T43" fmla="*/ 4 h 14"/>
                <a:gd name="T44" fmla="*/ 1 w 26"/>
                <a:gd name="T45" fmla="*/ 2 h 14"/>
                <a:gd name="T46" fmla="*/ 1 w 26"/>
                <a:gd name="T47" fmla="*/ 1 h 14"/>
                <a:gd name="T48" fmla="*/ 1 w 26"/>
                <a:gd name="T49" fmla="*/ 0 h 14"/>
                <a:gd name="T50" fmla="*/ 1 w 26"/>
                <a:gd name="T51" fmla="*/ 0 h 14"/>
                <a:gd name="T52" fmla="*/ 1 w 26"/>
                <a:gd name="T53" fmla="*/ 0 h 1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6"/>
                <a:gd name="T82" fmla="*/ 0 h 14"/>
                <a:gd name="T83" fmla="*/ 26 w 26"/>
                <a:gd name="T84" fmla="*/ 14 h 1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6" h="14">
                  <a:moveTo>
                    <a:pt x="13" y="0"/>
                  </a:moveTo>
                  <a:lnTo>
                    <a:pt x="11" y="0"/>
                  </a:lnTo>
                  <a:lnTo>
                    <a:pt x="7" y="1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3" y="12"/>
                  </a:lnTo>
                  <a:lnTo>
                    <a:pt x="7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8" y="14"/>
                  </a:lnTo>
                  <a:lnTo>
                    <a:pt x="22" y="12"/>
                  </a:lnTo>
                  <a:lnTo>
                    <a:pt x="24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2" y="2"/>
                  </a:lnTo>
                  <a:lnTo>
                    <a:pt x="18" y="1"/>
                  </a:lnTo>
                  <a:lnTo>
                    <a:pt x="15" y="0"/>
                  </a:lnTo>
                  <a:lnTo>
                    <a:pt x="1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" name="Line 299"/>
            <p:cNvSpPr>
              <a:spLocks noChangeShapeType="1"/>
            </p:cNvSpPr>
            <p:nvPr/>
          </p:nvSpPr>
          <p:spPr bwMode="auto">
            <a:xfrm>
              <a:off x="3986" y="1851"/>
              <a:ext cx="30" cy="9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2" name="Freeform 300"/>
            <p:cNvSpPr>
              <a:spLocks/>
            </p:cNvSpPr>
            <p:nvPr/>
          </p:nvSpPr>
          <p:spPr bwMode="auto">
            <a:xfrm>
              <a:off x="4242" y="1387"/>
              <a:ext cx="32" cy="234"/>
            </a:xfrm>
            <a:custGeom>
              <a:avLst/>
              <a:gdLst>
                <a:gd name="T0" fmla="*/ 1 w 64"/>
                <a:gd name="T1" fmla="*/ 0 h 234"/>
                <a:gd name="T2" fmla="*/ 1 w 64"/>
                <a:gd name="T3" fmla="*/ 1 h 234"/>
                <a:gd name="T4" fmla="*/ 1 w 64"/>
                <a:gd name="T5" fmla="*/ 4 h 234"/>
                <a:gd name="T6" fmla="*/ 1 w 64"/>
                <a:gd name="T7" fmla="*/ 13 h 234"/>
                <a:gd name="T8" fmla="*/ 1 w 64"/>
                <a:gd name="T9" fmla="*/ 17 h 234"/>
                <a:gd name="T10" fmla="*/ 1 w 64"/>
                <a:gd name="T11" fmla="*/ 23 h 234"/>
                <a:gd name="T12" fmla="*/ 1 w 64"/>
                <a:gd name="T13" fmla="*/ 28 h 234"/>
                <a:gd name="T14" fmla="*/ 1 w 64"/>
                <a:gd name="T15" fmla="*/ 34 h 234"/>
                <a:gd name="T16" fmla="*/ 1 w 64"/>
                <a:gd name="T17" fmla="*/ 39 h 234"/>
                <a:gd name="T18" fmla="*/ 1 w 64"/>
                <a:gd name="T19" fmla="*/ 45 h 234"/>
                <a:gd name="T20" fmla="*/ 1 w 64"/>
                <a:gd name="T21" fmla="*/ 53 h 234"/>
                <a:gd name="T22" fmla="*/ 1 w 64"/>
                <a:gd name="T23" fmla="*/ 57 h 234"/>
                <a:gd name="T24" fmla="*/ 1 w 64"/>
                <a:gd name="T25" fmla="*/ 58 h 234"/>
                <a:gd name="T26" fmla="*/ 0 w 64"/>
                <a:gd name="T27" fmla="*/ 59 h 234"/>
                <a:gd name="T28" fmla="*/ 1 w 64"/>
                <a:gd name="T29" fmla="*/ 59 h 234"/>
                <a:gd name="T30" fmla="*/ 1 w 64"/>
                <a:gd name="T31" fmla="*/ 60 h 234"/>
                <a:gd name="T32" fmla="*/ 1 w 64"/>
                <a:gd name="T33" fmla="*/ 66 h 234"/>
                <a:gd name="T34" fmla="*/ 1 w 64"/>
                <a:gd name="T35" fmla="*/ 73 h 234"/>
                <a:gd name="T36" fmla="*/ 1 w 64"/>
                <a:gd name="T37" fmla="*/ 78 h 234"/>
                <a:gd name="T38" fmla="*/ 1 w 64"/>
                <a:gd name="T39" fmla="*/ 84 h 234"/>
                <a:gd name="T40" fmla="*/ 1 w 64"/>
                <a:gd name="T41" fmla="*/ 90 h 234"/>
                <a:gd name="T42" fmla="*/ 1 w 64"/>
                <a:gd name="T43" fmla="*/ 95 h 234"/>
                <a:gd name="T44" fmla="*/ 1 w 64"/>
                <a:gd name="T45" fmla="*/ 101 h 234"/>
                <a:gd name="T46" fmla="*/ 1 w 64"/>
                <a:gd name="T47" fmla="*/ 108 h 234"/>
                <a:gd name="T48" fmla="*/ 1 w 64"/>
                <a:gd name="T49" fmla="*/ 115 h 234"/>
                <a:gd name="T50" fmla="*/ 1 w 64"/>
                <a:gd name="T51" fmla="*/ 116 h 234"/>
                <a:gd name="T52" fmla="*/ 1 w 64"/>
                <a:gd name="T53" fmla="*/ 117 h 234"/>
                <a:gd name="T54" fmla="*/ 1 w 64"/>
                <a:gd name="T55" fmla="*/ 117 h 234"/>
                <a:gd name="T56" fmla="*/ 1 w 64"/>
                <a:gd name="T57" fmla="*/ 118 h 234"/>
                <a:gd name="T58" fmla="*/ 1 w 64"/>
                <a:gd name="T59" fmla="*/ 121 h 234"/>
                <a:gd name="T60" fmla="*/ 1 w 64"/>
                <a:gd name="T61" fmla="*/ 130 h 234"/>
                <a:gd name="T62" fmla="*/ 1 w 64"/>
                <a:gd name="T63" fmla="*/ 134 h 234"/>
                <a:gd name="T64" fmla="*/ 1 w 64"/>
                <a:gd name="T65" fmla="*/ 140 h 234"/>
                <a:gd name="T66" fmla="*/ 1 w 64"/>
                <a:gd name="T67" fmla="*/ 145 h 234"/>
                <a:gd name="T68" fmla="*/ 1 w 64"/>
                <a:gd name="T69" fmla="*/ 151 h 234"/>
                <a:gd name="T70" fmla="*/ 1 w 64"/>
                <a:gd name="T71" fmla="*/ 156 h 234"/>
                <a:gd name="T72" fmla="*/ 1 w 64"/>
                <a:gd name="T73" fmla="*/ 162 h 234"/>
                <a:gd name="T74" fmla="*/ 1 w 64"/>
                <a:gd name="T75" fmla="*/ 170 h 234"/>
                <a:gd name="T76" fmla="*/ 1 w 64"/>
                <a:gd name="T77" fmla="*/ 174 h 234"/>
                <a:gd name="T78" fmla="*/ 1 w 64"/>
                <a:gd name="T79" fmla="*/ 175 h 234"/>
                <a:gd name="T80" fmla="*/ 0 w 64"/>
                <a:gd name="T81" fmla="*/ 176 h 234"/>
                <a:gd name="T82" fmla="*/ 1 w 64"/>
                <a:gd name="T83" fmla="*/ 176 h 234"/>
                <a:gd name="T84" fmla="*/ 1 w 64"/>
                <a:gd name="T85" fmla="*/ 178 h 234"/>
                <a:gd name="T86" fmla="*/ 1 w 64"/>
                <a:gd name="T87" fmla="*/ 183 h 234"/>
                <a:gd name="T88" fmla="*/ 1 w 64"/>
                <a:gd name="T89" fmla="*/ 191 h 234"/>
                <a:gd name="T90" fmla="*/ 1 w 64"/>
                <a:gd name="T91" fmla="*/ 196 h 234"/>
                <a:gd name="T92" fmla="*/ 1 w 64"/>
                <a:gd name="T93" fmla="*/ 201 h 234"/>
                <a:gd name="T94" fmla="*/ 1 w 64"/>
                <a:gd name="T95" fmla="*/ 207 h 234"/>
                <a:gd name="T96" fmla="*/ 1 w 64"/>
                <a:gd name="T97" fmla="*/ 212 h 234"/>
                <a:gd name="T98" fmla="*/ 1 w 64"/>
                <a:gd name="T99" fmla="*/ 218 h 234"/>
                <a:gd name="T100" fmla="*/ 1 w 64"/>
                <a:gd name="T101" fmla="*/ 225 h 234"/>
                <a:gd name="T102" fmla="*/ 1 w 64"/>
                <a:gd name="T103" fmla="*/ 232 h 234"/>
                <a:gd name="T104" fmla="*/ 1 w 64"/>
                <a:gd name="T105" fmla="*/ 233 h 234"/>
                <a:gd name="T106" fmla="*/ 1 w 64"/>
                <a:gd name="T107" fmla="*/ 234 h 23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64"/>
                <a:gd name="T163" fmla="*/ 0 h 234"/>
                <a:gd name="T164" fmla="*/ 64 w 64"/>
                <a:gd name="T165" fmla="*/ 234 h 23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64" h="234">
                  <a:moveTo>
                    <a:pt x="0" y="0"/>
                  </a:moveTo>
                  <a:lnTo>
                    <a:pt x="7" y="0"/>
                  </a:lnTo>
                  <a:lnTo>
                    <a:pt x="13" y="0"/>
                  </a:lnTo>
                  <a:lnTo>
                    <a:pt x="18" y="1"/>
                  </a:lnTo>
                  <a:lnTo>
                    <a:pt x="24" y="2"/>
                  </a:lnTo>
                  <a:lnTo>
                    <a:pt x="35" y="4"/>
                  </a:lnTo>
                  <a:lnTo>
                    <a:pt x="45" y="8"/>
                  </a:lnTo>
                  <a:lnTo>
                    <a:pt x="52" y="13"/>
                  </a:lnTo>
                  <a:lnTo>
                    <a:pt x="56" y="15"/>
                  </a:lnTo>
                  <a:lnTo>
                    <a:pt x="58" y="17"/>
                  </a:lnTo>
                  <a:lnTo>
                    <a:pt x="60" y="20"/>
                  </a:lnTo>
                  <a:lnTo>
                    <a:pt x="62" y="23"/>
                  </a:lnTo>
                  <a:lnTo>
                    <a:pt x="64" y="25"/>
                  </a:lnTo>
                  <a:lnTo>
                    <a:pt x="64" y="28"/>
                  </a:lnTo>
                  <a:lnTo>
                    <a:pt x="64" y="31"/>
                  </a:lnTo>
                  <a:lnTo>
                    <a:pt x="64" y="34"/>
                  </a:lnTo>
                  <a:lnTo>
                    <a:pt x="62" y="37"/>
                  </a:lnTo>
                  <a:lnTo>
                    <a:pt x="60" y="39"/>
                  </a:lnTo>
                  <a:lnTo>
                    <a:pt x="58" y="43"/>
                  </a:lnTo>
                  <a:lnTo>
                    <a:pt x="54" y="45"/>
                  </a:lnTo>
                  <a:lnTo>
                    <a:pt x="49" y="50"/>
                  </a:lnTo>
                  <a:lnTo>
                    <a:pt x="39" y="53"/>
                  </a:lnTo>
                  <a:lnTo>
                    <a:pt x="28" y="56"/>
                  </a:lnTo>
                  <a:lnTo>
                    <a:pt x="24" y="57"/>
                  </a:lnTo>
                  <a:lnTo>
                    <a:pt x="17" y="58"/>
                  </a:lnTo>
                  <a:lnTo>
                    <a:pt x="11" y="58"/>
                  </a:lnTo>
                  <a:lnTo>
                    <a:pt x="5" y="59"/>
                  </a:lnTo>
                  <a:lnTo>
                    <a:pt x="0" y="59"/>
                  </a:lnTo>
                  <a:lnTo>
                    <a:pt x="7" y="59"/>
                  </a:lnTo>
                  <a:lnTo>
                    <a:pt x="13" y="59"/>
                  </a:lnTo>
                  <a:lnTo>
                    <a:pt x="18" y="60"/>
                  </a:lnTo>
                  <a:lnTo>
                    <a:pt x="24" y="60"/>
                  </a:lnTo>
                  <a:lnTo>
                    <a:pt x="35" y="63"/>
                  </a:lnTo>
                  <a:lnTo>
                    <a:pt x="45" y="66"/>
                  </a:lnTo>
                  <a:lnTo>
                    <a:pt x="52" y="71"/>
                  </a:lnTo>
                  <a:lnTo>
                    <a:pt x="56" y="73"/>
                  </a:lnTo>
                  <a:lnTo>
                    <a:pt x="58" y="76"/>
                  </a:lnTo>
                  <a:lnTo>
                    <a:pt x="60" y="78"/>
                  </a:lnTo>
                  <a:lnTo>
                    <a:pt x="62" y="81"/>
                  </a:lnTo>
                  <a:lnTo>
                    <a:pt x="64" y="84"/>
                  </a:lnTo>
                  <a:lnTo>
                    <a:pt x="64" y="87"/>
                  </a:lnTo>
                  <a:lnTo>
                    <a:pt x="64" y="90"/>
                  </a:lnTo>
                  <a:lnTo>
                    <a:pt x="64" y="92"/>
                  </a:lnTo>
                  <a:lnTo>
                    <a:pt x="62" y="95"/>
                  </a:lnTo>
                  <a:lnTo>
                    <a:pt x="60" y="98"/>
                  </a:lnTo>
                  <a:lnTo>
                    <a:pt x="58" y="101"/>
                  </a:lnTo>
                  <a:lnTo>
                    <a:pt x="54" y="104"/>
                  </a:lnTo>
                  <a:lnTo>
                    <a:pt x="49" y="108"/>
                  </a:lnTo>
                  <a:lnTo>
                    <a:pt x="39" y="112"/>
                  </a:lnTo>
                  <a:lnTo>
                    <a:pt x="28" y="115"/>
                  </a:lnTo>
                  <a:lnTo>
                    <a:pt x="24" y="116"/>
                  </a:lnTo>
                  <a:lnTo>
                    <a:pt x="17" y="116"/>
                  </a:lnTo>
                  <a:lnTo>
                    <a:pt x="11" y="117"/>
                  </a:lnTo>
                  <a:lnTo>
                    <a:pt x="5" y="117"/>
                  </a:lnTo>
                  <a:lnTo>
                    <a:pt x="0" y="117"/>
                  </a:lnTo>
                  <a:lnTo>
                    <a:pt x="7" y="117"/>
                  </a:lnTo>
                  <a:lnTo>
                    <a:pt x="13" y="118"/>
                  </a:lnTo>
                  <a:lnTo>
                    <a:pt x="18" y="118"/>
                  </a:lnTo>
                  <a:lnTo>
                    <a:pt x="24" y="119"/>
                  </a:lnTo>
                  <a:lnTo>
                    <a:pt x="35" y="121"/>
                  </a:lnTo>
                  <a:lnTo>
                    <a:pt x="45" y="125"/>
                  </a:lnTo>
                  <a:lnTo>
                    <a:pt x="52" y="130"/>
                  </a:lnTo>
                  <a:lnTo>
                    <a:pt x="56" y="132"/>
                  </a:lnTo>
                  <a:lnTo>
                    <a:pt x="58" y="134"/>
                  </a:lnTo>
                  <a:lnTo>
                    <a:pt x="60" y="137"/>
                  </a:lnTo>
                  <a:lnTo>
                    <a:pt x="62" y="140"/>
                  </a:lnTo>
                  <a:lnTo>
                    <a:pt x="64" y="142"/>
                  </a:lnTo>
                  <a:lnTo>
                    <a:pt x="64" y="145"/>
                  </a:lnTo>
                  <a:lnTo>
                    <a:pt x="64" y="148"/>
                  </a:lnTo>
                  <a:lnTo>
                    <a:pt x="64" y="151"/>
                  </a:lnTo>
                  <a:lnTo>
                    <a:pt x="62" y="154"/>
                  </a:lnTo>
                  <a:lnTo>
                    <a:pt x="60" y="156"/>
                  </a:lnTo>
                  <a:lnTo>
                    <a:pt x="58" y="160"/>
                  </a:lnTo>
                  <a:lnTo>
                    <a:pt x="54" y="162"/>
                  </a:lnTo>
                  <a:lnTo>
                    <a:pt x="49" y="167"/>
                  </a:lnTo>
                  <a:lnTo>
                    <a:pt x="39" y="170"/>
                  </a:lnTo>
                  <a:lnTo>
                    <a:pt x="28" y="173"/>
                  </a:lnTo>
                  <a:lnTo>
                    <a:pt x="24" y="174"/>
                  </a:lnTo>
                  <a:lnTo>
                    <a:pt x="17" y="175"/>
                  </a:lnTo>
                  <a:lnTo>
                    <a:pt x="11" y="175"/>
                  </a:lnTo>
                  <a:lnTo>
                    <a:pt x="5" y="176"/>
                  </a:lnTo>
                  <a:lnTo>
                    <a:pt x="0" y="176"/>
                  </a:lnTo>
                  <a:lnTo>
                    <a:pt x="7" y="176"/>
                  </a:lnTo>
                  <a:lnTo>
                    <a:pt x="13" y="176"/>
                  </a:lnTo>
                  <a:lnTo>
                    <a:pt x="18" y="177"/>
                  </a:lnTo>
                  <a:lnTo>
                    <a:pt x="24" y="178"/>
                  </a:lnTo>
                  <a:lnTo>
                    <a:pt x="35" y="180"/>
                  </a:lnTo>
                  <a:lnTo>
                    <a:pt x="45" y="183"/>
                  </a:lnTo>
                  <a:lnTo>
                    <a:pt x="52" y="188"/>
                  </a:lnTo>
                  <a:lnTo>
                    <a:pt x="56" y="191"/>
                  </a:lnTo>
                  <a:lnTo>
                    <a:pt x="58" y="193"/>
                  </a:lnTo>
                  <a:lnTo>
                    <a:pt x="60" y="196"/>
                  </a:lnTo>
                  <a:lnTo>
                    <a:pt x="62" y="198"/>
                  </a:lnTo>
                  <a:lnTo>
                    <a:pt x="64" y="201"/>
                  </a:lnTo>
                  <a:lnTo>
                    <a:pt x="64" y="204"/>
                  </a:lnTo>
                  <a:lnTo>
                    <a:pt x="64" y="207"/>
                  </a:lnTo>
                  <a:lnTo>
                    <a:pt x="64" y="210"/>
                  </a:lnTo>
                  <a:lnTo>
                    <a:pt x="62" y="212"/>
                  </a:lnTo>
                  <a:lnTo>
                    <a:pt x="60" y="216"/>
                  </a:lnTo>
                  <a:lnTo>
                    <a:pt x="58" y="218"/>
                  </a:lnTo>
                  <a:lnTo>
                    <a:pt x="54" y="221"/>
                  </a:lnTo>
                  <a:lnTo>
                    <a:pt x="49" y="225"/>
                  </a:lnTo>
                  <a:lnTo>
                    <a:pt x="39" y="229"/>
                  </a:lnTo>
                  <a:lnTo>
                    <a:pt x="28" y="232"/>
                  </a:lnTo>
                  <a:lnTo>
                    <a:pt x="24" y="233"/>
                  </a:lnTo>
                  <a:lnTo>
                    <a:pt x="17" y="233"/>
                  </a:lnTo>
                  <a:lnTo>
                    <a:pt x="11" y="234"/>
                  </a:lnTo>
                  <a:lnTo>
                    <a:pt x="5" y="234"/>
                  </a:lnTo>
                  <a:lnTo>
                    <a:pt x="0" y="2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3" name="Freeform 301"/>
            <p:cNvSpPr>
              <a:spLocks/>
            </p:cNvSpPr>
            <p:nvPr/>
          </p:nvSpPr>
          <p:spPr bwMode="auto">
            <a:xfrm>
              <a:off x="4332" y="1387"/>
              <a:ext cx="32" cy="234"/>
            </a:xfrm>
            <a:custGeom>
              <a:avLst/>
              <a:gdLst>
                <a:gd name="T0" fmla="*/ 1 w 64"/>
                <a:gd name="T1" fmla="*/ 0 h 234"/>
                <a:gd name="T2" fmla="*/ 1 w 64"/>
                <a:gd name="T3" fmla="*/ 1 h 234"/>
                <a:gd name="T4" fmla="*/ 1 w 64"/>
                <a:gd name="T5" fmla="*/ 4 h 234"/>
                <a:gd name="T6" fmla="*/ 1 w 64"/>
                <a:gd name="T7" fmla="*/ 13 h 234"/>
                <a:gd name="T8" fmla="*/ 1 w 64"/>
                <a:gd name="T9" fmla="*/ 17 h 234"/>
                <a:gd name="T10" fmla="*/ 1 w 64"/>
                <a:gd name="T11" fmla="*/ 23 h 234"/>
                <a:gd name="T12" fmla="*/ 0 w 64"/>
                <a:gd name="T13" fmla="*/ 28 h 234"/>
                <a:gd name="T14" fmla="*/ 1 w 64"/>
                <a:gd name="T15" fmla="*/ 34 h 234"/>
                <a:gd name="T16" fmla="*/ 1 w 64"/>
                <a:gd name="T17" fmla="*/ 39 h 234"/>
                <a:gd name="T18" fmla="*/ 1 w 64"/>
                <a:gd name="T19" fmla="*/ 45 h 234"/>
                <a:gd name="T20" fmla="*/ 1 w 64"/>
                <a:gd name="T21" fmla="*/ 50 h 234"/>
                <a:gd name="T22" fmla="*/ 1 w 64"/>
                <a:gd name="T23" fmla="*/ 56 h 234"/>
                <a:gd name="T24" fmla="*/ 1 w 64"/>
                <a:gd name="T25" fmla="*/ 58 h 234"/>
                <a:gd name="T26" fmla="*/ 1 w 64"/>
                <a:gd name="T27" fmla="*/ 59 h 234"/>
                <a:gd name="T28" fmla="*/ 1 w 64"/>
                <a:gd name="T29" fmla="*/ 59 h 234"/>
                <a:gd name="T30" fmla="*/ 1 w 64"/>
                <a:gd name="T31" fmla="*/ 60 h 234"/>
                <a:gd name="T32" fmla="*/ 1 w 64"/>
                <a:gd name="T33" fmla="*/ 63 h 234"/>
                <a:gd name="T34" fmla="*/ 1 w 64"/>
                <a:gd name="T35" fmla="*/ 71 h 234"/>
                <a:gd name="T36" fmla="*/ 1 w 64"/>
                <a:gd name="T37" fmla="*/ 76 h 234"/>
                <a:gd name="T38" fmla="*/ 1 w 64"/>
                <a:gd name="T39" fmla="*/ 81 h 234"/>
                <a:gd name="T40" fmla="*/ 0 w 64"/>
                <a:gd name="T41" fmla="*/ 87 h 234"/>
                <a:gd name="T42" fmla="*/ 1 w 64"/>
                <a:gd name="T43" fmla="*/ 92 h 234"/>
                <a:gd name="T44" fmla="*/ 1 w 64"/>
                <a:gd name="T45" fmla="*/ 98 h 234"/>
                <a:gd name="T46" fmla="*/ 1 w 64"/>
                <a:gd name="T47" fmla="*/ 104 h 234"/>
                <a:gd name="T48" fmla="*/ 1 w 64"/>
                <a:gd name="T49" fmla="*/ 108 h 234"/>
                <a:gd name="T50" fmla="*/ 1 w 64"/>
                <a:gd name="T51" fmla="*/ 115 h 234"/>
                <a:gd name="T52" fmla="*/ 1 w 64"/>
                <a:gd name="T53" fmla="*/ 116 h 234"/>
                <a:gd name="T54" fmla="*/ 1 w 64"/>
                <a:gd name="T55" fmla="*/ 117 h 234"/>
                <a:gd name="T56" fmla="*/ 1 w 64"/>
                <a:gd name="T57" fmla="*/ 117 h 234"/>
                <a:gd name="T58" fmla="*/ 1 w 64"/>
                <a:gd name="T59" fmla="*/ 118 h 234"/>
                <a:gd name="T60" fmla="*/ 1 w 64"/>
                <a:gd name="T61" fmla="*/ 121 h 234"/>
                <a:gd name="T62" fmla="*/ 1 w 64"/>
                <a:gd name="T63" fmla="*/ 130 h 234"/>
                <a:gd name="T64" fmla="*/ 1 w 64"/>
                <a:gd name="T65" fmla="*/ 134 h 234"/>
                <a:gd name="T66" fmla="*/ 1 w 64"/>
                <a:gd name="T67" fmla="*/ 140 h 234"/>
                <a:gd name="T68" fmla="*/ 0 w 64"/>
                <a:gd name="T69" fmla="*/ 145 h 234"/>
                <a:gd name="T70" fmla="*/ 1 w 64"/>
                <a:gd name="T71" fmla="*/ 151 h 234"/>
                <a:gd name="T72" fmla="*/ 1 w 64"/>
                <a:gd name="T73" fmla="*/ 156 h 234"/>
                <a:gd name="T74" fmla="*/ 1 w 64"/>
                <a:gd name="T75" fmla="*/ 162 h 234"/>
                <a:gd name="T76" fmla="*/ 1 w 64"/>
                <a:gd name="T77" fmla="*/ 167 h 234"/>
                <a:gd name="T78" fmla="*/ 1 w 64"/>
                <a:gd name="T79" fmla="*/ 173 h 234"/>
                <a:gd name="T80" fmla="*/ 1 w 64"/>
                <a:gd name="T81" fmla="*/ 175 h 234"/>
                <a:gd name="T82" fmla="*/ 1 w 64"/>
                <a:gd name="T83" fmla="*/ 176 h 234"/>
                <a:gd name="T84" fmla="*/ 1 w 64"/>
                <a:gd name="T85" fmla="*/ 176 h 234"/>
                <a:gd name="T86" fmla="*/ 1 w 64"/>
                <a:gd name="T87" fmla="*/ 177 h 234"/>
                <a:gd name="T88" fmla="*/ 1 w 64"/>
                <a:gd name="T89" fmla="*/ 180 h 234"/>
                <a:gd name="T90" fmla="*/ 1 w 64"/>
                <a:gd name="T91" fmla="*/ 188 h 234"/>
                <a:gd name="T92" fmla="*/ 1 w 64"/>
                <a:gd name="T93" fmla="*/ 193 h 234"/>
                <a:gd name="T94" fmla="*/ 1 w 64"/>
                <a:gd name="T95" fmla="*/ 198 h 234"/>
                <a:gd name="T96" fmla="*/ 0 w 64"/>
                <a:gd name="T97" fmla="*/ 204 h 234"/>
                <a:gd name="T98" fmla="*/ 1 w 64"/>
                <a:gd name="T99" fmla="*/ 210 h 234"/>
                <a:gd name="T100" fmla="*/ 1 w 64"/>
                <a:gd name="T101" fmla="*/ 216 h 234"/>
                <a:gd name="T102" fmla="*/ 1 w 64"/>
                <a:gd name="T103" fmla="*/ 221 h 234"/>
                <a:gd name="T104" fmla="*/ 1 w 64"/>
                <a:gd name="T105" fmla="*/ 225 h 234"/>
                <a:gd name="T106" fmla="*/ 1 w 64"/>
                <a:gd name="T107" fmla="*/ 232 h 234"/>
                <a:gd name="T108" fmla="*/ 1 w 64"/>
                <a:gd name="T109" fmla="*/ 233 h 234"/>
                <a:gd name="T110" fmla="*/ 1 w 64"/>
                <a:gd name="T111" fmla="*/ 234 h 23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64"/>
                <a:gd name="T169" fmla="*/ 0 h 234"/>
                <a:gd name="T170" fmla="*/ 64 w 64"/>
                <a:gd name="T171" fmla="*/ 234 h 234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64" h="234">
                  <a:moveTo>
                    <a:pt x="64" y="0"/>
                  </a:moveTo>
                  <a:lnTo>
                    <a:pt x="58" y="0"/>
                  </a:lnTo>
                  <a:lnTo>
                    <a:pt x="52" y="0"/>
                  </a:lnTo>
                  <a:lnTo>
                    <a:pt x="47" y="1"/>
                  </a:lnTo>
                  <a:lnTo>
                    <a:pt x="41" y="2"/>
                  </a:lnTo>
                  <a:lnTo>
                    <a:pt x="30" y="4"/>
                  </a:lnTo>
                  <a:lnTo>
                    <a:pt x="20" y="8"/>
                  </a:lnTo>
                  <a:lnTo>
                    <a:pt x="13" y="13"/>
                  </a:lnTo>
                  <a:lnTo>
                    <a:pt x="9" y="15"/>
                  </a:lnTo>
                  <a:lnTo>
                    <a:pt x="7" y="17"/>
                  </a:lnTo>
                  <a:lnTo>
                    <a:pt x="3" y="20"/>
                  </a:lnTo>
                  <a:lnTo>
                    <a:pt x="1" y="23"/>
                  </a:lnTo>
                  <a:lnTo>
                    <a:pt x="1" y="25"/>
                  </a:lnTo>
                  <a:lnTo>
                    <a:pt x="0" y="28"/>
                  </a:lnTo>
                  <a:lnTo>
                    <a:pt x="1" y="31"/>
                  </a:lnTo>
                  <a:lnTo>
                    <a:pt x="1" y="34"/>
                  </a:lnTo>
                  <a:lnTo>
                    <a:pt x="3" y="37"/>
                  </a:lnTo>
                  <a:lnTo>
                    <a:pt x="5" y="39"/>
                  </a:lnTo>
                  <a:lnTo>
                    <a:pt x="7" y="43"/>
                  </a:lnTo>
                  <a:lnTo>
                    <a:pt x="9" y="45"/>
                  </a:lnTo>
                  <a:lnTo>
                    <a:pt x="13" y="47"/>
                  </a:lnTo>
                  <a:lnTo>
                    <a:pt x="17" y="50"/>
                  </a:lnTo>
                  <a:lnTo>
                    <a:pt x="26" y="53"/>
                  </a:lnTo>
                  <a:lnTo>
                    <a:pt x="35" y="56"/>
                  </a:lnTo>
                  <a:lnTo>
                    <a:pt x="41" y="57"/>
                  </a:lnTo>
                  <a:lnTo>
                    <a:pt x="47" y="58"/>
                  </a:lnTo>
                  <a:lnTo>
                    <a:pt x="52" y="58"/>
                  </a:lnTo>
                  <a:lnTo>
                    <a:pt x="60" y="59"/>
                  </a:lnTo>
                  <a:lnTo>
                    <a:pt x="64" y="59"/>
                  </a:lnTo>
                  <a:lnTo>
                    <a:pt x="58" y="59"/>
                  </a:lnTo>
                  <a:lnTo>
                    <a:pt x="52" y="59"/>
                  </a:lnTo>
                  <a:lnTo>
                    <a:pt x="47" y="60"/>
                  </a:lnTo>
                  <a:lnTo>
                    <a:pt x="41" y="60"/>
                  </a:lnTo>
                  <a:lnTo>
                    <a:pt x="30" y="63"/>
                  </a:lnTo>
                  <a:lnTo>
                    <a:pt x="20" y="66"/>
                  </a:lnTo>
                  <a:lnTo>
                    <a:pt x="13" y="71"/>
                  </a:lnTo>
                  <a:lnTo>
                    <a:pt x="9" y="73"/>
                  </a:lnTo>
                  <a:lnTo>
                    <a:pt x="7" y="76"/>
                  </a:lnTo>
                  <a:lnTo>
                    <a:pt x="3" y="78"/>
                  </a:lnTo>
                  <a:lnTo>
                    <a:pt x="1" y="81"/>
                  </a:lnTo>
                  <a:lnTo>
                    <a:pt x="1" y="84"/>
                  </a:lnTo>
                  <a:lnTo>
                    <a:pt x="0" y="87"/>
                  </a:lnTo>
                  <a:lnTo>
                    <a:pt x="1" y="90"/>
                  </a:lnTo>
                  <a:lnTo>
                    <a:pt x="1" y="92"/>
                  </a:lnTo>
                  <a:lnTo>
                    <a:pt x="3" y="95"/>
                  </a:lnTo>
                  <a:lnTo>
                    <a:pt x="5" y="98"/>
                  </a:lnTo>
                  <a:lnTo>
                    <a:pt x="7" y="101"/>
                  </a:lnTo>
                  <a:lnTo>
                    <a:pt x="9" y="104"/>
                  </a:lnTo>
                  <a:lnTo>
                    <a:pt x="13" y="106"/>
                  </a:lnTo>
                  <a:lnTo>
                    <a:pt x="17" y="108"/>
                  </a:lnTo>
                  <a:lnTo>
                    <a:pt x="26" y="112"/>
                  </a:lnTo>
                  <a:lnTo>
                    <a:pt x="35" y="115"/>
                  </a:lnTo>
                  <a:lnTo>
                    <a:pt x="41" y="116"/>
                  </a:lnTo>
                  <a:lnTo>
                    <a:pt x="47" y="116"/>
                  </a:lnTo>
                  <a:lnTo>
                    <a:pt x="52" y="117"/>
                  </a:lnTo>
                  <a:lnTo>
                    <a:pt x="60" y="117"/>
                  </a:lnTo>
                  <a:lnTo>
                    <a:pt x="64" y="117"/>
                  </a:lnTo>
                  <a:lnTo>
                    <a:pt x="58" y="117"/>
                  </a:lnTo>
                  <a:lnTo>
                    <a:pt x="52" y="118"/>
                  </a:lnTo>
                  <a:lnTo>
                    <a:pt x="47" y="118"/>
                  </a:lnTo>
                  <a:lnTo>
                    <a:pt x="41" y="119"/>
                  </a:lnTo>
                  <a:lnTo>
                    <a:pt x="30" y="121"/>
                  </a:lnTo>
                  <a:lnTo>
                    <a:pt x="20" y="125"/>
                  </a:lnTo>
                  <a:lnTo>
                    <a:pt x="13" y="130"/>
                  </a:lnTo>
                  <a:lnTo>
                    <a:pt x="9" y="132"/>
                  </a:lnTo>
                  <a:lnTo>
                    <a:pt x="7" y="134"/>
                  </a:lnTo>
                  <a:lnTo>
                    <a:pt x="3" y="137"/>
                  </a:lnTo>
                  <a:lnTo>
                    <a:pt x="1" y="140"/>
                  </a:lnTo>
                  <a:lnTo>
                    <a:pt x="1" y="142"/>
                  </a:lnTo>
                  <a:lnTo>
                    <a:pt x="0" y="145"/>
                  </a:lnTo>
                  <a:lnTo>
                    <a:pt x="1" y="148"/>
                  </a:lnTo>
                  <a:lnTo>
                    <a:pt x="1" y="151"/>
                  </a:lnTo>
                  <a:lnTo>
                    <a:pt x="3" y="154"/>
                  </a:lnTo>
                  <a:lnTo>
                    <a:pt x="5" y="156"/>
                  </a:lnTo>
                  <a:lnTo>
                    <a:pt x="7" y="160"/>
                  </a:lnTo>
                  <a:lnTo>
                    <a:pt x="9" y="162"/>
                  </a:lnTo>
                  <a:lnTo>
                    <a:pt x="13" y="165"/>
                  </a:lnTo>
                  <a:lnTo>
                    <a:pt x="17" y="167"/>
                  </a:lnTo>
                  <a:lnTo>
                    <a:pt x="26" y="170"/>
                  </a:lnTo>
                  <a:lnTo>
                    <a:pt x="35" y="173"/>
                  </a:lnTo>
                  <a:lnTo>
                    <a:pt x="41" y="174"/>
                  </a:lnTo>
                  <a:lnTo>
                    <a:pt x="47" y="175"/>
                  </a:lnTo>
                  <a:lnTo>
                    <a:pt x="52" y="175"/>
                  </a:lnTo>
                  <a:lnTo>
                    <a:pt x="60" y="176"/>
                  </a:lnTo>
                  <a:lnTo>
                    <a:pt x="64" y="176"/>
                  </a:lnTo>
                  <a:lnTo>
                    <a:pt x="58" y="176"/>
                  </a:lnTo>
                  <a:lnTo>
                    <a:pt x="52" y="176"/>
                  </a:lnTo>
                  <a:lnTo>
                    <a:pt x="47" y="177"/>
                  </a:lnTo>
                  <a:lnTo>
                    <a:pt x="41" y="178"/>
                  </a:lnTo>
                  <a:lnTo>
                    <a:pt x="30" y="180"/>
                  </a:lnTo>
                  <a:lnTo>
                    <a:pt x="20" y="183"/>
                  </a:lnTo>
                  <a:lnTo>
                    <a:pt x="13" y="188"/>
                  </a:lnTo>
                  <a:lnTo>
                    <a:pt x="9" y="191"/>
                  </a:lnTo>
                  <a:lnTo>
                    <a:pt x="7" y="193"/>
                  </a:lnTo>
                  <a:lnTo>
                    <a:pt x="3" y="196"/>
                  </a:lnTo>
                  <a:lnTo>
                    <a:pt x="1" y="198"/>
                  </a:lnTo>
                  <a:lnTo>
                    <a:pt x="1" y="201"/>
                  </a:lnTo>
                  <a:lnTo>
                    <a:pt x="0" y="204"/>
                  </a:lnTo>
                  <a:lnTo>
                    <a:pt x="1" y="207"/>
                  </a:lnTo>
                  <a:lnTo>
                    <a:pt x="1" y="210"/>
                  </a:lnTo>
                  <a:lnTo>
                    <a:pt x="3" y="212"/>
                  </a:lnTo>
                  <a:lnTo>
                    <a:pt x="5" y="216"/>
                  </a:lnTo>
                  <a:lnTo>
                    <a:pt x="7" y="218"/>
                  </a:lnTo>
                  <a:lnTo>
                    <a:pt x="9" y="221"/>
                  </a:lnTo>
                  <a:lnTo>
                    <a:pt x="13" y="223"/>
                  </a:lnTo>
                  <a:lnTo>
                    <a:pt x="17" y="225"/>
                  </a:lnTo>
                  <a:lnTo>
                    <a:pt x="26" y="229"/>
                  </a:lnTo>
                  <a:lnTo>
                    <a:pt x="35" y="232"/>
                  </a:lnTo>
                  <a:lnTo>
                    <a:pt x="41" y="233"/>
                  </a:lnTo>
                  <a:lnTo>
                    <a:pt x="47" y="233"/>
                  </a:lnTo>
                  <a:lnTo>
                    <a:pt x="52" y="234"/>
                  </a:lnTo>
                  <a:lnTo>
                    <a:pt x="60" y="234"/>
                  </a:lnTo>
                  <a:lnTo>
                    <a:pt x="64" y="2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4" name="Line 302"/>
            <p:cNvSpPr>
              <a:spLocks noChangeShapeType="1"/>
            </p:cNvSpPr>
            <p:nvPr/>
          </p:nvSpPr>
          <p:spPr bwMode="auto">
            <a:xfrm>
              <a:off x="4295" y="1393"/>
              <a:ext cx="1" cy="22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5" name="Line 303"/>
            <p:cNvSpPr>
              <a:spLocks noChangeShapeType="1"/>
            </p:cNvSpPr>
            <p:nvPr/>
          </p:nvSpPr>
          <p:spPr bwMode="auto">
            <a:xfrm flipV="1">
              <a:off x="4307" y="1393"/>
              <a:ext cx="1" cy="22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6" name="Freeform 304"/>
            <p:cNvSpPr>
              <a:spLocks/>
            </p:cNvSpPr>
            <p:nvPr/>
          </p:nvSpPr>
          <p:spPr bwMode="auto">
            <a:xfrm>
              <a:off x="4224" y="1582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1 w 60"/>
                <a:gd name="T3" fmla="*/ 12 h 33"/>
                <a:gd name="T4" fmla="*/ 1 w 60"/>
                <a:gd name="T5" fmla="*/ 9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9 h 33"/>
                <a:gd name="T30" fmla="*/ 1 w 60"/>
                <a:gd name="T31" fmla="*/ 12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3 h 33"/>
                <a:gd name="T40" fmla="*/ 1 w 60"/>
                <a:gd name="T41" fmla="*/ 26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6 h 33"/>
                <a:gd name="T62" fmla="*/ 1 w 60"/>
                <a:gd name="T63" fmla="*/ 23 h 33"/>
                <a:gd name="T64" fmla="*/ 1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2" y="12"/>
                  </a:lnTo>
                  <a:lnTo>
                    <a:pt x="3" y="9"/>
                  </a:lnTo>
                  <a:lnTo>
                    <a:pt x="5" y="7"/>
                  </a:lnTo>
                  <a:lnTo>
                    <a:pt x="9" y="4"/>
                  </a:lnTo>
                  <a:lnTo>
                    <a:pt x="15" y="2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7" y="0"/>
                  </a:lnTo>
                  <a:lnTo>
                    <a:pt x="43" y="1"/>
                  </a:lnTo>
                  <a:lnTo>
                    <a:pt x="47" y="2"/>
                  </a:lnTo>
                  <a:lnTo>
                    <a:pt x="53" y="4"/>
                  </a:lnTo>
                  <a:lnTo>
                    <a:pt x="56" y="7"/>
                  </a:lnTo>
                  <a:lnTo>
                    <a:pt x="58" y="9"/>
                  </a:lnTo>
                  <a:lnTo>
                    <a:pt x="60" y="12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3"/>
                  </a:lnTo>
                  <a:lnTo>
                    <a:pt x="56" y="26"/>
                  </a:lnTo>
                  <a:lnTo>
                    <a:pt x="53" y="28"/>
                  </a:lnTo>
                  <a:lnTo>
                    <a:pt x="47" y="30"/>
                  </a:lnTo>
                  <a:lnTo>
                    <a:pt x="43" y="31"/>
                  </a:lnTo>
                  <a:lnTo>
                    <a:pt x="37" y="32"/>
                  </a:lnTo>
                  <a:lnTo>
                    <a:pt x="30" y="33"/>
                  </a:lnTo>
                  <a:lnTo>
                    <a:pt x="24" y="32"/>
                  </a:lnTo>
                  <a:lnTo>
                    <a:pt x="19" y="31"/>
                  </a:lnTo>
                  <a:lnTo>
                    <a:pt x="15" y="30"/>
                  </a:lnTo>
                  <a:lnTo>
                    <a:pt x="9" y="28"/>
                  </a:lnTo>
                  <a:lnTo>
                    <a:pt x="5" y="26"/>
                  </a:lnTo>
                  <a:lnTo>
                    <a:pt x="3" y="23"/>
                  </a:lnTo>
                  <a:lnTo>
                    <a:pt x="2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" name="Freeform 305"/>
            <p:cNvSpPr>
              <a:spLocks/>
            </p:cNvSpPr>
            <p:nvPr/>
          </p:nvSpPr>
          <p:spPr bwMode="auto">
            <a:xfrm>
              <a:off x="4352" y="1394"/>
              <a:ext cx="30" cy="34"/>
            </a:xfrm>
            <a:custGeom>
              <a:avLst/>
              <a:gdLst>
                <a:gd name="T0" fmla="*/ 0 w 61"/>
                <a:gd name="T1" fmla="*/ 17 h 34"/>
                <a:gd name="T2" fmla="*/ 0 w 61"/>
                <a:gd name="T3" fmla="*/ 14 h 34"/>
                <a:gd name="T4" fmla="*/ 0 w 61"/>
                <a:gd name="T5" fmla="*/ 11 h 34"/>
                <a:gd name="T6" fmla="*/ 0 w 61"/>
                <a:gd name="T7" fmla="*/ 8 h 34"/>
                <a:gd name="T8" fmla="*/ 0 w 61"/>
                <a:gd name="T9" fmla="*/ 5 h 34"/>
                <a:gd name="T10" fmla="*/ 0 w 61"/>
                <a:gd name="T11" fmla="*/ 2 h 34"/>
                <a:gd name="T12" fmla="*/ 0 w 61"/>
                <a:gd name="T13" fmla="*/ 1 h 34"/>
                <a:gd name="T14" fmla="*/ 0 w 61"/>
                <a:gd name="T15" fmla="*/ 0 h 34"/>
                <a:gd name="T16" fmla="*/ 0 w 61"/>
                <a:gd name="T17" fmla="*/ 0 h 34"/>
                <a:gd name="T18" fmla="*/ 0 w 61"/>
                <a:gd name="T19" fmla="*/ 0 h 34"/>
                <a:gd name="T20" fmla="*/ 0 w 61"/>
                <a:gd name="T21" fmla="*/ 1 h 34"/>
                <a:gd name="T22" fmla="*/ 0 w 61"/>
                <a:gd name="T23" fmla="*/ 2 h 34"/>
                <a:gd name="T24" fmla="*/ 0 w 61"/>
                <a:gd name="T25" fmla="*/ 5 h 34"/>
                <a:gd name="T26" fmla="*/ 0 w 61"/>
                <a:gd name="T27" fmla="*/ 8 h 34"/>
                <a:gd name="T28" fmla="*/ 0 w 61"/>
                <a:gd name="T29" fmla="*/ 11 h 34"/>
                <a:gd name="T30" fmla="*/ 0 w 61"/>
                <a:gd name="T31" fmla="*/ 14 h 34"/>
                <a:gd name="T32" fmla="*/ 0 w 61"/>
                <a:gd name="T33" fmla="*/ 17 h 34"/>
                <a:gd name="T34" fmla="*/ 0 w 61"/>
                <a:gd name="T35" fmla="*/ 17 h 34"/>
                <a:gd name="T36" fmla="*/ 0 w 61"/>
                <a:gd name="T37" fmla="*/ 20 h 34"/>
                <a:gd name="T38" fmla="*/ 0 w 61"/>
                <a:gd name="T39" fmla="*/ 23 h 34"/>
                <a:gd name="T40" fmla="*/ 0 w 61"/>
                <a:gd name="T41" fmla="*/ 26 h 34"/>
                <a:gd name="T42" fmla="*/ 0 w 61"/>
                <a:gd name="T43" fmla="*/ 28 h 34"/>
                <a:gd name="T44" fmla="*/ 0 w 61"/>
                <a:gd name="T45" fmla="*/ 30 h 34"/>
                <a:gd name="T46" fmla="*/ 0 w 61"/>
                <a:gd name="T47" fmla="*/ 31 h 34"/>
                <a:gd name="T48" fmla="*/ 0 w 61"/>
                <a:gd name="T49" fmla="*/ 32 h 34"/>
                <a:gd name="T50" fmla="*/ 0 w 61"/>
                <a:gd name="T51" fmla="*/ 34 h 34"/>
                <a:gd name="T52" fmla="*/ 0 w 61"/>
                <a:gd name="T53" fmla="*/ 32 h 34"/>
                <a:gd name="T54" fmla="*/ 0 w 61"/>
                <a:gd name="T55" fmla="*/ 31 h 34"/>
                <a:gd name="T56" fmla="*/ 0 w 61"/>
                <a:gd name="T57" fmla="*/ 30 h 34"/>
                <a:gd name="T58" fmla="*/ 0 w 61"/>
                <a:gd name="T59" fmla="*/ 28 h 34"/>
                <a:gd name="T60" fmla="*/ 0 w 61"/>
                <a:gd name="T61" fmla="*/ 26 h 34"/>
                <a:gd name="T62" fmla="*/ 0 w 61"/>
                <a:gd name="T63" fmla="*/ 23 h 34"/>
                <a:gd name="T64" fmla="*/ 0 w 61"/>
                <a:gd name="T65" fmla="*/ 20 h 34"/>
                <a:gd name="T66" fmla="*/ 0 w 61"/>
                <a:gd name="T67" fmla="*/ 17 h 3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1"/>
                <a:gd name="T103" fmla="*/ 0 h 34"/>
                <a:gd name="T104" fmla="*/ 61 w 61"/>
                <a:gd name="T105" fmla="*/ 34 h 3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1" h="34">
                  <a:moveTo>
                    <a:pt x="0" y="17"/>
                  </a:moveTo>
                  <a:lnTo>
                    <a:pt x="0" y="14"/>
                  </a:lnTo>
                  <a:lnTo>
                    <a:pt x="2" y="11"/>
                  </a:lnTo>
                  <a:lnTo>
                    <a:pt x="6" y="8"/>
                  </a:lnTo>
                  <a:lnTo>
                    <a:pt x="10" y="5"/>
                  </a:lnTo>
                  <a:lnTo>
                    <a:pt x="13" y="2"/>
                  </a:lnTo>
                  <a:lnTo>
                    <a:pt x="19" y="1"/>
                  </a:lnTo>
                  <a:lnTo>
                    <a:pt x="25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2" y="1"/>
                  </a:lnTo>
                  <a:lnTo>
                    <a:pt x="47" y="2"/>
                  </a:lnTo>
                  <a:lnTo>
                    <a:pt x="51" y="5"/>
                  </a:lnTo>
                  <a:lnTo>
                    <a:pt x="55" y="8"/>
                  </a:lnTo>
                  <a:lnTo>
                    <a:pt x="59" y="11"/>
                  </a:lnTo>
                  <a:lnTo>
                    <a:pt x="61" y="14"/>
                  </a:lnTo>
                  <a:lnTo>
                    <a:pt x="61" y="17"/>
                  </a:lnTo>
                  <a:lnTo>
                    <a:pt x="61" y="20"/>
                  </a:lnTo>
                  <a:lnTo>
                    <a:pt x="59" y="23"/>
                  </a:lnTo>
                  <a:lnTo>
                    <a:pt x="55" y="26"/>
                  </a:lnTo>
                  <a:lnTo>
                    <a:pt x="51" y="28"/>
                  </a:lnTo>
                  <a:lnTo>
                    <a:pt x="47" y="30"/>
                  </a:lnTo>
                  <a:lnTo>
                    <a:pt x="42" y="31"/>
                  </a:lnTo>
                  <a:lnTo>
                    <a:pt x="36" y="32"/>
                  </a:lnTo>
                  <a:lnTo>
                    <a:pt x="30" y="34"/>
                  </a:lnTo>
                  <a:lnTo>
                    <a:pt x="25" y="32"/>
                  </a:lnTo>
                  <a:lnTo>
                    <a:pt x="19" y="31"/>
                  </a:lnTo>
                  <a:lnTo>
                    <a:pt x="13" y="30"/>
                  </a:lnTo>
                  <a:lnTo>
                    <a:pt x="10" y="28"/>
                  </a:lnTo>
                  <a:lnTo>
                    <a:pt x="6" y="26"/>
                  </a:lnTo>
                  <a:lnTo>
                    <a:pt x="2" y="23"/>
                  </a:lnTo>
                  <a:lnTo>
                    <a:pt x="0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" name="Freeform 306"/>
            <p:cNvSpPr>
              <a:spLocks/>
            </p:cNvSpPr>
            <p:nvPr/>
          </p:nvSpPr>
          <p:spPr bwMode="auto">
            <a:xfrm>
              <a:off x="3606" y="1153"/>
              <a:ext cx="637" cy="691"/>
            </a:xfrm>
            <a:custGeom>
              <a:avLst/>
              <a:gdLst>
                <a:gd name="T0" fmla="*/ 47 w 1073"/>
                <a:gd name="T1" fmla="*/ 0 h 691"/>
                <a:gd name="T2" fmla="*/ 0 w 1073"/>
                <a:gd name="T3" fmla="*/ 0 h 691"/>
                <a:gd name="T4" fmla="*/ 0 w 1073"/>
                <a:gd name="T5" fmla="*/ 691 h 691"/>
                <a:gd name="T6" fmla="*/ 0 60000 65536"/>
                <a:gd name="T7" fmla="*/ 0 60000 65536"/>
                <a:gd name="T8" fmla="*/ 0 60000 65536"/>
                <a:gd name="T9" fmla="*/ 0 w 1073"/>
                <a:gd name="T10" fmla="*/ 0 h 691"/>
                <a:gd name="T11" fmla="*/ 1073 w 1073"/>
                <a:gd name="T12" fmla="*/ 691 h 6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73" h="691">
                  <a:moveTo>
                    <a:pt x="1073" y="0"/>
                  </a:moveTo>
                  <a:lnTo>
                    <a:pt x="0" y="0"/>
                  </a:lnTo>
                  <a:lnTo>
                    <a:pt x="0" y="69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" name="Line 307"/>
            <p:cNvSpPr>
              <a:spLocks noChangeShapeType="1"/>
            </p:cNvSpPr>
            <p:nvPr/>
          </p:nvSpPr>
          <p:spPr bwMode="auto">
            <a:xfrm flipH="1">
              <a:off x="3615" y="1715"/>
              <a:ext cx="14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" name="Line 308"/>
            <p:cNvSpPr>
              <a:spLocks noChangeShapeType="1"/>
            </p:cNvSpPr>
            <p:nvPr/>
          </p:nvSpPr>
          <p:spPr bwMode="auto">
            <a:xfrm flipH="1">
              <a:off x="3983" y="1621"/>
              <a:ext cx="25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" name="Line 309"/>
            <p:cNvSpPr>
              <a:spLocks noChangeShapeType="1"/>
            </p:cNvSpPr>
            <p:nvPr/>
          </p:nvSpPr>
          <p:spPr bwMode="auto">
            <a:xfrm flipV="1">
              <a:off x="3983" y="1621"/>
              <a:ext cx="1" cy="22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" name="Line 310"/>
            <p:cNvSpPr>
              <a:spLocks noChangeShapeType="1"/>
            </p:cNvSpPr>
            <p:nvPr/>
          </p:nvSpPr>
          <p:spPr bwMode="auto">
            <a:xfrm flipH="1">
              <a:off x="3983" y="1715"/>
              <a:ext cx="17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" name="Freeform 311"/>
            <p:cNvSpPr>
              <a:spLocks/>
            </p:cNvSpPr>
            <p:nvPr/>
          </p:nvSpPr>
          <p:spPr bwMode="auto">
            <a:xfrm>
              <a:off x="3600" y="1694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3 h 33"/>
                <a:gd name="T4" fmla="*/ 1 w 60"/>
                <a:gd name="T5" fmla="*/ 10 h 33"/>
                <a:gd name="T6" fmla="*/ 1 w 60"/>
                <a:gd name="T7" fmla="*/ 7 h 33"/>
                <a:gd name="T8" fmla="*/ 1 w 60"/>
                <a:gd name="T9" fmla="*/ 5 h 33"/>
                <a:gd name="T10" fmla="*/ 1 w 60"/>
                <a:gd name="T11" fmla="*/ 3 h 33"/>
                <a:gd name="T12" fmla="*/ 1 w 60"/>
                <a:gd name="T13" fmla="*/ 1 h 33"/>
                <a:gd name="T14" fmla="*/ 1 w 60"/>
                <a:gd name="T15" fmla="*/ 1 h 33"/>
                <a:gd name="T16" fmla="*/ 1 w 60"/>
                <a:gd name="T17" fmla="*/ 0 h 33"/>
                <a:gd name="T18" fmla="*/ 1 w 60"/>
                <a:gd name="T19" fmla="*/ 1 h 33"/>
                <a:gd name="T20" fmla="*/ 1 w 60"/>
                <a:gd name="T21" fmla="*/ 1 h 33"/>
                <a:gd name="T22" fmla="*/ 1 w 60"/>
                <a:gd name="T23" fmla="*/ 3 h 33"/>
                <a:gd name="T24" fmla="*/ 1 w 60"/>
                <a:gd name="T25" fmla="*/ 5 h 33"/>
                <a:gd name="T26" fmla="*/ 1 w 60"/>
                <a:gd name="T27" fmla="*/ 7 h 33"/>
                <a:gd name="T28" fmla="*/ 1 w 60"/>
                <a:gd name="T29" fmla="*/ 10 h 33"/>
                <a:gd name="T30" fmla="*/ 1 w 60"/>
                <a:gd name="T31" fmla="*/ 13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2 h 33"/>
                <a:gd name="T40" fmla="*/ 1 w 60"/>
                <a:gd name="T41" fmla="*/ 26 h 33"/>
                <a:gd name="T42" fmla="*/ 1 w 60"/>
                <a:gd name="T43" fmla="*/ 29 h 33"/>
                <a:gd name="T44" fmla="*/ 1 w 60"/>
                <a:gd name="T45" fmla="*/ 30 h 33"/>
                <a:gd name="T46" fmla="*/ 1 w 60"/>
                <a:gd name="T47" fmla="*/ 32 h 33"/>
                <a:gd name="T48" fmla="*/ 1 w 60"/>
                <a:gd name="T49" fmla="*/ 33 h 33"/>
                <a:gd name="T50" fmla="*/ 1 w 60"/>
                <a:gd name="T51" fmla="*/ 33 h 33"/>
                <a:gd name="T52" fmla="*/ 1 w 60"/>
                <a:gd name="T53" fmla="*/ 33 h 33"/>
                <a:gd name="T54" fmla="*/ 1 w 60"/>
                <a:gd name="T55" fmla="*/ 32 h 33"/>
                <a:gd name="T56" fmla="*/ 1 w 60"/>
                <a:gd name="T57" fmla="*/ 30 h 33"/>
                <a:gd name="T58" fmla="*/ 1 w 60"/>
                <a:gd name="T59" fmla="*/ 29 h 33"/>
                <a:gd name="T60" fmla="*/ 1 w 60"/>
                <a:gd name="T61" fmla="*/ 26 h 33"/>
                <a:gd name="T62" fmla="*/ 1 w 60"/>
                <a:gd name="T63" fmla="*/ 22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3"/>
                  </a:lnTo>
                  <a:lnTo>
                    <a:pt x="2" y="10"/>
                  </a:lnTo>
                  <a:lnTo>
                    <a:pt x="6" y="7"/>
                  </a:lnTo>
                  <a:lnTo>
                    <a:pt x="9" y="5"/>
                  </a:lnTo>
                  <a:lnTo>
                    <a:pt x="13" y="3"/>
                  </a:lnTo>
                  <a:lnTo>
                    <a:pt x="19" y="1"/>
                  </a:lnTo>
                  <a:lnTo>
                    <a:pt x="25" y="1"/>
                  </a:lnTo>
                  <a:lnTo>
                    <a:pt x="30" y="0"/>
                  </a:lnTo>
                  <a:lnTo>
                    <a:pt x="36" y="1"/>
                  </a:lnTo>
                  <a:lnTo>
                    <a:pt x="42" y="1"/>
                  </a:lnTo>
                  <a:lnTo>
                    <a:pt x="47" y="3"/>
                  </a:lnTo>
                  <a:lnTo>
                    <a:pt x="51" y="5"/>
                  </a:lnTo>
                  <a:lnTo>
                    <a:pt x="55" y="7"/>
                  </a:lnTo>
                  <a:lnTo>
                    <a:pt x="58" y="10"/>
                  </a:lnTo>
                  <a:lnTo>
                    <a:pt x="60" y="13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2"/>
                  </a:lnTo>
                  <a:lnTo>
                    <a:pt x="55" y="26"/>
                  </a:lnTo>
                  <a:lnTo>
                    <a:pt x="51" y="29"/>
                  </a:lnTo>
                  <a:lnTo>
                    <a:pt x="47" y="30"/>
                  </a:lnTo>
                  <a:lnTo>
                    <a:pt x="42" y="32"/>
                  </a:lnTo>
                  <a:lnTo>
                    <a:pt x="36" y="33"/>
                  </a:lnTo>
                  <a:lnTo>
                    <a:pt x="30" y="33"/>
                  </a:lnTo>
                  <a:lnTo>
                    <a:pt x="25" y="33"/>
                  </a:lnTo>
                  <a:lnTo>
                    <a:pt x="19" y="32"/>
                  </a:lnTo>
                  <a:lnTo>
                    <a:pt x="13" y="30"/>
                  </a:lnTo>
                  <a:lnTo>
                    <a:pt x="9" y="29"/>
                  </a:lnTo>
                  <a:lnTo>
                    <a:pt x="6" y="26"/>
                  </a:lnTo>
                  <a:lnTo>
                    <a:pt x="2" y="22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" name="Freeform 312"/>
            <p:cNvSpPr>
              <a:spLocks/>
            </p:cNvSpPr>
            <p:nvPr/>
          </p:nvSpPr>
          <p:spPr bwMode="auto">
            <a:xfrm>
              <a:off x="3968" y="1699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3 h 33"/>
                <a:gd name="T4" fmla="*/ 1 w 60"/>
                <a:gd name="T5" fmla="*/ 10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10 h 33"/>
                <a:gd name="T30" fmla="*/ 1 w 60"/>
                <a:gd name="T31" fmla="*/ 13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3 h 33"/>
                <a:gd name="T40" fmla="*/ 1 w 60"/>
                <a:gd name="T41" fmla="*/ 26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6 h 33"/>
                <a:gd name="T62" fmla="*/ 1 w 60"/>
                <a:gd name="T63" fmla="*/ 23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3"/>
                  </a:lnTo>
                  <a:lnTo>
                    <a:pt x="1" y="10"/>
                  </a:lnTo>
                  <a:lnTo>
                    <a:pt x="5" y="7"/>
                  </a:lnTo>
                  <a:lnTo>
                    <a:pt x="9" y="4"/>
                  </a:lnTo>
                  <a:lnTo>
                    <a:pt x="13" y="2"/>
                  </a:lnTo>
                  <a:lnTo>
                    <a:pt x="18" y="1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5" y="0"/>
                  </a:lnTo>
                  <a:lnTo>
                    <a:pt x="41" y="1"/>
                  </a:lnTo>
                  <a:lnTo>
                    <a:pt x="47" y="2"/>
                  </a:lnTo>
                  <a:lnTo>
                    <a:pt x="50" y="4"/>
                  </a:lnTo>
                  <a:lnTo>
                    <a:pt x="54" y="7"/>
                  </a:lnTo>
                  <a:lnTo>
                    <a:pt x="58" y="10"/>
                  </a:lnTo>
                  <a:lnTo>
                    <a:pt x="60" y="13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3"/>
                  </a:lnTo>
                  <a:lnTo>
                    <a:pt x="54" y="26"/>
                  </a:lnTo>
                  <a:lnTo>
                    <a:pt x="50" y="28"/>
                  </a:lnTo>
                  <a:lnTo>
                    <a:pt x="47" y="30"/>
                  </a:lnTo>
                  <a:lnTo>
                    <a:pt x="41" y="31"/>
                  </a:lnTo>
                  <a:lnTo>
                    <a:pt x="35" y="32"/>
                  </a:lnTo>
                  <a:lnTo>
                    <a:pt x="30" y="33"/>
                  </a:lnTo>
                  <a:lnTo>
                    <a:pt x="24" y="32"/>
                  </a:lnTo>
                  <a:lnTo>
                    <a:pt x="18" y="31"/>
                  </a:lnTo>
                  <a:lnTo>
                    <a:pt x="13" y="30"/>
                  </a:lnTo>
                  <a:lnTo>
                    <a:pt x="9" y="28"/>
                  </a:lnTo>
                  <a:lnTo>
                    <a:pt x="5" y="26"/>
                  </a:lnTo>
                  <a:lnTo>
                    <a:pt x="1" y="23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" name="Freeform 313"/>
            <p:cNvSpPr>
              <a:spLocks/>
            </p:cNvSpPr>
            <p:nvPr/>
          </p:nvSpPr>
          <p:spPr bwMode="auto">
            <a:xfrm>
              <a:off x="3600" y="2074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2 h 33"/>
                <a:gd name="T4" fmla="*/ 1 w 60"/>
                <a:gd name="T5" fmla="*/ 9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9 h 33"/>
                <a:gd name="T30" fmla="*/ 1 w 60"/>
                <a:gd name="T31" fmla="*/ 12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2 h 33"/>
                <a:gd name="T40" fmla="*/ 1 w 60"/>
                <a:gd name="T41" fmla="*/ 26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6 h 33"/>
                <a:gd name="T62" fmla="*/ 1 w 60"/>
                <a:gd name="T63" fmla="*/ 22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2"/>
                  </a:lnTo>
                  <a:lnTo>
                    <a:pt x="2" y="9"/>
                  </a:lnTo>
                  <a:lnTo>
                    <a:pt x="6" y="7"/>
                  </a:lnTo>
                  <a:lnTo>
                    <a:pt x="9" y="4"/>
                  </a:lnTo>
                  <a:lnTo>
                    <a:pt x="13" y="2"/>
                  </a:lnTo>
                  <a:lnTo>
                    <a:pt x="19" y="1"/>
                  </a:lnTo>
                  <a:lnTo>
                    <a:pt x="25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2" y="1"/>
                  </a:lnTo>
                  <a:lnTo>
                    <a:pt x="47" y="2"/>
                  </a:lnTo>
                  <a:lnTo>
                    <a:pt x="51" y="4"/>
                  </a:lnTo>
                  <a:lnTo>
                    <a:pt x="55" y="7"/>
                  </a:lnTo>
                  <a:lnTo>
                    <a:pt x="58" y="9"/>
                  </a:lnTo>
                  <a:lnTo>
                    <a:pt x="60" y="12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2"/>
                  </a:lnTo>
                  <a:lnTo>
                    <a:pt x="55" y="26"/>
                  </a:lnTo>
                  <a:lnTo>
                    <a:pt x="51" y="28"/>
                  </a:lnTo>
                  <a:lnTo>
                    <a:pt x="47" y="30"/>
                  </a:lnTo>
                  <a:lnTo>
                    <a:pt x="42" y="31"/>
                  </a:lnTo>
                  <a:lnTo>
                    <a:pt x="36" y="32"/>
                  </a:lnTo>
                  <a:lnTo>
                    <a:pt x="30" y="33"/>
                  </a:lnTo>
                  <a:lnTo>
                    <a:pt x="25" y="32"/>
                  </a:lnTo>
                  <a:lnTo>
                    <a:pt x="19" y="31"/>
                  </a:lnTo>
                  <a:lnTo>
                    <a:pt x="13" y="30"/>
                  </a:lnTo>
                  <a:lnTo>
                    <a:pt x="9" y="28"/>
                  </a:lnTo>
                  <a:lnTo>
                    <a:pt x="6" y="26"/>
                  </a:lnTo>
                  <a:lnTo>
                    <a:pt x="2" y="22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" name="Freeform 314"/>
            <p:cNvSpPr>
              <a:spLocks/>
            </p:cNvSpPr>
            <p:nvPr/>
          </p:nvSpPr>
          <p:spPr bwMode="auto">
            <a:xfrm>
              <a:off x="3749" y="2069"/>
              <a:ext cx="30" cy="34"/>
            </a:xfrm>
            <a:custGeom>
              <a:avLst/>
              <a:gdLst>
                <a:gd name="T0" fmla="*/ 0 w 60"/>
                <a:gd name="T1" fmla="*/ 17 h 34"/>
                <a:gd name="T2" fmla="*/ 1 w 60"/>
                <a:gd name="T3" fmla="*/ 14 h 34"/>
                <a:gd name="T4" fmla="*/ 1 w 60"/>
                <a:gd name="T5" fmla="*/ 11 h 34"/>
                <a:gd name="T6" fmla="*/ 1 w 60"/>
                <a:gd name="T7" fmla="*/ 8 h 34"/>
                <a:gd name="T8" fmla="*/ 1 w 60"/>
                <a:gd name="T9" fmla="*/ 6 h 34"/>
                <a:gd name="T10" fmla="*/ 1 w 60"/>
                <a:gd name="T11" fmla="*/ 4 h 34"/>
                <a:gd name="T12" fmla="*/ 1 w 60"/>
                <a:gd name="T13" fmla="*/ 2 h 34"/>
                <a:gd name="T14" fmla="*/ 1 w 60"/>
                <a:gd name="T15" fmla="*/ 0 h 34"/>
                <a:gd name="T16" fmla="*/ 1 w 60"/>
                <a:gd name="T17" fmla="*/ 0 h 34"/>
                <a:gd name="T18" fmla="*/ 1 w 60"/>
                <a:gd name="T19" fmla="*/ 0 h 34"/>
                <a:gd name="T20" fmla="*/ 1 w 60"/>
                <a:gd name="T21" fmla="*/ 2 h 34"/>
                <a:gd name="T22" fmla="*/ 1 w 60"/>
                <a:gd name="T23" fmla="*/ 4 h 34"/>
                <a:gd name="T24" fmla="*/ 1 w 60"/>
                <a:gd name="T25" fmla="*/ 6 h 34"/>
                <a:gd name="T26" fmla="*/ 1 w 60"/>
                <a:gd name="T27" fmla="*/ 8 h 34"/>
                <a:gd name="T28" fmla="*/ 1 w 60"/>
                <a:gd name="T29" fmla="*/ 11 h 34"/>
                <a:gd name="T30" fmla="*/ 1 w 60"/>
                <a:gd name="T31" fmla="*/ 14 h 34"/>
                <a:gd name="T32" fmla="*/ 1 w 60"/>
                <a:gd name="T33" fmla="*/ 17 h 34"/>
                <a:gd name="T34" fmla="*/ 1 w 60"/>
                <a:gd name="T35" fmla="*/ 17 h 34"/>
                <a:gd name="T36" fmla="*/ 1 w 60"/>
                <a:gd name="T37" fmla="*/ 20 h 34"/>
                <a:gd name="T38" fmla="*/ 1 w 60"/>
                <a:gd name="T39" fmla="*/ 23 h 34"/>
                <a:gd name="T40" fmla="*/ 1 w 60"/>
                <a:gd name="T41" fmla="*/ 26 h 34"/>
                <a:gd name="T42" fmla="*/ 1 w 60"/>
                <a:gd name="T43" fmla="*/ 28 h 34"/>
                <a:gd name="T44" fmla="*/ 1 w 60"/>
                <a:gd name="T45" fmla="*/ 31 h 34"/>
                <a:gd name="T46" fmla="*/ 1 w 60"/>
                <a:gd name="T47" fmla="*/ 33 h 34"/>
                <a:gd name="T48" fmla="*/ 1 w 60"/>
                <a:gd name="T49" fmla="*/ 34 h 34"/>
                <a:gd name="T50" fmla="*/ 1 w 60"/>
                <a:gd name="T51" fmla="*/ 34 h 34"/>
                <a:gd name="T52" fmla="*/ 1 w 60"/>
                <a:gd name="T53" fmla="*/ 34 h 34"/>
                <a:gd name="T54" fmla="*/ 1 w 60"/>
                <a:gd name="T55" fmla="*/ 33 h 34"/>
                <a:gd name="T56" fmla="*/ 1 w 60"/>
                <a:gd name="T57" fmla="*/ 31 h 34"/>
                <a:gd name="T58" fmla="*/ 1 w 60"/>
                <a:gd name="T59" fmla="*/ 28 h 34"/>
                <a:gd name="T60" fmla="*/ 1 w 60"/>
                <a:gd name="T61" fmla="*/ 26 h 34"/>
                <a:gd name="T62" fmla="*/ 1 w 60"/>
                <a:gd name="T63" fmla="*/ 23 h 34"/>
                <a:gd name="T64" fmla="*/ 1 w 60"/>
                <a:gd name="T65" fmla="*/ 20 h 34"/>
                <a:gd name="T66" fmla="*/ 0 w 60"/>
                <a:gd name="T67" fmla="*/ 17 h 3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4"/>
                <a:gd name="T104" fmla="*/ 60 w 60"/>
                <a:gd name="T105" fmla="*/ 34 h 3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4">
                  <a:moveTo>
                    <a:pt x="0" y="17"/>
                  </a:moveTo>
                  <a:lnTo>
                    <a:pt x="2" y="14"/>
                  </a:lnTo>
                  <a:lnTo>
                    <a:pt x="4" y="11"/>
                  </a:lnTo>
                  <a:lnTo>
                    <a:pt x="6" y="8"/>
                  </a:lnTo>
                  <a:lnTo>
                    <a:pt x="9" y="6"/>
                  </a:lnTo>
                  <a:lnTo>
                    <a:pt x="13" y="4"/>
                  </a:lnTo>
                  <a:lnTo>
                    <a:pt x="19" y="2"/>
                  </a:lnTo>
                  <a:lnTo>
                    <a:pt x="25" y="0"/>
                  </a:lnTo>
                  <a:lnTo>
                    <a:pt x="30" y="0"/>
                  </a:lnTo>
                  <a:lnTo>
                    <a:pt x="38" y="0"/>
                  </a:lnTo>
                  <a:lnTo>
                    <a:pt x="43" y="2"/>
                  </a:lnTo>
                  <a:lnTo>
                    <a:pt x="47" y="4"/>
                  </a:lnTo>
                  <a:lnTo>
                    <a:pt x="53" y="6"/>
                  </a:lnTo>
                  <a:lnTo>
                    <a:pt x="57" y="8"/>
                  </a:lnTo>
                  <a:lnTo>
                    <a:pt x="59" y="11"/>
                  </a:lnTo>
                  <a:lnTo>
                    <a:pt x="60" y="14"/>
                  </a:lnTo>
                  <a:lnTo>
                    <a:pt x="60" y="17"/>
                  </a:lnTo>
                  <a:lnTo>
                    <a:pt x="60" y="20"/>
                  </a:lnTo>
                  <a:lnTo>
                    <a:pt x="59" y="23"/>
                  </a:lnTo>
                  <a:lnTo>
                    <a:pt x="57" y="26"/>
                  </a:lnTo>
                  <a:lnTo>
                    <a:pt x="53" y="28"/>
                  </a:lnTo>
                  <a:lnTo>
                    <a:pt x="47" y="31"/>
                  </a:lnTo>
                  <a:lnTo>
                    <a:pt x="43" y="33"/>
                  </a:lnTo>
                  <a:lnTo>
                    <a:pt x="38" y="34"/>
                  </a:lnTo>
                  <a:lnTo>
                    <a:pt x="30" y="34"/>
                  </a:lnTo>
                  <a:lnTo>
                    <a:pt x="25" y="34"/>
                  </a:lnTo>
                  <a:lnTo>
                    <a:pt x="19" y="33"/>
                  </a:lnTo>
                  <a:lnTo>
                    <a:pt x="13" y="31"/>
                  </a:lnTo>
                  <a:lnTo>
                    <a:pt x="9" y="28"/>
                  </a:lnTo>
                  <a:lnTo>
                    <a:pt x="6" y="26"/>
                  </a:lnTo>
                  <a:lnTo>
                    <a:pt x="4" y="23"/>
                  </a:lnTo>
                  <a:lnTo>
                    <a:pt x="2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" name="Freeform 315"/>
            <p:cNvSpPr>
              <a:spLocks/>
            </p:cNvSpPr>
            <p:nvPr/>
          </p:nvSpPr>
          <p:spPr bwMode="auto">
            <a:xfrm>
              <a:off x="3968" y="2074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2 h 33"/>
                <a:gd name="T4" fmla="*/ 1 w 60"/>
                <a:gd name="T5" fmla="*/ 9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9 h 33"/>
                <a:gd name="T30" fmla="*/ 1 w 60"/>
                <a:gd name="T31" fmla="*/ 12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2 h 33"/>
                <a:gd name="T40" fmla="*/ 1 w 60"/>
                <a:gd name="T41" fmla="*/ 26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6 h 33"/>
                <a:gd name="T62" fmla="*/ 1 w 60"/>
                <a:gd name="T63" fmla="*/ 22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2"/>
                  </a:lnTo>
                  <a:lnTo>
                    <a:pt x="1" y="9"/>
                  </a:lnTo>
                  <a:lnTo>
                    <a:pt x="5" y="7"/>
                  </a:lnTo>
                  <a:lnTo>
                    <a:pt x="9" y="4"/>
                  </a:lnTo>
                  <a:lnTo>
                    <a:pt x="13" y="2"/>
                  </a:lnTo>
                  <a:lnTo>
                    <a:pt x="18" y="1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5" y="0"/>
                  </a:lnTo>
                  <a:lnTo>
                    <a:pt x="41" y="1"/>
                  </a:lnTo>
                  <a:lnTo>
                    <a:pt x="47" y="2"/>
                  </a:lnTo>
                  <a:lnTo>
                    <a:pt x="50" y="4"/>
                  </a:lnTo>
                  <a:lnTo>
                    <a:pt x="54" y="7"/>
                  </a:lnTo>
                  <a:lnTo>
                    <a:pt x="58" y="9"/>
                  </a:lnTo>
                  <a:lnTo>
                    <a:pt x="60" y="12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2"/>
                  </a:lnTo>
                  <a:lnTo>
                    <a:pt x="54" y="26"/>
                  </a:lnTo>
                  <a:lnTo>
                    <a:pt x="50" y="28"/>
                  </a:lnTo>
                  <a:lnTo>
                    <a:pt x="47" y="30"/>
                  </a:lnTo>
                  <a:lnTo>
                    <a:pt x="41" y="31"/>
                  </a:lnTo>
                  <a:lnTo>
                    <a:pt x="35" y="32"/>
                  </a:lnTo>
                  <a:lnTo>
                    <a:pt x="30" y="33"/>
                  </a:lnTo>
                  <a:lnTo>
                    <a:pt x="24" y="32"/>
                  </a:lnTo>
                  <a:lnTo>
                    <a:pt x="18" y="31"/>
                  </a:lnTo>
                  <a:lnTo>
                    <a:pt x="13" y="30"/>
                  </a:lnTo>
                  <a:lnTo>
                    <a:pt x="9" y="28"/>
                  </a:lnTo>
                  <a:lnTo>
                    <a:pt x="5" y="26"/>
                  </a:lnTo>
                  <a:lnTo>
                    <a:pt x="1" y="22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" name="Line 316"/>
            <p:cNvSpPr>
              <a:spLocks noChangeShapeType="1"/>
            </p:cNvSpPr>
            <p:nvPr/>
          </p:nvSpPr>
          <p:spPr bwMode="auto">
            <a:xfrm flipH="1" flipV="1">
              <a:off x="4364" y="1621"/>
              <a:ext cx="7" cy="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" name="Line 317"/>
            <p:cNvSpPr>
              <a:spLocks noChangeShapeType="1"/>
            </p:cNvSpPr>
            <p:nvPr/>
          </p:nvSpPr>
          <p:spPr bwMode="auto">
            <a:xfrm flipH="1" flipV="1">
              <a:off x="4706" y="1059"/>
              <a:ext cx="3" cy="6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" name="Line 318"/>
            <p:cNvSpPr>
              <a:spLocks noChangeShapeType="1"/>
            </p:cNvSpPr>
            <p:nvPr/>
          </p:nvSpPr>
          <p:spPr bwMode="auto">
            <a:xfrm>
              <a:off x="4706" y="1059"/>
              <a:ext cx="16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" name="Line 319"/>
            <p:cNvSpPr>
              <a:spLocks noChangeShapeType="1"/>
            </p:cNvSpPr>
            <p:nvPr/>
          </p:nvSpPr>
          <p:spPr bwMode="auto">
            <a:xfrm>
              <a:off x="5353" y="1286"/>
              <a:ext cx="1" cy="5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" name="Freeform 320"/>
            <p:cNvSpPr>
              <a:spLocks/>
            </p:cNvSpPr>
            <p:nvPr/>
          </p:nvSpPr>
          <p:spPr bwMode="auto">
            <a:xfrm>
              <a:off x="4364" y="1387"/>
              <a:ext cx="985" cy="1"/>
            </a:xfrm>
            <a:custGeom>
              <a:avLst/>
              <a:gdLst>
                <a:gd name="T0" fmla="*/ 0 w 1969"/>
                <a:gd name="T1" fmla="*/ 0 h 1"/>
                <a:gd name="T2" fmla="*/ 31 w 1969"/>
                <a:gd name="T3" fmla="*/ 0 h 1"/>
                <a:gd name="T4" fmla="*/ 31 w 1969"/>
                <a:gd name="T5" fmla="*/ 0 h 1"/>
                <a:gd name="T6" fmla="*/ 0 60000 65536"/>
                <a:gd name="T7" fmla="*/ 0 60000 65536"/>
                <a:gd name="T8" fmla="*/ 0 60000 65536"/>
                <a:gd name="T9" fmla="*/ 0 w 1969"/>
                <a:gd name="T10" fmla="*/ 0 h 1"/>
                <a:gd name="T11" fmla="*/ 1969 w 196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9" h="1">
                  <a:moveTo>
                    <a:pt x="0" y="0"/>
                  </a:moveTo>
                  <a:lnTo>
                    <a:pt x="1969" y="0"/>
                  </a:lnTo>
                  <a:lnTo>
                    <a:pt x="195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" name="Line 321"/>
            <p:cNvSpPr>
              <a:spLocks noChangeShapeType="1"/>
            </p:cNvSpPr>
            <p:nvPr/>
          </p:nvSpPr>
          <p:spPr bwMode="auto">
            <a:xfrm>
              <a:off x="5353" y="1341"/>
              <a:ext cx="1" cy="4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4" name="Line 322"/>
            <p:cNvSpPr>
              <a:spLocks noChangeShapeType="1"/>
            </p:cNvSpPr>
            <p:nvPr/>
          </p:nvSpPr>
          <p:spPr bwMode="auto">
            <a:xfrm>
              <a:off x="5182" y="1341"/>
              <a:ext cx="1" cy="4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5" name="Freeform 323"/>
            <p:cNvSpPr>
              <a:spLocks/>
            </p:cNvSpPr>
            <p:nvPr/>
          </p:nvSpPr>
          <p:spPr bwMode="auto">
            <a:xfrm>
              <a:off x="5167" y="1371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3 h 33"/>
                <a:gd name="T4" fmla="*/ 1 w 60"/>
                <a:gd name="T5" fmla="*/ 10 h 33"/>
                <a:gd name="T6" fmla="*/ 1 w 60"/>
                <a:gd name="T7" fmla="*/ 7 h 33"/>
                <a:gd name="T8" fmla="*/ 1 w 60"/>
                <a:gd name="T9" fmla="*/ 5 h 33"/>
                <a:gd name="T10" fmla="*/ 1 w 60"/>
                <a:gd name="T11" fmla="*/ 3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3 h 33"/>
                <a:gd name="T24" fmla="*/ 1 w 60"/>
                <a:gd name="T25" fmla="*/ 5 h 33"/>
                <a:gd name="T26" fmla="*/ 1 w 60"/>
                <a:gd name="T27" fmla="*/ 7 h 33"/>
                <a:gd name="T28" fmla="*/ 1 w 60"/>
                <a:gd name="T29" fmla="*/ 10 h 33"/>
                <a:gd name="T30" fmla="*/ 1 w 60"/>
                <a:gd name="T31" fmla="*/ 13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2 h 33"/>
                <a:gd name="T40" fmla="*/ 1 w 60"/>
                <a:gd name="T41" fmla="*/ 25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2 h 33"/>
                <a:gd name="T48" fmla="*/ 1 w 60"/>
                <a:gd name="T49" fmla="*/ 33 h 33"/>
                <a:gd name="T50" fmla="*/ 1 w 60"/>
                <a:gd name="T51" fmla="*/ 33 h 33"/>
                <a:gd name="T52" fmla="*/ 1 w 60"/>
                <a:gd name="T53" fmla="*/ 33 h 33"/>
                <a:gd name="T54" fmla="*/ 1 w 60"/>
                <a:gd name="T55" fmla="*/ 32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5 h 33"/>
                <a:gd name="T62" fmla="*/ 1 w 60"/>
                <a:gd name="T63" fmla="*/ 22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3"/>
                  </a:lnTo>
                  <a:lnTo>
                    <a:pt x="2" y="10"/>
                  </a:lnTo>
                  <a:lnTo>
                    <a:pt x="4" y="7"/>
                  </a:lnTo>
                  <a:lnTo>
                    <a:pt x="7" y="5"/>
                  </a:lnTo>
                  <a:lnTo>
                    <a:pt x="13" y="3"/>
                  </a:lnTo>
                  <a:lnTo>
                    <a:pt x="17" y="1"/>
                  </a:lnTo>
                  <a:lnTo>
                    <a:pt x="22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5" y="3"/>
                  </a:lnTo>
                  <a:lnTo>
                    <a:pt x="51" y="5"/>
                  </a:lnTo>
                  <a:lnTo>
                    <a:pt x="55" y="7"/>
                  </a:lnTo>
                  <a:lnTo>
                    <a:pt x="56" y="10"/>
                  </a:lnTo>
                  <a:lnTo>
                    <a:pt x="58" y="13"/>
                  </a:lnTo>
                  <a:lnTo>
                    <a:pt x="60" y="16"/>
                  </a:lnTo>
                  <a:lnTo>
                    <a:pt x="58" y="19"/>
                  </a:lnTo>
                  <a:lnTo>
                    <a:pt x="56" y="22"/>
                  </a:lnTo>
                  <a:lnTo>
                    <a:pt x="55" y="25"/>
                  </a:lnTo>
                  <a:lnTo>
                    <a:pt x="51" y="28"/>
                  </a:lnTo>
                  <a:lnTo>
                    <a:pt x="45" y="30"/>
                  </a:lnTo>
                  <a:lnTo>
                    <a:pt x="41" y="32"/>
                  </a:lnTo>
                  <a:lnTo>
                    <a:pt x="36" y="33"/>
                  </a:lnTo>
                  <a:lnTo>
                    <a:pt x="30" y="33"/>
                  </a:lnTo>
                  <a:lnTo>
                    <a:pt x="22" y="33"/>
                  </a:lnTo>
                  <a:lnTo>
                    <a:pt x="17" y="32"/>
                  </a:lnTo>
                  <a:lnTo>
                    <a:pt x="13" y="30"/>
                  </a:lnTo>
                  <a:lnTo>
                    <a:pt x="7" y="28"/>
                  </a:lnTo>
                  <a:lnTo>
                    <a:pt x="4" y="25"/>
                  </a:lnTo>
                  <a:lnTo>
                    <a:pt x="2" y="22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" name="Line 324"/>
            <p:cNvSpPr>
              <a:spLocks noChangeShapeType="1"/>
            </p:cNvSpPr>
            <p:nvPr/>
          </p:nvSpPr>
          <p:spPr bwMode="auto">
            <a:xfrm>
              <a:off x="3379" y="1467"/>
              <a:ext cx="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" name="Line 325"/>
            <p:cNvSpPr>
              <a:spLocks noChangeShapeType="1"/>
            </p:cNvSpPr>
            <p:nvPr/>
          </p:nvSpPr>
          <p:spPr bwMode="auto">
            <a:xfrm>
              <a:off x="3379" y="1512"/>
              <a:ext cx="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" name="Freeform 326"/>
            <p:cNvSpPr>
              <a:spLocks/>
            </p:cNvSpPr>
            <p:nvPr/>
          </p:nvSpPr>
          <p:spPr bwMode="auto">
            <a:xfrm>
              <a:off x="4691" y="1042"/>
              <a:ext cx="30" cy="33"/>
            </a:xfrm>
            <a:custGeom>
              <a:avLst/>
              <a:gdLst>
                <a:gd name="T0" fmla="*/ 0 w 61"/>
                <a:gd name="T1" fmla="*/ 17 h 33"/>
                <a:gd name="T2" fmla="*/ 0 w 61"/>
                <a:gd name="T3" fmla="*/ 14 h 33"/>
                <a:gd name="T4" fmla="*/ 0 w 61"/>
                <a:gd name="T5" fmla="*/ 11 h 33"/>
                <a:gd name="T6" fmla="*/ 0 w 61"/>
                <a:gd name="T7" fmla="*/ 8 h 33"/>
                <a:gd name="T8" fmla="*/ 0 w 61"/>
                <a:gd name="T9" fmla="*/ 5 h 33"/>
                <a:gd name="T10" fmla="*/ 0 w 61"/>
                <a:gd name="T11" fmla="*/ 3 h 33"/>
                <a:gd name="T12" fmla="*/ 0 w 61"/>
                <a:gd name="T13" fmla="*/ 1 h 33"/>
                <a:gd name="T14" fmla="*/ 0 w 61"/>
                <a:gd name="T15" fmla="*/ 0 h 33"/>
                <a:gd name="T16" fmla="*/ 0 w 61"/>
                <a:gd name="T17" fmla="*/ 0 h 33"/>
                <a:gd name="T18" fmla="*/ 0 w 61"/>
                <a:gd name="T19" fmla="*/ 0 h 33"/>
                <a:gd name="T20" fmla="*/ 0 w 61"/>
                <a:gd name="T21" fmla="*/ 1 h 33"/>
                <a:gd name="T22" fmla="*/ 0 w 61"/>
                <a:gd name="T23" fmla="*/ 3 h 33"/>
                <a:gd name="T24" fmla="*/ 0 w 61"/>
                <a:gd name="T25" fmla="*/ 5 h 33"/>
                <a:gd name="T26" fmla="*/ 0 w 61"/>
                <a:gd name="T27" fmla="*/ 8 h 33"/>
                <a:gd name="T28" fmla="*/ 0 w 61"/>
                <a:gd name="T29" fmla="*/ 11 h 33"/>
                <a:gd name="T30" fmla="*/ 0 w 61"/>
                <a:gd name="T31" fmla="*/ 14 h 33"/>
                <a:gd name="T32" fmla="*/ 0 w 61"/>
                <a:gd name="T33" fmla="*/ 17 h 33"/>
                <a:gd name="T34" fmla="*/ 0 w 61"/>
                <a:gd name="T35" fmla="*/ 17 h 33"/>
                <a:gd name="T36" fmla="*/ 0 w 61"/>
                <a:gd name="T37" fmla="*/ 20 h 33"/>
                <a:gd name="T38" fmla="*/ 0 w 61"/>
                <a:gd name="T39" fmla="*/ 23 h 33"/>
                <a:gd name="T40" fmla="*/ 0 w 61"/>
                <a:gd name="T41" fmla="*/ 26 h 33"/>
                <a:gd name="T42" fmla="*/ 0 w 61"/>
                <a:gd name="T43" fmla="*/ 28 h 33"/>
                <a:gd name="T44" fmla="*/ 0 w 61"/>
                <a:gd name="T45" fmla="*/ 30 h 33"/>
                <a:gd name="T46" fmla="*/ 0 w 61"/>
                <a:gd name="T47" fmla="*/ 32 h 33"/>
                <a:gd name="T48" fmla="*/ 0 w 61"/>
                <a:gd name="T49" fmla="*/ 33 h 33"/>
                <a:gd name="T50" fmla="*/ 0 w 61"/>
                <a:gd name="T51" fmla="*/ 33 h 33"/>
                <a:gd name="T52" fmla="*/ 0 w 61"/>
                <a:gd name="T53" fmla="*/ 33 h 33"/>
                <a:gd name="T54" fmla="*/ 0 w 61"/>
                <a:gd name="T55" fmla="*/ 32 h 33"/>
                <a:gd name="T56" fmla="*/ 0 w 61"/>
                <a:gd name="T57" fmla="*/ 30 h 33"/>
                <a:gd name="T58" fmla="*/ 0 w 61"/>
                <a:gd name="T59" fmla="*/ 28 h 33"/>
                <a:gd name="T60" fmla="*/ 0 w 61"/>
                <a:gd name="T61" fmla="*/ 26 h 33"/>
                <a:gd name="T62" fmla="*/ 0 w 61"/>
                <a:gd name="T63" fmla="*/ 23 h 33"/>
                <a:gd name="T64" fmla="*/ 0 w 61"/>
                <a:gd name="T65" fmla="*/ 20 h 33"/>
                <a:gd name="T66" fmla="*/ 0 w 61"/>
                <a:gd name="T67" fmla="*/ 17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1"/>
                <a:gd name="T103" fmla="*/ 0 h 33"/>
                <a:gd name="T104" fmla="*/ 61 w 61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1" h="33">
                  <a:moveTo>
                    <a:pt x="0" y="17"/>
                  </a:moveTo>
                  <a:lnTo>
                    <a:pt x="2" y="14"/>
                  </a:lnTo>
                  <a:lnTo>
                    <a:pt x="4" y="11"/>
                  </a:lnTo>
                  <a:lnTo>
                    <a:pt x="6" y="8"/>
                  </a:lnTo>
                  <a:lnTo>
                    <a:pt x="10" y="5"/>
                  </a:lnTo>
                  <a:lnTo>
                    <a:pt x="14" y="3"/>
                  </a:lnTo>
                  <a:lnTo>
                    <a:pt x="19" y="1"/>
                  </a:lnTo>
                  <a:lnTo>
                    <a:pt x="25" y="0"/>
                  </a:lnTo>
                  <a:lnTo>
                    <a:pt x="31" y="0"/>
                  </a:lnTo>
                  <a:lnTo>
                    <a:pt x="38" y="0"/>
                  </a:lnTo>
                  <a:lnTo>
                    <a:pt x="44" y="1"/>
                  </a:lnTo>
                  <a:lnTo>
                    <a:pt x="48" y="3"/>
                  </a:lnTo>
                  <a:lnTo>
                    <a:pt x="53" y="5"/>
                  </a:lnTo>
                  <a:lnTo>
                    <a:pt x="57" y="8"/>
                  </a:lnTo>
                  <a:lnTo>
                    <a:pt x="59" y="11"/>
                  </a:lnTo>
                  <a:lnTo>
                    <a:pt x="61" y="14"/>
                  </a:lnTo>
                  <a:lnTo>
                    <a:pt x="61" y="17"/>
                  </a:lnTo>
                  <a:lnTo>
                    <a:pt x="61" y="20"/>
                  </a:lnTo>
                  <a:lnTo>
                    <a:pt x="59" y="23"/>
                  </a:lnTo>
                  <a:lnTo>
                    <a:pt x="57" y="26"/>
                  </a:lnTo>
                  <a:lnTo>
                    <a:pt x="53" y="28"/>
                  </a:lnTo>
                  <a:lnTo>
                    <a:pt x="48" y="30"/>
                  </a:lnTo>
                  <a:lnTo>
                    <a:pt x="44" y="32"/>
                  </a:lnTo>
                  <a:lnTo>
                    <a:pt x="38" y="33"/>
                  </a:lnTo>
                  <a:lnTo>
                    <a:pt x="31" y="33"/>
                  </a:lnTo>
                  <a:lnTo>
                    <a:pt x="25" y="33"/>
                  </a:lnTo>
                  <a:lnTo>
                    <a:pt x="19" y="32"/>
                  </a:lnTo>
                  <a:lnTo>
                    <a:pt x="14" y="30"/>
                  </a:lnTo>
                  <a:lnTo>
                    <a:pt x="10" y="28"/>
                  </a:lnTo>
                  <a:lnTo>
                    <a:pt x="6" y="26"/>
                  </a:lnTo>
                  <a:lnTo>
                    <a:pt x="4" y="23"/>
                  </a:lnTo>
                  <a:lnTo>
                    <a:pt x="2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" name="Rectangle 327"/>
            <p:cNvSpPr>
              <a:spLocks noChangeArrowheads="1"/>
            </p:cNvSpPr>
            <p:nvPr/>
          </p:nvSpPr>
          <p:spPr bwMode="auto">
            <a:xfrm>
              <a:off x="3432" y="1716"/>
              <a:ext cx="148" cy="21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30" name="Freeform 328"/>
            <p:cNvSpPr>
              <a:spLocks/>
            </p:cNvSpPr>
            <p:nvPr/>
          </p:nvSpPr>
          <p:spPr bwMode="auto">
            <a:xfrm>
              <a:off x="4968" y="973"/>
              <a:ext cx="53" cy="16"/>
            </a:xfrm>
            <a:custGeom>
              <a:avLst/>
              <a:gdLst>
                <a:gd name="T0" fmla="*/ 2 w 106"/>
                <a:gd name="T1" fmla="*/ 8 h 16"/>
                <a:gd name="T2" fmla="*/ 0 w 106"/>
                <a:gd name="T3" fmla="*/ 0 h 16"/>
                <a:gd name="T4" fmla="*/ 0 w 106"/>
                <a:gd name="T5" fmla="*/ 16 h 16"/>
                <a:gd name="T6" fmla="*/ 2 w 106"/>
                <a:gd name="T7" fmla="*/ 8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"/>
                <a:gd name="T13" fmla="*/ 0 h 16"/>
                <a:gd name="T14" fmla="*/ 106 w 106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" h="16">
                  <a:moveTo>
                    <a:pt x="106" y="8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106" y="8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1" name="Freeform 329"/>
            <p:cNvSpPr>
              <a:spLocks/>
            </p:cNvSpPr>
            <p:nvPr/>
          </p:nvSpPr>
          <p:spPr bwMode="auto">
            <a:xfrm>
              <a:off x="4968" y="973"/>
              <a:ext cx="53" cy="16"/>
            </a:xfrm>
            <a:custGeom>
              <a:avLst/>
              <a:gdLst>
                <a:gd name="T0" fmla="*/ 2 w 106"/>
                <a:gd name="T1" fmla="*/ 8 h 16"/>
                <a:gd name="T2" fmla="*/ 0 w 106"/>
                <a:gd name="T3" fmla="*/ 0 h 16"/>
                <a:gd name="T4" fmla="*/ 0 w 106"/>
                <a:gd name="T5" fmla="*/ 16 h 16"/>
                <a:gd name="T6" fmla="*/ 2 w 106"/>
                <a:gd name="T7" fmla="*/ 8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"/>
                <a:gd name="T13" fmla="*/ 0 h 16"/>
                <a:gd name="T14" fmla="*/ 106 w 106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" h="16">
                  <a:moveTo>
                    <a:pt x="106" y="8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106" y="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2" name="Line 330"/>
            <p:cNvSpPr>
              <a:spLocks noChangeShapeType="1"/>
            </p:cNvSpPr>
            <p:nvPr/>
          </p:nvSpPr>
          <p:spPr bwMode="auto">
            <a:xfrm flipH="1">
              <a:off x="4899" y="981"/>
              <a:ext cx="6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" name="Freeform 331"/>
            <p:cNvSpPr>
              <a:spLocks/>
            </p:cNvSpPr>
            <p:nvPr/>
          </p:nvSpPr>
          <p:spPr bwMode="auto">
            <a:xfrm>
              <a:off x="5266" y="989"/>
              <a:ext cx="54" cy="17"/>
            </a:xfrm>
            <a:custGeom>
              <a:avLst/>
              <a:gdLst>
                <a:gd name="T0" fmla="*/ 2 w 107"/>
                <a:gd name="T1" fmla="*/ 9 h 17"/>
                <a:gd name="T2" fmla="*/ 0 w 107"/>
                <a:gd name="T3" fmla="*/ 0 h 17"/>
                <a:gd name="T4" fmla="*/ 0 w 107"/>
                <a:gd name="T5" fmla="*/ 17 h 17"/>
                <a:gd name="T6" fmla="*/ 2 w 107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7"/>
                <a:gd name="T13" fmla="*/ 0 h 17"/>
                <a:gd name="T14" fmla="*/ 107 w 107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7" h="17">
                  <a:moveTo>
                    <a:pt x="107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7" y="9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" name="Freeform 332"/>
            <p:cNvSpPr>
              <a:spLocks/>
            </p:cNvSpPr>
            <p:nvPr/>
          </p:nvSpPr>
          <p:spPr bwMode="auto">
            <a:xfrm>
              <a:off x="5266" y="989"/>
              <a:ext cx="54" cy="17"/>
            </a:xfrm>
            <a:custGeom>
              <a:avLst/>
              <a:gdLst>
                <a:gd name="T0" fmla="*/ 2 w 107"/>
                <a:gd name="T1" fmla="*/ 9 h 17"/>
                <a:gd name="T2" fmla="*/ 0 w 107"/>
                <a:gd name="T3" fmla="*/ 0 h 17"/>
                <a:gd name="T4" fmla="*/ 0 w 107"/>
                <a:gd name="T5" fmla="*/ 17 h 17"/>
                <a:gd name="T6" fmla="*/ 2 w 107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7"/>
                <a:gd name="T13" fmla="*/ 0 h 17"/>
                <a:gd name="T14" fmla="*/ 107 w 107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7" h="17">
                  <a:moveTo>
                    <a:pt x="107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7" y="9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" name="Line 333"/>
            <p:cNvSpPr>
              <a:spLocks noChangeShapeType="1"/>
            </p:cNvSpPr>
            <p:nvPr/>
          </p:nvSpPr>
          <p:spPr bwMode="auto">
            <a:xfrm flipH="1">
              <a:off x="5198" y="998"/>
              <a:ext cx="6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" name="Rectangle 334"/>
            <p:cNvSpPr>
              <a:spLocks noChangeArrowheads="1"/>
            </p:cNvSpPr>
            <p:nvPr/>
          </p:nvSpPr>
          <p:spPr bwMode="auto">
            <a:xfrm>
              <a:off x="4959" y="896"/>
              <a:ext cx="40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 i="1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  <a:endParaRPr lang="en-US" altLang="zh-CN"/>
            </a:p>
          </p:txBody>
        </p:sp>
        <p:sp>
          <p:nvSpPr>
            <p:cNvPr id="337" name="Rectangle 335"/>
            <p:cNvSpPr>
              <a:spLocks noChangeArrowheads="1"/>
            </p:cNvSpPr>
            <p:nvPr/>
          </p:nvSpPr>
          <p:spPr bwMode="auto">
            <a:xfrm>
              <a:off x="5237" y="876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宋体" pitchFamily="2" charset="-122"/>
                </a:rPr>
                <a:t>I</a:t>
              </a:r>
              <a:endParaRPr lang="en-US" altLang="zh-CN"/>
            </a:p>
          </p:txBody>
        </p:sp>
        <p:sp>
          <p:nvSpPr>
            <p:cNvPr id="338" name="Rectangle 336"/>
            <p:cNvSpPr>
              <a:spLocks noChangeArrowheads="1"/>
            </p:cNvSpPr>
            <p:nvPr/>
          </p:nvSpPr>
          <p:spPr bwMode="auto">
            <a:xfrm>
              <a:off x="5278" y="915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宋体" pitchFamily="2" charset="-122"/>
                </a:rPr>
                <a:t>o</a:t>
              </a:r>
              <a:endParaRPr lang="en-US" altLang="zh-CN"/>
            </a:p>
          </p:txBody>
        </p:sp>
        <p:sp>
          <p:nvSpPr>
            <p:cNvPr id="339" name="Freeform 337"/>
            <p:cNvSpPr>
              <a:spLocks/>
            </p:cNvSpPr>
            <p:nvPr/>
          </p:nvSpPr>
          <p:spPr bwMode="auto">
            <a:xfrm>
              <a:off x="3723" y="1854"/>
              <a:ext cx="84" cy="93"/>
            </a:xfrm>
            <a:custGeom>
              <a:avLst/>
              <a:gdLst>
                <a:gd name="T0" fmla="*/ 0 w 168"/>
                <a:gd name="T1" fmla="*/ 93 h 93"/>
                <a:gd name="T2" fmla="*/ 2 w 168"/>
                <a:gd name="T3" fmla="*/ 0 h 93"/>
                <a:gd name="T4" fmla="*/ 3 w 168"/>
                <a:gd name="T5" fmla="*/ 93 h 93"/>
                <a:gd name="T6" fmla="*/ 0 w 168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3"/>
                <a:gd name="T14" fmla="*/ 168 w 16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3">
                  <a:moveTo>
                    <a:pt x="0" y="93"/>
                  </a:moveTo>
                  <a:lnTo>
                    <a:pt x="83" y="0"/>
                  </a:lnTo>
                  <a:lnTo>
                    <a:pt x="168" y="93"/>
                  </a:lnTo>
                  <a:lnTo>
                    <a:pt x="0" y="9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" name="Line 338"/>
            <p:cNvSpPr>
              <a:spLocks noChangeShapeType="1"/>
            </p:cNvSpPr>
            <p:nvPr/>
          </p:nvSpPr>
          <p:spPr bwMode="auto">
            <a:xfrm flipH="1">
              <a:off x="3723" y="1854"/>
              <a:ext cx="8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" name="Freeform 339"/>
            <p:cNvSpPr>
              <a:spLocks/>
            </p:cNvSpPr>
            <p:nvPr/>
          </p:nvSpPr>
          <p:spPr bwMode="auto">
            <a:xfrm>
              <a:off x="3723" y="1854"/>
              <a:ext cx="84" cy="93"/>
            </a:xfrm>
            <a:custGeom>
              <a:avLst/>
              <a:gdLst>
                <a:gd name="T0" fmla="*/ 0 w 168"/>
                <a:gd name="T1" fmla="*/ 93 h 93"/>
                <a:gd name="T2" fmla="*/ 2 w 168"/>
                <a:gd name="T3" fmla="*/ 0 h 93"/>
                <a:gd name="T4" fmla="*/ 3 w 168"/>
                <a:gd name="T5" fmla="*/ 93 h 93"/>
                <a:gd name="T6" fmla="*/ 0 w 168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3"/>
                <a:gd name="T14" fmla="*/ 168 w 16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3">
                  <a:moveTo>
                    <a:pt x="0" y="93"/>
                  </a:moveTo>
                  <a:lnTo>
                    <a:pt x="83" y="0"/>
                  </a:lnTo>
                  <a:lnTo>
                    <a:pt x="168" y="93"/>
                  </a:lnTo>
                  <a:lnTo>
                    <a:pt x="0" y="9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" name="Line 340"/>
            <p:cNvSpPr>
              <a:spLocks noChangeShapeType="1"/>
            </p:cNvSpPr>
            <p:nvPr/>
          </p:nvSpPr>
          <p:spPr bwMode="auto">
            <a:xfrm flipV="1">
              <a:off x="3764" y="1715"/>
              <a:ext cx="1" cy="37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" name="Freeform 341"/>
            <p:cNvSpPr>
              <a:spLocks/>
            </p:cNvSpPr>
            <p:nvPr/>
          </p:nvSpPr>
          <p:spPr bwMode="auto">
            <a:xfrm>
              <a:off x="3723" y="1854"/>
              <a:ext cx="84" cy="93"/>
            </a:xfrm>
            <a:custGeom>
              <a:avLst/>
              <a:gdLst>
                <a:gd name="T0" fmla="*/ 2 w 168"/>
                <a:gd name="T1" fmla="*/ 0 h 93"/>
                <a:gd name="T2" fmla="*/ 0 w 168"/>
                <a:gd name="T3" fmla="*/ 93 h 93"/>
                <a:gd name="T4" fmla="*/ 3 w 168"/>
                <a:gd name="T5" fmla="*/ 93 h 93"/>
                <a:gd name="T6" fmla="*/ 2 w 16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3"/>
                <a:gd name="T14" fmla="*/ 168 w 16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3">
                  <a:moveTo>
                    <a:pt x="83" y="0"/>
                  </a:moveTo>
                  <a:lnTo>
                    <a:pt x="0" y="93"/>
                  </a:lnTo>
                  <a:lnTo>
                    <a:pt x="168" y="93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4" name="Freeform 342"/>
            <p:cNvSpPr>
              <a:spLocks/>
            </p:cNvSpPr>
            <p:nvPr/>
          </p:nvSpPr>
          <p:spPr bwMode="auto">
            <a:xfrm>
              <a:off x="3723" y="1854"/>
              <a:ext cx="84" cy="93"/>
            </a:xfrm>
            <a:custGeom>
              <a:avLst/>
              <a:gdLst>
                <a:gd name="T0" fmla="*/ 2 w 168"/>
                <a:gd name="T1" fmla="*/ 0 h 93"/>
                <a:gd name="T2" fmla="*/ 0 w 168"/>
                <a:gd name="T3" fmla="*/ 93 h 93"/>
                <a:gd name="T4" fmla="*/ 3 w 168"/>
                <a:gd name="T5" fmla="*/ 93 h 93"/>
                <a:gd name="T6" fmla="*/ 2 w 16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3"/>
                <a:gd name="T14" fmla="*/ 168 w 16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3">
                  <a:moveTo>
                    <a:pt x="83" y="0"/>
                  </a:moveTo>
                  <a:lnTo>
                    <a:pt x="0" y="93"/>
                  </a:lnTo>
                  <a:lnTo>
                    <a:pt x="168" y="93"/>
                  </a:lnTo>
                  <a:lnTo>
                    <a:pt x="83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" name="Line 343"/>
            <p:cNvSpPr>
              <a:spLocks noChangeShapeType="1"/>
            </p:cNvSpPr>
            <p:nvPr/>
          </p:nvSpPr>
          <p:spPr bwMode="auto">
            <a:xfrm flipV="1">
              <a:off x="3764" y="1854"/>
              <a:ext cx="1" cy="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6" name="Line 344"/>
            <p:cNvSpPr>
              <a:spLocks noChangeShapeType="1"/>
            </p:cNvSpPr>
            <p:nvPr/>
          </p:nvSpPr>
          <p:spPr bwMode="auto">
            <a:xfrm flipH="1">
              <a:off x="3723" y="1854"/>
              <a:ext cx="8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7" name="Freeform 345"/>
            <p:cNvSpPr>
              <a:spLocks/>
            </p:cNvSpPr>
            <p:nvPr/>
          </p:nvSpPr>
          <p:spPr bwMode="auto">
            <a:xfrm>
              <a:off x="4112" y="1855"/>
              <a:ext cx="85" cy="92"/>
            </a:xfrm>
            <a:custGeom>
              <a:avLst/>
              <a:gdLst>
                <a:gd name="T0" fmla="*/ 0 w 170"/>
                <a:gd name="T1" fmla="*/ 92 h 92"/>
                <a:gd name="T2" fmla="*/ 2 w 170"/>
                <a:gd name="T3" fmla="*/ 0 h 92"/>
                <a:gd name="T4" fmla="*/ 3 w 170"/>
                <a:gd name="T5" fmla="*/ 92 h 92"/>
                <a:gd name="T6" fmla="*/ 0 w 170"/>
                <a:gd name="T7" fmla="*/ 92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92"/>
                <a:gd name="T14" fmla="*/ 170 w 170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92">
                  <a:moveTo>
                    <a:pt x="0" y="92"/>
                  </a:moveTo>
                  <a:lnTo>
                    <a:pt x="85" y="0"/>
                  </a:lnTo>
                  <a:lnTo>
                    <a:pt x="170" y="92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" name="Line 346"/>
            <p:cNvSpPr>
              <a:spLocks noChangeShapeType="1"/>
            </p:cNvSpPr>
            <p:nvPr/>
          </p:nvSpPr>
          <p:spPr bwMode="auto">
            <a:xfrm flipH="1">
              <a:off x="4112" y="1855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" name="Freeform 347"/>
            <p:cNvSpPr>
              <a:spLocks/>
            </p:cNvSpPr>
            <p:nvPr/>
          </p:nvSpPr>
          <p:spPr bwMode="auto">
            <a:xfrm>
              <a:off x="4112" y="1855"/>
              <a:ext cx="85" cy="92"/>
            </a:xfrm>
            <a:custGeom>
              <a:avLst/>
              <a:gdLst>
                <a:gd name="T0" fmla="*/ 0 w 170"/>
                <a:gd name="T1" fmla="*/ 92 h 92"/>
                <a:gd name="T2" fmla="*/ 2 w 170"/>
                <a:gd name="T3" fmla="*/ 0 h 92"/>
                <a:gd name="T4" fmla="*/ 3 w 170"/>
                <a:gd name="T5" fmla="*/ 92 h 92"/>
                <a:gd name="T6" fmla="*/ 0 w 170"/>
                <a:gd name="T7" fmla="*/ 92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92"/>
                <a:gd name="T14" fmla="*/ 170 w 170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92">
                  <a:moveTo>
                    <a:pt x="0" y="92"/>
                  </a:moveTo>
                  <a:lnTo>
                    <a:pt x="85" y="0"/>
                  </a:lnTo>
                  <a:lnTo>
                    <a:pt x="170" y="92"/>
                  </a:lnTo>
                  <a:lnTo>
                    <a:pt x="0" y="9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" name="Freeform 348"/>
            <p:cNvSpPr>
              <a:spLocks/>
            </p:cNvSpPr>
            <p:nvPr/>
          </p:nvSpPr>
          <p:spPr bwMode="auto">
            <a:xfrm>
              <a:off x="4112" y="1855"/>
              <a:ext cx="85" cy="92"/>
            </a:xfrm>
            <a:custGeom>
              <a:avLst/>
              <a:gdLst>
                <a:gd name="T0" fmla="*/ 2 w 170"/>
                <a:gd name="T1" fmla="*/ 0 h 92"/>
                <a:gd name="T2" fmla="*/ 0 w 170"/>
                <a:gd name="T3" fmla="*/ 92 h 92"/>
                <a:gd name="T4" fmla="*/ 3 w 170"/>
                <a:gd name="T5" fmla="*/ 92 h 92"/>
                <a:gd name="T6" fmla="*/ 2 w 170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92"/>
                <a:gd name="T14" fmla="*/ 170 w 170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92">
                  <a:moveTo>
                    <a:pt x="85" y="0"/>
                  </a:moveTo>
                  <a:lnTo>
                    <a:pt x="0" y="92"/>
                  </a:lnTo>
                  <a:lnTo>
                    <a:pt x="170" y="92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" name="Freeform 349"/>
            <p:cNvSpPr>
              <a:spLocks/>
            </p:cNvSpPr>
            <p:nvPr/>
          </p:nvSpPr>
          <p:spPr bwMode="auto">
            <a:xfrm>
              <a:off x="4112" y="1855"/>
              <a:ext cx="85" cy="92"/>
            </a:xfrm>
            <a:custGeom>
              <a:avLst/>
              <a:gdLst>
                <a:gd name="T0" fmla="*/ 2 w 170"/>
                <a:gd name="T1" fmla="*/ 0 h 92"/>
                <a:gd name="T2" fmla="*/ 0 w 170"/>
                <a:gd name="T3" fmla="*/ 92 h 92"/>
                <a:gd name="T4" fmla="*/ 3 w 170"/>
                <a:gd name="T5" fmla="*/ 92 h 92"/>
                <a:gd name="T6" fmla="*/ 2 w 170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92"/>
                <a:gd name="T14" fmla="*/ 170 w 170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92">
                  <a:moveTo>
                    <a:pt x="85" y="0"/>
                  </a:moveTo>
                  <a:lnTo>
                    <a:pt x="0" y="92"/>
                  </a:lnTo>
                  <a:lnTo>
                    <a:pt x="170" y="92"/>
                  </a:lnTo>
                  <a:lnTo>
                    <a:pt x="85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" name="Line 350"/>
            <p:cNvSpPr>
              <a:spLocks noChangeShapeType="1"/>
            </p:cNvSpPr>
            <p:nvPr/>
          </p:nvSpPr>
          <p:spPr bwMode="auto">
            <a:xfrm flipV="1">
              <a:off x="4154" y="1855"/>
              <a:ext cx="1" cy="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" name="Line 351"/>
            <p:cNvSpPr>
              <a:spLocks noChangeShapeType="1"/>
            </p:cNvSpPr>
            <p:nvPr/>
          </p:nvSpPr>
          <p:spPr bwMode="auto">
            <a:xfrm flipH="1">
              <a:off x="4112" y="1855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4" name="Freeform 352"/>
            <p:cNvSpPr>
              <a:spLocks/>
            </p:cNvSpPr>
            <p:nvPr/>
          </p:nvSpPr>
          <p:spPr bwMode="auto">
            <a:xfrm>
              <a:off x="4497" y="1669"/>
              <a:ext cx="85" cy="93"/>
            </a:xfrm>
            <a:custGeom>
              <a:avLst/>
              <a:gdLst>
                <a:gd name="T0" fmla="*/ 0 w 169"/>
                <a:gd name="T1" fmla="*/ 0 h 93"/>
                <a:gd name="T2" fmla="*/ 3 w 169"/>
                <a:gd name="T3" fmla="*/ 46 h 93"/>
                <a:gd name="T4" fmla="*/ 0 w 169"/>
                <a:gd name="T5" fmla="*/ 93 h 93"/>
                <a:gd name="T6" fmla="*/ 0 w 169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93"/>
                <a:gd name="T14" fmla="*/ 169 w 16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93">
                  <a:moveTo>
                    <a:pt x="0" y="0"/>
                  </a:moveTo>
                  <a:lnTo>
                    <a:pt x="169" y="46"/>
                  </a:lnTo>
                  <a:lnTo>
                    <a:pt x="0" y="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5" name="Line 353"/>
            <p:cNvSpPr>
              <a:spLocks noChangeShapeType="1"/>
            </p:cNvSpPr>
            <p:nvPr/>
          </p:nvSpPr>
          <p:spPr bwMode="auto">
            <a:xfrm flipV="1">
              <a:off x="4582" y="1669"/>
              <a:ext cx="1" cy="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6" name="Freeform 354"/>
            <p:cNvSpPr>
              <a:spLocks/>
            </p:cNvSpPr>
            <p:nvPr/>
          </p:nvSpPr>
          <p:spPr bwMode="auto">
            <a:xfrm>
              <a:off x="4497" y="1669"/>
              <a:ext cx="85" cy="93"/>
            </a:xfrm>
            <a:custGeom>
              <a:avLst/>
              <a:gdLst>
                <a:gd name="T0" fmla="*/ 0 w 169"/>
                <a:gd name="T1" fmla="*/ 0 h 93"/>
                <a:gd name="T2" fmla="*/ 3 w 169"/>
                <a:gd name="T3" fmla="*/ 46 h 93"/>
                <a:gd name="T4" fmla="*/ 0 w 169"/>
                <a:gd name="T5" fmla="*/ 93 h 93"/>
                <a:gd name="T6" fmla="*/ 0 w 169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93"/>
                <a:gd name="T14" fmla="*/ 169 w 16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93">
                  <a:moveTo>
                    <a:pt x="0" y="0"/>
                  </a:moveTo>
                  <a:lnTo>
                    <a:pt x="169" y="46"/>
                  </a:lnTo>
                  <a:lnTo>
                    <a:pt x="0" y="93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7" name="Line 355"/>
            <p:cNvSpPr>
              <a:spLocks noChangeShapeType="1"/>
            </p:cNvSpPr>
            <p:nvPr/>
          </p:nvSpPr>
          <p:spPr bwMode="auto">
            <a:xfrm>
              <a:off x="4371" y="1715"/>
              <a:ext cx="33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" name="Freeform 356"/>
            <p:cNvSpPr>
              <a:spLocks/>
            </p:cNvSpPr>
            <p:nvPr/>
          </p:nvSpPr>
          <p:spPr bwMode="auto">
            <a:xfrm>
              <a:off x="4497" y="1669"/>
              <a:ext cx="85" cy="93"/>
            </a:xfrm>
            <a:custGeom>
              <a:avLst/>
              <a:gdLst>
                <a:gd name="T0" fmla="*/ 3 w 169"/>
                <a:gd name="T1" fmla="*/ 46 h 93"/>
                <a:gd name="T2" fmla="*/ 0 w 169"/>
                <a:gd name="T3" fmla="*/ 0 h 93"/>
                <a:gd name="T4" fmla="*/ 0 w 169"/>
                <a:gd name="T5" fmla="*/ 93 h 93"/>
                <a:gd name="T6" fmla="*/ 3 w 169"/>
                <a:gd name="T7" fmla="*/ 46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93"/>
                <a:gd name="T14" fmla="*/ 169 w 16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93">
                  <a:moveTo>
                    <a:pt x="169" y="46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169" y="46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" name="Freeform 357"/>
            <p:cNvSpPr>
              <a:spLocks/>
            </p:cNvSpPr>
            <p:nvPr/>
          </p:nvSpPr>
          <p:spPr bwMode="auto">
            <a:xfrm>
              <a:off x="4497" y="1669"/>
              <a:ext cx="85" cy="93"/>
            </a:xfrm>
            <a:custGeom>
              <a:avLst/>
              <a:gdLst>
                <a:gd name="T0" fmla="*/ 3 w 169"/>
                <a:gd name="T1" fmla="*/ 46 h 93"/>
                <a:gd name="T2" fmla="*/ 0 w 169"/>
                <a:gd name="T3" fmla="*/ 0 h 93"/>
                <a:gd name="T4" fmla="*/ 0 w 169"/>
                <a:gd name="T5" fmla="*/ 93 h 93"/>
                <a:gd name="T6" fmla="*/ 3 w 169"/>
                <a:gd name="T7" fmla="*/ 46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93"/>
                <a:gd name="T14" fmla="*/ 169 w 16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93">
                  <a:moveTo>
                    <a:pt x="169" y="46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169" y="46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0" name="Line 358"/>
            <p:cNvSpPr>
              <a:spLocks noChangeShapeType="1"/>
            </p:cNvSpPr>
            <p:nvPr/>
          </p:nvSpPr>
          <p:spPr bwMode="auto">
            <a:xfrm>
              <a:off x="4497" y="1715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" name="Line 359"/>
            <p:cNvSpPr>
              <a:spLocks noChangeShapeType="1"/>
            </p:cNvSpPr>
            <p:nvPr/>
          </p:nvSpPr>
          <p:spPr bwMode="auto">
            <a:xfrm flipV="1">
              <a:off x="4582" y="1669"/>
              <a:ext cx="1" cy="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2" name="Freeform 360"/>
            <p:cNvSpPr>
              <a:spLocks/>
            </p:cNvSpPr>
            <p:nvPr/>
          </p:nvSpPr>
          <p:spPr bwMode="auto">
            <a:xfrm>
              <a:off x="4493" y="1012"/>
              <a:ext cx="84" cy="92"/>
            </a:xfrm>
            <a:custGeom>
              <a:avLst/>
              <a:gdLst>
                <a:gd name="T0" fmla="*/ 0 w 168"/>
                <a:gd name="T1" fmla="*/ 0 h 92"/>
                <a:gd name="T2" fmla="*/ 3 w 168"/>
                <a:gd name="T3" fmla="*/ 46 h 92"/>
                <a:gd name="T4" fmla="*/ 0 w 168"/>
                <a:gd name="T5" fmla="*/ 92 h 92"/>
                <a:gd name="T6" fmla="*/ 0 w 16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2"/>
                <a:gd name="T14" fmla="*/ 168 w 16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2">
                  <a:moveTo>
                    <a:pt x="0" y="0"/>
                  </a:moveTo>
                  <a:lnTo>
                    <a:pt x="168" y="46"/>
                  </a:lnTo>
                  <a:lnTo>
                    <a:pt x="0" y="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3" name="Line 361"/>
            <p:cNvSpPr>
              <a:spLocks noChangeShapeType="1"/>
            </p:cNvSpPr>
            <p:nvPr/>
          </p:nvSpPr>
          <p:spPr bwMode="auto">
            <a:xfrm flipV="1">
              <a:off x="4577" y="1012"/>
              <a:ext cx="1" cy="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" name="Freeform 362"/>
            <p:cNvSpPr>
              <a:spLocks/>
            </p:cNvSpPr>
            <p:nvPr/>
          </p:nvSpPr>
          <p:spPr bwMode="auto">
            <a:xfrm>
              <a:off x="4493" y="1012"/>
              <a:ext cx="84" cy="92"/>
            </a:xfrm>
            <a:custGeom>
              <a:avLst/>
              <a:gdLst>
                <a:gd name="T0" fmla="*/ 0 w 168"/>
                <a:gd name="T1" fmla="*/ 0 h 92"/>
                <a:gd name="T2" fmla="*/ 3 w 168"/>
                <a:gd name="T3" fmla="*/ 46 h 92"/>
                <a:gd name="T4" fmla="*/ 0 w 168"/>
                <a:gd name="T5" fmla="*/ 92 h 92"/>
                <a:gd name="T6" fmla="*/ 0 w 16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2"/>
                <a:gd name="T14" fmla="*/ 168 w 16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2">
                  <a:moveTo>
                    <a:pt x="0" y="0"/>
                  </a:moveTo>
                  <a:lnTo>
                    <a:pt x="168" y="46"/>
                  </a:lnTo>
                  <a:lnTo>
                    <a:pt x="0" y="9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5" name="Line 363"/>
            <p:cNvSpPr>
              <a:spLocks noChangeShapeType="1"/>
            </p:cNvSpPr>
            <p:nvPr/>
          </p:nvSpPr>
          <p:spPr bwMode="auto">
            <a:xfrm>
              <a:off x="4365" y="1058"/>
              <a:ext cx="33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" name="Freeform 364"/>
            <p:cNvSpPr>
              <a:spLocks/>
            </p:cNvSpPr>
            <p:nvPr/>
          </p:nvSpPr>
          <p:spPr bwMode="auto">
            <a:xfrm>
              <a:off x="4493" y="1012"/>
              <a:ext cx="84" cy="92"/>
            </a:xfrm>
            <a:custGeom>
              <a:avLst/>
              <a:gdLst>
                <a:gd name="T0" fmla="*/ 3 w 168"/>
                <a:gd name="T1" fmla="*/ 46 h 92"/>
                <a:gd name="T2" fmla="*/ 0 w 168"/>
                <a:gd name="T3" fmla="*/ 0 h 92"/>
                <a:gd name="T4" fmla="*/ 0 w 168"/>
                <a:gd name="T5" fmla="*/ 92 h 92"/>
                <a:gd name="T6" fmla="*/ 3 w 168"/>
                <a:gd name="T7" fmla="*/ 46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2"/>
                <a:gd name="T14" fmla="*/ 168 w 16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2">
                  <a:moveTo>
                    <a:pt x="168" y="46"/>
                  </a:moveTo>
                  <a:lnTo>
                    <a:pt x="0" y="0"/>
                  </a:lnTo>
                  <a:lnTo>
                    <a:pt x="0" y="92"/>
                  </a:lnTo>
                  <a:lnTo>
                    <a:pt x="168" y="46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7" name="Freeform 365"/>
            <p:cNvSpPr>
              <a:spLocks/>
            </p:cNvSpPr>
            <p:nvPr/>
          </p:nvSpPr>
          <p:spPr bwMode="auto">
            <a:xfrm>
              <a:off x="4493" y="1012"/>
              <a:ext cx="84" cy="92"/>
            </a:xfrm>
            <a:custGeom>
              <a:avLst/>
              <a:gdLst>
                <a:gd name="T0" fmla="*/ 3 w 168"/>
                <a:gd name="T1" fmla="*/ 46 h 92"/>
                <a:gd name="T2" fmla="*/ 0 w 168"/>
                <a:gd name="T3" fmla="*/ 0 h 92"/>
                <a:gd name="T4" fmla="*/ 0 w 168"/>
                <a:gd name="T5" fmla="*/ 92 h 92"/>
                <a:gd name="T6" fmla="*/ 3 w 168"/>
                <a:gd name="T7" fmla="*/ 46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2"/>
                <a:gd name="T14" fmla="*/ 168 w 16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2">
                  <a:moveTo>
                    <a:pt x="168" y="46"/>
                  </a:moveTo>
                  <a:lnTo>
                    <a:pt x="0" y="0"/>
                  </a:lnTo>
                  <a:lnTo>
                    <a:pt x="0" y="92"/>
                  </a:lnTo>
                  <a:lnTo>
                    <a:pt x="168" y="46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" name="Line 366"/>
            <p:cNvSpPr>
              <a:spLocks noChangeShapeType="1"/>
            </p:cNvSpPr>
            <p:nvPr/>
          </p:nvSpPr>
          <p:spPr bwMode="auto">
            <a:xfrm>
              <a:off x="4493" y="1058"/>
              <a:ext cx="8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" name="Line 367"/>
            <p:cNvSpPr>
              <a:spLocks noChangeShapeType="1"/>
            </p:cNvSpPr>
            <p:nvPr/>
          </p:nvSpPr>
          <p:spPr bwMode="auto">
            <a:xfrm flipV="1">
              <a:off x="4577" y="1012"/>
              <a:ext cx="1" cy="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0" name="Rectangle 368"/>
            <p:cNvSpPr>
              <a:spLocks noChangeArrowheads="1"/>
            </p:cNvSpPr>
            <p:nvPr/>
          </p:nvSpPr>
          <p:spPr bwMode="auto">
            <a:xfrm>
              <a:off x="4738" y="1101"/>
              <a:ext cx="48" cy="11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宋体" pitchFamily="2" charset="-122"/>
                </a:rPr>
                <a:t>+</a:t>
              </a:r>
              <a:endParaRPr lang="en-US" altLang="zh-CN"/>
            </a:p>
          </p:txBody>
        </p:sp>
        <p:sp>
          <p:nvSpPr>
            <p:cNvPr id="371" name="Rectangle 369"/>
            <p:cNvSpPr>
              <a:spLocks noChangeArrowheads="1"/>
            </p:cNvSpPr>
            <p:nvPr/>
          </p:nvSpPr>
          <p:spPr bwMode="auto">
            <a:xfrm>
              <a:off x="4738" y="1277"/>
              <a:ext cx="48" cy="11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宋体" pitchFamily="2" charset="-122"/>
                </a:rPr>
                <a:t>-</a:t>
              </a:r>
              <a:endParaRPr lang="en-US" altLang="zh-CN"/>
            </a:p>
          </p:txBody>
        </p:sp>
        <p:sp>
          <p:nvSpPr>
            <p:cNvPr id="372" name="Rectangle 370"/>
            <p:cNvSpPr>
              <a:spLocks noChangeArrowheads="1"/>
            </p:cNvSpPr>
            <p:nvPr/>
          </p:nvSpPr>
          <p:spPr bwMode="auto">
            <a:xfrm>
              <a:off x="4777" y="1227"/>
              <a:ext cx="5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oi</a:t>
              </a:r>
              <a:endParaRPr lang="en-US" altLang="zh-CN"/>
            </a:p>
          </p:txBody>
        </p:sp>
        <p:sp>
          <p:nvSpPr>
            <p:cNvPr id="373" name="Rectangle 371"/>
            <p:cNvSpPr>
              <a:spLocks noChangeArrowheads="1"/>
            </p:cNvSpPr>
            <p:nvPr/>
          </p:nvSpPr>
          <p:spPr bwMode="auto">
            <a:xfrm>
              <a:off x="4735" y="1180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u</a:t>
              </a:r>
              <a:endParaRPr lang="en-US" altLang="zh-CN"/>
            </a:p>
          </p:txBody>
        </p:sp>
        <p:sp>
          <p:nvSpPr>
            <p:cNvPr id="374" name="Line 372"/>
            <p:cNvSpPr>
              <a:spLocks noChangeShapeType="1"/>
            </p:cNvSpPr>
            <p:nvPr/>
          </p:nvSpPr>
          <p:spPr bwMode="auto">
            <a:xfrm flipH="1">
              <a:off x="4060" y="1376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" name="Line 373"/>
            <p:cNvSpPr>
              <a:spLocks noChangeShapeType="1"/>
            </p:cNvSpPr>
            <p:nvPr/>
          </p:nvSpPr>
          <p:spPr bwMode="auto">
            <a:xfrm flipV="1">
              <a:off x="4060" y="1058"/>
              <a:ext cx="0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6" name="Line 374"/>
            <p:cNvSpPr>
              <a:spLocks noChangeShapeType="1"/>
            </p:cNvSpPr>
            <p:nvPr/>
          </p:nvSpPr>
          <p:spPr bwMode="auto">
            <a:xfrm flipH="1">
              <a:off x="3379" y="1058"/>
              <a:ext cx="6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7" name="Line 375"/>
            <p:cNvSpPr>
              <a:spLocks noChangeShapeType="1"/>
            </p:cNvSpPr>
            <p:nvPr/>
          </p:nvSpPr>
          <p:spPr bwMode="auto">
            <a:xfrm flipV="1">
              <a:off x="3424" y="1058"/>
              <a:ext cx="0" cy="4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" name="Line 376"/>
            <p:cNvSpPr>
              <a:spLocks noChangeShapeType="1"/>
            </p:cNvSpPr>
            <p:nvPr/>
          </p:nvSpPr>
          <p:spPr bwMode="auto">
            <a:xfrm flipV="1">
              <a:off x="3424" y="1512"/>
              <a:ext cx="0" cy="5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" name="Rectangle 377"/>
            <p:cNvSpPr>
              <a:spLocks noChangeArrowheads="1"/>
            </p:cNvSpPr>
            <p:nvPr/>
          </p:nvSpPr>
          <p:spPr bwMode="auto">
            <a:xfrm>
              <a:off x="3801" y="1716"/>
              <a:ext cx="148" cy="21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80" name="Line 378"/>
            <p:cNvSpPr>
              <a:spLocks noChangeShapeType="1"/>
            </p:cNvSpPr>
            <p:nvPr/>
          </p:nvSpPr>
          <p:spPr bwMode="auto">
            <a:xfrm>
              <a:off x="3334" y="2102"/>
              <a:ext cx="8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1" name="Line 379"/>
            <p:cNvSpPr>
              <a:spLocks noChangeShapeType="1"/>
            </p:cNvSpPr>
            <p:nvPr/>
          </p:nvSpPr>
          <p:spPr bwMode="auto">
            <a:xfrm flipV="1">
              <a:off x="3606" y="1965"/>
              <a:ext cx="0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2" name="Line 380"/>
            <p:cNvSpPr>
              <a:spLocks noChangeShapeType="1"/>
            </p:cNvSpPr>
            <p:nvPr/>
          </p:nvSpPr>
          <p:spPr bwMode="auto">
            <a:xfrm flipV="1">
              <a:off x="3969" y="1965"/>
              <a:ext cx="0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3" name="Line 381"/>
            <p:cNvSpPr>
              <a:spLocks noChangeShapeType="1"/>
            </p:cNvSpPr>
            <p:nvPr/>
          </p:nvSpPr>
          <p:spPr bwMode="auto">
            <a:xfrm>
              <a:off x="4150" y="1693"/>
              <a:ext cx="0" cy="4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4" name="Rectangle 384"/>
            <p:cNvSpPr>
              <a:spLocks noChangeArrowheads="1"/>
            </p:cNvSpPr>
            <p:nvPr/>
          </p:nvSpPr>
          <p:spPr bwMode="auto">
            <a:xfrm>
              <a:off x="4105" y="1434"/>
              <a:ext cx="111" cy="13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85" name="Rectangle 385"/>
            <p:cNvSpPr>
              <a:spLocks noChangeArrowheads="1"/>
            </p:cNvSpPr>
            <p:nvPr/>
          </p:nvSpPr>
          <p:spPr bwMode="auto">
            <a:xfrm>
              <a:off x="4377" y="1480"/>
              <a:ext cx="111" cy="13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 Box 196"/>
          <p:cNvSpPr txBox="1">
            <a:spLocks noChangeArrowheads="1"/>
          </p:cNvSpPr>
          <p:nvPr/>
        </p:nvSpPr>
        <p:spPr bwMode="auto">
          <a:xfrm>
            <a:off x="-71438" y="2060575"/>
            <a:ext cx="45354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dirty="0"/>
              <a:t> In the condition of steady-state:</a:t>
            </a:r>
          </a:p>
        </p:txBody>
      </p:sp>
      <p:graphicFrame>
        <p:nvGraphicFramePr>
          <p:cNvPr id="98307" name="Object 2"/>
          <p:cNvGraphicFramePr>
            <a:graphicFrameLocks noChangeAspect="1"/>
          </p:cNvGraphicFramePr>
          <p:nvPr/>
        </p:nvGraphicFramePr>
        <p:xfrm>
          <a:off x="428625" y="1160463"/>
          <a:ext cx="30956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82" name="公式" r:id="rId3" imgW="1574800" imgH="393700" progId="">
                  <p:embed/>
                </p:oleObj>
              </mc:Choice>
              <mc:Fallback>
                <p:oleObj name="公式" r:id="rId3" imgW="1574800" imgH="3937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1160463"/>
                        <a:ext cx="3095625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0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050687"/>
              </p:ext>
            </p:extLst>
          </p:nvPr>
        </p:nvGraphicFramePr>
        <p:xfrm>
          <a:off x="99595" y="2952165"/>
          <a:ext cx="4356546" cy="2131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83" name="公式" r:id="rId5" imgW="2260600" imgH="1104900" progId="">
                  <p:embed/>
                </p:oleObj>
              </mc:Choice>
              <mc:Fallback>
                <p:oleObj name="公式" r:id="rId5" imgW="2260600" imgH="110490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95" y="2952165"/>
                        <a:ext cx="4356546" cy="21310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86"/>
          <p:cNvGrpSpPr>
            <a:grpSpLocks/>
          </p:cNvGrpSpPr>
          <p:nvPr/>
        </p:nvGrpSpPr>
        <p:grpSpPr bwMode="auto">
          <a:xfrm>
            <a:off x="4418013" y="1000125"/>
            <a:ext cx="4583112" cy="5857875"/>
            <a:chOff x="3243" y="845"/>
            <a:chExt cx="2344" cy="3317"/>
          </a:xfrm>
        </p:grpSpPr>
        <p:sp>
          <p:nvSpPr>
            <p:cNvPr id="197" name="Freeform 194"/>
            <p:cNvSpPr>
              <a:spLocks/>
            </p:cNvSpPr>
            <p:nvPr/>
          </p:nvSpPr>
          <p:spPr bwMode="auto">
            <a:xfrm>
              <a:off x="3374" y="2319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Freeform 195"/>
            <p:cNvSpPr>
              <a:spLocks/>
            </p:cNvSpPr>
            <p:nvPr/>
          </p:nvSpPr>
          <p:spPr bwMode="auto">
            <a:xfrm>
              <a:off x="3374" y="2319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Line 196"/>
            <p:cNvSpPr>
              <a:spLocks noChangeShapeType="1"/>
            </p:cNvSpPr>
            <p:nvPr/>
          </p:nvSpPr>
          <p:spPr bwMode="auto">
            <a:xfrm>
              <a:off x="3382" y="2378"/>
              <a:ext cx="1" cy="7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Freeform 197"/>
            <p:cNvSpPr>
              <a:spLocks/>
            </p:cNvSpPr>
            <p:nvPr/>
          </p:nvSpPr>
          <p:spPr bwMode="auto">
            <a:xfrm>
              <a:off x="5461" y="2901"/>
              <a:ext cx="54" cy="17"/>
            </a:xfrm>
            <a:custGeom>
              <a:avLst/>
              <a:gdLst>
                <a:gd name="T0" fmla="*/ 2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Freeform 198"/>
            <p:cNvSpPr>
              <a:spLocks/>
            </p:cNvSpPr>
            <p:nvPr/>
          </p:nvSpPr>
          <p:spPr bwMode="auto">
            <a:xfrm>
              <a:off x="5461" y="2901"/>
              <a:ext cx="54" cy="17"/>
            </a:xfrm>
            <a:custGeom>
              <a:avLst/>
              <a:gdLst>
                <a:gd name="T0" fmla="*/ 2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Line 199"/>
            <p:cNvSpPr>
              <a:spLocks noChangeShapeType="1"/>
            </p:cNvSpPr>
            <p:nvPr/>
          </p:nvSpPr>
          <p:spPr bwMode="auto">
            <a:xfrm flipH="1">
              <a:off x="3382" y="2910"/>
              <a:ext cx="207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Line 200"/>
            <p:cNvSpPr>
              <a:spLocks noChangeShapeType="1"/>
            </p:cNvSpPr>
            <p:nvPr/>
          </p:nvSpPr>
          <p:spPr bwMode="auto">
            <a:xfrm>
              <a:off x="3382" y="2430"/>
              <a:ext cx="32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Freeform 201"/>
            <p:cNvSpPr>
              <a:spLocks/>
            </p:cNvSpPr>
            <p:nvPr/>
          </p:nvSpPr>
          <p:spPr bwMode="auto">
            <a:xfrm>
              <a:off x="5458" y="3952"/>
              <a:ext cx="54" cy="17"/>
            </a:xfrm>
            <a:custGeom>
              <a:avLst/>
              <a:gdLst>
                <a:gd name="T0" fmla="*/ 2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" name="Freeform 202"/>
            <p:cNvSpPr>
              <a:spLocks/>
            </p:cNvSpPr>
            <p:nvPr/>
          </p:nvSpPr>
          <p:spPr bwMode="auto">
            <a:xfrm>
              <a:off x="5458" y="3952"/>
              <a:ext cx="54" cy="17"/>
            </a:xfrm>
            <a:custGeom>
              <a:avLst/>
              <a:gdLst>
                <a:gd name="T0" fmla="*/ 2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Line 203"/>
            <p:cNvSpPr>
              <a:spLocks noChangeShapeType="1"/>
            </p:cNvSpPr>
            <p:nvPr/>
          </p:nvSpPr>
          <p:spPr bwMode="auto">
            <a:xfrm flipH="1">
              <a:off x="3379" y="3961"/>
              <a:ext cx="207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Rectangle 204"/>
            <p:cNvSpPr>
              <a:spLocks noChangeArrowheads="1"/>
            </p:cNvSpPr>
            <p:nvPr/>
          </p:nvSpPr>
          <p:spPr bwMode="auto">
            <a:xfrm>
              <a:off x="3379" y="2192"/>
              <a:ext cx="152" cy="21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</a:rPr>
                <a:t>oi</a:t>
              </a:r>
            </a:p>
          </p:txBody>
        </p:sp>
        <p:sp>
          <p:nvSpPr>
            <p:cNvPr id="208" name="Rectangle 205"/>
            <p:cNvSpPr>
              <a:spLocks noChangeArrowheads="1"/>
            </p:cNvSpPr>
            <p:nvPr/>
          </p:nvSpPr>
          <p:spPr bwMode="auto">
            <a:xfrm>
              <a:off x="3313" y="2841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209" name="Rectangle 206"/>
            <p:cNvSpPr>
              <a:spLocks noChangeArrowheads="1"/>
            </p:cNvSpPr>
            <p:nvPr/>
          </p:nvSpPr>
          <p:spPr bwMode="auto">
            <a:xfrm>
              <a:off x="3312" y="3890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210" name="Rectangle 207"/>
            <p:cNvSpPr>
              <a:spLocks noChangeArrowheads="1"/>
            </p:cNvSpPr>
            <p:nvPr/>
          </p:nvSpPr>
          <p:spPr bwMode="auto">
            <a:xfrm>
              <a:off x="5547" y="2838"/>
              <a:ext cx="40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211" name="Rectangle 208"/>
            <p:cNvSpPr>
              <a:spLocks noChangeArrowheads="1"/>
            </p:cNvSpPr>
            <p:nvPr/>
          </p:nvSpPr>
          <p:spPr bwMode="auto">
            <a:xfrm>
              <a:off x="5544" y="3871"/>
              <a:ext cx="40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212" name="Line 209"/>
            <p:cNvSpPr>
              <a:spLocks noChangeShapeType="1"/>
            </p:cNvSpPr>
            <p:nvPr/>
          </p:nvSpPr>
          <p:spPr bwMode="auto">
            <a:xfrm>
              <a:off x="4235" y="2430"/>
              <a:ext cx="32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3" name="Line 210"/>
            <p:cNvSpPr>
              <a:spLocks noChangeShapeType="1"/>
            </p:cNvSpPr>
            <p:nvPr/>
          </p:nvSpPr>
          <p:spPr bwMode="auto">
            <a:xfrm>
              <a:off x="4555" y="2909"/>
              <a:ext cx="53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Line 211"/>
            <p:cNvSpPr>
              <a:spLocks noChangeShapeType="1"/>
            </p:cNvSpPr>
            <p:nvPr/>
          </p:nvSpPr>
          <p:spPr bwMode="auto">
            <a:xfrm>
              <a:off x="4555" y="2430"/>
              <a:ext cx="1" cy="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Line 212"/>
            <p:cNvSpPr>
              <a:spLocks noChangeShapeType="1"/>
            </p:cNvSpPr>
            <p:nvPr/>
          </p:nvSpPr>
          <p:spPr bwMode="auto">
            <a:xfrm>
              <a:off x="5089" y="2430"/>
              <a:ext cx="31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Line 213"/>
            <p:cNvSpPr>
              <a:spLocks noChangeShapeType="1"/>
            </p:cNvSpPr>
            <p:nvPr/>
          </p:nvSpPr>
          <p:spPr bwMode="auto">
            <a:xfrm>
              <a:off x="5089" y="2430"/>
              <a:ext cx="1" cy="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7" name="Line 214"/>
            <p:cNvSpPr>
              <a:spLocks noChangeShapeType="1"/>
            </p:cNvSpPr>
            <p:nvPr/>
          </p:nvSpPr>
          <p:spPr bwMode="auto">
            <a:xfrm>
              <a:off x="3567" y="2720"/>
              <a:ext cx="5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8" name="Rectangle 215"/>
            <p:cNvSpPr>
              <a:spLocks noChangeArrowheads="1"/>
            </p:cNvSpPr>
            <p:nvPr/>
          </p:nvSpPr>
          <p:spPr bwMode="auto">
            <a:xfrm>
              <a:off x="3550" y="2607"/>
              <a:ext cx="6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219" name="Rectangle 216"/>
            <p:cNvSpPr>
              <a:spLocks noChangeArrowheads="1"/>
            </p:cNvSpPr>
            <p:nvPr/>
          </p:nvSpPr>
          <p:spPr bwMode="auto">
            <a:xfrm>
              <a:off x="3607" y="2650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 dirty="0"/>
            </a:p>
          </p:txBody>
        </p:sp>
        <p:sp>
          <p:nvSpPr>
            <p:cNvPr id="220" name="Rectangle 217"/>
            <p:cNvSpPr>
              <a:spLocks noChangeArrowheads="1"/>
            </p:cNvSpPr>
            <p:nvPr/>
          </p:nvSpPr>
          <p:spPr bwMode="auto">
            <a:xfrm>
              <a:off x="3540" y="2715"/>
              <a:ext cx="6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221" name="Rectangle 218"/>
            <p:cNvSpPr>
              <a:spLocks noChangeArrowheads="1"/>
            </p:cNvSpPr>
            <p:nvPr/>
          </p:nvSpPr>
          <p:spPr bwMode="auto">
            <a:xfrm>
              <a:off x="3604" y="2746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 i="1" dirty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 dirty="0"/>
            </a:p>
          </p:txBody>
        </p:sp>
        <p:sp>
          <p:nvSpPr>
            <p:cNvPr id="222" name="Rectangle 219"/>
            <p:cNvSpPr>
              <a:spLocks noChangeArrowheads="1"/>
            </p:cNvSpPr>
            <p:nvPr/>
          </p:nvSpPr>
          <p:spPr bwMode="auto">
            <a:xfrm>
              <a:off x="3659" y="2715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223" name="Rectangle 220"/>
            <p:cNvSpPr>
              <a:spLocks noChangeArrowheads="1"/>
            </p:cNvSpPr>
            <p:nvPr/>
          </p:nvSpPr>
          <p:spPr bwMode="auto">
            <a:xfrm>
              <a:off x="3621" y="2654"/>
              <a:ext cx="75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U</a:t>
              </a:r>
              <a:endParaRPr lang="en-US" altLang="zh-CN"/>
            </a:p>
          </p:txBody>
        </p:sp>
        <p:sp>
          <p:nvSpPr>
            <p:cNvPr id="224" name="Line 221"/>
            <p:cNvSpPr>
              <a:spLocks noChangeShapeType="1"/>
            </p:cNvSpPr>
            <p:nvPr/>
          </p:nvSpPr>
          <p:spPr bwMode="auto">
            <a:xfrm>
              <a:off x="3542" y="2487"/>
              <a:ext cx="1" cy="3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Freeform 222"/>
            <p:cNvSpPr>
              <a:spLocks/>
            </p:cNvSpPr>
            <p:nvPr/>
          </p:nvSpPr>
          <p:spPr bwMode="auto">
            <a:xfrm>
              <a:off x="3507" y="2430"/>
              <a:ext cx="70" cy="75"/>
            </a:xfrm>
            <a:custGeom>
              <a:avLst/>
              <a:gdLst>
                <a:gd name="T0" fmla="*/ 2 w 140"/>
                <a:gd name="T1" fmla="*/ 0 h 75"/>
                <a:gd name="T2" fmla="*/ 3 w 140"/>
                <a:gd name="T3" fmla="*/ 75 h 75"/>
                <a:gd name="T4" fmla="*/ 3 w 140"/>
                <a:gd name="T5" fmla="*/ 73 h 75"/>
                <a:gd name="T6" fmla="*/ 2 w 140"/>
                <a:gd name="T7" fmla="*/ 71 h 75"/>
                <a:gd name="T8" fmla="*/ 2 w 140"/>
                <a:gd name="T9" fmla="*/ 69 h 75"/>
                <a:gd name="T10" fmla="*/ 2 w 140"/>
                <a:gd name="T11" fmla="*/ 68 h 75"/>
                <a:gd name="T12" fmla="*/ 2 w 140"/>
                <a:gd name="T13" fmla="*/ 67 h 75"/>
                <a:gd name="T14" fmla="*/ 2 w 140"/>
                <a:gd name="T15" fmla="*/ 67 h 75"/>
                <a:gd name="T16" fmla="*/ 2 w 140"/>
                <a:gd name="T17" fmla="*/ 66 h 75"/>
                <a:gd name="T18" fmla="*/ 2 w 140"/>
                <a:gd name="T19" fmla="*/ 66 h 75"/>
                <a:gd name="T20" fmla="*/ 1 w 140"/>
                <a:gd name="T21" fmla="*/ 66 h 75"/>
                <a:gd name="T22" fmla="*/ 1 w 140"/>
                <a:gd name="T23" fmla="*/ 67 h 75"/>
                <a:gd name="T24" fmla="*/ 1 w 140"/>
                <a:gd name="T25" fmla="*/ 67 h 75"/>
                <a:gd name="T26" fmla="*/ 1 w 140"/>
                <a:gd name="T27" fmla="*/ 68 h 75"/>
                <a:gd name="T28" fmla="*/ 1 w 140"/>
                <a:gd name="T29" fmla="*/ 69 h 75"/>
                <a:gd name="T30" fmla="*/ 1 w 140"/>
                <a:gd name="T31" fmla="*/ 71 h 75"/>
                <a:gd name="T32" fmla="*/ 1 w 140"/>
                <a:gd name="T33" fmla="*/ 73 h 75"/>
                <a:gd name="T34" fmla="*/ 0 w 140"/>
                <a:gd name="T35" fmla="*/ 75 h 75"/>
                <a:gd name="T36" fmla="*/ 0 w 140"/>
                <a:gd name="T37" fmla="*/ 75 h 75"/>
                <a:gd name="T38" fmla="*/ 2 w 140"/>
                <a:gd name="T39" fmla="*/ 0 h 75"/>
                <a:gd name="T40" fmla="*/ 2 w 140"/>
                <a:gd name="T41" fmla="*/ 0 h 7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5"/>
                <a:gd name="T65" fmla="*/ 140 w 140"/>
                <a:gd name="T66" fmla="*/ 75 h 7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5">
                  <a:moveTo>
                    <a:pt x="70" y="0"/>
                  </a:moveTo>
                  <a:lnTo>
                    <a:pt x="140" y="75"/>
                  </a:lnTo>
                  <a:lnTo>
                    <a:pt x="130" y="73"/>
                  </a:lnTo>
                  <a:lnTo>
                    <a:pt x="123" y="71"/>
                  </a:lnTo>
                  <a:lnTo>
                    <a:pt x="113" y="69"/>
                  </a:lnTo>
                  <a:lnTo>
                    <a:pt x="106" y="68"/>
                  </a:lnTo>
                  <a:lnTo>
                    <a:pt x="96" y="67"/>
                  </a:lnTo>
                  <a:lnTo>
                    <a:pt x="87" y="67"/>
                  </a:lnTo>
                  <a:lnTo>
                    <a:pt x="79" y="66"/>
                  </a:lnTo>
                  <a:lnTo>
                    <a:pt x="70" y="66"/>
                  </a:lnTo>
                  <a:lnTo>
                    <a:pt x="61" y="66"/>
                  </a:lnTo>
                  <a:lnTo>
                    <a:pt x="53" y="67"/>
                  </a:lnTo>
                  <a:lnTo>
                    <a:pt x="44" y="67"/>
                  </a:lnTo>
                  <a:lnTo>
                    <a:pt x="34" y="68"/>
                  </a:lnTo>
                  <a:lnTo>
                    <a:pt x="27" y="69"/>
                  </a:lnTo>
                  <a:lnTo>
                    <a:pt x="17" y="71"/>
                  </a:lnTo>
                  <a:lnTo>
                    <a:pt x="10" y="73"/>
                  </a:lnTo>
                  <a:lnTo>
                    <a:pt x="0" y="75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Freeform 223"/>
            <p:cNvSpPr>
              <a:spLocks/>
            </p:cNvSpPr>
            <p:nvPr/>
          </p:nvSpPr>
          <p:spPr bwMode="auto">
            <a:xfrm>
              <a:off x="3507" y="2833"/>
              <a:ext cx="70" cy="75"/>
            </a:xfrm>
            <a:custGeom>
              <a:avLst/>
              <a:gdLst>
                <a:gd name="T0" fmla="*/ 2 w 140"/>
                <a:gd name="T1" fmla="*/ 75 h 75"/>
                <a:gd name="T2" fmla="*/ 0 w 140"/>
                <a:gd name="T3" fmla="*/ 0 h 75"/>
                <a:gd name="T4" fmla="*/ 1 w 140"/>
                <a:gd name="T5" fmla="*/ 2 h 75"/>
                <a:gd name="T6" fmla="*/ 1 w 140"/>
                <a:gd name="T7" fmla="*/ 4 h 75"/>
                <a:gd name="T8" fmla="*/ 1 w 140"/>
                <a:gd name="T9" fmla="*/ 5 h 75"/>
                <a:gd name="T10" fmla="*/ 1 w 140"/>
                <a:gd name="T11" fmla="*/ 7 h 75"/>
                <a:gd name="T12" fmla="*/ 1 w 140"/>
                <a:gd name="T13" fmla="*/ 8 h 75"/>
                <a:gd name="T14" fmla="*/ 1 w 140"/>
                <a:gd name="T15" fmla="*/ 8 h 75"/>
                <a:gd name="T16" fmla="*/ 1 w 140"/>
                <a:gd name="T17" fmla="*/ 9 h 75"/>
                <a:gd name="T18" fmla="*/ 2 w 140"/>
                <a:gd name="T19" fmla="*/ 9 h 75"/>
                <a:gd name="T20" fmla="*/ 2 w 140"/>
                <a:gd name="T21" fmla="*/ 9 h 75"/>
                <a:gd name="T22" fmla="*/ 2 w 140"/>
                <a:gd name="T23" fmla="*/ 8 h 75"/>
                <a:gd name="T24" fmla="*/ 2 w 140"/>
                <a:gd name="T25" fmla="*/ 8 h 75"/>
                <a:gd name="T26" fmla="*/ 2 w 140"/>
                <a:gd name="T27" fmla="*/ 7 h 75"/>
                <a:gd name="T28" fmla="*/ 2 w 140"/>
                <a:gd name="T29" fmla="*/ 5 h 75"/>
                <a:gd name="T30" fmla="*/ 2 w 140"/>
                <a:gd name="T31" fmla="*/ 4 h 75"/>
                <a:gd name="T32" fmla="*/ 3 w 140"/>
                <a:gd name="T33" fmla="*/ 2 h 75"/>
                <a:gd name="T34" fmla="*/ 3 w 140"/>
                <a:gd name="T35" fmla="*/ 0 h 75"/>
                <a:gd name="T36" fmla="*/ 3 w 140"/>
                <a:gd name="T37" fmla="*/ 0 h 75"/>
                <a:gd name="T38" fmla="*/ 2 w 140"/>
                <a:gd name="T39" fmla="*/ 75 h 75"/>
                <a:gd name="T40" fmla="*/ 2 w 140"/>
                <a:gd name="T41" fmla="*/ 75 h 7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5"/>
                <a:gd name="T65" fmla="*/ 140 w 140"/>
                <a:gd name="T66" fmla="*/ 75 h 7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5">
                  <a:moveTo>
                    <a:pt x="70" y="75"/>
                  </a:moveTo>
                  <a:lnTo>
                    <a:pt x="0" y="0"/>
                  </a:lnTo>
                  <a:lnTo>
                    <a:pt x="10" y="2"/>
                  </a:lnTo>
                  <a:lnTo>
                    <a:pt x="17" y="4"/>
                  </a:lnTo>
                  <a:lnTo>
                    <a:pt x="27" y="5"/>
                  </a:lnTo>
                  <a:lnTo>
                    <a:pt x="34" y="7"/>
                  </a:lnTo>
                  <a:lnTo>
                    <a:pt x="44" y="8"/>
                  </a:lnTo>
                  <a:lnTo>
                    <a:pt x="53" y="8"/>
                  </a:lnTo>
                  <a:lnTo>
                    <a:pt x="61" y="9"/>
                  </a:lnTo>
                  <a:lnTo>
                    <a:pt x="70" y="9"/>
                  </a:lnTo>
                  <a:lnTo>
                    <a:pt x="79" y="9"/>
                  </a:lnTo>
                  <a:lnTo>
                    <a:pt x="87" y="8"/>
                  </a:lnTo>
                  <a:lnTo>
                    <a:pt x="96" y="8"/>
                  </a:lnTo>
                  <a:lnTo>
                    <a:pt x="106" y="7"/>
                  </a:lnTo>
                  <a:lnTo>
                    <a:pt x="113" y="5"/>
                  </a:lnTo>
                  <a:lnTo>
                    <a:pt x="123" y="4"/>
                  </a:lnTo>
                  <a:lnTo>
                    <a:pt x="130" y="2"/>
                  </a:lnTo>
                  <a:lnTo>
                    <a:pt x="140" y="0"/>
                  </a:lnTo>
                  <a:lnTo>
                    <a:pt x="70" y="75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" name="Line 224"/>
            <p:cNvSpPr>
              <a:spLocks noChangeShapeType="1"/>
            </p:cNvSpPr>
            <p:nvPr/>
          </p:nvSpPr>
          <p:spPr bwMode="auto">
            <a:xfrm>
              <a:off x="3702" y="2956"/>
              <a:ext cx="1" cy="1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8" name="Line 225"/>
            <p:cNvSpPr>
              <a:spLocks noChangeShapeType="1"/>
            </p:cNvSpPr>
            <p:nvPr/>
          </p:nvSpPr>
          <p:spPr bwMode="auto">
            <a:xfrm>
              <a:off x="4235" y="2956"/>
              <a:ext cx="1" cy="1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9" name="Line 226"/>
            <p:cNvSpPr>
              <a:spLocks noChangeShapeType="1"/>
            </p:cNvSpPr>
            <p:nvPr/>
          </p:nvSpPr>
          <p:spPr bwMode="auto">
            <a:xfrm>
              <a:off x="4235" y="2956"/>
              <a:ext cx="1" cy="2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0" name="Line 227"/>
            <p:cNvSpPr>
              <a:spLocks noChangeShapeType="1"/>
            </p:cNvSpPr>
            <p:nvPr/>
          </p:nvSpPr>
          <p:spPr bwMode="auto">
            <a:xfrm>
              <a:off x="3382" y="3108"/>
              <a:ext cx="1" cy="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" name="Line 228"/>
            <p:cNvSpPr>
              <a:spLocks noChangeShapeType="1"/>
            </p:cNvSpPr>
            <p:nvPr/>
          </p:nvSpPr>
          <p:spPr bwMode="auto">
            <a:xfrm>
              <a:off x="3434" y="3015"/>
              <a:ext cx="21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Freeform 229"/>
            <p:cNvSpPr>
              <a:spLocks/>
            </p:cNvSpPr>
            <p:nvPr/>
          </p:nvSpPr>
          <p:spPr bwMode="auto">
            <a:xfrm>
              <a:off x="3382" y="2977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2 w 140"/>
                <a:gd name="T3" fmla="*/ 0 h 76"/>
                <a:gd name="T4" fmla="*/ 2 w 140"/>
                <a:gd name="T5" fmla="*/ 5 h 76"/>
                <a:gd name="T6" fmla="*/ 2 w 140"/>
                <a:gd name="T7" fmla="*/ 9 h 76"/>
                <a:gd name="T8" fmla="*/ 2 w 140"/>
                <a:gd name="T9" fmla="*/ 14 h 76"/>
                <a:gd name="T10" fmla="*/ 1 w 140"/>
                <a:gd name="T11" fmla="*/ 18 h 76"/>
                <a:gd name="T12" fmla="*/ 1 w 140"/>
                <a:gd name="T13" fmla="*/ 23 h 76"/>
                <a:gd name="T14" fmla="*/ 1 w 140"/>
                <a:gd name="T15" fmla="*/ 29 h 76"/>
                <a:gd name="T16" fmla="*/ 1 w 140"/>
                <a:gd name="T17" fmla="*/ 33 h 76"/>
                <a:gd name="T18" fmla="*/ 1 w 140"/>
                <a:gd name="T19" fmla="*/ 38 h 76"/>
                <a:gd name="T20" fmla="*/ 1 w 140"/>
                <a:gd name="T21" fmla="*/ 43 h 76"/>
                <a:gd name="T22" fmla="*/ 1 w 140"/>
                <a:gd name="T23" fmla="*/ 47 h 76"/>
                <a:gd name="T24" fmla="*/ 1 w 140"/>
                <a:gd name="T25" fmla="*/ 52 h 76"/>
                <a:gd name="T26" fmla="*/ 1 w 140"/>
                <a:gd name="T27" fmla="*/ 58 h 76"/>
                <a:gd name="T28" fmla="*/ 2 w 140"/>
                <a:gd name="T29" fmla="*/ 62 h 76"/>
                <a:gd name="T30" fmla="*/ 2 w 140"/>
                <a:gd name="T31" fmla="*/ 67 h 76"/>
                <a:gd name="T32" fmla="*/ 2 w 140"/>
                <a:gd name="T33" fmla="*/ 71 h 76"/>
                <a:gd name="T34" fmla="*/ 2 w 140"/>
                <a:gd name="T35" fmla="*/ 76 h 76"/>
                <a:gd name="T36" fmla="*/ 2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Freeform 230"/>
            <p:cNvSpPr>
              <a:spLocks/>
            </p:cNvSpPr>
            <p:nvPr/>
          </p:nvSpPr>
          <p:spPr bwMode="auto">
            <a:xfrm>
              <a:off x="3633" y="2977"/>
              <a:ext cx="69" cy="76"/>
            </a:xfrm>
            <a:custGeom>
              <a:avLst/>
              <a:gdLst>
                <a:gd name="T0" fmla="*/ 2 w 140"/>
                <a:gd name="T1" fmla="*/ 38 h 76"/>
                <a:gd name="T2" fmla="*/ 0 w 140"/>
                <a:gd name="T3" fmla="*/ 76 h 76"/>
                <a:gd name="T4" fmla="*/ 0 w 140"/>
                <a:gd name="T5" fmla="*/ 71 h 76"/>
                <a:gd name="T6" fmla="*/ 0 w 140"/>
                <a:gd name="T7" fmla="*/ 67 h 76"/>
                <a:gd name="T8" fmla="*/ 0 w 140"/>
                <a:gd name="T9" fmla="*/ 62 h 76"/>
                <a:gd name="T10" fmla="*/ 0 w 140"/>
                <a:gd name="T11" fmla="*/ 58 h 76"/>
                <a:gd name="T12" fmla="*/ 0 w 140"/>
                <a:gd name="T13" fmla="*/ 52 h 76"/>
                <a:gd name="T14" fmla="*/ 0 w 140"/>
                <a:gd name="T15" fmla="*/ 47 h 76"/>
                <a:gd name="T16" fmla="*/ 0 w 140"/>
                <a:gd name="T17" fmla="*/ 43 h 76"/>
                <a:gd name="T18" fmla="*/ 0 w 140"/>
                <a:gd name="T19" fmla="*/ 38 h 76"/>
                <a:gd name="T20" fmla="*/ 0 w 140"/>
                <a:gd name="T21" fmla="*/ 33 h 76"/>
                <a:gd name="T22" fmla="*/ 0 w 140"/>
                <a:gd name="T23" fmla="*/ 29 h 76"/>
                <a:gd name="T24" fmla="*/ 0 w 140"/>
                <a:gd name="T25" fmla="*/ 23 h 76"/>
                <a:gd name="T26" fmla="*/ 0 w 140"/>
                <a:gd name="T27" fmla="*/ 18 h 76"/>
                <a:gd name="T28" fmla="*/ 0 w 140"/>
                <a:gd name="T29" fmla="*/ 14 h 76"/>
                <a:gd name="T30" fmla="*/ 0 w 140"/>
                <a:gd name="T31" fmla="*/ 9 h 76"/>
                <a:gd name="T32" fmla="*/ 0 w 140"/>
                <a:gd name="T33" fmla="*/ 5 h 76"/>
                <a:gd name="T34" fmla="*/ 0 w 140"/>
                <a:gd name="T35" fmla="*/ 0 h 76"/>
                <a:gd name="T36" fmla="*/ 0 w 140"/>
                <a:gd name="T37" fmla="*/ 0 h 76"/>
                <a:gd name="T38" fmla="*/ 2 w 140"/>
                <a:gd name="T39" fmla="*/ 38 h 76"/>
                <a:gd name="T40" fmla="*/ 2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140" y="38"/>
                  </a:moveTo>
                  <a:lnTo>
                    <a:pt x="0" y="76"/>
                  </a:lnTo>
                  <a:lnTo>
                    <a:pt x="4" y="71"/>
                  </a:lnTo>
                  <a:lnTo>
                    <a:pt x="8" y="67"/>
                  </a:lnTo>
                  <a:lnTo>
                    <a:pt x="11" y="62"/>
                  </a:lnTo>
                  <a:lnTo>
                    <a:pt x="13" y="58"/>
                  </a:lnTo>
                  <a:lnTo>
                    <a:pt x="15" y="52"/>
                  </a:lnTo>
                  <a:lnTo>
                    <a:pt x="17" y="47"/>
                  </a:lnTo>
                  <a:lnTo>
                    <a:pt x="17" y="43"/>
                  </a:lnTo>
                  <a:lnTo>
                    <a:pt x="17" y="38"/>
                  </a:lnTo>
                  <a:lnTo>
                    <a:pt x="17" y="33"/>
                  </a:lnTo>
                  <a:lnTo>
                    <a:pt x="17" y="29"/>
                  </a:lnTo>
                  <a:lnTo>
                    <a:pt x="15" y="23"/>
                  </a:lnTo>
                  <a:lnTo>
                    <a:pt x="13" y="18"/>
                  </a:lnTo>
                  <a:lnTo>
                    <a:pt x="11" y="14"/>
                  </a:lnTo>
                  <a:lnTo>
                    <a:pt x="8" y="9"/>
                  </a:lnTo>
                  <a:lnTo>
                    <a:pt x="4" y="5"/>
                  </a:lnTo>
                  <a:lnTo>
                    <a:pt x="0" y="0"/>
                  </a:lnTo>
                  <a:lnTo>
                    <a:pt x="14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Line 231"/>
            <p:cNvSpPr>
              <a:spLocks noChangeShapeType="1"/>
            </p:cNvSpPr>
            <p:nvPr/>
          </p:nvSpPr>
          <p:spPr bwMode="auto">
            <a:xfrm>
              <a:off x="3754" y="3015"/>
              <a:ext cx="42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Freeform 232"/>
            <p:cNvSpPr>
              <a:spLocks/>
            </p:cNvSpPr>
            <p:nvPr/>
          </p:nvSpPr>
          <p:spPr bwMode="auto">
            <a:xfrm>
              <a:off x="3702" y="2977"/>
              <a:ext cx="69" cy="76"/>
            </a:xfrm>
            <a:custGeom>
              <a:avLst/>
              <a:gdLst>
                <a:gd name="T0" fmla="*/ 0 w 137"/>
                <a:gd name="T1" fmla="*/ 38 h 76"/>
                <a:gd name="T2" fmla="*/ 3 w 137"/>
                <a:gd name="T3" fmla="*/ 0 h 76"/>
                <a:gd name="T4" fmla="*/ 3 w 137"/>
                <a:gd name="T5" fmla="*/ 5 h 76"/>
                <a:gd name="T6" fmla="*/ 3 w 137"/>
                <a:gd name="T7" fmla="*/ 9 h 76"/>
                <a:gd name="T8" fmla="*/ 2 w 137"/>
                <a:gd name="T9" fmla="*/ 14 h 76"/>
                <a:gd name="T10" fmla="*/ 2 w 137"/>
                <a:gd name="T11" fmla="*/ 18 h 76"/>
                <a:gd name="T12" fmla="*/ 2 w 137"/>
                <a:gd name="T13" fmla="*/ 23 h 76"/>
                <a:gd name="T14" fmla="*/ 2 w 137"/>
                <a:gd name="T15" fmla="*/ 29 h 76"/>
                <a:gd name="T16" fmla="*/ 2 w 137"/>
                <a:gd name="T17" fmla="*/ 33 h 76"/>
                <a:gd name="T18" fmla="*/ 2 w 137"/>
                <a:gd name="T19" fmla="*/ 38 h 76"/>
                <a:gd name="T20" fmla="*/ 2 w 137"/>
                <a:gd name="T21" fmla="*/ 43 h 76"/>
                <a:gd name="T22" fmla="*/ 2 w 137"/>
                <a:gd name="T23" fmla="*/ 47 h 76"/>
                <a:gd name="T24" fmla="*/ 2 w 137"/>
                <a:gd name="T25" fmla="*/ 52 h 76"/>
                <a:gd name="T26" fmla="*/ 2 w 137"/>
                <a:gd name="T27" fmla="*/ 58 h 76"/>
                <a:gd name="T28" fmla="*/ 2 w 137"/>
                <a:gd name="T29" fmla="*/ 62 h 76"/>
                <a:gd name="T30" fmla="*/ 3 w 137"/>
                <a:gd name="T31" fmla="*/ 67 h 76"/>
                <a:gd name="T32" fmla="*/ 3 w 137"/>
                <a:gd name="T33" fmla="*/ 71 h 76"/>
                <a:gd name="T34" fmla="*/ 3 w 137"/>
                <a:gd name="T35" fmla="*/ 76 h 76"/>
                <a:gd name="T36" fmla="*/ 3 w 137"/>
                <a:gd name="T37" fmla="*/ 76 h 76"/>
                <a:gd name="T38" fmla="*/ 0 w 137"/>
                <a:gd name="T39" fmla="*/ 38 h 76"/>
                <a:gd name="T40" fmla="*/ 0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0" y="38"/>
                  </a:moveTo>
                  <a:lnTo>
                    <a:pt x="137" y="0"/>
                  </a:lnTo>
                  <a:lnTo>
                    <a:pt x="134" y="5"/>
                  </a:lnTo>
                  <a:lnTo>
                    <a:pt x="130" y="9"/>
                  </a:lnTo>
                  <a:lnTo>
                    <a:pt x="128" y="14"/>
                  </a:lnTo>
                  <a:lnTo>
                    <a:pt x="124" y="18"/>
                  </a:lnTo>
                  <a:lnTo>
                    <a:pt x="122" y="23"/>
                  </a:lnTo>
                  <a:lnTo>
                    <a:pt x="122" y="29"/>
                  </a:lnTo>
                  <a:lnTo>
                    <a:pt x="120" y="33"/>
                  </a:lnTo>
                  <a:lnTo>
                    <a:pt x="120" y="38"/>
                  </a:lnTo>
                  <a:lnTo>
                    <a:pt x="120" y="43"/>
                  </a:lnTo>
                  <a:lnTo>
                    <a:pt x="122" y="47"/>
                  </a:lnTo>
                  <a:lnTo>
                    <a:pt x="122" y="52"/>
                  </a:lnTo>
                  <a:lnTo>
                    <a:pt x="124" y="58"/>
                  </a:lnTo>
                  <a:lnTo>
                    <a:pt x="128" y="62"/>
                  </a:lnTo>
                  <a:lnTo>
                    <a:pt x="130" y="67"/>
                  </a:lnTo>
                  <a:lnTo>
                    <a:pt x="134" y="71"/>
                  </a:lnTo>
                  <a:lnTo>
                    <a:pt x="137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Freeform 233"/>
            <p:cNvSpPr>
              <a:spLocks/>
            </p:cNvSpPr>
            <p:nvPr/>
          </p:nvSpPr>
          <p:spPr bwMode="auto">
            <a:xfrm>
              <a:off x="4166" y="2977"/>
              <a:ext cx="69" cy="76"/>
            </a:xfrm>
            <a:custGeom>
              <a:avLst/>
              <a:gdLst>
                <a:gd name="T0" fmla="*/ 3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3 w 137"/>
                <a:gd name="T39" fmla="*/ 38 h 76"/>
                <a:gd name="T40" fmla="*/ 3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Line 234"/>
            <p:cNvSpPr>
              <a:spLocks noChangeShapeType="1"/>
            </p:cNvSpPr>
            <p:nvPr/>
          </p:nvSpPr>
          <p:spPr bwMode="auto">
            <a:xfrm>
              <a:off x="3434" y="3132"/>
              <a:ext cx="74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Freeform 235"/>
            <p:cNvSpPr>
              <a:spLocks/>
            </p:cNvSpPr>
            <p:nvPr/>
          </p:nvSpPr>
          <p:spPr bwMode="auto">
            <a:xfrm>
              <a:off x="3382" y="3094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2 w 140"/>
                <a:gd name="T3" fmla="*/ 0 h 76"/>
                <a:gd name="T4" fmla="*/ 2 w 140"/>
                <a:gd name="T5" fmla="*/ 5 h 76"/>
                <a:gd name="T6" fmla="*/ 2 w 140"/>
                <a:gd name="T7" fmla="*/ 9 h 76"/>
                <a:gd name="T8" fmla="*/ 2 w 140"/>
                <a:gd name="T9" fmla="*/ 14 h 76"/>
                <a:gd name="T10" fmla="*/ 1 w 140"/>
                <a:gd name="T11" fmla="*/ 18 h 76"/>
                <a:gd name="T12" fmla="*/ 1 w 140"/>
                <a:gd name="T13" fmla="*/ 23 h 76"/>
                <a:gd name="T14" fmla="*/ 1 w 140"/>
                <a:gd name="T15" fmla="*/ 29 h 76"/>
                <a:gd name="T16" fmla="*/ 1 w 140"/>
                <a:gd name="T17" fmla="*/ 33 h 76"/>
                <a:gd name="T18" fmla="*/ 1 w 140"/>
                <a:gd name="T19" fmla="*/ 38 h 76"/>
                <a:gd name="T20" fmla="*/ 1 w 140"/>
                <a:gd name="T21" fmla="*/ 43 h 76"/>
                <a:gd name="T22" fmla="*/ 1 w 140"/>
                <a:gd name="T23" fmla="*/ 47 h 76"/>
                <a:gd name="T24" fmla="*/ 1 w 140"/>
                <a:gd name="T25" fmla="*/ 52 h 76"/>
                <a:gd name="T26" fmla="*/ 1 w 140"/>
                <a:gd name="T27" fmla="*/ 58 h 76"/>
                <a:gd name="T28" fmla="*/ 2 w 140"/>
                <a:gd name="T29" fmla="*/ 62 h 76"/>
                <a:gd name="T30" fmla="*/ 2 w 140"/>
                <a:gd name="T31" fmla="*/ 67 h 76"/>
                <a:gd name="T32" fmla="*/ 2 w 140"/>
                <a:gd name="T33" fmla="*/ 71 h 76"/>
                <a:gd name="T34" fmla="*/ 2 w 140"/>
                <a:gd name="T35" fmla="*/ 76 h 76"/>
                <a:gd name="T36" fmla="*/ 2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" name="Freeform 236"/>
            <p:cNvSpPr>
              <a:spLocks/>
            </p:cNvSpPr>
            <p:nvPr/>
          </p:nvSpPr>
          <p:spPr bwMode="auto">
            <a:xfrm>
              <a:off x="4166" y="3094"/>
              <a:ext cx="69" cy="76"/>
            </a:xfrm>
            <a:custGeom>
              <a:avLst/>
              <a:gdLst>
                <a:gd name="T0" fmla="*/ 3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3 w 137"/>
                <a:gd name="T39" fmla="*/ 38 h 76"/>
                <a:gd name="T40" fmla="*/ 3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" name="Rectangle 237"/>
            <p:cNvSpPr>
              <a:spLocks noChangeArrowheads="1"/>
            </p:cNvSpPr>
            <p:nvPr/>
          </p:nvSpPr>
          <p:spPr bwMode="auto">
            <a:xfrm>
              <a:off x="3539" y="2936"/>
              <a:ext cx="72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on</a:t>
              </a:r>
              <a:endParaRPr lang="en-US" altLang="zh-CN"/>
            </a:p>
          </p:txBody>
        </p:sp>
        <p:sp>
          <p:nvSpPr>
            <p:cNvPr id="241" name="Rectangle 238"/>
            <p:cNvSpPr>
              <a:spLocks noChangeArrowheads="1"/>
            </p:cNvSpPr>
            <p:nvPr/>
          </p:nvSpPr>
          <p:spPr bwMode="auto">
            <a:xfrm>
              <a:off x="3520" y="2890"/>
              <a:ext cx="2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242" name="Line 239"/>
            <p:cNvSpPr>
              <a:spLocks noChangeShapeType="1"/>
            </p:cNvSpPr>
            <p:nvPr/>
          </p:nvSpPr>
          <p:spPr bwMode="auto">
            <a:xfrm flipV="1">
              <a:off x="3699" y="3910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" name="Line 240"/>
            <p:cNvSpPr>
              <a:spLocks noChangeShapeType="1"/>
            </p:cNvSpPr>
            <p:nvPr/>
          </p:nvSpPr>
          <p:spPr bwMode="auto">
            <a:xfrm flipV="1">
              <a:off x="4232" y="3910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" name="Line 241"/>
            <p:cNvSpPr>
              <a:spLocks noChangeShapeType="1"/>
            </p:cNvSpPr>
            <p:nvPr/>
          </p:nvSpPr>
          <p:spPr bwMode="auto">
            <a:xfrm flipV="1">
              <a:off x="4552" y="3910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Line 242"/>
            <p:cNvSpPr>
              <a:spLocks noChangeShapeType="1"/>
            </p:cNvSpPr>
            <p:nvPr/>
          </p:nvSpPr>
          <p:spPr bwMode="auto">
            <a:xfrm flipV="1">
              <a:off x="5086" y="3910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" name="Freeform 243"/>
            <p:cNvSpPr>
              <a:spLocks/>
            </p:cNvSpPr>
            <p:nvPr/>
          </p:nvSpPr>
          <p:spPr bwMode="auto">
            <a:xfrm>
              <a:off x="3382" y="3483"/>
              <a:ext cx="1898" cy="234"/>
            </a:xfrm>
            <a:custGeom>
              <a:avLst/>
              <a:gdLst>
                <a:gd name="T0" fmla="*/ 0 w 3797"/>
                <a:gd name="T1" fmla="*/ 234 h 234"/>
                <a:gd name="T2" fmla="*/ 10 w 3797"/>
                <a:gd name="T3" fmla="*/ 0 h 234"/>
                <a:gd name="T4" fmla="*/ 26 w 3797"/>
                <a:gd name="T5" fmla="*/ 234 h 234"/>
                <a:gd name="T6" fmla="*/ 36 w 3797"/>
                <a:gd name="T7" fmla="*/ 0 h 234"/>
                <a:gd name="T8" fmla="*/ 53 w 3797"/>
                <a:gd name="T9" fmla="*/ 234 h 234"/>
                <a:gd name="T10" fmla="*/ 59 w 3797"/>
                <a:gd name="T11" fmla="*/ 117 h 2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797"/>
                <a:gd name="T19" fmla="*/ 0 h 234"/>
                <a:gd name="T20" fmla="*/ 3797 w 3797"/>
                <a:gd name="T21" fmla="*/ 234 h 2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797" h="234">
                  <a:moveTo>
                    <a:pt x="0" y="234"/>
                  </a:moveTo>
                  <a:lnTo>
                    <a:pt x="642" y="0"/>
                  </a:lnTo>
                  <a:lnTo>
                    <a:pt x="1707" y="234"/>
                  </a:lnTo>
                  <a:lnTo>
                    <a:pt x="2347" y="0"/>
                  </a:lnTo>
                  <a:lnTo>
                    <a:pt x="3414" y="234"/>
                  </a:lnTo>
                  <a:lnTo>
                    <a:pt x="3797" y="11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" name="Freeform 244"/>
            <p:cNvSpPr>
              <a:spLocks/>
            </p:cNvSpPr>
            <p:nvPr/>
          </p:nvSpPr>
          <p:spPr bwMode="auto">
            <a:xfrm>
              <a:off x="3702" y="2430"/>
              <a:ext cx="533" cy="479"/>
            </a:xfrm>
            <a:custGeom>
              <a:avLst/>
              <a:gdLst>
                <a:gd name="T0" fmla="*/ 0 w 1065"/>
                <a:gd name="T1" fmla="*/ 0 h 479"/>
                <a:gd name="T2" fmla="*/ 0 w 1065"/>
                <a:gd name="T3" fmla="*/ 479 h 479"/>
                <a:gd name="T4" fmla="*/ 17 w 1065"/>
                <a:gd name="T5" fmla="*/ 479 h 479"/>
                <a:gd name="T6" fmla="*/ 17 w 1065"/>
                <a:gd name="T7" fmla="*/ 0 h 4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5"/>
                <a:gd name="T13" fmla="*/ 0 h 479"/>
                <a:gd name="T14" fmla="*/ 1065 w 1065"/>
                <a:gd name="T15" fmla="*/ 479 h 4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5" h="479">
                  <a:moveTo>
                    <a:pt x="0" y="0"/>
                  </a:moveTo>
                  <a:lnTo>
                    <a:pt x="0" y="479"/>
                  </a:lnTo>
                  <a:lnTo>
                    <a:pt x="1065" y="479"/>
                  </a:lnTo>
                  <a:lnTo>
                    <a:pt x="106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Freeform 245"/>
            <p:cNvSpPr>
              <a:spLocks noEditPoints="1"/>
            </p:cNvSpPr>
            <p:nvPr/>
          </p:nvSpPr>
          <p:spPr bwMode="auto">
            <a:xfrm>
              <a:off x="3376" y="2610"/>
              <a:ext cx="2039" cy="13"/>
            </a:xfrm>
            <a:custGeom>
              <a:avLst/>
              <a:gdLst>
                <a:gd name="T0" fmla="*/ 4 w 4078"/>
                <a:gd name="T1" fmla="*/ 5 h 13"/>
                <a:gd name="T2" fmla="*/ 3 w 4078"/>
                <a:gd name="T3" fmla="*/ 13 h 13"/>
                <a:gd name="T4" fmla="*/ 0 w 4078"/>
                <a:gd name="T5" fmla="*/ 6 h 13"/>
                <a:gd name="T6" fmla="*/ 1 w 4078"/>
                <a:gd name="T7" fmla="*/ 0 h 13"/>
                <a:gd name="T8" fmla="*/ 8 w 4078"/>
                <a:gd name="T9" fmla="*/ 5 h 13"/>
                <a:gd name="T10" fmla="*/ 8 w 4078"/>
                <a:gd name="T11" fmla="*/ 13 h 13"/>
                <a:gd name="T12" fmla="*/ 5 w 4078"/>
                <a:gd name="T13" fmla="*/ 6 h 13"/>
                <a:gd name="T14" fmla="*/ 5 w 4078"/>
                <a:gd name="T15" fmla="*/ 0 h 13"/>
                <a:gd name="T16" fmla="*/ 13 w 4078"/>
                <a:gd name="T17" fmla="*/ 5 h 13"/>
                <a:gd name="T18" fmla="*/ 13 w 4078"/>
                <a:gd name="T19" fmla="*/ 13 h 13"/>
                <a:gd name="T20" fmla="*/ 10 w 4078"/>
                <a:gd name="T21" fmla="*/ 6 h 13"/>
                <a:gd name="T22" fmla="*/ 10 w 4078"/>
                <a:gd name="T23" fmla="*/ 0 h 13"/>
                <a:gd name="T24" fmla="*/ 18 w 4078"/>
                <a:gd name="T25" fmla="*/ 5 h 13"/>
                <a:gd name="T26" fmla="*/ 18 w 4078"/>
                <a:gd name="T27" fmla="*/ 13 h 13"/>
                <a:gd name="T28" fmla="*/ 15 w 4078"/>
                <a:gd name="T29" fmla="*/ 6 h 13"/>
                <a:gd name="T30" fmla="*/ 15 w 4078"/>
                <a:gd name="T31" fmla="*/ 0 h 13"/>
                <a:gd name="T32" fmla="*/ 23 w 4078"/>
                <a:gd name="T33" fmla="*/ 5 h 13"/>
                <a:gd name="T34" fmla="*/ 23 w 4078"/>
                <a:gd name="T35" fmla="*/ 13 h 13"/>
                <a:gd name="T36" fmla="*/ 20 w 4078"/>
                <a:gd name="T37" fmla="*/ 6 h 13"/>
                <a:gd name="T38" fmla="*/ 20 w 4078"/>
                <a:gd name="T39" fmla="*/ 0 h 13"/>
                <a:gd name="T40" fmla="*/ 28 w 4078"/>
                <a:gd name="T41" fmla="*/ 5 h 13"/>
                <a:gd name="T42" fmla="*/ 27 w 4078"/>
                <a:gd name="T43" fmla="*/ 13 h 13"/>
                <a:gd name="T44" fmla="*/ 24 w 4078"/>
                <a:gd name="T45" fmla="*/ 6 h 13"/>
                <a:gd name="T46" fmla="*/ 25 w 4078"/>
                <a:gd name="T47" fmla="*/ 0 h 13"/>
                <a:gd name="T48" fmla="*/ 32 w 4078"/>
                <a:gd name="T49" fmla="*/ 5 h 13"/>
                <a:gd name="T50" fmla="*/ 32 w 4078"/>
                <a:gd name="T51" fmla="*/ 13 h 13"/>
                <a:gd name="T52" fmla="*/ 29 w 4078"/>
                <a:gd name="T53" fmla="*/ 6 h 13"/>
                <a:gd name="T54" fmla="*/ 29 w 4078"/>
                <a:gd name="T55" fmla="*/ 0 h 13"/>
                <a:gd name="T56" fmla="*/ 37 w 4078"/>
                <a:gd name="T57" fmla="*/ 5 h 13"/>
                <a:gd name="T58" fmla="*/ 37 w 4078"/>
                <a:gd name="T59" fmla="*/ 13 h 13"/>
                <a:gd name="T60" fmla="*/ 34 w 4078"/>
                <a:gd name="T61" fmla="*/ 6 h 13"/>
                <a:gd name="T62" fmla="*/ 34 w 4078"/>
                <a:gd name="T63" fmla="*/ 0 h 13"/>
                <a:gd name="T64" fmla="*/ 42 w 4078"/>
                <a:gd name="T65" fmla="*/ 5 h 13"/>
                <a:gd name="T66" fmla="*/ 42 w 4078"/>
                <a:gd name="T67" fmla="*/ 13 h 13"/>
                <a:gd name="T68" fmla="*/ 39 w 4078"/>
                <a:gd name="T69" fmla="*/ 6 h 13"/>
                <a:gd name="T70" fmla="*/ 39 w 4078"/>
                <a:gd name="T71" fmla="*/ 0 h 13"/>
                <a:gd name="T72" fmla="*/ 47 w 4078"/>
                <a:gd name="T73" fmla="*/ 5 h 13"/>
                <a:gd name="T74" fmla="*/ 47 w 4078"/>
                <a:gd name="T75" fmla="*/ 13 h 13"/>
                <a:gd name="T76" fmla="*/ 44 w 4078"/>
                <a:gd name="T77" fmla="*/ 6 h 13"/>
                <a:gd name="T78" fmla="*/ 44 w 4078"/>
                <a:gd name="T79" fmla="*/ 0 h 13"/>
                <a:gd name="T80" fmla="*/ 52 w 4078"/>
                <a:gd name="T81" fmla="*/ 5 h 13"/>
                <a:gd name="T82" fmla="*/ 51 w 4078"/>
                <a:gd name="T83" fmla="*/ 13 h 13"/>
                <a:gd name="T84" fmla="*/ 48 w 4078"/>
                <a:gd name="T85" fmla="*/ 6 h 13"/>
                <a:gd name="T86" fmla="*/ 49 w 4078"/>
                <a:gd name="T87" fmla="*/ 0 h 13"/>
                <a:gd name="T88" fmla="*/ 56 w 4078"/>
                <a:gd name="T89" fmla="*/ 5 h 13"/>
                <a:gd name="T90" fmla="*/ 56 w 4078"/>
                <a:gd name="T91" fmla="*/ 13 h 13"/>
                <a:gd name="T92" fmla="*/ 53 w 4078"/>
                <a:gd name="T93" fmla="*/ 6 h 13"/>
                <a:gd name="T94" fmla="*/ 53 w 4078"/>
                <a:gd name="T95" fmla="*/ 0 h 13"/>
                <a:gd name="T96" fmla="*/ 61 w 4078"/>
                <a:gd name="T97" fmla="*/ 5 h 13"/>
                <a:gd name="T98" fmla="*/ 61 w 4078"/>
                <a:gd name="T99" fmla="*/ 13 h 13"/>
                <a:gd name="T100" fmla="*/ 58 w 4078"/>
                <a:gd name="T101" fmla="*/ 6 h 13"/>
                <a:gd name="T102" fmla="*/ 58 w 4078"/>
                <a:gd name="T103" fmla="*/ 0 h 13"/>
                <a:gd name="T104" fmla="*/ 64 w 4078"/>
                <a:gd name="T105" fmla="*/ 5 h 13"/>
                <a:gd name="T106" fmla="*/ 64 w 4078"/>
                <a:gd name="T107" fmla="*/ 13 h 13"/>
                <a:gd name="T108" fmla="*/ 63 w 4078"/>
                <a:gd name="T109" fmla="*/ 6 h 13"/>
                <a:gd name="T110" fmla="*/ 63 w 4078"/>
                <a:gd name="T111" fmla="*/ 0 h 13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4078"/>
                <a:gd name="T169" fmla="*/ 0 h 13"/>
                <a:gd name="T170" fmla="*/ 4078 w 4078"/>
                <a:gd name="T171" fmla="*/ 13 h 13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4078" h="13">
                  <a:moveTo>
                    <a:pt x="11" y="0"/>
                  </a:moveTo>
                  <a:lnTo>
                    <a:pt x="191" y="0"/>
                  </a:lnTo>
                  <a:lnTo>
                    <a:pt x="194" y="0"/>
                  </a:lnTo>
                  <a:lnTo>
                    <a:pt x="196" y="0"/>
                  </a:lnTo>
                  <a:lnTo>
                    <a:pt x="200" y="2"/>
                  </a:lnTo>
                  <a:lnTo>
                    <a:pt x="202" y="4"/>
                  </a:lnTo>
                  <a:lnTo>
                    <a:pt x="204" y="5"/>
                  </a:lnTo>
                  <a:lnTo>
                    <a:pt x="204" y="6"/>
                  </a:lnTo>
                  <a:lnTo>
                    <a:pt x="204" y="8"/>
                  </a:lnTo>
                  <a:lnTo>
                    <a:pt x="202" y="9"/>
                  </a:lnTo>
                  <a:lnTo>
                    <a:pt x="200" y="11"/>
                  </a:lnTo>
                  <a:lnTo>
                    <a:pt x="196" y="13"/>
                  </a:lnTo>
                  <a:lnTo>
                    <a:pt x="194" y="13"/>
                  </a:lnTo>
                  <a:lnTo>
                    <a:pt x="191" y="13"/>
                  </a:lnTo>
                  <a:lnTo>
                    <a:pt x="11" y="13"/>
                  </a:lnTo>
                  <a:lnTo>
                    <a:pt x="9" y="13"/>
                  </a:lnTo>
                  <a:lnTo>
                    <a:pt x="8" y="13"/>
                  </a:lnTo>
                  <a:lnTo>
                    <a:pt x="4" y="11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4" y="2"/>
                  </a:lnTo>
                  <a:lnTo>
                    <a:pt x="8" y="0"/>
                  </a:lnTo>
                  <a:lnTo>
                    <a:pt x="9" y="0"/>
                  </a:lnTo>
                  <a:lnTo>
                    <a:pt x="11" y="0"/>
                  </a:lnTo>
                  <a:close/>
                  <a:moveTo>
                    <a:pt x="319" y="0"/>
                  </a:moveTo>
                  <a:lnTo>
                    <a:pt x="498" y="0"/>
                  </a:lnTo>
                  <a:lnTo>
                    <a:pt x="500" y="0"/>
                  </a:lnTo>
                  <a:lnTo>
                    <a:pt x="502" y="0"/>
                  </a:lnTo>
                  <a:lnTo>
                    <a:pt x="507" y="2"/>
                  </a:lnTo>
                  <a:lnTo>
                    <a:pt x="509" y="4"/>
                  </a:lnTo>
                  <a:lnTo>
                    <a:pt x="509" y="5"/>
                  </a:lnTo>
                  <a:lnTo>
                    <a:pt x="511" y="6"/>
                  </a:lnTo>
                  <a:lnTo>
                    <a:pt x="509" y="8"/>
                  </a:lnTo>
                  <a:lnTo>
                    <a:pt x="509" y="9"/>
                  </a:lnTo>
                  <a:lnTo>
                    <a:pt x="507" y="11"/>
                  </a:lnTo>
                  <a:lnTo>
                    <a:pt x="502" y="13"/>
                  </a:lnTo>
                  <a:lnTo>
                    <a:pt x="500" y="13"/>
                  </a:lnTo>
                  <a:lnTo>
                    <a:pt x="498" y="13"/>
                  </a:lnTo>
                  <a:lnTo>
                    <a:pt x="319" y="13"/>
                  </a:lnTo>
                  <a:lnTo>
                    <a:pt x="317" y="13"/>
                  </a:lnTo>
                  <a:lnTo>
                    <a:pt x="313" y="13"/>
                  </a:lnTo>
                  <a:lnTo>
                    <a:pt x="309" y="11"/>
                  </a:lnTo>
                  <a:lnTo>
                    <a:pt x="307" y="9"/>
                  </a:lnTo>
                  <a:lnTo>
                    <a:pt x="306" y="8"/>
                  </a:lnTo>
                  <a:lnTo>
                    <a:pt x="306" y="6"/>
                  </a:lnTo>
                  <a:lnTo>
                    <a:pt x="306" y="5"/>
                  </a:lnTo>
                  <a:lnTo>
                    <a:pt x="307" y="4"/>
                  </a:lnTo>
                  <a:lnTo>
                    <a:pt x="309" y="2"/>
                  </a:lnTo>
                  <a:lnTo>
                    <a:pt x="313" y="0"/>
                  </a:lnTo>
                  <a:lnTo>
                    <a:pt x="317" y="0"/>
                  </a:lnTo>
                  <a:lnTo>
                    <a:pt x="319" y="0"/>
                  </a:lnTo>
                  <a:close/>
                  <a:moveTo>
                    <a:pt x="626" y="0"/>
                  </a:moveTo>
                  <a:lnTo>
                    <a:pt x="804" y="0"/>
                  </a:lnTo>
                  <a:lnTo>
                    <a:pt x="807" y="0"/>
                  </a:lnTo>
                  <a:lnTo>
                    <a:pt x="809" y="0"/>
                  </a:lnTo>
                  <a:lnTo>
                    <a:pt x="813" y="2"/>
                  </a:lnTo>
                  <a:lnTo>
                    <a:pt x="817" y="4"/>
                  </a:lnTo>
                  <a:lnTo>
                    <a:pt x="817" y="5"/>
                  </a:lnTo>
                  <a:lnTo>
                    <a:pt x="817" y="6"/>
                  </a:lnTo>
                  <a:lnTo>
                    <a:pt x="817" y="8"/>
                  </a:lnTo>
                  <a:lnTo>
                    <a:pt x="817" y="9"/>
                  </a:lnTo>
                  <a:lnTo>
                    <a:pt x="813" y="11"/>
                  </a:lnTo>
                  <a:lnTo>
                    <a:pt x="809" y="13"/>
                  </a:lnTo>
                  <a:lnTo>
                    <a:pt x="807" y="13"/>
                  </a:lnTo>
                  <a:lnTo>
                    <a:pt x="804" y="13"/>
                  </a:lnTo>
                  <a:lnTo>
                    <a:pt x="626" y="13"/>
                  </a:lnTo>
                  <a:lnTo>
                    <a:pt x="622" y="13"/>
                  </a:lnTo>
                  <a:lnTo>
                    <a:pt x="621" y="13"/>
                  </a:lnTo>
                  <a:lnTo>
                    <a:pt x="617" y="11"/>
                  </a:lnTo>
                  <a:lnTo>
                    <a:pt x="613" y="9"/>
                  </a:lnTo>
                  <a:lnTo>
                    <a:pt x="613" y="8"/>
                  </a:lnTo>
                  <a:lnTo>
                    <a:pt x="613" y="6"/>
                  </a:lnTo>
                  <a:lnTo>
                    <a:pt x="613" y="5"/>
                  </a:lnTo>
                  <a:lnTo>
                    <a:pt x="613" y="4"/>
                  </a:lnTo>
                  <a:lnTo>
                    <a:pt x="617" y="2"/>
                  </a:lnTo>
                  <a:lnTo>
                    <a:pt x="621" y="0"/>
                  </a:lnTo>
                  <a:lnTo>
                    <a:pt x="622" y="0"/>
                  </a:lnTo>
                  <a:lnTo>
                    <a:pt x="626" y="0"/>
                  </a:lnTo>
                  <a:close/>
                  <a:moveTo>
                    <a:pt x="932" y="0"/>
                  </a:moveTo>
                  <a:lnTo>
                    <a:pt x="1111" y="0"/>
                  </a:lnTo>
                  <a:lnTo>
                    <a:pt x="1113" y="0"/>
                  </a:lnTo>
                  <a:lnTo>
                    <a:pt x="1117" y="0"/>
                  </a:lnTo>
                  <a:lnTo>
                    <a:pt x="1120" y="2"/>
                  </a:lnTo>
                  <a:lnTo>
                    <a:pt x="1122" y="4"/>
                  </a:lnTo>
                  <a:lnTo>
                    <a:pt x="1124" y="5"/>
                  </a:lnTo>
                  <a:lnTo>
                    <a:pt x="1124" y="6"/>
                  </a:lnTo>
                  <a:lnTo>
                    <a:pt x="1124" y="8"/>
                  </a:lnTo>
                  <a:lnTo>
                    <a:pt x="1122" y="9"/>
                  </a:lnTo>
                  <a:lnTo>
                    <a:pt x="1120" y="11"/>
                  </a:lnTo>
                  <a:lnTo>
                    <a:pt x="1117" y="13"/>
                  </a:lnTo>
                  <a:lnTo>
                    <a:pt x="1113" y="13"/>
                  </a:lnTo>
                  <a:lnTo>
                    <a:pt x="1111" y="13"/>
                  </a:lnTo>
                  <a:lnTo>
                    <a:pt x="932" y="13"/>
                  </a:lnTo>
                  <a:lnTo>
                    <a:pt x="930" y="13"/>
                  </a:lnTo>
                  <a:lnTo>
                    <a:pt x="926" y="13"/>
                  </a:lnTo>
                  <a:lnTo>
                    <a:pt x="922" y="11"/>
                  </a:lnTo>
                  <a:lnTo>
                    <a:pt x="920" y="9"/>
                  </a:lnTo>
                  <a:lnTo>
                    <a:pt x="919" y="8"/>
                  </a:lnTo>
                  <a:lnTo>
                    <a:pt x="919" y="6"/>
                  </a:lnTo>
                  <a:lnTo>
                    <a:pt x="919" y="5"/>
                  </a:lnTo>
                  <a:lnTo>
                    <a:pt x="920" y="4"/>
                  </a:lnTo>
                  <a:lnTo>
                    <a:pt x="922" y="2"/>
                  </a:lnTo>
                  <a:lnTo>
                    <a:pt x="926" y="0"/>
                  </a:lnTo>
                  <a:lnTo>
                    <a:pt x="930" y="0"/>
                  </a:lnTo>
                  <a:lnTo>
                    <a:pt x="932" y="0"/>
                  </a:lnTo>
                  <a:close/>
                  <a:moveTo>
                    <a:pt x="1239" y="0"/>
                  </a:moveTo>
                  <a:lnTo>
                    <a:pt x="1417" y="0"/>
                  </a:lnTo>
                  <a:lnTo>
                    <a:pt x="1420" y="0"/>
                  </a:lnTo>
                  <a:lnTo>
                    <a:pt x="1422" y="0"/>
                  </a:lnTo>
                  <a:lnTo>
                    <a:pt x="1426" y="2"/>
                  </a:lnTo>
                  <a:lnTo>
                    <a:pt x="1430" y="4"/>
                  </a:lnTo>
                  <a:lnTo>
                    <a:pt x="1430" y="5"/>
                  </a:lnTo>
                  <a:lnTo>
                    <a:pt x="1430" y="6"/>
                  </a:lnTo>
                  <a:lnTo>
                    <a:pt x="1430" y="8"/>
                  </a:lnTo>
                  <a:lnTo>
                    <a:pt x="1430" y="9"/>
                  </a:lnTo>
                  <a:lnTo>
                    <a:pt x="1426" y="11"/>
                  </a:lnTo>
                  <a:lnTo>
                    <a:pt x="1422" y="13"/>
                  </a:lnTo>
                  <a:lnTo>
                    <a:pt x="1420" y="13"/>
                  </a:lnTo>
                  <a:lnTo>
                    <a:pt x="1417" y="13"/>
                  </a:lnTo>
                  <a:lnTo>
                    <a:pt x="1239" y="13"/>
                  </a:lnTo>
                  <a:lnTo>
                    <a:pt x="1235" y="13"/>
                  </a:lnTo>
                  <a:lnTo>
                    <a:pt x="1234" y="13"/>
                  </a:lnTo>
                  <a:lnTo>
                    <a:pt x="1230" y="11"/>
                  </a:lnTo>
                  <a:lnTo>
                    <a:pt x="1226" y="9"/>
                  </a:lnTo>
                  <a:lnTo>
                    <a:pt x="1226" y="8"/>
                  </a:lnTo>
                  <a:lnTo>
                    <a:pt x="1226" y="6"/>
                  </a:lnTo>
                  <a:lnTo>
                    <a:pt x="1226" y="5"/>
                  </a:lnTo>
                  <a:lnTo>
                    <a:pt x="1226" y="4"/>
                  </a:lnTo>
                  <a:lnTo>
                    <a:pt x="1230" y="2"/>
                  </a:lnTo>
                  <a:lnTo>
                    <a:pt x="1234" y="0"/>
                  </a:lnTo>
                  <a:lnTo>
                    <a:pt x="1235" y="0"/>
                  </a:lnTo>
                  <a:lnTo>
                    <a:pt x="1239" y="0"/>
                  </a:lnTo>
                  <a:close/>
                  <a:moveTo>
                    <a:pt x="1545" y="0"/>
                  </a:moveTo>
                  <a:lnTo>
                    <a:pt x="1724" y="0"/>
                  </a:lnTo>
                  <a:lnTo>
                    <a:pt x="1726" y="0"/>
                  </a:lnTo>
                  <a:lnTo>
                    <a:pt x="1730" y="0"/>
                  </a:lnTo>
                  <a:lnTo>
                    <a:pt x="1733" y="2"/>
                  </a:lnTo>
                  <a:lnTo>
                    <a:pt x="1735" y="4"/>
                  </a:lnTo>
                  <a:lnTo>
                    <a:pt x="1737" y="5"/>
                  </a:lnTo>
                  <a:lnTo>
                    <a:pt x="1737" y="6"/>
                  </a:lnTo>
                  <a:lnTo>
                    <a:pt x="1737" y="8"/>
                  </a:lnTo>
                  <a:lnTo>
                    <a:pt x="1735" y="9"/>
                  </a:lnTo>
                  <a:lnTo>
                    <a:pt x="1733" y="11"/>
                  </a:lnTo>
                  <a:lnTo>
                    <a:pt x="1730" y="13"/>
                  </a:lnTo>
                  <a:lnTo>
                    <a:pt x="1726" y="13"/>
                  </a:lnTo>
                  <a:lnTo>
                    <a:pt x="1724" y="13"/>
                  </a:lnTo>
                  <a:lnTo>
                    <a:pt x="1545" y="13"/>
                  </a:lnTo>
                  <a:lnTo>
                    <a:pt x="1543" y="13"/>
                  </a:lnTo>
                  <a:lnTo>
                    <a:pt x="1541" y="13"/>
                  </a:lnTo>
                  <a:lnTo>
                    <a:pt x="1535" y="11"/>
                  </a:lnTo>
                  <a:lnTo>
                    <a:pt x="1533" y="9"/>
                  </a:lnTo>
                  <a:lnTo>
                    <a:pt x="1533" y="8"/>
                  </a:lnTo>
                  <a:lnTo>
                    <a:pt x="1532" y="6"/>
                  </a:lnTo>
                  <a:lnTo>
                    <a:pt x="1533" y="5"/>
                  </a:lnTo>
                  <a:lnTo>
                    <a:pt x="1533" y="4"/>
                  </a:lnTo>
                  <a:lnTo>
                    <a:pt x="1535" y="2"/>
                  </a:lnTo>
                  <a:lnTo>
                    <a:pt x="1541" y="0"/>
                  </a:lnTo>
                  <a:lnTo>
                    <a:pt x="1543" y="0"/>
                  </a:lnTo>
                  <a:lnTo>
                    <a:pt x="1545" y="0"/>
                  </a:lnTo>
                  <a:close/>
                  <a:moveTo>
                    <a:pt x="1852" y="0"/>
                  </a:moveTo>
                  <a:lnTo>
                    <a:pt x="2031" y="0"/>
                  </a:lnTo>
                  <a:lnTo>
                    <a:pt x="2033" y="0"/>
                  </a:lnTo>
                  <a:lnTo>
                    <a:pt x="2035" y="0"/>
                  </a:lnTo>
                  <a:lnTo>
                    <a:pt x="2039" y="2"/>
                  </a:lnTo>
                  <a:lnTo>
                    <a:pt x="2043" y="4"/>
                  </a:lnTo>
                  <a:lnTo>
                    <a:pt x="2043" y="5"/>
                  </a:lnTo>
                  <a:lnTo>
                    <a:pt x="2043" y="6"/>
                  </a:lnTo>
                  <a:lnTo>
                    <a:pt x="2043" y="8"/>
                  </a:lnTo>
                  <a:lnTo>
                    <a:pt x="2043" y="9"/>
                  </a:lnTo>
                  <a:lnTo>
                    <a:pt x="2039" y="11"/>
                  </a:lnTo>
                  <a:lnTo>
                    <a:pt x="2035" y="13"/>
                  </a:lnTo>
                  <a:lnTo>
                    <a:pt x="2033" y="13"/>
                  </a:lnTo>
                  <a:lnTo>
                    <a:pt x="2031" y="13"/>
                  </a:lnTo>
                  <a:lnTo>
                    <a:pt x="1852" y="13"/>
                  </a:lnTo>
                  <a:lnTo>
                    <a:pt x="1848" y="13"/>
                  </a:lnTo>
                  <a:lnTo>
                    <a:pt x="1847" y="13"/>
                  </a:lnTo>
                  <a:lnTo>
                    <a:pt x="1843" y="11"/>
                  </a:lnTo>
                  <a:lnTo>
                    <a:pt x="1839" y="9"/>
                  </a:lnTo>
                  <a:lnTo>
                    <a:pt x="1839" y="8"/>
                  </a:lnTo>
                  <a:lnTo>
                    <a:pt x="1839" y="6"/>
                  </a:lnTo>
                  <a:lnTo>
                    <a:pt x="1839" y="5"/>
                  </a:lnTo>
                  <a:lnTo>
                    <a:pt x="1839" y="4"/>
                  </a:lnTo>
                  <a:lnTo>
                    <a:pt x="1843" y="2"/>
                  </a:lnTo>
                  <a:lnTo>
                    <a:pt x="1847" y="0"/>
                  </a:lnTo>
                  <a:lnTo>
                    <a:pt x="1848" y="0"/>
                  </a:lnTo>
                  <a:lnTo>
                    <a:pt x="1852" y="0"/>
                  </a:lnTo>
                  <a:close/>
                  <a:moveTo>
                    <a:pt x="2158" y="0"/>
                  </a:moveTo>
                  <a:lnTo>
                    <a:pt x="2337" y="0"/>
                  </a:lnTo>
                  <a:lnTo>
                    <a:pt x="2341" y="0"/>
                  </a:lnTo>
                  <a:lnTo>
                    <a:pt x="2343" y="0"/>
                  </a:lnTo>
                  <a:lnTo>
                    <a:pt x="2346" y="2"/>
                  </a:lnTo>
                  <a:lnTo>
                    <a:pt x="2348" y="4"/>
                  </a:lnTo>
                  <a:lnTo>
                    <a:pt x="2350" y="5"/>
                  </a:lnTo>
                  <a:lnTo>
                    <a:pt x="2350" y="6"/>
                  </a:lnTo>
                  <a:lnTo>
                    <a:pt x="2350" y="8"/>
                  </a:lnTo>
                  <a:lnTo>
                    <a:pt x="2348" y="9"/>
                  </a:lnTo>
                  <a:lnTo>
                    <a:pt x="2346" y="11"/>
                  </a:lnTo>
                  <a:lnTo>
                    <a:pt x="2343" y="13"/>
                  </a:lnTo>
                  <a:lnTo>
                    <a:pt x="2341" y="13"/>
                  </a:lnTo>
                  <a:lnTo>
                    <a:pt x="2337" y="13"/>
                  </a:lnTo>
                  <a:lnTo>
                    <a:pt x="2158" y="13"/>
                  </a:lnTo>
                  <a:lnTo>
                    <a:pt x="2156" y="13"/>
                  </a:lnTo>
                  <a:lnTo>
                    <a:pt x="2154" y="13"/>
                  </a:lnTo>
                  <a:lnTo>
                    <a:pt x="2148" y="11"/>
                  </a:lnTo>
                  <a:lnTo>
                    <a:pt x="2146" y="9"/>
                  </a:lnTo>
                  <a:lnTo>
                    <a:pt x="2146" y="8"/>
                  </a:lnTo>
                  <a:lnTo>
                    <a:pt x="2146" y="6"/>
                  </a:lnTo>
                  <a:lnTo>
                    <a:pt x="2146" y="5"/>
                  </a:lnTo>
                  <a:lnTo>
                    <a:pt x="2146" y="4"/>
                  </a:lnTo>
                  <a:lnTo>
                    <a:pt x="2148" y="2"/>
                  </a:lnTo>
                  <a:lnTo>
                    <a:pt x="2154" y="0"/>
                  </a:lnTo>
                  <a:lnTo>
                    <a:pt x="2156" y="0"/>
                  </a:lnTo>
                  <a:lnTo>
                    <a:pt x="2158" y="0"/>
                  </a:lnTo>
                  <a:close/>
                  <a:moveTo>
                    <a:pt x="2465" y="0"/>
                  </a:moveTo>
                  <a:lnTo>
                    <a:pt x="2644" y="0"/>
                  </a:lnTo>
                  <a:lnTo>
                    <a:pt x="2646" y="0"/>
                  </a:lnTo>
                  <a:lnTo>
                    <a:pt x="2648" y="0"/>
                  </a:lnTo>
                  <a:lnTo>
                    <a:pt x="2652" y="2"/>
                  </a:lnTo>
                  <a:lnTo>
                    <a:pt x="2656" y="4"/>
                  </a:lnTo>
                  <a:lnTo>
                    <a:pt x="2656" y="5"/>
                  </a:lnTo>
                  <a:lnTo>
                    <a:pt x="2656" y="6"/>
                  </a:lnTo>
                  <a:lnTo>
                    <a:pt x="2656" y="8"/>
                  </a:lnTo>
                  <a:lnTo>
                    <a:pt x="2656" y="9"/>
                  </a:lnTo>
                  <a:lnTo>
                    <a:pt x="2652" y="11"/>
                  </a:lnTo>
                  <a:lnTo>
                    <a:pt x="2648" y="13"/>
                  </a:lnTo>
                  <a:lnTo>
                    <a:pt x="2646" y="13"/>
                  </a:lnTo>
                  <a:lnTo>
                    <a:pt x="2644" y="13"/>
                  </a:lnTo>
                  <a:lnTo>
                    <a:pt x="2465" y="13"/>
                  </a:lnTo>
                  <a:lnTo>
                    <a:pt x="2463" y="13"/>
                  </a:lnTo>
                  <a:lnTo>
                    <a:pt x="2460" y="13"/>
                  </a:lnTo>
                  <a:lnTo>
                    <a:pt x="2456" y="11"/>
                  </a:lnTo>
                  <a:lnTo>
                    <a:pt x="2454" y="9"/>
                  </a:lnTo>
                  <a:lnTo>
                    <a:pt x="2452" y="8"/>
                  </a:lnTo>
                  <a:lnTo>
                    <a:pt x="2452" y="6"/>
                  </a:lnTo>
                  <a:lnTo>
                    <a:pt x="2452" y="5"/>
                  </a:lnTo>
                  <a:lnTo>
                    <a:pt x="2454" y="4"/>
                  </a:lnTo>
                  <a:lnTo>
                    <a:pt x="2456" y="2"/>
                  </a:lnTo>
                  <a:lnTo>
                    <a:pt x="2460" y="0"/>
                  </a:lnTo>
                  <a:lnTo>
                    <a:pt x="2463" y="0"/>
                  </a:lnTo>
                  <a:lnTo>
                    <a:pt x="2465" y="0"/>
                  </a:lnTo>
                  <a:close/>
                  <a:moveTo>
                    <a:pt x="2771" y="0"/>
                  </a:moveTo>
                  <a:lnTo>
                    <a:pt x="2950" y="0"/>
                  </a:lnTo>
                  <a:lnTo>
                    <a:pt x="2954" y="0"/>
                  </a:lnTo>
                  <a:lnTo>
                    <a:pt x="2956" y="0"/>
                  </a:lnTo>
                  <a:lnTo>
                    <a:pt x="2959" y="2"/>
                  </a:lnTo>
                  <a:lnTo>
                    <a:pt x="2961" y="4"/>
                  </a:lnTo>
                  <a:lnTo>
                    <a:pt x="2963" y="5"/>
                  </a:lnTo>
                  <a:lnTo>
                    <a:pt x="2963" y="6"/>
                  </a:lnTo>
                  <a:lnTo>
                    <a:pt x="2963" y="8"/>
                  </a:lnTo>
                  <a:lnTo>
                    <a:pt x="2961" y="9"/>
                  </a:lnTo>
                  <a:lnTo>
                    <a:pt x="2959" y="11"/>
                  </a:lnTo>
                  <a:lnTo>
                    <a:pt x="2956" y="13"/>
                  </a:lnTo>
                  <a:lnTo>
                    <a:pt x="2954" y="13"/>
                  </a:lnTo>
                  <a:lnTo>
                    <a:pt x="2950" y="13"/>
                  </a:lnTo>
                  <a:lnTo>
                    <a:pt x="2771" y="13"/>
                  </a:lnTo>
                  <a:lnTo>
                    <a:pt x="2769" y="13"/>
                  </a:lnTo>
                  <a:lnTo>
                    <a:pt x="2767" y="13"/>
                  </a:lnTo>
                  <a:lnTo>
                    <a:pt x="2763" y="11"/>
                  </a:lnTo>
                  <a:lnTo>
                    <a:pt x="2759" y="9"/>
                  </a:lnTo>
                  <a:lnTo>
                    <a:pt x="2759" y="8"/>
                  </a:lnTo>
                  <a:lnTo>
                    <a:pt x="2759" y="6"/>
                  </a:lnTo>
                  <a:lnTo>
                    <a:pt x="2759" y="5"/>
                  </a:lnTo>
                  <a:lnTo>
                    <a:pt x="2759" y="4"/>
                  </a:lnTo>
                  <a:lnTo>
                    <a:pt x="2763" y="2"/>
                  </a:lnTo>
                  <a:lnTo>
                    <a:pt x="2767" y="0"/>
                  </a:lnTo>
                  <a:lnTo>
                    <a:pt x="2769" y="0"/>
                  </a:lnTo>
                  <a:lnTo>
                    <a:pt x="2771" y="0"/>
                  </a:lnTo>
                  <a:close/>
                  <a:moveTo>
                    <a:pt x="3078" y="0"/>
                  </a:moveTo>
                  <a:lnTo>
                    <a:pt x="3257" y="0"/>
                  </a:lnTo>
                  <a:lnTo>
                    <a:pt x="3259" y="0"/>
                  </a:lnTo>
                  <a:lnTo>
                    <a:pt x="3261" y="0"/>
                  </a:lnTo>
                  <a:lnTo>
                    <a:pt x="3267" y="2"/>
                  </a:lnTo>
                  <a:lnTo>
                    <a:pt x="3269" y="4"/>
                  </a:lnTo>
                  <a:lnTo>
                    <a:pt x="3269" y="5"/>
                  </a:lnTo>
                  <a:lnTo>
                    <a:pt x="3271" y="6"/>
                  </a:lnTo>
                  <a:lnTo>
                    <a:pt x="3269" y="8"/>
                  </a:lnTo>
                  <a:lnTo>
                    <a:pt x="3269" y="9"/>
                  </a:lnTo>
                  <a:lnTo>
                    <a:pt x="3267" y="11"/>
                  </a:lnTo>
                  <a:lnTo>
                    <a:pt x="3261" y="13"/>
                  </a:lnTo>
                  <a:lnTo>
                    <a:pt x="3259" y="13"/>
                  </a:lnTo>
                  <a:lnTo>
                    <a:pt x="3257" y="13"/>
                  </a:lnTo>
                  <a:lnTo>
                    <a:pt x="3078" y="13"/>
                  </a:lnTo>
                  <a:lnTo>
                    <a:pt x="3076" y="13"/>
                  </a:lnTo>
                  <a:lnTo>
                    <a:pt x="3073" y="13"/>
                  </a:lnTo>
                  <a:lnTo>
                    <a:pt x="3069" y="11"/>
                  </a:lnTo>
                  <a:lnTo>
                    <a:pt x="3067" y="9"/>
                  </a:lnTo>
                  <a:lnTo>
                    <a:pt x="3065" y="8"/>
                  </a:lnTo>
                  <a:lnTo>
                    <a:pt x="3065" y="6"/>
                  </a:lnTo>
                  <a:lnTo>
                    <a:pt x="3065" y="5"/>
                  </a:lnTo>
                  <a:lnTo>
                    <a:pt x="3067" y="4"/>
                  </a:lnTo>
                  <a:lnTo>
                    <a:pt x="3069" y="2"/>
                  </a:lnTo>
                  <a:lnTo>
                    <a:pt x="3073" y="0"/>
                  </a:lnTo>
                  <a:lnTo>
                    <a:pt x="3076" y="0"/>
                  </a:lnTo>
                  <a:lnTo>
                    <a:pt x="3078" y="0"/>
                  </a:lnTo>
                  <a:close/>
                  <a:moveTo>
                    <a:pt x="3386" y="0"/>
                  </a:moveTo>
                  <a:lnTo>
                    <a:pt x="3563" y="0"/>
                  </a:lnTo>
                  <a:lnTo>
                    <a:pt x="3567" y="0"/>
                  </a:lnTo>
                  <a:lnTo>
                    <a:pt x="3569" y="0"/>
                  </a:lnTo>
                  <a:lnTo>
                    <a:pt x="3572" y="2"/>
                  </a:lnTo>
                  <a:lnTo>
                    <a:pt x="3576" y="4"/>
                  </a:lnTo>
                  <a:lnTo>
                    <a:pt x="3576" y="5"/>
                  </a:lnTo>
                  <a:lnTo>
                    <a:pt x="3576" y="6"/>
                  </a:lnTo>
                  <a:lnTo>
                    <a:pt x="3576" y="8"/>
                  </a:lnTo>
                  <a:lnTo>
                    <a:pt x="3576" y="9"/>
                  </a:lnTo>
                  <a:lnTo>
                    <a:pt x="3572" y="11"/>
                  </a:lnTo>
                  <a:lnTo>
                    <a:pt x="3569" y="13"/>
                  </a:lnTo>
                  <a:lnTo>
                    <a:pt x="3567" y="13"/>
                  </a:lnTo>
                  <a:lnTo>
                    <a:pt x="3563" y="13"/>
                  </a:lnTo>
                  <a:lnTo>
                    <a:pt x="3386" y="13"/>
                  </a:lnTo>
                  <a:lnTo>
                    <a:pt x="3382" y="13"/>
                  </a:lnTo>
                  <a:lnTo>
                    <a:pt x="3380" y="13"/>
                  </a:lnTo>
                  <a:lnTo>
                    <a:pt x="3376" y="11"/>
                  </a:lnTo>
                  <a:lnTo>
                    <a:pt x="3373" y="9"/>
                  </a:lnTo>
                  <a:lnTo>
                    <a:pt x="3373" y="8"/>
                  </a:lnTo>
                  <a:lnTo>
                    <a:pt x="3373" y="6"/>
                  </a:lnTo>
                  <a:lnTo>
                    <a:pt x="3373" y="5"/>
                  </a:lnTo>
                  <a:lnTo>
                    <a:pt x="3373" y="4"/>
                  </a:lnTo>
                  <a:lnTo>
                    <a:pt x="3376" y="2"/>
                  </a:lnTo>
                  <a:lnTo>
                    <a:pt x="3380" y="0"/>
                  </a:lnTo>
                  <a:lnTo>
                    <a:pt x="3382" y="0"/>
                  </a:lnTo>
                  <a:lnTo>
                    <a:pt x="3386" y="0"/>
                  </a:lnTo>
                  <a:close/>
                  <a:moveTo>
                    <a:pt x="3691" y="0"/>
                  </a:moveTo>
                  <a:lnTo>
                    <a:pt x="3870" y="0"/>
                  </a:lnTo>
                  <a:lnTo>
                    <a:pt x="3872" y="0"/>
                  </a:lnTo>
                  <a:lnTo>
                    <a:pt x="3876" y="0"/>
                  </a:lnTo>
                  <a:lnTo>
                    <a:pt x="3880" y="2"/>
                  </a:lnTo>
                  <a:lnTo>
                    <a:pt x="3882" y="4"/>
                  </a:lnTo>
                  <a:lnTo>
                    <a:pt x="3884" y="5"/>
                  </a:lnTo>
                  <a:lnTo>
                    <a:pt x="3884" y="6"/>
                  </a:lnTo>
                  <a:lnTo>
                    <a:pt x="3884" y="8"/>
                  </a:lnTo>
                  <a:lnTo>
                    <a:pt x="3882" y="9"/>
                  </a:lnTo>
                  <a:lnTo>
                    <a:pt x="3880" y="11"/>
                  </a:lnTo>
                  <a:lnTo>
                    <a:pt x="3876" y="13"/>
                  </a:lnTo>
                  <a:lnTo>
                    <a:pt x="3872" y="13"/>
                  </a:lnTo>
                  <a:lnTo>
                    <a:pt x="3870" y="13"/>
                  </a:lnTo>
                  <a:lnTo>
                    <a:pt x="3691" y="13"/>
                  </a:lnTo>
                  <a:lnTo>
                    <a:pt x="3689" y="13"/>
                  </a:lnTo>
                  <a:lnTo>
                    <a:pt x="3686" y="13"/>
                  </a:lnTo>
                  <a:lnTo>
                    <a:pt x="3682" y="11"/>
                  </a:lnTo>
                  <a:lnTo>
                    <a:pt x="3680" y="9"/>
                  </a:lnTo>
                  <a:lnTo>
                    <a:pt x="3678" y="8"/>
                  </a:lnTo>
                  <a:lnTo>
                    <a:pt x="3678" y="6"/>
                  </a:lnTo>
                  <a:lnTo>
                    <a:pt x="3678" y="5"/>
                  </a:lnTo>
                  <a:lnTo>
                    <a:pt x="3680" y="4"/>
                  </a:lnTo>
                  <a:lnTo>
                    <a:pt x="3682" y="2"/>
                  </a:lnTo>
                  <a:lnTo>
                    <a:pt x="3686" y="0"/>
                  </a:lnTo>
                  <a:lnTo>
                    <a:pt x="3689" y="0"/>
                  </a:lnTo>
                  <a:lnTo>
                    <a:pt x="3691" y="0"/>
                  </a:lnTo>
                  <a:close/>
                  <a:moveTo>
                    <a:pt x="3999" y="0"/>
                  </a:moveTo>
                  <a:lnTo>
                    <a:pt x="4065" y="0"/>
                  </a:lnTo>
                  <a:lnTo>
                    <a:pt x="4067" y="0"/>
                  </a:lnTo>
                  <a:lnTo>
                    <a:pt x="4068" y="0"/>
                  </a:lnTo>
                  <a:lnTo>
                    <a:pt x="4074" y="2"/>
                  </a:lnTo>
                  <a:lnTo>
                    <a:pt x="4076" y="4"/>
                  </a:lnTo>
                  <a:lnTo>
                    <a:pt x="4078" y="5"/>
                  </a:lnTo>
                  <a:lnTo>
                    <a:pt x="4078" y="6"/>
                  </a:lnTo>
                  <a:lnTo>
                    <a:pt x="4078" y="8"/>
                  </a:lnTo>
                  <a:lnTo>
                    <a:pt x="4076" y="9"/>
                  </a:lnTo>
                  <a:lnTo>
                    <a:pt x="4074" y="11"/>
                  </a:lnTo>
                  <a:lnTo>
                    <a:pt x="4068" y="13"/>
                  </a:lnTo>
                  <a:lnTo>
                    <a:pt x="4067" y="13"/>
                  </a:lnTo>
                  <a:lnTo>
                    <a:pt x="4065" y="13"/>
                  </a:lnTo>
                  <a:lnTo>
                    <a:pt x="3999" y="13"/>
                  </a:lnTo>
                  <a:lnTo>
                    <a:pt x="3995" y="13"/>
                  </a:lnTo>
                  <a:lnTo>
                    <a:pt x="3993" y="13"/>
                  </a:lnTo>
                  <a:lnTo>
                    <a:pt x="3989" y="11"/>
                  </a:lnTo>
                  <a:lnTo>
                    <a:pt x="3986" y="9"/>
                  </a:lnTo>
                  <a:lnTo>
                    <a:pt x="3986" y="8"/>
                  </a:lnTo>
                  <a:lnTo>
                    <a:pt x="3986" y="6"/>
                  </a:lnTo>
                  <a:lnTo>
                    <a:pt x="3986" y="5"/>
                  </a:lnTo>
                  <a:lnTo>
                    <a:pt x="3986" y="4"/>
                  </a:lnTo>
                  <a:lnTo>
                    <a:pt x="3989" y="2"/>
                  </a:lnTo>
                  <a:lnTo>
                    <a:pt x="3993" y="0"/>
                  </a:lnTo>
                  <a:lnTo>
                    <a:pt x="3995" y="0"/>
                  </a:lnTo>
                  <a:lnTo>
                    <a:pt x="3999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Rectangle 246"/>
            <p:cNvSpPr>
              <a:spLocks noChangeArrowheads="1"/>
            </p:cNvSpPr>
            <p:nvPr/>
          </p:nvSpPr>
          <p:spPr bwMode="auto">
            <a:xfrm>
              <a:off x="3909" y="2901"/>
              <a:ext cx="59" cy="11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/>
            </a:p>
          </p:txBody>
        </p:sp>
        <p:sp>
          <p:nvSpPr>
            <p:cNvPr id="250" name="Rectangle 247"/>
            <p:cNvSpPr>
              <a:spLocks noChangeArrowheads="1"/>
            </p:cNvSpPr>
            <p:nvPr/>
          </p:nvSpPr>
          <p:spPr bwMode="auto">
            <a:xfrm>
              <a:off x="3697" y="3145"/>
              <a:ext cx="197" cy="18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/2</a:t>
              </a:r>
              <a:endParaRPr lang="en-US" altLang="zh-CN" sz="2000"/>
            </a:p>
          </p:txBody>
        </p:sp>
        <p:sp>
          <p:nvSpPr>
            <p:cNvPr id="251" name="Rectangle 248"/>
            <p:cNvSpPr>
              <a:spLocks noChangeArrowheads="1"/>
            </p:cNvSpPr>
            <p:nvPr/>
          </p:nvSpPr>
          <p:spPr bwMode="auto">
            <a:xfrm>
              <a:off x="3425" y="3281"/>
              <a:ext cx="102" cy="21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</a:p>
          </p:txBody>
        </p:sp>
        <p:sp>
          <p:nvSpPr>
            <p:cNvPr id="252" name="Freeform 249"/>
            <p:cNvSpPr>
              <a:spLocks noEditPoints="1"/>
            </p:cNvSpPr>
            <p:nvPr/>
          </p:nvSpPr>
          <p:spPr bwMode="auto">
            <a:xfrm>
              <a:off x="3378" y="3608"/>
              <a:ext cx="1980" cy="8"/>
            </a:xfrm>
            <a:custGeom>
              <a:avLst/>
              <a:gdLst>
                <a:gd name="T0" fmla="*/ 1 w 3961"/>
                <a:gd name="T1" fmla="*/ 5 h 8"/>
                <a:gd name="T2" fmla="*/ 0 w 3961"/>
                <a:gd name="T3" fmla="*/ 5 h 8"/>
                <a:gd name="T4" fmla="*/ 3 w 3961"/>
                <a:gd name="T5" fmla="*/ 0 h 8"/>
                <a:gd name="T6" fmla="*/ 4 w 3961"/>
                <a:gd name="T7" fmla="*/ 6 h 8"/>
                <a:gd name="T8" fmla="*/ 2 w 3961"/>
                <a:gd name="T9" fmla="*/ 4 h 8"/>
                <a:gd name="T10" fmla="*/ 7 w 3961"/>
                <a:gd name="T11" fmla="*/ 0 h 8"/>
                <a:gd name="T12" fmla="*/ 7 w 3961"/>
                <a:gd name="T13" fmla="*/ 7 h 8"/>
                <a:gd name="T14" fmla="*/ 5 w 3961"/>
                <a:gd name="T15" fmla="*/ 2 h 8"/>
                <a:gd name="T16" fmla="*/ 10 w 3961"/>
                <a:gd name="T17" fmla="*/ 0 h 8"/>
                <a:gd name="T18" fmla="*/ 10 w 3961"/>
                <a:gd name="T19" fmla="*/ 8 h 8"/>
                <a:gd name="T20" fmla="*/ 8 w 3961"/>
                <a:gd name="T21" fmla="*/ 1 h 8"/>
                <a:gd name="T22" fmla="*/ 13 w 3961"/>
                <a:gd name="T23" fmla="*/ 1 h 8"/>
                <a:gd name="T24" fmla="*/ 11 w 3961"/>
                <a:gd name="T25" fmla="*/ 8 h 8"/>
                <a:gd name="T26" fmla="*/ 11 w 3961"/>
                <a:gd name="T27" fmla="*/ 0 h 8"/>
                <a:gd name="T28" fmla="*/ 16 w 3961"/>
                <a:gd name="T29" fmla="*/ 2 h 8"/>
                <a:gd name="T30" fmla="*/ 14 w 3961"/>
                <a:gd name="T31" fmla="*/ 7 h 8"/>
                <a:gd name="T32" fmla="*/ 14 w 3961"/>
                <a:gd name="T33" fmla="*/ 0 h 8"/>
                <a:gd name="T34" fmla="*/ 19 w 3961"/>
                <a:gd name="T35" fmla="*/ 4 h 8"/>
                <a:gd name="T36" fmla="*/ 17 w 3961"/>
                <a:gd name="T37" fmla="*/ 6 h 8"/>
                <a:gd name="T38" fmla="*/ 17 w 3961"/>
                <a:gd name="T39" fmla="*/ 0 h 8"/>
                <a:gd name="T40" fmla="*/ 22 w 3961"/>
                <a:gd name="T41" fmla="*/ 5 h 8"/>
                <a:gd name="T42" fmla="*/ 20 w 3961"/>
                <a:gd name="T43" fmla="*/ 5 h 8"/>
                <a:gd name="T44" fmla="*/ 23 w 3961"/>
                <a:gd name="T45" fmla="*/ 0 h 8"/>
                <a:gd name="T46" fmla="*/ 24 w 3961"/>
                <a:gd name="T47" fmla="*/ 6 h 8"/>
                <a:gd name="T48" fmla="*/ 23 w 3961"/>
                <a:gd name="T49" fmla="*/ 4 h 8"/>
                <a:gd name="T50" fmla="*/ 27 w 3961"/>
                <a:gd name="T51" fmla="*/ 0 h 8"/>
                <a:gd name="T52" fmla="*/ 27 w 3961"/>
                <a:gd name="T53" fmla="*/ 7 h 8"/>
                <a:gd name="T54" fmla="*/ 25 w 3961"/>
                <a:gd name="T55" fmla="*/ 2 h 8"/>
                <a:gd name="T56" fmla="*/ 30 w 3961"/>
                <a:gd name="T57" fmla="*/ 0 h 8"/>
                <a:gd name="T58" fmla="*/ 30 w 3961"/>
                <a:gd name="T59" fmla="*/ 8 h 8"/>
                <a:gd name="T60" fmla="*/ 28 w 3961"/>
                <a:gd name="T61" fmla="*/ 1 h 8"/>
                <a:gd name="T62" fmla="*/ 33 w 3961"/>
                <a:gd name="T63" fmla="*/ 1 h 8"/>
                <a:gd name="T64" fmla="*/ 31 w 3961"/>
                <a:gd name="T65" fmla="*/ 8 h 8"/>
                <a:gd name="T66" fmla="*/ 31 w 3961"/>
                <a:gd name="T67" fmla="*/ 0 h 8"/>
                <a:gd name="T68" fmla="*/ 36 w 3961"/>
                <a:gd name="T69" fmla="*/ 2 h 8"/>
                <a:gd name="T70" fmla="*/ 34 w 3961"/>
                <a:gd name="T71" fmla="*/ 7 h 8"/>
                <a:gd name="T72" fmla="*/ 34 w 3961"/>
                <a:gd name="T73" fmla="*/ 0 h 8"/>
                <a:gd name="T74" fmla="*/ 39 w 3961"/>
                <a:gd name="T75" fmla="*/ 4 h 8"/>
                <a:gd name="T76" fmla="*/ 37 w 3961"/>
                <a:gd name="T77" fmla="*/ 6 h 8"/>
                <a:gd name="T78" fmla="*/ 37 w 3961"/>
                <a:gd name="T79" fmla="*/ 0 h 8"/>
                <a:gd name="T80" fmla="*/ 42 w 3961"/>
                <a:gd name="T81" fmla="*/ 5 h 8"/>
                <a:gd name="T82" fmla="*/ 40 w 3961"/>
                <a:gd name="T83" fmla="*/ 5 h 8"/>
                <a:gd name="T84" fmla="*/ 43 w 3961"/>
                <a:gd name="T85" fmla="*/ 0 h 8"/>
                <a:gd name="T86" fmla="*/ 45 w 3961"/>
                <a:gd name="T87" fmla="*/ 6 h 8"/>
                <a:gd name="T88" fmla="*/ 43 w 3961"/>
                <a:gd name="T89" fmla="*/ 4 h 8"/>
                <a:gd name="T90" fmla="*/ 47 w 3961"/>
                <a:gd name="T91" fmla="*/ 0 h 8"/>
                <a:gd name="T92" fmla="*/ 47 w 3961"/>
                <a:gd name="T93" fmla="*/ 7 h 8"/>
                <a:gd name="T94" fmla="*/ 46 w 3961"/>
                <a:gd name="T95" fmla="*/ 2 h 8"/>
                <a:gd name="T96" fmla="*/ 50 w 3961"/>
                <a:gd name="T97" fmla="*/ 0 h 8"/>
                <a:gd name="T98" fmla="*/ 50 w 3961"/>
                <a:gd name="T99" fmla="*/ 8 h 8"/>
                <a:gd name="T100" fmla="*/ 48 w 3961"/>
                <a:gd name="T101" fmla="*/ 1 h 8"/>
                <a:gd name="T102" fmla="*/ 53 w 3961"/>
                <a:gd name="T103" fmla="*/ 1 h 8"/>
                <a:gd name="T104" fmla="*/ 51 w 3961"/>
                <a:gd name="T105" fmla="*/ 8 h 8"/>
                <a:gd name="T106" fmla="*/ 51 w 3961"/>
                <a:gd name="T107" fmla="*/ 0 h 8"/>
                <a:gd name="T108" fmla="*/ 56 w 3961"/>
                <a:gd name="T109" fmla="*/ 2 h 8"/>
                <a:gd name="T110" fmla="*/ 54 w 3961"/>
                <a:gd name="T111" fmla="*/ 7 h 8"/>
                <a:gd name="T112" fmla="*/ 54 w 3961"/>
                <a:gd name="T113" fmla="*/ 0 h 8"/>
                <a:gd name="T114" fmla="*/ 59 w 3961"/>
                <a:gd name="T115" fmla="*/ 4 h 8"/>
                <a:gd name="T116" fmla="*/ 57 w 3961"/>
                <a:gd name="T117" fmla="*/ 6 h 8"/>
                <a:gd name="T118" fmla="*/ 57 w 3961"/>
                <a:gd name="T119" fmla="*/ 0 h 8"/>
                <a:gd name="T120" fmla="*/ 61 w 3961"/>
                <a:gd name="T121" fmla="*/ 5 h 8"/>
                <a:gd name="T122" fmla="*/ 60 w 3961"/>
                <a:gd name="T123" fmla="*/ 5 h 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961"/>
                <a:gd name="T187" fmla="*/ 0 h 8"/>
                <a:gd name="T188" fmla="*/ 3961 w 3961"/>
                <a:gd name="T189" fmla="*/ 8 h 8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961" h="8">
                  <a:moveTo>
                    <a:pt x="7" y="0"/>
                  </a:moveTo>
                  <a:lnTo>
                    <a:pt x="115" y="0"/>
                  </a:lnTo>
                  <a:lnTo>
                    <a:pt x="119" y="0"/>
                  </a:lnTo>
                  <a:lnTo>
                    <a:pt x="121" y="1"/>
                  </a:lnTo>
                  <a:lnTo>
                    <a:pt x="122" y="2"/>
                  </a:lnTo>
                  <a:lnTo>
                    <a:pt x="122" y="4"/>
                  </a:lnTo>
                  <a:lnTo>
                    <a:pt x="122" y="5"/>
                  </a:lnTo>
                  <a:lnTo>
                    <a:pt x="121" y="6"/>
                  </a:lnTo>
                  <a:lnTo>
                    <a:pt x="119" y="7"/>
                  </a:lnTo>
                  <a:lnTo>
                    <a:pt x="115" y="8"/>
                  </a:lnTo>
                  <a:lnTo>
                    <a:pt x="7" y="8"/>
                  </a:lnTo>
                  <a:lnTo>
                    <a:pt x="5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1"/>
                  </a:lnTo>
                  <a:lnTo>
                    <a:pt x="5" y="0"/>
                  </a:lnTo>
                  <a:lnTo>
                    <a:pt x="7" y="0"/>
                  </a:lnTo>
                  <a:close/>
                  <a:moveTo>
                    <a:pt x="192" y="0"/>
                  </a:moveTo>
                  <a:lnTo>
                    <a:pt x="300" y="0"/>
                  </a:lnTo>
                  <a:lnTo>
                    <a:pt x="302" y="0"/>
                  </a:lnTo>
                  <a:lnTo>
                    <a:pt x="305" y="1"/>
                  </a:lnTo>
                  <a:lnTo>
                    <a:pt x="307" y="2"/>
                  </a:lnTo>
                  <a:lnTo>
                    <a:pt x="307" y="4"/>
                  </a:lnTo>
                  <a:lnTo>
                    <a:pt x="307" y="5"/>
                  </a:lnTo>
                  <a:lnTo>
                    <a:pt x="305" y="6"/>
                  </a:lnTo>
                  <a:lnTo>
                    <a:pt x="302" y="7"/>
                  </a:lnTo>
                  <a:lnTo>
                    <a:pt x="300" y="8"/>
                  </a:lnTo>
                  <a:lnTo>
                    <a:pt x="192" y="8"/>
                  </a:lnTo>
                  <a:lnTo>
                    <a:pt x="188" y="7"/>
                  </a:lnTo>
                  <a:lnTo>
                    <a:pt x="187" y="6"/>
                  </a:lnTo>
                  <a:lnTo>
                    <a:pt x="185" y="5"/>
                  </a:lnTo>
                  <a:lnTo>
                    <a:pt x="185" y="4"/>
                  </a:lnTo>
                  <a:lnTo>
                    <a:pt x="185" y="2"/>
                  </a:lnTo>
                  <a:lnTo>
                    <a:pt x="187" y="1"/>
                  </a:lnTo>
                  <a:lnTo>
                    <a:pt x="188" y="0"/>
                  </a:lnTo>
                  <a:lnTo>
                    <a:pt x="192" y="0"/>
                  </a:lnTo>
                  <a:close/>
                  <a:moveTo>
                    <a:pt x="375" y="0"/>
                  </a:moveTo>
                  <a:lnTo>
                    <a:pt x="483" y="0"/>
                  </a:lnTo>
                  <a:lnTo>
                    <a:pt x="486" y="0"/>
                  </a:lnTo>
                  <a:lnTo>
                    <a:pt x="488" y="1"/>
                  </a:lnTo>
                  <a:lnTo>
                    <a:pt x="490" y="2"/>
                  </a:lnTo>
                  <a:lnTo>
                    <a:pt x="490" y="4"/>
                  </a:lnTo>
                  <a:lnTo>
                    <a:pt x="490" y="5"/>
                  </a:lnTo>
                  <a:lnTo>
                    <a:pt x="488" y="6"/>
                  </a:lnTo>
                  <a:lnTo>
                    <a:pt x="486" y="7"/>
                  </a:lnTo>
                  <a:lnTo>
                    <a:pt x="483" y="8"/>
                  </a:lnTo>
                  <a:lnTo>
                    <a:pt x="375" y="8"/>
                  </a:lnTo>
                  <a:lnTo>
                    <a:pt x="373" y="7"/>
                  </a:lnTo>
                  <a:lnTo>
                    <a:pt x="371" y="6"/>
                  </a:lnTo>
                  <a:lnTo>
                    <a:pt x="370" y="5"/>
                  </a:lnTo>
                  <a:lnTo>
                    <a:pt x="368" y="4"/>
                  </a:lnTo>
                  <a:lnTo>
                    <a:pt x="370" y="2"/>
                  </a:lnTo>
                  <a:lnTo>
                    <a:pt x="371" y="1"/>
                  </a:lnTo>
                  <a:lnTo>
                    <a:pt x="373" y="0"/>
                  </a:lnTo>
                  <a:lnTo>
                    <a:pt x="375" y="0"/>
                  </a:lnTo>
                  <a:close/>
                  <a:moveTo>
                    <a:pt x="560" y="0"/>
                  </a:moveTo>
                  <a:lnTo>
                    <a:pt x="668" y="0"/>
                  </a:lnTo>
                  <a:lnTo>
                    <a:pt x="669" y="0"/>
                  </a:lnTo>
                  <a:lnTo>
                    <a:pt x="673" y="1"/>
                  </a:lnTo>
                  <a:lnTo>
                    <a:pt x="675" y="2"/>
                  </a:lnTo>
                  <a:lnTo>
                    <a:pt x="675" y="4"/>
                  </a:lnTo>
                  <a:lnTo>
                    <a:pt x="675" y="5"/>
                  </a:lnTo>
                  <a:lnTo>
                    <a:pt x="673" y="6"/>
                  </a:lnTo>
                  <a:lnTo>
                    <a:pt x="669" y="7"/>
                  </a:lnTo>
                  <a:lnTo>
                    <a:pt x="668" y="8"/>
                  </a:lnTo>
                  <a:lnTo>
                    <a:pt x="560" y="8"/>
                  </a:lnTo>
                  <a:lnTo>
                    <a:pt x="556" y="7"/>
                  </a:lnTo>
                  <a:lnTo>
                    <a:pt x="554" y="6"/>
                  </a:lnTo>
                  <a:lnTo>
                    <a:pt x="552" y="5"/>
                  </a:lnTo>
                  <a:lnTo>
                    <a:pt x="552" y="4"/>
                  </a:lnTo>
                  <a:lnTo>
                    <a:pt x="552" y="2"/>
                  </a:lnTo>
                  <a:lnTo>
                    <a:pt x="554" y="1"/>
                  </a:lnTo>
                  <a:lnTo>
                    <a:pt x="556" y="0"/>
                  </a:lnTo>
                  <a:lnTo>
                    <a:pt x="560" y="0"/>
                  </a:lnTo>
                  <a:close/>
                  <a:moveTo>
                    <a:pt x="745" y="0"/>
                  </a:moveTo>
                  <a:lnTo>
                    <a:pt x="850" y="0"/>
                  </a:lnTo>
                  <a:lnTo>
                    <a:pt x="854" y="0"/>
                  </a:lnTo>
                  <a:lnTo>
                    <a:pt x="856" y="1"/>
                  </a:lnTo>
                  <a:lnTo>
                    <a:pt x="858" y="2"/>
                  </a:lnTo>
                  <a:lnTo>
                    <a:pt x="860" y="4"/>
                  </a:lnTo>
                  <a:lnTo>
                    <a:pt x="858" y="5"/>
                  </a:lnTo>
                  <a:lnTo>
                    <a:pt x="856" y="6"/>
                  </a:lnTo>
                  <a:lnTo>
                    <a:pt x="854" y="7"/>
                  </a:lnTo>
                  <a:lnTo>
                    <a:pt x="850" y="8"/>
                  </a:lnTo>
                  <a:lnTo>
                    <a:pt x="745" y="8"/>
                  </a:lnTo>
                  <a:lnTo>
                    <a:pt x="741" y="7"/>
                  </a:lnTo>
                  <a:lnTo>
                    <a:pt x="739" y="6"/>
                  </a:lnTo>
                  <a:lnTo>
                    <a:pt x="737" y="5"/>
                  </a:lnTo>
                  <a:lnTo>
                    <a:pt x="735" y="4"/>
                  </a:lnTo>
                  <a:lnTo>
                    <a:pt x="737" y="2"/>
                  </a:lnTo>
                  <a:lnTo>
                    <a:pt x="739" y="1"/>
                  </a:lnTo>
                  <a:lnTo>
                    <a:pt x="741" y="0"/>
                  </a:lnTo>
                  <a:lnTo>
                    <a:pt x="745" y="0"/>
                  </a:lnTo>
                  <a:close/>
                  <a:moveTo>
                    <a:pt x="928" y="0"/>
                  </a:moveTo>
                  <a:lnTo>
                    <a:pt x="1035" y="0"/>
                  </a:lnTo>
                  <a:lnTo>
                    <a:pt x="1037" y="0"/>
                  </a:lnTo>
                  <a:lnTo>
                    <a:pt x="1041" y="1"/>
                  </a:lnTo>
                  <a:lnTo>
                    <a:pt x="1043" y="2"/>
                  </a:lnTo>
                  <a:lnTo>
                    <a:pt x="1043" y="4"/>
                  </a:lnTo>
                  <a:lnTo>
                    <a:pt x="1043" y="5"/>
                  </a:lnTo>
                  <a:lnTo>
                    <a:pt x="1041" y="6"/>
                  </a:lnTo>
                  <a:lnTo>
                    <a:pt x="1037" y="7"/>
                  </a:lnTo>
                  <a:lnTo>
                    <a:pt x="1035" y="8"/>
                  </a:lnTo>
                  <a:lnTo>
                    <a:pt x="928" y="8"/>
                  </a:lnTo>
                  <a:lnTo>
                    <a:pt x="924" y="7"/>
                  </a:lnTo>
                  <a:lnTo>
                    <a:pt x="922" y="6"/>
                  </a:lnTo>
                  <a:lnTo>
                    <a:pt x="920" y="5"/>
                  </a:lnTo>
                  <a:lnTo>
                    <a:pt x="920" y="4"/>
                  </a:lnTo>
                  <a:lnTo>
                    <a:pt x="920" y="2"/>
                  </a:lnTo>
                  <a:lnTo>
                    <a:pt x="922" y="1"/>
                  </a:lnTo>
                  <a:lnTo>
                    <a:pt x="924" y="0"/>
                  </a:lnTo>
                  <a:lnTo>
                    <a:pt x="928" y="0"/>
                  </a:lnTo>
                  <a:close/>
                  <a:moveTo>
                    <a:pt x="1113" y="0"/>
                  </a:moveTo>
                  <a:lnTo>
                    <a:pt x="1220" y="0"/>
                  </a:lnTo>
                  <a:lnTo>
                    <a:pt x="1222" y="0"/>
                  </a:lnTo>
                  <a:lnTo>
                    <a:pt x="1224" y="1"/>
                  </a:lnTo>
                  <a:lnTo>
                    <a:pt x="1226" y="2"/>
                  </a:lnTo>
                  <a:lnTo>
                    <a:pt x="1228" y="4"/>
                  </a:lnTo>
                  <a:lnTo>
                    <a:pt x="1226" y="5"/>
                  </a:lnTo>
                  <a:lnTo>
                    <a:pt x="1224" y="6"/>
                  </a:lnTo>
                  <a:lnTo>
                    <a:pt x="1222" y="7"/>
                  </a:lnTo>
                  <a:lnTo>
                    <a:pt x="1220" y="8"/>
                  </a:lnTo>
                  <a:lnTo>
                    <a:pt x="1113" y="8"/>
                  </a:lnTo>
                  <a:lnTo>
                    <a:pt x="1109" y="7"/>
                  </a:lnTo>
                  <a:lnTo>
                    <a:pt x="1107" y="6"/>
                  </a:lnTo>
                  <a:lnTo>
                    <a:pt x="1105" y="5"/>
                  </a:lnTo>
                  <a:lnTo>
                    <a:pt x="1105" y="4"/>
                  </a:lnTo>
                  <a:lnTo>
                    <a:pt x="1105" y="2"/>
                  </a:lnTo>
                  <a:lnTo>
                    <a:pt x="1107" y="1"/>
                  </a:lnTo>
                  <a:lnTo>
                    <a:pt x="1109" y="0"/>
                  </a:lnTo>
                  <a:lnTo>
                    <a:pt x="1113" y="0"/>
                  </a:lnTo>
                  <a:close/>
                  <a:moveTo>
                    <a:pt x="1296" y="0"/>
                  </a:moveTo>
                  <a:lnTo>
                    <a:pt x="1403" y="0"/>
                  </a:lnTo>
                  <a:lnTo>
                    <a:pt x="1407" y="0"/>
                  </a:lnTo>
                  <a:lnTo>
                    <a:pt x="1409" y="1"/>
                  </a:lnTo>
                  <a:lnTo>
                    <a:pt x="1411" y="2"/>
                  </a:lnTo>
                  <a:lnTo>
                    <a:pt x="1411" y="4"/>
                  </a:lnTo>
                  <a:lnTo>
                    <a:pt x="1411" y="5"/>
                  </a:lnTo>
                  <a:lnTo>
                    <a:pt x="1409" y="6"/>
                  </a:lnTo>
                  <a:lnTo>
                    <a:pt x="1407" y="7"/>
                  </a:lnTo>
                  <a:lnTo>
                    <a:pt x="1403" y="8"/>
                  </a:lnTo>
                  <a:lnTo>
                    <a:pt x="1296" y="8"/>
                  </a:lnTo>
                  <a:lnTo>
                    <a:pt x="1294" y="7"/>
                  </a:lnTo>
                  <a:lnTo>
                    <a:pt x="1290" y="6"/>
                  </a:lnTo>
                  <a:lnTo>
                    <a:pt x="1288" y="5"/>
                  </a:lnTo>
                  <a:lnTo>
                    <a:pt x="1288" y="4"/>
                  </a:lnTo>
                  <a:lnTo>
                    <a:pt x="1288" y="2"/>
                  </a:lnTo>
                  <a:lnTo>
                    <a:pt x="1290" y="1"/>
                  </a:lnTo>
                  <a:lnTo>
                    <a:pt x="1294" y="0"/>
                  </a:lnTo>
                  <a:lnTo>
                    <a:pt x="1296" y="0"/>
                  </a:lnTo>
                  <a:close/>
                  <a:moveTo>
                    <a:pt x="1480" y="0"/>
                  </a:moveTo>
                  <a:lnTo>
                    <a:pt x="1588" y="0"/>
                  </a:lnTo>
                  <a:lnTo>
                    <a:pt x="1590" y="0"/>
                  </a:lnTo>
                  <a:lnTo>
                    <a:pt x="1592" y="1"/>
                  </a:lnTo>
                  <a:lnTo>
                    <a:pt x="1594" y="2"/>
                  </a:lnTo>
                  <a:lnTo>
                    <a:pt x="1596" y="4"/>
                  </a:lnTo>
                  <a:lnTo>
                    <a:pt x="1594" y="5"/>
                  </a:lnTo>
                  <a:lnTo>
                    <a:pt x="1592" y="6"/>
                  </a:lnTo>
                  <a:lnTo>
                    <a:pt x="1590" y="7"/>
                  </a:lnTo>
                  <a:lnTo>
                    <a:pt x="1588" y="8"/>
                  </a:lnTo>
                  <a:lnTo>
                    <a:pt x="1480" y="8"/>
                  </a:lnTo>
                  <a:lnTo>
                    <a:pt x="1477" y="7"/>
                  </a:lnTo>
                  <a:lnTo>
                    <a:pt x="1475" y="6"/>
                  </a:lnTo>
                  <a:lnTo>
                    <a:pt x="1473" y="5"/>
                  </a:lnTo>
                  <a:lnTo>
                    <a:pt x="1473" y="4"/>
                  </a:lnTo>
                  <a:lnTo>
                    <a:pt x="1473" y="2"/>
                  </a:lnTo>
                  <a:lnTo>
                    <a:pt x="1475" y="1"/>
                  </a:lnTo>
                  <a:lnTo>
                    <a:pt x="1477" y="0"/>
                  </a:lnTo>
                  <a:lnTo>
                    <a:pt x="1480" y="0"/>
                  </a:lnTo>
                  <a:close/>
                  <a:moveTo>
                    <a:pt x="1663" y="0"/>
                  </a:moveTo>
                  <a:lnTo>
                    <a:pt x="1771" y="0"/>
                  </a:lnTo>
                  <a:lnTo>
                    <a:pt x="1775" y="0"/>
                  </a:lnTo>
                  <a:lnTo>
                    <a:pt x="1777" y="1"/>
                  </a:lnTo>
                  <a:lnTo>
                    <a:pt x="1778" y="2"/>
                  </a:lnTo>
                  <a:lnTo>
                    <a:pt x="1778" y="4"/>
                  </a:lnTo>
                  <a:lnTo>
                    <a:pt x="1778" y="5"/>
                  </a:lnTo>
                  <a:lnTo>
                    <a:pt x="1777" y="6"/>
                  </a:lnTo>
                  <a:lnTo>
                    <a:pt x="1775" y="7"/>
                  </a:lnTo>
                  <a:lnTo>
                    <a:pt x="1771" y="8"/>
                  </a:lnTo>
                  <a:lnTo>
                    <a:pt x="1663" y="8"/>
                  </a:lnTo>
                  <a:lnTo>
                    <a:pt x="1662" y="7"/>
                  </a:lnTo>
                  <a:lnTo>
                    <a:pt x="1658" y="6"/>
                  </a:lnTo>
                  <a:lnTo>
                    <a:pt x="1656" y="5"/>
                  </a:lnTo>
                  <a:lnTo>
                    <a:pt x="1656" y="4"/>
                  </a:lnTo>
                  <a:lnTo>
                    <a:pt x="1656" y="2"/>
                  </a:lnTo>
                  <a:lnTo>
                    <a:pt x="1658" y="1"/>
                  </a:lnTo>
                  <a:lnTo>
                    <a:pt x="1662" y="0"/>
                  </a:lnTo>
                  <a:lnTo>
                    <a:pt x="1663" y="0"/>
                  </a:lnTo>
                  <a:close/>
                  <a:moveTo>
                    <a:pt x="1848" y="0"/>
                  </a:moveTo>
                  <a:lnTo>
                    <a:pt x="1956" y="0"/>
                  </a:lnTo>
                  <a:lnTo>
                    <a:pt x="1958" y="0"/>
                  </a:lnTo>
                  <a:lnTo>
                    <a:pt x="1960" y="1"/>
                  </a:lnTo>
                  <a:lnTo>
                    <a:pt x="1961" y="2"/>
                  </a:lnTo>
                  <a:lnTo>
                    <a:pt x="1963" y="4"/>
                  </a:lnTo>
                  <a:lnTo>
                    <a:pt x="1961" y="5"/>
                  </a:lnTo>
                  <a:lnTo>
                    <a:pt x="1960" y="6"/>
                  </a:lnTo>
                  <a:lnTo>
                    <a:pt x="1958" y="7"/>
                  </a:lnTo>
                  <a:lnTo>
                    <a:pt x="1956" y="8"/>
                  </a:lnTo>
                  <a:lnTo>
                    <a:pt x="1848" y="8"/>
                  </a:lnTo>
                  <a:lnTo>
                    <a:pt x="1844" y="7"/>
                  </a:lnTo>
                  <a:lnTo>
                    <a:pt x="1843" y="6"/>
                  </a:lnTo>
                  <a:lnTo>
                    <a:pt x="1841" y="5"/>
                  </a:lnTo>
                  <a:lnTo>
                    <a:pt x="1841" y="4"/>
                  </a:lnTo>
                  <a:lnTo>
                    <a:pt x="1841" y="2"/>
                  </a:lnTo>
                  <a:lnTo>
                    <a:pt x="1843" y="1"/>
                  </a:lnTo>
                  <a:lnTo>
                    <a:pt x="1844" y="0"/>
                  </a:lnTo>
                  <a:lnTo>
                    <a:pt x="1848" y="0"/>
                  </a:lnTo>
                  <a:close/>
                  <a:moveTo>
                    <a:pt x="2031" y="0"/>
                  </a:moveTo>
                  <a:lnTo>
                    <a:pt x="2139" y="0"/>
                  </a:lnTo>
                  <a:lnTo>
                    <a:pt x="2142" y="0"/>
                  </a:lnTo>
                  <a:lnTo>
                    <a:pt x="2144" y="1"/>
                  </a:lnTo>
                  <a:lnTo>
                    <a:pt x="2146" y="2"/>
                  </a:lnTo>
                  <a:lnTo>
                    <a:pt x="2146" y="4"/>
                  </a:lnTo>
                  <a:lnTo>
                    <a:pt x="2146" y="5"/>
                  </a:lnTo>
                  <a:lnTo>
                    <a:pt x="2144" y="6"/>
                  </a:lnTo>
                  <a:lnTo>
                    <a:pt x="2142" y="7"/>
                  </a:lnTo>
                  <a:lnTo>
                    <a:pt x="2139" y="8"/>
                  </a:lnTo>
                  <a:lnTo>
                    <a:pt x="2031" y="8"/>
                  </a:lnTo>
                  <a:lnTo>
                    <a:pt x="2029" y="7"/>
                  </a:lnTo>
                  <a:lnTo>
                    <a:pt x="2026" y="6"/>
                  </a:lnTo>
                  <a:lnTo>
                    <a:pt x="2024" y="5"/>
                  </a:lnTo>
                  <a:lnTo>
                    <a:pt x="2024" y="4"/>
                  </a:lnTo>
                  <a:lnTo>
                    <a:pt x="2024" y="2"/>
                  </a:lnTo>
                  <a:lnTo>
                    <a:pt x="2026" y="1"/>
                  </a:lnTo>
                  <a:lnTo>
                    <a:pt x="2029" y="0"/>
                  </a:lnTo>
                  <a:lnTo>
                    <a:pt x="2031" y="0"/>
                  </a:lnTo>
                  <a:close/>
                  <a:moveTo>
                    <a:pt x="2216" y="0"/>
                  </a:moveTo>
                  <a:lnTo>
                    <a:pt x="2324" y="0"/>
                  </a:lnTo>
                  <a:lnTo>
                    <a:pt x="2325" y="0"/>
                  </a:lnTo>
                  <a:lnTo>
                    <a:pt x="2329" y="1"/>
                  </a:lnTo>
                  <a:lnTo>
                    <a:pt x="2329" y="2"/>
                  </a:lnTo>
                  <a:lnTo>
                    <a:pt x="2331" y="4"/>
                  </a:lnTo>
                  <a:lnTo>
                    <a:pt x="2329" y="5"/>
                  </a:lnTo>
                  <a:lnTo>
                    <a:pt x="2329" y="6"/>
                  </a:lnTo>
                  <a:lnTo>
                    <a:pt x="2325" y="7"/>
                  </a:lnTo>
                  <a:lnTo>
                    <a:pt x="2324" y="8"/>
                  </a:lnTo>
                  <a:lnTo>
                    <a:pt x="2216" y="8"/>
                  </a:lnTo>
                  <a:lnTo>
                    <a:pt x="2212" y="7"/>
                  </a:lnTo>
                  <a:lnTo>
                    <a:pt x="2210" y="6"/>
                  </a:lnTo>
                  <a:lnTo>
                    <a:pt x="2209" y="5"/>
                  </a:lnTo>
                  <a:lnTo>
                    <a:pt x="2209" y="4"/>
                  </a:lnTo>
                  <a:lnTo>
                    <a:pt x="2209" y="2"/>
                  </a:lnTo>
                  <a:lnTo>
                    <a:pt x="2210" y="1"/>
                  </a:lnTo>
                  <a:lnTo>
                    <a:pt x="2212" y="0"/>
                  </a:lnTo>
                  <a:lnTo>
                    <a:pt x="2216" y="0"/>
                  </a:lnTo>
                  <a:close/>
                  <a:moveTo>
                    <a:pt x="2399" y="0"/>
                  </a:moveTo>
                  <a:lnTo>
                    <a:pt x="2507" y="0"/>
                  </a:lnTo>
                  <a:lnTo>
                    <a:pt x="2510" y="0"/>
                  </a:lnTo>
                  <a:lnTo>
                    <a:pt x="2512" y="1"/>
                  </a:lnTo>
                  <a:lnTo>
                    <a:pt x="2514" y="2"/>
                  </a:lnTo>
                  <a:lnTo>
                    <a:pt x="2514" y="4"/>
                  </a:lnTo>
                  <a:lnTo>
                    <a:pt x="2514" y="5"/>
                  </a:lnTo>
                  <a:lnTo>
                    <a:pt x="2512" y="6"/>
                  </a:lnTo>
                  <a:lnTo>
                    <a:pt x="2510" y="7"/>
                  </a:lnTo>
                  <a:lnTo>
                    <a:pt x="2507" y="8"/>
                  </a:lnTo>
                  <a:lnTo>
                    <a:pt x="2399" y="8"/>
                  </a:lnTo>
                  <a:lnTo>
                    <a:pt x="2397" y="7"/>
                  </a:lnTo>
                  <a:lnTo>
                    <a:pt x="2393" y="6"/>
                  </a:lnTo>
                  <a:lnTo>
                    <a:pt x="2393" y="5"/>
                  </a:lnTo>
                  <a:lnTo>
                    <a:pt x="2391" y="4"/>
                  </a:lnTo>
                  <a:lnTo>
                    <a:pt x="2393" y="2"/>
                  </a:lnTo>
                  <a:lnTo>
                    <a:pt x="2393" y="1"/>
                  </a:lnTo>
                  <a:lnTo>
                    <a:pt x="2397" y="0"/>
                  </a:lnTo>
                  <a:lnTo>
                    <a:pt x="2399" y="0"/>
                  </a:lnTo>
                  <a:close/>
                  <a:moveTo>
                    <a:pt x="2584" y="0"/>
                  </a:moveTo>
                  <a:lnTo>
                    <a:pt x="2691" y="0"/>
                  </a:lnTo>
                  <a:lnTo>
                    <a:pt x="2693" y="0"/>
                  </a:lnTo>
                  <a:lnTo>
                    <a:pt x="2697" y="1"/>
                  </a:lnTo>
                  <a:lnTo>
                    <a:pt x="2699" y="2"/>
                  </a:lnTo>
                  <a:lnTo>
                    <a:pt x="2699" y="4"/>
                  </a:lnTo>
                  <a:lnTo>
                    <a:pt x="2699" y="5"/>
                  </a:lnTo>
                  <a:lnTo>
                    <a:pt x="2697" y="6"/>
                  </a:lnTo>
                  <a:lnTo>
                    <a:pt x="2693" y="7"/>
                  </a:lnTo>
                  <a:lnTo>
                    <a:pt x="2691" y="8"/>
                  </a:lnTo>
                  <a:lnTo>
                    <a:pt x="2584" y="8"/>
                  </a:lnTo>
                  <a:lnTo>
                    <a:pt x="2580" y="7"/>
                  </a:lnTo>
                  <a:lnTo>
                    <a:pt x="2578" y="6"/>
                  </a:lnTo>
                  <a:lnTo>
                    <a:pt x="2576" y="5"/>
                  </a:lnTo>
                  <a:lnTo>
                    <a:pt x="2576" y="4"/>
                  </a:lnTo>
                  <a:lnTo>
                    <a:pt x="2576" y="2"/>
                  </a:lnTo>
                  <a:lnTo>
                    <a:pt x="2578" y="1"/>
                  </a:lnTo>
                  <a:lnTo>
                    <a:pt x="2580" y="0"/>
                  </a:lnTo>
                  <a:lnTo>
                    <a:pt x="2584" y="0"/>
                  </a:lnTo>
                  <a:close/>
                  <a:moveTo>
                    <a:pt x="2767" y="0"/>
                  </a:moveTo>
                  <a:lnTo>
                    <a:pt x="2874" y="0"/>
                  </a:lnTo>
                  <a:lnTo>
                    <a:pt x="2878" y="0"/>
                  </a:lnTo>
                  <a:lnTo>
                    <a:pt x="2880" y="1"/>
                  </a:lnTo>
                  <a:lnTo>
                    <a:pt x="2882" y="2"/>
                  </a:lnTo>
                  <a:lnTo>
                    <a:pt x="2882" y="4"/>
                  </a:lnTo>
                  <a:lnTo>
                    <a:pt x="2882" y="5"/>
                  </a:lnTo>
                  <a:lnTo>
                    <a:pt x="2880" y="6"/>
                  </a:lnTo>
                  <a:lnTo>
                    <a:pt x="2878" y="7"/>
                  </a:lnTo>
                  <a:lnTo>
                    <a:pt x="2874" y="8"/>
                  </a:lnTo>
                  <a:lnTo>
                    <a:pt x="2767" y="8"/>
                  </a:lnTo>
                  <a:lnTo>
                    <a:pt x="2765" y="7"/>
                  </a:lnTo>
                  <a:lnTo>
                    <a:pt x="2763" y="6"/>
                  </a:lnTo>
                  <a:lnTo>
                    <a:pt x="2761" y="5"/>
                  </a:lnTo>
                  <a:lnTo>
                    <a:pt x="2759" y="4"/>
                  </a:lnTo>
                  <a:lnTo>
                    <a:pt x="2761" y="2"/>
                  </a:lnTo>
                  <a:lnTo>
                    <a:pt x="2763" y="1"/>
                  </a:lnTo>
                  <a:lnTo>
                    <a:pt x="2765" y="0"/>
                  </a:lnTo>
                  <a:lnTo>
                    <a:pt x="2767" y="0"/>
                  </a:lnTo>
                  <a:close/>
                  <a:moveTo>
                    <a:pt x="2952" y="0"/>
                  </a:moveTo>
                  <a:lnTo>
                    <a:pt x="3059" y="0"/>
                  </a:lnTo>
                  <a:lnTo>
                    <a:pt x="3061" y="0"/>
                  </a:lnTo>
                  <a:lnTo>
                    <a:pt x="3065" y="1"/>
                  </a:lnTo>
                  <a:lnTo>
                    <a:pt x="3067" y="2"/>
                  </a:lnTo>
                  <a:lnTo>
                    <a:pt x="3067" y="4"/>
                  </a:lnTo>
                  <a:lnTo>
                    <a:pt x="3067" y="5"/>
                  </a:lnTo>
                  <a:lnTo>
                    <a:pt x="3065" y="6"/>
                  </a:lnTo>
                  <a:lnTo>
                    <a:pt x="3061" y="7"/>
                  </a:lnTo>
                  <a:lnTo>
                    <a:pt x="3059" y="8"/>
                  </a:lnTo>
                  <a:lnTo>
                    <a:pt x="2952" y="8"/>
                  </a:lnTo>
                  <a:lnTo>
                    <a:pt x="2948" y="7"/>
                  </a:lnTo>
                  <a:lnTo>
                    <a:pt x="2946" y="6"/>
                  </a:lnTo>
                  <a:lnTo>
                    <a:pt x="2944" y="5"/>
                  </a:lnTo>
                  <a:lnTo>
                    <a:pt x="2944" y="4"/>
                  </a:lnTo>
                  <a:lnTo>
                    <a:pt x="2944" y="2"/>
                  </a:lnTo>
                  <a:lnTo>
                    <a:pt x="2946" y="1"/>
                  </a:lnTo>
                  <a:lnTo>
                    <a:pt x="2948" y="0"/>
                  </a:lnTo>
                  <a:lnTo>
                    <a:pt x="2952" y="0"/>
                  </a:lnTo>
                  <a:close/>
                  <a:moveTo>
                    <a:pt x="3137" y="0"/>
                  </a:moveTo>
                  <a:lnTo>
                    <a:pt x="3242" y="0"/>
                  </a:lnTo>
                  <a:lnTo>
                    <a:pt x="3246" y="0"/>
                  </a:lnTo>
                  <a:lnTo>
                    <a:pt x="3248" y="1"/>
                  </a:lnTo>
                  <a:lnTo>
                    <a:pt x="3250" y="2"/>
                  </a:lnTo>
                  <a:lnTo>
                    <a:pt x="3250" y="4"/>
                  </a:lnTo>
                  <a:lnTo>
                    <a:pt x="3250" y="5"/>
                  </a:lnTo>
                  <a:lnTo>
                    <a:pt x="3248" y="6"/>
                  </a:lnTo>
                  <a:lnTo>
                    <a:pt x="3246" y="7"/>
                  </a:lnTo>
                  <a:lnTo>
                    <a:pt x="3242" y="8"/>
                  </a:lnTo>
                  <a:lnTo>
                    <a:pt x="3137" y="8"/>
                  </a:lnTo>
                  <a:lnTo>
                    <a:pt x="3133" y="7"/>
                  </a:lnTo>
                  <a:lnTo>
                    <a:pt x="3131" y="6"/>
                  </a:lnTo>
                  <a:lnTo>
                    <a:pt x="3129" y="5"/>
                  </a:lnTo>
                  <a:lnTo>
                    <a:pt x="3127" y="4"/>
                  </a:lnTo>
                  <a:lnTo>
                    <a:pt x="3129" y="2"/>
                  </a:lnTo>
                  <a:lnTo>
                    <a:pt x="3131" y="1"/>
                  </a:lnTo>
                  <a:lnTo>
                    <a:pt x="3133" y="0"/>
                  </a:lnTo>
                  <a:lnTo>
                    <a:pt x="3137" y="0"/>
                  </a:lnTo>
                  <a:close/>
                  <a:moveTo>
                    <a:pt x="3319" y="0"/>
                  </a:moveTo>
                  <a:lnTo>
                    <a:pt x="3427" y="0"/>
                  </a:lnTo>
                  <a:lnTo>
                    <a:pt x="3429" y="0"/>
                  </a:lnTo>
                  <a:lnTo>
                    <a:pt x="3433" y="1"/>
                  </a:lnTo>
                  <a:lnTo>
                    <a:pt x="3435" y="2"/>
                  </a:lnTo>
                  <a:lnTo>
                    <a:pt x="3435" y="4"/>
                  </a:lnTo>
                  <a:lnTo>
                    <a:pt x="3435" y="5"/>
                  </a:lnTo>
                  <a:lnTo>
                    <a:pt x="3433" y="6"/>
                  </a:lnTo>
                  <a:lnTo>
                    <a:pt x="3429" y="7"/>
                  </a:lnTo>
                  <a:lnTo>
                    <a:pt x="3427" y="8"/>
                  </a:lnTo>
                  <a:lnTo>
                    <a:pt x="3319" y="8"/>
                  </a:lnTo>
                  <a:lnTo>
                    <a:pt x="3316" y="7"/>
                  </a:lnTo>
                  <a:lnTo>
                    <a:pt x="3314" y="6"/>
                  </a:lnTo>
                  <a:lnTo>
                    <a:pt x="3312" y="5"/>
                  </a:lnTo>
                  <a:lnTo>
                    <a:pt x="3312" y="4"/>
                  </a:lnTo>
                  <a:lnTo>
                    <a:pt x="3312" y="2"/>
                  </a:lnTo>
                  <a:lnTo>
                    <a:pt x="3314" y="1"/>
                  </a:lnTo>
                  <a:lnTo>
                    <a:pt x="3316" y="0"/>
                  </a:lnTo>
                  <a:lnTo>
                    <a:pt x="3319" y="0"/>
                  </a:lnTo>
                  <a:close/>
                  <a:moveTo>
                    <a:pt x="3504" y="0"/>
                  </a:moveTo>
                  <a:lnTo>
                    <a:pt x="3610" y="0"/>
                  </a:lnTo>
                  <a:lnTo>
                    <a:pt x="3614" y="0"/>
                  </a:lnTo>
                  <a:lnTo>
                    <a:pt x="3616" y="1"/>
                  </a:lnTo>
                  <a:lnTo>
                    <a:pt x="3617" y="2"/>
                  </a:lnTo>
                  <a:lnTo>
                    <a:pt x="3619" y="4"/>
                  </a:lnTo>
                  <a:lnTo>
                    <a:pt x="3617" y="5"/>
                  </a:lnTo>
                  <a:lnTo>
                    <a:pt x="3616" y="6"/>
                  </a:lnTo>
                  <a:lnTo>
                    <a:pt x="3614" y="7"/>
                  </a:lnTo>
                  <a:lnTo>
                    <a:pt x="3610" y="8"/>
                  </a:lnTo>
                  <a:lnTo>
                    <a:pt x="3504" y="8"/>
                  </a:lnTo>
                  <a:lnTo>
                    <a:pt x="3501" y="7"/>
                  </a:lnTo>
                  <a:lnTo>
                    <a:pt x="3499" y="6"/>
                  </a:lnTo>
                  <a:lnTo>
                    <a:pt x="3497" y="5"/>
                  </a:lnTo>
                  <a:lnTo>
                    <a:pt x="3497" y="4"/>
                  </a:lnTo>
                  <a:lnTo>
                    <a:pt x="3497" y="2"/>
                  </a:lnTo>
                  <a:lnTo>
                    <a:pt x="3499" y="1"/>
                  </a:lnTo>
                  <a:lnTo>
                    <a:pt x="3501" y="0"/>
                  </a:lnTo>
                  <a:lnTo>
                    <a:pt x="3504" y="0"/>
                  </a:lnTo>
                  <a:close/>
                  <a:moveTo>
                    <a:pt x="3687" y="0"/>
                  </a:moveTo>
                  <a:lnTo>
                    <a:pt x="3795" y="0"/>
                  </a:lnTo>
                  <a:lnTo>
                    <a:pt x="3799" y="0"/>
                  </a:lnTo>
                  <a:lnTo>
                    <a:pt x="3800" y="1"/>
                  </a:lnTo>
                  <a:lnTo>
                    <a:pt x="3802" y="2"/>
                  </a:lnTo>
                  <a:lnTo>
                    <a:pt x="3802" y="4"/>
                  </a:lnTo>
                  <a:lnTo>
                    <a:pt x="3802" y="5"/>
                  </a:lnTo>
                  <a:lnTo>
                    <a:pt x="3800" y="6"/>
                  </a:lnTo>
                  <a:lnTo>
                    <a:pt x="3799" y="7"/>
                  </a:lnTo>
                  <a:lnTo>
                    <a:pt x="3795" y="8"/>
                  </a:lnTo>
                  <a:lnTo>
                    <a:pt x="3687" y="8"/>
                  </a:lnTo>
                  <a:lnTo>
                    <a:pt x="3685" y="7"/>
                  </a:lnTo>
                  <a:lnTo>
                    <a:pt x="3682" y="6"/>
                  </a:lnTo>
                  <a:lnTo>
                    <a:pt x="3680" y="5"/>
                  </a:lnTo>
                  <a:lnTo>
                    <a:pt x="3680" y="4"/>
                  </a:lnTo>
                  <a:lnTo>
                    <a:pt x="3680" y="2"/>
                  </a:lnTo>
                  <a:lnTo>
                    <a:pt x="3682" y="1"/>
                  </a:lnTo>
                  <a:lnTo>
                    <a:pt x="3685" y="0"/>
                  </a:lnTo>
                  <a:lnTo>
                    <a:pt x="3687" y="0"/>
                  </a:lnTo>
                  <a:close/>
                  <a:moveTo>
                    <a:pt x="3872" y="0"/>
                  </a:moveTo>
                  <a:lnTo>
                    <a:pt x="3953" y="0"/>
                  </a:lnTo>
                  <a:lnTo>
                    <a:pt x="3957" y="0"/>
                  </a:lnTo>
                  <a:lnTo>
                    <a:pt x="3959" y="1"/>
                  </a:lnTo>
                  <a:lnTo>
                    <a:pt x="3961" y="2"/>
                  </a:lnTo>
                  <a:lnTo>
                    <a:pt x="3961" y="4"/>
                  </a:lnTo>
                  <a:lnTo>
                    <a:pt x="3961" y="5"/>
                  </a:lnTo>
                  <a:lnTo>
                    <a:pt x="3959" y="6"/>
                  </a:lnTo>
                  <a:lnTo>
                    <a:pt x="3957" y="7"/>
                  </a:lnTo>
                  <a:lnTo>
                    <a:pt x="3953" y="8"/>
                  </a:lnTo>
                  <a:lnTo>
                    <a:pt x="3872" y="8"/>
                  </a:lnTo>
                  <a:lnTo>
                    <a:pt x="3868" y="7"/>
                  </a:lnTo>
                  <a:lnTo>
                    <a:pt x="3866" y="6"/>
                  </a:lnTo>
                  <a:lnTo>
                    <a:pt x="3865" y="5"/>
                  </a:lnTo>
                  <a:lnTo>
                    <a:pt x="3865" y="4"/>
                  </a:lnTo>
                  <a:lnTo>
                    <a:pt x="3865" y="2"/>
                  </a:lnTo>
                  <a:lnTo>
                    <a:pt x="3866" y="1"/>
                  </a:lnTo>
                  <a:lnTo>
                    <a:pt x="3868" y="0"/>
                  </a:lnTo>
                  <a:lnTo>
                    <a:pt x="3872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" name="Rectangle 250"/>
            <p:cNvSpPr>
              <a:spLocks noChangeArrowheads="1"/>
            </p:cNvSpPr>
            <p:nvPr/>
          </p:nvSpPr>
          <p:spPr bwMode="auto">
            <a:xfrm>
              <a:off x="4468" y="3689"/>
              <a:ext cx="109" cy="18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宋体" pitchFamily="2" charset="-122"/>
                </a:rPr>
                <a:t>I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宋体" pitchFamily="2" charset="-122"/>
                </a:rPr>
                <a:t>o</a:t>
              </a:r>
            </a:p>
          </p:txBody>
        </p:sp>
        <p:sp>
          <p:nvSpPr>
            <p:cNvPr id="254" name="Line 251"/>
            <p:cNvSpPr>
              <a:spLocks noChangeShapeType="1"/>
            </p:cNvSpPr>
            <p:nvPr/>
          </p:nvSpPr>
          <p:spPr bwMode="auto">
            <a:xfrm>
              <a:off x="4555" y="2675"/>
              <a:ext cx="1" cy="2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5" name="Line 252"/>
            <p:cNvSpPr>
              <a:spLocks noChangeShapeType="1"/>
            </p:cNvSpPr>
            <p:nvPr/>
          </p:nvSpPr>
          <p:spPr bwMode="auto">
            <a:xfrm>
              <a:off x="5089" y="2675"/>
              <a:ext cx="1" cy="2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" name="Line 253"/>
            <p:cNvSpPr>
              <a:spLocks noChangeShapeType="1"/>
            </p:cNvSpPr>
            <p:nvPr/>
          </p:nvSpPr>
          <p:spPr bwMode="auto">
            <a:xfrm flipV="1">
              <a:off x="3915" y="2674"/>
              <a:ext cx="1" cy="1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Freeform 254"/>
            <p:cNvSpPr>
              <a:spLocks/>
            </p:cNvSpPr>
            <p:nvPr/>
          </p:nvSpPr>
          <p:spPr bwMode="auto">
            <a:xfrm>
              <a:off x="3881" y="2834"/>
              <a:ext cx="68" cy="75"/>
            </a:xfrm>
            <a:custGeom>
              <a:avLst/>
              <a:gdLst>
                <a:gd name="T0" fmla="*/ 1 w 138"/>
                <a:gd name="T1" fmla="*/ 75 h 75"/>
                <a:gd name="T2" fmla="*/ 0 w 138"/>
                <a:gd name="T3" fmla="*/ 0 h 75"/>
                <a:gd name="T4" fmla="*/ 0 w 138"/>
                <a:gd name="T5" fmla="*/ 2 h 75"/>
                <a:gd name="T6" fmla="*/ 0 w 138"/>
                <a:gd name="T7" fmla="*/ 4 h 75"/>
                <a:gd name="T8" fmla="*/ 0 w 138"/>
                <a:gd name="T9" fmla="*/ 5 h 75"/>
                <a:gd name="T10" fmla="*/ 0 w 138"/>
                <a:gd name="T11" fmla="*/ 6 h 75"/>
                <a:gd name="T12" fmla="*/ 0 w 138"/>
                <a:gd name="T13" fmla="*/ 7 h 75"/>
                <a:gd name="T14" fmla="*/ 0 w 138"/>
                <a:gd name="T15" fmla="*/ 8 h 75"/>
                <a:gd name="T16" fmla="*/ 0 w 138"/>
                <a:gd name="T17" fmla="*/ 8 h 75"/>
                <a:gd name="T18" fmla="*/ 1 w 138"/>
                <a:gd name="T19" fmla="*/ 9 h 75"/>
                <a:gd name="T20" fmla="*/ 1 w 138"/>
                <a:gd name="T21" fmla="*/ 8 h 75"/>
                <a:gd name="T22" fmla="*/ 1 w 138"/>
                <a:gd name="T23" fmla="*/ 8 h 75"/>
                <a:gd name="T24" fmla="*/ 1 w 138"/>
                <a:gd name="T25" fmla="*/ 7 h 75"/>
                <a:gd name="T26" fmla="*/ 1 w 138"/>
                <a:gd name="T27" fmla="*/ 6 h 75"/>
                <a:gd name="T28" fmla="*/ 1 w 138"/>
                <a:gd name="T29" fmla="*/ 5 h 75"/>
                <a:gd name="T30" fmla="*/ 1 w 138"/>
                <a:gd name="T31" fmla="*/ 4 h 75"/>
                <a:gd name="T32" fmla="*/ 2 w 138"/>
                <a:gd name="T33" fmla="*/ 2 h 75"/>
                <a:gd name="T34" fmla="*/ 2 w 138"/>
                <a:gd name="T35" fmla="*/ 0 h 75"/>
                <a:gd name="T36" fmla="*/ 1 w 138"/>
                <a:gd name="T37" fmla="*/ 75 h 75"/>
                <a:gd name="T38" fmla="*/ 1 w 138"/>
                <a:gd name="T39" fmla="*/ 75 h 7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38"/>
                <a:gd name="T61" fmla="*/ 0 h 75"/>
                <a:gd name="T62" fmla="*/ 138 w 138"/>
                <a:gd name="T63" fmla="*/ 75 h 7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38" h="75">
                  <a:moveTo>
                    <a:pt x="70" y="75"/>
                  </a:moveTo>
                  <a:lnTo>
                    <a:pt x="0" y="0"/>
                  </a:lnTo>
                  <a:lnTo>
                    <a:pt x="10" y="2"/>
                  </a:lnTo>
                  <a:lnTo>
                    <a:pt x="17" y="4"/>
                  </a:lnTo>
                  <a:lnTo>
                    <a:pt x="25" y="5"/>
                  </a:lnTo>
                  <a:lnTo>
                    <a:pt x="34" y="6"/>
                  </a:lnTo>
                  <a:lnTo>
                    <a:pt x="44" y="7"/>
                  </a:lnTo>
                  <a:lnTo>
                    <a:pt x="51" y="8"/>
                  </a:lnTo>
                  <a:lnTo>
                    <a:pt x="60" y="8"/>
                  </a:lnTo>
                  <a:lnTo>
                    <a:pt x="70" y="9"/>
                  </a:lnTo>
                  <a:lnTo>
                    <a:pt x="77" y="8"/>
                  </a:lnTo>
                  <a:lnTo>
                    <a:pt x="87" y="8"/>
                  </a:lnTo>
                  <a:lnTo>
                    <a:pt x="96" y="7"/>
                  </a:lnTo>
                  <a:lnTo>
                    <a:pt x="104" y="6"/>
                  </a:lnTo>
                  <a:lnTo>
                    <a:pt x="113" y="5"/>
                  </a:lnTo>
                  <a:lnTo>
                    <a:pt x="121" y="4"/>
                  </a:lnTo>
                  <a:lnTo>
                    <a:pt x="130" y="2"/>
                  </a:lnTo>
                  <a:lnTo>
                    <a:pt x="138" y="0"/>
                  </a:lnTo>
                  <a:lnTo>
                    <a:pt x="70" y="75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Freeform 255"/>
            <p:cNvSpPr>
              <a:spLocks/>
            </p:cNvSpPr>
            <p:nvPr/>
          </p:nvSpPr>
          <p:spPr bwMode="auto">
            <a:xfrm>
              <a:off x="3881" y="2616"/>
              <a:ext cx="68" cy="77"/>
            </a:xfrm>
            <a:custGeom>
              <a:avLst/>
              <a:gdLst>
                <a:gd name="T0" fmla="*/ 1 w 138"/>
                <a:gd name="T1" fmla="*/ 0 h 77"/>
                <a:gd name="T2" fmla="*/ 2 w 138"/>
                <a:gd name="T3" fmla="*/ 77 h 77"/>
                <a:gd name="T4" fmla="*/ 2 w 138"/>
                <a:gd name="T5" fmla="*/ 75 h 77"/>
                <a:gd name="T6" fmla="*/ 1 w 138"/>
                <a:gd name="T7" fmla="*/ 73 h 77"/>
                <a:gd name="T8" fmla="*/ 1 w 138"/>
                <a:gd name="T9" fmla="*/ 71 h 77"/>
                <a:gd name="T10" fmla="*/ 1 w 138"/>
                <a:gd name="T11" fmla="*/ 70 h 77"/>
                <a:gd name="T12" fmla="*/ 1 w 138"/>
                <a:gd name="T13" fmla="*/ 69 h 77"/>
                <a:gd name="T14" fmla="*/ 1 w 138"/>
                <a:gd name="T15" fmla="*/ 69 h 77"/>
                <a:gd name="T16" fmla="*/ 1 w 138"/>
                <a:gd name="T17" fmla="*/ 68 h 77"/>
                <a:gd name="T18" fmla="*/ 1 w 138"/>
                <a:gd name="T19" fmla="*/ 68 h 77"/>
                <a:gd name="T20" fmla="*/ 0 w 138"/>
                <a:gd name="T21" fmla="*/ 68 h 77"/>
                <a:gd name="T22" fmla="*/ 0 w 138"/>
                <a:gd name="T23" fmla="*/ 69 h 77"/>
                <a:gd name="T24" fmla="*/ 0 w 138"/>
                <a:gd name="T25" fmla="*/ 69 h 77"/>
                <a:gd name="T26" fmla="*/ 0 w 138"/>
                <a:gd name="T27" fmla="*/ 70 h 77"/>
                <a:gd name="T28" fmla="*/ 0 w 138"/>
                <a:gd name="T29" fmla="*/ 71 h 77"/>
                <a:gd name="T30" fmla="*/ 0 w 138"/>
                <a:gd name="T31" fmla="*/ 73 h 77"/>
                <a:gd name="T32" fmla="*/ 0 w 138"/>
                <a:gd name="T33" fmla="*/ 75 h 77"/>
                <a:gd name="T34" fmla="*/ 0 w 138"/>
                <a:gd name="T35" fmla="*/ 77 h 77"/>
                <a:gd name="T36" fmla="*/ 0 w 138"/>
                <a:gd name="T37" fmla="*/ 77 h 77"/>
                <a:gd name="T38" fmla="*/ 1 w 138"/>
                <a:gd name="T39" fmla="*/ 0 h 77"/>
                <a:gd name="T40" fmla="*/ 1 w 138"/>
                <a:gd name="T41" fmla="*/ 0 h 7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8"/>
                <a:gd name="T64" fmla="*/ 0 h 77"/>
                <a:gd name="T65" fmla="*/ 138 w 138"/>
                <a:gd name="T66" fmla="*/ 77 h 7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8" h="77">
                  <a:moveTo>
                    <a:pt x="70" y="0"/>
                  </a:moveTo>
                  <a:lnTo>
                    <a:pt x="138" y="77"/>
                  </a:lnTo>
                  <a:lnTo>
                    <a:pt x="130" y="75"/>
                  </a:lnTo>
                  <a:lnTo>
                    <a:pt x="121" y="73"/>
                  </a:lnTo>
                  <a:lnTo>
                    <a:pt x="113" y="71"/>
                  </a:lnTo>
                  <a:lnTo>
                    <a:pt x="104" y="70"/>
                  </a:lnTo>
                  <a:lnTo>
                    <a:pt x="96" y="69"/>
                  </a:lnTo>
                  <a:lnTo>
                    <a:pt x="87" y="69"/>
                  </a:lnTo>
                  <a:lnTo>
                    <a:pt x="77" y="68"/>
                  </a:lnTo>
                  <a:lnTo>
                    <a:pt x="70" y="68"/>
                  </a:lnTo>
                  <a:lnTo>
                    <a:pt x="60" y="68"/>
                  </a:lnTo>
                  <a:lnTo>
                    <a:pt x="51" y="69"/>
                  </a:lnTo>
                  <a:lnTo>
                    <a:pt x="44" y="69"/>
                  </a:lnTo>
                  <a:lnTo>
                    <a:pt x="34" y="70"/>
                  </a:lnTo>
                  <a:lnTo>
                    <a:pt x="25" y="71"/>
                  </a:lnTo>
                  <a:lnTo>
                    <a:pt x="17" y="73"/>
                  </a:lnTo>
                  <a:lnTo>
                    <a:pt x="10" y="75"/>
                  </a:lnTo>
                  <a:lnTo>
                    <a:pt x="0" y="77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Rectangle 256"/>
            <p:cNvSpPr>
              <a:spLocks noChangeArrowheads="1"/>
            </p:cNvSpPr>
            <p:nvPr/>
          </p:nvSpPr>
          <p:spPr bwMode="auto">
            <a:xfrm>
              <a:off x="3969" y="2691"/>
              <a:ext cx="109" cy="18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</p:txBody>
        </p:sp>
        <p:sp>
          <p:nvSpPr>
            <p:cNvPr id="260" name="Rectangle 257"/>
            <p:cNvSpPr>
              <a:spLocks noChangeArrowheads="1"/>
            </p:cNvSpPr>
            <p:nvPr/>
          </p:nvSpPr>
          <p:spPr bwMode="auto">
            <a:xfrm>
              <a:off x="4377" y="2147"/>
              <a:ext cx="156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(a)</a:t>
              </a:r>
              <a:endParaRPr lang="en-US" altLang="zh-CN"/>
            </a:p>
          </p:txBody>
        </p:sp>
        <p:sp>
          <p:nvSpPr>
            <p:cNvPr id="261" name="Rectangle 258"/>
            <p:cNvSpPr>
              <a:spLocks noChangeArrowheads="1"/>
            </p:cNvSpPr>
            <p:nvPr/>
          </p:nvSpPr>
          <p:spPr bwMode="auto">
            <a:xfrm>
              <a:off x="4374" y="4037"/>
              <a:ext cx="156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(b)</a:t>
              </a:r>
              <a:endParaRPr lang="en-US" altLang="zh-CN"/>
            </a:p>
          </p:txBody>
        </p:sp>
        <p:sp>
          <p:nvSpPr>
            <p:cNvPr id="262" name="Rectangle 259"/>
            <p:cNvSpPr>
              <a:spLocks noChangeArrowheads="1"/>
            </p:cNvSpPr>
            <p:nvPr/>
          </p:nvSpPr>
          <p:spPr bwMode="auto">
            <a:xfrm>
              <a:off x="4940" y="845"/>
              <a:ext cx="2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endParaRPr lang="en-US" altLang="zh-CN"/>
            </a:p>
          </p:txBody>
        </p:sp>
        <p:sp>
          <p:nvSpPr>
            <p:cNvPr id="263" name="Line 260"/>
            <p:cNvSpPr>
              <a:spLocks noChangeShapeType="1"/>
            </p:cNvSpPr>
            <p:nvPr/>
          </p:nvSpPr>
          <p:spPr bwMode="auto">
            <a:xfrm flipV="1">
              <a:off x="4423" y="3598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Line 261"/>
            <p:cNvSpPr>
              <a:spLocks noChangeShapeType="1"/>
            </p:cNvSpPr>
            <p:nvPr/>
          </p:nvSpPr>
          <p:spPr bwMode="auto">
            <a:xfrm>
              <a:off x="4423" y="3780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" name="Line 262"/>
            <p:cNvSpPr>
              <a:spLocks noChangeShapeType="1"/>
            </p:cNvSpPr>
            <p:nvPr/>
          </p:nvSpPr>
          <p:spPr bwMode="auto">
            <a:xfrm flipV="1">
              <a:off x="3379" y="3372"/>
              <a:ext cx="0" cy="5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" name="Freeform 263"/>
            <p:cNvSpPr>
              <a:spLocks/>
            </p:cNvSpPr>
            <p:nvPr/>
          </p:nvSpPr>
          <p:spPr bwMode="auto">
            <a:xfrm>
              <a:off x="4243" y="1153"/>
              <a:ext cx="32" cy="234"/>
            </a:xfrm>
            <a:custGeom>
              <a:avLst/>
              <a:gdLst>
                <a:gd name="T0" fmla="*/ 0 w 65"/>
                <a:gd name="T1" fmla="*/ 0 h 234"/>
                <a:gd name="T2" fmla="*/ 0 w 65"/>
                <a:gd name="T3" fmla="*/ 1 h 234"/>
                <a:gd name="T4" fmla="*/ 0 w 65"/>
                <a:gd name="T5" fmla="*/ 4 h 234"/>
                <a:gd name="T6" fmla="*/ 0 w 65"/>
                <a:gd name="T7" fmla="*/ 11 h 234"/>
                <a:gd name="T8" fmla="*/ 0 w 65"/>
                <a:gd name="T9" fmla="*/ 17 h 234"/>
                <a:gd name="T10" fmla="*/ 0 w 65"/>
                <a:gd name="T11" fmla="*/ 22 h 234"/>
                <a:gd name="T12" fmla="*/ 1 w 65"/>
                <a:gd name="T13" fmla="*/ 28 h 234"/>
                <a:gd name="T14" fmla="*/ 0 w 65"/>
                <a:gd name="T15" fmla="*/ 34 h 234"/>
                <a:gd name="T16" fmla="*/ 0 w 65"/>
                <a:gd name="T17" fmla="*/ 39 h 234"/>
                <a:gd name="T18" fmla="*/ 0 w 65"/>
                <a:gd name="T19" fmla="*/ 45 h 234"/>
                <a:gd name="T20" fmla="*/ 0 w 65"/>
                <a:gd name="T21" fmla="*/ 49 h 234"/>
                <a:gd name="T22" fmla="*/ 0 w 65"/>
                <a:gd name="T23" fmla="*/ 56 h 234"/>
                <a:gd name="T24" fmla="*/ 0 w 65"/>
                <a:gd name="T25" fmla="*/ 58 h 234"/>
                <a:gd name="T26" fmla="*/ 0 w 65"/>
                <a:gd name="T27" fmla="*/ 59 h 234"/>
                <a:gd name="T28" fmla="*/ 0 w 65"/>
                <a:gd name="T29" fmla="*/ 59 h 234"/>
                <a:gd name="T30" fmla="*/ 0 w 65"/>
                <a:gd name="T31" fmla="*/ 59 h 234"/>
                <a:gd name="T32" fmla="*/ 0 w 65"/>
                <a:gd name="T33" fmla="*/ 63 h 234"/>
                <a:gd name="T34" fmla="*/ 0 w 65"/>
                <a:gd name="T35" fmla="*/ 71 h 234"/>
                <a:gd name="T36" fmla="*/ 0 w 65"/>
                <a:gd name="T37" fmla="*/ 76 h 234"/>
                <a:gd name="T38" fmla="*/ 0 w 65"/>
                <a:gd name="T39" fmla="*/ 81 h 234"/>
                <a:gd name="T40" fmla="*/ 1 w 65"/>
                <a:gd name="T41" fmla="*/ 87 h 234"/>
                <a:gd name="T42" fmla="*/ 0 w 65"/>
                <a:gd name="T43" fmla="*/ 92 h 234"/>
                <a:gd name="T44" fmla="*/ 0 w 65"/>
                <a:gd name="T45" fmla="*/ 98 h 234"/>
                <a:gd name="T46" fmla="*/ 0 w 65"/>
                <a:gd name="T47" fmla="*/ 104 h 234"/>
                <a:gd name="T48" fmla="*/ 0 w 65"/>
                <a:gd name="T49" fmla="*/ 108 h 234"/>
                <a:gd name="T50" fmla="*/ 0 w 65"/>
                <a:gd name="T51" fmla="*/ 114 h 234"/>
                <a:gd name="T52" fmla="*/ 0 w 65"/>
                <a:gd name="T53" fmla="*/ 116 h 234"/>
                <a:gd name="T54" fmla="*/ 0 w 65"/>
                <a:gd name="T55" fmla="*/ 117 h 234"/>
                <a:gd name="T56" fmla="*/ 0 w 65"/>
                <a:gd name="T57" fmla="*/ 117 h 234"/>
                <a:gd name="T58" fmla="*/ 0 w 65"/>
                <a:gd name="T59" fmla="*/ 118 h 234"/>
                <a:gd name="T60" fmla="*/ 0 w 65"/>
                <a:gd name="T61" fmla="*/ 121 h 234"/>
                <a:gd name="T62" fmla="*/ 0 w 65"/>
                <a:gd name="T63" fmla="*/ 130 h 234"/>
                <a:gd name="T64" fmla="*/ 0 w 65"/>
                <a:gd name="T65" fmla="*/ 134 h 234"/>
                <a:gd name="T66" fmla="*/ 0 w 65"/>
                <a:gd name="T67" fmla="*/ 139 h 234"/>
                <a:gd name="T68" fmla="*/ 1 w 65"/>
                <a:gd name="T69" fmla="*/ 145 h 234"/>
                <a:gd name="T70" fmla="*/ 0 w 65"/>
                <a:gd name="T71" fmla="*/ 151 h 234"/>
                <a:gd name="T72" fmla="*/ 0 w 65"/>
                <a:gd name="T73" fmla="*/ 156 h 234"/>
                <a:gd name="T74" fmla="*/ 0 w 65"/>
                <a:gd name="T75" fmla="*/ 162 h 234"/>
                <a:gd name="T76" fmla="*/ 0 w 65"/>
                <a:gd name="T77" fmla="*/ 167 h 234"/>
                <a:gd name="T78" fmla="*/ 0 w 65"/>
                <a:gd name="T79" fmla="*/ 173 h 234"/>
                <a:gd name="T80" fmla="*/ 0 w 65"/>
                <a:gd name="T81" fmla="*/ 175 h 234"/>
                <a:gd name="T82" fmla="*/ 0 w 65"/>
                <a:gd name="T83" fmla="*/ 176 h 234"/>
                <a:gd name="T84" fmla="*/ 0 w 65"/>
                <a:gd name="T85" fmla="*/ 176 h 234"/>
                <a:gd name="T86" fmla="*/ 0 w 65"/>
                <a:gd name="T87" fmla="*/ 177 h 234"/>
                <a:gd name="T88" fmla="*/ 0 w 65"/>
                <a:gd name="T89" fmla="*/ 180 h 234"/>
                <a:gd name="T90" fmla="*/ 0 w 65"/>
                <a:gd name="T91" fmla="*/ 188 h 234"/>
                <a:gd name="T92" fmla="*/ 0 w 65"/>
                <a:gd name="T93" fmla="*/ 193 h 234"/>
                <a:gd name="T94" fmla="*/ 0 w 65"/>
                <a:gd name="T95" fmla="*/ 198 h 234"/>
                <a:gd name="T96" fmla="*/ 1 w 65"/>
                <a:gd name="T97" fmla="*/ 204 h 234"/>
                <a:gd name="T98" fmla="*/ 0 w 65"/>
                <a:gd name="T99" fmla="*/ 209 h 234"/>
                <a:gd name="T100" fmla="*/ 0 w 65"/>
                <a:gd name="T101" fmla="*/ 215 h 234"/>
                <a:gd name="T102" fmla="*/ 0 w 65"/>
                <a:gd name="T103" fmla="*/ 221 h 234"/>
                <a:gd name="T104" fmla="*/ 0 w 65"/>
                <a:gd name="T105" fmla="*/ 225 h 234"/>
                <a:gd name="T106" fmla="*/ 0 w 65"/>
                <a:gd name="T107" fmla="*/ 231 h 234"/>
                <a:gd name="T108" fmla="*/ 0 w 65"/>
                <a:gd name="T109" fmla="*/ 233 h 234"/>
                <a:gd name="T110" fmla="*/ 0 w 65"/>
                <a:gd name="T111" fmla="*/ 234 h 23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65"/>
                <a:gd name="T169" fmla="*/ 0 h 234"/>
                <a:gd name="T170" fmla="*/ 65 w 65"/>
                <a:gd name="T171" fmla="*/ 234 h 234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65" h="234">
                  <a:moveTo>
                    <a:pt x="0" y="0"/>
                  </a:moveTo>
                  <a:lnTo>
                    <a:pt x="6" y="0"/>
                  </a:lnTo>
                  <a:lnTo>
                    <a:pt x="12" y="0"/>
                  </a:lnTo>
                  <a:lnTo>
                    <a:pt x="19" y="1"/>
                  </a:lnTo>
                  <a:lnTo>
                    <a:pt x="25" y="2"/>
                  </a:lnTo>
                  <a:lnTo>
                    <a:pt x="34" y="4"/>
                  </a:lnTo>
                  <a:lnTo>
                    <a:pt x="44" y="7"/>
                  </a:lnTo>
                  <a:lnTo>
                    <a:pt x="51" y="11"/>
                  </a:lnTo>
                  <a:lnTo>
                    <a:pt x="55" y="15"/>
                  </a:lnTo>
                  <a:lnTo>
                    <a:pt x="59" y="17"/>
                  </a:lnTo>
                  <a:lnTo>
                    <a:pt x="61" y="20"/>
                  </a:lnTo>
                  <a:lnTo>
                    <a:pt x="63" y="22"/>
                  </a:lnTo>
                  <a:lnTo>
                    <a:pt x="63" y="25"/>
                  </a:lnTo>
                  <a:lnTo>
                    <a:pt x="65" y="28"/>
                  </a:lnTo>
                  <a:lnTo>
                    <a:pt x="65" y="31"/>
                  </a:lnTo>
                  <a:lnTo>
                    <a:pt x="63" y="34"/>
                  </a:lnTo>
                  <a:lnTo>
                    <a:pt x="63" y="37"/>
                  </a:lnTo>
                  <a:lnTo>
                    <a:pt x="61" y="39"/>
                  </a:lnTo>
                  <a:lnTo>
                    <a:pt x="57" y="43"/>
                  </a:lnTo>
                  <a:lnTo>
                    <a:pt x="55" y="45"/>
                  </a:lnTo>
                  <a:lnTo>
                    <a:pt x="51" y="47"/>
                  </a:lnTo>
                  <a:lnTo>
                    <a:pt x="48" y="49"/>
                  </a:lnTo>
                  <a:lnTo>
                    <a:pt x="38" y="53"/>
                  </a:lnTo>
                  <a:lnTo>
                    <a:pt x="29" y="56"/>
                  </a:lnTo>
                  <a:lnTo>
                    <a:pt x="23" y="57"/>
                  </a:lnTo>
                  <a:lnTo>
                    <a:pt x="17" y="58"/>
                  </a:lnTo>
                  <a:lnTo>
                    <a:pt x="12" y="58"/>
                  </a:lnTo>
                  <a:lnTo>
                    <a:pt x="4" y="59"/>
                  </a:lnTo>
                  <a:lnTo>
                    <a:pt x="0" y="59"/>
                  </a:lnTo>
                  <a:lnTo>
                    <a:pt x="6" y="59"/>
                  </a:lnTo>
                  <a:lnTo>
                    <a:pt x="12" y="59"/>
                  </a:lnTo>
                  <a:lnTo>
                    <a:pt x="19" y="59"/>
                  </a:lnTo>
                  <a:lnTo>
                    <a:pt x="25" y="60"/>
                  </a:lnTo>
                  <a:lnTo>
                    <a:pt x="34" y="63"/>
                  </a:lnTo>
                  <a:lnTo>
                    <a:pt x="44" y="66"/>
                  </a:lnTo>
                  <a:lnTo>
                    <a:pt x="51" y="71"/>
                  </a:lnTo>
                  <a:lnTo>
                    <a:pt x="55" y="73"/>
                  </a:lnTo>
                  <a:lnTo>
                    <a:pt x="59" y="76"/>
                  </a:lnTo>
                  <a:lnTo>
                    <a:pt x="61" y="78"/>
                  </a:lnTo>
                  <a:lnTo>
                    <a:pt x="63" y="81"/>
                  </a:lnTo>
                  <a:lnTo>
                    <a:pt x="63" y="84"/>
                  </a:lnTo>
                  <a:lnTo>
                    <a:pt x="65" y="87"/>
                  </a:lnTo>
                  <a:lnTo>
                    <a:pt x="65" y="90"/>
                  </a:lnTo>
                  <a:lnTo>
                    <a:pt x="63" y="92"/>
                  </a:lnTo>
                  <a:lnTo>
                    <a:pt x="63" y="95"/>
                  </a:lnTo>
                  <a:lnTo>
                    <a:pt x="61" y="98"/>
                  </a:lnTo>
                  <a:lnTo>
                    <a:pt x="57" y="101"/>
                  </a:lnTo>
                  <a:lnTo>
                    <a:pt x="55" y="104"/>
                  </a:lnTo>
                  <a:lnTo>
                    <a:pt x="51" y="106"/>
                  </a:lnTo>
                  <a:lnTo>
                    <a:pt x="48" y="108"/>
                  </a:lnTo>
                  <a:lnTo>
                    <a:pt x="38" y="112"/>
                  </a:lnTo>
                  <a:lnTo>
                    <a:pt x="29" y="114"/>
                  </a:lnTo>
                  <a:lnTo>
                    <a:pt x="23" y="115"/>
                  </a:lnTo>
                  <a:lnTo>
                    <a:pt x="17" y="116"/>
                  </a:lnTo>
                  <a:lnTo>
                    <a:pt x="12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6" y="117"/>
                  </a:lnTo>
                  <a:lnTo>
                    <a:pt x="12" y="117"/>
                  </a:lnTo>
                  <a:lnTo>
                    <a:pt x="19" y="118"/>
                  </a:lnTo>
                  <a:lnTo>
                    <a:pt x="25" y="119"/>
                  </a:lnTo>
                  <a:lnTo>
                    <a:pt x="34" y="121"/>
                  </a:lnTo>
                  <a:lnTo>
                    <a:pt x="44" y="125"/>
                  </a:lnTo>
                  <a:lnTo>
                    <a:pt x="51" y="130"/>
                  </a:lnTo>
                  <a:lnTo>
                    <a:pt x="55" y="132"/>
                  </a:lnTo>
                  <a:lnTo>
                    <a:pt x="59" y="134"/>
                  </a:lnTo>
                  <a:lnTo>
                    <a:pt x="61" y="137"/>
                  </a:lnTo>
                  <a:lnTo>
                    <a:pt x="63" y="139"/>
                  </a:lnTo>
                  <a:lnTo>
                    <a:pt x="63" y="142"/>
                  </a:lnTo>
                  <a:lnTo>
                    <a:pt x="65" y="145"/>
                  </a:lnTo>
                  <a:lnTo>
                    <a:pt x="65" y="148"/>
                  </a:lnTo>
                  <a:lnTo>
                    <a:pt x="63" y="151"/>
                  </a:lnTo>
                  <a:lnTo>
                    <a:pt x="63" y="154"/>
                  </a:lnTo>
                  <a:lnTo>
                    <a:pt x="61" y="156"/>
                  </a:lnTo>
                  <a:lnTo>
                    <a:pt x="57" y="160"/>
                  </a:lnTo>
                  <a:lnTo>
                    <a:pt x="55" y="162"/>
                  </a:lnTo>
                  <a:lnTo>
                    <a:pt x="51" y="164"/>
                  </a:lnTo>
                  <a:lnTo>
                    <a:pt x="48" y="167"/>
                  </a:lnTo>
                  <a:lnTo>
                    <a:pt x="38" y="170"/>
                  </a:lnTo>
                  <a:lnTo>
                    <a:pt x="29" y="173"/>
                  </a:lnTo>
                  <a:lnTo>
                    <a:pt x="23" y="174"/>
                  </a:lnTo>
                  <a:lnTo>
                    <a:pt x="17" y="175"/>
                  </a:lnTo>
                  <a:lnTo>
                    <a:pt x="12" y="175"/>
                  </a:lnTo>
                  <a:lnTo>
                    <a:pt x="4" y="176"/>
                  </a:lnTo>
                  <a:lnTo>
                    <a:pt x="0" y="176"/>
                  </a:lnTo>
                  <a:lnTo>
                    <a:pt x="6" y="176"/>
                  </a:lnTo>
                  <a:lnTo>
                    <a:pt x="12" y="176"/>
                  </a:lnTo>
                  <a:lnTo>
                    <a:pt x="19" y="177"/>
                  </a:lnTo>
                  <a:lnTo>
                    <a:pt x="25" y="177"/>
                  </a:lnTo>
                  <a:lnTo>
                    <a:pt x="34" y="180"/>
                  </a:lnTo>
                  <a:lnTo>
                    <a:pt x="44" y="183"/>
                  </a:lnTo>
                  <a:lnTo>
                    <a:pt x="51" y="188"/>
                  </a:lnTo>
                  <a:lnTo>
                    <a:pt x="55" y="190"/>
                  </a:lnTo>
                  <a:lnTo>
                    <a:pt x="59" y="193"/>
                  </a:lnTo>
                  <a:lnTo>
                    <a:pt x="61" y="195"/>
                  </a:lnTo>
                  <a:lnTo>
                    <a:pt x="63" y="198"/>
                  </a:lnTo>
                  <a:lnTo>
                    <a:pt x="63" y="201"/>
                  </a:lnTo>
                  <a:lnTo>
                    <a:pt x="65" y="204"/>
                  </a:lnTo>
                  <a:lnTo>
                    <a:pt x="65" y="207"/>
                  </a:lnTo>
                  <a:lnTo>
                    <a:pt x="63" y="209"/>
                  </a:lnTo>
                  <a:lnTo>
                    <a:pt x="63" y="212"/>
                  </a:lnTo>
                  <a:lnTo>
                    <a:pt x="61" y="215"/>
                  </a:lnTo>
                  <a:lnTo>
                    <a:pt x="57" y="218"/>
                  </a:lnTo>
                  <a:lnTo>
                    <a:pt x="55" y="221"/>
                  </a:lnTo>
                  <a:lnTo>
                    <a:pt x="51" y="223"/>
                  </a:lnTo>
                  <a:lnTo>
                    <a:pt x="48" y="225"/>
                  </a:lnTo>
                  <a:lnTo>
                    <a:pt x="38" y="229"/>
                  </a:lnTo>
                  <a:lnTo>
                    <a:pt x="29" y="231"/>
                  </a:lnTo>
                  <a:lnTo>
                    <a:pt x="23" y="233"/>
                  </a:lnTo>
                  <a:lnTo>
                    <a:pt x="17" y="233"/>
                  </a:lnTo>
                  <a:lnTo>
                    <a:pt x="12" y="234"/>
                  </a:lnTo>
                  <a:lnTo>
                    <a:pt x="4" y="234"/>
                  </a:lnTo>
                  <a:lnTo>
                    <a:pt x="0" y="2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" name="Freeform 264"/>
            <p:cNvSpPr>
              <a:spLocks/>
            </p:cNvSpPr>
            <p:nvPr/>
          </p:nvSpPr>
          <p:spPr bwMode="auto">
            <a:xfrm>
              <a:off x="4333" y="1153"/>
              <a:ext cx="32" cy="234"/>
            </a:xfrm>
            <a:custGeom>
              <a:avLst/>
              <a:gdLst>
                <a:gd name="T0" fmla="*/ 0 w 65"/>
                <a:gd name="T1" fmla="*/ 0 h 234"/>
                <a:gd name="T2" fmla="*/ 0 w 65"/>
                <a:gd name="T3" fmla="*/ 1 h 234"/>
                <a:gd name="T4" fmla="*/ 0 w 65"/>
                <a:gd name="T5" fmla="*/ 4 h 234"/>
                <a:gd name="T6" fmla="*/ 0 w 65"/>
                <a:gd name="T7" fmla="*/ 11 h 234"/>
                <a:gd name="T8" fmla="*/ 0 w 65"/>
                <a:gd name="T9" fmla="*/ 17 h 234"/>
                <a:gd name="T10" fmla="*/ 0 w 65"/>
                <a:gd name="T11" fmla="*/ 22 h 234"/>
                <a:gd name="T12" fmla="*/ 0 w 65"/>
                <a:gd name="T13" fmla="*/ 28 h 234"/>
                <a:gd name="T14" fmla="*/ 0 w 65"/>
                <a:gd name="T15" fmla="*/ 34 h 234"/>
                <a:gd name="T16" fmla="*/ 0 w 65"/>
                <a:gd name="T17" fmla="*/ 39 h 234"/>
                <a:gd name="T18" fmla="*/ 0 w 65"/>
                <a:gd name="T19" fmla="*/ 45 h 234"/>
                <a:gd name="T20" fmla="*/ 0 w 65"/>
                <a:gd name="T21" fmla="*/ 49 h 234"/>
                <a:gd name="T22" fmla="*/ 0 w 65"/>
                <a:gd name="T23" fmla="*/ 56 h 234"/>
                <a:gd name="T24" fmla="*/ 0 w 65"/>
                <a:gd name="T25" fmla="*/ 58 h 234"/>
                <a:gd name="T26" fmla="*/ 0 w 65"/>
                <a:gd name="T27" fmla="*/ 59 h 234"/>
                <a:gd name="T28" fmla="*/ 0 w 65"/>
                <a:gd name="T29" fmla="*/ 59 h 234"/>
                <a:gd name="T30" fmla="*/ 0 w 65"/>
                <a:gd name="T31" fmla="*/ 59 h 234"/>
                <a:gd name="T32" fmla="*/ 0 w 65"/>
                <a:gd name="T33" fmla="*/ 63 h 234"/>
                <a:gd name="T34" fmla="*/ 0 w 65"/>
                <a:gd name="T35" fmla="*/ 71 h 234"/>
                <a:gd name="T36" fmla="*/ 0 w 65"/>
                <a:gd name="T37" fmla="*/ 76 h 234"/>
                <a:gd name="T38" fmla="*/ 0 w 65"/>
                <a:gd name="T39" fmla="*/ 81 h 234"/>
                <a:gd name="T40" fmla="*/ 0 w 65"/>
                <a:gd name="T41" fmla="*/ 87 h 234"/>
                <a:gd name="T42" fmla="*/ 0 w 65"/>
                <a:gd name="T43" fmla="*/ 92 h 234"/>
                <a:gd name="T44" fmla="*/ 0 w 65"/>
                <a:gd name="T45" fmla="*/ 98 h 234"/>
                <a:gd name="T46" fmla="*/ 0 w 65"/>
                <a:gd name="T47" fmla="*/ 104 h 234"/>
                <a:gd name="T48" fmla="*/ 0 w 65"/>
                <a:gd name="T49" fmla="*/ 108 h 234"/>
                <a:gd name="T50" fmla="*/ 0 w 65"/>
                <a:gd name="T51" fmla="*/ 114 h 234"/>
                <a:gd name="T52" fmla="*/ 0 w 65"/>
                <a:gd name="T53" fmla="*/ 116 h 234"/>
                <a:gd name="T54" fmla="*/ 0 w 65"/>
                <a:gd name="T55" fmla="*/ 117 h 234"/>
                <a:gd name="T56" fmla="*/ 0 w 65"/>
                <a:gd name="T57" fmla="*/ 117 h 234"/>
                <a:gd name="T58" fmla="*/ 0 w 65"/>
                <a:gd name="T59" fmla="*/ 118 h 234"/>
                <a:gd name="T60" fmla="*/ 0 w 65"/>
                <a:gd name="T61" fmla="*/ 121 h 234"/>
                <a:gd name="T62" fmla="*/ 0 w 65"/>
                <a:gd name="T63" fmla="*/ 130 h 234"/>
                <a:gd name="T64" fmla="*/ 0 w 65"/>
                <a:gd name="T65" fmla="*/ 134 h 234"/>
                <a:gd name="T66" fmla="*/ 0 w 65"/>
                <a:gd name="T67" fmla="*/ 139 h 234"/>
                <a:gd name="T68" fmla="*/ 0 w 65"/>
                <a:gd name="T69" fmla="*/ 145 h 234"/>
                <a:gd name="T70" fmla="*/ 0 w 65"/>
                <a:gd name="T71" fmla="*/ 151 h 234"/>
                <a:gd name="T72" fmla="*/ 0 w 65"/>
                <a:gd name="T73" fmla="*/ 156 h 234"/>
                <a:gd name="T74" fmla="*/ 0 w 65"/>
                <a:gd name="T75" fmla="*/ 162 h 234"/>
                <a:gd name="T76" fmla="*/ 0 w 65"/>
                <a:gd name="T77" fmla="*/ 167 h 234"/>
                <a:gd name="T78" fmla="*/ 0 w 65"/>
                <a:gd name="T79" fmla="*/ 173 h 234"/>
                <a:gd name="T80" fmla="*/ 0 w 65"/>
                <a:gd name="T81" fmla="*/ 175 h 234"/>
                <a:gd name="T82" fmla="*/ 0 w 65"/>
                <a:gd name="T83" fmla="*/ 176 h 234"/>
                <a:gd name="T84" fmla="*/ 0 w 65"/>
                <a:gd name="T85" fmla="*/ 176 h 234"/>
                <a:gd name="T86" fmla="*/ 0 w 65"/>
                <a:gd name="T87" fmla="*/ 177 h 234"/>
                <a:gd name="T88" fmla="*/ 0 w 65"/>
                <a:gd name="T89" fmla="*/ 180 h 234"/>
                <a:gd name="T90" fmla="*/ 0 w 65"/>
                <a:gd name="T91" fmla="*/ 188 h 234"/>
                <a:gd name="T92" fmla="*/ 0 w 65"/>
                <a:gd name="T93" fmla="*/ 193 h 234"/>
                <a:gd name="T94" fmla="*/ 0 w 65"/>
                <a:gd name="T95" fmla="*/ 198 h 234"/>
                <a:gd name="T96" fmla="*/ 0 w 65"/>
                <a:gd name="T97" fmla="*/ 204 h 234"/>
                <a:gd name="T98" fmla="*/ 0 w 65"/>
                <a:gd name="T99" fmla="*/ 209 h 234"/>
                <a:gd name="T100" fmla="*/ 0 w 65"/>
                <a:gd name="T101" fmla="*/ 215 h 234"/>
                <a:gd name="T102" fmla="*/ 0 w 65"/>
                <a:gd name="T103" fmla="*/ 221 h 234"/>
                <a:gd name="T104" fmla="*/ 0 w 65"/>
                <a:gd name="T105" fmla="*/ 225 h 234"/>
                <a:gd name="T106" fmla="*/ 0 w 65"/>
                <a:gd name="T107" fmla="*/ 231 h 234"/>
                <a:gd name="T108" fmla="*/ 0 w 65"/>
                <a:gd name="T109" fmla="*/ 233 h 234"/>
                <a:gd name="T110" fmla="*/ 0 w 65"/>
                <a:gd name="T111" fmla="*/ 234 h 23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65"/>
                <a:gd name="T169" fmla="*/ 0 h 234"/>
                <a:gd name="T170" fmla="*/ 65 w 65"/>
                <a:gd name="T171" fmla="*/ 234 h 234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65" h="234">
                  <a:moveTo>
                    <a:pt x="65" y="0"/>
                  </a:moveTo>
                  <a:lnTo>
                    <a:pt x="59" y="0"/>
                  </a:lnTo>
                  <a:lnTo>
                    <a:pt x="51" y="0"/>
                  </a:lnTo>
                  <a:lnTo>
                    <a:pt x="46" y="1"/>
                  </a:lnTo>
                  <a:lnTo>
                    <a:pt x="40" y="2"/>
                  </a:lnTo>
                  <a:lnTo>
                    <a:pt x="29" y="4"/>
                  </a:lnTo>
                  <a:lnTo>
                    <a:pt x="19" y="7"/>
                  </a:lnTo>
                  <a:lnTo>
                    <a:pt x="12" y="11"/>
                  </a:lnTo>
                  <a:lnTo>
                    <a:pt x="10" y="15"/>
                  </a:lnTo>
                  <a:lnTo>
                    <a:pt x="6" y="17"/>
                  </a:lnTo>
                  <a:lnTo>
                    <a:pt x="4" y="20"/>
                  </a:lnTo>
                  <a:lnTo>
                    <a:pt x="2" y="22"/>
                  </a:lnTo>
                  <a:lnTo>
                    <a:pt x="0" y="25"/>
                  </a:lnTo>
                  <a:lnTo>
                    <a:pt x="0" y="28"/>
                  </a:lnTo>
                  <a:lnTo>
                    <a:pt x="0" y="31"/>
                  </a:lnTo>
                  <a:lnTo>
                    <a:pt x="0" y="34"/>
                  </a:lnTo>
                  <a:lnTo>
                    <a:pt x="2" y="37"/>
                  </a:lnTo>
                  <a:lnTo>
                    <a:pt x="4" y="39"/>
                  </a:lnTo>
                  <a:lnTo>
                    <a:pt x="6" y="43"/>
                  </a:lnTo>
                  <a:lnTo>
                    <a:pt x="10" y="45"/>
                  </a:lnTo>
                  <a:lnTo>
                    <a:pt x="14" y="47"/>
                  </a:lnTo>
                  <a:lnTo>
                    <a:pt x="17" y="49"/>
                  </a:lnTo>
                  <a:lnTo>
                    <a:pt x="25" y="53"/>
                  </a:lnTo>
                  <a:lnTo>
                    <a:pt x="36" y="56"/>
                  </a:lnTo>
                  <a:lnTo>
                    <a:pt x="42" y="57"/>
                  </a:lnTo>
                  <a:lnTo>
                    <a:pt x="48" y="58"/>
                  </a:lnTo>
                  <a:lnTo>
                    <a:pt x="53" y="58"/>
                  </a:lnTo>
                  <a:lnTo>
                    <a:pt x="59" y="59"/>
                  </a:lnTo>
                  <a:lnTo>
                    <a:pt x="65" y="59"/>
                  </a:lnTo>
                  <a:lnTo>
                    <a:pt x="59" y="59"/>
                  </a:lnTo>
                  <a:lnTo>
                    <a:pt x="51" y="59"/>
                  </a:lnTo>
                  <a:lnTo>
                    <a:pt x="46" y="59"/>
                  </a:lnTo>
                  <a:lnTo>
                    <a:pt x="40" y="60"/>
                  </a:lnTo>
                  <a:lnTo>
                    <a:pt x="29" y="63"/>
                  </a:lnTo>
                  <a:lnTo>
                    <a:pt x="19" y="66"/>
                  </a:lnTo>
                  <a:lnTo>
                    <a:pt x="12" y="71"/>
                  </a:lnTo>
                  <a:lnTo>
                    <a:pt x="10" y="73"/>
                  </a:lnTo>
                  <a:lnTo>
                    <a:pt x="6" y="76"/>
                  </a:lnTo>
                  <a:lnTo>
                    <a:pt x="4" y="78"/>
                  </a:lnTo>
                  <a:lnTo>
                    <a:pt x="2" y="81"/>
                  </a:lnTo>
                  <a:lnTo>
                    <a:pt x="0" y="84"/>
                  </a:lnTo>
                  <a:lnTo>
                    <a:pt x="0" y="87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2" y="95"/>
                  </a:lnTo>
                  <a:lnTo>
                    <a:pt x="4" y="98"/>
                  </a:lnTo>
                  <a:lnTo>
                    <a:pt x="6" y="101"/>
                  </a:lnTo>
                  <a:lnTo>
                    <a:pt x="10" y="104"/>
                  </a:lnTo>
                  <a:lnTo>
                    <a:pt x="14" y="106"/>
                  </a:lnTo>
                  <a:lnTo>
                    <a:pt x="17" y="108"/>
                  </a:lnTo>
                  <a:lnTo>
                    <a:pt x="25" y="112"/>
                  </a:lnTo>
                  <a:lnTo>
                    <a:pt x="36" y="114"/>
                  </a:lnTo>
                  <a:lnTo>
                    <a:pt x="42" y="115"/>
                  </a:lnTo>
                  <a:lnTo>
                    <a:pt x="48" y="116"/>
                  </a:lnTo>
                  <a:lnTo>
                    <a:pt x="53" y="117"/>
                  </a:lnTo>
                  <a:lnTo>
                    <a:pt x="59" y="117"/>
                  </a:lnTo>
                  <a:lnTo>
                    <a:pt x="65" y="117"/>
                  </a:lnTo>
                  <a:lnTo>
                    <a:pt x="59" y="117"/>
                  </a:lnTo>
                  <a:lnTo>
                    <a:pt x="51" y="117"/>
                  </a:lnTo>
                  <a:lnTo>
                    <a:pt x="46" y="118"/>
                  </a:lnTo>
                  <a:lnTo>
                    <a:pt x="40" y="119"/>
                  </a:lnTo>
                  <a:lnTo>
                    <a:pt x="29" y="121"/>
                  </a:lnTo>
                  <a:lnTo>
                    <a:pt x="19" y="125"/>
                  </a:lnTo>
                  <a:lnTo>
                    <a:pt x="12" y="130"/>
                  </a:lnTo>
                  <a:lnTo>
                    <a:pt x="10" y="132"/>
                  </a:lnTo>
                  <a:lnTo>
                    <a:pt x="6" y="134"/>
                  </a:lnTo>
                  <a:lnTo>
                    <a:pt x="4" y="137"/>
                  </a:lnTo>
                  <a:lnTo>
                    <a:pt x="2" y="139"/>
                  </a:lnTo>
                  <a:lnTo>
                    <a:pt x="0" y="142"/>
                  </a:lnTo>
                  <a:lnTo>
                    <a:pt x="0" y="145"/>
                  </a:lnTo>
                  <a:lnTo>
                    <a:pt x="0" y="148"/>
                  </a:lnTo>
                  <a:lnTo>
                    <a:pt x="0" y="151"/>
                  </a:lnTo>
                  <a:lnTo>
                    <a:pt x="2" y="154"/>
                  </a:lnTo>
                  <a:lnTo>
                    <a:pt x="4" y="156"/>
                  </a:lnTo>
                  <a:lnTo>
                    <a:pt x="6" y="160"/>
                  </a:lnTo>
                  <a:lnTo>
                    <a:pt x="10" y="162"/>
                  </a:lnTo>
                  <a:lnTo>
                    <a:pt x="14" y="164"/>
                  </a:lnTo>
                  <a:lnTo>
                    <a:pt x="17" y="167"/>
                  </a:lnTo>
                  <a:lnTo>
                    <a:pt x="25" y="170"/>
                  </a:lnTo>
                  <a:lnTo>
                    <a:pt x="36" y="173"/>
                  </a:lnTo>
                  <a:lnTo>
                    <a:pt x="42" y="174"/>
                  </a:lnTo>
                  <a:lnTo>
                    <a:pt x="48" y="175"/>
                  </a:lnTo>
                  <a:lnTo>
                    <a:pt x="53" y="175"/>
                  </a:lnTo>
                  <a:lnTo>
                    <a:pt x="59" y="176"/>
                  </a:lnTo>
                  <a:lnTo>
                    <a:pt x="65" y="176"/>
                  </a:lnTo>
                  <a:lnTo>
                    <a:pt x="59" y="176"/>
                  </a:lnTo>
                  <a:lnTo>
                    <a:pt x="51" y="176"/>
                  </a:lnTo>
                  <a:lnTo>
                    <a:pt x="46" y="177"/>
                  </a:lnTo>
                  <a:lnTo>
                    <a:pt x="40" y="177"/>
                  </a:lnTo>
                  <a:lnTo>
                    <a:pt x="29" y="180"/>
                  </a:lnTo>
                  <a:lnTo>
                    <a:pt x="19" y="183"/>
                  </a:lnTo>
                  <a:lnTo>
                    <a:pt x="12" y="188"/>
                  </a:lnTo>
                  <a:lnTo>
                    <a:pt x="10" y="190"/>
                  </a:lnTo>
                  <a:lnTo>
                    <a:pt x="6" y="193"/>
                  </a:lnTo>
                  <a:lnTo>
                    <a:pt x="4" y="195"/>
                  </a:lnTo>
                  <a:lnTo>
                    <a:pt x="2" y="198"/>
                  </a:lnTo>
                  <a:lnTo>
                    <a:pt x="0" y="201"/>
                  </a:lnTo>
                  <a:lnTo>
                    <a:pt x="0" y="204"/>
                  </a:lnTo>
                  <a:lnTo>
                    <a:pt x="0" y="207"/>
                  </a:lnTo>
                  <a:lnTo>
                    <a:pt x="0" y="209"/>
                  </a:lnTo>
                  <a:lnTo>
                    <a:pt x="2" y="212"/>
                  </a:lnTo>
                  <a:lnTo>
                    <a:pt x="4" y="215"/>
                  </a:lnTo>
                  <a:lnTo>
                    <a:pt x="6" y="218"/>
                  </a:lnTo>
                  <a:lnTo>
                    <a:pt x="10" y="221"/>
                  </a:lnTo>
                  <a:lnTo>
                    <a:pt x="14" y="223"/>
                  </a:lnTo>
                  <a:lnTo>
                    <a:pt x="17" y="225"/>
                  </a:lnTo>
                  <a:lnTo>
                    <a:pt x="25" y="229"/>
                  </a:lnTo>
                  <a:lnTo>
                    <a:pt x="36" y="231"/>
                  </a:lnTo>
                  <a:lnTo>
                    <a:pt x="42" y="233"/>
                  </a:lnTo>
                  <a:lnTo>
                    <a:pt x="48" y="233"/>
                  </a:lnTo>
                  <a:lnTo>
                    <a:pt x="53" y="234"/>
                  </a:lnTo>
                  <a:lnTo>
                    <a:pt x="59" y="234"/>
                  </a:lnTo>
                  <a:lnTo>
                    <a:pt x="65" y="2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8" name="Line 265"/>
            <p:cNvSpPr>
              <a:spLocks noChangeShapeType="1"/>
            </p:cNvSpPr>
            <p:nvPr/>
          </p:nvSpPr>
          <p:spPr bwMode="auto">
            <a:xfrm>
              <a:off x="4295" y="1159"/>
              <a:ext cx="1" cy="2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" name="Line 266"/>
            <p:cNvSpPr>
              <a:spLocks noChangeShapeType="1"/>
            </p:cNvSpPr>
            <p:nvPr/>
          </p:nvSpPr>
          <p:spPr bwMode="auto">
            <a:xfrm flipV="1">
              <a:off x="4308" y="1159"/>
              <a:ext cx="1" cy="2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0" name="Rectangle 267"/>
            <p:cNvSpPr>
              <a:spLocks noChangeArrowheads="1"/>
            </p:cNvSpPr>
            <p:nvPr/>
          </p:nvSpPr>
          <p:spPr bwMode="auto">
            <a:xfrm>
              <a:off x="5331" y="1169"/>
              <a:ext cx="42" cy="117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/>
            </a:p>
          </p:txBody>
        </p:sp>
        <p:sp>
          <p:nvSpPr>
            <p:cNvPr id="271" name="Rectangle 268"/>
            <p:cNvSpPr>
              <a:spLocks noChangeArrowheads="1"/>
            </p:cNvSpPr>
            <p:nvPr/>
          </p:nvSpPr>
          <p:spPr bwMode="auto">
            <a:xfrm>
              <a:off x="5331" y="1169"/>
              <a:ext cx="42" cy="117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/>
            </a:p>
          </p:txBody>
        </p:sp>
        <p:sp>
          <p:nvSpPr>
            <p:cNvPr id="272" name="Line 269"/>
            <p:cNvSpPr>
              <a:spLocks noChangeShapeType="1"/>
            </p:cNvSpPr>
            <p:nvPr/>
          </p:nvSpPr>
          <p:spPr bwMode="auto">
            <a:xfrm>
              <a:off x="5139" y="1215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" name="Line 270"/>
            <p:cNvSpPr>
              <a:spLocks noChangeShapeType="1"/>
            </p:cNvSpPr>
            <p:nvPr/>
          </p:nvSpPr>
          <p:spPr bwMode="auto">
            <a:xfrm>
              <a:off x="5139" y="1250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" name="Line 271"/>
            <p:cNvSpPr>
              <a:spLocks noChangeShapeType="1"/>
            </p:cNvSpPr>
            <p:nvPr/>
          </p:nvSpPr>
          <p:spPr bwMode="auto">
            <a:xfrm>
              <a:off x="5182" y="1250"/>
              <a:ext cx="1" cy="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5" name="Line 272"/>
            <p:cNvSpPr>
              <a:spLocks noChangeShapeType="1"/>
            </p:cNvSpPr>
            <p:nvPr/>
          </p:nvSpPr>
          <p:spPr bwMode="auto">
            <a:xfrm flipV="1">
              <a:off x="5182" y="1110"/>
              <a:ext cx="1" cy="10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" name="Line 273"/>
            <p:cNvSpPr>
              <a:spLocks noChangeShapeType="1"/>
            </p:cNvSpPr>
            <p:nvPr/>
          </p:nvSpPr>
          <p:spPr bwMode="auto">
            <a:xfrm flipV="1">
              <a:off x="5182" y="1086"/>
              <a:ext cx="1" cy="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" name="Freeform 274"/>
            <p:cNvSpPr>
              <a:spLocks/>
            </p:cNvSpPr>
            <p:nvPr/>
          </p:nvSpPr>
          <p:spPr bwMode="auto">
            <a:xfrm>
              <a:off x="4224" y="1348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1 w 60"/>
                <a:gd name="T3" fmla="*/ 12 h 33"/>
                <a:gd name="T4" fmla="*/ 1 w 60"/>
                <a:gd name="T5" fmla="*/ 9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9 h 33"/>
                <a:gd name="T30" fmla="*/ 1 w 60"/>
                <a:gd name="T31" fmla="*/ 12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3 h 33"/>
                <a:gd name="T40" fmla="*/ 1 w 60"/>
                <a:gd name="T41" fmla="*/ 25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5 h 33"/>
                <a:gd name="T62" fmla="*/ 1 w 60"/>
                <a:gd name="T63" fmla="*/ 23 h 33"/>
                <a:gd name="T64" fmla="*/ 1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2" y="12"/>
                  </a:lnTo>
                  <a:lnTo>
                    <a:pt x="3" y="9"/>
                  </a:lnTo>
                  <a:lnTo>
                    <a:pt x="5" y="7"/>
                  </a:lnTo>
                  <a:lnTo>
                    <a:pt x="9" y="4"/>
                  </a:lnTo>
                  <a:lnTo>
                    <a:pt x="15" y="2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7" y="0"/>
                  </a:lnTo>
                  <a:lnTo>
                    <a:pt x="43" y="1"/>
                  </a:lnTo>
                  <a:lnTo>
                    <a:pt x="47" y="2"/>
                  </a:lnTo>
                  <a:lnTo>
                    <a:pt x="53" y="4"/>
                  </a:lnTo>
                  <a:lnTo>
                    <a:pt x="56" y="7"/>
                  </a:lnTo>
                  <a:lnTo>
                    <a:pt x="58" y="9"/>
                  </a:lnTo>
                  <a:lnTo>
                    <a:pt x="60" y="12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3"/>
                  </a:lnTo>
                  <a:lnTo>
                    <a:pt x="56" y="25"/>
                  </a:lnTo>
                  <a:lnTo>
                    <a:pt x="53" y="28"/>
                  </a:lnTo>
                  <a:lnTo>
                    <a:pt x="47" y="30"/>
                  </a:lnTo>
                  <a:lnTo>
                    <a:pt x="43" y="31"/>
                  </a:lnTo>
                  <a:lnTo>
                    <a:pt x="37" y="32"/>
                  </a:lnTo>
                  <a:lnTo>
                    <a:pt x="30" y="33"/>
                  </a:lnTo>
                  <a:lnTo>
                    <a:pt x="24" y="32"/>
                  </a:lnTo>
                  <a:lnTo>
                    <a:pt x="19" y="31"/>
                  </a:lnTo>
                  <a:lnTo>
                    <a:pt x="15" y="30"/>
                  </a:lnTo>
                  <a:lnTo>
                    <a:pt x="9" y="28"/>
                  </a:lnTo>
                  <a:lnTo>
                    <a:pt x="5" y="25"/>
                  </a:lnTo>
                  <a:lnTo>
                    <a:pt x="3" y="23"/>
                  </a:lnTo>
                  <a:lnTo>
                    <a:pt x="2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" name="Freeform 275"/>
            <p:cNvSpPr>
              <a:spLocks/>
            </p:cNvSpPr>
            <p:nvPr/>
          </p:nvSpPr>
          <p:spPr bwMode="auto">
            <a:xfrm>
              <a:off x="4359" y="1153"/>
              <a:ext cx="30" cy="33"/>
            </a:xfrm>
            <a:custGeom>
              <a:avLst/>
              <a:gdLst>
                <a:gd name="T0" fmla="*/ 0 w 61"/>
                <a:gd name="T1" fmla="*/ 17 h 33"/>
                <a:gd name="T2" fmla="*/ 0 w 61"/>
                <a:gd name="T3" fmla="*/ 14 h 33"/>
                <a:gd name="T4" fmla="*/ 0 w 61"/>
                <a:gd name="T5" fmla="*/ 10 h 33"/>
                <a:gd name="T6" fmla="*/ 0 w 61"/>
                <a:gd name="T7" fmla="*/ 7 h 33"/>
                <a:gd name="T8" fmla="*/ 0 w 61"/>
                <a:gd name="T9" fmla="*/ 4 h 33"/>
                <a:gd name="T10" fmla="*/ 0 w 61"/>
                <a:gd name="T11" fmla="*/ 3 h 33"/>
                <a:gd name="T12" fmla="*/ 0 w 61"/>
                <a:gd name="T13" fmla="*/ 1 h 33"/>
                <a:gd name="T14" fmla="*/ 0 w 61"/>
                <a:gd name="T15" fmla="*/ 0 h 33"/>
                <a:gd name="T16" fmla="*/ 0 w 61"/>
                <a:gd name="T17" fmla="*/ 0 h 33"/>
                <a:gd name="T18" fmla="*/ 0 w 61"/>
                <a:gd name="T19" fmla="*/ 0 h 33"/>
                <a:gd name="T20" fmla="*/ 0 w 61"/>
                <a:gd name="T21" fmla="*/ 1 h 33"/>
                <a:gd name="T22" fmla="*/ 0 w 61"/>
                <a:gd name="T23" fmla="*/ 3 h 33"/>
                <a:gd name="T24" fmla="*/ 0 w 61"/>
                <a:gd name="T25" fmla="*/ 4 h 33"/>
                <a:gd name="T26" fmla="*/ 0 w 61"/>
                <a:gd name="T27" fmla="*/ 7 h 33"/>
                <a:gd name="T28" fmla="*/ 0 w 61"/>
                <a:gd name="T29" fmla="*/ 10 h 33"/>
                <a:gd name="T30" fmla="*/ 0 w 61"/>
                <a:gd name="T31" fmla="*/ 14 h 33"/>
                <a:gd name="T32" fmla="*/ 0 w 61"/>
                <a:gd name="T33" fmla="*/ 17 h 33"/>
                <a:gd name="T34" fmla="*/ 0 w 61"/>
                <a:gd name="T35" fmla="*/ 17 h 33"/>
                <a:gd name="T36" fmla="*/ 0 w 61"/>
                <a:gd name="T37" fmla="*/ 20 h 33"/>
                <a:gd name="T38" fmla="*/ 0 w 61"/>
                <a:gd name="T39" fmla="*/ 23 h 33"/>
                <a:gd name="T40" fmla="*/ 0 w 61"/>
                <a:gd name="T41" fmla="*/ 26 h 33"/>
                <a:gd name="T42" fmla="*/ 0 w 61"/>
                <a:gd name="T43" fmla="*/ 28 h 33"/>
                <a:gd name="T44" fmla="*/ 0 w 61"/>
                <a:gd name="T45" fmla="*/ 30 h 33"/>
                <a:gd name="T46" fmla="*/ 0 w 61"/>
                <a:gd name="T47" fmla="*/ 32 h 33"/>
                <a:gd name="T48" fmla="*/ 0 w 61"/>
                <a:gd name="T49" fmla="*/ 32 h 33"/>
                <a:gd name="T50" fmla="*/ 0 w 61"/>
                <a:gd name="T51" fmla="*/ 33 h 33"/>
                <a:gd name="T52" fmla="*/ 0 w 61"/>
                <a:gd name="T53" fmla="*/ 32 h 33"/>
                <a:gd name="T54" fmla="*/ 0 w 61"/>
                <a:gd name="T55" fmla="*/ 32 h 33"/>
                <a:gd name="T56" fmla="*/ 0 w 61"/>
                <a:gd name="T57" fmla="*/ 30 h 33"/>
                <a:gd name="T58" fmla="*/ 0 w 61"/>
                <a:gd name="T59" fmla="*/ 28 h 33"/>
                <a:gd name="T60" fmla="*/ 0 w 61"/>
                <a:gd name="T61" fmla="*/ 26 h 33"/>
                <a:gd name="T62" fmla="*/ 0 w 61"/>
                <a:gd name="T63" fmla="*/ 23 h 33"/>
                <a:gd name="T64" fmla="*/ 0 w 61"/>
                <a:gd name="T65" fmla="*/ 20 h 33"/>
                <a:gd name="T66" fmla="*/ 0 w 61"/>
                <a:gd name="T67" fmla="*/ 17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1"/>
                <a:gd name="T103" fmla="*/ 0 h 33"/>
                <a:gd name="T104" fmla="*/ 61 w 61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1" h="33">
                  <a:moveTo>
                    <a:pt x="0" y="17"/>
                  </a:moveTo>
                  <a:lnTo>
                    <a:pt x="0" y="14"/>
                  </a:lnTo>
                  <a:lnTo>
                    <a:pt x="2" y="10"/>
                  </a:lnTo>
                  <a:lnTo>
                    <a:pt x="4" y="7"/>
                  </a:lnTo>
                  <a:lnTo>
                    <a:pt x="8" y="4"/>
                  </a:lnTo>
                  <a:lnTo>
                    <a:pt x="14" y="3"/>
                  </a:lnTo>
                  <a:lnTo>
                    <a:pt x="17" y="1"/>
                  </a:lnTo>
                  <a:lnTo>
                    <a:pt x="23" y="0"/>
                  </a:lnTo>
                  <a:lnTo>
                    <a:pt x="31" y="0"/>
                  </a:lnTo>
                  <a:lnTo>
                    <a:pt x="36" y="0"/>
                  </a:lnTo>
                  <a:lnTo>
                    <a:pt x="42" y="1"/>
                  </a:lnTo>
                  <a:lnTo>
                    <a:pt x="46" y="3"/>
                  </a:lnTo>
                  <a:lnTo>
                    <a:pt x="51" y="4"/>
                  </a:lnTo>
                  <a:lnTo>
                    <a:pt x="55" y="7"/>
                  </a:lnTo>
                  <a:lnTo>
                    <a:pt x="57" y="10"/>
                  </a:lnTo>
                  <a:lnTo>
                    <a:pt x="59" y="14"/>
                  </a:lnTo>
                  <a:lnTo>
                    <a:pt x="61" y="17"/>
                  </a:lnTo>
                  <a:lnTo>
                    <a:pt x="59" y="20"/>
                  </a:lnTo>
                  <a:lnTo>
                    <a:pt x="57" y="23"/>
                  </a:lnTo>
                  <a:lnTo>
                    <a:pt x="55" y="26"/>
                  </a:lnTo>
                  <a:lnTo>
                    <a:pt x="51" y="28"/>
                  </a:lnTo>
                  <a:lnTo>
                    <a:pt x="46" y="30"/>
                  </a:lnTo>
                  <a:lnTo>
                    <a:pt x="42" y="32"/>
                  </a:lnTo>
                  <a:lnTo>
                    <a:pt x="36" y="32"/>
                  </a:lnTo>
                  <a:lnTo>
                    <a:pt x="31" y="33"/>
                  </a:lnTo>
                  <a:lnTo>
                    <a:pt x="23" y="32"/>
                  </a:lnTo>
                  <a:lnTo>
                    <a:pt x="17" y="32"/>
                  </a:lnTo>
                  <a:lnTo>
                    <a:pt x="14" y="30"/>
                  </a:lnTo>
                  <a:lnTo>
                    <a:pt x="8" y="28"/>
                  </a:lnTo>
                  <a:lnTo>
                    <a:pt x="4" y="26"/>
                  </a:lnTo>
                  <a:lnTo>
                    <a:pt x="2" y="23"/>
                  </a:lnTo>
                  <a:lnTo>
                    <a:pt x="0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9" name="Rectangle 276"/>
            <p:cNvSpPr>
              <a:spLocks noChangeArrowheads="1"/>
            </p:cNvSpPr>
            <p:nvPr/>
          </p:nvSpPr>
          <p:spPr bwMode="auto">
            <a:xfrm>
              <a:off x="3243" y="1149"/>
              <a:ext cx="124" cy="91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endParaRPr lang="en-US" altLang="zh-CN" sz="20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</a:p>
            <a:p>
              <a:pPr eaLnBrk="1" hangingPunct="1"/>
              <a:endParaRPr lang="en-US" altLang="zh-CN" sz="20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2000"/>
            </a:p>
          </p:txBody>
        </p:sp>
        <p:sp>
          <p:nvSpPr>
            <p:cNvPr id="280" name="Rectangle 277"/>
            <p:cNvSpPr>
              <a:spLocks noChangeArrowheads="1"/>
            </p:cNvSpPr>
            <p:nvPr/>
          </p:nvSpPr>
          <p:spPr bwMode="auto">
            <a:xfrm>
              <a:off x="5239" y="1104"/>
              <a:ext cx="64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R</a:t>
              </a:r>
              <a:endParaRPr lang="en-US" altLang="zh-CN"/>
            </a:p>
          </p:txBody>
        </p:sp>
        <p:sp>
          <p:nvSpPr>
            <p:cNvPr id="281" name="Rectangle 278"/>
            <p:cNvSpPr>
              <a:spLocks noChangeArrowheads="1"/>
            </p:cNvSpPr>
            <p:nvPr/>
          </p:nvSpPr>
          <p:spPr bwMode="auto">
            <a:xfrm>
              <a:off x="4272" y="1613"/>
              <a:ext cx="64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282" name="Rectangle 279"/>
            <p:cNvSpPr>
              <a:spLocks noChangeArrowheads="1"/>
            </p:cNvSpPr>
            <p:nvPr/>
          </p:nvSpPr>
          <p:spPr bwMode="auto">
            <a:xfrm>
              <a:off x="5420" y="968"/>
              <a:ext cx="109" cy="54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2000"/>
            </a:p>
          </p:txBody>
        </p:sp>
        <p:sp>
          <p:nvSpPr>
            <p:cNvPr id="283" name="Freeform 280"/>
            <p:cNvSpPr>
              <a:spLocks noEditPoints="1"/>
            </p:cNvSpPr>
            <p:nvPr/>
          </p:nvSpPr>
          <p:spPr bwMode="auto">
            <a:xfrm>
              <a:off x="3608" y="1837"/>
              <a:ext cx="14" cy="131"/>
            </a:xfrm>
            <a:custGeom>
              <a:avLst/>
              <a:gdLst>
                <a:gd name="T0" fmla="*/ 1 w 26"/>
                <a:gd name="T1" fmla="*/ 117 h 131"/>
                <a:gd name="T2" fmla="*/ 1 w 26"/>
                <a:gd name="T3" fmla="*/ 117 h 131"/>
                <a:gd name="T4" fmla="*/ 1 w 26"/>
                <a:gd name="T5" fmla="*/ 118 h 131"/>
                <a:gd name="T6" fmla="*/ 1 w 26"/>
                <a:gd name="T7" fmla="*/ 119 h 131"/>
                <a:gd name="T8" fmla="*/ 0 w 26"/>
                <a:gd name="T9" fmla="*/ 121 h 131"/>
                <a:gd name="T10" fmla="*/ 0 w 26"/>
                <a:gd name="T11" fmla="*/ 123 h 131"/>
                <a:gd name="T12" fmla="*/ 0 w 26"/>
                <a:gd name="T13" fmla="*/ 124 h 131"/>
                <a:gd name="T14" fmla="*/ 0 w 26"/>
                <a:gd name="T15" fmla="*/ 126 h 131"/>
                <a:gd name="T16" fmla="*/ 0 w 26"/>
                <a:gd name="T17" fmla="*/ 127 h 131"/>
                <a:gd name="T18" fmla="*/ 1 w 26"/>
                <a:gd name="T19" fmla="*/ 129 h 131"/>
                <a:gd name="T20" fmla="*/ 1 w 26"/>
                <a:gd name="T21" fmla="*/ 131 h 131"/>
                <a:gd name="T22" fmla="*/ 1 w 26"/>
                <a:gd name="T23" fmla="*/ 131 h 131"/>
                <a:gd name="T24" fmla="*/ 1 w 26"/>
                <a:gd name="T25" fmla="*/ 131 h 131"/>
                <a:gd name="T26" fmla="*/ 1 w 26"/>
                <a:gd name="T27" fmla="*/ 131 h 131"/>
                <a:gd name="T28" fmla="*/ 1 w 26"/>
                <a:gd name="T29" fmla="*/ 131 h 131"/>
                <a:gd name="T30" fmla="*/ 1 w 26"/>
                <a:gd name="T31" fmla="*/ 131 h 131"/>
                <a:gd name="T32" fmla="*/ 1 w 26"/>
                <a:gd name="T33" fmla="*/ 129 h 131"/>
                <a:gd name="T34" fmla="*/ 1 w 26"/>
                <a:gd name="T35" fmla="*/ 127 h 131"/>
                <a:gd name="T36" fmla="*/ 1 w 26"/>
                <a:gd name="T37" fmla="*/ 126 h 131"/>
                <a:gd name="T38" fmla="*/ 1 w 26"/>
                <a:gd name="T39" fmla="*/ 124 h 131"/>
                <a:gd name="T40" fmla="*/ 1 w 26"/>
                <a:gd name="T41" fmla="*/ 123 h 131"/>
                <a:gd name="T42" fmla="*/ 1 w 26"/>
                <a:gd name="T43" fmla="*/ 121 h 131"/>
                <a:gd name="T44" fmla="*/ 1 w 26"/>
                <a:gd name="T45" fmla="*/ 119 h 131"/>
                <a:gd name="T46" fmla="*/ 1 w 26"/>
                <a:gd name="T47" fmla="*/ 118 h 131"/>
                <a:gd name="T48" fmla="*/ 1 w 26"/>
                <a:gd name="T49" fmla="*/ 117 h 131"/>
                <a:gd name="T50" fmla="*/ 1 w 26"/>
                <a:gd name="T51" fmla="*/ 117 h 131"/>
                <a:gd name="T52" fmla="*/ 1 w 26"/>
                <a:gd name="T53" fmla="*/ 117 h 131"/>
                <a:gd name="T54" fmla="*/ 1 w 26"/>
                <a:gd name="T55" fmla="*/ 117 h 131"/>
                <a:gd name="T56" fmla="*/ 1 w 26"/>
                <a:gd name="T57" fmla="*/ 0 h 131"/>
                <a:gd name="T58" fmla="*/ 1 w 26"/>
                <a:gd name="T59" fmla="*/ 0 h 131"/>
                <a:gd name="T60" fmla="*/ 1 w 26"/>
                <a:gd name="T61" fmla="*/ 1 h 131"/>
                <a:gd name="T62" fmla="*/ 1 w 26"/>
                <a:gd name="T63" fmla="*/ 2 h 131"/>
                <a:gd name="T64" fmla="*/ 0 w 26"/>
                <a:gd name="T65" fmla="*/ 4 h 131"/>
                <a:gd name="T66" fmla="*/ 0 w 26"/>
                <a:gd name="T67" fmla="*/ 6 h 131"/>
                <a:gd name="T68" fmla="*/ 0 w 26"/>
                <a:gd name="T69" fmla="*/ 7 h 131"/>
                <a:gd name="T70" fmla="*/ 0 w 26"/>
                <a:gd name="T71" fmla="*/ 9 h 131"/>
                <a:gd name="T72" fmla="*/ 0 w 26"/>
                <a:gd name="T73" fmla="*/ 10 h 131"/>
                <a:gd name="T74" fmla="*/ 1 w 26"/>
                <a:gd name="T75" fmla="*/ 12 h 131"/>
                <a:gd name="T76" fmla="*/ 1 w 26"/>
                <a:gd name="T77" fmla="*/ 14 h 131"/>
                <a:gd name="T78" fmla="*/ 1 w 26"/>
                <a:gd name="T79" fmla="*/ 14 h 131"/>
                <a:gd name="T80" fmla="*/ 1 w 26"/>
                <a:gd name="T81" fmla="*/ 14 h 131"/>
                <a:gd name="T82" fmla="*/ 1 w 26"/>
                <a:gd name="T83" fmla="*/ 14 h 131"/>
                <a:gd name="T84" fmla="*/ 1 w 26"/>
                <a:gd name="T85" fmla="*/ 14 h 131"/>
                <a:gd name="T86" fmla="*/ 1 w 26"/>
                <a:gd name="T87" fmla="*/ 14 h 131"/>
                <a:gd name="T88" fmla="*/ 1 w 26"/>
                <a:gd name="T89" fmla="*/ 12 h 131"/>
                <a:gd name="T90" fmla="*/ 1 w 26"/>
                <a:gd name="T91" fmla="*/ 10 h 131"/>
                <a:gd name="T92" fmla="*/ 1 w 26"/>
                <a:gd name="T93" fmla="*/ 9 h 131"/>
                <a:gd name="T94" fmla="*/ 1 w 26"/>
                <a:gd name="T95" fmla="*/ 7 h 131"/>
                <a:gd name="T96" fmla="*/ 1 w 26"/>
                <a:gd name="T97" fmla="*/ 6 h 131"/>
                <a:gd name="T98" fmla="*/ 1 w 26"/>
                <a:gd name="T99" fmla="*/ 4 h 131"/>
                <a:gd name="T100" fmla="*/ 1 w 26"/>
                <a:gd name="T101" fmla="*/ 2 h 131"/>
                <a:gd name="T102" fmla="*/ 1 w 26"/>
                <a:gd name="T103" fmla="*/ 1 h 131"/>
                <a:gd name="T104" fmla="*/ 1 w 26"/>
                <a:gd name="T105" fmla="*/ 0 h 131"/>
                <a:gd name="T106" fmla="*/ 1 w 26"/>
                <a:gd name="T107" fmla="*/ 0 h 131"/>
                <a:gd name="T108" fmla="*/ 1 w 26"/>
                <a:gd name="T109" fmla="*/ 0 h 131"/>
                <a:gd name="T110" fmla="*/ 1 w 26"/>
                <a:gd name="T111" fmla="*/ 0 h 131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26"/>
                <a:gd name="T169" fmla="*/ 0 h 131"/>
                <a:gd name="T170" fmla="*/ 26 w 26"/>
                <a:gd name="T171" fmla="*/ 131 h 131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26" h="131">
                  <a:moveTo>
                    <a:pt x="13" y="117"/>
                  </a:moveTo>
                  <a:lnTo>
                    <a:pt x="11" y="117"/>
                  </a:lnTo>
                  <a:lnTo>
                    <a:pt x="8" y="118"/>
                  </a:lnTo>
                  <a:lnTo>
                    <a:pt x="4" y="119"/>
                  </a:lnTo>
                  <a:lnTo>
                    <a:pt x="0" y="121"/>
                  </a:lnTo>
                  <a:lnTo>
                    <a:pt x="0" y="123"/>
                  </a:lnTo>
                  <a:lnTo>
                    <a:pt x="0" y="124"/>
                  </a:lnTo>
                  <a:lnTo>
                    <a:pt x="0" y="126"/>
                  </a:lnTo>
                  <a:lnTo>
                    <a:pt x="0" y="127"/>
                  </a:lnTo>
                  <a:lnTo>
                    <a:pt x="4" y="129"/>
                  </a:lnTo>
                  <a:lnTo>
                    <a:pt x="8" y="131"/>
                  </a:lnTo>
                  <a:lnTo>
                    <a:pt x="9" y="131"/>
                  </a:lnTo>
                  <a:lnTo>
                    <a:pt x="13" y="131"/>
                  </a:lnTo>
                  <a:lnTo>
                    <a:pt x="15" y="131"/>
                  </a:lnTo>
                  <a:lnTo>
                    <a:pt x="19" y="131"/>
                  </a:lnTo>
                  <a:lnTo>
                    <a:pt x="23" y="129"/>
                  </a:lnTo>
                  <a:lnTo>
                    <a:pt x="25" y="127"/>
                  </a:lnTo>
                  <a:lnTo>
                    <a:pt x="26" y="126"/>
                  </a:lnTo>
                  <a:lnTo>
                    <a:pt x="26" y="124"/>
                  </a:lnTo>
                  <a:lnTo>
                    <a:pt x="26" y="123"/>
                  </a:lnTo>
                  <a:lnTo>
                    <a:pt x="25" y="121"/>
                  </a:lnTo>
                  <a:lnTo>
                    <a:pt x="23" y="119"/>
                  </a:lnTo>
                  <a:lnTo>
                    <a:pt x="19" y="118"/>
                  </a:lnTo>
                  <a:lnTo>
                    <a:pt x="15" y="117"/>
                  </a:lnTo>
                  <a:lnTo>
                    <a:pt x="13" y="117"/>
                  </a:lnTo>
                  <a:close/>
                  <a:moveTo>
                    <a:pt x="13" y="0"/>
                  </a:moveTo>
                  <a:lnTo>
                    <a:pt x="11" y="0"/>
                  </a:lnTo>
                  <a:lnTo>
                    <a:pt x="8" y="1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12"/>
                  </a:lnTo>
                  <a:lnTo>
                    <a:pt x="8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9" y="14"/>
                  </a:lnTo>
                  <a:lnTo>
                    <a:pt x="23" y="12"/>
                  </a:lnTo>
                  <a:lnTo>
                    <a:pt x="25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3" y="2"/>
                  </a:lnTo>
                  <a:lnTo>
                    <a:pt x="19" y="1"/>
                  </a:lnTo>
                  <a:lnTo>
                    <a:pt x="15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4" name="Freeform 281"/>
            <p:cNvSpPr>
              <a:spLocks/>
            </p:cNvSpPr>
            <p:nvPr/>
          </p:nvSpPr>
          <p:spPr bwMode="auto">
            <a:xfrm>
              <a:off x="3608" y="1954"/>
              <a:ext cx="14" cy="14"/>
            </a:xfrm>
            <a:custGeom>
              <a:avLst/>
              <a:gdLst>
                <a:gd name="T0" fmla="*/ 1 w 26"/>
                <a:gd name="T1" fmla="*/ 0 h 14"/>
                <a:gd name="T2" fmla="*/ 1 w 26"/>
                <a:gd name="T3" fmla="*/ 0 h 14"/>
                <a:gd name="T4" fmla="*/ 1 w 26"/>
                <a:gd name="T5" fmla="*/ 1 h 14"/>
                <a:gd name="T6" fmla="*/ 1 w 26"/>
                <a:gd name="T7" fmla="*/ 2 h 14"/>
                <a:gd name="T8" fmla="*/ 0 w 26"/>
                <a:gd name="T9" fmla="*/ 4 h 14"/>
                <a:gd name="T10" fmla="*/ 0 w 26"/>
                <a:gd name="T11" fmla="*/ 6 h 14"/>
                <a:gd name="T12" fmla="*/ 0 w 26"/>
                <a:gd name="T13" fmla="*/ 7 h 14"/>
                <a:gd name="T14" fmla="*/ 0 w 26"/>
                <a:gd name="T15" fmla="*/ 9 h 14"/>
                <a:gd name="T16" fmla="*/ 0 w 26"/>
                <a:gd name="T17" fmla="*/ 10 h 14"/>
                <a:gd name="T18" fmla="*/ 1 w 26"/>
                <a:gd name="T19" fmla="*/ 12 h 14"/>
                <a:gd name="T20" fmla="*/ 1 w 26"/>
                <a:gd name="T21" fmla="*/ 14 h 14"/>
                <a:gd name="T22" fmla="*/ 1 w 26"/>
                <a:gd name="T23" fmla="*/ 14 h 14"/>
                <a:gd name="T24" fmla="*/ 1 w 26"/>
                <a:gd name="T25" fmla="*/ 14 h 14"/>
                <a:gd name="T26" fmla="*/ 1 w 26"/>
                <a:gd name="T27" fmla="*/ 14 h 14"/>
                <a:gd name="T28" fmla="*/ 1 w 26"/>
                <a:gd name="T29" fmla="*/ 14 h 14"/>
                <a:gd name="T30" fmla="*/ 1 w 26"/>
                <a:gd name="T31" fmla="*/ 14 h 14"/>
                <a:gd name="T32" fmla="*/ 1 w 26"/>
                <a:gd name="T33" fmla="*/ 12 h 14"/>
                <a:gd name="T34" fmla="*/ 1 w 26"/>
                <a:gd name="T35" fmla="*/ 10 h 14"/>
                <a:gd name="T36" fmla="*/ 1 w 26"/>
                <a:gd name="T37" fmla="*/ 9 h 14"/>
                <a:gd name="T38" fmla="*/ 1 w 26"/>
                <a:gd name="T39" fmla="*/ 7 h 14"/>
                <a:gd name="T40" fmla="*/ 1 w 26"/>
                <a:gd name="T41" fmla="*/ 6 h 14"/>
                <a:gd name="T42" fmla="*/ 1 w 26"/>
                <a:gd name="T43" fmla="*/ 4 h 14"/>
                <a:gd name="T44" fmla="*/ 1 w 26"/>
                <a:gd name="T45" fmla="*/ 2 h 14"/>
                <a:gd name="T46" fmla="*/ 1 w 26"/>
                <a:gd name="T47" fmla="*/ 1 h 14"/>
                <a:gd name="T48" fmla="*/ 1 w 26"/>
                <a:gd name="T49" fmla="*/ 0 h 14"/>
                <a:gd name="T50" fmla="*/ 1 w 26"/>
                <a:gd name="T51" fmla="*/ 0 h 14"/>
                <a:gd name="T52" fmla="*/ 1 w 26"/>
                <a:gd name="T53" fmla="*/ 0 h 1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6"/>
                <a:gd name="T82" fmla="*/ 0 h 14"/>
                <a:gd name="T83" fmla="*/ 26 w 26"/>
                <a:gd name="T84" fmla="*/ 14 h 1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6" h="14">
                  <a:moveTo>
                    <a:pt x="13" y="0"/>
                  </a:moveTo>
                  <a:lnTo>
                    <a:pt x="11" y="0"/>
                  </a:lnTo>
                  <a:lnTo>
                    <a:pt x="8" y="1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12"/>
                  </a:lnTo>
                  <a:lnTo>
                    <a:pt x="8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9" y="14"/>
                  </a:lnTo>
                  <a:lnTo>
                    <a:pt x="23" y="12"/>
                  </a:lnTo>
                  <a:lnTo>
                    <a:pt x="25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3" y="2"/>
                  </a:lnTo>
                  <a:lnTo>
                    <a:pt x="19" y="1"/>
                  </a:lnTo>
                  <a:lnTo>
                    <a:pt x="15" y="0"/>
                  </a:lnTo>
                  <a:lnTo>
                    <a:pt x="1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5" name="Freeform 282"/>
            <p:cNvSpPr>
              <a:spLocks/>
            </p:cNvSpPr>
            <p:nvPr/>
          </p:nvSpPr>
          <p:spPr bwMode="auto">
            <a:xfrm>
              <a:off x="3608" y="1837"/>
              <a:ext cx="14" cy="14"/>
            </a:xfrm>
            <a:custGeom>
              <a:avLst/>
              <a:gdLst>
                <a:gd name="T0" fmla="*/ 1 w 26"/>
                <a:gd name="T1" fmla="*/ 0 h 14"/>
                <a:gd name="T2" fmla="*/ 1 w 26"/>
                <a:gd name="T3" fmla="*/ 0 h 14"/>
                <a:gd name="T4" fmla="*/ 1 w 26"/>
                <a:gd name="T5" fmla="*/ 1 h 14"/>
                <a:gd name="T6" fmla="*/ 1 w 26"/>
                <a:gd name="T7" fmla="*/ 2 h 14"/>
                <a:gd name="T8" fmla="*/ 0 w 26"/>
                <a:gd name="T9" fmla="*/ 4 h 14"/>
                <a:gd name="T10" fmla="*/ 0 w 26"/>
                <a:gd name="T11" fmla="*/ 6 h 14"/>
                <a:gd name="T12" fmla="*/ 0 w 26"/>
                <a:gd name="T13" fmla="*/ 7 h 14"/>
                <a:gd name="T14" fmla="*/ 0 w 26"/>
                <a:gd name="T15" fmla="*/ 9 h 14"/>
                <a:gd name="T16" fmla="*/ 0 w 26"/>
                <a:gd name="T17" fmla="*/ 10 h 14"/>
                <a:gd name="T18" fmla="*/ 1 w 26"/>
                <a:gd name="T19" fmla="*/ 12 h 14"/>
                <a:gd name="T20" fmla="*/ 1 w 26"/>
                <a:gd name="T21" fmla="*/ 14 h 14"/>
                <a:gd name="T22" fmla="*/ 1 w 26"/>
                <a:gd name="T23" fmla="*/ 14 h 14"/>
                <a:gd name="T24" fmla="*/ 1 w 26"/>
                <a:gd name="T25" fmla="*/ 14 h 14"/>
                <a:gd name="T26" fmla="*/ 1 w 26"/>
                <a:gd name="T27" fmla="*/ 14 h 14"/>
                <a:gd name="T28" fmla="*/ 1 w 26"/>
                <a:gd name="T29" fmla="*/ 14 h 14"/>
                <a:gd name="T30" fmla="*/ 1 w 26"/>
                <a:gd name="T31" fmla="*/ 14 h 14"/>
                <a:gd name="T32" fmla="*/ 1 w 26"/>
                <a:gd name="T33" fmla="*/ 12 h 14"/>
                <a:gd name="T34" fmla="*/ 1 w 26"/>
                <a:gd name="T35" fmla="*/ 10 h 14"/>
                <a:gd name="T36" fmla="*/ 1 w 26"/>
                <a:gd name="T37" fmla="*/ 9 h 14"/>
                <a:gd name="T38" fmla="*/ 1 w 26"/>
                <a:gd name="T39" fmla="*/ 7 h 14"/>
                <a:gd name="T40" fmla="*/ 1 w 26"/>
                <a:gd name="T41" fmla="*/ 6 h 14"/>
                <a:gd name="T42" fmla="*/ 1 w 26"/>
                <a:gd name="T43" fmla="*/ 4 h 14"/>
                <a:gd name="T44" fmla="*/ 1 w 26"/>
                <a:gd name="T45" fmla="*/ 2 h 14"/>
                <a:gd name="T46" fmla="*/ 1 w 26"/>
                <a:gd name="T47" fmla="*/ 1 h 14"/>
                <a:gd name="T48" fmla="*/ 1 w 26"/>
                <a:gd name="T49" fmla="*/ 0 h 14"/>
                <a:gd name="T50" fmla="*/ 1 w 26"/>
                <a:gd name="T51" fmla="*/ 0 h 14"/>
                <a:gd name="T52" fmla="*/ 1 w 26"/>
                <a:gd name="T53" fmla="*/ 0 h 1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6"/>
                <a:gd name="T82" fmla="*/ 0 h 14"/>
                <a:gd name="T83" fmla="*/ 26 w 26"/>
                <a:gd name="T84" fmla="*/ 14 h 1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6" h="14">
                  <a:moveTo>
                    <a:pt x="13" y="0"/>
                  </a:moveTo>
                  <a:lnTo>
                    <a:pt x="11" y="0"/>
                  </a:lnTo>
                  <a:lnTo>
                    <a:pt x="8" y="1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12"/>
                  </a:lnTo>
                  <a:lnTo>
                    <a:pt x="8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9" y="14"/>
                  </a:lnTo>
                  <a:lnTo>
                    <a:pt x="23" y="12"/>
                  </a:lnTo>
                  <a:lnTo>
                    <a:pt x="25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3" y="2"/>
                  </a:lnTo>
                  <a:lnTo>
                    <a:pt x="19" y="1"/>
                  </a:lnTo>
                  <a:lnTo>
                    <a:pt x="15" y="0"/>
                  </a:lnTo>
                  <a:lnTo>
                    <a:pt x="1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" name="Line 283"/>
            <p:cNvSpPr>
              <a:spLocks noChangeShapeType="1"/>
            </p:cNvSpPr>
            <p:nvPr/>
          </p:nvSpPr>
          <p:spPr bwMode="auto">
            <a:xfrm>
              <a:off x="3618" y="1851"/>
              <a:ext cx="30" cy="9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" name="Freeform 284"/>
            <p:cNvSpPr>
              <a:spLocks/>
            </p:cNvSpPr>
            <p:nvPr/>
          </p:nvSpPr>
          <p:spPr bwMode="auto">
            <a:xfrm>
              <a:off x="5167" y="1043"/>
              <a:ext cx="30" cy="33"/>
            </a:xfrm>
            <a:custGeom>
              <a:avLst/>
              <a:gdLst>
                <a:gd name="T0" fmla="*/ 0 w 60"/>
                <a:gd name="T1" fmla="*/ 17 h 33"/>
                <a:gd name="T2" fmla="*/ 0 w 60"/>
                <a:gd name="T3" fmla="*/ 13 h 33"/>
                <a:gd name="T4" fmla="*/ 1 w 60"/>
                <a:gd name="T5" fmla="*/ 10 h 33"/>
                <a:gd name="T6" fmla="*/ 1 w 60"/>
                <a:gd name="T7" fmla="*/ 8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8 h 33"/>
                <a:gd name="T28" fmla="*/ 1 w 60"/>
                <a:gd name="T29" fmla="*/ 10 h 33"/>
                <a:gd name="T30" fmla="*/ 1 w 60"/>
                <a:gd name="T31" fmla="*/ 13 h 33"/>
                <a:gd name="T32" fmla="*/ 1 w 60"/>
                <a:gd name="T33" fmla="*/ 17 h 33"/>
                <a:gd name="T34" fmla="*/ 1 w 60"/>
                <a:gd name="T35" fmla="*/ 17 h 33"/>
                <a:gd name="T36" fmla="*/ 1 w 60"/>
                <a:gd name="T37" fmla="*/ 20 h 33"/>
                <a:gd name="T38" fmla="*/ 1 w 60"/>
                <a:gd name="T39" fmla="*/ 23 h 33"/>
                <a:gd name="T40" fmla="*/ 1 w 60"/>
                <a:gd name="T41" fmla="*/ 25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5 h 33"/>
                <a:gd name="T62" fmla="*/ 1 w 60"/>
                <a:gd name="T63" fmla="*/ 23 h 33"/>
                <a:gd name="T64" fmla="*/ 0 w 60"/>
                <a:gd name="T65" fmla="*/ 20 h 33"/>
                <a:gd name="T66" fmla="*/ 0 w 60"/>
                <a:gd name="T67" fmla="*/ 17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7"/>
                  </a:moveTo>
                  <a:lnTo>
                    <a:pt x="0" y="13"/>
                  </a:lnTo>
                  <a:lnTo>
                    <a:pt x="2" y="10"/>
                  </a:lnTo>
                  <a:lnTo>
                    <a:pt x="4" y="8"/>
                  </a:lnTo>
                  <a:lnTo>
                    <a:pt x="7" y="4"/>
                  </a:lnTo>
                  <a:lnTo>
                    <a:pt x="13" y="2"/>
                  </a:lnTo>
                  <a:lnTo>
                    <a:pt x="17" y="1"/>
                  </a:lnTo>
                  <a:lnTo>
                    <a:pt x="22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5" y="2"/>
                  </a:lnTo>
                  <a:lnTo>
                    <a:pt x="51" y="4"/>
                  </a:lnTo>
                  <a:lnTo>
                    <a:pt x="55" y="8"/>
                  </a:lnTo>
                  <a:lnTo>
                    <a:pt x="56" y="10"/>
                  </a:lnTo>
                  <a:lnTo>
                    <a:pt x="58" y="13"/>
                  </a:lnTo>
                  <a:lnTo>
                    <a:pt x="60" y="17"/>
                  </a:lnTo>
                  <a:lnTo>
                    <a:pt x="58" y="20"/>
                  </a:lnTo>
                  <a:lnTo>
                    <a:pt x="56" y="23"/>
                  </a:lnTo>
                  <a:lnTo>
                    <a:pt x="55" y="25"/>
                  </a:lnTo>
                  <a:lnTo>
                    <a:pt x="51" y="28"/>
                  </a:lnTo>
                  <a:lnTo>
                    <a:pt x="45" y="30"/>
                  </a:lnTo>
                  <a:lnTo>
                    <a:pt x="41" y="31"/>
                  </a:lnTo>
                  <a:lnTo>
                    <a:pt x="36" y="32"/>
                  </a:lnTo>
                  <a:lnTo>
                    <a:pt x="30" y="33"/>
                  </a:lnTo>
                  <a:lnTo>
                    <a:pt x="22" y="32"/>
                  </a:lnTo>
                  <a:lnTo>
                    <a:pt x="17" y="31"/>
                  </a:lnTo>
                  <a:lnTo>
                    <a:pt x="13" y="30"/>
                  </a:lnTo>
                  <a:lnTo>
                    <a:pt x="7" y="28"/>
                  </a:lnTo>
                  <a:lnTo>
                    <a:pt x="4" y="25"/>
                  </a:lnTo>
                  <a:lnTo>
                    <a:pt x="2" y="23"/>
                  </a:lnTo>
                  <a:lnTo>
                    <a:pt x="0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Line 285"/>
            <p:cNvSpPr>
              <a:spLocks noChangeShapeType="1"/>
            </p:cNvSpPr>
            <p:nvPr/>
          </p:nvSpPr>
          <p:spPr bwMode="auto">
            <a:xfrm flipV="1">
              <a:off x="4365" y="1059"/>
              <a:ext cx="1" cy="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Freeform 286"/>
            <p:cNvSpPr>
              <a:spLocks/>
            </p:cNvSpPr>
            <p:nvPr/>
          </p:nvSpPr>
          <p:spPr bwMode="auto">
            <a:xfrm>
              <a:off x="5080" y="1058"/>
              <a:ext cx="274" cy="111"/>
            </a:xfrm>
            <a:custGeom>
              <a:avLst/>
              <a:gdLst>
                <a:gd name="T0" fmla="*/ 9 w 547"/>
                <a:gd name="T1" fmla="*/ 111 h 111"/>
                <a:gd name="T2" fmla="*/ 9 w 547"/>
                <a:gd name="T3" fmla="*/ 2 h 111"/>
                <a:gd name="T4" fmla="*/ 0 w 547"/>
                <a:gd name="T5" fmla="*/ 0 h 111"/>
                <a:gd name="T6" fmla="*/ 0 60000 65536"/>
                <a:gd name="T7" fmla="*/ 0 60000 65536"/>
                <a:gd name="T8" fmla="*/ 0 60000 65536"/>
                <a:gd name="T9" fmla="*/ 0 w 547"/>
                <a:gd name="T10" fmla="*/ 0 h 111"/>
                <a:gd name="T11" fmla="*/ 547 w 547"/>
                <a:gd name="T12" fmla="*/ 111 h 1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7" h="111">
                  <a:moveTo>
                    <a:pt x="547" y="111"/>
                  </a:moveTo>
                  <a:lnTo>
                    <a:pt x="547" y="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0" name="Line 287"/>
            <p:cNvSpPr>
              <a:spLocks noChangeShapeType="1"/>
            </p:cNvSpPr>
            <p:nvPr/>
          </p:nvSpPr>
          <p:spPr bwMode="auto">
            <a:xfrm flipH="1" flipV="1">
              <a:off x="5180" y="1059"/>
              <a:ext cx="2" cy="2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Freeform 288"/>
            <p:cNvSpPr>
              <a:spLocks/>
            </p:cNvSpPr>
            <p:nvPr/>
          </p:nvSpPr>
          <p:spPr bwMode="auto">
            <a:xfrm>
              <a:off x="4867" y="1025"/>
              <a:ext cx="213" cy="35"/>
            </a:xfrm>
            <a:custGeom>
              <a:avLst/>
              <a:gdLst>
                <a:gd name="T0" fmla="*/ 0 w 426"/>
                <a:gd name="T1" fmla="*/ 31 h 35"/>
                <a:gd name="T2" fmla="*/ 1 w 426"/>
                <a:gd name="T3" fmla="*/ 25 h 35"/>
                <a:gd name="T4" fmla="*/ 1 w 426"/>
                <a:gd name="T5" fmla="*/ 15 h 35"/>
                <a:gd name="T6" fmla="*/ 1 w 426"/>
                <a:gd name="T7" fmla="*/ 6 h 35"/>
                <a:gd name="T8" fmla="*/ 1 w 426"/>
                <a:gd name="T9" fmla="*/ 3 h 35"/>
                <a:gd name="T10" fmla="*/ 1 w 426"/>
                <a:gd name="T11" fmla="*/ 1 h 35"/>
                <a:gd name="T12" fmla="*/ 1 w 426"/>
                <a:gd name="T13" fmla="*/ 0 h 35"/>
                <a:gd name="T14" fmla="*/ 1 w 426"/>
                <a:gd name="T15" fmla="*/ 0 h 35"/>
                <a:gd name="T16" fmla="*/ 2 w 426"/>
                <a:gd name="T17" fmla="*/ 2 h 35"/>
                <a:gd name="T18" fmla="*/ 2 w 426"/>
                <a:gd name="T19" fmla="*/ 4 h 35"/>
                <a:gd name="T20" fmla="*/ 2 w 426"/>
                <a:gd name="T21" fmla="*/ 8 h 35"/>
                <a:gd name="T22" fmla="*/ 2 w 426"/>
                <a:gd name="T23" fmla="*/ 18 h 35"/>
                <a:gd name="T24" fmla="*/ 2 w 426"/>
                <a:gd name="T25" fmla="*/ 25 h 35"/>
                <a:gd name="T26" fmla="*/ 2 w 426"/>
                <a:gd name="T27" fmla="*/ 32 h 35"/>
                <a:gd name="T28" fmla="*/ 2 w 426"/>
                <a:gd name="T29" fmla="*/ 31 h 35"/>
                <a:gd name="T30" fmla="*/ 2 w 426"/>
                <a:gd name="T31" fmla="*/ 25 h 35"/>
                <a:gd name="T32" fmla="*/ 2 w 426"/>
                <a:gd name="T33" fmla="*/ 15 h 35"/>
                <a:gd name="T34" fmla="*/ 2 w 426"/>
                <a:gd name="T35" fmla="*/ 6 h 35"/>
                <a:gd name="T36" fmla="*/ 3 w 426"/>
                <a:gd name="T37" fmla="*/ 3 h 35"/>
                <a:gd name="T38" fmla="*/ 3 w 426"/>
                <a:gd name="T39" fmla="*/ 1 h 35"/>
                <a:gd name="T40" fmla="*/ 3 w 426"/>
                <a:gd name="T41" fmla="*/ 0 h 35"/>
                <a:gd name="T42" fmla="*/ 3 w 426"/>
                <a:gd name="T43" fmla="*/ 0 h 35"/>
                <a:gd name="T44" fmla="*/ 3 w 426"/>
                <a:gd name="T45" fmla="*/ 2 h 35"/>
                <a:gd name="T46" fmla="*/ 3 w 426"/>
                <a:gd name="T47" fmla="*/ 4 h 35"/>
                <a:gd name="T48" fmla="*/ 4 w 426"/>
                <a:gd name="T49" fmla="*/ 8 h 35"/>
                <a:gd name="T50" fmla="*/ 4 w 426"/>
                <a:gd name="T51" fmla="*/ 18 h 35"/>
                <a:gd name="T52" fmla="*/ 4 w 426"/>
                <a:gd name="T53" fmla="*/ 25 h 35"/>
                <a:gd name="T54" fmla="*/ 4 w 426"/>
                <a:gd name="T55" fmla="*/ 32 h 35"/>
                <a:gd name="T56" fmla="*/ 4 w 426"/>
                <a:gd name="T57" fmla="*/ 31 h 35"/>
                <a:gd name="T58" fmla="*/ 4 w 426"/>
                <a:gd name="T59" fmla="*/ 25 h 35"/>
                <a:gd name="T60" fmla="*/ 4 w 426"/>
                <a:gd name="T61" fmla="*/ 15 h 35"/>
                <a:gd name="T62" fmla="*/ 4 w 426"/>
                <a:gd name="T63" fmla="*/ 6 h 35"/>
                <a:gd name="T64" fmla="*/ 4 w 426"/>
                <a:gd name="T65" fmla="*/ 3 h 35"/>
                <a:gd name="T66" fmla="*/ 4 w 426"/>
                <a:gd name="T67" fmla="*/ 1 h 35"/>
                <a:gd name="T68" fmla="*/ 5 w 426"/>
                <a:gd name="T69" fmla="*/ 0 h 35"/>
                <a:gd name="T70" fmla="*/ 5 w 426"/>
                <a:gd name="T71" fmla="*/ 0 h 35"/>
                <a:gd name="T72" fmla="*/ 5 w 426"/>
                <a:gd name="T73" fmla="*/ 2 h 35"/>
                <a:gd name="T74" fmla="*/ 5 w 426"/>
                <a:gd name="T75" fmla="*/ 4 h 35"/>
                <a:gd name="T76" fmla="*/ 5 w 426"/>
                <a:gd name="T77" fmla="*/ 8 h 35"/>
                <a:gd name="T78" fmla="*/ 5 w 426"/>
                <a:gd name="T79" fmla="*/ 18 h 35"/>
                <a:gd name="T80" fmla="*/ 5 w 426"/>
                <a:gd name="T81" fmla="*/ 25 h 35"/>
                <a:gd name="T82" fmla="*/ 6 w 426"/>
                <a:gd name="T83" fmla="*/ 32 h 35"/>
                <a:gd name="T84" fmla="*/ 6 w 426"/>
                <a:gd name="T85" fmla="*/ 31 h 35"/>
                <a:gd name="T86" fmla="*/ 6 w 426"/>
                <a:gd name="T87" fmla="*/ 25 h 35"/>
                <a:gd name="T88" fmla="*/ 6 w 426"/>
                <a:gd name="T89" fmla="*/ 15 h 35"/>
                <a:gd name="T90" fmla="*/ 6 w 426"/>
                <a:gd name="T91" fmla="*/ 6 h 35"/>
                <a:gd name="T92" fmla="*/ 6 w 426"/>
                <a:gd name="T93" fmla="*/ 3 h 35"/>
                <a:gd name="T94" fmla="*/ 6 w 426"/>
                <a:gd name="T95" fmla="*/ 1 h 35"/>
                <a:gd name="T96" fmla="*/ 6 w 426"/>
                <a:gd name="T97" fmla="*/ 0 h 35"/>
                <a:gd name="T98" fmla="*/ 6 w 426"/>
                <a:gd name="T99" fmla="*/ 0 h 35"/>
                <a:gd name="T100" fmla="*/ 7 w 426"/>
                <a:gd name="T101" fmla="*/ 2 h 35"/>
                <a:gd name="T102" fmla="*/ 7 w 426"/>
                <a:gd name="T103" fmla="*/ 4 h 35"/>
                <a:gd name="T104" fmla="*/ 7 w 426"/>
                <a:gd name="T105" fmla="*/ 8 h 35"/>
                <a:gd name="T106" fmla="*/ 7 w 426"/>
                <a:gd name="T107" fmla="*/ 18 h 35"/>
                <a:gd name="T108" fmla="*/ 7 w 426"/>
                <a:gd name="T109" fmla="*/ 25 h 35"/>
                <a:gd name="T110" fmla="*/ 7 w 426"/>
                <a:gd name="T111" fmla="*/ 32 h 35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426"/>
                <a:gd name="T169" fmla="*/ 0 h 35"/>
                <a:gd name="T170" fmla="*/ 426 w 426"/>
                <a:gd name="T171" fmla="*/ 35 h 35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426" h="35">
                  <a:moveTo>
                    <a:pt x="0" y="35"/>
                  </a:moveTo>
                  <a:lnTo>
                    <a:pt x="0" y="31"/>
                  </a:lnTo>
                  <a:lnTo>
                    <a:pt x="0" y="28"/>
                  </a:lnTo>
                  <a:lnTo>
                    <a:pt x="2" y="25"/>
                  </a:lnTo>
                  <a:lnTo>
                    <a:pt x="4" y="21"/>
                  </a:lnTo>
                  <a:lnTo>
                    <a:pt x="8" y="15"/>
                  </a:lnTo>
                  <a:lnTo>
                    <a:pt x="13" y="10"/>
                  </a:lnTo>
                  <a:lnTo>
                    <a:pt x="21" y="6"/>
                  </a:lnTo>
                  <a:lnTo>
                    <a:pt x="26" y="4"/>
                  </a:lnTo>
                  <a:lnTo>
                    <a:pt x="30" y="3"/>
                  </a:lnTo>
                  <a:lnTo>
                    <a:pt x="36" y="1"/>
                  </a:lnTo>
                  <a:lnTo>
                    <a:pt x="40" y="1"/>
                  </a:lnTo>
                  <a:lnTo>
                    <a:pt x="45" y="0"/>
                  </a:lnTo>
                  <a:lnTo>
                    <a:pt x="51" y="0"/>
                  </a:lnTo>
                  <a:lnTo>
                    <a:pt x="57" y="0"/>
                  </a:lnTo>
                  <a:lnTo>
                    <a:pt x="62" y="0"/>
                  </a:lnTo>
                  <a:lnTo>
                    <a:pt x="68" y="1"/>
                  </a:lnTo>
                  <a:lnTo>
                    <a:pt x="72" y="2"/>
                  </a:lnTo>
                  <a:lnTo>
                    <a:pt x="77" y="3"/>
                  </a:lnTo>
                  <a:lnTo>
                    <a:pt x="81" y="4"/>
                  </a:lnTo>
                  <a:lnTo>
                    <a:pt x="85" y="6"/>
                  </a:lnTo>
                  <a:lnTo>
                    <a:pt x="89" y="8"/>
                  </a:lnTo>
                  <a:lnTo>
                    <a:pt x="96" y="13"/>
                  </a:lnTo>
                  <a:lnTo>
                    <a:pt x="102" y="18"/>
                  </a:lnTo>
                  <a:lnTo>
                    <a:pt x="104" y="21"/>
                  </a:lnTo>
                  <a:lnTo>
                    <a:pt x="106" y="25"/>
                  </a:lnTo>
                  <a:lnTo>
                    <a:pt x="106" y="29"/>
                  </a:lnTo>
                  <a:lnTo>
                    <a:pt x="106" y="32"/>
                  </a:lnTo>
                  <a:lnTo>
                    <a:pt x="106" y="35"/>
                  </a:lnTo>
                  <a:lnTo>
                    <a:pt x="108" y="31"/>
                  </a:lnTo>
                  <a:lnTo>
                    <a:pt x="108" y="28"/>
                  </a:lnTo>
                  <a:lnTo>
                    <a:pt x="108" y="25"/>
                  </a:lnTo>
                  <a:lnTo>
                    <a:pt x="109" y="21"/>
                  </a:lnTo>
                  <a:lnTo>
                    <a:pt x="115" y="15"/>
                  </a:lnTo>
                  <a:lnTo>
                    <a:pt x="121" y="10"/>
                  </a:lnTo>
                  <a:lnTo>
                    <a:pt x="128" y="6"/>
                  </a:lnTo>
                  <a:lnTo>
                    <a:pt x="132" y="4"/>
                  </a:lnTo>
                  <a:lnTo>
                    <a:pt x="138" y="3"/>
                  </a:lnTo>
                  <a:lnTo>
                    <a:pt x="142" y="1"/>
                  </a:lnTo>
                  <a:lnTo>
                    <a:pt x="147" y="1"/>
                  </a:lnTo>
                  <a:lnTo>
                    <a:pt x="153" y="0"/>
                  </a:lnTo>
                  <a:lnTo>
                    <a:pt x="159" y="0"/>
                  </a:lnTo>
                  <a:lnTo>
                    <a:pt x="164" y="0"/>
                  </a:lnTo>
                  <a:lnTo>
                    <a:pt x="168" y="0"/>
                  </a:lnTo>
                  <a:lnTo>
                    <a:pt x="174" y="1"/>
                  </a:lnTo>
                  <a:lnTo>
                    <a:pt x="179" y="2"/>
                  </a:lnTo>
                  <a:lnTo>
                    <a:pt x="183" y="3"/>
                  </a:lnTo>
                  <a:lnTo>
                    <a:pt x="189" y="4"/>
                  </a:lnTo>
                  <a:lnTo>
                    <a:pt x="192" y="6"/>
                  </a:lnTo>
                  <a:lnTo>
                    <a:pt x="196" y="8"/>
                  </a:lnTo>
                  <a:lnTo>
                    <a:pt x="204" y="13"/>
                  </a:lnTo>
                  <a:lnTo>
                    <a:pt x="208" y="18"/>
                  </a:lnTo>
                  <a:lnTo>
                    <a:pt x="209" y="21"/>
                  </a:lnTo>
                  <a:lnTo>
                    <a:pt x="211" y="25"/>
                  </a:lnTo>
                  <a:lnTo>
                    <a:pt x="213" y="29"/>
                  </a:lnTo>
                  <a:lnTo>
                    <a:pt x="213" y="32"/>
                  </a:lnTo>
                  <a:lnTo>
                    <a:pt x="213" y="35"/>
                  </a:lnTo>
                  <a:lnTo>
                    <a:pt x="213" y="31"/>
                  </a:lnTo>
                  <a:lnTo>
                    <a:pt x="213" y="28"/>
                  </a:lnTo>
                  <a:lnTo>
                    <a:pt x="215" y="25"/>
                  </a:lnTo>
                  <a:lnTo>
                    <a:pt x="217" y="21"/>
                  </a:lnTo>
                  <a:lnTo>
                    <a:pt x="221" y="15"/>
                  </a:lnTo>
                  <a:lnTo>
                    <a:pt x="226" y="10"/>
                  </a:lnTo>
                  <a:lnTo>
                    <a:pt x="236" y="6"/>
                  </a:lnTo>
                  <a:lnTo>
                    <a:pt x="240" y="4"/>
                  </a:lnTo>
                  <a:lnTo>
                    <a:pt x="243" y="3"/>
                  </a:lnTo>
                  <a:lnTo>
                    <a:pt x="249" y="1"/>
                  </a:lnTo>
                  <a:lnTo>
                    <a:pt x="253" y="1"/>
                  </a:lnTo>
                  <a:lnTo>
                    <a:pt x="258" y="0"/>
                  </a:lnTo>
                  <a:lnTo>
                    <a:pt x="264" y="0"/>
                  </a:lnTo>
                  <a:lnTo>
                    <a:pt x="270" y="0"/>
                  </a:lnTo>
                  <a:lnTo>
                    <a:pt x="275" y="0"/>
                  </a:lnTo>
                  <a:lnTo>
                    <a:pt x="281" y="1"/>
                  </a:lnTo>
                  <a:lnTo>
                    <a:pt x="285" y="2"/>
                  </a:lnTo>
                  <a:lnTo>
                    <a:pt x="291" y="3"/>
                  </a:lnTo>
                  <a:lnTo>
                    <a:pt x="294" y="4"/>
                  </a:lnTo>
                  <a:lnTo>
                    <a:pt x="298" y="6"/>
                  </a:lnTo>
                  <a:lnTo>
                    <a:pt x="302" y="8"/>
                  </a:lnTo>
                  <a:lnTo>
                    <a:pt x="309" y="13"/>
                  </a:lnTo>
                  <a:lnTo>
                    <a:pt x="315" y="18"/>
                  </a:lnTo>
                  <a:lnTo>
                    <a:pt x="317" y="21"/>
                  </a:lnTo>
                  <a:lnTo>
                    <a:pt x="319" y="25"/>
                  </a:lnTo>
                  <a:lnTo>
                    <a:pt x="319" y="29"/>
                  </a:lnTo>
                  <a:lnTo>
                    <a:pt x="321" y="32"/>
                  </a:lnTo>
                  <a:lnTo>
                    <a:pt x="321" y="35"/>
                  </a:lnTo>
                  <a:lnTo>
                    <a:pt x="321" y="31"/>
                  </a:lnTo>
                  <a:lnTo>
                    <a:pt x="321" y="28"/>
                  </a:lnTo>
                  <a:lnTo>
                    <a:pt x="321" y="25"/>
                  </a:lnTo>
                  <a:lnTo>
                    <a:pt x="323" y="21"/>
                  </a:lnTo>
                  <a:lnTo>
                    <a:pt x="328" y="15"/>
                  </a:lnTo>
                  <a:lnTo>
                    <a:pt x="334" y="10"/>
                  </a:lnTo>
                  <a:lnTo>
                    <a:pt x="341" y="6"/>
                  </a:lnTo>
                  <a:lnTo>
                    <a:pt x="345" y="4"/>
                  </a:lnTo>
                  <a:lnTo>
                    <a:pt x="351" y="3"/>
                  </a:lnTo>
                  <a:lnTo>
                    <a:pt x="355" y="1"/>
                  </a:lnTo>
                  <a:lnTo>
                    <a:pt x="360" y="1"/>
                  </a:lnTo>
                  <a:lnTo>
                    <a:pt x="366" y="0"/>
                  </a:lnTo>
                  <a:lnTo>
                    <a:pt x="372" y="0"/>
                  </a:lnTo>
                  <a:lnTo>
                    <a:pt x="377" y="0"/>
                  </a:lnTo>
                  <a:lnTo>
                    <a:pt x="381" y="0"/>
                  </a:lnTo>
                  <a:lnTo>
                    <a:pt x="387" y="1"/>
                  </a:lnTo>
                  <a:lnTo>
                    <a:pt x="392" y="2"/>
                  </a:lnTo>
                  <a:lnTo>
                    <a:pt x="396" y="3"/>
                  </a:lnTo>
                  <a:lnTo>
                    <a:pt x="402" y="4"/>
                  </a:lnTo>
                  <a:lnTo>
                    <a:pt x="406" y="6"/>
                  </a:lnTo>
                  <a:lnTo>
                    <a:pt x="409" y="8"/>
                  </a:lnTo>
                  <a:lnTo>
                    <a:pt x="417" y="13"/>
                  </a:lnTo>
                  <a:lnTo>
                    <a:pt x="421" y="18"/>
                  </a:lnTo>
                  <a:lnTo>
                    <a:pt x="423" y="21"/>
                  </a:lnTo>
                  <a:lnTo>
                    <a:pt x="424" y="25"/>
                  </a:lnTo>
                  <a:lnTo>
                    <a:pt x="426" y="29"/>
                  </a:lnTo>
                  <a:lnTo>
                    <a:pt x="426" y="32"/>
                  </a:lnTo>
                  <a:lnTo>
                    <a:pt x="426" y="3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2" name="Rectangle 289"/>
            <p:cNvSpPr>
              <a:spLocks noChangeArrowheads="1"/>
            </p:cNvSpPr>
            <p:nvPr/>
          </p:nvSpPr>
          <p:spPr bwMode="auto">
            <a:xfrm>
              <a:off x="4560" y="934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293" name="Rectangle 290"/>
            <p:cNvSpPr>
              <a:spLocks noChangeArrowheads="1"/>
            </p:cNvSpPr>
            <p:nvPr/>
          </p:nvSpPr>
          <p:spPr bwMode="auto">
            <a:xfrm>
              <a:off x="4496" y="890"/>
              <a:ext cx="75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294" name="Rectangle 291"/>
            <p:cNvSpPr>
              <a:spLocks noChangeArrowheads="1"/>
            </p:cNvSpPr>
            <p:nvPr/>
          </p:nvSpPr>
          <p:spPr bwMode="auto">
            <a:xfrm>
              <a:off x="4571" y="1591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95" name="Rectangle 292"/>
            <p:cNvSpPr>
              <a:spLocks noChangeArrowheads="1"/>
            </p:cNvSpPr>
            <p:nvPr/>
          </p:nvSpPr>
          <p:spPr bwMode="auto">
            <a:xfrm>
              <a:off x="4506" y="1544"/>
              <a:ext cx="75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296" name="Rectangle 293"/>
            <p:cNvSpPr>
              <a:spLocks noChangeArrowheads="1"/>
            </p:cNvSpPr>
            <p:nvPr/>
          </p:nvSpPr>
          <p:spPr bwMode="auto">
            <a:xfrm>
              <a:off x="4960" y="1058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宋体" pitchFamily="2" charset="-122"/>
                </a:rPr>
                <a:t>L</a:t>
              </a:r>
              <a:endParaRPr lang="en-US" altLang="zh-CN"/>
            </a:p>
          </p:txBody>
        </p:sp>
        <p:sp>
          <p:nvSpPr>
            <p:cNvPr id="297" name="Rectangle 294"/>
            <p:cNvSpPr>
              <a:spLocks noChangeArrowheads="1"/>
            </p:cNvSpPr>
            <p:nvPr/>
          </p:nvSpPr>
          <p:spPr bwMode="auto">
            <a:xfrm>
              <a:off x="4105" y="1194"/>
              <a:ext cx="111" cy="13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98" name="Rectangle 295"/>
            <p:cNvSpPr>
              <a:spLocks noChangeArrowheads="1"/>
            </p:cNvSpPr>
            <p:nvPr/>
          </p:nvSpPr>
          <p:spPr bwMode="auto">
            <a:xfrm>
              <a:off x="4377" y="1194"/>
              <a:ext cx="111" cy="13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99" name="Freeform 296"/>
            <p:cNvSpPr>
              <a:spLocks noEditPoints="1"/>
            </p:cNvSpPr>
            <p:nvPr/>
          </p:nvSpPr>
          <p:spPr bwMode="auto">
            <a:xfrm>
              <a:off x="3977" y="1837"/>
              <a:ext cx="13" cy="131"/>
            </a:xfrm>
            <a:custGeom>
              <a:avLst/>
              <a:gdLst>
                <a:gd name="T0" fmla="*/ 1 w 26"/>
                <a:gd name="T1" fmla="*/ 117 h 131"/>
                <a:gd name="T2" fmla="*/ 1 w 26"/>
                <a:gd name="T3" fmla="*/ 117 h 131"/>
                <a:gd name="T4" fmla="*/ 1 w 26"/>
                <a:gd name="T5" fmla="*/ 118 h 131"/>
                <a:gd name="T6" fmla="*/ 1 w 26"/>
                <a:gd name="T7" fmla="*/ 119 h 131"/>
                <a:gd name="T8" fmla="*/ 0 w 26"/>
                <a:gd name="T9" fmla="*/ 121 h 131"/>
                <a:gd name="T10" fmla="*/ 0 w 26"/>
                <a:gd name="T11" fmla="*/ 123 h 131"/>
                <a:gd name="T12" fmla="*/ 0 w 26"/>
                <a:gd name="T13" fmla="*/ 124 h 131"/>
                <a:gd name="T14" fmla="*/ 0 w 26"/>
                <a:gd name="T15" fmla="*/ 126 h 131"/>
                <a:gd name="T16" fmla="*/ 0 w 26"/>
                <a:gd name="T17" fmla="*/ 127 h 131"/>
                <a:gd name="T18" fmla="*/ 1 w 26"/>
                <a:gd name="T19" fmla="*/ 129 h 131"/>
                <a:gd name="T20" fmla="*/ 1 w 26"/>
                <a:gd name="T21" fmla="*/ 131 h 131"/>
                <a:gd name="T22" fmla="*/ 1 w 26"/>
                <a:gd name="T23" fmla="*/ 131 h 131"/>
                <a:gd name="T24" fmla="*/ 1 w 26"/>
                <a:gd name="T25" fmla="*/ 131 h 131"/>
                <a:gd name="T26" fmla="*/ 1 w 26"/>
                <a:gd name="T27" fmla="*/ 131 h 131"/>
                <a:gd name="T28" fmla="*/ 1 w 26"/>
                <a:gd name="T29" fmla="*/ 131 h 131"/>
                <a:gd name="T30" fmla="*/ 1 w 26"/>
                <a:gd name="T31" fmla="*/ 131 h 131"/>
                <a:gd name="T32" fmla="*/ 1 w 26"/>
                <a:gd name="T33" fmla="*/ 129 h 131"/>
                <a:gd name="T34" fmla="*/ 1 w 26"/>
                <a:gd name="T35" fmla="*/ 127 h 131"/>
                <a:gd name="T36" fmla="*/ 1 w 26"/>
                <a:gd name="T37" fmla="*/ 126 h 131"/>
                <a:gd name="T38" fmla="*/ 1 w 26"/>
                <a:gd name="T39" fmla="*/ 124 h 131"/>
                <a:gd name="T40" fmla="*/ 1 w 26"/>
                <a:gd name="T41" fmla="*/ 123 h 131"/>
                <a:gd name="T42" fmla="*/ 1 w 26"/>
                <a:gd name="T43" fmla="*/ 121 h 131"/>
                <a:gd name="T44" fmla="*/ 1 w 26"/>
                <a:gd name="T45" fmla="*/ 119 h 131"/>
                <a:gd name="T46" fmla="*/ 1 w 26"/>
                <a:gd name="T47" fmla="*/ 118 h 131"/>
                <a:gd name="T48" fmla="*/ 1 w 26"/>
                <a:gd name="T49" fmla="*/ 117 h 131"/>
                <a:gd name="T50" fmla="*/ 1 w 26"/>
                <a:gd name="T51" fmla="*/ 117 h 131"/>
                <a:gd name="T52" fmla="*/ 1 w 26"/>
                <a:gd name="T53" fmla="*/ 117 h 131"/>
                <a:gd name="T54" fmla="*/ 1 w 26"/>
                <a:gd name="T55" fmla="*/ 117 h 131"/>
                <a:gd name="T56" fmla="*/ 1 w 26"/>
                <a:gd name="T57" fmla="*/ 0 h 131"/>
                <a:gd name="T58" fmla="*/ 1 w 26"/>
                <a:gd name="T59" fmla="*/ 0 h 131"/>
                <a:gd name="T60" fmla="*/ 1 w 26"/>
                <a:gd name="T61" fmla="*/ 1 h 131"/>
                <a:gd name="T62" fmla="*/ 1 w 26"/>
                <a:gd name="T63" fmla="*/ 2 h 131"/>
                <a:gd name="T64" fmla="*/ 0 w 26"/>
                <a:gd name="T65" fmla="*/ 4 h 131"/>
                <a:gd name="T66" fmla="*/ 0 w 26"/>
                <a:gd name="T67" fmla="*/ 6 h 131"/>
                <a:gd name="T68" fmla="*/ 0 w 26"/>
                <a:gd name="T69" fmla="*/ 7 h 131"/>
                <a:gd name="T70" fmla="*/ 0 w 26"/>
                <a:gd name="T71" fmla="*/ 9 h 131"/>
                <a:gd name="T72" fmla="*/ 0 w 26"/>
                <a:gd name="T73" fmla="*/ 10 h 131"/>
                <a:gd name="T74" fmla="*/ 1 w 26"/>
                <a:gd name="T75" fmla="*/ 12 h 131"/>
                <a:gd name="T76" fmla="*/ 1 w 26"/>
                <a:gd name="T77" fmla="*/ 14 h 131"/>
                <a:gd name="T78" fmla="*/ 1 w 26"/>
                <a:gd name="T79" fmla="*/ 14 h 131"/>
                <a:gd name="T80" fmla="*/ 1 w 26"/>
                <a:gd name="T81" fmla="*/ 14 h 131"/>
                <a:gd name="T82" fmla="*/ 1 w 26"/>
                <a:gd name="T83" fmla="*/ 14 h 131"/>
                <a:gd name="T84" fmla="*/ 1 w 26"/>
                <a:gd name="T85" fmla="*/ 14 h 131"/>
                <a:gd name="T86" fmla="*/ 1 w 26"/>
                <a:gd name="T87" fmla="*/ 14 h 131"/>
                <a:gd name="T88" fmla="*/ 1 w 26"/>
                <a:gd name="T89" fmla="*/ 12 h 131"/>
                <a:gd name="T90" fmla="*/ 1 w 26"/>
                <a:gd name="T91" fmla="*/ 10 h 131"/>
                <a:gd name="T92" fmla="*/ 1 w 26"/>
                <a:gd name="T93" fmla="*/ 9 h 131"/>
                <a:gd name="T94" fmla="*/ 1 w 26"/>
                <a:gd name="T95" fmla="*/ 7 h 131"/>
                <a:gd name="T96" fmla="*/ 1 w 26"/>
                <a:gd name="T97" fmla="*/ 6 h 131"/>
                <a:gd name="T98" fmla="*/ 1 w 26"/>
                <a:gd name="T99" fmla="*/ 4 h 131"/>
                <a:gd name="T100" fmla="*/ 1 w 26"/>
                <a:gd name="T101" fmla="*/ 2 h 131"/>
                <a:gd name="T102" fmla="*/ 1 w 26"/>
                <a:gd name="T103" fmla="*/ 1 h 131"/>
                <a:gd name="T104" fmla="*/ 1 w 26"/>
                <a:gd name="T105" fmla="*/ 0 h 131"/>
                <a:gd name="T106" fmla="*/ 1 w 26"/>
                <a:gd name="T107" fmla="*/ 0 h 131"/>
                <a:gd name="T108" fmla="*/ 1 w 26"/>
                <a:gd name="T109" fmla="*/ 0 h 131"/>
                <a:gd name="T110" fmla="*/ 1 w 26"/>
                <a:gd name="T111" fmla="*/ 0 h 131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26"/>
                <a:gd name="T169" fmla="*/ 0 h 131"/>
                <a:gd name="T170" fmla="*/ 26 w 26"/>
                <a:gd name="T171" fmla="*/ 131 h 131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26" h="131">
                  <a:moveTo>
                    <a:pt x="13" y="117"/>
                  </a:moveTo>
                  <a:lnTo>
                    <a:pt x="11" y="117"/>
                  </a:lnTo>
                  <a:lnTo>
                    <a:pt x="7" y="118"/>
                  </a:lnTo>
                  <a:lnTo>
                    <a:pt x="3" y="119"/>
                  </a:lnTo>
                  <a:lnTo>
                    <a:pt x="0" y="121"/>
                  </a:lnTo>
                  <a:lnTo>
                    <a:pt x="0" y="123"/>
                  </a:lnTo>
                  <a:lnTo>
                    <a:pt x="0" y="124"/>
                  </a:lnTo>
                  <a:lnTo>
                    <a:pt x="0" y="126"/>
                  </a:lnTo>
                  <a:lnTo>
                    <a:pt x="0" y="127"/>
                  </a:lnTo>
                  <a:lnTo>
                    <a:pt x="3" y="129"/>
                  </a:lnTo>
                  <a:lnTo>
                    <a:pt x="7" y="131"/>
                  </a:lnTo>
                  <a:lnTo>
                    <a:pt x="9" y="131"/>
                  </a:lnTo>
                  <a:lnTo>
                    <a:pt x="13" y="131"/>
                  </a:lnTo>
                  <a:lnTo>
                    <a:pt x="15" y="131"/>
                  </a:lnTo>
                  <a:lnTo>
                    <a:pt x="18" y="131"/>
                  </a:lnTo>
                  <a:lnTo>
                    <a:pt x="22" y="129"/>
                  </a:lnTo>
                  <a:lnTo>
                    <a:pt x="24" y="127"/>
                  </a:lnTo>
                  <a:lnTo>
                    <a:pt x="26" y="126"/>
                  </a:lnTo>
                  <a:lnTo>
                    <a:pt x="26" y="124"/>
                  </a:lnTo>
                  <a:lnTo>
                    <a:pt x="26" y="123"/>
                  </a:lnTo>
                  <a:lnTo>
                    <a:pt x="24" y="121"/>
                  </a:lnTo>
                  <a:lnTo>
                    <a:pt x="22" y="119"/>
                  </a:lnTo>
                  <a:lnTo>
                    <a:pt x="18" y="118"/>
                  </a:lnTo>
                  <a:lnTo>
                    <a:pt x="15" y="117"/>
                  </a:lnTo>
                  <a:lnTo>
                    <a:pt x="13" y="117"/>
                  </a:lnTo>
                  <a:close/>
                  <a:moveTo>
                    <a:pt x="13" y="0"/>
                  </a:moveTo>
                  <a:lnTo>
                    <a:pt x="11" y="0"/>
                  </a:lnTo>
                  <a:lnTo>
                    <a:pt x="7" y="1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3" y="12"/>
                  </a:lnTo>
                  <a:lnTo>
                    <a:pt x="7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8" y="14"/>
                  </a:lnTo>
                  <a:lnTo>
                    <a:pt x="22" y="12"/>
                  </a:lnTo>
                  <a:lnTo>
                    <a:pt x="24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2" y="2"/>
                  </a:lnTo>
                  <a:lnTo>
                    <a:pt x="18" y="1"/>
                  </a:lnTo>
                  <a:lnTo>
                    <a:pt x="15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" name="Freeform 297"/>
            <p:cNvSpPr>
              <a:spLocks/>
            </p:cNvSpPr>
            <p:nvPr/>
          </p:nvSpPr>
          <p:spPr bwMode="auto">
            <a:xfrm>
              <a:off x="3977" y="1954"/>
              <a:ext cx="13" cy="14"/>
            </a:xfrm>
            <a:custGeom>
              <a:avLst/>
              <a:gdLst>
                <a:gd name="T0" fmla="*/ 1 w 26"/>
                <a:gd name="T1" fmla="*/ 0 h 14"/>
                <a:gd name="T2" fmla="*/ 1 w 26"/>
                <a:gd name="T3" fmla="*/ 0 h 14"/>
                <a:gd name="T4" fmla="*/ 1 w 26"/>
                <a:gd name="T5" fmla="*/ 1 h 14"/>
                <a:gd name="T6" fmla="*/ 1 w 26"/>
                <a:gd name="T7" fmla="*/ 2 h 14"/>
                <a:gd name="T8" fmla="*/ 0 w 26"/>
                <a:gd name="T9" fmla="*/ 4 h 14"/>
                <a:gd name="T10" fmla="*/ 0 w 26"/>
                <a:gd name="T11" fmla="*/ 6 h 14"/>
                <a:gd name="T12" fmla="*/ 0 w 26"/>
                <a:gd name="T13" fmla="*/ 7 h 14"/>
                <a:gd name="T14" fmla="*/ 0 w 26"/>
                <a:gd name="T15" fmla="*/ 9 h 14"/>
                <a:gd name="T16" fmla="*/ 0 w 26"/>
                <a:gd name="T17" fmla="*/ 10 h 14"/>
                <a:gd name="T18" fmla="*/ 1 w 26"/>
                <a:gd name="T19" fmla="*/ 12 h 14"/>
                <a:gd name="T20" fmla="*/ 1 w 26"/>
                <a:gd name="T21" fmla="*/ 14 h 14"/>
                <a:gd name="T22" fmla="*/ 1 w 26"/>
                <a:gd name="T23" fmla="*/ 14 h 14"/>
                <a:gd name="T24" fmla="*/ 1 w 26"/>
                <a:gd name="T25" fmla="*/ 14 h 14"/>
                <a:gd name="T26" fmla="*/ 1 w 26"/>
                <a:gd name="T27" fmla="*/ 14 h 14"/>
                <a:gd name="T28" fmla="*/ 1 w 26"/>
                <a:gd name="T29" fmla="*/ 14 h 14"/>
                <a:gd name="T30" fmla="*/ 1 w 26"/>
                <a:gd name="T31" fmla="*/ 14 h 14"/>
                <a:gd name="T32" fmla="*/ 1 w 26"/>
                <a:gd name="T33" fmla="*/ 12 h 14"/>
                <a:gd name="T34" fmla="*/ 1 w 26"/>
                <a:gd name="T35" fmla="*/ 10 h 14"/>
                <a:gd name="T36" fmla="*/ 1 w 26"/>
                <a:gd name="T37" fmla="*/ 9 h 14"/>
                <a:gd name="T38" fmla="*/ 1 w 26"/>
                <a:gd name="T39" fmla="*/ 7 h 14"/>
                <a:gd name="T40" fmla="*/ 1 w 26"/>
                <a:gd name="T41" fmla="*/ 6 h 14"/>
                <a:gd name="T42" fmla="*/ 1 w 26"/>
                <a:gd name="T43" fmla="*/ 4 h 14"/>
                <a:gd name="T44" fmla="*/ 1 w 26"/>
                <a:gd name="T45" fmla="*/ 2 h 14"/>
                <a:gd name="T46" fmla="*/ 1 w 26"/>
                <a:gd name="T47" fmla="*/ 1 h 14"/>
                <a:gd name="T48" fmla="*/ 1 w 26"/>
                <a:gd name="T49" fmla="*/ 0 h 14"/>
                <a:gd name="T50" fmla="*/ 1 w 26"/>
                <a:gd name="T51" fmla="*/ 0 h 14"/>
                <a:gd name="T52" fmla="*/ 1 w 26"/>
                <a:gd name="T53" fmla="*/ 0 h 1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6"/>
                <a:gd name="T82" fmla="*/ 0 h 14"/>
                <a:gd name="T83" fmla="*/ 26 w 26"/>
                <a:gd name="T84" fmla="*/ 14 h 1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6" h="14">
                  <a:moveTo>
                    <a:pt x="13" y="0"/>
                  </a:moveTo>
                  <a:lnTo>
                    <a:pt x="11" y="0"/>
                  </a:lnTo>
                  <a:lnTo>
                    <a:pt x="7" y="1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3" y="12"/>
                  </a:lnTo>
                  <a:lnTo>
                    <a:pt x="7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8" y="14"/>
                  </a:lnTo>
                  <a:lnTo>
                    <a:pt x="22" y="12"/>
                  </a:lnTo>
                  <a:lnTo>
                    <a:pt x="24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2" y="2"/>
                  </a:lnTo>
                  <a:lnTo>
                    <a:pt x="18" y="1"/>
                  </a:lnTo>
                  <a:lnTo>
                    <a:pt x="15" y="0"/>
                  </a:lnTo>
                  <a:lnTo>
                    <a:pt x="1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" name="Freeform 298"/>
            <p:cNvSpPr>
              <a:spLocks/>
            </p:cNvSpPr>
            <p:nvPr/>
          </p:nvSpPr>
          <p:spPr bwMode="auto">
            <a:xfrm>
              <a:off x="3977" y="1837"/>
              <a:ext cx="13" cy="14"/>
            </a:xfrm>
            <a:custGeom>
              <a:avLst/>
              <a:gdLst>
                <a:gd name="T0" fmla="*/ 1 w 26"/>
                <a:gd name="T1" fmla="*/ 0 h 14"/>
                <a:gd name="T2" fmla="*/ 1 w 26"/>
                <a:gd name="T3" fmla="*/ 0 h 14"/>
                <a:gd name="T4" fmla="*/ 1 w 26"/>
                <a:gd name="T5" fmla="*/ 1 h 14"/>
                <a:gd name="T6" fmla="*/ 1 w 26"/>
                <a:gd name="T7" fmla="*/ 2 h 14"/>
                <a:gd name="T8" fmla="*/ 0 w 26"/>
                <a:gd name="T9" fmla="*/ 4 h 14"/>
                <a:gd name="T10" fmla="*/ 0 w 26"/>
                <a:gd name="T11" fmla="*/ 6 h 14"/>
                <a:gd name="T12" fmla="*/ 0 w 26"/>
                <a:gd name="T13" fmla="*/ 7 h 14"/>
                <a:gd name="T14" fmla="*/ 0 w 26"/>
                <a:gd name="T15" fmla="*/ 9 h 14"/>
                <a:gd name="T16" fmla="*/ 0 w 26"/>
                <a:gd name="T17" fmla="*/ 10 h 14"/>
                <a:gd name="T18" fmla="*/ 1 w 26"/>
                <a:gd name="T19" fmla="*/ 12 h 14"/>
                <a:gd name="T20" fmla="*/ 1 w 26"/>
                <a:gd name="T21" fmla="*/ 14 h 14"/>
                <a:gd name="T22" fmla="*/ 1 w 26"/>
                <a:gd name="T23" fmla="*/ 14 h 14"/>
                <a:gd name="T24" fmla="*/ 1 w 26"/>
                <a:gd name="T25" fmla="*/ 14 h 14"/>
                <a:gd name="T26" fmla="*/ 1 w 26"/>
                <a:gd name="T27" fmla="*/ 14 h 14"/>
                <a:gd name="T28" fmla="*/ 1 w 26"/>
                <a:gd name="T29" fmla="*/ 14 h 14"/>
                <a:gd name="T30" fmla="*/ 1 w 26"/>
                <a:gd name="T31" fmla="*/ 14 h 14"/>
                <a:gd name="T32" fmla="*/ 1 w 26"/>
                <a:gd name="T33" fmla="*/ 12 h 14"/>
                <a:gd name="T34" fmla="*/ 1 w 26"/>
                <a:gd name="T35" fmla="*/ 10 h 14"/>
                <a:gd name="T36" fmla="*/ 1 w 26"/>
                <a:gd name="T37" fmla="*/ 9 h 14"/>
                <a:gd name="T38" fmla="*/ 1 w 26"/>
                <a:gd name="T39" fmla="*/ 7 h 14"/>
                <a:gd name="T40" fmla="*/ 1 w 26"/>
                <a:gd name="T41" fmla="*/ 6 h 14"/>
                <a:gd name="T42" fmla="*/ 1 w 26"/>
                <a:gd name="T43" fmla="*/ 4 h 14"/>
                <a:gd name="T44" fmla="*/ 1 w 26"/>
                <a:gd name="T45" fmla="*/ 2 h 14"/>
                <a:gd name="T46" fmla="*/ 1 w 26"/>
                <a:gd name="T47" fmla="*/ 1 h 14"/>
                <a:gd name="T48" fmla="*/ 1 w 26"/>
                <a:gd name="T49" fmla="*/ 0 h 14"/>
                <a:gd name="T50" fmla="*/ 1 w 26"/>
                <a:gd name="T51" fmla="*/ 0 h 14"/>
                <a:gd name="T52" fmla="*/ 1 w 26"/>
                <a:gd name="T53" fmla="*/ 0 h 1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6"/>
                <a:gd name="T82" fmla="*/ 0 h 14"/>
                <a:gd name="T83" fmla="*/ 26 w 26"/>
                <a:gd name="T84" fmla="*/ 14 h 1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6" h="14">
                  <a:moveTo>
                    <a:pt x="13" y="0"/>
                  </a:moveTo>
                  <a:lnTo>
                    <a:pt x="11" y="0"/>
                  </a:lnTo>
                  <a:lnTo>
                    <a:pt x="7" y="1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3" y="12"/>
                  </a:lnTo>
                  <a:lnTo>
                    <a:pt x="7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8" y="14"/>
                  </a:lnTo>
                  <a:lnTo>
                    <a:pt x="22" y="12"/>
                  </a:lnTo>
                  <a:lnTo>
                    <a:pt x="24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2" y="2"/>
                  </a:lnTo>
                  <a:lnTo>
                    <a:pt x="18" y="1"/>
                  </a:lnTo>
                  <a:lnTo>
                    <a:pt x="15" y="0"/>
                  </a:lnTo>
                  <a:lnTo>
                    <a:pt x="1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2" name="Line 299"/>
            <p:cNvSpPr>
              <a:spLocks noChangeShapeType="1"/>
            </p:cNvSpPr>
            <p:nvPr/>
          </p:nvSpPr>
          <p:spPr bwMode="auto">
            <a:xfrm>
              <a:off x="3986" y="1851"/>
              <a:ext cx="30" cy="9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3" name="Freeform 300"/>
            <p:cNvSpPr>
              <a:spLocks/>
            </p:cNvSpPr>
            <p:nvPr/>
          </p:nvSpPr>
          <p:spPr bwMode="auto">
            <a:xfrm>
              <a:off x="4242" y="1387"/>
              <a:ext cx="32" cy="234"/>
            </a:xfrm>
            <a:custGeom>
              <a:avLst/>
              <a:gdLst>
                <a:gd name="T0" fmla="*/ 1 w 64"/>
                <a:gd name="T1" fmla="*/ 0 h 234"/>
                <a:gd name="T2" fmla="*/ 1 w 64"/>
                <a:gd name="T3" fmla="*/ 1 h 234"/>
                <a:gd name="T4" fmla="*/ 1 w 64"/>
                <a:gd name="T5" fmla="*/ 4 h 234"/>
                <a:gd name="T6" fmla="*/ 1 w 64"/>
                <a:gd name="T7" fmla="*/ 13 h 234"/>
                <a:gd name="T8" fmla="*/ 1 w 64"/>
                <a:gd name="T9" fmla="*/ 17 h 234"/>
                <a:gd name="T10" fmla="*/ 1 w 64"/>
                <a:gd name="T11" fmla="*/ 23 h 234"/>
                <a:gd name="T12" fmla="*/ 1 w 64"/>
                <a:gd name="T13" fmla="*/ 28 h 234"/>
                <a:gd name="T14" fmla="*/ 1 w 64"/>
                <a:gd name="T15" fmla="*/ 34 h 234"/>
                <a:gd name="T16" fmla="*/ 1 w 64"/>
                <a:gd name="T17" fmla="*/ 39 h 234"/>
                <a:gd name="T18" fmla="*/ 1 w 64"/>
                <a:gd name="T19" fmla="*/ 45 h 234"/>
                <a:gd name="T20" fmla="*/ 1 w 64"/>
                <a:gd name="T21" fmla="*/ 53 h 234"/>
                <a:gd name="T22" fmla="*/ 1 w 64"/>
                <a:gd name="T23" fmla="*/ 57 h 234"/>
                <a:gd name="T24" fmla="*/ 1 w 64"/>
                <a:gd name="T25" fmla="*/ 58 h 234"/>
                <a:gd name="T26" fmla="*/ 0 w 64"/>
                <a:gd name="T27" fmla="*/ 59 h 234"/>
                <a:gd name="T28" fmla="*/ 1 w 64"/>
                <a:gd name="T29" fmla="*/ 59 h 234"/>
                <a:gd name="T30" fmla="*/ 1 w 64"/>
                <a:gd name="T31" fmla="*/ 60 h 234"/>
                <a:gd name="T32" fmla="*/ 1 w 64"/>
                <a:gd name="T33" fmla="*/ 66 h 234"/>
                <a:gd name="T34" fmla="*/ 1 w 64"/>
                <a:gd name="T35" fmla="*/ 73 h 234"/>
                <a:gd name="T36" fmla="*/ 1 w 64"/>
                <a:gd name="T37" fmla="*/ 78 h 234"/>
                <a:gd name="T38" fmla="*/ 1 w 64"/>
                <a:gd name="T39" fmla="*/ 84 h 234"/>
                <a:gd name="T40" fmla="*/ 1 w 64"/>
                <a:gd name="T41" fmla="*/ 90 h 234"/>
                <a:gd name="T42" fmla="*/ 1 w 64"/>
                <a:gd name="T43" fmla="*/ 95 h 234"/>
                <a:gd name="T44" fmla="*/ 1 w 64"/>
                <a:gd name="T45" fmla="*/ 101 h 234"/>
                <a:gd name="T46" fmla="*/ 1 w 64"/>
                <a:gd name="T47" fmla="*/ 108 h 234"/>
                <a:gd name="T48" fmla="*/ 1 w 64"/>
                <a:gd name="T49" fmla="*/ 115 h 234"/>
                <a:gd name="T50" fmla="*/ 1 w 64"/>
                <a:gd name="T51" fmla="*/ 116 h 234"/>
                <a:gd name="T52" fmla="*/ 1 w 64"/>
                <a:gd name="T53" fmla="*/ 117 h 234"/>
                <a:gd name="T54" fmla="*/ 1 w 64"/>
                <a:gd name="T55" fmla="*/ 117 h 234"/>
                <a:gd name="T56" fmla="*/ 1 w 64"/>
                <a:gd name="T57" fmla="*/ 118 h 234"/>
                <a:gd name="T58" fmla="*/ 1 w 64"/>
                <a:gd name="T59" fmla="*/ 121 h 234"/>
                <a:gd name="T60" fmla="*/ 1 w 64"/>
                <a:gd name="T61" fmla="*/ 130 h 234"/>
                <a:gd name="T62" fmla="*/ 1 w 64"/>
                <a:gd name="T63" fmla="*/ 134 h 234"/>
                <a:gd name="T64" fmla="*/ 1 w 64"/>
                <a:gd name="T65" fmla="*/ 140 h 234"/>
                <a:gd name="T66" fmla="*/ 1 w 64"/>
                <a:gd name="T67" fmla="*/ 145 h 234"/>
                <a:gd name="T68" fmla="*/ 1 w 64"/>
                <a:gd name="T69" fmla="*/ 151 h 234"/>
                <a:gd name="T70" fmla="*/ 1 w 64"/>
                <a:gd name="T71" fmla="*/ 156 h 234"/>
                <a:gd name="T72" fmla="*/ 1 w 64"/>
                <a:gd name="T73" fmla="*/ 162 h 234"/>
                <a:gd name="T74" fmla="*/ 1 w 64"/>
                <a:gd name="T75" fmla="*/ 170 h 234"/>
                <a:gd name="T76" fmla="*/ 1 w 64"/>
                <a:gd name="T77" fmla="*/ 174 h 234"/>
                <a:gd name="T78" fmla="*/ 1 w 64"/>
                <a:gd name="T79" fmla="*/ 175 h 234"/>
                <a:gd name="T80" fmla="*/ 0 w 64"/>
                <a:gd name="T81" fmla="*/ 176 h 234"/>
                <a:gd name="T82" fmla="*/ 1 w 64"/>
                <a:gd name="T83" fmla="*/ 176 h 234"/>
                <a:gd name="T84" fmla="*/ 1 w 64"/>
                <a:gd name="T85" fmla="*/ 178 h 234"/>
                <a:gd name="T86" fmla="*/ 1 w 64"/>
                <a:gd name="T87" fmla="*/ 183 h 234"/>
                <a:gd name="T88" fmla="*/ 1 w 64"/>
                <a:gd name="T89" fmla="*/ 191 h 234"/>
                <a:gd name="T90" fmla="*/ 1 w 64"/>
                <a:gd name="T91" fmla="*/ 196 h 234"/>
                <a:gd name="T92" fmla="*/ 1 w 64"/>
                <a:gd name="T93" fmla="*/ 201 h 234"/>
                <a:gd name="T94" fmla="*/ 1 w 64"/>
                <a:gd name="T95" fmla="*/ 207 h 234"/>
                <a:gd name="T96" fmla="*/ 1 w 64"/>
                <a:gd name="T97" fmla="*/ 212 h 234"/>
                <a:gd name="T98" fmla="*/ 1 w 64"/>
                <a:gd name="T99" fmla="*/ 218 h 234"/>
                <a:gd name="T100" fmla="*/ 1 w 64"/>
                <a:gd name="T101" fmla="*/ 225 h 234"/>
                <a:gd name="T102" fmla="*/ 1 w 64"/>
                <a:gd name="T103" fmla="*/ 232 h 234"/>
                <a:gd name="T104" fmla="*/ 1 w 64"/>
                <a:gd name="T105" fmla="*/ 233 h 234"/>
                <a:gd name="T106" fmla="*/ 1 w 64"/>
                <a:gd name="T107" fmla="*/ 234 h 23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64"/>
                <a:gd name="T163" fmla="*/ 0 h 234"/>
                <a:gd name="T164" fmla="*/ 64 w 64"/>
                <a:gd name="T165" fmla="*/ 234 h 23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64" h="234">
                  <a:moveTo>
                    <a:pt x="0" y="0"/>
                  </a:moveTo>
                  <a:lnTo>
                    <a:pt x="7" y="0"/>
                  </a:lnTo>
                  <a:lnTo>
                    <a:pt x="13" y="0"/>
                  </a:lnTo>
                  <a:lnTo>
                    <a:pt x="18" y="1"/>
                  </a:lnTo>
                  <a:lnTo>
                    <a:pt x="24" y="2"/>
                  </a:lnTo>
                  <a:lnTo>
                    <a:pt x="35" y="4"/>
                  </a:lnTo>
                  <a:lnTo>
                    <a:pt x="45" y="8"/>
                  </a:lnTo>
                  <a:lnTo>
                    <a:pt x="52" y="13"/>
                  </a:lnTo>
                  <a:lnTo>
                    <a:pt x="56" y="15"/>
                  </a:lnTo>
                  <a:lnTo>
                    <a:pt x="58" y="17"/>
                  </a:lnTo>
                  <a:lnTo>
                    <a:pt x="60" y="20"/>
                  </a:lnTo>
                  <a:lnTo>
                    <a:pt x="62" y="23"/>
                  </a:lnTo>
                  <a:lnTo>
                    <a:pt x="64" y="25"/>
                  </a:lnTo>
                  <a:lnTo>
                    <a:pt x="64" y="28"/>
                  </a:lnTo>
                  <a:lnTo>
                    <a:pt x="64" y="31"/>
                  </a:lnTo>
                  <a:lnTo>
                    <a:pt x="64" y="34"/>
                  </a:lnTo>
                  <a:lnTo>
                    <a:pt x="62" y="37"/>
                  </a:lnTo>
                  <a:lnTo>
                    <a:pt x="60" y="39"/>
                  </a:lnTo>
                  <a:lnTo>
                    <a:pt x="58" y="43"/>
                  </a:lnTo>
                  <a:lnTo>
                    <a:pt x="54" y="45"/>
                  </a:lnTo>
                  <a:lnTo>
                    <a:pt x="49" y="50"/>
                  </a:lnTo>
                  <a:lnTo>
                    <a:pt x="39" y="53"/>
                  </a:lnTo>
                  <a:lnTo>
                    <a:pt x="28" y="56"/>
                  </a:lnTo>
                  <a:lnTo>
                    <a:pt x="24" y="57"/>
                  </a:lnTo>
                  <a:lnTo>
                    <a:pt x="17" y="58"/>
                  </a:lnTo>
                  <a:lnTo>
                    <a:pt x="11" y="58"/>
                  </a:lnTo>
                  <a:lnTo>
                    <a:pt x="5" y="59"/>
                  </a:lnTo>
                  <a:lnTo>
                    <a:pt x="0" y="59"/>
                  </a:lnTo>
                  <a:lnTo>
                    <a:pt x="7" y="59"/>
                  </a:lnTo>
                  <a:lnTo>
                    <a:pt x="13" y="59"/>
                  </a:lnTo>
                  <a:lnTo>
                    <a:pt x="18" y="60"/>
                  </a:lnTo>
                  <a:lnTo>
                    <a:pt x="24" y="60"/>
                  </a:lnTo>
                  <a:lnTo>
                    <a:pt x="35" y="63"/>
                  </a:lnTo>
                  <a:lnTo>
                    <a:pt x="45" y="66"/>
                  </a:lnTo>
                  <a:lnTo>
                    <a:pt x="52" y="71"/>
                  </a:lnTo>
                  <a:lnTo>
                    <a:pt x="56" y="73"/>
                  </a:lnTo>
                  <a:lnTo>
                    <a:pt x="58" y="76"/>
                  </a:lnTo>
                  <a:lnTo>
                    <a:pt x="60" y="78"/>
                  </a:lnTo>
                  <a:lnTo>
                    <a:pt x="62" y="81"/>
                  </a:lnTo>
                  <a:lnTo>
                    <a:pt x="64" y="84"/>
                  </a:lnTo>
                  <a:lnTo>
                    <a:pt x="64" y="87"/>
                  </a:lnTo>
                  <a:lnTo>
                    <a:pt x="64" y="90"/>
                  </a:lnTo>
                  <a:lnTo>
                    <a:pt x="64" y="92"/>
                  </a:lnTo>
                  <a:lnTo>
                    <a:pt x="62" y="95"/>
                  </a:lnTo>
                  <a:lnTo>
                    <a:pt x="60" y="98"/>
                  </a:lnTo>
                  <a:lnTo>
                    <a:pt x="58" y="101"/>
                  </a:lnTo>
                  <a:lnTo>
                    <a:pt x="54" y="104"/>
                  </a:lnTo>
                  <a:lnTo>
                    <a:pt x="49" y="108"/>
                  </a:lnTo>
                  <a:lnTo>
                    <a:pt x="39" y="112"/>
                  </a:lnTo>
                  <a:lnTo>
                    <a:pt x="28" y="115"/>
                  </a:lnTo>
                  <a:lnTo>
                    <a:pt x="24" y="116"/>
                  </a:lnTo>
                  <a:lnTo>
                    <a:pt x="17" y="116"/>
                  </a:lnTo>
                  <a:lnTo>
                    <a:pt x="11" y="117"/>
                  </a:lnTo>
                  <a:lnTo>
                    <a:pt x="5" y="117"/>
                  </a:lnTo>
                  <a:lnTo>
                    <a:pt x="0" y="117"/>
                  </a:lnTo>
                  <a:lnTo>
                    <a:pt x="7" y="117"/>
                  </a:lnTo>
                  <a:lnTo>
                    <a:pt x="13" y="118"/>
                  </a:lnTo>
                  <a:lnTo>
                    <a:pt x="18" y="118"/>
                  </a:lnTo>
                  <a:lnTo>
                    <a:pt x="24" y="119"/>
                  </a:lnTo>
                  <a:lnTo>
                    <a:pt x="35" y="121"/>
                  </a:lnTo>
                  <a:lnTo>
                    <a:pt x="45" y="125"/>
                  </a:lnTo>
                  <a:lnTo>
                    <a:pt x="52" y="130"/>
                  </a:lnTo>
                  <a:lnTo>
                    <a:pt x="56" y="132"/>
                  </a:lnTo>
                  <a:lnTo>
                    <a:pt x="58" y="134"/>
                  </a:lnTo>
                  <a:lnTo>
                    <a:pt x="60" y="137"/>
                  </a:lnTo>
                  <a:lnTo>
                    <a:pt x="62" y="140"/>
                  </a:lnTo>
                  <a:lnTo>
                    <a:pt x="64" y="142"/>
                  </a:lnTo>
                  <a:lnTo>
                    <a:pt x="64" y="145"/>
                  </a:lnTo>
                  <a:lnTo>
                    <a:pt x="64" y="148"/>
                  </a:lnTo>
                  <a:lnTo>
                    <a:pt x="64" y="151"/>
                  </a:lnTo>
                  <a:lnTo>
                    <a:pt x="62" y="154"/>
                  </a:lnTo>
                  <a:lnTo>
                    <a:pt x="60" y="156"/>
                  </a:lnTo>
                  <a:lnTo>
                    <a:pt x="58" y="160"/>
                  </a:lnTo>
                  <a:lnTo>
                    <a:pt x="54" y="162"/>
                  </a:lnTo>
                  <a:lnTo>
                    <a:pt x="49" y="167"/>
                  </a:lnTo>
                  <a:lnTo>
                    <a:pt x="39" y="170"/>
                  </a:lnTo>
                  <a:lnTo>
                    <a:pt x="28" y="173"/>
                  </a:lnTo>
                  <a:lnTo>
                    <a:pt x="24" y="174"/>
                  </a:lnTo>
                  <a:lnTo>
                    <a:pt x="17" y="175"/>
                  </a:lnTo>
                  <a:lnTo>
                    <a:pt x="11" y="175"/>
                  </a:lnTo>
                  <a:lnTo>
                    <a:pt x="5" y="176"/>
                  </a:lnTo>
                  <a:lnTo>
                    <a:pt x="0" y="176"/>
                  </a:lnTo>
                  <a:lnTo>
                    <a:pt x="7" y="176"/>
                  </a:lnTo>
                  <a:lnTo>
                    <a:pt x="13" y="176"/>
                  </a:lnTo>
                  <a:lnTo>
                    <a:pt x="18" y="177"/>
                  </a:lnTo>
                  <a:lnTo>
                    <a:pt x="24" y="178"/>
                  </a:lnTo>
                  <a:lnTo>
                    <a:pt x="35" y="180"/>
                  </a:lnTo>
                  <a:lnTo>
                    <a:pt x="45" y="183"/>
                  </a:lnTo>
                  <a:lnTo>
                    <a:pt x="52" y="188"/>
                  </a:lnTo>
                  <a:lnTo>
                    <a:pt x="56" y="191"/>
                  </a:lnTo>
                  <a:lnTo>
                    <a:pt x="58" y="193"/>
                  </a:lnTo>
                  <a:lnTo>
                    <a:pt x="60" y="196"/>
                  </a:lnTo>
                  <a:lnTo>
                    <a:pt x="62" y="198"/>
                  </a:lnTo>
                  <a:lnTo>
                    <a:pt x="64" y="201"/>
                  </a:lnTo>
                  <a:lnTo>
                    <a:pt x="64" y="204"/>
                  </a:lnTo>
                  <a:lnTo>
                    <a:pt x="64" y="207"/>
                  </a:lnTo>
                  <a:lnTo>
                    <a:pt x="64" y="210"/>
                  </a:lnTo>
                  <a:lnTo>
                    <a:pt x="62" y="212"/>
                  </a:lnTo>
                  <a:lnTo>
                    <a:pt x="60" y="216"/>
                  </a:lnTo>
                  <a:lnTo>
                    <a:pt x="58" y="218"/>
                  </a:lnTo>
                  <a:lnTo>
                    <a:pt x="54" y="221"/>
                  </a:lnTo>
                  <a:lnTo>
                    <a:pt x="49" y="225"/>
                  </a:lnTo>
                  <a:lnTo>
                    <a:pt x="39" y="229"/>
                  </a:lnTo>
                  <a:lnTo>
                    <a:pt x="28" y="232"/>
                  </a:lnTo>
                  <a:lnTo>
                    <a:pt x="24" y="233"/>
                  </a:lnTo>
                  <a:lnTo>
                    <a:pt x="17" y="233"/>
                  </a:lnTo>
                  <a:lnTo>
                    <a:pt x="11" y="234"/>
                  </a:lnTo>
                  <a:lnTo>
                    <a:pt x="5" y="234"/>
                  </a:lnTo>
                  <a:lnTo>
                    <a:pt x="0" y="2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4" name="Freeform 301"/>
            <p:cNvSpPr>
              <a:spLocks/>
            </p:cNvSpPr>
            <p:nvPr/>
          </p:nvSpPr>
          <p:spPr bwMode="auto">
            <a:xfrm>
              <a:off x="4332" y="1387"/>
              <a:ext cx="32" cy="234"/>
            </a:xfrm>
            <a:custGeom>
              <a:avLst/>
              <a:gdLst>
                <a:gd name="T0" fmla="*/ 1 w 64"/>
                <a:gd name="T1" fmla="*/ 0 h 234"/>
                <a:gd name="T2" fmla="*/ 1 w 64"/>
                <a:gd name="T3" fmla="*/ 1 h 234"/>
                <a:gd name="T4" fmla="*/ 1 w 64"/>
                <a:gd name="T5" fmla="*/ 4 h 234"/>
                <a:gd name="T6" fmla="*/ 1 w 64"/>
                <a:gd name="T7" fmla="*/ 13 h 234"/>
                <a:gd name="T8" fmla="*/ 1 w 64"/>
                <a:gd name="T9" fmla="*/ 17 h 234"/>
                <a:gd name="T10" fmla="*/ 1 w 64"/>
                <a:gd name="T11" fmla="*/ 23 h 234"/>
                <a:gd name="T12" fmla="*/ 0 w 64"/>
                <a:gd name="T13" fmla="*/ 28 h 234"/>
                <a:gd name="T14" fmla="*/ 1 w 64"/>
                <a:gd name="T15" fmla="*/ 34 h 234"/>
                <a:gd name="T16" fmla="*/ 1 w 64"/>
                <a:gd name="T17" fmla="*/ 39 h 234"/>
                <a:gd name="T18" fmla="*/ 1 w 64"/>
                <a:gd name="T19" fmla="*/ 45 h 234"/>
                <a:gd name="T20" fmla="*/ 1 w 64"/>
                <a:gd name="T21" fmla="*/ 50 h 234"/>
                <a:gd name="T22" fmla="*/ 1 w 64"/>
                <a:gd name="T23" fmla="*/ 56 h 234"/>
                <a:gd name="T24" fmla="*/ 1 w 64"/>
                <a:gd name="T25" fmla="*/ 58 h 234"/>
                <a:gd name="T26" fmla="*/ 1 w 64"/>
                <a:gd name="T27" fmla="*/ 59 h 234"/>
                <a:gd name="T28" fmla="*/ 1 w 64"/>
                <a:gd name="T29" fmla="*/ 59 h 234"/>
                <a:gd name="T30" fmla="*/ 1 w 64"/>
                <a:gd name="T31" fmla="*/ 60 h 234"/>
                <a:gd name="T32" fmla="*/ 1 w 64"/>
                <a:gd name="T33" fmla="*/ 63 h 234"/>
                <a:gd name="T34" fmla="*/ 1 w 64"/>
                <a:gd name="T35" fmla="*/ 71 h 234"/>
                <a:gd name="T36" fmla="*/ 1 w 64"/>
                <a:gd name="T37" fmla="*/ 76 h 234"/>
                <a:gd name="T38" fmla="*/ 1 w 64"/>
                <a:gd name="T39" fmla="*/ 81 h 234"/>
                <a:gd name="T40" fmla="*/ 0 w 64"/>
                <a:gd name="T41" fmla="*/ 87 h 234"/>
                <a:gd name="T42" fmla="*/ 1 w 64"/>
                <a:gd name="T43" fmla="*/ 92 h 234"/>
                <a:gd name="T44" fmla="*/ 1 w 64"/>
                <a:gd name="T45" fmla="*/ 98 h 234"/>
                <a:gd name="T46" fmla="*/ 1 w 64"/>
                <a:gd name="T47" fmla="*/ 104 h 234"/>
                <a:gd name="T48" fmla="*/ 1 w 64"/>
                <a:gd name="T49" fmla="*/ 108 h 234"/>
                <a:gd name="T50" fmla="*/ 1 w 64"/>
                <a:gd name="T51" fmla="*/ 115 h 234"/>
                <a:gd name="T52" fmla="*/ 1 w 64"/>
                <a:gd name="T53" fmla="*/ 116 h 234"/>
                <a:gd name="T54" fmla="*/ 1 w 64"/>
                <a:gd name="T55" fmla="*/ 117 h 234"/>
                <a:gd name="T56" fmla="*/ 1 w 64"/>
                <a:gd name="T57" fmla="*/ 117 h 234"/>
                <a:gd name="T58" fmla="*/ 1 w 64"/>
                <a:gd name="T59" fmla="*/ 118 h 234"/>
                <a:gd name="T60" fmla="*/ 1 w 64"/>
                <a:gd name="T61" fmla="*/ 121 h 234"/>
                <a:gd name="T62" fmla="*/ 1 w 64"/>
                <a:gd name="T63" fmla="*/ 130 h 234"/>
                <a:gd name="T64" fmla="*/ 1 w 64"/>
                <a:gd name="T65" fmla="*/ 134 h 234"/>
                <a:gd name="T66" fmla="*/ 1 w 64"/>
                <a:gd name="T67" fmla="*/ 140 h 234"/>
                <a:gd name="T68" fmla="*/ 0 w 64"/>
                <a:gd name="T69" fmla="*/ 145 h 234"/>
                <a:gd name="T70" fmla="*/ 1 w 64"/>
                <a:gd name="T71" fmla="*/ 151 h 234"/>
                <a:gd name="T72" fmla="*/ 1 w 64"/>
                <a:gd name="T73" fmla="*/ 156 h 234"/>
                <a:gd name="T74" fmla="*/ 1 w 64"/>
                <a:gd name="T75" fmla="*/ 162 h 234"/>
                <a:gd name="T76" fmla="*/ 1 w 64"/>
                <a:gd name="T77" fmla="*/ 167 h 234"/>
                <a:gd name="T78" fmla="*/ 1 w 64"/>
                <a:gd name="T79" fmla="*/ 173 h 234"/>
                <a:gd name="T80" fmla="*/ 1 w 64"/>
                <a:gd name="T81" fmla="*/ 175 h 234"/>
                <a:gd name="T82" fmla="*/ 1 w 64"/>
                <a:gd name="T83" fmla="*/ 176 h 234"/>
                <a:gd name="T84" fmla="*/ 1 w 64"/>
                <a:gd name="T85" fmla="*/ 176 h 234"/>
                <a:gd name="T86" fmla="*/ 1 w 64"/>
                <a:gd name="T87" fmla="*/ 177 h 234"/>
                <a:gd name="T88" fmla="*/ 1 w 64"/>
                <a:gd name="T89" fmla="*/ 180 h 234"/>
                <a:gd name="T90" fmla="*/ 1 w 64"/>
                <a:gd name="T91" fmla="*/ 188 h 234"/>
                <a:gd name="T92" fmla="*/ 1 w 64"/>
                <a:gd name="T93" fmla="*/ 193 h 234"/>
                <a:gd name="T94" fmla="*/ 1 w 64"/>
                <a:gd name="T95" fmla="*/ 198 h 234"/>
                <a:gd name="T96" fmla="*/ 0 w 64"/>
                <a:gd name="T97" fmla="*/ 204 h 234"/>
                <a:gd name="T98" fmla="*/ 1 w 64"/>
                <a:gd name="T99" fmla="*/ 210 h 234"/>
                <a:gd name="T100" fmla="*/ 1 w 64"/>
                <a:gd name="T101" fmla="*/ 216 h 234"/>
                <a:gd name="T102" fmla="*/ 1 w 64"/>
                <a:gd name="T103" fmla="*/ 221 h 234"/>
                <a:gd name="T104" fmla="*/ 1 w 64"/>
                <a:gd name="T105" fmla="*/ 225 h 234"/>
                <a:gd name="T106" fmla="*/ 1 w 64"/>
                <a:gd name="T107" fmla="*/ 232 h 234"/>
                <a:gd name="T108" fmla="*/ 1 w 64"/>
                <a:gd name="T109" fmla="*/ 233 h 234"/>
                <a:gd name="T110" fmla="*/ 1 w 64"/>
                <a:gd name="T111" fmla="*/ 234 h 23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64"/>
                <a:gd name="T169" fmla="*/ 0 h 234"/>
                <a:gd name="T170" fmla="*/ 64 w 64"/>
                <a:gd name="T171" fmla="*/ 234 h 234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64" h="234">
                  <a:moveTo>
                    <a:pt x="64" y="0"/>
                  </a:moveTo>
                  <a:lnTo>
                    <a:pt x="58" y="0"/>
                  </a:lnTo>
                  <a:lnTo>
                    <a:pt x="52" y="0"/>
                  </a:lnTo>
                  <a:lnTo>
                    <a:pt x="47" y="1"/>
                  </a:lnTo>
                  <a:lnTo>
                    <a:pt x="41" y="2"/>
                  </a:lnTo>
                  <a:lnTo>
                    <a:pt x="30" y="4"/>
                  </a:lnTo>
                  <a:lnTo>
                    <a:pt x="20" y="8"/>
                  </a:lnTo>
                  <a:lnTo>
                    <a:pt x="13" y="13"/>
                  </a:lnTo>
                  <a:lnTo>
                    <a:pt x="9" y="15"/>
                  </a:lnTo>
                  <a:lnTo>
                    <a:pt x="7" y="17"/>
                  </a:lnTo>
                  <a:lnTo>
                    <a:pt x="3" y="20"/>
                  </a:lnTo>
                  <a:lnTo>
                    <a:pt x="1" y="23"/>
                  </a:lnTo>
                  <a:lnTo>
                    <a:pt x="1" y="25"/>
                  </a:lnTo>
                  <a:lnTo>
                    <a:pt x="0" y="28"/>
                  </a:lnTo>
                  <a:lnTo>
                    <a:pt x="1" y="31"/>
                  </a:lnTo>
                  <a:lnTo>
                    <a:pt x="1" y="34"/>
                  </a:lnTo>
                  <a:lnTo>
                    <a:pt x="3" y="37"/>
                  </a:lnTo>
                  <a:lnTo>
                    <a:pt x="5" y="39"/>
                  </a:lnTo>
                  <a:lnTo>
                    <a:pt x="7" y="43"/>
                  </a:lnTo>
                  <a:lnTo>
                    <a:pt x="9" y="45"/>
                  </a:lnTo>
                  <a:lnTo>
                    <a:pt x="13" y="47"/>
                  </a:lnTo>
                  <a:lnTo>
                    <a:pt x="17" y="50"/>
                  </a:lnTo>
                  <a:lnTo>
                    <a:pt x="26" y="53"/>
                  </a:lnTo>
                  <a:lnTo>
                    <a:pt x="35" y="56"/>
                  </a:lnTo>
                  <a:lnTo>
                    <a:pt x="41" y="57"/>
                  </a:lnTo>
                  <a:lnTo>
                    <a:pt x="47" y="58"/>
                  </a:lnTo>
                  <a:lnTo>
                    <a:pt x="52" y="58"/>
                  </a:lnTo>
                  <a:lnTo>
                    <a:pt x="60" y="59"/>
                  </a:lnTo>
                  <a:lnTo>
                    <a:pt x="64" y="59"/>
                  </a:lnTo>
                  <a:lnTo>
                    <a:pt x="58" y="59"/>
                  </a:lnTo>
                  <a:lnTo>
                    <a:pt x="52" y="59"/>
                  </a:lnTo>
                  <a:lnTo>
                    <a:pt x="47" y="60"/>
                  </a:lnTo>
                  <a:lnTo>
                    <a:pt x="41" y="60"/>
                  </a:lnTo>
                  <a:lnTo>
                    <a:pt x="30" y="63"/>
                  </a:lnTo>
                  <a:lnTo>
                    <a:pt x="20" y="66"/>
                  </a:lnTo>
                  <a:lnTo>
                    <a:pt x="13" y="71"/>
                  </a:lnTo>
                  <a:lnTo>
                    <a:pt x="9" y="73"/>
                  </a:lnTo>
                  <a:lnTo>
                    <a:pt x="7" y="76"/>
                  </a:lnTo>
                  <a:lnTo>
                    <a:pt x="3" y="78"/>
                  </a:lnTo>
                  <a:lnTo>
                    <a:pt x="1" y="81"/>
                  </a:lnTo>
                  <a:lnTo>
                    <a:pt x="1" y="84"/>
                  </a:lnTo>
                  <a:lnTo>
                    <a:pt x="0" y="87"/>
                  </a:lnTo>
                  <a:lnTo>
                    <a:pt x="1" y="90"/>
                  </a:lnTo>
                  <a:lnTo>
                    <a:pt x="1" y="92"/>
                  </a:lnTo>
                  <a:lnTo>
                    <a:pt x="3" y="95"/>
                  </a:lnTo>
                  <a:lnTo>
                    <a:pt x="5" y="98"/>
                  </a:lnTo>
                  <a:lnTo>
                    <a:pt x="7" y="101"/>
                  </a:lnTo>
                  <a:lnTo>
                    <a:pt x="9" y="104"/>
                  </a:lnTo>
                  <a:lnTo>
                    <a:pt x="13" y="106"/>
                  </a:lnTo>
                  <a:lnTo>
                    <a:pt x="17" y="108"/>
                  </a:lnTo>
                  <a:lnTo>
                    <a:pt x="26" y="112"/>
                  </a:lnTo>
                  <a:lnTo>
                    <a:pt x="35" y="115"/>
                  </a:lnTo>
                  <a:lnTo>
                    <a:pt x="41" y="116"/>
                  </a:lnTo>
                  <a:lnTo>
                    <a:pt x="47" y="116"/>
                  </a:lnTo>
                  <a:lnTo>
                    <a:pt x="52" y="117"/>
                  </a:lnTo>
                  <a:lnTo>
                    <a:pt x="60" y="117"/>
                  </a:lnTo>
                  <a:lnTo>
                    <a:pt x="64" y="117"/>
                  </a:lnTo>
                  <a:lnTo>
                    <a:pt x="58" y="117"/>
                  </a:lnTo>
                  <a:lnTo>
                    <a:pt x="52" y="118"/>
                  </a:lnTo>
                  <a:lnTo>
                    <a:pt x="47" y="118"/>
                  </a:lnTo>
                  <a:lnTo>
                    <a:pt x="41" y="119"/>
                  </a:lnTo>
                  <a:lnTo>
                    <a:pt x="30" y="121"/>
                  </a:lnTo>
                  <a:lnTo>
                    <a:pt x="20" y="125"/>
                  </a:lnTo>
                  <a:lnTo>
                    <a:pt x="13" y="130"/>
                  </a:lnTo>
                  <a:lnTo>
                    <a:pt x="9" y="132"/>
                  </a:lnTo>
                  <a:lnTo>
                    <a:pt x="7" y="134"/>
                  </a:lnTo>
                  <a:lnTo>
                    <a:pt x="3" y="137"/>
                  </a:lnTo>
                  <a:lnTo>
                    <a:pt x="1" y="140"/>
                  </a:lnTo>
                  <a:lnTo>
                    <a:pt x="1" y="142"/>
                  </a:lnTo>
                  <a:lnTo>
                    <a:pt x="0" y="145"/>
                  </a:lnTo>
                  <a:lnTo>
                    <a:pt x="1" y="148"/>
                  </a:lnTo>
                  <a:lnTo>
                    <a:pt x="1" y="151"/>
                  </a:lnTo>
                  <a:lnTo>
                    <a:pt x="3" y="154"/>
                  </a:lnTo>
                  <a:lnTo>
                    <a:pt x="5" y="156"/>
                  </a:lnTo>
                  <a:lnTo>
                    <a:pt x="7" y="160"/>
                  </a:lnTo>
                  <a:lnTo>
                    <a:pt x="9" y="162"/>
                  </a:lnTo>
                  <a:lnTo>
                    <a:pt x="13" y="165"/>
                  </a:lnTo>
                  <a:lnTo>
                    <a:pt x="17" y="167"/>
                  </a:lnTo>
                  <a:lnTo>
                    <a:pt x="26" y="170"/>
                  </a:lnTo>
                  <a:lnTo>
                    <a:pt x="35" y="173"/>
                  </a:lnTo>
                  <a:lnTo>
                    <a:pt x="41" y="174"/>
                  </a:lnTo>
                  <a:lnTo>
                    <a:pt x="47" y="175"/>
                  </a:lnTo>
                  <a:lnTo>
                    <a:pt x="52" y="175"/>
                  </a:lnTo>
                  <a:lnTo>
                    <a:pt x="60" y="176"/>
                  </a:lnTo>
                  <a:lnTo>
                    <a:pt x="64" y="176"/>
                  </a:lnTo>
                  <a:lnTo>
                    <a:pt x="58" y="176"/>
                  </a:lnTo>
                  <a:lnTo>
                    <a:pt x="52" y="176"/>
                  </a:lnTo>
                  <a:lnTo>
                    <a:pt x="47" y="177"/>
                  </a:lnTo>
                  <a:lnTo>
                    <a:pt x="41" y="178"/>
                  </a:lnTo>
                  <a:lnTo>
                    <a:pt x="30" y="180"/>
                  </a:lnTo>
                  <a:lnTo>
                    <a:pt x="20" y="183"/>
                  </a:lnTo>
                  <a:lnTo>
                    <a:pt x="13" y="188"/>
                  </a:lnTo>
                  <a:lnTo>
                    <a:pt x="9" y="191"/>
                  </a:lnTo>
                  <a:lnTo>
                    <a:pt x="7" y="193"/>
                  </a:lnTo>
                  <a:lnTo>
                    <a:pt x="3" y="196"/>
                  </a:lnTo>
                  <a:lnTo>
                    <a:pt x="1" y="198"/>
                  </a:lnTo>
                  <a:lnTo>
                    <a:pt x="1" y="201"/>
                  </a:lnTo>
                  <a:lnTo>
                    <a:pt x="0" y="204"/>
                  </a:lnTo>
                  <a:lnTo>
                    <a:pt x="1" y="207"/>
                  </a:lnTo>
                  <a:lnTo>
                    <a:pt x="1" y="210"/>
                  </a:lnTo>
                  <a:lnTo>
                    <a:pt x="3" y="212"/>
                  </a:lnTo>
                  <a:lnTo>
                    <a:pt x="5" y="216"/>
                  </a:lnTo>
                  <a:lnTo>
                    <a:pt x="7" y="218"/>
                  </a:lnTo>
                  <a:lnTo>
                    <a:pt x="9" y="221"/>
                  </a:lnTo>
                  <a:lnTo>
                    <a:pt x="13" y="223"/>
                  </a:lnTo>
                  <a:lnTo>
                    <a:pt x="17" y="225"/>
                  </a:lnTo>
                  <a:lnTo>
                    <a:pt x="26" y="229"/>
                  </a:lnTo>
                  <a:lnTo>
                    <a:pt x="35" y="232"/>
                  </a:lnTo>
                  <a:lnTo>
                    <a:pt x="41" y="233"/>
                  </a:lnTo>
                  <a:lnTo>
                    <a:pt x="47" y="233"/>
                  </a:lnTo>
                  <a:lnTo>
                    <a:pt x="52" y="234"/>
                  </a:lnTo>
                  <a:lnTo>
                    <a:pt x="60" y="234"/>
                  </a:lnTo>
                  <a:lnTo>
                    <a:pt x="64" y="2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5" name="Line 302"/>
            <p:cNvSpPr>
              <a:spLocks noChangeShapeType="1"/>
            </p:cNvSpPr>
            <p:nvPr/>
          </p:nvSpPr>
          <p:spPr bwMode="auto">
            <a:xfrm>
              <a:off x="4295" y="1393"/>
              <a:ext cx="1" cy="22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6" name="Line 303"/>
            <p:cNvSpPr>
              <a:spLocks noChangeShapeType="1"/>
            </p:cNvSpPr>
            <p:nvPr/>
          </p:nvSpPr>
          <p:spPr bwMode="auto">
            <a:xfrm flipV="1">
              <a:off x="4307" y="1393"/>
              <a:ext cx="1" cy="22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" name="Freeform 304"/>
            <p:cNvSpPr>
              <a:spLocks/>
            </p:cNvSpPr>
            <p:nvPr/>
          </p:nvSpPr>
          <p:spPr bwMode="auto">
            <a:xfrm>
              <a:off x="4224" y="1582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1 w 60"/>
                <a:gd name="T3" fmla="*/ 12 h 33"/>
                <a:gd name="T4" fmla="*/ 1 w 60"/>
                <a:gd name="T5" fmla="*/ 9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9 h 33"/>
                <a:gd name="T30" fmla="*/ 1 w 60"/>
                <a:gd name="T31" fmla="*/ 12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3 h 33"/>
                <a:gd name="T40" fmla="*/ 1 w 60"/>
                <a:gd name="T41" fmla="*/ 26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6 h 33"/>
                <a:gd name="T62" fmla="*/ 1 w 60"/>
                <a:gd name="T63" fmla="*/ 23 h 33"/>
                <a:gd name="T64" fmla="*/ 1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2" y="12"/>
                  </a:lnTo>
                  <a:lnTo>
                    <a:pt x="3" y="9"/>
                  </a:lnTo>
                  <a:lnTo>
                    <a:pt x="5" y="7"/>
                  </a:lnTo>
                  <a:lnTo>
                    <a:pt x="9" y="4"/>
                  </a:lnTo>
                  <a:lnTo>
                    <a:pt x="15" y="2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7" y="0"/>
                  </a:lnTo>
                  <a:lnTo>
                    <a:pt x="43" y="1"/>
                  </a:lnTo>
                  <a:lnTo>
                    <a:pt x="47" y="2"/>
                  </a:lnTo>
                  <a:lnTo>
                    <a:pt x="53" y="4"/>
                  </a:lnTo>
                  <a:lnTo>
                    <a:pt x="56" y="7"/>
                  </a:lnTo>
                  <a:lnTo>
                    <a:pt x="58" y="9"/>
                  </a:lnTo>
                  <a:lnTo>
                    <a:pt x="60" y="12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3"/>
                  </a:lnTo>
                  <a:lnTo>
                    <a:pt x="56" y="26"/>
                  </a:lnTo>
                  <a:lnTo>
                    <a:pt x="53" y="28"/>
                  </a:lnTo>
                  <a:lnTo>
                    <a:pt x="47" y="30"/>
                  </a:lnTo>
                  <a:lnTo>
                    <a:pt x="43" y="31"/>
                  </a:lnTo>
                  <a:lnTo>
                    <a:pt x="37" y="32"/>
                  </a:lnTo>
                  <a:lnTo>
                    <a:pt x="30" y="33"/>
                  </a:lnTo>
                  <a:lnTo>
                    <a:pt x="24" y="32"/>
                  </a:lnTo>
                  <a:lnTo>
                    <a:pt x="19" y="31"/>
                  </a:lnTo>
                  <a:lnTo>
                    <a:pt x="15" y="30"/>
                  </a:lnTo>
                  <a:lnTo>
                    <a:pt x="9" y="28"/>
                  </a:lnTo>
                  <a:lnTo>
                    <a:pt x="5" y="26"/>
                  </a:lnTo>
                  <a:lnTo>
                    <a:pt x="3" y="23"/>
                  </a:lnTo>
                  <a:lnTo>
                    <a:pt x="2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" name="Freeform 305"/>
            <p:cNvSpPr>
              <a:spLocks/>
            </p:cNvSpPr>
            <p:nvPr/>
          </p:nvSpPr>
          <p:spPr bwMode="auto">
            <a:xfrm>
              <a:off x="4352" y="1394"/>
              <a:ext cx="30" cy="34"/>
            </a:xfrm>
            <a:custGeom>
              <a:avLst/>
              <a:gdLst>
                <a:gd name="T0" fmla="*/ 0 w 61"/>
                <a:gd name="T1" fmla="*/ 17 h 34"/>
                <a:gd name="T2" fmla="*/ 0 w 61"/>
                <a:gd name="T3" fmla="*/ 14 h 34"/>
                <a:gd name="T4" fmla="*/ 0 w 61"/>
                <a:gd name="T5" fmla="*/ 11 h 34"/>
                <a:gd name="T6" fmla="*/ 0 w 61"/>
                <a:gd name="T7" fmla="*/ 8 h 34"/>
                <a:gd name="T8" fmla="*/ 0 w 61"/>
                <a:gd name="T9" fmla="*/ 5 h 34"/>
                <a:gd name="T10" fmla="*/ 0 w 61"/>
                <a:gd name="T11" fmla="*/ 2 h 34"/>
                <a:gd name="T12" fmla="*/ 0 w 61"/>
                <a:gd name="T13" fmla="*/ 1 h 34"/>
                <a:gd name="T14" fmla="*/ 0 w 61"/>
                <a:gd name="T15" fmla="*/ 0 h 34"/>
                <a:gd name="T16" fmla="*/ 0 w 61"/>
                <a:gd name="T17" fmla="*/ 0 h 34"/>
                <a:gd name="T18" fmla="*/ 0 w 61"/>
                <a:gd name="T19" fmla="*/ 0 h 34"/>
                <a:gd name="T20" fmla="*/ 0 w 61"/>
                <a:gd name="T21" fmla="*/ 1 h 34"/>
                <a:gd name="T22" fmla="*/ 0 w 61"/>
                <a:gd name="T23" fmla="*/ 2 h 34"/>
                <a:gd name="T24" fmla="*/ 0 w 61"/>
                <a:gd name="T25" fmla="*/ 5 h 34"/>
                <a:gd name="T26" fmla="*/ 0 w 61"/>
                <a:gd name="T27" fmla="*/ 8 h 34"/>
                <a:gd name="T28" fmla="*/ 0 w 61"/>
                <a:gd name="T29" fmla="*/ 11 h 34"/>
                <a:gd name="T30" fmla="*/ 0 w 61"/>
                <a:gd name="T31" fmla="*/ 14 h 34"/>
                <a:gd name="T32" fmla="*/ 0 w 61"/>
                <a:gd name="T33" fmla="*/ 17 h 34"/>
                <a:gd name="T34" fmla="*/ 0 w 61"/>
                <a:gd name="T35" fmla="*/ 17 h 34"/>
                <a:gd name="T36" fmla="*/ 0 w 61"/>
                <a:gd name="T37" fmla="*/ 20 h 34"/>
                <a:gd name="T38" fmla="*/ 0 w 61"/>
                <a:gd name="T39" fmla="*/ 23 h 34"/>
                <a:gd name="T40" fmla="*/ 0 w 61"/>
                <a:gd name="T41" fmla="*/ 26 h 34"/>
                <a:gd name="T42" fmla="*/ 0 w 61"/>
                <a:gd name="T43" fmla="*/ 28 h 34"/>
                <a:gd name="T44" fmla="*/ 0 w 61"/>
                <a:gd name="T45" fmla="*/ 30 h 34"/>
                <a:gd name="T46" fmla="*/ 0 w 61"/>
                <a:gd name="T47" fmla="*/ 31 h 34"/>
                <a:gd name="T48" fmla="*/ 0 w 61"/>
                <a:gd name="T49" fmla="*/ 32 h 34"/>
                <a:gd name="T50" fmla="*/ 0 w 61"/>
                <a:gd name="T51" fmla="*/ 34 h 34"/>
                <a:gd name="T52" fmla="*/ 0 w 61"/>
                <a:gd name="T53" fmla="*/ 32 h 34"/>
                <a:gd name="T54" fmla="*/ 0 w 61"/>
                <a:gd name="T55" fmla="*/ 31 h 34"/>
                <a:gd name="T56" fmla="*/ 0 w 61"/>
                <a:gd name="T57" fmla="*/ 30 h 34"/>
                <a:gd name="T58" fmla="*/ 0 w 61"/>
                <a:gd name="T59" fmla="*/ 28 h 34"/>
                <a:gd name="T60" fmla="*/ 0 w 61"/>
                <a:gd name="T61" fmla="*/ 26 h 34"/>
                <a:gd name="T62" fmla="*/ 0 w 61"/>
                <a:gd name="T63" fmla="*/ 23 h 34"/>
                <a:gd name="T64" fmla="*/ 0 w 61"/>
                <a:gd name="T65" fmla="*/ 20 h 34"/>
                <a:gd name="T66" fmla="*/ 0 w 61"/>
                <a:gd name="T67" fmla="*/ 17 h 3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1"/>
                <a:gd name="T103" fmla="*/ 0 h 34"/>
                <a:gd name="T104" fmla="*/ 61 w 61"/>
                <a:gd name="T105" fmla="*/ 34 h 3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1" h="34">
                  <a:moveTo>
                    <a:pt x="0" y="17"/>
                  </a:moveTo>
                  <a:lnTo>
                    <a:pt x="0" y="14"/>
                  </a:lnTo>
                  <a:lnTo>
                    <a:pt x="2" y="11"/>
                  </a:lnTo>
                  <a:lnTo>
                    <a:pt x="6" y="8"/>
                  </a:lnTo>
                  <a:lnTo>
                    <a:pt x="10" y="5"/>
                  </a:lnTo>
                  <a:lnTo>
                    <a:pt x="13" y="2"/>
                  </a:lnTo>
                  <a:lnTo>
                    <a:pt x="19" y="1"/>
                  </a:lnTo>
                  <a:lnTo>
                    <a:pt x="25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2" y="1"/>
                  </a:lnTo>
                  <a:lnTo>
                    <a:pt x="47" y="2"/>
                  </a:lnTo>
                  <a:lnTo>
                    <a:pt x="51" y="5"/>
                  </a:lnTo>
                  <a:lnTo>
                    <a:pt x="55" y="8"/>
                  </a:lnTo>
                  <a:lnTo>
                    <a:pt x="59" y="11"/>
                  </a:lnTo>
                  <a:lnTo>
                    <a:pt x="61" y="14"/>
                  </a:lnTo>
                  <a:lnTo>
                    <a:pt x="61" y="17"/>
                  </a:lnTo>
                  <a:lnTo>
                    <a:pt x="61" y="20"/>
                  </a:lnTo>
                  <a:lnTo>
                    <a:pt x="59" y="23"/>
                  </a:lnTo>
                  <a:lnTo>
                    <a:pt x="55" y="26"/>
                  </a:lnTo>
                  <a:lnTo>
                    <a:pt x="51" y="28"/>
                  </a:lnTo>
                  <a:lnTo>
                    <a:pt x="47" y="30"/>
                  </a:lnTo>
                  <a:lnTo>
                    <a:pt x="42" y="31"/>
                  </a:lnTo>
                  <a:lnTo>
                    <a:pt x="36" y="32"/>
                  </a:lnTo>
                  <a:lnTo>
                    <a:pt x="30" y="34"/>
                  </a:lnTo>
                  <a:lnTo>
                    <a:pt x="25" y="32"/>
                  </a:lnTo>
                  <a:lnTo>
                    <a:pt x="19" y="31"/>
                  </a:lnTo>
                  <a:lnTo>
                    <a:pt x="13" y="30"/>
                  </a:lnTo>
                  <a:lnTo>
                    <a:pt x="10" y="28"/>
                  </a:lnTo>
                  <a:lnTo>
                    <a:pt x="6" y="26"/>
                  </a:lnTo>
                  <a:lnTo>
                    <a:pt x="2" y="23"/>
                  </a:lnTo>
                  <a:lnTo>
                    <a:pt x="0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" name="Freeform 306"/>
            <p:cNvSpPr>
              <a:spLocks/>
            </p:cNvSpPr>
            <p:nvPr/>
          </p:nvSpPr>
          <p:spPr bwMode="auto">
            <a:xfrm>
              <a:off x="3606" y="1153"/>
              <a:ext cx="637" cy="691"/>
            </a:xfrm>
            <a:custGeom>
              <a:avLst/>
              <a:gdLst>
                <a:gd name="T0" fmla="*/ 47 w 1073"/>
                <a:gd name="T1" fmla="*/ 0 h 691"/>
                <a:gd name="T2" fmla="*/ 0 w 1073"/>
                <a:gd name="T3" fmla="*/ 0 h 691"/>
                <a:gd name="T4" fmla="*/ 0 w 1073"/>
                <a:gd name="T5" fmla="*/ 691 h 691"/>
                <a:gd name="T6" fmla="*/ 0 60000 65536"/>
                <a:gd name="T7" fmla="*/ 0 60000 65536"/>
                <a:gd name="T8" fmla="*/ 0 60000 65536"/>
                <a:gd name="T9" fmla="*/ 0 w 1073"/>
                <a:gd name="T10" fmla="*/ 0 h 691"/>
                <a:gd name="T11" fmla="*/ 1073 w 1073"/>
                <a:gd name="T12" fmla="*/ 691 h 6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73" h="691">
                  <a:moveTo>
                    <a:pt x="1073" y="0"/>
                  </a:moveTo>
                  <a:lnTo>
                    <a:pt x="0" y="0"/>
                  </a:lnTo>
                  <a:lnTo>
                    <a:pt x="0" y="69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" name="Line 307"/>
            <p:cNvSpPr>
              <a:spLocks noChangeShapeType="1"/>
            </p:cNvSpPr>
            <p:nvPr/>
          </p:nvSpPr>
          <p:spPr bwMode="auto">
            <a:xfrm flipH="1">
              <a:off x="3615" y="1715"/>
              <a:ext cx="14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" name="Line 308"/>
            <p:cNvSpPr>
              <a:spLocks noChangeShapeType="1"/>
            </p:cNvSpPr>
            <p:nvPr/>
          </p:nvSpPr>
          <p:spPr bwMode="auto">
            <a:xfrm flipH="1">
              <a:off x="3983" y="1621"/>
              <a:ext cx="25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" name="Line 309"/>
            <p:cNvSpPr>
              <a:spLocks noChangeShapeType="1"/>
            </p:cNvSpPr>
            <p:nvPr/>
          </p:nvSpPr>
          <p:spPr bwMode="auto">
            <a:xfrm flipV="1">
              <a:off x="3983" y="1621"/>
              <a:ext cx="1" cy="22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" name="Line 310"/>
            <p:cNvSpPr>
              <a:spLocks noChangeShapeType="1"/>
            </p:cNvSpPr>
            <p:nvPr/>
          </p:nvSpPr>
          <p:spPr bwMode="auto">
            <a:xfrm flipH="1">
              <a:off x="3983" y="1715"/>
              <a:ext cx="17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" name="Freeform 311"/>
            <p:cNvSpPr>
              <a:spLocks/>
            </p:cNvSpPr>
            <p:nvPr/>
          </p:nvSpPr>
          <p:spPr bwMode="auto">
            <a:xfrm>
              <a:off x="3600" y="1694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3 h 33"/>
                <a:gd name="T4" fmla="*/ 1 w 60"/>
                <a:gd name="T5" fmla="*/ 10 h 33"/>
                <a:gd name="T6" fmla="*/ 1 w 60"/>
                <a:gd name="T7" fmla="*/ 7 h 33"/>
                <a:gd name="T8" fmla="*/ 1 w 60"/>
                <a:gd name="T9" fmla="*/ 5 h 33"/>
                <a:gd name="T10" fmla="*/ 1 w 60"/>
                <a:gd name="T11" fmla="*/ 3 h 33"/>
                <a:gd name="T12" fmla="*/ 1 w 60"/>
                <a:gd name="T13" fmla="*/ 1 h 33"/>
                <a:gd name="T14" fmla="*/ 1 w 60"/>
                <a:gd name="T15" fmla="*/ 1 h 33"/>
                <a:gd name="T16" fmla="*/ 1 w 60"/>
                <a:gd name="T17" fmla="*/ 0 h 33"/>
                <a:gd name="T18" fmla="*/ 1 w 60"/>
                <a:gd name="T19" fmla="*/ 1 h 33"/>
                <a:gd name="T20" fmla="*/ 1 w 60"/>
                <a:gd name="T21" fmla="*/ 1 h 33"/>
                <a:gd name="T22" fmla="*/ 1 w 60"/>
                <a:gd name="T23" fmla="*/ 3 h 33"/>
                <a:gd name="T24" fmla="*/ 1 w 60"/>
                <a:gd name="T25" fmla="*/ 5 h 33"/>
                <a:gd name="T26" fmla="*/ 1 w 60"/>
                <a:gd name="T27" fmla="*/ 7 h 33"/>
                <a:gd name="T28" fmla="*/ 1 w 60"/>
                <a:gd name="T29" fmla="*/ 10 h 33"/>
                <a:gd name="T30" fmla="*/ 1 w 60"/>
                <a:gd name="T31" fmla="*/ 13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2 h 33"/>
                <a:gd name="T40" fmla="*/ 1 w 60"/>
                <a:gd name="T41" fmla="*/ 26 h 33"/>
                <a:gd name="T42" fmla="*/ 1 w 60"/>
                <a:gd name="T43" fmla="*/ 29 h 33"/>
                <a:gd name="T44" fmla="*/ 1 w 60"/>
                <a:gd name="T45" fmla="*/ 30 h 33"/>
                <a:gd name="T46" fmla="*/ 1 w 60"/>
                <a:gd name="T47" fmla="*/ 32 h 33"/>
                <a:gd name="T48" fmla="*/ 1 w 60"/>
                <a:gd name="T49" fmla="*/ 33 h 33"/>
                <a:gd name="T50" fmla="*/ 1 w 60"/>
                <a:gd name="T51" fmla="*/ 33 h 33"/>
                <a:gd name="T52" fmla="*/ 1 w 60"/>
                <a:gd name="T53" fmla="*/ 33 h 33"/>
                <a:gd name="T54" fmla="*/ 1 w 60"/>
                <a:gd name="T55" fmla="*/ 32 h 33"/>
                <a:gd name="T56" fmla="*/ 1 w 60"/>
                <a:gd name="T57" fmla="*/ 30 h 33"/>
                <a:gd name="T58" fmla="*/ 1 w 60"/>
                <a:gd name="T59" fmla="*/ 29 h 33"/>
                <a:gd name="T60" fmla="*/ 1 w 60"/>
                <a:gd name="T61" fmla="*/ 26 h 33"/>
                <a:gd name="T62" fmla="*/ 1 w 60"/>
                <a:gd name="T63" fmla="*/ 22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3"/>
                  </a:lnTo>
                  <a:lnTo>
                    <a:pt x="2" y="10"/>
                  </a:lnTo>
                  <a:lnTo>
                    <a:pt x="6" y="7"/>
                  </a:lnTo>
                  <a:lnTo>
                    <a:pt x="9" y="5"/>
                  </a:lnTo>
                  <a:lnTo>
                    <a:pt x="13" y="3"/>
                  </a:lnTo>
                  <a:lnTo>
                    <a:pt x="19" y="1"/>
                  </a:lnTo>
                  <a:lnTo>
                    <a:pt x="25" y="1"/>
                  </a:lnTo>
                  <a:lnTo>
                    <a:pt x="30" y="0"/>
                  </a:lnTo>
                  <a:lnTo>
                    <a:pt x="36" y="1"/>
                  </a:lnTo>
                  <a:lnTo>
                    <a:pt x="42" y="1"/>
                  </a:lnTo>
                  <a:lnTo>
                    <a:pt x="47" y="3"/>
                  </a:lnTo>
                  <a:lnTo>
                    <a:pt x="51" y="5"/>
                  </a:lnTo>
                  <a:lnTo>
                    <a:pt x="55" y="7"/>
                  </a:lnTo>
                  <a:lnTo>
                    <a:pt x="58" y="10"/>
                  </a:lnTo>
                  <a:lnTo>
                    <a:pt x="60" y="13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2"/>
                  </a:lnTo>
                  <a:lnTo>
                    <a:pt x="55" y="26"/>
                  </a:lnTo>
                  <a:lnTo>
                    <a:pt x="51" y="29"/>
                  </a:lnTo>
                  <a:lnTo>
                    <a:pt x="47" y="30"/>
                  </a:lnTo>
                  <a:lnTo>
                    <a:pt x="42" y="32"/>
                  </a:lnTo>
                  <a:lnTo>
                    <a:pt x="36" y="33"/>
                  </a:lnTo>
                  <a:lnTo>
                    <a:pt x="30" y="33"/>
                  </a:lnTo>
                  <a:lnTo>
                    <a:pt x="25" y="33"/>
                  </a:lnTo>
                  <a:lnTo>
                    <a:pt x="19" y="32"/>
                  </a:lnTo>
                  <a:lnTo>
                    <a:pt x="13" y="30"/>
                  </a:lnTo>
                  <a:lnTo>
                    <a:pt x="9" y="29"/>
                  </a:lnTo>
                  <a:lnTo>
                    <a:pt x="6" y="26"/>
                  </a:lnTo>
                  <a:lnTo>
                    <a:pt x="2" y="22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" name="Freeform 312"/>
            <p:cNvSpPr>
              <a:spLocks/>
            </p:cNvSpPr>
            <p:nvPr/>
          </p:nvSpPr>
          <p:spPr bwMode="auto">
            <a:xfrm>
              <a:off x="3968" y="1699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3 h 33"/>
                <a:gd name="T4" fmla="*/ 1 w 60"/>
                <a:gd name="T5" fmla="*/ 10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10 h 33"/>
                <a:gd name="T30" fmla="*/ 1 w 60"/>
                <a:gd name="T31" fmla="*/ 13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3 h 33"/>
                <a:gd name="T40" fmla="*/ 1 w 60"/>
                <a:gd name="T41" fmla="*/ 26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6 h 33"/>
                <a:gd name="T62" fmla="*/ 1 w 60"/>
                <a:gd name="T63" fmla="*/ 23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3"/>
                  </a:lnTo>
                  <a:lnTo>
                    <a:pt x="1" y="10"/>
                  </a:lnTo>
                  <a:lnTo>
                    <a:pt x="5" y="7"/>
                  </a:lnTo>
                  <a:lnTo>
                    <a:pt x="9" y="4"/>
                  </a:lnTo>
                  <a:lnTo>
                    <a:pt x="13" y="2"/>
                  </a:lnTo>
                  <a:lnTo>
                    <a:pt x="18" y="1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5" y="0"/>
                  </a:lnTo>
                  <a:lnTo>
                    <a:pt x="41" y="1"/>
                  </a:lnTo>
                  <a:lnTo>
                    <a:pt x="47" y="2"/>
                  </a:lnTo>
                  <a:lnTo>
                    <a:pt x="50" y="4"/>
                  </a:lnTo>
                  <a:lnTo>
                    <a:pt x="54" y="7"/>
                  </a:lnTo>
                  <a:lnTo>
                    <a:pt x="58" y="10"/>
                  </a:lnTo>
                  <a:lnTo>
                    <a:pt x="60" y="13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3"/>
                  </a:lnTo>
                  <a:lnTo>
                    <a:pt x="54" y="26"/>
                  </a:lnTo>
                  <a:lnTo>
                    <a:pt x="50" y="28"/>
                  </a:lnTo>
                  <a:lnTo>
                    <a:pt x="47" y="30"/>
                  </a:lnTo>
                  <a:lnTo>
                    <a:pt x="41" y="31"/>
                  </a:lnTo>
                  <a:lnTo>
                    <a:pt x="35" y="32"/>
                  </a:lnTo>
                  <a:lnTo>
                    <a:pt x="30" y="33"/>
                  </a:lnTo>
                  <a:lnTo>
                    <a:pt x="24" y="32"/>
                  </a:lnTo>
                  <a:lnTo>
                    <a:pt x="18" y="31"/>
                  </a:lnTo>
                  <a:lnTo>
                    <a:pt x="13" y="30"/>
                  </a:lnTo>
                  <a:lnTo>
                    <a:pt x="9" y="28"/>
                  </a:lnTo>
                  <a:lnTo>
                    <a:pt x="5" y="26"/>
                  </a:lnTo>
                  <a:lnTo>
                    <a:pt x="1" y="23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" name="Freeform 313"/>
            <p:cNvSpPr>
              <a:spLocks/>
            </p:cNvSpPr>
            <p:nvPr/>
          </p:nvSpPr>
          <p:spPr bwMode="auto">
            <a:xfrm>
              <a:off x="3600" y="2074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2 h 33"/>
                <a:gd name="T4" fmla="*/ 1 w 60"/>
                <a:gd name="T5" fmla="*/ 9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9 h 33"/>
                <a:gd name="T30" fmla="*/ 1 w 60"/>
                <a:gd name="T31" fmla="*/ 12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2 h 33"/>
                <a:gd name="T40" fmla="*/ 1 w 60"/>
                <a:gd name="T41" fmla="*/ 26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6 h 33"/>
                <a:gd name="T62" fmla="*/ 1 w 60"/>
                <a:gd name="T63" fmla="*/ 22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2"/>
                  </a:lnTo>
                  <a:lnTo>
                    <a:pt x="2" y="9"/>
                  </a:lnTo>
                  <a:lnTo>
                    <a:pt x="6" y="7"/>
                  </a:lnTo>
                  <a:lnTo>
                    <a:pt x="9" y="4"/>
                  </a:lnTo>
                  <a:lnTo>
                    <a:pt x="13" y="2"/>
                  </a:lnTo>
                  <a:lnTo>
                    <a:pt x="19" y="1"/>
                  </a:lnTo>
                  <a:lnTo>
                    <a:pt x="25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2" y="1"/>
                  </a:lnTo>
                  <a:lnTo>
                    <a:pt x="47" y="2"/>
                  </a:lnTo>
                  <a:lnTo>
                    <a:pt x="51" y="4"/>
                  </a:lnTo>
                  <a:lnTo>
                    <a:pt x="55" y="7"/>
                  </a:lnTo>
                  <a:lnTo>
                    <a:pt x="58" y="9"/>
                  </a:lnTo>
                  <a:lnTo>
                    <a:pt x="60" y="12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2"/>
                  </a:lnTo>
                  <a:lnTo>
                    <a:pt x="55" y="26"/>
                  </a:lnTo>
                  <a:lnTo>
                    <a:pt x="51" y="28"/>
                  </a:lnTo>
                  <a:lnTo>
                    <a:pt x="47" y="30"/>
                  </a:lnTo>
                  <a:lnTo>
                    <a:pt x="42" y="31"/>
                  </a:lnTo>
                  <a:lnTo>
                    <a:pt x="36" y="32"/>
                  </a:lnTo>
                  <a:lnTo>
                    <a:pt x="30" y="33"/>
                  </a:lnTo>
                  <a:lnTo>
                    <a:pt x="25" y="32"/>
                  </a:lnTo>
                  <a:lnTo>
                    <a:pt x="19" y="31"/>
                  </a:lnTo>
                  <a:lnTo>
                    <a:pt x="13" y="30"/>
                  </a:lnTo>
                  <a:lnTo>
                    <a:pt x="9" y="28"/>
                  </a:lnTo>
                  <a:lnTo>
                    <a:pt x="6" y="26"/>
                  </a:lnTo>
                  <a:lnTo>
                    <a:pt x="2" y="22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" name="Freeform 314"/>
            <p:cNvSpPr>
              <a:spLocks/>
            </p:cNvSpPr>
            <p:nvPr/>
          </p:nvSpPr>
          <p:spPr bwMode="auto">
            <a:xfrm>
              <a:off x="3749" y="2069"/>
              <a:ext cx="30" cy="34"/>
            </a:xfrm>
            <a:custGeom>
              <a:avLst/>
              <a:gdLst>
                <a:gd name="T0" fmla="*/ 0 w 60"/>
                <a:gd name="T1" fmla="*/ 17 h 34"/>
                <a:gd name="T2" fmla="*/ 1 w 60"/>
                <a:gd name="T3" fmla="*/ 14 h 34"/>
                <a:gd name="T4" fmla="*/ 1 w 60"/>
                <a:gd name="T5" fmla="*/ 11 h 34"/>
                <a:gd name="T6" fmla="*/ 1 w 60"/>
                <a:gd name="T7" fmla="*/ 8 h 34"/>
                <a:gd name="T8" fmla="*/ 1 w 60"/>
                <a:gd name="T9" fmla="*/ 6 h 34"/>
                <a:gd name="T10" fmla="*/ 1 w 60"/>
                <a:gd name="T11" fmla="*/ 4 h 34"/>
                <a:gd name="T12" fmla="*/ 1 w 60"/>
                <a:gd name="T13" fmla="*/ 2 h 34"/>
                <a:gd name="T14" fmla="*/ 1 w 60"/>
                <a:gd name="T15" fmla="*/ 0 h 34"/>
                <a:gd name="T16" fmla="*/ 1 w 60"/>
                <a:gd name="T17" fmla="*/ 0 h 34"/>
                <a:gd name="T18" fmla="*/ 1 w 60"/>
                <a:gd name="T19" fmla="*/ 0 h 34"/>
                <a:gd name="T20" fmla="*/ 1 w 60"/>
                <a:gd name="T21" fmla="*/ 2 h 34"/>
                <a:gd name="T22" fmla="*/ 1 w 60"/>
                <a:gd name="T23" fmla="*/ 4 h 34"/>
                <a:gd name="T24" fmla="*/ 1 w 60"/>
                <a:gd name="T25" fmla="*/ 6 h 34"/>
                <a:gd name="T26" fmla="*/ 1 w 60"/>
                <a:gd name="T27" fmla="*/ 8 h 34"/>
                <a:gd name="T28" fmla="*/ 1 w 60"/>
                <a:gd name="T29" fmla="*/ 11 h 34"/>
                <a:gd name="T30" fmla="*/ 1 w 60"/>
                <a:gd name="T31" fmla="*/ 14 h 34"/>
                <a:gd name="T32" fmla="*/ 1 w 60"/>
                <a:gd name="T33" fmla="*/ 17 h 34"/>
                <a:gd name="T34" fmla="*/ 1 w 60"/>
                <a:gd name="T35" fmla="*/ 17 h 34"/>
                <a:gd name="T36" fmla="*/ 1 w 60"/>
                <a:gd name="T37" fmla="*/ 20 h 34"/>
                <a:gd name="T38" fmla="*/ 1 w 60"/>
                <a:gd name="T39" fmla="*/ 23 h 34"/>
                <a:gd name="T40" fmla="*/ 1 w 60"/>
                <a:gd name="T41" fmla="*/ 26 h 34"/>
                <a:gd name="T42" fmla="*/ 1 w 60"/>
                <a:gd name="T43" fmla="*/ 28 h 34"/>
                <a:gd name="T44" fmla="*/ 1 w 60"/>
                <a:gd name="T45" fmla="*/ 31 h 34"/>
                <a:gd name="T46" fmla="*/ 1 w 60"/>
                <a:gd name="T47" fmla="*/ 33 h 34"/>
                <a:gd name="T48" fmla="*/ 1 w 60"/>
                <a:gd name="T49" fmla="*/ 34 h 34"/>
                <a:gd name="T50" fmla="*/ 1 w 60"/>
                <a:gd name="T51" fmla="*/ 34 h 34"/>
                <a:gd name="T52" fmla="*/ 1 w 60"/>
                <a:gd name="T53" fmla="*/ 34 h 34"/>
                <a:gd name="T54" fmla="*/ 1 w 60"/>
                <a:gd name="T55" fmla="*/ 33 h 34"/>
                <a:gd name="T56" fmla="*/ 1 w 60"/>
                <a:gd name="T57" fmla="*/ 31 h 34"/>
                <a:gd name="T58" fmla="*/ 1 w 60"/>
                <a:gd name="T59" fmla="*/ 28 h 34"/>
                <a:gd name="T60" fmla="*/ 1 w 60"/>
                <a:gd name="T61" fmla="*/ 26 h 34"/>
                <a:gd name="T62" fmla="*/ 1 w 60"/>
                <a:gd name="T63" fmla="*/ 23 h 34"/>
                <a:gd name="T64" fmla="*/ 1 w 60"/>
                <a:gd name="T65" fmla="*/ 20 h 34"/>
                <a:gd name="T66" fmla="*/ 0 w 60"/>
                <a:gd name="T67" fmla="*/ 17 h 3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4"/>
                <a:gd name="T104" fmla="*/ 60 w 60"/>
                <a:gd name="T105" fmla="*/ 34 h 3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4">
                  <a:moveTo>
                    <a:pt x="0" y="17"/>
                  </a:moveTo>
                  <a:lnTo>
                    <a:pt x="2" y="14"/>
                  </a:lnTo>
                  <a:lnTo>
                    <a:pt x="4" y="11"/>
                  </a:lnTo>
                  <a:lnTo>
                    <a:pt x="6" y="8"/>
                  </a:lnTo>
                  <a:lnTo>
                    <a:pt x="9" y="6"/>
                  </a:lnTo>
                  <a:lnTo>
                    <a:pt x="13" y="4"/>
                  </a:lnTo>
                  <a:lnTo>
                    <a:pt x="19" y="2"/>
                  </a:lnTo>
                  <a:lnTo>
                    <a:pt x="25" y="0"/>
                  </a:lnTo>
                  <a:lnTo>
                    <a:pt x="30" y="0"/>
                  </a:lnTo>
                  <a:lnTo>
                    <a:pt x="38" y="0"/>
                  </a:lnTo>
                  <a:lnTo>
                    <a:pt x="43" y="2"/>
                  </a:lnTo>
                  <a:lnTo>
                    <a:pt x="47" y="4"/>
                  </a:lnTo>
                  <a:lnTo>
                    <a:pt x="53" y="6"/>
                  </a:lnTo>
                  <a:lnTo>
                    <a:pt x="57" y="8"/>
                  </a:lnTo>
                  <a:lnTo>
                    <a:pt x="59" y="11"/>
                  </a:lnTo>
                  <a:lnTo>
                    <a:pt x="60" y="14"/>
                  </a:lnTo>
                  <a:lnTo>
                    <a:pt x="60" y="17"/>
                  </a:lnTo>
                  <a:lnTo>
                    <a:pt x="60" y="20"/>
                  </a:lnTo>
                  <a:lnTo>
                    <a:pt x="59" y="23"/>
                  </a:lnTo>
                  <a:lnTo>
                    <a:pt x="57" y="26"/>
                  </a:lnTo>
                  <a:lnTo>
                    <a:pt x="53" y="28"/>
                  </a:lnTo>
                  <a:lnTo>
                    <a:pt x="47" y="31"/>
                  </a:lnTo>
                  <a:lnTo>
                    <a:pt x="43" y="33"/>
                  </a:lnTo>
                  <a:lnTo>
                    <a:pt x="38" y="34"/>
                  </a:lnTo>
                  <a:lnTo>
                    <a:pt x="30" y="34"/>
                  </a:lnTo>
                  <a:lnTo>
                    <a:pt x="25" y="34"/>
                  </a:lnTo>
                  <a:lnTo>
                    <a:pt x="19" y="33"/>
                  </a:lnTo>
                  <a:lnTo>
                    <a:pt x="13" y="31"/>
                  </a:lnTo>
                  <a:lnTo>
                    <a:pt x="9" y="28"/>
                  </a:lnTo>
                  <a:lnTo>
                    <a:pt x="6" y="26"/>
                  </a:lnTo>
                  <a:lnTo>
                    <a:pt x="4" y="23"/>
                  </a:lnTo>
                  <a:lnTo>
                    <a:pt x="2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" name="Freeform 315"/>
            <p:cNvSpPr>
              <a:spLocks/>
            </p:cNvSpPr>
            <p:nvPr/>
          </p:nvSpPr>
          <p:spPr bwMode="auto">
            <a:xfrm>
              <a:off x="3968" y="2074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2 h 33"/>
                <a:gd name="T4" fmla="*/ 1 w 60"/>
                <a:gd name="T5" fmla="*/ 9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9 h 33"/>
                <a:gd name="T30" fmla="*/ 1 w 60"/>
                <a:gd name="T31" fmla="*/ 12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2 h 33"/>
                <a:gd name="T40" fmla="*/ 1 w 60"/>
                <a:gd name="T41" fmla="*/ 26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6 h 33"/>
                <a:gd name="T62" fmla="*/ 1 w 60"/>
                <a:gd name="T63" fmla="*/ 22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2"/>
                  </a:lnTo>
                  <a:lnTo>
                    <a:pt x="1" y="9"/>
                  </a:lnTo>
                  <a:lnTo>
                    <a:pt x="5" y="7"/>
                  </a:lnTo>
                  <a:lnTo>
                    <a:pt x="9" y="4"/>
                  </a:lnTo>
                  <a:lnTo>
                    <a:pt x="13" y="2"/>
                  </a:lnTo>
                  <a:lnTo>
                    <a:pt x="18" y="1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5" y="0"/>
                  </a:lnTo>
                  <a:lnTo>
                    <a:pt x="41" y="1"/>
                  </a:lnTo>
                  <a:lnTo>
                    <a:pt x="47" y="2"/>
                  </a:lnTo>
                  <a:lnTo>
                    <a:pt x="50" y="4"/>
                  </a:lnTo>
                  <a:lnTo>
                    <a:pt x="54" y="7"/>
                  </a:lnTo>
                  <a:lnTo>
                    <a:pt x="58" y="9"/>
                  </a:lnTo>
                  <a:lnTo>
                    <a:pt x="60" y="12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2"/>
                  </a:lnTo>
                  <a:lnTo>
                    <a:pt x="54" y="26"/>
                  </a:lnTo>
                  <a:lnTo>
                    <a:pt x="50" y="28"/>
                  </a:lnTo>
                  <a:lnTo>
                    <a:pt x="47" y="30"/>
                  </a:lnTo>
                  <a:lnTo>
                    <a:pt x="41" y="31"/>
                  </a:lnTo>
                  <a:lnTo>
                    <a:pt x="35" y="32"/>
                  </a:lnTo>
                  <a:lnTo>
                    <a:pt x="30" y="33"/>
                  </a:lnTo>
                  <a:lnTo>
                    <a:pt x="24" y="32"/>
                  </a:lnTo>
                  <a:lnTo>
                    <a:pt x="18" y="31"/>
                  </a:lnTo>
                  <a:lnTo>
                    <a:pt x="13" y="30"/>
                  </a:lnTo>
                  <a:lnTo>
                    <a:pt x="9" y="28"/>
                  </a:lnTo>
                  <a:lnTo>
                    <a:pt x="5" y="26"/>
                  </a:lnTo>
                  <a:lnTo>
                    <a:pt x="1" y="22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" name="Line 316"/>
            <p:cNvSpPr>
              <a:spLocks noChangeShapeType="1"/>
            </p:cNvSpPr>
            <p:nvPr/>
          </p:nvSpPr>
          <p:spPr bwMode="auto">
            <a:xfrm flipH="1" flipV="1">
              <a:off x="4364" y="1621"/>
              <a:ext cx="7" cy="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" name="Line 317"/>
            <p:cNvSpPr>
              <a:spLocks noChangeShapeType="1"/>
            </p:cNvSpPr>
            <p:nvPr/>
          </p:nvSpPr>
          <p:spPr bwMode="auto">
            <a:xfrm flipH="1" flipV="1">
              <a:off x="4706" y="1059"/>
              <a:ext cx="3" cy="6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" name="Line 318"/>
            <p:cNvSpPr>
              <a:spLocks noChangeShapeType="1"/>
            </p:cNvSpPr>
            <p:nvPr/>
          </p:nvSpPr>
          <p:spPr bwMode="auto">
            <a:xfrm>
              <a:off x="4706" y="1059"/>
              <a:ext cx="16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" name="Line 319"/>
            <p:cNvSpPr>
              <a:spLocks noChangeShapeType="1"/>
            </p:cNvSpPr>
            <p:nvPr/>
          </p:nvSpPr>
          <p:spPr bwMode="auto">
            <a:xfrm>
              <a:off x="5353" y="1286"/>
              <a:ext cx="1" cy="5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" name="Freeform 320"/>
            <p:cNvSpPr>
              <a:spLocks/>
            </p:cNvSpPr>
            <p:nvPr/>
          </p:nvSpPr>
          <p:spPr bwMode="auto">
            <a:xfrm>
              <a:off x="4364" y="1387"/>
              <a:ext cx="985" cy="1"/>
            </a:xfrm>
            <a:custGeom>
              <a:avLst/>
              <a:gdLst>
                <a:gd name="T0" fmla="*/ 0 w 1969"/>
                <a:gd name="T1" fmla="*/ 0 h 1"/>
                <a:gd name="T2" fmla="*/ 31 w 1969"/>
                <a:gd name="T3" fmla="*/ 0 h 1"/>
                <a:gd name="T4" fmla="*/ 31 w 1969"/>
                <a:gd name="T5" fmla="*/ 0 h 1"/>
                <a:gd name="T6" fmla="*/ 0 60000 65536"/>
                <a:gd name="T7" fmla="*/ 0 60000 65536"/>
                <a:gd name="T8" fmla="*/ 0 60000 65536"/>
                <a:gd name="T9" fmla="*/ 0 w 1969"/>
                <a:gd name="T10" fmla="*/ 0 h 1"/>
                <a:gd name="T11" fmla="*/ 1969 w 196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9" h="1">
                  <a:moveTo>
                    <a:pt x="0" y="0"/>
                  </a:moveTo>
                  <a:lnTo>
                    <a:pt x="1969" y="0"/>
                  </a:lnTo>
                  <a:lnTo>
                    <a:pt x="195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4" name="Line 321"/>
            <p:cNvSpPr>
              <a:spLocks noChangeShapeType="1"/>
            </p:cNvSpPr>
            <p:nvPr/>
          </p:nvSpPr>
          <p:spPr bwMode="auto">
            <a:xfrm>
              <a:off x="5353" y="1341"/>
              <a:ext cx="1" cy="4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5" name="Line 322"/>
            <p:cNvSpPr>
              <a:spLocks noChangeShapeType="1"/>
            </p:cNvSpPr>
            <p:nvPr/>
          </p:nvSpPr>
          <p:spPr bwMode="auto">
            <a:xfrm>
              <a:off x="5182" y="1341"/>
              <a:ext cx="1" cy="4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" name="Freeform 323"/>
            <p:cNvSpPr>
              <a:spLocks/>
            </p:cNvSpPr>
            <p:nvPr/>
          </p:nvSpPr>
          <p:spPr bwMode="auto">
            <a:xfrm>
              <a:off x="5167" y="1371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3 h 33"/>
                <a:gd name="T4" fmla="*/ 1 w 60"/>
                <a:gd name="T5" fmla="*/ 10 h 33"/>
                <a:gd name="T6" fmla="*/ 1 w 60"/>
                <a:gd name="T7" fmla="*/ 7 h 33"/>
                <a:gd name="T8" fmla="*/ 1 w 60"/>
                <a:gd name="T9" fmla="*/ 5 h 33"/>
                <a:gd name="T10" fmla="*/ 1 w 60"/>
                <a:gd name="T11" fmla="*/ 3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3 h 33"/>
                <a:gd name="T24" fmla="*/ 1 w 60"/>
                <a:gd name="T25" fmla="*/ 5 h 33"/>
                <a:gd name="T26" fmla="*/ 1 w 60"/>
                <a:gd name="T27" fmla="*/ 7 h 33"/>
                <a:gd name="T28" fmla="*/ 1 w 60"/>
                <a:gd name="T29" fmla="*/ 10 h 33"/>
                <a:gd name="T30" fmla="*/ 1 w 60"/>
                <a:gd name="T31" fmla="*/ 13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2 h 33"/>
                <a:gd name="T40" fmla="*/ 1 w 60"/>
                <a:gd name="T41" fmla="*/ 25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2 h 33"/>
                <a:gd name="T48" fmla="*/ 1 w 60"/>
                <a:gd name="T49" fmla="*/ 33 h 33"/>
                <a:gd name="T50" fmla="*/ 1 w 60"/>
                <a:gd name="T51" fmla="*/ 33 h 33"/>
                <a:gd name="T52" fmla="*/ 1 w 60"/>
                <a:gd name="T53" fmla="*/ 33 h 33"/>
                <a:gd name="T54" fmla="*/ 1 w 60"/>
                <a:gd name="T55" fmla="*/ 32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5 h 33"/>
                <a:gd name="T62" fmla="*/ 1 w 60"/>
                <a:gd name="T63" fmla="*/ 22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3"/>
                  </a:lnTo>
                  <a:lnTo>
                    <a:pt x="2" y="10"/>
                  </a:lnTo>
                  <a:lnTo>
                    <a:pt x="4" y="7"/>
                  </a:lnTo>
                  <a:lnTo>
                    <a:pt x="7" y="5"/>
                  </a:lnTo>
                  <a:lnTo>
                    <a:pt x="13" y="3"/>
                  </a:lnTo>
                  <a:lnTo>
                    <a:pt x="17" y="1"/>
                  </a:lnTo>
                  <a:lnTo>
                    <a:pt x="22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5" y="3"/>
                  </a:lnTo>
                  <a:lnTo>
                    <a:pt x="51" y="5"/>
                  </a:lnTo>
                  <a:lnTo>
                    <a:pt x="55" y="7"/>
                  </a:lnTo>
                  <a:lnTo>
                    <a:pt x="56" y="10"/>
                  </a:lnTo>
                  <a:lnTo>
                    <a:pt x="58" y="13"/>
                  </a:lnTo>
                  <a:lnTo>
                    <a:pt x="60" y="16"/>
                  </a:lnTo>
                  <a:lnTo>
                    <a:pt x="58" y="19"/>
                  </a:lnTo>
                  <a:lnTo>
                    <a:pt x="56" y="22"/>
                  </a:lnTo>
                  <a:lnTo>
                    <a:pt x="55" y="25"/>
                  </a:lnTo>
                  <a:lnTo>
                    <a:pt x="51" y="28"/>
                  </a:lnTo>
                  <a:lnTo>
                    <a:pt x="45" y="30"/>
                  </a:lnTo>
                  <a:lnTo>
                    <a:pt x="41" y="32"/>
                  </a:lnTo>
                  <a:lnTo>
                    <a:pt x="36" y="33"/>
                  </a:lnTo>
                  <a:lnTo>
                    <a:pt x="30" y="33"/>
                  </a:lnTo>
                  <a:lnTo>
                    <a:pt x="22" y="33"/>
                  </a:lnTo>
                  <a:lnTo>
                    <a:pt x="17" y="32"/>
                  </a:lnTo>
                  <a:lnTo>
                    <a:pt x="13" y="30"/>
                  </a:lnTo>
                  <a:lnTo>
                    <a:pt x="7" y="28"/>
                  </a:lnTo>
                  <a:lnTo>
                    <a:pt x="4" y="25"/>
                  </a:lnTo>
                  <a:lnTo>
                    <a:pt x="2" y="22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" name="Line 324"/>
            <p:cNvSpPr>
              <a:spLocks noChangeShapeType="1"/>
            </p:cNvSpPr>
            <p:nvPr/>
          </p:nvSpPr>
          <p:spPr bwMode="auto">
            <a:xfrm>
              <a:off x="3379" y="1467"/>
              <a:ext cx="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" name="Line 325"/>
            <p:cNvSpPr>
              <a:spLocks noChangeShapeType="1"/>
            </p:cNvSpPr>
            <p:nvPr/>
          </p:nvSpPr>
          <p:spPr bwMode="auto">
            <a:xfrm>
              <a:off x="3379" y="1512"/>
              <a:ext cx="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" name="Freeform 326"/>
            <p:cNvSpPr>
              <a:spLocks/>
            </p:cNvSpPr>
            <p:nvPr/>
          </p:nvSpPr>
          <p:spPr bwMode="auto">
            <a:xfrm>
              <a:off x="4691" y="1042"/>
              <a:ext cx="30" cy="33"/>
            </a:xfrm>
            <a:custGeom>
              <a:avLst/>
              <a:gdLst>
                <a:gd name="T0" fmla="*/ 0 w 61"/>
                <a:gd name="T1" fmla="*/ 17 h 33"/>
                <a:gd name="T2" fmla="*/ 0 w 61"/>
                <a:gd name="T3" fmla="*/ 14 h 33"/>
                <a:gd name="T4" fmla="*/ 0 w 61"/>
                <a:gd name="T5" fmla="*/ 11 h 33"/>
                <a:gd name="T6" fmla="*/ 0 w 61"/>
                <a:gd name="T7" fmla="*/ 8 h 33"/>
                <a:gd name="T8" fmla="*/ 0 w 61"/>
                <a:gd name="T9" fmla="*/ 5 h 33"/>
                <a:gd name="T10" fmla="*/ 0 w 61"/>
                <a:gd name="T11" fmla="*/ 3 h 33"/>
                <a:gd name="T12" fmla="*/ 0 w 61"/>
                <a:gd name="T13" fmla="*/ 1 h 33"/>
                <a:gd name="T14" fmla="*/ 0 w 61"/>
                <a:gd name="T15" fmla="*/ 0 h 33"/>
                <a:gd name="T16" fmla="*/ 0 w 61"/>
                <a:gd name="T17" fmla="*/ 0 h 33"/>
                <a:gd name="T18" fmla="*/ 0 w 61"/>
                <a:gd name="T19" fmla="*/ 0 h 33"/>
                <a:gd name="T20" fmla="*/ 0 w 61"/>
                <a:gd name="T21" fmla="*/ 1 h 33"/>
                <a:gd name="T22" fmla="*/ 0 w 61"/>
                <a:gd name="T23" fmla="*/ 3 h 33"/>
                <a:gd name="T24" fmla="*/ 0 w 61"/>
                <a:gd name="T25" fmla="*/ 5 h 33"/>
                <a:gd name="T26" fmla="*/ 0 w 61"/>
                <a:gd name="T27" fmla="*/ 8 h 33"/>
                <a:gd name="T28" fmla="*/ 0 w 61"/>
                <a:gd name="T29" fmla="*/ 11 h 33"/>
                <a:gd name="T30" fmla="*/ 0 w 61"/>
                <a:gd name="T31" fmla="*/ 14 h 33"/>
                <a:gd name="T32" fmla="*/ 0 w 61"/>
                <a:gd name="T33" fmla="*/ 17 h 33"/>
                <a:gd name="T34" fmla="*/ 0 w 61"/>
                <a:gd name="T35" fmla="*/ 17 h 33"/>
                <a:gd name="T36" fmla="*/ 0 w 61"/>
                <a:gd name="T37" fmla="*/ 20 h 33"/>
                <a:gd name="T38" fmla="*/ 0 w 61"/>
                <a:gd name="T39" fmla="*/ 23 h 33"/>
                <a:gd name="T40" fmla="*/ 0 w 61"/>
                <a:gd name="T41" fmla="*/ 26 h 33"/>
                <a:gd name="T42" fmla="*/ 0 w 61"/>
                <a:gd name="T43" fmla="*/ 28 h 33"/>
                <a:gd name="T44" fmla="*/ 0 w 61"/>
                <a:gd name="T45" fmla="*/ 30 h 33"/>
                <a:gd name="T46" fmla="*/ 0 w 61"/>
                <a:gd name="T47" fmla="*/ 32 h 33"/>
                <a:gd name="T48" fmla="*/ 0 w 61"/>
                <a:gd name="T49" fmla="*/ 33 h 33"/>
                <a:gd name="T50" fmla="*/ 0 w 61"/>
                <a:gd name="T51" fmla="*/ 33 h 33"/>
                <a:gd name="T52" fmla="*/ 0 w 61"/>
                <a:gd name="T53" fmla="*/ 33 h 33"/>
                <a:gd name="T54" fmla="*/ 0 w 61"/>
                <a:gd name="T55" fmla="*/ 32 h 33"/>
                <a:gd name="T56" fmla="*/ 0 w 61"/>
                <a:gd name="T57" fmla="*/ 30 h 33"/>
                <a:gd name="T58" fmla="*/ 0 w 61"/>
                <a:gd name="T59" fmla="*/ 28 h 33"/>
                <a:gd name="T60" fmla="*/ 0 w 61"/>
                <a:gd name="T61" fmla="*/ 26 h 33"/>
                <a:gd name="T62" fmla="*/ 0 w 61"/>
                <a:gd name="T63" fmla="*/ 23 h 33"/>
                <a:gd name="T64" fmla="*/ 0 w 61"/>
                <a:gd name="T65" fmla="*/ 20 h 33"/>
                <a:gd name="T66" fmla="*/ 0 w 61"/>
                <a:gd name="T67" fmla="*/ 17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1"/>
                <a:gd name="T103" fmla="*/ 0 h 33"/>
                <a:gd name="T104" fmla="*/ 61 w 61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1" h="33">
                  <a:moveTo>
                    <a:pt x="0" y="17"/>
                  </a:moveTo>
                  <a:lnTo>
                    <a:pt x="2" y="14"/>
                  </a:lnTo>
                  <a:lnTo>
                    <a:pt x="4" y="11"/>
                  </a:lnTo>
                  <a:lnTo>
                    <a:pt x="6" y="8"/>
                  </a:lnTo>
                  <a:lnTo>
                    <a:pt x="10" y="5"/>
                  </a:lnTo>
                  <a:lnTo>
                    <a:pt x="14" y="3"/>
                  </a:lnTo>
                  <a:lnTo>
                    <a:pt x="19" y="1"/>
                  </a:lnTo>
                  <a:lnTo>
                    <a:pt x="25" y="0"/>
                  </a:lnTo>
                  <a:lnTo>
                    <a:pt x="31" y="0"/>
                  </a:lnTo>
                  <a:lnTo>
                    <a:pt x="38" y="0"/>
                  </a:lnTo>
                  <a:lnTo>
                    <a:pt x="44" y="1"/>
                  </a:lnTo>
                  <a:lnTo>
                    <a:pt x="48" y="3"/>
                  </a:lnTo>
                  <a:lnTo>
                    <a:pt x="53" y="5"/>
                  </a:lnTo>
                  <a:lnTo>
                    <a:pt x="57" y="8"/>
                  </a:lnTo>
                  <a:lnTo>
                    <a:pt x="59" y="11"/>
                  </a:lnTo>
                  <a:lnTo>
                    <a:pt x="61" y="14"/>
                  </a:lnTo>
                  <a:lnTo>
                    <a:pt x="61" y="17"/>
                  </a:lnTo>
                  <a:lnTo>
                    <a:pt x="61" y="20"/>
                  </a:lnTo>
                  <a:lnTo>
                    <a:pt x="59" y="23"/>
                  </a:lnTo>
                  <a:lnTo>
                    <a:pt x="57" y="26"/>
                  </a:lnTo>
                  <a:lnTo>
                    <a:pt x="53" y="28"/>
                  </a:lnTo>
                  <a:lnTo>
                    <a:pt x="48" y="30"/>
                  </a:lnTo>
                  <a:lnTo>
                    <a:pt x="44" y="32"/>
                  </a:lnTo>
                  <a:lnTo>
                    <a:pt x="38" y="33"/>
                  </a:lnTo>
                  <a:lnTo>
                    <a:pt x="31" y="33"/>
                  </a:lnTo>
                  <a:lnTo>
                    <a:pt x="25" y="33"/>
                  </a:lnTo>
                  <a:lnTo>
                    <a:pt x="19" y="32"/>
                  </a:lnTo>
                  <a:lnTo>
                    <a:pt x="14" y="30"/>
                  </a:lnTo>
                  <a:lnTo>
                    <a:pt x="10" y="28"/>
                  </a:lnTo>
                  <a:lnTo>
                    <a:pt x="6" y="26"/>
                  </a:lnTo>
                  <a:lnTo>
                    <a:pt x="4" y="23"/>
                  </a:lnTo>
                  <a:lnTo>
                    <a:pt x="2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0" name="Rectangle 327"/>
            <p:cNvSpPr>
              <a:spLocks noChangeArrowheads="1"/>
            </p:cNvSpPr>
            <p:nvPr/>
          </p:nvSpPr>
          <p:spPr bwMode="auto">
            <a:xfrm>
              <a:off x="3432" y="1716"/>
              <a:ext cx="148" cy="21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31" name="Freeform 328"/>
            <p:cNvSpPr>
              <a:spLocks/>
            </p:cNvSpPr>
            <p:nvPr/>
          </p:nvSpPr>
          <p:spPr bwMode="auto">
            <a:xfrm>
              <a:off x="4968" y="973"/>
              <a:ext cx="53" cy="16"/>
            </a:xfrm>
            <a:custGeom>
              <a:avLst/>
              <a:gdLst>
                <a:gd name="T0" fmla="*/ 2 w 106"/>
                <a:gd name="T1" fmla="*/ 8 h 16"/>
                <a:gd name="T2" fmla="*/ 0 w 106"/>
                <a:gd name="T3" fmla="*/ 0 h 16"/>
                <a:gd name="T4" fmla="*/ 0 w 106"/>
                <a:gd name="T5" fmla="*/ 16 h 16"/>
                <a:gd name="T6" fmla="*/ 2 w 106"/>
                <a:gd name="T7" fmla="*/ 8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"/>
                <a:gd name="T13" fmla="*/ 0 h 16"/>
                <a:gd name="T14" fmla="*/ 106 w 106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" h="16">
                  <a:moveTo>
                    <a:pt x="106" y="8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106" y="8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2" name="Freeform 329"/>
            <p:cNvSpPr>
              <a:spLocks/>
            </p:cNvSpPr>
            <p:nvPr/>
          </p:nvSpPr>
          <p:spPr bwMode="auto">
            <a:xfrm>
              <a:off x="4968" y="973"/>
              <a:ext cx="53" cy="16"/>
            </a:xfrm>
            <a:custGeom>
              <a:avLst/>
              <a:gdLst>
                <a:gd name="T0" fmla="*/ 2 w 106"/>
                <a:gd name="T1" fmla="*/ 8 h 16"/>
                <a:gd name="T2" fmla="*/ 0 w 106"/>
                <a:gd name="T3" fmla="*/ 0 h 16"/>
                <a:gd name="T4" fmla="*/ 0 w 106"/>
                <a:gd name="T5" fmla="*/ 16 h 16"/>
                <a:gd name="T6" fmla="*/ 2 w 106"/>
                <a:gd name="T7" fmla="*/ 8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"/>
                <a:gd name="T13" fmla="*/ 0 h 16"/>
                <a:gd name="T14" fmla="*/ 106 w 106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" h="16">
                  <a:moveTo>
                    <a:pt x="106" y="8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106" y="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" name="Line 330"/>
            <p:cNvSpPr>
              <a:spLocks noChangeShapeType="1"/>
            </p:cNvSpPr>
            <p:nvPr/>
          </p:nvSpPr>
          <p:spPr bwMode="auto">
            <a:xfrm flipH="1">
              <a:off x="4899" y="981"/>
              <a:ext cx="6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" name="Freeform 331"/>
            <p:cNvSpPr>
              <a:spLocks/>
            </p:cNvSpPr>
            <p:nvPr/>
          </p:nvSpPr>
          <p:spPr bwMode="auto">
            <a:xfrm>
              <a:off x="5266" y="989"/>
              <a:ext cx="54" cy="17"/>
            </a:xfrm>
            <a:custGeom>
              <a:avLst/>
              <a:gdLst>
                <a:gd name="T0" fmla="*/ 2 w 107"/>
                <a:gd name="T1" fmla="*/ 9 h 17"/>
                <a:gd name="T2" fmla="*/ 0 w 107"/>
                <a:gd name="T3" fmla="*/ 0 h 17"/>
                <a:gd name="T4" fmla="*/ 0 w 107"/>
                <a:gd name="T5" fmla="*/ 17 h 17"/>
                <a:gd name="T6" fmla="*/ 2 w 107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7"/>
                <a:gd name="T13" fmla="*/ 0 h 17"/>
                <a:gd name="T14" fmla="*/ 107 w 107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7" h="17">
                  <a:moveTo>
                    <a:pt x="107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7" y="9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" name="Freeform 332"/>
            <p:cNvSpPr>
              <a:spLocks/>
            </p:cNvSpPr>
            <p:nvPr/>
          </p:nvSpPr>
          <p:spPr bwMode="auto">
            <a:xfrm>
              <a:off x="5266" y="989"/>
              <a:ext cx="54" cy="17"/>
            </a:xfrm>
            <a:custGeom>
              <a:avLst/>
              <a:gdLst>
                <a:gd name="T0" fmla="*/ 2 w 107"/>
                <a:gd name="T1" fmla="*/ 9 h 17"/>
                <a:gd name="T2" fmla="*/ 0 w 107"/>
                <a:gd name="T3" fmla="*/ 0 h 17"/>
                <a:gd name="T4" fmla="*/ 0 w 107"/>
                <a:gd name="T5" fmla="*/ 17 h 17"/>
                <a:gd name="T6" fmla="*/ 2 w 107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7"/>
                <a:gd name="T13" fmla="*/ 0 h 17"/>
                <a:gd name="T14" fmla="*/ 107 w 107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7" h="17">
                  <a:moveTo>
                    <a:pt x="107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7" y="9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" name="Line 333"/>
            <p:cNvSpPr>
              <a:spLocks noChangeShapeType="1"/>
            </p:cNvSpPr>
            <p:nvPr/>
          </p:nvSpPr>
          <p:spPr bwMode="auto">
            <a:xfrm flipH="1">
              <a:off x="5198" y="998"/>
              <a:ext cx="6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" name="Rectangle 334"/>
            <p:cNvSpPr>
              <a:spLocks noChangeArrowheads="1"/>
            </p:cNvSpPr>
            <p:nvPr/>
          </p:nvSpPr>
          <p:spPr bwMode="auto">
            <a:xfrm>
              <a:off x="4959" y="896"/>
              <a:ext cx="40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 i="1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  <a:endParaRPr lang="en-US" altLang="zh-CN"/>
            </a:p>
          </p:txBody>
        </p:sp>
        <p:sp>
          <p:nvSpPr>
            <p:cNvPr id="338" name="Rectangle 335"/>
            <p:cNvSpPr>
              <a:spLocks noChangeArrowheads="1"/>
            </p:cNvSpPr>
            <p:nvPr/>
          </p:nvSpPr>
          <p:spPr bwMode="auto">
            <a:xfrm>
              <a:off x="5237" y="876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宋体" pitchFamily="2" charset="-122"/>
                </a:rPr>
                <a:t>I</a:t>
              </a:r>
              <a:endParaRPr lang="en-US" altLang="zh-CN"/>
            </a:p>
          </p:txBody>
        </p:sp>
        <p:sp>
          <p:nvSpPr>
            <p:cNvPr id="339" name="Rectangle 336"/>
            <p:cNvSpPr>
              <a:spLocks noChangeArrowheads="1"/>
            </p:cNvSpPr>
            <p:nvPr/>
          </p:nvSpPr>
          <p:spPr bwMode="auto">
            <a:xfrm>
              <a:off x="5278" y="915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宋体" pitchFamily="2" charset="-122"/>
                </a:rPr>
                <a:t>o</a:t>
              </a:r>
              <a:endParaRPr lang="en-US" altLang="zh-CN"/>
            </a:p>
          </p:txBody>
        </p:sp>
        <p:sp>
          <p:nvSpPr>
            <p:cNvPr id="340" name="Freeform 337"/>
            <p:cNvSpPr>
              <a:spLocks/>
            </p:cNvSpPr>
            <p:nvPr/>
          </p:nvSpPr>
          <p:spPr bwMode="auto">
            <a:xfrm>
              <a:off x="3723" y="1854"/>
              <a:ext cx="84" cy="93"/>
            </a:xfrm>
            <a:custGeom>
              <a:avLst/>
              <a:gdLst>
                <a:gd name="T0" fmla="*/ 0 w 168"/>
                <a:gd name="T1" fmla="*/ 93 h 93"/>
                <a:gd name="T2" fmla="*/ 2 w 168"/>
                <a:gd name="T3" fmla="*/ 0 h 93"/>
                <a:gd name="T4" fmla="*/ 3 w 168"/>
                <a:gd name="T5" fmla="*/ 93 h 93"/>
                <a:gd name="T6" fmla="*/ 0 w 168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3"/>
                <a:gd name="T14" fmla="*/ 168 w 16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3">
                  <a:moveTo>
                    <a:pt x="0" y="93"/>
                  </a:moveTo>
                  <a:lnTo>
                    <a:pt x="83" y="0"/>
                  </a:lnTo>
                  <a:lnTo>
                    <a:pt x="168" y="93"/>
                  </a:lnTo>
                  <a:lnTo>
                    <a:pt x="0" y="9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" name="Line 338"/>
            <p:cNvSpPr>
              <a:spLocks noChangeShapeType="1"/>
            </p:cNvSpPr>
            <p:nvPr/>
          </p:nvSpPr>
          <p:spPr bwMode="auto">
            <a:xfrm flipH="1">
              <a:off x="3723" y="1854"/>
              <a:ext cx="8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" name="Freeform 339"/>
            <p:cNvSpPr>
              <a:spLocks/>
            </p:cNvSpPr>
            <p:nvPr/>
          </p:nvSpPr>
          <p:spPr bwMode="auto">
            <a:xfrm>
              <a:off x="3723" y="1854"/>
              <a:ext cx="84" cy="93"/>
            </a:xfrm>
            <a:custGeom>
              <a:avLst/>
              <a:gdLst>
                <a:gd name="T0" fmla="*/ 0 w 168"/>
                <a:gd name="T1" fmla="*/ 93 h 93"/>
                <a:gd name="T2" fmla="*/ 2 w 168"/>
                <a:gd name="T3" fmla="*/ 0 h 93"/>
                <a:gd name="T4" fmla="*/ 3 w 168"/>
                <a:gd name="T5" fmla="*/ 93 h 93"/>
                <a:gd name="T6" fmla="*/ 0 w 168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3"/>
                <a:gd name="T14" fmla="*/ 168 w 16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3">
                  <a:moveTo>
                    <a:pt x="0" y="93"/>
                  </a:moveTo>
                  <a:lnTo>
                    <a:pt x="83" y="0"/>
                  </a:lnTo>
                  <a:lnTo>
                    <a:pt x="168" y="93"/>
                  </a:lnTo>
                  <a:lnTo>
                    <a:pt x="0" y="9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" name="Line 340"/>
            <p:cNvSpPr>
              <a:spLocks noChangeShapeType="1"/>
            </p:cNvSpPr>
            <p:nvPr/>
          </p:nvSpPr>
          <p:spPr bwMode="auto">
            <a:xfrm flipV="1">
              <a:off x="3764" y="1715"/>
              <a:ext cx="1" cy="37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4" name="Freeform 341"/>
            <p:cNvSpPr>
              <a:spLocks/>
            </p:cNvSpPr>
            <p:nvPr/>
          </p:nvSpPr>
          <p:spPr bwMode="auto">
            <a:xfrm>
              <a:off x="3723" y="1854"/>
              <a:ext cx="84" cy="93"/>
            </a:xfrm>
            <a:custGeom>
              <a:avLst/>
              <a:gdLst>
                <a:gd name="T0" fmla="*/ 2 w 168"/>
                <a:gd name="T1" fmla="*/ 0 h 93"/>
                <a:gd name="T2" fmla="*/ 0 w 168"/>
                <a:gd name="T3" fmla="*/ 93 h 93"/>
                <a:gd name="T4" fmla="*/ 3 w 168"/>
                <a:gd name="T5" fmla="*/ 93 h 93"/>
                <a:gd name="T6" fmla="*/ 2 w 16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3"/>
                <a:gd name="T14" fmla="*/ 168 w 16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3">
                  <a:moveTo>
                    <a:pt x="83" y="0"/>
                  </a:moveTo>
                  <a:lnTo>
                    <a:pt x="0" y="93"/>
                  </a:lnTo>
                  <a:lnTo>
                    <a:pt x="168" y="93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" name="Freeform 342"/>
            <p:cNvSpPr>
              <a:spLocks/>
            </p:cNvSpPr>
            <p:nvPr/>
          </p:nvSpPr>
          <p:spPr bwMode="auto">
            <a:xfrm>
              <a:off x="3723" y="1854"/>
              <a:ext cx="84" cy="93"/>
            </a:xfrm>
            <a:custGeom>
              <a:avLst/>
              <a:gdLst>
                <a:gd name="T0" fmla="*/ 2 w 168"/>
                <a:gd name="T1" fmla="*/ 0 h 93"/>
                <a:gd name="T2" fmla="*/ 0 w 168"/>
                <a:gd name="T3" fmla="*/ 93 h 93"/>
                <a:gd name="T4" fmla="*/ 3 w 168"/>
                <a:gd name="T5" fmla="*/ 93 h 93"/>
                <a:gd name="T6" fmla="*/ 2 w 16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3"/>
                <a:gd name="T14" fmla="*/ 168 w 16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3">
                  <a:moveTo>
                    <a:pt x="83" y="0"/>
                  </a:moveTo>
                  <a:lnTo>
                    <a:pt x="0" y="93"/>
                  </a:lnTo>
                  <a:lnTo>
                    <a:pt x="168" y="93"/>
                  </a:lnTo>
                  <a:lnTo>
                    <a:pt x="83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6" name="Line 343"/>
            <p:cNvSpPr>
              <a:spLocks noChangeShapeType="1"/>
            </p:cNvSpPr>
            <p:nvPr/>
          </p:nvSpPr>
          <p:spPr bwMode="auto">
            <a:xfrm flipV="1">
              <a:off x="3764" y="1854"/>
              <a:ext cx="1" cy="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7" name="Line 344"/>
            <p:cNvSpPr>
              <a:spLocks noChangeShapeType="1"/>
            </p:cNvSpPr>
            <p:nvPr/>
          </p:nvSpPr>
          <p:spPr bwMode="auto">
            <a:xfrm flipH="1">
              <a:off x="3723" y="1854"/>
              <a:ext cx="8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" name="Freeform 345"/>
            <p:cNvSpPr>
              <a:spLocks/>
            </p:cNvSpPr>
            <p:nvPr/>
          </p:nvSpPr>
          <p:spPr bwMode="auto">
            <a:xfrm>
              <a:off x="4112" y="1855"/>
              <a:ext cx="85" cy="92"/>
            </a:xfrm>
            <a:custGeom>
              <a:avLst/>
              <a:gdLst>
                <a:gd name="T0" fmla="*/ 0 w 170"/>
                <a:gd name="T1" fmla="*/ 92 h 92"/>
                <a:gd name="T2" fmla="*/ 2 w 170"/>
                <a:gd name="T3" fmla="*/ 0 h 92"/>
                <a:gd name="T4" fmla="*/ 3 w 170"/>
                <a:gd name="T5" fmla="*/ 92 h 92"/>
                <a:gd name="T6" fmla="*/ 0 w 170"/>
                <a:gd name="T7" fmla="*/ 92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92"/>
                <a:gd name="T14" fmla="*/ 170 w 170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92">
                  <a:moveTo>
                    <a:pt x="0" y="92"/>
                  </a:moveTo>
                  <a:lnTo>
                    <a:pt x="85" y="0"/>
                  </a:lnTo>
                  <a:lnTo>
                    <a:pt x="170" y="92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" name="Line 346"/>
            <p:cNvSpPr>
              <a:spLocks noChangeShapeType="1"/>
            </p:cNvSpPr>
            <p:nvPr/>
          </p:nvSpPr>
          <p:spPr bwMode="auto">
            <a:xfrm flipH="1">
              <a:off x="4112" y="1855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" name="Freeform 347"/>
            <p:cNvSpPr>
              <a:spLocks/>
            </p:cNvSpPr>
            <p:nvPr/>
          </p:nvSpPr>
          <p:spPr bwMode="auto">
            <a:xfrm>
              <a:off x="4112" y="1855"/>
              <a:ext cx="85" cy="92"/>
            </a:xfrm>
            <a:custGeom>
              <a:avLst/>
              <a:gdLst>
                <a:gd name="T0" fmla="*/ 0 w 170"/>
                <a:gd name="T1" fmla="*/ 92 h 92"/>
                <a:gd name="T2" fmla="*/ 2 w 170"/>
                <a:gd name="T3" fmla="*/ 0 h 92"/>
                <a:gd name="T4" fmla="*/ 3 w 170"/>
                <a:gd name="T5" fmla="*/ 92 h 92"/>
                <a:gd name="T6" fmla="*/ 0 w 170"/>
                <a:gd name="T7" fmla="*/ 92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92"/>
                <a:gd name="T14" fmla="*/ 170 w 170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92">
                  <a:moveTo>
                    <a:pt x="0" y="92"/>
                  </a:moveTo>
                  <a:lnTo>
                    <a:pt x="85" y="0"/>
                  </a:lnTo>
                  <a:lnTo>
                    <a:pt x="170" y="92"/>
                  </a:lnTo>
                  <a:lnTo>
                    <a:pt x="0" y="9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" name="Freeform 348"/>
            <p:cNvSpPr>
              <a:spLocks/>
            </p:cNvSpPr>
            <p:nvPr/>
          </p:nvSpPr>
          <p:spPr bwMode="auto">
            <a:xfrm>
              <a:off x="4112" y="1855"/>
              <a:ext cx="85" cy="92"/>
            </a:xfrm>
            <a:custGeom>
              <a:avLst/>
              <a:gdLst>
                <a:gd name="T0" fmla="*/ 2 w 170"/>
                <a:gd name="T1" fmla="*/ 0 h 92"/>
                <a:gd name="T2" fmla="*/ 0 w 170"/>
                <a:gd name="T3" fmla="*/ 92 h 92"/>
                <a:gd name="T4" fmla="*/ 3 w 170"/>
                <a:gd name="T5" fmla="*/ 92 h 92"/>
                <a:gd name="T6" fmla="*/ 2 w 170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92"/>
                <a:gd name="T14" fmla="*/ 170 w 170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92">
                  <a:moveTo>
                    <a:pt x="85" y="0"/>
                  </a:moveTo>
                  <a:lnTo>
                    <a:pt x="0" y="92"/>
                  </a:lnTo>
                  <a:lnTo>
                    <a:pt x="170" y="92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" name="Freeform 349"/>
            <p:cNvSpPr>
              <a:spLocks/>
            </p:cNvSpPr>
            <p:nvPr/>
          </p:nvSpPr>
          <p:spPr bwMode="auto">
            <a:xfrm>
              <a:off x="4112" y="1855"/>
              <a:ext cx="85" cy="92"/>
            </a:xfrm>
            <a:custGeom>
              <a:avLst/>
              <a:gdLst>
                <a:gd name="T0" fmla="*/ 2 w 170"/>
                <a:gd name="T1" fmla="*/ 0 h 92"/>
                <a:gd name="T2" fmla="*/ 0 w 170"/>
                <a:gd name="T3" fmla="*/ 92 h 92"/>
                <a:gd name="T4" fmla="*/ 3 w 170"/>
                <a:gd name="T5" fmla="*/ 92 h 92"/>
                <a:gd name="T6" fmla="*/ 2 w 170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92"/>
                <a:gd name="T14" fmla="*/ 170 w 170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92">
                  <a:moveTo>
                    <a:pt x="85" y="0"/>
                  </a:moveTo>
                  <a:lnTo>
                    <a:pt x="0" y="92"/>
                  </a:lnTo>
                  <a:lnTo>
                    <a:pt x="170" y="92"/>
                  </a:lnTo>
                  <a:lnTo>
                    <a:pt x="85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" name="Line 350"/>
            <p:cNvSpPr>
              <a:spLocks noChangeShapeType="1"/>
            </p:cNvSpPr>
            <p:nvPr/>
          </p:nvSpPr>
          <p:spPr bwMode="auto">
            <a:xfrm flipV="1">
              <a:off x="4154" y="1855"/>
              <a:ext cx="1" cy="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4" name="Line 351"/>
            <p:cNvSpPr>
              <a:spLocks noChangeShapeType="1"/>
            </p:cNvSpPr>
            <p:nvPr/>
          </p:nvSpPr>
          <p:spPr bwMode="auto">
            <a:xfrm flipH="1">
              <a:off x="4112" y="1855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5" name="Freeform 352"/>
            <p:cNvSpPr>
              <a:spLocks/>
            </p:cNvSpPr>
            <p:nvPr/>
          </p:nvSpPr>
          <p:spPr bwMode="auto">
            <a:xfrm>
              <a:off x="4497" y="1669"/>
              <a:ext cx="85" cy="93"/>
            </a:xfrm>
            <a:custGeom>
              <a:avLst/>
              <a:gdLst>
                <a:gd name="T0" fmla="*/ 0 w 169"/>
                <a:gd name="T1" fmla="*/ 0 h 93"/>
                <a:gd name="T2" fmla="*/ 3 w 169"/>
                <a:gd name="T3" fmla="*/ 46 h 93"/>
                <a:gd name="T4" fmla="*/ 0 w 169"/>
                <a:gd name="T5" fmla="*/ 93 h 93"/>
                <a:gd name="T6" fmla="*/ 0 w 169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93"/>
                <a:gd name="T14" fmla="*/ 169 w 16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93">
                  <a:moveTo>
                    <a:pt x="0" y="0"/>
                  </a:moveTo>
                  <a:lnTo>
                    <a:pt x="169" y="46"/>
                  </a:lnTo>
                  <a:lnTo>
                    <a:pt x="0" y="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6" name="Line 353"/>
            <p:cNvSpPr>
              <a:spLocks noChangeShapeType="1"/>
            </p:cNvSpPr>
            <p:nvPr/>
          </p:nvSpPr>
          <p:spPr bwMode="auto">
            <a:xfrm flipV="1">
              <a:off x="4582" y="1669"/>
              <a:ext cx="1" cy="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7" name="Freeform 354"/>
            <p:cNvSpPr>
              <a:spLocks/>
            </p:cNvSpPr>
            <p:nvPr/>
          </p:nvSpPr>
          <p:spPr bwMode="auto">
            <a:xfrm>
              <a:off x="4497" y="1669"/>
              <a:ext cx="85" cy="93"/>
            </a:xfrm>
            <a:custGeom>
              <a:avLst/>
              <a:gdLst>
                <a:gd name="T0" fmla="*/ 0 w 169"/>
                <a:gd name="T1" fmla="*/ 0 h 93"/>
                <a:gd name="T2" fmla="*/ 3 w 169"/>
                <a:gd name="T3" fmla="*/ 46 h 93"/>
                <a:gd name="T4" fmla="*/ 0 w 169"/>
                <a:gd name="T5" fmla="*/ 93 h 93"/>
                <a:gd name="T6" fmla="*/ 0 w 169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93"/>
                <a:gd name="T14" fmla="*/ 169 w 16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93">
                  <a:moveTo>
                    <a:pt x="0" y="0"/>
                  </a:moveTo>
                  <a:lnTo>
                    <a:pt x="169" y="46"/>
                  </a:lnTo>
                  <a:lnTo>
                    <a:pt x="0" y="93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" name="Line 355"/>
            <p:cNvSpPr>
              <a:spLocks noChangeShapeType="1"/>
            </p:cNvSpPr>
            <p:nvPr/>
          </p:nvSpPr>
          <p:spPr bwMode="auto">
            <a:xfrm>
              <a:off x="4371" y="1715"/>
              <a:ext cx="33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" name="Freeform 356"/>
            <p:cNvSpPr>
              <a:spLocks/>
            </p:cNvSpPr>
            <p:nvPr/>
          </p:nvSpPr>
          <p:spPr bwMode="auto">
            <a:xfrm>
              <a:off x="4497" y="1669"/>
              <a:ext cx="85" cy="93"/>
            </a:xfrm>
            <a:custGeom>
              <a:avLst/>
              <a:gdLst>
                <a:gd name="T0" fmla="*/ 3 w 169"/>
                <a:gd name="T1" fmla="*/ 46 h 93"/>
                <a:gd name="T2" fmla="*/ 0 w 169"/>
                <a:gd name="T3" fmla="*/ 0 h 93"/>
                <a:gd name="T4" fmla="*/ 0 w 169"/>
                <a:gd name="T5" fmla="*/ 93 h 93"/>
                <a:gd name="T6" fmla="*/ 3 w 169"/>
                <a:gd name="T7" fmla="*/ 46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93"/>
                <a:gd name="T14" fmla="*/ 169 w 16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93">
                  <a:moveTo>
                    <a:pt x="169" y="46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169" y="46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0" name="Freeform 357"/>
            <p:cNvSpPr>
              <a:spLocks/>
            </p:cNvSpPr>
            <p:nvPr/>
          </p:nvSpPr>
          <p:spPr bwMode="auto">
            <a:xfrm>
              <a:off x="4497" y="1669"/>
              <a:ext cx="85" cy="93"/>
            </a:xfrm>
            <a:custGeom>
              <a:avLst/>
              <a:gdLst>
                <a:gd name="T0" fmla="*/ 3 w 169"/>
                <a:gd name="T1" fmla="*/ 46 h 93"/>
                <a:gd name="T2" fmla="*/ 0 w 169"/>
                <a:gd name="T3" fmla="*/ 0 h 93"/>
                <a:gd name="T4" fmla="*/ 0 w 169"/>
                <a:gd name="T5" fmla="*/ 93 h 93"/>
                <a:gd name="T6" fmla="*/ 3 w 169"/>
                <a:gd name="T7" fmla="*/ 46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93"/>
                <a:gd name="T14" fmla="*/ 169 w 16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93">
                  <a:moveTo>
                    <a:pt x="169" y="46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169" y="46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" name="Line 358"/>
            <p:cNvSpPr>
              <a:spLocks noChangeShapeType="1"/>
            </p:cNvSpPr>
            <p:nvPr/>
          </p:nvSpPr>
          <p:spPr bwMode="auto">
            <a:xfrm>
              <a:off x="4497" y="1715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2" name="Line 359"/>
            <p:cNvSpPr>
              <a:spLocks noChangeShapeType="1"/>
            </p:cNvSpPr>
            <p:nvPr/>
          </p:nvSpPr>
          <p:spPr bwMode="auto">
            <a:xfrm flipV="1">
              <a:off x="4582" y="1669"/>
              <a:ext cx="1" cy="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3" name="Freeform 360"/>
            <p:cNvSpPr>
              <a:spLocks/>
            </p:cNvSpPr>
            <p:nvPr/>
          </p:nvSpPr>
          <p:spPr bwMode="auto">
            <a:xfrm>
              <a:off x="4493" y="1012"/>
              <a:ext cx="84" cy="92"/>
            </a:xfrm>
            <a:custGeom>
              <a:avLst/>
              <a:gdLst>
                <a:gd name="T0" fmla="*/ 0 w 168"/>
                <a:gd name="T1" fmla="*/ 0 h 92"/>
                <a:gd name="T2" fmla="*/ 3 w 168"/>
                <a:gd name="T3" fmla="*/ 46 h 92"/>
                <a:gd name="T4" fmla="*/ 0 w 168"/>
                <a:gd name="T5" fmla="*/ 92 h 92"/>
                <a:gd name="T6" fmla="*/ 0 w 16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2"/>
                <a:gd name="T14" fmla="*/ 168 w 16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2">
                  <a:moveTo>
                    <a:pt x="0" y="0"/>
                  </a:moveTo>
                  <a:lnTo>
                    <a:pt x="168" y="46"/>
                  </a:lnTo>
                  <a:lnTo>
                    <a:pt x="0" y="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" name="Line 361"/>
            <p:cNvSpPr>
              <a:spLocks noChangeShapeType="1"/>
            </p:cNvSpPr>
            <p:nvPr/>
          </p:nvSpPr>
          <p:spPr bwMode="auto">
            <a:xfrm flipV="1">
              <a:off x="4577" y="1012"/>
              <a:ext cx="1" cy="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5" name="Freeform 362"/>
            <p:cNvSpPr>
              <a:spLocks/>
            </p:cNvSpPr>
            <p:nvPr/>
          </p:nvSpPr>
          <p:spPr bwMode="auto">
            <a:xfrm>
              <a:off x="4493" y="1012"/>
              <a:ext cx="84" cy="92"/>
            </a:xfrm>
            <a:custGeom>
              <a:avLst/>
              <a:gdLst>
                <a:gd name="T0" fmla="*/ 0 w 168"/>
                <a:gd name="T1" fmla="*/ 0 h 92"/>
                <a:gd name="T2" fmla="*/ 3 w 168"/>
                <a:gd name="T3" fmla="*/ 46 h 92"/>
                <a:gd name="T4" fmla="*/ 0 w 168"/>
                <a:gd name="T5" fmla="*/ 92 h 92"/>
                <a:gd name="T6" fmla="*/ 0 w 16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2"/>
                <a:gd name="T14" fmla="*/ 168 w 16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2">
                  <a:moveTo>
                    <a:pt x="0" y="0"/>
                  </a:moveTo>
                  <a:lnTo>
                    <a:pt x="168" y="46"/>
                  </a:lnTo>
                  <a:lnTo>
                    <a:pt x="0" y="9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" name="Line 363"/>
            <p:cNvSpPr>
              <a:spLocks noChangeShapeType="1"/>
            </p:cNvSpPr>
            <p:nvPr/>
          </p:nvSpPr>
          <p:spPr bwMode="auto">
            <a:xfrm>
              <a:off x="4365" y="1058"/>
              <a:ext cx="33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7" name="Freeform 364"/>
            <p:cNvSpPr>
              <a:spLocks/>
            </p:cNvSpPr>
            <p:nvPr/>
          </p:nvSpPr>
          <p:spPr bwMode="auto">
            <a:xfrm>
              <a:off x="4493" y="1012"/>
              <a:ext cx="84" cy="92"/>
            </a:xfrm>
            <a:custGeom>
              <a:avLst/>
              <a:gdLst>
                <a:gd name="T0" fmla="*/ 3 w 168"/>
                <a:gd name="T1" fmla="*/ 46 h 92"/>
                <a:gd name="T2" fmla="*/ 0 w 168"/>
                <a:gd name="T3" fmla="*/ 0 h 92"/>
                <a:gd name="T4" fmla="*/ 0 w 168"/>
                <a:gd name="T5" fmla="*/ 92 h 92"/>
                <a:gd name="T6" fmla="*/ 3 w 168"/>
                <a:gd name="T7" fmla="*/ 46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2"/>
                <a:gd name="T14" fmla="*/ 168 w 16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2">
                  <a:moveTo>
                    <a:pt x="168" y="46"/>
                  </a:moveTo>
                  <a:lnTo>
                    <a:pt x="0" y="0"/>
                  </a:lnTo>
                  <a:lnTo>
                    <a:pt x="0" y="92"/>
                  </a:lnTo>
                  <a:lnTo>
                    <a:pt x="168" y="46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" name="Freeform 365"/>
            <p:cNvSpPr>
              <a:spLocks/>
            </p:cNvSpPr>
            <p:nvPr/>
          </p:nvSpPr>
          <p:spPr bwMode="auto">
            <a:xfrm>
              <a:off x="4493" y="1012"/>
              <a:ext cx="84" cy="92"/>
            </a:xfrm>
            <a:custGeom>
              <a:avLst/>
              <a:gdLst>
                <a:gd name="T0" fmla="*/ 3 w 168"/>
                <a:gd name="T1" fmla="*/ 46 h 92"/>
                <a:gd name="T2" fmla="*/ 0 w 168"/>
                <a:gd name="T3" fmla="*/ 0 h 92"/>
                <a:gd name="T4" fmla="*/ 0 w 168"/>
                <a:gd name="T5" fmla="*/ 92 h 92"/>
                <a:gd name="T6" fmla="*/ 3 w 168"/>
                <a:gd name="T7" fmla="*/ 46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2"/>
                <a:gd name="T14" fmla="*/ 168 w 16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2">
                  <a:moveTo>
                    <a:pt x="168" y="46"/>
                  </a:moveTo>
                  <a:lnTo>
                    <a:pt x="0" y="0"/>
                  </a:lnTo>
                  <a:lnTo>
                    <a:pt x="0" y="92"/>
                  </a:lnTo>
                  <a:lnTo>
                    <a:pt x="168" y="46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" name="Line 366"/>
            <p:cNvSpPr>
              <a:spLocks noChangeShapeType="1"/>
            </p:cNvSpPr>
            <p:nvPr/>
          </p:nvSpPr>
          <p:spPr bwMode="auto">
            <a:xfrm>
              <a:off x="4493" y="1058"/>
              <a:ext cx="8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0" name="Line 367"/>
            <p:cNvSpPr>
              <a:spLocks noChangeShapeType="1"/>
            </p:cNvSpPr>
            <p:nvPr/>
          </p:nvSpPr>
          <p:spPr bwMode="auto">
            <a:xfrm flipV="1">
              <a:off x="4577" y="1012"/>
              <a:ext cx="1" cy="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1" name="Rectangle 368"/>
            <p:cNvSpPr>
              <a:spLocks noChangeArrowheads="1"/>
            </p:cNvSpPr>
            <p:nvPr/>
          </p:nvSpPr>
          <p:spPr bwMode="auto">
            <a:xfrm>
              <a:off x="4738" y="1101"/>
              <a:ext cx="48" cy="11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宋体" pitchFamily="2" charset="-122"/>
                </a:rPr>
                <a:t>+</a:t>
              </a:r>
              <a:endParaRPr lang="en-US" altLang="zh-CN"/>
            </a:p>
          </p:txBody>
        </p:sp>
        <p:sp>
          <p:nvSpPr>
            <p:cNvPr id="372" name="Rectangle 369"/>
            <p:cNvSpPr>
              <a:spLocks noChangeArrowheads="1"/>
            </p:cNvSpPr>
            <p:nvPr/>
          </p:nvSpPr>
          <p:spPr bwMode="auto">
            <a:xfrm>
              <a:off x="4738" y="1277"/>
              <a:ext cx="48" cy="11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宋体" pitchFamily="2" charset="-122"/>
                </a:rPr>
                <a:t>-</a:t>
              </a:r>
              <a:endParaRPr lang="en-US" altLang="zh-CN"/>
            </a:p>
          </p:txBody>
        </p:sp>
        <p:sp>
          <p:nvSpPr>
            <p:cNvPr id="373" name="Rectangle 370"/>
            <p:cNvSpPr>
              <a:spLocks noChangeArrowheads="1"/>
            </p:cNvSpPr>
            <p:nvPr/>
          </p:nvSpPr>
          <p:spPr bwMode="auto">
            <a:xfrm>
              <a:off x="4777" y="1227"/>
              <a:ext cx="5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oi</a:t>
              </a:r>
              <a:endParaRPr lang="en-US" altLang="zh-CN"/>
            </a:p>
          </p:txBody>
        </p:sp>
        <p:sp>
          <p:nvSpPr>
            <p:cNvPr id="374" name="Rectangle 371"/>
            <p:cNvSpPr>
              <a:spLocks noChangeArrowheads="1"/>
            </p:cNvSpPr>
            <p:nvPr/>
          </p:nvSpPr>
          <p:spPr bwMode="auto">
            <a:xfrm>
              <a:off x="4735" y="1180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u</a:t>
              </a:r>
              <a:endParaRPr lang="en-US" altLang="zh-CN"/>
            </a:p>
          </p:txBody>
        </p:sp>
        <p:sp>
          <p:nvSpPr>
            <p:cNvPr id="375" name="Line 372"/>
            <p:cNvSpPr>
              <a:spLocks noChangeShapeType="1"/>
            </p:cNvSpPr>
            <p:nvPr/>
          </p:nvSpPr>
          <p:spPr bwMode="auto">
            <a:xfrm flipH="1">
              <a:off x="4060" y="1376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6" name="Line 373"/>
            <p:cNvSpPr>
              <a:spLocks noChangeShapeType="1"/>
            </p:cNvSpPr>
            <p:nvPr/>
          </p:nvSpPr>
          <p:spPr bwMode="auto">
            <a:xfrm flipV="1">
              <a:off x="4060" y="1058"/>
              <a:ext cx="0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7" name="Line 374"/>
            <p:cNvSpPr>
              <a:spLocks noChangeShapeType="1"/>
            </p:cNvSpPr>
            <p:nvPr/>
          </p:nvSpPr>
          <p:spPr bwMode="auto">
            <a:xfrm flipH="1">
              <a:off x="3379" y="1058"/>
              <a:ext cx="6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" name="Line 375"/>
            <p:cNvSpPr>
              <a:spLocks noChangeShapeType="1"/>
            </p:cNvSpPr>
            <p:nvPr/>
          </p:nvSpPr>
          <p:spPr bwMode="auto">
            <a:xfrm flipV="1">
              <a:off x="3424" y="1058"/>
              <a:ext cx="0" cy="4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" name="Line 376"/>
            <p:cNvSpPr>
              <a:spLocks noChangeShapeType="1"/>
            </p:cNvSpPr>
            <p:nvPr/>
          </p:nvSpPr>
          <p:spPr bwMode="auto">
            <a:xfrm flipV="1">
              <a:off x="3424" y="1512"/>
              <a:ext cx="0" cy="5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" name="Rectangle 377"/>
            <p:cNvSpPr>
              <a:spLocks noChangeArrowheads="1"/>
            </p:cNvSpPr>
            <p:nvPr/>
          </p:nvSpPr>
          <p:spPr bwMode="auto">
            <a:xfrm>
              <a:off x="3801" y="1716"/>
              <a:ext cx="148" cy="21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81" name="Line 378"/>
            <p:cNvSpPr>
              <a:spLocks noChangeShapeType="1"/>
            </p:cNvSpPr>
            <p:nvPr/>
          </p:nvSpPr>
          <p:spPr bwMode="auto">
            <a:xfrm>
              <a:off x="3334" y="2102"/>
              <a:ext cx="8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2" name="Line 379"/>
            <p:cNvSpPr>
              <a:spLocks noChangeShapeType="1"/>
            </p:cNvSpPr>
            <p:nvPr/>
          </p:nvSpPr>
          <p:spPr bwMode="auto">
            <a:xfrm flipV="1">
              <a:off x="3606" y="1965"/>
              <a:ext cx="0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3" name="Line 380"/>
            <p:cNvSpPr>
              <a:spLocks noChangeShapeType="1"/>
            </p:cNvSpPr>
            <p:nvPr/>
          </p:nvSpPr>
          <p:spPr bwMode="auto">
            <a:xfrm flipV="1">
              <a:off x="3969" y="1965"/>
              <a:ext cx="0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4" name="Line 381"/>
            <p:cNvSpPr>
              <a:spLocks noChangeShapeType="1"/>
            </p:cNvSpPr>
            <p:nvPr/>
          </p:nvSpPr>
          <p:spPr bwMode="auto">
            <a:xfrm>
              <a:off x="4150" y="1693"/>
              <a:ext cx="0" cy="4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" name="Rectangle 384"/>
            <p:cNvSpPr>
              <a:spLocks noChangeArrowheads="1"/>
            </p:cNvSpPr>
            <p:nvPr/>
          </p:nvSpPr>
          <p:spPr bwMode="auto">
            <a:xfrm>
              <a:off x="4105" y="1434"/>
              <a:ext cx="111" cy="13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86" name="Rectangle 385"/>
            <p:cNvSpPr>
              <a:spLocks noChangeArrowheads="1"/>
            </p:cNvSpPr>
            <p:nvPr/>
          </p:nvSpPr>
          <p:spPr bwMode="auto">
            <a:xfrm>
              <a:off x="4377" y="1480"/>
              <a:ext cx="111" cy="13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330" name="Object 2"/>
          <p:cNvGraphicFramePr>
            <a:graphicFrameLocks noChangeAspect="1"/>
          </p:cNvGraphicFramePr>
          <p:nvPr/>
        </p:nvGraphicFramePr>
        <p:xfrm>
          <a:off x="319931" y="1928813"/>
          <a:ext cx="2955925" cy="312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88" name="公式" r:id="rId3" imgW="1320800" imgH="1397000" progId="">
                  <p:embed/>
                </p:oleObj>
              </mc:Choice>
              <mc:Fallback>
                <p:oleObj name="公式" r:id="rId3" imgW="1320800" imgH="13970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931" y="1928813"/>
                        <a:ext cx="2955925" cy="3127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86"/>
          <p:cNvGrpSpPr>
            <a:grpSpLocks/>
          </p:cNvGrpSpPr>
          <p:nvPr/>
        </p:nvGrpSpPr>
        <p:grpSpPr bwMode="auto">
          <a:xfrm>
            <a:off x="4418013" y="1000125"/>
            <a:ext cx="4583112" cy="5857875"/>
            <a:chOff x="3243" y="845"/>
            <a:chExt cx="2344" cy="3317"/>
          </a:xfrm>
        </p:grpSpPr>
        <p:sp>
          <p:nvSpPr>
            <p:cNvPr id="195" name="Freeform 194"/>
            <p:cNvSpPr>
              <a:spLocks/>
            </p:cNvSpPr>
            <p:nvPr/>
          </p:nvSpPr>
          <p:spPr bwMode="auto">
            <a:xfrm>
              <a:off x="3374" y="2319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Freeform 195"/>
            <p:cNvSpPr>
              <a:spLocks/>
            </p:cNvSpPr>
            <p:nvPr/>
          </p:nvSpPr>
          <p:spPr bwMode="auto">
            <a:xfrm>
              <a:off x="3374" y="2319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Line 196"/>
            <p:cNvSpPr>
              <a:spLocks noChangeShapeType="1"/>
            </p:cNvSpPr>
            <p:nvPr/>
          </p:nvSpPr>
          <p:spPr bwMode="auto">
            <a:xfrm>
              <a:off x="3382" y="2378"/>
              <a:ext cx="1" cy="7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Freeform 197"/>
            <p:cNvSpPr>
              <a:spLocks/>
            </p:cNvSpPr>
            <p:nvPr/>
          </p:nvSpPr>
          <p:spPr bwMode="auto">
            <a:xfrm>
              <a:off x="5461" y="2901"/>
              <a:ext cx="54" cy="17"/>
            </a:xfrm>
            <a:custGeom>
              <a:avLst/>
              <a:gdLst>
                <a:gd name="T0" fmla="*/ 2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Freeform 198"/>
            <p:cNvSpPr>
              <a:spLocks/>
            </p:cNvSpPr>
            <p:nvPr/>
          </p:nvSpPr>
          <p:spPr bwMode="auto">
            <a:xfrm>
              <a:off x="5461" y="2901"/>
              <a:ext cx="54" cy="17"/>
            </a:xfrm>
            <a:custGeom>
              <a:avLst/>
              <a:gdLst>
                <a:gd name="T0" fmla="*/ 2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Line 199"/>
            <p:cNvSpPr>
              <a:spLocks noChangeShapeType="1"/>
            </p:cNvSpPr>
            <p:nvPr/>
          </p:nvSpPr>
          <p:spPr bwMode="auto">
            <a:xfrm flipH="1">
              <a:off x="3382" y="2910"/>
              <a:ext cx="207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Line 200"/>
            <p:cNvSpPr>
              <a:spLocks noChangeShapeType="1"/>
            </p:cNvSpPr>
            <p:nvPr/>
          </p:nvSpPr>
          <p:spPr bwMode="auto">
            <a:xfrm>
              <a:off x="3382" y="2430"/>
              <a:ext cx="32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Freeform 201"/>
            <p:cNvSpPr>
              <a:spLocks/>
            </p:cNvSpPr>
            <p:nvPr/>
          </p:nvSpPr>
          <p:spPr bwMode="auto">
            <a:xfrm>
              <a:off x="5458" y="3952"/>
              <a:ext cx="54" cy="17"/>
            </a:xfrm>
            <a:custGeom>
              <a:avLst/>
              <a:gdLst>
                <a:gd name="T0" fmla="*/ 2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Freeform 202"/>
            <p:cNvSpPr>
              <a:spLocks/>
            </p:cNvSpPr>
            <p:nvPr/>
          </p:nvSpPr>
          <p:spPr bwMode="auto">
            <a:xfrm>
              <a:off x="5458" y="3952"/>
              <a:ext cx="54" cy="17"/>
            </a:xfrm>
            <a:custGeom>
              <a:avLst/>
              <a:gdLst>
                <a:gd name="T0" fmla="*/ 2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Line 203"/>
            <p:cNvSpPr>
              <a:spLocks noChangeShapeType="1"/>
            </p:cNvSpPr>
            <p:nvPr/>
          </p:nvSpPr>
          <p:spPr bwMode="auto">
            <a:xfrm flipH="1">
              <a:off x="3379" y="3961"/>
              <a:ext cx="207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" name="Rectangle 204"/>
            <p:cNvSpPr>
              <a:spLocks noChangeArrowheads="1"/>
            </p:cNvSpPr>
            <p:nvPr/>
          </p:nvSpPr>
          <p:spPr bwMode="auto">
            <a:xfrm>
              <a:off x="3379" y="2192"/>
              <a:ext cx="152" cy="21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</a:rPr>
                <a:t>oi</a:t>
              </a:r>
            </a:p>
          </p:txBody>
        </p:sp>
        <p:sp>
          <p:nvSpPr>
            <p:cNvPr id="206" name="Rectangle 205"/>
            <p:cNvSpPr>
              <a:spLocks noChangeArrowheads="1"/>
            </p:cNvSpPr>
            <p:nvPr/>
          </p:nvSpPr>
          <p:spPr bwMode="auto">
            <a:xfrm>
              <a:off x="3313" y="2841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207" name="Rectangle 206"/>
            <p:cNvSpPr>
              <a:spLocks noChangeArrowheads="1"/>
            </p:cNvSpPr>
            <p:nvPr/>
          </p:nvSpPr>
          <p:spPr bwMode="auto">
            <a:xfrm>
              <a:off x="3312" y="3890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208" name="Rectangle 207"/>
            <p:cNvSpPr>
              <a:spLocks noChangeArrowheads="1"/>
            </p:cNvSpPr>
            <p:nvPr/>
          </p:nvSpPr>
          <p:spPr bwMode="auto">
            <a:xfrm>
              <a:off x="5547" y="2838"/>
              <a:ext cx="40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209" name="Rectangle 208"/>
            <p:cNvSpPr>
              <a:spLocks noChangeArrowheads="1"/>
            </p:cNvSpPr>
            <p:nvPr/>
          </p:nvSpPr>
          <p:spPr bwMode="auto">
            <a:xfrm>
              <a:off x="5544" y="3871"/>
              <a:ext cx="40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210" name="Line 209"/>
            <p:cNvSpPr>
              <a:spLocks noChangeShapeType="1"/>
            </p:cNvSpPr>
            <p:nvPr/>
          </p:nvSpPr>
          <p:spPr bwMode="auto">
            <a:xfrm>
              <a:off x="4235" y="2430"/>
              <a:ext cx="32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" name="Line 210"/>
            <p:cNvSpPr>
              <a:spLocks noChangeShapeType="1"/>
            </p:cNvSpPr>
            <p:nvPr/>
          </p:nvSpPr>
          <p:spPr bwMode="auto">
            <a:xfrm>
              <a:off x="4555" y="2909"/>
              <a:ext cx="53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Line 211"/>
            <p:cNvSpPr>
              <a:spLocks noChangeShapeType="1"/>
            </p:cNvSpPr>
            <p:nvPr/>
          </p:nvSpPr>
          <p:spPr bwMode="auto">
            <a:xfrm>
              <a:off x="4555" y="2430"/>
              <a:ext cx="1" cy="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3" name="Line 212"/>
            <p:cNvSpPr>
              <a:spLocks noChangeShapeType="1"/>
            </p:cNvSpPr>
            <p:nvPr/>
          </p:nvSpPr>
          <p:spPr bwMode="auto">
            <a:xfrm>
              <a:off x="5089" y="2430"/>
              <a:ext cx="31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Line 213"/>
            <p:cNvSpPr>
              <a:spLocks noChangeShapeType="1"/>
            </p:cNvSpPr>
            <p:nvPr/>
          </p:nvSpPr>
          <p:spPr bwMode="auto">
            <a:xfrm>
              <a:off x="5089" y="2430"/>
              <a:ext cx="1" cy="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Line 214"/>
            <p:cNvSpPr>
              <a:spLocks noChangeShapeType="1"/>
            </p:cNvSpPr>
            <p:nvPr/>
          </p:nvSpPr>
          <p:spPr bwMode="auto">
            <a:xfrm>
              <a:off x="3567" y="2720"/>
              <a:ext cx="5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Rectangle 215"/>
            <p:cNvSpPr>
              <a:spLocks noChangeArrowheads="1"/>
            </p:cNvSpPr>
            <p:nvPr/>
          </p:nvSpPr>
          <p:spPr bwMode="auto">
            <a:xfrm>
              <a:off x="3550" y="2607"/>
              <a:ext cx="6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217" name="Rectangle 216"/>
            <p:cNvSpPr>
              <a:spLocks noChangeArrowheads="1"/>
            </p:cNvSpPr>
            <p:nvPr/>
          </p:nvSpPr>
          <p:spPr bwMode="auto">
            <a:xfrm>
              <a:off x="3607" y="2650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 dirty="0"/>
            </a:p>
          </p:txBody>
        </p:sp>
        <p:sp>
          <p:nvSpPr>
            <p:cNvPr id="218" name="Rectangle 217"/>
            <p:cNvSpPr>
              <a:spLocks noChangeArrowheads="1"/>
            </p:cNvSpPr>
            <p:nvPr/>
          </p:nvSpPr>
          <p:spPr bwMode="auto">
            <a:xfrm>
              <a:off x="3540" y="2715"/>
              <a:ext cx="6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219" name="Rectangle 218"/>
            <p:cNvSpPr>
              <a:spLocks noChangeArrowheads="1"/>
            </p:cNvSpPr>
            <p:nvPr/>
          </p:nvSpPr>
          <p:spPr bwMode="auto">
            <a:xfrm>
              <a:off x="3604" y="2746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 i="1" dirty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 dirty="0"/>
            </a:p>
          </p:txBody>
        </p:sp>
        <p:sp>
          <p:nvSpPr>
            <p:cNvPr id="220" name="Rectangle 219"/>
            <p:cNvSpPr>
              <a:spLocks noChangeArrowheads="1"/>
            </p:cNvSpPr>
            <p:nvPr/>
          </p:nvSpPr>
          <p:spPr bwMode="auto">
            <a:xfrm>
              <a:off x="3659" y="2715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221" name="Rectangle 220"/>
            <p:cNvSpPr>
              <a:spLocks noChangeArrowheads="1"/>
            </p:cNvSpPr>
            <p:nvPr/>
          </p:nvSpPr>
          <p:spPr bwMode="auto">
            <a:xfrm>
              <a:off x="3621" y="2654"/>
              <a:ext cx="75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U</a:t>
              </a:r>
              <a:endParaRPr lang="en-US" altLang="zh-CN"/>
            </a:p>
          </p:txBody>
        </p:sp>
        <p:sp>
          <p:nvSpPr>
            <p:cNvPr id="222" name="Line 221"/>
            <p:cNvSpPr>
              <a:spLocks noChangeShapeType="1"/>
            </p:cNvSpPr>
            <p:nvPr/>
          </p:nvSpPr>
          <p:spPr bwMode="auto">
            <a:xfrm>
              <a:off x="3542" y="2487"/>
              <a:ext cx="1" cy="3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3" name="Freeform 222"/>
            <p:cNvSpPr>
              <a:spLocks/>
            </p:cNvSpPr>
            <p:nvPr/>
          </p:nvSpPr>
          <p:spPr bwMode="auto">
            <a:xfrm>
              <a:off x="3507" y="2430"/>
              <a:ext cx="70" cy="75"/>
            </a:xfrm>
            <a:custGeom>
              <a:avLst/>
              <a:gdLst>
                <a:gd name="T0" fmla="*/ 2 w 140"/>
                <a:gd name="T1" fmla="*/ 0 h 75"/>
                <a:gd name="T2" fmla="*/ 3 w 140"/>
                <a:gd name="T3" fmla="*/ 75 h 75"/>
                <a:gd name="T4" fmla="*/ 3 w 140"/>
                <a:gd name="T5" fmla="*/ 73 h 75"/>
                <a:gd name="T6" fmla="*/ 2 w 140"/>
                <a:gd name="T7" fmla="*/ 71 h 75"/>
                <a:gd name="T8" fmla="*/ 2 w 140"/>
                <a:gd name="T9" fmla="*/ 69 h 75"/>
                <a:gd name="T10" fmla="*/ 2 w 140"/>
                <a:gd name="T11" fmla="*/ 68 h 75"/>
                <a:gd name="T12" fmla="*/ 2 w 140"/>
                <a:gd name="T13" fmla="*/ 67 h 75"/>
                <a:gd name="T14" fmla="*/ 2 w 140"/>
                <a:gd name="T15" fmla="*/ 67 h 75"/>
                <a:gd name="T16" fmla="*/ 2 w 140"/>
                <a:gd name="T17" fmla="*/ 66 h 75"/>
                <a:gd name="T18" fmla="*/ 2 w 140"/>
                <a:gd name="T19" fmla="*/ 66 h 75"/>
                <a:gd name="T20" fmla="*/ 1 w 140"/>
                <a:gd name="T21" fmla="*/ 66 h 75"/>
                <a:gd name="T22" fmla="*/ 1 w 140"/>
                <a:gd name="T23" fmla="*/ 67 h 75"/>
                <a:gd name="T24" fmla="*/ 1 w 140"/>
                <a:gd name="T25" fmla="*/ 67 h 75"/>
                <a:gd name="T26" fmla="*/ 1 w 140"/>
                <a:gd name="T27" fmla="*/ 68 h 75"/>
                <a:gd name="T28" fmla="*/ 1 w 140"/>
                <a:gd name="T29" fmla="*/ 69 h 75"/>
                <a:gd name="T30" fmla="*/ 1 w 140"/>
                <a:gd name="T31" fmla="*/ 71 h 75"/>
                <a:gd name="T32" fmla="*/ 1 w 140"/>
                <a:gd name="T33" fmla="*/ 73 h 75"/>
                <a:gd name="T34" fmla="*/ 0 w 140"/>
                <a:gd name="T35" fmla="*/ 75 h 75"/>
                <a:gd name="T36" fmla="*/ 0 w 140"/>
                <a:gd name="T37" fmla="*/ 75 h 75"/>
                <a:gd name="T38" fmla="*/ 2 w 140"/>
                <a:gd name="T39" fmla="*/ 0 h 75"/>
                <a:gd name="T40" fmla="*/ 2 w 140"/>
                <a:gd name="T41" fmla="*/ 0 h 7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5"/>
                <a:gd name="T65" fmla="*/ 140 w 140"/>
                <a:gd name="T66" fmla="*/ 75 h 7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5">
                  <a:moveTo>
                    <a:pt x="70" y="0"/>
                  </a:moveTo>
                  <a:lnTo>
                    <a:pt x="140" y="75"/>
                  </a:lnTo>
                  <a:lnTo>
                    <a:pt x="130" y="73"/>
                  </a:lnTo>
                  <a:lnTo>
                    <a:pt x="123" y="71"/>
                  </a:lnTo>
                  <a:lnTo>
                    <a:pt x="113" y="69"/>
                  </a:lnTo>
                  <a:lnTo>
                    <a:pt x="106" y="68"/>
                  </a:lnTo>
                  <a:lnTo>
                    <a:pt x="96" y="67"/>
                  </a:lnTo>
                  <a:lnTo>
                    <a:pt x="87" y="67"/>
                  </a:lnTo>
                  <a:lnTo>
                    <a:pt x="79" y="66"/>
                  </a:lnTo>
                  <a:lnTo>
                    <a:pt x="70" y="66"/>
                  </a:lnTo>
                  <a:lnTo>
                    <a:pt x="61" y="66"/>
                  </a:lnTo>
                  <a:lnTo>
                    <a:pt x="53" y="67"/>
                  </a:lnTo>
                  <a:lnTo>
                    <a:pt x="44" y="67"/>
                  </a:lnTo>
                  <a:lnTo>
                    <a:pt x="34" y="68"/>
                  </a:lnTo>
                  <a:lnTo>
                    <a:pt x="27" y="69"/>
                  </a:lnTo>
                  <a:lnTo>
                    <a:pt x="17" y="71"/>
                  </a:lnTo>
                  <a:lnTo>
                    <a:pt x="10" y="73"/>
                  </a:lnTo>
                  <a:lnTo>
                    <a:pt x="0" y="75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4" name="Freeform 223"/>
            <p:cNvSpPr>
              <a:spLocks/>
            </p:cNvSpPr>
            <p:nvPr/>
          </p:nvSpPr>
          <p:spPr bwMode="auto">
            <a:xfrm>
              <a:off x="3507" y="2833"/>
              <a:ext cx="70" cy="75"/>
            </a:xfrm>
            <a:custGeom>
              <a:avLst/>
              <a:gdLst>
                <a:gd name="T0" fmla="*/ 2 w 140"/>
                <a:gd name="T1" fmla="*/ 75 h 75"/>
                <a:gd name="T2" fmla="*/ 0 w 140"/>
                <a:gd name="T3" fmla="*/ 0 h 75"/>
                <a:gd name="T4" fmla="*/ 1 w 140"/>
                <a:gd name="T5" fmla="*/ 2 h 75"/>
                <a:gd name="T6" fmla="*/ 1 w 140"/>
                <a:gd name="T7" fmla="*/ 4 h 75"/>
                <a:gd name="T8" fmla="*/ 1 w 140"/>
                <a:gd name="T9" fmla="*/ 5 h 75"/>
                <a:gd name="T10" fmla="*/ 1 w 140"/>
                <a:gd name="T11" fmla="*/ 7 h 75"/>
                <a:gd name="T12" fmla="*/ 1 w 140"/>
                <a:gd name="T13" fmla="*/ 8 h 75"/>
                <a:gd name="T14" fmla="*/ 1 w 140"/>
                <a:gd name="T15" fmla="*/ 8 h 75"/>
                <a:gd name="T16" fmla="*/ 1 w 140"/>
                <a:gd name="T17" fmla="*/ 9 h 75"/>
                <a:gd name="T18" fmla="*/ 2 w 140"/>
                <a:gd name="T19" fmla="*/ 9 h 75"/>
                <a:gd name="T20" fmla="*/ 2 w 140"/>
                <a:gd name="T21" fmla="*/ 9 h 75"/>
                <a:gd name="T22" fmla="*/ 2 w 140"/>
                <a:gd name="T23" fmla="*/ 8 h 75"/>
                <a:gd name="T24" fmla="*/ 2 w 140"/>
                <a:gd name="T25" fmla="*/ 8 h 75"/>
                <a:gd name="T26" fmla="*/ 2 w 140"/>
                <a:gd name="T27" fmla="*/ 7 h 75"/>
                <a:gd name="T28" fmla="*/ 2 w 140"/>
                <a:gd name="T29" fmla="*/ 5 h 75"/>
                <a:gd name="T30" fmla="*/ 2 w 140"/>
                <a:gd name="T31" fmla="*/ 4 h 75"/>
                <a:gd name="T32" fmla="*/ 3 w 140"/>
                <a:gd name="T33" fmla="*/ 2 h 75"/>
                <a:gd name="T34" fmla="*/ 3 w 140"/>
                <a:gd name="T35" fmla="*/ 0 h 75"/>
                <a:gd name="T36" fmla="*/ 3 w 140"/>
                <a:gd name="T37" fmla="*/ 0 h 75"/>
                <a:gd name="T38" fmla="*/ 2 w 140"/>
                <a:gd name="T39" fmla="*/ 75 h 75"/>
                <a:gd name="T40" fmla="*/ 2 w 140"/>
                <a:gd name="T41" fmla="*/ 75 h 7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5"/>
                <a:gd name="T65" fmla="*/ 140 w 140"/>
                <a:gd name="T66" fmla="*/ 75 h 7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5">
                  <a:moveTo>
                    <a:pt x="70" y="75"/>
                  </a:moveTo>
                  <a:lnTo>
                    <a:pt x="0" y="0"/>
                  </a:lnTo>
                  <a:lnTo>
                    <a:pt x="10" y="2"/>
                  </a:lnTo>
                  <a:lnTo>
                    <a:pt x="17" y="4"/>
                  </a:lnTo>
                  <a:lnTo>
                    <a:pt x="27" y="5"/>
                  </a:lnTo>
                  <a:lnTo>
                    <a:pt x="34" y="7"/>
                  </a:lnTo>
                  <a:lnTo>
                    <a:pt x="44" y="8"/>
                  </a:lnTo>
                  <a:lnTo>
                    <a:pt x="53" y="8"/>
                  </a:lnTo>
                  <a:lnTo>
                    <a:pt x="61" y="9"/>
                  </a:lnTo>
                  <a:lnTo>
                    <a:pt x="70" y="9"/>
                  </a:lnTo>
                  <a:lnTo>
                    <a:pt x="79" y="9"/>
                  </a:lnTo>
                  <a:lnTo>
                    <a:pt x="87" y="8"/>
                  </a:lnTo>
                  <a:lnTo>
                    <a:pt x="96" y="8"/>
                  </a:lnTo>
                  <a:lnTo>
                    <a:pt x="106" y="7"/>
                  </a:lnTo>
                  <a:lnTo>
                    <a:pt x="113" y="5"/>
                  </a:lnTo>
                  <a:lnTo>
                    <a:pt x="123" y="4"/>
                  </a:lnTo>
                  <a:lnTo>
                    <a:pt x="130" y="2"/>
                  </a:lnTo>
                  <a:lnTo>
                    <a:pt x="140" y="0"/>
                  </a:lnTo>
                  <a:lnTo>
                    <a:pt x="70" y="75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Line 224"/>
            <p:cNvSpPr>
              <a:spLocks noChangeShapeType="1"/>
            </p:cNvSpPr>
            <p:nvPr/>
          </p:nvSpPr>
          <p:spPr bwMode="auto">
            <a:xfrm>
              <a:off x="3702" y="2956"/>
              <a:ext cx="1" cy="1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Line 225"/>
            <p:cNvSpPr>
              <a:spLocks noChangeShapeType="1"/>
            </p:cNvSpPr>
            <p:nvPr/>
          </p:nvSpPr>
          <p:spPr bwMode="auto">
            <a:xfrm>
              <a:off x="4235" y="2956"/>
              <a:ext cx="1" cy="1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" name="Line 226"/>
            <p:cNvSpPr>
              <a:spLocks noChangeShapeType="1"/>
            </p:cNvSpPr>
            <p:nvPr/>
          </p:nvSpPr>
          <p:spPr bwMode="auto">
            <a:xfrm>
              <a:off x="4235" y="2956"/>
              <a:ext cx="1" cy="2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8" name="Line 227"/>
            <p:cNvSpPr>
              <a:spLocks noChangeShapeType="1"/>
            </p:cNvSpPr>
            <p:nvPr/>
          </p:nvSpPr>
          <p:spPr bwMode="auto">
            <a:xfrm>
              <a:off x="3382" y="3108"/>
              <a:ext cx="1" cy="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9" name="Line 228"/>
            <p:cNvSpPr>
              <a:spLocks noChangeShapeType="1"/>
            </p:cNvSpPr>
            <p:nvPr/>
          </p:nvSpPr>
          <p:spPr bwMode="auto">
            <a:xfrm>
              <a:off x="3434" y="3015"/>
              <a:ext cx="21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0" name="Freeform 229"/>
            <p:cNvSpPr>
              <a:spLocks/>
            </p:cNvSpPr>
            <p:nvPr/>
          </p:nvSpPr>
          <p:spPr bwMode="auto">
            <a:xfrm>
              <a:off x="3382" y="2977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2 w 140"/>
                <a:gd name="T3" fmla="*/ 0 h 76"/>
                <a:gd name="T4" fmla="*/ 2 w 140"/>
                <a:gd name="T5" fmla="*/ 5 h 76"/>
                <a:gd name="T6" fmla="*/ 2 w 140"/>
                <a:gd name="T7" fmla="*/ 9 h 76"/>
                <a:gd name="T8" fmla="*/ 2 w 140"/>
                <a:gd name="T9" fmla="*/ 14 h 76"/>
                <a:gd name="T10" fmla="*/ 1 w 140"/>
                <a:gd name="T11" fmla="*/ 18 h 76"/>
                <a:gd name="T12" fmla="*/ 1 w 140"/>
                <a:gd name="T13" fmla="*/ 23 h 76"/>
                <a:gd name="T14" fmla="*/ 1 w 140"/>
                <a:gd name="T15" fmla="*/ 29 h 76"/>
                <a:gd name="T16" fmla="*/ 1 w 140"/>
                <a:gd name="T17" fmla="*/ 33 h 76"/>
                <a:gd name="T18" fmla="*/ 1 w 140"/>
                <a:gd name="T19" fmla="*/ 38 h 76"/>
                <a:gd name="T20" fmla="*/ 1 w 140"/>
                <a:gd name="T21" fmla="*/ 43 h 76"/>
                <a:gd name="T22" fmla="*/ 1 w 140"/>
                <a:gd name="T23" fmla="*/ 47 h 76"/>
                <a:gd name="T24" fmla="*/ 1 w 140"/>
                <a:gd name="T25" fmla="*/ 52 h 76"/>
                <a:gd name="T26" fmla="*/ 1 w 140"/>
                <a:gd name="T27" fmla="*/ 58 h 76"/>
                <a:gd name="T28" fmla="*/ 2 w 140"/>
                <a:gd name="T29" fmla="*/ 62 h 76"/>
                <a:gd name="T30" fmla="*/ 2 w 140"/>
                <a:gd name="T31" fmla="*/ 67 h 76"/>
                <a:gd name="T32" fmla="*/ 2 w 140"/>
                <a:gd name="T33" fmla="*/ 71 h 76"/>
                <a:gd name="T34" fmla="*/ 2 w 140"/>
                <a:gd name="T35" fmla="*/ 76 h 76"/>
                <a:gd name="T36" fmla="*/ 2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" name="Freeform 230"/>
            <p:cNvSpPr>
              <a:spLocks/>
            </p:cNvSpPr>
            <p:nvPr/>
          </p:nvSpPr>
          <p:spPr bwMode="auto">
            <a:xfrm>
              <a:off x="3633" y="2977"/>
              <a:ext cx="69" cy="76"/>
            </a:xfrm>
            <a:custGeom>
              <a:avLst/>
              <a:gdLst>
                <a:gd name="T0" fmla="*/ 2 w 140"/>
                <a:gd name="T1" fmla="*/ 38 h 76"/>
                <a:gd name="T2" fmla="*/ 0 w 140"/>
                <a:gd name="T3" fmla="*/ 76 h 76"/>
                <a:gd name="T4" fmla="*/ 0 w 140"/>
                <a:gd name="T5" fmla="*/ 71 h 76"/>
                <a:gd name="T6" fmla="*/ 0 w 140"/>
                <a:gd name="T7" fmla="*/ 67 h 76"/>
                <a:gd name="T8" fmla="*/ 0 w 140"/>
                <a:gd name="T9" fmla="*/ 62 h 76"/>
                <a:gd name="T10" fmla="*/ 0 w 140"/>
                <a:gd name="T11" fmla="*/ 58 h 76"/>
                <a:gd name="T12" fmla="*/ 0 w 140"/>
                <a:gd name="T13" fmla="*/ 52 h 76"/>
                <a:gd name="T14" fmla="*/ 0 w 140"/>
                <a:gd name="T15" fmla="*/ 47 h 76"/>
                <a:gd name="T16" fmla="*/ 0 w 140"/>
                <a:gd name="T17" fmla="*/ 43 h 76"/>
                <a:gd name="T18" fmla="*/ 0 w 140"/>
                <a:gd name="T19" fmla="*/ 38 h 76"/>
                <a:gd name="T20" fmla="*/ 0 w 140"/>
                <a:gd name="T21" fmla="*/ 33 h 76"/>
                <a:gd name="T22" fmla="*/ 0 w 140"/>
                <a:gd name="T23" fmla="*/ 29 h 76"/>
                <a:gd name="T24" fmla="*/ 0 w 140"/>
                <a:gd name="T25" fmla="*/ 23 h 76"/>
                <a:gd name="T26" fmla="*/ 0 w 140"/>
                <a:gd name="T27" fmla="*/ 18 h 76"/>
                <a:gd name="T28" fmla="*/ 0 w 140"/>
                <a:gd name="T29" fmla="*/ 14 h 76"/>
                <a:gd name="T30" fmla="*/ 0 w 140"/>
                <a:gd name="T31" fmla="*/ 9 h 76"/>
                <a:gd name="T32" fmla="*/ 0 w 140"/>
                <a:gd name="T33" fmla="*/ 5 h 76"/>
                <a:gd name="T34" fmla="*/ 0 w 140"/>
                <a:gd name="T35" fmla="*/ 0 h 76"/>
                <a:gd name="T36" fmla="*/ 0 w 140"/>
                <a:gd name="T37" fmla="*/ 0 h 76"/>
                <a:gd name="T38" fmla="*/ 2 w 140"/>
                <a:gd name="T39" fmla="*/ 38 h 76"/>
                <a:gd name="T40" fmla="*/ 2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140" y="38"/>
                  </a:moveTo>
                  <a:lnTo>
                    <a:pt x="0" y="76"/>
                  </a:lnTo>
                  <a:lnTo>
                    <a:pt x="4" y="71"/>
                  </a:lnTo>
                  <a:lnTo>
                    <a:pt x="8" y="67"/>
                  </a:lnTo>
                  <a:lnTo>
                    <a:pt x="11" y="62"/>
                  </a:lnTo>
                  <a:lnTo>
                    <a:pt x="13" y="58"/>
                  </a:lnTo>
                  <a:lnTo>
                    <a:pt x="15" y="52"/>
                  </a:lnTo>
                  <a:lnTo>
                    <a:pt x="17" y="47"/>
                  </a:lnTo>
                  <a:lnTo>
                    <a:pt x="17" y="43"/>
                  </a:lnTo>
                  <a:lnTo>
                    <a:pt x="17" y="38"/>
                  </a:lnTo>
                  <a:lnTo>
                    <a:pt x="17" y="33"/>
                  </a:lnTo>
                  <a:lnTo>
                    <a:pt x="17" y="29"/>
                  </a:lnTo>
                  <a:lnTo>
                    <a:pt x="15" y="23"/>
                  </a:lnTo>
                  <a:lnTo>
                    <a:pt x="13" y="18"/>
                  </a:lnTo>
                  <a:lnTo>
                    <a:pt x="11" y="14"/>
                  </a:lnTo>
                  <a:lnTo>
                    <a:pt x="8" y="9"/>
                  </a:lnTo>
                  <a:lnTo>
                    <a:pt x="4" y="5"/>
                  </a:lnTo>
                  <a:lnTo>
                    <a:pt x="0" y="0"/>
                  </a:lnTo>
                  <a:lnTo>
                    <a:pt x="14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Line 231"/>
            <p:cNvSpPr>
              <a:spLocks noChangeShapeType="1"/>
            </p:cNvSpPr>
            <p:nvPr/>
          </p:nvSpPr>
          <p:spPr bwMode="auto">
            <a:xfrm>
              <a:off x="3754" y="3015"/>
              <a:ext cx="42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Freeform 232"/>
            <p:cNvSpPr>
              <a:spLocks/>
            </p:cNvSpPr>
            <p:nvPr/>
          </p:nvSpPr>
          <p:spPr bwMode="auto">
            <a:xfrm>
              <a:off x="3702" y="2977"/>
              <a:ext cx="69" cy="76"/>
            </a:xfrm>
            <a:custGeom>
              <a:avLst/>
              <a:gdLst>
                <a:gd name="T0" fmla="*/ 0 w 137"/>
                <a:gd name="T1" fmla="*/ 38 h 76"/>
                <a:gd name="T2" fmla="*/ 3 w 137"/>
                <a:gd name="T3" fmla="*/ 0 h 76"/>
                <a:gd name="T4" fmla="*/ 3 w 137"/>
                <a:gd name="T5" fmla="*/ 5 h 76"/>
                <a:gd name="T6" fmla="*/ 3 w 137"/>
                <a:gd name="T7" fmla="*/ 9 h 76"/>
                <a:gd name="T8" fmla="*/ 2 w 137"/>
                <a:gd name="T9" fmla="*/ 14 h 76"/>
                <a:gd name="T10" fmla="*/ 2 w 137"/>
                <a:gd name="T11" fmla="*/ 18 h 76"/>
                <a:gd name="T12" fmla="*/ 2 w 137"/>
                <a:gd name="T13" fmla="*/ 23 h 76"/>
                <a:gd name="T14" fmla="*/ 2 w 137"/>
                <a:gd name="T15" fmla="*/ 29 h 76"/>
                <a:gd name="T16" fmla="*/ 2 w 137"/>
                <a:gd name="T17" fmla="*/ 33 h 76"/>
                <a:gd name="T18" fmla="*/ 2 w 137"/>
                <a:gd name="T19" fmla="*/ 38 h 76"/>
                <a:gd name="T20" fmla="*/ 2 w 137"/>
                <a:gd name="T21" fmla="*/ 43 h 76"/>
                <a:gd name="T22" fmla="*/ 2 w 137"/>
                <a:gd name="T23" fmla="*/ 47 h 76"/>
                <a:gd name="T24" fmla="*/ 2 w 137"/>
                <a:gd name="T25" fmla="*/ 52 h 76"/>
                <a:gd name="T26" fmla="*/ 2 w 137"/>
                <a:gd name="T27" fmla="*/ 58 h 76"/>
                <a:gd name="T28" fmla="*/ 2 w 137"/>
                <a:gd name="T29" fmla="*/ 62 h 76"/>
                <a:gd name="T30" fmla="*/ 3 w 137"/>
                <a:gd name="T31" fmla="*/ 67 h 76"/>
                <a:gd name="T32" fmla="*/ 3 w 137"/>
                <a:gd name="T33" fmla="*/ 71 h 76"/>
                <a:gd name="T34" fmla="*/ 3 w 137"/>
                <a:gd name="T35" fmla="*/ 76 h 76"/>
                <a:gd name="T36" fmla="*/ 3 w 137"/>
                <a:gd name="T37" fmla="*/ 76 h 76"/>
                <a:gd name="T38" fmla="*/ 0 w 137"/>
                <a:gd name="T39" fmla="*/ 38 h 76"/>
                <a:gd name="T40" fmla="*/ 0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0" y="38"/>
                  </a:moveTo>
                  <a:lnTo>
                    <a:pt x="137" y="0"/>
                  </a:lnTo>
                  <a:lnTo>
                    <a:pt x="134" y="5"/>
                  </a:lnTo>
                  <a:lnTo>
                    <a:pt x="130" y="9"/>
                  </a:lnTo>
                  <a:lnTo>
                    <a:pt x="128" y="14"/>
                  </a:lnTo>
                  <a:lnTo>
                    <a:pt x="124" y="18"/>
                  </a:lnTo>
                  <a:lnTo>
                    <a:pt x="122" y="23"/>
                  </a:lnTo>
                  <a:lnTo>
                    <a:pt x="122" y="29"/>
                  </a:lnTo>
                  <a:lnTo>
                    <a:pt x="120" y="33"/>
                  </a:lnTo>
                  <a:lnTo>
                    <a:pt x="120" y="38"/>
                  </a:lnTo>
                  <a:lnTo>
                    <a:pt x="120" y="43"/>
                  </a:lnTo>
                  <a:lnTo>
                    <a:pt x="122" y="47"/>
                  </a:lnTo>
                  <a:lnTo>
                    <a:pt x="122" y="52"/>
                  </a:lnTo>
                  <a:lnTo>
                    <a:pt x="124" y="58"/>
                  </a:lnTo>
                  <a:lnTo>
                    <a:pt x="128" y="62"/>
                  </a:lnTo>
                  <a:lnTo>
                    <a:pt x="130" y="67"/>
                  </a:lnTo>
                  <a:lnTo>
                    <a:pt x="134" y="71"/>
                  </a:lnTo>
                  <a:lnTo>
                    <a:pt x="137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Freeform 233"/>
            <p:cNvSpPr>
              <a:spLocks/>
            </p:cNvSpPr>
            <p:nvPr/>
          </p:nvSpPr>
          <p:spPr bwMode="auto">
            <a:xfrm>
              <a:off x="4166" y="2977"/>
              <a:ext cx="69" cy="76"/>
            </a:xfrm>
            <a:custGeom>
              <a:avLst/>
              <a:gdLst>
                <a:gd name="T0" fmla="*/ 3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3 w 137"/>
                <a:gd name="T39" fmla="*/ 38 h 76"/>
                <a:gd name="T40" fmla="*/ 3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Line 234"/>
            <p:cNvSpPr>
              <a:spLocks noChangeShapeType="1"/>
            </p:cNvSpPr>
            <p:nvPr/>
          </p:nvSpPr>
          <p:spPr bwMode="auto">
            <a:xfrm>
              <a:off x="3434" y="3132"/>
              <a:ext cx="74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Freeform 235"/>
            <p:cNvSpPr>
              <a:spLocks/>
            </p:cNvSpPr>
            <p:nvPr/>
          </p:nvSpPr>
          <p:spPr bwMode="auto">
            <a:xfrm>
              <a:off x="3382" y="3094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2 w 140"/>
                <a:gd name="T3" fmla="*/ 0 h 76"/>
                <a:gd name="T4" fmla="*/ 2 w 140"/>
                <a:gd name="T5" fmla="*/ 5 h 76"/>
                <a:gd name="T6" fmla="*/ 2 w 140"/>
                <a:gd name="T7" fmla="*/ 9 h 76"/>
                <a:gd name="T8" fmla="*/ 2 w 140"/>
                <a:gd name="T9" fmla="*/ 14 h 76"/>
                <a:gd name="T10" fmla="*/ 1 w 140"/>
                <a:gd name="T11" fmla="*/ 18 h 76"/>
                <a:gd name="T12" fmla="*/ 1 w 140"/>
                <a:gd name="T13" fmla="*/ 23 h 76"/>
                <a:gd name="T14" fmla="*/ 1 w 140"/>
                <a:gd name="T15" fmla="*/ 29 h 76"/>
                <a:gd name="T16" fmla="*/ 1 w 140"/>
                <a:gd name="T17" fmla="*/ 33 h 76"/>
                <a:gd name="T18" fmla="*/ 1 w 140"/>
                <a:gd name="T19" fmla="*/ 38 h 76"/>
                <a:gd name="T20" fmla="*/ 1 w 140"/>
                <a:gd name="T21" fmla="*/ 43 h 76"/>
                <a:gd name="T22" fmla="*/ 1 w 140"/>
                <a:gd name="T23" fmla="*/ 47 h 76"/>
                <a:gd name="T24" fmla="*/ 1 w 140"/>
                <a:gd name="T25" fmla="*/ 52 h 76"/>
                <a:gd name="T26" fmla="*/ 1 w 140"/>
                <a:gd name="T27" fmla="*/ 58 h 76"/>
                <a:gd name="T28" fmla="*/ 2 w 140"/>
                <a:gd name="T29" fmla="*/ 62 h 76"/>
                <a:gd name="T30" fmla="*/ 2 w 140"/>
                <a:gd name="T31" fmla="*/ 67 h 76"/>
                <a:gd name="T32" fmla="*/ 2 w 140"/>
                <a:gd name="T33" fmla="*/ 71 h 76"/>
                <a:gd name="T34" fmla="*/ 2 w 140"/>
                <a:gd name="T35" fmla="*/ 76 h 76"/>
                <a:gd name="T36" fmla="*/ 2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Freeform 236"/>
            <p:cNvSpPr>
              <a:spLocks/>
            </p:cNvSpPr>
            <p:nvPr/>
          </p:nvSpPr>
          <p:spPr bwMode="auto">
            <a:xfrm>
              <a:off x="4166" y="3094"/>
              <a:ext cx="69" cy="76"/>
            </a:xfrm>
            <a:custGeom>
              <a:avLst/>
              <a:gdLst>
                <a:gd name="T0" fmla="*/ 3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3 w 137"/>
                <a:gd name="T39" fmla="*/ 38 h 76"/>
                <a:gd name="T40" fmla="*/ 3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Rectangle 237"/>
            <p:cNvSpPr>
              <a:spLocks noChangeArrowheads="1"/>
            </p:cNvSpPr>
            <p:nvPr/>
          </p:nvSpPr>
          <p:spPr bwMode="auto">
            <a:xfrm>
              <a:off x="3539" y="2936"/>
              <a:ext cx="72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on</a:t>
              </a:r>
              <a:endParaRPr lang="en-US" altLang="zh-CN"/>
            </a:p>
          </p:txBody>
        </p:sp>
        <p:sp>
          <p:nvSpPr>
            <p:cNvPr id="239" name="Rectangle 238"/>
            <p:cNvSpPr>
              <a:spLocks noChangeArrowheads="1"/>
            </p:cNvSpPr>
            <p:nvPr/>
          </p:nvSpPr>
          <p:spPr bwMode="auto">
            <a:xfrm>
              <a:off x="3520" y="2890"/>
              <a:ext cx="2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240" name="Line 239"/>
            <p:cNvSpPr>
              <a:spLocks noChangeShapeType="1"/>
            </p:cNvSpPr>
            <p:nvPr/>
          </p:nvSpPr>
          <p:spPr bwMode="auto">
            <a:xfrm flipV="1">
              <a:off x="3699" y="3910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Line 240"/>
            <p:cNvSpPr>
              <a:spLocks noChangeShapeType="1"/>
            </p:cNvSpPr>
            <p:nvPr/>
          </p:nvSpPr>
          <p:spPr bwMode="auto">
            <a:xfrm flipV="1">
              <a:off x="4232" y="3910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Line 241"/>
            <p:cNvSpPr>
              <a:spLocks noChangeShapeType="1"/>
            </p:cNvSpPr>
            <p:nvPr/>
          </p:nvSpPr>
          <p:spPr bwMode="auto">
            <a:xfrm flipV="1">
              <a:off x="4552" y="3910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" name="Line 242"/>
            <p:cNvSpPr>
              <a:spLocks noChangeShapeType="1"/>
            </p:cNvSpPr>
            <p:nvPr/>
          </p:nvSpPr>
          <p:spPr bwMode="auto">
            <a:xfrm flipV="1">
              <a:off x="5086" y="3910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" name="Freeform 243"/>
            <p:cNvSpPr>
              <a:spLocks/>
            </p:cNvSpPr>
            <p:nvPr/>
          </p:nvSpPr>
          <p:spPr bwMode="auto">
            <a:xfrm>
              <a:off x="3382" y="3483"/>
              <a:ext cx="1898" cy="234"/>
            </a:xfrm>
            <a:custGeom>
              <a:avLst/>
              <a:gdLst>
                <a:gd name="T0" fmla="*/ 0 w 3797"/>
                <a:gd name="T1" fmla="*/ 234 h 234"/>
                <a:gd name="T2" fmla="*/ 10 w 3797"/>
                <a:gd name="T3" fmla="*/ 0 h 234"/>
                <a:gd name="T4" fmla="*/ 26 w 3797"/>
                <a:gd name="T5" fmla="*/ 234 h 234"/>
                <a:gd name="T6" fmla="*/ 36 w 3797"/>
                <a:gd name="T7" fmla="*/ 0 h 234"/>
                <a:gd name="T8" fmla="*/ 53 w 3797"/>
                <a:gd name="T9" fmla="*/ 234 h 234"/>
                <a:gd name="T10" fmla="*/ 59 w 3797"/>
                <a:gd name="T11" fmla="*/ 117 h 2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797"/>
                <a:gd name="T19" fmla="*/ 0 h 234"/>
                <a:gd name="T20" fmla="*/ 3797 w 3797"/>
                <a:gd name="T21" fmla="*/ 234 h 2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797" h="234">
                  <a:moveTo>
                    <a:pt x="0" y="234"/>
                  </a:moveTo>
                  <a:lnTo>
                    <a:pt x="642" y="0"/>
                  </a:lnTo>
                  <a:lnTo>
                    <a:pt x="1707" y="234"/>
                  </a:lnTo>
                  <a:lnTo>
                    <a:pt x="2347" y="0"/>
                  </a:lnTo>
                  <a:lnTo>
                    <a:pt x="3414" y="234"/>
                  </a:lnTo>
                  <a:lnTo>
                    <a:pt x="3797" y="11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Freeform 244"/>
            <p:cNvSpPr>
              <a:spLocks/>
            </p:cNvSpPr>
            <p:nvPr/>
          </p:nvSpPr>
          <p:spPr bwMode="auto">
            <a:xfrm>
              <a:off x="3702" y="2430"/>
              <a:ext cx="533" cy="479"/>
            </a:xfrm>
            <a:custGeom>
              <a:avLst/>
              <a:gdLst>
                <a:gd name="T0" fmla="*/ 0 w 1065"/>
                <a:gd name="T1" fmla="*/ 0 h 479"/>
                <a:gd name="T2" fmla="*/ 0 w 1065"/>
                <a:gd name="T3" fmla="*/ 479 h 479"/>
                <a:gd name="T4" fmla="*/ 17 w 1065"/>
                <a:gd name="T5" fmla="*/ 479 h 479"/>
                <a:gd name="T6" fmla="*/ 17 w 1065"/>
                <a:gd name="T7" fmla="*/ 0 h 4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5"/>
                <a:gd name="T13" fmla="*/ 0 h 479"/>
                <a:gd name="T14" fmla="*/ 1065 w 1065"/>
                <a:gd name="T15" fmla="*/ 479 h 4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5" h="479">
                  <a:moveTo>
                    <a:pt x="0" y="0"/>
                  </a:moveTo>
                  <a:lnTo>
                    <a:pt x="0" y="479"/>
                  </a:lnTo>
                  <a:lnTo>
                    <a:pt x="1065" y="479"/>
                  </a:lnTo>
                  <a:lnTo>
                    <a:pt x="106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" name="Freeform 245"/>
            <p:cNvSpPr>
              <a:spLocks noEditPoints="1"/>
            </p:cNvSpPr>
            <p:nvPr/>
          </p:nvSpPr>
          <p:spPr bwMode="auto">
            <a:xfrm>
              <a:off x="3376" y="2610"/>
              <a:ext cx="2039" cy="13"/>
            </a:xfrm>
            <a:custGeom>
              <a:avLst/>
              <a:gdLst>
                <a:gd name="T0" fmla="*/ 4 w 4078"/>
                <a:gd name="T1" fmla="*/ 5 h 13"/>
                <a:gd name="T2" fmla="*/ 3 w 4078"/>
                <a:gd name="T3" fmla="*/ 13 h 13"/>
                <a:gd name="T4" fmla="*/ 0 w 4078"/>
                <a:gd name="T5" fmla="*/ 6 h 13"/>
                <a:gd name="T6" fmla="*/ 1 w 4078"/>
                <a:gd name="T7" fmla="*/ 0 h 13"/>
                <a:gd name="T8" fmla="*/ 8 w 4078"/>
                <a:gd name="T9" fmla="*/ 5 h 13"/>
                <a:gd name="T10" fmla="*/ 8 w 4078"/>
                <a:gd name="T11" fmla="*/ 13 h 13"/>
                <a:gd name="T12" fmla="*/ 5 w 4078"/>
                <a:gd name="T13" fmla="*/ 6 h 13"/>
                <a:gd name="T14" fmla="*/ 5 w 4078"/>
                <a:gd name="T15" fmla="*/ 0 h 13"/>
                <a:gd name="T16" fmla="*/ 13 w 4078"/>
                <a:gd name="T17" fmla="*/ 5 h 13"/>
                <a:gd name="T18" fmla="*/ 13 w 4078"/>
                <a:gd name="T19" fmla="*/ 13 h 13"/>
                <a:gd name="T20" fmla="*/ 10 w 4078"/>
                <a:gd name="T21" fmla="*/ 6 h 13"/>
                <a:gd name="T22" fmla="*/ 10 w 4078"/>
                <a:gd name="T23" fmla="*/ 0 h 13"/>
                <a:gd name="T24" fmla="*/ 18 w 4078"/>
                <a:gd name="T25" fmla="*/ 5 h 13"/>
                <a:gd name="T26" fmla="*/ 18 w 4078"/>
                <a:gd name="T27" fmla="*/ 13 h 13"/>
                <a:gd name="T28" fmla="*/ 15 w 4078"/>
                <a:gd name="T29" fmla="*/ 6 h 13"/>
                <a:gd name="T30" fmla="*/ 15 w 4078"/>
                <a:gd name="T31" fmla="*/ 0 h 13"/>
                <a:gd name="T32" fmla="*/ 23 w 4078"/>
                <a:gd name="T33" fmla="*/ 5 h 13"/>
                <a:gd name="T34" fmla="*/ 23 w 4078"/>
                <a:gd name="T35" fmla="*/ 13 h 13"/>
                <a:gd name="T36" fmla="*/ 20 w 4078"/>
                <a:gd name="T37" fmla="*/ 6 h 13"/>
                <a:gd name="T38" fmla="*/ 20 w 4078"/>
                <a:gd name="T39" fmla="*/ 0 h 13"/>
                <a:gd name="T40" fmla="*/ 28 w 4078"/>
                <a:gd name="T41" fmla="*/ 5 h 13"/>
                <a:gd name="T42" fmla="*/ 27 w 4078"/>
                <a:gd name="T43" fmla="*/ 13 h 13"/>
                <a:gd name="T44" fmla="*/ 24 w 4078"/>
                <a:gd name="T45" fmla="*/ 6 h 13"/>
                <a:gd name="T46" fmla="*/ 25 w 4078"/>
                <a:gd name="T47" fmla="*/ 0 h 13"/>
                <a:gd name="T48" fmla="*/ 32 w 4078"/>
                <a:gd name="T49" fmla="*/ 5 h 13"/>
                <a:gd name="T50" fmla="*/ 32 w 4078"/>
                <a:gd name="T51" fmla="*/ 13 h 13"/>
                <a:gd name="T52" fmla="*/ 29 w 4078"/>
                <a:gd name="T53" fmla="*/ 6 h 13"/>
                <a:gd name="T54" fmla="*/ 29 w 4078"/>
                <a:gd name="T55" fmla="*/ 0 h 13"/>
                <a:gd name="T56" fmla="*/ 37 w 4078"/>
                <a:gd name="T57" fmla="*/ 5 h 13"/>
                <a:gd name="T58" fmla="*/ 37 w 4078"/>
                <a:gd name="T59" fmla="*/ 13 h 13"/>
                <a:gd name="T60" fmla="*/ 34 w 4078"/>
                <a:gd name="T61" fmla="*/ 6 h 13"/>
                <a:gd name="T62" fmla="*/ 34 w 4078"/>
                <a:gd name="T63" fmla="*/ 0 h 13"/>
                <a:gd name="T64" fmla="*/ 42 w 4078"/>
                <a:gd name="T65" fmla="*/ 5 h 13"/>
                <a:gd name="T66" fmla="*/ 42 w 4078"/>
                <a:gd name="T67" fmla="*/ 13 h 13"/>
                <a:gd name="T68" fmla="*/ 39 w 4078"/>
                <a:gd name="T69" fmla="*/ 6 h 13"/>
                <a:gd name="T70" fmla="*/ 39 w 4078"/>
                <a:gd name="T71" fmla="*/ 0 h 13"/>
                <a:gd name="T72" fmla="*/ 47 w 4078"/>
                <a:gd name="T73" fmla="*/ 5 h 13"/>
                <a:gd name="T74" fmla="*/ 47 w 4078"/>
                <a:gd name="T75" fmla="*/ 13 h 13"/>
                <a:gd name="T76" fmla="*/ 44 w 4078"/>
                <a:gd name="T77" fmla="*/ 6 h 13"/>
                <a:gd name="T78" fmla="*/ 44 w 4078"/>
                <a:gd name="T79" fmla="*/ 0 h 13"/>
                <a:gd name="T80" fmla="*/ 52 w 4078"/>
                <a:gd name="T81" fmla="*/ 5 h 13"/>
                <a:gd name="T82" fmla="*/ 51 w 4078"/>
                <a:gd name="T83" fmla="*/ 13 h 13"/>
                <a:gd name="T84" fmla="*/ 48 w 4078"/>
                <a:gd name="T85" fmla="*/ 6 h 13"/>
                <a:gd name="T86" fmla="*/ 49 w 4078"/>
                <a:gd name="T87" fmla="*/ 0 h 13"/>
                <a:gd name="T88" fmla="*/ 56 w 4078"/>
                <a:gd name="T89" fmla="*/ 5 h 13"/>
                <a:gd name="T90" fmla="*/ 56 w 4078"/>
                <a:gd name="T91" fmla="*/ 13 h 13"/>
                <a:gd name="T92" fmla="*/ 53 w 4078"/>
                <a:gd name="T93" fmla="*/ 6 h 13"/>
                <a:gd name="T94" fmla="*/ 53 w 4078"/>
                <a:gd name="T95" fmla="*/ 0 h 13"/>
                <a:gd name="T96" fmla="*/ 61 w 4078"/>
                <a:gd name="T97" fmla="*/ 5 h 13"/>
                <a:gd name="T98" fmla="*/ 61 w 4078"/>
                <a:gd name="T99" fmla="*/ 13 h 13"/>
                <a:gd name="T100" fmla="*/ 58 w 4078"/>
                <a:gd name="T101" fmla="*/ 6 h 13"/>
                <a:gd name="T102" fmla="*/ 58 w 4078"/>
                <a:gd name="T103" fmla="*/ 0 h 13"/>
                <a:gd name="T104" fmla="*/ 64 w 4078"/>
                <a:gd name="T105" fmla="*/ 5 h 13"/>
                <a:gd name="T106" fmla="*/ 64 w 4078"/>
                <a:gd name="T107" fmla="*/ 13 h 13"/>
                <a:gd name="T108" fmla="*/ 63 w 4078"/>
                <a:gd name="T109" fmla="*/ 6 h 13"/>
                <a:gd name="T110" fmla="*/ 63 w 4078"/>
                <a:gd name="T111" fmla="*/ 0 h 13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4078"/>
                <a:gd name="T169" fmla="*/ 0 h 13"/>
                <a:gd name="T170" fmla="*/ 4078 w 4078"/>
                <a:gd name="T171" fmla="*/ 13 h 13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4078" h="13">
                  <a:moveTo>
                    <a:pt x="11" y="0"/>
                  </a:moveTo>
                  <a:lnTo>
                    <a:pt x="191" y="0"/>
                  </a:lnTo>
                  <a:lnTo>
                    <a:pt x="194" y="0"/>
                  </a:lnTo>
                  <a:lnTo>
                    <a:pt x="196" y="0"/>
                  </a:lnTo>
                  <a:lnTo>
                    <a:pt x="200" y="2"/>
                  </a:lnTo>
                  <a:lnTo>
                    <a:pt x="202" y="4"/>
                  </a:lnTo>
                  <a:lnTo>
                    <a:pt x="204" y="5"/>
                  </a:lnTo>
                  <a:lnTo>
                    <a:pt x="204" y="6"/>
                  </a:lnTo>
                  <a:lnTo>
                    <a:pt x="204" y="8"/>
                  </a:lnTo>
                  <a:lnTo>
                    <a:pt x="202" y="9"/>
                  </a:lnTo>
                  <a:lnTo>
                    <a:pt x="200" y="11"/>
                  </a:lnTo>
                  <a:lnTo>
                    <a:pt x="196" y="13"/>
                  </a:lnTo>
                  <a:lnTo>
                    <a:pt x="194" y="13"/>
                  </a:lnTo>
                  <a:lnTo>
                    <a:pt x="191" y="13"/>
                  </a:lnTo>
                  <a:lnTo>
                    <a:pt x="11" y="13"/>
                  </a:lnTo>
                  <a:lnTo>
                    <a:pt x="9" y="13"/>
                  </a:lnTo>
                  <a:lnTo>
                    <a:pt x="8" y="13"/>
                  </a:lnTo>
                  <a:lnTo>
                    <a:pt x="4" y="11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4" y="2"/>
                  </a:lnTo>
                  <a:lnTo>
                    <a:pt x="8" y="0"/>
                  </a:lnTo>
                  <a:lnTo>
                    <a:pt x="9" y="0"/>
                  </a:lnTo>
                  <a:lnTo>
                    <a:pt x="11" y="0"/>
                  </a:lnTo>
                  <a:close/>
                  <a:moveTo>
                    <a:pt x="319" y="0"/>
                  </a:moveTo>
                  <a:lnTo>
                    <a:pt x="498" y="0"/>
                  </a:lnTo>
                  <a:lnTo>
                    <a:pt x="500" y="0"/>
                  </a:lnTo>
                  <a:lnTo>
                    <a:pt x="502" y="0"/>
                  </a:lnTo>
                  <a:lnTo>
                    <a:pt x="507" y="2"/>
                  </a:lnTo>
                  <a:lnTo>
                    <a:pt x="509" y="4"/>
                  </a:lnTo>
                  <a:lnTo>
                    <a:pt x="509" y="5"/>
                  </a:lnTo>
                  <a:lnTo>
                    <a:pt x="511" y="6"/>
                  </a:lnTo>
                  <a:lnTo>
                    <a:pt x="509" y="8"/>
                  </a:lnTo>
                  <a:lnTo>
                    <a:pt x="509" y="9"/>
                  </a:lnTo>
                  <a:lnTo>
                    <a:pt x="507" y="11"/>
                  </a:lnTo>
                  <a:lnTo>
                    <a:pt x="502" y="13"/>
                  </a:lnTo>
                  <a:lnTo>
                    <a:pt x="500" y="13"/>
                  </a:lnTo>
                  <a:lnTo>
                    <a:pt x="498" y="13"/>
                  </a:lnTo>
                  <a:lnTo>
                    <a:pt x="319" y="13"/>
                  </a:lnTo>
                  <a:lnTo>
                    <a:pt x="317" y="13"/>
                  </a:lnTo>
                  <a:lnTo>
                    <a:pt x="313" y="13"/>
                  </a:lnTo>
                  <a:lnTo>
                    <a:pt x="309" y="11"/>
                  </a:lnTo>
                  <a:lnTo>
                    <a:pt x="307" y="9"/>
                  </a:lnTo>
                  <a:lnTo>
                    <a:pt x="306" y="8"/>
                  </a:lnTo>
                  <a:lnTo>
                    <a:pt x="306" y="6"/>
                  </a:lnTo>
                  <a:lnTo>
                    <a:pt x="306" y="5"/>
                  </a:lnTo>
                  <a:lnTo>
                    <a:pt x="307" y="4"/>
                  </a:lnTo>
                  <a:lnTo>
                    <a:pt x="309" y="2"/>
                  </a:lnTo>
                  <a:lnTo>
                    <a:pt x="313" y="0"/>
                  </a:lnTo>
                  <a:lnTo>
                    <a:pt x="317" y="0"/>
                  </a:lnTo>
                  <a:lnTo>
                    <a:pt x="319" y="0"/>
                  </a:lnTo>
                  <a:close/>
                  <a:moveTo>
                    <a:pt x="626" y="0"/>
                  </a:moveTo>
                  <a:lnTo>
                    <a:pt x="804" y="0"/>
                  </a:lnTo>
                  <a:lnTo>
                    <a:pt x="807" y="0"/>
                  </a:lnTo>
                  <a:lnTo>
                    <a:pt x="809" y="0"/>
                  </a:lnTo>
                  <a:lnTo>
                    <a:pt x="813" y="2"/>
                  </a:lnTo>
                  <a:lnTo>
                    <a:pt x="817" y="4"/>
                  </a:lnTo>
                  <a:lnTo>
                    <a:pt x="817" y="5"/>
                  </a:lnTo>
                  <a:lnTo>
                    <a:pt x="817" y="6"/>
                  </a:lnTo>
                  <a:lnTo>
                    <a:pt x="817" y="8"/>
                  </a:lnTo>
                  <a:lnTo>
                    <a:pt x="817" y="9"/>
                  </a:lnTo>
                  <a:lnTo>
                    <a:pt x="813" y="11"/>
                  </a:lnTo>
                  <a:lnTo>
                    <a:pt x="809" y="13"/>
                  </a:lnTo>
                  <a:lnTo>
                    <a:pt x="807" y="13"/>
                  </a:lnTo>
                  <a:lnTo>
                    <a:pt x="804" y="13"/>
                  </a:lnTo>
                  <a:lnTo>
                    <a:pt x="626" y="13"/>
                  </a:lnTo>
                  <a:lnTo>
                    <a:pt x="622" y="13"/>
                  </a:lnTo>
                  <a:lnTo>
                    <a:pt x="621" y="13"/>
                  </a:lnTo>
                  <a:lnTo>
                    <a:pt x="617" y="11"/>
                  </a:lnTo>
                  <a:lnTo>
                    <a:pt x="613" y="9"/>
                  </a:lnTo>
                  <a:lnTo>
                    <a:pt x="613" y="8"/>
                  </a:lnTo>
                  <a:lnTo>
                    <a:pt x="613" y="6"/>
                  </a:lnTo>
                  <a:lnTo>
                    <a:pt x="613" y="5"/>
                  </a:lnTo>
                  <a:lnTo>
                    <a:pt x="613" y="4"/>
                  </a:lnTo>
                  <a:lnTo>
                    <a:pt x="617" y="2"/>
                  </a:lnTo>
                  <a:lnTo>
                    <a:pt x="621" y="0"/>
                  </a:lnTo>
                  <a:lnTo>
                    <a:pt x="622" y="0"/>
                  </a:lnTo>
                  <a:lnTo>
                    <a:pt x="626" y="0"/>
                  </a:lnTo>
                  <a:close/>
                  <a:moveTo>
                    <a:pt x="932" y="0"/>
                  </a:moveTo>
                  <a:lnTo>
                    <a:pt x="1111" y="0"/>
                  </a:lnTo>
                  <a:lnTo>
                    <a:pt x="1113" y="0"/>
                  </a:lnTo>
                  <a:lnTo>
                    <a:pt x="1117" y="0"/>
                  </a:lnTo>
                  <a:lnTo>
                    <a:pt x="1120" y="2"/>
                  </a:lnTo>
                  <a:lnTo>
                    <a:pt x="1122" y="4"/>
                  </a:lnTo>
                  <a:lnTo>
                    <a:pt x="1124" y="5"/>
                  </a:lnTo>
                  <a:lnTo>
                    <a:pt x="1124" y="6"/>
                  </a:lnTo>
                  <a:lnTo>
                    <a:pt x="1124" y="8"/>
                  </a:lnTo>
                  <a:lnTo>
                    <a:pt x="1122" y="9"/>
                  </a:lnTo>
                  <a:lnTo>
                    <a:pt x="1120" y="11"/>
                  </a:lnTo>
                  <a:lnTo>
                    <a:pt x="1117" y="13"/>
                  </a:lnTo>
                  <a:lnTo>
                    <a:pt x="1113" y="13"/>
                  </a:lnTo>
                  <a:lnTo>
                    <a:pt x="1111" y="13"/>
                  </a:lnTo>
                  <a:lnTo>
                    <a:pt x="932" y="13"/>
                  </a:lnTo>
                  <a:lnTo>
                    <a:pt x="930" y="13"/>
                  </a:lnTo>
                  <a:lnTo>
                    <a:pt x="926" y="13"/>
                  </a:lnTo>
                  <a:lnTo>
                    <a:pt x="922" y="11"/>
                  </a:lnTo>
                  <a:lnTo>
                    <a:pt x="920" y="9"/>
                  </a:lnTo>
                  <a:lnTo>
                    <a:pt x="919" y="8"/>
                  </a:lnTo>
                  <a:lnTo>
                    <a:pt x="919" y="6"/>
                  </a:lnTo>
                  <a:lnTo>
                    <a:pt x="919" y="5"/>
                  </a:lnTo>
                  <a:lnTo>
                    <a:pt x="920" y="4"/>
                  </a:lnTo>
                  <a:lnTo>
                    <a:pt x="922" y="2"/>
                  </a:lnTo>
                  <a:lnTo>
                    <a:pt x="926" y="0"/>
                  </a:lnTo>
                  <a:lnTo>
                    <a:pt x="930" y="0"/>
                  </a:lnTo>
                  <a:lnTo>
                    <a:pt x="932" y="0"/>
                  </a:lnTo>
                  <a:close/>
                  <a:moveTo>
                    <a:pt x="1239" y="0"/>
                  </a:moveTo>
                  <a:lnTo>
                    <a:pt x="1417" y="0"/>
                  </a:lnTo>
                  <a:lnTo>
                    <a:pt x="1420" y="0"/>
                  </a:lnTo>
                  <a:lnTo>
                    <a:pt x="1422" y="0"/>
                  </a:lnTo>
                  <a:lnTo>
                    <a:pt x="1426" y="2"/>
                  </a:lnTo>
                  <a:lnTo>
                    <a:pt x="1430" y="4"/>
                  </a:lnTo>
                  <a:lnTo>
                    <a:pt x="1430" y="5"/>
                  </a:lnTo>
                  <a:lnTo>
                    <a:pt x="1430" y="6"/>
                  </a:lnTo>
                  <a:lnTo>
                    <a:pt x="1430" y="8"/>
                  </a:lnTo>
                  <a:lnTo>
                    <a:pt x="1430" y="9"/>
                  </a:lnTo>
                  <a:lnTo>
                    <a:pt x="1426" y="11"/>
                  </a:lnTo>
                  <a:lnTo>
                    <a:pt x="1422" y="13"/>
                  </a:lnTo>
                  <a:lnTo>
                    <a:pt x="1420" y="13"/>
                  </a:lnTo>
                  <a:lnTo>
                    <a:pt x="1417" y="13"/>
                  </a:lnTo>
                  <a:lnTo>
                    <a:pt x="1239" y="13"/>
                  </a:lnTo>
                  <a:lnTo>
                    <a:pt x="1235" y="13"/>
                  </a:lnTo>
                  <a:lnTo>
                    <a:pt x="1234" y="13"/>
                  </a:lnTo>
                  <a:lnTo>
                    <a:pt x="1230" y="11"/>
                  </a:lnTo>
                  <a:lnTo>
                    <a:pt x="1226" y="9"/>
                  </a:lnTo>
                  <a:lnTo>
                    <a:pt x="1226" y="8"/>
                  </a:lnTo>
                  <a:lnTo>
                    <a:pt x="1226" y="6"/>
                  </a:lnTo>
                  <a:lnTo>
                    <a:pt x="1226" y="5"/>
                  </a:lnTo>
                  <a:lnTo>
                    <a:pt x="1226" y="4"/>
                  </a:lnTo>
                  <a:lnTo>
                    <a:pt x="1230" y="2"/>
                  </a:lnTo>
                  <a:lnTo>
                    <a:pt x="1234" y="0"/>
                  </a:lnTo>
                  <a:lnTo>
                    <a:pt x="1235" y="0"/>
                  </a:lnTo>
                  <a:lnTo>
                    <a:pt x="1239" y="0"/>
                  </a:lnTo>
                  <a:close/>
                  <a:moveTo>
                    <a:pt x="1545" y="0"/>
                  </a:moveTo>
                  <a:lnTo>
                    <a:pt x="1724" y="0"/>
                  </a:lnTo>
                  <a:lnTo>
                    <a:pt x="1726" y="0"/>
                  </a:lnTo>
                  <a:lnTo>
                    <a:pt x="1730" y="0"/>
                  </a:lnTo>
                  <a:lnTo>
                    <a:pt x="1733" y="2"/>
                  </a:lnTo>
                  <a:lnTo>
                    <a:pt x="1735" y="4"/>
                  </a:lnTo>
                  <a:lnTo>
                    <a:pt x="1737" y="5"/>
                  </a:lnTo>
                  <a:lnTo>
                    <a:pt x="1737" y="6"/>
                  </a:lnTo>
                  <a:lnTo>
                    <a:pt x="1737" y="8"/>
                  </a:lnTo>
                  <a:lnTo>
                    <a:pt x="1735" y="9"/>
                  </a:lnTo>
                  <a:lnTo>
                    <a:pt x="1733" y="11"/>
                  </a:lnTo>
                  <a:lnTo>
                    <a:pt x="1730" y="13"/>
                  </a:lnTo>
                  <a:lnTo>
                    <a:pt x="1726" y="13"/>
                  </a:lnTo>
                  <a:lnTo>
                    <a:pt x="1724" y="13"/>
                  </a:lnTo>
                  <a:lnTo>
                    <a:pt x="1545" y="13"/>
                  </a:lnTo>
                  <a:lnTo>
                    <a:pt x="1543" y="13"/>
                  </a:lnTo>
                  <a:lnTo>
                    <a:pt x="1541" y="13"/>
                  </a:lnTo>
                  <a:lnTo>
                    <a:pt x="1535" y="11"/>
                  </a:lnTo>
                  <a:lnTo>
                    <a:pt x="1533" y="9"/>
                  </a:lnTo>
                  <a:lnTo>
                    <a:pt x="1533" y="8"/>
                  </a:lnTo>
                  <a:lnTo>
                    <a:pt x="1532" y="6"/>
                  </a:lnTo>
                  <a:lnTo>
                    <a:pt x="1533" y="5"/>
                  </a:lnTo>
                  <a:lnTo>
                    <a:pt x="1533" y="4"/>
                  </a:lnTo>
                  <a:lnTo>
                    <a:pt x="1535" y="2"/>
                  </a:lnTo>
                  <a:lnTo>
                    <a:pt x="1541" y="0"/>
                  </a:lnTo>
                  <a:lnTo>
                    <a:pt x="1543" y="0"/>
                  </a:lnTo>
                  <a:lnTo>
                    <a:pt x="1545" y="0"/>
                  </a:lnTo>
                  <a:close/>
                  <a:moveTo>
                    <a:pt x="1852" y="0"/>
                  </a:moveTo>
                  <a:lnTo>
                    <a:pt x="2031" y="0"/>
                  </a:lnTo>
                  <a:lnTo>
                    <a:pt x="2033" y="0"/>
                  </a:lnTo>
                  <a:lnTo>
                    <a:pt x="2035" y="0"/>
                  </a:lnTo>
                  <a:lnTo>
                    <a:pt x="2039" y="2"/>
                  </a:lnTo>
                  <a:lnTo>
                    <a:pt x="2043" y="4"/>
                  </a:lnTo>
                  <a:lnTo>
                    <a:pt x="2043" y="5"/>
                  </a:lnTo>
                  <a:lnTo>
                    <a:pt x="2043" y="6"/>
                  </a:lnTo>
                  <a:lnTo>
                    <a:pt x="2043" y="8"/>
                  </a:lnTo>
                  <a:lnTo>
                    <a:pt x="2043" y="9"/>
                  </a:lnTo>
                  <a:lnTo>
                    <a:pt x="2039" y="11"/>
                  </a:lnTo>
                  <a:lnTo>
                    <a:pt x="2035" y="13"/>
                  </a:lnTo>
                  <a:lnTo>
                    <a:pt x="2033" y="13"/>
                  </a:lnTo>
                  <a:lnTo>
                    <a:pt x="2031" y="13"/>
                  </a:lnTo>
                  <a:lnTo>
                    <a:pt x="1852" y="13"/>
                  </a:lnTo>
                  <a:lnTo>
                    <a:pt x="1848" y="13"/>
                  </a:lnTo>
                  <a:lnTo>
                    <a:pt x="1847" y="13"/>
                  </a:lnTo>
                  <a:lnTo>
                    <a:pt x="1843" y="11"/>
                  </a:lnTo>
                  <a:lnTo>
                    <a:pt x="1839" y="9"/>
                  </a:lnTo>
                  <a:lnTo>
                    <a:pt x="1839" y="8"/>
                  </a:lnTo>
                  <a:lnTo>
                    <a:pt x="1839" y="6"/>
                  </a:lnTo>
                  <a:lnTo>
                    <a:pt x="1839" y="5"/>
                  </a:lnTo>
                  <a:lnTo>
                    <a:pt x="1839" y="4"/>
                  </a:lnTo>
                  <a:lnTo>
                    <a:pt x="1843" y="2"/>
                  </a:lnTo>
                  <a:lnTo>
                    <a:pt x="1847" y="0"/>
                  </a:lnTo>
                  <a:lnTo>
                    <a:pt x="1848" y="0"/>
                  </a:lnTo>
                  <a:lnTo>
                    <a:pt x="1852" y="0"/>
                  </a:lnTo>
                  <a:close/>
                  <a:moveTo>
                    <a:pt x="2158" y="0"/>
                  </a:moveTo>
                  <a:lnTo>
                    <a:pt x="2337" y="0"/>
                  </a:lnTo>
                  <a:lnTo>
                    <a:pt x="2341" y="0"/>
                  </a:lnTo>
                  <a:lnTo>
                    <a:pt x="2343" y="0"/>
                  </a:lnTo>
                  <a:lnTo>
                    <a:pt x="2346" y="2"/>
                  </a:lnTo>
                  <a:lnTo>
                    <a:pt x="2348" y="4"/>
                  </a:lnTo>
                  <a:lnTo>
                    <a:pt x="2350" y="5"/>
                  </a:lnTo>
                  <a:lnTo>
                    <a:pt x="2350" y="6"/>
                  </a:lnTo>
                  <a:lnTo>
                    <a:pt x="2350" y="8"/>
                  </a:lnTo>
                  <a:lnTo>
                    <a:pt x="2348" y="9"/>
                  </a:lnTo>
                  <a:lnTo>
                    <a:pt x="2346" y="11"/>
                  </a:lnTo>
                  <a:lnTo>
                    <a:pt x="2343" y="13"/>
                  </a:lnTo>
                  <a:lnTo>
                    <a:pt x="2341" y="13"/>
                  </a:lnTo>
                  <a:lnTo>
                    <a:pt x="2337" y="13"/>
                  </a:lnTo>
                  <a:lnTo>
                    <a:pt x="2158" y="13"/>
                  </a:lnTo>
                  <a:lnTo>
                    <a:pt x="2156" y="13"/>
                  </a:lnTo>
                  <a:lnTo>
                    <a:pt x="2154" y="13"/>
                  </a:lnTo>
                  <a:lnTo>
                    <a:pt x="2148" y="11"/>
                  </a:lnTo>
                  <a:lnTo>
                    <a:pt x="2146" y="9"/>
                  </a:lnTo>
                  <a:lnTo>
                    <a:pt x="2146" y="8"/>
                  </a:lnTo>
                  <a:lnTo>
                    <a:pt x="2146" y="6"/>
                  </a:lnTo>
                  <a:lnTo>
                    <a:pt x="2146" y="5"/>
                  </a:lnTo>
                  <a:lnTo>
                    <a:pt x="2146" y="4"/>
                  </a:lnTo>
                  <a:lnTo>
                    <a:pt x="2148" y="2"/>
                  </a:lnTo>
                  <a:lnTo>
                    <a:pt x="2154" y="0"/>
                  </a:lnTo>
                  <a:lnTo>
                    <a:pt x="2156" y="0"/>
                  </a:lnTo>
                  <a:lnTo>
                    <a:pt x="2158" y="0"/>
                  </a:lnTo>
                  <a:close/>
                  <a:moveTo>
                    <a:pt x="2465" y="0"/>
                  </a:moveTo>
                  <a:lnTo>
                    <a:pt x="2644" y="0"/>
                  </a:lnTo>
                  <a:lnTo>
                    <a:pt x="2646" y="0"/>
                  </a:lnTo>
                  <a:lnTo>
                    <a:pt x="2648" y="0"/>
                  </a:lnTo>
                  <a:lnTo>
                    <a:pt x="2652" y="2"/>
                  </a:lnTo>
                  <a:lnTo>
                    <a:pt x="2656" y="4"/>
                  </a:lnTo>
                  <a:lnTo>
                    <a:pt x="2656" y="5"/>
                  </a:lnTo>
                  <a:lnTo>
                    <a:pt x="2656" y="6"/>
                  </a:lnTo>
                  <a:lnTo>
                    <a:pt x="2656" y="8"/>
                  </a:lnTo>
                  <a:lnTo>
                    <a:pt x="2656" y="9"/>
                  </a:lnTo>
                  <a:lnTo>
                    <a:pt x="2652" y="11"/>
                  </a:lnTo>
                  <a:lnTo>
                    <a:pt x="2648" y="13"/>
                  </a:lnTo>
                  <a:lnTo>
                    <a:pt x="2646" y="13"/>
                  </a:lnTo>
                  <a:lnTo>
                    <a:pt x="2644" y="13"/>
                  </a:lnTo>
                  <a:lnTo>
                    <a:pt x="2465" y="13"/>
                  </a:lnTo>
                  <a:lnTo>
                    <a:pt x="2463" y="13"/>
                  </a:lnTo>
                  <a:lnTo>
                    <a:pt x="2460" y="13"/>
                  </a:lnTo>
                  <a:lnTo>
                    <a:pt x="2456" y="11"/>
                  </a:lnTo>
                  <a:lnTo>
                    <a:pt x="2454" y="9"/>
                  </a:lnTo>
                  <a:lnTo>
                    <a:pt x="2452" y="8"/>
                  </a:lnTo>
                  <a:lnTo>
                    <a:pt x="2452" y="6"/>
                  </a:lnTo>
                  <a:lnTo>
                    <a:pt x="2452" y="5"/>
                  </a:lnTo>
                  <a:lnTo>
                    <a:pt x="2454" y="4"/>
                  </a:lnTo>
                  <a:lnTo>
                    <a:pt x="2456" y="2"/>
                  </a:lnTo>
                  <a:lnTo>
                    <a:pt x="2460" y="0"/>
                  </a:lnTo>
                  <a:lnTo>
                    <a:pt x="2463" y="0"/>
                  </a:lnTo>
                  <a:lnTo>
                    <a:pt x="2465" y="0"/>
                  </a:lnTo>
                  <a:close/>
                  <a:moveTo>
                    <a:pt x="2771" y="0"/>
                  </a:moveTo>
                  <a:lnTo>
                    <a:pt x="2950" y="0"/>
                  </a:lnTo>
                  <a:lnTo>
                    <a:pt x="2954" y="0"/>
                  </a:lnTo>
                  <a:lnTo>
                    <a:pt x="2956" y="0"/>
                  </a:lnTo>
                  <a:lnTo>
                    <a:pt x="2959" y="2"/>
                  </a:lnTo>
                  <a:lnTo>
                    <a:pt x="2961" y="4"/>
                  </a:lnTo>
                  <a:lnTo>
                    <a:pt x="2963" y="5"/>
                  </a:lnTo>
                  <a:lnTo>
                    <a:pt x="2963" y="6"/>
                  </a:lnTo>
                  <a:lnTo>
                    <a:pt x="2963" y="8"/>
                  </a:lnTo>
                  <a:lnTo>
                    <a:pt x="2961" y="9"/>
                  </a:lnTo>
                  <a:lnTo>
                    <a:pt x="2959" y="11"/>
                  </a:lnTo>
                  <a:lnTo>
                    <a:pt x="2956" y="13"/>
                  </a:lnTo>
                  <a:lnTo>
                    <a:pt x="2954" y="13"/>
                  </a:lnTo>
                  <a:lnTo>
                    <a:pt x="2950" y="13"/>
                  </a:lnTo>
                  <a:lnTo>
                    <a:pt x="2771" y="13"/>
                  </a:lnTo>
                  <a:lnTo>
                    <a:pt x="2769" y="13"/>
                  </a:lnTo>
                  <a:lnTo>
                    <a:pt x="2767" y="13"/>
                  </a:lnTo>
                  <a:lnTo>
                    <a:pt x="2763" y="11"/>
                  </a:lnTo>
                  <a:lnTo>
                    <a:pt x="2759" y="9"/>
                  </a:lnTo>
                  <a:lnTo>
                    <a:pt x="2759" y="8"/>
                  </a:lnTo>
                  <a:lnTo>
                    <a:pt x="2759" y="6"/>
                  </a:lnTo>
                  <a:lnTo>
                    <a:pt x="2759" y="5"/>
                  </a:lnTo>
                  <a:lnTo>
                    <a:pt x="2759" y="4"/>
                  </a:lnTo>
                  <a:lnTo>
                    <a:pt x="2763" y="2"/>
                  </a:lnTo>
                  <a:lnTo>
                    <a:pt x="2767" y="0"/>
                  </a:lnTo>
                  <a:lnTo>
                    <a:pt x="2769" y="0"/>
                  </a:lnTo>
                  <a:lnTo>
                    <a:pt x="2771" y="0"/>
                  </a:lnTo>
                  <a:close/>
                  <a:moveTo>
                    <a:pt x="3078" y="0"/>
                  </a:moveTo>
                  <a:lnTo>
                    <a:pt x="3257" y="0"/>
                  </a:lnTo>
                  <a:lnTo>
                    <a:pt x="3259" y="0"/>
                  </a:lnTo>
                  <a:lnTo>
                    <a:pt x="3261" y="0"/>
                  </a:lnTo>
                  <a:lnTo>
                    <a:pt x="3267" y="2"/>
                  </a:lnTo>
                  <a:lnTo>
                    <a:pt x="3269" y="4"/>
                  </a:lnTo>
                  <a:lnTo>
                    <a:pt x="3269" y="5"/>
                  </a:lnTo>
                  <a:lnTo>
                    <a:pt x="3271" y="6"/>
                  </a:lnTo>
                  <a:lnTo>
                    <a:pt x="3269" y="8"/>
                  </a:lnTo>
                  <a:lnTo>
                    <a:pt x="3269" y="9"/>
                  </a:lnTo>
                  <a:lnTo>
                    <a:pt x="3267" y="11"/>
                  </a:lnTo>
                  <a:lnTo>
                    <a:pt x="3261" y="13"/>
                  </a:lnTo>
                  <a:lnTo>
                    <a:pt x="3259" y="13"/>
                  </a:lnTo>
                  <a:lnTo>
                    <a:pt x="3257" y="13"/>
                  </a:lnTo>
                  <a:lnTo>
                    <a:pt x="3078" y="13"/>
                  </a:lnTo>
                  <a:lnTo>
                    <a:pt x="3076" y="13"/>
                  </a:lnTo>
                  <a:lnTo>
                    <a:pt x="3073" y="13"/>
                  </a:lnTo>
                  <a:lnTo>
                    <a:pt x="3069" y="11"/>
                  </a:lnTo>
                  <a:lnTo>
                    <a:pt x="3067" y="9"/>
                  </a:lnTo>
                  <a:lnTo>
                    <a:pt x="3065" y="8"/>
                  </a:lnTo>
                  <a:lnTo>
                    <a:pt x="3065" y="6"/>
                  </a:lnTo>
                  <a:lnTo>
                    <a:pt x="3065" y="5"/>
                  </a:lnTo>
                  <a:lnTo>
                    <a:pt x="3067" y="4"/>
                  </a:lnTo>
                  <a:lnTo>
                    <a:pt x="3069" y="2"/>
                  </a:lnTo>
                  <a:lnTo>
                    <a:pt x="3073" y="0"/>
                  </a:lnTo>
                  <a:lnTo>
                    <a:pt x="3076" y="0"/>
                  </a:lnTo>
                  <a:lnTo>
                    <a:pt x="3078" y="0"/>
                  </a:lnTo>
                  <a:close/>
                  <a:moveTo>
                    <a:pt x="3386" y="0"/>
                  </a:moveTo>
                  <a:lnTo>
                    <a:pt x="3563" y="0"/>
                  </a:lnTo>
                  <a:lnTo>
                    <a:pt x="3567" y="0"/>
                  </a:lnTo>
                  <a:lnTo>
                    <a:pt x="3569" y="0"/>
                  </a:lnTo>
                  <a:lnTo>
                    <a:pt x="3572" y="2"/>
                  </a:lnTo>
                  <a:lnTo>
                    <a:pt x="3576" y="4"/>
                  </a:lnTo>
                  <a:lnTo>
                    <a:pt x="3576" y="5"/>
                  </a:lnTo>
                  <a:lnTo>
                    <a:pt x="3576" y="6"/>
                  </a:lnTo>
                  <a:lnTo>
                    <a:pt x="3576" y="8"/>
                  </a:lnTo>
                  <a:lnTo>
                    <a:pt x="3576" y="9"/>
                  </a:lnTo>
                  <a:lnTo>
                    <a:pt x="3572" y="11"/>
                  </a:lnTo>
                  <a:lnTo>
                    <a:pt x="3569" y="13"/>
                  </a:lnTo>
                  <a:lnTo>
                    <a:pt x="3567" y="13"/>
                  </a:lnTo>
                  <a:lnTo>
                    <a:pt x="3563" y="13"/>
                  </a:lnTo>
                  <a:lnTo>
                    <a:pt x="3386" y="13"/>
                  </a:lnTo>
                  <a:lnTo>
                    <a:pt x="3382" y="13"/>
                  </a:lnTo>
                  <a:lnTo>
                    <a:pt x="3380" y="13"/>
                  </a:lnTo>
                  <a:lnTo>
                    <a:pt x="3376" y="11"/>
                  </a:lnTo>
                  <a:lnTo>
                    <a:pt x="3373" y="9"/>
                  </a:lnTo>
                  <a:lnTo>
                    <a:pt x="3373" y="8"/>
                  </a:lnTo>
                  <a:lnTo>
                    <a:pt x="3373" y="6"/>
                  </a:lnTo>
                  <a:lnTo>
                    <a:pt x="3373" y="5"/>
                  </a:lnTo>
                  <a:lnTo>
                    <a:pt x="3373" y="4"/>
                  </a:lnTo>
                  <a:lnTo>
                    <a:pt x="3376" y="2"/>
                  </a:lnTo>
                  <a:lnTo>
                    <a:pt x="3380" y="0"/>
                  </a:lnTo>
                  <a:lnTo>
                    <a:pt x="3382" y="0"/>
                  </a:lnTo>
                  <a:lnTo>
                    <a:pt x="3386" y="0"/>
                  </a:lnTo>
                  <a:close/>
                  <a:moveTo>
                    <a:pt x="3691" y="0"/>
                  </a:moveTo>
                  <a:lnTo>
                    <a:pt x="3870" y="0"/>
                  </a:lnTo>
                  <a:lnTo>
                    <a:pt x="3872" y="0"/>
                  </a:lnTo>
                  <a:lnTo>
                    <a:pt x="3876" y="0"/>
                  </a:lnTo>
                  <a:lnTo>
                    <a:pt x="3880" y="2"/>
                  </a:lnTo>
                  <a:lnTo>
                    <a:pt x="3882" y="4"/>
                  </a:lnTo>
                  <a:lnTo>
                    <a:pt x="3884" y="5"/>
                  </a:lnTo>
                  <a:lnTo>
                    <a:pt x="3884" y="6"/>
                  </a:lnTo>
                  <a:lnTo>
                    <a:pt x="3884" y="8"/>
                  </a:lnTo>
                  <a:lnTo>
                    <a:pt x="3882" y="9"/>
                  </a:lnTo>
                  <a:lnTo>
                    <a:pt x="3880" y="11"/>
                  </a:lnTo>
                  <a:lnTo>
                    <a:pt x="3876" y="13"/>
                  </a:lnTo>
                  <a:lnTo>
                    <a:pt x="3872" y="13"/>
                  </a:lnTo>
                  <a:lnTo>
                    <a:pt x="3870" y="13"/>
                  </a:lnTo>
                  <a:lnTo>
                    <a:pt x="3691" y="13"/>
                  </a:lnTo>
                  <a:lnTo>
                    <a:pt x="3689" y="13"/>
                  </a:lnTo>
                  <a:lnTo>
                    <a:pt x="3686" y="13"/>
                  </a:lnTo>
                  <a:lnTo>
                    <a:pt x="3682" y="11"/>
                  </a:lnTo>
                  <a:lnTo>
                    <a:pt x="3680" y="9"/>
                  </a:lnTo>
                  <a:lnTo>
                    <a:pt x="3678" y="8"/>
                  </a:lnTo>
                  <a:lnTo>
                    <a:pt x="3678" y="6"/>
                  </a:lnTo>
                  <a:lnTo>
                    <a:pt x="3678" y="5"/>
                  </a:lnTo>
                  <a:lnTo>
                    <a:pt x="3680" y="4"/>
                  </a:lnTo>
                  <a:lnTo>
                    <a:pt x="3682" y="2"/>
                  </a:lnTo>
                  <a:lnTo>
                    <a:pt x="3686" y="0"/>
                  </a:lnTo>
                  <a:lnTo>
                    <a:pt x="3689" y="0"/>
                  </a:lnTo>
                  <a:lnTo>
                    <a:pt x="3691" y="0"/>
                  </a:lnTo>
                  <a:close/>
                  <a:moveTo>
                    <a:pt x="3999" y="0"/>
                  </a:moveTo>
                  <a:lnTo>
                    <a:pt x="4065" y="0"/>
                  </a:lnTo>
                  <a:lnTo>
                    <a:pt x="4067" y="0"/>
                  </a:lnTo>
                  <a:lnTo>
                    <a:pt x="4068" y="0"/>
                  </a:lnTo>
                  <a:lnTo>
                    <a:pt x="4074" y="2"/>
                  </a:lnTo>
                  <a:lnTo>
                    <a:pt x="4076" y="4"/>
                  </a:lnTo>
                  <a:lnTo>
                    <a:pt x="4078" y="5"/>
                  </a:lnTo>
                  <a:lnTo>
                    <a:pt x="4078" y="6"/>
                  </a:lnTo>
                  <a:lnTo>
                    <a:pt x="4078" y="8"/>
                  </a:lnTo>
                  <a:lnTo>
                    <a:pt x="4076" y="9"/>
                  </a:lnTo>
                  <a:lnTo>
                    <a:pt x="4074" y="11"/>
                  </a:lnTo>
                  <a:lnTo>
                    <a:pt x="4068" y="13"/>
                  </a:lnTo>
                  <a:lnTo>
                    <a:pt x="4067" y="13"/>
                  </a:lnTo>
                  <a:lnTo>
                    <a:pt x="4065" y="13"/>
                  </a:lnTo>
                  <a:lnTo>
                    <a:pt x="3999" y="13"/>
                  </a:lnTo>
                  <a:lnTo>
                    <a:pt x="3995" y="13"/>
                  </a:lnTo>
                  <a:lnTo>
                    <a:pt x="3993" y="13"/>
                  </a:lnTo>
                  <a:lnTo>
                    <a:pt x="3989" y="11"/>
                  </a:lnTo>
                  <a:lnTo>
                    <a:pt x="3986" y="9"/>
                  </a:lnTo>
                  <a:lnTo>
                    <a:pt x="3986" y="8"/>
                  </a:lnTo>
                  <a:lnTo>
                    <a:pt x="3986" y="6"/>
                  </a:lnTo>
                  <a:lnTo>
                    <a:pt x="3986" y="5"/>
                  </a:lnTo>
                  <a:lnTo>
                    <a:pt x="3986" y="4"/>
                  </a:lnTo>
                  <a:lnTo>
                    <a:pt x="3989" y="2"/>
                  </a:lnTo>
                  <a:lnTo>
                    <a:pt x="3993" y="0"/>
                  </a:lnTo>
                  <a:lnTo>
                    <a:pt x="3995" y="0"/>
                  </a:lnTo>
                  <a:lnTo>
                    <a:pt x="3999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" name="Rectangle 246"/>
            <p:cNvSpPr>
              <a:spLocks noChangeArrowheads="1"/>
            </p:cNvSpPr>
            <p:nvPr/>
          </p:nvSpPr>
          <p:spPr bwMode="auto">
            <a:xfrm>
              <a:off x="3909" y="2901"/>
              <a:ext cx="59" cy="11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/>
            </a:p>
          </p:txBody>
        </p:sp>
        <p:sp>
          <p:nvSpPr>
            <p:cNvPr id="248" name="Rectangle 247"/>
            <p:cNvSpPr>
              <a:spLocks noChangeArrowheads="1"/>
            </p:cNvSpPr>
            <p:nvPr/>
          </p:nvSpPr>
          <p:spPr bwMode="auto">
            <a:xfrm>
              <a:off x="3697" y="3145"/>
              <a:ext cx="197" cy="18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/2</a:t>
              </a:r>
              <a:endParaRPr lang="en-US" altLang="zh-CN" sz="2000"/>
            </a:p>
          </p:txBody>
        </p:sp>
        <p:sp>
          <p:nvSpPr>
            <p:cNvPr id="249" name="Rectangle 248"/>
            <p:cNvSpPr>
              <a:spLocks noChangeArrowheads="1"/>
            </p:cNvSpPr>
            <p:nvPr/>
          </p:nvSpPr>
          <p:spPr bwMode="auto">
            <a:xfrm>
              <a:off x="3425" y="3281"/>
              <a:ext cx="102" cy="21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</a:p>
          </p:txBody>
        </p:sp>
        <p:sp>
          <p:nvSpPr>
            <p:cNvPr id="250" name="Freeform 249"/>
            <p:cNvSpPr>
              <a:spLocks noEditPoints="1"/>
            </p:cNvSpPr>
            <p:nvPr/>
          </p:nvSpPr>
          <p:spPr bwMode="auto">
            <a:xfrm>
              <a:off x="3378" y="3608"/>
              <a:ext cx="1980" cy="8"/>
            </a:xfrm>
            <a:custGeom>
              <a:avLst/>
              <a:gdLst>
                <a:gd name="T0" fmla="*/ 1 w 3961"/>
                <a:gd name="T1" fmla="*/ 5 h 8"/>
                <a:gd name="T2" fmla="*/ 0 w 3961"/>
                <a:gd name="T3" fmla="*/ 5 h 8"/>
                <a:gd name="T4" fmla="*/ 3 w 3961"/>
                <a:gd name="T5" fmla="*/ 0 h 8"/>
                <a:gd name="T6" fmla="*/ 4 w 3961"/>
                <a:gd name="T7" fmla="*/ 6 h 8"/>
                <a:gd name="T8" fmla="*/ 2 w 3961"/>
                <a:gd name="T9" fmla="*/ 4 h 8"/>
                <a:gd name="T10" fmla="*/ 7 w 3961"/>
                <a:gd name="T11" fmla="*/ 0 h 8"/>
                <a:gd name="T12" fmla="*/ 7 w 3961"/>
                <a:gd name="T13" fmla="*/ 7 h 8"/>
                <a:gd name="T14" fmla="*/ 5 w 3961"/>
                <a:gd name="T15" fmla="*/ 2 h 8"/>
                <a:gd name="T16" fmla="*/ 10 w 3961"/>
                <a:gd name="T17" fmla="*/ 0 h 8"/>
                <a:gd name="T18" fmla="*/ 10 w 3961"/>
                <a:gd name="T19" fmla="*/ 8 h 8"/>
                <a:gd name="T20" fmla="*/ 8 w 3961"/>
                <a:gd name="T21" fmla="*/ 1 h 8"/>
                <a:gd name="T22" fmla="*/ 13 w 3961"/>
                <a:gd name="T23" fmla="*/ 1 h 8"/>
                <a:gd name="T24" fmla="*/ 11 w 3961"/>
                <a:gd name="T25" fmla="*/ 8 h 8"/>
                <a:gd name="T26" fmla="*/ 11 w 3961"/>
                <a:gd name="T27" fmla="*/ 0 h 8"/>
                <a:gd name="T28" fmla="*/ 16 w 3961"/>
                <a:gd name="T29" fmla="*/ 2 h 8"/>
                <a:gd name="T30" fmla="*/ 14 w 3961"/>
                <a:gd name="T31" fmla="*/ 7 h 8"/>
                <a:gd name="T32" fmla="*/ 14 w 3961"/>
                <a:gd name="T33" fmla="*/ 0 h 8"/>
                <a:gd name="T34" fmla="*/ 19 w 3961"/>
                <a:gd name="T35" fmla="*/ 4 h 8"/>
                <a:gd name="T36" fmla="*/ 17 w 3961"/>
                <a:gd name="T37" fmla="*/ 6 h 8"/>
                <a:gd name="T38" fmla="*/ 17 w 3961"/>
                <a:gd name="T39" fmla="*/ 0 h 8"/>
                <a:gd name="T40" fmla="*/ 22 w 3961"/>
                <a:gd name="T41" fmla="*/ 5 h 8"/>
                <a:gd name="T42" fmla="*/ 20 w 3961"/>
                <a:gd name="T43" fmla="*/ 5 h 8"/>
                <a:gd name="T44" fmla="*/ 23 w 3961"/>
                <a:gd name="T45" fmla="*/ 0 h 8"/>
                <a:gd name="T46" fmla="*/ 24 w 3961"/>
                <a:gd name="T47" fmla="*/ 6 h 8"/>
                <a:gd name="T48" fmla="*/ 23 w 3961"/>
                <a:gd name="T49" fmla="*/ 4 h 8"/>
                <a:gd name="T50" fmla="*/ 27 w 3961"/>
                <a:gd name="T51" fmla="*/ 0 h 8"/>
                <a:gd name="T52" fmla="*/ 27 w 3961"/>
                <a:gd name="T53" fmla="*/ 7 h 8"/>
                <a:gd name="T54" fmla="*/ 25 w 3961"/>
                <a:gd name="T55" fmla="*/ 2 h 8"/>
                <a:gd name="T56" fmla="*/ 30 w 3961"/>
                <a:gd name="T57" fmla="*/ 0 h 8"/>
                <a:gd name="T58" fmla="*/ 30 w 3961"/>
                <a:gd name="T59" fmla="*/ 8 h 8"/>
                <a:gd name="T60" fmla="*/ 28 w 3961"/>
                <a:gd name="T61" fmla="*/ 1 h 8"/>
                <a:gd name="T62" fmla="*/ 33 w 3961"/>
                <a:gd name="T63" fmla="*/ 1 h 8"/>
                <a:gd name="T64" fmla="*/ 31 w 3961"/>
                <a:gd name="T65" fmla="*/ 8 h 8"/>
                <a:gd name="T66" fmla="*/ 31 w 3961"/>
                <a:gd name="T67" fmla="*/ 0 h 8"/>
                <a:gd name="T68" fmla="*/ 36 w 3961"/>
                <a:gd name="T69" fmla="*/ 2 h 8"/>
                <a:gd name="T70" fmla="*/ 34 w 3961"/>
                <a:gd name="T71" fmla="*/ 7 h 8"/>
                <a:gd name="T72" fmla="*/ 34 w 3961"/>
                <a:gd name="T73" fmla="*/ 0 h 8"/>
                <a:gd name="T74" fmla="*/ 39 w 3961"/>
                <a:gd name="T75" fmla="*/ 4 h 8"/>
                <a:gd name="T76" fmla="*/ 37 w 3961"/>
                <a:gd name="T77" fmla="*/ 6 h 8"/>
                <a:gd name="T78" fmla="*/ 37 w 3961"/>
                <a:gd name="T79" fmla="*/ 0 h 8"/>
                <a:gd name="T80" fmla="*/ 42 w 3961"/>
                <a:gd name="T81" fmla="*/ 5 h 8"/>
                <a:gd name="T82" fmla="*/ 40 w 3961"/>
                <a:gd name="T83" fmla="*/ 5 h 8"/>
                <a:gd name="T84" fmla="*/ 43 w 3961"/>
                <a:gd name="T85" fmla="*/ 0 h 8"/>
                <a:gd name="T86" fmla="*/ 45 w 3961"/>
                <a:gd name="T87" fmla="*/ 6 h 8"/>
                <a:gd name="T88" fmla="*/ 43 w 3961"/>
                <a:gd name="T89" fmla="*/ 4 h 8"/>
                <a:gd name="T90" fmla="*/ 47 w 3961"/>
                <a:gd name="T91" fmla="*/ 0 h 8"/>
                <a:gd name="T92" fmla="*/ 47 w 3961"/>
                <a:gd name="T93" fmla="*/ 7 h 8"/>
                <a:gd name="T94" fmla="*/ 46 w 3961"/>
                <a:gd name="T95" fmla="*/ 2 h 8"/>
                <a:gd name="T96" fmla="*/ 50 w 3961"/>
                <a:gd name="T97" fmla="*/ 0 h 8"/>
                <a:gd name="T98" fmla="*/ 50 w 3961"/>
                <a:gd name="T99" fmla="*/ 8 h 8"/>
                <a:gd name="T100" fmla="*/ 48 w 3961"/>
                <a:gd name="T101" fmla="*/ 1 h 8"/>
                <a:gd name="T102" fmla="*/ 53 w 3961"/>
                <a:gd name="T103" fmla="*/ 1 h 8"/>
                <a:gd name="T104" fmla="*/ 51 w 3961"/>
                <a:gd name="T105" fmla="*/ 8 h 8"/>
                <a:gd name="T106" fmla="*/ 51 w 3961"/>
                <a:gd name="T107" fmla="*/ 0 h 8"/>
                <a:gd name="T108" fmla="*/ 56 w 3961"/>
                <a:gd name="T109" fmla="*/ 2 h 8"/>
                <a:gd name="T110" fmla="*/ 54 w 3961"/>
                <a:gd name="T111" fmla="*/ 7 h 8"/>
                <a:gd name="T112" fmla="*/ 54 w 3961"/>
                <a:gd name="T113" fmla="*/ 0 h 8"/>
                <a:gd name="T114" fmla="*/ 59 w 3961"/>
                <a:gd name="T115" fmla="*/ 4 h 8"/>
                <a:gd name="T116" fmla="*/ 57 w 3961"/>
                <a:gd name="T117" fmla="*/ 6 h 8"/>
                <a:gd name="T118" fmla="*/ 57 w 3961"/>
                <a:gd name="T119" fmla="*/ 0 h 8"/>
                <a:gd name="T120" fmla="*/ 61 w 3961"/>
                <a:gd name="T121" fmla="*/ 5 h 8"/>
                <a:gd name="T122" fmla="*/ 60 w 3961"/>
                <a:gd name="T123" fmla="*/ 5 h 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961"/>
                <a:gd name="T187" fmla="*/ 0 h 8"/>
                <a:gd name="T188" fmla="*/ 3961 w 3961"/>
                <a:gd name="T189" fmla="*/ 8 h 8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961" h="8">
                  <a:moveTo>
                    <a:pt x="7" y="0"/>
                  </a:moveTo>
                  <a:lnTo>
                    <a:pt x="115" y="0"/>
                  </a:lnTo>
                  <a:lnTo>
                    <a:pt x="119" y="0"/>
                  </a:lnTo>
                  <a:lnTo>
                    <a:pt x="121" y="1"/>
                  </a:lnTo>
                  <a:lnTo>
                    <a:pt x="122" y="2"/>
                  </a:lnTo>
                  <a:lnTo>
                    <a:pt x="122" y="4"/>
                  </a:lnTo>
                  <a:lnTo>
                    <a:pt x="122" y="5"/>
                  </a:lnTo>
                  <a:lnTo>
                    <a:pt x="121" y="6"/>
                  </a:lnTo>
                  <a:lnTo>
                    <a:pt x="119" y="7"/>
                  </a:lnTo>
                  <a:lnTo>
                    <a:pt x="115" y="8"/>
                  </a:lnTo>
                  <a:lnTo>
                    <a:pt x="7" y="8"/>
                  </a:lnTo>
                  <a:lnTo>
                    <a:pt x="5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1"/>
                  </a:lnTo>
                  <a:lnTo>
                    <a:pt x="5" y="0"/>
                  </a:lnTo>
                  <a:lnTo>
                    <a:pt x="7" y="0"/>
                  </a:lnTo>
                  <a:close/>
                  <a:moveTo>
                    <a:pt x="192" y="0"/>
                  </a:moveTo>
                  <a:lnTo>
                    <a:pt x="300" y="0"/>
                  </a:lnTo>
                  <a:lnTo>
                    <a:pt x="302" y="0"/>
                  </a:lnTo>
                  <a:lnTo>
                    <a:pt x="305" y="1"/>
                  </a:lnTo>
                  <a:lnTo>
                    <a:pt x="307" y="2"/>
                  </a:lnTo>
                  <a:lnTo>
                    <a:pt x="307" y="4"/>
                  </a:lnTo>
                  <a:lnTo>
                    <a:pt x="307" y="5"/>
                  </a:lnTo>
                  <a:lnTo>
                    <a:pt x="305" y="6"/>
                  </a:lnTo>
                  <a:lnTo>
                    <a:pt x="302" y="7"/>
                  </a:lnTo>
                  <a:lnTo>
                    <a:pt x="300" y="8"/>
                  </a:lnTo>
                  <a:lnTo>
                    <a:pt x="192" y="8"/>
                  </a:lnTo>
                  <a:lnTo>
                    <a:pt x="188" y="7"/>
                  </a:lnTo>
                  <a:lnTo>
                    <a:pt x="187" y="6"/>
                  </a:lnTo>
                  <a:lnTo>
                    <a:pt x="185" y="5"/>
                  </a:lnTo>
                  <a:lnTo>
                    <a:pt x="185" y="4"/>
                  </a:lnTo>
                  <a:lnTo>
                    <a:pt x="185" y="2"/>
                  </a:lnTo>
                  <a:lnTo>
                    <a:pt x="187" y="1"/>
                  </a:lnTo>
                  <a:lnTo>
                    <a:pt x="188" y="0"/>
                  </a:lnTo>
                  <a:lnTo>
                    <a:pt x="192" y="0"/>
                  </a:lnTo>
                  <a:close/>
                  <a:moveTo>
                    <a:pt x="375" y="0"/>
                  </a:moveTo>
                  <a:lnTo>
                    <a:pt x="483" y="0"/>
                  </a:lnTo>
                  <a:lnTo>
                    <a:pt x="486" y="0"/>
                  </a:lnTo>
                  <a:lnTo>
                    <a:pt x="488" y="1"/>
                  </a:lnTo>
                  <a:lnTo>
                    <a:pt x="490" y="2"/>
                  </a:lnTo>
                  <a:lnTo>
                    <a:pt x="490" y="4"/>
                  </a:lnTo>
                  <a:lnTo>
                    <a:pt x="490" y="5"/>
                  </a:lnTo>
                  <a:lnTo>
                    <a:pt x="488" y="6"/>
                  </a:lnTo>
                  <a:lnTo>
                    <a:pt x="486" y="7"/>
                  </a:lnTo>
                  <a:lnTo>
                    <a:pt x="483" y="8"/>
                  </a:lnTo>
                  <a:lnTo>
                    <a:pt x="375" y="8"/>
                  </a:lnTo>
                  <a:lnTo>
                    <a:pt x="373" y="7"/>
                  </a:lnTo>
                  <a:lnTo>
                    <a:pt x="371" y="6"/>
                  </a:lnTo>
                  <a:lnTo>
                    <a:pt x="370" y="5"/>
                  </a:lnTo>
                  <a:lnTo>
                    <a:pt x="368" y="4"/>
                  </a:lnTo>
                  <a:lnTo>
                    <a:pt x="370" y="2"/>
                  </a:lnTo>
                  <a:lnTo>
                    <a:pt x="371" y="1"/>
                  </a:lnTo>
                  <a:lnTo>
                    <a:pt x="373" y="0"/>
                  </a:lnTo>
                  <a:lnTo>
                    <a:pt x="375" y="0"/>
                  </a:lnTo>
                  <a:close/>
                  <a:moveTo>
                    <a:pt x="560" y="0"/>
                  </a:moveTo>
                  <a:lnTo>
                    <a:pt x="668" y="0"/>
                  </a:lnTo>
                  <a:lnTo>
                    <a:pt x="669" y="0"/>
                  </a:lnTo>
                  <a:lnTo>
                    <a:pt x="673" y="1"/>
                  </a:lnTo>
                  <a:lnTo>
                    <a:pt x="675" y="2"/>
                  </a:lnTo>
                  <a:lnTo>
                    <a:pt x="675" y="4"/>
                  </a:lnTo>
                  <a:lnTo>
                    <a:pt x="675" y="5"/>
                  </a:lnTo>
                  <a:lnTo>
                    <a:pt x="673" y="6"/>
                  </a:lnTo>
                  <a:lnTo>
                    <a:pt x="669" y="7"/>
                  </a:lnTo>
                  <a:lnTo>
                    <a:pt x="668" y="8"/>
                  </a:lnTo>
                  <a:lnTo>
                    <a:pt x="560" y="8"/>
                  </a:lnTo>
                  <a:lnTo>
                    <a:pt x="556" y="7"/>
                  </a:lnTo>
                  <a:lnTo>
                    <a:pt x="554" y="6"/>
                  </a:lnTo>
                  <a:lnTo>
                    <a:pt x="552" y="5"/>
                  </a:lnTo>
                  <a:lnTo>
                    <a:pt x="552" y="4"/>
                  </a:lnTo>
                  <a:lnTo>
                    <a:pt x="552" y="2"/>
                  </a:lnTo>
                  <a:lnTo>
                    <a:pt x="554" y="1"/>
                  </a:lnTo>
                  <a:lnTo>
                    <a:pt x="556" y="0"/>
                  </a:lnTo>
                  <a:lnTo>
                    <a:pt x="560" y="0"/>
                  </a:lnTo>
                  <a:close/>
                  <a:moveTo>
                    <a:pt x="745" y="0"/>
                  </a:moveTo>
                  <a:lnTo>
                    <a:pt x="850" y="0"/>
                  </a:lnTo>
                  <a:lnTo>
                    <a:pt x="854" y="0"/>
                  </a:lnTo>
                  <a:lnTo>
                    <a:pt x="856" y="1"/>
                  </a:lnTo>
                  <a:lnTo>
                    <a:pt x="858" y="2"/>
                  </a:lnTo>
                  <a:lnTo>
                    <a:pt x="860" y="4"/>
                  </a:lnTo>
                  <a:lnTo>
                    <a:pt x="858" y="5"/>
                  </a:lnTo>
                  <a:lnTo>
                    <a:pt x="856" y="6"/>
                  </a:lnTo>
                  <a:lnTo>
                    <a:pt x="854" y="7"/>
                  </a:lnTo>
                  <a:lnTo>
                    <a:pt x="850" y="8"/>
                  </a:lnTo>
                  <a:lnTo>
                    <a:pt x="745" y="8"/>
                  </a:lnTo>
                  <a:lnTo>
                    <a:pt x="741" y="7"/>
                  </a:lnTo>
                  <a:lnTo>
                    <a:pt x="739" y="6"/>
                  </a:lnTo>
                  <a:lnTo>
                    <a:pt x="737" y="5"/>
                  </a:lnTo>
                  <a:lnTo>
                    <a:pt x="735" y="4"/>
                  </a:lnTo>
                  <a:lnTo>
                    <a:pt x="737" y="2"/>
                  </a:lnTo>
                  <a:lnTo>
                    <a:pt x="739" y="1"/>
                  </a:lnTo>
                  <a:lnTo>
                    <a:pt x="741" y="0"/>
                  </a:lnTo>
                  <a:lnTo>
                    <a:pt x="745" y="0"/>
                  </a:lnTo>
                  <a:close/>
                  <a:moveTo>
                    <a:pt x="928" y="0"/>
                  </a:moveTo>
                  <a:lnTo>
                    <a:pt x="1035" y="0"/>
                  </a:lnTo>
                  <a:lnTo>
                    <a:pt x="1037" y="0"/>
                  </a:lnTo>
                  <a:lnTo>
                    <a:pt x="1041" y="1"/>
                  </a:lnTo>
                  <a:lnTo>
                    <a:pt x="1043" y="2"/>
                  </a:lnTo>
                  <a:lnTo>
                    <a:pt x="1043" y="4"/>
                  </a:lnTo>
                  <a:lnTo>
                    <a:pt x="1043" y="5"/>
                  </a:lnTo>
                  <a:lnTo>
                    <a:pt x="1041" y="6"/>
                  </a:lnTo>
                  <a:lnTo>
                    <a:pt x="1037" y="7"/>
                  </a:lnTo>
                  <a:lnTo>
                    <a:pt x="1035" y="8"/>
                  </a:lnTo>
                  <a:lnTo>
                    <a:pt x="928" y="8"/>
                  </a:lnTo>
                  <a:lnTo>
                    <a:pt x="924" y="7"/>
                  </a:lnTo>
                  <a:lnTo>
                    <a:pt x="922" y="6"/>
                  </a:lnTo>
                  <a:lnTo>
                    <a:pt x="920" y="5"/>
                  </a:lnTo>
                  <a:lnTo>
                    <a:pt x="920" y="4"/>
                  </a:lnTo>
                  <a:lnTo>
                    <a:pt x="920" y="2"/>
                  </a:lnTo>
                  <a:lnTo>
                    <a:pt x="922" y="1"/>
                  </a:lnTo>
                  <a:lnTo>
                    <a:pt x="924" y="0"/>
                  </a:lnTo>
                  <a:lnTo>
                    <a:pt x="928" y="0"/>
                  </a:lnTo>
                  <a:close/>
                  <a:moveTo>
                    <a:pt x="1113" y="0"/>
                  </a:moveTo>
                  <a:lnTo>
                    <a:pt x="1220" y="0"/>
                  </a:lnTo>
                  <a:lnTo>
                    <a:pt x="1222" y="0"/>
                  </a:lnTo>
                  <a:lnTo>
                    <a:pt x="1224" y="1"/>
                  </a:lnTo>
                  <a:lnTo>
                    <a:pt x="1226" y="2"/>
                  </a:lnTo>
                  <a:lnTo>
                    <a:pt x="1228" y="4"/>
                  </a:lnTo>
                  <a:lnTo>
                    <a:pt x="1226" y="5"/>
                  </a:lnTo>
                  <a:lnTo>
                    <a:pt x="1224" y="6"/>
                  </a:lnTo>
                  <a:lnTo>
                    <a:pt x="1222" y="7"/>
                  </a:lnTo>
                  <a:lnTo>
                    <a:pt x="1220" y="8"/>
                  </a:lnTo>
                  <a:lnTo>
                    <a:pt x="1113" y="8"/>
                  </a:lnTo>
                  <a:lnTo>
                    <a:pt x="1109" y="7"/>
                  </a:lnTo>
                  <a:lnTo>
                    <a:pt x="1107" y="6"/>
                  </a:lnTo>
                  <a:lnTo>
                    <a:pt x="1105" y="5"/>
                  </a:lnTo>
                  <a:lnTo>
                    <a:pt x="1105" y="4"/>
                  </a:lnTo>
                  <a:lnTo>
                    <a:pt x="1105" y="2"/>
                  </a:lnTo>
                  <a:lnTo>
                    <a:pt x="1107" y="1"/>
                  </a:lnTo>
                  <a:lnTo>
                    <a:pt x="1109" y="0"/>
                  </a:lnTo>
                  <a:lnTo>
                    <a:pt x="1113" y="0"/>
                  </a:lnTo>
                  <a:close/>
                  <a:moveTo>
                    <a:pt x="1296" y="0"/>
                  </a:moveTo>
                  <a:lnTo>
                    <a:pt x="1403" y="0"/>
                  </a:lnTo>
                  <a:lnTo>
                    <a:pt x="1407" y="0"/>
                  </a:lnTo>
                  <a:lnTo>
                    <a:pt x="1409" y="1"/>
                  </a:lnTo>
                  <a:lnTo>
                    <a:pt x="1411" y="2"/>
                  </a:lnTo>
                  <a:lnTo>
                    <a:pt x="1411" y="4"/>
                  </a:lnTo>
                  <a:lnTo>
                    <a:pt x="1411" y="5"/>
                  </a:lnTo>
                  <a:lnTo>
                    <a:pt x="1409" y="6"/>
                  </a:lnTo>
                  <a:lnTo>
                    <a:pt x="1407" y="7"/>
                  </a:lnTo>
                  <a:lnTo>
                    <a:pt x="1403" y="8"/>
                  </a:lnTo>
                  <a:lnTo>
                    <a:pt x="1296" y="8"/>
                  </a:lnTo>
                  <a:lnTo>
                    <a:pt x="1294" y="7"/>
                  </a:lnTo>
                  <a:lnTo>
                    <a:pt x="1290" y="6"/>
                  </a:lnTo>
                  <a:lnTo>
                    <a:pt x="1288" y="5"/>
                  </a:lnTo>
                  <a:lnTo>
                    <a:pt x="1288" y="4"/>
                  </a:lnTo>
                  <a:lnTo>
                    <a:pt x="1288" y="2"/>
                  </a:lnTo>
                  <a:lnTo>
                    <a:pt x="1290" y="1"/>
                  </a:lnTo>
                  <a:lnTo>
                    <a:pt x="1294" y="0"/>
                  </a:lnTo>
                  <a:lnTo>
                    <a:pt x="1296" y="0"/>
                  </a:lnTo>
                  <a:close/>
                  <a:moveTo>
                    <a:pt x="1480" y="0"/>
                  </a:moveTo>
                  <a:lnTo>
                    <a:pt x="1588" y="0"/>
                  </a:lnTo>
                  <a:lnTo>
                    <a:pt x="1590" y="0"/>
                  </a:lnTo>
                  <a:lnTo>
                    <a:pt x="1592" y="1"/>
                  </a:lnTo>
                  <a:lnTo>
                    <a:pt x="1594" y="2"/>
                  </a:lnTo>
                  <a:lnTo>
                    <a:pt x="1596" y="4"/>
                  </a:lnTo>
                  <a:lnTo>
                    <a:pt x="1594" y="5"/>
                  </a:lnTo>
                  <a:lnTo>
                    <a:pt x="1592" y="6"/>
                  </a:lnTo>
                  <a:lnTo>
                    <a:pt x="1590" y="7"/>
                  </a:lnTo>
                  <a:lnTo>
                    <a:pt x="1588" y="8"/>
                  </a:lnTo>
                  <a:lnTo>
                    <a:pt x="1480" y="8"/>
                  </a:lnTo>
                  <a:lnTo>
                    <a:pt x="1477" y="7"/>
                  </a:lnTo>
                  <a:lnTo>
                    <a:pt x="1475" y="6"/>
                  </a:lnTo>
                  <a:lnTo>
                    <a:pt x="1473" y="5"/>
                  </a:lnTo>
                  <a:lnTo>
                    <a:pt x="1473" y="4"/>
                  </a:lnTo>
                  <a:lnTo>
                    <a:pt x="1473" y="2"/>
                  </a:lnTo>
                  <a:lnTo>
                    <a:pt x="1475" y="1"/>
                  </a:lnTo>
                  <a:lnTo>
                    <a:pt x="1477" y="0"/>
                  </a:lnTo>
                  <a:lnTo>
                    <a:pt x="1480" y="0"/>
                  </a:lnTo>
                  <a:close/>
                  <a:moveTo>
                    <a:pt x="1663" y="0"/>
                  </a:moveTo>
                  <a:lnTo>
                    <a:pt x="1771" y="0"/>
                  </a:lnTo>
                  <a:lnTo>
                    <a:pt x="1775" y="0"/>
                  </a:lnTo>
                  <a:lnTo>
                    <a:pt x="1777" y="1"/>
                  </a:lnTo>
                  <a:lnTo>
                    <a:pt x="1778" y="2"/>
                  </a:lnTo>
                  <a:lnTo>
                    <a:pt x="1778" y="4"/>
                  </a:lnTo>
                  <a:lnTo>
                    <a:pt x="1778" y="5"/>
                  </a:lnTo>
                  <a:lnTo>
                    <a:pt x="1777" y="6"/>
                  </a:lnTo>
                  <a:lnTo>
                    <a:pt x="1775" y="7"/>
                  </a:lnTo>
                  <a:lnTo>
                    <a:pt x="1771" y="8"/>
                  </a:lnTo>
                  <a:lnTo>
                    <a:pt x="1663" y="8"/>
                  </a:lnTo>
                  <a:lnTo>
                    <a:pt x="1662" y="7"/>
                  </a:lnTo>
                  <a:lnTo>
                    <a:pt x="1658" y="6"/>
                  </a:lnTo>
                  <a:lnTo>
                    <a:pt x="1656" y="5"/>
                  </a:lnTo>
                  <a:lnTo>
                    <a:pt x="1656" y="4"/>
                  </a:lnTo>
                  <a:lnTo>
                    <a:pt x="1656" y="2"/>
                  </a:lnTo>
                  <a:lnTo>
                    <a:pt x="1658" y="1"/>
                  </a:lnTo>
                  <a:lnTo>
                    <a:pt x="1662" y="0"/>
                  </a:lnTo>
                  <a:lnTo>
                    <a:pt x="1663" y="0"/>
                  </a:lnTo>
                  <a:close/>
                  <a:moveTo>
                    <a:pt x="1848" y="0"/>
                  </a:moveTo>
                  <a:lnTo>
                    <a:pt x="1956" y="0"/>
                  </a:lnTo>
                  <a:lnTo>
                    <a:pt x="1958" y="0"/>
                  </a:lnTo>
                  <a:lnTo>
                    <a:pt x="1960" y="1"/>
                  </a:lnTo>
                  <a:lnTo>
                    <a:pt x="1961" y="2"/>
                  </a:lnTo>
                  <a:lnTo>
                    <a:pt x="1963" y="4"/>
                  </a:lnTo>
                  <a:lnTo>
                    <a:pt x="1961" y="5"/>
                  </a:lnTo>
                  <a:lnTo>
                    <a:pt x="1960" y="6"/>
                  </a:lnTo>
                  <a:lnTo>
                    <a:pt x="1958" y="7"/>
                  </a:lnTo>
                  <a:lnTo>
                    <a:pt x="1956" y="8"/>
                  </a:lnTo>
                  <a:lnTo>
                    <a:pt x="1848" y="8"/>
                  </a:lnTo>
                  <a:lnTo>
                    <a:pt x="1844" y="7"/>
                  </a:lnTo>
                  <a:lnTo>
                    <a:pt x="1843" y="6"/>
                  </a:lnTo>
                  <a:lnTo>
                    <a:pt x="1841" y="5"/>
                  </a:lnTo>
                  <a:lnTo>
                    <a:pt x="1841" y="4"/>
                  </a:lnTo>
                  <a:lnTo>
                    <a:pt x="1841" y="2"/>
                  </a:lnTo>
                  <a:lnTo>
                    <a:pt x="1843" y="1"/>
                  </a:lnTo>
                  <a:lnTo>
                    <a:pt x="1844" y="0"/>
                  </a:lnTo>
                  <a:lnTo>
                    <a:pt x="1848" y="0"/>
                  </a:lnTo>
                  <a:close/>
                  <a:moveTo>
                    <a:pt x="2031" y="0"/>
                  </a:moveTo>
                  <a:lnTo>
                    <a:pt x="2139" y="0"/>
                  </a:lnTo>
                  <a:lnTo>
                    <a:pt x="2142" y="0"/>
                  </a:lnTo>
                  <a:lnTo>
                    <a:pt x="2144" y="1"/>
                  </a:lnTo>
                  <a:lnTo>
                    <a:pt x="2146" y="2"/>
                  </a:lnTo>
                  <a:lnTo>
                    <a:pt x="2146" y="4"/>
                  </a:lnTo>
                  <a:lnTo>
                    <a:pt x="2146" y="5"/>
                  </a:lnTo>
                  <a:lnTo>
                    <a:pt x="2144" y="6"/>
                  </a:lnTo>
                  <a:lnTo>
                    <a:pt x="2142" y="7"/>
                  </a:lnTo>
                  <a:lnTo>
                    <a:pt x="2139" y="8"/>
                  </a:lnTo>
                  <a:lnTo>
                    <a:pt x="2031" y="8"/>
                  </a:lnTo>
                  <a:lnTo>
                    <a:pt x="2029" y="7"/>
                  </a:lnTo>
                  <a:lnTo>
                    <a:pt x="2026" y="6"/>
                  </a:lnTo>
                  <a:lnTo>
                    <a:pt x="2024" y="5"/>
                  </a:lnTo>
                  <a:lnTo>
                    <a:pt x="2024" y="4"/>
                  </a:lnTo>
                  <a:lnTo>
                    <a:pt x="2024" y="2"/>
                  </a:lnTo>
                  <a:lnTo>
                    <a:pt x="2026" y="1"/>
                  </a:lnTo>
                  <a:lnTo>
                    <a:pt x="2029" y="0"/>
                  </a:lnTo>
                  <a:lnTo>
                    <a:pt x="2031" y="0"/>
                  </a:lnTo>
                  <a:close/>
                  <a:moveTo>
                    <a:pt x="2216" y="0"/>
                  </a:moveTo>
                  <a:lnTo>
                    <a:pt x="2324" y="0"/>
                  </a:lnTo>
                  <a:lnTo>
                    <a:pt x="2325" y="0"/>
                  </a:lnTo>
                  <a:lnTo>
                    <a:pt x="2329" y="1"/>
                  </a:lnTo>
                  <a:lnTo>
                    <a:pt x="2329" y="2"/>
                  </a:lnTo>
                  <a:lnTo>
                    <a:pt x="2331" y="4"/>
                  </a:lnTo>
                  <a:lnTo>
                    <a:pt x="2329" y="5"/>
                  </a:lnTo>
                  <a:lnTo>
                    <a:pt x="2329" y="6"/>
                  </a:lnTo>
                  <a:lnTo>
                    <a:pt x="2325" y="7"/>
                  </a:lnTo>
                  <a:lnTo>
                    <a:pt x="2324" y="8"/>
                  </a:lnTo>
                  <a:lnTo>
                    <a:pt x="2216" y="8"/>
                  </a:lnTo>
                  <a:lnTo>
                    <a:pt x="2212" y="7"/>
                  </a:lnTo>
                  <a:lnTo>
                    <a:pt x="2210" y="6"/>
                  </a:lnTo>
                  <a:lnTo>
                    <a:pt x="2209" y="5"/>
                  </a:lnTo>
                  <a:lnTo>
                    <a:pt x="2209" y="4"/>
                  </a:lnTo>
                  <a:lnTo>
                    <a:pt x="2209" y="2"/>
                  </a:lnTo>
                  <a:lnTo>
                    <a:pt x="2210" y="1"/>
                  </a:lnTo>
                  <a:lnTo>
                    <a:pt x="2212" y="0"/>
                  </a:lnTo>
                  <a:lnTo>
                    <a:pt x="2216" y="0"/>
                  </a:lnTo>
                  <a:close/>
                  <a:moveTo>
                    <a:pt x="2399" y="0"/>
                  </a:moveTo>
                  <a:lnTo>
                    <a:pt x="2507" y="0"/>
                  </a:lnTo>
                  <a:lnTo>
                    <a:pt x="2510" y="0"/>
                  </a:lnTo>
                  <a:lnTo>
                    <a:pt x="2512" y="1"/>
                  </a:lnTo>
                  <a:lnTo>
                    <a:pt x="2514" y="2"/>
                  </a:lnTo>
                  <a:lnTo>
                    <a:pt x="2514" y="4"/>
                  </a:lnTo>
                  <a:lnTo>
                    <a:pt x="2514" y="5"/>
                  </a:lnTo>
                  <a:lnTo>
                    <a:pt x="2512" y="6"/>
                  </a:lnTo>
                  <a:lnTo>
                    <a:pt x="2510" y="7"/>
                  </a:lnTo>
                  <a:lnTo>
                    <a:pt x="2507" y="8"/>
                  </a:lnTo>
                  <a:lnTo>
                    <a:pt x="2399" y="8"/>
                  </a:lnTo>
                  <a:lnTo>
                    <a:pt x="2397" y="7"/>
                  </a:lnTo>
                  <a:lnTo>
                    <a:pt x="2393" y="6"/>
                  </a:lnTo>
                  <a:lnTo>
                    <a:pt x="2393" y="5"/>
                  </a:lnTo>
                  <a:lnTo>
                    <a:pt x="2391" y="4"/>
                  </a:lnTo>
                  <a:lnTo>
                    <a:pt x="2393" y="2"/>
                  </a:lnTo>
                  <a:lnTo>
                    <a:pt x="2393" y="1"/>
                  </a:lnTo>
                  <a:lnTo>
                    <a:pt x="2397" y="0"/>
                  </a:lnTo>
                  <a:lnTo>
                    <a:pt x="2399" y="0"/>
                  </a:lnTo>
                  <a:close/>
                  <a:moveTo>
                    <a:pt x="2584" y="0"/>
                  </a:moveTo>
                  <a:lnTo>
                    <a:pt x="2691" y="0"/>
                  </a:lnTo>
                  <a:lnTo>
                    <a:pt x="2693" y="0"/>
                  </a:lnTo>
                  <a:lnTo>
                    <a:pt x="2697" y="1"/>
                  </a:lnTo>
                  <a:lnTo>
                    <a:pt x="2699" y="2"/>
                  </a:lnTo>
                  <a:lnTo>
                    <a:pt x="2699" y="4"/>
                  </a:lnTo>
                  <a:lnTo>
                    <a:pt x="2699" y="5"/>
                  </a:lnTo>
                  <a:lnTo>
                    <a:pt x="2697" y="6"/>
                  </a:lnTo>
                  <a:lnTo>
                    <a:pt x="2693" y="7"/>
                  </a:lnTo>
                  <a:lnTo>
                    <a:pt x="2691" y="8"/>
                  </a:lnTo>
                  <a:lnTo>
                    <a:pt x="2584" y="8"/>
                  </a:lnTo>
                  <a:lnTo>
                    <a:pt x="2580" y="7"/>
                  </a:lnTo>
                  <a:lnTo>
                    <a:pt x="2578" y="6"/>
                  </a:lnTo>
                  <a:lnTo>
                    <a:pt x="2576" y="5"/>
                  </a:lnTo>
                  <a:lnTo>
                    <a:pt x="2576" y="4"/>
                  </a:lnTo>
                  <a:lnTo>
                    <a:pt x="2576" y="2"/>
                  </a:lnTo>
                  <a:lnTo>
                    <a:pt x="2578" y="1"/>
                  </a:lnTo>
                  <a:lnTo>
                    <a:pt x="2580" y="0"/>
                  </a:lnTo>
                  <a:lnTo>
                    <a:pt x="2584" y="0"/>
                  </a:lnTo>
                  <a:close/>
                  <a:moveTo>
                    <a:pt x="2767" y="0"/>
                  </a:moveTo>
                  <a:lnTo>
                    <a:pt x="2874" y="0"/>
                  </a:lnTo>
                  <a:lnTo>
                    <a:pt x="2878" y="0"/>
                  </a:lnTo>
                  <a:lnTo>
                    <a:pt x="2880" y="1"/>
                  </a:lnTo>
                  <a:lnTo>
                    <a:pt x="2882" y="2"/>
                  </a:lnTo>
                  <a:lnTo>
                    <a:pt x="2882" y="4"/>
                  </a:lnTo>
                  <a:lnTo>
                    <a:pt x="2882" y="5"/>
                  </a:lnTo>
                  <a:lnTo>
                    <a:pt x="2880" y="6"/>
                  </a:lnTo>
                  <a:lnTo>
                    <a:pt x="2878" y="7"/>
                  </a:lnTo>
                  <a:lnTo>
                    <a:pt x="2874" y="8"/>
                  </a:lnTo>
                  <a:lnTo>
                    <a:pt x="2767" y="8"/>
                  </a:lnTo>
                  <a:lnTo>
                    <a:pt x="2765" y="7"/>
                  </a:lnTo>
                  <a:lnTo>
                    <a:pt x="2763" y="6"/>
                  </a:lnTo>
                  <a:lnTo>
                    <a:pt x="2761" y="5"/>
                  </a:lnTo>
                  <a:lnTo>
                    <a:pt x="2759" y="4"/>
                  </a:lnTo>
                  <a:lnTo>
                    <a:pt x="2761" y="2"/>
                  </a:lnTo>
                  <a:lnTo>
                    <a:pt x="2763" y="1"/>
                  </a:lnTo>
                  <a:lnTo>
                    <a:pt x="2765" y="0"/>
                  </a:lnTo>
                  <a:lnTo>
                    <a:pt x="2767" y="0"/>
                  </a:lnTo>
                  <a:close/>
                  <a:moveTo>
                    <a:pt x="2952" y="0"/>
                  </a:moveTo>
                  <a:lnTo>
                    <a:pt x="3059" y="0"/>
                  </a:lnTo>
                  <a:lnTo>
                    <a:pt x="3061" y="0"/>
                  </a:lnTo>
                  <a:lnTo>
                    <a:pt x="3065" y="1"/>
                  </a:lnTo>
                  <a:lnTo>
                    <a:pt x="3067" y="2"/>
                  </a:lnTo>
                  <a:lnTo>
                    <a:pt x="3067" y="4"/>
                  </a:lnTo>
                  <a:lnTo>
                    <a:pt x="3067" y="5"/>
                  </a:lnTo>
                  <a:lnTo>
                    <a:pt x="3065" y="6"/>
                  </a:lnTo>
                  <a:lnTo>
                    <a:pt x="3061" y="7"/>
                  </a:lnTo>
                  <a:lnTo>
                    <a:pt x="3059" y="8"/>
                  </a:lnTo>
                  <a:lnTo>
                    <a:pt x="2952" y="8"/>
                  </a:lnTo>
                  <a:lnTo>
                    <a:pt x="2948" y="7"/>
                  </a:lnTo>
                  <a:lnTo>
                    <a:pt x="2946" y="6"/>
                  </a:lnTo>
                  <a:lnTo>
                    <a:pt x="2944" y="5"/>
                  </a:lnTo>
                  <a:lnTo>
                    <a:pt x="2944" y="4"/>
                  </a:lnTo>
                  <a:lnTo>
                    <a:pt x="2944" y="2"/>
                  </a:lnTo>
                  <a:lnTo>
                    <a:pt x="2946" y="1"/>
                  </a:lnTo>
                  <a:lnTo>
                    <a:pt x="2948" y="0"/>
                  </a:lnTo>
                  <a:lnTo>
                    <a:pt x="2952" y="0"/>
                  </a:lnTo>
                  <a:close/>
                  <a:moveTo>
                    <a:pt x="3137" y="0"/>
                  </a:moveTo>
                  <a:lnTo>
                    <a:pt x="3242" y="0"/>
                  </a:lnTo>
                  <a:lnTo>
                    <a:pt x="3246" y="0"/>
                  </a:lnTo>
                  <a:lnTo>
                    <a:pt x="3248" y="1"/>
                  </a:lnTo>
                  <a:lnTo>
                    <a:pt x="3250" y="2"/>
                  </a:lnTo>
                  <a:lnTo>
                    <a:pt x="3250" y="4"/>
                  </a:lnTo>
                  <a:lnTo>
                    <a:pt x="3250" y="5"/>
                  </a:lnTo>
                  <a:lnTo>
                    <a:pt x="3248" y="6"/>
                  </a:lnTo>
                  <a:lnTo>
                    <a:pt x="3246" y="7"/>
                  </a:lnTo>
                  <a:lnTo>
                    <a:pt x="3242" y="8"/>
                  </a:lnTo>
                  <a:lnTo>
                    <a:pt x="3137" y="8"/>
                  </a:lnTo>
                  <a:lnTo>
                    <a:pt x="3133" y="7"/>
                  </a:lnTo>
                  <a:lnTo>
                    <a:pt x="3131" y="6"/>
                  </a:lnTo>
                  <a:lnTo>
                    <a:pt x="3129" y="5"/>
                  </a:lnTo>
                  <a:lnTo>
                    <a:pt x="3127" y="4"/>
                  </a:lnTo>
                  <a:lnTo>
                    <a:pt x="3129" y="2"/>
                  </a:lnTo>
                  <a:lnTo>
                    <a:pt x="3131" y="1"/>
                  </a:lnTo>
                  <a:lnTo>
                    <a:pt x="3133" y="0"/>
                  </a:lnTo>
                  <a:lnTo>
                    <a:pt x="3137" y="0"/>
                  </a:lnTo>
                  <a:close/>
                  <a:moveTo>
                    <a:pt x="3319" y="0"/>
                  </a:moveTo>
                  <a:lnTo>
                    <a:pt x="3427" y="0"/>
                  </a:lnTo>
                  <a:lnTo>
                    <a:pt x="3429" y="0"/>
                  </a:lnTo>
                  <a:lnTo>
                    <a:pt x="3433" y="1"/>
                  </a:lnTo>
                  <a:lnTo>
                    <a:pt x="3435" y="2"/>
                  </a:lnTo>
                  <a:lnTo>
                    <a:pt x="3435" y="4"/>
                  </a:lnTo>
                  <a:lnTo>
                    <a:pt x="3435" y="5"/>
                  </a:lnTo>
                  <a:lnTo>
                    <a:pt x="3433" y="6"/>
                  </a:lnTo>
                  <a:lnTo>
                    <a:pt x="3429" y="7"/>
                  </a:lnTo>
                  <a:lnTo>
                    <a:pt x="3427" y="8"/>
                  </a:lnTo>
                  <a:lnTo>
                    <a:pt x="3319" y="8"/>
                  </a:lnTo>
                  <a:lnTo>
                    <a:pt x="3316" y="7"/>
                  </a:lnTo>
                  <a:lnTo>
                    <a:pt x="3314" y="6"/>
                  </a:lnTo>
                  <a:lnTo>
                    <a:pt x="3312" y="5"/>
                  </a:lnTo>
                  <a:lnTo>
                    <a:pt x="3312" y="4"/>
                  </a:lnTo>
                  <a:lnTo>
                    <a:pt x="3312" y="2"/>
                  </a:lnTo>
                  <a:lnTo>
                    <a:pt x="3314" y="1"/>
                  </a:lnTo>
                  <a:lnTo>
                    <a:pt x="3316" y="0"/>
                  </a:lnTo>
                  <a:lnTo>
                    <a:pt x="3319" y="0"/>
                  </a:lnTo>
                  <a:close/>
                  <a:moveTo>
                    <a:pt x="3504" y="0"/>
                  </a:moveTo>
                  <a:lnTo>
                    <a:pt x="3610" y="0"/>
                  </a:lnTo>
                  <a:lnTo>
                    <a:pt x="3614" y="0"/>
                  </a:lnTo>
                  <a:lnTo>
                    <a:pt x="3616" y="1"/>
                  </a:lnTo>
                  <a:lnTo>
                    <a:pt x="3617" y="2"/>
                  </a:lnTo>
                  <a:lnTo>
                    <a:pt x="3619" y="4"/>
                  </a:lnTo>
                  <a:lnTo>
                    <a:pt x="3617" y="5"/>
                  </a:lnTo>
                  <a:lnTo>
                    <a:pt x="3616" y="6"/>
                  </a:lnTo>
                  <a:lnTo>
                    <a:pt x="3614" y="7"/>
                  </a:lnTo>
                  <a:lnTo>
                    <a:pt x="3610" y="8"/>
                  </a:lnTo>
                  <a:lnTo>
                    <a:pt x="3504" y="8"/>
                  </a:lnTo>
                  <a:lnTo>
                    <a:pt x="3501" y="7"/>
                  </a:lnTo>
                  <a:lnTo>
                    <a:pt x="3499" y="6"/>
                  </a:lnTo>
                  <a:lnTo>
                    <a:pt x="3497" y="5"/>
                  </a:lnTo>
                  <a:lnTo>
                    <a:pt x="3497" y="4"/>
                  </a:lnTo>
                  <a:lnTo>
                    <a:pt x="3497" y="2"/>
                  </a:lnTo>
                  <a:lnTo>
                    <a:pt x="3499" y="1"/>
                  </a:lnTo>
                  <a:lnTo>
                    <a:pt x="3501" y="0"/>
                  </a:lnTo>
                  <a:lnTo>
                    <a:pt x="3504" y="0"/>
                  </a:lnTo>
                  <a:close/>
                  <a:moveTo>
                    <a:pt x="3687" y="0"/>
                  </a:moveTo>
                  <a:lnTo>
                    <a:pt x="3795" y="0"/>
                  </a:lnTo>
                  <a:lnTo>
                    <a:pt x="3799" y="0"/>
                  </a:lnTo>
                  <a:lnTo>
                    <a:pt x="3800" y="1"/>
                  </a:lnTo>
                  <a:lnTo>
                    <a:pt x="3802" y="2"/>
                  </a:lnTo>
                  <a:lnTo>
                    <a:pt x="3802" y="4"/>
                  </a:lnTo>
                  <a:lnTo>
                    <a:pt x="3802" y="5"/>
                  </a:lnTo>
                  <a:lnTo>
                    <a:pt x="3800" y="6"/>
                  </a:lnTo>
                  <a:lnTo>
                    <a:pt x="3799" y="7"/>
                  </a:lnTo>
                  <a:lnTo>
                    <a:pt x="3795" y="8"/>
                  </a:lnTo>
                  <a:lnTo>
                    <a:pt x="3687" y="8"/>
                  </a:lnTo>
                  <a:lnTo>
                    <a:pt x="3685" y="7"/>
                  </a:lnTo>
                  <a:lnTo>
                    <a:pt x="3682" y="6"/>
                  </a:lnTo>
                  <a:lnTo>
                    <a:pt x="3680" y="5"/>
                  </a:lnTo>
                  <a:lnTo>
                    <a:pt x="3680" y="4"/>
                  </a:lnTo>
                  <a:lnTo>
                    <a:pt x="3680" y="2"/>
                  </a:lnTo>
                  <a:lnTo>
                    <a:pt x="3682" y="1"/>
                  </a:lnTo>
                  <a:lnTo>
                    <a:pt x="3685" y="0"/>
                  </a:lnTo>
                  <a:lnTo>
                    <a:pt x="3687" y="0"/>
                  </a:lnTo>
                  <a:close/>
                  <a:moveTo>
                    <a:pt x="3872" y="0"/>
                  </a:moveTo>
                  <a:lnTo>
                    <a:pt x="3953" y="0"/>
                  </a:lnTo>
                  <a:lnTo>
                    <a:pt x="3957" y="0"/>
                  </a:lnTo>
                  <a:lnTo>
                    <a:pt x="3959" y="1"/>
                  </a:lnTo>
                  <a:lnTo>
                    <a:pt x="3961" y="2"/>
                  </a:lnTo>
                  <a:lnTo>
                    <a:pt x="3961" y="4"/>
                  </a:lnTo>
                  <a:lnTo>
                    <a:pt x="3961" y="5"/>
                  </a:lnTo>
                  <a:lnTo>
                    <a:pt x="3959" y="6"/>
                  </a:lnTo>
                  <a:lnTo>
                    <a:pt x="3957" y="7"/>
                  </a:lnTo>
                  <a:lnTo>
                    <a:pt x="3953" y="8"/>
                  </a:lnTo>
                  <a:lnTo>
                    <a:pt x="3872" y="8"/>
                  </a:lnTo>
                  <a:lnTo>
                    <a:pt x="3868" y="7"/>
                  </a:lnTo>
                  <a:lnTo>
                    <a:pt x="3866" y="6"/>
                  </a:lnTo>
                  <a:lnTo>
                    <a:pt x="3865" y="5"/>
                  </a:lnTo>
                  <a:lnTo>
                    <a:pt x="3865" y="4"/>
                  </a:lnTo>
                  <a:lnTo>
                    <a:pt x="3865" y="2"/>
                  </a:lnTo>
                  <a:lnTo>
                    <a:pt x="3866" y="1"/>
                  </a:lnTo>
                  <a:lnTo>
                    <a:pt x="3868" y="0"/>
                  </a:lnTo>
                  <a:lnTo>
                    <a:pt x="3872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Rectangle 250"/>
            <p:cNvSpPr>
              <a:spLocks noChangeArrowheads="1"/>
            </p:cNvSpPr>
            <p:nvPr/>
          </p:nvSpPr>
          <p:spPr bwMode="auto">
            <a:xfrm>
              <a:off x="4468" y="3689"/>
              <a:ext cx="109" cy="18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宋体" pitchFamily="2" charset="-122"/>
                </a:rPr>
                <a:t>I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宋体" pitchFamily="2" charset="-122"/>
                </a:rPr>
                <a:t>o</a:t>
              </a:r>
            </a:p>
          </p:txBody>
        </p:sp>
        <p:sp>
          <p:nvSpPr>
            <p:cNvPr id="252" name="Line 251"/>
            <p:cNvSpPr>
              <a:spLocks noChangeShapeType="1"/>
            </p:cNvSpPr>
            <p:nvPr/>
          </p:nvSpPr>
          <p:spPr bwMode="auto">
            <a:xfrm>
              <a:off x="4555" y="2675"/>
              <a:ext cx="1" cy="2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" name="Line 252"/>
            <p:cNvSpPr>
              <a:spLocks noChangeShapeType="1"/>
            </p:cNvSpPr>
            <p:nvPr/>
          </p:nvSpPr>
          <p:spPr bwMode="auto">
            <a:xfrm>
              <a:off x="5089" y="2675"/>
              <a:ext cx="1" cy="2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4" name="Line 253"/>
            <p:cNvSpPr>
              <a:spLocks noChangeShapeType="1"/>
            </p:cNvSpPr>
            <p:nvPr/>
          </p:nvSpPr>
          <p:spPr bwMode="auto">
            <a:xfrm flipV="1">
              <a:off x="3915" y="2674"/>
              <a:ext cx="1" cy="1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5" name="Freeform 254"/>
            <p:cNvSpPr>
              <a:spLocks/>
            </p:cNvSpPr>
            <p:nvPr/>
          </p:nvSpPr>
          <p:spPr bwMode="auto">
            <a:xfrm>
              <a:off x="3881" y="2834"/>
              <a:ext cx="68" cy="75"/>
            </a:xfrm>
            <a:custGeom>
              <a:avLst/>
              <a:gdLst>
                <a:gd name="T0" fmla="*/ 1 w 138"/>
                <a:gd name="T1" fmla="*/ 75 h 75"/>
                <a:gd name="T2" fmla="*/ 0 w 138"/>
                <a:gd name="T3" fmla="*/ 0 h 75"/>
                <a:gd name="T4" fmla="*/ 0 w 138"/>
                <a:gd name="T5" fmla="*/ 2 h 75"/>
                <a:gd name="T6" fmla="*/ 0 w 138"/>
                <a:gd name="T7" fmla="*/ 4 h 75"/>
                <a:gd name="T8" fmla="*/ 0 w 138"/>
                <a:gd name="T9" fmla="*/ 5 h 75"/>
                <a:gd name="T10" fmla="*/ 0 w 138"/>
                <a:gd name="T11" fmla="*/ 6 h 75"/>
                <a:gd name="T12" fmla="*/ 0 w 138"/>
                <a:gd name="T13" fmla="*/ 7 h 75"/>
                <a:gd name="T14" fmla="*/ 0 w 138"/>
                <a:gd name="T15" fmla="*/ 8 h 75"/>
                <a:gd name="T16" fmla="*/ 0 w 138"/>
                <a:gd name="T17" fmla="*/ 8 h 75"/>
                <a:gd name="T18" fmla="*/ 1 w 138"/>
                <a:gd name="T19" fmla="*/ 9 h 75"/>
                <a:gd name="T20" fmla="*/ 1 w 138"/>
                <a:gd name="T21" fmla="*/ 8 h 75"/>
                <a:gd name="T22" fmla="*/ 1 w 138"/>
                <a:gd name="T23" fmla="*/ 8 h 75"/>
                <a:gd name="T24" fmla="*/ 1 w 138"/>
                <a:gd name="T25" fmla="*/ 7 h 75"/>
                <a:gd name="T26" fmla="*/ 1 w 138"/>
                <a:gd name="T27" fmla="*/ 6 h 75"/>
                <a:gd name="T28" fmla="*/ 1 w 138"/>
                <a:gd name="T29" fmla="*/ 5 h 75"/>
                <a:gd name="T30" fmla="*/ 1 w 138"/>
                <a:gd name="T31" fmla="*/ 4 h 75"/>
                <a:gd name="T32" fmla="*/ 2 w 138"/>
                <a:gd name="T33" fmla="*/ 2 h 75"/>
                <a:gd name="T34" fmla="*/ 2 w 138"/>
                <a:gd name="T35" fmla="*/ 0 h 75"/>
                <a:gd name="T36" fmla="*/ 1 w 138"/>
                <a:gd name="T37" fmla="*/ 75 h 75"/>
                <a:gd name="T38" fmla="*/ 1 w 138"/>
                <a:gd name="T39" fmla="*/ 75 h 7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38"/>
                <a:gd name="T61" fmla="*/ 0 h 75"/>
                <a:gd name="T62" fmla="*/ 138 w 138"/>
                <a:gd name="T63" fmla="*/ 75 h 7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38" h="75">
                  <a:moveTo>
                    <a:pt x="70" y="75"/>
                  </a:moveTo>
                  <a:lnTo>
                    <a:pt x="0" y="0"/>
                  </a:lnTo>
                  <a:lnTo>
                    <a:pt x="10" y="2"/>
                  </a:lnTo>
                  <a:lnTo>
                    <a:pt x="17" y="4"/>
                  </a:lnTo>
                  <a:lnTo>
                    <a:pt x="25" y="5"/>
                  </a:lnTo>
                  <a:lnTo>
                    <a:pt x="34" y="6"/>
                  </a:lnTo>
                  <a:lnTo>
                    <a:pt x="44" y="7"/>
                  </a:lnTo>
                  <a:lnTo>
                    <a:pt x="51" y="8"/>
                  </a:lnTo>
                  <a:lnTo>
                    <a:pt x="60" y="8"/>
                  </a:lnTo>
                  <a:lnTo>
                    <a:pt x="70" y="9"/>
                  </a:lnTo>
                  <a:lnTo>
                    <a:pt x="77" y="8"/>
                  </a:lnTo>
                  <a:lnTo>
                    <a:pt x="87" y="8"/>
                  </a:lnTo>
                  <a:lnTo>
                    <a:pt x="96" y="7"/>
                  </a:lnTo>
                  <a:lnTo>
                    <a:pt x="104" y="6"/>
                  </a:lnTo>
                  <a:lnTo>
                    <a:pt x="113" y="5"/>
                  </a:lnTo>
                  <a:lnTo>
                    <a:pt x="121" y="4"/>
                  </a:lnTo>
                  <a:lnTo>
                    <a:pt x="130" y="2"/>
                  </a:lnTo>
                  <a:lnTo>
                    <a:pt x="138" y="0"/>
                  </a:lnTo>
                  <a:lnTo>
                    <a:pt x="70" y="75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" name="Freeform 255"/>
            <p:cNvSpPr>
              <a:spLocks/>
            </p:cNvSpPr>
            <p:nvPr/>
          </p:nvSpPr>
          <p:spPr bwMode="auto">
            <a:xfrm>
              <a:off x="3881" y="2616"/>
              <a:ext cx="68" cy="77"/>
            </a:xfrm>
            <a:custGeom>
              <a:avLst/>
              <a:gdLst>
                <a:gd name="T0" fmla="*/ 1 w 138"/>
                <a:gd name="T1" fmla="*/ 0 h 77"/>
                <a:gd name="T2" fmla="*/ 2 w 138"/>
                <a:gd name="T3" fmla="*/ 77 h 77"/>
                <a:gd name="T4" fmla="*/ 2 w 138"/>
                <a:gd name="T5" fmla="*/ 75 h 77"/>
                <a:gd name="T6" fmla="*/ 1 w 138"/>
                <a:gd name="T7" fmla="*/ 73 h 77"/>
                <a:gd name="T8" fmla="*/ 1 w 138"/>
                <a:gd name="T9" fmla="*/ 71 h 77"/>
                <a:gd name="T10" fmla="*/ 1 w 138"/>
                <a:gd name="T11" fmla="*/ 70 h 77"/>
                <a:gd name="T12" fmla="*/ 1 w 138"/>
                <a:gd name="T13" fmla="*/ 69 h 77"/>
                <a:gd name="T14" fmla="*/ 1 w 138"/>
                <a:gd name="T15" fmla="*/ 69 h 77"/>
                <a:gd name="T16" fmla="*/ 1 w 138"/>
                <a:gd name="T17" fmla="*/ 68 h 77"/>
                <a:gd name="T18" fmla="*/ 1 w 138"/>
                <a:gd name="T19" fmla="*/ 68 h 77"/>
                <a:gd name="T20" fmla="*/ 0 w 138"/>
                <a:gd name="T21" fmla="*/ 68 h 77"/>
                <a:gd name="T22" fmla="*/ 0 w 138"/>
                <a:gd name="T23" fmla="*/ 69 h 77"/>
                <a:gd name="T24" fmla="*/ 0 w 138"/>
                <a:gd name="T25" fmla="*/ 69 h 77"/>
                <a:gd name="T26" fmla="*/ 0 w 138"/>
                <a:gd name="T27" fmla="*/ 70 h 77"/>
                <a:gd name="T28" fmla="*/ 0 w 138"/>
                <a:gd name="T29" fmla="*/ 71 h 77"/>
                <a:gd name="T30" fmla="*/ 0 w 138"/>
                <a:gd name="T31" fmla="*/ 73 h 77"/>
                <a:gd name="T32" fmla="*/ 0 w 138"/>
                <a:gd name="T33" fmla="*/ 75 h 77"/>
                <a:gd name="T34" fmla="*/ 0 w 138"/>
                <a:gd name="T35" fmla="*/ 77 h 77"/>
                <a:gd name="T36" fmla="*/ 0 w 138"/>
                <a:gd name="T37" fmla="*/ 77 h 77"/>
                <a:gd name="T38" fmla="*/ 1 w 138"/>
                <a:gd name="T39" fmla="*/ 0 h 77"/>
                <a:gd name="T40" fmla="*/ 1 w 138"/>
                <a:gd name="T41" fmla="*/ 0 h 7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8"/>
                <a:gd name="T64" fmla="*/ 0 h 77"/>
                <a:gd name="T65" fmla="*/ 138 w 138"/>
                <a:gd name="T66" fmla="*/ 77 h 7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8" h="77">
                  <a:moveTo>
                    <a:pt x="70" y="0"/>
                  </a:moveTo>
                  <a:lnTo>
                    <a:pt x="138" y="77"/>
                  </a:lnTo>
                  <a:lnTo>
                    <a:pt x="130" y="75"/>
                  </a:lnTo>
                  <a:lnTo>
                    <a:pt x="121" y="73"/>
                  </a:lnTo>
                  <a:lnTo>
                    <a:pt x="113" y="71"/>
                  </a:lnTo>
                  <a:lnTo>
                    <a:pt x="104" y="70"/>
                  </a:lnTo>
                  <a:lnTo>
                    <a:pt x="96" y="69"/>
                  </a:lnTo>
                  <a:lnTo>
                    <a:pt x="87" y="69"/>
                  </a:lnTo>
                  <a:lnTo>
                    <a:pt x="77" y="68"/>
                  </a:lnTo>
                  <a:lnTo>
                    <a:pt x="70" y="68"/>
                  </a:lnTo>
                  <a:lnTo>
                    <a:pt x="60" y="68"/>
                  </a:lnTo>
                  <a:lnTo>
                    <a:pt x="51" y="69"/>
                  </a:lnTo>
                  <a:lnTo>
                    <a:pt x="44" y="69"/>
                  </a:lnTo>
                  <a:lnTo>
                    <a:pt x="34" y="70"/>
                  </a:lnTo>
                  <a:lnTo>
                    <a:pt x="25" y="71"/>
                  </a:lnTo>
                  <a:lnTo>
                    <a:pt x="17" y="73"/>
                  </a:lnTo>
                  <a:lnTo>
                    <a:pt x="10" y="75"/>
                  </a:lnTo>
                  <a:lnTo>
                    <a:pt x="0" y="77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Rectangle 256"/>
            <p:cNvSpPr>
              <a:spLocks noChangeArrowheads="1"/>
            </p:cNvSpPr>
            <p:nvPr/>
          </p:nvSpPr>
          <p:spPr bwMode="auto">
            <a:xfrm>
              <a:off x="3969" y="2691"/>
              <a:ext cx="109" cy="18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</p:txBody>
        </p:sp>
        <p:sp>
          <p:nvSpPr>
            <p:cNvPr id="258" name="Rectangle 257"/>
            <p:cNvSpPr>
              <a:spLocks noChangeArrowheads="1"/>
            </p:cNvSpPr>
            <p:nvPr/>
          </p:nvSpPr>
          <p:spPr bwMode="auto">
            <a:xfrm>
              <a:off x="4377" y="2147"/>
              <a:ext cx="156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(a)</a:t>
              </a:r>
              <a:endParaRPr lang="en-US" altLang="zh-CN"/>
            </a:p>
          </p:txBody>
        </p:sp>
        <p:sp>
          <p:nvSpPr>
            <p:cNvPr id="259" name="Rectangle 258"/>
            <p:cNvSpPr>
              <a:spLocks noChangeArrowheads="1"/>
            </p:cNvSpPr>
            <p:nvPr/>
          </p:nvSpPr>
          <p:spPr bwMode="auto">
            <a:xfrm>
              <a:off x="4374" y="4037"/>
              <a:ext cx="156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(b)</a:t>
              </a:r>
              <a:endParaRPr lang="en-US" altLang="zh-CN"/>
            </a:p>
          </p:txBody>
        </p:sp>
        <p:sp>
          <p:nvSpPr>
            <p:cNvPr id="260" name="Rectangle 259"/>
            <p:cNvSpPr>
              <a:spLocks noChangeArrowheads="1"/>
            </p:cNvSpPr>
            <p:nvPr/>
          </p:nvSpPr>
          <p:spPr bwMode="auto">
            <a:xfrm>
              <a:off x="4940" y="845"/>
              <a:ext cx="2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endParaRPr lang="en-US" altLang="zh-CN"/>
            </a:p>
          </p:txBody>
        </p:sp>
        <p:sp>
          <p:nvSpPr>
            <p:cNvPr id="261" name="Line 260"/>
            <p:cNvSpPr>
              <a:spLocks noChangeShapeType="1"/>
            </p:cNvSpPr>
            <p:nvPr/>
          </p:nvSpPr>
          <p:spPr bwMode="auto">
            <a:xfrm flipV="1">
              <a:off x="4423" y="3598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" name="Line 261"/>
            <p:cNvSpPr>
              <a:spLocks noChangeShapeType="1"/>
            </p:cNvSpPr>
            <p:nvPr/>
          </p:nvSpPr>
          <p:spPr bwMode="auto">
            <a:xfrm>
              <a:off x="4423" y="3780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" name="Line 262"/>
            <p:cNvSpPr>
              <a:spLocks noChangeShapeType="1"/>
            </p:cNvSpPr>
            <p:nvPr/>
          </p:nvSpPr>
          <p:spPr bwMode="auto">
            <a:xfrm flipV="1">
              <a:off x="3379" y="3372"/>
              <a:ext cx="0" cy="5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Freeform 263"/>
            <p:cNvSpPr>
              <a:spLocks/>
            </p:cNvSpPr>
            <p:nvPr/>
          </p:nvSpPr>
          <p:spPr bwMode="auto">
            <a:xfrm>
              <a:off x="4243" y="1153"/>
              <a:ext cx="32" cy="234"/>
            </a:xfrm>
            <a:custGeom>
              <a:avLst/>
              <a:gdLst>
                <a:gd name="T0" fmla="*/ 0 w 65"/>
                <a:gd name="T1" fmla="*/ 0 h 234"/>
                <a:gd name="T2" fmla="*/ 0 w 65"/>
                <a:gd name="T3" fmla="*/ 1 h 234"/>
                <a:gd name="T4" fmla="*/ 0 w 65"/>
                <a:gd name="T5" fmla="*/ 4 h 234"/>
                <a:gd name="T6" fmla="*/ 0 w 65"/>
                <a:gd name="T7" fmla="*/ 11 h 234"/>
                <a:gd name="T8" fmla="*/ 0 w 65"/>
                <a:gd name="T9" fmla="*/ 17 h 234"/>
                <a:gd name="T10" fmla="*/ 0 w 65"/>
                <a:gd name="T11" fmla="*/ 22 h 234"/>
                <a:gd name="T12" fmla="*/ 1 w 65"/>
                <a:gd name="T13" fmla="*/ 28 h 234"/>
                <a:gd name="T14" fmla="*/ 0 w 65"/>
                <a:gd name="T15" fmla="*/ 34 h 234"/>
                <a:gd name="T16" fmla="*/ 0 w 65"/>
                <a:gd name="T17" fmla="*/ 39 h 234"/>
                <a:gd name="T18" fmla="*/ 0 w 65"/>
                <a:gd name="T19" fmla="*/ 45 h 234"/>
                <a:gd name="T20" fmla="*/ 0 w 65"/>
                <a:gd name="T21" fmla="*/ 49 h 234"/>
                <a:gd name="T22" fmla="*/ 0 w 65"/>
                <a:gd name="T23" fmla="*/ 56 h 234"/>
                <a:gd name="T24" fmla="*/ 0 w 65"/>
                <a:gd name="T25" fmla="*/ 58 h 234"/>
                <a:gd name="T26" fmla="*/ 0 w 65"/>
                <a:gd name="T27" fmla="*/ 59 h 234"/>
                <a:gd name="T28" fmla="*/ 0 w 65"/>
                <a:gd name="T29" fmla="*/ 59 h 234"/>
                <a:gd name="T30" fmla="*/ 0 w 65"/>
                <a:gd name="T31" fmla="*/ 59 h 234"/>
                <a:gd name="T32" fmla="*/ 0 w 65"/>
                <a:gd name="T33" fmla="*/ 63 h 234"/>
                <a:gd name="T34" fmla="*/ 0 w 65"/>
                <a:gd name="T35" fmla="*/ 71 h 234"/>
                <a:gd name="T36" fmla="*/ 0 w 65"/>
                <a:gd name="T37" fmla="*/ 76 h 234"/>
                <a:gd name="T38" fmla="*/ 0 w 65"/>
                <a:gd name="T39" fmla="*/ 81 h 234"/>
                <a:gd name="T40" fmla="*/ 1 w 65"/>
                <a:gd name="T41" fmla="*/ 87 h 234"/>
                <a:gd name="T42" fmla="*/ 0 w 65"/>
                <a:gd name="T43" fmla="*/ 92 h 234"/>
                <a:gd name="T44" fmla="*/ 0 w 65"/>
                <a:gd name="T45" fmla="*/ 98 h 234"/>
                <a:gd name="T46" fmla="*/ 0 w 65"/>
                <a:gd name="T47" fmla="*/ 104 h 234"/>
                <a:gd name="T48" fmla="*/ 0 w 65"/>
                <a:gd name="T49" fmla="*/ 108 h 234"/>
                <a:gd name="T50" fmla="*/ 0 w 65"/>
                <a:gd name="T51" fmla="*/ 114 h 234"/>
                <a:gd name="T52" fmla="*/ 0 w 65"/>
                <a:gd name="T53" fmla="*/ 116 h 234"/>
                <a:gd name="T54" fmla="*/ 0 w 65"/>
                <a:gd name="T55" fmla="*/ 117 h 234"/>
                <a:gd name="T56" fmla="*/ 0 w 65"/>
                <a:gd name="T57" fmla="*/ 117 h 234"/>
                <a:gd name="T58" fmla="*/ 0 w 65"/>
                <a:gd name="T59" fmla="*/ 118 h 234"/>
                <a:gd name="T60" fmla="*/ 0 w 65"/>
                <a:gd name="T61" fmla="*/ 121 h 234"/>
                <a:gd name="T62" fmla="*/ 0 w 65"/>
                <a:gd name="T63" fmla="*/ 130 h 234"/>
                <a:gd name="T64" fmla="*/ 0 w 65"/>
                <a:gd name="T65" fmla="*/ 134 h 234"/>
                <a:gd name="T66" fmla="*/ 0 w 65"/>
                <a:gd name="T67" fmla="*/ 139 h 234"/>
                <a:gd name="T68" fmla="*/ 1 w 65"/>
                <a:gd name="T69" fmla="*/ 145 h 234"/>
                <a:gd name="T70" fmla="*/ 0 w 65"/>
                <a:gd name="T71" fmla="*/ 151 h 234"/>
                <a:gd name="T72" fmla="*/ 0 w 65"/>
                <a:gd name="T73" fmla="*/ 156 h 234"/>
                <a:gd name="T74" fmla="*/ 0 w 65"/>
                <a:gd name="T75" fmla="*/ 162 h 234"/>
                <a:gd name="T76" fmla="*/ 0 w 65"/>
                <a:gd name="T77" fmla="*/ 167 h 234"/>
                <a:gd name="T78" fmla="*/ 0 w 65"/>
                <a:gd name="T79" fmla="*/ 173 h 234"/>
                <a:gd name="T80" fmla="*/ 0 w 65"/>
                <a:gd name="T81" fmla="*/ 175 h 234"/>
                <a:gd name="T82" fmla="*/ 0 w 65"/>
                <a:gd name="T83" fmla="*/ 176 h 234"/>
                <a:gd name="T84" fmla="*/ 0 w 65"/>
                <a:gd name="T85" fmla="*/ 176 h 234"/>
                <a:gd name="T86" fmla="*/ 0 w 65"/>
                <a:gd name="T87" fmla="*/ 177 h 234"/>
                <a:gd name="T88" fmla="*/ 0 w 65"/>
                <a:gd name="T89" fmla="*/ 180 h 234"/>
                <a:gd name="T90" fmla="*/ 0 w 65"/>
                <a:gd name="T91" fmla="*/ 188 h 234"/>
                <a:gd name="T92" fmla="*/ 0 w 65"/>
                <a:gd name="T93" fmla="*/ 193 h 234"/>
                <a:gd name="T94" fmla="*/ 0 w 65"/>
                <a:gd name="T95" fmla="*/ 198 h 234"/>
                <a:gd name="T96" fmla="*/ 1 w 65"/>
                <a:gd name="T97" fmla="*/ 204 h 234"/>
                <a:gd name="T98" fmla="*/ 0 w 65"/>
                <a:gd name="T99" fmla="*/ 209 h 234"/>
                <a:gd name="T100" fmla="*/ 0 w 65"/>
                <a:gd name="T101" fmla="*/ 215 h 234"/>
                <a:gd name="T102" fmla="*/ 0 w 65"/>
                <a:gd name="T103" fmla="*/ 221 h 234"/>
                <a:gd name="T104" fmla="*/ 0 w 65"/>
                <a:gd name="T105" fmla="*/ 225 h 234"/>
                <a:gd name="T106" fmla="*/ 0 w 65"/>
                <a:gd name="T107" fmla="*/ 231 h 234"/>
                <a:gd name="T108" fmla="*/ 0 w 65"/>
                <a:gd name="T109" fmla="*/ 233 h 234"/>
                <a:gd name="T110" fmla="*/ 0 w 65"/>
                <a:gd name="T111" fmla="*/ 234 h 23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65"/>
                <a:gd name="T169" fmla="*/ 0 h 234"/>
                <a:gd name="T170" fmla="*/ 65 w 65"/>
                <a:gd name="T171" fmla="*/ 234 h 234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65" h="234">
                  <a:moveTo>
                    <a:pt x="0" y="0"/>
                  </a:moveTo>
                  <a:lnTo>
                    <a:pt x="6" y="0"/>
                  </a:lnTo>
                  <a:lnTo>
                    <a:pt x="12" y="0"/>
                  </a:lnTo>
                  <a:lnTo>
                    <a:pt x="19" y="1"/>
                  </a:lnTo>
                  <a:lnTo>
                    <a:pt x="25" y="2"/>
                  </a:lnTo>
                  <a:lnTo>
                    <a:pt x="34" y="4"/>
                  </a:lnTo>
                  <a:lnTo>
                    <a:pt x="44" y="7"/>
                  </a:lnTo>
                  <a:lnTo>
                    <a:pt x="51" y="11"/>
                  </a:lnTo>
                  <a:lnTo>
                    <a:pt x="55" y="15"/>
                  </a:lnTo>
                  <a:lnTo>
                    <a:pt x="59" y="17"/>
                  </a:lnTo>
                  <a:lnTo>
                    <a:pt x="61" y="20"/>
                  </a:lnTo>
                  <a:lnTo>
                    <a:pt x="63" y="22"/>
                  </a:lnTo>
                  <a:lnTo>
                    <a:pt x="63" y="25"/>
                  </a:lnTo>
                  <a:lnTo>
                    <a:pt x="65" y="28"/>
                  </a:lnTo>
                  <a:lnTo>
                    <a:pt x="65" y="31"/>
                  </a:lnTo>
                  <a:lnTo>
                    <a:pt x="63" y="34"/>
                  </a:lnTo>
                  <a:lnTo>
                    <a:pt x="63" y="37"/>
                  </a:lnTo>
                  <a:lnTo>
                    <a:pt x="61" y="39"/>
                  </a:lnTo>
                  <a:lnTo>
                    <a:pt x="57" y="43"/>
                  </a:lnTo>
                  <a:lnTo>
                    <a:pt x="55" y="45"/>
                  </a:lnTo>
                  <a:lnTo>
                    <a:pt x="51" y="47"/>
                  </a:lnTo>
                  <a:lnTo>
                    <a:pt x="48" y="49"/>
                  </a:lnTo>
                  <a:lnTo>
                    <a:pt x="38" y="53"/>
                  </a:lnTo>
                  <a:lnTo>
                    <a:pt x="29" y="56"/>
                  </a:lnTo>
                  <a:lnTo>
                    <a:pt x="23" y="57"/>
                  </a:lnTo>
                  <a:lnTo>
                    <a:pt x="17" y="58"/>
                  </a:lnTo>
                  <a:lnTo>
                    <a:pt x="12" y="58"/>
                  </a:lnTo>
                  <a:lnTo>
                    <a:pt x="4" y="59"/>
                  </a:lnTo>
                  <a:lnTo>
                    <a:pt x="0" y="59"/>
                  </a:lnTo>
                  <a:lnTo>
                    <a:pt x="6" y="59"/>
                  </a:lnTo>
                  <a:lnTo>
                    <a:pt x="12" y="59"/>
                  </a:lnTo>
                  <a:lnTo>
                    <a:pt x="19" y="59"/>
                  </a:lnTo>
                  <a:lnTo>
                    <a:pt x="25" y="60"/>
                  </a:lnTo>
                  <a:lnTo>
                    <a:pt x="34" y="63"/>
                  </a:lnTo>
                  <a:lnTo>
                    <a:pt x="44" y="66"/>
                  </a:lnTo>
                  <a:lnTo>
                    <a:pt x="51" y="71"/>
                  </a:lnTo>
                  <a:lnTo>
                    <a:pt x="55" y="73"/>
                  </a:lnTo>
                  <a:lnTo>
                    <a:pt x="59" y="76"/>
                  </a:lnTo>
                  <a:lnTo>
                    <a:pt x="61" y="78"/>
                  </a:lnTo>
                  <a:lnTo>
                    <a:pt x="63" y="81"/>
                  </a:lnTo>
                  <a:lnTo>
                    <a:pt x="63" y="84"/>
                  </a:lnTo>
                  <a:lnTo>
                    <a:pt x="65" y="87"/>
                  </a:lnTo>
                  <a:lnTo>
                    <a:pt x="65" y="90"/>
                  </a:lnTo>
                  <a:lnTo>
                    <a:pt x="63" y="92"/>
                  </a:lnTo>
                  <a:lnTo>
                    <a:pt x="63" y="95"/>
                  </a:lnTo>
                  <a:lnTo>
                    <a:pt x="61" y="98"/>
                  </a:lnTo>
                  <a:lnTo>
                    <a:pt x="57" y="101"/>
                  </a:lnTo>
                  <a:lnTo>
                    <a:pt x="55" y="104"/>
                  </a:lnTo>
                  <a:lnTo>
                    <a:pt x="51" y="106"/>
                  </a:lnTo>
                  <a:lnTo>
                    <a:pt x="48" y="108"/>
                  </a:lnTo>
                  <a:lnTo>
                    <a:pt x="38" y="112"/>
                  </a:lnTo>
                  <a:lnTo>
                    <a:pt x="29" y="114"/>
                  </a:lnTo>
                  <a:lnTo>
                    <a:pt x="23" y="115"/>
                  </a:lnTo>
                  <a:lnTo>
                    <a:pt x="17" y="116"/>
                  </a:lnTo>
                  <a:lnTo>
                    <a:pt x="12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6" y="117"/>
                  </a:lnTo>
                  <a:lnTo>
                    <a:pt x="12" y="117"/>
                  </a:lnTo>
                  <a:lnTo>
                    <a:pt x="19" y="118"/>
                  </a:lnTo>
                  <a:lnTo>
                    <a:pt x="25" y="119"/>
                  </a:lnTo>
                  <a:lnTo>
                    <a:pt x="34" y="121"/>
                  </a:lnTo>
                  <a:lnTo>
                    <a:pt x="44" y="125"/>
                  </a:lnTo>
                  <a:lnTo>
                    <a:pt x="51" y="130"/>
                  </a:lnTo>
                  <a:lnTo>
                    <a:pt x="55" y="132"/>
                  </a:lnTo>
                  <a:lnTo>
                    <a:pt x="59" y="134"/>
                  </a:lnTo>
                  <a:lnTo>
                    <a:pt x="61" y="137"/>
                  </a:lnTo>
                  <a:lnTo>
                    <a:pt x="63" y="139"/>
                  </a:lnTo>
                  <a:lnTo>
                    <a:pt x="63" y="142"/>
                  </a:lnTo>
                  <a:lnTo>
                    <a:pt x="65" y="145"/>
                  </a:lnTo>
                  <a:lnTo>
                    <a:pt x="65" y="148"/>
                  </a:lnTo>
                  <a:lnTo>
                    <a:pt x="63" y="151"/>
                  </a:lnTo>
                  <a:lnTo>
                    <a:pt x="63" y="154"/>
                  </a:lnTo>
                  <a:lnTo>
                    <a:pt x="61" y="156"/>
                  </a:lnTo>
                  <a:lnTo>
                    <a:pt x="57" y="160"/>
                  </a:lnTo>
                  <a:lnTo>
                    <a:pt x="55" y="162"/>
                  </a:lnTo>
                  <a:lnTo>
                    <a:pt x="51" y="164"/>
                  </a:lnTo>
                  <a:lnTo>
                    <a:pt x="48" y="167"/>
                  </a:lnTo>
                  <a:lnTo>
                    <a:pt x="38" y="170"/>
                  </a:lnTo>
                  <a:lnTo>
                    <a:pt x="29" y="173"/>
                  </a:lnTo>
                  <a:lnTo>
                    <a:pt x="23" y="174"/>
                  </a:lnTo>
                  <a:lnTo>
                    <a:pt x="17" y="175"/>
                  </a:lnTo>
                  <a:lnTo>
                    <a:pt x="12" y="175"/>
                  </a:lnTo>
                  <a:lnTo>
                    <a:pt x="4" y="176"/>
                  </a:lnTo>
                  <a:lnTo>
                    <a:pt x="0" y="176"/>
                  </a:lnTo>
                  <a:lnTo>
                    <a:pt x="6" y="176"/>
                  </a:lnTo>
                  <a:lnTo>
                    <a:pt x="12" y="176"/>
                  </a:lnTo>
                  <a:lnTo>
                    <a:pt x="19" y="177"/>
                  </a:lnTo>
                  <a:lnTo>
                    <a:pt x="25" y="177"/>
                  </a:lnTo>
                  <a:lnTo>
                    <a:pt x="34" y="180"/>
                  </a:lnTo>
                  <a:lnTo>
                    <a:pt x="44" y="183"/>
                  </a:lnTo>
                  <a:lnTo>
                    <a:pt x="51" y="188"/>
                  </a:lnTo>
                  <a:lnTo>
                    <a:pt x="55" y="190"/>
                  </a:lnTo>
                  <a:lnTo>
                    <a:pt x="59" y="193"/>
                  </a:lnTo>
                  <a:lnTo>
                    <a:pt x="61" y="195"/>
                  </a:lnTo>
                  <a:lnTo>
                    <a:pt x="63" y="198"/>
                  </a:lnTo>
                  <a:lnTo>
                    <a:pt x="63" y="201"/>
                  </a:lnTo>
                  <a:lnTo>
                    <a:pt x="65" y="204"/>
                  </a:lnTo>
                  <a:lnTo>
                    <a:pt x="65" y="207"/>
                  </a:lnTo>
                  <a:lnTo>
                    <a:pt x="63" y="209"/>
                  </a:lnTo>
                  <a:lnTo>
                    <a:pt x="63" y="212"/>
                  </a:lnTo>
                  <a:lnTo>
                    <a:pt x="61" y="215"/>
                  </a:lnTo>
                  <a:lnTo>
                    <a:pt x="57" y="218"/>
                  </a:lnTo>
                  <a:lnTo>
                    <a:pt x="55" y="221"/>
                  </a:lnTo>
                  <a:lnTo>
                    <a:pt x="51" y="223"/>
                  </a:lnTo>
                  <a:lnTo>
                    <a:pt x="48" y="225"/>
                  </a:lnTo>
                  <a:lnTo>
                    <a:pt x="38" y="229"/>
                  </a:lnTo>
                  <a:lnTo>
                    <a:pt x="29" y="231"/>
                  </a:lnTo>
                  <a:lnTo>
                    <a:pt x="23" y="233"/>
                  </a:lnTo>
                  <a:lnTo>
                    <a:pt x="17" y="233"/>
                  </a:lnTo>
                  <a:lnTo>
                    <a:pt x="12" y="234"/>
                  </a:lnTo>
                  <a:lnTo>
                    <a:pt x="4" y="234"/>
                  </a:lnTo>
                  <a:lnTo>
                    <a:pt x="0" y="2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" name="Freeform 264"/>
            <p:cNvSpPr>
              <a:spLocks/>
            </p:cNvSpPr>
            <p:nvPr/>
          </p:nvSpPr>
          <p:spPr bwMode="auto">
            <a:xfrm>
              <a:off x="4333" y="1153"/>
              <a:ext cx="32" cy="234"/>
            </a:xfrm>
            <a:custGeom>
              <a:avLst/>
              <a:gdLst>
                <a:gd name="T0" fmla="*/ 0 w 65"/>
                <a:gd name="T1" fmla="*/ 0 h 234"/>
                <a:gd name="T2" fmla="*/ 0 w 65"/>
                <a:gd name="T3" fmla="*/ 1 h 234"/>
                <a:gd name="T4" fmla="*/ 0 w 65"/>
                <a:gd name="T5" fmla="*/ 4 h 234"/>
                <a:gd name="T6" fmla="*/ 0 w 65"/>
                <a:gd name="T7" fmla="*/ 11 h 234"/>
                <a:gd name="T8" fmla="*/ 0 w 65"/>
                <a:gd name="T9" fmla="*/ 17 h 234"/>
                <a:gd name="T10" fmla="*/ 0 w 65"/>
                <a:gd name="T11" fmla="*/ 22 h 234"/>
                <a:gd name="T12" fmla="*/ 0 w 65"/>
                <a:gd name="T13" fmla="*/ 28 h 234"/>
                <a:gd name="T14" fmla="*/ 0 w 65"/>
                <a:gd name="T15" fmla="*/ 34 h 234"/>
                <a:gd name="T16" fmla="*/ 0 w 65"/>
                <a:gd name="T17" fmla="*/ 39 h 234"/>
                <a:gd name="T18" fmla="*/ 0 w 65"/>
                <a:gd name="T19" fmla="*/ 45 h 234"/>
                <a:gd name="T20" fmla="*/ 0 w 65"/>
                <a:gd name="T21" fmla="*/ 49 h 234"/>
                <a:gd name="T22" fmla="*/ 0 w 65"/>
                <a:gd name="T23" fmla="*/ 56 h 234"/>
                <a:gd name="T24" fmla="*/ 0 w 65"/>
                <a:gd name="T25" fmla="*/ 58 h 234"/>
                <a:gd name="T26" fmla="*/ 0 w 65"/>
                <a:gd name="T27" fmla="*/ 59 h 234"/>
                <a:gd name="T28" fmla="*/ 0 w 65"/>
                <a:gd name="T29" fmla="*/ 59 h 234"/>
                <a:gd name="T30" fmla="*/ 0 w 65"/>
                <a:gd name="T31" fmla="*/ 59 h 234"/>
                <a:gd name="T32" fmla="*/ 0 w 65"/>
                <a:gd name="T33" fmla="*/ 63 h 234"/>
                <a:gd name="T34" fmla="*/ 0 w 65"/>
                <a:gd name="T35" fmla="*/ 71 h 234"/>
                <a:gd name="T36" fmla="*/ 0 w 65"/>
                <a:gd name="T37" fmla="*/ 76 h 234"/>
                <a:gd name="T38" fmla="*/ 0 w 65"/>
                <a:gd name="T39" fmla="*/ 81 h 234"/>
                <a:gd name="T40" fmla="*/ 0 w 65"/>
                <a:gd name="T41" fmla="*/ 87 h 234"/>
                <a:gd name="T42" fmla="*/ 0 w 65"/>
                <a:gd name="T43" fmla="*/ 92 h 234"/>
                <a:gd name="T44" fmla="*/ 0 w 65"/>
                <a:gd name="T45" fmla="*/ 98 h 234"/>
                <a:gd name="T46" fmla="*/ 0 w 65"/>
                <a:gd name="T47" fmla="*/ 104 h 234"/>
                <a:gd name="T48" fmla="*/ 0 w 65"/>
                <a:gd name="T49" fmla="*/ 108 h 234"/>
                <a:gd name="T50" fmla="*/ 0 w 65"/>
                <a:gd name="T51" fmla="*/ 114 h 234"/>
                <a:gd name="T52" fmla="*/ 0 w 65"/>
                <a:gd name="T53" fmla="*/ 116 h 234"/>
                <a:gd name="T54" fmla="*/ 0 w 65"/>
                <a:gd name="T55" fmla="*/ 117 h 234"/>
                <a:gd name="T56" fmla="*/ 0 w 65"/>
                <a:gd name="T57" fmla="*/ 117 h 234"/>
                <a:gd name="T58" fmla="*/ 0 w 65"/>
                <a:gd name="T59" fmla="*/ 118 h 234"/>
                <a:gd name="T60" fmla="*/ 0 w 65"/>
                <a:gd name="T61" fmla="*/ 121 h 234"/>
                <a:gd name="T62" fmla="*/ 0 w 65"/>
                <a:gd name="T63" fmla="*/ 130 h 234"/>
                <a:gd name="T64" fmla="*/ 0 w 65"/>
                <a:gd name="T65" fmla="*/ 134 h 234"/>
                <a:gd name="T66" fmla="*/ 0 w 65"/>
                <a:gd name="T67" fmla="*/ 139 h 234"/>
                <a:gd name="T68" fmla="*/ 0 w 65"/>
                <a:gd name="T69" fmla="*/ 145 h 234"/>
                <a:gd name="T70" fmla="*/ 0 w 65"/>
                <a:gd name="T71" fmla="*/ 151 h 234"/>
                <a:gd name="T72" fmla="*/ 0 w 65"/>
                <a:gd name="T73" fmla="*/ 156 h 234"/>
                <a:gd name="T74" fmla="*/ 0 w 65"/>
                <a:gd name="T75" fmla="*/ 162 h 234"/>
                <a:gd name="T76" fmla="*/ 0 w 65"/>
                <a:gd name="T77" fmla="*/ 167 h 234"/>
                <a:gd name="T78" fmla="*/ 0 w 65"/>
                <a:gd name="T79" fmla="*/ 173 h 234"/>
                <a:gd name="T80" fmla="*/ 0 w 65"/>
                <a:gd name="T81" fmla="*/ 175 h 234"/>
                <a:gd name="T82" fmla="*/ 0 w 65"/>
                <a:gd name="T83" fmla="*/ 176 h 234"/>
                <a:gd name="T84" fmla="*/ 0 w 65"/>
                <a:gd name="T85" fmla="*/ 176 h 234"/>
                <a:gd name="T86" fmla="*/ 0 w 65"/>
                <a:gd name="T87" fmla="*/ 177 h 234"/>
                <a:gd name="T88" fmla="*/ 0 w 65"/>
                <a:gd name="T89" fmla="*/ 180 h 234"/>
                <a:gd name="T90" fmla="*/ 0 w 65"/>
                <a:gd name="T91" fmla="*/ 188 h 234"/>
                <a:gd name="T92" fmla="*/ 0 w 65"/>
                <a:gd name="T93" fmla="*/ 193 h 234"/>
                <a:gd name="T94" fmla="*/ 0 w 65"/>
                <a:gd name="T95" fmla="*/ 198 h 234"/>
                <a:gd name="T96" fmla="*/ 0 w 65"/>
                <a:gd name="T97" fmla="*/ 204 h 234"/>
                <a:gd name="T98" fmla="*/ 0 w 65"/>
                <a:gd name="T99" fmla="*/ 209 h 234"/>
                <a:gd name="T100" fmla="*/ 0 w 65"/>
                <a:gd name="T101" fmla="*/ 215 h 234"/>
                <a:gd name="T102" fmla="*/ 0 w 65"/>
                <a:gd name="T103" fmla="*/ 221 h 234"/>
                <a:gd name="T104" fmla="*/ 0 w 65"/>
                <a:gd name="T105" fmla="*/ 225 h 234"/>
                <a:gd name="T106" fmla="*/ 0 w 65"/>
                <a:gd name="T107" fmla="*/ 231 h 234"/>
                <a:gd name="T108" fmla="*/ 0 w 65"/>
                <a:gd name="T109" fmla="*/ 233 h 234"/>
                <a:gd name="T110" fmla="*/ 0 w 65"/>
                <a:gd name="T111" fmla="*/ 234 h 23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65"/>
                <a:gd name="T169" fmla="*/ 0 h 234"/>
                <a:gd name="T170" fmla="*/ 65 w 65"/>
                <a:gd name="T171" fmla="*/ 234 h 234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65" h="234">
                  <a:moveTo>
                    <a:pt x="65" y="0"/>
                  </a:moveTo>
                  <a:lnTo>
                    <a:pt x="59" y="0"/>
                  </a:lnTo>
                  <a:lnTo>
                    <a:pt x="51" y="0"/>
                  </a:lnTo>
                  <a:lnTo>
                    <a:pt x="46" y="1"/>
                  </a:lnTo>
                  <a:lnTo>
                    <a:pt x="40" y="2"/>
                  </a:lnTo>
                  <a:lnTo>
                    <a:pt x="29" y="4"/>
                  </a:lnTo>
                  <a:lnTo>
                    <a:pt x="19" y="7"/>
                  </a:lnTo>
                  <a:lnTo>
                    <a:pt x="12" y="11"/>
                  </a:lnTo>
                  <a:lnTo>
                    <a:pt x="10" y="15"/>
                  </a:lnTo>
                  <a:lnTo>
                    <a:pt x="6" y="17"/>
                  </a:lnTo>
                  <a:lnTo>
                    <a:pt x="4" y="20"/>
                  </a:lnTo>
                  <a:lnTo>
                    <a:pt x="2" y="22"/>
                  </a:lnTo>
                  <a:lnTo>
                    <a:pt x="0" y="25"/>
                  </a:lnTo>
                  <a:lnTo>
                    <a:pt x="0" y="28"/>
                  </a:lnTo>
                  <a:lnTo>
                    <a:pt x="0" y="31"/>
                  </a:lnTo>
                  <a:lnTo>
                    <a:pt x="0" y="34"/>
                  </a:lnTo>
                  <a:lnTo>
                    <a:pt x="2" y="37"/>
                  </a:lnTo>
                  <a:lnTo>
                    <a:pt x="4" y="39"/>
                  </a:lnTo>
                  <a:lnTo>
                    <a:pt x="6" y="43"/>
                  </a:lnTo>
                  <a:lnTo>
                    <a:pt x="10" y="45"/>
                  </a:lnTo>
                  <a:lnTo>
                    <a:pt x="14" y="47"/>
                  </a:lnTo>
                  <a:lnTo>
                    <a:pt x="17" y="49"/>
                  </a:lnTo>
                  <a:lnTo>
                    <a:pt x="25" y="53"/>
                  </a:lnTo>
                  <a:lnTo>
                    <a:pt x="36" y="56"/>
                  </a:lnTo>
                  <a:lnTo>
                    <a:pt x="42" y="57"/>
                  </a:lnTo>
                  <a:lnTo>
                    <a:pt x="48" y="58"/>
                  </a:lnTo>
                  <a:lnTo>
                    <a:pt x="53" y="58"/>
                  </a:lnTo>
                  <a:lnTo>
                    <a:pt x="59" y="59"/>
                  </a:lnTo>
                  <a:lnTo>
                    <a:pt x="65" y="59"/>
                  </a:lnTo>
                  <a:lnTo>
                    <a:pt x="59" y="59"/>
                  </a:lnTo>
                  <a:lnTo>
                    <a:pt x="51" y="59"/>
                  </a:lnTo>
                  <a:lnTo>
                    <a:pt x="46" y="59"/>
                  </a:lnTo>
                  <a:lnTo>
                    <a:pt x="40" y="60"/>
                  </a:lnTo>
                  <a:lnTo>
                    <a:pt x="29" y="63"/>
                  </a:lnTo>
                  <a:lnTo>
                    <a:pt x="19" y="66"/>
                  </a:lnTo>
                  <a:lnTo>
                    <a:pt x="12" y="71"/>
                  </a:lnTo>
                  <a:lnTo>
                    <a:pt x="10" y="73"/>
                  </a:lnTo>
                  <a:lnTo>
                    <a:pt x="6" y="76"/>
                  </a:lnTo>
                  <a:lnTo>
                    <a:pt x="4" y="78"/>
                  </a:lnTo>
                  <a:lnTo>
                    <a:pt x="2" y="81"/>
                  </a:lnTo>
                  <a:lnTo>
                    <a:pt x="0" y="84"/>
                  </a:lnTo>
                  <a:lnTo>
                    <a:pt x="0" y="87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2" y="95"/>
                  </a:lnTo>
                  <a:lnTo>
                    <a:pt x="4" y="98"/>
                  </a:lnTo>
                  <a:lnTo>
                    <a:pt x="6" y="101"/>
                  </a:lnTo>
                  <a:lnTo>
                    <a:pt x="10" y="104"/>
                  </a:lnTo>
                  <a:lnTo>
                    <a:pt x="14" y="106"/>
                  </a:lnTo>
                  <a:lnTo>
                    <a:pt x="17" y="108"/>
                  </a:lnTo>
                  <a:lnTo>
                    <a:pt x="25" y="112"/>
                  </a:lnTo>
                  <a:lnTo>
                    <a:pt x="36" y="114"/>
                  </a:lnTo>
                  <a:lnTo>
                    <a:pt x="42" y="115"/>
                  </a:lnTo>
                  <a:lnTo>
                    <a:pt x="48" y="116"/>
                  </a:lnTo>
                  <a:lnTo>
                    <a:pt x="53" y="117"/>
                  </a:lnTo>
                  <a:lnTo>
                    <a:pt x="59" y="117"/>
                  </a:lnTo>
                  <a:lnTo>
                    <a:pt x="65" y="117"/>
                  </a:lnTo>
                  <a:lnTo>
                    <a:pt x="59" y="117"/>
                  </a:lnTo>
                  <a:lnTo>
                    <a:pt x="51" y="117"/>
                  </a:lnTo>
                  <a:lnTo>
                    <a:pt x="46" y="118"/>
                  </a:lnTo>
                  <a:lnTo>
                    <a:pt x="40" y="119"/>
                  </a:lnTo>
                  <a:lnTo>
                    <a:pt x="29" y="121"/>
                  </a:lnTo>
                  <a:lnTo>
                    <a:pt x="19" y="125"/>
                  </a:lnTo>
                  <a:lnTo>
                    <a:pt x="12" y="130"/>
                  </a:lnTo>
                  <a:lnTo>
                    <a:pt x="10" y="132"/>
                  </a:lnTo>
                  <a:lnTo>
                    <a:pt x="6" y="134"/>
                  </a:lnTo>
                  <a:lnTo>
                    <a:pt x="4" y="137"/>
                  </a:lnTo>
                  <a:lnTo>
                    <a:pt x="2" y="139"/>
                  </a:lnTo>
                  <a:lnTo>
                    <a:pt x="0" y="142"/>
                  </a:lnTo>
                  <a:lnTo>
                    <a:pt x="0" y="145"/>
                  </a:lnTo>
                  <a:lnTo>
                    <a:pt x="0" y="148"/>
                  </a:lnTo>
                  <a:lnTo>
                    <a:pt x="0" y="151"/>
                  </a:lnTo>
                  <a:lnTo>
                    <a:pt x="2" y="154"/>
                  </a:lnTo>
                  <a:lnTo>
                    <a:pt x="4" y="156"/>
                  </a:lnTo>
                  <a:lnTo>
                    <a:pt x="6" y="160"/>
                  </a:lnTo>
                  <a:lnTo>
                    <a:pt x="10" y="162"/>
                  </a:lnTo>
                  <a:lnTo>
                    <a:pt x="14" y="164"/>
                  </a:lnTo>
                  <a:lnTo>
                    <a:pt x="17" y="167"/>
                  </a:lnTo>
                  <a:lnTo>
                    <a:pt x="25" y="170"/>
                  </a:lnTo>
                  <a:lnTo>
                    <a:pt x="36" y="173"/>
                  </a:lnTo>
                  <a:lnTo>
                    <a:pt x="42" y="174"/>
                  </a:lnTo>
                  <a:lnTo>
                    <a:pt x="48" y="175"/>
                  </a:lnTo>
                  <a:lnTo>
                    <a:pt x="53" y="175"/>
                  </a:lnTo>
                  <a:lnTo>
                    <a:pt x="59" y="176"/>
                  </a:lnTo>
                  <a:lnTo>
                    <a:pt x="65" y="176"/>
                  </a:lnTo>
                  <a:lnTo>
                    <a:pt x="59" y="176"/>
                  </a:lnTo>
                  <a:lnTo>
                    <a:pt x="51" y="176"/>
                  </a:lnTo>
                  <a:lnTo>
                    <a:pt x="46" y="177"/>
                  </a:lnTo>
                  <a:lnTo>
                    <a:pt x="40" y="177"/>
                  </a:lnTo>
                  <a:lnTo>
                    <a:pt x="29" y="180"/>
                  </a:lnTo>
                  <a:lnTo>
                    <a:pt x="19" y="183"/>
                  </a:lnTo>
                  <a:lnTo>
                    <a:pt x="12" y="188"/>
                  </a:lnTo>
                  <a:lnTo>
                    <a:pt x="10" y="190"/>
                  </a:lnTo>
                  <a:lnTo>
                    <a:pt x="6" y="193"/>
                  </a:lnTo>
                  <a:lnTo>
                    <a:pt x="4" y="195"/>
                  </a:lnTo>
                  <a:lnTo>
                    <a:pt x="2" y="198"/>
                  </a:lnTo>
                  <a:lnTo>
                    <a:pt x="0" y="201"/>
                  </a:lnTo>
                  <a:lnTo>
                    <a:pt x="0" y="204"/>
                  </a:lnTo>
                  <a:lnTo>
                    <a:pt x="0" y="207"/>
                  </a:lnTo>
                  <a:lnTo>
                    <a:pt x="0" y="209"/>
                  </a:lnTo>
                  <a:lnTo>
                    <a:pt x="2" y="212"/>
                  </a:lnTo>
                  <a:lnTo>
                    <a:pt x="4" y="215"/>
                  </a:lnTo>
                  <a:lnTo>
                    <a:pt x="6" y="218"/>
                  </a:lnTo>
                  <a:lnTo>
                    <a:pt x="10" y="221"/>
                  </a:lnTo>
                  <a:lnTo>
                    <a:pt x="14" y="223"/>
                  </a:lnTo>
                  <a:lnTo>
                    <a:pt x="17" y="225"/>
                  </a:lnTo>
                  <a:lnTo>
                    <a:pt x="25" y="229"/>
                  </a:lnTo>
                  <a:lnTo>
                    <a:pt x="36" y="231"/>
                  </a:lnTo>
                  <a:lnTo>
                    <a:pt x="42" y="233"/>
                  </a:lnTo>
                  <a:lnTo>
                    <a:pt x="48" y="233"/>
                  </a:lnTo>
                  <a:lnTo>
                    <a:pt x="53" y="234"/>
                  </a:lnTo>
                  <a:lnTo>
                    <a:pt x="59" y="234"/>
                  </a:lnTo>
                  <a:lnTo>
                    <a:pt x="65" y="2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" name="Line 265"/>
            <p:cNvSpPr>
              <a:spLocks noChangeShapeType="1"/>
            </p:cNvSpPr>
            <p:nvPr/>
          </p:nvSpPr>
          <p:spPr bwMode="auto">
            <a:xfrm>
              <a:off x="4295" y="1159"/>
              <a:ext cx="1" cy="2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" name="Line 266"/>
            <p:cNvSpPr>
              <a:spLocks noChangeShapeType="1"/>
            </p:cNvSpPr>
            <p:nvPr/>
          </p:nvSpPr>
          <p:spPr bwMode="auto">
            <a:xfrm flipV="1">
              <a:off x="4308" y="1159"/>
              <a:ext cx="1" cy="2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8" name="Rectangle 267"/>
            <p:cNvSpPr>
              <a:spLocks noChangeArrowheads="1"/>
            </p:cNvSpPr>
            <p:nvPr/>
          </p:nvSpPr>
          <p:spPr bwMode="auto">
            <a:xfrm>
              <a:off x="5331" y="1169"/>
              <a:ext cx="42" cy="117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/>
            </a:p>
          </p:txBody>
        </p:sp>
        <p:sp>
          <p:nvSpPr>
            <p:cNvPr id="269" name="Rectangle 268"/>
            <p:cNvSpPr>
              <a:spLocks noChangeArrowheads="1"/>
            </p:cNvSpPr>
            <p:nvPr/>
          </p:nvSpPr>
          <p:spPr bwMode="auto">
            <a:xfrm>
              <a:off x="5331" y="1169"/>
              <a:ext cx="42" cy="117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/>
            </a:p>
          </p:txBody>
        </p:sp>
        <p:sp>
          <p:nvSpPr>
            <p:cNvPr id="270" name="Line 269"/>
            <p:cNvSpPr>
              <a:spLocks noChangeShapeType="1"/>
            </p:cNvSpPr>
            <p:nvPr/>
          </p:nvSpPr>
          <p:spPr bwMode="auto">
            <a:xfrm>
              <a:off x="5139" y="1215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1" name="Line 270"/>
            <p:cNvSpPr>
              <a:spLocks noChangeShapeType="1"/>
            </p:cNvSpPr>
            <p:nvPr/>
          </p:nvSpPr>
          <p:spPr bwMode="auto">
            <a:xfrm>
              <a:off x="5139" y="1250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2" name="Line 271"/>
            <p:cNvSpPr>
              <a:spLocks noChangeShapeType="1"/>
            </p:cNvSpPr>
            <p:nvPr/>
          </p:nvSpPr>
          <p:spPr bwMode="auto">
            <a:xfrm>
              <a:off x="5182" y="1250"/>
              <a:ext cx="1" cy="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" name="Line 272"/>
            <p:cNvSpPr>
              <a:spLocks noChangeShapeType="1"/>
            </p:cNvSpPr>
            <p:nvPr/>
          </p:nvSpPr>
          <p:spPr bwMode="auto">
            <a:xfrm flipV="1">
              <a:off x="5182" y="1110"/>
              <a:ext cx="1" cy="10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" name="Line 273"/>
            <p:cNvSpPr>
              <a:spLocks noChangeShapeType="1"/>
            </p:cNvSpPr>
            <p:nvPr/>
          </p:nvSpPr>
          <p:spPr bwMode="auto">
            <a:xfrm flipV="1">
              <a:off x="5182" y="1086"/>
              <a:ext cx="1" cy="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5" name="Freeform 274"/>
            <p:cNvSpPr>
              <a:spLocks/>
            </p:cNvSpPr>
            <p:nvPr/>
          </p:nvSpPr>
          <p:spPr bwMode="auto">
            <a:xfrm>
              <a:off x="4224" y="1348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1 w 60"/>
                <a:gd name="T3" fmla="*/ 12 h 33"/>
                <a:gd name="T4" fmla="*/ 1 w 60"/>
                <a:gd name="T5" fmla="*/ 9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9 h 33"/>
                <a:gd name="T30" fmla="*/ 1 w 60"/>
                <a:gd name="T31" fmla="*/ 12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3 h 33"/>
                <a:gd name="T40" fmla="*/ 1 w 60"/>
                <a:gd name="T41" fmla="*/ 25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5 h 33"/>
                <a:gd name="T62" fmla="*/ 1 w 60"/>
                <a:gd name="T63" fmla="*/ 23 h 33"/>
                <a:gd name="T64" fmla="*/ 1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2" y="12"/>
                  </a:lnTo>
                  <a:lnTo>
                    <a:pt x="3" y="9"/>
                  </a:lnTo>
                  <a:lnTo>
                    <a:pt x="5" y="7"/>
                  </a:lnTo>
                  <a:lnTo>
                    <a:pt x="9" y="4"/>
                  </a:lnTo>
                  <a:lnTo>
                    <a:pt x="15" y="2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7" y="0"/>
                  </a:lnTo>
                  <a:lnTo>
                    <a:pt x="43" y="1"/>
                  </a:lnTo>
                  <a:lnTo>
                    <a:pt x="47" y="2"/>
                  </a:lnTo>
                  <a:lnTo>
                    <a:pt x="53" y="4"/>
                  </a:lnTo>
                  <a:lnTo>
                    <a:pt x="56" y="7"/>
                  </a:lnTo>
                  <a:lnTo>
                    <a:pt x="58" y="9"/>
                  </a:lnTo>
                  <a:lnTo>
                    <a:pt x="60" y="12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3"/>
                  </a:lnTo>
                  <a:lnTo>
                    <a:pt x="56" y="25"/>
                  </a:lnTo>
                  <a:lnTo>
                    <a:pt x="53" y="28"/>
                  </a:lnTo>
                  <a:lnTo>
                    <a:pt x="47" y="30"/>
                  </a:lnTo>
                  <a:lnTo>
                    <a:pt x="43" y="31"/>
                  </a:lnTo>
                  <a:lnTo>
                    <a:pt x="37" y="32"/>
                  </a:lnTo>
                  <a:lnTo>
                    <a:pt x="30" y="33"/>
                  </a:lnTo>
                  <a:lnTo>
                    <a:pt x="24" y="32"/>
                  </a:lnTo>
                  <a:lnTo>
                    <a:pt x="19" y="31"/>
                  </a:lnTo>
                  <a:lnTo>
                    <a:pt x="15" y="30"/>
                  </a:lnTo>
                  <a:lnTo>
                    <a:pt x="9" y="28"/>
                  </a:lnTo>
                  <a:lnTo>
                    <a:pt x="5" y="25"/>
                  </a:lnTo>
                  <a:lnTo>
                    <a:pt x="3" y="23"/>
                  </a:lnTo>
                  <a:lnTo>
                    <a:pt x="2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" name="Freeform 275"/>
            <p:cNvSpPr>
              <a:spLocks/>
            </p:cNvSpPr>
            <p:nvPr/>
          </p:nvSpPr>
          <p:spPr bwMode="auto">
            <a:xfrm>
              <a:off x="4359" y="1153"/>
              <a:ext cx="30" cy="33"/>
            </a:xfrm>
            <a:custGeom>
              <a:avLst/>
              <a:gdLst>
                <a:gd name="T0" fmla="*/ 0 w 61"/>
                <a:gd name="T1" fmla="*/ 17 h 33"/>
                <a:gd name="T2" fmla="*/ 0 w 61"/>
                <a:gd name="T3" fmla="*/ 14 h 33"/>
                <a:gd name="T4" fmla="*/ 0 w 61"/>
                <a:gd name="T5" fmla="*/ 10 h 33"/>
                <a:gd name="T6" fmla="*/ 0 w 61"/>
                <a:gd name="T7" fmla="*/ 7 h 33"/>
                <a:gd name="T8" fmla="*/ 0 w 61"/>
                <a:gd name="T9" fmla="*/ 4 h 33"/>
                <a:gd name="T10" fmla="*/ 0 w 61"/>
                <a:gd name="T11" fmla="*/ 3 h 33"/>
                <a:gd name="T12" fmla="*/ 0 w 61"/>
                <a:gd name="T13" fmla="*/ 1 h 33"/>
                <a:gd name="T14" fmla="*/ 0 w 61"/>
                <a:gd name="T15" fmla="*/ 0 h 33"/>
                <a:gd name="T16" fmla="*/ 0 w 61"/>
                <a:gd name="T17" fmla="*/ 0 h 33"/>
                <a:gd name="T18" fmla="*/ 0 w 61"/>
                <a:gd name="T19" fmla="*/ 0 h 33"/>
                <a:gd name="T20" fmla="*/ 0 w 61"/>
                <a:gd name="T21" fmla="*/ 1 h 33"/>
                <a:gd name="T22" fmla="*/ 0 w 61"/>
                <a:gd name="T23" fmla="*/ 3 h 33"/>
                <a:gd name="T24" fmla="*/ 0 w 61"/>
                <a:gd name="T25" fmla="*/ 4 h 33"/>
                <a:gd name="T26" fmla="*/ 0 w 61"/>
                <a:gd name="T27" fmla="*/ 7 h 33"/>
                <a:gd name="T28" fmla="*/ 0 w 61"/>
                <a:gd name="T29" fmla="*/ 10 h 33"/>
                <a:gd name="T30" fmla="*/ 0 w 61"/>
                <a:gd name="T31" fmla="*/ 14 h 33"/>
                <a:gd name="T32" fmla="*/ 0 w 61"/>
                <a:gd name="T33" fmla="*/ 17 h 33"/>
                <a:gd name="T34" fmla="*/ 0 w 61"/>
                <a:gd name="T35" fmla="*/ 17 h 33"/>
                <a:gd name="T36" fmla="*/ 0 w 61"/>
                <a:gd name="T37" fmla="*/ 20 h 33"/>
                <a:gd name="T38" fmla="*/ 0 w 61"/>
                <a:gd name="T39" fmla="*/ 23 h 33"/>
                <a:gd name="T40" fmla="*/ 0 w 61"/>
                <a:gd name="T41" fmla="*/ 26 h 33"/>
                <a:gd name="T42" fmla="*/ 0 w 61"/>
                <a:gd name="T43" fmla="*/ 28 h 33"/>
                <a:gd name="T44" fmla="*/ 0 w 61"/>
                <a:gd name="T45" fmla="*/ 30 h 33"/>
                <a:gd name="T46" fmla="*/ 0 w 61"/>
                <a:gd name="T47" fmla="*/ 32 h 33"/>
                <a:gd name="T48" fmla="*/ 0 w 61"/>
                <a:gd name="T49" fmla="*/ 32 h 33"/>
                <a:gd name="T50" fmla="*/ 0 w 61"/>
                <a:gd name="T51" fmla="*/ 33 h 33"/>
                <a:gd name="T52" fmla="*/ 0 w 61"/>
                <a:gd name="T53" fmla="*/ 32 h 33"/>
                <a:gd name="T54" fmla="*/ 0 w 61"/>
                <a:gd name="T55" fmla="*/ 32 h 33"/>
                <a:gd name="T56" fmla="*/ 0 w 61"/>
                <a:gd name="T57" fmla="*/ 30 h 33"/>
                <a:gd name="T58" fmla="*/ 0 w 61"/>
                <a:gd name="T59" fmla="*/ 28 h 33"/>
                <a:gd name="T60" fmla="*/ 0 w 61"/>
                <a:gd name="T61" fmla="*/ 26 h 33"/>
                <a:gd name="T62" fmla="*/ 0 w 61"/>
                <a:gd name="T63" fmla="*/ 23 h 33"/>
                <a:gd name="T64" fmla="*/ 0 w 61"/>
                <a:gd name="T65" fmla="*/ 20 h 33"/>
                <a:gd name="T66" fmla="*/ 0 w 61"/>
                <a:gd name="T67" fmla="*/ 17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1"/>
                <a:gd name="T103" fmla="*/ 0 h 33"/>
                <a:gd name="T104" fmla="*/ 61 w 61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1" h="33">
                  <a:moveTo>
                    <a:pt x="0" y="17"/>
                  </a:moveTo>
                  <a:lnTo>
                    <a:pt x="0" y="14"/>
                  </a:lnTo>
                  <a:lnTo>
                    <a:pt x="2" y="10"/>
                  </a:lnTo>
                  <a:lnTo>
                    <a:pt x="4" y="7"/>
                  </a:lnTo>
                  <a:lnTo>
                    <a:pt x="8" y="4"/>
                  </a:lnTo>
                  <a:lnTo>
                    <a:pt x="14" y="3"/>
                  </a:lnTo>
                  <a:lnTo>
                    <a:pt x="17" y="1"/>
                  </a:lnTo>
                  <a:lnTo>
                    <a:pt x="23" y="0"/>
                  </a:lnTo>
                  <a:lnTo>
                    <a:pt x="31" y="0"/>
                  </a:lnTo>
                  <a:lnTo>
                    <a:pt x="36" y="0"/>
                  </a:lnTo>
                  <a:lnTo>
                    <a:pt x="42" y="1"/>
                  </a:lnTo>
                  <a:lnTo>
                    <a:pt x="46" y="3"/>
                  </a:lnTo>
                  <a:lnTo>
                    <a:pt x="51" y="4"/>
                  </a:lnTo>
                  <a:lnTo>
                    <a:pt x="55" y="7"/>
                  </a:lnTo>
                  <a:lnTo>
                    <a:pt x="57" y="10"/>
                  </a:lnTo>
                  <a:lnTo>
                    <a:pt x="59" y="14"/>
                  </a:lnTo>
                  <a:lnTo>
                    <a:pt x="61" y="17"/>
                  </a:lnTo>
                  <a:lnTo>
                    <a:pt x="59" y="20"/>
                  </a:lnTo>
                  <a:lnTo>
                    <a:pt x="57" y="23"/>
                  </a:lnTo>
                  <a:lnTo>
                    <a:pt x="55" y="26"/>
                  </a:lnTo>
                  <a:lnTo>
                    <a:pt x="51" y="28"/>
                  </a:lnTo>
                  <a:lnTo>
                    <a:pt x="46" y="30"/>
                  </a:lnTo>
                  <a:lnTo>
                    <a:pt x="42" y="32"/>
                  </a:lnTo>
                  <a:lnTo>
                    <a:pt x="36" y="32"/>
                  </a:lnTo>
                  <a:lnTo>
                    <a:pt x="31" y="33"/>
                  </a:lnTo>
                  <a:lnTo>
                    <a:pt x="23" y="32"/>
                  </a:lnTo>
                  <a:lnTo>
                    <a:pt x="17" y="32"/>
                  </a:lnTo>
                  <a:lnTo>
                    <a:pt x="14" y="30"/>
                  </a:lnTo>
                  <a:lnTo>
                    <a:pt x="8" y="28"/>
                  </a:lnTo>
                  <a:lnTo>
                    <a:pt x="4" y="26"/>
                  </a:lnTo>
                  <a:lnTo>
                    <a:pt x="2" y="23"/>
                  </a:lnTo>
                  <a:lnTo>
                    <a:pt x="0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" name="Rectangle 276"/>
            <p:cNvSpPr>
              <a:spLocks noChangeArrowheads="1"/>
            </p:cNvSpPr>
            <p:nvPr/>
          </p:nvSpPr>
          <p:spPr bwMode="auto">
            <a:xfrm>
              <a:off x="3243" y="1149"/>
              <a:ext cx="124" cy="91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endParaRPr lang="en-US" altLang="zh-CN" sz="20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</a:p>
            <a:p>
              <a:pPr eaLnBrk="1" hangingPunct="1"/>
              <a:endParaRPr lang="en-US" altLang="zh-CN" sz="20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2000"/>
            </a:p>
          </p:txBody>
        </p:sp>
        <p:sp>
          <p:nvSpPr>
            <p:cNvPr id="278" name="Rectangle 277"/>
            <p:cNvSpPr>
              <a:spLocks noChangeArrowheads="1"/>
            </p:cNvSpPr>
            <p:nvPr/>
          </p:nvSpPr>
          <p:spPr bwMode="auto">
            <a:xfrm>
              <a:off x="5239" y="1104"/>
              <a:ext cx="64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R</a:t>
              </a:r>
              <a:endParaRPr lang="en-US" altLang="zh-CN"/>
            </a:p>
          </p:txBody>
        </p:sp>
        <p:sp>
          <p:nvSpPr>
            <p:cNvPr id="279" name="Rectangle 278"/>
            <p:cNvSpPr>
              <a:spLocks noChangeArrowheads="1"/>
            </p:cNvSpPr>
            <p:nvPr/>
          </p:nvSpPr>
          <p:spPr bwMode="auto">
            <a:xfrm>
              <a:off x="4272" y="1613"/>
              <a:ext cx="64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280" name="Rectangle 279"/>
            <p:cNvSpPr>
              <a:spLocks noChangeArrowheads="1"/>
            </p:cNvSpPr>
            <p:nvPr/>
          </p:nvSpPr>
          <p:spPr bwMode="auto">
            <a:xfrm>
              <a:off x="5420" y="968"/>
              <a:ext cx="109" cy="54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2000"/>
            </a:p>
          </p:txBody>
        </p:sp>
        <p:sp>
          <p:nvSpPr>
            <p:cNvPr id="281" name="Freeform 280"/>
            <p:cNvSpPr>
              <a:spLocks noEditPoints="1"/>
            </p:cNvSpPr>
            <p:nvPr/>
          </p:nvSpPr>
          <p:spPr bwMode="auto">
            <a:xfrm>
              <a:off x="3608" y="1837"/>
              <a:ext cx="14" cy="131"/>
            </a:xfrm>
            <a:custGeom>
              <a:avLst/>
              <a:gdLst>
                <a:gd name="T0" fmla="*/ 1 w 26"/>
                <a:gd name="T1" fmla="*/ 117 h 131"/>
                <a:gd name="T2" fmla="*/ 1 w 26"/>
                <a:gd name="T3" fmla="*/ 117 h 131"/>
                <a:gd name="T4" fmla="*/ 1 w 26"/>
                <a:gd name="T5" fmla="*/ 118 h 131"/>
                <a:gd name="T6" fmla="*/ 1 w 26"/>
                <a:gd name="T7" fmla="*/ 119 h 131"/>
                <a:gd name="T8" fmla="*/ 0 w 26"/>
                <a:gd name="T9" fmla="*/ 121 h 131"/>
                <a:gd name="T10" fmla="*/ 0 w 26"/>
                <a:gd name="T11" fmla="*/ 123 h 131"/>
                <a:gd name="T12" fmla="*/ 0 w 26"/>
                <a:gd name="T13" fmla="*/ 124 h 131"/>
                <a:gd name="T14" fmla="*/ 0 w 26"/>
                <a:gd name="T15" fmla="*/ 126 h 131"/>
                <a:gd name="T16" fmla="*/ 0 w 26"/>
                <a:gd name="T17" fmla="*/ 127 h 131"/>
                <a:gd name="T18" fmla="*/ 1 w 26"/>
                <a:gd name="T19" fmla="*/ 129 h 131"/>
                <a:gd name="T20" fmla="*/ 1 w 26"/>
                <a:gd name="T21" fmla="*/ 131 h 131"/>
                <a:gd name="T22" fmla="*/ 1 w 26"/>
                <a:gd name="T23" fmla="*/ 131 h 131"/>
                <a:gd name="T24" fmla="*/ 1 w 26"/>
                <a:gd name="T25" fmla="*/ 131 h 131"/>
                <a:gd name="T26" fmla="*/ 1 w 26"/>
                <a:gd name="T27" fmla="*/ 131 h 131"/>
                <a:gd name="T28" fmla="*/ 1 w 26"/>
                <a:gd name="T29" fmla="*/ 131 h 131"/>
                <a:gd name="T30" fmla="*/ 1 w 26"/>
                <a:gd name="T31" fmla="*/ 131 h 131"/>
                <a:gd name="T32" fmla="*/ 1 w 26"/>
                <a:gd name="T33" fmla="*/ 129 h 131"/>
                <a:gd name="T34" fmla="*/ 1 w 26"/>
                <a:gd name="T35" fmla="*/ 127 h 131"/>
                <a:gd name="T36" fmla="*/ 1 w 26"/>
                <a:gd name="T37" fmla="*/ 126 h 131"/>
                <a:gd name="T38" fmla="*/ 1 w 26"/>
                <a:gd name="T39" fmla="*/ 124 h 131"/>
                <a:gd name="T40" fmla="*/ 1 w 26"/>
                <a:gd name="T41" fmla="*/ 123 h 131"/>
                <a:gd name="T42" fmla="*/ 1 w 26"/>
                <a:gd name="T43" fmla="*/ 121 h 131"/>
                <a:gd name="T44" fmla="*/ 1 w 26"/>
                <a:gd name="T45" fmla="*/ 119 h 131"/>
                <a:gd name="T46" fmla="*/ 1 w 26"/>
                <a:gd name="T47" fmla="*/ 118 h 131"/>
                <a:gd name="T48" fmla="*/ 1 w 26"/>
                <a:gd name="T49" fmla="*/ 117 h 131"/>
                <a:gd name="T50" fmla="*/ 1 w 26"/>
                <a:gd name="T51" fmla="*/ 117 h 131"/>
                <a:gd name="T52" fmla="*/ 1 w 26"/>
                <a:gd name="T53" fmla="*/ 117 h 131"/>
                <a:gd name="T54" fmla="*/ 1 w 26"/>
                <a:gd name="T55" fmla="*/ 117 h 131"/>
                <a:gd name="T56" fmla="*/ 1 w 26"/>
                <a:gd name="T57" fmla="*/ 0 h 131"/>
                <a:gd name="T58" fmla="*/ 1 w 26"/>
                <a:gd name="T59" fmla="*/ 0 h 131"/>
                <a:gd name="T60" fmla="*/ 1 w 26"/>
                <a:gd name="T61" fmla="*/ 1 h 131"/>
                <a:gd name="T62" fmla="*/ 1 w 26"/>
                <a:gd name="T63" fmla="*/ 2 h 131"/>
                <a:gd name="T64" fmla="*/ 0 w 26"/>
                <a:gd name="T65" fmla="*/ 4 h 131"/>
                <a:gd name="T66" fmla="*/ 0 w 26"/>
                <a:gd name="T67" fmla="*/ 6 h 131"/>
                <a:gd name="T68" fmla="*/ 0 w 26"/>
                <a:gd name="T69" fmla="*/ 7 h 131"/>
                <a:gd name="T70" fmla="*/ 0 w 26"/>
                <a:gd name="T71" fmla="*/ 9 h 131"/>
                <a:gd name="T72" fmla="*/ 0 w 26"/>
                <a:gd name="T73" fmla="*/ 10 h 131"/>
                <a:gd name="T74" fmla="*/ 1 w 26"/>
                <a:gd name="T75" fmla="*/ 12 h 131"/>
                <a:gd name="T76" fmla="*/ 1 w 26"/>
                <a:gd name="T77" fmla="*/ 14 h 131"/>
                <a:gd name="T78" fmla="*/ 1 w 26"/>
                <a:gd name="T79" fmla="*/ 14 h 131"/>
                <a:gd name="T80" fmla="*/ 1 w 26"/>
                <a:gd name="T81" fmla="*/ 14 h 131"/>
                <a:gd name="T82" fmla="*/ 1 w 26"/>
                <a:gd name="T83" fmla="*/ 14 h 131"/>
                <a:gd name="T84" fmla="*/ 1 w 26"/>
                <a:gd name="T85" fmla="*/ 14 h 131"/>
                <a:gd name="T86" fmla="*/ 1 w 26"/>
                <a:gd name="T87" fmla="*/ 14 h 131"/>
                <a:gd name="T88" fmla="*/ 1 w 26"/>
                <a:gd name="T89" fmla="*/ 12 h 131"/>
                <a:gd name="T90" fmla="*/ 1 w 26"/>
                <a:gd name="T91" fmla="*/ 10 h 131"/>
                <a:gd name="T92" fmla="*/ 1 w 26"/>
                <a:gd name="T93" fmla="*/ 9 h 131"/>
                <a:gd name="T94" fmla="*/ 1 w 26"/>
                <a:gd name="T95" fmla="*/ 7 h 131"/>
                <a:gd name="T96" fmla="*/ 1 w 26"/>
                <a:gd name="T97" fmla="*/ 6 h 131"/>
                <a:gd name="T98" fmla="*/ 1 w 26"/>
                <a:gd name="T99" fmla="*/ 4 h 131"/>
                <a:gd name="T100" fmla="*/ 1 w 26"/>
                <a:gd name="T101" fmla="*/ 2 h 131"/>
                <a:gd name="T102" fmla="*/ 1 w 26"/>
                <a:gd name="T103" fmla="*/ 1 h 131"/>
                <a:gd name="T104" fmla="*/ 1 w 26"/>
                <a:gd name="T105" fmla="*/ 0 h 131"/>
                <a:gd name="T106" fmla="*/ 1 w 26"/>
                <a:gd name="T107" fmla="*/ 0 h 131"/>
                <a:gd name="T108" fmla="*/ 1 w 26"/>
                <a:gd name="T109" fmla="*/ 0 h 131"/>
                <a:gd name="T110" fmla="*/ 1 w 26"/>
                <a:gd name="T111" fmla="*/ 0 h 131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26"/>
                <a:gd name="T169" fmla="*/ 0 h 131"/>
                <a:gd name="T170" fmla="*/ 26 w 26"/>
                <a:gd name="T171" fmla="*/ 131 h 131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26" h="131">
                  <a:moveTo>
                    <a:pt x="13" y="117"/>
                  </a:moveTo>
                  <a:lnTo>
                    <a:pt x="11" y="117"/>
                  </a:lnTo>
                  <a:lnTo>
                    <a:pt x="8" y="118"/>
                  </a:lnTo>
                  <a:lnTo>
                    <a:pt x="4" y="119"/>
                  </a:lnTo>
                  <a:lnTo>
                    <a:pt x="0" y="121"/>
                  </a:lnTo>
                  <a:lnTo>
                    <a:pt x="0" y="123"/>
                  </a:lnTo>
                  <a:lnTo>
                    <a:pt x="0" y="124"/>
                  </a:lnTo>
                  <a:lnTo>
                    <a:pt x="0" y="126"/>
                  </a:lnTo>
                  <a:lnTo>
                    <a:pt x="0" y="127"/>
                  </a:lnTo>
                  <a:lnTo>
                    <a:pt x="4" y="129"/>
                  </a:lnTo>
                  <a:lnTo>
                    <a:pt x="8" y="131"/>
                  </a:lnTo>
                  <a:lnTo>
                    <a:pt x="9" y="131"/>
                  </a:lnTo>
                  <a:lnTo>
                    <a:pt x="13" y="131"/>
                  </a:lnTo>
                  <a:lnTo>
                    <a:pt x="15" y="131"/>
                  </a:lnTo>
                  <a:lnTo>
                    <a:pt x="19" y="131"/>
                  </a:lnTo>
                  <a:lnTo>
                    <a:pt x="23" y="129"/>
                  </a:lnTo>
                  <a:lnTo>
                    <a:pt x="25" y="127"/>
                  </a:lnTo>
                  <a:lnTo>
                    <a:pt x="26" y="126"/>
                  </a:lnTo>
                  <a:lnTo>
                    <a:pt x="26" y="124"/>
                  </a:lnTo>
                  <a:lnTo>
                    <a:pt x="26" y="123"/>
                  </a:lnTo>
                  <a:lnTo>
                    <a:pt x="25" y="121"/>
                  </a:lnTo>
                  <a:lnTo>
                    <a:pt x="23" y="119"/>
                  </a:lnTo>
                  <a:lnTo>
                    <a:pt x="19" y="118"/>
                  </a:lnTo>
                  <a:lnTo>
                    <a:pt x="15" y="117"/>
                  </a:lnTo>
                  <a:lnTo>
                    <a:pt x="13" y="117"/>
                  </a:lnTo>
                  <a:close/>
                  <a:moveTo>
                    <a:pt x="13" y="0"/>
                  </a:moveTo>
                  <a:lnTo>
                    <a:pt x="11" y="0"/>
                  </a:lnTo>
                  <a:lnTo>
                    <a:pt x="8" y="1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12"/>
                  </a:lnTo>
                  <a:lnTo>
                    <a:pt x="8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9" y="14"/>
                  </a:lnTo>
                  <a:lnTo>
                    <a:pt x="23" y="12"/>
                  </a:lnTo>
                  <a:lnTo>
                    <a:pt x="25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3" y="2"/>
                  </a:lnTo>
                  <a:lnTo>
                    <a:pt x="19" y="1"/>
                  </a:lnTo>
                  <a:lnTo>
                    <a:pt x="15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Freeform 281"/>
            <p:cNvSpPr>
              <a:spLocks/>
            </p:cNvSpPr>
            <p:nvPr/>
          </p:nvSpPr>
          <p:spPr bwMode="auto">
            <a:xfrm>
              <a:off x="3608" y="1954"/>
              <a:ext cx="14" cy="14"/>
            </a:xfrm>
            <a:custGeom>
              <a:avLst/>
              <a:gdLst>
                <a:gd name="T0" fmla="*/ 1 w 26"/>
                <a:gd name="T1" fmla="*/ 0 h 14"/>
                <a:gd name="T2" fmla="*/ 1 w 26"/>
                <a:gd name="T3" fmla="*/ 0 h 14"/>
                <a:gd name="T4" fmla="*/ 1 w 26"/>
                <a:gd name="T5" fmla="*/ 1 h 14"/>
                <a:gd name="T6" fmla="*/ 1 w 26"/>
                <a:gd name="T7" fmla="*/ 2 h 14"/>
                <a:gd name="T8" fmla="*/ 0 w 26"/>
                <a:gd name="T9" fmla="*/ 4 h 14"/>
                <a:gd name="T10" fmla="*/ 0 w 26"/>
                <a:gd name="T11" fmla="*/ 6 h 14"/>
                <a:gd name="T12" fmla="*/ 0 w 26"/>
                <a:gd name="T13" fmla="*/ 7 h 14"/>
                <a:gd name="T14" fmla="*/ 0 w 26"/>
                <a:gd name="T15" fmla="*/ 9 h 14"/>
                <a:gd name="T16" fmla="*/ 0 w 26"/>
                <a:gd name="T17" fmla="*/ 10 h 14"/>
                <a:gd name="T18" fmla="*/ 1 w 26"/>
                <a:gd name="T19" fmla="*/ 12 h 14"/>
                <a:gd name="T20" fmla="*/ 1 w 26"/>
                <a:gd name="T21" fmla="*/ 14 h 14"/>
                <a:gd name="T22" fmla="*/ 1 w 26"/>
                <a:gd name="T23" fmla="*/ 14 h 14"/>
                <a:gd name="T24" fmla="*/ 1 w 26"/>
                <a:gd name="T25" fmla="*/ 14 h 14"/>
                <a:gd name="T26" fmla="*/ 1 w 26"/>
                <a:gd name="T27" fmla="*/ 14 h 14"/>
                <a:gd name="T28" fmla="*/ 1 w 26"/>
                <a:gd name="T29" fmla="*/ 14 h 14"/>
                <a:gd name="T30" fmla="*/ 1 w 26"/>
                <a:gd name="T31" fmla="*/ 14 h 14"/>
                <a:gd name="T32" fmla="*/ 1 w 26"/>
                <a:gd name="T33" fmla="*/ 12 h 14"/>
                <a:gd name="T34" fmla="*/ 1 w 26"/>
                <a:gd name="T35" fmla="*/ 10 h 14"/>
                <a:gd name="T36" fmla="*/ 1 w 26"/>
                <a:gd name="T37" fmla="*/ 9 h 14"/>
                <a:gd name="T38" fmla="*/ 1 w 26"/>
                <a:gd name="T39" fmla="*/ 7 h 14"/>
                <a:gd name="T40" fmla="*/ 1 w 26"/>
                <a:gd name="T41" fmla="*/ 6 h 14"/>
                <a:gd name="T42" fmla="*/ 1 w 26"/>
                <a:gd name="T43" fmla="*/ 4 h 14"/>
                <a:gd name="T44" fmla="*/ 1 w 26"/>
                <a:gd name="T45" fmla="*/ 2 h 14"/>
                <a:gd name="T46" fmla="*/ 1 w 26"/>
                <a:gd name="T47" fmla="*/ 1 h 14"/>
                <a:gd name="T48" fmla="*/ 1 w 26"/>
                <a:gd name="T49" fmla="*/ 0 h 14"/>
                <a:gd name="T50" fmla="*/ 1 w 26"/>
                <a:gd name="T51" fmla="*/ 0 h 14"/>
                <a:gd name="T52" fmla="*/ 1 w 26"/>
                <a:gd name="T53" fmla="*/ 0 h 1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6"/>
                <a:gd name="T82" fmla="*/ 0 h 14"/>
                <a:gd name="T83" fmla="*/ 26 w 26"/>
                <a:gd name="T84" fmla="*/ 14 h 1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6" h="14">
                  <a:moveTo>
                    <a:pt x="13" y="0"/>
                  </a:moveTo>
                  <a:lnTo>
                    <a:pt x="11" y="0"/>
                  </a:lnTo>
                  <a:lnTo>
                    <a:pt x="8" y="1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12"/>
                  </a:lnTo>
                  <a:lnTo>
                    <a:pt x="8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9" y="14"/>
                  </a:lnTo>
                  <a:lnTo>
                    <a:pt x="23" y="12"/>
                  </a:lnTo>
                  <a:lnTo>
                    <a:pt x="25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3" y="2"/>
                  </a:lnTo>
                  <a:lnTo>
                    <a:pt x="19" y="1"/>
                  </a:lnTo>
                  <a:lnTo>
                    <a:pt x="15" y="0"/>
                  </a:lnTo>
                  <a:lnTo>
                    <a:pt x="1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" name="Freeform 282"/>
            <p:cNvSpPr>
              <a:spLocks/>
            </p:cNvSpPr>
            <p:nvPr/>
          </p:nvSpPr>
          <p:spPr bwMode="auto">
            <a:xfrm>
              <a:off x="3608" y="1837"/>
              <a:ext cx="14" cy="14"/>
            </a:xfrm>
            <a:custGeom>
              <a:avLst/>
              <a:gdLst>
                <a:gd name="T0" fmla="*/ 1 w 26"/>
                <a:gd name="T1" fmla="*/ 0 h 14"/>
                <a:gd name="T2" fmla="*/ 1 w 26"/>
                <a:gd name="T3" fmla="*/ 0 h 14"/>
                <a:gd name="T4" fmla="*/ 1 w 26"/>
                <a:gd name="T5" fmla="*/ 1 h 14"/>
                <a:gd name="T6" fmla="*/ 1 w 26"/>
                <a:gd name="T7" fmla="*/ 2 h 14"/>
                <a:gd name="T8" fmla="*/ 0 w 26"/>
                <a:gd name="T9" fmla="*/ 4 h 14"/>
                <a:gd name="T10" fmla="*/ 0 w 26"/>
                <a:gd name="T11" fmla="*/ 6 h 14"/>
                <a:gd name="T12" fmla="*/ 0 w 26"/>
                <a:gd name="T13" fmla="*/ 7 h 14"/>
                <a:gd name="T14" fmla="*/ 0 w 26"/>
                <a:gd name="T15" fmla="*/ 9 h 14"/>
                <a:gd name="T16" fmla="*/ 0 w 26"/>
                <a:gd name="T17" fmla="*/ 10 h 14"/>
                <a:gd name="T18" fmla="*/ 1 w 26"/>
                <a:gd name="T19" fmla="*/ 12 h 14"/>
                <a:gd name="T20" fmla="*/ 1 w 26"/>
                <a:gd name="T21" fmla="*/ 14 h 14"/>
                <a:gd name="T22" fmla="*/ 1 w 26"/>
                <a:gd name="T23" fmla="*/ 14 h 14"/>
                <a:gd name="T24" fmla="*/ 1 w 26"/>
                <a:gd name="T25" fmla="*/ 14 h 14"/>
                <a:gd name="T26" fmla="*/ 1 w 26"/>
                <a:gd name="T27" fmla="*/ 14 h 14"/>
                <a:gd name="T28" fmla="*/ 1 w 26"/>
                <a:gd name="T29" fmla="*/ 14 h 14"/>
                <a:gd name="T30" fmla="*/ 1 w 26"/>
                <a:gd name="T31" fmla="*/ 14 h 14"/>
                <a:gd name="T32" fmla="*/ 1 w 26"/>
                <a:gd name="T33" fmla="*/ 12 h 14"/>
                <a:gd name="T34" fmla="*/ 1 w 26"/>
                <a:gd name="T35" fmla="*/ 10 h 14"/>
                <a:gd name="T36" fmla="*/ 1 w 26"/>
                <a:gd name="T37" fmla="*/ 9 h 14"/>
                <a:gd name="T38" fmla="*/ 1 w 26"/>
                <a:gd name="T39" fmla="*/ 7 h 14"/>
                <a:gd name="T40" fmla="*/ 1 w 26"/>
                <a:gd name="T41" fmla="*/ 6 h 14"/>
                <a:gd name="T42" fmla="*/ 1 w 26"/>
                <a:gd name="T43" fmla="*/ 4 h 14"/>
                <a:gd name="T44" fmla="*/ 1 w 26"/>
                <a:gd name="T45" fmla="*/ 2 h 14"/>
                <a:gd name="T46" fmla="*/ 1 w 26"/>
                <a:gd name="T47" fmla="*/ 1 h 14"/>
                <a:gd name="T48" fmla="*/ 1 w 26"/>
                <a:gd name="T49" fmla="*/ 0 h 14"/>
                <a:gd name="T50" fmla="*/ 1 w 26"/>
                <a:gd name="T51" fmla="*/ 0 h 14"/>
                <a:gd name="T52" fmla="*/ 1 w 26"/>
                <a:gd name="T53" fmla="*/ 0 h 1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6"/>
                <a:gd name="T82" fmla="*/ 0 h 14"/>
                <a:gd name="T83" fmla="*/ 26 w 26"/>
                <a:gd name="T84" fmla="*/ 14 h 1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6" h="14">
                  <a:moveTo>
                    <a:pt x="13" y="0"/>
                  </a:moveTo>
                  <a:lnTo>
                    <a:pt x="11" y="0"/>
                  </a:lnTo>
                  <a:lnTo>
                    <a:pt x="8" y="1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12"/>
                  </a:lnTo>
                  <a:lnTo>
                    <a:pt x="8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9" y="14"/>
                  </a:lnTo>
                  <a:lnTo>
                    <a:pt x="23" y="12"/>
                  </a:lnTo>
                  <a:lnTo>
                    <a:pt x="25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3" y="2"/>
                  </a:lnTo>
                  <a:lnTo>
                    <a:pt x="19" y="1"/>
                  </a:lnTo>
                  <a:lnTo>
                    <a:pt x="15" y="0"/>
                  </a:lnTo>
                  <a:lnTo>
                    <a:pt x="1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4" name="Line 283"/>
            <p:cNvSpPr>
              <a:spLocks noChangeShapeType="1"/>
            </p:cNvSpPr>
            <p:nvPr/>
          </p:nvSpPr>
          <p:spPr bwMode="auto">
            <a:xfrm>
              <a:off x="3618" y="1851"/>
              <a:ext cx="30" cy="9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5" name="Freeform 284"/>
            <p:cNvSpPr>
              <a:spLocks/>
            </p:cNvSpPr>
            <p:nvPr/>
          </p:nvSpPr>
          <p:spPr bwMode="auto">
            <a:xfrm>
              <a:off x="5167" y="1043"/>
              <a:ext cx="30" cy="33"/>
            </a:xfrm>
            <a:custGeom>
              <a:avLst/>
              <a:gdLst>
                <a:gd name="T0" fmla="*/ 0 w 60"/>
                <a:gd name="T1" fmla="*/ 17 h 33"/>
                <a:gd name="T2" fmla="*/ 0 w 60"/>
                <a:gd name="T3" fmla="*/ 13 h 33"/>
                <a:gd name="T4" fmla="*/ 1 w 60"/>
                <a:gd name="T5" fmla="*/ 10 h 33"/>
                <a:gd name="T6" fmla="*/ 1 w 60"/>
                <a:gd name="T7" fmla="*/ 8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8 h 33"/>
                <a:gd name="T28" fmla="*/ 1 w 60"/>
                <a:gd name="T29" fmla="*/ 10 h 33"/>
                <a:gd name="T30" fmla="*/ 1 w 60"/>
                <a:gd name="T31" fmla="*/ 13 h 33"/>
                <a:gd name="T32" fmla="*/ 1 w 60"/>
                <a:gd name="T33" fmla="*/ 17 h 33"/>
                <a:gd name="T34" fmla="*/ 1 w 60"/>
                <a:gd name="T35" fmla="*/ 17 h 33"/>
                <a:gd name="T36" fmla="*/ 1 w 60"/>
                <a:gd name="T37" fmla="*/ 20 h 33"/>
                <a:gd name="T38" fmla="*/ 1 w 60"/>
                <a:gd name="T39" fmla="*/ 23 h 33"/>
                <a:gd name="T40" fmla="*/ 1 w 60"/>
                <a:gd name="T41" fmla="*/ 25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5 h 33"/>
                <a:gd name="T62" fmla="*/ 1 w 60"/>
                <a:gd name="T63" fmla="*/ 23 h 33"/>
                <a:gd name="T64" fmla="*/ 0 w 60"/>
                <a:gd name="T65" fmla="*/ 20 h 33"/>
                <a:gd name="T66" fmla="*/ 0 w 60"/>
                <a:gd name="T67" fmla="*/ 17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7"/>
                  </a:moveTo>
                  <a:lnTo>
                    <a:pt x="0" y="13"/>
                  </a:lnTo>
                  <a:lnTo>
                    <a:pt x="2" y="10"/>
                  </a:lnTo>
                  <a:lnTo>
                    <a:pt x="4" y="8"/>
                  </a:lnTo>
                  <a:lnTo>
                    <a:pt x="7" y="4"/>
                  </a:lnTo>
                  <a:lnTo>
                    <a:pt x="13" y="2"/>
                  </a:lnTo>
                  <a:lnTo>
                    <a:pt x="17" y="1"/>
                  </a:lnTo>
                  <a:lnTo>
                    <a:pt x="22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5" y="2"/>
                  </a:lnTo>
                  <a:lnTo>
                    <a:pt x="51" y="4"/>
                  </a:lnTo>
                  <a:lnTo>
                    <a:pt x="55" y="8"/>
                  </a:lnTo>
                  <a:lnTo>
                    <a:pt x="56" y="10"/>
                  </a:lnTo>
                  <a:lnTo>
                    <a:pt x="58" y="13"/>
                  </a:lnTo>
                  <a:lnTo>
                    <a:pt x="60" y="17"/>
                  </a:lnTo>
                  <a:lnTo>
                    <a:pt x="58" y="20"/>
                  </a:lnTo>
                  <a:lnTo>
                    <a:pt x="56" y="23"/>
                  </a:lnTo>
                  <a:lnTo>
                    <a:pt x="55" y="25"/>
                  </a:lnTo>
                  <a:lnTo>
                    <a:pt x="51" y="28"/>
                  </a:lnTo>
                  <a:lnTo>
                    <a:pt x="45" y="30"/>
                  </a:lnTo>
                  <a:lnTo>
                    <a:pt x="41" y="31"/>
                  </a:lnTo>
                  <a:lnTo>
                    <a:pt x="36" y="32"/>
                  </a:lnTo>
                  <a:lnTo>
                    <a:pt x="30" y="33"/>
                  </a:lnTo>
                  <a:lnTo>
                    <a:pt x="22" y="32"/>
                  </a:lnTo>
                  <a:lnTo>
                    <a:pt x="17" y="31"/>
                  </a:lnTo>
                  <a:lnTo>
                    <a:pt x="13" y="30"/>
                  </a:lnTo>
                  <a:lnTo>
                    <a:pt x="7" y="28"/>
                  </a:lnTo>
                  <a:lnTo>
                    <a:pt x="4" y="25"/>
                  </a:lnTo>
                  <a:lnTo>
                    <a:pt x="2" y="23"/>
                  </a:lnTo>
                  <a:lnTo>
                    <a:pt x="0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" name="Line 285"/>
            <p:cNvSpPr>
              <a:spLocks noChangeShapeType="1"/>
            </p:cNvSpPr>
            <p:nvPr/>
          </p:nvSpPr>
          <p:spPr bwMode="auto">
            <a:xfrm flipV="1">
              <a:off x="4365" y="1059"/>
              <a:ext cx="1" cy="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" name="Freeform 286"/>
            <p:cNvSpPr>
              <a:spLocks/>
            </p:cNvSpPr>
            <p:nvPr/>
          </p:nvSpPr>
          <p:spPr bwMode="auto">
            <a:xfrm>
              <a:off x="5080" y="1058"/>
              <a:ext cx="274" cy="111"/>
            </a:xfrm>
            <a:custGeom>
              <a:avLst/>
              <a:gdLst>
                <a:gd name="T0" fmla="*/ 9 w 547"/>
                <a:gd name="T1" fmla="*/ 111 h 111"/>
                <a:gd name="T2" fmla="*/ 9 w 547"/>
                <a:gd name="T3" fmla="*/ 2 h 111"/>
                <a:gd name="T4" fmla="*/ 0 w 547"/>
                <a:gd name="T5" fmla="*/ 0 h 111"/>
                <a:gd name="T6" fmla="*/ 0 60000 65536"/>
                <a:gd name="T7" fmla="*/ 0 60000 65536"/>
                <a:gd name="T8" fmla="*/ 0 60000 65536"/>
                <a:gd name="T9" fmla="*/ 0 w 547"/>
                <a:gd name="T10" fmla="*/ 0 h 111"/>
                <a:gd name="T11" fmla="*/ 547 w 547"/>
                <a:gd name="T12" fmla="*/ 111 h 1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7" h="111">
                  <a:moveTo>
                    <a:pt x="547" y="111"/>
                  </a:moveTo>
                  <a:lnTo>
                    <a:pt x="547" y="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Line 287"/>
            <p:cNvSpPr>
              <a:spLocks noChangeShapeType="1"/>
            </p:cNvSpPr>
            <p:nvPr/>
          </p:nvSpPr>
          <p:spPr bwMode="auto">
            <a:xfrm flipH="1" flipV="1">
              <a:off x="5180" y="1059"/>
              <a:ext cx="2" cy="2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Freeform 288"/>
            <p:cNvSpPr>
              <a:spLocks/>
            </p:cNvSpPr>
            <p:nvPr/>
          </p:nvSpPr>
          <p:spPr bwMode="auto">
            <a:xfrm>
              <a:off x="4867" y="1025"/>
              <a:ext cx="213" cy="35"/>
            </a:xfrm>
            <a:custGeom>
              <a:avLst/>
              <a:gdLst>
                <a:gd name="T0" fmla="*/ 0 w 426"/>
                <a:gd name="T1" fmla="*/ 31 h 35"/>
                <a:gd name="T2" fmla="*/ 1 w 426"/>
                <a:gd name="T3" fmla="*/ 25 h 35"/>
                <a:gd name="T4" fmla="*/ 1 w 426"/>
                <a:gd name="T5" fmla="*/ 15 h 35"/>
                <a:gd name="T6" fmla="*/ 1 w 426"/>
                <a:gd name="T7" fmla="*/ 6 h 35"/>
                <a:gd name="T8" fmla="*/ 1 w 426"/>
                <a:gd name="T9" fmla="*/ 3 h 35"/>
                <a:gd name="T10" fmla="*/ 1 w 426"/>
                <a:gd name="T11" fmla="*/ 1 h 35"/>
                <a:gd name="T12" fmla="*/ 1 w 426"/>
                <a:gd name="T13" fmla="*/ 0 h 35"/>
                <a:gd name="T14" fmla="*/ 1 w 426"/>
                <a:gd name="T15" fmla="*/ 0 h 35"/>
                <a:gd name="T16" fmla="*/ 2 w 426"/>
                <a:gd name="T17" fmla="*/ 2 h 35"/>
                <a:gd name="T18" fmla="*/ 2 w 426"/>
                <a:gd name="T19" fmla="*/ 4 h 35"/>
                <a:gd name="T20" fmla="*/ 2 w 426"/>
                <a:gd name="T21" fmla="*/ 8 h 35"/>
                <a:gd name="T22" fmla="*/ 2 w 426"/>
                <a:gd name="T23" fmla="*/ 18 h 35"/>
                <a:gd name="T24" fmla="*/ 2 w 426"/>
                <a:gd name="T25" fmla="*/ 25 h 35"/>
                <a:gd name="T26" fmla="*/ 2 w 426"/>
                <a:gd name="T27" fmla="*/ 32 h 35"/>
                <a:gd name="T28" fmla="*/ 2 w 426"/>
                <a:gd name="T29" fmla="*/ 31 h 35"/>
                <a:gd name="T30" fmla="*/ 2 w 426"/>
                <a:gd name="T31" fmla="*/ 25 h 35"/>
                <a:gd name="T32" fmla="*/ 2 w 426"/>
                <a:gd name="T33" fmla="*/ 15 h 35"/>
                <a:gd name="T34" fmla="*/ 2 w 426"/>
                <a:gd name="T35" fmla="*/ 6 h 35"/>
                <a:gd name="T36" fmla="*/ 3 w 426"/>
                <a:gd name="T37" fmla="*/ 3 h 35"/>
                <a:gd name="T38" fmla="*/ 3 w 426"/>
                <a:gd name="T39" fmla="*/ 1 h 35"/>
                <a:gd name="T40" fmla="*/ 3 w 426"/>
                <a:gd name="T41" fmla="*/ 0 h 35"/>
                <a:gd name="T42" fmla="*/ 3 w 426"/>
                <a:gd name="T43" fmla="*/ 0 h 35"/>
                <a:gd name="T44" fmla="*/ 3 w 426"/>
                <a:gd name="T45" fmla="*/ 2 h 35"/>
                <a:gd name="T46" fmla="*/ 3 w 426"/>
                <a:gd name="T47" fmla="*/ 4 h 35"/>
                <a:gd name="T48" fmla="*/ 4 w 426"/>
                <a:gd name="T49" fmla="*/ 8 h 35"/>
                <a:gd name="T50" fmla="*/ 4 w 426"/>
                <a:gd name="T51" fmla="*/ 18 h 35"/>
                <a:gd name="T52" fmla="*/ 4 w 426"/>
                <a:gd name="T53" fmla="*/ 25 h 35"/>
                <a:gd name="T54" fmla="*/ 4 w 426"/>
                <a:gd name="T55" fmla="*/ 32 h 35"/>
                <a:gd name="T56" fmla="*/ 4 w 426"/>
                <a:gd name="T57" fmla="*/ 31 h 35"/>
                <a:gd name="T58" fmla="*/ 4 w 426"/>
                <a:gd name="T59" fmla="*/ 25 h 35"/>
                <a:gd name="T60" fmla="*/ 4 w 426"/>
                <a:gd name="T61" fmla="*/ 15 h 35"/>
                <a:gd name="T62" fmla="*/ 4 w 426"/>
                <a:gd name="T63" fmla="*/ 6 h 35"/>
                <a:gd name="T64" fmla="*/ 4 w 426"/>
                <a:gd name="T65" fmla="*/ 3 h 35"/>
                <a:gd name="T66" fmla="*/ 4 w 426"/>
                <a:gd name="T67" fmla="*/ 1 h 35"/>
                <a:gd name="T68" fmla="*/ 5 w 426"/>
                <a:gd name="T69" fmla="*/ 0 h 35"/>
                <a:gd name="T70" fmla="*/ 5 w 426"/>
                <a:gd name="T71" fmla="*/ 0 h 35"/>
                <a:gd name="T72" fmla="*/ 5 w 426"/>
                <a:gd name="T73" fmla="*/ 2 h 35"/>
                <a:gd name="T74" fmla="*/ 5 w 426"/>
                <a:gd name="T75" fmla="*/ 4 h 35"/>
                <a:gd name="T76" fmla="*/ 5 w 426"/>
                <a:gd name="T77" fmla="*/ 8 h 35"/>
                <a:gd name="T78" fmla="*/ 5 w 426"/>
                <a:gd name="T79" fmla="*/ 18 h 35"/>
                <a:gd name="T80" fmla="*/ 5 w 426"/>
                <a:gd name="T81" fmla="*/ 25 h 35"/>
                <a:gd name="T82" fmla="*/ 6 w 426"/>
                <a:gd name="T83" fmla="*/ 32 h 35"/>
                <a:gd name="T84" fmla="*/ 6 w 426"/>
                <a:gd name="T85" fmla="*/ 31 h 35"/>
                <a:gd name="T86" fmla="*/ 6 w 426"/>
                <a:gd name="T87" fmla="*/ 25 h 35"/>
                <a:gd name="T88" fmla="*/ 6 w 426"/>
                <a:gd name="T89" fmla="*/ 15 h 35"/>
                <a:gd name="T90" fmla="*/ 6 w 426"/>
                <a:gd name="T91" fmla="*/ 6 h 35"/>
                <a:gd name="T92" fmla="*/ 6 w 426"/>
                <a:gd name="T93" fmla="*/ 3 h 35"/>
                <a:gd name="T94" fmla="*/ 6 w 426"/>
                <a:gd name="T95" fmla="*/ 1 h 35"/>
                <a:gd name="T96" fmla="*/ 6 w 426"/>
                <a:gd name="T97" fmla="*/ 0 h 35"/>
                <a:gd name="T98" fmla="*/ 6 w 426"/>
                <a:gd name="T99" fmla="*/ 0 h 35"/>
                <a:gd name="T100" fmla="*/ 7 w 426"/>
                <a:gd name="T101" fmla="*/ 2 h 35"/>
                <a:gd name="T102" fmla="*/ 7 w 426"/>
                <a:gd name="T103" fmla="*/ 4 h 35"/>
                <a:gd name="T104" fmla="*/ 7 w 426"/>
                <a:gd name="T105" fmla="*/ 8 h 35"/>
                <a:gd name="T106" fmla="*/ 7 w 426"/>
                <a:gd name="T107" fmla="*/ 18 h 35"/>
                <a:gd name="T108" fmla="*/ 7 w 426"/>
                <a:gd name="T109" fmla="*/ 25 h 35"/>
                <a:gd name="T110" fmla="*/ 7 w 426"/>
                <a:gd name="T111" fmla="*/ 32 h 35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426"/>
                <a:gd name="T169" fmla="*/ 0 h 35"/>
                <a:gd name="T170" fmla="*/ 426 w 426"/>
                <a:gd name="T171" fmla="*/ 35 h 35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426" h="35">
                  <a:moveTo>
                    <a:pt x="0" y="35"/>
                  </a:moveTo>
                  <a:lnTo>
                    <a:pt x="0" y="31"/>
                  </a:lnTo>
                  <a:lnTo>
                    <a:pt x="0" y="28"/>
                  </a:lnTo>
                  <a:lnTo>
                    <a:pt x="2" y="25"/>
                  </a:lnTo>
                  <a:lnTo>
                    <a:pt x="4" y="21"/>
                  </a:lnTo>
                  <a:lnTo>
                    <a:pt x="8" y="15"/>
                  </a:lnTo>
                  <a:lnTo>
                    <a:pt x="13" y="10"/>
                  </a:lnTo>
                  <a:lnTo>
                    <a:pt x="21" y="6"/>
                  </a:lnTo>
                  <a:lnTo>
                    <a:pt x="26" y="4"/>
                  </a:lnTo>
                  <a:lnTo>
                    <a:pt x="30" y="3"/>
                  </a:lnTo>
                  <a:lnTo>
                    <a:pt x="36" y="1"/>
                  </a:lnTo>
                  <a:lnTo>
                    <a:pt x="40" y="1"/>
                  </a:lnTo>
                  <a:lnTo>
                    <a:pt x="45" y="0"/>
                  </a:lnTo>
                  <a:lnTo>
                    <a:pt x="51" y="0"/>
                  </a:lnTo>
                  <a:lnTo>
                    <a:pt x="57" y="0"/>
                  </a:lnTo>
                  <a:lnTo>
                    <a:pt x="62" y="0"/>
                  </a:lnTo>
                  <a:lnTo>
                    <a:pt x="68" y="1"/>
                  </a:lnTo>
                  <a:lnTo>
                    <a:pt x="72" y="2"/>
                  </a:lnTo>
                  <a:lnTo>
                    <a:pt x="77" y="3"/>
                  </a:lnTo>
                  <a:lnTo>
                    <a:pt x="81" y="4"/>
                  </a:lnTo>
                  <a:lnTo>
                    <a:pt x="85" y="6"/>
                  </a:lnTo>
                  <a:lnTo>
                    <a:pt x="89" y="8"/>
                  </a:lnTo>
                  <a:lnTo>
                    <a:pt x="96" y="13"/>
                  </a:lnTo>
                  <a:lnTo>
                    <a:pt x="102" y="18"/>
                  </a:lnTo>
                  <a:lnTo>
                    <a:pt x="104" y="21"/>
                  </a:lnTo>
                  <a:lnTo>
                    <a:pt x="106" y="25"/>
                  </a:lnTo>
                  <a:lnTo>
                    <a:pt x="106" y="29"/>
                  </a:lnTo>
                  <a:lnTo>
                    <a:pt x="106" y="32"/>
                  </a:lnTo>
                  <a:lnTo>
                    <a:pt x="106" y="35"/>
                  </a:lnTo>
                  <a:lnTo>
                    <a:pt x="108" y="31"/>
                  </a:lnTo>
                  <a:lnTo>
                    <a:pt x="108" y="28"/>
                  </a:lnTo>
                  <a:lnTo>
                    <a:pt x="108" y="25"/>
                  </a:lnTo>
                  <a:lnTo>
                    <a:pt x="109" y="21"/>
                  </a:lnTo>
                  <a:lnTo>
                    <a:pt x="115" y="15"/>
                  </a:lnTo>
                  <a:lnTo>
                    <a:pt x="121" y="10"/>
                  </a:lnTo>
                  <a:lnTo>
                    <a:pt x="128" y="6"/>
                  </a:lnTo>
                  <a:lnTo>
                    <a:pt x="132" y="4"/>
                  </a:lnTo>
                  <a:lnTo>
                    <a:pt x="138" y="3"/>
                  </a:lnTo>
                  <a:lnTo>
                    <a:pt x="142" y="1"/>
                  </a:lnTo>
                  <a:lnTo>
                    <a:pt x="147" y="1"/>
                  </a:lnTo>
                  <a:lnTo>
                    <a:pt x="153" y="0"/>
                  </a:lnTo>
                  <a:lnTo>
                    <a:pt x="159" y="0"/>
                  </a:lnTo>
                  <a:lnTo>
                    <a:pt x="164" y="0"/>
                  </a:lnTo>
                  <a:lnTo>
                    <a:pt x="168" y="0"/>
                  </a:lnTo>
                  <a:lnTo>
                    <a:pt x="174" y="1"/>
                  </a:lnTo>
                  <a:lnTo>
                    <a:pt x="179" y="2"/>
                  </a:lnTo>
                  <a:lnTo>
                    <a:pt x="183" y="3"/>
                  </a:lnTo>
                  <a:lnTo>
                    <a:pt x="189" y="4"/>
                  </a:lnTo>
                  <a:lnTo>
                    <a:pt x="192" y="6"/>
                  </a:lnTo>
                  <a:lnTo>
                    <a:pt x="196" y="8"/>
                  </a:lnTo>
                  <a:lnTo>
                    <a:pt x="204" y="13"/>
                  </a:lnTo>
                  <a:lnTo>
                    <a:pt x="208" y="18"/>
                  </a:lnTo>
                  <a:lnTo>
                    <a:pt x="209" y="21"/>
                  </a:lnTo>
                  <a:lnTo>
                    <a:pt x="211" y="25"/>
                  </a:lnTo>
                  <a:lnTo>
                    <a:pt x="213" y="29"/>
                  </a:lnTo>
                  <a:lnTo>
                    <a:pt x="213" y="32"/>
                  </a:lnTo>
                  <a:lnTo>
                    <a:pt x="213" y="35"/>
                  </a:lnTo>
                  <a:lnTo>
                    <a:pt x="213" y="31"/>
                  </a:lnTo>
                  <a:lnTo>
                    <a:pt x="213" y="28"/>
                  </a:lnTo>
                  <a:lnTo>
                    <a:pt x="215" y="25"/>
                  </a:lnTo>
                  <a:lnTo>
                    <a:pt x="217" y="21"/>
                  </a:lnTo>
                  <a:lnTo>
                    <a:pt x="221" y="15"/>
                  </a:lnTo>
                  <a:lnTo>
                    <a:pt x="226" y="10"/>
                  </a:lnTo>
                  <a:lnTo>
                    <a:pt x="236" y="6"/>
                  </a:lnTo>
                  <a:lnTo>
                    <a:pt x="240" y="4"/>
                  </a:lnTo>
                  <a:lnTo>
                    <a:pt x="243" y="3"/>
                  </a:lnTo>
                  <a:lnTo>
                    <a:pt x="249" y="1"/>
                  </a:lnTo>
                  <a:lnTo>
                    <a:pt x="253" y="1"/>
                  </a:lnTo>
                  <a:lnTo>
                    <a:pt x="258" y="0"/>
                  </a:lnTo>
                  <a:lnTo>
                    <a:pt x="264" y="0"/>
                  </a:lnTo>
                  <a:lnTo>
                    <a:pt x="270" y="0"/>
                  </a:lnTo>
                  <a:lnTo>
                    <a:pt x="275" y="0"/>
                  </a:lnTo>
                  <a:lnTo>
                    <a:pt x="281" y="1"/>
                  </a:lnTo>
                  <a:lnTo>
                    <a:pt x="285" y="2"/>
                  </a:lnTo>
                  <a:lnTo>
                    <a:pt x="291" y="3"/>
                  </a:lnTo>
                  <a:lnTo>
                    <a:pt x="294" y="4"/>
                  </a:lnTo>
                  <a:lnTo>
                    <a:pt x="298" y="6"/>
                  </a:lnTo>
                  <a:lnTo>
                    <a:pt x="302" y="8"/>
                  </a:lnTo>
                  <a:lnTo>
                    <a:pt x="309" y="13"/>
                  </a:lnTo>
                  <a:lnTo>
                    <a:pt x="315" y="18"/>
                  </a:lnTo>
                  <a:lnTo>
                    <a:pt x="317" y="21"/>
                  </a:lnTo>
                  <a:lnTo>
                    <a:pt x="319" y="25"/>
                  </a:lnTo>
                  <a:lnTo>
                    <a:pt x="319" y="29"/>
                  </a:lnTo>
                  <a:lnTo>
                    <a:pt x="321" y="32"/>
                  </a:lnTo>
                  <a:lnTo>
                    <a:pt x="321" y="35"/>
                  </a:lnTo>
                  <a:lnTo>
                    <a:pt x="321" y="31"/>
                  </a:lnTo>
                  <a:lnTo>
                    <a:pt x="321" y="28"/>
                  </a:lnTo>
                  <a:lnTo>
                    <a:pt x="321" y="25"/>
                  </a:lnTo>
                  <a:lnTo>
                    <a:pt x="323" y="21"/>
                  </a:lnTo>
                  <a:lnTo>
                    <a:pt x="328" y="15"/>
                  </a:lnTo>
                  <a:lnTo>
                    <a:pt x="334" y="10"/>
                  </a:lnTo>
                  <a:lnTo>
                    <a:pt x="341" y="6"/>
                  </a:lnTo>
                  <a:lnTo>
                    <a:pt x="345" y="4"/>
                  </a:lnTo>
                  <a:lnTo>
                    <a:pt x="351" y="3"/>
                  </a:lnTo>
                  <a:lnTo>
                    <a:pt x="355" y="1"/>
                  </a:lnTo>
                  <a:lnTo>
                    <a:pt x="360" y="1"/>
                  </a:lnTo>
                  <a:lnTo>
                    <a:pt x="366" y="0"/>
                  </a:lnTo>
                  <a:lnTo>
                    <a:pt x="372" y="0"/>
                  </a:lnTo>
                  <a:lnTo>
                    <a:pt x="377" y="0"/>
                  </a:lnTo>
                  <a:lnTo>
                    <a:pt x="381" y="0"/>
                  </a:lnTo>
                  <a:lnTo>
                    <a:pt x="387" y="1"/>
                  </a:lnTo>
                  <a:lnTo>
                    <a:pt x="392" y="2"/>
                  </a:lnTo>
                  <a:lnTo>
                    <a:pt x="396" y="3"/>
                  </a:lnTo>
                  <a:lnTo>
                    <a:pt x="402" y="4"/>
                  </a:lnTo>
                  <a:lnTo>
                    <a:pt x="406" y="6"/>
                  </a:lnTo>
                  <a:lnTo>
                    <a:pt x="409" y="8"/>
                  </a:lnTo>
                  <a:lnTo>
                    <a:pt x="417" y="13"/>
                  </a:lnTo>
                  <a:lnTo>
                    <a:pt x="421" y="18"/>
                  </a:lnTo>
                  <a:lnTo>
                    <a:pt x="423" y="21"/>
                  </a:lnTo>
                  <a:lnTo>
                    <a:pt x="424" y="25"/>
                  </a:lnTo>
                  <a:lnTo>
                    <a:pt x="426" y="29"/>
                  </a:lnTo>
                  <a:lnTo>
                    <a:pt x="426" y="32"/>
                  </a:lnTo>
                  <a:lnTo>
                    <a:pt x="426" y="3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0" name="Rectangle 289"/>
            <p:cNvSpPr>
              <a:spLocks noChangeArrowheads="1"/>
            </p:cNvSpPr>
            <p:nvPr/>
          </p:nvSpPr>
          <p:spPr bwMode="auto">
            <a:xfrm>
              <a:off x="4560" y="934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291" name="Rectangle 290"/>
            <p:cNvSpPr>
              <a:spLocks noChangeArrowheads="1"/>
            </p:cNvSpPr>
            <p:nvPr/>
          </p:nvSpPr>
          <p:spPr bwMode="auto">
            <a:xfrm>
              <a:off x="4496" y="890"/>
              <a:ext cx="75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292" name="Rectangle 291"/>
            <p:cNvSpPr>
              <a:spLocks noChangeArrowheads="1"/>
            </p:cNvSpPr>
            <p:nvPr/>
          </p:nvSpPr>
          <p:spPr bwMode="auto">
            <a:xfrm>
              <a:off x="4571" y="1591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93" name="Rectangle 292"/>
            <p:cNvSpPr>
              <a:spLocks noChangeArrowheads="1"/>
            </p:cNvSpPr>
            <p:nvPr/>
          </p:nvSpPr>
          <p:spPr bwMode="auto">
            <a:xfrm>
              <a:off x="4506" y="1544"/>
              <a:ext cx="75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294" name="Rectangle 293"/>
            <p:cNvSpPr>
              <a:spLocks noChangeArrowheads="1"/>
            </p:cNvSpPr>
            <p:nvPr/>
          </p:nvSpPr>
          <p:spPr bwMode="auto">
            <a:xfrm>
              <a:off x="4960" y="1058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宋体" pitchFamily="2" charset="-122"/>
                </a:rPr>
                <a:t>L</a:t>
              </a:r>
              <a:endParaRPr lang="en-US" altLang="zh-CN"/>
            </a:p>
          </p:txBody>
        </p:sp>
        <p:sp>
          <p:nvSpPr>
            <p:cNvPr id="295" name="Rectangle 294"/>
            <p:cNvSpPr>
              <a:spLocks noChangeArrowheads="1"/>
            </p:cNvSpPr>
            <p:nvPr/>
          </p:nvSpPr>
          <p:spPr bwMode="auto">
            <a:xfrm>
              <a:off x="4105" y="1194"/>
              <a:ext cx="111" cy="13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96" name="Rectangle 295"/>
            <p:cNvSpPr>
              <a:spLocks noChangeArrowheads="1"/>
            </p:cNvSpPr>
            <p:nvPr/>
          </p:nvSpPr>
          <p:spPr bwMode="auto">
            <a:xfrm>
              <a:off x="4377" y="1194"/>
              <a:ext cx="111" cy="13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97" name="Freeform 296"/>
            <p:cNvSpPr>
              <a:spLocks noEditPoints="1"/>
            </p:cNvSpPr>
            <p:nvPr/>
          </p:nvSpPr>
          <p:spPr bwMode="auto">
            <a:xfrm>
              <a:off x="3977" y="1837"/>
              <a:ext cx="13" cy="131"/>
            </a:xfrm>
            <a:custGeom>
              <a:avLst/>
              <a:gdLst>
                <a:gd name="T0" fmla="*/ 1 w 26"/>
                <a:gd name="T1" fmla="*/ 117 h 131"/>
                <a:gd name="T2" fmla="*/ 1 w 26"/>
                <a:gd name="T3" fmla="*/ 117 h 131"/>
                <a:gd name="T4" fmla="*/ 1 w 26"/>
                <a:gd name="T5" fmla="*/ 118 h 131"/>
                <a:gd name="T6" fmla="*/ 1 w 26"/>
                <a:gd name="T7" fmla="*/ 119 h 131"/>
                <a:gd name="T8" fmla="*/ 0 w 26"/>
                <a:gd name="T9" fmla="*/ 121 h 131"/>
                <a:gd name="T10" fmla="*/ 0 w 26"/>
                <a:gd name="T11" fmla="*/ 123 h 131"/>
                <a:gd name="T12" fmla="*/ 0 w 26"/>
                <a:gd name="T13" fmla="*/ 124 h 131"/>
                <a:gd name="T14" fmla="*/ 0 w 26"/>
                <a:gd name="T15" fmla="*/ 126 h 131"/>
                <a:gd name="T16" fmla="*/ 0 w 26"/>
                <a:gd name="T17" fmla="*/ 127 h 131"/>
                <a:gd name="T18" fmla="*/ 1 w 26"/>
                <a:gd name="T19" fmla="*/ 129 h 131"/>
                <a:gd name="T20" fmla="*/ 1 w 26"/>
                <a:gd name="T21" fmla="*/ 131 h 131"/>
                <a:gd name="T22" fmla="*/ 1 w 26"/>
                <a:gd name="T23" fmla="*/ 131 h 131"/>
                <a:gd name="T24" fmla="*/ 1 w 26"/>
                <a:gd name="T25" fmla="*/ 131 h 131"/>
                <a:gd name="T26" fmla="*/ 1 w 26"/>
                <a:gd name="T27" fmla="*/ 131 h 131"/>
                <a:gd name="T28" fmla="*/ 1 w 26"/>
                <a:gd name="T29" fmla="*/ 131 h 131"/>
                <a:gd name="T30" fmla="*/ 1 w 26"/>
                <a:gd name="T31" fmla="*/ 131 h 131"/>
                <a:gd name="T32" fmla="*/ 1 w 26"/>
                <a:gd name="T33" fmla="*/ 129 h 131"/>
                <a:gd name="T34" fmla="*/ 1 w 26"/>
                <a:gd name="T35" fmla="*/ 127 h 131"/>
                <a:gd name="T36" fmla="*/ 1 w 26"/>
                <a:gd name="T37" fmla="*/ 126 h 131"/>
                <a:gd name="T38" fmla="*/ 1 w 26"/>
                <a:gd name="T39" fmla="*/ 124 h 131"/>
                <a:gd name="T40" fmla="*/ 1 w 26"/>
                <a:gd name="T41" fmla="*/ 123 h 131"/>
                <a:gd name="T42" fmla="*/ 1 w 26"/>
                <a:gd name="T43" fmla="*/ 121 h 131"/>
                <a:gd name="T44" fmla="*/ 1 w 26"/>
                <a:gd name="T45" fmla="*/ 119 h 131"/>
                <a:gd name="T46" fmla="*/ 1 w 26"/>
                <a:gd name="T47" fmla="*/ 118 h 131"/>
                <a:gd name="T48" fmla="*/ 1 w 26"/>
                <a:gd name="T49" fmla="*/ 117 h 131"/>
                <a:gd name="T50" fmla="*/ 1 w 26"/>
                <a:gd name="T51" fmla="*/ 117 h 131"/>
                <a:gd name="T52" fmla="*/ 1 w 26"/>
                <a:gd name="T53" fmla="*/ 117 h 131"/>
                <a:gd name="T54" fmla="*/ 1 w 26"/>
                <a:gd name="T55" fmla="*/ 117 h 131"/>
                <a:gd name="T56" fmla="*/ 1 w 26"/>
                <a:gd name="T57" fmla="*/ 0 h 131"/>
                <a:gd name="T58" fmla="*/ 1 w 26"/>
                <a:gd name="T59" fmla="*/ 0 h 131"/>
                <a:gd name="T60" fmla="*/ 1 w 26"/>
                <a:gd name="T61" fmla="*/ 1 h 131"/>
                <a:gd name="T62" fmla="*/ 1 w 26"/>
                <a:gd name="T63" fmla="*/ 2 h 131"/>
                <a:gd name="T64" fmla="*/ 0 w 26"/>
                <a:gd name="T65" fmla="*/ 4 h 131"/>
                <a:gd name="T66" fmla="*/ 0 w 26"/>
                <a:gd name="T67" fmla="*/ 6 h 131"/>
                <a:gd name="T68" fmla="*/ 0 w 26"/>
                <a:gd name="T69" fmla="*/ 7 h 131"/>
                <a:gd name="T70" fmla="*/ 0 w 26"/>
                <a:gd name="T71" fmla="*/ 9 h 131"/>
                <a:gd name="T72" fmla="*/ 0 w 26"/>
                <a:gd name="T73" fmla="*/ 10 h 131"/>
                <a:gd name="T74" fmla="*/ 1 w 26"/>
                <a:gd name="T75" fmla="*/ 12 h 131"/>
                <a:gd name="T76" fmla="*/ 1 w 26"/>
                <a:gd name="T77" fmla="*/ 14 h 131"/>
                <a:gd name="T78" fmla="*/ 1 w 26"/>
                <a:gd name="T79" fmla="*/ 14 h 131"/>
                <a:gd name="T80" fmla="*/ 1 w 26"/>
                <a:gd name="T81" fmla="*/ 14 h 131"/>
                <a:gd name="T82" fmla="*/ 1 w 26"/>
                <a:gd name="T83" fmla="*/ 14 h 131"/>
                <a:gd name="T84" fmla="*/ 1 w 26"/>
                <a:gd name="T85" fmla="*/ 14 h 131"/>
                <a:gd name="T86" fmla="*/ 1 w 26"/>
                <a:gd name="T87" fmla="*/ 14 h 131"/>
                <a:gd name="T88" fmla="*/ 1 w 26"/>
                <a:gd name="T89" fmla="*/ 12 h 131"/>
                <a:gd name="T90" fmla="*/ 1 w 26"/>
                <a:gd name="T91" fmla="*/ 10 h 131"/>
                <a:gd name="T92" fmla="*/ 1 w 26"/>
                <a:gd name="T93" fmla="*/ 9 h 131"/>
                <a:gd name="T94" fmla="*/ 1 w 26"/>
                <a:gd name="T95" fmla="*/ 7 h 131"/>
                <a:gd name="T96" fmla="*/ 1 w 26"/>
                <a:gd name="T97" fmla="*/ 6 h 131"/>
                <a:gd name="T98" fmla="*/ 1 w 26"/>
                <a:gd name="T99" fmla="*/ 4 h 131"/>
                <a:gd name="T100" fmla="*/ 1 w 26"/>
                <a:gd name="T101" fmla="*/ 2 h 131"/>
                <a:gd name="T102" fmla="*/ 1 w 26"/>
                <a:gd name="T103" fmla="*/ 1 h 131"/>
                <a:gd name="T104" fmla="*/ 1 w 26"/>
                <a:gd name="T105" fmla="*/ 0 h 131"/>
                <a:gd name="T106" fmla="*/ 1 w 26"/>
                <a:gd name="T107" fmla="*/ 0 h 131"/>
                <a:gd name="T108" fmla="*/ 1 w 26"/>
                <a:gd name="T109" fmla="*/ 0 h 131"/>
                <a:gd name="T110" fmla="*/ 1 w 26"/>
                <a:gd name="T111" fmla="*/ 0 h 131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26"/>
                <a:gd name="T169" fmla="*/ 0 h 131"/>
                <a:gd name="T170" fmla="*/ 26 w 26"/>
                <a:gd name="T171" fmla="*/ 131 h 131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26" h="131">
                  <a:moveTo>
                    <a:pt x="13" y="117"/>
                  </a:moveTo>
                  <a:lnTo>
                    <a:pt x="11" y="117"/>
                  </a:lnTo>
                  <a:lnTo>
                    <a:pt x="7" y="118"/>
                  </a:lnTo>
                  <a:lnTo>
                    <a:pt x="3" y="119"/>
                  </a:lnTo>
                  <a:lnTo>
                    <a:pt x="0" y="121"/>
                  </a:lnTo>
                  <a:lnTo>
                    <a:pt x="0" y="123"/>
                  </a:lnTo>
                  <a:lnTo>
                    <a:pt x="0" y="124"/>
                  </a:lnTo>
                  <a:lnTo>
                    <a:pt x="0" y="126"/>
                  </a:lnTo>
                  <a:lnTo>
                    <a:pt x="0" y="127"/>
                  </a:lnTo>
                  <a:lnTo>
                    <a:pt x="3" y="129"/>
                  </a:lnTo>
                  <a:lnTo>
                    <a:pt x="7" y="131"/>
                  </a:lnTo>
                  <a:lnTo>
                    <a:pt x="9" y="131"/>
                  </a:lnTo>
                  <a:lnTo>
                    <a:pt x="13" y="131"/>
                  </a:lnTo>
                  <a:lnTo>
                    <a:pt x="15" y="131"/>
                  </a:lnTo>
                  <a:lnTo>
                    <a:pt x="18" y="131"/>
                  </a:lnTo>
                  <a:lnTo>
                    <a:pt x="22" y="129"/>
                  </a:lnTo>
                  <a:lnTo>
                    <a:pt x="24" y="127"/>
                  </a:lnTo>
                  <a:lnTo>
                    <a:pt x="26" y="126"/>
                  </a:lnTo>
                  <a:lnTo>
                    <a:pt x="26" y="124"/>
                  </a:lnTo>
                  <a:lnTo>
                    <a:pt x="26" y="123"/>
                  </a:lnTo>
                  <a:lnTo>
                    <a:pt x="24" y="121"/>
                  </a:lnTo>
                  <a:lnTo>
                    <a:pt x="22" y="119"/>
                  </a:lnTo>
                  <a:lnTo>
                    <a:pt x="18" y="118"/>
                  </a:lnTo>
                  <a:lnTo>
                    <a:pt x="15" y="117"/>
                  </a:lnTo>
                  <a:lnTo>
                    <a:pt x="13" y="117"/>
                  </a:lnTo>
                  <a:close/>
                  <a:moveTo>
                    <a:pt x="13" y="0"/>
                  </a:moveTo>
                  <a:lnTo>
                    <a:pt x="11" y="0"/>
                  </a:lnTo>
                  <a:lnTo>
                    <a:pt x="7" y="1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3" y="12"/>
                  </a:lnTo>
                  <a:lnTo>
                    <a:pt x="7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8" y="14"/>
                  </a:lnTo>
                  <a:lnTo>
                    <a:pt x="22" y="12"/>
                  </a:lnTo>
                  <a:lnTo>
                    <a:pt x="24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2" y="2"/>
                  </a:lnTo>
                  <a:lnTo>
                    <a:pt x="18" y="1"/>
                  </a:lnTo>
                  <a:lnTo>
                    <a:pt x="15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" name="Freeform 297"/>
            <p:cNvSpPr>
              <a:spLocks/>
            </p:cNvSpPr>
            <p:nvPr/>
          </p:nvSpPr>
          <p:spPr bwMode="auto">
            <a:xfrm>
              <a:off x="3977" y="1954"/>
              <a:ext cx="13" cy="14"/>
            </a:xfrm>
            <a:custGeom>
              <a:avLst/>
              <a:gdLst>
                <a:gd name="T0" fmla="*/ 1 w 26"/>
                <a:gd name="T1" fmla="*/ 0 h 14"/>
                <a:gd name="T2" fmla="*/ 1 w 26"/>
                <a:gd name="T3" fmla="*/ 0 h 14"/>
                <a:gd name="T4" fmla="*/ 1 w 26"/>
                <a:gd name="T5" fmla="*/ 1 h 14"/>
                <a:gd name="T6" fmla="*/ 1 w 26"/>
                <a:gd name="T7" fmla="*/ 2 h 14"/>
                <a:gd name="T8" fmla="*/ 0 w 26"/>
                <a:gd name="T9" fmla="*/ 4 h 14"/>
                <a:gd name="T10" fmla="*/ 0 w 26"/>
                <a:gd name="T11" fmla="*/ 6 h 14"/>
                <a:gd name="T12" fmla="*/ 0 w 26"/>
                <a:gd name="T13" fmla="*/ 7 h 14"/>
                <a:gd name="T14" fmla="*/ 0 w 26"/>
                <a:gd name="T15" fmla="*/ 9 h 14"/>
                <a:gd name="T16" fmla="*/ 0 w 26"/>
                <a:gd name="T17" fmla="*/ 10 h 14"/>
                <a:gd name="T18" fmla="*/ 1 w 26"/>
                <a:gd name="T19" fmla="*/ 12 h 14"/>
                <a:gd name="T20" fmla="*/ 1 w 26"/>
                <a:gd name="T21" fmla="*/ 14 h 14"/>
                <a:gd name="T22" fmla="*/ 1 w 26"/>
                <a:gd name="T23" fmla="*/ 14 h 14"/>
                <a:gd name="T24" fmla="*/ 1 w 26"/>
                <a:gd name="T25" fmla="*/ 14 h 14"/>
                <a:gd name="T26" fmla="*/ 1 w 26"/>
                <a:gd name="T27" fmla="*/ 14 h 14"/>
                <a:gd name="T28" fmla="*/ 1 w 26"/>
                <a:gd name="T29" fmla="*/ 14 h 14"/>
                <a:gd name="T30" fmla="*/ 1 w 26"/>
                <a:gd name="T31" fmla="*/ 14 h 14"/>
                <a:gd name="T32" fmla="*/ 1 w 26"/>
                <a:gd name="T33" fmla="*/ 12 h 14"/>
                <a:gd name="T34" fmla="*/ 1 w 26"/>
                <a:gd name="T35" fmla="*/ 10 h 14"/>
                <a:gd name="T36" fmla="*/ 1 w 26"/>
                <a:gd name="T37" fmla="*/ 9 h 14"/>
                <a:gd name="T38" fmla="*/ 1 w 26"/>
                <a:gd name="T39" fmla="*/ 7 h 14"/>
                <a:gd name="T40" fmla="*/ 1 w 26"/>
                <a:gd name="T41" fmla="*/ 6 h 14"/>
                <a:gd name="T42" fmla="*/ 1 w 26"/>
                <a:gd name="T43" fmla="*/ 4 h 14"/>
                <a:gd name="T44" fmla="*/ 1 w 26"/>
                <a:gd name="T45" fmla="*/ 2 h 14"/>
                <a:gd name="T46" fmla="*/ 1 w 26"/>
                <a:gd name="T47" fmla="*/ 1 h 14"/>
                <a:gd name="T48" fmla="*/ 1 w 26"/>
                <a:gd name="T49" fmla="*/ 0 h 14"/>
                <a:gd name="T50" fmla="*/ 1 w 26"/>
                <a:gd name="T51" fmla="*/ 0 h 14"/>
                <a:gd name="T52" fmla="*/ 1 w 26"/>
                <a:gd name="T53" fmla="*/ 0 h 1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6"/>
                <a:gd name="T82" fmla="*/ 0 h 14"/>
                <a:gd name="T83" fmla="*/ 26 w 26"/>
                <a:gd name="T84" fmla="*/ 14 h 1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6" h="14">
                  <a:moveTo>
                    <a:pt x="13" y="0"/>
                  </a:moveTo>
                  <a:lnTo>
                    <a:pt x="11" y="0"/>
                  </a:lnTo>
                  <a:lnTo>
                    <a:pt x="7" y="1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3" y="12"/>
                  </a:lnTo>
                  <a:lnTo>
                    <a:pt x="7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8" y="14"/>
                  </a:lnTo>
                  <a:lnTo>
                    <a:pt x="22" y="12"/>
                  </a:lnTo>
                  <a:lnTo>
                    <a:pt x="24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2" y="2"/>
                  </a:lnTo>
                  <a:lnTo>
                    <a:pt x="18" y="1"/>
                  </a:lnTo>
                  <a:lnTo>
                    <a:pt x="15" y="0"/>
                  </a:lnTo>
                  <a:lnTo>
                    <a:pt x="1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" name="Freeform 298"/>
            <p:cNvSpPr>
              <a:spLocks/>
            </p:cNvSpPr>
            <p:nvPr/>
          </p:nvSpPr>
          <p:spPr bwMode="auto">
            <a:xfrm>
              <a:off x="3977" y="1837"/>
              <a:ext cx="13" cy="14"/>
            </a:xfrm>
            <a:custGeom>
              <a:avLst/>
              <a:gdLst>
                <a:gd name="T0" fmla="*/ 1 w 26"/>
                <a:gd name="T1" fmla="*/ 0 h 14"/>
                <a:gd name="T2" fmla="*/ 1 w 26"/>
                <a:gd name="T3" fmla="*/ 0 h 14"/>
                <a:gd name="T4" fmla="*/ 1 w 26"/>
                <a:gd name="T5" fmla="*/ 1 h 14"/>
                <a:gd name="T6" fmla="*/ 1 w 26"/>
                <a:gd name="T7" fmla="*/ 2 h 14"/>
                <a:gd name="T8" fmla="*/ 0 w 26"/>
                <a:gd name="T9" fmla="*/ 4 h 14"/>
                <a:gd name="T10" fmla="*/ 0 w 26"/>
                <a:gd name="T11" fmla="*/ 6 h 14"/>
                <a:gd name="T12" fmla="*/ 0 w 26"/>
                <a:gd name="T13" fmla="*/ 7 h 14"/>
                <a:gd name="T14" fmla="*/ 0 w 26"/>
                <a:gd name="T15" fmla="*/ 9 h 14"/>
                <a:gd name="T16" fmla="*/ 0 w 26"/>
                <a:gd name="T17" fmla="*/ 10 h 14"/>
                <a:gd name="T18" fmla="*/ 1 w 26"/>
                <a:gd name="T19" fmla="*/ 12 h 14"/>
                <a:gd name="T20" fmla="*/ 1 w 26"/>
                <a:gd name="T21" fmla="*/ 14 h 14"/>
                <a:gd name="T22" fmla="*/ 1 w 26"/>
                <a:gd name="T23" fmla="*/ 14 h 14"/>
                <a:gd name="T24" fmla="*/ 1 w 26"/>
                <a:gd name="T25" fmla="*/ 14 h 14"/>
                <a:gd name="T26" fmla="*/ 1 w 26"/>
                <a:gd name="T27" fmla="*/ 14 h 14"/>
                <a:gd name="T28" fmla="*/ 1 w 26"/>
                <a:gd name="T29" fmla="*/ 14 h 14"/>
                <a:gd name="T30" fmla="*/ 1 w 26"/>
                <a:gd name="T31" fmla="*/ 14 h 14"/>
                <a:gd name="T32" fmla="*/ 1 w 26"/>
                <a:gd name="T33" fmla="*/ 12 h 14"/>
                <a:gd name="T34" fmla="*/ 1 w 26"/>
                <a:gd name="T35" fmla="*/ 10 h 14"/>
                <a:gd name="T36" fmla="*/ 1 w 26"/>
                <a:gd name="T37" fmla="*/ 9 h 14"/>
                <a:gd name="T38" fmla="*/ 1 w 26"/>
                <a:gd name="T39" fmla="*/ 7 h 14"/>
                <a:gd name="T40" fmla="*/ 1 w 26"/>
                <a:gd name="T41" fmla="*/ 6 h 14"/>
                <a:gd name="T42" fmla="*/ 1 w 26"/>
                <a:gd name="T43" fmla="*/ 4 h 14"/>
                <a:gd name="T44" fmla="*/ 1 w 26"/>
                <a:gd name="T45" fmla="*/ 2 h 14"/>
                <a:gd name="T46" fmla="*/ 1 w 26"/>
                <a:gd name="T47" fmla="*/ 1 h 14"/>
                <a:gd name="T48" fmla="*/ 1 w 26"/>
                <a:gd name="T49" fmla="*/ 0 h 14"/>
                <a:gd name="T50" fmla="*/ 1 w 26"/>
                <a:gd name="T51" fmla="*/ 0 h 14"/>
                <a:gd name="T52" fmla="*/ 1 w 26"/>
                <a:gd name="T53" fmla="*/ 0 h 1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6"/>
                <a:gd name="T82" fmla="*/ 0 h 14"/>
                <a:gd name="T83" fmla="*/ 26 w 26"/>
                <a:gd name="T84" fmla="*/ 14 h 1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6" h="14">
                  <a:moveTo>
                    <a:pt x="13" y="0"/>
                  </a:moveTo>
                  <a:lnTo>
                    <a:pt x="11" y="0"/>
                  </a:lnTo>
                  <a:lnTo>
                    <a:pt x="7" y="1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3" y="12"/>
                  </a:lnTo>
                  <a:lnTo>
                    <a:pt x="7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8" y="14"/>
                  </a:lnTo>
                  <a:lnTo>
                    <a:pt x="22" y="12"/>
                  </a:lnTo>
                  <a:lnTo>
                    <a:pt x="24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2" y="2"/>
                  </a:lnTo>
                  <a:lnTo>
                    <a:pt x="18" y="1"/>
                  </a:lnTo>
                  <a:lnTo>
                    <a:pt x="15" y="0"/>
                  </a:lnTo>
                  <a:lnTo>
                    <a:pt x="1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" name="Line 299"/>
            <p:cNvSpPr>
              <a:spLocks noChangeShapeType="1"/>
            </p:cNvSpPr>
            <p:nvPr/>
          </p:nvSpPr>
          <p:spPr bwMode="auto">
            <a:xfrm>
              <a:off x="3986" y="1851"/>
              <a:ext cx="30" cy="9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" name="Freeform 300"/>
            <p:cNvSpPr>
              <a:spLocks/>
            </p:cNvSpPr>
            <p:nvPr/>
          </p:nvSpPr>
          <p:spPr bwMode="auto">
            <a:xfrm>
              <a:off x="4242" y="1387"/>
              <a:ext cx="32" cy="234"/>
            </a:xfrm>
            <a:custGeom>
              <a:avLst/>
              <a:gdLst>
                <a:gd name="T0" fmla="*/ 1 w 64"/>
                <a:gd name="T1" fmla="*/ 0 h 234"/>
                <a:gd name="T2" fmla="*/ 1 w 64"/>
                <a:gd name="T3" fmla="*/ 1 h 234"/>
                <a:gd name="T4" fmla="*/ 1 w 64"/>
                <a:gd name="T5" fmla="*/ 4 h 234"/>
                <a:gd name="T6" fmla="*/ 1 w 64"/>
                <a:gd name="T7" fmla="*/ 13 h 234"/>
                <a:gd name="T8" fmla="*/ 1 w 64"/>
                <a:gd name="T9" fmla="*/ 17 h 234"/>
                <a:gd name="T10" fmla="*/ 1 w 64"/>
                <a:gd name="T11" fmla="*/ 23 h 234"/>
                <a:gd name="T12" fmla="*/ 1 w 64"/>
                <a:gd name="T13" fmla="*/ 28 h 234"/>
                <a:gd name="T14" fmla="*/ 1 w 64"/>
                <a:gd name="T15" fmla="*/ 34 h 234"/>
                <a:gd name="T16" fmla="*/ 1 w 64"/>
                <a:gd name="T17" fmla="*/ 39 h 234"/>
                <a:gd name="T18" fmla="*/ 1 w 64"/>
                <a:gd name="T19" fmla="*/ 45 h 234"/>
                <a:gd name="T20" fmla="*/ 1 w 64"/>
                <a:gd name="T21" fmla="*/ 53 h 234"/>
                <a:gd name="T22" fmla="*/ 1 w 64"/>
                <a:gd name="T23" fmla="*/ 57 h 234"/>
                <a:gd name="T24" fmla="*/ 1 w 64"/>
                <a:gd name="T25" fmla="*/ 58 h 234"/>
                <a:gd name="T26" fmla="*/ 0 w 64"/>
                <a:gd name="T27" fmla="*/ 59 h 234"/>
                <a:gd name="T28" fmla="*/ 1 w 64"/>
                <a:gd name="T29" fmla="*/ 59 h 234"/>
                <a:gd name="T30" fmla="*/ 1 w 64"/>
                <a:gd name="T31" fmla="*/ 60 h 234"/>
                <a:gd name="T32" fmla="*/ 1 w 64"/>
                <a:gd name="T33" fmla="*/ 66 h 234"/>
                <a:gd name="T34" fmla="*/ 1 w 64"/>
                <a:gd name="T35" fmla="*/ 73 h 234"/>
                <a:gd name="T36" fmla="*/ 1 w 64"/>
                <a:gd name="T37" fmla="*/ 78 h 234"/>
                <a:gd name="T38" fmla="*/ 1 w 64"/>
                <a:gd name="T39" fmla="*/ 84 h 234"/>
                <a:gd name="T40" fmla="*/ 1 w 64"/>
                <a:gd name="T41" fmla="*/ 90 h 234"/>
                <a:gd name="T42" fmla="*/ 1 w 64"/>
                <a:gd name="T43" fmla="*/ 95 h 234"/>
                <a:gd name="T44" fmla="*/ 1 w 64"/>
                <a:gd name="T45" fmla="*/ 101 h 234"/>
                <a:gd name="T46" fmla="*/ 1 w 64"/>
                <a:gd name="T47" fmla="*/ 108 h 234"/>
                <a:gd name="T48" fmla="*/ 1 w 64"/>
                <a:gd name="T49" fmla="*/ 115 h 234"/>
                <a:gd name="T50" fmla="*/ 1 w 64"/>
                <a:gd name="T51" fmla="*/ 116 h 234"/>
                <a:gd name="T52" fmla="*/ 1 w 64"/>
                <a:gd name="T53" fmla="*/ 117 h 234"/>
                <a:gd name="T54" fmla="*/ 1 w 64"/>
                <a:gd name="T55" fmla="*/ 117 h 234"/>
                <a:gd name="T56" fmla="*/ 1 w 64"/>
                <a:gd name="T57" fmla="*/ 118 h 234"/>
                <a:gd name="T58" fmla="*/ 1 w 64"/>
                <a:gd name="T59" fmla="*/ 121 h 234"/>
                <a:gd name="T60" fmla="*/ 1 w 64"/>
                <a:gd name="T61" fmla="*/ 130 h 234"/>
                <a:gd name="T62" fmla="*/ 1 w 64"/>
                <a:gd name="T63" fmla="*/ 134 h 234"/>
                <a:gd name="T64" fmla="*/ 1 w 64"/>
                <a:gd name="T65" fmla="*/ 140 h 234"/>
                <a:gd name="T66" fmla="*/ 1 w 64"/>
                <a:gd name="T67" fmla="*/ 145 h 234"/>
                <a:gd name="T68" fmla="*/ 1 w 64"/>
                <a:gd name="T69" fmla="*/ 151 h 234"/>
                <a:gd name="T70" fmla="*/ 1 w 64"/>
                <a:gd name="T71" fmla="*/ 156 h 234"/>
                <a:gd name="T72" fmla="*/ 1 w 64"/>
                <a:gd name="T73" fmla="*/ 162 h 234"/>
                <a:gd name="T74" fmla="*/ 1 w 64"/>
                <a:gd name="T75" fmla="*/ 170 h 234"/>
                <a:gd name="T76" fmla="*/ 1 w 64"/>
                <a:gd name="T77" fmla="*/ 174 h 234"/>
                <a:gd name="T78" fmla="*/ 1 w 64"/>
                <a:gd name="T79" fmla="*/ 175 h 234"/>
                <a:gd name="T80" fmla="*/ 0 w 64"/>
                <a:gd name="T81" fmla="*/ 176 h 234"/>
                <a:gd name="T82" fmla="*/ 1 w 64"/>
                <a:gd name="T83" fmla="*/ 176 h 234"/>
                <a:gd name="T84" fmla="*/ 1 w 64"/>
                <a:gd name="T85" fmla="*/ 178 h 234"/>
                <a:gd name="T86" fmla="*/ 1 w 64"/>
                <a:gd name="T87" fmla="*/ 183 h 234"/>
                <a:gd name="T88" fmla="*/ 1 w 64"/>
                <a:gd name="T89" fmla="*/ 191 h 234"/>
                <a:gd name="T90" fmla="*/ 1 w 64"/>
                <a:gd name="T91" fmla="*/ 196 h 234"/>
                <a:gd name="T92" fmla="*/ 1 w 64"/>
                <a:gd name="T93" fmla="*/ 201 h 234"/>
                <a:gd name="T94" fmla="*/ 1 w 64"/>
                <a:gd name="T95" fmla="*/ 207 h 234"/>
                <a:gd name="T96" fmla="*/ 1 w 64"/>
                <a:gd name="T97" fmla="*/ 212 h 234"/>
                <a:gd name="T98" fmla="*/ 1 w 64"/>
                <a:gd name="T99" fmla="*/ 218 h 234"/>
                <a:gd name="T100" fmla="*/ 1 w 64"/>
                <a:gd name="T101" fmla="*/ 225 h 234"/>
                <a:gd name="T102" fmla="*/ 1 w 64"/>
                <a:gd name="T103" fmla="*/ 232 h 234"/>
                <a:gd name="T104" fmla="*/ 1 w 64"/>
                <a:gd name="T105" fmla="*/ 233 h 234"/>
                <a:gd name="T106" fmla="*/ 1 w 64"/>
                <a:gd name="T107" fmla="*/ 234 h 23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64"/>
                <a:gd name="T163" fmla="*/ 0 h 234"/>
                <a:gd name="T164" fmla="*/ 64 w 64"/>
                <a:gd name="T165" fmla="*/ 234 h 23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64" h="234">
                  <a:moveTo>
                    <a:pt x="0" y="0"/>
                  </a:moveTo>
                  <a:lnTo>
                    <a:pt x="7" y="0"/>
                  </a:lnTo>
                  <a:lnTo>
                    <a:pt x="13" y="0"/>
                  </a:lnTo>
                  <a:lnTo>
                    <a:pt x="18" y="1"/>
                  </a:lnTo>
                  <a:lnTo>
                    <a:pt x="24" y="2"/>
                  </a:lnTo>
                  <a:lnTo>
                    <a:pt x="35" y="4"/>
                  </a:lnTo>
                  <a:lnTo>
                    <a:pt x="45" y="8"/>
                  </a:lnTo>
                  <a:lnTo>
                    <a:pt x="52" y="13"/>
                  </a:lnTo>
                  <a:lnTo>
                    <a:pt x="56" y="15"/>
                  </a:lnTo>
                  <a:lnTo>
                    <a:pt x="58" y="17"/>
                  </a:lnTo>
                  <a:lnTo>
                    <a:pt x="60" y="20"/>
                  </a:lnTo>
                  <a:lnTo>
                    <a:pt x="62" y="23"/>
                  </a:lnTo>
                  <a:lnTo>
                    <a:pt x="64" y="25"/>
                  </a:lnTo>
                  <a:lnTo>
                    <a:pt x="64" y="28"/>
                  </a:lnTo>
                  <a:lnTo>
                    <a:pt x="64" y="31"/>
                  </a:lnTo>
                  <a:lnTo>
                    <a:pt x="64" y="34"/>
                  </a:lnTo>
                  <a:lnTo>
                    <a:pt x="62" y="37"/>
                  </a:lnTo>
                  <a:lnTo>
                    <a:pt x="60" y="39"/>
                  </a:lnTo>
                  <a:lnTo>
                    <a:pt x="58" y="43"/>
                  </a:lnTo>
                  <a:lnTo>
                    <a:pt x="54" y="45"/>
                  </a:lnTo>
                  <a:lnTo>
                    <a:pt x="49" y="50"/>
                  </a:lnTo>
                  <a:lnTo>
                    <a:pt x="39" y="53"/>
                  </a:lnTo>
                  <a:lnTo>
                    <a:pt x="28" y="56"/>
                  </a:lnTo>
                  <a:lnTo>
                    <a:pt x="24" y="57"/>
                  </a:lnTo>
                  <a:lnTo>
                    <a:pt x="17" y="58"/>
                  </a:lnTo>
                  <a:lnTo>
                    <a:pt x="11" y="58"/>
                  </a:lnTo>
                  <a:lnTo>
                    <a:pt x="5" y="59"/>
                  </a:lnTo>
                  <a:lnTo>
                    <a:pt x="0" y="59"/>
                  </a:lnTo>
                  <a:lnTo>
                    <a:pt x="7" y="59"/>
                  </a:lnTo>
                  <a:lnTo>
                    <a:pt x="13" y="59"/>
                  </a:lnTo>
                  <a:lnTo>
                    <a:pt x="18" y="60"/>
                  </a:lnTo>
                  <a:lnTo>
                    <a:pt x="24" y="60"/>
                  </a:lnTo>
                  <a:lnTo>
                    <a:pt x="35" y="63"/>
                  </a:lnTo>
                  <a:lnTo>
                    <a:pt x="45" y="66"/>
                  </a:lnTo>
                  <a:lnTo>
                    <a:pt x="52" y="71"/>
                  </a:lnTo>
                  <a:lnTo>
                    <a:pt x="56" y="73"/>
                  </a:lnTo>
                  <a:lnTo>
                    <a:pt x="58" y="76"/>
                  </a:lnTo>
                  <a:lnTo>
                    <a:pt x="60" y="78"/>
                  </a:lnTo>
                  <a:lnTo>
                    <a:pt x="62" y="81"/>
                  </a:lnTo>
                  <a:lnTo>
                    <a:pt x="64" y="84"/>
                  </a:lnTo>
                  <a:lnTo>
                    <a:pt x="64" y="87"/>
                  </a:lnTo>
                  <a:lnTo>
                    <a:pt x="64" y="90"/>
                  </a:lnTo>
                  <a:lnTo>
                    <a:pt x="64" y="92"/>
                  </a:lnTo>
                  <a:lnTo>
                    <a:pt x="62" y="95"/>
                  </a:lnTo>
                  <a:lnTo>
                    <a:pt x="60" y="98"/>
                  </a:lnTo>
                  <a:lnTo>
                    <a:pt x="58" y="101"/>
                  </a:lnTo>
                  <a:lnTo>
                    <a:pt x="54" y="104"/>
                  </a:lnTo>
                  <a:lnTo>
                    <a:pt x="49" y="108"/>
                  </a:lnTo>
                  <a:lnTo>
                    <a:pt x="39" y="112"/>
                  </a:lnTo>
                  <a:lnTo>
                    <a:pt x="28" y="115"/>
                  </a:lnTo>
                  <a:lnTo>
                    <a:pt x="24" y="116"/>
                  </a:lnTo>
                  <a:lnTo>
                    <a:pt x="17" y="116"/>
                  </a:lnTo>
                  <a:lnTo>
                    <a:pt x="11" y="117"/>
                  </a:lnTo>
                  <a:lnTo>
                    <a:pt x="5" y="117"/>
                  </a:lnTo>
                  <a:lnTo>
                    <a:pt x="0" y="117"/>
                  </a:lnTo>
                  <a:lnTo>
                    <a:pt x="7" y="117"/>
                  </a:lnTo>
                  <a:lnTo>
                    <a:pt x="13" y="118"/>
                  </a:lnTo>
                  <a:lnTo>
                    <a:pt x="18" y="118"/>
                  </a:lnTo>
                  <a:lnTo>
                    <a:pt x="24" y="119"/>
                  </a:lnTo>
                  <a:lnTo>
                    <a:pt x="35" y="121"/>
                  </a:lnTo>
                  <a:lnTo>
                    <a:pt x="45" y="125"/>
                  </a:lnTo>
                  <a:lnTo>
                    <a:pt x="52" y="130"/>
                  </a:lnTo>
                  <a:lnTo>
                    <a:pt x="56" y="132"/>
                  </a:lnTo>
                  <a:lnTo>
                    <a:pt x="58" y="134"/>
                  </a:lnTo>
                  <a:lnTo>
                    <a:pt x="60" y="137"/>
                  </a:lnTo>
                  <a:lnTo>
                    <a:pt x="62" y="140"/>
                  </a:lnTo>
                  <a:lnTo>
                    <a:pt x="64" y="142"/>
                  </a:lnTo>
                  <a:lnTo>
                    <a:pt x="64" y="145"/>
                  </a:lnTo>
                  <a:lnTo>
                    <a:pt x="64" y="148"/>
                  </a:lnTo>
                  <a:lnTo>
                    <a:pt x="64" y="151"/>
                  </a:lnTo>
                  <a:lnTo>
                    <a:pt x="62" y="154"/>
                  </a:lnTo>
                  <a:lnTo>
                    <a:pt x="60" y="156"/>
                  </a:lnTo>
                  <a:lnTo>
                    <a:pt x="58" y="160"/>
                  </a:lnTo>
                  <a:lnTo>
                    <a:pt x="54" y="162"/>
                  </a:lnTo>
                  <a:lnTo>
                    <a:pt x="49" y="167"/>
                  </a:lnTo>
                  <a:lnTo>
                    <a:pt x="39" y="170"/>
                  </a:lnTo>
                  <a:lnTo>
                    <a:pt x="28" y="173"/>
                  </a:lnTo>
                  <a:lnTo>
                    <a:pt x="24" y="174"/>
                  </a:lnTo>
                  <a:lnTo>
                    <a:pt x="17" y="175"/>
                  </a:lnTo>
                  <a:lnTo>
                    <a:pt x="11" y="175"/>
                  </a:lnTo>
                  <a:lnTo>
                    <a:pt x="5" y="176"/>
                  </a:lnTo>
                  <a:lnTo>
                    <a:pt x="0" y="176"/>
                  </a:lnTo>
                  <a:lnTo>
                    <a:pt x="7" y="176"/>
                  </a:lnTo>
                  <a:lnTo>
                    <a:pt x="13" y="176"/>
                  </a:lnTo>
                  <a:lnTo>
                    <a:pt x="18" y="177"/>
                  </a:lnTo>
                  <a:lnTo>
                    <a:pt x="24" y="178"/>
                  </a:lnTo>
                  <a:lnTo>
                    <a:pt x="35" y="180"/>
                  </a:lnTo>
                  <a:lnTo>
                    <a:pt x="45" y="183"/>
                  </a:lnTo>
                  <a:lnTo>
                    <a:pt x="52" y="188"/>
                  </a:lnTo>
                  <a:lnTo>
                    <a:pt x="56" y="191"/>
                  </a:lnTo>
                  <a:lnTo>
                    <a:pt x="58" y="193"/>
                  </a:lnTo>
                  <a:lnTo>
                    <a:pt x="60" y="196"/>
                  </a:lnTo>
                  <a:lnTo>
                    <a:pt x="62" y="198"/>
                  </a:lnTo>
                  <a:lnTo>
                    <a:pt x="64" y="201"/>
                  </a:lnTo>
                  <a:lnTo>
                    <a:pt x="64" y="204"/>
                  </a:lnTo>
                  <a:lnTo>
                    <a:pt x="64" y="207"/>
                  </a:lnTo>
                  <a:lnTo>
                    <a:pt x="64" y="210"/>
                  </a:lnTo>
                  <a:lnTo>
                    <a:pt x="62" y="212"/>
                  </a:lnTo>
                  <a:lnTo>
                    <a:pt x="60" y="216"/>
                  </a:lnTo>
                  <a:lnTo>
                    <a:pt x="58" y="218"/>
                  </a:lnTo>
                  <a:lnTo>
                    <a:pt x="54" y="221"/>
                  </a:lnTo>
                  <a:lnTo>
                    <a:pt x="49" y="225"/>
                  </a:lnTo>
                  <a:lnTo>
                    <a:pt x="39" y="229"/>
                  </a:lnTo>
                  <a:lnTo>
                    <a:pt x="28" y="232"/>
                  </a:lnTo>
                  <a:lnTo>
                    <a:pt x="24" y="233"/>
                  </a:lnTo>
                  <a:lnTo>
                    <a:pt x="17" y="233"/>
                  </a:lnTo>
                  <a:lnTo>
                    <a:pt x="11" y="234"/>
                  </a:lnTo>
                  <a:lnTo>
                    <a:pt x="5" y="234"/>
                  </a:lnTo>
                  <a:lnTo>
                    <a:pt x="0" y="2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2" name="Freeform 301"/>
            <p:cNvSpPr>
              <a:spLocks/>
            </p:cNvSpPr>
            <p:nvPr/>
          </p:nvSpPr>
          <p:spPr bwMode="auto">
            <a:xfrm>
              <a:off x="4332" y="1387"/>
              <a:ext cx="32" cy="234"/>
            </a:xfrm>
            <a:custGeom>
              <a:avLst/>
              <a:gdLst>
                <a:gd name="T0" fmla="*/ 1 w 64"/>
                <a:gd name="T1" fmla="*/ 0 h 234"/>
                <a:gd name="T2" fmla="*/ 1 w 64"/>
                <a:gd name="T3" fmla="*/ 1 h 234"/>
                <a:gd name="T4" fmla="*/ 1 w 64"/>
                <a:gd name="T5" fmla="*/ 4 h 234"/>
                <a:gd name="T6" fmla="*/ 1 w 64"/>
                <a:gd name="T7" fmla="*/ 13 h 234"/>
                <a:gd name="T8" fmla="*/ 1 w 64"/>
                <a:gd name="T9" fmla="*/ 17 h 234"/>
                <a:gd name="T10" fmla="*/ 1 w 64"/>
                <a:gd name="T11" fmla="*/ 23 h 234"/>
                <a:gd name="T12" fmla="*/ 0 w 64"/>
                <a:gd name="T13" fmla="*/ 28 h 234"/>
                <a:gd name="T14" fmla="*/ 1 w 64"/>
                <a:gd name="T15" fmla="*/ 34 h 234"/>
                <a:gd name="T16" fmla="*/ 1 w 64"/>
                <a:gd name="T17" fmla="*/ 39 h 234"/>
                <a:gd name="T18" fmla="*/ 1 w 64"/>
                <a:gd name="T19" fmla="*/ 45 h 234"/>
                <a:gd name="T20" fmla="*/ 1 w 64"/>
                <a:gd name="T21" fmla="*/ 50 h 234"/>
                <a:gd name="T22" fmla="*/ 1 w 64"/>
                <a:gd name="T23" fmla="*/ 56 h 234"/>
                <a:gd name="T24" fmla="*/ 1 w 64"/>
                <a:gd name="T25" fmla="*/ 58 h 234"/>
                <a:gd name="T26" fmla="*/ 1 w 64"/>
                <a:gd name="T27" fmla="*/ 59 h 234"/>
                <a:gd name="T28" fmla="*/ 1 w 64"/>
                <a:gd name="T29" fmla="*/ 59 h 234"/>
                <a:gd name="T30" fmla="*/ 1 w 64"/>
                <a:gd name="T31" fmla="*/ 60 h 234"/>
                <a:gd name="T32" fmla="*/ 1 w 64"/>
                <a:gd name="T33" fmla="*/ 63 h 234"/>
                <a:gd name="T34" fmla="*/ 1 w 64"/>
                <a:gd name="T35" fmla="*/ 71 h 234"/>
                <a:gd name="T36" fmla="*/ 1 w 64"/>
                <a:gd name="T37" fmla="*/ 76 h 234"/>
                <a:gd name="T38" fmla="*/ 1 w 64"/>
                <a:gd name="T39" fmla="*/ 81 h 234"/>
                <a:gd name="T40" fmla="*/ 0 w 64"/>
                <a:gd name="T41" fmla="*/ 87 h 234"/>
                <a:gd name="T42" fmla="*/ 1 w 64"/>
                <a:gd name="T43" fmla="*/ 92 h 234"/>
                <a:gd name="T44" fmla="*/ 1 w 64"/>
                <a:gd name="T45" fmla="*/ 98 h 234"/>
                <a:gd name="T46" fmla="*/ 1 w 64"/>
                <a:gd name="T47" fmla="*/ 104 h 234"/>
                <a:gd name="T48" fmla="*/ 1 w 64"/>
                <a:gd name="T49" fmla="*/ 108 h 234"/>
                <a:gd name="T50" fmla="*/ 1 w 64"/>
                <a:gd name="T51" fmla="*/ 115 h 234"/>
                <a:gd name="T52" fmla="*/ 1 w 64"/>
                <a:gd name="T53" fmla="*/ 116 h 234"/>
                <a:gd name="T54" fmla="*/ 1 w 64"/>
                <a:gd name="T55" fmla="*/ 117 h 234"/>
                <a:gd name="T56" fmla="*/ 1 w 64"/>
                <a:gd name="T57" fmla="*/ 117 h 234"/>
                <a:gd name="T58" fmla="*/ 1 w 64"/>
                <a:gd name="T59" fmla="*/ 118 h 234"/>
                <a:gd name="T60" fmla="*/ 1 w 64"/>
                <a:gd name="T61" fmla="*/ 121 h 234"/>
                <a:gd name="T62" fmla="*/ 1 w 64"/>
                <a:gd name="T63" fmla="*/ 130 h 234"/>
                <a:gd name="T64" fmla="*/ 1 w 64"/>
                <a:gd name="T65" fmla="*/ 134 h 234"/>
                <a:gd name="T66" fmla="*/ 1 w 64"/>
                <a:gd name="T67" fmla="*/ 140 h 234"/>
                <a:gd name="T68" fmla="*/ 0 w 64"/>
                <a:gd name="T69" fmla="*/ 145 h 234"/>
                <a:gd name="T70" fmla="*/ 1 w 64"/>
                <a:gd name="T71" fmla="*/ 151 h 234"/>
                <a:gd name="T72" fmla="*/ 1 w 64"/>
                <a:gd name="T73" fmla="*/ 156 h 234"/>
                <a:gd name="T74" fmla="*/ 1 w 64"/>
                <a:gd name="T75" fmla="*/ 162 h 234"/>
                <a:gd name="T76" fmla="*/ 1 w 64"/>
                <a:gd name="T77" fmla="*/ 167 h 234"/>
                <a:gd name="T78" fmla="*/ 1 w 64"/>
                <a:gd name="T79" fmla="*/ 173 h 234"/>
                <a:gd name="T80" fmla="*/ 1 w 64"/>
                <a:gd name="T81" fmla="*/ 175 h 234"/>
                <a:gd name="T82" fmla="*/ 1 w 64"/>
                <a:gd name="T83" fmla="*/ 176 h 234"/>
                <a:gd name="T84" fmla="*/ 1 w 64"/>
                <a:gd name="T85" fmla="*/ 176 h 234"/>
                <a:gd name="T86" fmla="*/ 1 w 64"/>
                <a:gd name="T87" fmla="*/ 177 h 234"/>
                <a:gd name="T88" fmla="*/ 1 w 64"/>
                <a:gd name="T89" fmla="*/ 180 h 234"/>
                <a:gd name="T90" fmla="*/ 1 w 64"/>
                <a:gd name="T91" fmla="*/ 188 h 234"/>
                <a:gd name="T92" fmla="*/ 1 w 64"/>
                <a:gd name="T93" fmla="*/ 193 h 234"/>
                <a:gd name="T94" fmla="*/ 1 w 64"/>
                <a:gd name="T95" fmla="*/ 198 h 234"/>
                <a:gd name="T96" fmla="*/ 0 w 64"/>
                <a:gd name="T97" fmla="*/ 204 h 234"/>
                <a:gd name="T98" fmla="*/ 1 w 64"/>
                <a:gd name="T99" fmla="*/ 210 h 234"/>
                <a:gd name="T100" fmla="*/ 1 w 64"/>
                <a:gd name="T101" fmla="*/ 216 h 234"/>
                <a:gd name="T102" fmla="*/ 1 w 64"/>
                <a:gd name="T103" fmla="*/ 221 h 234"/>
                <a:gd name="T104" fmla="*/ 1 w 64"/>
                <a:gd name="T105" fmla="*/ 225 h 234"/>
                <a:gd name="T106" fmla="*/ 1 w 64"/>
                <a:gd name="T107" fmla="*/ 232 h 234"/>
                <a:gd name="T108" fmla="*/ 1 w 64"/>
                <a:gd name="T109" fmla="*/ 233 h 234"/>
                <a:gd name="T110" fmla="*/ 1 w 64"/>
                <a:gd name="T111" fmla="*/ 234 h 23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64"/>
                <a:gd name="T169" fmla="*/ 0 h 234"/>
                <a:gd name="T170" fmla="*/ 64 w 64"/>
                <a:gd name="T171" fmla="*/ 234 h 234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64" h="234">
                  <a:moveTo>
                    <a:pt x="64" y="0"/>
                  </a:moveTo>
                  <a:lnTo>
                    <a:pt x="58" y="0"/>
                  </a:lnTo>
                  <a:lnTo>
                    <a:pt x="52" y="0"/>
                  </a:lnTo>
                  <a:lnTo>
                    <a:pt x="47" y="1"/>
                  </a:lnTo>
                  <a:lnTo>
                    <a:pt x="41" y="2"/>
                  </a:lnTo>
                  <a:lnTo>
                    <a:pt x="30" y="4"/>
                  </a:lnTo>
                  <a:lnTo>
                    <a:pt x="20" y="8"/>
                  </a:lnTo>
                  <a:lnTo>
                    <a:pt x="13" y="13"/>
                  </a:lnTo>
                  <a:lnTo>
                    <a:pt x="9" y="15"/>
                  </a:lnTo>
                  <a:lnTo>
                    <a:pt x="7" y="17"/>
                  </a:lnTo>
                  <a:lnTo>
                    <a:pt x="3" y="20"/>
                  </a:lnTo>
                  <a:lnTo>
                    <a:pt x="1" y="23"/>
                  </a:lnTo>
                  <a:lnTo>
                    <a:pt x="1" y="25"/>
                  </a:lnTo>
                  <a:lnTo>
                    <a:pt x="0" y="28"/>
                  </a:lnTo>
                  <a:lnTo>
                    <a:pt x="1" y="31"/>
                  </a:lnTo>
                  <a:lnTo>
                    <a:pt x="1" y="34"/>
                  </a:lnTo>
                  <a:lnTo>
                    <a:pt x="3" y="37"/>
                  </a:lnTo>
                  <a:lnTo>
                    <a:pt x="5" y="39"/>
                  </a:lnTo>
                  <a:lnTo>
                    <a:pt x="7" y="43"/>
                  </a:lnTo>
                  <a:lnTo>
                    <a:pt x="9" y="45"/>
                  </a:lnTo>
                  <a:lnTo>
                    <a:pt x="13" y="47"/>
                  </a:lnTo>
                  <a:lnTo>
                    <a:pt x="17" y="50"/>
                  </a:lnTo>
                  <a:lnTo>
                    <a:pt x="26" y="53"/>
                  </a:lnTo>
                  <a:lnTo>
                    <a:pt x="35" y="56"/>
                  </a:lnTo>
                  <a:lnTo>
                    <a:pt x="41" y="57"/>
                  </a:lnTo>
                  <a:lnTo>
                    <a:pt x="47" y="58"/>
                  </a:lnTo>
                  <a:lnTo>
                    <a:pt x="52" y="58"/>
                  </a:lnTo>
                  <a:lnTo>
                    <a:pt x="60" y="59"/>
                  </a:lnTo>
                  <a:lnTo>
                    <a:pt x="64" y="59"/>
                  </a:lnTo>
                  <a:lnTo>
                    <a:pt x="58" y="59"/>
                  </a:lnTo>
                  <a:lnTo>
                    <a:pt x="52" y="59"/>
                  </a:lnTo>
                  <a:lnTo>
                    <a:pt x="47" y="60"/>
                  </a:lnTo>
                  <a:lnTo>
                    <a:pt x="41" y="60"/>
                  </a:lnTo>
                  <a:lnTo>
                    <a:pt x="30" y="63"/>
                  </a:lnTo>
                  <a:lnTo>
                    <a:pt x="20" y="66"/>
                  </a:lnTo>
                  <a:lnTo>
                    <a:pt x="13" y="71"/>
                  </a:lnTo>
                  <a:lnTo>
                    <a:pt x="9" y="73"/>
                  </a:lnTo>
                  <a:lnTo>
                    <a:pt x="7" y="76"/>
                  </a:lnTo>
                  <a:lnTo>
                    <a:pt x="3" y="78"/>
                  </a:lnTo>
                  <a:lnTo>
                    <a:pt x="1" y="81"/>
                  </a:lnTo>
                  <a:lnTo>
                    <a:pt x="1" y="84"/>
                  </a:lnTo>
                  <a:lnTo>
                    <a:pt x="0" y="87"/>
                  </a:lnTo>
                  <a:lnTo>
                    <a:pt x="1" y="90"/>
                  </a:lnTo>
                  <a:lnTo>
                    <a:pt x="1" y="92"/>
                  </a:lnTo>
                  <a:lnTo>
                    <a:pt x="3" y="95"/>
                  </a:lnTo>
                  <a:lnTo>
                    <a:pt x="5" y="98"/>
                  </a:lnTo>
                  <a:lnTo>
                    <a:pt x="7" y="101"/>
                  </a:lnTo>
                  <a:lnTo>
                    <a:pt x="9" y="104"/>
                  </a:lnTo>
                  <a:lnTo>
                    <a:pt x="13" y="106"/>
                  </a:lnTo>
                  <a:lnTo>
                    <a:pt x="17" y="108"/>
                  </a:lnTo>
                  <a:lnTo>
                    <a:pt x="26" y="112"/>
                  </a:lnTo>
                  <a:lnTo>
                    <a:pt x="35" y="115"/>
                  </a:lnTo>
                  <a:lnTo>
                    <a:pt x="41" y="116"/>
                  </a:lnTo>
                  <a:lnTo>
                    <a:pt x="47" y="116"/>
                  </a:lnTo>
                  <a:lnTo>
                    <a:pt x="52" y="117"/>
                  </a:lnTo>
                  <a:lnTo>
                    <a:pt x="60" y="117"/>
                  </a:lnTo>
                  <a:lnTo>
                    <a:pt x="64" y="117"/>
                  </a:lnTo>
                  <a:lnTo>
                    <a:pt x="58" y="117"/>
                  </a:lnTo>
                  <a:lnTo>
                    <a:pt x="52" y="118"/>
                  </a:lnTo>
                  <a:lnTo>
                    <a:pt x="47" y="118"/>
                  </a:lnTo>
                  <a:lnTo>
                    <a:pt x="41" y="119"/>
                  </a:lnTo>
                  <a:lnTo>
                    <a:pt x="30" y="121"/>
                  </a:lnTo>
                  <a:lnTo>
                    <a:pt x="20" y="125"/>
                  </a:lnTo>
                  <a:lnTo>
                    <a:pt x="13" y="130"/>
                  </a:lnTo>
                  <a:lnTo>
                    <a:pt x="9" y="132"/>
                  </a:lnTo>
                  <a:lnTo>
                    <a:pt x="7" y="134"/>
                  </a:lnTo>
                  <a:lnTo>
                    <a:pt x="3" y="137"/>
                  </a:lnTo>
                  <a:lnTo>
                    <a:pt x="1" y="140"/>
                  </a:lnTo>
                  <a:lnTo>
                    <a:pt x="1" y="142"/>
                  </a:lnTo>
                  <a:lnTo>
                    <a:pt x="0" y="145"/>
                  </a:lnTo>
                  <a:lnTo>
                    <a:pt x="1" y="148"/>
                  </a:lnTo>
                  <a:lnTo>
                    <a:pt x="1" y="151"/>
                  </a:lnTo>
                  <a:lnTo>
                    <a:pt x="3" y="154"/>
                  </a:lnTo>
                  <a:lnTo>
                    <a:pt x="5" y="156"/>
                  </a:lnTo>
                  <a:lnTo>
                    <a:pt x="7" y="160"/>
                  </a:lnTo>
                  <a:lnTo>
                    <a:pt x="9" y="162"/>
                  </a:lnTo>
                  <a:lnTo>
                    <a:pt x="13" y="165"/>
                  </a:lnTo>
                  <a:lnTo>
                    <a:pt x="17" y="167"/>
                  </a:lnTo>
                  <a:lnTo>
                    <a:pt x="26" y="170"/>
                  </a:lnTo>
                  <a:lnTo>
                    <a:pt x="35" y="173"/>
                  </a:lnTo>
                  <a:lnTo>
                    <a:pt x="41" y="174"/>
                  </a:lnTo>
                  <a:lnTo>
                    <a:pt x="47" y="175"/>
                  </a:lnTo>
                  <a:lnTo>
                    <a:pt x="52" y="175"/>
                  </a:lnTo>
                  <a:lnTo>
                    <a:pt x="60" y="176"/>
                  </a:lnTo>
                  <a:lnTo>
                    <a:pt x="64" y="176"/>
                  </a:lnTo>
                  <a:lnTo>
                    <a:pt x="58" y="176"/>
                  </a:lnTo>
                  <a:lnTo>
                    <a:pt x="52" y="176"/>
                  </a:lnTo>
                  <a:lnTo>
                    <a:pt x="47" y="177"/>
                  </a:lnTo>
                  <a:lnTo>
                    <a:pt x="41" y="178"/>
                  </a:lnTo>
                  <a:lnTo>
                    <a:pt x="30" y="180"/>
                  </a:lnTo>
                  <a:lnTo>
                    <a:pt x="20" y="183"/>
                  </a:lnTo>
                  <a:lnTo>
                    <a:pt x="13" y="188"/>
                  </a:lnTo>
                  <a:lnTo>
                    <a:pt x="9" y="191"/>
                  </a:lnTo>
                  <a:lnTo>
                    <a:pt x="7" y="193"/>
                  </a:lnTo>
                  <a:lnTo>
                    <a:pt x="3" y="196"/>
                  </a:lnTo>
                  <a:lnTo>
                    <a:pt x="1" y="198"/>
                  </a:lnTo>
                  <a:lnTo>
                    <a:pt x="1" y="201"/>
                  </a:lnTo>
                  <a:lnTo>
                    <a:pt x="0" y="204"/>
                  </a:lnTo>
                  <a:lnTo>
                    <a:pt x="1" y="207"/>
                  </a:lnTo>
                  <a:lnTo>
                    <a:pt x="1" y="210"/>
                  </a:lnTo>
                  <a:lnTo>
                    <a:pt x="3" y="212"/>
                  </a:lnTo>
                  <a:lnTo>
                    <a:pt x="5" y="216"/>
                  </a:lnTo>
                  <a:lnTo>
                    <a:pt x="7" y="218"/>
                  </a:lnTo>
                  <a:lnTo>
                    <a:pt x="9" y="221"/>
                  </a:lnTo>
                  <a:lnTo>
                    <a:pt x="13" y="223"/>
                  </a:lnTo>
                  <a:lnTo>
                    <a:pt x="17" y="225"/>
                  </a:lnTo>
                  <a:lnTo>
                    <a:pt x="26" y="229"/>
                  </a:lnTo>
                  <a:lnTo>
                    <a:pt x="35" y="232"/>
                  </a:lnTo>
                  <a:lnTo>
                    <a:pt x="41" y="233"/>
                  </a:lnTo>
                  <a:lnTo>
                    <a:pt x="47" y="233"/>
                  </a:lnTo>
                  <a:lnTo>
                    <a:pt x="52" y="234"/>
                  </a:lnTo>
                  <a:lnTo>
                    <a:pt x="60" y="234"/>
                  </a:lnTo>
                  <a:lnTo>
                    <a:pt x="64" y="2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3" name="Line 302"/>
            <p:cNvSpPr>
              <a:spLocks noChangeShapeType="1"/>
            </p:cNvSpPr>
            <p:nvPr/>
          </p:nvSpPr>
          <p:spPr bwMode="auto">
            <a:xfrm>
              <a:off x="4295" y="1393"/>
              <a:ext cx="1" cy="22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4" name="Line 303"/>
            <p:cNvSpPr>
              <a:spLocks noChangeShapeType="1"/>
            </p:cNvSpPr>
            <p:nvPr/>
          </p:nvSpPr>
          <p:spPr bwMode="auto">
            <a:xfrm flipV="1">
              <a:off x="4307" y="1393"/>
              <a:ext cx="1" cy="22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5" name="Freeform 304"/>
            <p:cNvSpPr>
              <a:spLocks/>
            </p:cNvSpPr>
            <p:nvPr/>
          </p:nvSpPr>
          <p:spPr bwMode="auto">
            <a:xfrm>
              <a:off x="4224" y="1582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1 w 60"/>
                <a:gd name="T3" fmla="*/ 12 h 33"/>
                <a:gd name="T4" fmla="*/ 1 w 60"/>
                <a:gd name="T5" fmla="*/ 9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9 h 33"/>
                <a:gd name="T30" fmla="*/ 1 w 60"/>
                <a:gd name="T31" fmla="*/ 12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3 h 33"/>
                <a:gd name="T40" fmla="*/ 1 w 60"/>
                <a:gd name="T41" fmla="*/ 26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6 h 33"/>
                <a:gd name="T62" fmla="*/ 1 w 60"/>
                <a:gd name="T63" fmla="*/ 23 h 33"/>
                <a:gd name="T64" fmla="*/ 1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2" y="12"/>
                  </a:lnTo>
                  <a:lnTo>
                    <a:pt x="3" y="9"/>
                  </a:lnTo>
                  <a:lnTo>
                    <a:pt x="5" y="7"/>
                  </a:lnTo>
                  <a:lnTo>
                    <a:pt x="9" y="4"/>
                  </a:lnTo>
                  <a:lnTo>
                    <a:pt x="15" y="2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7" y="0"/>
                  </a:lnTo>
                  <a:lnTo>
                    <a:pt x="43" y="1"/>
                  </a:lnTo>
                  <a:lnTo>
                    <a:pt x="47" y="2"/>
                  </a:lnTo>
                  <a:lnTo>
                    <a:pt x="53" y="4"/>
                  </a:lnTo>
                  <a:lnTo>
                    <a:pt x="56" y="7"/>
                  </a:lnTo>
                  <a:lnTo>
                    <a:pt x="58" y="9"/>
                  </a:lnTo>
                  <a:lnTo>
                    <a:pt x="60" y="12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3"/>
                  </a:lnTo>
                  <a:lnTo>
                    <a:pt x="56" y="26"/>
                  </a:lnTo>
                  <a:lnTo>
                    <a:pt x="53" y="28"/>
                  </a:lnTo>
                  <a:lnTo>
                    <a:pt x="47" y="30"/>
                  </a:lnTo>
                  <a:lnTo>
                    <a:pt x="43" y="31"/>
                  </a:lnTo>
                  <a:lnTo>
                    <a:pt x="37" y="32"/>
                  </a:lnTo>
                  <a:lnTo>
                    <a:pt x="30" y="33"/>
                  </a:lnTo>
                  <a:lnTo>
                    <a:pt x="24" y="32"/>
                  </a:lnTo>
                  <a:lnTo>
                    <a:pt x="19" y="31"/>
                  </a:lnTo>
                  <a:lnTo>
                    <a:pt x="15" y="30"/>
                  </a:lnTo>
                  <a:lnTo>
                    <a:pt x="9" y="28"/>
                  </a:lnTo>
                  <a:lnTo>
                    <a:pt x="5" y="26"/>
                  </a:lnTo>
                  <a:lnTo>
                    <a:pt x="3" y="23"/>
                  </a:lnTo>
                  <a:lnTo>
                    <a:pt x="2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6" name="Freeform 305"/>
            <p:cNvSpPr>
              <a:spLocks/>
            </p:cNvSpPr>
            <p:nvPr/>
          </p:nvSpPr>
          <p:spPr bwMode="auto">
            <a:xfrm>
              <a:off x="4352" y="1394"/>
              <a:ext cx="30" cy="34"/>
            </a:xfrm>
            <a:custGeom>
              <a:avLst/>
              <a:gdLst>
                <a:gd name="T0" fmla="*/ 0 w 61"/>
                <a:gd name="T1" fmla="*/ 17 h 34"/>
                <a:gd name="T2" fmla="*/ 0 w 61"/>
                <a:gd name="T3" fmla="*/ 14 h 34"/>
                <a:gd name="T4" fmla="*/ 0 w 61"/>
                <a:gd name="T5" fmla="*/ 11 h 34"/>
                <a:gd name="T6" fmla="*/ 0 w 61"/>
                <a:gd name="T7" fmla="*/ 8 h 34"/>
                <a:gd name="T8" fmla="*/ 0 w 61"/>
                <a:gd name="T9" fmla="*/ 5 h 34"/>
                <a:gd name="T10" fmla="*/ 0 w 61"/>
                <a:gd name="T11" fmla="*/ 2 h 34"/>
                <a:gd name="T12" fmla="*/ 0 w 61"/>
                <a:gd name="T13" fmla="*/ 1 h 34"/>
                <a:gd name="T14" fmla="*/ 0 w 61"/>
                <a:gd name="T15" fmla="*/ 0 h 34"/>
                <a:gd name="T16" fmla="*/ 0 w 61"/>
                <a:gd name="T17" fmla="*/ 0 h 34"/>
                <a:gd name="T18" fmla="*/ 0 w 61"/>
                <a:gd name="T19" fmla="*/ 0 h 34"/>
                <a:gd name="T20" fmla="*/ 0 w 61"/>
                <a:gd name="T21" fmla="*/ 1 h 34"/>
                <a:gd name="T22" fmla="*/ 0 w 61"/>
                <a:gd name="T23" fmla="*/ 2 h 34"/>
                <a:gd name="T24" fmla="*/ 0 w 61"/>
                <a:gd name="T25" fmla="*/ 5 h 34"/>
                <a:gd name="T26" fmla="*/ 0 w 61"/>
                <a:gd name="T27" fmla="*/ 8 h 34"/>
                <a:gd name="T28" fmla="*/ 0 w 61"/>
                <a:gd name="T29" fmla="*/ 11 h 34"/>
                <a:gd name="T30" fmla="*/ 0 w 61"/>
                <a:gd name="T31" fmla="*/ 14 h 34"/>
                <a:gd name="T32" fmla="*/ 0 w 61"/>
                <a:gd name="T33" fmla="*/ 17 h 34"/>
                <a:gd name="T34" fmla="*/ 0 w 61"/>
                <a:gd name="T35" fmla="*/ 17 h 34"/>
                <a:gd name="T36" fmla="*/ 0 w 61"/>
                <a:gd name="T37" fmla="*/ 20 h 34"/>
                <a:gd name="T38" fmla="*/ 0 w 61"/>
                <a:gd name="T39" fmla="*/ 23 h 34"/>
                <a:gd name="T40" fmla="*/ 0 w 61"/>
                <a:gd name="T41" fmla="*/ 26 h 34"/>
                <a:gd name="T42" fmla="*/ 0 w 61"/>
                <a:gd name="T43" fmla="*/ 28 h 34"/>
                <a:gd name="T44" fmla="*/ 0 w 61"/>
                <a:gd name="T45" fmla="*/ 30 h 34"/>
                <a:gd name="T46" fmla="*/ 0 w 61"/>
                <a:gd name="T47" fmla="*/ 31 h 34"/>
                <a:gd name="T48" fmla="*/ 0 w 61"/>
                <a:gd name="T49" fmla="*/ 32 h 34"/>
                <a:gd name="T50" fmla="*/ 0 w 61"/>
                <a:gd name="T51" fmla="*/ 34 h 34"/>
                <a:gd name="T52" fmla="*/ 0 w 61"/>
                <a:gd name="T53" fmla="*/ 32 h 34"/>
                <a:gd name="T54" fmla="*/ 0 w 61"/>
                <a:gd name="T55" fmla="*/ 31 h 34"/>
                <a:gd name="T56" fmla="*/ 0 w 61"/>
                <a:gd name="T57" fmla="*/ 30 h 34"/>
                <a:gd name="T58" fmla="*/ 0 w 61"/>
                <a:gd name="T59" fmla="*/ 28 h 34"/>
                <a:gd name="T60" fmla="*/ 0 w 61"/>
                <a:gd name="T61" fmla="*/ 26 h 34"/>
                <a:gd name="T62" fmla="*/ 0 w 61"/>
                <a:gd name="T63" fmla="*/ 23 h 34"/>
                <a:gd name="T64" fmla="*/ 0 w 61"/>
                <a:gd name="T65" fmla="*/ 20 h 34"/>
                <a:gd name="T66" fmla="*/ 0 w 61"/>
                <a:gd name="T67" fmla="*/ 17 h 3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1"/>
                <a:gd name="T103" fmla="*/ 0 h 34"/>
                <a:gd name="T104" fmla="*/ 61 w 61"/>
                <a:gd name="T105" fmla="*/ 34 h 3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1" h="34">
                  <a:moveTo>
                    <a:pt x="0" y="17"/>
                  </a:moveTo>
                  <a:lnTo>
                    <a:pt x="0" y="14"/>
                  </a:lnTo>
                  <a:lnTo>
                    <a:pt x="2" y="11"/>
                  </a:lnTo>
                  <a:lnTo>
                    <a:pt x="6" y="8"/>
                  </a:lnTo>
                  <a:lnTo>
                    <a:pt x="10" y="5"/>
                  </a:lnTo>
                  <a:lnTo>
                    <a:pt x="13" y="2"/>
                  </a:lnTo>
                  <a:lnTo>
                    <a:pt x="19" y="1"/>
                  </a:lnTo>
                  <a:lnTo>
                    <a:pt x="25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2" y="1"/>
                  </a:lnTo>
                  <a:lnTo>
                    <a:pt x="47" y="2"/>
                  </a:lnTo>
                  <a:lnTo>
                    <a:pt x="51" y="5"/>
                  </a:lnTo>
                  <a:lnTo>
                    <a:pt x="55" y="8"/>
                  </a:lnTo>
                  <a:lnTo>
                    <a:pt x="59" y="11"/>
                  </a:lnTo>
                  <a:lnTo>
                    <a:pt x="61" y="14"/>
                  </a:lnTo>
                  <a:lnTo>
                    <a:pt x="61" y="17"/>
                  </a:lnTo>
                  <a:lnTo>
                    <a:pt x="61" y="20"/>
                  </a:lnTo>
                  <a:lnTo>
                    <a:pt x="59" y="23"/>
                  </a:lnTo>
                  <a:lnTo>
                    <a:pt x="55" y="26"/>
                  </a:lnTo>
                  <a:lnTo>
                    <a:pt x="51" y="28"/>
                  </a:lnTo>
                  <a:lnTo>
                    <a:pt x="47" y="30"/>
                  </a:lnTo>
                  <a:lnTo>
                    <a:pt x="42" y="31"/>
                  </a:lnTo>
                  <a:lnTo>
                    <a:pt x="36" y="32"/>
                  </a:lnTo>
                  <a:lnTo>
                    <a:pt x="30" y="34"/>
                  </a:lnTo>
                  <a:lnTo>
                    <a:pt x="25" y="32"/>
                  </a:lnTo>
                  <a:lnTo>
                    <a:pt x="19" y="31"/>
                  </a:lnTo>
                  <a:lnTo>
                    <a:pt x="13" y="30"/>
                  </a:lnTo>
                  <a:lnTo>
                    <a:pt x="10" y="28"/>
                  </a:lnTo>
                  <a:lnTo>
                    <a:pt x="6" y="26"/>
                  </a:lnTo>
                  <a:lnTo>
                    <a:pt x="2" y="23"/>
                  </a:lnTo>
                  <a:lnTo>
                    <a:pt x="0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" name="Freeform 306"/>
            <p:cNvSpPr>
              <a:spLocks/>
            </p:cNvSpPr>
            <p:nvPr/>
          </p:nvSpPr>
          <p:spPr bwMode="auto">
            <a:xfrm>
              <a:off x="3606" y="1153"/>
              <a:ext cx="637" cy="691"/>
            </a:xfrm>
            <a:custGeom>
              <a:avLst/>
              <a:gdLst>
                <a:gd name="T0" fmla="*/ 47 w 1073"/>
                <a:gd name="T1" fmla="*/ 0 h 691"/>
                <a:gd name="T2" fmla="*/ 0 w 1073"/>
                <a:gd name="T3" fmla="*/ 0 h 691"/>
                <a:gd name="T4" fmla="*/ 0 w 1073"/>
                <a:gd name="T5" fmla="*/ 691 h 691"/>
                <a:gd name="T6" fmla="*/ 0 60000 65536"/>
                <a:gd name="T7" fmla="*/ 0 60000 65536"/>
                <a:gd name="T8" fmla="*/ 0 60000 65536"/>
                <a:gd name="T9" fmla="*/ 0 w 1073"/>
                <a:gd name="T10" fmla="*/ 0 h 691"/>
                <a:gd name="T11" fmla="*/ 1073 w 1073"/>
                <a:gd name="T12" fmla="*/ 691 h 6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73" h="691">
                  <a:moveTo>
                    <a:pt x="1073" y="0"/>
                  </a:moveTo>
                  <a:lnTo>
                    <a:pt x="0" y="0"/>
                  </a:lnTo>
                  <a:lnTo>
                    <a:pt x="0" y="69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" name="Line 307"/>
            <p:cNvSpPr>
              <a:spLocks noChangeShapeType="1"/>
            </p:cNvSpPr>
            <p:nvPr/>
          </p:nvSpPr>
          <p:spPr bwMode="auto">
            <a:xfrm flipH="1">
              <a:off x="3615" y="1715"/>
              <a:ext cx="14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" name="Line 308"/>
            <p:cNvSpPr>
              <a:spLocks noChangeShapeType="1"/>
            </p:cNvSpPr>
            <p:nvPr/>
          </p:nvSpPr>
          <p:spPr bwMode="auto">
            <a:xfrm flipH="1">
              <a:off x="3983" y="1621"/>
              <a:ext cx="25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" name="Line 309"/>
            <p:cNvSpPr>
              <a:spLocks noChangeShapeType="1"/>
            </p:cNvSpPr>
            <p:nvPr/>
          </p:nvSpPr>
          <p:spPr bwMode="auto">
            <a:xfrm flipV="1">
              <a:off x="3983" y="1621"/>
              <a:ext cx="1" cy="22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" name="Line 310"/>
            <p:cNvSpPr>
              <a:spLocks noChangeShapeType="1"/>
            </p:cNvSpPr>
            <p:nvPr/>
          </p:nvSpPr>
          <p:spPr bwMode="auto">
            <a:xfrm flipH="1">
              <a:off x="3983" y="1715"/>
              <a:ext cx="17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" name="Freeform 311"/>
            <p:cNvSpPr>
              <a:spLocks/>
            </p:cNvSpPr>
            <p:nvPr/>
          </p:nvSpPr>
          <p:spPr bwMode="auto">
            <a:xfrm>
              <a:off x="3600" y="1694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3 h 33"/>
                <a:gd name="T4" fmla="*/ 1 w 60"/>
                <a:gd name="T5" fmla="*/ 10 h 33"/>
                <a:gd name="T6" fmla="*/ 1 w 60"/>
                <a:gd name="T7" fmla="*/ 7 h 33"/>
                <a:gd name="T8" fmla="*/ 1 w 60"/>
                <a:gd name="T9" fmla="*/ 5 h 33"/>
                <a:gd name="T10" fmla="*/ 1 w 60"/>
                <a:gd name="T11" fmla="*/ 3 h 33"/>
                <a:gd name="T12" fmla="*/ 1 w 60"/>
                <a:gd name="T13" fmla="*/ 1 h 33"/>
                <a:gd name="T14" fmla="*/ 1 w 60"/>
                <a:gd name="T15" fmla="*/ 1 h 33"/>
                <a:gd name="T16" fmla="*/ 1 w 60"/>
                <a:gd name="T17" fmla="*/ 0 h 33"/>
                <a:gd name="T18" fmla="*/ 1 w 60"/>
                <a:gd name="T19" fmla="*/ 1 h 33"/>
                <a:gd name="T20" fmla="*/ 1 w 60"/>
                <a:gd name="T21" fmla="*/ 1 h 33"/>
                <a:gd name="T22" fmla="*/ 1 w 60"/>
                <a:gd name="T23" fmla="*/ 3 h 33"/>
                <a:gd name="T24" fmla="*/ 1 w 60"/>
                <a:gd name="T25" fmla="*/ 5 h 33"/>
                <a:gd name="T26" fmla="*/ 1 w 60"/>
                <a:gd name="T27" fmla="*/ 7 h 33"/>
                <a:gd name="T28" fmla="*/ 1 w 60"/>
                <a:gd name="T29" fmla="*/ 10 h 33"/>
                <a:gd name="T30" fmla="*/ 1 w 60"/>
                <a:gd name="T31" fmla="*/ 13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2 h 33"/>
                <a:gd name="T40" fmla="*/ 1 w 60"/>
                <a:gd name="T41" fmla="*/ 26 h 33"/>
                <a:gd name="T42" fmla="*/ 1 w 60"/>
                <a:gd name="T43" fmla="*/ 29 h 33"/>
                <a:gd name="T44" fmla="*/ 1 w 60"/>
                <a:gd name="T45" fmla="*/ 30 h 33"/>
                <a:gd name="T46" fmla="*/ 1 w 60"/>
                <a:gd name="T47" fmla="*/ 32 h 33"/>
                <a:gd name="T48" fmla="*/ 1 w 60"/>
                <a:gd name="T49" fmla="*/ 33 h 33"/>
                <a:gd name="T50" fmla="*/ 1 w 60"/>
                <a:gd name="T51" fmla="*/ 33 h 33"/>
                <a:gd name="T52" fmla="*/ 1 w 60"/>
                <a:gd name="T53" fmla="*/ 33 h 33"/>
                <a:gd name="T54" fmla="*/ 1 w 60"/>
                <a:gd name="T55" fmla="*/ 32 h 33"/>
                <a:gd name="T56" fmla="*/ 1 w 60"/>
                <a:gd name="T57" fmla="*/ 30 h 33"/>
                <a:gd name="T58" fmla="*/ 1 w 60"/>
                <a:gd name="T59" fmla="*/ 29 h 33"/>
                <a:gd name="T60" fmla="*/ 1 w 60"/>
                <a:gd name="T61" fmla="*/ 26 h 33"/>
                <a:gd name="T62" fmla="*/ 1 w 60"/>
                <a:gd name="T63" fmla="*/ 22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3"/>
                  </a:lnTo>
                  <a:lnTo>
                    <a:pt x="2" y="10"/>
                  </a:lnTo>
                  <a:lnTo>
                    <a:pt x="6" y="7"/>
                  </a:lnTo>
                  <a:lnTo>
                    <a:pt x="9" y="5"/>
                  </a:lnTo>
                  <a:lnTo>
                    <a:pt x="13" y="3"/>
                  </a:lnTo>
                  <a:lnTo>
                    <a:pt x="19" y="1"/>
                  </a:lnTo>
                  <a:lnTo>
                    <a:pt x="25" y="1"/>
                  </a:lnTo>
                  <a:lnTo>
                    <a:pt x="30" y="0"/>
                  </a:lnTo>
                  <a:lnTo>
                    <a:pt x="36" y="1"/>
                  </a:lnTo>
                  <a:lnTo>
                    <a:pt x="42" y="1"/>
                  </a:lnTo>
                  <a:lnTo>
                    <a:pt x="47" y="3"/>
                  </a:lnTo>
                  <a:lnTo>
                    <a:pt x="51" y="5"/>
                  </a:lnTo>
                  <a:lnTo>
                    <a:pt x="55" y="7"/>
                  </a:lnTo>
                  <a:lnTo>
                    <a:pt x="58" y="10"/>
                  </a:lnTo>
                  <a:lnTo>
                    <a:pt x="60" y="13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2"/>
                  </a:lnTo>
                  <a:lnTo>
                    <a:pt x="55" y="26"/>
                  </a:lnTo>
                  <a:lnTo>
                    <a:pt x="51" y="29"/>
                  </a:lnTo>
                  <a:lnTo>
                    <a:pt x="47" y="30"/>
                  </a:lnTo>
                  <a:lnTo>
                    <a:pt x="42" y="32"/>
                  </a:lnTo>
                  <a:lnTo>
                    <a:pt x="36" y="33"/>
                  </a:lnTo>
                  <a:lnTo>
                    <a:pt x="30" y="33"/>
                  </a:lnTo>
                  <a:lnTo>
                    <a:pt x="25" y="33"/>
                  </a:lnTo>
                  <a:lnTo>
                    <a:pt x="19" y="32"/>
                  </a:lnTo>
                  <a:lnTo>
                    <a:pt x="13" y="30"/>
                  </a:lnTo>
                  <a:lnTo>
                    <a:pt x="9" y="29"/>
                  </a:lnTo>
                  <a:lnTo>
                    <a:pt x="6" y="26"/>
                  </a:lnTo>
                  <a:lnTo>
                    <a:pt x="2" y="22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" name="Freeform 312"/>
            <p:cNvSpPr>
              <a:spLocks/>
            </p:cNvSpPr>
            <p:nvPr/>
          </p:nvSpPr>
          <p:spPr bwMode="auto">
            <a:xfrm>
              <a:off x="3968" y="1699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3 h 33"/>
                <a:gd name="T4" fmla="*/ 1 w 60"/>
                <a:gd name="T5" fmla="*/ 10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10 h 33"/>
                <a:gd name="T30" fmla="*/ 1 w 60"/>
                <a:gd name="T31" fmla="*/ 13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3 h 33"/>
                <a:gd name="T40" fmla="*/ 1 w 60"/>
                <a:gd name="T41" fmla="*/ 26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6 h 33"/>
                <a:gd name="T62" fmla="*/ 1 w 60"/>
                <a:gd name="T63" fmla="*/ 23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3"/>
                  </a:lnTo>
                  <a:lnTo>
                    <a:pt x="1" y="10"/>
                  </a:lnTo>
                  <a:lnTo>
                    <a:pt x="5" y="7"/>
                  </a:lnTo>
                  <a:lnTo>
                    <a:pt x="9" y="4"/>
                  </a:lnTo>
                  <a:lnTo>
                    <a:pt x="13" y="2"/>
                  </a:lnTo>
                  <a:lnTo>
                    <a:pt x="18" y="1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5" y="0"/>
                  </a:lnTo>
                  <a:lnTo>
                    <a:pt x="41" y="1"/>
                  </a:lnTo>
                  <a:lnTo>
                    <a:pt x="47" y="2"/>
                  </a:lnTo>
                  <a:lnTo>
                    <a:pt x="50" y="4"/>
                  </a:lnTo>
                  <a:lnTo>
                    <a:pt x="54" y="7"/>
                  </a:lnTo>
                  <a:lnTo>
                    <a:pt x="58" y="10"/>
                  </a:lnTo>
                  <a:lnTo>
                    <a:pt x="60" y="13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3"/>
                  </a:lnTo>
                  <a:lnTo>
                    <a:pt x="54" y="26"/>
                  </a:lnTo>
                  <a:lnTo>
                    <a:pt x="50" y="28"/>
                  </a:lnTo>
                  <a:lnTo>
                    <a:pt x="47" y="30"/>
                  </a:lnTo>
                  <a:lnTo>
                    <a:pt x="41" y="31"/>
                  </a:lnTo>
                  <a:lnTo>
                    <a:pt x="35" y="32"/>
                  </a:lnTo>
                  <a:lnTo>
                    <a:pt x="30" y="33"/>
                  </a:lnTo>
                  <a:lnTo>
                    <a:pt x="24" y="32"/>
                  </a:lnTo>
                  <a:lnTo>
                    <a:pt x="18" y="31"/>
                  </a:lnTo>
                  <a:lnTo>
                    <a:pt x="13" y="30"/>
                  </a:lnTo>
                  <a:lnTo>
                    <a:pt x="9" y="28"/>
                  </a:lnTo>
                  <a:lnTo>
                    <a:pt x="5" y="26"/>
                  </a:lnTo>
                  <a:lnTo>
                    <a:pt x="1" y="23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" name="Freeform 313"/>
            <p:cNvSpPr>
              <a:spLocks/>
            </p:cNvSpPr>
            <p:nvPr/>
          </p:nvSpPr>
          <p:spPr bwMode="auto">
            <a:xfrm>
              <a:off x="3600" y="2074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2 h 33"/>
                <a:gd name="T4" fmla="*/ 1 w 60"/>
                <a:gd name="T5" fmla="*/ 9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9 h 33"/>
                <a:gd name="T30" fmla="*/ 1 w 60"/>
                <a:gd name="T31" fmla="*/ 12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2 h 33"/>
                <a:gd name="T40" fmla="*/ 1 w 60"/>
                <a:gd name="T41" fmla="*/ 26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6 h 33"/>
                <a:gd name="T62" fmla="*/ 1 w 60"/>
                <a:gd name="T63" fmla="*/ 22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2"/>
                  </a:lnTo>
                  <a:lnTo>
                    <a:pt x="2" y="9"/>
                  </a:lnTo>
                  <a:lnTo>
                    <a:pt x="6" y="7"/>
                  </a:lnTo>
                  <a:lnTo>
                    <a:pt x="9" y="4"/>
                  </a:lnTo>
                  <a:lnTo>
                    <a:pt x="13" y="2"/>
                  </a:lnTo>
                  <a:lnTo>
                    <a:pt x="19" y="1"/>
                  </a:lnTo>
                  <a:lnTo>
                    <a:pt x="25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2" y="1"/>
                  </a:lnTo>
                  <a:lnTo>
                    <a:pt x="47" y="2"/>
                  </a:lnTo>
                  <a:lnTo>
                    <a:pt x="51" y="4"/>
                  </a:lnTo>
                  <a:lnTo>
                    <a:pt x="55" y="7"/>
                  </a:lnTo>
                  <a:lnTo>
                    <a:pt x="58" y="9"/>
                  </a:lnTo>
                  <a:lnTo>
                    <a:pt x="60" y="12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2"/>
                  </a:lnTo>
                  <a:lnTo>
                    <a:pt x="55" y="26"/>
                  </a:lnTo>
                  <a:lnTo>
                    <a:pt x="51" y="28"/>
                  </a:lnTo>
                  <a:lnTo>
                    <a:pt x="47" y="30"/>
                  </a:lnTo>
                  <a:lnTo>
                    <a:pt x="42" y="31"/>
                  </a:lnTo>
                  <a:lnTo>
                    <a:pt x="36" y="32"/>
                  </a:lnTo>
                  <a:lnTo>
                    <a:pt x="30" y="33"/>
                  </a:lnTo>
                  <a:lnTo>
                    <a:pt x="25" y="32"/>
                  </a:lnTo>
                  <a:lnTo>
                    <a:pt x="19" y="31"/>
                  </a:lnTo>
                  <a:lnTo>
                    <a:pt x="13" y="30"/>
                  </a:lnTo>
                  <a:lnTo>
                    <a:pt x="9" y="28"/>
                  </a:lnTo>
                  <a:lnTo>
                    <a:pt x="6" y="26"/>
                  </a:lnTo>
                  <a:lnTo>
                    <a:pt x="2" y="22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" name="Freeform 314"/>
            <p:cNvSpPr>
              <a:spLocks/>
            </p:cNvSpPr>
            <p:nvPr/>
          </p:nvSpPr>
          <p:spPr bwMode="auto">
            <a:xfrm>
              <a:off x="3749" y="2069"/>
              <a:ext cx="30" cy="34"/>
            </a:xfrm>
            <a:custGeom>
              <a:avLst/>
              <a:gdLst>
                <a:gd name="T0" fmla="*/ 0 w 60"/>
                <a:gd name="T1" fmla="*/ 17 h 34"/>
                <a:gd name="T2" fmla="*/ 1 w 60"/>
                <a:gd name="T3" fmla="*/ 14 h 34"/>
                <a:gd name="T4" fmla="*/ 1 w 60"/>
                <a:gd name="T5" fmla="*/ 11 h 34"/>
                <a:gd name="T6" fmla="*/ 1 w 60"/>
                <a:gd name="T7" fmla="*/ 8 h 34"/>
                <a:gd name="T8" fmla="*/ 1 w 60"/>
                <a:gd name="T9" fmla="*/ 6 h 34"/>
                <a:gd name="T10" fmla="*/ 1 w 60"/>
                <a:gd name="T11" fmla="*/ 4 h 34"/>
                <a:gd name="T12" fmla="*/ 1 w 60"/>
                <a:gd name="T13" fmla="*/ 2 h 34"/>
                <a:gd name="T14" fmla="*/ 1 w 60"/>
                <a:gd name="T15" fmla="*/ 0 h 34"/>
                <a:gd name="T16" fmla="*/ 1 w 60"/>
                <a:gd name="T17" fmla="*/ 0 h 34"/>
                <a:gd name="T18" fmla="*/ 1 w 60"/>
                <a:gd name="T19" fmla="*/ 0 h 34"/>
                <a:gd name="T20" fmla="*/ 1 w 60"/>
                <a:gd name="T21" fmla="*/ 2 h 34"/>
                <a:gd name="T22" fmla="*/ 1 w 60"/>
                <a:gd name="T23" fmla="*/ 4 h 34"/>
                <a:gd name="T24" fmla="*/ 1 w 60"/>
                <a:gd name="T25" fmla="*/ 6 h 34"/>
                <a:gd name="T26" fmla="*/ 1 w 60"/>
                <a:gd name="T27" fmla="*/ 8 h 34"/>
                <a:gd name="T28" fmla="*/ 1 w 60"/>
                <a:gd name="T29" fmla="*/ 11 h 34"/>
                <a:gd name="T30" fmla="*/ 1 w 60"/>
                <a:gd name="T31" fmla="*/ 14 h 34"/>
                <a:gd name="T32" fmla="*/ 1 w 60"/>
                <a:gd name="T33" fmla="*/ 17 h 34"/>
                <a:gd name="T34" fmla="*/ 1 w 60"/>
                <a:gd name="T35" fmla="*/ 17 h 34"/>
                <a:gd name="T36" fmla="*/ 1 w 60"/>
                <a:gd name="T37" fmla="*/ 20 h 34"/>
                <a:gd name="T38" fmla="*/ 1 w 60"/>
                <a:gd name="T39" fmla="*/ 23 h 34"/>
                <a:gd name="T40" fmla="*/ 1 w 60"/>
                <a:gd name="T41" fmla="*/ 26 h 34"/>
                <a:gd name="T42" fmla="*/ 1 w 60"/>
                <a:gd name="T43" fmla="*/ 28 h 34"/>
                <a:gd name="T44" fmla="*/ 1 w 60"/>
                <a:gd name="T45" fmla="*/ 31 h 34"/>
                <a:gd name="T46" fmla="*/ 1 w 60"/>
                <a:gd name="T47" fmla="*/ 33 h 34"/>
                <a:gd name="T48" fmla="*/ 1 w 60"/>
                <a:gd name="T49" fmla="*/ 34 h 34"/>
                <a:gd name="T50" fmla="*/ 1 w 60"/>
                <a:gd name="T51" fmla="*/ 34 h 34"/>
                <a:gd name="T52" fmla="*/ 1 w 60"/>
                <a:gd name="T53" fmla="*/ 34 h 34"/>
                <a:gd name="T54" fmla="*/ 1 w 60"/>
                <a:gd name="T55" fmla="*/ 33 h 34"/>
                <a:gd name="T56" fmla="*/ 1 w 60"/>
                <a:gd name="T57" fmla="*/ 31 h 34"/>
                <a:gd name="T58" fmla="*/ 1 w 60"/>
                <a:gd name="T59" fmla="*/ 28 h 34"/>
                <a:gd name="T60" fmla="*/ 1 w 60"/>
                <a:gd name="T61" fmla="*/ 26 h 34"/>
                <a:gd name="T62" fmla="*/ 1 w 60"/>
                <a:gd name="T63" fmla="*/ 23 h 34"/>
                <a:gd name="T64" fmla="*/ 1 w 60"/>
                <a:gd name="T65" fmla="*/ 20 h 34"/>
                <a:gd name="T66" fmla="*/ 0 w 60"/>
                <a:gd name="T67" fmla="*/ 17 h 3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4"/>
                <a:gd name="T104" fmla="*/ 60 w 60"/>
                <a:gd name="T105" fmla="*/ 34 h 3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4">
                  <a:moveTo>
                    <a:pt x="0" y="17"/>
                  </a:moveTo>
                  <a:lnTo>
                    <a:pt x="2" y="14"/>
                  </a:lnTo>
                  <a:lnTo>
                    <a:pt x="4" y="11"/>
                  </a:lnTo>
                  <a:lnTo>
                    <a:pt x="6" y="8"/>
                  </a:lnTo>
                  <a:lnTo>
                    <a:pt x="9" y="6"/>
                  </a:lnTo>
                  <a:lnTo>
                    <a:pt x="13" y="4"/>
                  </a:lnTo>
                  <a:lnTo>
                    <a:pt x="19" y="2"/>
                  </a:lnTo>
                  <a:lnTo>
                    <a:pt x="25" y="0"/>
                  </a:lnTo>
                  <a:lnTo>
                    <a:pt x="30" y="0"/>
                  </a:lnTo>
                  <a:lnTo>
                    <a:pt x="38" y="0"/>
                  </a:lnTo>
                  <a:lnTo>
                    <a:pt x="43" y="2"/>
                  </a:lnTo>
                  <a:lnTo>
                    <a:pt x="47" y="4"/>
                  </a:lnTo>
                  <a:lnTo>
                    <a:pt x="53" y="6"/>
                  </a:lnTo>
                  <a:lnTo>
                    <a:pt x="57" y="8"/>
                  </a:lnTo>
                  <a:lnTo>
                    <a:pt x="59" y="11"/>
                  </a:lnTo>
                  <a:lnTo>
                    <a:pt x="60" y="14"/>
                  </a:lnTo>
                  <a:lnTo>
                    <a:pt x="60" y="17"/>
                  </a:lnTo>
                  <a:lnTo>
                    <a:pt x="60" y="20"/>
                  </a:lnTo>
                  <a:lnTo>
                    <a:pt x="59" y="23"/>
                  </a:lnTo>
                  <a:lnTo>
                    <a:pt x="57" y="26"/>
                  </a:lnTo>
                  <a:lnTo>
                    <a:pt x="53" y="28"/>
                  </a:lnTo>
                  <a:lnTo>
                    <a:pt x="47" y="31"/>
                  </a:lnTo>
                  <a:lnTo>
                    <a:pt x="43" y="33"/>
                  </a:lnTo>
                  <a:lnTo>
                    <a:pt x="38" y="34"/>
                  </a:lnTo>
                  <a:lnTo>
                    <a:pt x="30" y="34"/>
                  </a:lnTo>
                  <a:lnTo>
                    <a:pt x="25" y="34"/>
                  </a:lnTo>
                  <a:lnTo>
                    <a:pt x="19" y="33"/>
                  </a:lnTo>
                  <a:lnTo>
                    <a:pt x="13" y="31"/>
                  </a:lnTo>
                  <a:lnTo>
                    <a:pt x="9" y="28"/>
                  </a:lnTo>
                  <a:lnTo>
                    <a:pt x="6" y="26"/>
                  </a:lnTo>
                  <a:lnTo>
                    <a:pt x="4" y="23"/>
                  </a:lnTo>
                  <a:lnTo>
                    <a:pt x="2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" name="Freeform 315"/>
            <p:cNvSpPr>
              <a:spLocks/>
            </p:cNvSpPr>
            <p:nvPr/>
          </p:nvSpPr>
          <p:spPr bwMode="auto">
            <a:xfrm>
              <a:off x="3968" y="2074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2 h 33"/>
                <a:gd name="T4" fmla="*/ 1 w 60"/>
                <a:gd name="T5" fmla="*/ 9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9 h 33"/>
                <a:gd name="T30" fmla="*/ 1 w 60"/>
                <a:gd name="T31" fmla="*/ 12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2 h 33"/>
                <a:gd name="T40" fmla="*/ 1 w 60"/>
                <a:gd name="T41" fmla="*/ 26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6 h 33"/>
                <a:gd name="T62" fmla="*/ 1 w 60"/>
                <a:gd name="T63" fmla="*/ 22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2"/>
                  </a:lnTo>
                  <a:lnTo>
                    <a:pt x="1" y="9"/>
                  </a:lnTo>
                  <a:lnTo>
                    <a:pt x="5" y="7"/>
                  </a:lnTo>
                  <a:lnTo>
                    <a:pt x="9" y="4"/>
                  </a:lnTo>
                  <a:lnTo>
                    <a:pt x="13" y="2"/>
                  </a:lnTo>
                  <a:lnTo>
                    <a:pt x="18" y="1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5" y="0"/>
                  </a:lnTo>
                  <a:lnTo>
                    <a:pt x="41" y="1"/>
                  </a:lnTo>
                  <a:lnTo>
                    <a:pt x="47" y="2"/>
                  </a:lnTo>
                  <a:lnTo>
                    <a:pt x="50" y="4"/>
                  </a:lnTo>
                  <a:lnTo>
                    <a:pt x="54" y="7"/>
                  </a:lnTo>
                  <a:lnTo>
                    <a:pt x="58" y="9"/>
                  </a:lnTo>
                  <a:lnTo>
                    <a:pt x="60" y="12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2"/>
                  </a:lnTo>
                  <a:lnTo>
                    <a:pt x="54" y="26"/>
                  </a:lnTo>
                  <a:lnTo>
                    <a:pt x="50" y="28"/>
                  </a:lnTo>
                  <a:lnTo>
                    <a:pt x="47" y="30"/>
                  </a:lnTo>
                  <a:lnTo>
                    <a:pt x="41" y="31"/>
                  </a:lnTo>
                  <a:lnTo>
                    <a:pt x="35" y="32"/>
                  </a:lnTo>
                  <a:lnTo>
                    <a:pt x="30" y="33"/>
                  </a:lnTo>
                  <a:lnTo>
                    <a:pt x="24" y="32"/>
                  </a:lnTo>
                  <a:lnTo>
                    <a:pt x="18" y="31"/>
                  </a:lnTo>
                  <a:lnTo>
                    <a:pt x="13" y="30"/>
                  </a:lnTo>
                  <a:lnTo>
                    <a:pt x="9" y="28"/>
                  </a:lnTo>
                  <a:lnTo>
                    <a:pt x="5" y="26"/>
                  </a:lnTo>
                  <a:lnTo>
                    <a:pt x="1" y="22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" name="Line 316"/>
            <p:cNvSpPr>
              <a:spLocks noChangeShapeType="1"/>
            </p:cNvSpPr>
            <p:nvPr/>
          </p:nvSpPr>
          <p:spPr bwMode="auto">
            <a:xfrm flipH="1" flipV="1">
              <a:off x="4364" y="1621"/>
              <a:ext cx="7" cy="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" name="Line 317"/>
            <p:cNvSpPr>
              <a:spLocks noChangeShapeType="1"/>
            </p:cNvSpPr>
            <p:nvPr/>
          </p:nvSpPr>
          <p:spPr bwMode="auto">
            <a:xfrm flipH="1" flipV="1">
              <a:off x="4706" y="1059"/>
              <a:ext cx="3" cy="6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" name="Line 318"/>
            <p:cNvSpPr>
              <a:spLocks noChangeShapeType="1"/>
            </p:cNvSpPr>
            <p:nvPr/>
          </p:nvSpPr>
          <p:spPr bwMode="auto">
            <a:xfrm>
              <a:off x="4706" y="1059"/>
              <a:ext cx="16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" name="Line 319"/>
            <p:cNvSpPr>
              <a:spLocks noChangeShapeType="1"/>
            </p:cNvSpPr>
            <p:nvPr/>
          </p:nvSpPr>
          <p:spPr bwMode="auto">
            <a:xfrm>
              <a:off x="5353" y="1286"/>
              <a:ext cx="1" cy="5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" name="Freeform 320"/>
            <p:cNvSpPr>
              <a:spLocks/>
            </p:cNvSpPr>
            <p:nvPr/>
          </p:nvSpPr>
          <p:spPr bwMode="auto">
            <a:xfrm>
              <a:off x="4364" y="1387"/>
              <a:ext cx="985" cy="1"/>
            </a:xfrm>
            <a:custGeom>
              <a:avLst/>
              <a:gdLst>
                <a:gd name="T0" fmla="*/ 0 w 1969"/>
                <a:gd name="T1" fmla="*/ 0 h 1"/>
                <a:gd name="T2" fmla="*/ 31 w 1969"/>
                <a:gd name="T3" fmla="*/ 0 h 1"/>
                <a:gd name="T4" fmla="*/ 31 w 1969"/>
                <a:gd name="T5" fmla="*/ 0 h 1"/>
                <a:gd name="T6" fmla="*/ 0 60000 65536"/>
                <a:gd name="T7" fmla="*/ 0 60000 65536"/>
                <a:gd name="T8" fmla="*/ 0 60000 65536"/>
                <a:gd name="T9" fmla="*/ 0 w 1969"/>
                <a:gd name="T10" fmla="*/ 0 h 1"/>
                <a:gd name="T11" fmla="*/ 1969 w 196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9" h="1">
                  <a:moveTo>
                    <a:pt x="0" y="0"/>
                  </a:moveTo>
                  <a:lnTo>
                    <a:pt x="1969" y="0"/>
                  </a:lnTo>
                  <a:lnTo>
                    <a:pt x="195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" name="Line 321"/>
            <p:cNvSpPr>
              <a:spLocks noChangeShapeType="1"/>
            </p:cNvSpPr>
            <p:nvPr/>
          </p:nvSpPr>
          <p:spPr bwMode="auto">
            <a:xfrm>
              <a:off x="5353" y="1341"/>
              <a:ext cx="1" cy="4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" name="Line 322"/>
            <p:cNvSpPr>
              <a:spLocks noChangeShapeType="1"/>
            </p:cNvSpPr>
            <p:nvPr/>
          </p:nvSpPr>
          <p:spPr bwMode="auto">
            <a:xfrm>
              <a:off x="5182" y="1341"/>
              <a:ext cx="1" cy="4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4" name="Freeform 323"/>
            <p:cNvSpPr>
              <a:spLocks/>
            </p:cNvSpPr>
            <p:nvPr/>
          </p:nvSpPr>
          <p:spPr bwMode="auto">
            <a:xfrm>
              <a:off x="5167" y="1371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3 h 33"/>
                <a:gd name="T4" fmla="*/ 1 w 60"/>
                <a:gd name="T5" fmla="*/ 10 h 33"/>
                <a:gd name="T6" fmla="*/ 1 w 60"/>
                <a:gd name="T7" fmla="*/ 7 h 33"/>
                <a:gd name="T8" fmla="*/ 1 w 60"/>
                <a:gd name="T9" fmla="*/ 5 h 33"/>
                <a:gd name="T10" fmla="*/ 1 w 60"/>
                <a:gd name="T11" fmla="*/ 3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3 h 33"/>
                <a:gd name="T24" fmla="*/ 1 w 60"/>
                <a:gd name="T25" fmla="*/ 5 h 33"/>
                <a:gd name="T26" fmla="*/ 1 w 60"/>
                <a:gd name="T27" fmla="*/ 7 h 33"/>
                <a:gd name="T28" fmla="*/ 1 w 60"/>
                <a:gd name="T29" fmla="*/ 10 h 33"/>
                <a:gd name="T30" fmla="*/ 1 w 60"/>
                <a:gd name="T31" fmla="*/ 13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2 h 33"/>
                <a:gd name="T40" fmla="*/ 1 w 60"/>
                <a:gd name="T41" fmla="*/ 25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2 h 33"/>
                <a:gd name="T48" fmla="*/ 1 w 60"/>
                <a:gd name="T49" fmla="*/ 33 h 33"/>
                <a:gd name="T50" fmla="*/ 1 w 60"/>
                <a:gd name="T51" fmla="*/ 33 h 33"/>
                <a:gd name="T52" fmla="*/ 1 w 60"/>
                <a:gd name="T53" fmla="*/ 33 h 33"/>
                <a:gd name="T54" fmla="*/ 1 w 60"/>
                <a:gd name="T55" fmla="*/ 32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5 h 33"/>
                <a:gd name="T62" fmla="*/ 1 w 60"/>
                <a:gd name="T63" fmla="*/ 22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3"/>
                  </a:lnTo>
                  <a:lnTo>
                    <a:pt x="2" y="10"/>
                  </a:lnTo>
                  <a:lnTo>
                    <a:pt x="4" y="7"/>
                  </a:lnTo>
                  <a:lnTo>
                    <a:pt x="7" y="5"/>
                  </a:lnTo>
                  <a:lnTo>
                    <a:pt x="13" y="3"/>
                  </a:lnTo>
                  <a:lnTo>
                    <a:pt x="17" y="1"/>
                  </a:lnTo>
                  <a:lnTo>
                    <a:pt x="22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5" y="3"/>
                  </a:lnTo>
                  <a:lnTo>
                    <a:pt x="51" y="5"/>
                  </a:lnTo>
                  <a:lnTo>
                    <a:pt x="55" y="7"/>
                  </a:lnTo>
                  <a:lnTo>
                    <a:pt x="56" y="10"/>
                  </a:lnTo>
                  <a:lnTo>
                    <a:pt x="58" y="13"/>
                  </a:lnTo>
                  <a:lnTo>
                    <a:pt x="60" y="16"/>
                  </a:lnTo>
                  <a:lnTo>
                    <a:pt x="58" y="19"/>
                  </a:lnTo>
                  <a:lnTo>
                    <a:pt x="56" y="22"/>
                  </a:lnTo>
                  <a:lnTo>
                    <a:pt x="55" y="25"/>
                  </a:lnTo>
                  <a:lnTo>
                    <a:pt x="51" y="28"/>
                  </a:lnTo>
                  <a:lnTo>
                    <a:pt x="45" y="30"/>
                  </a:lnTo>
                  <a:lnTo>
                    <a:pt x="41" y="32"/>
                  </a:lnTo>
                  <a:lnTo>
                    <a:pt x="36" y="33"/>
                  </a:lnTo>
                  <a:lnTo>
                    <a:pt x="30" y="33"/>
                  </a:lnTo>
                  <a:lnTo>
                    <a:pt x="22" y="33"/>
                  </a:lnTo>
                  <a:lnTo>
                    <a:pt x="17" y="32"/>
                  </a:lnTo>
                  <a:lnTo>
                    <a:pt x="13" y="30"/>
                  </a:lnTo>
                  <a:lnTo>
                    <a:pt x="7" y="28"/>
                  </a:lnTo>
                  <a:lnTo>
                    <a:pt x="4" y="25"/>
                  </a:lnTo>
                  <a:lnTo>
                    <a:pt x="2" y="22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5" name="Line 324"/>
            <p:cNvSpPr>
              <a:spLocks noChangeShapeType="1"/>
            </p:cNvSpPr>
            <p:nvPr/>
          </p:nvSpPr>
          <p:spPr bwMode="auto">
            <a:xfrm>
              <a:off x="3379" y="1467"/>
              <a:ext cx="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" name="Line 325"/>
            <p:cNvSpPr>
              <a:spLocks noChangeShapeType="1"/>
            </p:cNvSpPr>
            <p:nvPr/>
          </p:nvSpPr>
          <p:spPr bwMode="auto">
            <a:xfrm>
              <a:off x="3379" y="1512"/>
              <a:ext cx="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" name="Freeform 326"/>
            <p:cNvSpPr>
              <a:spLocks/>
            </p:cNvSpPr>
            <p:nvPr/>
          </p:nvSpPr>
          <p:spPr bwMode="auto">
            <a:xfrm>
              <a:off x="4691" y="1042"/>
              <a:ext cx="30" cy="33"/>
            </a:xfrm>
            <a:custGeom>
              <a:avLst/>
              <a:gdLst>
                <a:gd name="T0" fmla="*/ 0 w 61"/>
                <a:gd name="T1" fmla="*/ 17 h 33"/>
                <a:gd name="T2" fmla="*/ 0 w 61"/>
                <a:gd name="T3" fmla="*/ 14 h 33"/>
                <a:gd name="T4" fmla="*/ 0 w 61"/>
                <a:gd name="T5" fmla="*/ 11 h 33"/>
                <a:gd name="T6" fmla="*/ 0 w 61"/>
                <a:gd name="T7" fmla="*/ 8 h 33"/>
                <a:gd name="T8" fmla="*/ 0 w 61"/>
                <a:gd name="T9" fmla="*/ 5 h 33"/>
                <a:gd name="T10" fmla="*/ 0 w 61"/>
                <a:gd name="T11" fmla="*/ 3 h 33"/>
                <a:gd name="T12" fmla="*/ 0 w 61"/>
                <a:gd name="T13" fmla="*/ 1 h 33"/>
                <a:gd name="T14" fmla="*/ 0 w 61"/>
                <a:gd name="T15" fmla="*/ 0 h 33"/>
                <a:gd name="T16" fmla="*/ 0 w 61"/>
                <a:gd name="T17" fmla="*/ 0 h 33"/>
                <a:gd name="T18" fmla="*/ 0 w 61"/>
                <a:gd name="T19" fmla="*/ 0 h 33"/>
                <a:gd name="T20" fmla="*/ 0 w 61"/>
                <a:gd name="T21" fmla="*/ 1 h 33"/>
                <a:gd name="T22" fmla="*/ 0 w 61"/>
                <a:gd name="T23" fmla="*/ 3 h 33"/>
                <a:gd name="T24" fmla="*/ 0 w 61"/>
                <a:gd name="T25" fmla="*/ 5 h 33"/>
                <a:gd name="T26" fmla="*/ 0 w 61"/>
                <a:gd name="T27" fmla="*/ 8 h 33"/>
                <a:gd name="T28" fmla="*/ 0 w 61"/>
                <a:gd name="T29" fmla="*/ 11 h 33"/>
                <a:gd name="T30" fmla="*/ 0 w 61"/>
                <a:gd name="T31" fmla="*/ 14 h 33"/>
                <a:gd name="T32" fmla="*/ 0 w 61"/>
                <a:gd name="T33" fmla="*/ 17 h 33"/>
                <a:gd name="T34" fmla="*/ 0 w 61"/>
                <a:gd name="T35" fmla="*/ 17 h 33"/>
                <a:gd name="T36" fmla="*/ 0 w 61"/>
                <a:gd name="T37" fmla="*/ 20 h 33"/>
                <a:gd name="T38" fmla="*/ 0 w 61"/>
                <a:gd name="T39" fmla="*/ 23 h 33"/>
                <a:gd name="T40" fmla="*/ 0 w 61"/>
                <a:gd name="T41" fmla="*/ 26 h 33"/>
                <a:gd name="T42" fmla="*/ 0 w 61"/>
                <a:gd name="T43" fmla="*/ 28 h 33"/>
                <a:gd name="T44" fmla="*/ 0 w 61"/>
                <a:gd name="T45" fmla="*/ 30 h 33"/>
                <a:gd name="T46" fmla="*/ 0 w 61"/>
                <a:gd name="T47" fmla="*/ 32 h 33"/>
                <a:gd name="T48" fmla="*/ 0 w 61"/>
                <a:gd name="T49" fmla="*/ 33 h 33"/>
                <a:gd name="T50" fmla="*/ 0 w 61"/>
                <a:gd name="T51" fmla="*/ 33 h 33"/>
                <a:gd name="T52" fmla="*/ 0 w 61"/>
                <a:gd name="T53" fmla="*/ 33 h 33"/>
                <a:gd name="T54" fmla="*/ 0 w 61"/>
                <a:gd name="T55" fmla="*/ 32 h 33"/>
                <a:gd name="T56" fmla="*/ 0 w 61"/>
                <a:gd name="T57" fmla="*/ 30 h 33"/>
                <a:gd name="T58" fmla="*/ 0 w 61"/>
                <a:gd name="T59" fmla="*/ 28 h 33"/>
                <a:gd name="T60" fmla="*/ 0 w 61"/>
                <a:gd name="T61" fmla="*/ 26 h 33"/>
                <a:gd name="T62" fmla="*/ 0 w 61"/>
                <a:gd name="T63" fmla="*/ 23 h 33"/>
                <a:gd name="T64" fmla="*/ 0 w 61"/>
                <a:gd name="T65" fmla="*/ 20 h 33"/>
                <a:gd name="T66" fmla="*/ 0 w 61"/>
                <a:gd name="T67" fmla="*/ 17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1"/>
                <a:gd name="T103" fmla="*/ 0 h 33"/>
                <a:gd name="T104" fmla="*/ 61 w 61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1" h="33">
                  <a:moveTo>
                    <a:pt x="0" y="17"/>
                  </a:moveTo>
                  <a:lnTo>
                    <a:pt x="2" y="14"/>
                  </a:lnTo>
                  <a:lnTo>
                    <a:pt x="4" y="11"/>
                  </a:lnTo>
                  <a:lnTo>
                    <a:pt x="6" y="8"/>
                  </a:lnTo>
                  <a:lnTo>
                    <a:pt x="10" y="5"/>
                  </a:lnTo>
                  <a:lnTo>
                    <a:pt x="14" y="3"/>
                  </a:lnTo>
                  <a:lnTo>
                    <a:pt x="19" y="1"/>
                  </a:lnTo>
                  <a:lnTo>
                    <a:pt x="25" y="0"/>
                  </a:lnTo>
                  <a:lnTo>
                    <a:pt x="31" y="0"/>
                  </a:lnTo>
                  <a:lnTo>
                    <a:pt x="38" y="0"/>
                  </a:lnTo>
                  <a:lnTo>
                    <a:pt x="44" y="1"/>
                  </a:lnTo>
                  <a:lnTo>
                    <a:pt x="48" y="3"/>
                  </a:lnTo>
                  <a:lnTo>
                    <a:pt x="53" y="5"/>
                  </a:lnTo>
                  <a:lnTo>
                    <a:pt x="57" y="8"/>
                  </a:lnTo>
                  <a:lnTo>
                    <a:pt x="59" y="11"/>
                  </a:lnTo>
                  <a:lnTo>
                    <a:pt x="61" y="14"/>
                  </a:lnTo>
                  <a:lnTo>
                    <a:pt x="61" y="17"/>
                  </a:lnTo>
                  <a:lnTo>
                    <a:pt x="61" y="20"/>
                  </a:lnTo>
                  <a:lnTo>
                    <a:pt x="59" y="23"/>
                  </a:lnTo>
                  <a:lnTo>
                    <a:pt x="57" y="26"/>
                  </a:lnTo>
                  <a:lnTo>
                    <a:pt x="53" y="28"/>
                  </a:lnTo>
                  <a:lnTo>
                    <a:pt x="48" y="30"/>
                  </a:lnTo>
                  <a:lnTo>
                    <a:pt x="44" y="32"/>
                  </a:lnTo>
                  <a:lnTo>
                    <a:pt x="38" y="33"/>
                  </a:lnTo>
                  <a:lnTo>
                    <a:pt x="31" y="33"/>
                  </a:lnTo>
                  <a:lnTo>
                    <a:pt x="25" y="33"/>
                  </a:lnTo>
                  <a:lnTo>
                    <a:pt x="19" y="32"/>
                  </a:lnTo>
                  <a:lnTo>
                    <a:pt x="14" y="30"/>
                  </a:lnTo>
                  <a:lnTo>
                    <a:pt x="10" y="28"/>
                  </a:lnTo>
                  <a:lnTo>
                    <a:pt x="6" y="26"/>
                  </a:lnTo>
                  <a:lnTo>
                    <a:pt x="4" y="23"/>
                  </a:lnTo>
                  <a:lnTo>
                    <a:pt x="2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" name="Rectangle 327"/>
            <p:cNvSpPr>
              <a:spLocks noChangeArrowheads="1"/>
            </p:cNvSpPr>
            <p:nvPr/>
          </p:nvSpPr>
          <p:spPr bwMode="auto">
            <a:xfrm>
              <a:off x="3432" y="1716"/>
              <a:ext cx="148" cy="21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29" name="Freeform 328"/>
            <p:cNvSpPr>
              <a:spLocks/>
            </p:cNvSpPr>
            <p:nvPr/>
          </p:nvSpPr>
          <p:spPr bwMode="auto">
            <a:xfrm>
              <a:off x="4968" y="973"/>
              <a:ext cx="53" cy="16"/>
            </a:xfrm>
            <a:custGeom>
              <a:avLst/>
              <a:gdLst>
                <a:gd name="T0" fmla="*/ 2 w 106"/>
                <a:gd name="T1" fmla="*/ 8 h 16"/>
                <a:gd name="T2" fmla="*/ 0 w 106"/>
                <a:gd name="T3" fmla="*/ 0 h 16"/>
                <a:gd name="T4" fmla="*/ 0 w 106"/>
                <a:gd name="T5" fmla="*/ 16 h 16"/>
                <a:gd name="T6" fmla="*/ 2 w 106"/>
                <a:gd name="T7" fmla="*/ 8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"/>
                <a:gd name="T13" fmla="*/ 0 h 16"/>
                <a:gd name="T14" fmla="*/ 106 w 106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" h="16">
                  <a:moveTo>
                    <a:pt x="106" y="8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106" y="8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0" name="Freeform 329"/>
            <p:cNvSpPr>
              <a:spLocks/>
            </p:cNvSpPr>
            <p:nvPr/>
          </p:nvSpPr>
          <p:spPr bwMode="auto">
            <a:xfrm>
              <a:off x="4968" y="973"/>
              <a:ext cx="53" cy="16"/>
            </a:xfrm>
            <a:custGeom>
              <a:avLst/>
              <a:gdLst>
                <a:gd name="T0" fmla="*/ 2 w 106"/>
                <a:gd name="T1" fmla="*/ 8 h 16"/>
                <a:gd name="T2" fmla="*/ 0 w 106"/>
                <a:gd name="T3" fmla="*/ 0 h 16"/>
                <a:gd name="T4" fmla="*/ 0 w 106"/>
                <a:gd name="T5" fmla="*/ 16 h 16"/>
                <a:gd name="T6" fmla="*/ 2 w 106"/>
                <a:gd name="T7" fmla="*/ 8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"/>
                <a:gd name="T13" fmla="*/ 0 h 16"/>
                <a:gd name="T14" fmla="*/ 106 w 106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" h="16">
                  <a:moveTo>
                    <a:pt x="106" y="8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106" y="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1" name="Line 330"/>
            <p:cNvSpPr>
              <a:spLocks noChangeShapeType="1"/>
            </p:cNvSpPr>
            <p:nvPr/>
          </p:nvSpPr>
          <p:spPr bwMode="auto">
            <a:xfrm flipH="1">
              <a:off x="4899" y="981"/>
              <a:ext cx="6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2" name="Freeform 331"/>
            <p:cNvSpPr>
              <a:spLocks/>
            </p:cNvSpPr>
            <p:nvPr/>
          </p:nvSpPr>
          <p:spPr bwMode="auto">
            <a:xfrm>
              <a:off x="5266" y="989"/>
              <a:ext cx="54" cy="17"/>
            </a:xfrm>
            <a:custGeom>
              <a:avLst/>
              <a:gdLst>
                <a:gd name="T0" fmla="*/ 2 w 107"/>
                <a:gd name="T1" fmla="*/ 9 h 17"/>
                <a:gd name="T2" fmla="*/ 0 w 107"/>
                <a:gd name="T3" fmla="*/ 0 h 17"/>
                <a:gd name="T4" fmla="*/ 0 w 107"/>
                <a:gd name="T5" fmla="*/ 17 h 17"/>
                <a:gd name="T6" fmla="*/ 2 w 107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7"/>
                <a:gd name="T13" fmla="*/ 0 h 17"/>
                <a:gd name="T14" fmla="*/ 107 w 107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7" h="17">
                  <a:moveTo>
                    <a:pt x="107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7" y="9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" name="Freeform 332"/>
            <p:cNvSpPr>
              <a:spLocks/>
            </p:cNvSpPr>
            <p:nvPr/>
          </p:nvSpPr>
          <p:spPr bwMode="auto">
            <a:xfrm>
              <a:off x="5266" y="989"/>
              <a:ext cx="54" cy="17"/>
            </a:xfrm>
            <a:custGeom>
              <a:avLst/>
              <a:gdLst>
                <a:gd name="T0" fmla="*/ 2 w 107"/>
                <a:gd name="T1" fmla="*/ 9 h 17"/>
                <a:gd name="T2" fmla="*/ 0 w 107"/>
                <a:gd name="T3" fmla="*/ 0 h 17"/>
                <a:gd name="T4" fmla="*/ 0 w 107"/>
                <a:gd name="T5" fmla="*/ 17 h 17"/>
                <a:gd name="T6" fmla="*/ 2 w 107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7"/>
                <a:gd name="T13" fmla="*/ 0 h 17"/>
                <a:gd name="T14" fmla="*/ 107 w 107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7" h="17">
                  <a:moveTo>
                    <a:pt x="107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7" y="9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" name="Line 333"/>
            <p:cNvSpPr>
              <a:spLocks noChangeShapeType="1"/>
            </p:cNvSpPr>
            <p:nvPr/>
          </p:nvSpPr>
          <p:spPr bwMode="auto">
            <a:xfrm flipH="1">
              <a:off x="5198" y="998"/>
              <a:ext cx="6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" name="Rectangle 334"/>
            <p:cNvSpPr>
              <a:spLocks noChangeArrowheads="1"/>
            </p:cNvSpPr>
            <p:nvPr/>
          </p:nvSpPr>
          <p:spPr bwMode="auto">
            <a:xfrm>
              <a:off x="4959" y="896"/>
              <a:ext cx="40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 i="1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  <a:endParaRPr lang="en-US" altLang="zh-CN"/>
            </a:p>
          </p:txBody>
        </p:sp>
        <p:sp>
          <p:nvSpPr>
            <p:cNvPr id="336" name="Rectangle 335"/>
            <p:cNvSpPr>
              <a:spLocks noChangeArrowheads="1"/>
            </p:cNvSpPr>
            <p:nvPr/>
          </p:nvSpPr>
          <p:spPr bwMode="auto">
            <a:xfrm>
              <a:off x="5237" y="876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宋体" pitchFamily="2" charset="-122"/>
                </a:rPr>
                <a:t>I</a:t>
              </a:r>
              <a:endParaRPr lang="en-US" altLang="zh-CN"/>
            </a:p>
          </p:txBody>
        </p:sp>
        <p:sp>
          <p:nvSpPr>
            <p:cNvPr id="337" name="Rectangle 336"/>
            <p:cNvSpPr>
              <a:spLocks noChangeArrowheads="1"/>
            </p:cNvSpPr>
            <p:nvPr/>
          </p:nvSpPr>
          <p:spPr bwMode="auto">
            <a:xfrm>
              <a:off x="5278" y="915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宋体" pitchFamily="2" charset="-122"/>
                </a:rPr>
                <a:t>o</a:t>
              </a:r>
              <a:endParaRPr lang="en-US" altLang="zh-CN"/>
            </a:p>
          </p:txBody>
        </p:sp>
        <p:sp>
          <p:nvSpPr>
            <p:cNvPr id="338" name="Freeform 337"/>
            <p:cNvSpPr>
              <a:spLocks/>
            </p:cNvSpPr>
            <p:nvPr/>
          </p:nvSpPr>
          <p:spPr bwMode="auto">
            <a:xfrm>
              <a:off x="3723" y="1854"/>
              <a:ext cx="84" cy="93"/>
            </a:xfrm>
            <a:custGeom>
              <a:avLst/>
              <a:gdLst>
                <a:gd name="T0" fmla="*/ 0 w 168"/>
                <a:gd name="T1" fmla="*/ 93 h 93"/>
                <a:gd name="T2" fmla="*/ 2 w 168"/>
                <a:gd name="T3" fmla="*/ 0 h 93"/>
                <a:gd name="T4" fmla="*/ 3 w 168"/>
                <a:gd name="T5" fmla="*/ 93 h 93"/>
                <a:gd name="T6" fmla="*/ 0 w 168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3"/>
                <a:gd name="T14" fmla="*/ 168 w 16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3">
                  <a:moveTo>
                    <a:pt x="0" y="93"/>
                  </a:moveTo>
                  <a:lnTo>
                    <a:pt x="83" y="0"/>
                  </a:lnTo>
                  <a:lnTo>
                    <a:pt x="168" y="93"/>
                  </a:lnTo>
                  <a:lnTo>
                    <a:pt x="0" y="9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" name="Line 338"/>
            <p:cNvSpPr>
              <a:spLocks noChangeShapeType="1"/>
            </p:cNvSpPr>
            <p:nvPr/>
          </p:nvSpPr>
          <p:spPr bwMode="auto">
            <a:xfrm flipH="1">
              <a:off x="3723" y="1854"/>
              <a:ext cx="8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" name="Freeform 339"/>
            <p:cNvSpPr>
              <a:spLocks/>
            </p:cNvSpPr>
            <p:nvPr/>
          </p:nvSpPr>
          <p:spPr bwMode="auto">
            <a:xfrm>
              <a:off x="3723" y="1854"/>
              <a:ext cx="84" cy="93"/>
            </a:xfrm>
            <a:custGeom>
              <a:avLst/>
              <a:gdLst>
                <a:gd name="T0" fmla="*/ 0 w 168"/>
                <a:gd name="T1" fmla="*/ 93 h 93"/>
                <a:gd name="T2" fmla="*/ 2 w 168"/>
                <a:gd name="T3" fmla="*/ 0 h 93"/>
                <a:gd name="T4" fmla="*/ 3 w 168"/>
                <a:gd name="T5" fmla="*/ 93 h 93"/>
                <a:gd name="T6" fmla="*/ 0 w 168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3"/>
                <a:gd name="T14" fmla="*/ 168 w 16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3">
                  <a:moveTo>
                    <a:pt x="0" y="93"/>
                  </a:moveTo>
                  <a:lnTo>
                    <a:pt x="83" y="0"/>
                  </a:lnTo>
                  <a:lnTo>
                    <a:pt x="168" y="93"/>
                  </a:lnTo>
                  <a:lnTo>
                    <a:pt x="0" y="9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" name="Line 340"/>
            <p:cNvSpPr>
              <a:spLocks noChangeShapeType="1"/>
            </p:cNvSpPr>
            <p:nvPr/>
          </p:nvSpPr>
          <p:spPr bwMode="auto">
            <a:xfrm flipV="1">
              <a:off x="3764" y="1715"/>
              <a:ext cx="1" cy="37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" name="Freeform 341"/>
            <p:cNvSpPr>
              <a:spLocks/>
            </p:cNvSpPr>
            <p:nvPr/>
          </p:nvSpPr>
          <p:spPr bwMode="auto">
            <a:xfrm>
              <a:off x="3723" y="1854"/>
              <a:ext cx="84" cy="93"/>
            </a:xfrm>
            <a:custGeom>
              <a:avLst/>
              <a:gdLst>
                <a:gd name="T0" fmla="*/ 2 w 168"/>
                <a:gd name="T1" fmla="*/ 0 h 93"/>
                <a:gd name="T2" fmla="*/ 0 w 168"/>
                <a:gd name="T3" fmla="*/ 93 h 93"/>
                <a:gd name="T4" fmla="*/ 3 w 168"/>
                <a:gd name="T5" fmla="*/ 93 h 93"/>
                <a:gd name="T6" fmla="*/ 2 w 16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3"/>
                <a:gd name="T14" fmla="*/ 168 w 16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3">
                  <a:moveTo>
                    <a:pt x="83" y="0"/>
                  </a:moveTo>
                  <a:lnTo>
                    <a:pt x="0" y="93"/>
                  </a:lnTo>
                  <a:lnTo>
                    <a:pt x="168" y="93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" name="Freeform 342"/>
            <p:cNvSpPr>
              <a:spLocks/>
            </p:cNvSpPr>
            <p:nvPr/>
          </p:nvSpPr>
          <p:spPr bwMode="auto">
            <a:xfrm>
              <a:off x="3723" y="1854"/>
              <a:ext cx="84" cy="93"/>
            </a:xfrm>
            <a:custGeom>
              <a:avLst/>
              <a:gdLst>
                <a:gd name="T0" fmla="*/ 2 w 168"/>
                <a:gd name="T1" fmla="*/ 0 h 93"/>
                <a:gd name="T2" fmla="*/ 0 w 168"/>
                <a:gd name="T3" fmla="*/ 93 h 93"/>
                <a:gd name="T4" fmla="*/ 3 w 168"/>
                <a:gd name="T5" fmla="*/ 93 h 93"/>
                <a:gd name="T6" fmla="*/ 2 w 16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3"/>
                <a:gd name="T14" fmla="*/ 168 w 16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3">
                  <a:moveTo>
                    <a:pt x="83" y="0"/>
                  </a:moveTo>
                  <a:lnTo>
                    <a:pt x="0" y="93"/>
                  </a:lnTo>
                  <a:lnTo>
                    <a:pt x="168" y="93"/>
                  </a:lnTo>
                  <a:lnTo>
                    <a:pt x="83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4" name="Line 343"/>
            <p:cNvSpPr>
              <a:spLocks noChangeShapeType="1"/>
            </p:cNvSpPr>
            <p:nvPr/>
          </p:nvSpPr>
          <p:spPr bwMode="auto">
            <a:xfrm flipV="1">
              <a:off x="3764" y="1854"/>
              <a:ext cx="1" cy="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" name="Line 344"/>
            <p:cNvSpPr>
              <a:spLocks noChangeShapeType="1"/>
            </p:cNvSpPr>
            <p:nvPr/>
          </p:nvSpPr>
          <p:spPr bwMode="auto">
            <a:xfrm flipH="1">
              <a:off x="3723" y="1854"/>
              <a:ext cx="8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6" name="Freeform 345"/>
            <p:cNvSpPr>
              <a:spLocks/>
            </p:cNvSpPr>
            <p:nvPr/>
          </p:nvSpPr>
          <p:spPr bwMode="auto">
            <a:xfrm>
              <a:off x="4112" y="1855"/>
              <a:ext cx="85" cy="92"/>
            </a:xfrm>
            <a:custGeom>
              <a:avLst/>
              <a:gdLst>
                <a:gd name="T0" fmla="*/ 0 w 170"/>
                <a:gd name="T1" fmla="*/ 92 h 92"/>
                <a:gd name="T2" fmla="*/ 2 w 170"/>
                <a:gd name="T3" fmla="*/ 0 h 92"/>
                <a:gd name="T4" fmla="*/ 3 w 170"/>
                <a:gd name="T5" fmla="*/ 92 h 92"/>
                <a:gd name="T6" fmla="*/ 0 w 170"/>
                <a:gd name="T7" fmla="*/ 92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92"/>
                <a:gd name="T14" fmla="*/ 170 w 170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92">
                  <a:moveTo>
                    <a:pt x="0" y="92"/>
                  </a:moveTo>
                  <a:lnTo>
                    <a:pt x="85" y="0"/>
                  </a:lnTo>
                  <a:lnTo>
                    <a:pt x="170" y="92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7" name="Line 346"/>
            <p:cNvSpPr>
              <a:spLocks noChangeShapeType="1"/>
            </p:cNvSpPr>
            <p:nvPr/>
          </p:nvSpPr>
          <p:spPr bwMode="auto">
            <a:xfrm flipH="1">
              <a:off x="4112" y="1855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" name="Freeform 347"/>
            <p:cNvSpPr>
              <a:spLocks/>
            </p:cNvSpPr>
            <p:nvPr/>
          </p:nvSpPr>
          <p:spPr bwMode="auto">
            <a:xfrm>
              <a:off x="4112" y="1855"/>
              <a:ext cx="85" cy="92"/>
            </a:xfrm>
            <a:custGeom>
              <a:avLst/>
              <a:gdLst>
                <a:gd name="T0" fmla="*/ 0 w 170"/>
                <a:gd name="T1" fmla="*/ 92 h 92"/>
                <a:gd name="T2" fmla="*/ 2 w 170"/>
                <a:gd name="T3" fmla="*/ 0 h 92"/>
                <a:gd name="T4" fmla="*/ 3 w 170"/>
                <a:gd name="T5" fmla="*/ 92 h 92"/>
                <a:gd name="T6" fmla="*/ 0 w 170"/>
                <a:gd name="T7" fmla="*/ 92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92"/>
                <a:gd name="T14" fmla="*/ 170 w 170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92">
                  <a:moveTo>
                    <a:pt x="0" y="92"/>
                  </a:moveTo>
                  <a:lnTo>
                    <a:pt x="85" y="0"/>
                  </a:lnTo>
                  <a:lnTo>
                    <a:pt x="170" y="92"/>
                  </a:lnTo>
                  <a:lnTo>
                    <a:pt x="0" y="9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" name="Freeform 348"/>
            <p:cNvSpPr>
              <a:spLocks/>
            </p:cNvSpPr>
            <p:nvPr/>
          </p:nvSpPr>
          <p:spPr bwMode="auto">
            <a:xfrm>
              <a:off x="4112" y="1855"/>
              <a:ext cx="85" cy="92"/>
            </a:xfrm>
            <a:custGeom>
              <a:avLst/>
              <a:gdLst>
                <a:gd name="T0" fmla="*/ 2 w 170"/>
                <a:gd name="T1" fmla="*/ 0 h 92"/>
                <a:gd name="T2" fmla="*/ 0 w 170"/>
                <a:gd name="T3" fmla="*/ 92 h 92"/>
                <a:gd name="T4" fmla="*/ 3 w 170"/>
                <a:gd name="T5" fmla="*/ 92 h 92"/>
                <a:gd name="T6" fmla="*/ 2 w 170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92"/>
                <a:gd name="T14" fmla="*/ 170 w 170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92">
                  <a:moveTo>
                    <a:pt x="85" y="0"/>
                  </a:moveTo>
                  <a:lnTo>
                    <a:pt x="0" y="92"/>
                  </a:lnTo>
                  <a:lnTo>
                    <a:pt x="170" y="92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" name="Freeform 349"/>
            <p:cNvSpPr>
              <a:spLocks/>
            </p:cNvSpPr>
            <p:nvPr/>
          </p:nvSpPr>
          <p:spPr bwMode="auto">
            <a:xfrm>
              <a:off x="4112" y="1855"/>
              <a:ext cx="85" cy="92"/>
            </a:xfrm>
            <a:custGeom>
              <a:avLst/>
              <a:gdLst>
                <a:gd name="T0" fmla="*/ 2 w 170"/>
                <a:gd name="T1" fmla="*/ 0 h 92"/>
                <a:gd name="T2" fmla="*/ 0 w 170"/>
                <a:gd name="T3" fmla="*/ 92 h 92"/>
                <a:gd name="T4" fmla="*/ 3 w 170"/>
                <a:gd name="T5" fmla="*/ 92 h 92"/>
                <a:gd name="T6" fmla="*/ 2 w 170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92"/>
                <a:gd name="T14" fmla="*/ 170 w 170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92">
                  <a:moveTo>
                    <a:pt x="85" y="0"/>
                  </a:moveTo>
                  <a:lnTo>
                    <a:pt x="0" y="92"/>
                  </a:lnTo>
                  <a:lnTo>
                    <a:pt x="170" y="92"/>
                  </a:lnTo>
                  <a:lnTo>
                    <a:pt x="85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" name="Line 350"/>
            <p:cNvSpPr>
              <a:spLocks noChangeShapeType="1"/>
            </p:cNvSpPr>
            <p:nvPr/>
          </p:nvSpPr>
          <p:spPr bwMode="auto">
            <a:xfrm flipV="1">
              <a:off x="4154" y="1855"/>
              <a:ext cx="1" cy="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" name="Line 351"/>
            <p:cNvSpPr>
              <a:spLocks noChangeShapeType="1"/>
            </p:cNvSpPr>
            <p:nvPr/>
          </p:nvSpPr>
          <p:spPr bwMode="auto">
            <a:xfrm flipH="1">
              <a:off x="4112" y="1855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" name="Freeform 352"/>
            <p:cNvSpPr>
              <a:spLocks/>
            </p:cNvSpPr>
            <p:nvPr/>
          </p:nvSpPr>
          <p:spPr bwMode="auto">
            <a:xfrm>
              <a:off x="4497" y="1669"/>
              <a:ext cx="85" cy="93"/>
            </a:xfrm>
            <a:custGeom>
              <a:avLst/>
              <a:gdLst>
                <a:gd name="T0" fmla="*/ 0 w 169"/>
                <a:gd name="T1" fmla="*/ 0 h 93"/>
                <a:gd name="T2" fmla="*/ 3 w 169"/>
                <a:gd name="T3" fmla="*/ 46 h 93"/>
                <a:gd name="T4" fmla="*/ 0 w 169"/>
                <a:gd name="T5" fmla="*/ 93 h 93"/>
                <a:gd name="T6" fmla="*/ 0 w 169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93"/>
                <a:gd name="T14" fmla="*/ 169 w 16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93">
                  <a:moveTo>
                    <a:pt x="0" y="0"/>
                  </a:moveTo>
                  <a:lnTo>
                    <a:pt x="169" y="46"/>
                  </a:lnTo>
                  <a:lnTo>
                    <a:pt x="0" y="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4" name="Line 353"/>
            <p:cNvSpPr>
              <a:spLocks noChangeShapeType="1"/>
            </p:cNvSpPr>
            <p:nvPr/>
          </p:nvSpPr>
          <p:spPr bwMode="auto">
            <a:xfrm flipV="1">
              <a:off x="4582" y="1669"/>
              <a:ext cx="1" cy="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5" name="Freeform 354"/>
            <p:cNvSpPr>
              <a:spLocks/>
            </p:cNvSpPr>
            <p:nvPr/>
          </p:nvSpPr>
          <p:spPr bwMode="auto">
            <a:xfrm>
              <a:off x="4497" y="1669"/>
              <a:ext cx="85" cy="93"/>
            </a:xfrm>
            <a:custGeom>
              <a:avLst/>
              <a:gdLst>
                <a:gd name="T0" fmla="*/ 0 w 169"/>
                <a:gd name="T1" fmla="*/ 0 h 93"/>
                <a:gd name="T2" fmla="*/ 3 w 169"/>
                <a:gd name="T3" fmla="*/ 46 h 93"/>
                <a:gd name="T4" fmla="*/ 0 w 169"/>
                <a:gd name="T5" fmla="*/ 93 h 93"/>
                <a:gd name="T6" fmla="*/ 0 w 169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93"/>
                <a:gd name="T14" fmla="*/ 169 w 16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93">
                  <a:moveTo>
                    <a:pt x="0" y="0"/>
                  </a:moveTo>
                  <a:lnTo>
                    <a:pt x="169" y="46"/>
                  </a:lnTo>
                  <a:lnTo>
                    <a:pt x="0" y="93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6" name="Line 355"/>
            <p:cNvSpPr>
              <a:spLocks noChangeShapeType="1"/>
            </p:cNvSpPr>
            <p:nvPr/>
          </p:nvSpPr>
          <p:spPr bwMode="auto">
            <a:xfrm>
              <a:off x="4371" y="1715"/>
              <a:ext cx="33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7" name="Freeform 356"/>
            <p:cNvSpPr>
              <a:spLocks/>
            </p:cNvSpPr>
            <p:nvPr/>
          </p:nvSpPr>
          <p:spPr bwMode="auto">
            <a:xfrm>
              <a:off x="4497" y="1669"/>
              <a:ext cx="85" cy="93"/>
            </a:xfrm>
            <a:custGeom>
              <a:avLst/>
              <a:gdLst>
                <a:gd name="T0" fmla="*/ 3 w 169"/>
                <a:gd name="T1" fmla="*/ 46 h 93"/>
                <a:gd name="T2" fmla="*/ 0 w 169"/>
                <a:gd name="T3" fmla="*/ 0 h 93"/>
                <a:gd name="T4" fmla="*/ 0 w 169"/>
                <a:gd name="T5" fmla="*/ 93 h 93"/>
                <a:gd name="T6" fmla="*/ 3 w 169"/>
                <a:gd name="T7" fmla="*/ 46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93"/>
                <a:gd name="T14" fmla="*/ 169 w 16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93">
                  <a:moveTo>
                    <a:pt x="169" y="46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169" y="46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" name="Freeform 357"/>
            <p:cNvSpPr>
              <a:spLocks/>
            </p:cNvSpPr>
            <p:nvPr/>
          </p:nvSpPr>
          <p:spPr bwMode="auto">
            <a:xfrm>
              <a:off x="4497" y="1669"/>
              <a:ext cx="85" cy="93"/>
            </a:xfrm>
            <a:custGeom>
              <a:avLst/>
              <a:gdLst>
                <a:gd name="T0" fmla="*/ 3 w 169"/>
                <a:gd name="T1" fmla="*/ 46 h 93"/>
                <a:gd name="T2" fmla="*/ 0 w 169"/>
                <a:gd name="T3" fmla="*/ 0 h 93"/>
                <a:gd name="T4" fmla="*/ 0 w 169"/>
                <a:gd name="T5" fmla="*/ 93 h 93"/>
                <a:gd name="T6" fmla="*/ 3 w 169"/>
                <a:gd name="T7" fmla="*/ 46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93"/>
                <a:gd name="T14" fmla="*/ 169 w 16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93">
                  <a:moveTo>
                    <a:pt x="169" y="46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169" y="46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" name="Line 358"/>
            <p:cNvSpPr>
              <a:spLocks noChangeShapeType="1"/>
            </p:cNvSpPr>
            <p:nvPr/>
          </p:nvSpPr>
          <p:spPr bwMode="auto">
            <a:xfrm>
              <a:off x="4497" y="1715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0" name="Line 359"/>
            <p:cNvSpPr>
              <a:spLocks noChangeShapeType="1"/>
            </p:cNvSpPr>
            <p:nvPr/>
          </p:nvSpPr>
          <p:spPr bwMode="auto">
            <a:xfrm flipV="1">
              <a:off x="4582" y="1669"/>
              <a:ext cx="1" cy="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" name="Freeform 360"/>
            <p:cNvSpPr>
              <a:spLocks/>
            </p:cNvSpPr>
            <p:nvPr/>
          </p:nvSpPr>
          <p:spPr bwMode="auto">
            <a:xfrm>
              <a:off x="4493" y="1012"/>
              <a:ext cx="84" cy="92"/>
            </a:xfrm>
            <a:custGeom>
              <a:avLst/>
              <a:gdLst>
                <a:gd name="T0" fmla="*/ 0 w 168"/>
                <a:gd name="T1" fmla="*/ 0 h 92"/>
                <a:gd name="T2" fmla="*/ 3 w 168"/>
                <a:gd name="T3" fmla="*/ 46 h 92"/>
                <a:gd name="T4" fmla="*/ 0 w 168"/>
                <a:gd name="T5" fmla="*/ 92 h 92"/>
                <a:gd name="T6" fmla="*/ 0 w 16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2"/>
                <a:gd name="T14" fmla="*/ 168 w 16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2">
                  <a:moveTo>
                    <a:pt x="0" y="0"/>
                  </a:moveTo>
                  <a:lnTo>
                    <a:pt x="168" y="46"/>
                  </a:lnTo>
                  <a:lnTo>
                    <a:pt x="0" y="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2" name="Line 361"/>
            <p:cNvSpPr>
              <a:spLocks noChangeShapeType="1"/>
            </p:cNvSpPr>
            <p:nvPr/>
          </p:nvSpPr>
          <p:spPr bwMode="auto">
            <a:xfrm flipV="1">
              <a:off x="4577" y="1012"/>
              <a:ext cx="1" cy="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3" name="Freeform 362"/>
            <p:cNvSpPr>
              <a:spLocks/>
            </p:cNvSpPr>
            <p:nvPr/>
          </p:nvSpPr>
          <p:spPr bwMode="auto">
            <a:xfrm>
              <a:off x="4493" y="1012"/>
              <a:ext cx="84" cy="92"/>
            </a:xfrm>
            <a:custGeom>
              <a:avLst/>
              <a:gdLst>
                <a:gd name="T0" fmla="*/ 0 w 168"/>
                <a:gd name="T1" fmla="*/ 0 h 92"/>
                <a:gd name="T2" fmla="*/ 3 w 168"/>
                <a:gd name="T3" fmla="*/ 46 h 92"/>
                <a:gd name="T4" fmla="*/ 0 w 168"/>
                <a:gd name="T5" fmla="*/ 92 h 92"/>
                <a:gd name="T6" fmla="*/ 0 w 16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2"/>
                <a:gd name="T14" fmla="*/ 168 w 16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2">
                  <a:moveTo>
                    <a:pt x="0" y="0"/>
                  </a:moveTo>
                  <a:lnTo>
                    <a:pt x="168" y="46"/>
                  </a:lnTo>
                  <a:lnTo>
                    <a:pt x="0" y="9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" name="Line 363"/>
            <p:cNvSpPr>
              <a:spLocks noChangeShapeType="1"/>
            </p:cNvSpPr>
            <p:nvPr/>
          </p:nvSpPr>
          <p:spPr bwMode="auto">
            <a:xfrm>
              <a:off x="4365" y="1058"/>
              <a:ext cx="33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5" name="Freeform 364"/>
            <p:cNvSpPr>
              <a:spLocks/>
            </p:cNvSpPr>
            <p:nvPr/>
          </p:nvSpPr>
          <p:spPr bwMode="auto">
            <a:xfrm>
              <a:off x="4493" y="1012"/>
              <a:ext cx="84" cy="92"/>
            </a:xfrm>
            <a:custGeom>
              <a:avLst/>
              <a:gdLst>
                <a:gd name="T0" fmla="*/ 3 w 168"/>
                <a:gd name="T1" fmla="*/ 46 h 92"/>
                <a:gd name="T2" fmla="*/ 0 w 168"/>
                <a:gd name="T3" fmla="*/ 0 h 92"/>
                <a:gd name="T4" fmla="*/ 0 w 168"/>
                <a:gd name="T5" fmla="*/ 92 h 92"/>
                <a:gd name="T6" fmla="*/ 3 w 168"/>
                <a:gd name="T7" fmla="*/ 46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2"/>
                <a:gd name="T14" fmla="*/ 168 w 16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2">
                  <a:moveTo>
                    <a:pt x="168" y="46"/>
                  </a:moveTo>
                  <a:lnTo>
                    <a:pt x="0" y="0"/>
                  </a:lnTo>
                  <a:lnTo>
                    <a:pt x="0" y="92"/>
                  </a:lnTo>
                  <a:lnTo>
                    <a:pt x="168" y="46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" name="Freeform 365"/>
            <p:cNvSpPr>
              <a:spLocks/>
            </p:cNvSpPr>
            <p:nvPr/>
          </p:nvSpPr>
          <p:spPr bwMode="auto">
            <a:xfrm>
              <a:off x="4493" y="1012"/>
              <a:ext cx="84" cy="92"/>
            </a:xfrm>
            <a:custGeom>
              <a:avLst/>
              <a:gdLst>
                <a:gd name="T0" fmla="*/ 3 w 168"/>
                <a:gd name="T1" fmla="*/ 46 h 92"/>
                <a:gd name="T2" fmla="*/ 0 w 168"/>
                <a:gd name="T3" fmla="*/ 0 h 92"/>
                <a:gd name="T4" fmla="*/ 0 w 168"/>
                <a:gd name="T5" fmla="*/ 92 h 92"/>
                <a:gd name="T6" fmla="*/ 3 w 168"/>
                <a:gd name="T7" fmla="*/ 46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2"/>
                <a:gd name="T14" fmla="*/ 168 w 16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2">
                  <a:moveTo>
                    <a:pt x="168" y="46"/>
                  </a:moveTo>
                  <a:lnTo>
                    <a:pt x="0" y="0"/>
                  </a:lnTo>
                  <a:lnTo>
                    <a:pt x="0" y="92"/>
                  </a:lnTo>
                  <a:lnTo>
                    <a:pt x="168" y="46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7" name="Line 366"/>
            <p:cNvSpPr>
              <a:spLocks noChangeShapeType="1"/>
            </p:cNvSpPr>
            <p:nvPr/>
          </p:nvSpPr>
          <p:spPr bwMode="auto">
            <a:xfrm>
              <a:off x="4493" y="1058"/>
              <a:ext cx="8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" name="Line 367"/>
            <p:cNvSpPr>
              <a:spLocks noChangeShapeType="1"/>
            </p:cNvSpPr>
            <p:nvPr/>
          </p:nvSpPr>
          <p:spPr bwMode="auto">
            <a:xfrm flipV="1">
              <a:off x="4577" y="1012"/>
              <a:ext cx="1" cy="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" name="Rectangle 368"/>
            <p:cNvSpPr>
              <a:spLocks noChangeArrowheads="1"/>
            </p:cNvSpPr>
            <p:nvPr/>
          </p:nvSpPr>
          <p:spPr bwMode="auto">
            <a:xfrm>
              <a:off x="4738" y="1101"/>
              <a:ext cx="48" cy="11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宋体" pitchFamily="2" charset="-122"/>
                </a:rPr>
                <a:t>+</a:t>
              </a:r>
              <a:endParaRPr lang="en-US" altLang="zh-CN"/>
            </a:p>
          </p:txBody>
        </p:sp>
        <p:sp>
          <p:nvSpPr>
            <p:cNvPr id="370" name="Rectangle 369"/>
            <p:cNvSpPr>
              <a:spLocks noChangeArrowheads="1"/>
            </p:cNvSpPr>
            <p:nvPr/>
          </p:nvSpPr>
          <p:spPr bwMode="auto">
            <a:xfrm>
              <a:off x="4738" y="1277"/>
              <a:ext cx="48" cy="11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宋体" pitchFamily="2" charset="-122"/>
                </a:rPr>
                <a:t>-</a:t>
              </a:r>
              <a:endParaRPr lang="en-US" altLang="zh-CN"/>
            </a:p>
          </p:txBody>
        </p:sp>
        <p:sp>
          <p:nvSpPr>
            <p:cNvPr id="371" name="Rectangle 370"/>
            <p:cNvSpPr>
              <a:spLocks noChangeArrowheads="1"/>
            </p:cNvSpPr>
            <p:nvPr/>
          </p:nvSpPr>
          <p:spPr bwMode="auto">
            <a:xfrm>
              <a:off x="4777" y="1227"/>
              <a:ext cx="5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oi</a:t>
              </a:r>
              <a:endParaRPr lang="en-US" altLang="zh-CN"/>
            </a:p>
          </p:txBody>
        </p:sp>
        <p:sp>
          <p:nvSpPr>
            <p:cNvPr id="372" name="Rectangle 371"/>
            <p:cNvSpPr>
              <a:spLocks noChangeArrowheads="1"/>
            </p:cNvSpPr>
            <p:nvPr/>
          </p:nvSpPr>
          <p:spPr bwMode="auto">
            <a:xfrm>
              <a:off x="4735" y="1180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u</a:t>
              </a:r>
              <a:endParaRPr lang="en-US" altLang="zh-CN"/>
            </a:p>
          </p:txBody>
        </p:sp>
        <p:sp>
          <p:nvSpPr>
            <p:cNvPr id="373" name="Line 372"/>
            <p:cNvSpPr>
              <a:spLocks noChangeShapeType="1"/>
            </p:cNvSpPr>
            <p:nvPr/>
          </p:nvSpPr>
          <p:spPr bwMode="auto">
            <a:xfrm flipH="1">
              <a:off x="4060" y="1376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4" name="Line 373"/>
            <p:cNvSpPr>
              <a:spLocks noChangeShapeType="1"/>
            </p:cNvSpPr>
            <p:nvPr/>
          </p:nvSpPr>
          <p:spPr bwMode="auto">
            <a:xfrm flipV="1">
              <a:off x="4060" y="1058"/>
              <a:ext cx="0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" name="Line 374"/>
            <p:cNvSpPr>
              <a:spLocks noChangeShapeType="1"/>
            </p:cNvSpPr>
            <p:nvPr/>
          </p:nvSpPr>
          <p:spPr bwMode="auto">
            <a:xfrm flipH="1">
              <a:off x="3379" y="1058"/>
              <a:ext cx="6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6" name="Line 375"/>
            <p:cNvSpPr>
              <a:spLocks noChangeShapeType="1"/>
            </p:cNvSpPr>
            <p:nvPr/>
          </p:nvSpPr>
          <p:spPr bwMode="auto">
            <a:xfrm flipV="1">
              <a:off x="3424" y="1058"/>
              <a:ext cx="0" cy="4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7" name="Line 376"/>
            <p:cNvSpPr>
              <a:spLocks noChangeShapeType="1"/>
            </p:cNvSpPr>
            <p:nvPr/>
          </p:nvSpPr>
          <p:spPr bwMode="auto">
            <a:xfrm flipV="1">
              <a:off x="3424" y="1512"/>
              <a:ext cx="0" cy="5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" name="Rectangle 377"/>
            <p:cNvSpPr>
              <a:spLocks noChangeArrowheads="1"/>
            </p:cNvSpPr>
            <p:nvPr/>
          </p:nvSpPr>
          <p:spPr bwMode="auto">
            <a:xfrm>
              <a:off x="3801" y="1716"/>
              <a:ext cx="148" cy="21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79" name="Line 378"/>
            <p:cNvSpPr>
              <a:spLocks noChangeShapeType="1"/>
            </p:cNvSpPr>
            <p:nvPr/>
          </p:nvSpPr>
          <p:spPr bwMode="auto">
            <a:xfrm>
              <a:off x="3334" y="2102"/>
              <a:ext cx="8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" name="Line 379"/>
            <p:cNvSpPr>
              <a:spLocks noChangeShapeType="1"/>
            </p:cNvSpPr>
            <p:nvPr/>
          </p:nvSpPr>
          <p:spPr bwMode="auto">
            <a:xfrm flipV="1">
              <a:off x="3606" y="1965"/>
              <a:ext cx="0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1" name="Line 380"/>
            <p:cNvSpPr>
              <a:spLocks noChangeShapeType="1"/>
            </p:cNvSpPr>
            <p:nvPr/>
          </p:nvSpPr>
          <p:spPr bwMode="auto">
            <a:xfrm flipV="1">
              <a:off x="3969" y="1965"/>
              <a:ext cx="0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2" name="Line 381"/>
            <p:cNvSpPr>
              <a:spLocks noChangeShapeType="1"/>
            </p:cNvSpPr>
            <p:nvPr/>
          </p:nvSpPr>
          <p:spPr bwMode="auto">
            <a:xfrm>
              <a:off x="4150" y="1693"/>
              <a:ext cx="0" cy="4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3" name="Rectangle 384"/>
            <p:cNvSpPr>
              <a:spLocks noChangeArrowheads="1"/>
            </p:cNvSpPr>
            <p:nvPr/>
          </p:nvSpPr>
          <p:spPr bwMode="auto">
            <a:xfrm>
              <a:off x="4105" y="1434"/>
              <a:ext cx="111" cy="13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84" name="Rectangle 385"/>
            <p:cNvSpPr>
              <a:spLocks noChangeArrowheads="1"/>
            </p:cNvSpPr>
            <p:nvPr/>
          </p:nvSpPr>
          <p:spPr bwMode="auto">
            <a:xfrm>
              <a:off x="4377" y="1480"/>
              <a:ext cx="111" cy="13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ext Box 194"/>
          <p:cNvSpPr txBox="1">
            <a:spLocks noChangeArrowheads="1"/>
          </p:cNvSpPr>
          <p:nvPr/>
        </p:nvSpPr>
        <p:spPr bwMode="auto">
          <a:xfrm>
            <a:off x="29169" y="902019"/>
            <a:ext cx="4283260" cy="6001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20000"/>
              </a:lnSpc>
              <a:spcBef>
                <a:spcPct val="10000"/>
              </a:spcBef>
            </a:pPr>
            <a:r>
              <a:rPr lang="en-US" altLang="zh-CN" sz="2800" b="1" dirty="0" smtClean="0">
                <a:solidFill>
                  <a:srgbClr val="A50021"/>
                </a:solidFill>
              </a:rPr>
              <a:t> Noting</a:t>
            </a:r>
            <a:r>
              <a:rPr lang="en-US" altLang="zh-CN" sz="2800" b="1" dirty="0">
                <a:solidFill>
                  <a:srgbClr val="A50021"/>
                </a:solidFill>
              </a:rPr>
              <a:t>: </a:t>
            </a:r>
          </a:p>
          <a:p>
            <a:pPr algn="just" eaLnBrk="1" hangingPunct="1">
              <a:lnSpc>
                <a:spcPct val="120000"/>
              </a:lnSpc>
              <a:spcBef>
                <a:spcPct val="10000"/>
              </a:spcBef>
              <a:buFont typeface="Wingdings" pitchFamily="2" charset="2"/>
              <a:buChar char="ü"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In </a:t>
            </a:r>
            <a:r>
              <a:rPr lang="en-US" altLang="zh-CN" sz="2400" dirty="0"/>
              <a:t>practical circuit, the </a:t>
            </a:r>
            <a:r>
              <a:rPr lang="en-US" altLang="zh-CN" sz="2400" b="1" u="sng" dirty="0" smtClean="0">
                <a:solidFill>
                  <a:srgbClr val="A50021"/>
                </a:solidFill>
              </a:rPr>
              <a:t>anti- parallel </a:t>
            </a:r>
            <a:r>
              <a:rPr lang="en-US" altLang="zh-CN" sz="2400" b="1" u="sng" dirty="0">
                <a:solidFill>
                  <a:srgbClr val="A50021"/>
                </a:solidFill>
              </a:rPr>
              <a:t>diodes </a:t>
            </a:r>
            <a:r>
              <a:rPr lang="en-US" altLang="zh-CN" sz="2400" dirty="0">
                <a:solidFill>
                  <a:srgbClr val="A50021"/>
                </a:solidFill>
              </a:rPr>
              <a:t>are needed</a:t>
            </a:r>
            <a:r>
              <a:rPr lang="en-US" altLang="zh-CN" sz="2400" dirty="0"/>
              <a:t> to provide a path for the current required due to </a:t>
            </a:r>
            <a:r>
              <a:rPr lang="en-US" altLang="zh-CN" sz="2400" b="1" u="sng" dirty="0">
                <a:solidFill>
                  <a:srgbClr val="A50021"/>
                </a:solidFill>
              </a:rPr>
              <a:t>leakage flux</a:t>
            </a:r>
            <a:r>
              <a:rPr lang="en-US" altLang="zh-CN" sz="2400" b="1" dirty="0"/>
              <a:t> </a:t>
            </a:r>
            <a:r>
              <a:rPr lang="en-US" altLang="zh-CN" sz="2400" dirty="0"/>
              <a:t>of the transformer.</a:t>
            </a:r>
          </a:p>
          <a:p>
            <a:pPr algn="just" eaLnBrk="1" hangingPunct="1">
              <a:lnSpc>
                <a:spcPct val="120000"/>
              </a:lnSpc>
              <a:spcBef>
                <a:spcPct val="10000"/>
              </a:spcBef>
              <a:buFont typeface="Wingdings" pitchFamily="2" charset="2"/>
              <a:buChar char="ü"/>
            </a:pPr>
            <a:r>
              <a:rPr lang="en-US" altLang="zh-CN" sz="2400" dirty="0"/>
              <a:t> Due to a slight and unavoidable difference in the switching times of the two switches T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and T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there is always an imbalance between the peak values of the two switch current.</a:t>
            </a:r>
          </a:p>
        </p:txBody>
      </p:sp>
      <p:grpSp>
        <p:nvGrpSpPr>
          <p:cNvPr id="2" name="Group 386"/>
          <p:cNvGrpSpPr>
            <a:grpSpLocks/>
          </p:cNvGrpSpPr>
          <p:nvPr/>
        </p:nvGrpSpPr>
        <p:grpSpPr bwMode="auto">
          <a:xfrm>
            <a:off x="4418013" y="1000125"/>
            <a:ext cx="4583112" cy="5857875"/>
            <a:chOff x="3243" y="845"/>
            <a:chExt cx="2344" cy="3317"/>
          </a:xfrm>
        </p:grpSpPr>
        <p:sp>
          <p:nvSpPr>
            <p:cNvPr id="126" name="Freeform 194"/>
            <p:cNvSpPr>
              <a:spLocks/>
            </p:cNvSpPr>
            <p:nvPr/>
          </p:nvSpPr>
          <p:spPr bwMode="auto">
            <a:xfrm>
              <a:off x="3374" y="2319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Freeform 195"/>
            <p:cNvSpPr>
              <a:spLocks/>
            </p:cNvSpPr>
            <p:nvPr/>
          </p:nvSpPr>
          <p:spPr bwMode="auto">
            <a:xfrm>
              <a:off x="3374" y="2319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Line 196"/>
            <p:cNvSpPr>
              <a:spLocks noChangeShapeType="1"/>
            </p:cNvSpPr>
            <p:nvPr/>
          </p:nvSpPr>
          <p:spPr bwMode="auto">
            <a:xfrm>
              <a:off x="3382" y="2378"/>
              <a:ext cx="1" cy="7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Freeform 197"/>
            <p:cNvSpPr>
              <a:spLocks/>
            </p:cNvSpPr>
            <p:nvPr/>
          </p:nvSpPr>
          <p:spPr bwMode="auto">
            <a:xfrm>
              <a:off x="5461" y="2901"/>
              <a:ext cx="54" cy="17"/>
            </a:xfrm>
            <a:custGeom>
              <a:avLst/>
              <a:gdLst>
                <a:gd name="T0" fmla="*/ 2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Freeform 198"/>
            <p:cNvSpPr>
              <a:spLocks/>
            </p:cNvSpPr>
            <p:nvPr/>
          </p:nvSpPr>
          <p:spPr bwMode="auto">
            <a:xfrm>
              <a:off x="5461" y="2901"/>
              <a:ext cx="54" cy="17"/>
            </a:xfrm>
            <a:custGeom>
              <a:avLst/>
              <a:gdLst>
                <a:gd name="T0" fmla="*/ 2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Line 199"/>
            <p:cNvSpPr>
              <a:spLocks noChangeShapeType="1"/>
            </p:cNvSpPr>
            <p:nvPr/>
          </p:nvSpPr>
          <p:spPr bwMode="auto">
            <a:xfrm flipH="1">
              <a:off x="3382" y="2910"/>
              <a:ext cx="207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200"/>
            <p:cNvSpPr>
              <a:spLocks noChangeShapeType="1"/>
            </p:cNvSpPr>
            <p:nvPr/>
          </p:nvSpPr>
          <p:spPr bwMode="auto">
            <a:xfrm>
              <a:off x="3382" y="2430"/>
              <a:ext cx="32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Freeform 201"/>
            <p:cNvSpPr>
              <a:spLocks/>
            </p:cNvSpPr>
            <p:nvPr/>
          </p:nvSpPr>
          <p:spPr bwMode="auto">
            <a:xfrm>
              <a:off x="5458" y="3952"/>
              <a:ext cx="54" cy="17"/>
            </a:xfrm>
            <a:custGeom>
              <a:avLst/>
              <a:gdLst>
                <a:gd name="T0" fmla="*/ 2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Freeform 202"/>
            <p:cNvSpPr>
              <a:spLocks/>
            </p:cNvSpPr>
            <p:nvPr/>
          </p:nvSpPr>
          <p:spPr bwMode="auto">
            <a:xfrm>
              <a:off x="5458" y="3952"/>
              <a:ext cx="54" cy="17"/>
            </a:xfrm>
            <a:custGeom>
              <a:avLst/>
              <a:gdLst>
                <a:gd name="T0" fmla="*/ 2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203"/>
            <p:cNvSpPr>
              <a:spLocks noChangeShapeType="1"/>
            </p:cNvSpPr>
            <p:nvPr/>
          </p:nvSpPr>
          <p:spPr bwMode="auto">
            <a:xfrm flipH="1">
              <a:off x="3379" y="3961"/>
              <a:ext cx="207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Rectangle 204"/>
            <p:cNvSpPr>
              <a:spLocks noChangeArrowheads="1"/>
            </p:cNvSpPr>
            <p:nvPr/>
          </p:nvSpPr>
          <p:spPr bwMode="auto">
            <a:xfrm>
              <a:off x="3379" y="2192"/>
              <a:ext cx="152" cy="21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</a:rPr>
                <a:t>oi</a:t>
              </a:r>
            </a:p>
          </p:txBody>
        </p:sp>
        <p:sp>
          <p:nvSpPr>
            <p:cNvPr id="137" name="Rectangle 205"/>
            <p:cNvSpPr>
              <a:spLocks noChangeArrowheads="1"/>
            </p:cNvSpPr>
            <p:nvPr/>
          </p:nvSpPr>
          <p:spPr bwMode="auto">
            <a:xfrm>
              <a:off x="3313" y="2841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138" name="Rectangle 206"/>
            <p:cNvSpPr>
              <a:spLocks noChangeArrowheads="1"/>
            </p:cNvSpPr>
            <p:nvPr/>
          </p:nvSpPr>
          <p:spPr bwMode="auto">
            <a:xfrm>
              <a:off x="3312" y="3890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139" name="Rectangle 207"/>
            <p:cNvSpPr>
              <a:spLocks noChangeArrowheads="1"/>
            </p:cNvSpPr>
            <p:nvPr/>
          </p:nvSpPr>
          <p:spPr bwMode="auto">
            <a:xfrm>
              <a:off x="5547" y="2838"/>
              <a:ext cx="40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140" name="Rectangle 208"/>
            <p:cNvSpPr>
              <a:spLocks noChangeArrowheads="1"/>
            </p:cNvSpPr>
            <p:nvPr/>
          </p:nvSpPr>
          <p:spPr bwMode="auto">
            <a:xfrm>
              <a:off x="5544" y="3871"/>
              <a:ext cx="40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141" name="Line 209"/>
            <p:cNvSpPr>
              <a:spLocks noChangeShapeType="1"/>
            </p:cNvSpPr>
            <p:nvPr/>
          </p:nvSpPr>
          <p:spPr bwMode="auto">
            <a:xfrm>
              <a:off x="4235" y="2430"/>
              <a:ext cx="32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210"/>
            <p:cNvSpPr>
              <a:spLocks noChangeShapeType="1"/>
            </p:cNvSpPr>
            <p:nvPr/>
          </p:nvSpPr>
          <p:spPr bwMode="auto">
            <a:xfrm>
              <a:off x="4555" y="2909"/>
              <a:ext cx="53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Line 211"/>
            <p:cNvSpPr>
              <a:spLocks noChangeShapeType="1"/>
            </p:cNvSpPr>
            <p:nvPr/>
          </p:nvSpPr>
          <p:spPr bwMode="auto">
            <a:xfrm>
              <a:off x="4555" y="2430"/>
              <a:ext cx="1" cy="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Line 212"/>
            <p:cNvSpPr>
              <a:spLocks noChangeShapeType="1"/>
            </p:cNvSpPr>
            <p:nvPr/>
          </p:nvSpPr>
          <p:spPr bwMode="auto">
            <a:xfrm>
              <a:off x="5089" y="2430"/>
              <a:ext cx="31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213"/>
            <p:cNvSpPr>
              <a:spLocks noChangeShapeType="1"/>
            </p:cNvSpPr>
            <p:nvPr/>
          </p:nvSpPr>
          <p:spPr bwMode="auto">
            <a:xfrm>
              <a:off x="5089" y="2430"/>
              <a:ext cx="1" cy="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Line 214"/>
            <p:cNvSpPr>
              <a:spLocks noChangeShapeType="1"/>
            </p:cNvSpPr>
            <p:nvPr/>
          </p:nvSpPr>
          <p:spPr bwMode="auto">
            <a:xfrm>
              <a:off x="3567" y="2720"/>
              <a:ext cx="5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Rectangle 215"/>
            <p:cNvSpPr>
              <a:spLocks noChangeArrowheads="1"/>
            </p:cNvSpPr>
            <p:nvPr/>
          </p:nvSpPr>
          <p:spPr bwMode="auto">
            <a:xfrm>
              <a:off x="3550" y="2607"/>
              <a:ext cx="6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148" name="Rectangle 216"/>
            <p:cNvSpPr>
              <a:spLocks noChangeArrowheads="1"/>
            </p:cNvSpPr>
            <p:nvPr/>
          </p:nvSpPr>
          <p:spPr bwMode="auto">
            <a:xfrm>
              <a:off x="3607" y="2650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 dirty="0"/>
            </a:p>
          </p:txBody>
        </p:sp>
        <p:sp>
          <p:nvSpPr>
            <p:cNvPr id="149" name="Rectangle 217"/>
            <p:cNvSpPr>
              <a:spLocks noChangeArrowheads="1"/>
            </p:cNvSpPr>
            <p:nvPr/>
          </p:nvSpPr>
          <p:spPr bwMode="auto">
            <a:xfrm>
              <a:off x="3540" y="2715"/>
              <a:ext cx="6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150" name="Rectangle 218"/>
            <p:cNvSpPr>
              <a:spLocks noChangeArrowheads="1"/>
            </p:cNvSpPr>
            <p:nvPr/>
          </p:nvSpPr>
          <p:spPr bwMode="auto">
            <a:xfrm>
              <a:off x="3604" y="2746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 i="1" dirty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 dirty="0"/>
            </a:p>
          </p:txBody>
        </p:sp>
        <p:sp>
          <p:nvSpPr>
            <p:cNvPr id="151" name="Rectangle 219"/>
            <p:cNvSpPr>
              <a:spLocks noChangeArrowheads="1"/>
            </p:cNvSpPr>
            <p:nvPr/>
          </p:nvSpPr>
          <p:spPr bwMode="auto">
            <a:xfrm>
              <a:off x="3659" y="2715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152" name="Rectangle 220"/>
            <p:cNvSpPr>
              <a:spLocks noChangeArrowheads="1"/>
            </p:cNvSpPr>
            <p:nvPr/>
          </p:nvSpPr>
          <p:spPr bwMode="auto">
            <a:xfrm>
              <a:off x="3621" y="2654"/>
              <a:ext cx="75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U</a:t>
              </a:r>
              <a:endParaRPr lang="en-US" altLang="zh-CN"/>
            </a:p>
          </p:txBody>
        </p:sp>
        <p:sp>
          <p:nvSpPr>
            <p:cNvPr id="153" name="Line 221"/>
            <p:cNvSpPr>
              <a:spLocks noChangeShapeType="1"/>
            </p:cNvSpPr>
            <p:nvPr/>
          </p:nvSpPr>
          <p:spPr bwMode="auto">
            <a:xfrm>
              <a:off x="3542" y="2487"/>
              <a:ext cx="1" cy="3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Freeform 222"/>
            <p:cNvSpPr>
              <a:spLocks/>
            </p:cNvSpPr>
            <p:nvPr/>
          </p:nvSpPr>
          <p:spPr bwMode="auto">
            <a:xfrm>
              <a:off x="3507" y="2430"/>
              <a:ext cx="70" cy="75"/>
            </a:xfrm>
            <a:custGeom>
              <a:avLst/>
              <a:gdLst>
                <a:gd name="T0" fmla="*/ 2 w 140"/>
                <a:gd name="T1" fmla="*/ 0 h 75"/>
                <a:gd name="T2" fmla="*/ 3 w 140"/>
                <a:gd name="T3" fmla="*/ 75 h 75"/>
                <a:gd name="T4" fmla="*/ 3 w 140"/>
                <a:gd name="T5" fmla="*/ 73 h 75"/>
                <a:gd name="T6" fmla="*/ 2 w 140"/>
                <a:gd name="T7" fmla="*/ 71 h 75"/>
                <a:gd name="T8" fmla="*/ 2 w 140"/>
                <a:gd name="T9" fmla="*/ 69 h 75"/>
                <a:gd name="T10" fmla="*/ 2 w 140"/>
                <a:gd name="T11" fmla="*/ 68 h 75"/>
                <a:gd name="T12" fmla="*/ 2 w 140"/>
                <a:gd name="T13" fmla="*/ 67 h 75"/>
                <a:gd name="T14" fmla="*/ 2 w 140"/>
                <a:gd name="T15" fmla="*/ 67 h 75"/>
                <a:gd name="T16" fmla="*/ 2 w 140"/>
                <a:gd name="T17" fmla="*/ 66 h 75"/>
                <a:gd name="T18" fmla="*/ 2 w 140"/>
                <a:gd name="T19" fmla="*/ 66 h 75"/>
                <a:gd name="T20" fmla="*/ 1 w 140"/>
                <a:gd name="T21" fmla="*/ 66 h 75"/>
                <a:gd name="T22" fmla="*/ 1 w 140"/>
                <a:gd name="T23" fmla="*/ 67 h 75"/>
                <a:gd name="T24" fmla="*/ 1 w 140"/>
                <a:gd name="T25" fmla="*/ 67 h 75"/>
                <a:gd name="T26" fmla="*/ 1 w 140"/>
                <a:gd name="T27" fmla="*/ 68 h 75"/>
                <a:gd name="T28" fmla="*/ 1 w 140"/>
                <a:gd name="T29" fmla="*/ 69 h 75"/>
                <a:gd name="T30" fmla="*/ 1 w 140"/>
                <a:gd name="T31" fmla="*/ 71 h 75"/>
                <a:gd name="T32" fmla="*/ 1 w 140"/>
                <a:gd name="T33" fmla="*/ 73 h 75"/>
                <a:gd name="T34" fmla="*/ 0 w 140"/>
                <a:gd name="T35" fmla="*/ 75 h 75"/>
                <a:gd name="T36" fmla="*/ 0 w 140"/>
                <a:gd name="T37" fmla="*/ 75 h 75"/>
                <a:gd name="T38" fmla="*/ 2 w 140"/>
                <a:gd name="T39" fmla="*/ 0 h 75"/>
                <a:gd name="T40" fmla="*/ 2 w 140"/>
                <a:gd name="T41" fmla="*/ 0 h 7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5"/>
                <a:gd name="T65" fmla="*/ 140 w 140"/>
                <a:gd name="T66" fmla="*/ 75 h 7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5">
                  <a:moveTo>
                    <a:pt x="70" y="0"/>
                  </a:moveTo>
                  <a:lnTo>
                    <a:pt x="140" y="75"/>
                  </a:lnTo>
                  <a:lnTo>
                    <a:pt x="130" y="73"/>
                  </a:lnTo>
                  <a:lnTo>
                    <a:pt x="123" y="71"/>
                  </a:lnTo>
                  <a:lnTo>
                    <a:pt x="113" y="69"/>
                  </a:lnTo>
                  <a:lnTo>
                    <a:pt x="106" y="68"/>
                  </a:lnTo>
                  <a:lnTo>
                    <a:pt x="96" y="67"/>
                  </a:lnTo>
                  <a:lnTo>
                    <a:pt x="87" y="67"/>
                  </a:lnTo>
                  <a:lnTo>
                    <a:pt x="79" y="66"/>
                  </a:lnTo>
                  <a:lnTo>
                    <a:pt x="70" y="66"/>
                  </a:lnTo>
                  <a:lnTo>
                    <a:pt x="61" y="66"/>
                  </a:lnTo>
                  <a:lnTo>
                    <a:pt x="53" y="67"/>
                  </a:lnTo>
                  <a:lnTo>
                    <a:pt x="44" y="67"/>
                  </a:lnTo>
                  <a:lnTo>
                    <a:pt x="34" y="68"/>
                  </a:lnTo>
                  <a:lnTo>
                    <a:pt x="27" y="69"/>
                  </a:lnTo>
                  <a:lnTo>
                    <a:pt x="17" y="71"/>
                  </a:lnTo>
                  <a:lnTo>
                    <a:pt x="10" y="73"/>
                  </a:lnTo>
                  <a:lnTo>
                    <a:pt x="0" y="75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Freeform 223"/>
            <p:cNvSpPr>
              <a:spLocks/>
            </p:cNvSpPr>
            <p:nvPr/>
          </p:nvSpPr>
          <p:spPr bwMode="auto">
            <a:xfrm>
              <a:off x="3507" y="2833"/>
              <a:ext cx="70" cy="75"/>
            </a:xfrm>
            <a:custGeom>
              <a:avLst/>
              <a:gdLst>
                <a:gd name="T0" fmla="*/ 2 w 140"/>
                <a:gd name="T1" fmla="*/ 75 h 75"/>
                <a:gd name="T2" fmla="*/ 0 w 140"/>
                <a:gd name="T3" fmla="*/ 0 h 75"/>
                <a:gd name="T4" fmla="*/ 1 w 140"/>
                <a:gd name="T5" fmla="*/ 2 h 75"/>
                <a:gd name="T6" fmla="*/ 1 w 140"/>
                <a:gd name="T7" fmla="*/ 4 h 75"/>
                <a:gd name="T8" fmla="*/ 1 w 140"/>
                <a:gd name="T9" fmla="*/ 5 h 75"/>
                <a:gd name="T10" fmla="*/ 1 w 140"/>
                <a:gd name="T11" fmla="*/ 7 h 75"/>
                <a:gd name="T12" fmla="*/ 1 w 140"/>
                <a:gd name="T13" fmla="*/ 8 h 75"/>
                <a:gd name="T14" fmla="*/ 1 w 140"/>
                <a:gd name="T15" fmla="*/ 8 h 75"/>
                <a:gd name="T16" fmla="*/ 1 w 140"/>
                <a:gd name="T17" fmla="*/ 9 h 75"/>
                <a:gd name="T18" fmla="*/ 2 w 140"/>
                <a:gd name="T19" fmla="*/ 9 h 75"/>
                <a:gd name="T20" fmla="*/ 2 w 140"/>
                <a:gd name="T21" fmla="*/ 9 h 75"/>
                <a:gd name="T22" fmla="*/ 2 w 140"/>
                <a:gd name="T23" fmla="*/ 8 h 75"/>
                <a:gd name="T24" fmla="*/ 2 w 140"/>
                <a:gd name="T25" fmla="*/ 8 h 75"/>
                <a:gd name="T26" fmla="*/ 2 w 140"/>
                <a:gd name="T27" fmla="*/ 7 h 75"/>
                <a:gd name="T28" fmla="*/ 2 w 140"/>
                <a:gd name="T29" fmla="*/ 5 h 75"/>
                <a:gd name="T30" fmla="*/ 2 w 140"/>
                <a:gd name="T31" fmla="*/ 4 h 75"/>
                <a:gd name="T32" fmla="*/ 3 w 140"/>
                <a:gd name="T33" fmla="*/ 2 h 75"/>
                <a:gd name="T34" fmla="*/ 3 w 140"/>
                <a:gd name="T35" fmla="*/ 0 h 75"/>
                <a:gd name="T36" fmla="*/ 3 w 140"/>
                <a:gd name="T37" fmla="*/ 0 h 75"/>
                <a:gd name="T38" fmla="*/ 2 w 140"/>
                <a:gd name="T39" fmla="*/ 75 h 75"/>
                <a:gd name="T40" fmla="*/ 2 w 140"/>
                <a:gd name="T41" fmla="*/ 75 h 7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5"/>
                <a:gd name="T65" fmla="*/ 140 w 140"/>
                <a:gd name="T66" fmla="*/ 75 h 7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5">
                  <a:moveTo>
                    <a:pt x="70" y="75"/>
                  </a:moveTo>
                  <a:lnTo>
                    <a:pt x="0" y="0"/>
                  </a:lnTo>
                  <a:lnTo>
                    <a:pt x="10" y="2"/>
                  </a:lnTo>
                  <a:lnTo>
                    <a:pt x="17" y="4"/>
                  </a:lnTo>
                  <a:lnTo>
                    <a:pt x="27" y="5"/>
                  </a:lnTo>
                  <a:lnTo>
                    <a:pt x="34" y="7"/>
                  </a:lnTo>
                  <a:lnTo>
                    <a:pt x="44" y="8"/>
                  </a:lnTo>
                  <a:lnTo>
                    <a:pt x="53" y="8"/>
                  </a:lnTo>
                  <a:lnTo>
                    <a:pt x="61" y="9"/>
                  </a:lnTo>
                  <a:lnTo>
                    <a:pt x="70" y="9"/>
                  </a:lnTo>
                  <a:lnTo>
                    <a:pt x="79" y="9"/>
                  </a:lnTo>
                  <a:lnTo>
                    <a:pt x="87" y="8"/>
                  </a:lnTo>
                  <a:lnTo>
                    <a:pt x="96" y="8"/>
                  </a:lnTo>
                  <a:lnTo>
                    <a:pt x="106" y="7"/>
                  </a:lnTo>
                  <a:lnTo>
                    <a:pt x="113" y="5"/>
                  </a:lnTo>
                  <a:lnTo>
                    <a:pt x="123" y="4"/>
                  </a:lnTo>
                  <a:lnTo>
                    <a:pt x="130" y="2"/>
                  </a:lnTo>
                  <a:lnTo>
                    <a:pt x="140" y="0"/>
                  </a:lnTo>
                  <a:lnTo>
                    <a:pt x="70" y="75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Line 224"/>
            <p:cNvSpPr>
              <a:spLocks noChangeShapeType="1"/>
            </p:cNvSpPr>
            <p:nvPr/>
          </p:nvSpPr>
          <p:spPr bwMode="auto">
            <a:xfrm>
              <a:off x="3702" y="2956"/>
              <a:ext cx="1" cy="1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Line 225"/>
            <p:cNvSpPr>
              <a:spLocks noChangeShapeType="1"/>
            </p:cNvSpPr>
            <p:nvPr/>
          </p:nvSpPr>
          <p:spPr bwMode="auto">
            <a:xfrm>
              <a:off x="4235" y="2956"/>
              <a:ext cx="1" cy="1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Line 226"/>
            <p:cNvSpPr>
              <a:spLocks noChangeShapeType="1"/>
            </p:cNvSpPr>
            <p:nvPr/>
          </p:nvSpPr>
          <p:spPr bwMode="auto">
            <a:xfrm>
              <a:off x="4235" y="2956"/>
              <a:ext cx="1" cy="2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Line 227"/>
            <p:cNvSpPr>
              <a:spLocks noChangeShapeType="1"/>
            </p:cNvSpPr>
            <p:nvPr/>
          </p:nvSpPr>
          <p:spPr bwMode="auto">
            <a:xfrm>
              <a:off x="3382" y="3108"/>
              <a:ext cx="1" cy="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Line 228"/>
            <p:cNvSpPr>
              <a:spLocks noChangeShapeType="1"/>
            </p:cNvSpPr>
            <p:nvPr/>
          </p:nvSpPr>
          <p:spPr bwMode="auto">
            <a:xfrm>
              <a:off x="3434" y="3015"/>
              <a:ext cx="21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Freeform 229"/>
            <p:cNvSpPr>
              <a:spLocks/>
            </p:cNvSpPr>
            <p:nvPr/>
          </p:nvSpPr>
          <p:spPr bwMode="auto">
            <a:xfrm>
              <a:off x="3382" y="2977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2 w 140"/>
                <a:gd name="T3" fmla="*/ 0 h 76"/>
                <a:gd name="T4" fmla="*/ 2 w 140"/>
                <a:gd name="T5" fmla="*/ 5 h 76"/>
                <a:gd name="T6" fmla="*/ 2 w 140"/>
                <a:gd name="T7" fmla="*/ 9 h 76"/>
                <a:gd name="T8" fmla="*/ 2 w 140"/>
                <a:gd name="T9" fmla="*/ 14 h 76"/>
                <a:gd name="T10" fmla="*/ 1 w 140"/>
                <a:gd name="T11" fmla="*/ 18 h 76"/>
                <a:gd name="T12" fmla="*/ 1 w 140"/>
                <a:gd name="T13" fmla="*/ 23 h 76"/>
                <a:gd name="T14" fmla="*/ 1 w 140"/>
                <a:gd name="T15" fmla="*/ 29 h 76"/>
                <a:gd name="T16" fmla="*/ 1 w 140"/>
                <a:gd name="T17" fmla="*/ 33 h 76"/>
                <a:gd name="T18" fmla="*/ 1 w 140"/>
                <a:gd name="T19" fmla="*/ 38 h 76"/>
                <a:gd name="T20" fmla="*/ 1 w 140"/>
                <a:gd name="T21" fmla="*/ 43 h 76"/>
                <a:gd name="T22" fmla="*/ 1 w 140"/>
                <a:gd name="T23" fmla="*/ 47 h 76"/>
                <a:gd name="T24" fmla="*/ 1 w 140"/>
                <a:gd name="T25" fmla="*/ 52 h 76"/>
                <a:gd name="T26" fmla="*/ 1 w 140"/>
                <a:gd name="T27" fmla="*/ 58 h 76"/>
                <a:gd name="T28" fmla="*/ 2 w 140"/>
                <a:gd name="T29" fmla="*/ 62 h 76"/>
                <a:gd name="T30" fmla="*/ 2 w 140"/>
                <a:gd name="T31" fmla="*/ 67 h 76"/>
                <a:gd name="T32" fmla="*/ 2 w 140"/>
                <a:gd name="T33" fmla="*/ 71 h 76"/>
                <a:gd name="T34" fmla="*/ 2 w 140"/>
                <a:gd name="T35" fmla="*/ 76 h 76"/>
                <a:gd name="T36" fmla="*/ 2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Freeform 230"/>
            <p:cNvSpPr>
              <a:spLocks/>
            </p:cNvSpPr>
            <p:nvPr/>
          </p:nvSpPr>
          <p:spPr bwMode="auto">
            <a:xfrm>
              <a:off x="3633" y="2977"/>
              <a:ext cx="69" cy="76"/>
            </a:xfrm>
            <a:custGeom>
              <a:avLst/>
              <a:gdLst>
                <a:gd name="T0" fmla="*/ 2 w 140"/>
                <a:gd name="T1" fmla="*/ 38 h 76"/>
                <a:gd name="T2" fmla="*/ 0 w 140"/>
                <a:gd name="T3" fmla="*/ 76 h 76"/>
                <a:gd name="T4" fmla="*/ 0 w 140"/>
                <a:gd name="T5" fmla="*/ 71 h 76"/>
                <a:gd name="T6" fmla="*/ 0 w 140"/>
                <a:gd name="T7" fmla="*/ 67 h 76"/>
                <a:gd name="T8" fmla="*/ 0 w 140"/>
                <a:gd name="T9" fmla="*/ 62 h 76"/>
                <a:gd name="T10" fmla="*/ 0 w 140"/>
                <a:gd name="T11" fmla="*/ 58 h 76"/>
                <a:gd name="T12" fmla="*/ 0 w 140"/>
                <a:gd name="T13" fmla="*/ 52 h 76"/>
                <a:gd name="T14" fmla="*/ 0 w 140"/>
                <a:gd name="T15" fmla="*/ 47 h 76"/>
                <a:gd name="T16" fmla="*/ 0 w 140"/>
                <a:gd name="T17" fmla="*/ 43 h 76"/>
                <a:gd name="T18" fmla="*/ 0 w 140"/>
                <a:gd name="T19" fmla="*/ 38 h 76"/>
                <a:gd name="T20" fmla="*/ 0 w 140"/>
                <a:gd name="T21" fmla="*/ 33 h 76"/>
                <a:gd name="T22" fmla="*/ 0 w 140"/>
                <a:gd name="T23" fmla="*/ 29 h 76"/>
                <a:gd name="T24" fmla="*/ 0 w 140"/>
                <a:gd name="T25" fmla="*/ 23 h 76"/>
                <a:gd name="T26" fmla="*/ 0 w 140"/>
                <a:gd name="T27" fmla="*/ 18 h 76"/>
                <a:gd name="T28" fmla="*/ 0 w 140"/>
                <a:gd name="T29" fmla="*/ 14 h 76"/>
                <a:gd name="T30" fmla="*/ 0 w 140"/>
                <a:gd name="T31" fmla="*/ 9 h 76"/>
                <a:gd name="T32" fmla="*/ 0 w 140"/>
                <a:gd name="T33" fmla="*/ 5 h 76"/>
                <a:gd name="T34" fmla="*/ 0 w 140"/>
                <a:gd name="T35" fmla="*/ 0 h 76"/>
                <a:gd name="T36" fmla="*/ 0 w 140"/>
                <a:gd name="T37" fmla="*/ 0 h 76"/>
                <a:gd name="T38" fmla="*/ 2 w 140"/>
                <a:gd name="T39" fmla="*/ 38 h 76"/>
                <a:gd name="T40" fmla="*/ 2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140" y="38"/>
                  </a:moveTo>
                  <a:lnTo>
                    <a:pt x="0" y="76"/>
                  </a:lnTo>
                  <a:lnTo>
                    <a:pt x="4" y="71"/>
                  </a:lnTo>
                  <a:lnTo>
                    <a:pt x="8" y="67"/>
                  </a:lnTo>
                  <a:lnTo>
                    <a:pt x="11" y="62"/>
                  </a:lnTo>
                  <a:lnTo>
                    <a:pt x="13" y="58"/>
                  </a:lnTo>
                  <a:lnTo>
                    <a:pt x="15" y="52"/>
                  </a:lnTo>
                  <a:lnTo>
                    <a:pt x="17" y="47"/>
                  </a:lnTo>
                  <a:lnTo>
                    <a:pt x="17" y="43"/>
                  </a:lnTo>
                  <a:lnTo>
                    <a:pt x="17" y="38"/>
                  </a:lnTo>
                  <a:lnTo>
                    <a:pt x="17" y="33"/>
                  </a:lnTo>
                  <a:lnTo>
                    <a:pt x="17" y="29"/>
                  </a:lnTo>
                  <a:lnTo>
                    <a:pt x="15" y="23"/>
                  </a:lnTo>
                  <a:lnTo>
                    <a:pt x="13" y="18"/>
                  </a:lnTo>
                  <a:lnTo>
                    <a:pt x="11" y="14"/>
                  </a:lnTo>
                  <a:lnTo>
                    <a:pt x="8" y="9"/>
                  </a:lnTo>
                  <a:lnTo>
                    <a:pt x="4" y="5"/>
                  </a:lnTo>
                  <a:lnTo>
                    <a:pt x="0" y="0"/>
                  </a:lnTo>
                  <a:lnTo>
                    <a:pt x="14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Line 231"/>
            <p:cNvSpPr>
              <a:spLocks noChangeShapeType="1"/>
            </p:cNvSpPr>
            <p:nvPr/>
          </p:nvSpPr>
          <p:spPr bwMode="auto">
            <a:xfrm>
              <a:off x="3754" y="3015"/>
              <a:ext cx="42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Freeform 232"/>
            <p:cNvSpPr>
              <a:spLocks/>
            </p:cNvSpPr>
            <p:nvPr/>
          </p:nvSpPr>
          <p:spPr bwMode="auto">
            <a:xfrm>
              <a:off x="3702" y="2977"/>
              <a:ext cx="69" cy="76"/>
            </a:xfrm>
            <a:custGeom>
              <a:avLst/>
              <a:gdLst>
                <a:gd name="T0" fmla="*/ 0 w 137"/>
                <a:gd name="T1" fmla="*/ 38 h 76"/>
                <a:gd name="T2" fmla="*/ 3 w 137"/>
                <a:gd name="T3" fmla="*/ 0 h 76"/>
                <a:gd name="T4" fmla="*/ 3 w 137"/>
                <a:gd name="T5" fmla="*/ 5 h 76"/>
                <a:gd name="T6" fmla="*/ 3 w 137"/>
                <a:gd name="T7" fmla="*/ 9 h 76"/>
                <a:gd name="T8" fmla="*/ 2 w 137"/>
                <a:gd name="T9" fmla="*/ 14 h 76"/>
                <a:gd name="T10" fmla="*/ 2 w 137"/>
                <a:gd name="T11" fmla="*/ 18 h 76"/>
                <a:gd name="T12" fmla="*/ 2 w 137"/>
                <a:gd name="T13" fmla="*/ 23 h 76"/>
                <a:gd name="T14" fmla="*/ 2 w 137"/>
                <a:gd name="T15" fmla="*/ 29 h 76"/>
                <a:gd name="T16" fmla="*/ 2 w 137"/>
                <a:gd name="T17" fmla="*/ 33 h 76"/>
                <a:gd name="T18" fmla="*/ 2 w 137"/>
                <a:gd name="T19" fmla="*/ 38 h 76"/>
                <a:gd name="T20" fmla="*/ 2 w 137"/>
                <a:gd name="T21" fmla="*/ 43 h 76"/>
                <a:gd name="T22" fmla="*/ 2 w 137"/>
                <a:gd name="T23" fmla="*/ 47 h 76"/>
                <a:gd name="T24" fmla="*/ 2 w 137"/>
                <a:gd name="T25" fmla="*/ 52 h 76"/>
                <a:gd name="T26" fmla="*/ 2 w 137"/>
                <a:gd name="T27" fmla="*/ 58 h 76"/>
                <a:gd name="T28" fmla="*/ 2 w 137"/>
                <a:gd name="T29" fmla="*/ 62 h 76"/>
                <a:gd name="T30" fmla="*/ 3 w 137"/>
                <a:gd name="T31" fmla="*/ 67 h 76"/>
                <a:gd name="T32" fmla="*/ 3 w 137"/>
                <a:gd name="T33" fmla="*/ 71 h 76"/>
                <a:gd name="T34" fmla="*/ 3 w 137"/>
                <a:gd name="T35" fmla="*/ 76 h 76"/>
                <a:gd name="T36" fmla="*/ 3 w 137"/>
                <a:gd name="T37" fmla="*/ 76 h 76"/>
                <a:gd name="T38" fmla="*/ 0 w 137"/>
                <a:gd name="T39" fmla="*/ 38 h 76"/>
                <a:gd name="T40" fmla="*/ 0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0" y="38"/>
                  </a:moveTo>
                  <a:lnTo>
                    <a:pt x="137" y="0"/>
                  </a:lnTo>
                  <a:lnTo>
                    <a:pt x="134" y="5"/>
                  </a:lnTo>
                  <a:lnTo>
                    <a:pt x="130" y="9"/>
                  </a:lnTo>
                  <a:lnTo>
                    <a:pt x="128" y="14"/>
                  </a:lnTo>
                  <a:lnTo>
                    <a:pt x="124" y="18"/>
                  </a:lnTo>
                  <a:lnTo>
                    <a:pt x="122" y="23"/>
                  </a:lnTo>
                  <a:lnTo>
                    <a:pt x="122" y="29"/>
                  </a:lnTo>
                  <a:lnTo>
                    <a:pt x="120" y="33"/>
                  </a:lnTo>
                  <a:lnTo>
                    <a:pt x="120" y="38"/>
                  </a:lnTo>
                  <a:lnTo>
                    <a:pt x="120" y="43"/>
                  </a:lnTo>
                  <a:lnTo>
                    <a:pt x="122" y="47"/>
                  </a:lnTo>
                  <a:lnTo>
                    <a:pt x="122" y="52"/>
                  </a:lnTo>
                  <a:lnTo>
                    <a:pt x="124" y="58"/>
                  </a:lnTo>
                  <a:lnTo>
                    <a:pt x="128" y="62"/>
                  </a:lnTo>
                  <a:lnTo>
                    <a:pt x="130" y="67"/>
                  </a:lnTo>
                  <a:lnTo>
                    <a:pt x="134" y="71"/>
                  </a:lnTo>
                  <a:lnTo>
                    <a:pt x="137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Freeform 233"/>
            <p:cNvSpPr>
              <a:spLocks/>
            </p:cNvSpPr>
            <p:nvPr/>
          </p:nvSpPr>
          <p:spPr bwMode="auto">
            <a:xfrm>
              <a:off x="4166" y="2977"/>
              <a:ext cx="69" cy="76"/>
            </a:xfrm>
            <a:custGeom>
              <a:avLst/>
              <a:gdLst>
                <a:gd name="T0" fmla="*/ 3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3 w 137"/>
                <a:gd name="T39" fmla="*/ 38 h 76"/>
                <a:gd name="T40" fmla="*/ 3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Line 234"/>
            <p:cNvSpPr>
              <a:spLocks noChangeShapeType="1"/>
            </p:cNvSpPr>
            <p:nvPr/>
          </p:nvSpPr>
          <p:spPr bwMode="auto">
            <a:xfrm>
              <a:off x="3434" y="3132"/>
              <a:ext cx="74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Freeform 235"/>
            <p:cNvSpPr>
              <a:spLocks/>
            </p:cNvSpPr>
            <p:nvPr/>
          </p:nvSpPr>
          <p:spPr bwMode="auto">
            <a:xfrm>
              <a:off x="3382" y="3094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2 w 140"/>
                <a:gd name="T3" fmla="*/ 0 h 76"/>
                <a:gd name="T4" fmla="*/ 2 w 140"/>
                <a:gd name="T5" fmla="*/ 5 h 76"/>
                <a:gd name="T6" fmla="*/ 2 w 140"/>
                <a:gd name="T7" fmla="*/ 9 h 76"/>
                <a:gd name="T8" fmla="*/ 2 w 140"/>
                <a:gd name="T9" fmla="*/ 14 h 76"/>
                <a:gd name="T10" fmla="*/ 1 w 140"/>
                <a:gd name="T11" fmla="*/ 18 h 76"/>
                <a:gd name="T12" fmla="*/ 1 w 140"/>
                <a:gd name="T13" fmla="*/ 23 h 76"/>
                <a:gd name="T14" fmla="*/ 1 w 140"/>
                <a:gd name="T15" fmla="*/ 29 h 76"/>
                <a:gd name="T16" fmla="*/ 1 w 140"/>
                <a:gd name="T17" fmla="*/ 33 h 76"/>
                <a:gd name="T18" fmla="*/ 1 w 140"/>
                <a:gd name="T19" fmla="*/ 38 h 76"/>
                <a:gd name="T20" fmla="*/ 1 w 140"/>
                <a:gd name="T21" fmla="*/ 43 h 76"/>
                <a:gd name="T22" fmla="*/ 1 w 140"/>
                <a:gd name="T23" fmla="*/ 47 h 76"/>
                <a:gd name="T24" fmla="*/ 1 w 140"/>
                <a:gd name="T25" fmla="*/ 52 h 76"/>
                <a:gd name="T26" fmla="*/ 1 w 140"/>
                <a:gd name="T27" fmla="*/ 58 h 76"/>
                <a:gd name="T28" fmla="*/ 2 w 140"/>
                <a:gd name="T29" fmla="*/ 62 h 76"/>
                <a:gd name="T30" fmla="*/ 2 w 140"/>
                <a:gd name="T31" fmla="*/ 67 h 76"/>
                <a:gd name="T32" fmla="*/ 2 w 140"/>
                <a:gd name="T33" fmla="*/ 71 h 76"/>
                <a:gd name="T34" fmla="*/ 2 w 140"/>
                <a:gd name="T35" fmla="*/ 76 h 76"/>
                <a:gd name="T36" fmla="*/ 2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Freeform 236"/>
            <p:cNvSpPr>
              <a:spLocks/>
            </p:cNvSpPr>
            <p:nvPr/>
          </p:nvSpPr>
          <p:spPr bwMode="auto">
            <a:xfrm>
              <a:off x="4166" y="3094"/>
              <a:ext cx="69" cy="76"/>
            </a:xfrm>
            <a:custGeom>
              <a:avLst/>
              <a:gdLst>
                <a:gd name="T0" fmla="*/ 3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3 w 137"/>
                <a:gd name="T39" fmla="*/ 38 h 76"/>
                <a:gd name="T40" fmla="*/ 3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Rectangle 237"/>
            <p:cNvSpPr>
              <a:spLocks noChangeArrowheads="1"/>
            </p:cNvSpPr>
            <p:nvPr/>
          </p:nvSpPr>
          <p:spPr bwMode="auto">
            <a:xfrm>
              <a:off x="3539" y="2936"/>
              <a:ext cx="72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on</a:t>
              </a:r>
              <a:endParaRPr lang="en-US" altLang="zh-CN"/>
            </a:p>
          </p:txBody>
        </p:sp>
        <p:sp>
          <p:nvSpPr>
            <p:cNvPr id="170" name="Rectangle 238"/>
            <p:cNvSpPr>
              <a:spLocks noChangeArrowheads="1"/>
            </p:cNvSpPr>
            <p:nvPr/>
          </p:nvSpPr>
          <p:spPr bwMode="auto">
            <a:xfrm>
              <a:off x="3520" y="2890"/>
              <a:ext cx="2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171" name="Line 239"/>
            <p:cNvSpPr>
              <a:spLocks noChangeShapeType="1"/>
            </p:cNvSpPr>
            <p:nvPr/>
          </p:nvSpPr>
          <p:spPr bwMode="auto">
            <a:xfrm flipV="1">
              <a:off x="3699" y="3910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Line 240"/>
            <p:cNvSpPr>
              <a:spLocks noChangeShapeType="1"/>
            </p:cNvSpPr>
            <p:nvPr/>
          </p:nvSpPr>
          <p:spPr bwMode="auto">
            <a:xfrm flipV="1">
              <a:off x="4232" y="3910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Line 241"/>
            <p:cNvSpPr>
              <a:spLocks noChangeShapeType="1"/>
            </p:cNvSpPr>
            <p:nvPr/>
          </p:nvSpPr>
          <p:spPr bwMode="auto">
            <a:xfrm flipV="1">
              <a:off x="4552" y="3910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Line 242"/>
            <p:cNvSpPr>
              <a:spLocks noChangeShapeType="1"/>
            </p:cNvSpPr>
            <p:nvPr/>
          </p:nvSpPr>
          <p:spPr bwMode="auto">
            <a:xfrm flipV="1">
              <a:off x="5086" y="3910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Freeform 243"/>
            <p:cNvSpPr>
              <a:spLocks/>
            </p:cNvSpPr>
            <p:nvPr/>
          </p:nvSpPr>
          <p:spPr bwMode="auto">
            <a:xfrm>
              <a:off x="3382" y="3483"/>
              <a:ext cx="1898" cy="234"/>
            </a:xfrm>
            <a:custGeom>
              <a:avLst/>
              <a:gdLst>
                <a:gd name="T0" fmla="*/ 0 w 3797"/>
                <a:gd name="T1" fmla="*/ 234 h 234"/>
                <a:gd name="T2" fmla="*/ 10 w 3797"/>
                <a:gd name="T3" fmla="*/ 0 h 234"/>
                <a:gd name="T4" fmla="*/ 26 w 3797"/>
                <a:gd name="T5" fmla="*/ 234 h 234"/>
                <a:gd name="T6" fmla="*/ 36 w 3797"/>
                <a:gd name="T7" fmla="*/ 0 h 234"/>
                <a:gd name="T8" fmla="*/ 53 w 3797"/>
                <a:gd name="T9" fmla="*/ 234 h 234"/>
                <a:gd name="T10" fmla="*/ 59 w 3797"/>
                <a:gd name="T11" fmla="*/ 117 h 2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797"/>
                <a:gd name="T19" fmla="*/ 0 h 234"/>
                <a:gd name="T20" fmla="*/ 3797 w 3797"/>
                <a:gd name="T21" fmla="*/ 234 h 2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797" h="234">
                  <a:moveTo>
                    <a:pt x="0" y="234"/>
                  </a:moveTo>
                  <a:lnTo>
                    <a:pt x="642" y="0"/>
                  </a:lnTo>
                  <a:lnTo>
                    <a:pt x="1707" y="234"/>
                  </a:lnTo>
                  <a:lnTo>
                    <a:pt x="2347" y="0"/>
                  </a:lnTo>
                  <a:lnTo>
                    <a:pt x="3414" y="234"/>
                  </a:lnTo>
                  <a:lnTo>
                    <a:pt x="3797" y="11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Freeform 244"/>
            <p:cNvSpPr>
              <a:spLocks/>
            </p:cNvSpPr>
            <p:nvPr/>
          </p:nvSpPr>
          <p:spPr bwMode="auto">
            <a:xfrm>
              <a:off x="3702" y="2430"/>
              <a:ext cx="533" cy="479"/>
            </a:xfrm>
            <a:custGeom>
              <a:avLst/>
              <a:gdLst>
                <a:gd name="T0" fmla="*/ 0 w 1065"/>
                <a:gd name="T1" fmla="*/ 0 h 479"/>
                <a:gd name="T2" fmla="*/ 0 w 1065"/>
                <a:gd name="T3" fmla="*/ 479 h 479"/>
                <a:gd name="T4" fmla="*/ 17 w 1065"/>
                <a:gd name="T5" fmla="*/ 479 h 479"/>
                <a:gd name="T6" fmla="*/ 17 w 1065"/>
                <a:gd name="T7" fmla="*/ 0 h 4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5"/>
                <a:gd name="T13" fmla="*/ 0 h 479"/>
                <a:gd name="T14" fmla="*/ 1065 w 1065"/>
                <a:gd name="T15" fmla="*/ 479 h 4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5" h="479">
                  <a:moveTo>
                    <a:pt x="0" y="0"/>
                  </a:moveTo>
                  <a:lnTo>
                    <a:pt x="0" y="479"/>
                  </a:lnTo>
                  <a:lnTo>
                    <a:pt x="1065" y="479"/>
                  </a:lnTo>
                  <a:lnTo>
                    <a:pt x="106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Freeform 245"/>
            <p:cNvSpPr>
              <a:spLocks noEditPoints="1"/>
            </p:cNvSpPr>
            <p:nvPr/>
          </p:nvSpPr>
          <p:spPr bwMode="auto">
            <a:xfrm>
              <a:off x="3376" y="2610"/>
              <a:ext cx="2039" cy="13"/>
            </a:xfrm>
            <a:custGeom>
              <a:avLst/>
              <a:gdLst>
                <a:gd name="T0" fmla="*/ 4 w 4078"/>
                <a:gd name="T1" fmla="*/ 5 h 13"/>
                <a:gd name="T2" fmla="*/ 3 w 4078"/>
                <a:gd name="T3" fmla="*/ 13 h 13"/>
                <a:gd name="T4" fmla="*/ 0 w 4078"/>
                <a:gd name="T5" fmla="*/ 6 h 13"/>
                <a:gd name="T6" fmla="*/ 1 w 4078"/>
                <a:gd name="T7" fmla="*/ 0 h 13"/>
                <a:gd name="T8" fmla="*/ 8 w 4078"/>
                <a:gd name="T9" fmla="*/ 5 h 13"/>
                <a:gd name="T10" fmla="*/ 8 w 4078"/>
                <a:gd name="T11" fmla="*/ 13 h 13"/>
                <a:gd name="T12" fmla="*/ 5 w 4078"/>
                <a:gd name="T13" fmla="*/ 6 h 13"/>
                <a:gd name="T14" fmla="*/ 5 w 4078"/>
                <a:gd name="T15" fmla="*/ 0 h 13"/>
                <a:gd name="T16" fmla="*/ 13 w 4078"/>
                <a:gd name="T17" fmla="*/ 5 h 13"/>
                <a:gd name="T18" fmla="*/ 13 w 4078"/>
                <a:gd name="T19" fmla="*/ 13 h 13"/>
                <a:gd name="T20" fmla="*/ 10 w 4078"/>
                <a:gd name="T21" fmla="*/ 6 h 13"/>
                <a:gd name="T22" fmla="*/ 10 w 4078"/>
                <a:gd name="T23" fmla="*/ 0 h 13"/>
                <a:gd name="T24" fmla="*/ 18 w 4078"/>
                <a:gd name="T25" fmla="*/ 5 h 13"/>
                <a:gd name="T26" fmla="*/ 18 w 4078"/>
                <a:gd name="T27" fmla="*/ 13 h 13"/>
                <a:gd name="T28" fmla="*/ 15 w 4078"/>
                <a:gd name="T29" fmla="*/ 6 h 13"/>
                <a:gd name="T30" fmla="*/ 15 w 4078"/>
                <a:gd name="T31" fmla="*/ 0 h 13"/>
                <a:gd name="T32" fmla="*/ 23 w 4078"/>
                <a:gd name="T33" fmla="*/ 5 h 13"/>
                <a:gd name="T34" fmla="*/ 23 w 4078"/>
                <a:gd name="T35" fmla="*/ 13 h 13"/>
                <a:gd name="T36" fmla="*/ 20 w 4078"/>
                <a:gd name="T37" fmla="*/ 6 h 13"/>
                <a:gd name="T38" fmla="*/ 20 w 4078"/>
                <a:gd name="T39" fmla="*/ 0 h 13"/>
                <a:gd name="T40" fmla="*/ 28 w 4078"/>
                <a:gd name="T41" fmla="*/ 5 h 13"/>
                <a:gd name="T42" fmla="*/ 27 w 4078"/>
                <a:gd name="T43" fmla="*/ 13 h 13"/>
                <a:gd name="T44" fmla="*/ 24 w 4078"/>
                <a:gd name="T45" fmla="*/ 6 h 13"/>
                <a:gd name="T46" fmla="*/ 25 w 4078"/>
                <a:gd name="T47" fmla="*/ 0 h 13"/>
                <a:gd name="T48" fmla="*/ 32 w 4078"/>
                <a:gd name="T49" fmla="*/ 5 h 13"/>
                <a:gd name="T50" fmla="*/ 32 w 4078"/>
                <a:gd name="T51" fmla="*/ 13 h 13"/>
                <a:gd name="T52" fmla="*/ 29 w 4078"/>
                <a:gd name="T53" fmla="*/ 6 h 13"/>
                <a:gd name="T54" fmla="*/ 29 w 4078"/>
                <a:gd name="T55" fmla="*/ 0 h 13"/>
                <a:gd name="T56" fmla="*/ 37 w 4078"/>
                <a:gd name="T57" fmla="*/ 5 h 13"/>
                <a:gd name="T58" fmla="*/ 37 w 4078"/>
                <a:gd name="T59" fmla="*/ 13 h 13"/>
                <a:gd name="T60" fmla="*/ 34 w 4078"/>
                <a:gd name="T61" fmla="*/ 6 h 13"/>
                <a:gd name="T62" fmla="*/ 34 w 4078"/>
                <a:gd name="T63" fmla="*/ 0 h 13"/>
                <a:gd name="T64" fmla="*/ 42 w 4078"/>
                <a:gd name="T65" fmla="*/ 5 h 13"/>
                <a:gd name="T66" fmla="*/ 42 w 4078"/>
                <a:gd name="T67" fmla="*/ 13 h 13"/>
                <a:gd name="T68" fmla="*/ 39 w 4078"/>
                <a:gd name="T69" fmla="*/ 6 h 13"/>
                <a:gd name="T70" fmla="*/ 39 w 4078"/>
                <a:gd name="T71" fmla="*/ 0 h 13"/>
                <a:gd name="T72" fmla="*/ 47 w 4078"/>
                <a:gd name="T73" fmla="*/ 5 h 13"/>
                <a:gd name="T74" fmla="*/ 47 w 4078"/>
                <a:gd name="T75" fmla="*/ 13 h 13"/>
                <a:gd name="T76" fmla="*/ 44 w 4078"/>
                <a:gd name="T77" fmla="*/ 6 h 13"/>
                <a:gd name="T78" fmla="*/ 44 w 4078"/>
                <a:gd name="T79" fmla="*/ 0 h 13"/>
                <a:gd name="T80" fmla="*/ 52 w 4078"/>
                <a:gd name="T81" fmla="*/ 5 h 13"/>
                <a:gd name="T82" fmla="*/ 51 w 4078"/>
                <a:gd name="T83" fmla="*/ 13 h 13"/>
                <a:gd name="T84" fmla="*/ 48 w 4078"/>
                <a:gd name="T85" fmla="*/ 6 h 13"/>
                <a:gd name="T86" fmla="*/ 49 w 4078"/>
                <a:gd name="T87" fmla="*/ 0 h 13"/>
                <a:gd name="T88" fmla="*/ 56 w 4078"/>
                <a:gd name="T89" fmla="*/ 5 h 13"/>
                <a:gd name="T90" fmla="*/ 56 w 4078"/>
                <a:gd name="T91" fmla="*/ 13 h 13"/>
                <a:gd name="T92" fmla="*/ 53 w 4078"/>
                <a:gd name="T93" fmla="*/ 6 h 13"/>
                <a:gd name="T94" fmla="*/ 53 w 4078"/>
                <a:gd name="T95" fmla="*/ 0 h 13"/>
                <a:gd name="T96" fmla="*/ 61 w 4078"/>
                <a:gd name="T97" fmla="*/ 5 h 13"/>
                <a:gd name="T98" fmla="*/ 61 w 4078"/>
                <a:gd name="T99" fmla="*/ 13 h 13"/>
                <a:gd name="T100" fmla="*/ 58 w 4078"/>
                <a:gd name="T101" fmla="*/ 6 h 13"/>
                <a:gd name="T102" fmla="*/ 58 w 4078"/>
                <a:gd name="T103" fmla="*/ 0 h 13"/>
                <a:gd name="T104" fmla="*/ 64 w 4078"/>
                <a:gd name="T105" fmla="*/ 5 h 13"/>
                <a:gd name="T106" fmla="*/ 64 w 4078"/>
                <a:gd name="T107" fmla="*/ 13 h 13"/>
                <a:gd name="T108" fmla="*/ 63 w 4078"/>
                <a:gd name="T109" fmla="*/ 6 h 13"/>
                <a:gd name="T110" fmla="*/ 63 w 4078"/>
                <a:gd name="T111" fmla="*/ 0 h 13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4078"/>
                <a:gd name="T169" fmla="*/ 0 h 13"/>
                <a:gd name="T170" fmla="*/ 4078 w 4078"/>
                <a:gd name="T171" fmla="*/ 13 h 13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4078" h="13">
                  <a:moveTo>
                    <a:pt x="11" y="0"/>
                  </a:moveTo>
                  <a:lnTo>
                    <a:pt x="191" y="0"/>
                  </a:lnTo>
                  <a:lnTo>
                    <a:pt x="194" y="0"/>
                  </a:lnTo>
                  <a:lnTo>
                    <a:pt x="196" y="0"/>
                  </a:lnTo>
                  <a:lnTo>
                    <a:pt x="200" y="2"/>
                  </a:lnTo>
                  <a:lnTo>
                    <a:pt x="202" y="4"/>
                  </a:lnTo>
                  <a:lnTo>
                    <a:pt x="204" y="5"/>
                  </a:lnTo>
                  <a:lnTo>
                    <a:pt x="204" y="6"/>
                  </a:lnTo>
                  <a:lnTo>
                    <a:pt x="204" y="8"/>
                  </a:lnTo>
                  <a:lnTo>
                    <a:pt x="202" y="9"/>
                  </a:lnTo>
                  <a:lnTo>
                    <a:pt x="200" y="11"/>
                  </a:lnTo>
                  <a:lnTo>
                    <a:pt x="196" y="13"/>
                  </a:lnTo>
                  <a:lnTo>
                    <a:pt x="194" y="13"/>
                  </a:lnTo>
                  <a:lnTo>
                    <a:pt x="191" y="13"/>
                  </a:lnTo>
                  <a:lnTo>
                    <a:pt x="11" y="13"/>
                  </a:lnTo>
                  <a:lnTo>
                    <a:pt x="9" y="13"/>
                  </a:lnTo>
                  <a:lnTo>
                    <a:pt x="8" y="13"/>
                  </a:lnTo>
                  <a:lnTo>
                    <a:pt x="4" y="11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4" y="2"/>
                  </a:lnTo>
                  <a:lnTo>
                    <a:pt x="8" y="0"/>
                  </a:lnTo>
                  <a:lnTo>
                    <a:pt x="9" y="0"/>
                  </a:lnTo>
                  <a:lnTo>
                    <a:pt x="11" y="0"/>
                  </a:lnTo>
                  <a:close/>
                  <a:moveTo>
                    <a:pt x="319" y="0"/>
                  </a:moveTo>
                  <a:lnTo>
                    <a:pt x="498" y="0"/>
                  </a:lnTo>
                  <a:lnTo>
                    <a:pt x="500" y="0"/>
                  </a:lnTo>
                  <a:lnTo>
                    <a:pt x="502" y="0"/>
                  </a:lnTo>
                  <a:lnTo>
                    <a:pt x="507" y="2"/>
                  </a:lnTo>
                  <a:lnTo>
                    <a:pt x="509" y="4"/>
                  </a:lnTo>
                  <a:lnTo>
                    <a:pt x="509" y="5"/>
                  </a:lnTo>
                  <a:lnTo>
                    <a:pt x="511" y="6"/>
                  </a:lnTo>
                  <a:lnTo>
                    <a:pt x="509" y="8"/>
                  </a:lnTo>
                  <a:lnTo>
                    <a:pt x="509" y="9"/>
                  </a:lnTo>
                  <a:lnTo>
                    <a:pt x="507" y="11"/>
                  </a:lnTo>
                  <a:lnTo>
                    <a:pt x="502" y="13"/>
                  </a:lnTo>
                  <a:lnTo>
                    <a:pt x="500" y="13"/>
                  </a:lnTo>
                  <a:lnTo>
                    <a:pt x="498" y="13"/>
                  </a:lnTo>
                  <a:lnTo>
                    <a:pt x="319" y="13"/>
                  </a:lnTo>
                  <a:lnTo>
                    <a:pt x="317" y="13"/>
                  </a:lnTo>
                  <a:lnTo>
                    <a:pt x="313" y="13"/>
                  </a:lnTo>
                  <a:lnTo>
                    <a:pt x="309" y="11"/>
                  </a:lnTo>
                  <a:lnTo>
                    <a:pt x="307" y="9"/>
                  </a:lnTo>
                  <a:lnTo>
                    <a:pt x="306" y="8"/>
                  </a:lnTo>
                  <a:lnTo>
                    <a:pt x="306" y="6"/>
                  </a:lnTo>
                  <a:lnTo>
                    <a:pt x="306" y="5"/>
                  </a:lnTo>
                  <a:lnTo>
                    <a:pt x="307" y="4"/>
                  </a:lnTo>
                  <a:lnTo>
                    <a:pt x="309" y="2"/>
                  </a:lnTo>
                  <a:lnTo>
                    <a:pt x="313" y="0"/>
                  </a:lnTo>
                  <a:lnTo>
                    <a:pt x="317" y="0"/>
                  </a:lnTo>
                  <a:lnTo>
                    <a:pt x="319" y="0"/>
                  </a:lnTo>
                  <a:close/>
                  <a:moveTo>
                    <a:pt x="626" y="0"/>
                  </a:moveTo>
                  <a:lnTo>
                    <a:pt x="804" y="0"/>
                  </a:lnTo>
                  <a:lnTo>
                    <a:pt x="807" y="0"/>
                  </a:lnTo>
                  <a:lnTo>
                    <a:pt x="809" y="0"/>
                  </a:lnTo>
                  <a:lnTo>
                    <a:pt x="813" y="2"/>
                  </a:lnTo>
                  <a:lnTo>
                    <a:pt x="817" y="4"/>
                  </a:lnTo>
                  <a:lnTo>
                    <a:pt x="817" y="5"/>
                  </a:lnTo>
                  <a:lnTo>
                    <a:pt x="817" y="6"/>
                  </a:lnTo>
                  <a:lnTo>
                    <a:pt x="817" y="8"/>
                  </a:lnTo>
                  <a:lnTo>
                    <a:pt x="817" y="9"/>
                  </a:lnTo>
                  <a:lnTo>
                    <a:pt x="813" y="11"/>
                  </a:lnTo>
                  <a:lnTo>
                    <a:pt x="809" y="13"/>
                  </a:lnTo>
                  <a:lnTo>
                    <a:pt x="807" y="13"/>
                  </a:lnTo>
                  <a:lnTo>
                    <a:pt x="804" y="13"/>
                  </a:lnTo>
                  <a:lnTo>
                    <a:pt x="626" y="13"/>
                  </a:lnTo>
                  <a:lnTo>
                    <a:pt x="622" y="13"/>
                  </a:lnTo>
                  <a:lnTo>
                    <a:pt x="621" y="13"/>
                  </a:lnTo>
                  <a:lnTo>
                    <a:pt x="617" y="11"/>
                  </a:lnTo>
                  <a:lnTo>
                    <a:pt x="613" y="9"/>
                  </a:lnTo>
                  <a:lnTo>
                    <a:pt x="613" y="8"/>
                  </a:lnTo>
                  <a:lnTo>
                    <a:pt x="613" y="6"/>
                  </a:lnTo>
                  <a:lnTo>
                    <a:pt x="613" y="5"/>
                  </a:lnTo>
                  <a:lnTo>
                    <a:pt x="613" y="4"/>
                  </a:lnTo>
                  <a:lnTo>
                    <a:pt x="617" y="2"/>
                  </a:lnTo>
                  <a:lnTo>
                    <a:pt x="621" y="0"/>
                  </a:lnTo>
                  <a:lnTo>
                    <a:pt x="622" y="0"/>
                  </a:lnTo>
                  <a:lnTo>
                    <a:pt x="626" y="0"/>
                  </a:lnTo>
                  <a:close/>
                  <a:moveTo>
                    <a:pt x="932" y="0"/>
                  </a:moveTo>
                  <a:lnTo>
                    <a:pt x="1111" y="0"/>
                  </a:lnTo>
                  <a:lnTo>
                    <a:pt x="1113" y="0"/>
                  </a:lnTo>
                  <a:lnTo>
                    <a:pt x="1117" y="0"/>
                  </a:lnTo>
                  <a:lnTo>
                    <a:pt x="1120" y="2"/>
                  </a:lnTo>
                  <a:lnTo>
                    <a:pt x="1122" y="4"/>
                  </a:lnTo>
                  <a:lnTo>
                    <a:pt x="1124" y="5"/>
                  </a:lnTo>
                  <a:lnTo>
                    <a:pt x="1124" y="6"/>
                  </a:lnTo>
                  <a:lnTo>
                    <a:pt x="1124" y="8"/>
                  </a:lnTo>
                  <a:lnTo>
                    <a:pt x="1122" y="9"/>
                  </a:lnTo>
                  <a:lnTo>
                    <a:pt x="1120" y="11"/>
                  </a:lnTo>
                  <a:lnTo>
                    <a:pt x="1117" y="13"/>
                  </a:lnTo>
                  <a:lnTo>
                    <a:pt x="1113" y="13"/>
                  </a:lnTo>
                  <a:lnTo>
                    <a:pt x="1111" y="13"/>
                  </a:lnTo>
                  <a:lnTo>
                    <a:pt x="932" y="13"/>
                  </a:lnTo>
                  <a:lnTo>
                    <a:pt x="930" y="13"/>
                  </a:lnTo>
                  <a:lnTo>
                    <a:pt x="926" y="13"/>
                  </a:lnTo>
                  <a:lnTo>
                    <a:pt x="922" y="11"/>
                  </a:lnTo>
                  <a:lnTo>
                    <a:pt x="920" y="9"/>
                  </a:lnTo>
                  <a:lnTo>
                    <a:pt x="919" y="8"/>
                  </a:lnTo>
                  <a:lnTo>
                    <a:pt x="919" y="6"/>
                  </a:lnTo>
                  <a:lnTo>
                    <a:pt x="919" y="5"/>
                  </a:lnTo>
                  <a:lnTo>
                    <a:pt x="920" y="4"/>
                  </a:lnTo>
                  <a:lnTo>
                    <a:pt x="922" y="2"/>
                  </a:lnTo>
                  <a:lnTo>
                    <a:pt x="926" y="0"/>
                  </a:lnTo>
                  <a:lnTo>
                    <a:pt x="930" y="0"/>
                  </a:lnTo>
                  <a:lnTo>
                    <a:pt x="932" y="0"/>
                  </a:lnTo>
                  <a:close/>
                  <a:moveTo>
                    <a:pt x="1239" y="0"/>
                  </a:moveTo>
                  <a:lnTo>
                    <a:pt x="1417" y="0"/>
                  </a:lnTo>
                  <a:lnTo>
                    <a:pt x="1420" y="0"/>
                  </a:lnTo>
                  <a:lnTo>
                    <a:pt x="1422" y="0"/>
                  </a:lnTo>
                  <a:lnTo>
                    <a:pt x="1426" y="2"/>
                  </a:lnTo>
                  <a:lnTo>
                    <a:pt x="1430" y="4"/>
                  </a:lnTo>
                  <a:lnTo>
                    <a:pt x="1430" y="5"/>
                  </a:lnTo>
                  <a:lnTo>
                    <a:pt x="1430" y="6"/>
                  </a:lnTo>
                  <a:lnTo>
                    <a:pt x="1430" y="8"/>
                  </a:lnTo>
                  <a:lnTo>
                    <a:pt x="1430" y="9"/>
                  </a:lnTo>
                  <a:lnTo>
                    <a:pt x="1426" y="11"/>
                  </a:lnTo>
                  <a:lnTo>
                    <a:pt x="1422" y="13"/>
                  </a:lnTo>
                  <a:lnTo>
                    <a:pt x="1420" y="13"/>
                  </a:lnTo>
                  <a:lnTo>
                    <a:pt x="1417" y="13"/>
                  </a:lnTo>
                  <a:lnTo>
                    <a:pt x="1239" y="13"/>
                  </a:lnTo>
                  <a:lnTo>
                    <a:pt x="1235" y="13"/>
                  </a:lnTo>
                  <a:lnTo>
                    <a:pt x="1234" y="13"/>
                  </a:lnTo>
                  <a:lnTo>
                    <a:pt x="1230" y="11"/>
                  </a:lnTo>
                  <a:lnTo>
                    <a:pt x="1226" y="9"/>
                  </a:lnTo>
                  <a:lnTo>
                    <a:pt x="1226" y="8"/>
                  </a:lnTo>
                  <a:lnTo>
                    <a:pt x="1226" y="6"/>
                  </a:lnTo>
                  <a:lnTo>
                    <a:pt x="1226" y="5"/>
                  </a:lnTo>
                  <a:lnTo>
                    <a:pt x="1226" y="4"/>
                  </a:lnTo>
                  <a:lnTo>
                    <a:pt x="1230" y="2"/>
                  </a:lnTo>
                  <a:lnTo>
                    <a:pt x="1234" y="0"/>
                  </a:lnTo>
                  <a:lnTo>
                    <a:pt x="1235" y="0"/>
                  </a:lnTo>
                  <a:lnTo>
                    <a:pt x="1239" y="0"/>
                  </a:lnTo>
                  <a:close/>
                  <a:moveTo>
                    <a:pt x="1545" y="0"/>
                  </a:moveTo>
                  <a:lnTo>
                    <a:pt x="1724" y="0"/>
                  </a:lnTo>
                  <a:lnTo>
                    <a:pt x="1726" y="0"/>
                  </a:lnTo>
                  <a:lnTo>
                    <a:pt x="1730" y="0"/>
                  </a:lnTo>
                  <a:lnTo>
                    <a:pt x="1733" y="2"/>
                  </a:lnTo>
                  <a:lnTo>
                    <a:pt x="1735" y="4"/>
                  </a:lnTo>
                  <a:lnTo>
                    <a:pt x="1737" y="5"/>
                  </a:lnTo>
                  <a:lnTo>
                    <a:pt x="1737" y="6"/>
                  </a:lnTo>
                  <a:lnTo>
                    <a:pt x="1737" y="8"/>
                  </a:lnTo>
                  <a:lnTo>
                    <a:pt x="1735" y="9"/>
                  </a:lnTo>
                  <a:lnTo>
                    <a:pt x="1733" y="11"/>
                  </a:lnTo>
                  <a:lnTo>
                    <a:pt x="1730" y="13"/>
                  </a:lnTo>
                  <a:lnTo>
                    <a:pt x="1726" y="13"/>
                  </a:lnTo>
                  <a:lnTo>
                    <a:pt x="1724" y="13"/>
                  </a:lnTo>
                  <a:lnTo>
                    <a:pt x="1545" y="13"/>
                  </a:lnTo>
                  <a:lnTo>
                    <a:pt x="1543" y="13"/>
                  </a:lnTo>
                  <a:lnTo>
                    <a:pt x="1541" y="13"/>
                  </a:lnTo>
                  <a:lnTo>
                    <a:pt x="1535" y="11"/>
                  </a:lnTo>
                  <a:lnTo>
                    <a:pt x="1533" y="9"/>
                  </a:lnTo>
                  <a:lnTo>
                    <a:pt x="1533" y="8"/>
                  </a:lnTo>
                  <a:lnTo>
                    <a:pt x="1532" y="6"/>
                  </a:lnTo>
                  <a:lnTo>
                    <a:pt x="1533" y="5"/>
                  </a:lnTo>
                  <a:lnTo>
                    <a:pt x="1533" y="4"/>
                  </a:lnTo>
                  <a:lnTo>
                    <a:pt x="1535" y="2"/>
                  </a:lnTo>
                  <a:lnTo>
                    <a:pt x="1541" y="0"/>
                  </a:lnTo>
                  <a:lnTo>
                    <a:pt x="1543" y="0"/>
                  </a:lnTo>
                  <a:lnTo>
                    <a:pt x="1545" y="0"/>
                  </a:lnTo>
                  <a:close/>
                  <a:moveTo>
                    <a:pt x="1852" y="0"/>
                  </a:moveTo>
                  <a:lnTo>
                    <a:pt x="2031" y="0"/>
                  </a:lnTo>
                  <a:lnTo>
                    <a:pt x="2033" y="0"/>
                  </a:lnTo>
                  <a:lnTo>
                    <a:pt x="2035" y="0"/>
                  </a:lnTo>
                  <a:lnTo>
                    <a:pt x="2039" y="2"/>
                  </a:lnTo>
                  <a:lnTo>
                    <a:pt x="2043" y="4"/>
                  </a:lnTo>
                  <a:lnTo>
                    <a:pt x="2043" y="5"/>
                  </a:lnTo>
                  <a:lnTo>
                    <a:pt x="2043" y="6"/>
                  </a:lnTo>
                  <a:lnTo>
                    <a:pt x="2043" y="8"/>
                  </a:lnTo>
                  <a:lnTo>
                    <a:pt x="2043" y="9"/>
                  </a:lnTo>
                  <a:lnTo>
                    <a:pt x="2039" y="11"/>
                  </a:lnTo>
                  <a:lnTo>
                    <a:pt x="2035" y="13"/>
                  </a:lnTo>
                  <a:lnTo>
                    <a:pt x="2033" y="13"/>
                  </a:lnTo>
                  <a:lnTo>
                    <a:pt x="2031" y="13"/>
                  </a:lnTo>
                  <a:lnTo>
                    <a:pt x="1852" y="13"/>
                  </a:lnTo>
                  <a:lnTo>
                    <a:pt x="1848" y="13"/>
                  </a:lnTo>
                  <a:lnTo>
                    <a:pt x="1847" y="13"/>
                  </a:lnTo>
                  <a:lnTo>
                    <a:pt x="1843" y="11"/>
                  </a:lnTo>
                  <a:lnTo>
                    <a:pt x="1839" y="9"/>
                  </a:lnTo>
                  <a:lnTo>
                    <a:pt x="1839" y="8"/>
                  </a:lnTo>
                  <a:lnTo>
                    <a:pt x="1839" y="6"/>
                  </a:lnTo>
                  <a:lnTo>
                    <a:pt x="1839" y="5"/>
                  </a:lnTo>
                  <a:lnTo>
                    <a:pt x="1839" y="4"/>
                  </a:lnTo>
                  <a:lnTo>
                    <a:pt x="1843" y="2"/>
                  </a:lnTo>
                  <a:lnTo>
                    <a:pt x="1847" y="0"/>
                  </a:lnTo>
                  <a:lnTo>
                    <a:pt x="1848" y="0"/>
                  </a:lnTo>
                  <a:lnTo>
                    <a:pt x="1852" y="0"/>
                  </a:lnTo>
                  <a:close/>
                  <a:moveTo>
                    <a:pt x="2158" y="0"/>
                  </a:moveTo>
                  <a:lnTo>
                    <a:pt x="2337" y="0"/>
                  </a:lnTo>
                  <a:lnTo>
                    <a:pt x="2341" y="0"/>
                  </a:lnTo>
                  <a:lnTo>
                    <a:pt x="2343" y="0"/>
                  </a:lnTo>
                  <a:lnTo>
                    <a:pt x="2346" y="2"/>
                  </a:lnTo>
                  <a:lnTo>
                    <a:pt x="2348" y="4"/>
                  </a:lnTo>
                  <a:lnTo>
                    <a:pt x="2350" y="5"/>
                  </a:lnTo>
                  <a:lnTo>
                    <a:pt x="2350" y="6"/>
                  </a:lnTo>
                  <a:lnTo>
                    <a:pt x="2350" y="8"/>
                  </a:lnTo>
                  <a:lnTo>
                    <a:pt x="2348" y="9"/>
                  </a:lnTo>
                  <a:lnTo>
                    <a:pt x="2346" y="11"/>
                  </a:lnTo>
                  <a:lnTo>
                    <a:pt x="2343" y="13"/>
                  </a:lnTo>
                  <a:lnTo>
                    <a:pt x="2341" y="13"/>
                  </a:lnTo>
                  <a:lnTo>
                    <a:pt x="2337" y="13"/>
                  </a:lnTo>
                  <a:lnTo>
                    <a:pt x="2158" y="13"/>
                  </a:lnTo>
                  <a:lnTo>
                    <a:pt x="2156" y="13"/>
                  </a:lnTo>
                  <a:lnTo>
                    <a:pt x="2154" y="13"/>
                  </a:lnTo>
                  <a:lnTo>
                    <a:pt x="2148" y="11"/>
                  </a:lnTo>
                  <a:lnTo>
                    <a:pt x="2146" y="9"/>
                  </a:lnTo>
                  <a:lnTo>
                    <a:pt x="2146" y="8"/>
                  </a:lnTo>
                  <a:lnTo>
                    <a:pt x="2146" y="6"/>
                  </a:lnTo>
                  <a:lnTo>
                    <a:pt x="2146" y="5"/>
                  </a:lnTo>
                  <a:lnTo>
                    <a:pt x="2146" y="4"/>
                  </a:lnTo>
                  <a:lnTo>
                    <a:pt x="2148" y="2"/>
                  </a:lnTo>
                  <a:lnTo>
                    <a:pt x="2154" y="0"/>
                  </a:lnTo>
                  <a:lnTo>
                    <a:pt x="2156" y="0"/>
                  </a:lnTo>
                  <a:lnTo>
                    <a:pt x="2158" y="0"/>
                  </a:lnTo>
                  <a:close/>
                  <a:moveTo>
                    <a:pt x="2465" y="0"/>
                  </a:moveTo>
                  <a:lnTo>
                    <a:pt x="2644" y="0"/>
                  </a:lnTo>
                  <a:lnTo>
                    <a:pt x="2646" y="0"/>
                  </a:lnTo>
                  <a:lnTo>
                    <a:pt x="2648" y="0"/>
                  </a:lnTo>
                  <a:lnTo>
                    <a:pt x="2652" y="2"/>
                  </a:lnTo>
                  <a:lnTo>
                    <a:pt x="2656" y="4"/>
                  </a:lnTo>
                  <a:lnTo>
                    <a:pt x="2656" y="5"/>
                  </a:lnTo>
                  <a:lnTo>
                    <a:pt x="2656" y="6"/>
                  </a:lnTo>
                  <a:lnTo>
                    <a:pt x="2656" y="8"/>
                  </a:lnTo>
                  <a:lnTo>
                    <a:pt x="2656" y="9"/>
                  </a:lnTo>
                  <a:lnTo>
                    <a:pt x="2652" y="11"/>
                  </a:lnTo>
                  <a:lnTo>
                    <a:pt x="2648" y="13"/>
                  </a:lnTo>
                  <a:lnTo>
                    <a:pt x="2646" y="13"/>
                  </a:lnTo>
                  <a:lnTo>
                    <a:pt x="2644" y="13"/>
                  </a:lnTo>
                  <a:lnTo>
                    <a:pt x="2465" y="13"/>
                  </a:lnTo>
                  <a:lnTo>
                    <a:pt x="2463" y="13"/>
                  </a:lnTo>
                  <a:lnTo>
                    <a:pt x="2460" y="13"/>
                  </a:lnTo>
                  <a:lnTo>
                    <a:pt x="2456" y="11"/>
                  </a:lnTo>
                  <a:lnTo>
                    <a:pt x="2454" y="9"/>
                  </a:lnTo>
                  <a:lnTo>
                    <a:pt x="2452" y="8"/>
                  </a:lnTo>
                  <a:lnTo>
                    <a:pt x="2452" y="6"/>
                  </a:lnTo>
                  <a:lnTo>
                    <a:pt x="2452" y="5"/>
                  </a:lnTo>
                  <a:lnTo>
                    <a:pt x="2454" y="4"/>
                  </a:lnTo>
                  <a:lnTo>
                    <a:pt x="2456" y="2"/>
                  </a:lnTo>
                  <a:lnTo>
                    <a:pt x="2460" y="0"/>
                  </a:lnTo>
                  <a:lnTo>
                    <a:pt x="2463" y="0"/>
                  </a:lnTo>
                  <a:lnTo>
                    <a:pt x="2465" y="0"/>
                  </a:lnTo>
                  <a:close/>
                  <a:moveTo>
                    <a:pt x="2771" y="0"/>
                  </a:moveTo>
                  <a:lnTo>
                    <a:pt x="2950" y="0"/>
                  </a:lnTo>
                  <a:lnTo>
                    <a:pt x="2954" y="0"/>
                  </a:lnTo>
                  <a:lnTo>
                    <a:pt x="2956" y="0"/>
                  </a:lnTo>
                  <a:lnTo>
                    <a:pt x="2959" y="2"/>
                  </a:lnTo>
                  <a:lnTo>
                    <a:pt x="2961" y="4"/>
                  </a:lnTo>
                  <a:lnTo>
                    <a:pt x="2963" y="5"/>
                  </a:lnTo>
                  <a:lnTo>
                    <a:pt x="2963" y="6"/>
                  </a:lnTo>
                  <a:lnTo>
                    <a:pt x="2963" y="8"/>
                  </a:lnTo>
                  <a:lnTo>
                    <a:pt x="2961" y="9"/>
                  </a:lnTo>
                  <a:lnTo>
                    <a:pt x="2959" y="11"/>
                  </a:lnTo>
                  <a:lnTo>
                    <a:pt x="2956" y="13"/>
                  </a:lnTo>
                  <a:lnTo>
                    <a:pt x="2954" y="13"/>
                  </a:lnTo>
                  <a:lnTo>
                    <a:pt x="2950" y="13"/>
                  </a:lnTo>
                  <a:lnTo>
                    <a:pt x="2771" y="13"/>
                  </a:lnTo>
                  <a:lnTo>
                    <a:pt x="2769" y="13"/>
                  </a:lnTo>
                  <a:lnTo>
                    <a:pt x="2767" y="13"/>
                  </a:lnTo>
                  <a:lnTo>
                    <a:pt x="2763" y="11"/>
                  </a:lnTo>
                  <a:lnTo>
                    <a:pt x="2759" y="9"/>
                  </a:lnTo>
                  <a:lnTo>
                    <a:pt x="2759" y="8"/>
                  </a:lnTo>
                  <a:lnTo>
                    <a:pt x="2759" y="6"/>
                  </a:lnTo>
                  <a:lnTo>
                    <a:pt x="2759" y="5"/>
                  </a:lnTo>
                  <a:lnTo>
                    <a:pt x="2759" y="4"/>
                  </a:lnTo>
                  <a:lnTo>
                    <a:pt x="2763" y="2"/>
                  </a:lnTo>
                  <a:lnTo>
                    <a:pt x="2767" y="0"/>
                  </a:lnTo>
                  <a:lnTo>
                    <a:pt x="2769" y="0"/>
                  </a:lnTo>
                  <a:lnTo>
                    <a:pt x="2771" y="0"/>
                  </a:lnTo>
                  <a:close/>
                  <a:moveTo>
                    <a:pt x="3078" y="0"/>
                  </a:moveTo>
                  <a:lnTo>
                    <a:pt x="3257" y="0"/>
                  </a:lnTo>
                  <a:lnTo>
                    <a:pt x="3259" y="0"/>
                  </a:lnTo>
                  <a:lnTo>
                    <a:pt x="3261" y="0"/>
                  </a:lnTo>
                  <a:lnTo>
                    <a:pt x="3267" y="2"/>
                  </a:lnTo>
                  <a:lnTo>
                    <a:pt x="3269" y="4"/>
                  </a:lnTo>
                  <a:lnTo>
                    <a:pt x="3269" y="5"/>
                  </a:lnTo>
                  <a:lnTo>
                    <a:pt x="3271" y="6"/>
                  </a:lnTo>
                  <a:lnTo>
                    <a:pt x="3269" y="8"/>
                  </a:lnTo>
                  <a:lnTo>
                    <a:pt x="3269" y="9"/>
                  </a:lnTo>
                  <a:lnTo>
                    <a:pt x="3267" y="11"/>
                  </a:lnTo>
                  <a:lnTo>
                    <a:pt x="3261" y="13"/>
                  </a:lnTo>
                  <a:lnTo>
                    <a:pt x="3259" y="13"/>
                  </a:lnTo>
                  <a:lnTo>
                    <a:pt x="3257" y="13"/>
                  </a:lnTo>
                  <a:lnTo>
                    <a:pt x="3078" y="13"/>
                  </a:lnTo>
                  <a:lnTo>
                    <a:pt x="3076" y="13"/>
                  </a:lnTo>
                  <a:lnTo>
                    <a:pt x="3073" y="13"/>
                  </a:lnTo>
                  <a:lnTo>
                    <a:pt x="3069" y="11"/>
                  </a:lnTo>
                  <a:lnTo>
                    <a:pt x="3067" y="9"/>
                  </a:lnTo>
                  <a:lnTo>
                    <a:pt x="3065" y="8"/>
                  </a:lnTo>
                  <a:lnTo>
                    <a:pt x="3065" y="6"/>
                  </a:lnTo>
                  <a:lnTo>
                    <a:pt x="3065" y="5"/>
                  </a:lnTo>
                  <a:lnTo>
                    <a:pt x="3067" y="4"/>
                  </a:lnTo>
                  <a:lnTo>
                    <a:pt x="3069" y="2"/>
                  </a:lnTo>
                  <a:lnTo>
                    <a:pt x="3073" y="0"/>
                  </a:lnTo>
                  <a:lnTo>
                    <a:pt x="3076" y="0"/>
                  </a:lnTo>
                  <a:lnTo>
                    <a:pt x="3078" y="0"/>
                  </a:lnTo>
                  <a:close/>
                  <a:moveTo>
                    <a:pt x="3386" y="0"/>
                  </a:moveTo>
                  <a:lnTo>
                    <a:pt x="3563" y="0"/>
                  </a:lnTo>
                  <a:lnTo>
                    <a:pt x="3567" y="0"/>
                  </a:lnTo>
                  <a:lnTo>
                    <a:pt x="3569" y="0"/>
                  </a:lnTo>
                  <a:lnTo>
                    <a:pt x="3572" y="2"/>
                  </a:lnTo>
                  <a:lnTo>
                    <a:pt x="3576" y="4"/>
                  </a:lnTo>
                  <a:lnTo>
                    <a:pt x="3576" y="5"/>
                  </a:lnTo>
                  <a:lnTo>
                    <a:pt x="3576" y="6"/>
                  </a:lnTo>
                  <a:lnTo>
                    <a:pt x="3576" y="8"/>
                  </a:lnTo>
                  <a:lnTo>
                    <a:pt x="3576" y="9"/>
                  </a:lnTo>
                  <a:lnTo>
                    <a:pt x="3572" y="11"/>
                  </a:lnTo>
                  <a:lnTo>
                    <a:pt x="3569" y="13"/>
                  </a:lnTo>
                  <a:lnTo>
                    <a:pt x="3567" y="13"/>
                  </a:lnTo>
                  <a:lnTo>
                    <a:pt x="3563" y="13"/>
                  </a:lnTo>
                  <a:lnTo>
                    <a:pt x="3386" y="13"/>
                  </a:lnTo>
                  <a:lnTo>
                    <a:pt x="3382" y="13"/>
                  </a:lnTo>
                  <a:lnTo>
                    <a:pt x="3380" y="13"/>
                  </a:lnTo>
                  <a:lnTo>
                    <a:pt x="3376" y="11"/>
                  </a:lnTo>
                  <a:lnTo>
                    <a:pt x="3373" y="9"/>
                  </a:lnTo>
                  <a:lnTo>
                    <a:pt x="3373" y="8"/>
                  </a:lnTo>
                  <a:lnTo>
                    <a:pt x="3373" y="6"/>
                  </a:lnTo>
                  <a:lnTo>
                    <a:pt x="3373" y="5"/>
                  </a:lnTo>
                  <a:lnTo>
                    <a:pt x="3373" y="4"/>
                  </a:lnTo>
                  <a:lnTo>
                    <a:pt x="3376" y="2"/>
                  </a:lnTo>
                  <a:lnTo>
                    <a:pt x="3380" y="0"/>
                  </a:lnTo>
                  <a:lnTo>
                    <a:pt x="3382" y="0"/>
                  </a:lnTo>
                  <a:lnTo>
                    <a:pt x="3386" y="0"/>
                  </a:lnTo>
                  <a:close/>
                  <a:moveTo>
                    <a:pt x="3691" y="0"/>
                  </a:moveTo>
                  <a:lnTo>
                    <a:pt x="3870" y="0"/>
                  </a:lnTo>
                  <a:lnTo>
                    <a:pt x="3872" y="0"/>
                  </a:lnTo>
                  <a:lnTo>
                    <a:pt x="3876" y="0"/>
                  </a:lnTo>
                  <a:lnTo>
                    <a:pt x="3880" y="2"/>
                  </a:lnTo>
                  <a:lnTo>
                    <a:pt x="3882" y="4"/>
                  </a:lnTo>
                  <a:lnTo>
                    <a:pt x="3884" y="5"/>
                  </a:lnTo>
                  <a:lnTo>
                    <a:pt x="3884" y="6"/>
                  </a:lnTo>
                  <a:lnTo>
                    <a:pt x="3884" y="8"/>
                  </a:lnTo>
                  <a:lnTo>
                    <a:pt x="3882" y="9"/>
                  </a:lnTo>
                  <a:lnTo>
                    <a:pt x="3880" y="11"/>
                  </a:lnTo>
                  <a:lnTo>
                    <a:pt x="3876" y="13"/>
                  </a:lnTo>
                  <a:lnTo>
                    <a:pt x="3872" y="13"/>
                  </a:lnTo>
                  <a:lnTo>
                    <a:pt x="3870" y="13"/>
                  </a:lnTo>
                  <a:lnTo>
                    <a:pt x="3691" y="13"/>
                  </a:lnTo>
                  <a:lnTo>
                    <a:pt x="3689" y="13"/>
                  </a:lnTo>
                  <a:lnTo>
                    <a:pt x="3686" y="13"/>
                  </a:lnTo>
                  <a:lnTo>
                    <a:pt x="3682" y="11"/>
                  </a:lnTo>
                  <a:lnTo>
                    <a:pt x="3680" y="9"/>
                  </a:lnTo>
                  <a:lnTo>
                    <a:pt x="3678" y="8"/>
                  </a:lnTo>
                  <a:lnTo>
                    <a:pt x="3678" y="6"/>
                  </a:lnTo>
                  <a:lnTo>
                    <a:pt x="3678" y="5"/>
                  </a:lnTo>
                  <a:lnTo>
                    <a:pt x="3680" y="4"/>
                  </a:lnTo>
                  <a:lnTo>
                    <a:pt x="3682" y="2"/>
                  </a:lnTo>
                  <a:lnTo>
                    <a:pt x="3686" y="0"/>
                  </a:lnTo>
                  <a:lnTo>
                    <a:pt x="3689" y="0"/>
                  </a:lnTo>
                  <a:lnTo>
                    <a:pt x="3691" y="0"/>
                  </a:lnTo>
                  <a:close/>
                  <a:moveTo>
                    <a:pt x="3999" y="0"/>
                  </a:moveTo>
                  <a:lnTo>
                    <a:pt x="4065" y="0"/>
                  </a:lnTo>
                  <a:lnTo>
                    <a:pt x="4067" y="0"/>
                  </a:lnTo>
                  <a:lnTo>
                    <a:pt x="4068" y="0"/>
                  </a:lnTo>
                  <a:lnTo>
                    <a:pt x="4074" y="2"/>
                  </a:lnTo>
                  <a:lnTo>
                    <a:pt x="4076" y="4"/>
                  </a:lnTo>
                  <a:lnTo>
                    <a:pt x="4078" y="5"/>
                  </a:lnTo>
                  <a:lnTo>
                    <a:pt x="4078" y="6"/>
                  </a:lnTo>
                  <a:lnTo>
                    <a:pt x="4078" y="8"/>
                  </a:lnTo>
                  <a:lnTo>
                    <a:pt x="4076" y="9"/>
                  </a:lnTo>
                  <a:lnTo>
                    <a:pt x="4074" y="11"/>
                  </a:lnTo>
                  <a:lnTo>
                    <a:pt x="4068" y="13"/>
                  </a:lnTo>
                  <a:lnTo>
                    <a:pt x="4067" y="13"/>
                  </a:lnTo>
                  <a:lnTo>
                    <a:pt x="4065" y="13"/>
                  </a:lnTo>
                  <a:lnTo>
                    <a:pt x="3999" y="13"/>
                  </a:lnTo>
                  <a:lnTo>
                    <a:pt x="3995" y="13"/>
                  </a:lnTo>
                  <a:lnTo>
                    <a:pt x="3993" y="13"/>
                  </a:lnTo>
                  <a:lnTo>
                    <a:pt x="3989" y="11"/>
                  </a:lnTo>
                  <a:lnTo>
                    <a:pt x="3986" y="9"/>
                  </a:lnTo>
                  <a:lnTo>
                    <a:pt x="3986" y="8"/>
                  </a:lnTo>
                  <a:lnTo>
                    <a:pt x="3986" y="6"/>
                  </a:lnTo>
                  <a:lnTo>
                    <a:pt x="3986" y="5"/>
                  </a:lnTo>
                  <a:lnTo>
                    <a:pt x="3986" y="4"/>
                  </a:lnTo>
                  <a:lnTo>
                    <a:pt x="3989" y="2"/>
                  </a:lnTo>
                  <a:lnTo>
                    <a:pt x="3993" y="0"/>
                  </a:lnTo>
                  <a:lnTo>
                    <a:pt x="3995" y="0"/>
                  </a:lnTo>
                  <a:lnTo>
                    <a:pt x="3999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Rectangle 246"/>
            <p:cNvSpPr>
              <a:spLocks noChangeArrowheads="1"/>
            </p:cNvSpPr>
            <p:nvPr/>
          </p:nvSpPr>
          <p:spPr bwMode="auto">
            <a:xfrm>
              <a:off x="3909" y="2901"/>
              <a:ext cx="59" cy="11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/>
            </a:p>
          </p:txBody>
        </p:sp>
        <p:sp>
          <p:nvSpPr>
            <p:cNvPr id="179" name="Rectangle 247"/>
            <p:cNvSpPr>
              <a:spLocks noChangeArrowheads="1"/>
            </p:cNvSpPr>
            <p:nvPr/>
          </p:nvSpPr>
          <p:spPr bwMode="auto">
            <a:xfrm>
              <a:off x="3697" y="3145"/>
              <a:ext cx="197" cy="18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/2</a:t>
              </a:r>
              <a:endParaRPr lang="en-US" altLang="zh-CN" sz="2000"/>
            </a:p>
          </p:txBody>
        </p:sp>
        <p:sp>
          <p:nvSpPr>
            <p:cNvPr id="180" name="Rectangle 248"/>
            <p:cNvSpPr>
              <a:spLocks noChangeArrowheads="1"/>
            </p:cNvSpPr>
            <p:nvPr/>
          </p:nvSpPr>
          <p:spPr bwMode="auto">
            <a:xfrm>
              <a:off x="3425" y="3281"/>
              <a:ext cx="102" cy="21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</a:p>
          </p:txBody>
        </p:sp>
        <p:sp>
          <p:nvSpPr>
            <p:cNvPr id="181" name="Freeform 249"/>
            <p:cNvSpPr>
              <a:spLocks noEditPoints="1"/>
            </p:cNvSpPr>
            <p:nvPr/>
          </p:nvSpPr>
          <p:spPr bwMode="auto">
            <a:xfrm>
              <a:off x="3378" y="3608"/>
              <a:ext cx="1980" cy="8"/>
            </a:xfrm>
            <a:custGeom>
              <a:avLst/>
              <a:gdLst>
                <a:gd name="T0" fmla="*/ 1 w 3961"/>
                <a:gd name="T1" fmla="*/ 5 h 8"/>
                <a:gd name="T2" fmla="*/ 0 w 3961"/>
                <a:gd name="T3" fmla="*/ 5 h 8"/>
                <a:gd name="T4" fmla="*/ 3 w 3961"/>
                <a:gd name="T5" fmla="*/ 0 h 8"/>
                <a:gd name="T6" fmla="*/ 4 w 3961"/>
                <a:gd name="T7" fmla="*/ 6 h 8"/>
                <a:gd name="T8" fmla="*/ 2 w 3961"/>
                <a:gd name="T9" fmla="*/ 4 h 8"/>
                <a:gd name="T10" fmla="*/ 7 w 3961"/>
                <a:gd name="T11" fmla="*/ 0 h 8"/>
                <a:gd name="T12" fmla="*/ 7 w 3961"/>
                <a:gd name="T13" fmla="*/ 7 h 8"/>
                <a:gd name="T14" fmla="*/ 5 w 3961"/>
                <a:gd name="T15" fmla="*/ 2 h 8"/>
                <a:gd name="T16" fmla="*/ 10 w 3961"/>
                <a:gd name="T17" fmla="*/ 0 h 8"/>
                <a:gd name="T18" fmla="*/ 10 w 3961"/>
                <a:gd name="T19" fmla="*/ 8 h 8"/>
                <a:gd name="T20" fmla="*/ 8 w 3961"/>
                <a:gd name="T21" fmla="*/ 1 h 8"/>
                <a:gd name="T22" fmla="*/ 13 w 3961"/>
                <a:gd name="T23" fmla="*/ 1 h 8"/>
                <a:gd name="T24" fmla="*/ 11 w 3961"/>
                <a:gd name="T25" fmla="*/ 8 h 8"/>
                <a:gd name="T26" fmla="*/ 11 w 3961"/>
                <a:gd name="T27" fmla="*/ 0 h 8"/>
                <a:gd name="T28" fmla="*/ 16 w 3961"/>
                <a:gd name="T29" fmla="*/ 2 h 8"/>
                <a:gd name="T30" fmla="*/ 14 w 3961"/>
                <a:gd name="T31" fmla="*/ 7 h 8"/>
                <a:gd name="T32" fmla="*/ 14 w 3961"/>
                <a:gd name="T33" fmla="*/ 0 h 8"/>
                <a:gd name="T34" fmla="*/ 19 w 3961"/>
                <a:gd name="T35" fmla="*/ 4 h 8"/>
                <a:gd name="T36" fmla="*/ 17 w 3961"/>
                <a:gd name="T37" fmla="*/ 6 h 8"/>
                <a:gd name="T38" fmla="*/ 17 w 3961"/>
                <a:gd name="T39" fmla="*/ 0 h 8"/>
                <a:gd name="T40" fmla="*/ 22 w 3961"/>
                <a:gd name="T41" fmla="*/ 5 h 8"/>
                <a:gd name="T42" fmla="*/ 20 w 3961"/>
                <a:gd name="T43" fmla="*/ 5 h 8"/>
                <a:gd name="T44" fmla="*/ 23 w 3961"/>
                <a:gd name="T45" fmla="*/ 0 h 8"/>
                <a:gd name="T46" fmla="*/ 24 w 3961"/>
                <a:gd name="T47" fmla="*/ 6 h 8"/>
                <a:gd name="T48" fmla="*/ 23 w 3961"/>
                <a:gd name="T49" fmla="*/ 4 h 8"/>
                <a:gd name="T50" fmla="*/ 27 w 3961"/>
                <a:gd name="T51" fmla="*/ 0 h 8"/>
                <a:gd name="T52" fmla="*/ 27 w 3961"/>
                <a:gd name="T53" fmla="*/ 7 h 8"/>
                <a:gd name="T54" fmla="*/ 25 w 3961"/>
                <a:gd name="T55" fmla="*/ 2 h 8"/>
                <a:gd name="T56" fmla="*/ 30 w 3961"/>
                <a:gd name="T57" fmla="*/ 0 h 8"/>
                <a:gd name="T58" fmla="*/ 30 w 3961"/>
                <a:gd name="T59" fmla="*/ 8 h 8"/>
                <a:gd name="T60" fmla="*/ 28 w 3961"/>
                <a:gd name="T61" fmla="*/ 1 h 8"/>
                <a:gd name="T62" fmla="*/ 33 w 3961"/>
                <a:gd name="T63" fmla="*/ 1 h 8"/>
                <a:gd name="T64" fmla="*/ 31 w 3961"/>
                <a:gd name="T65" fmla="*/ 8 h 8"/>
                <a:gd name="T66" fmla="*/ 31 w 3961"/>
                <a:gd name="T67" fmla="*/ 0 h 8"/>
                <a:gd name="T68" fmla="*/ 36 w 3961"/>
                <a:gd name="T69" fmla="*/ 2 h 8"/>
                <a:gd name="T70" fmla="*/ 34 w 3961"/>
                <a:gd name="T71" fmla="*/ 7 h 8"/>
                <a:gd name="T72" fmla="*/ 34 w 3961"/>
                <a:gd name="T73" fmla="*/ 0 h 8"/>
                <a:gd name="T74" fmla="*/ 39 w 3961"/>
                <a:gd name="T75" fmla="*/ 4 h 8"/>
                <a:gd name="T76" fmla="*/ 37 w 3961"/>
                <a:gd name="T77" fmla="*/ 6 h 8"/>
                <a:gd name="T78" fmla="*/ 37 w 3961"/>
                <a:gd name="T79" fmla="*/ 0 h 8"/>
                <a:gd name="T80" fmla="*/ 42 w 3961"/>
                <a:gd name="T81" fmla="*/ 5 h 8"/>
                <a:gd name="T82" fmla="*/ 40 w 3961"/>
                <a:gd name="T83" fmla="*/ 5 h 8"/>
                <a:gd name="T84" fmla="*/ 43 w 3961"/>
                <a:gd name="T85" fmla="*/ 0 h 8"/>
                <a:gd name="T86" fmla="*/ 45 w 3961"/>
                <a:gd name="T87" fmla="*/ 6 h 8"/>
                <a:gd name="T88" fmla="*/ 43 w 3961"/>
                <a:gd name="T89" fmla="*/ 4 h 8"/>
                <a:gd name="T90" fmla="*/ 47 w 3961"/>
                <a:gd name="T91" fmla="*/ 0 h 8"/>
                <a:gd name="T92" fmla="*/ 47 w 3961"/>
                <a:gd name="T93" fmla="*/ 7 h 8"/>
                <a:gd name="T94" fmla="*/ 46 w 3961"/>
                <a:gd name="T95" fmla="*/ 2 h 8"/>
                <a:gd name="T96" fmla="*/ 50 w 3961"/>
                <a:gd name="T97" fmla="*/ 0 h 8"/>
                <a:gd name="T98" fmla="*/ 50 w 3961"/>
                <a:gd name="T99" fmla="*/ 8 h 8"/>
                <a:gd name="T100" fmla="*/ 48 w 3961"/>
                <a:gd name="T101" fmla="*/ 1 h 8"/>
                <a:gd name="T102" fmla="*/ 53 w 3961"/>
                <a:gd name="T103" fmla="*/ 1 h 8"/>
                <a:gd name="T104" fmla="*/ 51 w 3961"/>
                <a:gd name="T105" fmla="*/ 8 h 8"/>
                <a:gd name="T106" fmla="*/ 51 w 3961"/>
                <a:gd name="T107" fmla="*/ 0 h 8"/>
                <a:gd name="T108" fmla="*/ 56 w 3961"/>
                <a:gd name="T109" fmla="*/ 2 h 8"/>
                <a:gd name="T110" fmla="*/ 54 w 3961"/>
                <a:gd name="T111" fmla="*/ 7 h 8"/>
                <a:gd name="T112" fmla="*/ 54 w 3961"/>
                <a:gd name="T113" fmla="*/ 0 h 8"/>
                <a:gd name="T114" fmla="*/ 59 w 3961"/>
                <a:gd name="T115" fmla="*/ 4 h 8"/>
                <a:gd name="T116" fmla="*/ 57 w 3961"/>
                <a:gd name="T117" fmla="*/ 6 h 8"/>
                <a:gd name="T118" fmla="*/ 57 w 3961"/>
                <a:gd name="T119" fmla="*/ 0 h 8"/>
                <a:gd name="T120" fmla="*/ 61 w 3961"/>
                <a:gd name="T121" fmla="*/ 5 h 8"/>
                <a:gd name="T122" fmla="*/ 60 w 3961"/>
                <a:gd name="T123" fmla="*/ 5 h 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961"/>
                <a:gd name="T187" fmla="*/ 0 h 8"/>
                <a:gd name="T188" fmla="*/ 3961 w 3961"/>
                <a:gd name="T189" fmla="*/ 8 h 8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961" h="8">
                  <a:moveTo>
                    <a:pt x="7" y="0"/>
                  </a:moveTo>
                  <a:lnTo>
                    <a:pt x="115" y="0"/>
                  </a:lnTo>
                  <a:lnTo>
                    <a:pt x="119" y="0"/>
                  </a:lnTo>
                  <a:lnTo>
                    <a:pt x="121" y="1"/>
                  </a:lnTo>
                  <a:lnTo>
                    <a:pt x="122" y="2"/>
                  </a:lnTo>
                  <a:lnTo>
                    <a:pt x="122" y="4"/>
                  </a:lnTo>
                  <a:lnTo>
                    <a:pt x="122" y="5"/>
                  </a:lnTo>
                  <a:lnTo>
                    <a:pt x="121" y="6"/>
                  </a:lnTo>
                  <a:lnTo>
                    <a:pt x="119" y="7"/>
                  </a:lnTo>
                  <a:lnTo>
                    <a:pt x="115" y="8"/>
                  </a:lnTo>
                  <a:lnTo>
                    <a:pt x="7" y="8"/>
                  </a:lnTo>
                  <a:lnTo>
                    <a:pt x="5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1"/>
                  </a:lnTo>
                  <a:lnTo>
                    <a:pt x="5" y="0"/>
                  </a:lnTo>
                  <a:lnTo>
                    <a:pt x="7" y="0"/>
                  </a:lnTo>
                  <a:close/>
                  <a:moveTo>
                    <a:pt x="192" y="0"/>
                  </a:moveTo>
                  <a:lnTo>
                    <a:pt x="300" y="0"/>
                  </a:lnTo>
                  <a:lnTo>
                    <a:pt x="302" y="0"/>
                  </a:lnTo>
                  <a:lnTo>
                    <a:pt x="305" y="1"/>
                  </a:lnTo>
                  <a:lnTo>
                    <a:pt x="307" y="2"/>
                  </a:lnTo>
                  <a:lnTo>
                    <a:pt x="307" y="4"/>
                  </a:lnTo>
                  <a:lnTo>
                    <a:pt x="307" y="5"/>
                  </a:lnTo>
                  <a:lnTo>
                    <a:pt x="305" y="6"/>
                  </a:lnTo>
                  <a:lnTo>
                    <a:pt x="302" y="7"/>
                  </a:lnTo>
                  <a:lnTo>
                    <a:pt x="300" y="8"/>
                  </a:lnTo>
                  <a:lnTo>
                    <a:pt x="192" y="8"/>
                  </a:lnTo>
                  <a:lnTo>
                    <a:pt x="188" y="7"/>
                  </a:lnTo>
                  <a:lnTo>
                    <a:pt x="187" y="6"/>
                  </a:lnTo>
                  <a:lnTo>
                    <a:pt x="185" y="5"/>
                  </a:lnTo>
                  <a:lnTo>
                    <a:pt x="185" y="4"/>
                  </a:lnTo>
                  <a:lnTo>
                    <a:pt x="185" y="2"/>
                  </a:lnTo>
                  <a:lnTo>
                    <a:pt x="187" y="1"/>
                  </a:lnTo>
                  <a:lnTo>
                    <a:pt x="188" y="0"/>
                  </a:lnTo>
                  <a:lnTo>
                    <a:pt x="192" y="0"/>
                  </a:lnTo>
                  <a:close/>
                  <a:moveTo>
                    <a:pt x="375" y="0"/>
                  </a:moveTo>
                  <a:lnTo>
                    <a:pt x="483" y="0"/>
                  </a:lnTo>
                  <a:lnTo>
                    <a:pt x="486" y="0"/>
                  </a:lnTo>
                  <a:lnTo>
                    <a:pt x="488" y="1"/>
                  </a:lnTo>
                  <a:lnTo>
                    <a:pt x="490" y="2"/>
                  </a:lnTo>
                  <a:lnTo>
                    <a:pt x="490" y="4"/>
                  </a:lnTo>
                  <a:lnTo>
                    <a:pt x="490" y="5"/>
                  </a:lnTo>
                  <a:lnTo>
                    <a:pt x="488" y="6"/>
                  </a:lnTo>
                  <a:lnTo>
                    <a:pt x="486" y="7"/>
                  </a:lnTo>
                  <a:lnTo>
                    <a:pt x="483" y="8"/>
                  </a:lnTo>
                  <a:lnTo>
                    <a:pt x="375" y="8"/>
                  </a:lnTo>
                  <a:lnTo>
                    <a:pt x="373" y="7"/>
                  </a:lnTo>
                  <a:lnTo>
                    <a:pt x="371" y="6"/>
                  </a:lnTo>
                  <a:lnTo>
                    <a:pt x="370" y="5"/>
                  </a:lnTo>
                  <a:lnTo>
                    <a:pt x="368" y="4"/>
                  </a:lnTo>
                  <a:lnTo>
                    <a:pt x="370" y="2"/>
                  </a:lnTo>
                  <a:lnTo>
                    <a:pt x="371" y="1"/>
                  </a:lnTo>
                  <a:lnTo>
                    <a:pt x="373" y="0"/>
                  </a:lnTo>
                  <a:lnTo>
                    <a:pt x="375" y="0"/>
                  </a:lnTo>
                  <a:close/>
                  <a:moveTo>
                    <a:pt x="560" y="0"/>
                  </a:moveTo>
                  <a:lnTo>
                    <a:pt x="668" y="0"/>
                  </a:lnTo>
                  <a:lnTo>
                    <a:pt x="669" y="0"/>
                  </a:lnTo>
                  <a:lnTo>
                    <a:pt x="673" y="1"/>
                  </a:lnTo>
                  <a:lnTo>
                    <a:pt x="675" y="2"/>
                  </a:lnTo>
                  <a:lnTo>
                    <a:pt x="675" y="4"/>
                  </a:lnTo>
                  <a:lnTo>
                    <a:pt x="675" y="5"/>
                  </a:lnTo>
                  <a:lnTo>
                    <a:pt x="673" y="6"/>
                  </a:lnTo>
                  <a:lnTo>
                    <a:pt x="669" y="7"/>
                  </a:lnTo>
                  <a:lnTo>
                    <a:pt x="668" y="8"/>
                  </a:lnTo>
                  <a:lnTo>
                    <a:pt x="560" y="8"/>
                  </a:lnTo>
                  <a:lnTo>
                    <a:pt x="556" y="7"/>
                  </a:lnTo>
                  <a:lnTo>
                    <a:pt x="554" y="6"/>
                  </a:lnTo>
                  <a:lnTo>
                    <a:pt x="552" y="5"/>
                  </a:lnTo>
                  <a:lnTo>
                    <a:pt x="552" y="4"/>
                  </a:lnTo>
                  <a:lnTo>
                    <a:pt x="552" y="2"/>
                  </a:lnTo>
                  <a:lnTo>
                    <a:pt x="554" y="1"/>
                  </a:lnTo>
                  <a:lnTo>
                    <a:pt x="556" y="0"/>
                  </a:lnTo>
                  <a:lnTo>
                    <a:pt x="560" y="0"/>
                  </a:lnTo>
                  <a:close/>
                  <a:moveTo>
                    <a:pt x="745" y="0"/>
                  </a:moveTo>
                  <a:lnTo>
                    <a:pt x="850" y="0"/>
                  </a:lnTo>
                  <a:lnTo>
                    <a:pt x="854" y="0"/>
                  </a:lnTo>
                  <a:lnTo>
                    <a:pt x="856" y="1"/>
                  </a:lnTo>
                  <a:lnTo>
                    <a:pt x="858" y="2"/>
                  </a:lnTo>
                  <a:lnTo>
                    <a:pt x="860" y="4"/>
                  </a:lnTo>
                  <a:lnTo>
                    <a:pt x="858" y="5"/>
                  </a:lnTo>
                  <a:lnTo>
                    <a:pt x="856" y="6"/>
                  </a:lnTo>
                  <a:lnTo>
                    <a:pt x="854" y="7"/>
                  </a:lnTo>
                  <a:lnTo>
                    <a:pt x="850" y="8"/>
                  </a:lnTo>
                  <a:lnTo>
                    <a:pt x="745" y="8"/>
                  </a:lnTo>
                  <a:lnTo>
                    <a:pt x="741" y="7"/>
                  </a:lnTo>
                  <a:lnTo>
                    <a:pt x="739" y="6"/>
                  </a:lnTo>
                  <a:lnTo>
                    <a:pt x="737" y="5"/>
                  </a:lnTo>
                  <a:lnTo>
                    <a:pt x="735" y="4"/>
                  </a:lnTo>
                  <a:lnTo>
                    <a:pt x="737" y="2"/>
                  </a:lnTo>
                  <a:lnTo>
                    <a:pt x="739" y="1"/>
                  </a:lnTo>
                  <a:lnTo>
                    <a:pt x="741" y="0"/>
                  </a:lnTo>
                  <a:lnTo>
                    <a:pt x="745" y="0"/>
                  </a:lnTo>
                  <a:close/>
                  <a:moveTo>
                    <a:pt x="928" y="0"/>
                  </a:moveTo>
                  <a:lnTo>
                    <a:pt x="1035" y="0"/>
                  </a:lnTo>
                  <a:lnTo>
                    <a:pt x="1037" y="0"/>
                  </a:lnTo>
                  <a:lnTo>
                    <a:pt x="1041" y="1"/>
                  </a:lnTo>
                  <a:lnTo>
                    <a:pt x="1043" y="2"/>
                  </a:lnTo>
                  <a:lnTo>
                    <a:pt x="1043" y="4"/>
                  </a:lnTo>
                  <a:lnTo>
                    <a:pt x="1043" y="5"/>
                  </a:lnTo>
                  <a:lnTo>
                    <a:pt x="1041" y="6"/>
                  </a:lnTo>
                  <a:lnTo>
                    <a:pt x="1037" y="7"/>
                  </a:lnTo>
                  <a:lnTo>
                    <a:pt x="1035" y="8"/>
                  </a:lnTo>
                  <a:lnTo>
                    <a:pt x="928" y="8"/>
                  </a:lnTo>
                  <a:lnTo>
                    <a:pt x="924" y="7"/>
                  </a:lnTo>
                  <a:lnTo>
                    <a:pt x="922" y="6"/>
                  </a:lnTo>
                  <a:lnTo>
                    <a:pt x="920" y="5"/>
                  </a:lnTo>
                  <a:lnTo>
                    <a:pt x="920" y="4"/>
                  </a:lnTo>
                  <a:lnTo>
                    <a:pt x="920" y="2"/>
                  </a:lnTo>
                  <a:lnTo>
                    <a:pt x="922" y="1"/>
                  </a:lnTo>
                  <a:lnTo>
                    <a:pt x="924" y="0"/>
                  </a:lnTo>
                  <a:lnTo>
                    <a:pt x="928" y="0"/>
                  </a:lnTo>
                  <a:close/>
                  <a:moveTo>
                    <a:pt x="1113" y="0"/>
                  </a:moveTo>
                  <a:lnTo>
                    <a:pt x="1220" y="0"/>
                  </a:lnTo>
                  <a:lnTo>
                    <a:pt x="1222" y="0"/>
                  </a:lnTo>
                  <a:lnTo>
                    <a:pt x="1224" y="1"/>
                  </a:lnTo>
                  <a:lnTo>
                    <a:pt x="1226" y="2"/>
                  </a:lnTo>
                  <a:lnTo>
                    <a:pt x="1228" y="4"/>
                  </a:lnTo>
                  <a:lnTo>
                    <a:pt x="1226" y="5"/>
                  </a:lnTo>
                  <a:lnTo>
                    <a:pt x="1224" y="6"/>
                  </a:lnTo>
                  <a:lnTo>
                    <a:pt x="1222" y="7"/>
                  </a:lnTo>
                  <a:lnTo>
                    <a:pt x="1220" y="8"/>
                  </a:lnTo>
                  <a:lnTo>
                    <a:pt x="1113" y="8"/>
                  </a:lnTo>
                  <a:lnTo>
                    <a:pt x="1109" y="7"/>
                  </a:lnTo>
                  <a:lnTo>
                    <a:pt x="1107" y="6"/>
                  </a:lnTo>
                  <a:lnTo>
                    <a:pt x="1105" y="5"/>
                  </a:lnTo>
                  <a:lnTo>
                    <a:pt x="1105" y="4"/>
                  </a:lnTo>
                  <a:lnTo>
                    <a:pt x="1105" y="2"/>
                  </a:lnTo>
                  <a:lnTo>
                    <a:pt x="1107" y="1"/>
                  </a:lnTo>
                  <a:lnTo>
                    <a:pt x="1109" y="0"/>
                  </a:lnTo>
                  <a:lnTo>
                    <a:pt x="1113" y="0"/>
                  </a:lnTo>
                  <a:close/>
                  <a:moveTo>
                    <a:pt x="1296" y="0"/>
                  </a:moveTo>
                  <a:lnTo>
                    <a:pt x="1403" y="0"/>
                  </a:lnTo>
                  <a:lnTo>
                    <a:pt x="1407" y="0"/>
                  </a:lnTo>
                  <a:lnTo>
                    <a:pt x="1409" y="1"/>
                  </a:lnTo>
                  <a:lnTo>
                    <a:pt x="1411" y="2"/>
                  </a:lnTo>
                  <a:lnTo>
                    <a:pt x="1411" y="4"/>
                  </a:lnTo>
                  <a:lnTo>
                    <a:pt x="1411" y="5"/>
                  </a:lnTo>
                  <a:lnTo>
                    <a:pt x="1409" y="6"/>
                  </a:lnTo>
                  <a:lnTo>
                    <a:pt x="1407" y="7"/>
                  </a:lnTo>
                  <a:lnTo>
                    <a:pt x="1403" y="8"/>
                  </a:lnTo>
                  <a:lnTo>
                    <a:pt x="1296" y="8"/>
                  </a:lnTo>
                  <a:lnTo>
                    <a:pt x="1294" y="7"/>
                  </a:lnTo>
                  <a:lnTo>
                    <a:pt x="1290" y="6"/>
                  </a:lnTo>
                  <a:lnTo>
                    <a:pt x="1288" y="5"/>
                  </a:lnTo>
                  <a:lnTo>
                    <a:pt x="1288" y="4"/>
                  </a:lnTo>
                  <a:lnTo>
                    <a:pt x="1288" y="2"/>
                  </a:lnTo>
                  <a:lnTo>
                    <a:pt x="1290" y="1"/>
                  </a:lnTo>
                  <a:lnTo>
                    <a:pt x="1294" y="0"/>
                  </a:lnTo>
                  <a:lnTo>
                    <a:pt x="1296" y="0"/>
                  </a:lnTo>
                  <a:close/>
                  <a:moveTo>
                    <a:pt x="1480" y="0"/>
                  </a:moveTo>
                  <a:lnTo>
                    <a:pt x="1588" y="0"/>
                  </a:lnTo>
                  <a:lnTo>
                    <a:pt x="1590" y="0"/>
                  </a:lnTo>
                  <a:lnTo>
                    <a:pt x="1592" y="1"/>
                  </a:lnTo>
                  <a:lnTo>
                    <a:pt x="1594" y="2"/>
                  </a:lnTo>
                  <a:lnTo>
                    <a:pt x="1596" y="4"/>
                  </a:lnTo>
                  <a:lnTo>
                    <a:pt x="1594" y="5"/>
                  </a:lnTo>
                  <a:lnTo>
                    <a:pt x="1592" y="6"/>
                  </a:lnTo>
                  <a:lnTo>
                    <a:pt x="1590" y="7"/>
                  </a:lnTo>
                  <a:lnTo>
                    <a:pt x="1588" y="8"/>
                  </a:lnTo>
                  <a:lnTo>
                    <a:pt x="1480" y="8"/>
                  </a:lnTo>
                  <a:lnTo>
                    <a:pt x="1477" y="7"/>
                  </a:lnTo>
                  <a:lnTo>
                    <a:pt x="1475" y="6"/>
                  </a:lnTo>
                  <a:lnTo>
                    <a:pt x="1473" y="5"/>
                  </a:lnTo>
                  <a:lnTo>
                    <a:pt x="1473" y="4"/>
                  </a:lnTo>
                  <a:lnTo>
                    <a:pt x="1473" y="2"/>
                  </a:lnTo>
                  <a:lnTo>
                    <a:pt x="1475" y="1"/>
                  </a:lnTo>
                  <a:lnTo>
                    <a:pt x="1477" y="0"/>
                  </a:lnTo>
                  <a:lnTo>
                    <a:pt x="1480" y="0"/>
                  </a:lnTo>
                  <a:close/>
                  <a:moveTo>
                    <a:pt x="1663" y="0"/>
                  </a:moveTo>
                  <a:lnTo>
                    <a:pt x="1771" y="0"/>
                  </a:lnTo>
                  <a:lnTo>
                    <a:pt x="1775" y="0"/>
                  </a:lnTo>
                  <a:lnTo>
                    <a:pt x="1777" y="1"/>
                  </a:lnTo>
                  <a:lnTo>
                    <a:pt x="1778" y="2"/>
                  </a:lnTo>
                  <a:lnTo>
                    <a:pt x="1778" y="4"/>
                  </a:lnTo>
                  <a:lnTo>
                    <a:pt x="1778" y="5"/>
                  </a:lnTo>
                  <a:lnTo>
                    <a:pt x="1777" y="6"/>
                  </a:lnTo>
                  <a:lnTo>
                    <a:pt x="1775" y="7"/>
                  </a:lnTo>
                  <a:lnTo>
                    <a:pt x="1771" y="8"/>
                  </a:lnTo>
                  <a:lnTo>
                    <a:pt x="1663" y="8"/>
                  </a:lnTo>
                  <a:lnTo>
                    <a:pt x="1662" y="7"/>
                  </a:lnTo>
                  <a:lnTo>
                    <a:pt x="1658" y="6"/>
                  </a:lnTo>
                  <a:lnTo>
                    <a:pt x="1656" y="5"/>
                  </a:lnTo>
                  <a:lnTo>
                    <a:pt x="1656" y="4"/>
                  </a:lnTo>
                  <a:lnTo>
                    <a:pt x="1656" y="2"/>
                  </a:lnTo>
                  <a:lnTo>
                    <a:pt x="1658" y="1"/>
                  </a:lnTo>
                  <a:lnTo>
                    <a:pt x="1662" y="0"/>
                  </a:lnTo>
                  <a:lnTo>
                    <a:pt x="1663" y="0"/>
                  </a:lnTo>
                  <a:close/>
                  <a:moveTo>
                    <a:pt x="1848" y="0"/>
                  </a:moveTo>
                  <a:lnTo>
                    <a:pt x="1956" y="0"/>
                  </a:lnTo>
                  <a:lnTo>
                    <a:pt x="1958" y="0"/>
                  </a:lnTo>
                  <a:lnTo>
                    <a:pt x="1960" y="1"/>
                  </a:lnTo>
                  <a:lnTo>
                    <a:pt x="1961" y="2"/>
                  </a:lnTo>
                  <a:lnTo>
                    <a:pt x="1963" y="4"/>
                  </a:lnTo>
                  <a:lnTo>
                    <a:pt x="1961" y="5"/>
                  </a:lnTo>
                  <a:lnTo>
                    <a:pt x="1960" y="6"/>
                  </a:lnTo>
                  <a:lnTo>
                    <a:pt x="1958" y="7"/>
                  </a:lnTo>
                  <a:lnTo>
                    <a:pt x="1956" y="8"/>
                  </a:lnTo>
                  <a:lnTo>
                    <a:pt x="1848" y="8"/>
                  </a:lnTo>
                  <a:lnTo>
                    <a:pt x="1844" y="7"/>
                  </a:lnTo>
                  <a:lnTo>
                    <a:pt x="1843" y="6"/>
                  </a:lnTo>
                  <a:lnTo>
                    <a:pt x="1841" y="5"/>
                  </a:lnTo>
                  <a:lnTo>
                    <a:pt x="1841" y="4"/>
                  </a:lnTo>
                  <a:lnTo>
                    <a:pt x="1841" y="2"/>
                  </a:lnTo>
                  <a:lnTo>
                    <a:pt x="1843" y="1"/>
                  </a:lnTo>
                  <a:lnTo>
                    <a:pt x="1844" y="0"/>
                  </a:lnTo>
                  <a:lnTo>
                    <a:pt x="1848" y="0"/>
                  </a:lnTo>
                  <a:close/>
                  <a:moveTo>
                    <a:pt x="2031" y="0"/>
                  </a:moveTo>
                  <a:lnTo>
                    <a:pt x="2139" y="0"/>
                  </a:lnTo>
                  <a:lnTo>
                    <a:pt x="2142" y="0"/>
                  </a:lnTo>
                  <a:lnTo>
                    <a:pt x="2144" y="1"/>
                  </a:lnTo>
                  <a:lnTo>
                    <a:pt x="2146" y="2"/>
                  </a:lnTo>
                  <a:lnTo>
                    <a:pt x="2146" y="4"/>
                  </a:lnTo>
                  <a:lnTo>
                    <a:pt x="2146" y="5"/>
                  </a:lnTo>
                  <a:lnTo>
                    <a:pt x="2144" y="6"/>
                  </a:lnTo>
                  <a:lnTo>
                    <a:pt x="2142" y="7"/>
                  </a:lnTo>
                  <a:lnTo>
                    <a:pt x="2139" y="8"/>
                  </a:lnTo>
                  <a:lnTo>
                    <a:pt x="2031" y="8"/>
                  </a:lnTo>
                  <a:lnTo>
                    <a:pt x="2029" y="7"/>
                  </a:lnTo>
                  <a:lnTo>
                    <a:pt x="2026" y="6"/>
                  </a:lnTo>
                  <a:lnTo>
                    <a:pt x="2024" y="5"/>
                  </a:lnTo>
                  <a:lnTo>
                    <a:pt x="2024" y="4"/>
                  </a:lnTo>
                  <a:lnTo>
                    <a:pt x="2024" y="2"/>
                  </a:lnTo>
                  <a:lnTo>
                    <a:pt x="2026" y="1"/>
                  </a:lnTo>
                  <a:lnTo>
                    <a:pt x="2029" y="0"/>
                  </a:lnTo>
                  <a:lnTo>
                    <a:pt x="2031" y="0"/>
                  </a:lnTo>
                  <a:close/>
                  <a:moveTo>
                    <a:pt x="2216" y="0"/>
                  </a:moveTo>
                  <a:lnTo>
                    <a:pt x="2324" y="0"/>
                  </a:lnTo>
                  <a:lnTo>
                    <a:pt x="2325" y="0"/>
                  </a:lnTo>
                  <a:lnTo>
                    <a:pt x="2329" y="1"/>
                  </a:lnTo>
                  <a:lnTo>
                    <a:pt x="2329" y="2"/>
                  </a:lnTo>
                  <a:lnTo>
                    <a:pt x="2331" y="4"/>
                  </a:lnTo>
                  <a:lnTo>
                    <a:pt x="2329" y="5"/>
                  </a:lnTo>
                  <a:lnTo>
                    <a:pt x="2329" y="6"/>
                  </a:lnTo>
                  <a:lnTo>
                    <a:pt x="2325" y="7"/>
                  </a:lnTo>
                  <a:lnTo>
                    <a:pt x="2324" y="8"/>
                  </a:lnTo>
                  <a:lnTo>
                    <a:pt x="2216" y="8"/>
                  </a:lnTo>
                  <a:lnTo>
                    <a:pt x="2212" y="7"/>
                  </a:lnTo>
                  <a:lnTo>
                    <a:pt x="2210" y="6"/>
                  </a:lnTo>
                  <a:lnTo>
                    <a:pt x="2209" y="5"/>
                  </a:lnTo>
                  <a:lnTo>
                    <a:pt x="2209" y="4"/>
                  </a:lnTo>
                  <a:lnTo>
                    <a:pt x="2209" y="2"/>
                  </a:lnTo>
                  <a:lnTo>
                    <a:pt x="2210" y="1"/>
                  </a:lnTo>
                  <a:lnTo>
                    <a:pt x="2212" y="0"/>
                  </a:lnTo>
                  <a:lnTo>
                    <a:pt x="2216" y="0"/>
                  </a:lnTo>
                  <a:close/>
                  <a:moveTo>
                    <a:pt x="2399" y="0"/>
                  </a:moveTo>
                  <a:lnTo>
                    <a:pt x="2507" y="0"/>
                  </a:lnTo>
                  <a:lnTo>
                    <a:pt x="2510" y="0"/>
                  </a:lnTo>
                  <a:lnTo>
                    <a:pt x="2512" y="1"/>
                  </a:lnTo>
                  <a:lnTo>
                    <a:pt x="2514" y="2"/>
                  </a:lnTo>
                  <a:lnTo>
                    <a:pt x="2514" y="4"/>
                  </a:lnTo>
                  <a:lnTo>
                    <a:pt x="2514" y="5"/>
                  </a:lnTo>
                  <a:lnTo>
                    <a:pt x="2512" y="6"/>
                  </a:lnTo>
                  <a:lnTo>
                    <a:pt x="2510" y="7"/>
                  </a:lnTo>
                  <a:lnTo>
                    <a:pt x="2507" y="8"/>
                  </a:lnTo>
                  <a:lnTo>
                    <a:pt x="2399" y="8"/>
                  </a:lnTo>
                  <a:lnTo>
                    <a:pt x="2397" y="7"/>
                  </a:lnTo>
                  <a:lnTo>
                    <a:pt x="2393" y="6"/>
                  </a:lnTo>
                  <a:lnTo>
                    <a:pt x="2393" y="5"/>
                  </a:lnTo>
                  <a:lnTo>
                    <a:pt x="2391" y="4"/>
                  </a:lnTo>
                  <a:lnTo>
                    <a:pt x="2393" y="2"/>
                  </a:lnTo>
                  <a:lnTo>
                    <a:pt x="2393" y="1"/>
                  </a:lnTo>
                  <a:lnTo>
                    <a:pt x="2397" y="0"/>
                  </a:lnTo>
                  <a:lnTo>
                    <a:pt x="2399" y="0"/>
                  </a:lnTo>
                  <a:close/>
                  <a:moveTo>
                    <a:pt x="2584" y="0"/>
                  </a:moveTo>
                  <a:lnTo>
                    <a:pt x="2691" y="0"/>
                  </a:lnTo>
                  <a:lnTo>
                    <a:pt x="2693" y="0"/>
                  </a:lnTo>
                  <a:lnTo>
                    <a:pt x="2697" y="1"/>
                  </a:lnTo>
                  <a:lnTo>
                    <a:pt x="2699" y="2"/>
                  </a:lnTo>
                  <a:lnTo>
                    <a:pt x="2699" y="4"/>
                  </a:lnTo>
                  <a:lnTo>
                    <a:pt x="2699" y="5"/>
                  </a:lnTo>
                  <a:lnTo>
                    <a:pt x="2697" y="6"/>
                  </a:lnTo>
                  <a:lnTo>
                    <a:pt x="2693" y="7"/>
                  </a:lnTo>
                  <a:lnTo>
                    <a:pt x="2691" y="8"/>
                  </a:lnTo>
                  <a:lnTo>
                    <a:pt x="2584" y="8"/>
                  </a:lnTo>
                  <a:lnTo>
                    <a:pt x="2580" y="7"/>
                  </a:lnTo>
                  <a:lnTo>
                    <a:pt x="2578" y="6"/>
                  </a:lnTo>
                  <a:lnTo>
                    <a:pt x="2576" y="5"/>
                  </a:lnTo>
                  <a:lnTo>
                    <a:pt x="2576" y="4"/>
                  </a:lnTo>
                  <a:lnTo>
                    <a:pt x="2576" y="2"/>
                  </a:lnTo>
                  <a:lnTo>
                    <a:pt x="2578" y="1"/>
                  </a:lnTo>
                  <a:lnTo>
                    <a:pt x="2580" y="0"/>
                  </a:lnTo>
                  <a:lnTo>
                    <a:pt x="2584" y="0"/>
                  </a:lnTo>
                  <a:close/>
                  <a:moveTo>
                    <a:pt x="2767" y="0"/>
                  </a:moveTo>
                  <a:lnTo>
                    <a:pt x="2874" y="0"/>
                  </a:lnTo>
                  <a:lnTo>
                    <a:pt x="2878" y="0"/>
                  </a:lnTo>
                  <a:lnTo>
                    <a:pt x="2880" y="1"/>
                  </a:lnTo>
                  <a:lnTo>
                    <a:pt x="2882" y="2"/>
                  </a:lnTo>
                  <a:lnTo>
                    <a:pt x="2882" y="4"/>
                  </a:lnTo>
                  <a:lnTo>
                    <a:pt x="2882" y="5"/>
                  </a:lnTo>
                  <a:lnTo>
                    <a:pt x="2880" y="6"/>
                  </a:lnTo>
                  <a:lnTo>
                    <a:pt x="2878" y="7"/>
                  </a:lnTo>
                  <a:lnTo>
                    <a:pt x="2874" y="8"/>
                  </a:lnTo>
                  <a:lnTo>
                    <a:pt x="2767" y="8"/>
                  </a:lnTo>
                  <a:lnTo>
                    <a:pt x="2765" y="7"/>
                  </a:lnTo>
                  <a:lnTo>
                    <a:pt x="2763" y="6"/>
                  </a:lnTo>
                  <a:lnTo>
                    <a:pt x="2761" y="5"/>
                  </a:lnTo>
                  <a:lnTo>
                    <a:pt x="2759" y="4"/>
                  </a:lnTo>
                  <a:lnTo>
                    <a:pt x="2761" y="2"/>
                  </a:lnTo>
                  <a:lnTo>
                    <a:pt x="2763" y="1"/>
                  </a:lnTo>
                  <a:lnTo>
                    <a:pt x="2765" y="0"/>
                  </a:lnTo>
                  <a:lnTo>
                    <a:pt x="2767" y="0"/>
                  </a:lnTo>
                  <a:close/>
                  <a:moveTo>
                    <a:pt x="2952" y="0"/>
                  </a:moveTo>
                  <a:lnTo>
                    <a:pt x="3059" y="0"/>
                  </a:lnTo>
                  <a:lnTo>
                    <a:pt x="3061" y="0"/>
                  </a:lnTo>
                  <a:lnTo>
                    <a:pt x="3065" y="1"/>
                  </a:lnTo>
                  <a:lnTo>
                    <a:pt x="3067" y="2"/>
                  </a:lnTo>
                  <a:lnTo>
                    <a:pt x="3067" y="4"/>
                  </a:lnTo>
                  <a:lnTo>
                    <a:pt x="3067" y="5"/>
                  </a:lnTo>
                  <a:lnTo>
                    <a:pt x="3065" y="6"/>
                  </a:lnTo>
                  <a:lnTo>
                    <a:pt x="3061" y="7"/>
                  </a:lnTo>
                  <a:lnTo>
                    <a:pt x="3059" y="8"/>
                  </a:lnTo>
                  <a:lnTo>
                    <a:pt x="2952" y="8"/>
                  </a:lnTo>
                  <a:lnTo>
                    <a:pt x="2948" y="7"/>
                  </a:lnTo>
                  <a:lnTo>
                    <a:pt x="2946" y="6"/>
                  </a:lnTo>
                  <a:lnTo>
                    <a:pt x="2944" y="5"/>
                  </a:lnTo>
                  <a:lnTo>
                    <a:pt x="2944" y="4"/>
                  </a:lnTo>
                  <a:lnTo>
                    <a:pt x="2944" y="2"/>
                  </a:lnTo>
                  <a:lnTo>
                    <a:pt x="2946" y="1"/>
                  </a:lnTo>
                  <a:lnTo>
                    <a:pt x="2948" y="0"/>
                  </a:lnTo>
                  <a:lnTo>
                    <a:pt x="2952" y="0"/>
                  </a:lnTo>
                  <a:close/>
                  <a:moveTo>
                    <a:pt x="3137" y="0"/>
                  </a:moveTo>
                  <a:lnTo>
                    <a:pt x="3242" y="0"/>
                  </a:lnTo>
                  <a:lnTo>
                    <a:pt x="3246" y="0"/>
                  </a:lnTo>
                  <a:lnTo>
                    <a:pt x="3248" y="1"/>
                  </a:lnTo>
                  <a:lnTo>
                    <a:pt x="3250" y="2"/>
                  </a:lnTo>
                  <a:lnTo>
                    <a:pt x="3250" y="4"/>
                  </a:lnTo>
                  <a:lnTo>
                    <a:pt x="3250" y="5"/>
                  </a:lnTo>
                  <a:lnTo>
                    <a:pt x="3248" y="6"/>
                  </a:lnTo>
                  <a:lnTo>
                    <a:pt x="3246" y="7"/>
                  </a:lnTo>
                  <a:lnTo>
                    <a:pt x="3242" y="8"/>
                  </a:lnTo>
                  <a:lnTo>
                    <a:pt x="3137" y="8"/>
                  </a:lnTo>
                  <a:lnTo>
                    <a:pt x="3133" y="7"/>
                  </a:lnTo>
                  <a:lnTo>
                    <a:pt x="3131" y="6"/>
                  </a:lnTo>
                  <a:lnTo>
                    <a:pt x="3129" y="5"/>
                  </a:lnTo>
                  <a:lnTo>
                    <a:pt x="3127" y="4"/>
                  </a:lnTo>
                  <a:lnTo>
                    <a:pt x="3129" y="2"/>
                  </a:lnTo>
                  <a:lnTo>
                    <a:pt x="3131" y="1"/>
                  </a:lnTo>
                  <a:lnTo>
                    <a:pt x="3133" y="0"/>
                  </a:lnTo>
                  <a:lnTo>
                    <a:pt x="3137" y="0"/>
                  </a:lnTo>
                  <a:close/>
                  <a:moveTo>
                    <a:pt x="3319" y="0"/>
                  </a:moveTo>
                  <a:lnTo>
                    <a:pt x="3427" y="0"/>
                  </a:lnTo>
                  <a:lnTo>
                    <a:pt x="3429" y="0"/>
                  </a:lnTo>
                  <a:lnTo>
                    <a:pt x="3433" y="1"/>
                  </a:lnTo>
                  <a:lnTo>
                    <a:pt x="3435" y="2"/>
                  </a:lnTo>
                  <a:lnTo>
                    <a:pt x="3435" y="4"/>
                  </a:lnTo>
                  <a:lnTo>
                    <a:pt x="3435" y="5"/>
                  </a:lnTo>
                  <a:lnTo>
                    <a:pt x="3433" y="6"/>
                  </a:lnTo>
                  <a:lnTo>
                    <a:pt x="3429" y="7"/>
                  </a:lnTo>
                  <a:lnTo>
                    <a:pt x="3427" y="8"/>
                  </a:lnTo>
                  <a:lnTo>
                    <a:pt x="3319" y="8"/>
                  </a:lnTo>
                  <a:lnTo>
                    <a:pt x="3316" y="7"/>
                  </a:lnTo>
                  <a:lnTo>
                    <a:pt x="3314" y="6"/>
                  </a:lnTo>
                  <a:lnTo>
                    <a:pt x="3312" y="5"/>
                  </a:lnTo>
                  <a:lnTo>
                    <a:pt x="3312" y="4"/>
                  </a:lnTo>
                  <a:lnTo>
                    <a:pt x="3312" y="2"/>
                  </a:lnTo>
                  <a:lnTo>
                    <a:pt x="3314" y="1"/>
                  </a:lnTo>
                  <a:lnTo>
                    <a:pt x="3316" y="0"/>
                  </a:lnTo>
                  <a:lnTo>
                    <a:pt x="3319" y="0"/>
                  </a:lnTo>
                  <a:close/>
                  <a:moveTo>
                    <a:pt x="3504" y="0"/>
                  </a:moveTo>
                  <a:lnTo>
                    <a:pt x="3610" y="0"/>
                  </a:lnTo>
                  <a:lnTo>
                    <a:pt x="3614" y="0"/>
                  </a:lnTo>
                  <a:lnTo>
                    <a:pt x="3616" y="1"/>
                  </a:lnTo>
                  <a:lnTo>
                    <a:pt x="3617" y="2"/>
                  </a:lnTo>
                  <a:lnTo>
                    <a:pt x="3619" y="4"/>
                  </a:lnTo>
                  <a:lnTo>
                    <a:pt x="3617" y="5"/>
                  </a:lnTo>
                  <a:lnTo>
                    <a:pt x="3616" y="6"/>
                  </a:lnTo>
                  <a:lnTo>
                    <a:pt x="3614" y="7"/>
                  </a:lnTo>
                  <a:lnTo>
                    <a:pt x="3610" y="8"/>
                  </a:lnTo>
                  <a:lnTo>
                    <a:pt x="3504" y="8"/>
                  </a:lnTo>
                  <a:lnTo>
                    <a:pt x="3501" y="7"/>
                  </a:lnTo>
                  <a:lnTo>
                    <a:pt x="3499" y="6"/>
                  </a:lnTo>
                  <a:lnTo>
                    <a:pt x="3497" y="5"/>
                  </a:lnTo>
                  <a:lnTo>
                    <a:pt x="3497" y="4"/>
                  </a:lnTo>
                  <a:lnTo>
                    <a:pt x="3497" y="2"/>
                  </a:lnTo>
                  <a:lnTo>
                    <a:pt x="3499" y="1"/>
                  </a:lnTo>
                  <a:lnTo>
                    <a:pt x="3501" y="0"/>
                  </a:lnTo>
                  <a:lnTo>
                    <a:pt x="3504" y="0"/>
                  </a:lnTo>
                  <a:close/>
                  <a:moveTo>
                    <a:pt x="3687" y="0"/>
                  </a:moveTo>
                  <a:lnTo>
                    <a:pt x="3795" y="0"/>
                  </a:lnTo>
                  <a:lnTo>
                    <a:pt x="3799" y="0"/>
                  </a:lnTo>
                  <a:lnTo>
                    <a:pt x="3800" y="1"/>
                  </a:lnTo>
                  <a:lnTo>
                    <a:pt x="3802" y="2"/>
                  </a:lnTo>
                  <a:lnTo>
                    <a:pt x="3802" y="4"/>
                  </a:lnTo>
                  <a:lnTo>
                    <a:pt x="3802" y="5"/>
                  </a:lnTo>
                  <a:lnTo>
                    <a:pt x="3800" y="6"/>
                  </a:lnTo>
                  <a:lnTo>
                    <a:pt x="3799" y="7"/>
                  </a:lnTo>
                  <a:lnTo>
                    <a:pt x="3795" y="8"/>
                  </a:lnTo>
                  <a:lnTo>
                    <a:pt x="3687" y="8"/>
                  </a:lnTo>
                  <a:lnTo>
                    <a:pt x="3685" y="7"/>
                  </a:lnTo>
                  <a:lnTo>
                    <a:pt x="3682" y="6"/>
                  </a:lnTo>
                  <a:lnTo>
                    <a:pt x="3680" y="5"/>
                  </a:lnTo>
                  <a:lnTo>
                    <a:pt x="3680" y="4"/>
                  </a:lnTo>
                  <a:lnTo>
                    <a:pt x="3680" y="2"/>
                  </a:lnTo>
                  <a:lnTo>
                    <a:pt x="3682" y="1"/>
                  </a:lnTo>
                  <a:lnTo>
                    <a:pt x="3685" y="0"/>
                  </a:lnTo>
                  <a:lnTo>
                    <a:pt x="3687" y="0"/>
                  </a:lnTo>
                  <a:close/>
                  <a:moveTo>
                    <a:pt x="3872" y="0"/>
                  </a:moveTo>
                  <a:lnTo>
                    <a:pt x="3953" y="0"/>
                  </a:lnTo>
                  <a:lnTo>
                    <a:pt x="3957" y="0"/>
                  </a:lnTo>
                  <a:lnTo>
                    <a:pt x="3959" y="1"/>
                  </a:lnTo>
                  <a:lnTo>
                    <a:pt x="3961" y="2"/>
                  </a:lnTo>
                  <a:lnTo>
                    <a:pt x="3961" y="4"/>
                  </a:lnTo>
                  <a:lnTo>
                    <a:pt x="3961" y="5"/>
                  </a:lnTo>
                  <a:lnTo>
                    <a:pt x="3959" y="6"/>
                  </a:lnTo>
                  <a:lnTo>
                    <a:pt x="3957" y="7"/>
                  </a:lnTo>
                  <a:lnTo>
                    <a:pt x="3953" y="8"/>
                  </a:lnTo>
                  <a:lnTo>
                    <a:pt x="3872" y="8"/>
                  </a:lnTo>
                  <a:lnTo>
                    <a:pt x="3868" y="7"/>
                  </a:lnTo>
                  <a:lnTo>
                    <a:pt x="3866" y="6"/>
                  </a:lnTo>
                  <a:lnTo>
                    <a:pt x="3865" y="5"/>
                  </a:lnTo>
                  <a:lnTo>
                    <a:pt x="3865" y="4"/>
                  </a:lnTo>
                  <a:lnTo>
                    <a:pt x="3865" y="2"/>
                  </a:lnTo>
                  <a:lnTo>
                    <a:pt x="3866" y="1"/>
                  </a:lnTo>
                  <a:lnTo>
                    <a:pt x="3868" y="0"/>
                  </a:lnTo>
                  <a:lnTo>
                    <a:pt x="3872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Rectangle 250"/>
            <p:cNvSpPr>
              <a:spLocks noChangeArrowheads="1"/>
            </p:cNvSpPr>
            <p:nvPr/>
          </p:nvSpPr>
          <p:spPr bwMode="auto">
            <a:xfrm>
              <a:off x="4468" y="3689"/>
              <a:ext cx="109" cy="18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宋体" pitchFamily="2" charset="-122"/>
                </a:rPr>
                <a:t>I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宋体" pitchFamily="2" charset="-122"/>
                </a:rPr>
                <a:t>o</a:t>
              </a:r>
            </a:p>
          </p:txBody>
        </p:sp>
        <p:sp>
          <p:nvSpPr>
            <p:cNvPr id="183" name="Line 251"/>
            <p:cNvSpPr>
              <a:spLocks noChangeShapeType="1"/>
            </p:cNvSpPr>
            <p:nvPr/>
          </p:nvSpPr>
          <p:spPr bwMode="auto">
            <a:xfrm>
              <a:off x="4555" y="2675"/>
              <a:ext cx="1" cy="2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252"/>
            <p:cNvSpPr>
              <a:spLocks noChangeShapeType="1"/>
            </p:cNvSpPr>
            <p:nvPr/>
          </p:nvSpPr>
          <p:spPr bwMode="auto">
            <a:xfrm>
              <a:off x="5089" y="2675"/>
              <a:ext cx="1" cy="2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Line 253"/>
            <p:cNvSpPr>
              <a:spLocks noChangeShapeType="1"/>
            </p:cNvSpPr>
            <p:nvPr/>
          </p:nvSpPr>
          <p:spPr bwMode="auto">
            <a:xfrm flipV="1">
              <a:off x="3915" y="2674"/>
              <a:ext cx="1" cy="1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Freeform 254"/>
            <p:cNvSpPr>
              <a:spLocks/>
            </p:cNvSpPr>
            <p:nvPr/>
          </p:nvSpPr>
          <p:spPr bwMode="auto">
            <a:xfrm>
              <a:off x="3881" y="2834"/>
              <a:ext cx="68" cy="75"/>
            </a:xfrm>
            <a:custGeom>
              <a:avLst/>
              <a:gdLst>
                <a:gd name="T0" fmla="*/ 1 w 138"/>
                <a:gd name="T1" fmla="*/ 75 h 75"/>
                <a:gd name="T2" fmla="*/ 0 w 138"/>
                <a:gd name="T3" fmla="*/ 0 h 75"/>
                <a:gd name="T4" fmla="*/ 0 w 138"/>
                <a:gd name="T5" fmla="*/ 2 h 75"/>
                <a:gd name="T6" fmla="*/ 0 w 138"/>
                <a:gd name="T7" fmla="*/ 4 h 75"/>
                <a:gd name="T8" fmla="*/ 0 w 138"/>
                <a:gd name="T9" fmla="*/ 5 h 75"/>
                <a:gd name="T10" fmla="*/ 0 w 138"/>
                <a:gd name="T11" fmla="*/ 6 h 75"/>
                <a:gd name="T12" fmla="*/ 0 w 138"/>
                <a:gd name="T13" fmla="*/ 7 h 75"/>
                <a:gd name="T14" fmla="*/ 0 w 138"/>
                <a:gd name="T15" fmla="*/ 8 h 75"/>
                <a:gd name="T16" fmla="*/ 0 w 138"/>
                <a:gd name="T17" fmla="*/ 8 h 75"/>
                <a:gd name="T18" fmla="*/ 1 w 138"/>
                <a:gd name="T19" fmla="*/ 9 h 75"/>
                <a:gd name="T20" fmla="*/ 1 w 138"/>
                <a:gd name="T21" fmla="*/ 8 h 75"/>
                <a:gd name="T22" fmla="*/ 1 w 138"/>
                <a:gd name="T23" fmla="*/ 8 h 75"/>
                <a:gd name="T24" fmla="*/ 1 w 138"/>
                <a:gd name="T25" fmla="*/ 7 h 75"/>
                <a:gd name="T26" fmla="*/ 1 w 138"/>
                <a:gd name="T27" fmla="*/ 6 h 75"/>
                <a:gd name="T28" fmla="*/ 1 w 138"/>
                <a:gd name="T29" fmla="*/ 5 h 75"/>
                <a:gd name="T30" fmla="*/ 1 w 138"/>
                <a:gd name="T31" fmla="*/ 4 h 75"/>
                <a:gd name="T32" fmla="*/ 2 w 138"/>
                <a:gd name="T33" fmla="*/ 2 h 75"/>
                <a:gd name="T34" fmla="*/ 2 w 138"/>
                <a:gd name="T35" fmla="*/ 0 h 75"/>
                <a:gd name="T36" fmla="*/ 1 w 138"/>
                <a:gd name="T37" fmla="*/ 75 h 75"/>
                <a:gd name="T38" fmla="*/ 1 w 138"/>
                <a:gd name="T39" fmla="*/ 75 h 7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38"/>
                <a:gd name="T61" fmla="*/ 0 h 75"/>
                <a:gd name="T62" fmla="*/ 138 w 138"/>
                <a:gd name="T63" fmla="*/ 75 h 7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38" h="75">
                  <a:moveTo>
                    <a:pt x="70" y="75"/>
                  </a:moveTo>
                  <a:lnTo>
                    <a:pt x="0" y="0"/>
                  </a:lnTo>
                  <a:lnTo>
                    <a:pt x="10" y="2"/>
                  </a:lnTo>
                  <a:lnTo>
                    <a:pt x="17" y="4"/>
                  </a:lnTo>
                  <a:lnTo>
                    <a:pt x="25" y="5"/>
                  </a:lnTo>
                  <a:lnTo>
                    <a:pt x="34" y="6"/>
                  </a:lnTo>
                  <a:lnTo>
                    <a:pt x="44" y="7"/>
                  </a:lnTo>
                  <a:lnTo>
                    <a:pt x="51" y="8"/>
                  </a:lnTo>
                  <a:lnTo>
                    <a:pt x="60" y="8"/>
                  </a:lnTo>
                  <a:lnTo>
                    <a:pt x="70" y="9"/>
                  </a:lnTo>
                  <a:lnTo>
                    <a:pt x="77" y="8"/>
                  </a:lnTo>
                  <a:lnTo>
                    <a:pt x="87" y="8"/>
                  </a:lnTo>
                  <a:lnTo>
                    <a:pt x="96" y="7"/>
                  </a:lnTo>
                  <a:lnTo>
                    <a:pt x="104" y="6"/>
                  </a:lnTo>
                  <a:lnTo>
                    <a:pt x="113" y="5"/>
                  </a:lnTo>
                  <a:lnTo>
                    <a:pt x="121" y="4"/>
                  </a:lnTo>
                  <a:lnTo>
                    <a:pt x="130" y="2"/>
                  </a:lnTo>
                  <a:lnTo>
                    <a:pt x="138" y="0"/>
                  </a:lnTo>
                  <a:lnTo>
                    <a:pt x="70" y="75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7" name="Freeform 255"/>
            <p:cNvSpPr>
              <a:spLocks/>
            </p:cNvSpPr>
            <p:nvPr/>
          </p:nvSpPr>
          <p:spPr bwMode="auto">
            <a:xfrm>
              <a:off x="3881" y="2616"/>
              <a:ext cx="68" cy="77"/>
            </a:xfrm>
            <a:custGeom>
              <a:avLst/>
              <a:gdLst>
                <a:gd name="T0" fmla="*/ 1 w 138"/>
                <a:gd name="T1" fmla="*/ 0 h 77"/>
                <a:gd name="T2" fmla="*/ 2 w 138"/>
                <a:gd name="T3" fmla="*/ 77 h 77"/>
                <a:gd name="T4" fmla="*/ 2 w 138"/>
                <a:gd name="T5" fmla="*/ 75 h 77"/>
                <a:gd name="T6" fmla="*/ 1 w 138"/>
                <a:gd name="T7" fmla="*/ 73 h 77"/>
                <a:gd name="T8" fmla="*/ 1 w 138"/>
                <a:gd name="T9" fmla="*/ 71 h 77"/>
                <a:gd name="T10" fmla="*/ 1 w 138"/>
                <a:gd name="T11" fmla="*/ 70 h 77"/>
                <a:gd name="T12" fmla="*/ 1 w 138"/>
                <a:gd name="T13" fmla="*/ 69 h 77"/>
                <a:gd name="T14" fmla="*/ 1 w 138"/>
                <a:gd name="T15" fmla="*/ 69 h 77"/>
                <a:gd name="T16" fmla="*/ 1 w 138"/>
                <a:gd name="T17" fmla="*/ 68 h 77"/>
                <a:gd name="T18" fmla="*/ 1 w 138"/>
                <a:gd name="T19" fmla="*/ 68 h 77"/>
                <a:gd name="T20" fmla="*/ 0 w 138"/>
                <a:gd name="T21" fmla="*/ 68 h 77"/>
                <a:gd name="T22" fmla="*/ 0 w 138"/>
                <a:gd name="T23" fmla="*/ 69 h 77"/>
                <a:gd name="T24" fmla="*/ 0 w 138"/>
                <a:gd name="T25" fmla="*/ 69 h 77"/>
                <a:gd name="T26" fmla="*/ 0 w 138"/>
                <a:gd name="T27" fmla="*/ 70 h 77"/>
                <a:gd name="T28" fmla="*/ 0 w 138"/>
                <a:gd name="T29" fmla="*/ 71 h 77"/>
                <a:gd name="T30" fmla="*/ 0 w 138"/>
                <a:gd name="T31" fmla="*/ 73 h 77"/>
                <a:gd name="T32" fmla="*/ 0 w 138"/>
                <a:gd name="T33" fmla="*/ 75 h 77"/>
                <a:gd name="T34" fmla="*/ 0 w 138"/>
                <a:gd name="T35" fmla="*/ 77 h 77"/>
                <a:gd name="T36" fmla="*/ 0 w 138"/>
                <a:gd name="T37" fmla="*/ 77 h 77"/>
                <a:gd name="T38" fmla="*/ 1 w 138"/>
                <a:gd name="T39" fmla="*/ 0 h 77"/>
                <a:gd name="T40" fmla="*/ 1 w 138"/>
                <a:gd name="T41" fmla="*/ 0 h 7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8"/>
                <a:gd name="T64" fmla="*/ 0 h 77"/>
                <a:gd name="T65" fmla="*/ 138 w 138"/>
                <a:gd name="T66" fmla="*/ 77 h 7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8" h="77">
                  <a:moveTo>
                    <a:pt x="70" y="0"/>
                  </a:moveTo>
                  <a:lnTo>
                    <a:pt x="138" y="77"/>
                  </a:lnTo>
                  <a:lnTo>
                    <a:pt x="130" y="75"/>
                  </a:lnTo>
                  <a:lnTo>
                    <a:pt x="121" y="73"/>
                  </a:lnTo>
                  <a:lnTo>
                    <a:pt x="113" y="71"/>
                  </a:lnTo>
                  <a:lnTo>
                    <a:pt x="104" y="70"/>
                  </a:lnTo>
                  <a:lnTo>
                    <a:pt x="96" y="69"/>
                  </a:lnTo>
                  <a:lnTo>
                    <a:pt x="87" y="69"/>
                  </a:lnTo>
                  <a:lnTo>
                    <a:pt x="77" y="68"/>
                  </a:lnTo>
                  <a:lnTo>
                    <a:pt x="70" y="68"/>
                  </a:lnTo>
                  <a:lnTo>
                    <a:pt x="60" y="68"/>
                  </a:lnTo>
                  <a:lnTo>
                    <a:pt x="51" y="69"/>
                  </a:lnTo>
                  <a:lnTo>
                    <a:pt x="44" y="69"/>
                  </a:lnTo>
                  <a:lnTo>
                    <a:pt x="34" y="70"/>
                  </a:lnTo>
                  <a:lnTo>
                    <a:pt x="25" y="71"/>
                  </a:lnTo>
                  <a:lnTo>
                    <a:pt x="17" y="73"/>
                  </a:lnTo>
                  <a:lnTo>
                    <a:pt x="10" y="75"/>
                  </a:lnTo>
                  <a:lnTo>
                    <a:pt x="0" y="77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" name="Rectangle 256"/>
            <p:cNvSpPr>
              <a:spLocks noChangeArrowheads="1"/>
            </p:cNvSpPr>
            <p:nvPr/>
          </p:nvSpPr>
          <p:spPr bwMode="auto">
            <a:xfrm>
              <a:off x="3969" y="2691"/>
              <a:ext cx="109" cy="18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</p:txBody>
        </p:sp>
        <p:sp>
          <p:nvSpPr>
            <p:cNvPr id="189" name="Rectangle 257"/>
            <p:cNvSpPr>
              <a:spLocks noChangeArrowheads="1"/>
            </p:cNvSpPr>
            <p:nvPr/>
          </p:nvSpPr>
          <p:spPr bwMode="auto">
            <a:xfrm>
              <a:off x="4377" y="2147"/>
              <a:ext cx="156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(a)</a:t>
              </a:r>
              <a:endParaRPr lang="en-US" altLang="zh-CN"/>
            </a:p>
          </p:txBody>
        </p:sp>
        <p:sp>
          <p:nvSpPr>
            <p:cNvPr id="190" name="Rectangle 258"/>
            <p:cNvSpPr>
              <a:spLocks noChangeArrowheads="1"/>
            </p:cNvSpPr>
            <p:nvPr/>
          </p:nvSpPr>
          <p:spPr bwMode="auto">
            <a:xfrm>
              <a:off x="4374" y="4037"/>
              <a:ext cx="156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(b)</a:t>
              </a:r>
              <a:endParaRPr lang="en-US" altLang="zh-CN"/>
            </a:p>
          </p:txBody>
        </p:sp>
        <p:sp>
          <p:nvSpPr>
            <p:cNvPr id="191" name="Rectangle 259"/>
            <p:cNvSpPr>
              <a:spLocks noChangeArrowheads="1"/>
            </p:cNvSpPr>
            <p:nvPr/>
          </p:nvSpPr>
          <p:spPr bwMode="auto">
            <a:xfrm>
              <a:off x="4940" y="845"/>
              <a:ext cx="2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endParaRPr lang="en-US" altLang="zh-CN"/>
            </a:p>
          </p:txBody>
        </p:sp>
        <p:sp>
          <p:nvSpPr>
            <p:cNvPr id="192" name="Line 260"/>
            <p:cNvSpPr>
              <a:spLocks noChangeShapeType="1"/>
            </p:cNvSpPr>
            <p:nvPr/>
          </p:nvSpPr>
          <p:spPr bwMode="auto">
            <a:xfrm flipV="1">
              <a:off x="4423" y="3598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Line 261"/>
            <p:cNvSpPr>
              <a:spLocks noChangeShapeType="1"/>
            </p:cNvSpPr>
            <p:nvPr/>
          </p:nvSpPr>
          <p:spPr bwMode="auto">
            <a:xfrm>
              <a:off x="4423" y="3780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Line 262"/>
            <p:cNvSpPr>
              <a:spLocks noChangeShapeType="1"/>
            </p:cNvSpPr>
            <p:nvPr/>
          </p:nvSpPr>
          <p:spPr bwMode="auto">
            <a:xfrm flipV="1">
              <a:off x="3379" y="3372"/>
              <a:ext cx="0" cy="5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Freeform 263"/>
            <p:cNvSpPr>
              <a:spLocks/>
            </p:cNvSpPr>
            <p:nvPr/>
          </p:nvSpPr>
          <p:spPr bwMode="auto">
            <a:xfrm>
              <a:off x="4243" y="1153"/>
              <a:ext cx="32" cy="234"/>
            </a:xfrm>
            <a:custGeom>
              <a:avLst/>
              <a:gdLst>
                <a:gd name="T0" fmla="*/ 0 w 65"/>
                <a:gd name="T1" fmla="*/ 0 h 234"/>
                <a:gd name="T2" fmla="*/ 0 w 65"/>
                <a:gd name="T3" fmla="*/ 1 h 234"/>
                <a:gd name="T4" fmla="*/ 0 w 65"/>
                <a:gd name="T5" fmla="*/ 4 h 234"/>
                <a:gd name="T6" fmla="*/ 0 w 65"/>
                <a:gd name="T7" fmla="*/ 11 h 234"/>
                <a:gd name="T8" fmla="*/ 0 w 65"/>
                <a:gd name="T9" fmla="*/ 17 h 234"/>
                <a:gd name="T10" fmla="*/ 0 w 65"/>
                <a:gd name="T11" fmla="*/ 22 h 234"/>
                <a:gd name="T12" fmla="*/ 1 w 65"/>
                <a:gd name="T13" fmla="*/ 28 h 234"/>
                <a:gd name="T14" fmla="*/ 0 w 65"/>
                <a:gd name="T15" fmla="*/ 34 h 234"/>
                <a:gd name="T16" fmla="*/ 0 w 65"/>
                <a:gd name="T17" fmla="*/ 39 h 234"/>
                <a:gd name="T18" fmla="*/ 0 w 65"/>
                <a:gd name="T19" fmla="*/ 45 h 234"/>
                <a:gd name="T20" fmla="*/ 0 w 65"/>
                <a:gd name="T21" fmla="*/ 49 h 234"/>
                <a:gd name="T22" fmla="*/ 0 w 65"/>
                <a:gd name="T23" fmla="*/ 56 h 234"/>
                <a:gd name="T24" fmla="*/ 0 w 65"/>
                <a:gd name="T25" fmla="*/ 58 h 234"/>
                <a:gd name="T26" fmla="*/ 0 w 65"/>
                <a:gd name="T27" fmla="*/ 59 h 234"/>
                <a:gd name="T28" fmla="*/ 0 w 65"/>
                <a:gd name="T29" fmla="*/ 59 h 234"/>
                <a:gd name="T30" fmla="*/ 0 w 65"/>
                <a:gd name="T31" fmla="*/ 59 h 234"/>
                <a:gd name="T32" fmla="*/ 0 w 65"/>
                <a:gd name="T33" fmla="*/ 63 h 234"/>
                <a:gd name="T34" fmla="*/ 0 w 65"/>
                <a:gd name="T35" fmla="*/ 71 h 234"/>
                <a:gd name="T36" fmla="*/ 0 w 65"/>
                <a:gd name="T37" fmla="*/ 76 h 234"/>
                <a:gd name="T38" fmla="*/ 0 w 65"/>
                <a:gd name="T39" fmla="*/ 81 h 234"/>
                <a:gd name="T40" fmla="*/ 1 w 65"/>
                <a:gd name="T41" fmla="*/ 87 h 234"/>
                <a:gd name="T42" fmla="*/ 0 w 65"/>
                <a:gd name="T43" fmla="*/ 92 h 234"/>
                <a:gd name="T44" fmla="*/ 0 w 65"/>
                <a:gd name="T45" fmla="*/ 98 h 234"/>
                <a:gd name="T46" fmla="*/ 0 w 65"/>
                <a:gd name="T47" fmla="*/ 104 h 234"/>
                <a:gd name="T48" fmla="*/ 0 w 65"/>
                <a:gd name="T49" fmla="*/ 108 h 234"/>
                <a:gd name="T50" fmla="*/ 0 w 65"/>
                <a:gd name="T51" fmla="*/ 114 h 234"/>
                <a:gd name="T52" fmla="*/ 0 w 65"/>
                <a:gd name="T53" fmla="*/ 116 h 234"/>
                <a:gd name="T54" fmla="*/ 0 w 65"/>
                <a:gd name="T55" fmla="*/ 117 h 234"/>
                <a:gd name="T56" fmla="*/ 0 w 65"/>
                <a:gd name="T57" fmla="*/ 117 h 234"/>
                <a:gd name="T58" fmla="*/ 0 w 65"/>
                <a:gd name="T59" fmla="*/ 118 h 234"/>
                <a:gd name="T60" fmla="*/ 0 w 65"/>
                <a:gd name="T61" fmla="*/ 121 h 234"/>
                <a:gd name="T62" fmla="*/ 0 w 65"/>
                <a:gd name="T63" fmla="*/ 130 h 234"/>
                <a:gd name="T64" fmla="*/ 0 w 65"/>
                <a:gd name="T65" fmla="*/ 134 h 234"/>
                <a:gd name="T66" fmla="*/ 0 w 65"/>
                <a:gd name="T67" fmla="*/ 139 h 234"/>
                <a:gd name="T68" fmla="*/ 1 w 65"/>
                <a:gd name="T69" fmla="*/ 145 h 234"/>
                <a:gd name="T70" fmla="*/ 0 w 65"/>
                <a:gd name="T71" fmla="*/ 151 h 234"/>
                <a:gd name="T72" fmla="*/ 0 w 65"/>
                <a:gd name="T73" fmla="*/ 156 h 234"/>
                <a:gd name="T74" fmla="*/ 0 w 65"/>
                <a:gd name="T75" fmla="*/ 162 h 234"/>
                <a:gd name="T76" fmla="*/ 0 w 65"/>
                <a:gd name="T77" fmla="*/ 167 h 234"/>
                <a:gd name="T78" fmla="*/ 0 w 65"/>
                <a:gd name="T79" fmla="*/ 173 h 234"/>
                <a:gd name="T80" fmla="*/ 0 w 65"/>
                <a:gd name="T81" fmla="*/ 175 h 234"/>
                <a:gd name="T82" fmla="*/ 0 w 65"/>
                <a:gd name="T83" fmla="*/ 176 h 234"/>
                <a:gd name="T84" fmla="*/ 0 w 65"/>
                <a:gd name="T85" fmla="*/ 176 h 234"/>
                <a:gd name="T86" fmla="*/ 0 w 65"/>
                <a:gd name="T87" fmla="*/ 177 h 234"/>
                <a:gd name="T88" fmla="*/ 0 w 65"/>
                <a:gd name="T89" fmla="*/ 180 h 234"/>
                <a:gd name="T90" fmla="*/ 0 w 65"/>
                <a:gd name="T91" fmla="*/ 188 h 234"/>
                <a:gd name="T92" fmla="*/ 0 w 65"/>
                <a:gd name="T93" fmla="*/ 193 h 234"/>
                <a:gd name="T94" fmla="*/ 0 w 65"/>
                <a:gd name="T95" fmla="*/ 198 h 234"/>
                <a:gd name="T96" fmla="*/ 1 w 65"/>
                <a:gd name="T97" fmla="*/ 204 h 234"/>
                <a:gd name="T98" fmla="*/ 0 w 65"/>
                <a:gd name="T99" fmla="*/ 209 h 234"/>
                <a:gd name="T100" fmla="*/ 0 w 65"/>
                <a:gd name="T101" fmla="*/ 215 h 234"/>
                <a:gd name="T102" fmla="*/ 0 w 65"/>
                <a:gd name="T103" fmla="*/ 221 h 234"/>
                <a:gd name="T104" fmla="*/ 0 w 65"/>
                <a:gd name="T105" fmla="*/ 225 h 234"/>
                <a:gd name="T106" fmla="*/ 0 w 65"/>
                <a:gd name="T107" fmla="*/ 231 h 234"/>
                <a:gd name="T108" fmla="*/ 0 w 65"/>
                <a:gd name="T109" fmla="*/ 233 h 234"/>
                <a:gd name="T110" fmla="*/ 0 w 65"/>
                <a:gd name="T111" fmla="*/ 234 h 23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65"/>
                <a:gd name="T169" fmla="*/ 0 h 234"/>
                <a:gd name="T170" fmla="*/ 65 w 65"/>
                <a:gd name="T171" fmla="*/ 234 h 234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65" h="234">
                  <a:moveTo>
                    <a:pt x="0" y="0"/>
                  </a:moveTo>
                  <a:lnTo>
                    <a:pt x="6" y="0"/>
                  </a:lnTo>
                  <a:lnTo>
                    <a:pt x="12" y="0"/>
                  </a:lnTo>
                  <a:lnTo>
                    <a:pt x="19" y="1"/>
                  </a:lnTo>
                  <a:lnTo>
                    <a:pt x="25" y="2"/>
                  </a:lnTo>
                  <a:lnTo>
                    <a:pt x="34" y="4"/>
                  </a:lnTo>
                  <a:lnTo>
                    <a:pt x="44" y="7"/>
                  </a:lnTo>
                  <a:lnTo>
                    <a:pt x="51" y="11"/>
                  </a:lnTo>
                  <a:lnTo>
                    <a:pt x="55" y="15"/>
                  </a:lnTo>
                  <a:lnTo>
                    <a:pt x="59" y="17"/>
                  </a:lnTo>
                  <a:lnTo>
                    <a:pt x="61" y="20"/>
                  </a:lnTo>
                  <a:lnTo>
                    <a:pt x="63" y="22"/>
                  </a:lnTo>
                  <a:lnTo>
                    <a:pt x="63" y="25"/>
                  </a:lnTo>
                  <a:lnTo>
                    <a:pt x="65" y="28"/>
                  </a:lnTo>
                  <a:lnTo>
                    <a:pt x="65" y="31"/>
                  </a:lnTo>
                  <a:lnTo>
                    <a:pt x="63" y="34"/>
                  </a:lnTo>
                  <a:lnTo>
                    <a:pt x="63" y="37"/>
                  </a:lnTo>
                  <a:lnTo>
                    <a:pt x="61" y="39"/>
                  </a:lnTo>
                  <a:lnTo>
                    <a:pt x="57" y="43"/>
                  </a:lnTo>
                  <a:lnTo>
                    <a:pt x="55" y="45"/>
                  </a:lnTo>
                  <a:lnTo>
                    <a:pt x="51" y="47"/>
                  </a:lnTo>
                  <a:lnTo>
                    <a:pt x="48" y="49"/>
                  </a:lnTo>
                  <a:lnTo>
                    <a:pt x="38" y="53"/>
                  </a:lnTo>
                  <a:lnTo>
                    <a:pt x="29" y="56"/>
                  </a:lnTo>
                  <a:lnTo>
                    <a:pt x="23" y="57"/>
                  </a:lnTo>
                  <a:lnTo>
                    <a:pt x="17" y="58"/>
                  </a:lnTo>
                  <a:lnTo>
                    <a:pt x="12" y="58"/>
                  </a:lnTo>
                  <a:lnTo>
                    <a:pt x="4" y="59"/>
                  </a:lnTo>
                  <a:lnTo>
                    <a:pt x="0" y="59"/>
                  </a:lnTo>
                  <a:lnTo>
                    <a:pt x="6" y="59"/>
                  </a:lnTo>
                  <a:lnTo>
                    <a:pt x="12" y="59"/>
                  </a:lnTo>
                  <a:lnTo>
                    <a:pt x="19" y="59"/>
                  </a:lnTo>
                  <a:lnTo>
                    <a:pt x="25" y="60"/>
                  </a:lnTo>
                  <a:lnTo>
                    <a:pt x="34" y="63"/>
                  </a:lnTo>
                  <a:lnTo>
                    <a:pt x="44" y="66"/>
                  </a:lnTo>
                  <a:lnTo>
                    <a:pt x="51" y="71"/>
                  </a:lnTo>
                  <a:lnTo>
                    <a:pt x="55" y="73"/>
                  </a:lnTo>
                  <a:lnTo>
                    <a:pt x="59" y="76"/>
                  </a:lnTo>
                  <a:lnTo>
                    <a:pt x="61" y="78"/>
                  </a:lnTo>
                  <a:lnTo>
                    <a:pt x="63" y="81"/>
                  </a:lnTo>
                  <a:lnTo>
                    <a:pt x="63" y="84"/>
                  </a:lnTo>
                  <a:lnTo>
                    <a:pt x="65" y="87"/>
                  </a:lnTo>
                  <a:lnTo>
                    <a:pt x="65" y="90"/>
                  </a:lnTo>
                  <a:lnTo>
                    <a:pt x="63" y="92"/>
                  </a:lnTo>
                  <a:lnTo>
                    <a:pt x="63" y="95"/>
                  </a:lnTo>
                  <a:lnTo>
                    <a:pt x="61" y="98"/>
                  </a:lnTo>
                  <a:lnTo>
                    <a:pt x="57" y="101"/>
                  </a:lnTo>
                  <a:lnTo>
                    <a:pt x="55" y="104"/>
                  </a:lnTo>
                  <a:lnTo>
                    <a:pt x="51" y="106"/>
                  </a:lnTo>
                  <a:lnTo>
                    <a:pt x="48" y="108"/>
                  </a:lnTo>
                  <a:lnTo>
                    <a:pt x="38" y="112"/>
                  </a:lnTo>
                  <a:lnTo>
                    <a:pt x="29" y="114"/>
                  </a:lnTo>
                  <a:lnTo>
                    <a:pt x="23" y="115"/>
                  </a:lnTo>
                  <a:lnTo>
                    <a:pt x="17" y="116"/>
                  </a:lnTo>
                  <a:lnTo>
                    <a:pt x="12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6" y="117"/>
                  </a:lnTo>
                  <a:lnTo>
                    <a:pt x="12" y="117"/>
                  </a:lnTo>
                  <a:lnTo>
                    <a:pt x="19" y="118"/>
                  </a:lnTo>
                  <a:lnTo>
                    <a:pt x="25" y="119"/>
                  </a:lnTo>
                  <a:lnTo>
                    <a:pt x="34" y="121"/>
                  </a:lnTo>
                  <a:lnTo>
                    <a:pt x="44" y="125"/>
                  </a:lnTo>
                  <a:lnTo>
                    <a:pt x="51" y="130"/>
                  </a:lnTo>
                  <a:lnTo>
                    <a:pt x="55" y="132"/>
                  </a:lnTo>
                  <a:lnTo>
                    <a:pt x="59" y="134"/>
                  </a:lnTo>
                  <a:lnTo>
                    <a:pt x="61" y="137"/>
                  </a:lnTo>
                  <a:lnTo>
                    <a:pt x="63" y="139"/>
                  </a:lnTo>
                  <a:lnTo>
                    <a:pt x="63" y="142"/>
                  </a:lnTo>
                  <a:lnTo>
                    <a:pt x="65" y="145"/>
                  </a:lnTo>
                  <a:lnTo>
                    <a:pt x="65" y="148"/>
                  </a:lnTo>
                  <a:lnTo>
                    <a:pt x="63" y="151"/>
                  </a:lnTo>
                  <a:lnTo>
                    <a:pt x="63" y="154"/>
                  </a:lnTo>
                  <a:lnTo>
                    <a:pt x="61" y="156"/>
                  </a:lnTo>
                  <a:lnTo>
                    <a:pt x="57" y="160"/>
                  </a:lnTo>
                  <a:lnTo>
                    <a:pt x="55" y="162"/>
                  </a:lnTo>
                  <a:lnTo>
                    <a:pt x="51" y="164"/>
                  </a:lnTo>
                  <a:lnTo>
                    <a:pt x="48" y="167"/>
                  </a:lnTo>
                  <a:lnTo>
                    <a:pt x="38" y="170"/>
                  </a:lnTo>
                  <a:lnTo>
                    <a:pt x="29" y="173"/>
                  </a:lnTo>
                  <a:lnTo>
                    <a:pt x="23" y="174"/>
                  </a:lnTo>
                  <a:lnTo>
                    <a:pt x="17" y="175"/>
                  </a:lnTo>
                  <a:lnTo>
                    <a:pt x="12" y="175"/>
                  </a:lnTo>
                  <a:lnTo>
                    <a:pt x="4" y="176"/>
                  </a:lnTo>
                  <a:lnTo>
                    <a:pt x="0" y="176"/>
                  </a:lnTo>
                  <a:lnTo>
                    <a:pt x="6" y="176"/>
                  </a:lnTo>
                  <a:lnTo>
                    <a:pt x="12" y="176"/>
                  </a:lnTo>
                  <a:lnTo>
                    <a:pt x="19" y="177"/>
                  </a:lnTo>
                  <a:lnTo>
                    <a:pt x="25" y="177"/>
                  </a:lnTo>
                  <a:lnTo>
                    <a:pt x="34" y="180"/>
                  </a:lnTo>
                  <a:lnTo>
                    <a:pt x="44" y="183"/>
                  </a:lnTo>
                  <a:lnTo>
                    <a:pt x="51" y="188"/>
                  </a:lnTo>
                  <a:lnTo>
                    <a:pt x="55" y="190"/>
                  </a:lnTo>
                  <a:lnTo>
                    <a:pt x="59" y="193"/>
                  </a:lnTo>
                  <a:lnTo>
                    <a:pt x="61" y="195"/>
                  </a:lnTo>
                  <a:lnTo>
                    <a:pt x="63" y="198"/>
                  </a:lnTo>
                  <a:lnTo>
                    <a:pt x="63" y="201"/>
                  </a:lnTo>
                  <a:lnTo>
                    <a:pt x="65" y="204"/>
                  </a:lnTo>
                  <a:lnTo>
                    <a:pt x="65" y="207"/>
                  </a:lnTo>
                  <a:lnTo>
                    <a:pt x="63" y="209"/>
                  </a:lnTo>
                  <a:lnTo>
                    <a:pt x="63" y="212"/>
                  </a:lnTo>
                  <a:lnTo>
                    <a:pt x="61" y="215"/>
                  </a:lnTo>
                  <a:lnTo>
                    <a:pt x="57" y="218"/>
                  </a:lnTo>
                  <a:lnTo>
                    <a:pt x="55" y="221"/>
                  </a:lnTo>
                  <a:lnTo>
                    <a:pt x="51" y="223"/>
                  </a:lnTo>
                  <a:lnTo>
                    <a:pt x="48" y="225"/>
                  </a:lnTo>
                  <a:lnTo>
                    <a:pt x="38" y="229"/>
                  </a:lnTo>
                  <a:lnTo>
                    <a:pt x="29" y="231"/>
                  </a:lnTo>
                  <a:lnTo>
                    <a:pt x="23" y="233"/>
                  </a:lnTo>
                  <a:lnTo>
                    <a:pt x="17" y="233"/>
                  </a:lnTo>
                  <a:lnTo>
                    <a:pt x="12" y="234"/>
                  </a:lnTo>
                  <a:lnTo>
                    <a:pt x="4" y="234"/>
                  </a:lnTo>
                  <a:lnTo>
                    <a:pt x="0" y="2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Freeform 264"/>
            <p:cNvSpPr>
              <a:spLocks/>
            </p:cNvSpPr>
            <p:nvPr/>
          </p:nvSpPr>
          <p:spPr bwMode="auto">
            <a:xfrm>
              <a:off x="4333" y="1153"/>
              <a:ext cx="32" cy="234"/>
            </a:xfrm>
            <a:custGeom>
              <a:avLst/>
              <a:gdLst>
                <a:gd name="T0" fmla="*/ 0 w 65"/>
                <a:gd name="T1" fmla="*/ 0 h 234"/>
                <a:gd name="T2" fmla="*/ 0 w 65"/>
                <a:gd name="T3" fmla="*/ 1 h 234"/>
                <a:gd name="T4" fmla="*/ 0 w 65"/>
                <a:gd name="T5" fmla="*/ 4 h 234"/>
                <a:gd name="T6" fmla="*/ 0 w 65"/>
                <a:gd name="T7" fmla="*/ 11 h 234"/>
                <a:gd name="T8" fmla="*/ 0 w 65"/>
                <a:gd name="T9" fmla="*/ 17 h 234"/>
                <a:gd name="T10" fmla="*/ 0 w 65"/>
                <a:gd name="T11" fmla="*/ 22 h 234"/>
                <a:gd name="T12" fmla="*/ 0 w 65"/>
                <a:gd name="T13" fmla="*/ 28 h 234"/>
                <a:gd name="T14" fmla="*/ 0 w 65"/>
                <a:gd name="T15" fmla="*/ 34 h 234"/>
                <a:gd name="T16" fmla="*/ 0 w 65"/>
                <a:gd name="T17" fmla="*/ 39 h 234"/>
                <a:gd name="T18" fmla="*/ 0 w 65"/>
                <a:gd name="T19" fmla="*/ 45 h 234"/>
                <a:gd name="T20" fmla="*/ 0 w 65"/>
                <a:gd name="T21" fmla="*/ 49 h 234"/>
                <a:gd name="T22" fmla="*/ 0 w 65"/>
                <a:gd name="T23" fmla="*/ 56 h 234"/>
                <a:gd name="T24" fmla="*/ 0 w 65"/>
                <a:gd name="T25" fmla="*/ 58 h 234"/>
                <a:gd name="T26" fmla="*/ 0 w 65"/>
                <a:gd name="T27" fmla="*/ 59 h 234"/>
                <a:gd name="T28" fmla="*/ 0 w 65"/>
                <a:gd name="T29" fmla="*/ 59 h 234"/>
                <a:gd name="T30" fmla="*/ 0 w 65"/>
                <a:gd name="T31" fmla="*/ 59 h 234"/>
                <a:gd name="T32" fmla="*/ 0 w 65"/>
                <a:gd name="T33" fmla="*/ 63 h 234"/>
                <a:gd name="T34" fmla="*/ 0 w 65"/>
                <a:gd name="T35" fmla="*/ 71 h 234"/>
                <a:gd name="T36" fmla="*/ 0 w 65"/>
                <a:gd name="T37" fmla="*/ 76 h 234"/>
                <a:gd name="T38" fmla="*/ 0 w 65"/>
                <a:gd name="T39" fmla="*/ 81 h 234"/>
                <a:gd name="T40" fmla="*/ 0 w 65"/>
                <a:gd name="T41" fmla="*/ 87 h 234"/>
                <a:gd name="T42" fmla="*/ 0 w 65"/>
                <a:gd name="T43" fmla="*/ 92 h 234"/>
                <a:gd name="T44" fmla="*/ 0 w 65"/>
                <a:gd name="T45" fmla="*/ 98 h 234"/>
                <a:gd name="T46" fmla="*/ 0 w 65"/>
                <a:gd name="T47" fmla="*/ 104 h 234"/>
                <a:gd name="T48" fmla="*/ 0 w 65"/>
                <a:gd name="T49" fmla="*/ 108 h 234"/>
                <a:gd name="T50" fmla="*/ 0 w 65"/>
                <a:gd name="T51" fmla="*/ 114 h 234"/>
                <a:gd name="T52" fmla="*/ 0 w 65"/>
                <a:gd name="T53" fmla="*/ 116 h 234"/>
                <a:gd name="T54" fmla="*/ 0 w 65"/>
                <a:gd name="T55" fmla="*/ 117 h 234"/>
                <a:gd name="T56" fmla="*/ 0 w 65"/>
                <a:gd name="T57" fmla="*/ 117 h 234"/>
                <a:gd name="T58" fmla="*/ 0 w 65"/>
                <a:gd name="T59" fmla="*/ 118 h 234"/>
                <a:gd name="T60" fmla="*/ 0 w 65"/>
                <a:gd name="T61" fmla="*/ 121 h 234"/>
                <a:gd name="T62" fmla="*/ 0 w 65"/>
                <a:gd name="T63" fmla="*/ 130 h 234"/>
                <a:gd name="T64" fmla="*/ 0 w 65"/>
                <a:gd name="T65" fmla="*/ 134 h 234"/>
                <a:gd name="T66" fmla="*/ 0 w 65"/>
                <a:gd name="T67" fmla="*/ 139 h 234"/>
                <a:gd name="T68" fmla="*/ 0 w 65"/>
                <a:gd name="T69" fmla="*/ 145 h 234"/>
                <a:gd name="T70" fmla="*/ 0 w 65"/>
                <a:gd name="T71" fmla="*/ 151 h 234"/>
                <a:gd name="T72" fmla="*/ 0 w 65"/>
                <a:gd name="T73" fmla="*/ 156 h 234"/>
                <a:gd name="T74" fmla="*/ 0 w 65"/>
                <a:gd name="T75" fmla="*/ 162 h 234"/>
                <a:gd name="T76" fmla="*/ 0 w 65"/>
                <a:gd name="T77" fmla="*/ 167 h 234"/>
                <a:gd name="T78" fmla="*/ 0 w 65"/>
                <a:gd name="T79" fmla="*/ 173 h 234"/>
                <a:gd name="T80" fmla="*/ 0 w 65"/>
                <a:gd name="T81" fmla="*/ 175 h 234"/>
                <a:gd name="T82" fmla="*/ 0 w 65"/>
                <a:gd name="T83" fmla="*/ 176 h 234"/>
                <a:gd name="T84" fmla="*/ 0 w 65"/>
                <a:gd name="T85" fmla="*/ 176 h 234"/>
                <a:gd name="T86" fmla="*/ 0 w 65"/>
                <a:gd name="T87" fmla="*/ 177 h 234"/>
                <a:gd name="T88" fmla="*/ 0 w 65"/>
                <a:gd name="T89" fmla="*/ 180 h 234"/>
                <a:gd name="T90" fmla="*/ 0 w 65"/>
                <a:gd name="T91" fmla="*/ 188 h 234"/>
                <a:gd name="T92" fmla="*/ 0 w 65"/>
                <a:gd name="T93" fmla="*/ 193 h 234"/>
                <a:gd name="T94" fmla="*/ 0 w 65"/>
                <a:gd name="T95" fmla="*/ 198 h 234"/>
                <a:gd name="T96" fmla="*/ 0 w 65"/>
                <a:gd name="T97" fmla="*/ 204 h 234"/>
                <a:gd name="T98" fmla="*/ 0 w 65"/>
                <a:gd name="T99" fmla="*/ 209 h 234"/>
                <a:gd name="T100" fmla="*/ 0 w 65"/>
                <a:gd name="T101" fmla="*/ 215 h 234"/>
                <a:gd name="T102" fmla="*/ 0 w 65"/>
                <a:gd name="T103" fmla="*/ 221 h 234"/>
                <a:gd name="T104" fmla="*/ 0 w 65"/>
                <a:gd name="T105" fmla="*/ 225 h 234"/>
                <a:gd name="T106" fmla="*/ 0 w 65"/>
                <a:gd name="T107" fmla="*/ 231 h 234"/>
                <a:gd name="T108" fmla="*/ 0 w 65"/>
                <a:gd name="T109" fmla="*/ 233 h 234"/>
                <a:gd name="T110" fmla="*/ 0 w 65"/>
                <a:gd name="T111" fmla="*/ 234 h 23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65"/>
                <a:gd name="T169" fmla="*/ 0 h 234"/>
                <a:gd name="T170" fmla="*/ 65 w 65"/>
                <a:gd name="T171" fmla="*/ 234 h 234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65" h="234">
                  <a:moveTo>
                    <a:pt x="65" y="0"/>
                  </a:moveTo>
                  <a:lnTo>
                    <a:pt x="59" y="0"/>
                  </a:lnTo>
                  <a:lnTo>
                    <a:pt x="51" y="0"/>
                  </a:lnTo>
                  <a:lnTo>
                    <a:pt x="46" y="1"/>
                  </a:lnTo>
                  <a:lnTo>
                    <a:pt x="40" y="2"/>
                  </a:lnTo>
                  <a:lnTo>
                    <a:pt x="29" y="4"/>
                  </a:lnTo>
                  <a:lnTo>
                    <a:pt x="19" y="7"/>
                  </a:lnTo>
                  <a:lnTo>
                    <a:pt x="12" y="11"/>
                  </a:lnTo>
                  <a:lnTo>
                    <a:pt x="10" y="15"/>
                  </a:lnTo>
                  <a:lnTo>
                    <a:pt x="6" y="17"/>
                  </a:lnTo>
                  <a:lnTo>
                    <a:pt x="4" y="20"/>
                  </a:lnTo>
                  <a:lnTo>
                    <a:pt x="2" y="22"/>
                  </a:lnTo>
                  <a:lnTo>
                    <a:pt x="0" y="25"/>
                  </a:lnTo>
                  <a:lnTo>
                    <a:pt x="0" y="28"/>
                  </a:lnTo>
                  <a:lnTo>
                    <a:pt x="0" y="31"/>
                  </a:lnTo>
                  <a:lnTo>
                    <a:pt x="0" y="34"/>
                  </a:lnTo>
                  <a:lnTo>
                    <a:pt x="2" y="37"/>
                  </a:lnTo>
                  <a:lnTo>
                    <a:pt x="4" y="39"/>
                  </a:lnTo>
                  <a:lnTo>
                    <a:pt x="6" y="43"/>
                  </a:lnTo>
                  <a:lnTo>
                    <a:pt x="10" y="45"/>
                  </a:lnTo>
                  <a:lnTo>
                    <a:pt x="14" y="47"/>
                  </a:lnTo>
                  <a:lnTo>
                    <a:pt x="17" y="49"/>
                  </a:lnTo>
                  <a:lnTo>
                    <a:pt x="25" y="53"/>
                  </a:lnTo>
                  <a:lnTo>
                    <a:pt x="36" y="56"/>
                  </a:lnTo>
                  <a:lnTo>
                    <a:pt x="42" y="57"/>
                  </a:lnTo>
                  <a:lnTo>
                    <a:pt x="48" y="58"/>
                  </a:lnTo>
                  <a:lnTo>
                    <a:pt x="53" y="58"/>
                  </a:lnTo>
                  <a:lnTo>
                    <a:pt x="59" y="59"/>
                  </a:lnTo>
                  <a:lnTo>
                    <a:pt x="65" y="59"/>
                  </a:lnTo>
                  <a:lnTo>
                    <a:pt x="59" y="59"/>
                  </a:lnTo>
                  <a:lnTo>
                    <a:pt x="51" y="59"/>
                  </a:lnTo>
                  <a:lnTo>
                    <a:pt x="46" y="59"/>
                  </a:lnTo>
                  <a:lnTo>
                    <a:pt x="40" y="60"/>
                  </a:lnTo>
                  <a:lnTo>
                    <a:pt x="29" y="63"/>
                  </a:lnTo>
                  <a:lnTo>
                    <a:pt x="19" y="66"/>
                  </a:lnTo>
                  <a:lnTo>
                    <a:pt x="12" y="71"/>
                  </a:lnTo>
                  <a:lnTo>
                    <a:pt x="10" y="73"/>
                  </a:lnTo>
                  <a:lnTo>
                    <a:pt x="6" y="76"/>
                  </a:lnTo>
                  <a:lnTo>
                    <a:pt x="4" y="78"/>
                  </a:lnTo>
                  <a:lnTo>
                    <a:pt x="2" y="81"/>
                  </a:lnTo>
                  <a:lnTo>
                    <a:pt x="0" y="84"/>
                  </a:lnTo>
                  <a:lnTo>
                    <a:pt x="0" y="87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2" y="95"/>
                  </a:lnTo>
                  <a:lnTo>
                    <a:pt x="4" y="98"/>
                  </a:lnTo>
                  <a:lnTo>
                    <a:pt x="6" y="101"/>
                  </a:lnTo>
                  <a:lnTo>
                    <a:pt x="10" y="104"/>
                  </a:lnTo>
                  <a:lnTo>
                    <a:pt x="14" y="106"/>
                  </a:lnTo>
                  <a:lnTo>
                    <a:pt x="17" y="108"/>
                  </a:lnTo>
                  <a:lnTo>
                    <a:pt x="25" y="112"/>
                  </a:lnTo>
                  <a:lnTo>
                    <a:pt x="36" y="114"/>
                  </a:lnTo>
                  <a:lnTo>
                    <a:pt x="42" y="115"/>
                  </a:lnTo>
                  <a:lnTo>
                    <a:pt x="48" y="116"/>
                  </a:lnTo>
                  <a:lnTo>
                    <a:pt x="53" y="117"/>
                  </a:lnTo>
                  <a:lnTo>
                    <a:pt x="59" y="117"/>
                  </a:lnTo>
                  <a:lnTo>
                    <a:pt x="65" y="117"/>
                  </a:lnTo>
                  <a:lnTo>
                    <a:pt x="59" y="117"/>
                  </a:lnTo>
                  <a:lnTo>
                    <a:pt x="51" y="117"/>
                  </a:lnTo>
                  <a:lnTo>
                    <a:pt x="46" y="118"/>
                  </a:lnTo>
                  <a:lnTo>
                    <a:pt x="40" y="119"/>
                  </a:lnTo>
                  <a:lnTo>
                    <a:pt x="29" y="121"/>
                  </a:lnTo>
                  <a:lnTo>
                    <a:pt x="19" y="125"/>
                  </a:lnTo>
                  <a:lnTo>
                    <a:pt x="12" y="130"/>
                  </a:lnTo>
                  <a:lnTo>
                    <a:pt x="10" y="132"/>
                  </a:lnTo>
                  <a:lnTo>
                    <a:pt x="6" y="134"/>
                  </a:lnTo>
                  <a:lnTo>
                    <a:pt x="4" y="137"/>
                  </a:lnTo>
                  <a:lnTo>
                    <a:pt x="2" y="139"/>
                  </a:lnTo>
                  <a:lnTo>
                    <a:pt x="0" y="142"/>
                  </a:lnTo>
                  <a:lnTo>
                    <a:pt x="0" y="145"/>
                  </a:lnTo>
                  <a:lnTo>
                    <a:pt x="0" y="148"/>
                  </a:lnTo>
                  <a:lnTo>
                    <a:pt x="0" y="151"/>
                  </a:lnTo>
                  <a:lnTo>
                    <a:pt x="2" y="154"/>
                  </a:lnTo>
                  <a:lnTo>
                    <a:pt x="4" y="156"/>
                  </a:lnTo>
                  <a:lnTo>
                    <a:pt x="6" y="160"/>
                  </a:lnTo>
                  <a:lnTo>
                    <a:pt x="10" y="162"/>
                  </a:lnTo>
                  <a:lnTo>
                    <a:pt x="14" y="164"/>
                  </a:lnTo>
                  <a:lnTo>
                    <a:pt x="17" y="167"/>
                  </a:lnTo>
                  <a:lnTo>
                    <a:pt x="25" y="170"/>
                  </a:lnTo>
                  <a:lnTo>
                    <a:pt x="36" y="173"/>
                  </a:lnTo>
                  <a:lnTo>
                    <a:pt x="42" y="174"/>
                  </a:lnTo>
                  <a:lnTo>
                    <a:pt x="48" y="175"/>
                  </a:lnTo>
                  <a:lnTo>
                    <a:pt x="53" y="175"/>
                  </a:lnTo>
                  <a:lnTo>
                    <a:pt x="59" y="176"/>
                  </a:lnTo>
                  <a:lnTo>
                    <a:pt x="65" y="176"/>
                  </a:lnTo>
                  <a:lnTo>
                    <a:pt x="59" y="176"/>
                  </a:lnTo>
                  <a:lnTo>
                    <a:pt x="51" y="176"/>
                  </a:lnTo>
                  <a:lnTo>
                    <a:pt x="46" y="177"/>
                  </a:lnTo>
                  <a:lnTo>
                    <a:pt x="40" y="177"/>
                  </a:lnTo>
                  <a:lnTo>
                    <a:pt x="29" y="180"/>
                  </a:lnTo>
                  <a:lnTo>
                    <a:pt x="19" y="183"/>
                  </a:lnTo>
                  <a:lnTo>
                    <a:pt x="12" y="188"/>
                  </a:lnTo>
                  <a:lnTo>
                    <a:pt x="10" y="190"/>
                  </a:lnTo>
                  <a:lnTo>
                    <a:pt x="6" y="193"/>
                  </a:lnTo>
                  <a:lnTo>
                    <a:pt x="4" y="195"/>
                  </a:lnTo>
                  <a:lnTo>
                    <a:pt x="2" y="198"/>
                  </a:lnTo>
                  <a:lnTo>
                    <a:pt x="0" y="201"/>
                  </a:lnTo>
                  <a:lnTo>
                    <a:pt x="0" y="204"/>
                  </a:lnTo>
                  <a:lnTo>
                    <a:pt x="0" y="207"/>
                  </a:lnTo>
                  <a:lnTo>
                    <a:pt x="0" y="209"/>
                  </a:lnTo>
                  <a:lnTo>
                    <a:pt x="2" y="212"/>
                  </a:lnTo>
                  <a:lnTo>
                    <a:pt x="4" y="215"/>
                  </a:lnTo>
                  <a:lnTo>
                    <a:pt x="6" y="218"/>
                  </a:lnTo>
                  <a:lnTo>
                    <a:pt x="10" y="221"/>
                  </a:lnTo>
                  <a:lnTo>
                    <a:pt x="14" y="223"/>
                  </a:lnTo>
                  <a:lnTo>
                    <a:pt x="17" y="225"/>
                  </a:lnTo>
                  <a:lnTo>
                    <a:pt x="25" y="229"/>
                  </a:lnTo>
                  <a:lnTo>
                    <a:pt x="36" y="231"/>
                  </a:lnTo>
                  <a:lnTo>
                    <a:pt x="42" y="233"/>
                  </a:lnTo>
                  <a:lnTo>
                    <a:pt x="48" y="233"/>
                  </a:lnTo>
                  <a:lnTo>
                    <a:pt x="53" y="234"/>
                  </a:lnTo>
                  <a:lnTo>
                    <a:pt x="59" y="234"/>
                  </a:lnTo>
                  <a:lnTo>
                    <a:pt x="65" y="2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Line 265"/>
            <p:cNvSpPr>
              <a:spLocks noChangeShapeType="1"/>
            </p:cNvSpPr>
            <p:nvPr/>
          </p:nvSpPr>
          <p:spPr bwMode="auto">
            <a:xfrm>
              <a:off x="4295" y="1159"/>
              <a:ext cx="1" cy="2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Line 266"/>
            <p:cNvSpPr>
              <a:spLocks noChangeShapeType="1"/>
            </p:cNvSpPr>
            <p:nvPr/>
          </p:nvSpPr>
          <p:spPr bwMode="auto">
            <a:xfrm flipV="1">
              <a:off x="4308" y="1159"/>
              <a:ext cx="1" cy="2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Rectangle 267"/>
            <p:cNvSpPr>
              <a:spLocks noChangeArrowheads="1"/>
            </p:cNvSpPr>
            <p:nvPr/>
          </p:nvSpPr>
          <p:spPr bwMode="auto">
            <a:xfrm>
              <a:off x="5331" y="1169"/>
              <a:ext cx="42" cy="117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/>
            </a:p>
          </p:txBody>
        </p:sp>
        <p:sp>
          <p:nvSpPr>
            <p:cNvPr id="200" name="Rectangle 268"/>
            <p:cNvSpPr>
              <a:spLocks noChangeArrowheads="1"/>
            </p:cNvSpPr>
            <p:nvPr/>
          </p:nvSpPr>
          <p:spPr bwMode="auto">
            <a:xfrm>
              <a:off x="5331" y="1169"/>
              <a:ext cx="42" cy="117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/>
            </a:p>
          </p:txBody>
        </p:sp>
        <p:sp>
          <p:nvSpPr>
            <p:cNvPr id="201" name="Line 269"/>
            <p:cNvSpPr>
              <a:spLocks noChangeShapeType="1"/>
            </p:cNvSpPr>
            <p:nvPr/>
          </p:nvSpPr>
          <p:spPr bwMode="auto">
            <a:xfrm>
              <a:off x="5139" y="1215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Line 270"/>
            <p:cNvSpPr>
              <a:spLocks noChangeShapeType="1"/>
            </p:cNvSpPr>
            <p:nvPr/>
          </p:nvSpPr>
          <p:spPr bwMode="auto">
            <a:xfrm>
              <a:off x="5139" y="1250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Line 271"/>
            <p:cNvSpPr>
              <a:spLocks noChangeShapeType="1"/>
            </p:cNvSpPr>
            <p:nvPr/>
          </p:nvSpPr>
          <p:spPr bwMode="auto">
            <a:xfrm>
              <a:off x="5182" y="1250"/>
              <a:ext cx="1" cy="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Line 272"/>
            <p:cNvSpPr>
              <a:spLocks noChangeShapeType="1"/>
            </p:cNvSpPr>
            <p:nvPr/>
          </p:nvSpPr>
          <p:spPr bwMode="auto">
            <a:xfrm flipV="1">
              <a:off x="5182" y="1110"/>
              <a:ext cx="1" cy="10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" name="Line 273"/>
            <p:cNvSpPr>
              <a:spLocks noChangeShapeType="1"/>
            </p:cNvSpPr>
            <p:nvPr/>
          </p:nvSpPr>
          <p:spPr bwMode="auto">
            <a:xfrm flipV="1">
              <a:off x="5182" y="1086"/>
              <a:ext cx="1" cy="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Freeform 274"/>
            <p:cNvSpPr>
              <a:spLocks/>
            </p:cNvSpPr>
            <p:nvPr/>
          </p:nvSpPr>
          <p:spPr bwMode="auto">
            <a:xfrm>
              <a:off x="4224" y="1348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1 w 60"/>
                <a:gd name="T3" fmla="*/ 12 h 33"/>
                <a:gd name="T4" fmla="*/ 1 w 60"/>
                <a:gd name="T5" fmla="*/ 9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9 h 33"/>
                <a:gd name="T30" fmla="*/ 1 w 60"/>
                <a:gd name="T31" fmla="*/ 12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3 h 33"/>
                <a:gd name="T40" fmla="*/ 1 w 60"/>
                <a:gd name="T41" fmla="*/ 25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5 h 33"/>
                <a:gd name="T62" fmla="*/ 1 w 60"/>
                <a:gd name="T63" fmla="*/ 23 h 33"/>
                <a:gd name="T64" fmla="*/ 1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2" y="12"/>
                  </a:lnTo>
                  <a:lnTo>
                    <a:pt x="3" y="9"/>
                  </a:lnTo>
                  <a:lnTo>
                    <a:pt x="5" y="7"/>
                  </a:lnTo>
                  <a:lnTo>
                    <a:pt x="9" y="4"/>
                  </a:lnTo>
                  <a:lnTo>
                    <a:pt x="15" y="2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7" y="0"/>
                  </a:lnTo>
                  <a:lnTo>
                    <a:pt x="43" y="1"/>
                  </a:lnTo>
                  <a:lnTo>
                    <a:pt x="47" y="2"/>
                  </a:lnTo>
                  <a:lnTo>
                    <a:pt x="53" y="4"/>
                  </a:lnTo>
                  <a:lnTo>
                    <a:pt x="56" y="7"/>
                  </a:lnTo>
                  <a:lnTo>
                    <a:pt x="58" y="9"/>
                  </a:lnTo>
                  <a:lnTo>
                    <a:pt x="60" y="12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3"/>
                  </a:lnTo>
                  <a:lnTo>
                    <a:pt x="56" y="25"/>
                  </a:lnTo>
                  <a:lnTo>
                    <a:pt x="53" y="28"/>
                  </a:lnTo>
                  <a:lnTo>
                    <a:pt x="47" y="30"/>
                  </a:lnTo>
                  <a:lnTo>
                    <a:pt x="43" y="31"/>
                  </a:lnTo>
                  <a:lnTo>
                    <a:pt x="37" y="32"/>
                  </a:lnTo>
                  <a:lnTo>
                    <a:pt x="30" y="33"/>
                  </a:lnTo>
                  <a:lnTo>
                    <a:pt x="24" y="32"/>
                  </a:lnTo>
                  <a:lnTo>
                    <a:pt x="19" y="31"/>
                  </a:lnTo>
                  <a:lnTo>
                    <a:pt x="15" y="30"/>
                  </a:lnTo>
                  <a:lnTo>
                    <a:pt x="9" y="28"/>
                  </a:lnTo>
                  <a:lnTo>
                    <a:pt x="5" y="25"/>
                  </a:lnTo>
                  <a:lnTo>
                    <a:pt x="3" y="23"/>
                  </a:lnTo>
                  <a:lnTo>
                    <a:pt x="2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Freeform 275"/>
            <p:cNvSpPr>
              <a:spLocks/>
            </p:cNvSpPr>
            <p:nvPr/>
          </p:nvSpPr>
          <p:spPr bwMode="auto">
            <a:xfrm>
              <a:off x="4359" y="1153"/>
              <a:ext cx="30" cy="33"/>
            </a:xfrm>
            <a:custGeom>
              <a:avLst/>
              <a:gdLst>
                <a:gd name="T0" fmla="*/ 0 w 61"/>
                <a:gd name="T1" fmla="*/ 17 h 33"/>
                <a:gd name="T2" fmla="*/ 0 w 61"/>
                <a:gd name="T3" fmla="*/ 14 h 33"/>
                <a:gd name="T4" fmla="*/ 0 w 61"/>
                <a:gd name="T5" fmla="*/ 10 h 33"/>
                <a:gd name="T6" fmla="*/ 0 w 61"/>
                <a:gd name="T7" fmla="*/ 7 h 33"/>
                <a:gd name="T8" fmla="*/ 0 w 61"/>
                <a:gd name="T9" fmla="*/ 4 h 33"/>
                <a:gd name="T10" fmla="*/ 0 w 61"/>
                <a:gd name="T11" fmla="*/ 3 h 33"/>
                <a:gd name="T12" fmla="*/ 0 w 61"/>
                <a:gd name="T13" fmla="*/ 1 h 33"/>
                <a:gd name="T14" fmla="*/ 0 w 61"/>
                <a:gd name="T15" fmla="*/ 0 h 33"/>
                <a:gd name="T16" fmla="*/ 0 w 61"/>
                <a:gd name="T17" fmla="*/ 0 h 33"/>
                <a:gd name="T18" fmla="*/ 0 w 61"/>
                <a:gd name="T19" fmla="*/ 0 h 33"/>
                <a:gd name="T20" fmla="*/ 0 w 61"/>
                <a:gd name="T21" fmla="*/ 1 h 33"/>
                <a:gd name="T22" fmla="*/ 0 w 61"/>
                <a:gd name="T23" fmla="*/ 3 h 33"/>
                <a:gd name="T24" fmla="*/ 0 w 61"/>
                <a:gd name="T25" fmla="*/ 4 h 33"/>
                <a:gd name="T26" fmla="*/ 0 w 61"/>
                <a:gd name="T27" fmla="*/ 7 h 33"/>
                <a:gd name="T28" fmla="*/ 0 w 61"/>
                <a:gd name="T29" fmla="*/ 10 h 33"/>
                <a:gd name="T30" fmla="*/ 0 w 61"/>
                <a:gd name="T31" fmla="*/ 14 h 33"/>
                <a:gd name="T32" fmla="*/ 0 w 61"/>
                <a:gd name="T33" fmla="*/ 17 h 33"/>
                <a:gd name="T34" fmla="*/ 0 w 61"/>
                <a:gd name="T35" fmla="*/ 17 h 33"/>
                <a:gd name="T36" fmla="*/ 0 w 61"/>
                <a:gd name="T37" fmla="*/ 20 h 33"/>
                <a:gd name="T38" fmla="*/ 0 w 61"/>
                <a:gd name="T39" fmla="*/ 23 h 33"/>
                <a:gd name="T40" fmla="*/ 0 w 61"/>
                <a:gd name="T41" fmla="*/ 26 h 33"/>
                <a:gd name="T42" fmla="*/ 0 w 61"/>
                <a:gd name="T43" fmla="*/ 28 h 33"/>
                <a:gd name="T44" fmla="*/ 0 w 61"/>
                <a:gd name="T45" fmla="*/ 30 h 33"/>
                <a:gd name="T46" fmla="*/ 0 w 61"/>
                <a:gd name="T47" fmla="*/ 32 h 33"/>
                <a:gd name="T48" fmla="*/ 0 w 61"/>
                <a:gd name="T49" fmla="*/ 32 h 33"/>
                <a:gd name="T50" fmla="*/ 0 w 61"/>
                <a:gd name="T51" fmla="*/ 33 h 33"/>
                <a:gd name="T52" fmla="*/ 0 w 61"/>
                <a:gd name="T53" fmla="*/ 32 h 33"/>
                <a:gd name="T54" fmla="*/ 0 w 61"/>
                <a:gd name="T55" fmla="*/ 32 h 33"/>
                <a:gd name="T56" fmla="*/ 0 w 61"/>
                <a:gd name="T57" fmla="*/ 30 h 33"/>
                <a:gd name="T58" fmla="*/ 0 w 61"/>
                <a:gd name="T59" fmla="*/ 28 h 33"/>
                <a:gd name="T60" fmla="*/ 0 w 61"/>
                <a:gd name="T61" fmla="*/ 26 h 33"/>
                <a:gd name="T62" fmla="*/ 0 w 61"/>
                <a:gd name="T63" fmla="*/ 23 h 33"/>
                <a:gd name="T64" fmla="*/ 0 w 61"/>
                <a:gd name="T65" fmla="*/ 20 h 33"/>
                <a:gd name="T66" fmla="*/ 0 w 61"/>
                <a:gd name="T67" fmla="*/ 17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1"/>
                <a:gd name="T103" fmla="*/ 0 h 33"/>
                <a:gd name="T104" fmla="*/ 61 w 61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1" h="33">
                  <a:moveTo>
                    <a:pt x="0" y="17"/>
                  </a:moveTo>
                  <a:lnTo>
                    <a:pt x="0" y="14"/>
                  </a:lnTo>
                  <a:lnTo>
                    <a:pt x="2" y="10"/>
                  </a:lnTo>
                  <a:lnTo>
                    <a:pt x="4" y="7"/>
                  </a:lnTo>
                  <a:lnTo>
                    <a:pt x="8" y="4"/>
                  </a:lnTo>
                  <a:lnTo>
                    <a:pt x="14" y="3"/>
                  </a:lnTo>
                  <a:lnTo>
                    <a:pt x="17" y="1"/>
                  </a:lnTo>
                  <a:lnTo>
                    <a:pt x="23" y="0"/>
                  </a:lnTo>
                  <a:lnTo>
                    <a:pt x="31" y="0"/>
                  </a:lnTo>
                  <a:lnTo>
                    <a:pt x="36" y="0"/>
                  </a:lnTo>
                  <a:lnTo>
                    <a:pt x="42" y="1"/>
                  </a:lnTo>
                  <a:lnTo>
                    <a:pt x="46" y="3"/>
                  </a:lnTo>
                  <a:lnTo>
                    <a:pt x="51" y="4"/>
                  </a:lnTo>
                  <a:lnTo>
                    <a:pt x="55" y="7"/>
                  </a:lnTo>
                  <a:lnTo>
                    <a:pt x="57" y="10"/>
                  </a:lnTo>
                  <a:lnTo>
                    <a:pt x="59" y="14"/>
                  </a:lnTo>
                  <a:lnTo>
                    <a:pt x="61" y="17"/>
                  </a:lnTo>
                  <a:lnTo>
                    <a:pt x="59" y="20"/>
                  </a:lnTo>
                  <a:lnTo>
                    <a:pt x="57" y="23"/>
                  </a:lnTo>
                  <a:lnTo>
                    <a:pt x="55" y="26"/>
                  </a:lnTo>
                  <a:lnTo>
                    <a:pt x="51" y="28"/>
                  </a:lnTo>
                  <a:lnTo>
                    <a:pt x="46" y="30"/>
                  </a:lnTo>
                  <a:lnTo>
                    <a:pt x="42" y="32"/>
                  </a:lnTo>
                  <a:lnTo>
                    <a:pt x="36" y="32"/>
                  </a:lnTo>
                  <a:lnTo>
                    <a:pt x="31" y="33"/>
                  </a:lnTo>
                  <a:lnTo>
                    <a:pt x="23" y="32"/>
                  </a:lnTo>
                  <a:lnTo>
                    <a:pt x="17" y="32"/>
                  </a:lnTo>
                  <a:lnTo>
                    <a:pt x="14" y="30"/>
                  </a:lnTo>
                  <a:lnTo>
                    <a:pt x="8" y="28"/>
                  </a:lnTo>
                  <a:lnTo>
                    <a:pt x="4" y="26"/>
                  </a:lnTo>
                  <a:lnTo>
                    <a:pt x="2" y="23"/>
                  </a:lnTo>
                  <a:lnTo>
                    <a:pt x="0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Rectangle 276"/>
            <p:cNvSpPr>
              <a:spLocks noChangeArrowheads="1"/>
            </p:cNvSpPr>
            <p:nvPr/>
          </p:nvSpPr>
          <p:spPr bwMode="auto">
            <a:xfrm>
              <a:off x="3243" y="1149"/>
              <a:ext cx="124" cy="91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endParaRPr lang="en-US" altLang="zh-CN" sz="20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</a:p>
            <a:p>
              <a:pPr eaLnBrk="1" hangingPunct="1"/>
              <a:endParaRPr lang="en-US" altLang="zh-CN" sz="20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2000"/>
            </a:p>
          </p:txBody>
        </p:sp>
        <p:sp>
          <p:nvSpPr>
            <p:cNvPr id="209" name="Rectangle 277"/>
            <p:cNvSpPr>
              <a:spLocks noChangeArrowheads="1"/>
            </p:cNvSpPr>
            <p:nvPr/>
          </p:nvSpPr>
          <p:spPr bwMode="auto">
            <a:xfrm>
              <a:off x="5239" y="1104"/>
              <a:ext cx="64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R</a:t>
              </a:r>
              <a:endParaRPr lang="en-US" altLang="zh-CN"/>
            </a:p>
          </p:txBody>
        </p:sp>
        <p:sp>
          <p:nvSpPr>
            <p:cNvPr id="210" name="Rectangle 278"/>
            <p:cNvSpPr>
              <a:spLocks noChangeArrowheads="1"/>
            </p:cNvSpPr>
            <p:nvPr/>
          </p:nvSpPr>
          <p:spPr bwMode="auto">
            <a:xfrm>
              <a:off x="4272" y="1613"/>
              <a:ext cx="64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211" name="Rectangle 279"/>
            <p:cNvSpPr>
              <a:spLocks noChangeArrowheads="1"/>
            </p:cNvSpPr>
            <p:nvPr/>
          </p:nvSpPr>
          <p:spPr bwMode="auto">
            <a:xfrm>
              <a:off x="5420" y="968"/>
              <a:ext cx="109" cy="54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2000"/>
            </a:p>
          </p:txBody>
        </p:sp>
        <p:sp>
          <p:nvSpPr>
            <p:cNvPr id="212" name="Freeform 280"/>
            <p:cNvSpPr>
              <a:spLocks noEditPoints="1"/>
            </p:cNvSpPr>
            <p:nvPr/>
          </p:nvSpPr>
          <p:spPr bwMode="auto">
            <a:xfrm>
              <a:off x="3608" y="1837"/>
              <a:ext cx="14" cy="131"/>
            </a:xfrm>
            <a:custGeom>
              <a:avLst/>
              <a:gdLst>
                <a:gd name="T0" fmla="*/ 1 w 26"/>
                <a:gd name="T1" fmla="*/ 117 h 131"/>
                <a:gd name="T2" fmla="*/ 1 w 26"/>
                <a:gd name="T3" fmla="*/ 117 h 131"/>
                <a:gd name="T4" fmla="*/ 1 w 26"/>
                <a:gd name="T5" fmla="*/ 118 h 131"/>
                <a:gd name="T6" fmla="*/ 1 w 26"/>
                <a:gd name="T7" fmla="*/ 119 h 131"/>
                <a:gd name="T8" fmla="*/ 0 w 26"/>
                <a:gd name="T9" fmla="*/ 121 h 131"/>
                <a:gd name="T10" fmla="*/ 0 w 26"/>
                <a:gd name="T11" fmla="*/ 123 h 131"/>
                <a:gd name="T12" fmla="*/ 0 w 26"/>
                <a:gd name="T13" fmla="*/ 124 h 131"/>
                <a:gd name="T14" fmla="*/ 0 w 26"/>
                <a:gd name="T15" fmla="*/ 126 h 131"/>
                <a:gd name="T16" fmla="*/ 0 w 26"/>
                <a:gd name="T17" fmla="*/ 127 h 131"/>
                <a:gd name="T18" fmla="*/ 1 w 26"/>
                <a:gd name="T19" fmla="*/ 129 h 131"/>
                <a:gd name="T20" fmla="*/ 1 w 26"/>
                <a:gd name="T21" fmla="*/ 131 h 131"/>
                <a:gd name="T22" fmla="*/ 1 w 26"/>
                <a:gd name="T23" fmla="*/ 131 h 131"/>
                <a:gd name="T24" fmla="*/ 1 w 26"/>
                <a:gd name="T25" fmla="*/ 131 h 131"/>
                <a:gd name="T26" fmla="*/ 1 w 26"/>
                <a:gd name="T27" fmla="*/ 131 h 131"/>
                <a:gd name="T28" fmla="*/ 1 w 26"/>
                <a:gd name="T29" fmla="*/ 131 h 131"/>
                <a:gd name="T30" fmla="*/ 1 w 26"/>
                <a:gd name="T31" fmla="*/ 131 h 131"/>
                <a:gd name="T32" fmla="*/ 1 w 26"/>
                <a:gd name="T33" fmla="*/ 129 h 131"/>
                <a:gd name="T34" fmla="*/ 1 w 26"/>
                <a:gd name="T35" fmla="*/ 127 h 131"/>
                <a:gd name="T36" fmla="*/ 1 w 26"/>
                <a:gd name="T37" fmla="*/ 126 h 131"/>
                <a:gd name="T38" fmla="*/ 1 w 26"/>
                <a:gd name="T39" fmla="*/ 124 h 131"/>
                <a:gd name="T40" fmla="*/ 1 w 26"/>
                <a:gd name="T41" fmla="*/ 123 h 131"/>
                <a:gd name="T42" fmla="*/ 1 w 26"/>
                <a:gd name="T43" fmla="*/ 121 h 131"/>
                <a:gd name="T44" fmla="*/ 1 w 26"/>
                <a:gd name="T45" fmla="*/ 119 h 131"/>
                <a:gd name="T46" fmla="*/ 1 w 26"/>
                <a:gd name="T47" fmla="*/ 118 h 131"/>
                <a:gd name="T48" fmla="*/ 1 w 26"/>
                <a:gd name="T49" fmla="*/ 117 h 131"/>
                <a:gd name="T50" fmla="*/ 1 w 26"/>
                <a:gd name="T51" fmla="*/ 117 h 131"/>
                <a:gd name="T52" fmla="*/ 1 w 26"/>
                <a:gd name="T53" fmla="*/ 117 h 131"/>
                <a:gd name="T54" fmla="*/ 1 w 26"/>
                <a:gd name="T55" fmla="*/ 117 h 131"/>
                <a:gd name="T56" fmla="*/ 1 w 26"/>
                <a:gd name="T57" fmla="*/ 0 h 131"/>
                <a:gd name="T58" fmla="*/ 1 w 26"/>
                <a:gd name="T59" fmla="*/ 0 h 131"/>
                <a:gd name="T60" fmla="*/ 1 w 26"/>
                <a:gd name="T61" fmla="*/ 1 h 131"/>
                <a:gd name="T62" fmla="*/ 1 w 26"/>
                <a:gd name="T63" fmla="*/ 2 h 131"/>
                <a:gd name="T64" fmla="*/ 0 w 26"/>
                <a:gd name="T65" fmla="*/ 4 h 131"/>
                <a:gd name="T66" fmla="*/ 0 w 26"/>
                <a:gd name="T67" fmla="*/ 6 h 131"/>
                <a:gd name="T68" fmla="*/ 0 w 26"/>
                <a:gd name="T69" fmla="*/ 7 h 131"/>
                <a:gd name="T70" fmla="*/ 0 w 26"/>
                <a:gd name="T71" fmla="*/ 9 h 131"/>
                <a:gd name="T72" fmla="*/ 0 w 26"/>
                <a:gd name="T73" fmla="*/ 10 h 131"/>
                <a:gd name="T74" fmla="*/ 1 w 26"/>
                <a:gd name="T75" fmla="*/ 12 h 131"/>
                <a:gd name="T76" fmla="*/ 1 w 26"/>
                <a:gd name="T77" fmla="*/ 14 h 131"/>
                <a:gd name="T78" fmla="*/ 1 w 26"/>
                <a:gd name="T79" fmla="*/ 14 h 131"/>
                <a:gd name="T80" fmla="*/ 1 w 26"/>
                <a:gd name="T81" fmla="*/ 14 h 131"/>
                <a:gd name="T82" fmla="*/ 1 w 26"/>
                <a:gd name="T83" fmla="*/ 14 h 131"/>
                <a:gd name="T84" fmla="*/ 1 w 26"/>
                <a:gd name="T85" fmla="*/ 14 h 131"/>
                <a:gd name="T86" fmla="*/ 1 w 26"/>
                <a:gd name="T87" fmla="*/ 14 h 131"/>
                <a:gd name="T88" fmla="*/ 1 w 26"/>
                <a:gd name="T89" fmla="*/ 12 h 131"/>
                <a:gd name="T90" fmla="*/ 1 w 26"/>
                <a:gd name="T91" fmla="*/ 10 h 131"/>
                <a:gd name="T92" fmla="*/ 1 w 26"/>
                <a:gd name="T93" fmla="*/ 9 h 131"/>
                <a:gd name="T94" fmla="*/ 1 w 26"/>
                <a:gd name="T95" fmla="*/ 7 h 131"/>
                <a:gd name="T96" fmla="*/ 1 w 26"/>
                <a:gd name="T97" fmla="*/ 6 h 131"/>
                <a:gd name="T98" fmla="*/ 1 w 26"/>
                <a:gd name="T99" fmla="*/ 4 h 131"/>
                <a:gd name="T100" fmla="*/ 1 w 26"/>
                <a:gd name="T101" fmla="*/ 2 h 131"/>
                <a:gd name="T102" fmla="*/ 1 w 26"/>
                <a:gd name="T103" fmla="*/ 1 h 131"/>
                <a:gd name="T104" fmla="*/ 1 w 26"/>
                <a:gd name="T105" fmla="*/ 0 h 131"/>
                <a:gd name="T106" fmla="*/ 1 w 26"/>
                <a:gd name="T107" fmla="*/ 0 h 131"/>
                <a:gd name="T108" fmla="*/ 1 w 26"/>
                <a:gd name="T109" fmla="*/ 0 h 131"/>
                <a:gd name="T110" fmla="*/ 1 w 26"/>
                <a:gd name="T111" fmla="*/ 0 h 131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26"/>
                <a:gd name="T169" fmla="*/ 0 h 131"/>
                <a:gd name="T170" fmla="*/ 26 w 26"/>
                <a:gd name="T171" fmla="*/ 131 h 131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26" h="131">
                  <a:moveTo>
                    <a:pt x="13" y="117"/>
                  </a:moveTo>
                  <a:lnTo>
                    <a:pt x="11" y="117"/>
                  </a:lnTo>
                  <a:lnTo>
                    <a:pt x="8" y="118"/>
                  </a:lnTo>
                  <a:lnTo>
                    <a:pt x="4" y="119"/>
                  </a:lnTo>
                  <a:lnTo>
                    <a:pt x="0" y="121"/>
                  </a:lnTo>
                  <a:lnTo>
                    <a:pt x="0" y="123"/>
                  </a:lnTo>
                  <a:lnTo>
                    <a:pt x="0" y="124"/>
                  </a:lnTo>
                  <a:lnTo>
                    <a:pt x="0" y="126"/>
                  </a:lnTo>
                  <a:lnTo>
                    <a:pt x="0" y="127"/>
                  </a:lnTo>
                  <a:lnTo>
                    <a:pt x="4" y="129"/>
                  </a:lnTo>
                  <a:lnTo>
                    <a:pt x="8" y="131"/>
                  </a:lnTo>
                  <a:lnTo>
                    <a:pt x="9" y="131"/>
                  </a:lnTo>
                  <a:lnTo>
                    <a:pt x="13" y="131"/>
                  </a:lnTo>
                  <a:lnTo>
                    <a:pt x="15" y="131"/>
                  </a:lnTo>
                  <a:lnTo>
                    <a:pt x="19" y="131"/>
                  </a:lnTo>
                  <a:lnTo>
                    <a:pt x="23" y="129"/>
                  </a:lnTo>
                  <a:lnTo>
                    <a:pt x="25" y="127"/>
                  </a:lnTo>
                  <a:lnTo>
                    <a:pt x="26" y="126"/>
                  </a:lnTo>
                  <a:lnTo>
                    <a:pt x="26" y="124"/>
                  </a:lnTo>
                  <a:lnTo>
                    <a:pt x="26" y="123"/>
                  </a:lnTo>
                  <a:lnTo>
                    <a:pt x="25" y="121"/>
                  </a:lnTo>
                  <a:lnTo>
                    <a:pt x="23" y="119"/>
                  </a:lnTo>
                  <a:lnTo>
                    <a:pt x="19" y="118"/>
                  </a:lnTo>
                  <a:lnTo>
                    <a:pt x="15" y="117"/>
                  </a:lnTo>
                  <a:lnTo>
                    <a:pt x="13" y="117"/>
                  </a:lnTo>
                  <a:close/>
                  <a:moveTo>
                    <a:pt x="13" y="0"/>
                  </a:moveTo>
                  <a:lnTo>
                    <a:pt x="11" y="0"/>
                  </a:lnTo>
                  <a:lnTo>
                    <a:pt x="8" y="1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12"/>
                  </a:lnTo>
                  <a:lnTo>
                    <a:pt x="8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9" y="14"/>
                  </a:lnTo>
                  <a:lnTo>
                    <a:pt x="23" y="12"/>
                  </a:lnTo>
                  <a:lnTo>
                    <a:pt x="25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3" y="2"/>
                  </a:lnTo>
                  <a:lnTo>
                    <a:pt x="19" y="1"/>
                  </a:lnTo>
                  <a:lnTo>
                    <a:pt x="15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3" name="Freeform 281"/>
            <p:cNvSpPr>
              <a:spLocks/>
            </p:cNvSpPr>
            <p:nvPr/>
          </p:nvSpPr>
          <p:spPr bwMode="auto">
            <a:xfrm>
              <a:off x="3608" y="1954"/>
              <a:ext cx="14" cy="14"/>
            </a:xfrm>
            <a:custGeom>
              <a:avLst/>
              <a:gdLst>
                <a:gd name="T0" fmla="*/ 1 w 26"/>
                <a:gd name="T1" fmla="*/ 0 h 14"/>
                <a:gd name="T2" fmla="*/ 1 w 26"/>
                <a:gd name="T3" fmla="*/ 0 h 14"/>
                <a:gd name="T4" fmla="*/ 1 w 26"/>
                <a:gd name="T5" fmla="*/ 1 h 14"/>
                <a:gd name="T6" fmla="*/ 1 w 26"/>
                <a:gd name="T7" fmla="*/ 2 h 14"/>
                <a:gd name="T8" fmla="*/ 0 w 26"/>
                <a:gd name="T9" fmla="*/ 4 h 14"/>
                <a:gd name="T10" fmla="*/ 0 w 26"/>
                <a:gd name="T11" fmla="*/ 6 h 14"/>
                <a:gd name="T12" fmla="*/ 0 w 26"/>
                <a:gd name="T13" fmla="*/ 7 h 14"/>
                <a:gd name="T14" fmla="*/ 0 w 26"/>
                <a:gd name="T15" fmla="*/ 9 h 14"/>
                <a:gd name="T16" fmla="*/ 0 w 26"/>
                <a:gd name="T17" fmla="*/ 10 h 14"/>
                <a:gd name="T18" fmla="*/ 1 w 26"/>
                <a:gd name="T19" fmla="*/ 12 h 14"/>
                <a:gd name="T20" fmla="*/ 1 w 26"/>
                <a:gd name="T21" fmla="*/ 14 h 14"/>
                <a:gd name="T22" fmla="*/ 1 w 26"/>
                <a:gd name="T23" fmla="*/ 14 h 14"/>
                <a:gd name="T24" fmla="*/ 1 w 26"/>
                <a:gd name="T25" fmla="*/ 14 h 14"/>
                <a:gd name="T26" fmla="*/ 1 w 26"/>
                <a:gd name="T27" fmla="*/ 14 h 14"/>
                <a:gd name="T28" fmla="*/ 1 w 26"/>
                <a:gd name="T29" fmla="*/ 14 h 14"/>
                <a:gd name="T30" fmla="*/ 1 w 26"/>
                <a:gd name="T31" fmla="*/ 14 h 14"/>
                <a:gd name="T32" fmla="*/ 1 w 26"/>
                <a:gd name="T33" fmla="*/ 12 h 14"/>
                <a:gd name="T34" fmla="*/ 1 w 26"/>
                <a:gd name="T35" fmla="*/ 10 h 14"/>
                <a:gd name="T36" fmla="*/ 1 w 26"/>
                <a:gd name="T37" fmla="*/ 9 h 14"/>
                <a:gd name="T38" fmla="*/ 1 w 26"/>
                <a:gd name="T39" fmla="*/ 7 h 14"/>
                <a:gd name="T40" fmla="*/ 1 w 26"/>
                <a:gd name="T41" fmla="*/ 6 h 14"/>
                <a:gd name="T42" fmla="*/ 1 w 26"/>
                <a:gd name="T43" fmla="*/ 4 h 14"/>
                <a:gd name="T44" fmla="*/ 1 w 26"/>
                <a:gd name="T45" fmla="*/ 2 h 14"/>
                <a:gd name="T46" fmla="*/ 1 w 26"/>
                <a:gd name="T47" fmla="*/ 1 h 14"/>
                <a:gd name="T48" fmla="*/ 1 w 26"/>
                <a:gd name="T49" fmla="*/ 0 h 14"/>
                <a:gd name="T50" fmla="*/ 1 w 26"/>
                <a:gd name="T51" fmla="*/ 0 h 14"/>
                <a:gd name="T52" fmla="*/ 1 w 26"/>
                <a:gd name="T53" fmla="*/ 0 h 1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6"/>
                <a:gd name="T82" fmla="*/ 0 h 14"/>
                <a:gd name="T83" fmla="*/ 26 w 26"/>
                <a:gd name="T84" fmla="*/ 14 h 1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6" h="14">
                  <a:moveTo>
                    <a:pt x="13" y="0"/>
                  </a:moveTo>
                  <a:lnTo>
                    <a:pt x="11" y="0"/>
                  </a:lnTo>
                  <a:lnTo>
                    <a:pt x="8" y="1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12"/>
                  </a:lnTo>
                  <a:lnTo>
                    <a:pt x="8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9" y="14"/>
                  </a:lnTo>
                  <a:lnTo>
                    <a:pt x="23" y="12"/>
                  </a:lnTo>
                  <a:lnTo>
                    <a:pt x="25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3" y="2"/>
                  </a:lnTo>
                  <a:lnTo>
                    <a:pt x="19" y="1"/>
                  </a:lnTo>
                  <a:lnTo>
                    <a:pt x="15" y="0"/>
                  </a:lnTo>
                  <a:lnTo>
                    <a:pt x="1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Freeform 282"/>
            <p:cNvSpPr>
              <a:spLocks/>
            </p:cNvSpPr>
            <p:nvPr/>
          </p:nvSpPr>
          <p:spPr bwMode="auto">
            <a:xfrm>
              <a:off x="3608" y="1837"/>
              <a:ext cx="14" cy="14"/>
            </a:xfrm>
            <a:custGeom>
              <a:avLst/>
              <a:gdLst>
                <a:gd name="T0" fmla="*/ 1 w 26"/>
                <a:gd name="T1" fmla="*/ 0 h 14"/>
                <a:gd name="T2" fmla="*/ 1 w 26"/>
                <a:gd name="T3" fmla="*/ 0 h 14"/>
                <a:gd name="T4" fmla="*/ 1 w 26"/>
                <a:gd name="T5" fmla="*/ 1 h 14"/>
                <a:gd name="T6" fmla="*/ 1 w 26"/>
                <a:gd name="T7" fmla="*/ 2 h 14"/>
                <a:gd name="T8" fmla="*/ 0 w 26"/>
                <a:gd name="T9" fmla="*/ 4 h 14"/>
                <a:gd name="T10" fmla="*/ 0 w 26"/>
                <a:gd name="T11" fmla="*/ 6 h 14"/>
                <a:gd name="T12" fmla="*/ 0 w 26"/>
                <a:gd name="T13" fmla="*/ 7 h 14"/>
                <a:gd name="T14" fmla="*/ 0 w 26"/>
                <a:gd name="T15" fmla="*/ 9 h 14"/>
                <a:gd name="T16" fmla="*/ 0 w 26"/>
                <a:gd name="T17" fmla="*/ 10 h 14"/>
                <a:gd name="T18" fmla="*/ 1 w 26"/>
                <a:gd name="T19" fmla="*/ 12 h 14"/>
                <a:gd name="T20" fmla="*/ 1 w 26"/>
                <a:gd name="T21" fmla="*/ 14 h 14"/>
                <a:gd name="T22" fmla="*/ 1 w 26"/>
                <a:gd name="T23" fmla="*/ 14 h 14"/>
                <a:gd name="T24" fmla="*/ 1 w 26"/>
                <a:gd name="T25" fmla="*/ 14 h 14"/>
                <a:gd name="T26" fmla="*/ 1 w 26"/>
                <a:gd name="T27" fmla="*/ 14 h 14"/>
                <a:gd name="T28" fmla="*/ 1 w 26"/>
                <a:gd name="T29" fmla="*/ 14 h 14"/>
                <a:gd name="T30" fmla="*/ 1 w 26"/>
                <a:gd name="T31" fmla="*/ 14 h 14"/>
                <a:gd name="T32" fmla="*/ 1 w 26"/>
                <a:gd name="T33" fmla="*/ 12 h 14"/>
                <a:gd name="T34" fmla="*/ 1 w 26"/>
                <a:gd name="T35" fmla="*/ 10 h 14"/>
                <a:gd name="T36" fmla="*/ 1 w 26"/>
                <a:gd name="T37" fmla="*/ 9 h 14"/>
                <a:gd name="T38" fmla="*/ 1 w 26"/>
                <a:gd name="T39" fmla="*/ 7 h 14"/>
                <a:gd name="T40" fmla="*/ 1 w 26"/>
                <a:gd name="T41" fmla="*/ 6 h 14"/>
                <a:gd name="T42" fmla="*/ 1 w 26"/>
                <a:gd name="T43" fmla="*/ 4 h 14"/>
                <a:gd name="T44" fmla="*/ 1 w 26"/>
                <a:gd name="T45" fmla="*/ 2 h 14"/>
                <a:gd name="T46" fmla="*/ 1 w 26"/>
                <a:gd name="T47" fmla="*/ 1 h 14"/>
                <a:gd name="T48" fmla="*/ 1 w 26"/>
                <a:gd name="T49" fmla="*/ 0 h 14"/>
                <a:gd name="T50" fmla="*/ 1 w 26"/>
                <a:gd name="T51" fmla="*/ 0 h 14"/>
                <a:gd name="T52" fmla="*/ 1 w 26"/>
                <a:gd name="T53" fmla="*/ 0 h 1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6"/>
                <a:gd name="T82" fmla="*/ 0 h 14"/>
                <a:gd name="T83" fmla="*/ 26 w 26"/>
                <a:gd name="T84" fmla="*/ 14 h 1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6" h="14">
                  <a:moveTo>
                    <a:pt x="13" y="0"/>
                  </a:moveTo>
                  <a:lnTo>
                    <a:pt x="11" y="0"/>
                  </a:lnTo>
                  <a:lnTo>
                    <a:pt x="8" y="1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12"/>
                  </a:lnTo>
                  <a:lnTo>
                    <a:pt x="8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9" y="14"/>
                  </a:lnTo>
                  <a:lnTo>
                    <a:pt x="23" y="12"/>
                  </a:lnTo>
                  <a:lnTo>
                    <a:pt x="25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3" y="2"/>
                  </a:lnTo>
                  <a:lnTo>
                    <a:pt x="19" y="1"/>
                  </a:lnTo>
                  <a:lnTo>
                    <a:pt x="15" y="0"/>
                  </a:lnTo>
                  <a:lnTo>
                    <a:pt x="1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Line 283"/>
            <p:cNvSpPr>
              <a:spLocks noChangeShapeType="1"/>
            </p:cNvSpPr>
            <p:nvPr/>
          </p:nvSpPr>
          <p:spPr bwMode="auto">
            <a:xfrm>
              <a:off x="3618" y="1851"/>
              <a:ext cx="30" cy="9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Freeform 284"/>
            <p:cNvSpPr>
              <a:spLocks/>
            </p:cNvSpPr>
            <p:nvPr/>
          </p:nvSpPr>
          <p:spPr bwMode="auto">
            <a:xfrm>
              <a:off x="5167" y="1043"/>
              <a:ext cx="30" cy="33"/>
            </a:xfrm>
            <a:custGeom>
              <a:avLst/>
              <a:gdLst>
                <a:gd name="T0" fmla="*/ 0 w 60"/>
                <a:gd name="T1" fmla="*/ 17 h 33"/>
                <a:gd name="T2" fmla="*/ 0 w 60"/>
                <a:gd name="T3" fmla="*/ 13 h 33"/>
                <a:gd name="T4" fmla="*/ 1 w 60"/>
                <a:gd name="T5" fmla="*/ 10 h 33"/>
                <a:gd name="T6" fmla="*/ 1 w 60"/>
                <a:gd name="T7" fmla="*/ 8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8 h 33"/>
                <a:gd name="T28" fmla="*/ 1 w 60"/>
                <a:gd name="T29" fmla="*/ 10 h 33"/>
                <a:gd name="T30" fmla="*/ 1 w 60"/>
                <a:gd name="T31" fmla="*/ 13 h 33"/>
                <a:gd name="T32" fmla="*/ 1 w 60"/>
                <a:gd name="T33" fmla="*/ 17 h 33"/>
                <a:gd name="T34" fmla="*/ 1 w 60"/>
                <a:gd name="T35" fmla="*/ 17 h 33"/>
                <a:gd name="T36" fmla="*/ 1 w 60"/>
                <a:gd name="T37" fmla="*/ 20 h 33"/>
                <a:gd name="T38" fmla="*/ 1 w 60"/>
                <a:gd name="T39" fmla="*/ 23 h 33"/>
                <a:gd name="T40" fmla="*/ 1 w 60"/>
                <a:gd name="T41" fmla="*/ 25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5 h 33"/>
                <a:gd name="T62" fmla="*/ 1 w 60"/>
                <a:gd name="T63" fmla="*/ 23 h 33"/>
                <a:gd name="T64" fmla="*/ 0 w 60"/>
                <a:gd name="T65" fmla="*/ 20 h 33"/>
                <a:gd name="T66" fmla="*/ 0 w 60"/>
                <a:gd name="T67" fmla="*/ 17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7"/>
                  </a:moveTo>
                  <a:lnTo>
                    <a:pt x="0" y="13"/>
                  </a:lnTo>
                  <a:lnTo>
                    <a:pt x="2" y="10"/>
                  </a:lnTo>
                  <a:lnTo>
                    <a:pt x="4" y="8"/>
                  </a:lnTo>
                  <a:lnTo>
                    <a:pt x="7" y="4"/>
                  </a:lnTo>
                  <a:lnTo>
                    <a:pt x="13" y="2"/>
                  </a:lnTo>
                  <a:lnTo>
                    <a:pt x="17" y="1"/>
                  </a:lnTo>
                  <a:lnTo>
                    <a:pt x="22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5" y="2"/>
                  </a:lnTo>
                  <a:lnTo>
                    <a:pt x="51" y="4"/>
                  </a:lnTo>
                  <a:lnTo>
                    <a:pt x="55" y="8"/>
                  </a:lnTo>
                  <a:lnTo>
                    <a:pt x="56" y="10"/>
                  </a:lnTo>
                  <a:lnTo>
                    <a:pt x="58" y="13"/>
                  </a:lnTo>
                  <a:lnTo>
                    <a:pt x="60" y="17"/>
                  </a:lnTo>
                  <a:lnTo>
                    <a:pt x="58" y="20"/>
                  </a:lnTo>
                  <a:lnTo>
                    <a:pt x="56" y="23"/>
                  </a:lnTo>
                  <a:lnTo>
                    <a:pt x="55" y="25"/>
                  </a:lnTo>
                  <a:lnTo>
                    <a:pt x="51" y="28"/>
                  </a:lnTo>
                  <a:lnTo>
                    <a:pt x="45" y="30"/>
                  </a:lnTo>
                  <a:lnTo>
                    <a:pt x="41" y="31"/>
                  </a:lnTo>
                  <a:lnTo>
                    <a:pt x="36" y="32"/>
                  </a:lnTo>
                  <a:lnTo>
                    <a:pt x="30" y="33"/>
                  </a:lnTo>
                  <a:lnTo>
                    <a:pt x="22" y="32"/>
                  </a:lnTo>
                  <a:lnTo>
                    <a:pt x="17" y="31"/>
                  </a:lnTo>
                  <a:lnTo>
                    <a:pt x="13" y="30"/>
                  </a:lnTo>
                  <a:lnTo>
                    <a:pt x="7" y="28"/>
                  </a:lnTo>
                  <a:lnTo>
                    <a:pt x="4" y="25"/>
                  </a:lnTo>
                  <a:lnTo>
                    <a:pt x="2" y="23"/>
                  </a:lnTo>
                  <a:lnTo>
                    <a:pt x="0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7" name="Line 285"/>
            <p:cNvSpPr>
              <a:spLocks noChangeShapeType="1"/>
            </p:cNvSpPr>
            <p:nvPr/>
          </p:nvSpPr>
          <p:spPr bwMode="auto">
            <a:xfrm flipV="1">
              <a:off x="4365" y="1059"/>
              <a:ext cx="1" cy="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8" name="Freeform 286"/>
            <p:cNvSpPr>
              <a:spLocks/>
            </p:cNvSpPr>
            <p:nvPr/>
          </p:nvSpPr>
          <p:spPr bwMode="auto">
            <a:xfrm>
              <a:off x="5080" y="1058"/>
              <a:ext cx="274" cy="111"/>
            </a:xfrm>
            <a:custGeom>
              <a:avLst/>
              <a:gdLst>
                <a:gd name="T0" fmla="*/ 9 w 547"/>
                <a:gd name="T1" fmla="*/ 111 h 111"/>
                <a:gd name="T2" fmla="*/ 9 w 547"/>
                <a:gd name="T3" fmla="*/ 2 h 111"/>
                <a:gd name="T4" fmla="*/ 0 w 547"/>
                <a:gd name="T5" fmla="*/ 0 h 111"/>
                <a:gd name="T6" fmla="*/ 0 60000 65536"/>
                <a:gd name="T7" fmla="*/ 0 60000 65536"/>
                <a:gd name="T8" fmla="*/ 0 60000 65536"/>
                <a:gd name="T9" fmla="*/ 0 w 547"/>
                <a:gd name="T10" fmla="*/ 0 h 111"/>
                <a:gd name="T11" fmla="*/ 547 w 547"/>
                <a:gd name="T12" fmla="*/ 111 h 1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7" h="111">
                  <a:moveTo>
                    <a:pt x="547" y="111"/>
                  </a:moveTo>
                  <a:lnTo>
                    <a:pt x="547" y="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" name="Line 287"/>
            <p:cNvSpPr>
              <a:spLocks noChangeShapeType="1"/>
            </p:cNvSpPr>
            <p:nvPr/>
          </p:nvSpPr>
          <p:spPr bwMode="auto">
            <a:xfrm flipH="1" flipV="1">
              <a:off x="5180" y="1059"/>
              <a:ext cx="2" cy="2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" name="Freeform 288"/>
            <p:cNvSpPr>
              <a:spLocks/>
            </p:cNvSpPr>
            <p:nvPr/>
          </p:nvSpPr>
          <p:spPr bwMode="auto">
            <a:xfrm>
              <a:off x="4867" y="1025"/>
              <a:ext cx="213" cy="35"/>
            </a:xfrm>
            <a:custGeom>
              <a:avLst/>
              <a:gdLst>
                <a:gd name="T0" fmla="*/ 0 w 426"/>
                <a:gd name="T1" fmla="*/ 31 h 35"/>
                <a:gd name="T2" fmla="*/ 1 w 426"/>
                <a:gd name="T3" fmla="*/ 25 h 35"/>
                <a:gd name="T4" fmla="*/ 1 w 426"/>
                <a:gd name="T5" fmla="*/ 15 h 35"/>
                <a:gd name="T6" fmla="*/ 1 w 426"/>
                <a:gd name="T7" fmla="*/ 6 h 35"/>
                <a:gd name="T8" fmla="*/ 1 w 426"/>
                <a:gd name="T9" fmla="*/ 3 h 35"/>
                <a:gd name="T10" fmla="*/ 1 w 426"/>
                <a:gd name="T11" fmla="*/ 1 h 35"/>
                <a:gd name="T12" fmla="*/ 1 w 426"/>
                <a:gd name="T13" fmla="*/ 0 h 35"/>
                <a:gd name="T14" fmla="*/ 1 w 426"/>
                <a:gd name="T15" fmla="*/ 0 h 35"/>
                <a:gd name="T16" fmla="*/ 2 w 426"/>
                <a:gd name="T17" fmla="*/ 2 h 35"/>
                <a:gd name="T18" fmla="*/ 2 w 426"/>
                <a:gd name="T19" fmla="*/ 4 h 35"/>
                <a:gd name="T20" fmla="*/ 2 w 426"/>
                <a:gd name="T21" fmla="*/ 8 h 35"/>
                <a:gd name="T22" fmla="*/ 2 w 426"/>
                <a:gd name="T23" fmla="*/ 18 h 35"/>
                <a:gd name="T24" fmla="*/ 2 w 426"/>
                <a:gd name="T25" fmla="*/ 25 h 35"/>
                <a:gd name="T26" fmla="*/ 2 w 426"/>
                <a:gd name="T27" fmla="*/ 32 h 35"/>
                <a:gd name="T28" fmla="*/ 2 w 426"/>
                <a:gd name="T29" fmla="*/ 31 h 35"/>
                <a:gd name="T30" fmla="*/ 2 w 426"/>
                <a:gd name="T31" fmla="*/ 25 h 35"/>
                <a:gd name="T32" fmla="*/ 2 w 426"/>
                <a:gd name="T33" fmla="*/ 15 h 35"/>
                <a:gd name="T34" fmla="*/ 2 w 426"/>
                <a:gd name="T35" fmla="*/ 6 h 35"/>
                <a:gd name="T36" fmla="*/ 3 w 426"/>
                <a:gd name="T37" fmla="*/ 3 h 35"/>
                <a:gd name="T38" fmla="*/ 3 w 426"/>
                <a:gd name="T39" fmla="*/ 1 h 35"/>
                <a:gd name="T40" fmla="*/ 3 w 426"/>
                <a:gd name="T41" fmla="*/ 0 h 35"/>
                <a:gd name="T42" fmla="*/ 3 w 426"/>
                <a:gd name="T43" fmla="*/ 0 h 35"/>
                <a:gd name="T44" fmla="*/ 3 w 426"/>
                <a:gd name="T45" fmla="*/ 2 h 35"/>
                <a:gd name="T46" fmla="*/ 3 w 426"/>
                <a:gd name="T47" fmla="*/ 4 h 35"/>
                <a:gd name="T48" fmla="*/ 4 w 426"/>
                <a:gd name="T49" fmla="*/ 8 h 35"/>
                <a:gd name="T50" fmla="*/ 4 w 426"/>
                <a:gd name="T51" fmla="*/ 18 h 35"/>
                <a:gd name="T52" fmla="*/ 4 w 426"/>
                <a:gd name="T53" fmla="*/ 25 h 35"/>
                <a:gd name="T54" fmla="*/ 4 w 426"/>
                <a:gd name="T55" fmla="*/ 32 h 35"/>
                <a:gd name="T56" fmla="*/ 4 w 426"/>
                <a:gd name="T57" fmla="*/ 31 h 35"/>
                <a:gd name="T58" fmla="*/ 4 w 426"/>
                <a:gd name="T59" fmla="*/ 25 h 35"/>
                <a:gd name="T60" fmla="*/ 4 w 426"/>
                <a:gd name="T61" fmla="*/ 15 h 35"/>
                <a:gd name="T62" fmla="*/ 4 w 426"/>
                <a:gd name="T63" fmla="*/ 6 h 35"/>
                <a:gd name="T64" fmla="*/ 4 w 426"/>
                <a:gd name="T65" fmla="*/ 3 h 35"/>
                <a:gd name="T66" fmla="*/ 4 w 426"/>
                <a:gd name="T67" fmla="*/ 1 h 35"/>
                <a:gd name="T68" fmla="*/ 5 w 426"/>
                <a:gd name="T69" fmla="*/ 0 h 35"/>
                <a:gd name="T70" fmla="*/ 5 w 426"/>
                <a:gd name="T71" fmla="*/ 0 h 35"/>
                <a:gd name="T72" fmla="*/ 5 w 426"/>
                <a:gd name="T73" fmla="*/ 2 h 35"/>
                <a:gd name="T74" fmla="*/ 5 w 426"/>
                <a:gd name="T75" fmla="*/ 4 h 35"/>
                <a:gd name="T76" fmla="*/ 5 w 426"/>
                <a:gd name="T77" fmla="*/ 8 h 35"/>
                <a:gd name="T78" fmla="*/ 5 w 426"/>
                <a:gd name="T79" fmla="*/ 18 h 35"/>
                <a:gd name="T80" fmla="*/ 5 w 426"/>
                <a:gd name="T81" fmla="*/ 25 h 35"/>
                <a:gd name="T82" fmla="*/ 6 w 426"/>
                <a:gd name="T83" fmla="*/ 32 h 35"/>
                <a:gd name="T84" fmla="*/ 6 w 426"/>
                <a:gd name="T85" fmla="*/ 31 h 35"/>
                <a:gd name="T86" fmla="*/ 6 w 426"/>
                <a:gd name="T87" fmla="*/ 25 h 35"/>
                <a:gd name="T88" fmla="*/ 6 w 426"/>
                <a:gd name="T89" fmla="*/ 15 h 35"/>
                <a:gd name="T90" fmla="*/ 6 w 426"/>
                <a:gd name="T91" fmla="*/ 6 h 35"/>
                <a:gd name="T92" fmla="*/ 6 w 426"/>
                <a:gd name="T93" fmla="*/ 3 h 35"/>
                <a:gd name="T94" fmla="*/ 6 w 426"/>
                <a:gd name="T95" fmla="*/ 1 h 35"/>
                <a:gd name="T96" fmla="*/ 6 w 426"/>
                <a:gd name="T97" fmla="*/ 0 h 35"/>
                <a:gd name="T98" fmla="*/ 6 w 426"/>
                <a:gd name="T99" fmla="*/ 0 h 35"/>
                <a:gd name="T100" fmla="*/ 7 w 426"/>
                <a:gd name="T101" fmla="*/ 2 h 35"/>
                <a:gd name="T102" fmla="*/ 7 w 426"/>
                <a:gd name="T103" fmla="*/ 4 h 35"/>
                <a:gd name="T104" fmla="*/ 7 w 426"/>
                <a:gd name="T105" fmla="*/ 8 h 35"/>
                <a:gd name="T106" fmla="*/ 7 w 426"/>
                <a:gd name="T107" fmla="*/ 18 h 35"/>
                <a:gd name="T108" fmla="*/ 7 w 426"/>
                <a:gd name="T109" fmla="*/ 25 h 35"/>
                <a:gd name="T110" fmla="*/ 7 w 426"/>
                <a:gd name="T111" fmla="*/ 32 h 35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426"/>
                <a:gd name="T169" fmla="*/ 0 h 35"/>
                <a:gd name="T170" fmla="*/ 426 w 426"/>
                <a:gd name="T171" fmla="*/ 35 h 35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426" h="35">
                  <a:moveTo>
                    <a:pt x="0" y="35"/>
                  </a:moveTo>
                  <a:lnTo>
                    <a:pt x="0" y="31"/>
                  </a:lnTo>
                  <a:lnTo>
                    <a:pt x="0" y="28"/>
                  </a:lnTo>
                  <a:lnTo>
                    <a:pt x="2" y="25"/>
                  </a:lnTo>
                  <a:lnTo>
                    <a:pt x="4" y="21"/>
                  </a:lnTo>
                  <a:lnTo>
                    <a:pt x="8" y="15"/>
                  </a:lnTo>
                  <a:lnTo>
                    <a:pt x="13" y="10"/>
                  </a:lnTo>
                  <a:lnTo>
                    <a:pt x="21" y="6"/>
                  </a:lnTo>
                  <a:lnTo>
                    <a:pt x="26" y="4"/>
                  </a:lnTo>
                  <a:lnTo>
                    <a:pt x="30" y="3"/>
                  </a:lnTo>
                  <a:lnTo>
                    <a:pt x="36" y="1"/>
                  </a:lnTo>
                  <a:lnTo>
                    <a:pt x="40" y="1"/>
                  </a:lnTo>
                  <a:lnTo>
                    <a:pt x="45" y="0"/>
                  </a:lnTo>
                  <a:lnTo>
                    <a:pt x="51" y="0"/>
                  </a:lnTo>
                  <a:lnTo>
                    <a:pt x="57" y="0"/>
                  </a:lnTo>
                  <a:lnTo>
                    <a:pt x="62" y="0"/>
                  </a:lnTo>
                  <a:lnTo>
                    <a:pt x="68" y="1"/>
                  </a:lnTo>
                  <a:lnTo>
                    <a:pt x="72" y="2"/>
                  </a:lnTo>
                  <a:lnTo>
                    <a:pt x="77" y="3"/>
                  </a:lnTo>
                  <a:lnTo>
                    <a:pt x="81" y="4"/>
                  </a:lnTo>
                  <a:lnTo>
                    <a:pt x="85" y="6"/>
                  </a:lnTo>
                  <a:lnTo>
                    <a:pt x="89" y="8"/>
                  </a:lnTo>
                  <a:lnTo>
                    <a:pt x="96" y="13"/>
                  </a:lnTo>
                  <a:lnTo>
                    <a:pt x="102" y="18"/>
                  </a:lnTo>
                  <a:lnTo>
                    <a:pt x="104" y="21"/>
                  </a:lnTo>
                  <a:lnTo>
                    <a:pt x="106" y="25"/>
                  </a:lnTo>
                  <a:lnTo>
                    <a:pt x="106" y="29"/>
                  </a:lnTo>
                  <a:lnTo>
                    <a:pt x="106" y="32"/>
                  </a:lnTo>
                  <a:lnTo>
                    <a:pt x="106" y="35"/>
                  </a:lnTo>
                  <a:lnTo>
                    <a:pt x="108" y="31"/>
                  </a:lnTo>
                  <a:lnTo>
                    <a:pt x="108" y="28"/>
                  </a:lnTo>
                  <a:lnTo>
                    <a:pt x="108" y="25"/>
                  </a:lnTo>
                  <a:lnTo>
                    <a:pt x="109" y="21"/>
                  </a:lnTo>
                  <a:lnTo>
                    <a:pt x="115" y="15"/>
                  </a:lnTo>
                  <a:lnTo>
                    <a:pt x="121" y="10"/>
                  </a:lnTo>
                  <a:lnTo>
                    <a:pt x="128" y="6"/>
                  </a:lnTo>
                  <a:lnTo>
                    <a:pt x="132" y="4"/>
                  </a:lnTo>
                  <a:lnTo>
                    <a:pt x="138" y="3"/>
                  </a:lnTo>
                  <a:lnTo>
                    <a:pt x="142" y="1"/>
                  </a:lnTo>
                  <a:lnTo>
                    <a:pt x="147" y="1"/>
                  </a:lnTo>
                  <a:lnTo>
                    <a:pt x="153" y="0"/>
                  </a:lnTo>
                  <a:lnTo>
                    <a:pt x="159" y="0"/>
                  </a:lnTo>
                  <a:lnTo>
                    <a:pt x="164" y="0"/>
                  </a:lnTo>
                  <a:lnTo>
                    <a:pt x="168" y="0"/>
                  </a:lnTo>
                  <a:lnTo>
                    <a:pt x="174" y="1"/>
                  </a:lnTo>
                  <a:lnTo>
                    <a:pt x="179" y="2"/>
                  </a:lnTo>
                  <a:lnTo>
                    <a:pt x="183" y="3"/>
                  </a:lnTo>
                  <a:lnTo>
                    <a:pt x="189" y="4"/>
                  </a:lnTo>
                  <a:lnTo>
                    <a:pt x="192" y="6"/>
                  </a:lnTo>
                  <a:lnTo>
                    <a:pt x="196" y="8"/>
                  </a:lnTo>
                  <a:lnTo>
                    <a:pt x="204" y="13"/>
                  </a:lnTo>
                  <a:lnTo>
                    <a:pt x="208" y="18"/>
                  </a:lnTo>
                  <a:lnTo>
                    <a:pt x="209" y="21"/>
                  </a:lnTo>
                  <a:lnTo>
                    <a:pt x="211" y="25"/>
                  </a:lnTo>
                  <a:lnTo>
                    <a:pt x="213" y="29"/>
                  </a:lnTo>
                  <a:lnTo>
                    <a:pt x="213" y="32"/>
                  </a:lnTo>
                  <a:lnTo>
                    <a:pt x="213" y="35"/>
                  </a:lnTo>
                  <a:lnTo>
                    <a:pt x="213" y="31"/>
                  </a:lnTo>
                  <a:lnTo>
                    <a:pt x="213" y="28"/>
                  </a:lnTo>
                  <a:lnTo>
                    <a:pt x="215" y="25"/>
                  </a:lnTo>
                  <a:lnTo>
                    <a:pt x="217" y="21"/>
                  </a:lnTo>
                  <a:lnTo>
                    <a:pt x="221" y="15"/>
                  </a:lnTo>
                  <a:lnTo>
                    <a:pt x="226" y="10"/>
                  </a:lnTo>
                  <a:lnTo>
                    <a:pt x="236" y="6"/>
                  </a:lnTo>
                  <a:lnTo>
                    <a:pt x="240" y="4"/>
                  </a:lnTo>
                  <a:lnTo>
                    <a:pt x="243" y="3"/>
                  </a:lnTo>
                  <a:lnTo>
                    <a:pt x="249" y="1"/>
                  </a:lnTo>
                  <a:lnTo>
                    <a:pt x="253" y="1"/>
                  </a:lnTo>
                  <a:lnTo>
                    <a:pt x="258" y="0"/>
                  </a:lnTo>
                  <a:lnTo>
                    <a:pt x="264" y="0"/>
                  </a:lnTo>
                  <a:lnTo>
                    <a:pt x="270" y="0"/>
                  </a:lnTo>
                  <a:lnTo>
                    <a:pt x="275" y="0"/>
                  </a:lnTo>
                  <a:lnTo>
                    <a:pt x="281" y="1"/>
                  </a:lnTo>
                  <a:lnTo>
                    <a:pt x="285" y="2"/>
                  </a:lnTo>
                  <a:lnTo>
                    <a:pt x="291" y="3"/>
                  </a:lnTo>
                  <a:lnTo>
                    <a:pt x="294" y="4"/>
                  </a:lnTo>
                  <a:lnTo>
                    <a:pt x="298" y="6"/>
                  </a:lnTo>
                  <a:lnTo>
                    <a:pt x="302" y="8"/>
                  </a:lnTo>
                  <a:lnTo>
                    <a:pt x="309" y="13"/>
                  </a:lnTo>
                  <a:lnTo>
                    <a:pt x="315" y="18"/>
                  </a:lnTo>
                  <a:lnTo>
                    <a:pt x="317" y="21"/>
                  </a:lnTo>
                  <a:lnTo>
                    <a:pt x="319" y="25"/>
                  </a:lnTo>
                  <a:lnTo>
                    <a:pt x="319" y="29"/>
                  </a:lnTo>
                  <a:lnTo>
                    <a:pt x="321" y="32"/>
                  </a:lnTo>
                  <a:lnTo>
                    <a:pt x="321" y="35"/>
                  </a:lnTo>
                  <a:lnTo>
                    <a:pt x="321" y="31"/>
                  </a:lnTo>
                  <a:lnTo>
                    <a:pt x="321" y="28"/>
                  </a:lnTo>
                  <a:lnTo>
                    <a:pt x="321" y="25"/>
                  </a:lnTo>
                  <a:lnTo>
                    <a:pt x="323" y="21"/>
                  </a:lnTo>
                  <a:lnTo>
                    <a:pt x="328" y="15"/>
                  </a:lnTo>
                  <a:lnTo>
                    <a:pt x="334" y="10"/>
                  </a:lnTo>
                  <a:lnTo>
                    <a:pt x="341" y="6"/>
                  </a:lnTo>
                  <a:lnTo>
                    <a:pt x="345" y="4"/>
                  </a:lnTo>
                  <a:lnTo>
                    <a:pt x="351" y="3"/>
                  </a:lnTo>
                  <a:lnTo>
                    <a:pt x="355" y="1"/>
                  </a:lnTo>
                  <a:lnTo>
                    <a:pt x="360" y="1"/>
                  </a:lnTo>
                  <a:lnTo>
                    <a:pt x="366" y="0"/>
                  </a:lnTo>
                  <a:lnTo>
                    <a:pt x="372" y="0"/>
                  </a:lnTo>
                  <a:lnTo>
                    <a:pt x="377" y="0"/>
                  </a:lnTo>
                  <a:lnTo>
                    <a:pt x="381" y="0"/>
                  </a:lnTo>
                  <a:lnTo>
                    <a:pt x="387" y="1"/>
                  </a:lnTo>
                  <a:lnTo>
                    <a:pt x="392" y="2"/>
                  </a:lnTo>
                  <a:lnTo>
                    <a:pt x="396" y="3"/>
                  </a:lnTo>
                  <a:lnTo>
                    <a:pt x="402" y="4"/>
                  </a:lnTo>
                  <a:lnTo>
                    <a:pt x="406" y="6"/>
                  </a:lnTo>
                  <a:lnTo>
                    <a:pt x="409" y="8"/>
                  </a:lnTo>
                  <a:lnTo>
                    <a:pt x="417" y="13"/>
                  </a:lnTo>
                  <a:lnTo>
                    <a:pt x="421" y="18"/>
                  </a:lnTo>
                  <a:lnTo>
                    <a:pt x="423" y="21"/>
                  </a:lnTo>
                  <a:lnTo>
                    <a:pt x="424" y="25"/>
                  </a:lnTo>
                  <a:lnTo>
                    <a:pt x="426" y="29"/>
                  </a:lnTo>
                  <a:lnTo>
                    <a:pt x="426" y="32"/>
                  </a:lnTo>
                  <a:lnTo>
                    <a:pt x="426" y="3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1" name="Rectangle 289"/>
            <p:cNvSpPr>
              <a:spLocks noChangeArrowheads="1"/>
            </p:cNvSpPr>
            <p:nvPr/>
          </p:nvSpPr>
          <p:spPr bwMode="auto">
            <a:xfrm>
              <a:off x="4560" y="934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222" name="Rectangle 290"/>
            <p:cNvSpPr>
              <a:spLocks noChangeArrowheads="1"/>
            </p:cNvSpPr>
            <p:nvPr/>
          </p:nvSpPr>
          <p:spPr bwMode="auto">
            <a:xfrm>
              <a:off x="4496" y="890"/>
              <a:ext cx="75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223" name="Rectangle 291"/>
            <p:cNvSpPr>
              <a:spLocks noChangeArrowheads="1"/>
            </p:cNvSpPr>
            <p:nvPr/>
          </p:nvSpPr>
          <p:spPr bwMode="auto">
            <a:xfrm>
              <a:off x="4571" y="1591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24" name="Rectangle 292"/>
            <p:cNvSpPr>
              <a:spLocks noChangeArrowheads="1"/>
            </p:cNvSpPr>
            <p:nvPr/>
          </p:nvSpPr>
          <p:spPr bwMode="auto">
            <a:xfrm>
              <a:off x="4506" y="1544"/>
              <a:ext cx="75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225" name="Rectangle 293"/>
            <p:cNvSpPr>
              <a:spLocks noChangeArrowheads="1"/>
            </p:cNvSpPr>
            <p:nvPr/>
          </p:nvSpPr>
          <p:spPr bwMode="auto">
            <a:xfrm>
              <a:off x="4960" y="1058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宋体" pitchFamily="2" charset="-122"/>
                </a:rPr>
                <a:t>L</a:t>
              </a:r>
              <a:endParaRPr lang="en-US" altLang="zh-CN"/>
            </a:p>
          </p:txBody>
        </p:sp>
        <p:sp>
          <p:nvSpPr>
            <p:cNvPr id="226" name="Rectangle 294"/>
            <p:cNvSpPr>
              <a:spLocks noChangeArrowheads="1"/>
            </p:cNvSpPr>
            <p:nvPr/>
          </p:nvSpPr>
          <p:spPr bwMode="auto">
            <a:xfrm>
              <a:off x="4105" y="1194"/>
              <a:ext cx="111" cy="13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7" name="Rectangle 295"/>
            <p:cNvSpPr>
              <a:spLocks noChangeArrowheads="1"/>
            </p:cNvSpPr>
            <p:nvPr/>
          </p:nvSpPr>
          <p:spPr bwMode="auto">
            <a:xfrm>
              <a:off x="4377" y="1194"/>
              <a:ext cx="111" cy="13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" name="Freeform 296"/>
            <p:cNvSpPr>
              <a:spLocks noEditPoints="1"/>
            </p:cNvSpPr>
            <p:nvPr/>
          </p:nvSpPr>
          <p:spPr bwMode="auto">
            <a:xfrm>
              <a:off x="3977" y="1837"/>
              <a:ext cx="13" cy="131"/>
            </a:xfrm>
            <a:custGeom>
              <a:avLst/>
              <a:gdLst>
                <a:gd name="T0" fmla="*/ 1 w 26"/>
                <a:gd name="T1" fmla="*/ 117 h 131"/>
                <a:gd name="T2" fmla="*/ 1 w 26"/>
                <a:gd name="T3" fmla="*/ 117 h 131"/>
                <a:gd name="T4" fmla="*/ 1 w 26"/>
                <a:gd name="T5" fmla="*/ 118 h 131"/>
                <a:gd name="T6" fmla="*/ 1 w 26"/>
                <a:gd name="T7" fmla="*/ 119 h 131"/>
                <a:gd name="T8" fmla="*/ 0 w 26"/>
                <a:gd name="T9" fmla="*/ 121 h 131"/>
                <a:gd name="T10" fmla="*/ 0 w 26"/>
                <a:gd name="T11" fmla="*/ 123 h 131"/>
                <a:gd name="T12" fmla="*/ 0 w 26"/>
                <a:gd name="T13" fmla="*/ 124 h 131"/>
                <a:gd name="T14" fmla="*/ 0 w 26"/>
                <a:gd name="T15" fmla="*/ 126 h 131"/>
                <a:gd name="T16" fmla="*/ 0 w 26"/>
                <a:gd name="T17" fmla="*/ 127 h 131"/>
                <a:gd name="T18" fmla="*/ 1 w 26"/>
                <a:gd name="T19" fmla="*/ 129 h 131"/>
                <a:gd name="T20" fmla="*/ 1 w 26"/>
                <a:gd name="T21" fmla="*/ 131 h 131"/>
                <a:gd name="T22" fmla="*/ 1 w 26"/>
                <a:gd name="T23" fmla="*/ 131 h 131"/>
                <a:gd name="T24" fmla="*/ 1 w 26"/>
                <a:gd name="T25" fmla="*/ 131 h 131"/>
                <a:gd name="T26" fmla="*/ 1 w 26"/>
                <a:gd name="T27" fmla="*/ 131 h 131"/>
                <a:gd name="T28" fmla="*/ 1 w 26"/>
                <a:gd name="T29" fmla="*/ 131 h 131"/>
                <a:gd name="T30" fmla="*/ 1 w 26"/>
                <a:gd name="T31" fmla="*/ 131 h 131"/>
                <a:gd name="T32" fmla="*/ 1 w 26"/>
                <a:gd name="T33" fmla="*/ 129 h 131"/>
                <a:gd name="T34" fmla="*/ 1 w 26"/>
                <a:gd name="T35" fmla="*/ 127 h 131"/>
                <a:gd name="T36" fmla="*/ 1 w 26"/>
                <a:gd name="T37" fmla="*/ 126 h 131"/>
                <a:gd name="T38" fmla="*/ 1 w 26"/>
                <a:gd name="T39" fmla="*/ 124 h 131"/>
                <a:gd name="T40" fmla="*/ 1 w 26"/>
                <a:gd name="T41" fmla="*/ 123 h 131"/>
                <a:gd name="T42" fmla="*/ 1 w 26"/>
                <a:gd name="T43" fmla="*/ 121 h 131"/>
                <a:gd name="T44" fmla="*/ 1 w 26"/>
                <a:gd name="T45" fmla="*/ 119 h 131"/>
                <a:gd name="T46" fmla="*/ 1 w 26"/>
                <a:gd name="T47" fmla="*/ 118 h 131"/>
                <a:gd name="T48" fmla="*/ 1 w 26"/>
                <a:gd name="T49" fmla="*/ 117 h 131"/>
                <a:gd name="T50" fmla="*/ 1 w 26"/>
                <a:gd name="T51" fmla="*/ 117 h 131"/>
                <a:gd name="T52" fmla="*/ 1 w 26"/>
                <a:gd name="T53" fmla="*/ 117 h 131"/>
                <a:gd name="T54" fmla="*/ 1 w 26"/>
                <a:gd name="T55" fmla="*/ 117 h 131"/>
                <a:gd name="T56" fmla="*/ 1 w 26"/>
                <a:gd name="T57" fmla="*/ 0 h 131"/>
                <a:gd name="T58" fmla="*/ 1 w 26"/>
                <a:gd name="T59" fmla="*/ 0 h 131"/>
                <a:gd name="T60" fmla="*/ 1 w 26"/>
                <a:gd name="T61" fmla="*/ 1 h 131"/>
                <a:gd name="T62" fmla="*/ 1 w 26"/>
                <a:gd name="T63" fmla="*/ 2 h 131"/>
                <a:gd name="T64" fmla="*/ 0 w 26"/>
                <a:gd name="T65" fmla="*/ 4 h 131"/>
                <a:gd name="T66" fmla="*/ 0 w 26"/>
                <a:gd name="T67" fmla="*/ 6 h 131"/>
                <a:gd name="T68" fmla="*/ 0 w 26"/>
                <a:gd name="T69" fmla="*/ 7 h 131"/>
                <a:gd name="T70" fmla="*/ 0 w 26"/>
                <a:gd name="T71" fmla="*/ 9 h 131"/>
                <a:gd name="T72" fmla="*/ 0 w 26"/>
                <a:gd name="T73" fmla="*/ 10 h 131"/>
                <a:gd name="T74" fmla="*/ 1 w 26"/>
                <a:gd name="T75" fmla="*/ 12 h 131"/>
                <a:gd name="T76" fmla="*/ 1 w 26"/>
                <a:gd name="T77" fmla="*/ 14 h 131"/>
                <a:gd name="T78" fmla="*/ 1 w 26"/>
                <a:gd name="T79" fmla="*/ 14 h 131"/>
                <a:gd name="T80" fmla="*/ 1 w 26"/>
                <a:gd name="T81" fmla="*/ 14 h 131"/>
                <a:gd name="T82" fmla="*/ 1 w 26"/>
                <a:gd name="T83" fmla="*/ 14 h 131"/>
                <a:gd name="T84" fmla="*/ 1 w 26"/>
                <a:gd name="T85" fmla="*/ 14 h 131"/>
                <a:gd name="T86" fmla="*/ 1 w 26"/>
                <a:gd name="T87" fmla="*/ 14 h 131"/>
                <a:gd name="T88" fmla="*/ 1 w 26"/>
                <a:gd name="T89" fmla="*/ 12 h 131"/>
                <a:gd name="T90" fmla="*/ 1 w 26"/>
                <a:gd name="T91" fmla="*/ 10 h 131"/>
                <a:gd name="T92" fmla="*/ 1 w 26"/>
                <a:gd name="T93" fmla="*/ 9 h 131"/>
                <a:gd name="T94" fmla="*/ 1 w 26"/>
                <a:gd name="T95" fmla="*/ 7 h 131"/>
                <a:gd name="T96" fmla="*/ 1 w 26"/>
                <a:gd name="T97" fmla="*/ 6 h 131"/>
                <a:gd name="T98" fmla="*/ 1 w 26"/>
                <a:gd name="T99" fmla="*/ 4 h 131"/>
                <a:gd name="T100" fmla="*/ 1 w 26"/>
                <a:gd name="T101" fmla="*/ 2 h 131"/>
                <a:gd name="T102" fmla="*/ 1 w 26"/>
                <a:gd name="T103" fmla="*/ 1 h 131"/>
                <a:gd name="T104" fmla="*/ 1 w 26"/>
                <a:gd name="T105" fmla="*/ 0 h 131"/>
                <a:gd name="T106" fmla="*/ 1 w 26"/>
                <a:gd name="T107" fmla="*/ 0 h 131"/>
                <a:gd name="T108" fmla="*/ 1 w 26"/>
                <a:gd name="T109" fmla="*/ 0 h 131"/>
                <a:gd name="T110" fmla="*/ 1 w 26"/>
                <a:gd name="T111" fmla="*/ 0 h 131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26"/>
                <a:gd name="T169" fmla="*/ 0 h 131"/>
                <a:gd name="T170" fmla="*/ 26 w 26"/>
                <a:gd name="T171" fmla="*/ 131 h 131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26" h="131">
                  <a:moveTo>
                    <a:pt x="13" y="117"/>
                  </a:moveTo>
                  <a:lnTo>
                    <a:pt x="11" y="117"/>
                  </a:lnTo>
                  <a:lnTo>
                    <a:pt x="7" y="118"/>
                  </a:lnTo>
                  <a:lnTo>
                    <a:pt x="3" y="119"/>
                  </a:lnTo>
                  <a:lnTo>
                    <a:pt x="0" y="121"/>
                  </a:lnTo>
                  <a:lnTo>
                    <a:pt x="0" y="123"/>
                  </a:lnTo>
                  <a:lnTo>
                    <a:pt x="0" y="124"/>
                  </a:lnTo>
                  <a:lnTo>
                    <a:pt x="0" y="126"/>
                  </a:lnTo>
                  <a:lnTo>
                    <a:pt x="0" y="127"/>
                  </a:lnTo>
                  <a:lnTo>
                    <a:pt x="3" y="129"/>
                  </a:lnTo>
                  <a:lnTo>
                    <a:pt x="7" y="131"/>
                  </a:lnTo>
                  <a:lnTo>
                    <a:pt x="9" y="131"/>
                  </a:lnTo>
                  <a:lnTo>
                    <a:pt x="13" y="131"/>
                  </a:lnTo>
                  <a:lnTo>
                    <a:pt x="15" y="131"/>
                  </a:lnTo>
                  <a:lnTo>
                    <a:pt x="18" y="131"/>
                  </a:lnTo>
                  <a:lnTo>
                    <a:pt x="22" y="129"/>
                  </a:lnTo>
                  <a:lnTo>
                    <a:pt x="24" y="127"/>
                  </a:lnTo>
                  <a:lnTo>
                    <a:pt x="26" y="126"/>
                  </a:lnTo>
                  <a:lnTo>
                    <a:pt x="26" y="124"/>
                  </a:lnTo>
                  <a:lnTo>
                    <a:pt x="26" y="123"/>
                  </a:lnTo>
                  <a:lnTo>
                    <a:pt x="24" y="121"/>
                  </a:lnTo>
                  <a:lnTo>
                    <a:pt x="22" y="119"/>
                  </a:lnTo>
                  <a:lnTo>
                    <a:pt x="18" y="118"/>
                  </a:lnTo>
                  <a:lnTo>
                    <a:pt x="15" y="117"/>
                  </a:lnTo>
                  <a:lnTo>
                    <a:pt x="13" y="117"/>
                  </a:lnTo>
                  <a:close/>
                  <a:moveTo>
                    <a:pt x="13" y="0"/>
                  </a:moveTo>
                  <a:lnTo>
                    <a:pt x="11" y="0"/>
                  </a:lnTo>
                  <a:lnTo>
                    <a:pt x="7" y="1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3" y="12"/>
                  </a:lnTo>
                  <a:lnTo>
                    <a:pt x="7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8" y="14"/>
                  </a:lnTo>
                  <a:lnTo>
                    <a:pt x="22" y="12"/>
                  </a:lnTo>
                  <a:lnTo>
                    <a:pt x="24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2" y="2"/>
                  </a:lnTo>
                  <a:lnTo>
                    <a:pt x="18" y="1"/>
                  </a:lnTo>
                  <a:lnTo>
                    <a:pt x="15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9" name="Freeform 297"/>
            <p:cNvSpPr>
              <a:spLocks/>
            </p:cNvSpPr>
            <p:nvPr/>
          </p:nvSpPr>
          <p:spPr bwMode="auto">
            <a:xfrm>
              <a:off x="3977" y="1954"/>
              <a:ext cx="13" cy="14"/>
            </a:xfrm>
            <a:custGeom>
              <a:avLst/>
              <a:gdLst>
                <a:gd name="T0" fmla="*/ 1 w 26"/>
                <a:gd name="T1" fmla="*/ 0 h 14"/>
                <a:gd name="T2" fmla="*/ 1 w 26"/>
                <a:gd name="T3" fmla="*/ 0 h 14"/>
                <a:gd name="T4" fmla="*/ 1 w 26"/>
                <a:gd name="T5" fmla="*/ 1 h 14"/>
                <a:gd name="T6" fmla="*/ 1 w 26"/>
                <a:gd name="T7" fmla="*/ 2 h 14"/>
                <a:gd name="T8" fmla="*/ 0 w 26"/>
                <a:gd name="T9" fmla="*/ 4 h 14"/>
                <a:gd name="T10" fmla="*/ 0 w 26"/>
                <a:gd name="T11" fmla="*/ 6 h 14"/>
                <a:gd name="T12" fmla="*/ 0 w 26"/>
                <a:gd name="T13" fmla="*/ 7 h 14"/>
                <a:gd name="T14" fmla="*/ 0 w 26"/>
                <a:gd name="T15" fmla="*/ 9 h 14"/>
                <a:gd name="T16" fmla="*/ 0 w 26"/>
                <a:gd name="T17" fmla="*/ 10 h 14"/>
                <a:gd name="T18" fmla="*/ 1 w 26"/>
                <a:gd name="T19" fmla="*/ 12 h 14"/>
                <a:gd name="T20" fmla="*/ 1 w 26"/>
                <a:gd name="T21" fmla="*/ 14 h 14"/>
                <a:gd name="T22" fmla="*/ 1 w 26"/>
                <a:gd name="T23" fmla="*/ 14 h 14"/>
                <a:gd name="T24" fmla="*/ 1 w 26"/>
                <a:gd name="T25" fmla="*/ 14 h 14"/>
                <a:gd name="T26" fmla="*/ 1 w 26"/>
                <a:gd name="T27" fmla="*/ 14 h 14"/>
                <a:gd name="T28" fmla="*/ 1 w 26"/>
                <a:gd name="T29" fmla="*/ 14 h 14"/>
                <a:gd name="T30" fmla="*/ 1 w 26"/>
                <a:gd name="T31" fmla="*/ 14 h 14"/>
                <a:gd name="T32" fmla="*/ 1 w 26"/>
                <a:gd name="T33" fmla="*/ 12 h 14"/>
                <a:gd name="T34" fmla="*/ 1 w 26"/>
                <a:gd name="T35" fmla="*/ 10 h 14"/>
                <a:gd name="T36" fmla="*/ 1 w 26"/>
                <a:gd name="T37" fmla="*/ 9 h 14"/>
                <a:gd name="T38" fmla="*/ 1 w 26"/>
                <a:gd name="T39" fmla="*/ 7 h 14"/>
                <a:gd name="T40" fmla="*/ 1 w 26"/>
                <a:gd name="T41" fmla="*/ 6 h 14"/>
                <a:gd name="T42" fmla="*/ 1 w 26"/>
                <a:gd name="T43" fmla="*/ 4 h 14"/>
                <a:gd name="T44" fmla="*/ 1 w 26"/>
                <a:gd name="T45" fmla="*/ 2 h 14"/>
                <a:gd name="T46" fmla="*/ 1 w 26"/>
                <a:gd name="T47" fmla="*/ 1 h 14"/>
                <a:gd name="T48" fmla="*/ 1 w 26"/>
                <a:gd name="T49" fmla="*/ 0 h 14"/>
                <a:gd name="T50" fmla="*/ 1 w 26"/>
                <a:gd name="T51" fmla="*/ 0 h 14"/>
                <a:gd name="T52" fmla="*/ 1 w 26"/>
                <a:gd name="T53" fmla="*/ 0 h 1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6"/>
                <a:gd name="T82" fmla="*/ 0 h 14"/>
                <a:gd name="T83" fmla="*/ 26 w 26"/>
                <a:gd name="T84" fmla="*/ 14 h 1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6" h="14">
                  <a:moveTo>
                    <a:pt x="13" y="0"/>
                  </a:moveTo>
                  <a:lnTo>
                    <a:pt x="11" y="0"/>
                  </a:lnTo>
                  <a:lnTo>
                    <a:pt x="7" y="1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3" y="12"/>
                  </a:lnTo>
                  <a:lnTo>
                    <a:pt x="7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8" y="14"/>
                  </a:lnTo>
                  <a:lnTo>
                    <a:pt x="22" y="12"/>
                  </a:lnTo>
                  <a:lnTo>
                    <a:pt x="24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2" y="2"/>
                  </a:lnTo>
                  <a:lnTo>
                    <a:pt x="18" y="1"/>
                  </a:lnTo>
                  <a:lnTo>
                    <a:pt x="15" y="0"/>
                  </a:lnTo>
                  <a:lnTo>
                    <a:pt x="1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0" name="Freeform 298"/>
            <p:cNvSpPr>
              <a:spLocks/>
            </p:cNvSpPr>
            <p:nvPr/>
          </p:nvSpPr>
          <p:spPr bwMode="auto">
            <a:xfrm>
              <a:off x="3977" y="1837"/>
              <a:ext cx="13" cy="14"/>
            </a:xfrm>
            <a:custGeom>
              <a:avLst/>
              <a:gdLst>
                <a:gd name="T0" fmla="*/ 1 w 26"/>
                <a:gd name="T1" fmla="*/ 0 h 14"/>
                <a:gd name="T2" fmla="*/ 1 w 26"/>
                <a:gd name="T3" fmla="*/ 0 h 14"/>
                <a:gd name="T4" fmla="*/ 1 w 26"/>
                <a:gd name="T5" fmla="*/ 1 h 14"/>
                <a:gd name="T6" fmla="*/ 1 w 26"/>
                <a:gd name="T7" fmla="*/ 2 h 14"/>
                <a:gd name="T8" fmla="*/ 0 w 26"/>
                <a:gd name="T9" fmla="*/ 4 h 14"/>
                <a:gd name="T10" fmla="*/ 0 w 26"/>
                <a:gd name="T11" fmla="*/ 6 h 14"/>
                <a:gd name="T12" fmla="*/ 0 w 26"/>
                <a:gd name="T13" fmla="*/ 7 h 14"/>
                <a:gd name="T14" fmla="*/ 0 w 26"/>
                <a:gd name="T15" fmla="*/ 9 h 14"/>
                <a:gd name="T16" fmla="*/ 0 w 26"/>
                <a:gd name="T17" fmla="*/ 10 h 14"/>
                <a:gd name="T18" fmla="*/ 1 w 26"/>
                <a:gd name="T19" fmla="*/ 12 h 14"/>
                <a:gd name="T20" fmla="*/ 1 w 26"/>
                <a:gd name="T21" fmla="*/ 14 h 14"/>
                <a:gd name="T22" fmla="*/ 1 w 26"/>
                <a:gd name="T23" fmla="*/ 14 h 14"/>
                <a:gd name="T24" fmla="*/ 1 w 26"/>
                <a:gd name="T25" fmla="*/ 14 h 14"/>
                <a:gd name="T26" fmla="*/ 1 w 26"/>
                <a:gd name="T27" fmla="*/ 14 h 14"/>
                <a:gd name="T28" fmla="*/ 1 w 26"/>
                <a:gd name="T29" fmla="*/ 14 h 14"/>
                <a:gd name="T30" fmla="*/ 1 w 26"/>
                <a:gd name="T31" fmla="*/ 14 h 14"/>
                <a:gd name="T32" fmla="*/ 1 w 26"/>
                <a:gd name="T33" fmla="*/ 12 h 14"/>
                <a:gd name="T34" fmla="*/ 1 w 26"/>
                <a:gd name="T35" fmla="*/ 10 h 14"/>
                <a:gd name="T36" fmla="*/ 1 w 26"/>
                <a:gd name="T37" fmla="*/ 9 h 14"/>
                <a:gd name="T38" fmla="*/ 1 w 26"/>
                <a:gd name="T39" fmla="*/ 7 h 14"/>
                <a:gd name="T40" fmla="*/ 1 w 26"/>
                <a:gd name="T41" fmla="*/ 6 h 14"/>
                <a:gd name="T42" fmla="*/ 1 w 26"/>
                <a:gd name="T43" fmla="*/ 4 h 14"/>
                <a:gd name="T44" fmla="*/ 1 w 26"/>
                <a:gd name="T45" fmla="*/ 2 h 14"/>
                <a:gd name="T46" fmla="*/ 1 w 26"/>
                <a:gd name="T47" fmla="*/ 1 h 14"/>
                <a:gd name="T48" fmla="*/ 1 w 26"/>
                <a:gd name="T49" fmla="*/ 0 h 14"/>
                <a:gd name="T50" fmla="*/ 1 w 26"/>
                <a:gd name="T51" fmla="*/ 0 h 14"/>
                <a:gd name="T52" fmla="*/ 1 w 26"/>
                <a:gd name="T53" fmla="*/ 0 h 1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6"/>
                <a:gd name="T82" fmla="*/ 0 h 14"/>
                <a:gd name="T83" fmla="*/ 26 w 26"/>
                <a:gd name="T84" fmla="*/ 14 h 1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6" h="14">
                  <a:moveTo>
                    <a:pt x="13" y="0"/>
                  </a:moveTo>
                  <a:lnTo>
                    <a:pt x="11" y="0"/>
                  </a:lnTo>
                  <a:lnTo>
                    <a:pt x="7" y="1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3" y="12"/>
                  </a:lnTo>
                  <a:lnTo>
                    <a:pt x="7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8" y="14"/>
                  </a:lnTo>
                  <a:lnTo>
                    <a:pt x="22" y="12"/>
                  </a:lnTo>
                  <a:lnTo>
                    <a:pt x="24" y="10"/>
                  </a:lnTo>
                  <a:lnTo>
                    <a:pt x="26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2" y="2"/>
                  </a:lnTo>
                  <a:lnTo>
                    <a:pt x="18" y="1"/>
                  </a:lnTo>
                  <a:lnTo>
                    <a:pt x="15" y="0"/>
                  </a:lnTo>
                  <a:lnTo>
                    <a:pt x="1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" name="Line 299"/>
            <p:cNvSpPr>
              <a:spLocks noChangeShapeType="1"/>
            </p:cNvSpPr>
            <p:nvPr/>
          </p:nvSpPr>
          <p:spPr bwMode="auto">
            <a:xfrm>
              <a:off x="3986" y="1851"/>
              <a:ext cx="30" cy="9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Freeform 300"/>
            <p:cNvSpPr>
              <a:spLocks/>
            </p:cNvSpPr>
            <p:nvPr/>
          </p:nvSpPr>
          <p:spPr bwMode="auto">
            <a:xfrm>
              <a:off x="4242" y="1387"/>
              <a:ext cx="32" cy="234"/>
            </a:xfrm>
            <a:custGeom>
              <a:avLst/>
              <a:gdLst>
                <a:gd name="T0" fmla="*/ 1 w 64"/>
                <a:gd name="T1" fmla="*/ 0 h 234"/>
                <a:gd name="T2" fmla="*/ 1 w 64"/>
                <a:gd name="T3" fmla="*/ 1 h 234"/>
                <a:gd name="T4" fmla="*/ 1 w 64"/>
                <a:gd name="T5" fmla="*/ 4 h 234"/>
                <a:gd name="T6" fmla="*/ 1 w 64"/>
                <a:gd name="T7" fmla="*/ 13 h 234"/>
                <a:gd name="T8" fmla="*/ 1 w 64"/>
                <a:gd name="T9" fmla="*/ 17 h 234"/>
                <a:gd name="T10" fmla="*/ 1 w 64"/>
                <a:gd name="T11" fmla="*/ 23 h 234"/>
                <a:gd name="T12" fmla="*/ 1 w 64"/>
                <a:gd name="T13" fmla="*/ 28 h 234"/>
                <a:gd name="T14" fmla="*/ 1 w 64"/>
                <a:gd name="T15" fmla="*/ 34 h 234"/>
                <a:gd name="T16" fmla="*/ 1 w 64"/>
                <a:gd name="T17" fmla="*/ 39 h 234"/>
                <a:gd name="T18" fmla="*/ 1 w 64"/>
                <a:gd name="T19" fmla="*/ 45 h 234"/>
                <a:gd name="T20" fmla="*/ 1 w 64"/>
                <a:gd name="T21" fmla="*/ 53 h 234"/>
                <a:gd name="T22" fmla="*/ 1 w 64"/>
                <a:gd name="T23" fmla="*/ 57 h 234"/>
                <a:gd name="T24" fmla="*/ 1 w 64"/>
                <a:gd name="T25" fmla="*/ 58 h 234"/>
                <a:gd name="T26" fmla="*/ 0 w 64"/>
                <a:gd name="T27" fmla="*/ 59 h 234"/>
                <a:gd name="T28" fmla="*/ 1 w 64"/>
                <a:gd name="T29" fmla="*/ 59 h 234"/>
                <a:gd name="T30" fmla="*/ 1 w 64"/>
                <a:gd name="T31" fmla="*/ 60 h 234"/>
                <a:gd name="T32" fmla="*/ 1 w 64"/>
                <a:gd name="T33" fmla="*/ 66 h 234"/>
                <a:gd name="T34" fmla="*/ 1 w 64"/>
                <a:gd name="T35" fmla="*/ 73 h 234"/>
                <a:gd name="T36" fmla="*/ 1 w 64"/>
                <a:gd name="T37" fmla="*/ 78 h 234"/>
                <a:gd name="T38" fmla="*/ 1 w 64"/>
                <a:gd name="T39" fmla="*/ 84 h 234"/>
                <a:gd name="T40" fmla="*/ 1 w 64"/>
                <a:gd name="T41" fmla="*/ 90 h 234"/>
                <a:gd name="T42" fmla="*/ 1 w 64"/>
                <a:gd name="T43" fmla="*/ 95 h 234"/>
                <a:gd name="T44" fmla="*/ 1 w 64"/>
                <a:gd name="T45" fmla="*/ 101 h 234"/>
                <a:gd name="T46" fmla="*/ 1 w 64"/>
                <a:gd name="T47" fmla="*/ 108 h 234"/>
                <a:gd name="T48" fmla="*/ 1 w 64"/>
                <a:gd name="T49" fmla="*/ 115 h 234"/>
                <a:gd name="T50" fmla="*/ 1 w 64"/>
                <a:gd name="T51" fmla="*/ 116 h 234"/>
                <a:gd name="T52" fmla="*/ 1 w 64"/>
                <a:gd name="T53" fmla="*/ 117 h 234"/>
                <a:gd name="T54" fmla="*/ 1 w 64"/>
                <a:gd name="T55" fmla="*/ 117 h 234"/>
                <a:gd name="T56" fmla="*/ 1 w 64"/>
                <a:gd name="T57" fmla="*/ 118 h 234"/>
                <a:gd name="T58" fmla="*/ 1 w 64"/>
                <a:gd name="T59" fmla="*/ 121 h 234"/>
                <a:gd name="T60" fmla="*/ 1 w 64"/>
                <a:gd name="T61" fmla="*/ 130 h 234"/>
                <a:gd name="T62" fmla="*/ 1 w 64"/>
                <a:gd name="T63" fmla="*/ 134 h 234"/>
                <a:gd name="T64" fmla="*/ 1 w 64"/>
                <a:gd name="T65" fmla="*/ 140 h 234"/>
                <a:gd name="T66" fmla="*/ 1 w 64"/>
                <a:gd name="T67" fmla="*/ 145 h 234"/>
                <a:gd name="T68" fmla="*/ 1 w 64"/>
                <a:gd name="T69" fmla="*/ 151 h 234"/>
                <a:gd name="T70" fmla="*/ 1 w 64"/>
                <a:gd name="T71" fmla="*/ 156 h 234"/>
                <a:gd name="T72" fmla="*/ 1 w 64"/>
                <a:gd name="T73" fmla="*/ 162 h 234"/>
                <a:gd name="T74" fmla="*/ 1 w 64"/>
                <a:gd name="T75" fmla="*/ 170 h 234"/>
                <a:gd name="T76" fmla="*/ 1 w 64"/>
                <a:gd name="T77" fmla="*/ 174 h 234"/>
                <a:gd name="T78" fmla="*/ 1 w 64"/>
                <a:gd name="T79" fmla="*/ 175 h 234"/>
                <a:gd name="T80" fmla="*/ 0 w 64"/>
                <a:gd name="T81" fmla="*/ 176 h 234"/>
                <a:gd name="T82" fmla="*/ 1 w 64"/>
                <a:gd name="T83" fmla="*/ 176 h 234"/>
                <a:gd name="T84" fmla="*/ 1 w 64"/>
                <a:gd name="T85" fmla="*/ 178 h 234"/>
                <a:gd name="T86" fmla="*/ 1 w 64"/>
                <a:gd name="T87" fmla="*/ 183 h 234"/>
                <a:gd name="T88" fmla="*/ 1 w 64"/>
                <a:gd name="T89" fmla="*/ 191 h 234"/>
                <a:gd name="T90" fmla="*/ 1 w 64"/>
                <a:gd name="T91" fmla="*/ 196 h 234"/>
                <a:gd name="T92" fmla="*/ 1 w 64"/>
                <a:gd name="T93" fmla="*/ 201 h 234"/>
                <a:gd name="T94" fmla="*/ 1 w 64"/>
                <a:gd name="T95" fmla="*/ 207 h 234"/>
                <a:gd name="T96" fmla="*/ 1 w 64"/>
                <a:gd name="T97" fmla="*/ 212 h 234"/>
                <a:gd name="T98" fmla="*/ 1 w 64"/>
                <a:gd name="T99" fmla="*/ 218 h 234"/>
                <a:gd name="T100" fmla="*/ 1 w 64"/>
                <a:gd name="T101" fmla="*/ 225 h 234"/>
                <a:gd name="T102" fmla="*/ 1 w 64"/>
                <a:gd name="T103" fmla="*/ 232 h 234"/>
                <a:gd name="T104" fmla="*/ 1 w 64"/>
                <a:gd name="T105" fmla="*/ 233 h 234"/>
                <a:gd name="T106" fmla="*/ 1 w 64"/>
                <a:gd name="T107" fmla="*/ 234 h 23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64"/>
                <a:gd name="T163" fmla="*/ 0 h 234"/>
                <a:gd name="T164" fmla="*/ 64 w 64"/>
                <a:gd name="T165" fmla="*/ 234 h 23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64" h="234">
                  <a:moveTo>
                    <a:pt x="0" y="0"/>
                  </a:moveTo>
                  <a:lnTo>
                    <a:pt x="7" y="0"/>
                  </a:lnTo>
                  <a:lnTo>
                    <a:pt x="13" y="0"/>
                  </a:lnTo>
                  <a:lnTo>
                    <a:pt x="18" y="1"/>
                  </a:lnTo>
                  <a:lnTo>
                    <a:pt x="24" y="2"/>
                  </a:lnTo>
                  <a:lnTo>
                    <a:pt x="35" y="4"/>
                  </a:lnTo>
                  <a:lnTo>
                    <a:pt x="45" y="8"/>
                  </a:lnTo>
                  <a:lnTo>
                    <a:pt x="52" y="13"/>
                  </a:lnTo>
                  <a:lnTo>
                    <a:pt x="56" y="15"/>
                  </a:lnTo>
                  <a:lnTo>
                    <a:pt x="58" y="17"/>
                  </a:lnTo>
                  <a:lnTo>
                    <a:pt x="60" y="20"/>
                  </a:lnTo>
                  <a:lnTo>
                    <a:pt x="62" y="23"/>
                  </a:lnTo>
                  <a:lnTo>
                    <a:pt x="64" y="25"/>
                  </a:lnTo>
                  <a:lnTo>
                    <a:pt x="64" y="28"/>
                  </a:lnTo>
                  <a:lnTo>
                    <a:pt x="64" y="31"/>
                  </a:lnTo>
                  <a:lnTo>
                    <a:pt x="64" y="34"/>
                  </a:lnTo>
                  <a:lnTo>
                    <a:pt x="62" y="37"/>
                  </a:lnTo>
                  <a:lnTo>
                    <a:pt x="60" y="39"/>
                  </a:lnTo>
                  <a:lnTo>
                    <a:pt x="58" y="43"/>
                  </a:lnTo>
                  <a:lnTo>
                    <a:pt x="54" y="45"/>
                  </a:lnTo>
                  <a:lnTo>
                    <a:pt x="49" y="50"/>
                  </a:lnTo>
                  <a:lnTo>
                    <a:pt x="39" y="53"/>
                  </a:lnTo>
                  <a:lnTo>
                    <a:pt x="28" y="56"/>
                  </a:lnTo>
                  <a:lnTo>
                    <a:pt x="24" y="57"/>
                  </a:lnTo>
                  <a:lnTo>
                    <a:pt x="17" y="58"/>
                  </a:lnTo>
                  <a:lnTo>
                    <a:pt x="11" y="58"/>
                  </a:lnTo>
                  <a:lnTo>
                    <a:pt x="5" y="59"/>
                  </a:lnTo>
                  <a:lnTo>
                    <a:pt x="0" y="59"/>
                  </a:lnTo>
                  <a:lnTo>
                    <a:pt x="7" y="59"/>
                  </a:lnTo>
                  <a:lnTo>
                    <a:pt x="13" y="59"/>
                  </a:lnTo>
                  <a:lnTo>
                    <a:pt x="18" y="60"/>
                  </a:lnTo>
                  <a:lnTo>
                    <a:pt x="24" y="60"/>
                  </a:lnTo>
                  <a:lnTo>
                    <a:pt x="35" y="63"/>
                  </a:lnTo>
                  <a:lnTo>
                    <a:pt x="45" y="66"/>
                  </a:lnTo>
                  <a:lnTo>
                    <a:pt x="52" y="71"/>
                  </a:lnTo>
                  <a:lnTo>
                    <a:pt x="56" y="73"/>
                  </a:lnTo>
                  <a:lnTo>
                    <a:pt x="58" y="76"/>
                  </a:lnTo>
                  <a:lnTo>
                    <a:pt x="60" y="78"/>
                  </a:lnTo>
                  <a:lnTo>
                    <a:pt x="62" y="81"/>
                  </a:lnTo>
                  <a:lnTo>
                    <a:pt x="64" y="84"/>
                  </a:lnTo>
                  <a:lnTo>
                    <a:pt x="64" y="87"/>
                  </a:lnTo>
                  <a:lnTo>
                    <a:pt x="64" y="90"/>
                  </a:lnTo>
                  <a:lnTo>
                    <a:pt x="64" y="92"/>
                  </a:lnTo>
                  <a:lnTo>
                    <a:pt x="62" y="95"/>
                  </a:lnTo>
                  <a:lnTo>
                    <a:pt x="60" y="98"/>
                  </a:lnTo>
                  <a:lnTo>
                    <a:pt x="58" y="101"/>
                  </a:lnTo>
                  <a:lnTo>
                    <a:pt x="54" y="104"/>
                  </a:lnTo>
                  <a:lnTo>
                    <a:pt x="49" y="108"/>
                  </a:lnTo>
                  <a:lnTo>
                    <a:pt x="39" y="112"/>
                  </a:lnTo>
                  <a:lnTo>
                    <a:pt x="28" y="115"/>
                  </a:lnTo>
                  <a:lnTo>
                    <a:pt x="24" y="116"/>
                  </a:lnTo>
                  <a:lnTo>
                    <a:pt x="17" y="116"/>
                  </a:lnTo>
                  <a:lnTo>
                    <a:pt x="11" y="117"/>
                  </a:lnTo>
                  <a:lnTo>
                    <a:pt x="5" y="117"/>
                  </a:lnTo>
                  <a:lnTo>
                    <a:pt x="0" y="117"/>
                  </a:lnTo>
                  <a:lnTo>
                    <a:pt x="7" y="117"/>
                  </a:lnTo>
                  <a:lnTo>
                    <a:pt x="13" y="118"/>
                  </a:lnTo>
                  <a:lnTo>
                    <a:pt x="18" y="118"/>
                  </a:lnTo>
                  <a:lnTo>
                    <a:pt x="24" y="119"/>
                  </a:lnTo>
                  <a:lnTo>
                    <a:pt x="35" y="121"/>
                  </a:lnTo>
                  <a:lnTo>
                    <a:pt x="45" y="125"/>
                  </a:lnTo>
                  <a:lnTo>
                    <a:pt x="52" y="130"/>
                  </a:lnTo>
                  <a:lnTo>
                    <a:pt x="56" y="132"/>
                  </a:lnTo>
                  <a:lnTo>
                    <a:pt x="58" y="134"/>
                  </a:lnTo>
                  <a:lnTo>
                    <a:pt x="60" y="137"/>
                  </a:lnTo>
                  <a:lnTo>
                    <a:pt x="62" y="140"/>
                  </a:lnTo>
                  <a:lnTo>
                    <a:pt x="64" y="142"/>
                  </a:lnTo>
                  <a:lnTo>
                    <a:pt x="64" y="145"/>
                  </a:lnTo>
                  <a:lnTo>
                    <a:pt x="64" y="148"/>
                  </a:lnTo>
                  <a:lnTo>
                    <a:pt x="64" y="151"/>
                  </a:lnTo>
                  <a:lnTo>
                    <a:pt x="62" y="154"/>
                  </a:lnTo>
                  <a:lnTo>
                    <a:pt x="60" y="156"/>
                  </a:lnTo>
                  <a:lnTo>
                    <a:pt x="58" y="160"/>
                  </a:lnTo>
                  <a:lnTo>
                    <a:pt x="54" y="162"/>
                  </a:lnTo>
                  <a:lnTo>
                    <a:pt x="49" y="167"/>
                  </a:lnTo>
                  <a:lnTo>
                    <a:pt x="39" y="170"/>
                  </a:lnTo>
                  <a:lnTo>
                    <a:pt x="28" y="173"/>
                  </a:lnTo>
                  <a:lnTo>
                    <a:pt x="24" y="174"/>
                  </a:lnTo>
                  <a:lnTo>
                    <a:pt x="17" y="175"/>
                  </a:lnTo>
                  <a:lnTo>
                    <a:pt x="11" y="175"/>
                  </a:lnTo>
                  <a:lnTo>
                    <a:pt x="5" y="176"/>
                  </a:lnTo>
                  <a:lnTo>
                    <a:pt x="0" y="176"/>
                  </a:lnTo>
                  <a:lnTo>
                    <a:pt x="7" y="176"/>
                  </a:lnTo>
                  <a:lnTo>
                    <a:pt x="13" y="176"/>
                  </a:lnTo>
                  <a:lnTo>
                    <a:pt x="18" y="177"/>
                  </a:lnTo>
                  <a:lnTo>
                    <a:pt x="24" y="178"/>
                  </a:lnTo>
                  <a:lnTo>
                    <a:pt x="35" y="180"/>
                  </a:lnTo>
                  <a:lnTo>
                    <a:pt x="45" y="183"/>
                  </a:lnTo>
                  <a:lnTo>
                    <a:pt x="52" y="188"/>
                  </a:lnTo>
                  <a:lnTo>
                    <a:pt x="56" y="191"/>
                  </a:lnTo>
                  <a:lnTo>
                    <a:pt x="58" y="193"/>
                  </a:lnTo>
                  <a:lnTo>
                    <a:pt x="60" y="196"/>
                  </a:lnTo>
                  <a:lnTo>
                    <a:pt x="62" y="198"/>
                  </a:lnTo>
                  <a:lnTo>
                    <a:pt x="64" y="201"/>
                  </a:lnTo>
                  <a:lnTo>
                    <a:pt x="64" y="204"/>
                  </a:lnTo>
                  <a:lnTo>
                    <a:pt x="64" y="207"/>
                  </a:lnTo>
                  <a:lnTo>
                    <a:pt x="64" y="210"/>
                  </a:lnTo>
                  <a:lnTo>
                    <a:pt x="62" y="212"/>
                  </a:lnTo>
                  <a:lnTo>
                    <a:pt x="60" y="216"/>
                  </a:lnTo>
                  <a:lnTo>
                    <a:pt x="58" y="218"/>
                  </a:lnTo>
                  <a:lnTo>
                    <a:pt x="54" y="221"/>
                  </a:lnTo>
                  <a:lnTo>
                    <a:pt x="49" y="225"/>
                  </a:lnTo>
                  <a:lnTo>
                    <a:pt x="39" y="229"/>
                  </a:lnTo>
                  <a:lnTo>
                    <a:pt x="28" y="232"/>
                  </a:lnTo>
                  <a:lnTo>
                    <a:pt x="24" y="233"/>
                  </a:lnTo>
                  <a:lnTo>
                    <a:pt x="17" y="233"/>
                  </a:lnTo>
                  <a:lnTo>
                    <a:pt x="11" y="234"/>
                  </a:lnTo>
                  <a:lnTo>
                    <a:pt x="5" y="234"/>
                  </a:lnTo>
                  <a:lnTo>
                    <a:pt x="0" y="2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Freeform 301"/>
            <p:cNvSpPr>
              <a:spLocks/>
            </p:cNvSpPr>
            <p:nvPr/>
          </p:nvSpPr>
          <p:spPr bwMode="auto">
            <a:xfrm>
              <a:off x="4332" y="1387"/>
              <a:ext cx="32" cy="234"/>
            </a:xfrm>
            <a:custGeom>
              <a:avLst/>
              <a:gdLst>
                <a:gd name="T0" fmla="*/ 1 w 64"/>
                <a:gd name="T1" fmla="*/ 0 h 234"/>
                <a:gd name="T2" fmla="*/ 1 w 64"/>
                <a:gd name="T3" fmla="*/ 1 h 234"/>
                <a:gd name="T4" fmla="*/ 1 w 64"/>
                <a:gd name="T5" fmla="*/ 4 h 234"/>
                <a:gd name="T6" fmla="*/ 1 w 64"/>
                <a:gd name="T7" fmla="*/ 13 h 234"/>
                <a:gd name="T8" fmla="*/ 1 w 64"/>
                <a:gd name="T9" fmla="*/ 17 h 234"/>
                <a:gd name="T10" fmla="*/ 1 w 64"/>
                <a:gd name="T11" fmla="*/ 23 h 234"/>
                <a:gd name="T12" fmla="*/ 0 w 64"/>
                <a:gd name="T13" fmla="*/ 28 h 234"/>
                <a:gd name="T14" fmla="*/ 1 w 64"/>
                <a:gd name="T15" fmla="*/ 34 h 234"/>
                <a:gd name="T16" fmla="*/ 1 w 64"/>
                <a:gd name="T17" fmla="*/ 39 h 234"/>
                <a:gd name="T18" fmla="*/ 1 w 64"/>
                <a:gd name="T19" fmla="*/ 45 h 234"/>
                <a:gd name="T20" fmla="*/ 1 w 64"/>
                <a:gd name="T21" fmla="*/ 50 h 234"/>
                <a:gd name="T22" fmla="*/ 1 w 64"/>
                <a:gd name="T23" fmla="*/ 56 h 234"/>
                <a:gd name="T24" fmla="*/ 1 w 64"/>
                <a:gd name="T25" fmla="*/ 58 h 234"/>
                <a:gd name="T26" fmla="*/ 1 w 64"/>
                <a:gd name="T27" fmla="*/ 59 h 234"/>
                <a:gd name="T28" fmla="*/ 1 w 64"/>
                <a:gd name="T29" fmla="*/ 59 h 234"/>
                <a:gd name="T30" fmla="*/ 1 w 64"/>
                <a:gd name="T31" fmla="*/ 60 h 234"/>
                <a:gd name="T32" fmla="*/ 1 w 64"/>
                <a:gd name="T33" fmla="*/ 63 h 234"/>
                <a:gd name="T34" fmla="*/ 1 w 64"/>
                <a:gd name="T35" fmla="*/ 71 h 234"/>
                <a:gd name="T36" fmla="*/ 1 w 64"/>
                <a:gd name="T37" fmla="*/ 76 h 234"/>
                <a:gd name="T38" fmla="*/ 1 w 64"/>
                <a:gd name="T39" fmla="*/ 81 h 234"/>
                <a:gd name="T40" fmla="*/ 0 w 64"/>
                <a:gd name="T41" fmla="*/ 87 h 234"/>
                <a:gd name="T42" fmla="*/ 1 w 64"/>
                <a:gd name="T43" fmla="*/ 92 h 234"/>
                <a:gd name="T44" fmla="*/ 1 w 64"/>
                <a:gd name="T45" fmla="*/ 98 h 234"/>
                <a:gd name="T46" fmla="*/ 1 w 64"/>
                <a:gd name="T47" fmla="*/ 104 h 234"/>
                <a:gd name="T48" fmla="*/ 1 w 64"/>
                <a:gd name="T49" fmla="*/ 108 h 234"/>
                <a:gd name="T50" fmla="*/ 1 w 64"/>
                <a:gd name="T51" fmla="*/ 115 h 234"/>
                <a:gd name="T52" fmla="*/ 1 w 64"/>
                <a:gd name="T53" fmla="*/ 116 h 234"/>
                <a:gd name="T54" fmla="*/ 1 w 64"/>
                <a:gd name="T55" fmla="*/ 117 h 234"/>
                <a:gd name="T56" fmla="*/ 1 w 64"/>
                <a:gd name="T57" fmla="*/ 117 h 234"/>
                <a:gd name="T58" fmla="*/ 1 w 64"/>
                <a:gd name="T59" fmla="*/ 118 h 234"/>
                <a:gd name="T60" fmla="*/ 1 w 64"/>
                <a:gd name="T61" fmla="*/ 121 h 234"/>
                <a:gd name="T62" fmla="*/ 1 w 64"/>
                <a:gd name="T63" fmla="*/ 130 h 234"/>
                <a:gd name="T64" fmla="*/ 1 w 64"/>
                <a:gd name="T65" fmla="*/ 134 h 234"/>
                <a:gd name="T66" fmla="*/ 1 w 64"/>
                <a:gd name="T67" fmla="*/ 140 h 234"/>
                <a:gd name="T68" fmla="*/ 0 w 64"/>
                <a:gd name="T69" fmla="*/ 145 h 234"/>
                <a:gd name="T70" fmla="*/ 1 w 64"/>
                <a:gd name="T71" fmla="*/ 151 h 234"/>
                <a:gd name="T72" fmla="*/ 1 w 64"/>
                <a:gd name="T73" fmla="*/ 156 h 234"/>
                <a:gd name="T74" fmla="*/ 1 w 64"/>
                <a:gd name="T75" fmla="*/ 162 h 234"/>
                <a:gd name="T76" fmla="*/ 1 w 64"/>
                <a:gd name="T77" fmla="*/ 167 h 234"/>
                <a:gd name="T78" fmla="*/ 1 w 64"/>
                <a:gd name="T79" fmla="*/ 173 h 234"/>
                <a:gd name="T80" fmla="*/ 1 w 64"/>
                <a:gd name="T81" fmla="*/ 175 h 234"/>
                <a:gd name="T82" fmla="*/ 1 w 64"/>
                <a:gd name="T83" fmla="*/ 176 h 234"/>
                <a:gd name="T84" fmla="*/ 1 w 64"/>
                <a:gd name="T85" fmla="*/ 176 h 234"/>
                <a:gd name="T86" fmla="*/ 1 w 64"/>
                <a:gd name="T87" fmla="*/ 177 h 234"/>
                <a:gd name="T88" fmla="*/ 1 w 64"/>
                <a:gd name="T89" fmla="*/ 180 h 234"/>
                <a:gd name="T90" fmla="*/ 1 w 64"/>
                <a:gd name="T91" fmla="*/ 188 h 234"/>
                <a:gd name="T92" fmla="*/ 1 w 64"/>
                <a:gd name="T93" fmla="*/ 193 h 234"/>
                <a:gd name="T94" fmla="*/ 1 w 64"/>
                <a:gd name="T95" fmla="*/ 198 h 234"/>
                <a:gd name="T96" fmla="*/ 0 w 64"/>
                <a:gd name="T97" fmla="*/ 204 h 234"/>
                <a:gd name="T98" fmla="*/ 1 w 64"/>
                <a:gd name="T99" fmla="*/ 210 h 234"/>
                <a:gd name="T100" fmla="*/ 1 w 64"/>
                <a:gd name="T101" fmla="*/ 216 h 234"/>
                <a:gd name="T102" fmla="*/ 1 w 64"/>
                <a:gd name="T103" fmla="*/ 221 h 234"/>
                <a:gd name="T104" fmla="*/ 1 w 64"/>
                <a:gd name="T105" fmla="*/ 225 h 234"/>
                <a:gd name="T106" fmla="*/ 1 w 64"/>
                <a:gd name="T107" fmla="*/ 232 h 234"/>
                <a:gd name="T108" fmla="*/ 1 w 64"/>
                <a:gd name="T109" fmla="*/ 233 h 234"/>
                <a:gd name="T110" fmla="*/ 1 w 64"/>
                <a:gd name="T111" fmla="*/ 234 h 23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64"/>
                <a:gd name="T169" fmla="*/ 0 h 234"/>
                <a:gd name="T170" fmla="*/ 64 w 64"/>
                <a:gd name="T171" fmla="*/ 234 h 234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64" h="234">
                  <a:moveTo>
                    <a:pt x="64" y="0"/>
                  </a:moveTo>
                  <a:lnTo>
                    <a:pt x="58" y="0"/>
                  </a:lnTo>
                  <a:lnTo>
                    <a:pt x="52" y="0"/>
                  </a:lnTo>
                  <a:lnTo>
                    <a:pt x="47" y="1"/>
                  </a:lnTo>
                  <a:lnTo>
                    <a:pt x="41" y="2"/>
                  </a:lnTo>
                  <a:lnTo>
                    <a:pt x="30" y="4"/>
                  </a:lnTo>
                  <a:lnTo>
                    <a:pt x="20" y="8"/>
                  </a:lnTo>
                  <a:lnTo>
                    <a:pt x="13" y="13"/>
                  </a:lnTo>
                  <a:lnTo>
                    <a:pt x="9" y="15"/>
                  </a:lnTo>
                  <a:lnTo>
                    <a:pt x="7" y="17"/>
                  </a:lnTo>
                  <a:lnTo>
                    <a:pt x="3" y="20"/>
                  </a:lnTo>
                  <a:lnTo>
                    <a:pt x="1" y="23"/>
                  </a:lnTo>
                  <a:lnTo>
                    <a:pt x="1" y="25"/>
                  </a:lnTo>
                  <a:lnTo>
                    <a:pt x="0" y="28"/>
                  </a:lnTo>
                  <a:lnTo>
                    <a:pt x="1" y="31"/>
                  </a:lnTo>
                  <a:lnTo>
                    <a:pt x="1" y="34"/>
                  </a:lnTo>
                  <a:lnTo>
                    <a:pt x="3" y="37"/>
                  </a:lnTo>
                  <a:lnTo>
                    <a:pt x="5" y="39"/>
                  </a:lnTo>
                  <a:lnTo>
                    <a:pt x="7" y="43"/>
                  </a:lnTo>
                  <a:lnTo>
                    <a:pt x="9" y="45"/>
                  </a:lnTo>
                  <a:lnTo>
                    <a:pt x="13" y="47"/>
                  </a:lnTo>
                  <a:lnTo>
                    <a:pt x="17" y="50"/>
                  </a:lnTo>
                  <a:lnTo>
                    <a:pt x="26" y="53"/>
                  </a:lnTo>
                  <a:lnTo>
                    <a:pt x="35" y="56"/>
                  </a:lnTo>
                  <a:lnTo>
                    <a:pt x="41" y="57"/>
                  </a:lnTo>
                  <a:lnTo>
                    <a:pt x="47" y="58"/>
                  </a:lnTo>
                  <a:lnTo>
                    <a:pt x="52" y="58"/>
                  </a:lnTo>
                  <a:lnTo>
                    <a:pt x="60" y="59"/>
                  </a:lnTo>
                  <a:lnTo>
                    <a:pt x="64" y="59"/>
                  </a:lnTo>
                  <a:lnTo>
                    <a:pt x="58" y="59"/>
                  </a:lnTo>
                  <a:lnTo>
                    <a:pt x="52" y="59"/>
                  </a:lnTo>
                  <a:lnTo>
                    <a:pt x="47" y="60"/>
                  </a:lnTo>
                  <a:lnTo>
                    <a:pt x="41" y="60"/>
                  </a:lnTo>
                  <a:lnTo>
                    <a:pt x="30" y="63"/>
                  </a:lnTo>
                  <a:lnTo>
                    <a:pt x="20" y="66"/>
                  </a:lnTo>
                  <a:lnTo>
                    <a:pt x="13" y="71"/>
                  </a:lnTo>
                  <a:lnTo>
                    <a:pt x="9" y="73"/>
                  </a:lnTo>
                  <a:lnTo>
                    <a:pt x="7" y="76"/>
                  </a:lnTo>
                  <a:lnTo>
                    <a:pt x="3" y="78"/>
                  </a:lnTo>
                  <a:lnTo>
                    <a:pt x="1" y="81"/>
                  </a:lnTo>
                  <a:lnTo>
                    <a:pt x="1" y="84"/>
                  </a:lnTo>
                  <a:lnTo>
                    <a:pt x="0" y="87"/>
                  </a:lnTo>
                  <a:lnTo>
                    <a:pt x="1" y="90"/>
                  </a:lnTo>
                  <a:lnTo>
                    <a:pt x="1" y="92"/>
                  </a:lnTo>
                  <a:lnTo>
                    <a:pt x="3" y="95"/>
                  </a:lnTo>
                  <a:lnTo>
                    <a:pt x="5" y="98"/>
                  </a:lnTo>
                  <a:lnTo>
                    <a:pt x="7" y="101"/>
                  </a:lnTo>
                  <a:lnTo>
                    <a:pt x="9" y="104"/>
                  </a:lnTo>
                  <a:lnTo>
                    <a:pt x="13" y="106"/>
                  </a:lnTo>
                  <a:lnTo>
                    <a:pt x="17" y="108"/>
                  </a:lnTo>
                  <a:lnTo>
                    <a:pt x="26" y="112"/>
                  </a:lnTo>
                  <a:lnTo>
                    <a:pt x="35" y="115"/>
                  </a:lnTo>
                  <a:lnTo>
                    <a:pt x="41" y="116"/>
                  </a:lnTo>
                  <a:lnTo>
                    <a:pt x="47" y="116"/>
                  </a:lnTo>
                  <a:lnTo>
                    <a:pt x="52" y="117"/>
                  </a:lnTo>
                  <a:lnTo>
                    <a:pt x="60" y="117"/>
                  </a:lnTo>
                  <a:lnTo>
                    <a:pt x="64" y="117"/>
                  </a:lnTo>
                  <a:lnTo>
                    <a:pt x="58" y="117"/>
                  </a:lnTo>
                  <a:lnTo>
                    <a:pt x="52" y="118"/>
                  </a:lnTo>
                  <a:lnTo>
                    <a:pt x="47" y="118"/>
                  </a:lnTo>
                  <a:lnTo>
                    <a:pt x="41" y="119"/>
                  </a:lnTo>
                  <a:lnTo>
                    <a:pt x="30" y="121"/>
                  </a:lnTo>
                  <a:lnTo>
                    <a:pt x="20" y="125"/>
                  </a:lnTo>
                  <a:lnTo>
                    <a:pt x="13" y="130"/>
                  </a:lnTo>
                  <a:lnTo>
                    <a:pt x="9" y="132"/>
                  </a:lnTo>
                  <a:lnTo>
                    <a:pt x="7" y="134"/>
                  </a:lnTo>
                  <a:lnTo>
                    <a:pt x="3" y="137"/>
                  </a:lnTo>
                  <a:lnTo>
                    <a:pt x="1" y="140"/>
                  </a:lnTo>
                  <a:lnTo>
                    <a:pt x="1" y="142"/>
                  </a:lnTo>
                  <a:lnTo>
                    <a:pt x="0" y="145"/>
                  </a:lnTo>
                  <a:lnTo>
                    <a:pt x="1" y="148"/>
                  </a:lnTo>
                  <a:lnTo>
                    <a:pt x="1" y="151"/>
                  </a:lnTo>
                  <a:lnTo>
                    <a:pt x="3" y="154"/>
                  </a:lnTo>
                  <a:lnTo>
                    <a:pt x="5" y="156"/>
                  </a:lnTo>
                  <a:lnTo>
                    <a:pt x="7" y="160"/>
                  </a:lnTo>
                  <a:lnTo>
                    <a:pt x="9" y="162"/>
                  </a:lnTo>
                  <a:lnTo>
                    <a:pt x="13" y="165"/>
                  </a:lnTo>
                  <a:lnTo>
                    <a:pt x="17" y="167"/>
                  </a:lnTo>
                  <a:lnTo>
                    <a:pt x="26" y="170"/>
                  </a:lnTo>
                  <a:lnTo>
                    <a:pt x="35" y="173"/>
                  </a:lnTo>
                  <a:lnTo>
                    <a:pt x="41" y="174"/>
                  </a:lnTo>
                  <a:lnTo>
                    <a:pt x="47" y="175"/>
                  </a:lnTo>
                  <a:lnTo>
                    <a:pt x="52" y="175"/>
                  </a:lnTo>
                  <a:lnTo>
                    <a:pt x="60" y="176"/>
                  </a:lnTo>
                  <a:lnTo>
                    <a:pt x="64" y="176"/>
                  </a:lnTo>
                  <a:lnTo>
                    <a:pt x="58" y="176"/>
                  </a:lnTo>
                  <a:lnTo>
                    <a:pt x="52" y="176"/>
                  </a:lnTo>
                  <a:lnTo>
                    <a:pt x="47" y="177"/>
                  </a:lnTo>
                  <a:lnTo>
                    <a:pt x="41" y="178"/>
                  </a:lnTo>
                  <a:lnTo>
                    <a:pt x="30" y="180"/>
                  </a:lnTo>
                  <a:lnTo>
                    <a:pt x="20" y="183"/>
                  </a:lnTo>
                  <a:lnTo>
                    <a:pt x="13" y="188"/>
                  </a:lnTo>
                  <a:lnTo>
                    <a:pt x="9" y="191"/>
                  </a:lnTo>
                  <a:lnTo>
                    <a:pt x="7" y="193"/>
                  </a:lnTo>
                  <a:lnTo>
                    <a:pt x="3" y="196"/>
                  </a:lnTo>
                  <a:lnTo>
                    <a:pt x="1" y="198"/>
                  </a:lnTo>
                  <a:lnTo>
                    <a:pt x="1" y="201"/>
                  </a:lnTo>
                  <a:lnTo>
                    <a:pt x="0" y="204"/>
                  </a:lnTo>
                  <a:lnTo>
                    <a:pt x="1" y="207"/>
                  </a:lnTo>
                  <a:lnTo>
                    <a:pt x="1" y="210"/>
                  </a:lnTo>
                  <a:lnTo>
                    <a:pt x="3" y="212"/>
                  </a:lnTo>
                  <a:lnTo>
                    <a:pt x="5" y="216"/>
                  </a:lnTo>
                  <a:lnTo>
                    <a:pt x="7" y="218"/>
                  </a:lnTo>
                  <a:lnTo>
                    <a:pt x="9" y="221"/>
                  </a:lnTo>
                  <a:lnTo>
                    <a:pt x="13" y="223"/>
                  </a:lnTo>
                  <a:lnTo>
                    <a:pt x="17" y="225"/>
                  </a:lnTo>
                  <a:lnTo>
                    <a:pt x="26" y="229"/>
                  </a:lnTo>
                  <a:lnTo>
                    <a:pt x="35" y="232"/>
                  </a:lnTo>
                  <a:lnTo>
                    <a:pt x="41" y="233"/>
                  </a:lnTo>
                  <a:lnTo>
                    <a:pt x="47" y="233"/>
                  </a:lnTo>
                  <a:lnTo>
                    <a:pt x="52" y="234"/>
                  </a:lnTo>
                  <a:lnTo>
                    <a:pt x="60" y="234"/>
                  </a:lnTo>
                  <a:lnTo>
                    <a:pt x="64" y="2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Line 302"/>
            <p:cNvSpPr>
              <a:spLocks noChangeShapeType="1"/>
            </p:cNvSpPr>
            <p:nvPr/>
          </p:nvSpPr>
          <p:spPr bwMode="auto">
            <a:xfrm>
              <a:off x="4295" y="1393"/>
              <a:ext cx="1" cy="22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Line 303"/>
            <p:cNvSpPr>
              <a:spLocks noChangeShapeType="1"/>
            </p:cNvSpPr>
            <p:nvPr/>
          </p:nvSpPr>
          <p:spPr bwMode="auto">
            <a:xfrm flipV="1">
              <a:off x="4307" y="1393"/>
              <a:ext cx="1" cy="22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Freeform 304"/>
            <p:cNvSpPr>
              <a:spLocks/>
            </p:cNvSpPr>
            <p:nvPr/>
          </p:nvSpPr>
          <p:spPr bwMode="auto">
            <a:xfrm>
              <a:off x="4224" y="1582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1 w 60"/>
                <a:gd name="T3" fmla="*/ 12 h 33"/>
                <a:gd name="T4" fmla="*/ 1 w 60"/>
                <a:gd name="T5" fmla="*/ 9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9 h 33"/>
                <a:gd name="T30" fmla="*/ 1 w 60"/>
                <a:gd name="T31" fmla="*/ 12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3 h 33"/>
                <a:gd name="T40" fmla="*/ 1 w 60"/>
                <a:gd name="T41" fmla="*/ 26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6 h 33"/>
                <a:gd name="T62" fmla="*/ 1 w 60"/>
                <a:gd name="T63" fmla="*/ 23 h 33"/>
                <a:gd name="T64" fmla="*/ 1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2" y="12"/>
                  </a:lnTo>
                  <a:lnTo>
                    <a:pt x="3" y="9"/>
                  </a:lnTo>
                  <a:lnTo>
                    <a:pt x="5" y="7"/>
                  </a:lnTo>
                  <a:lnTo>
                    <a:pt x="9" y="4"/>
                  </a:lnTo>
                  <a:lnTo>
                    <a:pt x="15" y="2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7" y="0"/>
                  </a:lnTo>
                  <a:lnTo>
                    <a:pt x="43" y="1"/>
                  </a:lnTo>
                  <a:lnTo>
                    <a:pt x="47" y="2"/>
                  </a:lnTo>
                  <a:lnTo>
                    <a:pt x="53" y="4"/>
                  </a:lnTo>
                  <a:lnTo>
                    <a:pt x="56" y="7"/>
                  </a:lnTo>
                  <a:lnTo>
                    <a:pt x="58" y="9"/>
                  </a:lnTo>
                  <a:lnTo>
                    <a:pt x="60" y="12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3"/>
                  </a:lnTo>
                  <a:lnTo>
                    <a:pt x="56" y="26"/>
                  </a:lnTo>
                  <a:lnTo>
                    <a:pt x="53" y="28"/>
                  </a:lnTo>
                  <a:lnTo>
                    <a:pt x="47" y="30"/>
                  </a:lnTo>
                  <a:lnTo>
                    <a:pt x="43" y="31"/>
                  </a:lnTo>
                  <a:lnTo>
                    <a:pt x="37" y="32"/>
                  </a:lnTo>
                  <a:lnTo>
                    <a:pt x="30" y="33"/>
                  </a:lnTo>
                  <a:lnTo>
                    <a:pt x="24" y="32"/>
                  </a:lnTo>
                  <a:lnTo>
                    <a:pt x="19" y="31"/>
                  </a:lnTo>
                  <a:lnTo>
                    <a:pt x="15" y="30"/>
                  </a:lnTo>
                  <a:lnTo>
                    <a:pt x="9" y="28"/>
                  </a:lnTo>
                  <a:lnTo>
                    <a:pt x="5" y="26"/>
                  </a:lnTo>
                  <a:lnTo>
                    <a:pt x="3" y="23"/>
                  </a:lnTo>
                  <a:lnTo>
                    <a:pt x="2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Freeform 305"/>
            <p:cNvSpPr>
              <a:spLocks/>
            </p:cNvSpPr>
            <p:nvPr/>
          </p:nvSpPr>
          <p:spPr bwMode="auto">
            <a:xfrm>
              <a:off x="4352" y="1394"/>
              <a:ext cx="30" cy="34"/>
            </a:xfrm>
            <a:custGeom>
              <a:avLst/>
              <a:gdLst>
                <a:gd name="T0" fmla="*/ 0 w 61"/>
                <a:gd name="T1" fmla="*/ 17 h 34"/>
                <a:gd name="T2" fmla="*/ 0 w 61"/>
                <a:gd name="T3" fmla="*/ 14 h 34"/>
                <a:gd name="T4" fmla="*/ 0 w 61"/>
                <a:gd name="T5" fmla="*/ 11 h 34"/>
                <a:gd name="T6" fmla="*/ 0 w 61"/>
                <a:gd name="T7" fmla="*/ 8 h 34"/>
                <a:gd name="T8" fmla="*/ 0 w 61"/>
                <a:gd name="T9" fmla="*/ 5 h 34"/>
                <a:gd name="T10" fmla="*/ 0 w 61"/>
                <a:gd name="T11" fmla="*/ 2 h 34"/>
                <a:gd name="T12" fmla="*/ 0 w 61"/>
                <a:gd name="T13" fmla="*/ 1 h 34"/>
                <a:gd name="T14" fmla="*/ 0 w 61"/>
                <a:gd name="T15" fmla="*/ 0 h 34"/>
                <a:gd name="T16" fmla="*/ 0 w 61"/>
                <a:gd name="T17" fmla="*/ 0 h 34"/>
                <a:gd name="T18" fmla="*/ 0 w 61"/>
                <a:gd name="T19" fmla="*/ 0 h 34"/>
                <a:gd name="T20" fmla="*/ 0 w 61"/>
                <a:gd name="T21" fmla="*/ 1 h 34"/>
                <a:gd name="T22" fmla="*/ 0 w 61"/>
                <a:gd name="T23" fmla="*/ 2 h 34"/>
                <a:gd name="T24" fmla="*/ 0 w 61"/>
                <a:gd name="T25" fmla="*/ 5 h 34"/>
                <a:gd name="T26" fmla="*/ 0 w 61"/>
                <a:gd name="T27" fmla="*/ 8 h 34"/>
                <a:gd name="T28" fmla="*/ 0 w 61"/>
                <a:gd name="T29" fmla="*/ 11 h 34"/>
                <a:gd name="T30" fmla="*/ 0 w 61"/>
                <a:gd name="T31" fmla="*/ 14 h 34"/>
                <a:gd name="T32" fmla="*/ 0 w 61"/>
                <a:gd name="T33" fmla="*/ 17 h 34"/>
                <a:gd name="T34" fmla="*/ 0 w 61"/>
                <a:gd name="T35" fmla="*/ 17 h 34"/>
                <a:gd name="T36" fmla="*/ 0 w 61"/>
                <a:gd name="T37" fmla="*/ 20 h 34"/>
                <a:gd name="T38" fmla="*/ 0 w 61"/>
                <a:gd name="T39" fmla="*/ 23 h 34"/>
                <a:gd name="T40" fmla="*/ 0 w 61"/>
                <a:gd name="T41" fmla="*/ 26 h 34"/>
                <a:gd name="T42" fmla="*/ 0 w 61"/>
                <a:gd name="T43" fmla="*/ 28 h 34"/>
                <a:gd name="T44" fmla="*/ 0 w 61"/>
                <a:gd name="T45" fmla="*/ 30 h 34"/>
                <a:gd name="T46" fmla="*/ 0 w 61"/>
                <a:gd name="T47" fmla="*/ 31 h 34"/>
                <a:gd name="T48" fmla="*/ 0 w 61"/>
                <a:gd name="T49" fmla="*/ 32 h 34"/>
                <a:gd name="T50" fmla="*/ 0 w 61"/>
                <a:gd name="T51" fmla="*/ 34 h 34"/>
                <a:gd name="T52" fmla="*/ 0 w 61"/>
                <a:gd name="T53" fmla="*/ 32 h 34"/>
                <a:gd name="T54" fmla="*/ 0 w 61"/>
                <a:gd name="T55" fmla="*/ 31 h 34"/>
                <a:gd name="T56" fmla="*/ 0 w 61"/>
                <a:gd name="T57" fmla="*/ 30 h 34"/>
                <a:gd name="T58" fmla="*/ 0 w 61"/>
                <a:gd name="T59" fmla="*/ 28 h 34"/>
                <a:gd name="T60" fmla="*/ 0 w 61"/>
                <a:gd name="T61" fmla="*/ 26 h 34"/>
                <a:gd name="T62" fmla="*/ 0 w 61"/>
                <a:gd name="T63" fmla="*/ 23 h 34"/>
                <a:gd name="T64" fmla="*/ 0 w 61"/>
                <a:gd name="T65" fmla="*/ 20 h 34"/>
                <a:gd name="T66" fmla="*/ 0 w 61"/>
                <a:gd name="T67" fmla="*/ 17 h 3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1"/>
                <a:gd name="T103" fmla="*/ 0 h 34"/>
                <a:gd name="T104" fmla="*/ 61 w 61"/>
                <a:gd name="T105" fmla="*/ 34 h 3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1" h="34">
                  <a:moveTo>
                    <a:pt x="0" y="17"/>
                  </a:moveTo>
                  <a:lnTo>
                    <a:pt x="0" y="14"/>
                  </a:lnTo>
                  <a:lnTo>
                    <a:pt x="2" y="11"/>
                  </a:lnTo>
                  <a:lnTo>
                    <a:pt x="6" y="8"/>
                  </a:lnTo>
                  <a:lnTo>
                    <a:pt x="10" y="5"/>
                  </a:lnTo>
                  <a:lnTo>
                    <a:pt x="13" y="2"/>
                  </a:lnTo>
                  <a:lnTo>
                    <a:pt x="19" y="1"/>
                  </a:lnTo>
                  <a:lnTo>
                    <a:pt x="25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2" y="1"/>
                  </a:lnTo>
                  <a:lnTo>
                    <a:pt x="47" y="2"/>
                  </a:lnTo>
                  <a:lnTo>
                    <a:pt x="51" y="5"/>
                  </a:lnTo>
                  <a:lnTo>
                    <a:pt x="55" y="8"/>
                  </a:lnTo>
                  <a:lnTo>
                    <a:pt x="59" y="11"/>
                  </a:lnTo>
                  <a:lnTo>
                    <a:pt x="61" y="14"/>
                  </a:lnTo>
                  <a:lnTo>
                    <a:pt x="61" y="17"/>
                  </a:lnTo>
                  <a:lnTo>
                    <a:pt x="61" y="20"/>
                  </a:lnTo>
                  <a:lnTo>
                    <a:pt x="59" y="23"/>
                  </a:lnTo>
                  <a:lnTo>
                    <a:pt x="55" y="26"/>
                  </a:lnTo>
                  <a:lnTo>
                    <a:pt x="51" y="28"/>
                  </a:lnTo>
                  <a:lnTo>
                    <a:pt x="47" y="30"/>
                  </a:lnTo>
                  <a:lnTo>
                    <a:pt x="42" y="31"/>
                  </a:lnTo>
                  <a:lnTo>
                    <a:pt x="36" y="32"/>
                  </a:lnTo>
                  <a:lnTo>
                    <a:pt x="30" y="34"/>
                  </a:lnTo>
                  <a:lnTo>
                    <a:pt x="25" y="32"/>
                  </a:lnTo>
                  <a:lnTo>
                    <a:pt x="19" y="31"/>
                  </a:lnTo>
                  <a:lnTo>
                    <a:pt x="13" y="30"/>
                  </a:lnTo>
                  <a:lnTo>
                    <a:pt x="10" y="28"/>
                  </a:lnTo>
                  <a:lnTo>
                    <a:pt x="6" y="26"/>
                  </a:lnTo>
                  <a:lnTo>
                    <a:pt x="2" y="23"/>
                  </a:lnTo>
                  <a:lnTo>
                    <a:pt x="0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Freeform 306"/>
            <p:cNvSpPr>
              <a:spLocks/>
            </p:cNvSpPr>
            <p:nvPr/>
          </p:nvSpPr>
          <p:spPr bwMode="auto">
            <a:xfrm>
              <a:off x="3606" y="1153"/>
              <a:ext cx="637" cy="691"/>
            </a:xfrm>
            <a:custGeom>
              <a:avLst/>
              <a:gdLst>
                <a:gd name="T0" fmla="*/ 47 w 1073"/>
                <a:gd name="T1" fmla="*/ 0 h 691"/>
                <a:gd name="T2" fmla="*/ 0 w 1073"/>
                <a:gd name="T3" fmla="*/ 0 h 691"/>
                <a:gd name="T4" fmla="*/ 0 w 1073"/>
                <a:gd name="T5" fmla="*/ 691 h 691"/>
                <a:gd name="T6" fmla="*/ 0 60000 65536"/>
                <a:gd name="T7" fmla="*/ 0 60000 65536"/>
                <a:gd name="T8" fmla="*/ 0 60000 65536"/>
                <a:gd name="T9" fmla="*/ 0 w 1073"/>
                <a:gd name="T10" fmla="*/ 0 h 691"/>
                <a:gd name="T11" fmla="*/ 1073 w 1073"/>
                <a:gd name="T12" fmla="*/ 691 h 6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73" h="691">
                  <a:moveTo>
                    <a:pt x="1073" y="0"/>
                  </a:moveTo>
                  <a:lnTo>
                    <a:pt x="0" y="0"/>
                  </a:lnTo>
                  <a:lnTo>
                    <a:pt x="0" y="69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" name="Line 307"/>
            <p:cNvSpPr>
              <a:spLocks noChangeShapeType="1"/>
            </p:cNvSpPr>
            <p:nvPr/>
          </p:nvSpPr>
          <p:spPr bwMode="auto">
            <a:xfrm flipH="1">
              <a:off x="3615" y="1715"/>
              <a:ext cx="14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" name="Line 308"/>
            <p:cNvSpPr>
              <a:spLocks noChangeShapeType="1"/>
            </p:cNvSpPr>
            <p:nvPr/>
          </p:nvSpPr>
          <p:spPr bwMode="auto">
            <a:xfrm flipH="1">
              <a:off x="3983" y="1621"/>
              <a:ext cx="25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Line 309"/>
            <p:cNvSpPr>
              <a:spLocks noChangeShapeType="1"/>
            </p:cNvSpPr>
            <p:nvPr/>
          </p:nvSpPr>
          <p:spPr bwMode="auto">
            <a:xfrm flipV="1">
              <a:off x="3983" y="1621"/>
              <a:ext cx="1" cy="22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Line 310"/>
            <p:cNvSpPr>
              <a:spLocks noChangeShapeType="1"/>
            </p:cNvSpPr>
            <p:nvPr/>
          </p:nvSpPr>
          <p:spPr bwMode="auto">
            <a:xfrm flipH="1">
              <a:off x="3983" y="1715"/>
              <a:ext cx="17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" name="Freeform 311"/>
            <p:cNvSpPr>
              <a:spLocks/>
            </p:cNvSpPr>
            <p:nvPr/>
          </p:nvSpPr>
          <p:spPr bwMode="auto">
            <a:xfrm>
              <a:off x="3600" y="1694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3 h 33"/>
                <a:gd name="T4" fmla="*/ 1 w 60"/>
                <a:gd name="T5" fmla="*/ 10 h 33"/>
                <a:gd name="T6" fmla="*/ 1 w 60"/>
                <a:gd name="T7" fmla="*/ 7 h 33"/>
                <a:gd name="T8" fmla="*/ 1 w 60"/>
                <a:gd name="T9" fmla="*/ 5 h 33"/>
                <a:gd name="T10" fmla="*/ 1 w 60"/>
                <a:gd name="T11" fmla="*/ 3 h 33"/>
                <a:gd name="T12" fmla="*/ 1 w 60"/>
                <a:gd name="T13" fmla="*/ 1 h 33"/>
                <a:gd name="T14" fmla="*/ 1 w 60"/>
                <a:gd name="T15" fmla="*/ 1 h 33"/>
                <a:gd name="T16" fmla="*/ 1 w 60"/>
                <a:gd name="T17" fmla="*/ 0 h 33"/>
                <a:gd name="T18" fmla="*/ 1 w 60"/>
                <a:gd name="T19" fmla="*/ 1 h 33"/>
                <a:gd name="T20" fmla="*/ 1 w 60"/>
                <a:gd name="T21" fmla="*/ 1 h 33"/>
                <a:gd name="T22" fmla="*/ 1 w 60"/>
                <a:gd name="T23" fmla="*/ 3 h 33"/>
                <a:gd name="T24" fmla="*/ 1 w 60"/>
                <a:gd name="T25" fmla="*/ 5 h 33"/>
                <a:gd name="T26" fmla="*/ 1 w 60"/>
                <a:gd name="T27" fmla="*/ 7 h 33"/>
                <a:gd name="T28" fmla="*/ 1 w 60"/>
                <a:gd name="T29" fmla="*/ 10 h 33"/>
                <a:gd name="T30" fmla="*/ 1 w 60"/>
                <a:gd name="T31" fmla="*/ 13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2 h 33"/>
                <a:gd name="T40" fmla="*/ 1 w 60"/>
                <a:gd name="T41" fmla="*/ 26 h 33"/>
                <a:gd name="T42" fmla="*/ 1 w 60"/>
                <a:gd name="T43" fmla="*/ 29 h 33"/>
                <a:gd name="T44" fmla="*/ 1 w 60"/>
                <a:gd name="T45" fmla="*/ 30 h 33"/>
                <a:gd name="T46" fmla="*/ 1 w 60"/>
                <a:gd name="T47" fmla="*/ 32 h 33"/>
                <a:gd name="T48" fmla="*/ 1 w 60"/>
                <a:gd name="T49" fmla="*/ 33 h 33"/>
                <a:gd name="T50" fmla="*/ 1 w 60"/>
                <a:gd name="T51" fmla="*/ 33 h 33"/>
                <a:gd name="T52" fmla="*/ 1 w 60"/>
                <a:gd name="T53" fmla="*/ 33 h 33"/>
                <a:gd name="T54" fmla="*/ 1 w 60"/>
                <a:gd name="T55" fmla="*/ 32 h 33"/>
                <a:gd name="T56" fmla="*/ 1 w 60"/>
                <a:gd name="T57" fmla="*/ 30 h 33"/>
                <a:gd name="T58" fmla="*/ 1 w 60"/>
                <a:gd name="T59" fmla="*/ 29 h 33"/>
                <a:gd name="T60" fmla="*/ 1 w 60"/>
                <a:gd name="T61" fmla="*/ 26 h 33"/>
                <a:gd name="T62" fmla="*/ 1 w 60"/>
                <a:gd name="T63" fmla="*/ 22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3"/>
                  </a:lnTo>
                  <a:lnTo>
                    <a:pt x="2" y="10"/>
                  </a:lnTo>
                  <a:lnTo>
                    <a:pt x="6" y="7"/>
                  </a:lnTo>
                  <a:lnTo>
                    <a:pt x="9" y="5"/>
                  </a:lnTo>
                  <a:lnTo>
                    <a:pt x="13" y="3"/>
                  </a:lnTo>
                  <a:lnTo>
                    <a:pt x="19" y="1"/>
                  </a:lnTo>
                  <a:lnTo>
                    <a:pt x="25" y="1"/>
                  </a:lnTo>
                  <a:lnTo>
                    <a:pt x="30" y="0"/>
                  </a:lnTo>
                  <a:lnTo>
                    <a:pt x="36" y="1"/>
                  </a:lnTo>
                  <a:lnTo>
                    <a:pt x="42" y="1"/>
                  </a:lnTo>
                  <a:lnTo>
                    <a:pt x="47" y="3"/>
                  </a:lnTo>
                  <a:lnTo>
                    <a:pt x="51" y="5"/>
                  </a:lnTo>
                  <a:lnTo>
                    <a:pt x="55" y="7"/>
                  </a:lnTo>
                  <a:lnTo>
                    <a:pt x="58" y="10"/>
                  </a:lnTo>
                  <a:lnTo>
                    <a:pt x="60" y="13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2"/>
                  </a:lnTo>
                  <a:lnTo>
                    <a:pt x="55" y="26"/>
                  </a:lnTo>
                  <a:lnTo>
                    <a:pt x="51" y="29"/>
                  </a:lnTo>
                  <a:lnTo>
                    <a:pt x="47" y="30"/>
                  </a:lnTo>
                  <a:lnTo>
                    <a:pt x="42" y="32"/>
                  </a:lnTo>
                  <a:lnTo>
                    <a:pt x="36" y="33"/>
                  </a:lnTo>
                  <a:lnTo>
                    <a:pt x="30" y="33"/>
                  </a:lnTo>
                  <a:lnTo>
                    <a:pt x="25" y="33"/>
                  </a:lnTo>
                  <a:lnTo>
                    <a:pt x="19" y="32"/>
                  </a:lnTo>
                  <a:lnTo>
                    <a:pt x="13" y="30"/>
                  </a:lnTo>
                  <a:lnTo>
                    <a:pt x="9" y="29"/>
                  </a:lnTo>
                  <a:lnTo>
                    <a:pt x="6" y="26"/>
                  </a:lnTo>
                  <a:lnTo>
                    <a:pt x="2" y="22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" name="Freeform 312"/>
            <p:cNvSpPr>
              <a:spLocks/>
            </p:cNvSpPr>
            <p:nvPr/>
          </p:nvSpPr>
          <p:spPr bwMode="auto">
            <a:xfrm>
              <a:off x="3968" y="1699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3 h 33"/>
                <a:gd name="T4" fmla="*/ 1 w 60"/>
                <a:gd name="T5" fmla="*/ 10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10 h 33"/>
                <a:gd name="T30" fmla="*/ 1 w 60"/>
                <a:gd name="T31" fmla="*/ 13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3 h 33"/>
                <a:gd name="T40" fmla="*/ 1 w 60"/>
                <a:gd name="T41" fmla="*/ 26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6 h 33"/>
                <a:gd name="T62" fmla="*/ 1 w 60"/>
                <a:gd name="T63" fmla="*/ 23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3"/>
                  </a:lnTo>
                  <a:lnTo>
                    <a:pt x="1" y="10"/>
                  </a:lnTo>
                  <a:lnTo>
                    <a:pt x="5" y="7"/>
                  </a:lnTo>
                  <a:lnTo>
                    <a:pt x="9" y="4"/>
                  </a:lnTo>
                  <a:lnTo>
                    <a:pt x="13" y="2"/>
                  </a:lnTo>
                  <a:lnTo>
                    <a:pt x="18" y="1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5" y="0"/>
                  </a:lnTo>
                  <a:lnTo>
                    <a:pt x="41" y="1"/>
                  </a:lnTo>
                  <a:lnTo>
                    <a:pt x="47" y="2"/>
                  </a:lnTo>
                  <a:lnTo>
                    <a:pt x="50" y="4"/>
                  </a:lnTo>
                  <a:lnTo>
                    <a:pt x="54" y="7"/>
                  </a:lnTo>
                  <a:lnTo>
                    <a:pt x="58" y="10"/>
                  </a:lnTo>
                  <a:lnTo>
                    <a:pt x="60" y="13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3"/>
                  </a:lnTo>
                  <a:lnTo>
                    <a:pt x="54" y="26"/>
                  </a:lnTo>
                  <a:lnTo>
                    <a:pt x="50" y="28"/>
                  </a:lnTo>
                  <a:lnTo>
                    <a:pt x="47" y="30"/>
                  </a:lnTo>
                  <a:lnTo>
                    <a:pt x="41" y="31"/>
                  </a:lnTo>
                  <a:lnTo>
                    <a:pt x="35" y="32"/>
                  </a:lnTo>
                  <a:lnTo>
                    <a:pt x="30" y="33"/>
                  </a:lnTo>
                  <a:lnTo>
                    <a:pt x="24" y="32"/>
                  </a:lnTo>
                  <a:lnTo>
                    <a:pt x="18" y="31"/>
                  </a:lnTo>
                  <a:lnTo>
                    <a:pt x="13" y="30"/>
                  </a:lnTo>
                  <a:lnTo>
                    <a:pt x="9" y="28"/>
                  </a:lnTo>
                  <a:lnTo>
                    <a:pt x="5" y="26"/>
                  </a:lnTo>
                  <a:lnTo>
                    <a:pt x="1" y="23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Freeform 313"/>
            <p:cNvSpPr>
              <a:spLocks/>
            </p:cNvSpPr>
            <p:nvPr/>
          </p:nvSpPr>
          <p:spPr bwMode="auto">
            <a:xfrm>
              <a:off x="3600" y="2074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2 h 33"/>
                <a:gd name="T4" fmla="*/ 1 w 60"/>
                <a:gd name="T5" fmla="*/ 9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9 h 33"/>
                <a:gd name="T30" fmla="*/ 1 w 60"/>
                <a:gd name="T31" fmla="*/ 12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2 h 33"/>
                <a:gd name="T40" fmla="*/ 1 w 60"/>
                <a:gd name="T41" fmla="*/ 26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6 h 33"/>
                <a:gd name="T62" fmla="*/ 1 w 60"/>
                <a:gd name="T63" fmla="*/ 22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2"/>
                  </a:lnTo>
                  <a:lnTo>
                    <a:pt x="2" y="9"/>
                  </a:lnTo>
                  <a:lnTo>
                    <a:pt x="6" y="7"/>
                  </a:lnTo>
                  <a:lnTo>
                    <a:pt x="9" y="4"/>
                  </a:lnTo>
                  <a:lnTo>
                    <a:pt x="13" y="2"/>
                  </a:lnTo>
                  <a:lnTo>
                    <a:pt x="19" y="1"/>
                  </a:lnTo>
                  <a:lnTo>
                    <a:pt x="25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2" y="1"/>
                  </a:lnTo>
                  <a:lnTo>
                    <a:pt x="47" y="2"/>
                  </a:lnTo>
                  <a:lnTo>
                    <a:pt x="51" y="4"/>
                  </a:lnTo>
                  <a:lnTo>
                    <a:pt x="55" y="7"/>
                  </a:lnTo>
                  <a:lnTo>
                    <a:pt x="58" y="9"/>
                  </a:lnTo>
                  <a:lnTo>
                    <a:pt x="60" y="12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2"/>
                  </a:lnTo>
                  <a:lnTo>
                    <a:pt x="55" y="26"/>
                  </a:lnTo>
                  <a:lnTo>
                    <a:pt x="51" y="28"/>
                  </a:lnTo>
                  <a:lnTo>
                    <a:pt x="47" y="30"/>
                  </a:lnTo>
                  <a:lnTo>
                    <a:pt x="42" y="31"/>
                  </a:lnTo>
                  <a:lnTo>
                    <a:pt x="36" y="32"/>
                  </a:lnTo>
                  <a:lnTo>
                    <a:pt x="30" y="33"/>
                  </a:lnTo>
                  <a:lnTo>
                    <a:pt x="25" y="32"/>
                  </a:lnTo>
                  <a:lnTo>
                    <a:pt x="19" y="31"/>
                  </a:lnTo>
                  <a:lnTo>
                    <a:pt x="13" y="30"/>
                  </a:lnTo>
                  <a:lnTo>
                    <a:pt x="9" y="28"/>
                  </a:lnTo>
                  <a:lnTo>
                    <a:pt x="6" y="26"/>
                  </a:lnTo>
                  <a:lnTo>
                    <a:pt x="2" y="22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" name="Freeform 314"/>
            <p:cNvSpPr>
              <a:spLocks/>
            </p:cNvSpPr>
            <p:nvPr/>
          </p:nvSpPr>
          <p:spPr bwMode="auto">
            <a:xfrm>
              <a:off x="3749" y="2069"/>
              <a:ext cx="30" cy="34"/>
            </a:xfrm>
            <a:custGeom>
              <a:avLst/>
              <a:gdLst>
                <a:gd name="T0" fmla="*/ 0 w 60"/>
                <a:gd name="T1" fmla="*/ 17 h 34"/>
                <a:gd name="T2" fmla="*/ 1 w 60"/>
                <a:gd name="T3" fmla="*/ 14 h 34"/>
                <a:gd name="T4" fmla="*/ 1 w 60"/>
                <a:gd name="T5" fmla="*/ 11 h 34"/>
                <a:gd name="T6" fmla="*/ 1 w 60"/>
                <a:gd name="T7" fmla="*/ 8 h 34"/>
                <a:gd name="T8" fmla="*/ 1 w 60"/>
                <a:gd name="T9" fmla="*/ 6 h 34"/>
                <a:gd name="T10" fmla="*/ 1 w 60"/>
                <a:gd name="T11" fmla="*/ 4 h 34"/>
                <a:gd name="T12" fmla="*/ 1 w 60"/>
                <a:gd name="T13" fmla="*/ 2 h 34"/>
                <a:gd name="T14" fmla="*/ 1 w 60"/>
                <a:gd name="T15" fmla="*/ 0 h 34"/>
                <a:gd name="T16" fmla="*/ 1 w 60"/>
                <a:gd name="T17" fmla="*/ 0 h 34"/>
                <a:gd name="T18" fmla="*/ 1 w 60"/>
                <a:gd name="T19" fmla="*/ 0 h 34"/>
                <a:gd name="T20" fmla="*/ 1 w 60"/>
                <a:gd name="T21" fmla="*/ 2 h 34"/>
                <a:gd name="T22" fmla="*/ 1 w 60"/>
                <a:gd name="T23" fmla="*/ 4 h 34"/>
                <a:gd name="T24" fmla="*/ 1 w 60"/>
                <a:gd name="T25" fmla="*/ 6 h 34"/>
                <a:gd name="T26" fmla="*/ 1 w 60"/>
                <a:gd name="T27" fmla="*/ 8 h 34"/>
                <a:gd name="T28" fmla="*/ 1 w 60"/>
                <a:gd name="T29" fmla="*/ 11 h 34"/>
                <a:gd name="T30" fmla="*/ 1 w 60"/>
                <a:gd name="T31" fmla="*/ 14 h 34"/>
                <a:gd name="T32" fmla="*/ 1 w 60"/>
                <a:gd name="T33" fmla="*/ 17 h 34"/>
                <a:gd name="T34" fmla="*/ 1 w 60"/>
                <a:gd name="T35" fmla="*/ 17 h 34"/>
                <a:gd name="T36" fmla="*/ 1 w 60"/>
                <a:gd name="T37" fmla="*/ 20 h 34"/>
                <a:gd name="T38" fmla="*/ 1 w 60"/>
                <a:gd name="T39" fmla="*/ 23 h 34"/>
                <a:gd name="T40" fmla="*/ 1 w 60"/>
                <a:gd name="T41" fmla="*/ 26 h 34"/>
                <a:gd name="T42" fmla="*/ 1 w 60"/>
                <a:gd name="T43" fmla="*/ 28 h 34"/>
                <a:gd name="T44" fmla="*/ 1 w 60"/>
                <a:gd name="T45" fmla="*/ 31 h 34"/>
                <a:gd name="T46" fmla="*/ 1 w 60"/>
                <a:gd name="T47" fmla="*/ 33 h 34"/>
                <a:gd name="T48" fmla="*/ 1 w 60"/>
                <a:gd name="T49" fmla="*/ 34 h 34"/>
                <a:gd name="T50" fmla="*/ 1 w 60"/>
                <a:gd name="T51" fmla="*/ 34 h 34"/>
                <a:gd name="T52" fmla="*/ 1 w 60"/>
                <a:gd name="T53" fmla="*/ 34 h 34"/>
                <a:gd name="T54" fmla="*/ 1 w 60"/>
                <a:gd name="T55" fmla="*/ 33 h 34"/>
                <a:gd name="T56" fmla="*/ 1 w 60"/>
                <a:gd name="T57" fmla="*/ 31 h 34"/>
                <a:gd name="T58" fmla="*/ 1 w 60"/>
                <a:gd name="T59" fmla="*/ 28 h 34"/>
                <a:gd name="T60" fmla="*/ 1 w 60"/>
                <a:gd name="T61" fmla="*/ 26 h 34"/>
                <a:gd name="T62" fmla="*/ 1 w 60"/>
                <a:gd name="T63" fmla="*/ 23 h 34"/>
                <a:gd name="T64" fmla="*/ 1 w 60"/>
                <a:gd name="T65" fmla="*/ 20 h 34"/>
                <a:gd name="T66" fmla="*/ 0 w 60"/>
                <a:gd name="T67" fmla="*/ 17 h 3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4"/>
                <a:gd name="T104" fmla="*/ 60 w 60"/>
                <a:gd name="T105" fmla="*/ 34 h 3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4">
                  <a:moveTo>
                    <a:pt x="0" y="17"/>
                  </a:moveTo>
                  <a:lnTo>
                    <a:pt x="2" y="14"/>
                  </a:lnTo>
                  <a:lnTo>
                    <a:pt x="4" y="11"/>
                  </a:lnTo>
                  <a:lnTo>
                    <a:pt x="6" y="8"/>
                  </a:lnTo>
                  <a:lnTo>
                    <a:pt x="9" y="6"/>
                  </a:lnTo>
                  <a:lnTo>
                    <a:pt x="13" y="4"/>
                  </a:lnTo>
                  <a:lnTo>
                    <a:pt x="19" y="2"/>
                  </a:lnTo>
                  <a:lnTo>
                    <a:pt x="25" y="0"/>
                  </a:lnTo>
                  <a:lnTo>
                    <a:pt x="30" y="0"/>
                  </a:lnTo>
                  <a:lnTo>
                    <a:pt x="38" y="0"/>
                  </a:lnTo>
                  <a:lnTo>
                    <a:pt x="43" y="2"/>
                  </a:lnTo>
                  <a:lnTo>
                    <a:pt x="47" y="4"/>
                  </a:lnTo>
                  <a:lnTo>
                    <a:pt x="53" y="6"/>
                  </a:lnTo>
                  <a:lnTo>
                    <a:pt x="57" y="8"/>
                  </a:lnTo>
                  <a:lnTo>
                    <a:pt x="59" y="11"/>
                  </a:lnTo>
                  <a:lnTo>
                    <a:pt x="60" y="14"/>
                  </a:lnTo>
                  <a:lnTo>
                    <a:pt x="60" y="17"/>
                  </a:lnTo>
                  <a:lnTo>
                    <a:pt x="60" y="20"/>
                  </a:lnTo>
                  <a:lnTo>
                    <a:pt x="59" y="23"/>
                  </a:lnTo>
                  <a:lnTo>
                    <a:pt x="57" y="26"/>
                  </a:lnTo>
                  <a:lnTo>
                    <a:pt x="53" y="28"/>
                  </a:lnTo>
                  <a:lnTo>
                    <a:pt x="47" y="31"/>
                  </a:lnTo>
                  <a:lnTo>
                    <a:pt x="43" y="33"/>
                  </a:lnTo>
                  <a:lnTo>
                    <a:pt x="38" y="34"/>
                  </a:lnTo>
                  <a:lnTo>
                    <a:pt x="30" y="34"/>
                  </a:lnTo>
                  <a:lnTo>
                    <a:pt x="25" y="34"/>
                  </a:lnTo>
                  <a:lnTo>
                    <a:pt x="19" y="33"/>
                  </a:lnTo>
                  <a:lnTo>
                    <a:pt x="13" y="31"/>
                  </a:lnTo>
                  <a:lnTo>
                    <a:pt x="9" y="28"/>
                  </a:lnTo>
                  <a:lnTo>
                    <a:pt x="6" y="26"/>
                  </a:lnTo>
                  <a:lnTo>
                    <a:pt x="4" y="23"/>
                  </a:lnTo>
                  <a:lnTo>
                    <a:pt x="2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" name="Freeform 315"/>
            <p:cNvSpPr>
              <a:spLocks/>
            </p:cNvSpPr>
            <p:nvPr/>
          </p:nvSpPr>
          <p:spPr bwMode="auto">
            <a:xfrm>
              <a:off x="3968" y="2074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2 h 33"/>
                <a:gd name="T4" fmla="*/ 1 w 60"/>
                <a:gd name="T5" fmla="*/ 9 h 33"/>
                <a:gd name="T6" fmla="*/ 1 w 60"/>
                <a:gd name="T7" fmla="*/ 7 h 33"/>
                <a:gd name="T8" fmla="*/ 1 w 60"/>
                <a:gd name="T9" fmla="*/ 4 h 33"/>
                <a:gd name="T10" fmla="*/ 1 w 60"/>
                <a:gd name="T11" fmla="*/ 2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2 h 33"/>
                <a:gd name="T24" fmla="*/ 1 w 60"/>
                <a:gd name="T25" fmla="*/ 4 h 33"/>
                <a:gd name="T26" fmla="*/ 1 w 60"/>
                <a:gd name="T27" fmla="*/ 7 h 33"/>
                <a:gd name="T28" fmla="*/ 1 w 60"/>
                <a:gd name="T29" fmla="*/ 9 h 33"/>
                <a:gd name="T30" fmla="*/ 1 w 60"/>
                <a:gd name="T31" fmla="*/ 12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2 h 33"/>
                <a:gd name="T40" fmla="*/ 1 w 60"/>
                <a:gd name="T41" fmla="*/ 26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1 h 33"/>
                <a:gd name="T48" fmla="*/ 1 w 60"/>
                <a:gd name="T49" fmla="*/ 32 h 33"/>
                <a:gd name="T50" fmla="*/ 1 w 60"/>
                <a:gd name="T51" fmla="*/ 33 h 33"/>
                <a:gd name="T52" fmla="*/ 1 w 60"/>
                <a:gd name="T53" fmla="*/ 32 h 33"/>
                <a:gd name="T54" fmla="*/ 1 w 60"/>
                <a:gd name="T55" fmla="*/ 31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6 h 33"/>
                <a:gd name="T62" fmla="*/ 1 w 60"/>
                <a:gd name="T63" fmla="*/ 22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2"/>
                  </a:lnTo>
                  <a:lnTo>
                    <a:pt x="1" y="9"/>
                  </a:lnTo>
                  <a:lnTo>
                    <a:pt x="5" y="7"/>
                  </a:lnTo>
                  <a:lnTo>
                    <a:pt x="9" y="4"/>
                  </a:lnTo>
                  <a:lnTo>
                    <a:pt x="13" y="2"/>
                  </a:lnTo>
                  <a:lnTo>
                    <a:pt x="18" y="1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5" y="0"/>
                  </a:lnTo>
                  <a:lnTo>
                    <a:pt x="41" y="1"/>
                  </a:lnTo>
                  <a:lnTo>
                    <a:pt x="47" y="2"/>
                  </a:lnTo>
                  <a:lnTo>
                    <a:pt x="50" y="4"/>
                  </a:lnTo>
                  <a:lnTo>
                    <a:pt x="54" y="7"/>
                  </a:lnTo>
                  <a:lnTo>
                    <a:pt x="58" y="9"/>
                  </a:lnTo>
                  <a:lnTo>
                    <a:pt x="60" y="12"/>
                  </a:lnTo>
                  <a:lnTo>
                    <a:pt x="60" y="16"/>
                  </a:lnTo>
                  <a:lnTo>
                    <a:pt x="60" y="19"/>
                  </a:lnTo>
                  <a:lnTo>
                    <a:pt x="58" y="22"/>
                  </a:lnTo>
                  <a:lnTo>
                    <a:pt x="54" y="26"/>
                  </a:lnTo>
                  <a:lnTo>
                    <a:pt x="50" y="28"/>
                  </a:lnTo>
                  <a:lnTo>
                    <a:pt x="47" y="30"/>
                  </a:lnTo>
                  <a:lnTo>
                    <a:pt x="41" y="31"/>
                  </a:lnTo>
                  <a:lnTo>
                    <a:pt x="35" y="32"/>
                  </a:lnTo>
                  <a:lnTo>
                    <a:pt x="30" y="33"/>
                  </a:lnTo>
                  <a:lnTo>
                    <a:pt x="24" y="32"/>
                  </a:lnTo>
                  <a:lnTo>
                    <a:pt x="18" y="31"/>
                  </a:lnTo>
                  <a:lnTo>
                    <a:pt x="13" y="30"/>
                  </a:lnTo>
                  <a:lnTo>
                    <a:pt x="9" y="28"/>
                  </a:lnTo>
                  <a:lnTo>
                    <a:pt x="5" y="26"/>
                  </a:lnTo>
                  <a:lnTo>
                    <a:pt x="1" y="22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Line 316"/>
            <p:cNvSpPr>
              <a:spLocks noChangeShapeType="1"/>
            </p:cNvSpPr>
            <p:nvPr/>
          </p:nvSpPr>
          <p:spPr bwMode="auto">
            <a:xfrm flipH="1" flipV="1">
              <a:off x="4364" y="1621"/>
              <a:ext cx="7" cy="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Line 317"/>
            <p:cNvSpPr>
              <a:spLocks noChangeShapeType="1"/>
            </p:cNvSpPr>
            <p:nvPr/>
          </p:nvSpPr>
          <p:spPr bwMode="auto">
            <a:xfrm flipH="1" flipV="1">
              <a:off x="4706" y="1059"/>
              <a:ext cx="3" cy="6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" name="Line 318"/>
            <p:cNvSpPr>
              <a:spLocks noChangeShapeType="1"/>
            </p:cNvSpPr>
            <p:nvPr/>
          </p:nvSpPr>
          <p:spPr bwMode="auto">
            <a:xfrm>
              <a:off x="4706" y="1059"/>
              <a:ext cx="16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Line 319"/>
            <p:cNvSpPr>
              <a:spLocks noChangeShapeType="1"/>
            </p:cNvSpPr>
            <p:nvPr/>
          </p:nvSpPr>
          <p:spPr bwMode="auto">
            <a:xfrm>
              <a:off x="5353" y="1286"/>
              <a:ext cx="1" cy="5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" name="Freeform 320"/>
            <p:cNvSpPr>
              <a:spLocks/>
            </p:cNvSpPr>
            <p:nvPr/>
          </p:nvSpPr>
          <p:spPr bwMode="auto">
            <a:xfrm>
              <a:off x="4364" y="1387"/>
              <a:ext cx="985" cy="1"/>
            </a:xfrm>
            <a:custGeom>
              <a:avLst/>
              <a:gdLst>
                <a:gd name="T0" fmla="*/ 0 w 1969"/>
                <a:gd name="T1" fmla="*/ 0 h 1"/>
                <a:gd name="T2" fmla="*/ 31 w 1969"/>
                <a:gd name="T3" fmla="*/ 0 h 1"/>
                <a:gd name="T4" fmla="*/ 31 w 1969"/>
                <a:gd name="T5" fmla="*/ 0 h 1"/>
                <a:gd name="T6" fmla="*/ 0 60000 65536"/>
                <a:gd name="T7" fmla="*/ 0 60000 65536"/>
                <a:gd name="T8" fmla="*/ 0 60000 65536"/>
                <a:gd name="T9" fmla="*/ 0 w 1969"/>
                <a:gd name="T10" fmla="*/ 0 h 1"/>
                <a:gd name="T11" fmla="*/ 1969 w 196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9" h="1">
                  <a:moveTo>
                    <a:pt x="0" y="0"/>
                  </a:moveTo>
                  <a:lnTo>
                    <a:pt x="1969" y="0"/>
                  </a:lnTo>
                  <a:lnTo>
                    <a:pt x="195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" name="Line 321"/>
            <p:cNvSpPr>
              <a:spLocks noChangeShapeType="1"/>
            </p:cNvSpPr>
            <p:nvPr/>
          </p:nvSpPr>
          <p:spPr bwMode="auto">
            <a:xfrm>
              <a:off x="5353" y="1341"/>
              <a:ext cx="1" cy="4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4" name="Line 322"/>
            <p:cNvSpPr>
              <a:spLocks noChangeShapeType="1"/>
            </p:cNvSpPr>
            <p:nvPr/>
          </p:nvSpPr>
          <p:spPr bwMode="auto">
            <a:xfrm>
              <a:off x="5182" y="1341"/>
              <a:ext cx="1" cy="4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5" name="Freeform 323"/>
            <p:cNvSpPr>
              <a:spLocks/>
            </p:cNvSpPr>
            <p:nvPr/>
          </p:nvSpPr>
          <p:spPr bwMode="auto">
            <a:xfrm>
              <a:off x="5167" y="1371"/>
              <a:ext cx="30" cy="33"/>
            </a:xfrm>
            <a:custGeom>
              <a:avLst/>
              <a:gdLst>
                <a:gd name="T0" fmla="*/ 0 w 60"/>
                <a:gd name="T1" fmla="*/ 16 h 33"/>
                <a:gd name="T2" fmla="*/ 0 w 60"/>
                <a:gd name="T3" fmla="*/ 13 h 33"/>
                <a:gd name="T4" fmla="*/ 1 w 60"/>
                <a:gd name="T5" fmla="*/ 10 h 33"/>
                <a:gd name="T6" fmla="*/ 1 w 60"/>
                <a:gd name="T7" fmla="*/ 7 h 33"/>
                <a:gd name="T8" fmla="*/ 1 w 60"/>
                <a:gd name="T9" fmla="*/ 5 h 33"/>
                <a:gd name="T10" fmla="*/ 1 w 60"/>
                <a:gd name="T11" fmla="*/ 3 h 33"/>
                <a:gd name="T12" fmla="*/ 1 w 60"/>
                <a:gd name="T13" fmla="*/ 1 h 33"/>
                <a:gd name="T14" fmla="*/ 1 w 60"/>
                <a:gd name="T15" fmla="*/ 0 h 33"/>
                <a:gd name="T16" fmla="*/ 1 w 60"/>
                <a:gd name="T17" fmla="*/ 0 h 33"/>
                <a:gd name="T18" fmla="*/ 1 w 60"/>
                <a:gd name="T19" fmla="*/ 0 h 33"/>
                <a:gd name="T20" fmla="*/ 1 w 60"/>
                <a:gd name="T21" fmla="*/ 1 h 33"/>
                <a:gd name="T22" fmla="*/ 1 w 60"/>
                <a:gd name="T23" fmla="*/ 3 h 33"/>
                <a:gd name="T24" fmla="*/ 1 w 60"/>
                <a:gd name="T25" fmla="*/ 5 h 33"/>
                <a:gd name="T26" fmla="*/ 1 w 60"/>
                <a:gd name="T27" fmla="*/ 7 h 33"/>
                <a:gd name="T28" fmla="*/ 1 w 60"/>
                <a:gd name="T29" fmla="*/ 10 h 33"/>
                <a:gd name="T30" fmla="*/ 1 w 60"/>
                <a:gd name="T31" fmla="*/ 13 h 33"/>
                <a:gd name="T32" fmla="*/ 1 w 60"/>
                <a:gd name="T33" fmla="*/ 16 h 33"/>
                <a:gd name="T34" fmla="*/ 1 w 60"/>
                <a:gd name="T35" fmla="*/ 16 h 33"/>
                <a:gd name="T36" fmla="*/ 1 w 60"/>
                <a:gd name="T37" fmla="*/ 19 h 33"/>
                <a:gd name="T38" fmla="*/ 1 w 60"/>
                <a:gd name="T39" fmla="*/ 22 h 33"/>
                <a:gd name="T40" fmla="*/ 1 w 60"/>
                <a:gd name="T41" fmla="*/ 25 h 33"/>
                <a:gd name="T42" fmla="*/ 1 w 60"/>
                <a:gd name="T43" fmla="*/ 28 h 33"/>
                <a:gd name="T44" fmla="*/ 1 w 60"/>
                <a:gd name="T45" fmla="*/ 30 h 33"/>
                <a:gd name="T46" fmla="*/ 1 w 60"/>
                <a:gd name="T47" fmla="*/ 32 h 33"/>
                <a:gd name="T48" fmla="*/ 1 w 60"/>
                <a:gd name="T49" fmla="*/ 33 h 33"/>
                <a:gd name="T50" fmla="*/ 1 w 60"/>
                <a:gd name="T51" fmla="*/ 33 h 33"/>
                <a:gd name="T52" fmla="*/ 1 w 60"/>
                <a:gd name="T53" fmla="*/ 33 h 33"/>
                <a:gd name="T54" fmla="*/ 1 w 60"/>
                <a:gd name="T55" fmla="*/ 32 h 33"/>
                <a:gd name="T56" fmla="*/ 1 w 60"/>
                <a:gd name="T57" fmla="*/ 30 h 33"/>
                <a:gd name="T58" fmla="*/ 1 w 60"/>
                <a:gd name="T59" fmla="*/ 28 h 33"/>
                <a:gd name="T60" fmla="*/ 1 w 60"/>
                <a:gd name="T61" fmla="*/ 25 h 33"/>
                <a:gd name="T62" fmla="*/ 1 w 60"/>
                <a:gd name="T63" fmla="*/ 22 h 33"/>
                <a:gd name="T64" fmla="*/ 0 w 60"/>
                <a:gd name="T65" fmla="*/ 19 h 33"/>
                <a:gd name="T66" fmla="*/ 0 w 60"/>
                <a:gd name="T67" fmla="*/ 16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0"/>
                <a:gd name="T103" fmla="*/ 0 h 33"/>
                <a:gd name="T104" fmla="*/ 60 w 60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0" h="33">
                  <a:moveTo>
                    <a:pt x="0" y="16"/>
                  </a:moveTo>
                  <a:lnTo>
                    <a:pt x="0" y="13"/>
                  </a:lnTo>
                  <a:lnTo>
                    <a:pt x="2" y="10"/>
                  </a:lnTo>
                  <a:lnTo>
                    <a:pt x="4" y="7"/>
                  </a:lnTo>
                  <a:lnTo>
                    <a:pt x="7" y="5"/>
                  </a:lnTo>
                  <a:lnTo>
                    <a:pt x="13" y="3"/>
                  </a:lnTo>
                  <a:lnTo>
                    <a:pt x="17" y="1"/>
                  </a:lnTo>
                  <a:lnTo>
                    <a:pt x="22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5" y="3"/>
                  </a:lnTo>
                  <a:lnTo>
                    <a:pt x="51" y="5"/>
                  </a:lnTo>
                  <a:lnTo>
                    <a:pt x="55" y="7"/>
                  </a:lnTo>
                  <a:lnTo>
                    <a:pt x="56" y="10"/>
                  </a:lnTo>
                  <a:lnTo>
                    <a:pt x="58" y="13"/>
                  </a:lnTo>
                  <a:lnTo>
                    <a:pt x="60" y="16"/>
                  </a:lnTo>
                  <a:lnTo>
                    <a:pt x="58" y="19"/>
                  </a:lnTo>
                  <a:lnTo>
                    <a:pt x="56" y="22"/>
                  </a:lnTo>
                  <a:lnTo>
                    <a:pt x="55" y="25"/>
                  </a:lnTo>
                  <a:lnTo>
                    <a:pt x="51" y="28"/>
                  </a:lnTo>
                  <a:lnTo>
                    <a:pt x="45" y="30"/>
                  </a:lnTo>
                  <a:lnTo>
                    <a:pt x="41" y="32"/>
                  </a:lnTo>
                  <a:lnTo>
                    <a:pt x="36" y="33"/>
                  </a:lnTo>
                  <a:lnTo>
                    <a:pt x="30" y="33"/>
                  </a:lnTo>
                  <a:lnTo>
                    <a:pt x="22" y="33"/>
                  </a:lnTo>
                  <a:lnTo>
                    <a:pt x="17" y="32"/>
                  </a:lnTo>
                  <a:lnTo>
                    <a:pt x="13" y="30"/>
                  </a:lnTo>
                  <a:lnTo>
                    <a:pt x="7" y="28"/>
                  </a:lnTo>
                  <a:lnTo>
                    <a:pt x="4" y="25"/>
                  </a:lnTo>
                  <a:lnTo>
                    <a:pt x="2" y="22"/>
                  </a:lnTo>
                  <a:lnTo>
                    <a:pt x="0" y="1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" name="Line 324"/>
            <p:cNvSpPr>
              <a:spLocks noChangeShapeType="1"/>
            </p:cNvSpPr>
            <p:nvPr/>
          </p:nvSpPr>
          <p:spPr bwMode="auto">
            <a:xfrm>
              <a:off x="3379" y="1467"/>
              <a:ext cx="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Line 325"/>
            <p:cNvSpPr>
              <a:spLocks noChangeShapeType="1"/>
            </p:cNvSpPr>
            <p:nvPr/>
          </p:nvSpPr>
          <p:spPr bwMode="auto">
            <a:xfrm>
              <a:off x="3379" y="1512"/>
              <a:ext cx="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Freeform 326"/>
            <p:cNvSpPr>
              <a:spLocks/>
            </p:cNvSpPr>
            <p:nvPr/>
          </p:nvSpPr>
          <p:spPr bwMode="auto">
            <a:xfrm>
              <a:off x="4691" y="1042"/>
              <a:ext cx="30" cy="33"/>
            </a:xfrm>
            <a:custGeom>
              <a:avLst/>
              <a:gdLst>
                <a:gd name="T0" fmla="*/ 0 w 61"/>
                <a:gd name="T1" fmla="*/ 17 h 33"/>
                <a:gd name="T2" fmla="*/ 0 w 61"/>
                <a:gd name="T3" fmla="*/ 14 h 33"/>
                <a:gd name="T4" fmla="*/ 0 w 61"/>
                <a:gd name="T5" fmla="*/ 11 h 33"/>
                <a:gd name="T6" fmla="*/ 0 w 61"/>
                <a:gd name="T7" fmla="*/ 8 h 33"/>
                <a:gd name="T8" fmla="*/ 0 w 61"/>
                <a:gd name="T9" fmla="*/ 5 h 33"/>
                <a:gd name="T10" fmla="*/ 0 w 61"/>
                <a:gd name="T11" fmla="*/ 3 h 33"/>
                <a:gd name="T12" fmla="*/ 0 w 61"/>
                <a:gd name="T13" fmla="*/ 1 h 33"/>
                <a:gd name="T14" fmla="*/ 0 w 61"/>
                <a:gd name="T15" fmla="*/ 0 h 33"/>
                <a:gd name="T16" fmla="*/ 0 w 61"/>
                <a:gd name="T17" fmla="*/ 0 h 33"/>
                <a:gd name="T18" fmla="*/ 0 w 61"/>
                <a:gd name="T19" fmla="*/ 0 h 33"/>
                <a:gd name="T20" fmla="*/ 0 w 61"/>
                <a:gd name="T21" fmla="*/ 1 h 33"/>
                <a:gd name="T22" fmla="*/ 0 w 61"/>
                <a:gd name="T23" fmla="*/ 3 h 33"/>
                <a:gd name="T24" fmla="*/ 0 w 61"/>
                <a:gd name="T25" fmla="*/ 5 h 33"/>
                <a:gd name="T26" fmla="*/ 0 w 61"/>
                <a:gd name="T27" fmla="*/ 8 h 33"/>
                <a:gd name="T28" fmla="*/ 0 w 61"/>
                <a:gd name="T29" fmla="*/ 11 h 33"/>
                <a:gd name="T30" fmla="*/ 0 w 61"/>
                <a:gd name="T31" fmla="*/ 14 h 33"/>
                <a:gd name="T32" fmla="*/ 0 w 61"/>
                <a:gd name="T33" fmla="*/ 17 h 33"/>
                <a:gd name="T34" fmla="*/ 0 w 61"/>
                <a:gd name="T35" fmla="*/ 17 h 33"/>
                <a:gd name="T36" fmla="*/ 0 w 61"/>
                <a:gd name="T37" fmla="*/ 20 h 33"/>
                <a:gd name="T38" fmla="*/ 0 w 61"/>
                <a:gd name="T39" fmla="*/ 23 h 33"/>
                <a:gd name="T40" fmla="*/ 0 w 61"/>
                <a:gd name="T41" fmla="*/ 26 h 33"/>
                <a:gd name="T42" fmla="*/ 0 w 61"/>
                <a:gd name="T43" fmla="*/ 28 h 33"/>
                <a:gd name="T44" fmla="*/ 0 w 61"/>
                <a:gd name="T45" fmla="*/ 30 h 33"/>
                <a:gd name="T46" fmla="*/ 0 w 61"/>
                <a:gd name="T47" fmla="*/ 32 h 33"/>
                <a:gd name="T48" fmla="*/ 0 w 61"/>
                <a:gd name="T49" fmla="*/ 33 h 33"/>
                <a:gd name="T50" fmla="*/ 0 w 61"/>
                <a:gd name="T51" fmla="*/ 33 h 33"/>
                <a:gd name="T52" fmla="*/ 0 w 61"/>
                <a:gd name="T53" fmla="*/ 33 h 33"/>
                <a:gd name="T54" fmla="*/ 0 w 61"/>
                <a:gd name="T55" fmla="*/ 32 h 33"/>
                <a:gd name="T56" fmla="*/ 0 w 61"/>
                <a:gd name="T57" fmla="*/ 30 h 33"/>
                <a:gd name="T58" fmla="*/ 0 w 61"/>
                <a:gd name="T59" fmla="*/ 28 h 33"/>
                <a:gd name="T60" fmla="*/ 0 w 61"/>
                <a:gd name="T61" fmla="*/ 26 h 33"/>
                <a:gd name="T62" fmla="*/ 0 w 61"/>
                <a:gd name="T63" fmla="*/ 23 h 33"/>
                <a:gd name="T64" fmla="*/ 0 w 61"/>
                <a:gd name="T65" fmla="*/ 20 h 33"/>
                <a:gd name="T66" fmla="*/ 0 w 61"/>
                <a:gd name="T67" fmla="*/ 17 h 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1"/>
                <a:gd name="T103" fmla="*/ 0 h 33"/>
                <a:gd name="T104" fmla="*/ 61 w 61"/>
                <a:gd name="T105" fmla="*/ 33 h 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1" h="33">
                  <a:moveTo>
                    <a:pt x="0" y="17"/>
                  </a:moveTo>
                  <a:lnTo>
                    <a:pt x="2" y="14"/>
                  </a:lnTo>
                  <a:lnTo>
                    <a:pt x="4" y="11"/>
                  </a:lnTo>
                  <a:lnTo>
                    <a:pt x="6" y="8"/>
                  </a:lnTo>
                  <a:lnTo>
                    <a:pt x="10" y="5"/>
                  </a:lnTo>
                  <a:lnTo>
                    <a:pt x="14" y="3"/>
                  </a:lnTo>
                  <a:lnTo>
                    <a:pt x="19" y="1"/>
                  </a:lnTo>
                  <a:lnTo>
                    <a:pt x="25" y="0"/>
                  </a:lnTo>
                  <a:lnTo>
                    <a:pt x="31" y="0"/>
                  </a:lnTo>
                  <a:lnTo>
                    <a:pt x="38" y="0"/>
                  </a:lnTo>
                  <a:lnTo>
                    <a:pt x="44" y="1"/>
                  </a:lnTo>
                  <a:lnTo>
                    <a:pt x="48" y="3"/>
                  </a:lnTo>
                  <a:lnTo>
                    <a:pt x="53" y="5"/>
                  </a:lnTo>
                  <a:lnTo>
                    <a:pt x="57" y="8"/>
                  </a:lnTo>
                  <a:lnTo>
                    <a:pt x="59" y="11"/>
                  </a:lnTo>
                  <a:lnTo>
                    <a:pt x="61" y="14"/>
                  </a:lnTo>
                  <a:lnTo>
                    <a:pt x="61" y="17"/>
                  </a:lnTo>
                  <a:lnTo>
                    <a:pt x="61" y="20"/>
                  </a:lnTo>
                  <a:lnTo>
                    <a:pt x="59" y="23"/>
                  </a:lnTo>
                  <a:lnTo>
                    <a:pt x="57" y="26"/>
                  </a:lnTo>
                  <a:lnTo>
                    <a:pt x="53" y="28"/>
                  </a:lnTo>
                  <a:lnTo>
                    <a:pt x="48" y="30"/>
                  </a:lnTo>
                  <a:lnTo>
                    <a:pt x="44" y="32"/>
                  </a:lnTo>
                  <a:lnTo>
                    <a:pt x="38" y="33"/>
                  </a:lnTo>
                  <a:lnTo>
                    <a:pt x="31" y="33"/>
                  </a:lnTo>
                  <a:lnTo>
                    <a:pt x="25" y="33"/>
                  </a:lnTo>
                  <a:lnTo>
                    <a:pt x="19" y="32"/>
                  </a:lnTo>
                  <a:lnTo>
                    <a:pt x="14" y="30"/>
                  </a:lnTo>
                  <a:lnTo>
                    <a:pt x="10" y="28"/>
                  </a:lnTo>
                  <a:lnTo>
                    <a:pt x="6" y="26"/>
                  </a:lnTo>
                  <a:lnTo>
                    <a:pt x="4" y="23"/>
                  </a:lnTo>
                  <a:lnTo>
                    <a:pt x="2" y="2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Rectangle 327"/>
            <p:cNvSpPr>
              <a:spLocks noChangeArrowheads="1"/>
            </p:cNvSpPr>
            <p:nvPr/>
          </p:nvSpPr>
          <p:spPr bwMode="auto">
            <a:xfrm>
              <a:off x="3432" y="1716"/>
              <a:ext cx="148" cy="21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60" name="Freeform 328"/>
            <p:cNvSpPr>
              <a:spLocks/>
            </p:cNvSpPr>
            <p:nvPr/>
          </p:nvSpPr>
          <p:spPr bwMode="auto">
            <a:xfrm>
              <a:off x="4968" y="973"/>
              <a:ext cx="53" cy="16"/>
            </a:xfrm>
            <a:custGeom>
              <a:avLst/>
              <a:gdLst>
                <a:gd name="T0" fmla="*/ 2 w 106"/>
                <a:gd name="T1" fmla="*/ 8 h 16"/>
                <a:gd name="T2" fmla="*/ 0 w 106"/>
                <a:gd name="T3" fmla="*/ 0 h 16"/>
                <a:gd name="T4" fmla="*/ 0 w 106"/>
                <a:gd name="T5" fmla="*/ 16 h 16"/>
                <a:gd name="T6" fmla="*/ 2 w 106"/>
                <a:gd name="T7" fmla="*/ 8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"/>
                <a:gd name="T13" fmla="*/ 0 h 16"/>
                <a:gd name="T14" fmla="*/ 106 w 106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" h="16">
                  <a:moveTo>
                    <a:pt x="106" y="8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106" y="8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Freeform 329"/>
            <p:cNvSpPr>
              <a:spLocks/>
            </p:cNvSpPr>
            <p:nvPr/>
          </p:nvSpPr>
          <p:spPr bwMode="auto">
            <a:xfrm>
              <a:off x="4968" y="973"/>
              <a:ext cx="53" cy="16"/>
            </a:xfrm>
            <a:custGeom>
              <a:avLst/>
              <a:gdLst>
                <a:gd name="T0" fmla="*/ 2 w 106"/>
                <a:gd name="T1" fmla="*/ 8 h 16"/>
                <a:gd name="T2" fmla="*/ 0 w 106"/>
                <a:gd name="T3" fmla="*/ 0 h 16"/>
                <a:gd name="T4" fmla="*/ 0 w 106"/>
                <a:gd name="T5" fmla="*/ 16 h 16"/>
                <a:gd name="T6" fmla="*/ 2 w 106"/>
                <a:gd name="T7" fmla="*/ 8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"/>
                <a:gd name="T13" fmla="*/ 0 h 16"/>
                <a:gd name="T14" fmla="*/ 106 w 106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" h="16">
                  <a:moveTo>
                    <a:pt x="106" y="8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106" y="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" name="Line 330"/>
            <p:cNvSpPr>
              <a:spLocks noChangeShapeType="1"/>
            </p:cNvSpPr>
            <p:nvPr/>
          </p:nvSpPr>
          <p:spPr bwMode="auto">
            <a:xfrm flipH="1">
              <a:off x="4899" y="981"/>
              <a:ext cx="6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" name="Freeform 331"/>
            <p:cNvSpPr>
              <a:spLocks/>
            </p:cNvSpPr>
            <p:nvPr/>
          </p:nvSpPr>
          <p:spPr bwMode="auto">
            <a:xfrm>
              <a:off x="5266" y="989"/>
              <a:ext cx="54" cy="17"/>
            </a:xfrm>
            <a:custGeom>
              <a:avLst/>
              <a:gdLst>
                <a:gd name="T0" fmla="*/ 2 w 107"/>
                <a:gd name="T1" fmla="*/ 9 h 17"/>
                <a:gd name="T2" fmla="*/ 0 w 107"/>
                <a:gd name="T3" fmla="*/ 0 h 17"/>
                <a:gd name="T4" fmla="*/ 0 w 107"/>
                <a:gd name="T5" fmla="*/ 17 h 17"/>
                <a:gd name="T6" fmla="*/ 2 w 107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7"/>
                <a:gd name="T13" fmla="*/ 0 h 17"/>
                <a:gd name="T14" fmla="*/ 107 w 107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7" h="17">
                  <a:moveTo>
                    <a:pt x="107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7" y="9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Freeform 332"/>
            <p:cNvSpPr>
              <a:spLocks/>
            </p:cNvSpPr>
            <p:nvPr/>
          </p:nvSpPr>
          <p:spPr bwMode="auto">
            <a:xfrm>
              <a:off x="5266" y="989"/>
              <a:ext cx="54" cy="17"/>
            </a:xfrm>
            <a:custGeom>
              <a:avLst/>
              <a:gdLst>
                <a:gd name="T0" fmla="*/ 2 w 107"/>
                <a:gd name="T1" fmla="*/ 9 h 17"/>
                <a:gd name="T2" fmla="*/ 0 w 107"/>
                <a:gd name="T3" fmla="*/ 0 h 17"/>
                <a:gd name="T4" fmla="*/ 0 w 107"/>
                <a:gd name="T5" fmla="*/ 17 h 17"/>
                <a:gd name="T6" fmla="*/ 2 w 107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7"/>
                <a:gd name="T13" fmla="*/ 0 h 17"/>
                <a:gd name="T14" fmla="*/ 107 w 107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7" h="17">
                  <a:moveTo>
                    <a:pt x="107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7" y="9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" name="Line 333"/>
            <p:cNvSpPr>
              <a:spLocks noChangeShapeType="1"/>
            </p:cNvSpPr>
            <p:nvPr/>
          </p:nvSpPr>
          <p:spPr bwMode="auto">
            <a:xfrm flipH="1">
              <a:off x="5198" y="998"/>
              <a:ext cx="6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" name="Rectangle 334"/>
            <p:cNvSpPr>
              <a:spLocks noChangeArrowheads="1"/>
            </p:cNvSpPr>
            <p:nvPr/>
          </p:nvSpPr>
          <p:spPr bwMode="auto">
            <a:xfrm>
              <a:off x="4959" y="896"/>
              <a:ext cx="40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 i="1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  <a:endParaRPr lang="en-US" altLang="zh-CN"/>
            </a:p>
          </p:txBody>
        </p:sp>
        <p:sp>
          <p:nvSpPr>
            <p:cNvPr id="267" name="Rectangle 335"/>
            <p:cNvSpPr>
              <a:spLocks noChangeArrowheads="1"/>
            </p:cNvSpPr>
            <p:nvPr/>
          </p:nvSpPr>
          <p:spPr bwMode="auto">
            <a:xfrm>
              <a:off x="5237" y="876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宋体" pitchFamily="2" charset="-122"/>
                </a:rPr>
                <a:t>I</a:t>
              </a:r>
              <a:endParaRPr lang="en-US" altLang="zh-CN"/>
            </a:p>
          </p:txBody>
        </p:sp>
        <p:sp>
          <p:nvSpPr>
            <p:cNvPr id="268" name="Rectangle 336"/>
            <p:cNvSpPr>
              <a:spLocks noChangeArrowheads="1"/>
            </p:cNvSpPr>
            <p:nvPr/>
          </p:nvSpPr>
          <p:spPr bwMode="auto">
            <a:xfrm>
              <a:off x="5278" y="915"/>
              <a:ext cx="3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宋体" pitchFamily="2" charset="-122"/>
                </a:rPr>
                <a:t>o</a:t>
              </a:r>
              <a:endParaRPr lang="en-US" altLang="zh-CN"/>
            </a:p>
          </p:txBody>
        </p:sp>
        <p:sp>
          <p:nvSpPr>
            <p:cNvPr id="269" name="Freeform 337"/>
            <p:cNvSpPr>
              <a:spLocks/>
            </p:cNvSpPr>
            <p:nvPr/>
          </p:nvSpPr>
          <p:spPr bwMode="auto">
            <a:xfrm>
              <a:off x="3723" y="1854"/>
              <a:ext cx="84" cy="93"/>
            </a:xfrm>
            <a:custGeom>
              <a:avLst/>
              <a:gdLst>
                <a:gd name="T0" fmla="*/ 0 w 168"/>
                <a:gd name="T1" fmla="*/ 93 h 93"/>
                <a:gd name="T2" fmla="*/ 2 w 168"/>
                <a:gd name="T3" fmla="*/ 0 h 93"/>
                <a:gd name="T4" fmla="*/ 3 w 168"/>
                <a:gd name="T5" fmla="*/ 93 h 93"/>
                <a:gd name="T6" fmla="*/ 0 w 168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3"/>
                <a:gd name="T14" fmla="*/ 168 w 16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3">
                  <a:moveTo>
                    <a:pt x="0" y="93"/>
                  </a:moveTo>
                  <a:lnTo>
                    <a:pt x="83" y="0"/>
                  </a:lnTo>
                  <a:lnTo>
                    <a:pt x="168" y="93"/>
                  </a:lnTo>
                  <a:lnTo>
                    <a:pt x="0" y="9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0" name="Line 338"/>
            <p:cNvSpPr>
              <a:spLocks noChangeShapeType="1"/>
            </p:cNvSpPr>
            <p:nvPr/>
          </p:nvSpPr>
          <p:spPr bwMode="auto">
            <a:xfrm flipH="1">
              <a:off x="3723" y="1854"/>
              <a:ext cx="8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1" name="Freeform 339"/>
            <p:cNvSpPr>
              <a:spLocks/>
            </p:cNvSpPr>
            <p:nvPr/>
          </p:nvSpPr>
          <p:spPr bwMode="auto">
            <a:xfrm>
              <a:off x="3723" y="1854"/>
              <a:ext cx="84" cy="93"/>
            </a:xfrm>
            <a:custGeom>
              <a:avLst/>
              <a:gdLst>
                <a:gd name="T0" fmla="*/ 0 w 168"/>
                <a:gd name="T1" fmla="*/ 93 h 93"/>
                <a:gd name="T2" fmla="*/ 2 w 168"/>
                <a:gd name="T3" fmla="*/ 0 h 93"/>
                <a:gd name="T4" fmla="*/ 3 w 168"/>
                <a:gd name="T5" fmla="*/ 93 h 93"/>
                <a:gd name="T6" fmla="*/ 0 w 168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3"/>
                <a:gd name="T14" fmla="*/ 168 w 16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3">
                  <a:moveTo>
                    <a:pt x="0" y="93"/>
                  </a:moveTo>
                  <a:lnTo>
                    <a:pt x="83" y="0"/>
                  </a:lnTo>
                  <a:lnTo>
                    <a:pt x="168" y="93"/>
                  </a:lnTo>
                  <a:lnTo>
                    <a:pt x="0" y="9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2" name="Line 340"/>
            <p:cNvSpPr>
              <a:spLocks noChangeShapeType="1"/>
            </p:cNvSpPr>
            <p:nvPr/>
          </p:nvSpPr>
          <p:spPr bwMode="auto">
            <a:xfrm flipV="1">
              <a:off x="3764" y="1715"/>
              <a:ext cx="1" cy="37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" name="Freeform 341"/>
            <p:cNvSpPr>
              <a:spLocks/>
            </p:cNvSpPr>
            <p:nvPr/>
          </p:nvSpPr>
          <p:spPr bwMode="auto">
            <a:xfrm>
              <a:off x="3723" y="1854"/>
              <a:ext cx="84" cy="93"/>
            </a:xfrm>
            <a:custGeom>
              <a:avLst/>
              <a:gdLst>
                <a:gd name="T0" fmla="*/ 2 w 168"/>
                <a:gd name="T1" fmla="*/ 0 h 93"/>
                <a:gd name="T2" fmla="*/ 0 w 168"/>
                <a:gd name="T3" fmla="*/ 93 h 93"/>
                <a:gd name="T4" fmla="*/ 3 w 168"/>
                <a:gd name="T5" fmla="*/ 93 h 93"/>
                <a:gd name="T6" fmla="*/ 2 w 16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3"/>
                <a:gd name="T14" fmla="*/ 168 w 16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3">
                  <a:moveTo>
                    <a:pt x="83" y="0"/>
                  </a:moveTo>
                  <a:lnTo>
                    <a:pt x="0" y="93"/>
                  </a:lnTo>
                  <a:lnTo>
                    <a:pt x="168" y="93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" name="Freeform 342"/>
            <p:cNvSpPr>
              <a:spLocks/>
            </p:cNvSpPr>
            <p:nvPr/>
          </p:nvSpPr>
          <p:spPr bwMode="auto">
            <a:xfrm>
              <a:off x="3723" y="1854"/>
              <a:ext cx="84" cy="93"/>
            </a:xfrm>
            <a:custGeom>
              <a:avLst/>
              <a:gdLst>
                <a:gd name="T0" fmla="*/ 2 w 168"/>
                <a:gd name="T1" fmla="*/ 0 h 93"/>
                <a:gd name="T2" fmla="*/ 0 w 168"/>
                <a:gd name="T3" fmla="*/ 93 h 93"/>
                <a:gd name="T4" fmla="*/ 3 w 168"/>
                <a:gd name="T5" fmla="*/ 93 h 93"/>
                <a:gd name="T6" fmla="*/ 2 w 16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3"/>
                <a:gd name="T14" fmla="*/ 168 w 16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3">
                  <a:moveTo>
                    <a:pt x="83" y="0"/>
                  </a:moveTo>
                  <a:lnTo>
                    <a:pt x="0" y="93"/>
                  </a:lnTo>
                  <a:lnTo>
                    <a:pt x="168" y="93"/>
                  </a:lnTo>
                  <a:lnTo>
                    <a:pt x="83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5" name="Line 343"/>
            <p:cNvSpPr>
              <a:spLocks noChangeShapeType="1"/>
            </p:cNvSpPr>
            <p:nvPr/>
          </p:nvSpPr>
          <p:spPr bwMode="auto">
            <a:xfrm flipV="1">
              <a:off x="3764" y="1854"/>
              <a:ext cx="1" cy="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" name="Line 344"/>
            <p:cNvSpPr>
              <a:spLocks noChangeShapeType="1"/>
            </p:cNvSpPr>
            <p:nvPr/>
          </p:nvSpPr>
          <p:spPr bwMode="auto">
            <a:xfrm flipH="1">
              <a:off x="3723" y="1854"/>
              <a:ext cx="8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" name="Freeform 345"/>
            <p:cNvSpPr>
              <a:spLocks/>
            </p:cNvSpPr>
            <p:nvPr/>
          </p:nvSpPr>
          <p:spPr bwMode="auto">
            <a:xfrm>
              <a:off x="4112" y="1855"/>
              <a:ext cx="85" cy="92"/>
            </a:xfrm>
            <a:custGeom>
              <a:avLst/>
              <a:gdLst>
                <a:gd name="T0" fmla="*/ 0 w 170"/>
                <a:gd name="T1" fmla="*/ 92 h 92"/>
                <a:gd name="T2" fmla="*/ 2 w 170"/>
                <a:gd name="T3" fmla="*/ 0 h 92"/>
                <a:gd name="T4" fmla="*/ 3 w 170"/>
                <a:gd name="T5" fmla="*/ 92 h 92"/>
                <a:gd name="T6" fmla="*/ 0 w 170"/>
                <a:gd name="T7" fmla="*/ 92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92"/>
                <a:gd name="T14" fmla="*/ 170 w 170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92">
                  <a:moveTo>
                    <a:pt x="0" y="92"/>
                  </a:moveTo>
                  <a:lnTo>
                    <a:pt x="85" y="0"/>
                  </a:lnTo>
                  <a:lnTo>
                    <a:pt x="170" y="92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" name="Line 346"/>
            <p:cNvSpPr>
              <a:spLocks noChangeShapeType="1"/>
            </p:cNvSpPr>
            <p:nvPr/>
          </p:nvSpPr>
          <p:spPr bwMode="auto">
            <a:xfrm flipH="1">
              <a:off x="4112" y="1855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9" name="Freeform 347"/>
            <p:cNvSpPr>
              <a:spLocks/>
            </p:cNvSpPr>
            <p:nvPr/>
          </p:nvSpPr>
          <p:spPr bwMode="auto">
            <a:xfrm>
              <a:off x="4112" y="1855"/>
              <a:ext cx="85" cy="92"/>
            </a:xfrm>
            <a:custGeom>
              <a:avLst/>
              <a:gdLst>
                <a:gd name="T0" fmla="*/ 0 w 170"/>
                <a:gd name="T1" fmla="*/ 92 h 92"/>
                <a:gd name="T2" fmla="*/ 2 w 170"/>
                <a:gd name="T3" fmla="*/ 0 h 92"/>
                <a:gd name="T4" fmla="*/ 3 w 170"/>
                <a:gd name="T5" fmla="*/ 92 h 92"/>
                <a:gd name="T6" fmla="*/ 0 w 170"/>
                <a:gd name="T7" fmla="*/ 92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92"/>
                <a:gd name="T14" fmla="*/ 170 w 170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92">
                  <a:moveTo>
                    <a:pt x="0" y="92"/>
                  </a:moveTo>
                  <a:lnTo>
                    <a:pt x="85" y="0"/>
                  </a:lnTo>
                  <a:lnTo>
                    <a:pt x="170" y="92"/>
                  </a:lnTo>
                  <a:lnTo>
                    <a:pt x="0" y="9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" name="Freeform 348"/>
            <p:cNvSpPr>
              <a:spLocks/>
            </p:cNvSpPr>
            <p:nvPr/>
          </p:nvSpPr>
          <p:spPr bwMode="auto">
            <a:xfrm>
              <a:off x="4112" y="1855"/>
              <a:ext cx="85" cy="92"/>
            </a:xfrm>
            <a:custGeom>
              <a:avLst/>
              <a:gdLst>
                <a:gd name="T0" fmla="*/ 2 w 170"/>
                <a:gd name="T1" fmla="*/ 0 h 92"/>
                <a:gd name="T2" fmla="*/ 0 w 170"/>
                <a:gd name="T3" fmla="*/ 92 h 92"/>
                <a:gd name="T4" fmla="*/ 3 w 170"/>
                <a:gd name="T5" fmla="*/ 92 h 92"/>
                <a:gd name="T6" fmla="*/ 2 w 170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92"/>
                <a:gd name="T14" fmla="*/ 170 w 170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92">
                  <a:moveTo>
                    <a:pt x="85" y="0"/>
                  </a:moveTo>
                  <a:lnTo>
                    <a:pt x="0" y="92"/>
                  </a:lnTo>
                  <a:lnTo>
                    <a:pt x="170" y="92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1" name="Freeform 349"/>
            <p:cNvSpPr>
              <a:spLocks/>
            </p:cNvSpPr>
            <p:nvPr/>
          </p:nvSpPr>
          <p:spPr bwMode="auto">
            <a:xfrm>
              <a:off x="4112" y="1855"/>
              <a:ext cx="85" cy="92"/>
            </a:xfrm>
            <a:custGeom>
              <a:avLst/>
              <a:gdLst>
                <a:gd name="T0" fmla="*/ 2 w 170"/>
                <a:gd name="T1" fmla="*/ 0 h 92"/>
                <a:gd name="T2" fmla="*/ 0 w 170"/>
                <a:gd name="T3" fmla="*/ 92 h 92"/>
                <a:gd name="T4" fmla="*/ 3 w 170"/>
                <a:gd name="T5" fmla="*/ 92 h 92"/>
                <a:gd name="T6" fmla="*/ 2 w 170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92"/>
                <a:gd name="T14" fmla="*/ 170 w 170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92">
                  <a:moveTo>
                    <a:pt x="85" y="0"/>
                  </a:moveTo>
                  <a:lnTo>
                    <a:pt x="0" y="92"/>
                  </a:lnTo>
                  <a:lnTo>
                    <a:pt x="170" y="92"/>
                  </a:lnTo>
                  <a:lnTo>
                    <a:pt x="85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Line 350"/>
            <p:cNvSpPr>
              <a:spLocks noChangeShapeType="1"/>
            </p:cNvSpPr>
            <p:nvPr/>
          </p:nvSpPr>
          <p:spPr bwMode="auto">
            <a:xfrm flipV="1">
              <a:off x="4154" y="1855"/>
              <a:ext cx="1" cy="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" name="Line 351"/>
            <p:cNvSpPr>
              <a:spLocks noChangeShapeType="1"/>
            </p:cNvSpPr>
            <p:nvPr/>
          </p:nvSpPr>
          <p:spPr bwMode="auto">
            <a:xfrm flipH="1">
              <a:off x="4112" y="1855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4" name="Freeform 352"/>
            <p:cNvSpPr>
              <a:spLocks/>
            </p:cNvSpPr>
            <p:nvPr/>
          </p:nvSpPr>
          <p:spPr bwMode="auto">
            <a:xfrm>
              <a:off x="4497" y="1669"/>
              <a:ext cx="85" cy="93"/>
            </a:xfrm>
            <a:custGeom>
              <a:avLst/>
              <a:gdLst>
                <a:gd name="T0" fmla="*/ 0 w 169"/>
                <a:gd name="T1" fmla="*/ 0 h 93"/>
                <a:gd name="T2" fmla="*/ 3 w 169"/>
                <a:gd name="T3" fmla="*/ 46 h 93"/>
                <a:gd name="T4" fmla="*/ 0 w 169"/>
                <a:gd name="T5" fmla="*/ 93 h 93"/>
                <a:gd name="T6" fmla="*/ 0 w 169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93"/>
                <a:gd name="T14" fmla="*/ 169 w 16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93">
                  <a:moveTo>
                    <a:pt x="0" y="0"/>
                  </a:moveTo>
                  <a:lnTo>
                    <a:pt x="169" y="46"/>
                  </a:lnTo>
                  <a:lnTo>
                    <a:pt x="0" y="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5" name="Line 353"/>
            <p:cNvSpPr>
              <a:spLocks noChangeShapeType="1"/>
            </p:cNvSpPr>
            <p:nvPr/>
          </p:nvSpPr>
          <p:spPr bwMode="auto">
            <a:xfrm flipV="1">
              <a:off x="4582" y="1669"/>
              <a:ext cx="1" cy="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" name="Freeform 354"/>
            <p:cNvSpPr>
              <a:spLocks/>
            </p:cNvSpPr>
            <p:nvPr/>
          </p:nvSpPr>
          <p:spPr bwMode="auto">
            <a:xfrm>
              <a:off x="4497" y="1669"/>
              <a:ext cx="85" cy="93"/>
            </a:xfrm>
            <a:custGeom>
              <a:avLst/>
              <a:gdLst>
                <a:gd name="T0" fmla="*/ 0 w 169"/>
                <a:gd name="T1" fmla="*/ 0 h 93"/>
                <a:gd name="T2" fmla="*/ 3 w 169"/>
                <a:gd name="T3" fmla="*/ 46 h 93"/>
                <a:gd name="T4" fmla="*/ 0 w 169"/>
                <a:gd name="T5" fmla="*/ 93 h 93"/>
                <a:gd name="T6" fmla="*/ 0 w 169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93"/>
                <a:gd name="T14" fmla="*/ 169 w 16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93">
                  <a:moveTo>
                    <a:pt x="0" y="0"/>
                  </a:moveTo>
                  <a:lnTo>
                    <a:pt x="169" y="46"/>
                  </a:lnTo>
                  <a:lnTo>
                    <a:pt x="0" y="93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" name="Line 355"/>
            <p:cNvSpPr>
              <a:spLocks noChangeShapeType="1"/>
            </p:cNvSpPr>
            <p:nvPr/>
          </p:nvSpPr>
          <p:spPr bwMode="auto">
            <a:xfrm>
              <a:off x="4371" y="1715"/>
              <a:ext cx="33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Freeform 356"/>
            <p:cNvSpPr>
              <a:spLocks/>
            </p:cNvSpPr>
            <p:nvPr/>
          </p:nvSpPr>
          <p:spPr bwMode="auto">
            <a:xfrm>
              <a:off x="4497" y="1669"/>
              <a:ext cx="85" cy="93"/>
            </a:xfrm>
            <a:custGeom>
              <a:avLst/>
              <a:gdLst>
                <a:gd name="T0" fmla="*/ 3 w 169"/>
                <a:gd name="T1" fmla="*/ 46 h 93"/>
                <a:gd name="T2" fmla="*/ 0 w 169"/>
                <a:gd name="T3" fmla="*/ 0 h 93"/>
                <a:gd name="T4" fmla="*/ 0 w 169"/>
                <a:gd name="T5" fmla="*/ 93 h 93"/>
                <a:gd name="T6" fmla="*/ 3 w 169"/>
                <a:gd name="T7" fmla="*/ 46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93"/>
                <a:gd name="T14" fmla="*/ 169 w 16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93">
                  <a:moveTo>
                    <a:pt x="169" y="46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169" y="46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Freeform 357"/>
            <p:cNvSpPr>
              <a:spLocks/>
            </p:cNvSpPr>
            <p:nvPr/>
          </p:nvSpPr>
          <p:spPr bwMode="auto">
            <a:xfrm>
              <a:off x="4497" y="1669"/>
              <a:ext cx="85" cy="93"/>
            </a:xfrm>
            <a:custGeom>
              <a:avLst/>
              <a:gdLst>
                <a:gd name="T0" fmla="*/ 3 w 169"/>
                <a:gd name="T1" fmla="*/ 46 h 93"/>
                <a:gd name="T2" fmla="*/ 0 w 169"/>
                <a:gd name="T3" fmla="*/ 0 h 93"/>
                <a:gd name="T4" fmla="*/ 0 w 169"/>
                <a:gd name="T5" fmla="*/ 93 h 93"/>
                <a:gd name="T6" fmla="*/ 3 w 169"/>
                <a:gd name="T7" fmla="*/ 46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93"/>
                <a:gd name="T14" fmla="*/ 169 w 16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93">
                  <a:moveTo>
                    <a:pt x="169" y="46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169" y="46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0" name="Line 358"/>
            <p:cNvSpPr>
              <a:spLocks noChangeShapeType="1"/>
            </p:cNvSpPr>
            <p:nvPr/>
          </p:nvSpPr>
          <p:spPr bwMode="auto">
            <a:xfrm>
              <a:off x="4497" y="1715"/>
              <a:ext cx="8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Line 359"/>
            <p:cNvSpPr>
              <a:spLocks noChangeShapeType="1"/>
            </p:cNvSpPr>
            <p:nvPr/>
          </p:nvSpPr>
          <p:spPr bwMode="auto">
            <a:xfrm flipV="1">
              <a:off x="4582" y="1669"/>
              <a:ext cx="1" cy="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2" name="Freeform 360"/>
            <p:cNvSpPr>
              <a:spLocks/>
            </p:cNvSpPr>
            <p:nvPr/>
          </p:nvSpPr>
          <p:spPr bwMode="auto">
            <a:xfrm>
              <a:off x="4493" y="1012"/>
              <a:ext cx="84" cy="92"/>
            </a:xfrm>
            <a:custGeom>
              <a:avLst/>
              <a:gdLst>
                <a:gd name="T0" fmla="*/ 0 w 168"/>
                <a:gd name="T1" fmla="*/ 0 h 92"/>
                <a:gd name="T2" fmla="*/ 3 w 168"/>
                <a:gd name="T3" fmla="*/ 46 h 92"/>
                <a:gd name="T4" fmla="*/ 0 w 168"/>
                <a:gd name="T5" fmla="*/ 92 h 92"/>
                <a:gd name="T6" fmla="*/ 0 w 16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2"/>
                <a:gd name="T14" fmla="*/ 168 w 16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2">
                  <a:moveTo>
                    <a:pt x="0" y="0"/>
                  </a:moveTo>
                  <a:lnTo>
                    <a:pt x="168" y="46"/>
                  </a:lnTo>
                  <a:lnTo>
                    <a:pt x="0" y="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3" name="Line 361"/>
            <p:cNvSpPr>
              <a:spLocks noChangeShapeType="1"/>
            </p:cNvSpPr>
            <p:nvPr/>
          </p:nvSpPr>
          <p:spPr bwMode="auto">
            <a:xfrm flipV="1">
              <a:off x="4577" y="1012"/>
              <a:ext cx="1" cy="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4" name="Freeform 362"/>
            <p:cNvSpPr>
              <a:spLocks/>
            </p:cNvSpPr>
            <p:nvPr/>
          </p:nvSpPr>
          <p:spPr bwMode="auto">
            <a:xfrm>
              <a:off x="4493" y="1012"/>
              <a:ext cx="84" cy="92"/>
            </a:xfrm>
            <a:custGeom>
              <a:avLst/>
              <a:gdLst>
                <a:gd name="T0" fmla="*/ 0 w 168"/>
                <a:gd name="T1" fmla="*/ 0 h 92"/>
                <a:gd name="T2" fmla="*/ 3 w 168"/>
                <a:gd name="T3" fmla="*/ 46 h 92"/>
                <a:gd name="T4" fmla="*/ 0 w 168"/>
                <a:gd name="T5" fmla="*/ 92 h 92"/>
                <a:gd name="T6" fmla="*/ 0 w 16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2"/>
                <a:gd name="T14" fmla="*/ 168 w 16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2">
                  <a:moveTo>
                    <a:pt x="0" y="0"/>
                  </a:moveTo>
                  <a:lnTo>
                    <a:pt x="168" y="46"/>
                  </a:lnTo>
                  <a:lnTo>
                    <a:pt x="0" y="9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" name="Line 363"/>
            <p:cNvSpPr>
              <a:spLocks noChangeShapeType="1"/>
            </p:cNvSpPr>
            <p:nvPr/>
          </p:nvSpPr>
          <p:spPr bwMode="auto">
            <a:xfrm>
              <a:off x="4365" y="1058"/>
              <a:ext cx="33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6" name="Freeform 364"/>
            <p:cNvSpPr>
              <a:spLocks/>
            </p:cNvSpPr>
            <p:nvPr/>
          </p:nvSpPr>
          <p:spPr bwMode="auto">
            <a:xfrm>
              <a:off x="4493" y="1012"/>
              <a:ext cx="84" cy="92"/>
            </a:xfrm>
            <a:custGeom>
              <a:avLst/>
              <a:gdLst>
                <a:gd name="T0" fmla="*/ 3 w 168"/>
                <a:gd name="T1" fmla="*/ 46 h 92"/>
                <a:gd name="T2" fmla="*/ 0 w 168"/>
                <a:gd name="T3" fmla="*/ 0 h 92"/>
                <a:gd name="T4" fmla="*/ 0 w 168"/>
                <a:gd name="T5" fmla="*/ 92 h 92"/>
                <a:gd name="T6" fmla="*/ 3 w 168"/>
                <a:gd name="T7" fmla="*/ 46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2"/>
                <a:gd name="T14" fmla="*/ 168 w 16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2">
                  <a:moveTo>
                    <a:pt x="168" y="46"/>
                  </a:moveTo>
                  <a:lnTo>
                    <a:pt x="0" y="0"/>
                  </a:lnTo>
                  <a:lnTo>
                    <a:pt x="0" y="92"/>
                  </a:lnTo>
                  <a:lnTo>
                    <a:pt x="168" y="46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" name="Freeform 365"/>
            <p:cNvSpPr>
              <a:spLocks/>
            </p:cNvSpPr>
            <p:nvPr/>
          </p:nvSpPr>
          <p:spPr bwMode="auto">
            <a:xfrm>
              <a:off x="4493" y="1012"/>
              <a:ext cx="84" cy="92"/>
            </a:xfrm>
            <a:custGeom>
              <a:avLst/>
              <a:gdLst>
                <a:gd name="T0" fmla="*/ 3 w 168"/>
                <a:gd name="T1" fmla="*/ 46 h 92"/>
                <a:gd name="T2" fmla="*/ 0 w 168"/>
                <a:gd name="T3" fmla="*/ 0 h 92"/>
                <a:gd name="T4" fmla="*/ 0 w 168"/>
                <a:gd name="T5" fmla="*/ 92 h 92"/>
                <a:gd name="T6" fmla="*/ 3 w 168"/>
                <a:gd name="T7" fmla="*/ 46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92"/>
                <a:gd name="T14" fmla="*/ 168 w 16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92">
                  <a:moveTo>
                    <a:pt x="168" y="46"/>
                  </a:moveTo>
                  <a:lnTo>
                    <a:pt x="0" y="0"/>
                  </a:lnTo>
                  <a:lnTo>
                    <a:pt x="0" y="92"/>
                  </a:lnTo>
                  <a:lnTo>
                    <a:pt x="168" y="46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" name="Line 366"/>
            <p:cNvSpPr>
              <a:spLocks noChangeShapeType="1"/>
            </p:cNvSpPr>
            <p:nvPr/>
          </p:nvSpPr>
          <p:spPr bwMode="auto">
            <a:xfrm>
              <a:off x="4493" y="1058"/>
              <a:ext cx="8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" name="Line 367"/>
            <p:cNvSpPr>
              <a:spLocks noChangeShapeType="1"/>
            </p:cNvSpPr>
            <p:nvPr/>
          </p:nvSpPr>
          <p:spPr bwMode="auto">
            <a:xfrm flipV="1">
              <a:off x="4577" y="1012"/>
              <a:ext cx="1" cy="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" name="Rectangle 368"/>
            <p:cNvSpPr>
              <a:spLocks noChangeArrowheads="1"/>
            </p:cNvSpPr>
            <p:nvPr/>
          </p:nvSpPr>
          <p:spPr bwMode="auto">
            <a:xfrm>
              <a:off x="4738" y="1101"/>
              <a:ext cx="48" cy="11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宋体" pitchFamily="2" charset="-122"/>
                </a:rPr>
                <a:t>+</a:t>
              </a:r>
              <a:endParaRPr lang="en-US" altLang="zh-CN"/>
            </a:p>
          </p:txBody>
        </p:sp>
        <p:sp>
          <p:nvSpPr>
            <p:cNvPr id="301" name="Rectangle 369"/>
            <p:cNvSpPr>
              <a:spLocks noChangeArrowheads="1"/>
            </p:cNvSpPr>
            <p:nvPr/>
          </p:nvSpPr>
          <p:spPr bwMode="auto">
            <a:xfrm>
              <a:off x="4738" y="1277"/>
              <a:ext cx="48" cy="11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宋体" pitchFamily="2" charset="-122"/>
                </a:rPr>
                <a:t>-</a:t>
              </a:r>
              <a:endParaRPr lang="en-US" altLang="zh-CN"/>
            </a:p>
          </p:txBody>
        </p:sp>
        <p:sp>
          <p:nvSpPr>
            <p:cNvPr id="302" name="Rectangle 370"/>
            <p:cNvSpPr>
              <a:spLocks noChangeArrowheads="1"/>
            </p:cNvSpPr>
            <p:nvPr/>
          </p:nvSpPr>
          <p:spPr bwMode="auto">
            <a:xfrm>
              <a:off x="4777" y="1227"/>
              <a:ext cx="56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oi</a:t>
              </a:r>
              <a:endParaRPr lang="en-US" altLang="zh-CN"/>
            </a:p>
          </p:txBody>
        </p:sp>
        <p:sp>
          <p:nvSpPr>
            <p:cNvPr id="303" name="Rectangle 371"/>
            <p:cNvSpPr>
              <a:spLocks noChangeArrowheads="1"/>
            </p:cNvSpPr>
            <p:nvPr/>
          </p:nvSpPr>
          <p:spPr bwMode="auto">
            <a:xfrm>
              <a:off x="4735" y="1180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u</a:t>
              </a:r>
              <a:endParaRPr lang="en-US" altLang="zh-CN"/>
            </a:p>
          </p:txBody>
        </p:sp>
        <p:sp>
          <p:nvSpPr>
            <p:cNvPr id="304" name="Line 372"/>
            <p:cNvSpPr>
              <a:spLocks noChangeShapeType="1"/>
            </p:cNvSpPr>
            <p:nvPr/>
          </p:nvSpPr>
          <p:spPr bwMode="auto">
            <a:xfrm flipH="1">
              <a:off x="4060" y="1376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5" name="Line 373"/>
            <p:cNvSpPr>
              <a:spLocks noChangeShapeType="1"/>
            </p:cNvSpPr>
            <p:nvPr/>
          </p:nvSpPr>
          <p:spPr bwMode="auto">
            <a:xfrm flipV="1">
              <a:off x="4060" y="1058"/>
              <a:ext cx="0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6" name="Line 374"/>
            <p:cNvSpPr>
              <a:spLocks noChangeShapeType="1"/>
            </p:cNvSpPr>
            <p:nvPr/>
          </p:nvSpPr>
          <p:spPr bwMode="auto">
            <a:xfrm flipH="1">
              <a:off x="3379" y="1058"/>
              <a:ext cx="6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" name="Line 375"/>
            <p:cNvSpPr>
              <a:spLocks noChangeShapeType="1"/>
            </p:cNvSpPr>
            <p:nvPr/>
          </p:nvSpPr>
          <p:spPr bwMode="auto">
            <a:xfrm flipV="1">
              <a:off x="3424" y="1058"/>
              <a:ext cx="0" cy="4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" name="Line 376"/>
            <p:cNvSpPr>
              <a:spLocks noChangeShapeType="1"/>
            </p:cNvSpPr>
            <p:nvPr/>
          </p:nvSpPr>
          <p:spPr bwMode="auto">
            <a:xfrm flipV="1">
              <a:off x="3424" y="1512"/>
              <a:ext cx="0" cy="5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" name="Rectangle 377"/>
            <p:cNvSpPr>
              <a:spLocks noChangeArrowheads="1"/>
            </p:cNvSpPr>
            <p:nvPr/>
          </p:nvSpPr>
          <p:spPr bwMode="auto">
            <a:xfrm>
              <a:off x="3801" y="1716"/>
              <a:ext cx="148" cy="21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10" name="Line 378"/>
            <p:cNvSpPr>
              <a:spLocks noChangeShapeType="1"/>
            </p:cNvSpPr>
            <p:nvPr/>
          </p:nvSpPr>
          <p:spPr bwMode="auto">
            <a:xfrm>
              <a:off x="3334" y="2102"/>
              <a:ext cx="8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" name="Line 379"/>
            <p:cNvSpPr>
              <a:spLocks noChangeShapeType="1"/>
            </p:cNvSpPr>
            <p:nvPr/>
          </p:nvSpPr>
          <p:spPr bwMode="auto">
            <a:xfrm flipV="1">
              <a:off x="3606" y="1965"/>
              <a:ext cx="0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" name="Line 380"/>
            <p:cNvSpPr>
              <a:spLocks noChangeShapeType="1"/>
            </p:cNvSpPr>
            <p:nvPr/>
          </p:nvSpPr>
          <p:spPr bwMode="auto">
            <a:xfrm flipV="1">
              <a:off x="3969" y="1965"/>
              <a:ext cx="0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" name="Line 381"/>
            <p:cNvSpPr>
              <a:spLocks noChangeShapeType="1"/>
            </p:cNvSpPr>
            <p:nvPr/>
          </p:nvSpPr>
          <p:spPr bwMode="auto">
            <a:xfrm>
              <a:off x="4150" y="1693"/>
              <a:ext cx="0" cy="4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" name="Rectangle 384"/>
            <p:cNvSpPr>
              <a:spLocks noChangeArrowheads="1"/>
            </p:cNvSpPr>
            <p:nvPr/>
          </p:nvSpPr>
          <p:spPr bwMode="auto">
            <a:xfrm>
              <a:off x="4105" y="1434"/>
              <a:ext cx="111" cy="13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15" name="Rectangle 385"/>
            <p:cNvSpPr>
              <a:spLocks noChangeArrowheads="1"/>
            </p:cNvSpPr>
            <p:nvPr/>
          </p:nvSpPr>
          <p:spPr bwMode="auto">
            <a:xfrm>
              <a:off x="4377" y="1480"/>
              <a:ext cx="111" cy="13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ChangeArrowheads="1"/>
          </p:cNvSpPr>
          <p:nvPr/>
        </p:nvSpPr>
        <p:spPr bwMode="auto">
          <a:xfrm>
            <a:off x="1352191" y="908720"/>
            <a:ext cx="631615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 b="1" dirty="0" smtClean="0">
                <a:solidFill>
                  <a:srgbClr val="FF0000"/>
                </a:solidFill>
              </a:rPr>
              <a:t>An </a:t>
            </a:r>
            <a:r>
              <a:rPr lang="en-US" altLang="zh-CN" sz="2800" b="1" dirty="0">
                <a:solidFill>
                  <a:srgbClr val="FF0000"/>
                </a:solidFill>
              </a:rPr>
              <a:t>practical Push-Pull dc-dc supply</a:t>
            </a:r>
          </a:p>
        </p:txBody>
      </p:sp>
      <p:graphicFrame>
        <p:nvGraphicFramePr>
          <p:cNvPr id="101379" name="对象 5"/>
          <p:cNvGraphicFramePr>
            <a:graphicFrameLocks noChangeAspect="1"/>
          </p:cNvGraphicFramePr>
          <p:nvPr/>
        </p:nvGraphicFramePr>
        <p:xfrm>
          <a:off x="107950" y="1700808"/>
          <a:ext cx="7375525" cy="510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12" name="Visio" r:id="rId3" imgW="6304770" imgH="5027313" progId="Visio.Drawing.11">
                  <p:embed/>
                </p:oleObj>
              </mc:Choice>
              <mc:Fallback>
                <p:oleObj name="Visio" r:id="rId3" imgW="6304770" imgH="5027313" progId="Visio.Drawing.11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1700808"/>
                        <a:ext cx="7375525" cy="5108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1380" name="图片 7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78587" y="1898947"/>
            <a:ext cx="27019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1381" name="图片 8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478587" y="3059410"/>
            <a:ext cx="2701925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1382" name="图片 9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478587" y="4342110"/>
            <a:ext cx="2633663" cy="52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TextBox 5"/>
          <p:cNvSpPr txBox="1">
            <a:spLocks noChangeArrowheads="1"/>
          </p:cNvSpPr>
          <p:nvPr/>
        </p:nvSpPr>
        <p:spPr bwMode="auto">
          <a:xfrm>
            <a:off x="214313" y="4725144"/>
            <a:ext cx="8929687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en-US" altLang="zh-CN" sz="2400" b="1" dirty="0">
                <a:solidFill>
                  <a:srgbClr val="A50021"/>
                </a:solidFill>
              </a:rPr>
              <a:t>Half-Bridge converter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en-US" altLang="zh-CN" sz="2400" dirty="0"/>
              <a:t>requires two split capacitors C</a:t>
            </a:r>
            <a:r>
              <a:rPr lang="en-US" altLang="zh-CN" sz="2400" baseline="-25000" dirty="0"/>
              <a:t>a</a:t>
            </a:r>
            <a:r>
              <a:rPr lang="en-US" altLang="zh-CN" sz="2400" dirty="0"/>
              <a:t> and </a:t>
            </a:r>
            <a:r>
              <a:rPr lang="en-US" altLang="zh-CN" sz="2400" dirty="0" err="1"/>
              <a:t>C</a:t>
            </a:r>
            <a:r>
              <a:rPr lang="en-US" altLang="zh-CN" sz="2400" baseline="-25000" dirty="0" err="1"/>
              <a:t>b</a:t>
            </a:r>
            <a:r>
              <a:rPr lang="en-US" altLang="zh-CN" sz="2400" dirty="0"/>
              <a:t> to form a dc input mid-point.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400" dirty="0"/>
              <a:t>The switches Q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and Q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are turned on alternatively, each for an interval t</a:t>
            </a:r>
            <a:r>
              <a:rPr lang="en-US" altLang="zh-CN" sz="2400" baseline="-25000" dirty="0"/>
              <a:t>on</a:t>
            </a:r>
            <a:r>
              <a:rPr lang="en-US" altLang="zh-CN" sz="2400" dirty="0"/>
              <a:t>.  </a:t>
            </a:r>
            <a:endParaRPr lang="zh-CN" altLang="en-US" sz="2400" dirty="0"/>
          </a:p>
        </p:txBody>
      </p:sp>
      <p:sp>
        <p:nvSpPr>
          <p:cNvPr id="75780" name="Text Box 572"/>
          <p:cNvSpPr txBox="1">
            <a:spLocks noChangeArrowheads="1"/>
          </p:cNvSpPr>
          <p:nvPr/>
        </p:nvSpPr>
        <p:spPr bwMode="auto">
          <a:xfrm>
            <a:off x="0" y="1214438"/>
            <a:ext cx="33845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</a:rPr>
              <a:t>1 converter circuit</a:t>
            </a:r>
          </a:p>
        </p:txBody>
      </p:sp>
      <p:graphicFrame>
        <p:nvGraphicFramePr>
          <p:cNvPr id="75781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4668321"/>
              </p:ext>
            </p:extLst>
          </p:nvPr>
        </p:nvGraphicFramePr>
        <p:xfrm>
          <a:off x="23813" y="1844824"/>
          <a:ext cx="8843962" cy="266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5" name="Visio" r:id="rId3" imgW="10126890" imgH="2856152" progId="Visio.Drawing.11">
                  <p:embed/>
                </p:oleObj>
              </mc:Choice>
              <mc:Fallback>
                <p:oleObj name="Visio" r:id="rId3" imgW="10126890" imgH="2856152" progId="Visio.Drawing.11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3" y="1844824"/>
                        <a:ext cx="8843962" cy="2663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3589535" y="188640"/>
            <a:ext cx="50149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A50021"/>
                </a:solidFill>
              </a:rPr>
              <a:t>10-4-5 </a:t>
            </a:r>
            <a:r>
              <a:rPr lang="en-US" altLang="zh-CN" sz="2800" b="1" i="1" u="sng" dirty="0">
                <a:solidFill>
                  <a:srgbClr val="A50021"/>
                </a:solidFill>
              </a:rPr>
              <a:t>Half-Bridge</a:t>
            </a:r>
            <a:r>
              <a:rPr lang="en-US" altLang="zh-CN" sz="2800" b="1" dirty="0">
                <a:solidFill>
                  <a:srgbClr val="A50021"/>
                </a:solidFill>
              </a:rPr>
              <a:t> Converter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10"/>
          <p:cNvGrpSpPr>
            <a:grpSpLocks/>
          </p:cNvGrpSpPr>
          <p:nvPr/>
        </p:nvGrpSpPr>
        <p:grpSpPr bwMode="auto">
          <a:xfrm>
            <a:off x="4357688" y="1268413"/>
            <a:ext cx="4664075" cy="5589587"/>
            <a:chOff x="3334" y="1071"/>
            <a:chExt cx="2349" cy="3103"/>
          </a:xfrm>
        </p:grpSpPr>
        <p:sp>
          <p:nvSpPr>
            <p:cNvPr id="76806" name="Rectangle 5"/>
            <p:cNvSpPr>
              <a:spLocks noChangeArrowheads="1"/>
            </p:cNvSpPr>
            <p:nvPr/>
          </p:nvSpPr>
          <p:spPr bwMode="auto">
            <a:xfrm>
              <a:off x="4377" y="2004"/>
              <a:ext cx="192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宋体" pitchFamily="2" charset="-122"/>
                </a:rPr>
                <a:t>(a)</a:t>
              </a:r>
              <a:endParaRPr lang="en-US" altLang="zh-CN" sz="1600"/>
            </a:p>
          </p:txBody>
        </p:sp>
        <p:sp>
          <p:nvSpPr>
            <p:cNvPr id="76807" name="Freeform 6"/>
            <p:cNvSpPr>
              <a:spLocks/>
            </p:cNvSpPr>
            <p:nvPr/>
          </p:nvSpPr>
          <p:spPr bwMode="auto">
            <a:xfrm>
              <a:off x="3470" y="2302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08" name="Freeform 7"/>
            <p:cNvSpPr>
              <a:spLocks/>
            </p:cNvSpPr>
            <p:nvPr/>
          </p:nvSpPr>
          <p:spPr bwMode="auto">
            <a:xfrm>
              <a:off x="3470" y="2302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09" name="Line 8"/>
            <p:cNvSpPr>
              <a:spLocks noChangeShapeType="1"/>
            </p:cNvSpPr>
            <p:nvPr/>
          </p:nvSpPr>
          <p:spPr bwMode="auto">
            <a:xfrm>
              <a:off x="3478" y="2361"/>
              <a:ext cx="1" cy="7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0" name="Freeform 9"/>
            <p:cNvSpPr>
              <a:spLocks/>
            </p:cNvSpPr>
            <p:nvPr/>
          </p:nvSpPr>
          <p:spPr bwMode="auto">
            <a:xfrm>
              <a:off x="5557" y="2884"/>
              <a:ext cx="54" cy="17"/>
            </a:xfrm>
            <a:custGeom>
              <a:avLst/>
              <a:gdLst>
                <a:gd name="T0" fmla="*/ 2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1" name="Freeform 10"/>
            <p:cNvSpPr>
              <a:spLocks/>
            </p:cNvSpPr>
            <p:nvPr/>
          </p:nvSpPr>
          <p:spPr bwMode="auto">
            <a:xfrm>
              <a:off x="5557" y="2884"/>
              <a:ext cx="54" cy="17"/>
            </a:xfrm>
            <a:custGeom>
              <a:avLst/>
              <a:gdLst>
                <a:gd name="T0" fmla="*/ 2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2" name="Line 11"/>
            <p:cNvSpPr>
              <a:spLocks noChangeShapeType="1"/>
            </p:cNvSpPr>
            <p:nvPr/>
          </p:nvSpPr>
          <p:spPr bwMode="auto">
            <a:xfrm flipH="1">
              <a:off x="3478" y="2893"/>
              <a:ext cx="207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3" name="Line 12"/>
            <p:cNvSpPr>
              <a:spLocks noChangeShapeType="1"/>
            </p:cNvSpPr>
            <p:nvPr/>
          </p:nvSpPr>
          <p:spPr bwMode="auto">
            <a:xfrm>
              <a:off x="3478" y="2413"/>
              <a:ext cx="32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4" name="Freeform 13"/>
            <p:cNvSpPr>
              <a:spLocks/>
            </p:cNvSpPr>
            <p:nvPr/>
          </p:nvSpPr>
          <p:spPr bwMode="auto">
            <a:xfrm>
              <a:off x="5554" y="3935"/>
              <a:ext cx="54" cy="17"/>
            </a:xfrm>
            <a:custGeom>
              <a:avLst/>
              <a:gdLst>
                <a:gd name="T0" fmla="*/ 2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5" name="Freeform 14"/>
            <p:cNvSpPr>
              <a:spLocks/>
            </p:cNvSpPr>
            <p:nvPr/>
          </p:nvSpPr>
          <p:spPr bwMode="auto">
            <a:xfrm>
              <a:off x="5554" y="3935"/>
              <a:ext cx="54" cy="17"/>
            </a:xfrm>
            <a:custGeom>
              <a:avLst/>
              <a:gdLst>
                <a:gd name="T0" fmla="*/ 2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6" name="Line 15"/>
            <p:cNvSpPr>
              <a:spLocks noChangeShapeType="1"/>
            </p:cNvSpPr>
            <p:nvPr/>
          </p:nvSpPr>
          <p:spPr bwMode="auto">
            <a:xfrm flipH="1">
              <a:off x="3475" y="3944"/>
              <a:ext cx="207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7" name="Rectangle 16"/>
            <p:cNvSpPr>
              <a:spLocks noChangeArrowheads="1"/>
            </p:cNvSpPr>
            <p:nvPr/>
          </p:nvSpPr>
          <p:spPr bwMode="auto">
            <a:xfrm>
              <a:off x="3515" y="2186"/>
              <a:ext cx="124" cy="17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oi</a:t>
              </a:r>
            </a:p>
          </p:txBody>
        </p:sp>
        <p:sp>
          <p:nvSpPr>
            <p:cNvPr id="76818" name="Rectangle 17"/>
            <p:cNvSpPr>
              <a:spLocks noChangeArrowheads="1"/>
            </p:cNvSpPr>
            <p:nvPr/>
          </p:nvSpPr>
          <p:spPr bwMode="auto">
            <a:xfrm>
              <a:off x="3409" y="2824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76819" name="Rectangle 18"/>
            <p:cNvSpPr>
              <a:spLocks noChangeArrowheads="1"/>
            </p:cNvSpPr>
            <p:nvPr/>
          </p:nvSpPr>
          <p:spPr bwMode="auto">
            <a:xfrm>
              <a:off x="3408" y="3873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76820" name="Rectangle 19"/>
            <p:cNvSpPr>
              <a:spLocks noChangeArrowheads="1"/>
            </p:cNvSpPr>
            <p:nvPr/>
          </p:nvSpPr>
          <p:spPr bwMode="auto">
            <a:xfrm>
              <a:off x="5643" y="2821"/>
              <a:ext cx="40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76821" name="Rectangle 20"/>
            <p:cNvSpPr>
              <a:spLocks noChangeArrowheads="1"/>
            </p:cNvSpPr>
            <p:nvPr/>
          </p:nvSpPr>
          <p:spPr bwMode="auto">
            <a:xfrm>
              <a:off x="5640" y="3854"/>
              <a:ext cx="40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76822" name="Line 21"/>
            <p:cNvSpPr>
              <a:spLocks noChangeShapeType="1"/>
            </p:cNvSpPr>
            <p:nvPr/>
          </p:nvSpPr>
          <p:spPr bwMode="auto">
            <a:xfrm>
              <a:off x="4331" y="2413"/>
              <a:ext cx="32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3" name="Line 22"/>
            <p:cNvSpPr>
              <a:spLocks noChangeShapeType="1"/>
            </p:cNvSpPr>
            <p:nvPr/>
          </p:nvSpPr>
          <p:spPr bwMode="auto">
            <a:xfrm>
              <a:off x="4651" y="2892"/>
              <a:ext cx="53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4" name="Line 23"/>
            <p:cNvSpPr>
              <a:spLocks noChangeShapeType="1"/>
            </p:cNvSpPr>
            <p:nvPr/>
          </p:nvSpPr>
          <p:spPr bwMode="auto">
            <a:xfrm>
              <a:off x="4651" y="2413"/>
              <a:ext cx="1" cy="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5" name="Line 24"/>
            <p:cNvSpPr>
              <a:spLocks noChangeShapeType="1"/>
            </p:cNvSpPr>
            <p:nvPr/>
          </p:nvSpPr>
          <p:spPr bwMode="auto">
            <a:xfrm>
              <a:off x="5185" y="2413"/>
              <a:ext cx="31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6" name="Line 25"/>
            <p:cNvSpPr>
              <a:spLocks noChangeShapeType="1"/>
            </p:cNvSpPr>
            <p:nvPr/>
          </p:nvSpPr>
          <p:spPr bwMode="auto">
            <a:xfrm>
              <a:off x="5185" y="2413"/>
              <a:ext cx="1" cy="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7" name="Rectangle 32"/>
            <p:cNvSpPr>
              <a:spLocks noChangeArrowheads="1"/>
            </p:cNvSpPr>
            <p:nvPr/>
          </p:nvSpPr>
          <p:spPr bwMode="auto">
            <a:xfrm>
              <a:off x="3788" y="2205"/>
              <a:ext cx="508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N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2</a:t>
              </a:r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V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d</a:t>
              </a:r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/2N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76828" name="Line 36"/>
            <p:cNvSpPr>
              <a:spLocks noChangeShapeType="1"/>
            </p:cNvSpPr>
            <p:nvPr/>
          </p:nvSpPr>
          <p:spPr bwMode="auto">
            <a:xfrm>
              <a:off x="3798" y="2939"/>
              <a:ext cx="1" cy="1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9" name="Line 37"/>
            <p:cNvSpPr>
              <a:spLocks noChangeShapeType="1"/>
            </p:cNvSpPr>
            <p:nvPr/>
          </p:nvSpPr>
          <p:spPr bwMode="auto">
            <a:xfrm>
              <a:off x="4331" y="2939"/>
              <a:ext cx="1" cy="1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30" name="Line 38"/>
            <p:cNvSpPr>
              <a:spLocks noChangeShapeType="1"/>
            </p:cNvSpPr>
            <p:nvPr/>
          </p:nvSpPr>
          <p:spPr bwMode="auto">
            <a:xfrm>
              <a:off x="4331" y="2939"/>
              <a:ext cx="1" cy="2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31" name="Line 39"/>
            <p:cNvSpPr>
              <a:spLocks noChangeShapeType="1"/>
            </p:cNvSpPr>
            <p:nvPr/>
          </p:nvSpPr>
          <p:spPr bwMode="auto">
            <a:xfrm>
              <a:off x="3478" y="3091"/>
              <a:ext cx="1" cy="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32" name="Line 40"/>
            <p:cNvSpPr>
              <a:spLocks noChangeShapeType="1"/>
            </p:cNvSpPr>
            <p:nvPr/>
          </p:nvSpPr>
          <p:spPr bwMode="auto">
            <a:xfrm>
              <a:off x="3530" y="2998"/>
              <a:ext cx="21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33" name="Freeform 41"/>
            <p:cNvSpPr>
              <a:spLocks/>
            </p:cNvSpPr>
            <p:nvPr/>
          </p:nvSpPr>
          <p:spPr bwMode="auto">
            <a:xfrm>
              <a:off x="3478" y="2960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2 w 140"/>
                <a:gd name="T3" fmla="*/ 0 h 76"/>
                <a:gd name="T4" fmla="*/ 2 w 140"/>
                <a:gd name="T5" fmla="*/ 5 h 76"/>
                <a:gd name="T6" fmla="*/ 2 w 140"/>
                <a:gd name="T7" fmla="*/ 9 h 76"/>
                <a:gd name="T8" fmla="*/ 2 w 140"/>
                <a:gd name="T9" fmla="*/ 14 h 76"/>
                <a:gd name="T10" fmla="*/ 1 w 140"/>
                <a:gd name="T11" fmla="*/ 18 h 76"/>
                <a:gd name="T12" fmla="*/ 1 w 140"/>
                <a:gd name="T13" fmla="*/ 23 h 76"/>
                <a:gd name="T14" fmla="*/ 1 w 140"/>
                <a:gd name="T15" fmla="*/ 29 h 76"/>
                <a:gd name="T16" fmla="*/ 1 w 140"/>
                <a:gd name="T17" fmla="*/ 33 h 76"/>
                <a:gd name="T18" fmla="*/ 1 w 140"/>
                <a:gd name="T19" fmla="*/ 38 h 76"/>
                <a:gd name="T20" fmla="*/ 1 w 140"/>
                <a:gd name="T21" fmla="*/ 43 h 76"/>
                <a:gd name="T22" fmla="*/ 1 w 140"/>
                <a:gd name="T23" fmla="*/ 47 h 76"/>
                <a:gd name="T24" fmla="*/ 1 w 140"/>
                <a:gd name="T25" fmla="*/ 52 h 76"/>
                <a:gd name="T26" fmla="*/ 1 w 140"/>
                <a:gd name="T27" fmla="*/ 58 h 76"/>
                <a:gd name="T28" fmla="*/ 2 w 140"/>
                <a:gd name="T29" fmla="*/ 62 h 76"/>
                <a:gd name="T30" fmla="*/ 2 w 140"/>
                <a:gd name="T31" fmla="*/ 67 h 76"/>
                <a:gd name="T32" fmla="*/ 2 w 140"/>
                <a:gd name="T33" fmla="*/ 71 h 76"/>
                <a:gd name="T34" fmla="*/ 2 w 140"/>
                <a:gd name="T35" fmla="*/ 76 h 76"/>
                <a:gd name="T36" fmla="*/ 2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34" name="Freeform 42"/>
            <p:cNvSpPr>
              <a:spLocks/>
            </p:cNvSpPr>
            <p:nvPr/>
          </p:nvSpPr>
          <p:spPr bwMode="auto">
            <a:xfrm>
              <a:off x="3729" y="2960"/>
              <a:ext cx="69" cy="76"/>
            </a:xfrm>
            <a:custGeom>
              <a:avLst/>
              <a:gdLst>
                <a:gd name="T0" fmla="*/ 2 w 140"/>
                <a:gd name="T1" fmla="*/ 38 h 76"/>
                <a:gd name="T2" fmla="*/ 0 w 140"/>
                <a:gd name="T3" fmla="*/ 76 h 76"/>
                <a:gd name="T4" fmla="*/ 0 w 140"/>
                <a:gd name="T5" fmla="*/ 71 h 76"/>
                <a:gd name="T6" fmla="*/ 0 w 140"/>
                <a:gd name="T7" fmla="*/ 67 h 76"/>
                <a:gd name="T8" fmla="*/ 0 w 140"/>
                <a:gd name="T9" fmla="*/ 62 h 76"/>
                <a:gd name="T10" fmla="*/ 0 w 140"/>
                <a:gd name="T11" fmla="*/ 58 h 76"/>
                <a:gd name="T12" fmla="*/ 0 w 140"/>
                <a:gd name="T13" fmla="*/ 52 h 76"/>
                <a:gd name="T14" fmla="*/ 0 w 140"/>
                <a:gd name="T15" fmla="*/ 47 h 76"/>
                <a:gd name="T16" fmla="*/ 0 w 140"/>
                <a:gd name="T17" fmla="*/ 43 h 76"/>
                <a:gd name="T18" fmla="*/ 0 w 140"/>
                <a:gd name="T19" fmla="*/ 38 h 76"/>
                <a:gd name="T20" fmla="*/ 0 w 140"/>
                <a:gd name="T21" fmla="*/ 33 h 76"/>
                <a:gd name="T22" fmla="*/ 0 w 140"/>
                <a:gd name="T23" fmla="*/ 29 h 76"/>
                <a:gd name="T24" fmla="*/ 0 w 140"/>
                <a:gd name="T25" fmla="*/ 23 h 76"/>
                <a:gd name="T26" fmla="*/ 0 w 140"/>
                <a:gd name="T27" fmla="*/ 18 h 76"/>
                <a:gd name="T28" fmla="*/ 0 w 140"/>
                <a:gd name="T29" fmla="*/ 14 h 76"/>
                <a:gd name="T30" fmla="*/ 0 w 140"/>
                <a:gd name="T31" fmla="*/ 9 h 76"/>
                <a:gd name="T32" fmla="*/ 0 w 140"/>
                <a:gd name="T33" fmla="*/ 5 h 76"/>
                <a:gd name="T34" fmla="*/ 0 w 140"/>
                <a:gd name="T35" fmla="*/ 0 h 76"/>
                <a:gd name="T36" fmla="*/ 0 w 140"/>
                <a:gd name="T37" fmla="*/ 0 h 76"/>
                <a:gd name="T38" fmla="*/ 2 w 140"/>
                <a:gd name="T39" fmla="*/ 38 h 76"/>
                <a:gd name="T40" fmla="*/ 2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140" y="38"/>
                  </a:moveTo>
                  <a:lnTo>
                    <a:pt x="0" y="76"/>
                  </a:lnTo>
                  <a:lnTo>
                    <a:pt x="4" y="71"/>
                  </a:lnTo>
                  <a:lnTo>
                    <a:pt x="8" y="67"/>
                  </a:lnTo>
                  <a:lnTo>
                    <a:pt x="11" y="62"/>
                  </a:lnTo>
                  <a:lnTo>
                    <a:pt x="13" y="58"/>
                  </a:lnTo>
                  <a:lnTo>
                    <a:pt x="15" y="52"/>
                  </a:lnTo>
                  <a:lnTo>
                    <a:pt x="17" y="47"/>
                  </a:lnTo>
                  <a:lnTo>
                    <a:pt x="17" y="43"/>
                  </a:lnTo>
                  <a:lnTo>
                    <a:pt x="17" y="38"/>
                  </a:lnTo>
                  <a:lnTo>
                    <a:pt x="17" y="33"/>
                  </a:lnTo>
                  <a:lnTo>
                    <a:pt x="17" y="29"/>
                  </a:lnTo>
                  <a:lnTo>
                    <a:pt x="15" y="23"/>
                  </a:lnTo>
                  <a:lnTo>
                    <a:pt x="13" y="18"/>
                  </a:lnTo>
                  <a:lnTo>
                    <a:pt x="11" y="14"/>
                  </a:lnTo>
                  <a:lnTo>
                    <a:pt x="8" y="9"/>
                  </a:lnTo>
                  <a:lnTo>
                    <a:pt x="4" y="5"/>
                  </a:lnTo>
                  <a:lnTo>
                    <a:pt x="0" y="0"/>
                  </a:lnTo>
                  <a:lnTo>
                    <a:pt x="14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35" name="Line 43"/>
            <p:cNvSpPr>
              <a:spLocks noChangeShapeType="1"/>
            </p:cNvSpPr>
            <p:nvPr/>
          </p:nvSpPr>
          <p:spPr bwMode="auto">
            <a:xfrm>
              <a:off x="3850" y="2998"/>
              <a:ext cx="42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36" name="Freeform 44"/>
            <p:cNvSpPr>
              <a:spLocks/>
            </p:cNvSpPr>
            <p:nvPr/>
          </p:nvSpPr>
          <p:spPr bwMode="auto">
            <a:xfrm>
              <a:off x="3798" y="2960"/>
              <a:ext cx="69" cy="76"/>
            </a:xfrm>
            <a:custGeom>
              <a:avLst/>
              <a:gdLst>
                <a:gd name="T0" fmla="*/ 0 w 137"/>
                <a:gd name="T1" fmla="*/ 38 h 76"/>
                <a:gd name="T2" fmla="*/ 3 w 137"/>
                <a:gd name="T3" fmla="*/ 0 h 76"/>
                <a:gd name="T4" fmla="*/ 3 w 137"/>
                <a:gd name="T5" fmla="*/ 5 h 76"/>
                <a:gd name="T6" fmla="*/ 3 w 137"/>
                <a:gd name="T7" fmla="*/ 9 h 76"/>
                <a:gd name="T8" fmla="*/ 2 w 137"/>
                <a:gd name="T9" fmla="*/ 14 h 76"/>
                <a:gd name="T10" fmla="*/ 2 w 137"/>
                <a:gd name="T11" fmla="*/ 18 h 76"/>
                <a:gd name="T12" fmla="*/ 2 w 137"/>
                <a:gd name="T13" fmla="*/ 23 h 76"/>
                <a:gd name="T14" fmla="*/ 2 w 137"/>
                <a:gd name="T15" fmla="*/ 29 h 76"/>
                <a:gd name="T16" fmla="*/ 2 w 137"/>
                <a:gd name="T17" fmla="*/ 33 h 76"/>
                <a:gd name="T18" fmla="*/ 2 w 137"/>
                <a:gd name="T19" fmla="*/ 38 h 76"/>
                <a:gd name="T20" fmla="*/ 2 w 137"/>
                <a:gd name="T21" fmla="*/ 43 h 76"/>
                <a:gd name="T22" fmla="*/ 2 w 137"/>
                <a:gd name="T23" fmla="*/ 47 h 76"/>
                <a:gd name="T24" fmla="*/ 2 w 137"/>
                <a:gd name="T25" fmla="*/ 52 h 76"/>
                <a:gd name="T26" fmla="*/ 2 w 137"/>
                <a:gd name="T27" fmla="*/ 58 h 76"/>
                <a:gd name="T28" fmla="*/ 2 w 137"/>
                <a:gd name="T29" fmla="*/ 62 h 76"/>
                <a:gd name="T30" fmla="*/ 3 w 137"/>
                <a:gd name="T31" fmla="*/ 67 h 76"/>
                <a:gd name="T32" fmla="*/ 3 w 137"/>
                <a:gd name="T33" fmla="*/ 71 h 76"/>
                <a:gd name="T34" fmla="*/ 3 w 137"/>
                <a:gd name="T35" fmla="*/ 76 h 76"/>
                <a:gd name="T36" fmla="*/ 3 w 137"/>
                <a:gd name="T37" fmla="*/ 76 h 76"/>
                <a:gd name="T38" fmla="*/ 0 w 137"/>
                <a:gd name="T39" fmla="*/ 38 h 76"/>
                <a:gd name="T40" fmla="*/ 0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0" y="38"/>
                  </a:moveTo>
                  <a:lnTo>
                    <a:pt x="137" y="0"/>
                  </a:lnTo>
                  <a:lnTo>
                    <a:pt x="134" y="5"/>
                  </a:lnTo>
                  <a:lnTo>
                    <a:pt x="130" y="9"/>
                  </a:lnTo>
                  <a:lnTo>
                    <a:pt x="128" y="14"/>
                  </a:lnTo>
                  <a:lnTo>
                    <a:pt x="124" y="18"/>
                  </a:lnTo>
                  <a:lnTo>
                    <a:pt x="122" y="23"/>
                  </a:lnTo>
                  <a:lnTo>
                    <a:pt x="122" y="29"/>
                  </a:lnTo>
                  <a:lnTo>
                    <a:pt x="120" y="33"/>
                  </a:lnTo>
                  <a:lnTo>
                    <a:pt x="120" y="38"/>
                  </a:lnTo>
                  <a:lnTo>
                    <a:pt x="120" y="43"/>
                  </a:lnTo>
                  <a:lnTo>
                    <a:pt x="122" y="47"/>
                  </a:lnTo>
                  <a:lnTo>
                    <a:pt x="122" y="52"/>
                  </a:lnTo>
                  <a:lnTo>
                    <a:pt x="124" y="58"/>
                  </a:lnTo>
                  <a:lnTo>
                    <a:pt x="128" y="62"/>
                  </a:lnTo>
                  <a:lnTo>
                    <a:pt x="130" y="67"/>
                  </a:lnTo>
                  <a:lnTo>
                    <a:pt x="134" y="71"/>
                  </a:lnTo>
                  <a:lnTo>
                    <a:pt x="137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37" name="Freeform 45"/>
            <p:cNvSpPr>
              <a:spLocks/>
            </p:cNvSpPr>
            <p:nvPr/>
          </p:nvSpPr>
          <p:spPr bwMode="auto">
            <a:xfrm>
              <a:off x="4262" y="2960"/>
              <a:ext cx="69" cy="76"/>
            </a:xfrm>
            <a:custGeom>
              <a:avLst/>
              <a:gdLst>
                <a:gd name="T0" fmla="*/ 3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3 w 137"/>
                <a:gd name="T39" fmla="*/ 38 h 76"/>
                <a:gd name="T40" fmla="*/ 3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38" name="Line 46"/>
            <p:cNvSpPr>
              <a:spLocks noChangeShapeType="1"/>
            </p:cNvSpPr>
            <p:nvPr/>
          </p:nvSpPr>
          <p:spPr bwMode="auto">
            <a:xfrm>
              <a:off x="3530" y="3115"/>
              <a:ext cx="74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39" name="Freeform 47"/>
            <p:cNvSpPr>
              <a:spLocks/>
            </p:cNvSpPr>
            <p:nvPr/>
          </p:nvSpPr>
          <p:spPr bwMode="auto">
            <a:xfrm>
              <a:off x="3478" y="3077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2 w 140"/>
                <a:gd name="T3" fmla="*/ 0 h 76"/>
                <a:gd name="T4" fmla="*/ 2 w 140"/>
                <a:gd name="T5" fmla="*/ 5 h 76"/>
                <a:gd name="T6" fmla="*/ 2 w 140"/>
                <a:gd name="T7" fmla="*/ 9 h 76"/>
                <a:gd name="T8" fmla="*/ 2 w 140"/>
                <a:gd name="T9" fmla="*/ 14 h 76"/>
                <a:gd name="T10" fmla="*/ 1 w 140"/>
                <a:gd name="T11" fmla="*/ 18 h 76"/>
                <a:gd name="T12" fmla="*/ 1 w 140"/>
                <a:gd name="T13" fmla="*/ 23 h 76"/>
                <a:gd name="T14" fmla="*/ 1 w 140"/>
                <a:gd name="T15" fmla="*/ 29 h 76"/>
                <a:gd name="T16" fmla="*/ 1 w 140"/>
                <a:gd name="T17" fmla="*/ 33 h 76"/>
                <a:gd name="T18" fmla="*/ 1 w 140"/>
                <a:gd name="T19" fmla="*/ 38 h 76"/>
                <a:gd name="T20" fmla="*/ 1 w 140"/>
                <a:gd name="T21" fmla="*/ 43 h 76"/>
                <a:gd name="T22" fmla="*/ 1 w 140"/>
                <a:gd name="T23" fmla="*/ 47 h 76"/>
                <a:gd name="T24" fmla="*/ 1 w 140"/>
                <a:gd name="T25" fmla="*/ 52 h 76"/>
                <a:gd name="T26" fmla="*/ 1 w 140"/>
                <a:gd name="T27" fmla="*/ 58 h 76"/>
                <a:gd name="T28" fmla="*/ 2 w 140"/>
                <a:gd name="T29" fmla="*/ 62 h 76"/>
                <a:gd name="T30" fmla="*/ 2 w 140"/>
                <a:gd name="T31" fmla="*/ 67 h 76"/>
                <a:gd name="T32" fmla="*/ 2 w 140"/>
                <a:gd name="T33" fmla="*/ 71 h 76"/>
                <a:gd name="T34" fmla="*/ 2 w 140"/>
                <a:gd name="T35" fmla="*/ 76 h 76"/>
                <a:gd name="T36" fmla="*/ 2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40" name="Freeform 48"/>
            <p:cNvSpPr>
              <a:spLocks/>
            </p:cNvSpPr>
            <p:nvPr/>
          </p:nvSpPr>
          <p:spPr bwMode="auto">
            <a:xfrm>
              <a:off x="4262" y="3077"/>
              <a:ext cx="69" cy="76"/>
            </a:xfrm>
            <a:custGeom>
              <a:avLst/>
              <a:gdLst>
                <a:gd name="T0" fmla="*/ 3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3 w 137"/>
                <a:gd name="T39" fmla="*/ 38 h 76"/>
                <a:gd name="T40" fmla="*/ 3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41" name="Rectangle 49"/>
            <p:cNvSpPr>
              <a:spLocks noChangeArrowheads="1"/>
            </p:cNvSpPr>
            <p:nvPr/>
          </p:nvSpPr>
          <p:spPr bwMode="auto">
            <a:xfrm>
              <a:off x="3635" y="2919"/>
              <a:ext cx="72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on</a:t>
              </a:r>
              <a:endParaRPr lang="en-US" altLang="zh-CN"/>
            </a:p>
          </p:txBody>
        </p:sp>
        <p:sp>
          <p:nvSpPr>
            <p:cNvPr id="76842" name="Rectangle 50"/>
            <p:cNvSpPr>
              <a:spLocks noChangeArrowheads="1"/>
            </p:cNvSpPr>
            <p:nvPr/>
          </p:nvSpPr>
          <p:spPr bwMode="auto">
            <a:xfrm>
              <a:off x="3616" y="2873"/>
              <a:ext cx="2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76843" name="Line 51"/>
            <p:cNvSpPr>
              <a:spLocks noChangeShapeType="1"/>
            </p:cNvSpPr>
            <p:nvPr/>
          </p:nvSpPr>
          <p:spPr bwMode="auto">
            <a:xfrm flipV="1">
              <a:off x="3795" y="3893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44" name="Line 52"/>
            <p:cNvSpPr>
              <a:spLocks noChangeShapeType="1"/>
            </p:cNvSpPr>
            <p:nvPr/>
          </p:nvSpPr>
          <p:spPr bwMode="auto">
            <a:xfrm flipV="1">
              <a:off x="4328" y="3893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45" name="Line 53"/>
            <p:cNvSpPr>
              <a:spLocks noChangeShapeType="1"/>
            </p:cNvSpPr>
            <p:nvPr/>
          </p:nvSpPr>
          <p:spPr bwMode="auto">
            <a:xfrm flipV="1">
              <a:off x="4648" y="3893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46" name="Line 54"/>
            <p:cNvSpPr>
              <a:spLocks noChangeShapeType="1"/>
            </p:cNvSpPr>
            <p:nvPr/>
          </p:nvSpPr>
          <p:spPr bwMode="auto">
            <a:xfrm flipV="1">
              <a:off x="5182" y="3893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47" name="Freeform 55"/>
            <p:cNvSpPr>
              <a:spLocks/>
            </p:cNvSpPr>
            <p:nvPr/>
          </p:nvSpPr>
          <p:spPr bwMode="auto">
            <a:xfrm>
              <a:off x="3478" y="3466"/>
              <a:ext cx="1898" cy="234"/>
            </a:xfrm>
            <a:custGeom>
              <a:avLst/>
              <a:gdLst>
                <a:gd name="T0" fmla="*/ 0 w 3797"/>
                <a:gd name="T1" fmla="*/ 234 h 234"/>
                <a:gd name="T2" fmla="*/ 10 w 3797"/>
                <a:gd name="T3" fmla="*/ 0 h 234"/>
                <a:gd name="T4" fmla="*/ 26 w 3797"/>
                <a:gd name="T5" fmla="*/ 234 h 234"/>
                <a:gd name="T6" fmla="*/ 36 w 3797"/>
                <a:gd name="T7" fmla="*/ 0 h 234"/>
                <a:gd name="T8" fmla="*/ 53 w 3797"/>
                <a:gd name="T9" fmla="*/ 234 h 234"/>
                <a:gd name="T10" fmla="*/ 59 w 3797"/>
                <a:gd name="T11" fmla="*/ 117 h 2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797"/>
                <a:gd name="T19" fmla="*/ 0 h 234"/>
                <a:gd name="T20" fmla="*/ 3797 w 3797"/>
                <a:gd name="T21" fmla="*/ 234 h 2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797" h="234">
                  <a:moveTo>
                    <a:pt x="0" y="234"/>
                  </a:moveTo>
                  <a:lnTo>
                    <a:pt x="642" y="0"/>
                  </a:lnTo>
                  <a:lnTo>
                    <a:pt x="1707" y="234"/>
                  </a:lnTo>
                  <a:lnTo>
                    <a:pt x="2347" y="0"/>
                  </a:lnTo>
                  <a:lnTo>
                    <a:pt x="3414" y="234"/>
                  </a:lnTo>
                  <a:lnTo>
                    <a:pt x="3797" y="11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48" name="Freeform 56"/>
            <p:cNvSpPr>
              <a:spLocks/>
            </p:cNvSpPr>
            <p:nvPr/>
          </p:nvSpPr>
          <p:spPr bwMode="auto">
            <a:xfrm>
              <a:off x="3798" y="2413"/>
              <a:ext cx="533" cy="479"/>
            </a:xfrm>
            <a:custGeom>
              <a:avLst/>
              <a:gdLst>
                <a:gd name="T0" fmla="*/ 0 w 1065"/>
                <a:gd name="T1" fmla="*/ 0 h 479"/>
                <a:gd name="T2" fmla="*/ 0 w 1065"/>
                <a:gd name="T3" fmla="*/ 479 h 479"/>
                <a:gd name="T4" fmla="*/ 17 w 1065"/>
                <a:gd name="T5" fmla="*/ 479 h 479"/>
                <a:gd name="T6" fmla="*/ 17 w 1065"/>
                <a:gd name="T7" fmla="*/ 0 h 4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5"/>
                <a:gd name="T13" fmla="*/ 0 h 479"/>
                <a:gd name="T14" fmla="*/ 1065 w 1065"/>
                <a:gd name="T15" fmla="*/ 479 h 4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5" h="479">
                  <a:moveTo>
                    <a:pt x="0" y="0"/>
                  </a:moveTo>
                  <a:lnTo>
                    <a:pt x="0" y="479"/>
                  </a:lnTo>
                  <a:lnTo>
                    <a:pt x="1065" y="479"/>
                  </a:lnTo>
                  <a:lnTo>
                    <a:pt x="106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49" name="Freeform 57"/>
            <p:cNvSpPr>
              <a:spLocks noEditPoints="1"/>
            </p:cNvSpPr>
            <p:nvPr/>
          </p:nvSpPr>
          <p:spPr bwMode="auto">
            <a:xfrm>
              <a:off x="3475" y="2597"/>
              <a:ext cx="2039" cy="13"/>
            </a:xfrm>
            <a:custGeom>
              <a:avLst/>
              <a:gdLst>
                <a:gd name="T0" fmla="*/ 4 w 4078"/>
                <a:gd name="T1" fmla="*/ 5 h 13"/>
                <a:gd name="T2" fmla="*/ 3 w 4078"/>
                <a:gd name="T3" fmla="*/ 13 h 13"/>
                <a:gd name="T4" fmla="*/ 0 w 4078"/>
                <a:gd name="T5" fmla="*/ 6 h 13"/>
                <a:gd name="T6" fmla="*/ 1 w 4078"/>
                <a:gd name="T7" fmla="*/ 0 h 13"/>
                <a:gd name="T8" fmla="*/ 8 w 4078"/>
                <a:gd name="T9" fmla="*/ 5 h 13"/>
                <a:gd name="T10" fmla="*/ 8 w 4078"/>
                <a:gd name="T11" fmla="*/ 13 h 13"/>
                <a:gd name="T12" fmla="*/ 5 w 4078"/>
                <a:gd name="T13" fmla="*/ 6 h 13"/>
                <a:gd name="T14" fmla="*/ 5 w 4078"/>
                <a:gd name="T15" fmla="*/ 0 h 13"/>
                <a:gd name="T16" fmla="*/ 13 w 4078"/>
                <a:gd name="T17" fmla="*/ 5 h 13"/>
                <a:gd name="T18" fmla="*/ 13 w 4078"/>
                <a:gd name="T19" fmla="*/ 13 h 13"/>
                <a:gd name="T20" fmla="*/ 10 w 4078"/>
                <a:gd name="T21" fmla="*/ 6 h 13"/>
                <a:gd name="T22" fmla="*/ 10 w 4078"/>
                <a:gd name="T23" fmla="*/ 0 h 13"/>
                <a:gd name="T24" fmla="*/ 18 w 4078"/>
                <a:gd name="T25" fmla="*/ 5 h 13"/>
                <a:gd name="T26" fmla="*/ 18 w 4078"/>
                <a:gd name="T27" fmla="*/ 13 h 13"/>
                <a:gd name="T28" fmla="*/ 15 w 4078"/>
                <a:gd name="T29" fmla="*/ 6 h 13"/>
                <a:gd name="T30" fmla="*/ 15 w 4078"/>
                <a:gd name="T31" fmla="*/ 0 h 13"/>
                <a:gd name="T32" fmla="*/ 23 w 4078"/>
                <a:gd name="T33" fmla="*/ 5 h 13"/>
                <a:gd name="T34" fmla="*/ 23 w 4078"/>
                <a:gd name="T35" fmla="*/ 13 h 13"/>
                <a:gd name="T36" fmla="*/ 20 w 4078"/>
                <a:gd name="T37" fmla="*/ 6 h 13"/>
                <a:gd name="T38" fmla="*/ 20 w 4078"/>
                <a:gd name="T39" fmla="*/ 0 h 13"/>
                <a:gd name="T40" fmla="*/ 28 w 4078"/>
                <a:gd name="T41" fmla="*/ 5 h 13"/>
                <a:gd name="T42" fmla="*/ 27 w 4078"/>
                <a:gd name="T43" fmla="*/ 13 h 13"/>
                <a:gd name="T44" fmla="*/ 24 w 4078"/>
                <a:gd name="T45" fmla="*/ 6 h 13"/>
                <a:gd name="T46" fmla="*/ 25 w 4078"/>
                <a:gd name="T47" fmla="*/ 0 h 13"/>
                <a:gd name="T48" fmla="*/ 32 w 4078"/>
                <a:gd name="T49" fmla="*/ 5 h 13"/>
                <a:gd name="T50" fmla="*/ 32 w 4078"/>
                <a:gd name="T51" fmla="*/ 13 h 13"/>
                <a:gd name="T52" fmla="*/ 29 w 4078"/>
                <a:gd name="T53" fmla="*/ 6 h 13"/>
                <a:gd name="T54" fmla="*/ 29 w 4078"/>
                <a:gd name="T55" fmla="*/ 0 h 13"/>
                <a:gd name="T56" fmla="*/ 37 w 4078"/>
                <a:gd name="T57" fmla="*/ 5 h 13"/>
                <a:gd name="T58" fmla="*/ 37 w 4078"/>
                <a:gd name="T59" fmla="*/ 13 h 13"/>
                <a:gd name="T60" fmla="*/ 34 w 4078"/>
                <a:gd name="T61" fmla="*/ 6 h 13"/>
                <a:gd name="T62" fmla="*/ 34 w 4078"/>
                <a:gd name="T63" fmla="*/ 0 h 13"/>
                <a:gd name="T64" fmla="*/ 42 w 4078"/>
                <a:gd name="T65" fmla="*/ 5 h 13"/>
                <a:gd name="T66" fmla="*/ 42 w 4078"/>
                <a:gd name="T67" fmla="*/ 13 h 13"/>
                <a:gd name="T68" fmla="*/ 39 w 4078"/>
                <a:gd name="T69" fmla="*/ 6 h 13"/>
                <a:gd name="T70" fmla="*/ 39 w 4078"/>
                <a:gd name="T71" fmla="*/ 0 h 13"/>
                <a:gd name="T72" fmla="*/ 47 w 4078"/>
                <a:gd name="T73" fmla="*/ 5 h 13"/>
                <a:gd name="T74" fmla="*/ 47 w 4078"/>
                <a:gd name="T75" fmla="*/ 13 h 13"/>
                <a:gd name="T76" fmla="*/ 44 w 4078"/>
                <a:gd name="T77" fmla="*/ 6 h 13"/>
                <a:gd name="T78" fmla="*/ 44 w 4078"/>
                <a:gd name="T79" fmla="*/ 0 h 13"/>
                <a:gd name="T80" fmla="*/ 52 w 4078"/>
                <a:gd name="T81" fmla="*/ 5 h 13"/>
                <a:gd name="T82" fmla="*/ 51 w 4078"/>
                <a:gd name="T83" fmla="*/ 13 h 13"/>
                <a:gd name="T84" fmla="*/ 48 w 4078"/>
                <a:gd name="T85" fmla="*/ 6 h 13"/>
                <a:gd name="T86" fmla="*/ 49 w 4078"/>
                <a:gd name="T87" fmla="*/ 0 h 13"/>
                <a:gd name="T88" fmla="*/ 56 w 4078"/>
                <a:gd name="T89" fmla="*/ 5 h 13"/>
                <a:gd name="T90" fmla="*/ 56 w 4078"/>
                <a:gd name="T91" fmla="*/ 13 h 13"/>
                <a:gd name="T92" fmla="*/ 53 w 4078"/>
                <a:gd name="T93" fmla="*/ 6 h 13"/>
                <a:gd name="T94" fmla="*/ 53 w 4078"/>
                <a:gd name="T95" fmla="*/ 0 h 13"/>
                <a:gd name="T96" fmla="*/ 61 w 4078"/>
                <a:gd name="T97" fmla="*/ 5 h 13"/>
                <a:gd name="T98" fmla="*/ 61 w 4078"/>
                <a:gd name="T99" fmla="*/ 13 h 13"/>
                <a:gd name="T100" fmla="*/ 58 w 4078"/>
                <a:gd name="T101" fmla="*/ 6 h 13"/>
                <a:gd name="T102" fmla="*/ 58 w 4078"/>
                <a:gd name="T103" fmla="*/ 0 h 13"/>
                <a:gd name="T104" fmla="*/ 64 w 4078"/>
                <a:gd name="T105" fmla="*/ 5 h 13"/>
                <a:gd name="T106" fmla="*/ 64 w 4078"/>
                <a:gd name="T107" fmla="*/ 13 h 13"/>
                <a:gd name="T108" fmla="*/ 63 w 4078"/>
                <a:gd name="T109" fmla="*/ 6 h 13"/>
                <a:gd name="T110" fmla="*/ 63 w 4078"/>
                <a:gd name="T111" fmla="*/ 0 h 13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4078"/>
                <a:gd name="T169" fmla="*/ 0 h 13"/>
                <a:gd name="T170" fmla="*/ 4078 w 4078"/>
                <a:gd name="T171" fmla="*/ 13 h 13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4078" h="13">
                  <a:moveTo>
                    <a:pt x="11" y="0"/>
                  </a:moveTo>
                  <a:lnTo>
                    <a:pt x="191" y="0"/>
                  </a:lnTo>
                  <a:lnTo>
                    <a:pt x="194" y="0"/>
                  </a:lnTo>
                  <a:lnTo>
                    <a:pt x="196" y="0"/>
                  </a:lnTo>
                  <a:lnTo>
                    <a:pt x="200" y="2"/>
                  </a:lnTo>
                  <a:lnTo>
                    <a:pt x="202" y="4"/>
                  </a:lnTo>
                  <a:lnTo>
                    <a:pt x="204" y="5"/>
                  </a:lnTo>
                  <a:lnTo>
                    <a:pt x="204" y="6"/>
                  </a:lnTo>
                  <a:lnTo>
                    <a:pt x="204" y="8"/>
                  </a:lnTo>
                  <a:lnTo>
                    <a:pt x="202" y="9"/>
                  </a:lnTo>
                  <a:lnTo>
                    <a:pt x="200" y="11"/>
                  </a:lnTo>
                  <a:lnTo>
                    <a:pt x="196" y="13"/>
                  </a:lnTo>
                  <a:lnTo>
                    <a:pt x="194" y="13"/>
                  </a:lnTo>
                  <a:lnTo>
                    <a:pt x="191" y="13"/>
                  </a:lnTo>
                  <a:lnTo>
                    <a:pt x="11" y="13"/>
                  </a:lnTo>
                  <a:lnTo>
                    <a:pt x="9" y="13"/>
                  </a:lnTo>
                  <a:lnTo>
                    <a:pt x="8" y="13"/>
                  </a:lnTo>
                  <a:lnTo>
                    <a:pt x="4" y="11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4" y="2"/>
                  </a:lnTo>
                  <a:lnTo>
                    <a:pt x="8" y="0"/>
                  </a:lnTo>
                  <a:lnTo>
                    <a:pt x="9" y="0"/>
                  </a:lnTo>
                  <a:lnTo>
                    <a:pt x="11" y="0"/>
                  </a:lnTo>
                  <a:close/>
                  <a:moveTo>
                    <a:pt x="319" y="0"/>
                  </a:moveTo>
                  <a:lnTo>
                    <a:pt x="498" y="0"/>
                  </a:lnTo>
                  <a:lnTo>
                    <a:pt x="500" y="0"/>
                  </a:lnTo>
                  <a:lnTo>
                    <a:pt x="502" y="0"/>
                  </a:lnTo>
                  <a:lnTo>
                    <a:pt x="507" y="2"/>
                  </a:lnTo>
                  <a:lnTo>
                    <a:pt x="509" y="4"/>
                  </a:lnTo>
                  <a:lnTo>
                    <a:pt x="509" y="5"/>
                  </a:lnTo>
                  <a:lnTo>
                    <a:pt x="511" y="6"/>
                  </a:lnTo>
                  <a:lnTo>
                    <a:pt x="509" y="8"/>
                  </a:lnTo>
                  <a:lnTo>
                    <a:pt x="509" y="9"/>
                  </a:lnTo>
                  <a:lnTo>
                    <a:pt x="507" y="11"/>
                  </a:lnTo>
                  <a:lnTo>
                    <a:pt x="502" y="13"/>
                  </a:lnTo>
                  <a:lnTo>
                    <a:pt x="500" y="13"/>
                  </a:lnTo>
                  <a:lnTo>
                    <a:pt x="498" y="13"/>
                  </a:lnTo>
                  <a:lnTo>
                    <a:pt x="319" y="13"/>
                  </a:lnTo>
                  <a:lnTo>
                    <a:pt x="317" y="13"/>
                  </a:lnTo>
                  <a:lnTo>
                    <a:pt x="313" y="13"/>
                  </a:lnTo>
                  <a:lnTo>
                    <a:pt x="309" y="11"/>
                  </a:lnTo>
                  <a:lnTo>
                    <a:pt x="307" y="9"/>
                  </a:lnTo>
                  <a:lnTo>
                    <a:pt x="306" y="8"/>
                  </a:lnTo>
                  <a:lnTo>
                    <a:pt x="306" y="6"/>
                  </a:lnTo>
                  <a:lnTo>
                    <a:pt x="306" y="5"/>
                  </a:lnTo>
                  <a:lnTo>
                    <a:pt x="307" y="4"/>
                  </a:lnTo>
                  <a:lnTo>
                    <a:pt x="309" y="2"/>
                  </a:lnTo>
                  <a:lnTo>
                    <a:pt x="313" y="0"/>
                  </a:lnTo>
                  <a:lnTo>
                    <a:pt x="317" y="0"/>
                  </a:lnTo>
                  <a:lnTo>
                    <a:pt x="319" y="0"/>
                  </a:lnTo>
                  <a:close/>
                  <a:moveTo>
                    <a:pt x="626" y="0"/>
                  </a:moveTo>
                  <a:lnTo>
                    <a:pt x="804" y="0"/>
                  </a:lnTo>
                  <a:lnTo>
                    <a:pt x="807" y="0"/>
                  </a:lnTo>
                  <a:lnTo>
                    <a:pt x="809" y="0"/>
                  </a:lnTo>
                  <a:lnTo>
                    <a:pt x="813" y="2"/>
                  </a:lnTo>
                  <a:lnTo>
                    <a:pt x="817" y="4"/>
                  </a:lnTo>
                  <a:lnTo>
                    <a:pt x="817" y="5"/>
                  </a:lnTo>
                  <a:lnTo>
                    <a:pt x="817" y="6"/>
                  </a:lnTo>
                  <a:lnTo>
                    <a:pt x="817" y="8"/>
                  </a:lnTo>
                  <a:lnTo>
                    <a:pt x="817" y="9"/>
                  </a:lnTo>
                  <a:lnTo>
                    <a:pt x="813" y="11"/>
                  </a:lnTo>
                  <a:lnTo>
                    <a:pt x="809" y="13"/>
                  </a:lnTo>
                  <a:lnTo>
                    <a:pt x="807" y="13"/>
                  </a:lnTo>
                  <a:lnTo>
                    <a:pt x="804" y="13"/>
                  </a:lnTo>
                  <a:lnTo>
                    <a:pt x="626" y="13"/>
                  </a:lnTo>
                  <a:lnTo>
                    <a:pt x="622" y="13"/>
                  </a:lnTo>
                  <a:lnTo>
                    <a:pt x="621" y="13"/>
                  </a:lnTo>
                  <a:lnTo>
                    <a:pt x="617" y="11"/>
                  </a:lnTo>
                  <a:lnTo>
                    <a:pt x="613" y="9"/>
                  </a:lnTo>
                  <a:lnTo>
                    <a:pt x="613" y="8"/>
                  </a:lnTo>
                  <a:lnTo>
                    <a:pt x="613" y="6"/>
                  </a:lnTo>
                  <a:lnTo>
                    <a:pt x="613" y="5"/>
                  </a:lnTo>
                  <a:lnTo>
                    <a:pt x="613" y="4"/>
                  </a:lnTo>
                  <a:lnTo>
                    <a:pt x="617" y="2"/>
                  </a:lnTo>
                  <a:lnTo>
                    <a:pt x="621" y="0"/>
                  </a:lnTo>
                  <a:lnTo>
                    <a:pt x="622" y="0"/>
                  </a:lnTo>
                  <a:lnTo>
                    <a:pt x="626" y="0"/>
                  </a:lnTo>
                  <a:close/>
                  <a:moveTo>
                    <a:pt x="932" y="0"/>
                  </a:moveTo>
                  <a:lnTo>
                    <a:pt x="1111" y="0"/>
                  </a:lnTo>
                  <a:lnTo>
                    <a:pt x="1113" y="0"/>
                  </a:lnTo>
                  <a:lnTo>
                    <a:pt x="1117" y="0"/>
                  </a:lnTo>
                  <a:lnTo>
                    <a:pt x="1120" y="2"/>
                  </a:lnTo>
                  <a:lnTo>
                    <a:pt x="1122" y="4"/>
                  </a:lnTo>
                  <a:lnTo>
                    <a:pt x="1124" y="5"/>
                  </a:lnTo>
                  <a:lnTo>
                    <a:pt x="1124" y="6"/>
                  </a:lnTo>
                  <a:lnTo>
                    <a:pt x="1124" y="8"/>
                  </a:lnTo>
                  <a:lnTo>
                    <a:pt x="1122" y="9"/>
                  </a:lnTo>
                  <a:lnTo>
                    <a:pt x="1120" y="11"/>
                  </a:lnTo>
                  <a:lnTo>
                    <a:pt x="1117" y="13"/>
                  </a:lnTo>
                  <a:lnTo>
                    <a:pt x="1113" y="13"/>
                  </a:lnTo>
                  <a:lnTo>
                    <a:pt x="1111" y="13"/>
                  </a:lnTo>
                  <a:lnTo>
                    <a:pt x="932" y="13"/>
                  </a:lnTo>
                  <a:lnTo>
                    <a:pt x="930" y="13"/>
                  </a:lnTo>
                  <a:lnTo>
                    <a:pt x="926" y="13"/>
                  </a:lnTo>
                  <a:lnTo>
                    <a:pt x="922" y="11"/>
                  </a:lnTo>
                  <a:lnTo>
                    <a:pt x="920" y="9"/>
                  </a:lnTo>
                  <a:lnTo>
                    <a:pt x="919" y="8"/>
                  </a:lnTo>
                  <a:lnTo>
                    <a:pt x="919" y="6"/>
                  </a:lnTo>
                  <a:lnTo>
                    <a:pt x="919" y="5"/>
                  </a:lnTo>
                  <a:lnTo>
                    <a:pt x="920" y="4"/>
                  </a:lnTo>
                  <a:lnTo>
                    <a:pt x="922" y="2"/>
                  </a:lnTo>
                  <a:lnTo>
                    <a:pt x="926" y="0"/>
                  </a:lnTo>
                  <a:lnTo>
                    <a:pt x="930" y="0"/>
                  </a:lnTo>
                  <a:lnTo>
                    <a:pt x="932" y="0"/>
                  </a:lnTo>
                  <a:close/>
                  <a:moveTo>
                    <a:pt x="1239" y="0"/>
                  </a:moveTo>
                  <a:lnTo>
                    <a:pt x="1417" y="0"/>
                  </a:lnTo>
                  <a:lnTo>
                    <a:pt x="1420" y="0"/>
                  </a:lnTo>
                  <a:lnTo>
                    <a:pt x="1422" y="0"/>
                  </a:lnTo>
                  <a:lnTo>
                    <a:pt x="1426" y="2"/>
                  </a:lnTo>
                  <a:lnTo>
                    <a:pt x="1430" y="4"/>
                  </a:lnTo>
                  <a:lnTo>
                    <a:pt x="1430" y="5"/>
                  </a:lnTo>
                  <a:lnTo>
                    <a:pt x="1430" y="6"/>
                  </a:lnTo>
                  <a:lnTo>
                    <a:pt x="1430" y="8"/>
                  </a:lnTo>
                  <a:lnTo>
                    <a:pt x="1430" y="9"/>
                  </a:lnTo>
                  <a:lnTo>
                    <a:pt x="1426" y="11"/>
                  </a:lnTo>
                  <a:lnTo>
                    <a:pt x="1422" y="13"/>
                  </a:lnTo>
                  <a:lnTo>
                    <a:pt x="1420" y="13"/>
                  </a:lnTo>
                  <a:lnTo>
                    <a:pt x="1417" y="13"/>
                  </a:lnTo>
                  <a:lnTo>
                    <a:pt x="1239" y="13"/>
                  </a:lnTo>
                  <a:lnTo>
                    <a:pt x="1235" y="13"/>
                  </a:lnTo>
                  <a:lnTo>
                    <a:pt x="1234" y="13"/>
                  </a:lnTo>
                  <a:lnTo>
                    <a:pt x="1230" y="11"/>
                  </a:lnTo>
                  <a:lnTo>
                    <a:pt x="1226" y="9"/>
                  </a:lnTo>
                  <a:lnTo>
                    <a:pt x="1226" y="8"/>
                  </a:lnTo>
                  <a:lnTo>
                    <a:pt x="1226" y="6"/>
                  </a:lnTo>
                  <a:lnTo>
                    <a:pt x="1226" y="5"/>
                  </a:lnTo>
                  <a:lnTo>
                    <a:pt x="1226" y="4"/>
                  </a:lnTo>
                  <a:lnTo>
                    <a:pt x="1230" y="2"/>
                  </a:lnTo>
                  <a:lnTo>
                    <a:pt x="1234" y="0"/>
                  </a:lnTo>
                  <a:lnTo>
                    <a:pt x="1235" y="0"/>
                  </a:lnTo>
                  <a:lnTo>
                    <a:pt x="1239" y="0"/>
                  </a:lnTo>
                  <a:close/>
                  <a:moveTo>
                    <a:pt x="1545" y="0"/>
                  </a:moveTo>
                  <a:lnTo>
                    <a:pt x="1724" y="0"/>
                  </a:lnTo>
                  <a:lnTo>
                    <a:pt x="1726" y="0"/>
                  </a:lnTo>
                  <a:lnTo>
                    <a:pt x="1730" y="0"/>
                  </a:lnTo>
                  <a:lnTo>
                    <a:pt x="1733" y="2"/>
                  </a:lnTo>
                  <a:lnTo>
                    <a:pt x="1735" y="4"/>
                  </a:lnTo>
                  <a:lnTo>
                    <a:pt x="1737" y="5"/>
                  </a:lnTo>
                  <a:lnTo>
                    <a:pt x="1737" y="6"/>
                  </a:lnTo>
                  <a:lnTo>
                    <a:pt x="1737" y="8"/>
                  </a:lnTo>
                  <a:lnTo>
                    <a:pt x="1735" y="9"/>
                  </a:lnTo>
                  <a:lnTo>
                    <a:pt x="1733" y="11"/>
                  </a:lnTo>
                  <a:lnTo>
                    <a:pt x="1730" y="13"/>
                  </a:lnTo>
                  <a:lnTo>
                    <a:pt x="1726" y="13"/>
                  </a:lnTo>
                  <a:lnTo>
                    <a:pt x="1724" y="13"/>
                  </a:lnTo>
                  <a:lnTo>
                    <a:pt x="1545" y="13"/>
                  </a:lnTo>
                  <a:lnTo>
                    <a:pt x="1543" y="13"/>
                  </a:lnTo>
                  <a:lnTo>
                    <a:pt x="1541" y="13"/>
                  </a:lnTo>
                  <a:lnTo>
                    <a:pt x="1535" y="11"/>
                  </a:lnTo>
                  <a:lnTo>
                    <a:pt x="1533" y="9"/>
                  </a:lnTo>
                  <a:lnTo>
                    <a:pt x="1533" y="8"/>
                  </a:lnTo>
                  <a:lnTo>
                    <a:pt x="1532" y="6"/>
                  </a:lnTo>
                  <a:lnTo>
                    <a:pt x="1533" y="5"/>
                  </a:lnTo>
                  <a:lnTo>
                    <a:pt x="1533" y="4"/>
                  </a:lnTo>
                  <a:lnTo>
                    <a:pt x="1535" y="2"/>
                  </a:lnTo>
                  <a:lnTo>
                    <a:pt x="1541" y="0"/>
                  </a:lnTo>
                  <a:lnTo>
                    <a:pt x="1543" y="0"/>
                  </a:lnTo>
                  <a:lnTo>
                    <a:pt x="1545" y="0"/>
                  </a:lnTo>
                  <a:close/>
                  <a:moveTo>
                    <a:pt x="1852" y="0"/>
                  </a:moveTo>
                  <a:lnTo>
                    <a:pt x="2031" y="0"/>
                  </a:lnTo>
                  <a:lnTo>
                    <a:pt x="2033" y="0"/>
                  </a:lnTo>
                  <a:lnTo>
                    <a:pt x="2035" y="0"/>
                  </a:lnTo>
                  <a:lnTo>
                    <a:pt x="2039" y="2"/>
                  </a:lnTo>
                  <a:lnTo>
                    <a:pt x="2043" y="4"/>
                  </a:lnTo>
                  <a:lnTo>
                    <a:pt x="2043" y="5"/>
                  </a:lnTo>
                  <a:lnTo>
                    <a:pt x="2043" y="6"/>
                  </a:lnTo>
                  <a:lnTo>
                    <a:pt x="2043" y="8"/>
                  </a:lnTo>
                  <a:lnTo>
                    <a:pt x="2043" y="9"/>
                  </a:lnTo>
                  <a:lnTo>
                    <a:pt x="2039" y="11"/>
                  </a:lnTo>
                  <a:lnTo>
                    <a:pt x="2035" y="13"/>
                  </a:lnTo>
                  <a:lnTo>
                    <a:pt x="2033" y="13"/>
                  </a:lnTo>
                  <a:lnTo>
                    <a:pt x="2031" y="13"/>
                  </a:lnTo>
                  <a:lnTo>
                    <a:pt x="1852" y="13"/>
                  </a:lnTo>
                  <a:lnTo>
                    <a:pt x="1848" y="13"/>
                  </a:lnTo>
                  <a:lnTo>
                    <a:pt x="1847" y="13"/>
                  </a:lnTo>
                  <a:lnTo>
                    <a:pt x="1843" y="11"/>
                  </a:lnTo>
                  <a:lnTo>
                    <a:pt x="1839" y="9"/>
                  </a:lnTo>
                  <a:lnTo>
                    <a:pt x="1839" y="8"/>
                  </a:lnTo>
                  <a:lnTo>
                    <a:pt x="1839" y="6"/>
                  </a:lnTo>
                  <a:lnTo>
                    <a:pt x="1839" y="5"/>
                  </a:lnTo>
                  <a:lnTo>
                    <a:pt x="1839" y="4"/>
                  </a:lnTo>
                  <a:lnTo>
                    <a:pt x="1843" y="2"/>
                  </a:lnTo>
                  <a:lnTo>
                    <a:pt x="1847" y="0"/>
                  </a:lnTo>
                  <a:lnTo>
                    <a:pt x="1848" y="0"/>
                  </a:lnTo>
                  <a:lnTo>
                    <a:pt x="1852" y="0"/>
                  </a:lnTo>
                  <a:close/>
                  <a:moveTo>
                    <a:pt x="2158" y="0"/>
                  </a:moveTo>
                  <a:lnTo>
                    <a:pt x="2337" y="0"/>
                  </a:lnTo>
                  <a:lnTo>
                    <a:pt x="2341" y="0"/>
                  </a:lnTo>
                  <a:lnTo>
                    <a:pt x="2343" y="0"/>
                  </a:lnTo>
                  <a:lnTo>
                    <a:pt x="2346" y="2"/>
                  </a:lnTo>
                  <a:lnTo>
                    <a:pt x="2348" y="4"/>
                  </a:lnTo>
                  <a:lnTo>
                    <a:pt x="2350" y="5"/>
                  </a:lnTo>
                  <a:lnTo>
                    <a:pt x="2350" y="6"/>
                  </a:lnTo>
                  <a:lnTo>
                    <a:pt x="2350" y="8"/>
                  </a:lnTo>
                  <a:lnTo>
                    <a:pt x="2348" y="9"/>
                  </a:lnTo>
                  <a:lnTo>
                    <a:pt x="2346" y="11"/>
                  </a:lnTo>
                  <a:lnTo>
                    <a:pt x="2343" y="13"/>
                  </a:lnTo>
                  <a:lnTo>
                    <a:pt x="2341" y="13"/>
                  </a:lnTo>
                  <a:lnTo>
                    <a:pt x="2337" y="13"/>
                  </a:lnTo>
                  <a:lnTo>
                    <a:pt x="2158" y="13"/>
                  </a:lnTo>
                  <a:lnTo>
                    <a:pt x="2156" y="13"/>
                  </a:lnTo>
                  <a:lnTo>
                    <a:pt x="2154" y="13"/>
                  </a:lnTo>
                  <a:lnTo>
                    <a:pt x="2148" y="11"/>
                  </a:lnTo>
                  <a:lnTo>
                    <a:pt x="2146" y="9"/>
                  </a:lnTo>
                  <a:lnTo>
                    <a:pt x="2146" y="8"/>
                  </a:lnTo>
                  <a:lnTo>
                    <a:pt x="2146" y="6"/>
                  </a:lnTo>
                  <a:lnTo>
                    <a:pt x="2146" y="5"/>
                  </a:lnTo>
                  <a:lnTo>
                    <a:pt x="2146" y="4"/>
                  </a:lnTo>
                  <a:lnTo>
                    <a:pt x="2148" y="2"/>
                  </a:lnTo>
                  <a:lnTo>
                    <a:pt x="2154" y="0"/>
                  </a:lnTo>
                  <a:lnTo>
                    <a:pt x="2156" y="0"/>
                  </a:lnTo>
                  <a:lnTo>
                    <a:pt x="2158" y="0"/>
                  </a:lnTo>
                  <a:close/>
                  <a:moveTo>
                    <a:pt x="2465" y="0"/>
                  </a:moveTo>
                  <a:lnTo>
                    <a:pt x="2644" y="0"/>
                  </a:lnTo>
                  <a:lnTo>
                    <a:pt x="2646" y="0"/>
                  </a:lnTo>
                  <a:lnTo>
                    <a:pt x="2648" y="0"/>
                  </a:lnTo>
                  <a:lnTo>
                    <a:pt x="2652" y="2"/>
                  </a:lnTo>
                  <a:lnTo>
                    <a:pt x="2656" y="4"/>
                  </a:lnTo>
                  <a:lnTo>
                    <a:pt x="2656" y="5"/>
                  </a:lnTo>
                  <a:lnTo>
                    <a:pt x="2656" y="6"/>
                  </a:lnTo>
                  <a:lnTo>
                    <a:pt x="2656" y="8"/>
                  </a:lnTo>
                  <a:lnTo>
                    <a:pt x="2656" y="9"/>
                  </a:lnTo>
                  <a:lnTo>
                    <a:pt x="2652" y="11"/>
                  </a:lnTo>
                  <a:lnTo>
                    <a:pt x="2648" y="13"/>
                  </a:lnTo>
                  <a:lnTo>
                    <a:pt x="2646" y="13"/>
                  </a:lnTo>
                  <a:lnTo>
                    <a:pt x="2644" y="13"/>
                  </a:lnTo>
                  <a:lnTo>
                    <a:pt x="2465" y="13"/>
                  </a:lnTo>
                  <a:lnTo>
                    <a:pt x="2463" y="13"/>
                  </a:lnTo>
                  <a:lnTo>
                    <a:pt x="2460" y="13"/>
                  </a:lnTo>
                  <a:lnTo>
                    <a:pt x="2456" y="11"/>
                  </a:lnTo>
                  <a:lnTo>
                    <a:pt x="2454" y="9"/>
                  </a:lnTo>
                  <a:lnTo>
                    <a:pt x="2452" y="8"/>
                  </a:lnTo>
                  <a:lnTo>
                    <a:pt x="2452" y="6"/>
                  </a:lnTo>
                  <a:lnTo>
                    <a:pt x="2452" y="5"/>
                  </a:lnTo>
                  <a:lnTo>
                    <a:pt x="2454" y="4"/>
                  </a:lnTo>
                  <a:lnTo>
                    <a:pt x="2456" y="2"/>
                  </a:lnTo>
                  <a:lnTo>
                    <a:pt x="2460" y="0"/>
                  </a:lnTo>
                  <a:lnTo>
                    <a:pt x="2463" y="0"/>
                  </a:lnTo>
                  <a:lnTo>
                    <a:pt x="2465" y="0"/>
                  </a:lnTo>
                  <a:close/>
                  <a:moveTo>
                    <a:pt x="2771" y="0"/>
                  </a:moveTo>
                  <a:lnTo>
                    <a:pt x="2950" y="0"/>
                  </a:lnTo>
                  <a:lnTo>
                    <a:pt x="2954" y="0"/>
                  </a:lnTo>
                  <a:lnTo>
                    <a:pt x="2956" y="0"/>
                  </a:lnTo>
                  <a:lnTo>
                    <a:pt x="2959" y="2"/>
                  </a:lnTo>
                  <a:lnTo>
                    <a:pt x="2961" y="4"/>
                  </a:lnTo>
                  <a:lnTo>
                    <a:pt x="2963" y="5"/>
                  </a:lnTo>
                  <a:lnTo>
                    <a:pt x="2963" y="6"/>
                  </a:lnTo>
                  <a:lnTo>
                    <a:pt x="2963" y="8"/>
                  </a:lnTo>
                  <a:lnTo>
                    <a:pt x="2961" y="9"/>
                  </a:lnTo>
                  <a:lnTo>
                    <a:pt x="2959" y="11"/>
                  </a:lnTo>
                  <a:lnTo>
                    <a:pt x="2956" y="13"/>
                  </a:lnTo>
                  <a:lnTo>
                    <a:pt x="2954" y="13"/>
                  </a:lnTo>
                  <a:lnTo>
                    <a:pt x="2950" y="13"/>
                  </a:lnTo>
                  <a:lnTo>
                    <a:pt x="2771" y="13"/>
                  </a:lnTo>
                  <a:lnTo>
                    <a:pt x="2769" y="13"/>
                  </a:lnTo>
                  <a:lnTo>
                    <a:pt x="2767" y="13"/>
                  </a:lnTo>
                  <a:lnTo>
                    <a:pt x="2763" y="11"/>
                  </a:lnTo>
                  <a:lnTo>
                    <a:pt x="2759" y="9"/>
                  </a:lnTo>
                  <a:lnTo>
                    <a:pt x="2759" y="8"/>
                  </a:lnTo>
                  <a:lnTo>
                    <a:pt x="2759" y="6"/>
                  </a:lnTo>
                  <a:lnTo>
                    <a:pt x="2759" y="5"/>
                  </a:lnTo>
                  <a:lnTo>
                    <a:pt x="2759" y="4"/>
                  </a:lnTo>
                  <a:lnTo>
                    <a:pt x="2763" y="2"/>
                  </a:lnTo>
                  <a:lnTo>
                    <a:pt x="2767" y="0"/>
                  </a:lnTo>
                  <a:lnTo>
                    <a:pt x="2769" y="0"/>
                  </a:lnTo>
                  <a:lnTo>
                    <a:pt x="2771" y="0"/>
                  </a:lnTo>
                  <a:close/>
                  <a:moveTo>
                    <a:pt x="3078" y="0"/>
                  </a:moveTo>
                  <a:lnTo>
                    <a:pt x="3257" y="0"/>
                  </a:lnTo>
                  <a:lnTo>
                    <a:pt x="3259" y="0"/>
                  </a:lnTo>
                  <a:lnTo>
                    <a:pt x="3261" y="0"/>
                  </a:lnTo>
                  <a:lnTo>
                    <a:pt x="3267" y="2"/>
                  </a:lnTo>
                  <a:lnTo>
                    <a:pt x="3269" y="4"/>
                  </a:lnTo>
                  <a:lnTo>
                    <a:pt x="3269" y="5"/>
                  </a:lnTo>
                  <a:lnTo>
                    <a:pt x="3271" y="6"/>
                  </a:lnTo>
                  <a:lnTo>
                    <a:pt x="3269" y="8"/>
                  </a:lnTo>
                  <a:lnTo>
                    <a:pt x="3269" y="9"/>
                  </a:lnTo>
                  <a:lnTo>
                    <a:pt x="3267" y="11"/>
                  </a:lnTo>
                  <a:lnTo>
                    <a:pt x="3261" y="13"/>
                  </a:lnTo>
                  <a:lnTo>
                    <a:pt x="3259" y="13"/>
                  </a:lnTo>
                  <a:lnTo>
                    <a:pt x="3257" y="13"/>
                  </a:lnTo>
                  <a:lnTo>
                    <a:pt x="3078" y="13"/>
                  </a:lnTo>
                  <a:lnTo>
                    <a:pt x="3076" y="13"/>
                  </a:lnTo>
                  <a:lnTo>
                    <a:pt x="3073" y="13"/>
                  </a:lnTo>
                  <a:lnTo>
                    <a:pt x="3069" y="11"/>
                  </a:lnTo>
                  <a:lnTo>
                    <a:pt x="3067" y="9"/>
                  </a:lnTo>
                  <a:lnTo>
                    <a:pt x="3065" y="8"/>
                  </a:lnTo>
                  <a:lnTo>
                    <a:pt x="3065" y="6"/>
                  </a:lnTo>
                  <a:lnTo>
                    <a:pt x="3065" y="5"/>
                  </a:lnTo>
                  <a:lnTo>
                    <a:pt x="3067" y="4"/>
                  </a:lnTo>
                  <a:lnTo>
                    <a:pt x="3069" y="2"/>
                  </a:lnTo>
                  <a:lnTo>
                    <a:pt x="3073" y="0"/>
                  </a:lnTo>
                  <a:lnTo>
                    <a:pt x="3076" y="0"/>
                  </a:lnTo>
                  <a:lnTo>
                    <a:pt x="3078" y="0"/>
                  </a:lnTo>
                  <a:close/>
                  <a:moveTo>
                    <a:pt x="3386" y="0"/>
                  </a:moveTo>
                  <a:lnTo>
                    <a:pt x="3563" y="0"/>
                  </a:lnTo>
                  <a:lnTo>
                    <a:pt x="3567" y="0"/>
                  </a:lnTo>
                  <a:lnTo>
                    <a:pt x="3569" y="0"/>
                  </a:lnTo>
                  <a:lnTo>
                    <a:pt x="3572" y="2"/>
                  </a:lnTo>
                  <a:lnTo>
                    <a:pt x="3576" y="4"/>
                  </a:lnTo>
                  <a:lnTo>
                    <a:pt x="3576" y="5"/>
                  </a:lnTo>
                  <a:lnTo>
                    <a:pt x="3576" y="6"/>
                  </a:lnTo>
                  <a:lnTo>
                    <a:pt x="3576" y="8"/>
                  </a:lnTo>
                  <a:lnTo>
                    <a:pt x="3576" y="9"/>
                  </a:lnTo>
                  <a:lnTo>
                    <a:pt x="3572" y="11"/>
                  </a:lnTo>
                  <a:lnTo>
                    <a:pt x="3569" y="13"/>
                  </a:lnTo>
                  <a:lnTo>
                    <a:pt x="3567" y="13"/>
                  </a:lnTo>
                  <a:lnTo>
                    <a:pt x="3563" y="13"/>
                  </a:lnTo>
                  <a:lnTo>
                    <a:pt x="3386" y="13"/>
                  </a:lnTo>
                  <a:lnTo>
                    <a:pt x="3382" y="13"/>
                  </a:lnTo>
                  <a:lnTo>
                    <a:pt x="3380" y="13"/>
                  </a:lnTo>
                  <a:lnTo>
                    <a:pt x="3376" y="11"/>
                  </a:lnTo>
                  <a:lnTo>
                    <a:pt x="3373" y="9"/>
                  </a:lnTo>
                  <a:lnTo>
                    <a:pt x="3373" y="8"/>
                  </a:lnTo>
                  <a:lnTo>
                    <a:pt x="3373" y="6"/>
                  </a:lnTo>
                  <a:lnTo>
                    <a:pt x="3373" y="5"/>
                  </a:lnTo>
                  <a:lnTo>
                    <a:pt x="3373" y="4"/>
                  </a:lnTo>
                  <a:lnTo>
                    <a:pt x="3376" y="2"/>
                  </a:lnTo>
                  <a:lnTo>
                    <a:pt x="3380" y="0"/>
                  </a:lnTo>
                  <a:lnTo>
                    <a:pt x="3382" y="0"/>
                  </a:lnTo>
                  <a:lnTo>
                    <a:pt x="3386" y="0"/>
                  </a:lnTo>
                  <a:close/>
                  <a:moveTo>
                    <a:pt x="3691" y="0"/>
                  </a:moveTo>
                  <a:lnTo>
                    <a:pt x="3870" y="0"/>
                  </a:lnTo>
                  <a:lnTo>
                    <a:pt x="3872" y="0"/>
                  </a:lnTo>
                  <a:lnTo>
                    <a:pt x="3876" y="0"/>
                  </a:lnTo>
                  <a:lnTo>
                    <a:pt x="3880" y="2"/>
                  </a:lnTo>
                  <a:lnTo>
                    <a:pt x="3882" y="4"/>
                  </a:lnTo>
                  <a:lnTo>
                    <a:pt x="3884" y="5"/>
                  </a:lnTo>
                  <a:lnTo>
                    <a:pt x="3884" y="6"/>
                  </a:lnTo>
                  <a:lnTo>
                    <a:pt x="3884" y="8"/>
                  </a:lnTo>
                  <a:lnTo>
                    <a:pt x="3882" y="9"/>
                  </a:lnTo>
                  <a:lnTo>
                    <a:pt x="3880" y="11"/>
                  </a:lnTo>
                  <a:lnTo>
                    <a:pt x="3876" y="13"/>
                  </a:lnTo>
                  <a:lnTo>
                    <a:pt x="3872" y="13"/>
                  </a:lnTo>
                  <a:lnTo>
                    <a:pt x="3870" y="13"/>
                  </a:lnTo>
                  <a:lnTo>
                    <a:pt x="3691" y="13"/>
                  </a:lnTo>
                  <a:lnTo>
                    <a:pt x="3689" y="13"/>
                  </a:lnTo>
                  <a:lnTo>
                    <a:pt x="3686" y="13"/>
                  </a:lnTo>
                  <a:lnTo>
                    <a:pt x="3682" y="11"/>
                  </a:lnTo>
                  <a:lnTo>
                    <a:pt x="3680" y="9"/>
                  </a:lnTo>
                  <a:lnTo>
                    <a:pt x="3678" y="8"/>
                  </a:lnTo>
                  <a:lnTo>
                    <a:pt x="3678" y="6"/>
                  </a:lnTo>
                  <a:lnTo>
                    <a:pt x="3678" y="5"/>
                  </a:lnTo>
                  <a:lnTo>
                    <a:pt x="3680" y="4"/>
                  </a:lnTo>
                  <a:lnTo>
                    <a:pt x="3682" y="2"/>
                  </a:lnTo>
                  <a:lnTo>
                    <a:pt x="3686" y="0"/>
                  </a:lnTo>
                  <a:lnTo>
                    <a:pt x="3689" y="0"/>
                  </a:lnTo>
                  <a:lnTo>
                    <a:pt x="3691" y="0"/>
                  </a:lnTo>
                  <a:close/>
                  <a:moveTo>
                    <a:pt x="3999" y="0"/>
                  </a:moveTo>
                  <a:lnTo>
                    <a:pt x="4065" y="0"/>
                  </a:lnTo>
                  <a:lnTo>
                    <a:pt x="4067" y="0"/>
                  </a:lnTo>
                  <a:lnTo>
                    <a:pt x="4068" y="0"/>
                  </a:lnTo>
                  <a:lnTo>
                    <a:pt x="4074" y="2"/>
                  </a:lnTo>
                  <a:lnTo>
                    <a:pt x="4076" y="4"/>
                  </a:lnTo>
                  <a:lnTo>
                    <a:pt x="4078" y="5"/>
                  </a:lnTo>
                  <a:lnTo>
                    <a:pt x="4078" y="6"/>
                  </a:lnTo>
                  <a:lnTo>
                    <a:pt x="4078" y="8"/>
                  </a:lnTo>
                  <a:lnTo>
                    <a:pt x="4076" y="9"/>
                  </a:lnTo>
                  <a:lnTo>
                    <a:pt x="4074" y="11"/>
                  </a:lnTo>
                  <a:lnTo>
                    <a:pt x="4068" y="13"/>
                  </a:lnTo>
                  <a:lnTo>
                    <a:pt x="4067" y="13"/>
                  </a:lnTo>
                  <a:lnTo>
                    <a:pt x="4065" y="13"/>
                  </a:lnTo>
                  <a:lnTo>
                    <a:pt x="3999" y="13"/>
                  </a:lnTo>
                  <a:lnTo>
                    <a:pt x="3995" y="13"/>
                  </a:lnTo>
                  <a:lnTo>
                    <a:pt x="3993" y="13"/>
                  </a:lnTo>
                  <a:lnTo>
                    <a:pt x="3989" y="11"/>
                  </a:lnTo>
                  <a:lnTo>
                    <a:pt x="3986" y="9"/>
                  </a:lnTo>
                  <a:lnTo>
                    <a:pt x="3986" y="8"/>
                  </a:lnTo>
                  <a:lnTo>
                    <a:pt x="3986" y="6"/>
                  </a:lnTo>
                  <a:lnTo>
                    <a:pt x="3986" y="5"/>
                  </a:lnTo>
                  <a:lnTo>
                    <a:pt x="3986" y="4"/>
                  </a:lnTo>
                  <a:lnTo>
                    <a:pt x="3989" y="2"/>
                  </a:lnTo>
                  <a:lnTo>
                    <a:pt x="3993" y="0"/>
                  </a:lnTo>
                  <a:lnTo>
                    <a:pt x="3995" y="0"/>
                  </a:lnTo>
                  <a:lnTo>
                    <a:pt x="3999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50" name="Rectangle 58"/>
            <p:cNvSpPr>
              <a:spLocks noChangeArrowheads="1"/>
            </p:cNvSpPr>
            <p:nvPr/>
          </p:nvSpPr>
          <p:spPr bwMode="auto">
            <a:xfrm>
              <a:off x="4005" y="2884"/>
              <a:ext cx="59" cy="11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/>
            </a:p>
          </p:txBody>
        </p:sp>
        <p:sp>
          <p:nvSpPr>
            <p:cNvPr id="76851" name="Rectangle 59"/>
            <p:cNvSpPr>
              <a:spLocks noChangeArrowheads="1"/>
            </p:cNvSpPr>
            <p:nvPr/>
          </p:nvSpPr>
          <p:spPr bwMode="auto">
            <a:xfrm>
              <a:off x="3793" y="3128"/>
              <a:ext cx="194" cy="17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/2</a:t>
              </a:r>
              <a:endParaRPr lang="en-US" altLang="zh-CN" sz="2000"/>
            </a:p>
          </p:txBody>
        </p:sp>
        <p:sp>
          <p:nvSpPr>
            <p:cNvPr id="76852" name="Rectangle 60"/>
            <p:cNvSpPr>
              <a:spLocks noChangeArrowheads="1"/>
            </p:cNvSpPr>
            <p:nvPr/>
          </p:nvSpPr>
          <p:spPr bwMode="auto">
            <a:xfrm>
              <a:off x="3521" y="3264"/>
              <a:ext cx="83" cy="17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</a:p>
          </p:txBody>
        </p:sp>
        <p:sp>
          <p:nvSpPr>
            <p:cNvPr id="76853" name="Freeform 61"/>
            <p:cNvSpPr>
              <a:spLocks noEditPoints="1"/>
            </p:cNvSpPr>
            <p:nvPr/>
          </p:nvSpPr>
          <p:spPr bwMode="auto">
            <a:xfrm>
              <a:off x="3474" y="3591"/>
              <a:ext cx="1980" cy="8"/>
            </a:xfrm>
            <a:custGeom>
              <a:avLst/>
              <a:gdLst>
                <a:gd name="T0" fmla="*/ 1 w 3961"/>
                <a:gd name="T1" fmla="*/ 5 h 8"/>
                <a:gd name="T2" fmla="*/ 0 w 3961"/>
                <a:gd name="T3" fmla="*/ 5 h 8"/>
                <a:gd name="T4" fmla="*/ 3 w 3961"/>
                <a:gd name="T5" fmla="*/ 0 h 8"/>
                <a:gd name="T6" fmla="*/ 4 w 3961"/>
                <a:gd name="T7" fmla="*/ 6 h 8"/>
                <a:gd name="T8" fmla="*/ 2 w 3961"/>
                <a:gd name="T9" fmla="*/ 4 h 8"/>
                <a:gd name="T10" fmla="*/ 7 w 3961"/>
                <a:gd name="T11" fmla="*/ 0 h 8"/>
                <a:gd name="T12" fmla="*/ 7 w 3961"/>
                <a:gd name="T13" fmla="*/ 7 h 8"/>
                <a:gd name="T14" fmla="*/ 5 w 3961"/>
                <a:gd name="T15" fmla="*/ 2 h 8"/>
                <a:gd name="T16" fmla="*/ 10 w 3961"/>
                <a:gd name="T17" fmla="*/ 0 h 8"/>
                <a:gd name="T18" fmla="*/ 10 w 3961"/>
                <a:gd name="T19" fmla="*/ 8 h 8"/>
                <a:gd name="T20" fmla="*/ 8 w 3961"/>
                <a:gd name="T21" fmla="*/ 1 h 8"/>
                <a:gd name="T22" fmla="*/ 13 w 3961"/>
                <a:gd name="T23" fmla="*/ 1 h 8"/>
                <a:gd name="T24" fmla="*/ 11 w 3961"/>
                <a:gd name="T25" fmla="*/ 8 h 8"/>
                <a:gd name="T26" fmla="*/ 11 w 3961"/>
                <a:gd name="T27" fmla="*/ 0 h 8"/>
                <a:gd name="T28" fmla="*/ 16 w 3961"/>
                <a:gd name="T29" fmla="*/ 2 h 8"/>
                <a:gd name="T30" fmla="*/ 14 w 3961"/>
                <a:gd name="T31" fmla="*/ 7 h 8"/>
                <a:gd name="T32" fmla="*/ 14 w 3961"/>
                <a:gd name="T33" fmla="*/ 0 h 8"/>
                <a:gd name="T34" fmla="*/ 19 w 3961"/>
                <a:gd name="T35" fmla="*/ 4 h 8"/>
                <a:gd name="T36" fmla="*/ 17 w 3961"/>
                <a:gd name="T37" fmla="*/ 6 h 8"/>
                <a:gd name="T38" fmla="*/ 17 w 3961"/>
                <a:gd name="T39" fmla="*/ 0 h 8"/>
                <a:gd name="T40" fmla="*/ 22 w 3961"/>
                <a:gd name="T41" fmla="*/ 5 h 8"/>
                <a:gd name="T42" fmla="*/ 20 w 3961"/>
                <a:gd name="T43" fmla="*/ 5 h 8"/>
                <a:gd name="T44" fmla="*/ 23 w 3961"/>
                <a:gd name="T45" fmla="*/ 0 h 8"/>
                <a:gd name="T46" fmla="*/ 24 w 3961"/>
                <a:gd name="T47" fmla="*/ 6 h 8"/>
                <a:gd name="T48" fmla="*/ 23 w 3961"/>
                <a:gd name="T49" fmla="*/ 4 h 8"/>
                <a:gd name="T50" fmla="*/ 27 w 3961"/>
                <a:gd name="T51" fmla="*/ 0 h 8"/>
                <a:gd name="T52" fmla="*/ 27 w 3961"/>
                <a:gd name="T53" fmla="*/ 7 h 8"/>
                <a:gd name="T54" fmla="*/ 25 w 3961"/>
                <a:gd name="T55" fmla="*/ 2 h 8"/>
                <a:gd name="T56" fmla="*/ 30 w 3961"/>
                <a:gd name="T57" fmla="*/ 0 h 8"/>
                <a:gd name="T58" fmla="*/ 30 w 3961"/>
                <a:gd name="T59" fmla="*/ 8 h 8"/>
                <a:gd name="T60" fmla="*/ 28 w 3961"/>
                <a:gd name="T61" fmla="*/ 1 h 8"/>
                <a:gd name="T62" fmla="*/ 33 w 3961"/>
                <a:gd name="T63" fmla="*/ 1 h 8"/>
                <a:gd name="T64" fmla="*/ 31 w 3961"/>
                <a:gd name="T65" fmla="*/ 8 h 8"/>
                <a:gd name="T66" fmla="*/ 31 w 3961"/>
                <a:gd name="T67" fmla="*/ 0 h 8"/>
                <a:gd name="T68" fmla="*/ 36 w 3961"/>
                <a:gd name="T69" fmla="*/ 2 h 8"/>
                <a:gd name="T70" fmla="*/ 34 w 3961"/>
                <a:gd name="T71" fmla="*/ 7 h 8"/>
                <a:gd name="T72" fmla="*/ 34 w 3961"/>
                <a:gd name="T73" fmla="*/ 0 h 8"/>
                <a:gd name="T74" fmla="*/ 39 w 3961"/>
                <a:gd name="T75" fmla="*/ 4 h 8"/>
                <a:gd name="T76" fmla="*/ 37 w 3961"/>
                <a:gd name="T77" fmla="*/ 6 h 8"/>
                <a:gd name="T78" fmla="*/ 37 w 3961"/>
                <a:gd name="T79" fmla="*/ 0 h 8"/>
                <a:gd name="T80" fmla="*/ 42 w 3961"/>
                <a:gd name="T81" fmla="*/ 5 h 8"/>
                <a:gd name="T82" fmla="*/ 40 w 3961"/>
                <a:gd name="T83" fmla="*/ 5 h 8"/>
                <a:gd name="T84" fmla="*/ 43 w 3961"/>
                <a:gd name="T85" fmla="*/ 0 h 8"/>
                <a:gd name="T86" fmla="*/ 45 w 3961"/>
                <a:gd name="T87" fmla="*/ 6 h 8"/>
                <a:gd name="T88" fmla="*/ 43 w 3961"/>
                <a:gd name="T89" fmla="*/ 4 h 8"/>
                <a:gd name="T90" fmla="*/ 47 w 3961"/>
                <a:gd name="T91" fmla="*/ 0 h 8"/>
                <a:gd name="T92" fmla="*/ 47 w 3961"/>
                <a:gd name="T93" fmla="*/ 7 h 8"/>
                <a:gd name="T94" fmla="*/ 46 w 3961"/>
                <a:gd name="T95" fmla="*/ 2 h 8"/>
                <a:gd name="T96" fmla="*/ 50 w 3961"/>
                <a:gd name="T97" fmla="*/ 0 h 8"/>
                <a:gd name="T98" fmla="*/ 50 w 3961"/>
                <a:gd name="T99" fmla="*/ 8 h 8"/>
                <a:gd name="T100" fmla="*/ 48 w 3961"/>
                <a:gd name="T101" fmla="*/ 1 h 8"/>
                <a:gd name="T102" fmla="*/ 53 w 3961"/>
                <a:gd name="T103" fmla="*/ 1 h 8"/>
                <a:gd name="T104" fmla="*/ 51 w 3961"/>
                <a:gd name="T105" fmla="*/ 8 h 8"/>
                <a:gd name="T106" fmla="*/ 51 w 3961"/>
                <a:gd name="T107" fmla="*/ 0 h 8"/>
                <a:gd name="T108" fmla="*/ 56 w 3961"/>
                <a:gd name="T109" fmla="*/ 2 h 8"/>
                <a:gd name="T110" fmla="*/ 54 w 3961"/>
                <a:gd name="T111" fmla="*/ 7 h 8"/>
                <a:gd name="T112" fmla="*/ 54 w 3961"/>
                <a:gd name="T113" fmla="*/ 0 h 8"/>
                <a:gd name="T114" fmla="*/ 59 w 3961"/>
                <a:gd name="T115" fmla="*/ 4 h 8"/>
                <a:gd name="T116" fmla="*/ 57 w 3961"/>
                <a:gd name="T117" fmla="*/ 6 h 8"/>
                <a:gd name="T118" fmla="*/ 57 w 3961"/>
                <a:gd name="T119" fmla="*/ 0 h 8"/>
                <a:gd name="T120" fmla="*/ 61 w 3961"/>
                <a:gd name="T121" fmla="*/ 5 h 8"/>
                <a:gd name="T122" fmla="*/ 60 w 3961"/>
                <a:gd name="T123" fmla="*/ 5 h 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961"/>
                <a:gd name="T187" fmla="*/ 0 h 8"/>
                <a:gd name="T188" fmla="*/ 3961 w 3961"/>
                <a:gd name="T189" fmla="*/ 8 h 8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961" h="8">
                  <a:moveTo>
                    <a:pt x="7" y="0"/>
                  </a:moveTo>
                  <a:lnTo>
                    <a:pt x="115" y="0"/>
                  </a:lnTo>
                  <a:lnTo>
                    <a:pt x="119" y="0"/>
                  </a:lnTo>
                  <a:lnTo>
                    <a:pt x="121" y="1"/>
                  </a:lnTo>
                  <a:lnTo>
                    <a:pt x="122" y="2"/>
                  </a:lnTo>
                  <a:lnTo>
                    <a:pt x="122" y="4"/>
                  </a:lnTo>
                  <a:lnTo>
                    <a:pt x="122" y="5"/>
                  </a:lnTo>
                  <a:lnTo>
                    <a:pt x="121" y="6"/>
                  </a:lnTo>
                  <a:lnTo>
                    <a:pt x="119" y="7"/>
                  </a:lnTo>
                  <a:lnTo>
                    <a:pt x="115" y="8"/>
                  </a:lnTo>
                  <a:lnTo>
                    <a:pt x="7" y="8"/>
                  </a:lnTo>
                  <a:lnTo>
                    <a:pt x="5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1"/>
                  </a:lnTo>
                  <a:lnTo>
                    <a:pt x="5" y="0"/>
                  </a:lnTo>
                  <a:lnTo>
                    <a:pt x="7" y="0"/>
                  </a:lnTo>
                  <a:close/>
                  <a:moveTo>
                    <a:pt x="192" y="0"/>
                  </a:moveTo>
                  <a:lnTo>
                    <a:pt x="300" y="0"/>
                  </a:lnTo>
                  <a:lnTo>
                    <a:pt x="302" y="0"/>
                  </a:lnTo>
                  <a:lnTo>
                    <a:pt x="305" y="1"/>
                  </a:lnTo>
                  <a:lnTo>
                    <a:pt x="307" y="2"/>
                  </a:lnTo>
                  <a:lnTo>
                    <a:pt x="307" y="4"/>
                  </a:lnTo>
                  <a:lnTo>
                    <a:pt x="307" y="5"/>
                  </a:lnTo>
                  <a:lnTo>
                    <a:pt x="305" y="6"/>
                  </a:lnTo>
                  <a:lnTo>
                    <a:pt x="302" y="7"/>
                  </a:lnTo>
                  <a:lnTo>
                    <a:pt x="300" y="8"/>
                  </a:lnTo>
                  <a:lnTo>
                    <a:pt x="192" y="8"/>
                  </a:lnTo>
                  <a:lnTo>
                    <a:pt x="188" y="7"/>
                  </a:lnTo>
                  <a:lnTo>
                    <a:pt x="187" y="6"/>
                  </a:lnTo>
                  <a:lnTo>
                    <a:pt x="185" y="5"/>
                  </a:lnTo>
                  <a:lnTo>
                    <a:pt x="185" y="4"/>
                  </a:lnTo>
                  <a:lnTo>
                    <a:pt x="185" y="2"/>
                  </a:lnTo>
                  <a:lnTo>
                    <a:pt x="187" y="1"/>
                  </a:lnTo>
                  <a:lnTo>
                    <a:pt x="188" y="0"/>
                  </a:lnTo>
                  <a:lnTo>
                    <a:pt x="192" y="0"/>
                  </a:lnTo>
                  <a:close/>
                  <a:moveTo>
                    <a:pt x="375" y="0"/>
                  </a:moveTo>
                  <a:lnTo>
                    <a:pt x="483" y="0"/>
                  </a:lnTo>
                  <a:lnTo>
                    <a:pt x="486" y="0"/>
                  </a:lnTo>
                  <a:lnTo>
                    <a:pt x="488" y="1"/>
                  </a:lnTo>
                  <a:lnTo>
                    <a:pt x="490" y="2"/>
                  </a:lnTo>
                  <a:lnTo>
                    <a:pt x="490" y="4"/>
                  </a:lnTo>
                  <a:lnTo>
                    <a:pt x="490" y="5"/>
                  </a:lnTo>
                  <a:lnTo>
                    <a:pt x="488" y="6"/>
                  </a:lnTo>
                  <a:lnTo>
                    <a:pt x="486" y="7"/>
                  </a:lnTo>
                  <a:lnTo>
                    <a:pt x="483" y="8"/>
                  </a:lnTo>
                  <a:lnTo>
                    <a:pt x="375" y="8"/>
                  </a:lnTo>
                  <a:lnTo>
                    <a:pt x="373" y="7"/>
                  </a:lnTo>
                  <a:lnTo>
                    <a:pt x="371" y="6"/>
                  </a:lnTo>
                  <a:lnTo>
                    <a:pt x="370" y="5"/>
                  </a:lnTo>
                  <a:lnTo>
                    <a:pt x="368" y="4"/>
                  </a:lnTo>
                  <a:lnTo>
                    <a:pt x="370" y="2"/>
                  </a:lnTo>
                  <a:lnTo>
                    <a:pt x="371" y="1"/>
                  </a:lnTo>
                  <a:lnTo>
                    <a:pt x="373" y="0"/>
                  </a:lnTo>
                  <a:lnTo>
                    <a:pt x="375" y="0"/>
                  </a:lnTo>
                  <a:close/>
                  <a:moveTo>
                    <a:pt x="560" y="0"/>
                  </a:moveTo>
                  <a:lnTo>
                    <a:pt x="668" y="0"/>
                  </a:lnTo>
                  <a:lnTo>
                    <a:pt x="669" y="0"/>
                  </a:lnTo>
                  <a:lnTo>
                    <a:pt x="673" y="1"/>
                  </a:lnTo>
                  <a:lnTo>
                    <a:pt x="675" y="2"/>
                  </a:lnTo>
                  <a:lnTo>
                    <a:pt x="675" y="4"/>
                  </a:lnTo>
                  <a:lnTo>
                    <a:pt x="675" y="5"/>
                  </a:lnTo>
                  <a:lnTo>
                    <a:pt x="673" y="6"/>
                  </a:lnTo>
                  <a:lnTo>
                    <a:pt x="669" y="7"/>
                  </a:lnTo>
                  <a:lnTo>
                    <a:pt x="668" y="8"/>
                  </a:lnTo>
                  <a:lnTo>
                    <a:pt x="560" y="8"/>
                  </a:lnTo>
                  <a:lnTo>
                    <a:pt x="556" y="7"/>
                  </a:lnTo>
                  <a:lnTo>
                    <a:pt x="554" y="6"/>
                  </a:lnTo>
                  <a:lnTo>
                    <a:pt x="552" y="5"/>
                  </a:lnTo>
                  <a:lnTo>
                    <a:pt x="552" y="4"/>
                  </a:lnTo>
                  <a:lnTo>
                    <a:pt x="552" y="2"/>
                  </a:lnTo>
                  <a:lnTo>
                    <a:pt x="554" y="1"/>
                  </a:lnTo>
                  <a:lnTo>
                    <a:pt x="556" y="0"/>
                  </a:lnTo>
                  <a:lnTo>
                    <a:pt x="560" y="0"/>
                  </a:lnTo>
                  <a:close/>
                  <a:moveTo>
                    <a:pt x="745" y="0"/>
                  </a:moveTo>
                  <a:lnTo>
                    <a:pt x="850" y="0"/>
                  </a:lnTo>
                  <a:lnTo>
                    <a:pt x="854" y="0"/>
                  </a:lnTo>
                  <a:lnTo>
                    <a:pt x="856" y="1"/>
                  </a:lnTo>
                  <a:lnTo>
                    <a:pt x="858" y="2"/>
                  </a:lnTo>
                  <a:lnTo>
                    <a:pt x="860" y="4"/>
                  </a:lnTo>
                  <a:lnTo>
                    <a:pt x="858" y="5"/>
                  </a:lnTo>
                  <a:lnTo>
                    <a:pt x="856" y="6"/>
                  </a:lnTo>
                  <a:lnTo>
                    <a:pt x="854" y="7"/>
                  </a:lnTo>
                  <a:lnTo>
                    <a:pt x="850" y="8"/>
                  </a:lnTo>
                  <a:lnTo>
                    <a:pt x="745" y="8"/>
                  </a:lnTo>
                  <a:lnTo>
                    <a:pt x="741" y="7"/>
                  </a:lnTo>
                  <a:lnTo>
                    <a:pt x="739" y="6"/>
                  </a:lnTo>
                  <a:lnTo>
                    <a:pt x="737" y="5"/>
                  </a:lnTo>
                  <a:lnTo>
                    <a:pt x="735" y="4"/>
                  </a:lnTo>
                  <a:lnTo>
                    <a:pt x="737" y="2"/>
                  </a:lnTo>
                  <a:lnTo>
                    <a:pt x="739" y="1"/>
                  </a:lnTo>
                  <a:lnTo>
                    <a:pt x="741" y="0"/>
                  </a:lnTo>
                  <a:lnTo>
                    <a:pt x="745" y="0"/>
                  </a:lnTo>
                  <a:close/>
                  <a:moveTo>
                    <a:pt x="928" y="0"/>
                  </a:moveTo>
                  <a:lnTo>
                    <a:pt x="1035" y="0"/>
                  </a:lnTo>
                  <a:lnTo>
                    <a:pt x="1037" y="0"/>
                  </a:lnTo>
                  <a:lnTo>
                    <a:pt x="1041" y="1"/>
                  </a:lnTo>
                  <a:lnTo>
                    <a:pt x="1043" y="2"/>
                  </a:lnTo>
                  <a:lnTo>
                    <a:pt x="1043" y="4"/>
                  </a:lnTo>
                  <a:lnTo>
                    <a:pt x="1043" y="5"/>
                  </a:lnTo>
                  <a:lnTo>
                    <a:pt x="1041" y="6"/>
                  </a:lnTo>
                  <a:lnTo>
                    <a:pt x="1037" y="7"/>
                  </a:lnTo>
                  <a:lnTo>
                    <a:pt x="1035" y="8"/>
                  </a:lnTo>
                  <a:lnTo>
                    <a:pt x="928" y="8"/>
                  </a:lnTo>
                  <a:lnTo>
                    <a:pt x="924" y="7"/>
                  </a:lnTo>
                  <a:lnTo>
                    <a:pt x="922" y="6"/>
                  </a:lnTo>
                  <a:lnTo>
                    <a:pt x="920" y="5"/>
                  </a:lnTo>
                  <a:lnTo>
                    <a:pt x="920" y="4"/>
                  </a:lnTo>
                  <a:lnTo>
                    <a:pt x="920" y="2"/>
                  </a:lnTo>
                  <a:lnTo>
                    <a:pt x="922" y="1"/>
                  </a:lnTo>
                  <a:lnTo>
                    <a:pt x="924" y="0"/>
                  </a:lnTo>
                  <a:lnTo>
                    <a:pt x="928" y="0"/>
                  </a:lnTo>
                  <a:close/>
                  <a:moveTo>
                    <a:pt x="1113" y="0"/>
                  </a:moveTo>
                  <a:lnTo>
                    <a:pt x="1220" y="0"/>
                  </a:lnTo>
                  <a:lnTo>
                    <a:pt x="1222" y="0"/>
                  </a:lnTo>
                  <a:lnTo>
                    <a:pt x="1224" y="1"/>
                  </a:lnTo>
                  <a:lnTo>
                    <a:pt x="1226" y="2"/>
                  </a:lnTo>
                  <a:lnTo>
                    <a:pt x="1228" y="4"/>
                  </a:lnTo>
                  <a:lnTo>
                    <a:pt x="1226" y="5"/>
                  </a:lnTo>
                  <a:lnTo>
                    <a:pt x="1224" y="6"/>
                  </a:lnTo>
                  <a:lnTo>
                    <a:pt x="1222" y="7"/>
                  </a:lnTo>
                  <a:lnTo>
                    <a:pt x="1220" y="8"/>
                  </a:lnTo>
                  <a:lnTo>
                    <a:pt x="1113" y="8"/>
                  </a:lnTo>
                  <a:lnTo>
                    <a:pt x="1109" y="7"/>
                  </a:lnTo>
                  <a:lnTo>
                    <a:pt x="1107" y="6"/>
                  </a:lnTo>
                  <a:lnTo>
                    <a:pt x="1105" y="5"/>
                  </a:lnTo>
                  <a:lnTo>
                    <a:pt x="1105" y="4"/>
                  </a:lnTo>
                  <a:lnTo>
                    <a:pt x="1105" y="2"/>
                  </a:lnTo>
                  <a:lnTo>
                    <a:pt x="1107" y="1"/>
                  </a:lnTo>
                  <a:lnTo>
                    <a:pt x="1109" y="0"/>
                  </a:lnTo>
                  <a:lnTo>
                    <a:pt x="1113" y="0"/>
                  </a:lnTo>
                  <a:close/>
                  <a:moveTo>
                    <a:pt x="1296" y="0"/>
                  </a:moveTo>
                  <a:lnTo>
                    <a:pt x="1403" y="0"/>
                  </a:lnTo>
                  <a:lnTo>
                    <a:pt x="1407" y="0"/>
                  </a:lnTo>
                  <a:lnTo>
                    <a:pt x="1409" y="1"/>
                  </a:lnTo>
                  <a:lnTo>
                    <a:pt x="1411" y="2"/>
                  </a:lnTo>
                  <a:lnTo>
                    <a:pt x="1411" y="4"/>
                  </a:lnTo>
                  <a:lnTo>
                    <a:pt x="1411" y="5"/>
                  </a:lnTo>
                  <a:lnTo>
                    <a:pt x="1409" y="6"/>
                  </a:lnTo>
                  <a:lnTo>
                    <a:pt x="1407" y="7"/>
                  </a:lnTo>
                  <a:lnTo>
                    <a:pt x="1403" y="8"/>
                  </a:lnTo>
                  <a:lnTo>
                    <a:pt x="1296" y="8"/>
                  </a:lnTo>
                  <a:lnTo>
                    <a:pt x="1294" y="7"/>
                  </a:lnTo>
                  <a:lnTo>
                    <a:pt x="1290" y="6"/>
                  </a:lnTo>
                  <a:lnTo>
                    <a:pt x="1288" y="5"/>
                  </a:lnTo>
                  <a:lnTo>
                    <a:pt x="1288" y="4"/>
                  </a:lnTo>
                  <a:lnTo>
                    <a:pt x="1288" y="2"/>
                  </a:lnTo>
                  <a:lnTo>
                    <a:pt x="1290" y="1"/>
                  </a:lnTo>
                  <a:lnTo>
                    <a:pt x="1294" y="0"/>
                  </a:lnTo>
                  <a:lnTo>
                    <a:pt x="1296" y="0"/>
                  </a:lnTo>
                  <a:close/>
                  <a:moveTo>
                    <a:pt x="1480" y="0"/>
                  </a:moveTo>
                  <a:lnTo>
                    <a:pt x="1588" y="0"/>
                  </a:lnTo>
                  <a:lnTo>
                    <a:pt x="1590" y="0"/>
                  </a:lnTo>
                  <a:lnTo>
                    <a:pt x="1592" y="1"/>
                  </a:lnTo>
                  <a:lnTo>
                    <a:pt x="1594" y="2"/>
                  </a:lnTo>
                  <a:lnTo>
                    <a:pt x="1596" y="4"/>
                  </a:lnTo>
                  <a:lnTo>
                    <a:pt x="1594" y="5"/>
                  </a:lnTo>
                  <a:lnTo>
                    <a:pt x="1592" y="6"/>
                  </a:lnTo>
                  <a:lnTo>
                    <a:pt x="1590" y="7"/>
                  </a:lnTo>
                  <a:lnTo>
                    <a:pt x="1588" y="8"/>
                  </a:lnTo>
                  <a:lnTo>
                    <a:pt x="1480" y="8"/>
                  </a:lnTo>
                  <a:lnTo>
                    <a:pt x="1477" y="7"/>
                  </a:lnTo>
                  <a:lnTo>
                    <a:pt x="1475" y="6"/>
                  </a:lnTo>
                  <a:lnTo>
                    <a:pt x="1473" y="5"/>
                  </a:lnTo>
                  <a:lnTo>
                    <a:pt x="1473" y="4"/>
                  </a:lnTo>
                  <a:lnTo>
                    <a:pt x="1473" y="2"/>
                  </a:lnTo>
                  <a:lnTo>
                    <a:pt x="1475" y="1"/>
                  </a:lnTo>
                  <a:lnTo>
                    <a:pt x="1477" y="0"/>
                  </a:lnTo>
                  <a:lnTo>
                    <a:pt x="1480" y="0"/>
                  </a:lnTo>
                  <a:close/>
                  <a:moveTo>
                    <a:pt x="1663" y="0"/>
                  </a:moveTo>
                  <a:lnTo>
                    <a:pt x="1771" y="0"/>
                  </a:lnTo>
                  <a:lnTo>
                    <a:pt x="1775" y="0"/>
                  </a:lnTo>
                  <a:lnTo>
                    <a:pt x="1777" y="1"/>
                  </a:lnTo>
                  <a:lnTo>
                    <a:pt x="1778" y="2"/>
                  </a:lnTo>
                  <a:lnTo>
                    <a:pt x="1778" y="4"/>
                  </a:lnTo>
                  <a:lnTo>
                    <a:pt x="1778" y="5"/>
                  </a:lnTo>
                  <a:lnTo>
                    <a:pt x="1777" y="6"/>
                  </a:lnTo>
                  <a:lnTo>
                    <a:pt x="1775" y="7"/>
                  </a:lnTo>
                  <a:lnTo>
                    <a:pt x="1771" y="8"/>
                  </a:lnTo>
                  <a:lnTo>
                    <a:pt x="1663" y="8"/>
                  </a:lnTo>
                  <a:lnTo>
                    <a:pt x="1662" y="7"/>
                  </a:lnTo>
                  <a:lnTo>
                    <a:pt x="1658" y="6"/>
                  </a:lnTo>
                  <a:lnTo>
                    <a:pt x="1656" y="5"/>
                  </a:lnTo>
                  <a:lnTo>
                    <a:pt x="1656" y="4"/>
                  </a:lnTo>
                  <a:lnTo>
                    <a:pt x="1656" y="2"/>
                  </a:lnTo>
                  <a:lnTo>
                    <a:pt x="1658" y="1"/>
                  </a:lnTo>
                  <a:lnTo>
                    <a:pt x="1662" y="0"/>
                  </a:lnTo>
                  <a:lnTo>
                    <a:pt x="1663" y="0"/>
                  </a:lnTo>
                  <a:close/>
                  <a:moveTo>
                    <a:pt x="1848" y="0"/>
                  </a:moveTo>
                  <a:lnTo>
                    <a:pt x="1956" y="0"/>
                  </a:lnTo>
                  <a:lnTo>
                    <a:pt x="1958" y="0"/>
                  </a:lnTo>
                  <a:lnTo>
                    <a:pt x="1960" y="1"/>
                  </a:lnTo>
                  <a:lnTo>
                    <a:pt x="1961" y="2"/>
                  </a:lnTo>
                  <a:lnTo>
                    <a:pt x="1963" y="4"/>
                  </a:lnTo>
                  <a:lnTo>
                    <a:pt x="1961" y="5"/>
                  </a:lnTo>
                  <a:lnTo>
                    <a:pt x="1960" y="6"/>
                  </a:lnTo>
                  <a:lnTo>
                    <a:pt x="1958" y="7"/>
                  </a:lnTo>
                  <a:lnTo>
                    <a:pt x="1956" y="8"/>
                  </a:lnTo>
                  <a:lnTo>
                    <a:pt x="1848" y="8"/>
                  </a:lnTo>
                  <a:lnTo>
                    <a:pt x="1844" y="7"/>
                  </a:lnTo>
                  <a:lnTo>
                    <a:pt x="1843" y="6"/>
                  </a:lnTo>
                  <a:lnTo>
                    <a:pt x="1841" y="5"/>
                  </a:lnTo>
                  <a:lnTo>
                    <a:pt x="1841" y="4"/>
                  </a:lnTo>
                  <a:lnTo>
                    <a:pt x="1841" y="2"/>
                  </a:lnTo>
                  <a:lnTo>
                    <a:pt x="1843" y="1"/>
                  </a:lnTo>
                  <a:lnTo>
                    <a:pt x="1844" y="0"/>
                  </a:lnTo>
                  <a:lnTo>
                    <a:pt x="1848" y="0"/>
                  </a:lnTo>
                  <a:close/>
                  <a:moveTo>
                    <a:pt x="2031" y="0"/>
                  </a:moveTo>
                  <a:lnTo>
                    <a:pt x="2139" y="0"/>
                  </a:lnTo>
                  <a:lnTo>
                    <a:pt x="2142" y="0"/>
                  </a:lnTo>
                  <a:lnTo>
                    <a:pt x="2144" y="1"/>
                  </a:lnTo>
                  <a:lnTo>
                    <a:pt x="2146" y="2"/>
                  </a:lnTo>
                  <a:lnTo>
                    <a:pt x="2146" y="4"/>
                  </a:lnTo>
                  <a:lnTo>
                    <a:pt x="2146" y="5"/>
                  </a:lnTo>
                  <a:lnTo>
                    <a:pt x="2144" y="6"/>
                  </a:lnTo>
                  <a:lnTo>
                    <a:pt x="2142" y="7"/>
                  </a:lnTo>
                  <a:lnTo>
                    <a:pt x="2139" y="8"/>
                  </a:lnTo>
                  <a:lnTo>
                    <a:pt x="2031" y="8"/>
                  </a:lnTo>
                  <a:lnTo>
                    <a:pt x="2029" y="7"/>
                  </a:lnTo>
                  <a:lnTo>
                    <a:pt x="2026" y="6"/>
                  </a:lnTo>
                  <a:lnTo>
                    <a:pt x="2024" y="5"/>
                  </a:lnTo>
                  <a:lnTo>
                    <a:pt x="2024" y="4"/>
                  </a:lnTo>
                  <a:lnTo>
                    <a:pt x="2024" y="2"/>
                  </a:lnTo>
                  <a:lnTo>
                    <a:pt x="2026" y="1"/>
                  </a:lnTo>
                  <a:lnTo>
                    <a:pt x="2029" y="0"/>
                  </a:lnTo>
                  <a:lnTo>
                    <a:pt x="2031" y="0"/>
                  </a:lnTo>
                  <a:close/>
                  <a:moveTo>
                    <a:pt x="2216" y="0"/>
                  </a:moveTo>
                  <a:lnTo>
                    <a:pt x="2324" y="0"/>
                  </a:lnTo>
                  <a:lnTo>
                    <a:pt x="2325" y="0"/>
                  </a:lnTo>
                  <a:lnTo>
                    <a:pt x="2329" y="1"/>
                  </a:lnTo>
                  <a:lnTo>
                    <a:pt x="2329" y="2"/>
                  </a:lnTo>
                  <a:lnTo>
                    <a:pt x="2331" y="4"/>
                  </a:lnTo>
                  <a:lnTo>
                    <a:pt x="2329" y="5"/>
                  </a:lnTo>
                  <a:lnTo>
                    <a:pt x="2329" y="6"/>
                  </a:lnTo>
                  <a:lnTo>
                    <a:pt x="2325" y="7"/>
                  </a:lnTo>
                  <a:lnTo>
                    <a:pt x="2324" y="8"/>
                  </a:lnTo>
                  <a:lnTo>
                    <a:pt x="2216" y="8"/>
                  </a:lnTo>
                  <a:lnTo>
                    <a:pt x="2212" y="7"/>
                  </a:lnTo>
                  <a:lnTo>
                    <a:pt x="2210" y="6"/>
                  </a:lnTo>
                  <a:lnTo>
                    <a:pt x="2209" y="5"/>
                  </a:lnTo>
                  <a:lnTo>
                    <a:pt x="2209" y="4"/>
                  </a:lnTo>
                  <a:lnTo>
                    <a:pt x="2209" y="2"/>
                  </a:lnTo>
                  <a:lnTo>
                    <a:pt x="2210" y="1"/>
                  </a:lnTo>
                  <a:lnTo>
                    <a:pt x="2212" y="0"/>
                  </a:lnTo>
                  <a:lnTo>
                    <a:pt x="2216" y="0"/>
                  </a:lnTo>
                  <a:close/>
                  <a:moveTo>
                    <a:pt x="2399" y="0"/>
                  </a:moveTo>
                  <a:lnTo>
                    <a:pt x="2507" y="0"/>
                  </a:lnTo>
                  <a:lnTo>
                    <a:pt x="2510" y="0"/>
                  </a:lnTo>
                  <a:lnTo>
                    <a:pt x="2512" y="1"/>
                  </a:lnTo>
                  <a:lnTo>
                    <a:pt x="2514" y="2"/>
                  </a:lnTo>
                  <a:lnTo>
                    <a:pt x="2514" y="4"/>
                  </a:lnTo>
                  <a:lnTo>
                    <a:pt x="2514" y="5"/>
                  </a:lnTo>
                  <a:lnTo>
                    <a:pt x="2512" y="6"/>
                  </a:lnTo>
                  <a:lnTo>
                    <a:pt x="2510" y="7"/>
                  </a:lnTo>
                  <a:lnTo>
                    <a:pt x="2507" y="8"/>
                  </a:lnTo>
                  <a:lnTo>
                    <a:pt x="2399" y="8"/>
                  </a:lnTo>
                  <a:lnTo>
                    <a:pt x="2397" y="7"/>
                  </a:lnTo>
                  <a:lnTo>
                    <a:pt x="2393" y="6"/>
                  </a:lnTo>
                  <a:lnTo>
                    <a:pt x="2393" y="5"/>
                  </a:lnTo>
                  <a:lnTo>
                    <a:pt x="2391" y="4"/>
                  </a:lnTo>
                  <a:lnTo>
                    <a:pt x="2393" y="2"/>
                  </a:lnTo>
                  <a:lnTo>
                    <a:pt x="2393" y="1"/>
                  </a:lnTo>
                  <a:lnTo>
                    <a:pt x="2397" y="0"/>
                  </a:lnTo>
                  <a:lnTo>
                    <a:pt x="2399" y="0"/>
                  </a:lnTo>
                  <a:close/>
                  <a:moveTo>
                    <a:pt x="2584" y="0"/>
                  </a:moveTo>
                  <a:lnTo>
                    <a:pt x="2691" y="0"/>
                  </a:lnTo>
                  <a:lnTo>
                    <a:pt x="2693" y="0"/>
                  </a:lnTo>
                  <a:lnTo>
                    <a:pt x="2697" y="1"/>
                  </a:lnTo>
                  <a:lnTo>
                    <a:pt x="2699" y="2"/>
                  </a:lnTo>
                  <a:lnTo>
                    <a:pt x="2699" y="4"/>
                  </a:lnTo>
                  <a:lnTo>
                    <a:pt x="2699" y="5"/>
                  </a:lnTo>
                  <a:lnTo>
                    <a:pt x="2697" y="6"/>
                  </a:lnTo>
                  <a:lnTo>
                    <a:pt x="2693" y="7"/>
                  </a:lnTo>
                  <a:lnTo>
                    <a:pt x="2691" y="8"/>
                  </a:lnTo>
                  <a:lnTo>
                    <a:pt x="2584" y="8"/>
                  </a:lnTo>
                  <a:lnTo>
                    <a:pt x="2580" y="7"/>
                  </a:lnTo>
                  <a:lnTo>
                    <a:pt x="2578" y="6"/>
                  </a:lnTo>
                  <a:lnTo>
                    <a:pt x="2576" y="5"/>
                  </a:lnTo>
                  <a:lnTo>
                    <a:pt x="2576" y="4"/>
                  </a:lnTo>
                  <a:lnTo>
                    <a:pt x="2576" y="2"/>
                  </a:lnTo>
                  <a:lnTo>
                    <a:pt x="2578" y="1"/>
                  </a:lnTo>
                  <a:lnTo>
                    <a:pt x="2580" y="0"/>
                  </a:lnTo>
                  <a:lnTo>
                    <a:pt x="2584" y="0"/>
                  </a:lnTo>
                  <a:close/>
                  <a:moveTo>
                    <a:pt x="2767" y="0"/>
                  </a:moveTo>
                  <a:lnTo>
                    <a:pt x="2874" y="0"/>
                  </a:lnTo>
                  <a:lnTo>
                    <a:pt x="2878" y="0"/>
                  </a:lnTo>
                  <a:lnTo>
                    <a:pt x="2880" y="1"/>
                  </a:lnTo>
                  <a:lnTo>
                    <a:pt x="2882" y="2"/>
                  </a:lnTo>
                  <a:lnTo>
                    <a:pt x="2882" y="4"/>
                  </a:lnTo>
                  <a:lnTo>
                    <a:pt x="2882" y="5"/>
                  </a:lnTo>
                  <a:lnTo>
                    <a:pt x="2880" y="6"/>
                  </a:lnTo>
                  <a:lnTo>
                    <a:pt x="2878" y="7"/>
                  </a:lnTo>
                  <a:lnTo>
                    <a:pt x="2874" y="8"/>
                  </a:lnTo>
                  <a:lnTo>
                    <a:pt x="2767" y="8"/>
                  </a:lnTo>
                  <a:lnTo>
                    <a:pt x="2765" y="7"/>
                  </a:lnTo>
                  <a:lnTo>
                    <a:pt x="2763" y="6"/>
                  </a:lnTo>
                  <a:lnTo>
                    <a:pt x="2761" y="5"/>
                  </a:lnTo>
                  <a:lnTo>
                    <a:pt x="2759" y="4"/>
                  </a:lnTo>
                  <a:lnTo>
                    <a:pt x="2761" y="2"/>
                  </a:lnTo>
                  <a:lnTo>
                    <a:pt x="2763" y="1"/>
                  </a:lnTo>
                  <a:lnTo>
                    <a:pt x="2765" y="0"/>
                  </a:lnTo>
                  <a:lnTo>
                    <a:pt x="2767" y="0"/>
                  </a:lnTo>
                  <a:close/>
                  <a:moveTo>
                    <a:pt x="2952" y="0"/>
                  </a:moveTo>
                  <a:lnTo>
                    <a:pt x="3059" y="0"/>
                  </a:lnTo>
                  <a:lnTo>
                    <a:pt x="3061" y="0"/>
                  </a:lnTo>
                  <a:lnTo>
                    <a:pt x="3065" y="1"/>
                  </a:lnTo>
                  <a:lnTo>
                    <a:pt x="3067" y="2"/>
                  </a:lnTo>
                  <a:lnTo>
                    <a:pt x="3067" y="4"/>
                  </a:lnTo>
                  <a:lnTo>
                    <a:pt x="3067" y="5"/>
                  </a:lnTo>
                  <a:lnTo>
                    <a:pt x="3065" y="6"/>
                  </a:lnTo>
                  <a:lnTo>
                    <a:pt x="3061" y="7"/>
                  </a:lnTo>
                  <a:lnTo>
                    <a:pt x="3059" y="8"/>
                  </a:lnTo>
                  <a:lnTo>
                    <a:pt x="2952" y="8"/>
                  </a:lnTo>
                  <a:lnTo>
                    <a:pt x="2948" y="7"/>
                  </a:lnTo>
                  <a:lnTo>
                    <a:pt x="2946" y="6"/>
                  </a:lnTo>
                  <a:lnTo>
                    <a:pt x="2944" y="5"/>
                  </a:lnTo>
                  <a:lnTo>
                    <a:pt x="2944" y="4"/>
                  </a:lnTo>
                  <a:lnTo>
                    <a:pt x="2944" y="2"/>
                  </a:lnTo>
                  <a:lnTo>
                    <a:pt x="2946" y="1"/>
                  </a:lnTo>
                  <a:lnTo>
                    <a:pt x="2948" y="0"/>
                  </a:lnTo>
                  <a:lnTo>
                    <a:pt x="2952" y="0"/>
                  </a:lnTo>
                  <a:close/>
                  <a:moveTo>
                    <a:pt x="3137" y="0"/>
                  </a:moveTo>
                  <a:lnTo>
                    <a:pt x="3242" y="0"/>
                  </a:lnTo>
                  <a:lnTo>
                    <a:pt x="3246" y="0"/>
                  </a:lnTo>
                  <a:lnTo>
                    <a:pt x="3248" y="1"/>
                  </a:lnTo>
                  <a:lnTo>
                    <a:pt x="3250" y="2"/>
                  </a:lnTo>
                  <a:lnTo>
                    <a:pt x="3250" y="4"/>
                  </a:lnTo>
                  <a:lnTo>
                    <a:pt x="3250" y="5"/>
                  </a:lnTo>
                  <a:lnTo>
                    <a:pt x="3248" y="6"/>
                  </a:lnTo>
                  <a:lnTo>
                    <a:pt x="3246" y="7"/>
                  </a:lnTo>
                  <a:lnTo>
                    <a:pt x="3242" y="8"/>
                  </a:lnTo>
                  <a:lnTo>
                    <a:pt x="3137" y="8"/>
                  </a:lnTo>
                  <a:lnTo>
                    <a:pt x="3133" y="7"/>
                  </a:lnTo>
                  <a:lnTo>
                    <a:pt x="3131" y="6"/>
                  </a:lnTo>
                  <a:lnTo>
                    <a:pt x="3129" y="5"/>
                  </a:lnTo>
                  <a:lnTo>
                    <a:pt x="3127" y="4"/>
                  </a:lnTo>
                  <a:lnTo>
                    <a:pt x="3129" y="2"/>
                  </a:lnTo>
                  <a:lnTo>
                    <a:pt x="3131" y="1"/>
                  </a:lnTo>
                  <a:lnTo>
                    <a:pt x="3133" y="0"/>
                  </a:lnTo>
                  <a:lnTo>
                    <a:pt x="3137" y="0"/>
                  </a:lnTo>
                  <a:close/>
                  <a:moveTo>
                    <a:pt x="3319" y="0"/>
                  </a:moveTo>
                  <a:lnTo>
                    <a:pt x="3427" y="0"/>
                  </a:lnTo>
                  <a:lnTo>
                    <a:pt x="3429" y="0"/>
                  </a:lnTo>
                  <a:lnTo>
                    <a:pt x="3433" y="1"/>
                  </a:lnTo>
                  <a:lnTo>
                    <a:pt x="3435" y="2"/>
                  </a:lnTo>
                  <a:lnTo>
                    <a:pt x="3435" y="4"/>
                  </a:lnTo>
                  <a:lnTo>
                    <a:pt x="3435" y="5"/>
                  </a:lnTo>
                  <a:lnTo>
                    <a:pt x="3433" y="6"/>
                  </a:lnTo>
                  <a:lnTo>
                    <a:pt x="3429" y="7"/>
                  </a:lnTo>
                  <a:lnTo>
                    <a:pt x="3427" y="8"/>
                  </a:lnTo>
                  <a:lnTo>
                    <a:pt x="3319" y="8"/>
                  </a:lnTo>
                  <a:lnTo>
                    <a:pt x="3316" y="7"/>
                  </a:lnTo>
                  <a:lnTo>
                    <a:pt x="3314" y="6"/>
                  </a:lnTo>
                  <a:lnTo>
                    <a:pt x="3312" y="5"/>
                  </a:lnTo>
                  <a:lnTo>
                    <a:pt x="3312" y="4"/>
                  </a:lnTo>
                  <a:lnTo>
                    <a:pt x="3312" y="2"/>
                  </a:lnTo>
                  <a:lnTo>
                    <a:pt x="3314" y="1"/>
                  </a:lnTo>
                  <a:lnTo>
                    <a:pt x="3316" y="0"/>
                  </a:lnTo>
                  <a:lnTo>
                    <a:pt x="3319" y="0"/>
                  </a:lnTo>
                  <a:close/>
                  <a:moveTo>
                    <a:pt x="3504" y="0"/>
                  </a:moveTo>
                  <a:lnTo>
                    <a:pt x="3610" y="0"/>
                  </a:lnTo>
                  <a:lnTo>
                    <a:pt x="3614" y="0"/>
                  </a:lnTo>
                  <a:lnTo>
                    <a:pt x="3616" y="1"/>
                  </a:lnTo>
                  <a:lnTo>
                    <a:pt x="3617" y="2"/>
                  </a:lnTo>
                  <a:lnTo>
                    <a:pt x="3619" y="4"/>
                  </a:lnTo>
                  <a:lnTo>
                    <a:pt x="3617" y="5"/>
                  </a:lnTo>
                  <a:lnTo>
                    <a:pt x="3616" y="6"/>
                  </a:lnTo>
                  <a:lnTo>
                    <a:pt x="3614" y="7"/>
                  </a:lnTo>
                  <a:lnTo>
                    <a:pt x="3610" y="8"/>
                  </a:lnTo>
                  <a:lnTo>
                    <a:pt x="3504" y="8"/>
                  </a:lnTo>
                  <a:lnTo>
                    <a:pt x="3501" y="7"/>
                  </a:lnTo>
                  <a:lnTo>
                    <a:pt x="3499" y="6"/>
                  </a:lnTo>
                  <a:lnTo>
                    <a:pt x="3497" y="5"/>
                  </a:lnTo>
                  <a:lnTo>
                    <a:pt x="3497" y="4"/>
                  </a:lnTo>
                  <a:lnTo>
                    <a:pt x="3497" y="2"/>
                  </a:lnTo>
                  <a:lnTo>
                    <a:pt x="3499" y="1"/>
                  </a:lnTo>
                  <a:lnTo>
                    <a:pt x="3501" y="0"/>
                  </a:lnTo>
                  <a:lnTo>
                    <a:pt x="3504" y="0"/>
                  </a:lnTo>
                  <a:close/>
                  <a:moveTo>
                    <a:pt x="3687" y="0"/>
                  </a:moveTo>
                  <a:lnTo>
                    <a:pt x="3795" y="0"/>
                  </a:lnTo>
                  <a:lnTo>
                    <a:pt x="3799" y="0"/>
                  </a:lnTo>
                  <a:lnTo>
                    <a:pt x="3800" y="1"/>
                  </a:lnTo>
                  <a:lnTo>
                    <a:pt x="3802" y="2"/>
                  </a:lnTo>
                  <a:lnTo>
                    <a:pt x="3802" y="4"/>
                  </a:lnTo>
                  <a:lnTo>
                    <a:pt x="3802" y="5"/>
                  </a:lnTo>
                  <a:lnTo>
                    <a:pt x="3800" y="6"/>
                  </a:lnTo>
                  <a:lnTo>
                    <a:pt x="3799" y="7"/>
                  </a:lnTo>
                  <a:lnTo>
                    <a:pt x="3795" y="8"/>
                  </a:lnTo>
                  <a:lnTo>
                    <a:pt x="3687" y="8"/>
                  </a:lnTo>
                  <a:lnTo>
                    <a:pt x="3685" y="7"/>
                  </a:lnTo>
                  <a:lnTo>
                    <a:pt x="3682" y="6"/>
                  </a:lnTo>
                  <a:lnTo>
                    <a:pt x="3680" y="5"/>
                  </a:lnTo>
                  <a:lnTo>
                    <a:pt x="3680" y="4"/>
                  </a:lnTo>
                  <a:lnTo>
                    <a:pt x="3680" y="2"/>
                  </a:lnTo>
                  <a:lnTo>
                    <a:pt x="3682" y="1"/>
                  </a:lnTo>
                  <a:lnTo>
                    <a:pt x="3685" y="0"/>
                  </a:lnTo>
                  <a:lnTo>
                    <a:pt x="3687" y="0"/>
                  </a:lnTo>
                  <a:close/>
                  <a:moveTo>
                    <a:pt x="3872" y="0"/>
                  </a:moveTo>
                  <a:lnTo>
                    <a:pt x="3953" y="0"/>
                  </a:lnTo>
                  <a:lnTo>
                    <a:pt x="3957" y="0"/>
                  </a:lnTo>
                  <a:lnTo>
                    <a:pt x="3959" y="1"/>
                  </a:lnTo>
                  <a:lnTo>
                    <a:pt x="3961" y="2"/>
                  </a:lnTo>
                  <a:lnTo>
                    <a:pt x="3961" y="4"/>
                  </a:lnTo>
                  <a:lnTo>
                    <a:pt x="3961" y="5"/>
                  </a:lnTo>
                  <a:lnTo>
                    <a:pt x="3959" y="6"/>
                  </a:lnTo>
                  <a:lnTo>
                    <a:pt x="3957" y="7"/>
                  </a:lnTo>
                  <a:lnTo>
                    <a:pt x="3953" y="8"/>
                  </a:lnTo>
                  <a:lnTo>
                    <a:pt x="3872" y="8"/>
                  </a:lnTo>
                  <a:lnTo>
                    <a:pt x="3868" y="7"/>
                  </a:lnTo>
                  <a:lnTo>
                    <a:pt x="3866" y="6"/>
                  </a:lnTo>
                  <a:lnTo>
                    <a:pt x="3865" y="5"/>
                  </a:lnTo>
                  <a:lnTo>
                    <a:pt x="3865" y="4"/>
                  </a:lnTo>
                  <a:lnTo>
                    <a:pt x="3865" y="2"/>
                  </a:lnTo>
                  <a:lnTo>
                    <a:pt x="3866" y="1"/>
                  </a:lnTo>
                  <a:lnTo>
                    <a:pt x="3868" y="0"/>
                  </a:lnTo>
                  <a:lnTo>
                    <a:pt x="3872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54" name="Rectangle 62"/>
            <p:cNvSpPr>
              <a:spLocks noChangeArrowheads="1"/>
            </p:cNvSpPr>
            <p:nvPr/>
          </p:nvSpPr>
          <p:spPr bwMode="auto">
            <a:xfrm>
              <a:off x="4564" y="3672"/>
              <a:ext cx="107" cy="17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宋体" pitchFamily="2" charset="-122"/>
                </a:rPr>
                <a:t>I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宋体" pitchFamily="2" charset="-122"/>
                </a:rPr>
                <a:t>o</a:t>
              </a:r>
            </a:p>
          </p:txBody>
        </p:sp>
        <p:sp>
          <p:nvSpPr>
            <p:cNvPr id="76855" name="Line 63"/>
            <p:cNvSpPr>
              <a:spLocks noChangeShapeType="1"/>
            </p:cNvSpPr>
            <p:nvPr/>
          </p:nvSpPr>
          <p:spPr bwMode="auto">
            <a:xfrm>
              <a:off x="4651" y="2658"/>
              <a:ext cx="1" cy="2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56" name="Line 64"/>
            <p:cNvSpPr>
              <a:spLocks noChangeShapeType="1"/>
            </p:cNvSpPr>
            <p:nvPr/>
          </p:nvSpPr>
          <p:spPr bwMode="auto">
            <a:xfrm>
              <a:off x="5185" y="2658"/>
              <a:ext cx="1" cy="2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57" name="Line 65"/>
            <p:cNvSpPr>
              <a:spLocks noChangeShapeType="1"/>
            </p:cNvSpPr>
            <p:nvPr/>
          </p:nvSpPr>
          <p:spPr bwMode="auto">
            <a:xfrm flipV="1">
              <a:off x="4011" y="2657"/>
              <a:ext cx="1" cy="1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58" name="Freeform 66"/>
            <p:cNvSpPr>
              <a:spLocks/>
            </p:cNvSpPr>
            <p:nvPr/>
          </p:nvSpPr>
          <p:spPr bwMode="auto">
            <a:xfrm>
              <a:off x="3977" y="2817"/>
              <a:ext cx="68" cy="75"/>
            </a:xfrm>
            <a:custGeom>
              <a:avLst/>
              <a:gdLst>
                <a:gd name="T0" fmla="*/ 1 w 138"/>
                <a:gd name="T1" fmla="*/ 75 h 75"/>
                <a:gd name="T2" fmla="*/ 0 w 138"/>
                <a:gd name="T3" fmla="*/ 0 h 75"/>
                <a:gd name="T4" fmla="*/ 0 w 138"/>
                <a:gd name="T5" fmla="*/ 2 h 75"/>
                <a:gd name="T6" fmla="*/ 0 w 138"/>
                <a:gd name="T7" fmla="*/ 4 h 75"/>
                <a:gd name="T8" fmla="*/ 0 w 138"/>
                <a:gd name="T9" fmla="*/ 5 h 75"/>
                <a:gd name="T10" fmla="*/ 0 w 138"/>
                <a:gd name="T11" fmla="*/ 6 h 75"/>
                <a:gd name="T12" fmla="*/ 0 w 138"/>
                <a:gd name="T13" fmla="*/ 7 h 75"/>
                <a:gd name="T14" fmla="*/ 0 w 138"/>
                <a:gd name="T15" fmla="*/ 8 h 75"/>
                <a:gd name="T16" fmla="*/ 0 w 138"/>
                <a:gd name="T17" fmla="*/ 8 h 75"/>
                <a:gd name="T18" fmla="*/ 1 w 138"/>
                <a:gd name="T19" fmla="*/ 9 h 75"/>
                <a:gd name="T20" fmla="*/ 1 w 138"/>
                <a:gd name="T21" fmla="*/ 8 h 75"/>
                <a:gd name="T22" fmla="*/ 1 w 138"/>
                <a:gd name="T23" fmla="*/ 8 h 75"/>
                <a:gd name="T24" fmla="*/ 1 w 138"/>
                <a:gd name="T25" fmla="*/ 7 h 75"/>
                <a:gd name="T26" fmla="*/ 1 w 138"/>
                <a:gd name="T27" fmla="*/ 6 h 75"/>
                <a:gd name="T28" fmla="*/ 1 w 138"/>
                <a:gd name="T29" fmla="*/ 5 h 75"/>
                <a:gd name="T30" fmla="*/ 1 w 138"/>
                <a:gd name="T31" fmla="*/ 4 h 75"/>
                <a:gd name="T32" fmla="*/ 2 w 138"/>
                <a:gd name="T33" fmla="*/ 2 h 75"/>
                <a:gd name="T34" fmla="*/ 2 w 138"/>
                <a:gd name="T35" fmla="*/ 0 h 75"/>
                <a:gd name="T36" fmla="*/ 1 w 138"/>
                <a:gd name="T37" fmla="*/ 75 h 75"/>
                <a:gd name="T38" fmla="*/ 1 w 138"/>
                <a:gd name="T39" fmla="*/ 75 h 7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38"/>
                <a:gd name="T61" fmla="*/ 0 h 75"/>
                <a:gd name="T62" fmla="*/ 138 w 138"/>
                <a:gd name="T63" fmla="*/ 75 h 7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38" h="75">
                  <a:moveTo>
                    <a:pt x="70" y="75"/>
                  </a:moveTo>
                  <a:lnTo>
                    <a:pt x="0" y="0"/>
                  </a:lnTo>
                  <a:lnTo>
                    <a:pt x="10" y="2"/>
                  </a:lnTo>
                  <a:lnTo>
                    <a:pt x="17" y="4"/>
                  </a:lnTo>
                  <a:lnTo>
                    <a:pt x="25" y="5"/>
                  </a:lnTo>
                  <a:lnTo>
                    <a:pt x="34" y="6"/>
                  </a:lnTo>
                  <a:lnTo>
                    <a:pt x="44" y="7"/>
                  </a:lnTo>
                  <a:lnTo>
                    <a:pt x="51" y="8"/>
                  </a:lnTo>
                  <a:lnTo>
                    <a:pt x="60" y="8"/>
                  </a:lnTo>
                  <a:lnTo>
                    <a:pt x="70" y="9"/>
                  </a:lnTo>
                  <a:lnTo>
                    <a:pt x="77" y="8"/>
                  </a:lnTo>
                  <a:lnTo>
                    <a:pt x="87" y="8"/>
                  </a:lnTo>
                  <a:lnTo>
                    <a:pt x="96" y="7"/>
                  </a:lnTo>
                  <a:lnTo>
                    <a:pt x="104" y="6"/>
                  </a:lnTo>
                  <a:lnTo>
                    <a:pt x="113" y="5"/>
                  </a:lnTo>
                  <a:lnTo>
                    <a:pt x="121" y="4"/>
                  </a:lnTo>
                  <a:lnTo>
                    <a:pt x="130" y="2"/>
                  </a:lnTo>
                  <a:lnTo>
                    <a:pt x="138" y="0"/>
                  </a:lnTo>
                  <a:lnTo>
                    <a:pt x="70" y="75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59" name="Freeform 67"/>
            <p:cNvSpPr>
              <a:spLocks/>
            </p:cNvSpPr>
            <p:nvPr/>
          </p:nvSpPr>
          <p:spPr bwMode="auto">
            <a:xfrm>
              <a:off x="3977" y="2599"/>
              <a:ext cx="68" cy="77"/>
            </a:xfrm>
            <a:custGeom>
              <a:avLst/>
              <a:gdLst>
                <a:gd name="T0" fmla="*/ 1 w 138"/>
                <a:gd name="T1" fmla="*/ 0 h 77"/>
                <a:gd name="T2" fmla="*/ 2 w 138"/>
                <a:gd name="T3" fmla="*/ 77 h 77"/>
                <a:gd name="T4" fmla="*/ 2 w 138"/>
                <a:gd name="T5" fmla="*/ 75 h 77"/>
                <a:gd name="T6" fmla="*/ 1 w 138"/>
                <a:gd name="T7" fmla="*/ 73 h 77"/>
                <a:gd name="T8" fmla="*/ 1 w 138"/>
                <a:gd name="T9" fmla="*/ 71 h 77"/>
                <a:gd name="T10" fmla="*/ 1 w 138"/>
                <a:gd name="T11" fmla="*/ 70 h 77"/>
                <a:gd name="T12" fmla="*/ 1 w 138"/>
                <a:gd name="T13" fmla="*/ 69 h 77"/>
                <a:gd name="T14" fmla="*/ 1 w 138"/>
                <a:gd name="T15" fmla="*/ 69 h 77"/>
                <a:gd name="T16" fmla="*/ 1 w 138"/>
                <a:gd name="T17" fmla="*/ 68 h 77"/>
                <a:gd name="T18" fmla="*/ 1 w 138"/>
                <a:gd name="T19" fmla="*/ 68 h 77"/>
                <a:gd name="T20" fmla="*/ 0 w 138"/>
                <a:gd name="T21" fmla="*/ 68 h 77"/>
                <a:gd name="T22" fmla="*/ 0 w 138"/>
                <a:gd name="T23" fmla="*/ 69 h 77"/>
                <a:gd name="T24" fmla="*/ 0 w 138"/>
                <a:gd name="T25" fmla="*/ 69 h 77"/>
                <a:gd name="T26" fmla="*/ 0 w 138"/>
                <a:gd name="T27" fmla="*/ 70 h 77"/>
                <a:gd name="T28" fmla="*/ 0 w 138"/>
                <a:gd name="T29" fmla="*/ 71 h 77"/>
                <a:gd name="T30" fmla="*/ 0 w 138"/>
                <a:gd name="T31" fmla="*/ 73 h 77"/>
                <a:gd name="T32" fmla="*/ 0 w 138"/>
                <a:gd name="T33" fmla="*/ 75 h 77"/>
                <a:gd name="T34" fmla="*/ 0 w 138"/>
                <a:gd name="T35" fmla="*/ 77 h 77"/>
                <a:gd name="T36" fmla="*/ 0 w 138"/>
                <a:gd name="T37" fmla="*/ 77 h 77"/>
                <a:gd name="T38" fmla="*/ 1 w 138"/>
                <a:gd name="T39" fmla="*/ 0 h 77"/>
                <a:gd name="T40" fmla="*/ 1 w 138"/>
                <a:gd name="T41" fmla="*/ 0 h 7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8"/>
                <a:gd name="T64" fmla="*/ 0 h 77"/>
                <a:gd name="T65" fmla="*/ 138 w 138"/>
                <a:gd name="T66" fmla="*/ 77 h 7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8" h="77">
                  <a:moveTo>
                    <a:pt x="70" y="0"/>
                  </a:moveTo>
                  <a:lnTo>
                    <a:pt x="138" y="77"/>
                  </a:lnTo>
                  <a:lnTo>
                    <a:pt x="130" y="75"/>
                  </a:lnTo>
                  <a:lnTo>
                    <a:pt x="121" y="73"/>
                  </a:lnTo>
                  <a:lnTo>
                    <a:pt x="113" y="71"/>
                  </a:lnTo>
                  <a:lnTo>
                    <a:pt x="104" y="70"/>
                  </a:lnTo>
                  <a:lnTo>
                    <a:pt x="96" y="69"/>
                  </a:lnTo>
                  <a:lnTo>
                    <a:pt x="87" y="69"/>
                  </a:lnTo>
                  <a:lnTo>
                    <a:pt x="77" y="68"/>
                  </a:lnTo>
                  <a:lnTo>
                    <a:pt x="70" y="68"/>
                  </a:lnTo>
                  <a:lnTo>
                    <a:pt x="60" y="68"/>
                  </a:lnTo>
                  <a:lnTo>
                    <a:pt x="51" y="69"/>
                  </a:lnTo>
                  <a:lnTo>
                    <a:pt x="44" y="69"/>
                  </a:lnTo>
                  <a:lnTo>
                    <a:pt x="34" y="70"/>
                  </a:lnTo>
                  <a:lnTo>
                    <a:pt x="25" y="71"/>
                  </a:lnTo>
                  <a:lnTo>
                    <a:pt x="17" y="73"/>
                  </a:lnTo>
                  <a:lnTo>
                    <a:pt x="10" y="75"/>
                  </a:lnTo>
                  <a:lnTo>
                    <a:pt x="0" y="77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60" name="Rectangle 68"/>
            <p:cNvSpPr>
              <a:spLocks noChangeArrowheads="1"/>
            </p:cNvSpPr>
            <p:nvPr/>
          </p:nvSpPr>
          <p:spPr bwMode="auto">
            <a:xfrm>
              <a:off x="4065" y="2674"/>
              <a:ext cx="108" cy="17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</p:txBody>
        </p:sp>
        <p:sp>
          <p:nvSpPr>
            <p:cNvPr id="76861" name="Rectangle 69"/>
            <p:cNvSpPr>
              <a:spLocks noChangeArrowheads="1"/>
            </p:cNvSpPr>
            <p:nvPr/>
          </p:nvSpPr>
          <p:spPr bwMode="auto">
            <a:xfrm>
              <a:off x="4470" y="4020"/>
              <a:ext cx="192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宋体" pitchFamily="2" charset="-122"/>
                </a:rPr>
                <a:t>(b)</a:t>
              </a:r>
              <a:endParaRPr lang="en-US" altLang="zh-CN" sz="1600"/>
            </a:p>
          </p:txBody>
        </p:sp>
        <p:sp>
          <p:nvSpPr>
            <p:cNvPr id="76862" name="Line 70"/>
            <p:cNvSpPr>
              <a:spLocks noChangeShapeType="1"/>
            </p:cNvSpPr>
            <p:nvPr/>
          </p:nvSpPr>
          <p:spPr bwMode="auto">
            <a:xfrm flipV="1">
              <a:off x="4519" y="3581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63" name="Line 71"/>
            <p:cNvSpPr>
              <a:spLocks noChangeShapeType="1"/>
            </p:cNvSpPr>
            <p:nvPr/>
          </p:nvSpPr>
          <p:spPr bwMode="auto">
            <a:xfrm>
              <a:off x="4519" y="3763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64" name="Line 72"/>
            <p:cNvSpPr>
              <a:spLocks noChangeShapeType="1"/>
            </p:cNvSpPr>
            <p:nvPr/>
          </p:nvSpPr>
          <p:spPr bwMode="auto">
            <a:xfrm flipV="1">
              <a:off x="3475" y="3355"/>
              <a:ext cx="0" cy="5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" name="Group 73"/>
            <p:cNvGrpSpPr>
              <a:grpSpLocks/>
            </p:cNvGrpSpPr>
            <p:nvPr/>
          </p:nvGrpSpPr>
          <p:grpSpPr bwMode="auto">
            <a:xfrm>
              <a:off x="3334" y="1071"/>
              <a:ext cx="2163" cy="960"/>
              <a:chOff x="3198" y="1136"/>
              <a:chExt cx="2163" cy="960"/>
            </a:xfrm>
          </p:grpSpPr>
          <p:sp>
            <p:nvSpPr>
              <p:cNvPr id="76869" name="Freeform 74"/>
              <p:cNvSpPr>
                <a:spLocks/>
              </p:cNvSpPr>
              <p:nvPr/>
            </p:nvSpPr>
            <p:spPr bwMode="auto">
              <a:xfrm>
                <a:off x="4117" y="1524"/>
                <a:ext cx="29" cy="200"/>
              </a:xfrm>
              <a:custGeom>
                <a:avLst/>
                <a:gdLst>
                  <a:gd name="T0" fmla="*/ 0 w 59"/>
                  <a:gd name="T1" fmla="*/ 0 h 399"/>
                  <a:gd name="T2" fmla="*/ 0 w 59"/>
                  <a:gd name="T3" fmla="*/ 1 h 399"/>
                  <a:gd name="T4" fmla="*/ 0 w 59"/>
                  <a:gd name="T5" fmla="*/ 1 h 399"/>
                  <a:gd name="T6" fmla="*/ 0 w 59"/>
                  <a:gd name="T7" fmla="*/ 1 h 399"/>
                  <a:gd name="T8" fmla="*/ 0 w 59"/>
                  <a:gd name="T9" fmla="*/ 1 h 399"/>
                  <a:gd name="T10" fmla="*/ 0 w 59"/>
                  <a:gd name="T11" fmla="*/ 1 h 399"/>
                  <a:gd name="T12" fmla="*/ 0 w 59"/>
                  <a:gd name="T13" fmla="*/ 1 h 399"/>
                  <a:gd name="T14" fmla="*/ 0 w 59"/>
                  <a:gd name="T15" fmla="*/ 1 h 399"/>
                  <a:gd name="T16" fmla="*/ 0 w 59"/>
                  <a:gd name="T17" fmla="*/ 1 h 399"/>
                  <a:gd name="T18" fmla="*/ 0 w 59"/>
                  <a:gd name="T19" fmla="*/ 2 h 399"/>
                  <a:gd name="T20" fmla="*/ 0 w 59"/>
                  <a:gd name="T21" fmla="*/ 2 h 399"/>
                  <a:gd name="T22" fmla="*/ 0 w 59"/>
                  <a:gd name="T23" fmla="*/ 2 h 399"/>
                  <a:gd name="T24" fmla="*/ 0 w 59"/>
                  <a:gd name="T25" fmla="*/ 2 h 399"/>
                  <a:gd name="T26" fmla="*/ 0 w 59"/>
                  <a:gd name="T27" fmla="*/ 2 h 399"/>
                  <a:gd name="T28" fmla="*/ 0 w 59"/>
                  <a:gd name="T29" fmla="*/ 2 h 399"/>
                  <a:gd name="T30" fmla="*/ 0 w 59"/>
                  <a:gd name="T31" fmla="*/ 2 h 399"/>
                  <a:gd name="T32" fmla="*/ 0 w 59"/>
                  <a:gd name="T33" fmla="*/ 2 h 399"/>
                  <a:gd name="T34" fmla="*/ 0 w 59"/>
                  <a:gd name="T35" fmla="*/ 2 h 399"/>
                  <a:gd name="T36" fmla="*/ 0 w 59"/>
                  <a:gd name="T37" fmla="*/ 2 h 399"/>
                  <a:gd name="T38" fmla="*/ 0 w 59"/>
                  <a:gd name="T39" fmla="*/ 2 h 399"/>
                  <a:gd name="T40" fmla="*/ 0 w 59"/>
                  <a:gd name="T41" fmla="*/ 2 h 399"/>
                  <a:gd name="T42" fmla="*/ 0 w 59"/>
                  <a:gd name="T43" fmla="*/ 3 h 399"/>
                  <a:gd name="T44" fmla="*/ 0 w 59"/>
                  <a:gd name="T45" fmla="*/ 3 h 399"/>
                  <a:gd name="T46" fmla="*/ 0 w 59"/>
                  <a:gd name="T47" fmla="*/ 3 h 399"/>
                  <a:gd name="T48" fmla="*/ 0 w 59"/>
                  <a:gd name="T49" fmla="*/ 3 h 399"/>
                  <a:gd name="T50" fmla="*/ 0 w 59"/>
                  <a:gd name="T51" fmla="*/ 3 h 399"/>
                  <a:gd name="T52" fmla="*/ 0 w 59"/>
                  <a:gd name="T53" fmla="*/ 3 h 399"/>
                  <a:gd name="T54" fmla="*/ 0 w 59"/>
                  <a:gd name="T55" fmla="*/ 3 h 399"/>
                  <a:gd name="T56" fmla="*/ 0 w 59"/>
                  <a:gd name="T57" fmla="*/ 4 h 399"/>
                  <a:gd name="T58" fmla="*/ 0 w 59"/>
                  <a:gd name="T59" fmla="*/ 4 h 399"/>
                  <a:gd name="T60" fmla="*/ 0 w 59"/>
                  <a:gd name="T61" fmla="*/ 4 h 399"/>
                  <a:gd name="T62" fmla="*/ 0 w 59"/>
                  <a:gd name="T63" fmla="*/ 4 h 399"/>
                  <a:gd name="T64" fmla="*/ 0 w 59"/>
                  <a:gd name="T65" fmla="*/ 4 h 399"/>
                  <a:gd name="T66" fmla="*/ 0 w 59"/>
                  <a:gd name="T67" fmla="*/ 4 h 399"/>
                  <a:gd name="T68" fmla="*/ 0 w 59"/>
                  <a:gd name="T69" fmla="*/ 4 h 399"/>
                  <a:gd name="T70" fmla="*/ 0 w 59"/>
                  <a:gd name="T71" fmla="*/ 4 h 399"/>
                  <a:gd name="T72" fmla="*/ 0 w 59"/>
                  <a:gd name="T73" fmla="*/ 4 h 399"/>
                  <a:gd name="T74" fmla="*/ 0 w 59"/>
                  <a:gd name="T75" fmla="*/ 4 h 399"/>
                  <a:gd name="T76" fmla="*/ 0 w 59"/>
                  <a:gd name="T77" fmla="*/ 4 h 399"/>
                  <a:gd name="T78" fmla="*/ 0 w 59"/>
                  <a:gd name="T79" fmla="*/ 5 h 399"/>
                  <a:gd name="T80" fmla="*/ 0 w 59"/>
                  <a:gd name="T81" fmla="*/ 5 h 399"/>
                  <a:gd name="T82" fmla="*/ 0 w 59"/>
                  <a:gd name="T83" fmla="*/ 5 h 399"/>
                  <a:gd name="T84" fmla="*/ 0 w 59"/>
                  <a:gd name="T85" fmla="*/ 5 h 399"/>
                  <a:gd name="T86" fmla="*/ 0 w 59"/>
                  <a:gd name="T87" fmla="*/ 5 h 399"/>
                  <a:gd name="T88" fmla="*/ 0 w 59"/>
                  <a:gd name="T89" fmla="*/ 5 h 399"/>
                  <a:gd name="T90" fmla="*/ 0 w 59"/>
                  <a:gd name="T91" fmla="*/ 5 h 399"/>
                  <a:gd name="T92" fmla="*/ 0 w 59"/>
                  <a:gd name="T93" fmla="*/ 5 h 399"/>
                  <a:gd name="T94" fmla="*/ 0 w 59"/>
                  <a:gd name="T95" fmla="*/ 5 h 399"/>
                  <a:gd name="T96" fmla="*/ 0 w 59"/>
                  <a:gd name="T97" fmla="*/ 5 h 399"/>
                  <a:gd name="T98" fmla="*/ 0 w 59"/>
                  <a:gd name="T99" fmla="*/ 5 h 399"/>
                  <a:gd name="T100" fmla="*/ 0 w 59"/>
                  <a:gd name="T101" fmla="*/ 5 h 399"/>
                  <a:gd name="T102" fmla="*/ 0 w 59"/>
                  <a:gd name="T103" fmla="*/ 6 h 399"/>
                  <a:gd name="T104" fmla="*/ 0 w 59"/>
                  <a:gd name="T105" fmla="*/ 6 h 399"/>
                  <a:gd name="T106" fmla="*/ 0 w 59"/>
                  <a:gd name="T107" fmla="*/ 6 h 399"/>
                  <a:gd name="T108" fmla="*/ 0 w 59"/>
                  <a:gd name="T109" fmla="*/ 6 h 399"/>
                  <a:gd name="T110" fmla="*/ 0 w 59"/>
                  <a:gd name="T111" fmla="*/ 6 h 399"/>
                  <a:gd name="T112" fmla="*/ 0 w 59"/>
                  <a:gd name="T113" fmla="*/ 6 h 399"/>
                  <a:gd name="T114" fmla="*/ 0 w 59"/>
                  <a:gd name="T115" fmla="*/ 6 h 399"/>
                  <a:gd name="T116" fmla="*/ 0 w 59"/>
                  <a:gd name="T117" fmla="*/ 7 h 399"/>
                  <a:gd name="T118" fmla="*/ 0 w 59"/>
                  <a:gd name="T119" fmla="*/ 7 h 399"/>
                  <a:gd name="T120" fmla="*/ 0 w 59"/>
                  <a:gd name="T121" fmla="*/ 7 h 399"/>
                  <a:gd name="T122" fmla="*/ 0 w 59"/>
                  <a:gd name="T123" fmla="*/ 7 h 399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59"/>
                  <a:gd name="T187" fmla="*/ 0 h 399"/>
                  <a:gd name="T188" fmla="*/ 59 w 59"/>
                  <a:gd name="T189" fmla="*/ 399 h 399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59" h="399">
                    <a:moveTo>
                      <a:pt x="0" y="0"/>
                    </a:moveTo>
                    <a:lnTo>
                      <a:pt x="6" y="0"/>
                    </a:lnTo>
                    <a:lnTo>
                      <a:pt x="11" y="0"/>
                    </a:lnTo>
                    <a:lnTo>
                      <a:pt x="17" y="1"/>
                    </a:lnTo>
                    <a:lnTo>
                      <a:pt x="22" y="3"/>
                    </a:lnTo>
                    <a:lnTo>
                      <a:pt x="26" y="4"/>
                    </a:lnTo>
                    <a:lnTo>
                      <a:pt x="31" y="6"/>
                    </a:lnTo>
                    <a:lnTo>
                      <a:pt x="40" y="12"/>
                    </a:lnTo>
                    <a:lnTo>
                      <a:pt x="45" y="16"/>
                    </a:lnTo>
                    <a:lnTo>
                      <a:pt x="48" y="19"/>
                    </a:lnTo>
                    <a:lnTo>
                      <a:pt x="51" y="23"/>
                    </a:lnTo>
                    <a:lnTo>
                      <a:pt x="53" y="28"/>
                    </a:lnTo>
                    <a:lnTo>
                      <a:pt x="56" y="33"/>
                    </a:lnTo>
                    <a:lnTo>
                      <a:pt x="57" y="38"/>
                    </a:lnTo>
                    <a:lnTo>
                      <a:pt x="59" y="42"/>
                    </a:lnTo>
                    <a:lnTo>
                      <a:pt x="59" y="47"/>
                    </a:lnTo>
                    <a:lnTo>
                      <a:pt x="59" y="52"/>
                    </a:lnTo>
                    <a:lnTo>
                      <a:pt x="57" y="56"/>
                    </a:lnTo>
                    <a:lnTo>
                      <a:pt x="57" y="63"/>
                    </a:lnTo>
                    <a:lnTo>
                      <a:pt x="56" y="67"/>
                    </a:lnTo>
                    <a:lnTo>
                      <a:pt x="53" y="71"/>
                    </a:lnTo>
                    <a:lnTo>
                      <a:pt x="50" y="75"/>
                    </a:lnTo>
                    <a:lnTo>
                      <a:pt x="47" y="80"/>
                    </a:lnTo>
                    <a:lnTo>
                      <a:pt x="43" y="83"/>
                    </a:lnTo>
                    <a:lnTo>
                      <a:pt x="36" y="89"/>
                    </a:lnTo>
                    <a:lnTo>
                      <a:pt x="31" y="93"/>
                    </a:lnTo>
                    <a:lnTo>
                      <a:pt x="26" y="94"/>
                    </a:lnTo>
                    <a:lnTo>
                      <a:pt x="20" y="96"/>
                    </a:lnTo>
                    <a:lnTo>
                      <a:pt x="15" y="97"/>
                    </a:lnTo>
                    <a:lnTo>
                      <a:pt x="9" y="99"/>
                    </a:lnTo>
                    <a:lnTo>
                      <a:pt x="5" y="99"/>
                    </a:lnTo>
                    <a:lnTo>
                      <a:pt x="0" y="99"/>
                    </a:lnTo>
                    <a:lnTo>
                      <a:pt x="6" y="99"/>
                    </a:lnTo>
                    <a:lnTo>
                      <a:pt x="11" y="99"/>
                    </a:lnTo>
                    <a:lnTo>
                      <a:pt x="17" y="100"/>
                    </a:lnTo>
                    <a:lnTo>
                      <a:pt x="22" y="102"/>
                    </a:lnTo>
                    <a:lnTo>
                      <a:pt x="26" y="104"/>
                    </a:lnTo>
                    <a:lnTo>
                      <a:pt x="31" y="107"/>
                    </a:lnTo>
                    <a:lnTo>
                      <a:pt x="40" y="111"/>
                    </a:lnTo>
                    <a:lnTo>
                      <a:pt x="45" y="116"/>
                    </a:lnTo>
                    <a:lnTo>
                      <a:pt x="48" y="119"/>
                    </a:lnTo>
                    <a:lnTo>
                      <a:pt x="51" y="124"/>
                    </a:lnTo>
                    <a:lnTo>
                      <a:pt x="53" y="127"/>
                    </a:lnTo>
                    <a:lnTo>
                      <a:pt x="56" y="132"/>
                    </a:lnTo>
                    <a:lnTo>
                      <a:pt x="57" y="137"/>
                    </a:lnTo>
                    <a:lnTo>
                      <a:pt x="59" y="141"/>
                    </a:lnTo>
                    <a:lnTo>
                      <a:pt x="59" y="148"/>
                    </a:lnTo>
                    <a:lnTo>
                      <a:pt x="59" y="152"/>
                    </a:lnTo>
                    <a:lnTo>
                      <a:pt x="57" y="157"/>
                    </a:lnTo>
                    <a:lnTo>
                      <a:pt x="57" y="162"/>
                    </a:lnTo>
                    <a:lnTo>
                      <a:pt x="56" y="167"/>
                    </a:lnTo>
                    <a:lnTo>
                      <a:pt x="53" y="171"/>
                    </a:lnTo>
                    <a:lnTo>
                      <a:pt x="50" y="176"/>
                    </a:lnTo>
                    <a:lnTo>
                      <a:pt x="47" y="179"/>
                    </a:lnTo>
                    <a:lnTo>
                      <a:pt x="43" y="182"/>
                    </a:lnTo>
                    <a:lnTo>
                      <a:pt x="36" y="189"/>
                    </a:lnTo>
                    <a:lnTo>
                      <a:pt x="31" y="192"/>
                    </a:lnTo>
                    <a:lnTo>
                      <a:pt x="26" y="195"/>
                    </a:lnTo>
                    <a:lnTo>
                      <a:pt x="20" y="196"/>
                    </a:lnTo>
                    <a:lnTo>
                      <a:pt x="15" y="198"/>
                    </a:lnTo>
                    <a:lnTo>
                      <a:pt x="9" y="198"/>
                    </a:lnTo>
                    <a:lnTo>
                      <a:pt x="5" y="200"/>
                    </a:lnTo>
                    <a:lnTo>
                      <a:pt x="0" y="200"/>
                    </a:lnTo>
                    <a:lnTo>
                      <a:pt x="6" y="200"/>
                    </a:lnTo>
                    <a:lnTo>
                      <a:pt x="11" y="200"/>
                    </a:lnTo>
                    <a:lnTo>
                      <a:pt x="17" y="201"/>
                    </a:lnTo>
                    <a:lnTo>
                      <a:pt x="22" y="203"/>
                    </a:lnTo>
                    <a:lnTo>
                      <a:pt x="26" y="204"/>
                    </a:lnTo>
                    <a:lnTo>
                      <a:pt x="31" y="206"/>
                    </a:lnTo>
                    <a:lnTo>
                      <a:pt x="40" y="212"/>
                    </a:lnTo>
                    <a:lnTo>
                      <a:pt x="45" y="215"/>
                    </a:lnTo>
                    <a:lnTo>
                      <a:pt x="48" y="220"/>
                    </a:lnTo>
                    <a:lnTo>
                      <a:pt x="51" y="223"/>
                    </a:lnTo>
                    <a:lnTo>
                      <a:pt x="53" y="228"/>
                    </a:lnTo>
                    <a:lnTo>
                      <a:pt x="56" y="233"/>
                    </a:lnTo>
                    <a:lnTo>
                      <a:pt x="57" y="237"/>
                    </a:lnTo>
                    <a:lnTo>
                      <a:pt x="59" y="242"/>
                    </a:lnTo>
                    <a:lnTo>
                      <a:pt x="59" y="247"/>
                    </a:lnTo>
                    <a:lnTo>
                      <a:pt x="59" y="252"/>
                    </a:lnTo>
                    <a:lnTo>
                      <a:pt x="57" y="258"/>
                    </a:lnTo>
                    <a:lnTo>
                      <a:pt x="57" y="263"/>
                    </a:lnTo>
                    <a:lnTo>
                      <a:pt x="56" y="267"/>
                    </a:lnTo>
                    <a:lnTo>
                      <a:pt x="53" y="270"/>
                    </a:lnTo>
                    <a:lnTo>
                      <a:pt x="50" y="275"/>
                    </a:lnTo>
                    <a:lnTo>
                      <a:pt x="47" y="280"/>
                    </a:lnTo>
                    <a:lnTo>
                      <a:pt x="43" y="283"/>
                    </a:lnTo>
                    <a:lnTo>
                      <a:pt x="36" y="289"/>
                    </a:lnTo>
                    <a:lnTo>
                      <a:pt x="31" y="292"/>
                    </a:lnTo>
                    <a:lnTo>
                      <a:pt x="26" y="294"/>
                    </a:lnTo>
                    <a:lnTo>
                      <a:pt x="20" y="296"/>
                    </a:lnTo>
                    <a:lnTo>
                      <a:pt x="15" y="297"/>
                    </a:lnTo>
                    <a:lnTo>
                      <a:pt x="9" y="299"/>
                    </a:lnTo>
                    <a:lnTo>
                      <a:pt x="5" y="299"/>
                    </a:lnTo>
                    <a:lnTo>
                      <a:pt x="0" y="299"/>
                    </a:lnTo>
                    <a:lnTo>
                      <a:pt x="6" y="299"/>
                    </a:lnTo>
                    <a:lnTo>
                      <a:pt x="11" y="299"/>
                    </a:lnTo>
                    <a:lnTo>
                      <a:pt x="17" y="300"/>
                    </a:lnTo>
                    <a:lnTo>
                      <a:pt x="22" y="302"/>
                    </a:lnTo>
                    <a:lnTo>
                      <a:pt x="26" y="303"/>
                    </a:lnTo>
                    <a:lnTo>
                      <a:pt x="31" y="307"/>
                    </a:lnTo>
                    <a:lnTo>
                      <a:pt x="40" y="311"/>
                    </a:lnTo>
                    <a:lnTo>
                      <a:pt x="45" y="316"/>
                    </a:lnTo>
                    <a:lnTo>
                      <a:pt x="48" y="319"/>
                    </a:lnTo>
                    <a:lnTo>
                      <a:pt x="51" y="324"/>
                    </a:lnTo>
                    <a:lnTo>
                      <a:pt x="53" y="327"/>
                    </a:lnTo>
                    <a:lnTo>
                      <a:pt x="56" y="332"/>
                    </a:lnTo>
                    <a:lnTo>
                      <a:pt x="57" y="336"/>
                    </a:lnTo>
                    <a:lnTo>
                      <a:pt x="59" y="341"/>
                    </a:lnTo>
                    <a:lnTo>
                      <a:pt x="59" y="348"/>
                    </a:lnTo>
                    <a:lnTo>
                      <a:pt x="59" y="352"/>
                    </a:lnTo>
                    <a:lnTo>
                      <a:pt x="57" y="357"/>
                    </a:lnTo>
                    <a:lnTo>
                      <a:pt x="57" y="362"/>
                    </a:lnTo>
                    <a:lnTo>
                      <a:pt x="56" y="366"/>
                    </a:lnTo>
                    <a:lnTo>
                      <a:pt x="53" y="371"/>
                    </a:lnTo>
                    <a:lnTo>
                      <a:pt x="50" y="376"/>
                    </a:lnTo>
                    <a:lnTo>
                      <a:pt x="47" y="379"/>
                    </a:lnTo>
                    <a:lnTo>
                      <a:pt x="43" y="382"/>
                    </a:lnTo>
                    <a:lnTo>
                      <a:pt x="36" y="388"/>
                    </a:lnTo>
                    <a:lnTo>
                      <a:pt x="31" y="392"/>
                    </a:lnTo>
                    <a:lnTo>
                      <a:pt x="26" y="395"/>
                    </a:lnTo>
                    <a:lnTo>
                      <a:pt x="20" y="396"/>
                    </a:lnTo>
                    <a:lnTo>
                      <a:pt x="15" y="398"/>
                    </a:lnTo>
                    <a:lnTo>
                      <a:pt x="9" y="398"/>
                    </a:lnTo>
                    <a:lnTo>
                      <a:pt x="5" y="399"/>
                    </a:lnTo>
                    <a:lnTo>
                      <a:pt x="0" y="39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70" name="Freeform 75"/>
              <p:cNvSpPr>
                <a:spLocks/>
              </p:cNvSpPr>
              <p:nvPr/>
            </p:nvSpPr>
            <p:spPr bwMode="auto">
              <a:xfrm>
                <a:off x="4201" y="1414"/>
                <a:ext cx="29" cy="200"/>
              </a:xfrm>
              <a:custGeom>
                <a:avLst/>
                <a:gdLst>
                  <a:gd name="T0" fmla="*/ 0 w 59"/>
                  <a:gd name="T1" fmla="*/ 0 h 400"/>
                  <a:gd name="T2" fmla="*/ 0 w 59"/>
                  <a:gd name="T3" fmla="*/ 1 h 400"/>
                  <a:gd name="T4" fmla="*/ 0 w 59"/>
                  <a:gd name="T5" fmla="*/ 1 h 400"/>
                  <a:gd name="T6" fmla="*/ 0 w 59"/>
                  <a:gd name="T7" fmla="*/ 1 h 400"/>
                  <a:gd name="T8" fmla="*/ 0 w 59"/>
                  <a:gd name="T9" fmla="*/ 1 h 400"/>
                  <a:gd name="T10" fmla="*/ 0 w 59"/>
                  <a:gd name="T11" fmla="*/ 1 h 400"/>
                  <a:gd name="T12" fmla="*/ 0 w 59"/>
                  <a:gd name="T13" fmla="*/ 1 h 400"/>
                  <a:gd name="T14" fmla="*/ 0 w 59"/>
                  <a:gd name="T15" fmla="*/ 1 h 400"/>
                  <a:gd name="T16" fmla="*/ 0 w 59"/>
                  <a:gd name="T17" fmla="*/ 1 h 400"/>
                  <a:gd name="T18" fmla="*/ 0 w 59"/>
                  <a:gd name="T19" fmla="*/ 2 h 400"/>
                  <a:gd name="T20" fmla="*/ 0 w 59"/>
                  <a:gd name="T21" fmla="*/ 2 h 400"/>
                  <a:gd name="T22" fmla="*/ 0 w 59"/>
                  <a:gd name="T23" fmla="*/ 2 h 400"/>
                  <a:gd name="T24" fmla="*/ 0 w 59"/>
                  <a:gd name="T25" fmla="*/ 2 h 400"/>
                  <a:gd name="T26" fmla="*/ 0 w 59"/>
                  <a:gd name="T27" fmla="*/ 2 h 400"/>
                  <a:gd name="T28" fmla="*/ 0 w 59"/>
                  <a:gd name="T29" fmla="*/ 2 h 400"/>
                  <a:gd name="T30" fmla="*/ 0 w 59"/>
                  <a:gd name="T31" fmla="*/ 2 h 400"/>
                  <a:gd name="T32" fmla="*/ 0 w 59"/>
                  <a:gd name="T33" fmla="*/ 2 h 400"/>
                  <a:gd name="T34" fmla="*/ 0 w 59"/>
                  <a:gd name="T35" fmla="*/ 2 h 400"/>
                  <a:gd name="T36" fmla="*/ 0 w 59"/>
                  <a:gd name="T37" fmla="*/ 2 h 400"/>
                  <a:gd name="T38" fmla="*/ 0 w 59"/>
                  <a:gd name="T39" fmla="*/ 2 h 400"/>
                  <a:gd name="T40" fmla="*/ 0 w 59"/>
                  <a:gd name="T41" fmla="*/ 2 h 400"/>
                  <a:gd name="T42" fmla="*/ 0 w 59"/>
                  <a:gd name="T43" fmla="*/ 3 h 400"/>
                  <a:gd name="T44" fmla="*/ 0 w 59"/>
                  <a:gd name="T45" fmla="*/ 3 h 400"/>
                  <a:gd name="T46" fmla="*/ 0 w 59"/>
                  <a:gd name="T47" fmla="*/ 3 h 400"/>
                  <a:gd name="T48" fmla="*/ 0 w 59"/>
                  <a:gd name="T49" fmla="*/ 3 h 400"/>
                  <a:gd name="T50" fmla="*/ 0 w 59"/>
                  <a:gd name="T51" fmla="*/ 3 h 400"/>
                  <a:gd name="T52" fmla="*/ 0 w 59"/>
                  <a:gd name="T53" fmla="*/ 3 h 400"/>
                  <a:gd name="T54" fmla="*/ 0 w 59"/>
                  <a:gd name="T55" fmla="*/ 3 h 400"/>
                  <a:gd name="T56" fmla="*/ 0 w 59"/>
                  <a:gd name="T57" fmla="*/ 4 h 400"/>
                  <a:gd name="T58" fmla="*/ 0 w 59"/>
                  <a:gd name="T59" fmla="*/ 4 h 400"/>
                  <a:gd name="T60" fmla="*/ 0 w 59"/>
                  <a:gd name="T61" fmla="*/ 4 h 400"/>
                  <a:gd name="T62" fmla="*/ 0 w 59"/>
                  <a:gd name="T63" fmla="*/ 4 h 400"/>
                  <a:gd name="T64" fmla="*/ 0 w 59"/>
                  <a:gd name="T65" fmla="*/ 4 h 400"/>
                  <a:gd name="T66" fmla="*/ 0 w 59"/>
                  <a:gd name="T67" fmla="*/ 4 h 400"/>
                  <a:gd name="T68" fmla="*/ 0 w 59"/>
                  <a:gd name="T69" fmla="*/ 4 h 400"/>
                  <a:gd name="T70" fmla="*/ 0 w 59"/>
                  <a:gd name="T71" fmla="*/ 4 h 400"/>
                  <a:gd name="T72" fmla="*/ 0 w 59"/>
                  <a:gd name="T73" fmla="*/ 4 h 400"/>
                  <a:gd name="T74" fmla="*/ 0 w 59"/>
                  <a:gd name="T75" fmla="*/ 4 h 400"/>
                  <a:gd name="T76" fmla="*/ 0 w 59"/>
                  <a:gd name="T77" fmla="*/ 4 h 400"/>
                  <a:gd name="T78" fmla="*/ 0 w 59"/>
                  <a:gd name="T79" fmla="*/ 5 h 400"/>
                  <a:gd name="T80" fmla="*/ 0 w 59"/>
                  <a:gd name="T81" fmla="*/ 5 h 400"/>
                  <a:gd name="T82" fmla="*/ 0 w 59"/>
                  <a:gd name="T83" fmla="*/ 5 h 400"/>
                  <a:gd name="T84" fmla="*/ 0 w 59"/>
                  <a:gd name="T85" fmla="*/ 5 h 400"/>
                  <a:gd name="T86" fmla="*/ 0 w 59"/>
                  <a:gd name="T87" fmla="*/ 5 h 400"/>
                  <a:gd name="T88" fmla="*/ 0 w 59"/>
                  <a:gd name="T89" fmla="*/ 5 h 400"/>
                  <a:gd name="T90" fmla="*/ 0 w 59"/>
                  <a:gd name="T91" fmla="*/ 5 h 400"/>
                  <a:gd name="T92" fmla="*/ 0 w 59"/>
                  <a:gd name="T93" fmla="*/ 5 h 400"/>
                  <a:gd name="T94" fmla="*/ 0 w 59"/>
                  <a:gd name="T95" fmla="*/ 5 h 400"/>
                  <a:gd name="T96" fmla="*/ 0 w 59"/>
                  <a:gd name="T97" fmla="*/ 5 h 400"/>
                  <a:gd name="T98" fmla="*/ 0 w 59"/>
                  <a:gd name="T99" fmla="*/ 5 h 400"/>
                  <a:gd name="T100" fmla="*/ 0 w 59"/>
                  <a:gd name="T101" fmla="*/ 5 h 400"/>
                  <a:gd name="T102" fmla="*/ 0 w 59"/>
                  <a:gd name="T103" fmla="*/ 6 h 400"/>
                  <a:gd name="T104" fmla="*/ 0 w 59"/>
                  <a:gd name="T105" fmla="*/ 6 h 400"/>
                  <a:gd name="T106" fmla="*/ 0 w 59"/>
                  <a:gd name="T107" fmla="*/ 6 h 400"/>
                  <a:gd name="T108" fmla="*/ 0 w 59"/>
                  <a:gd name="T109" fmla="*/ 6 h 400"/>
                  <a:gd name="T110" fmla="*/ 0 w 59"/>
                  <a:gd name="T111" fmla="*/ 6 h 400"/>
                  <a:gd name="T112" fmla="*/ 0 w 59"/>
                  <a:gd name="T113" fmla="*/ 6 h 400"/>
                  <a:gd name="T114" fmla="*/ 0 w 59"/>
                  <a:gd name="T115" fmla="*/ 6 h 400"/>
                  <a:gd name="T116" fmla="*/ 0 w 59"/>
                  <a:gd name="T117" fmla="*/ 7 h 400"/>
                  <a:gd name="T118" fmla="*/ 0 w 59"/>
                  <a:gd name="T119" fmla="*/ 7 h 400"/>
                  <a:gd name="T120" fmla="*/ 0 w 59"/>
                  <a:gd name="T121" fmla="*/ 7 h 400"/>
                  <a:gd name="T122" fmla="*/ 0 w 59"/>
                  <a:gd name="T123" fmla="*/ 7 h 40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59"/>
                  <a:gd name="T187" fmla="*/ 0 h 400"/>
                  <a:gd name="T188" fmla="*/ 59 w 59"/>
                  <a:gd name="T189" fmla="*/ 400 h 400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59" h="400">
                    <a:moveTo>
                      <a:pt x="59" y="0"/>
                    </a:moveTo>
                    <a:lnTo>
                      <a:pt x="53" y="0"/>
                    </a:lnTo>
                    <a:lnTo>
                      <a:pt x="47" y="0"/>
                    </a:lnTo>
                    <a:lnTo>
                      <a:pt x="42" y="2"/>
                    </a:lnTo>
                    <a:lnTo>
                      <a:pt x="36" y="4"/>
                    </a:lnTo>
                    <a:lnTo>
                      <a:pt x="31" y="5"/>
                    </a:lnTo>
                    <a:lnTo>
                      <a:pt x="26" y="8"/>
                    </a:lnTo>
                    <a:lnTo>
                      <a:pt x="19" y="13"/>
                    </a:lnTo>
                    <a:lnTo>
                      <a:pt x="14" y="16"/>
                    </a:lnTo>
                    <a:lnTo>
                      <a:pt x="11" y="21"/>
                    </a:lnTo>
                    <a:lnTo>
                      <a:pt x="8" y="24"/>
                    </a:lnTo>
                    <a:lnTo>
                      <a:pt x="5" y="29"/>
                    </a:lnTo>
                    <a:lnTo>
                      <a:pt x="3" y="34"/>
                    </a:lnTo>
                    <a:lnTo>
                      <a:pt x="1" y="38"/>
                    </a:lnTo>
                    <a:lnTo>
                      <a:pt x="0" y="43"/>
                    </a:lnTo>
                    <a:lnTo>
                      <a:pt x="0" y="48"/>
                    </a:lnTo>
                    <a:lnTo>
                      <a:pt x="0" y="54"/>
                    </a:lnTo>
                    <a:lnTo>
                      <a:pt x="0" y="59"/>
                    </a:lnTo>
                    <a:lnTo>
                      <a:pt x="1" y="63"/>
                    </a:lnTo>
                    <a:lnTo>
                      <a:pt x="3" y="68"/>
                    </a:lnTo>
                    <a:lnTo>
                      <a:pt x="6" y="73"/>
                    </a:lnTo>
                    <a:lnTo>
                      <a:pt x="8" y="76"/>
                    </a:lnTo>
                    <a:lnTo>
                      <a:pt x="11" y="81"/>
                    </a:lnTo>
                    <a:lnTo>
                      <a:pt x="14" y="84"/>
                    </a:lnTo>
                    <a:lnTo>
                      <a:pt x="23" y="90"/>
                    </a:lnTo>
                    <a:lnTo>
                      <a:pt x="28" y="93"/>
                    </a:lnTo>
                    <a:lnTo>
                      <a:pt x="33" y="95"/>
                    </a:lnTo>
                    <a:lnTo>
                      <a:pt x="37" y="96"/>
                    </a:lnTo>
                    <a:lnTo>
                      <a:pt x="43" y="98"/>
                    </a:lnTo>
                    <a:lnTo>
                      <a:pt x="48" y="100"/>
                    </a:lnTo>
                    <a:lnTo>
                      <a:pt x="54" y="100"/>
                    </a:lnTo>
                    <a:lnTo>
                      <a:pt x="59" y="100"/>
                    </a:lnTo>
                    <a:lnTo>
                      <a:pt x="53" y="100"/>
                    </a:lnTo>
                    <a:lnTo>
                      <a:pt x="47" y="101"/>
                    </a:lnTo>
                    <a:lnTo>
                      <a:pt x="42" y="101"/>
                    </a:lnTo>
                    <a:lnTo>
                      <a:pt x="36" y="103"/>
                    </a:lnTo>
                    <a:lnTo>
                      <a:pt x="31" y="106"/>
                    </a:lnTo>
                    <a:lnTo>
                      <a:pt x="26" y="107"/>
                    </a:lnTo>
                    <a:lnTo>
                      <a:pt x="19" y="114"/>
                    </a:lnTo>
                    <a:lnTo>
                      <a:pt x="14" y="117"/>
                    </a:lnTo>
                    <a:lnTo>
                      <a:pt x="11" y="120"/>
                    </a:lnTo>
                    <a:lnTo>
                      <a:pt x="8" y="125"/>
                    </a:lnTo>
                    <a:lnTo>
                      <a:pt x="5" y="130"/>
                    </a:lnTo>
                    <a:lnTo>
                      <a:pt x="3" y="133"/>
                    </a:lnTo>
                    <a:lnTo>
                      <a:pt x="1" y="137"/>
                    </a:lnTo>
                    <a:lnTo>
                      <a:pt x="0" y="144"/>
                    </a:lnTo>
                    <a:lnTo>
                      <a:pt x="0" y="148"/>
                    </a:lnTo>
                    <a:lnTo>
                      <a:pt x="0" y="153"/>
                    </a:lnTo>
                    <a:lnTo>
                      <a:pt x="0" y="158"/>
                    </a:lnTo>
                    <a:lnTo>
                      <a:pt x="1" y="163"/>
                    </a:lnTo>
                    <a:lnTo>
                      <a:pt x="3" y="167"/>
                    </a:lnTo>
                    <a:lnTo>
                      <a:pt x="6" y="172"/>
                    </a:lnTo>
                    <a:lnTo>
                      <a:pt x="8" y="177"/>
                    </a:lnTo>
                    <a:lnTo>
                      <a:pt x="11" y="180"/>
                    </a:lnTo>
                    <a:lnTo>
                      <a:pt x="14" y="185"/>
                    </a:lnTo>
                    <a:lnTo>
                      <a:pt x="23" y="191"/>
                    </a:lnTo>
                    <a:lnTo>
                      <a:pt x="28" y="192"/>
                    </a:lnTo>
                    <a:lnTo>
                      <a:pt x="33" y="196"/>
                    </a:lnTo>
                    <a:lnTo>
                      <a:pt x="37" y="197"/>
                    </a:lnTo>
                    <a:lnTo>
                      <a:pt x="43" y="199"/>
                    </a:lnTo>
                    <a:lnTo>
                      <a:pt x="48" y="200"/>
                    </a:lnTo>
                    <a:lnTo>
                      <a:pt x="54" y="200"/>
                    </a:lnTo>
                    <a:lnTo>
                      <a:pt x="59" y="200"/>
                    </a:lnTo>
                    <a:lnTo>
                      <a:pt x="53" y="200"/>
                    </a:lnTo>
                    <a:lnTo>
                      <a:pt x="47" y="200"/>
                    </a:lnTo>
                    <a:lnTo>
                      <a:pt x="42" y="202"/>
                    </a:lnTo>
                    <a:lnTo>
                      <a:pt x="36" y="203"/>
                    </a:lnTo>
                    <a:lnTo>
                      <a:pt x="31" y="205"/>
                    </a:lnTo>
                    <a:lnTo>
                      <a:pt x="26" y="208"/>
                    </a:lnTo>
                    <a:lnTo>
                      <a:pt x="19" y="213"/>
                    </a:lnTo>
                    <a:lnTo>
                      <a:pt x="14" y="216"/>
                    </a:lnTo>
                    <a:lnTo>
                      <a:pt x="11" y="221"/>
                    </a:lnTo>
                    <a:lnTo>
                      <a:pt x="8" y="224"/>
                    </a:lnTo>
                    <a:lnTo>
                      <a:pt x="5" y="229"/>
                    </a:lnTo>
                    <a:lnTo>
                      <a:pt x="3" y="233"/>
                    </a:lnTo>
                    <a:lnTo>
                      <a:pt x="1" y="238"/>
                    </a:lnTo>
                    <a:lnTo>
                      <a:pt x="0" y="243"/>
                    </a:lnTo>
                    <a:lnTo>
                      <a:pt x="0" y="248"/>
                    </a:lnTo>
                    <a:lnTo>
                      <a:pt x="0" y="254"/>
                    </a:lnTo>
                    <a:lnTo>
                      <a:pt x="0" y="259"/>
                    </a:lnTo>
                    <a:lnTo>
                      <a:pt x="1" y="263"/>
                    </a:lnTo>
                    <a:lnTo>
                      <a:pt x="3" y="268"/>
                    </a:lnTo>
                    <a:lnTo>
                      <a:pt x="6" y="273"/>
                    </a:lnTo>
                    <a:lnTo>
                      <a:pt x="8" y="276"/>
                    </a:lnTo>
                    <a:lnTo>
                      <a:pt x="11" y="281"/>
                    </a:lnTo>
                    <a:lnTo>
                      <a:pt x="14" y="284"/>
                    </a:lnTo>
                    <a:lnTo>
                      <a:pt x="23" y="290"/>
                    </a:lnTo>
                    <a:lnTo>
                      <a:pt x="28" y="293"/>
                    </a:lnTo>
                    <a:lnTo>
                      <a:pt x="33" y="295"/>
                    </a:lnTo>
                    <a:lnTo>
                      <a:pt x="37" y="298"/>
                    </a:lnTo>
                    <a:lnTo>
                      <a:pt x="43" y="298"/>
                    </a:lnTo>
                    <a:lnTo>
                      <a:pt x="48" y="299"/>
                    </a:lnTo>
                    <a:lnTo>
                      <a:pt x="54" y="299"/>
                    </a:lnTo>
                    <a:lnTo>
                      <a:pt x="59" y="299"/>
                    </a:lnTo>
                    <a:lnTo>
                      <a:pt x="53" y="299"/>
                    </a:lnTo>
                    <a:lnTo>
                      <a:pt x="47" y="301"/>
                    </a:lnTo>
                    <a:lnTo>
                      <a:pt x="42" y="301"/>
                    </a:lnTo>
                    <a:lnTo>
                      <a:pt x="36" y="303"/>
                    </a:lnTo>
                    <a:lnTo>
                      <a:pt x="31" y="306"/>
                    </a:lnTo>
                    <a:lnTo>
                      <a:pt x="26" y="307"/>
                    </a:lnTo>
                    <a:lnTo>
                      <a:pt x="19" y="314"/>
                    </a:lnTo>
                    <a:lnTo>
                      <a:pt x="14" y="317"/>
                    </a:lnTo>
                    <a:lnTo>
                      <a:pt x="11" y="320"/>
                    </a:lnTo>
                    <a:lnTo>
                      <a:pt x="8" y="325"/>
                    </a:lnTo>
                    <a:lnTo>
                      <a:pt x="5" y="329"/>
                    </a:lnTo>
                    <a:lnTo>
                      <a:pt x="3" y="332"/>
                    </a:lnTo>
                    <a:lnTo>
                      <a:pt x="1" y="337"/>
                    </a:lnTo>
                    <a:lnTo>
                      <a:pt x="0" y="344"/>
                    </a:lnTo>
                    <a:lnTo>
                      <a:pt x="0" y="348"/>
                    </a:lnTo>
                    <a:lnTo>
                      <a:pt x="0" y="353"/>
                    </a:lnTo>
                    <a:lnTo>
                      <a:pt x="0" y="358"/>
                    </a:lnTo>
                    <a:lnTo>
                      <a:pt x="1" y="362"/>
                    </a:lnTo>
                    <a:lnTo>
                      <a:pt x="3" y="367"/>
                    </a:lnTo>
                    <a:lnTo>
                      <a:pt x="6" y="372"/>
                    </a:lnTo>
                    <a:lnTo>
                      <a:pt x="8" y="377"/>
                    </a:lnTo>
                    <a:lnTo>
                      <a:pt x="11" y="380"/>
                    </a:lnTo>
                    <a:lnTo>
                      <a:pt x="14" y="384"/>
                    </a:lnTo>
                    <a:lnTo>
                      <a:pt x="23" y="391"/>
                    </a:lnTo>
                    <a:lnTo>
                      <a:pt x="28" y="392"/>
                    </a:lnTo>
                    <a:lnTo>
                      <a:pt x="33" y="395"/>
                    </a:lnTo>
                    <a:lnTo>
                      <a:pt x="37" y="397"/>
                    </a:lnTo>
                    <a:lnTo>
                      <a:pt x="43" y="399"/>
                    </a:lnTo>
                    <a:lnTo>
                      <a:pt x="48" y="400"/>
                    </a:lnTo>
                    <a:lnTo>
                      <a:pt x="54" y="400"/>
                    </a:lnTo>
                    <a:lnTo>
                      <a:pt x="59" y="40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71" name="Line 76"/>
              <p:cNvSpPr>
                <a:spLocks noChangeShapeType="1"/>
              </p:cNvSpPr>
              <p:nvPr/>
            </p:nvSpPr>
            <p:spPr bwMode="auto">
              <a:xfrm>
                <a:off x="4165" y="1419"/>
                <a:ext cx="1" cy="1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72" name="Line 77"/>
              <p:cNvSpPr>
                <a:spLocks noChangeShapeType="1"/>
              </p:cNvSpPr>
              <p:nvPr/>
            </p:nvSpPr>
            <p:spPr bwMode="auto">
              <a:xfrm flipV="1">
                <a:off x="4177" y="1419"/>
                <a:ext cx="1" cy="1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73" name="Rectangle 78"/>
              <p:cNvSpPr>
                <a:spLocks noChangeArrowheads="1"/>
              </p:cNvSpPr>
              <p:nvPr/>
            </p:nvSpPr>
            <p:spPr bwMode="auto">
              <a:xfrm>
                <a:off x="5125" y="1427"/>
                <a:ext cx="40" cy="100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76874" name="Rectangle 79"/>
              <p:cNvSpPr>
                <a:spLocks noChangeArrowheads="1"/>
              </p:cNvSpPr>
              <p:nvPr/>
            </p:nvSpPr>
            <p:spPr bwMode="auto">
              <a:xfrm>
                <a:off x="5125" y="1427"/>
                <a:ext cx="40" cy="100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76875" name="Line 80"/>
              <p:cNvSpPr>
                <a:spLocks noChangeShapeType="1"/>
              </p:cNvSpPr>
              <p:nvPr/>
            </p:nvSpPr>
            <p:spPr bwMode="auto">
              <a:xfrm>
                <a:off x="4948" y="1467"/>
                <a:ext cx="7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76" name="Line 81"/>
              <p:cNvSpPr>
                <a:spLocks noChangeShapeType="1"/>
              </p:cNvSpPr>
              <p:nvPr/>
            </p:nvSpPr>
            <p:spPr bwMode="auto">
              <a:xfrm>
                <a:off x="4948" y="1497"/>
                <a:ext cx="7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77" name="Line 82"/>
              <p:cNvSpPr>
                <a:spLocks noChangeShapeType="1"/>
              </p:cNvSpPr>
              <p:nvPr/>
            </p:nvSpPr>
            <p:spPr bwMode="auto">
              <a:xfrm>
                <a:off x="4987" y="1497"/>
                <a:ext cx="1" cy="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78" name="Line 83"/>
              <p:cNvSpPr>
                <a:spLocks noChangeShapeType="1"/>
              </p:cNvSpPr>
              <p:nvPr/>
            </p:nvSpPr>
            <p:spPr bwMode="auto">
              <a:xfrm flipV="1">
                <a:off x="4987" y="1377"/>
                <a:ext cx="1" cy="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79" name="Line 84"/>
              <p:cNvSpPr>
                <a:spLocks noChangeShapeType="1"/>
              </p:cNvSpPr>
              <p:nvPr/>
            </p:nvSpPr>
            <p:spPr bwMode="auto">
              <a:xfrm flipV="1">
                <a:off x="4987" y="1357"/>
                <a:ext cx="1" cy="2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80" name="Freeform 85"/>
              <p:cNvSpPr>
                <a:spLocks/>
              </p:cNvSpPr>
              <p:nvPr/>
            </p:nvSpPr>
            <p:spPr bwMode="auto">
              <a:xfrm>
                <a:off x="4101" y="1542"/>
                <a:ext cx="25" cy="25"/>
              </a:xfrm>
              <a:custGeom>
                <a:avLst/>
                <a:gdLst>
                  <a:gd name="T0" fmla="*/ 0 w 50"/>
                  <a:gd name="T1" fmla="*/ 0 h 51"/>
                  <a:gd name="T2" fmla="*/ 0 w 50"/>
                  <a:gd name="T3" fmla="*/ 0 h 51"/>
                  <a:gd name="T4" fmla="*/ 1 w 50"/>
                  <a:gd name="T5" fmla="*/ 0 h 51"/>
                  <a:gd name="T6" fmla="*/ 1 w 50"/>
                  <a:gd name="T7" fmla="*/ 0 h 51"/>
                  <a:gd name="T8" fmla="*/ 1 w 50"/>
                  <a:gd name="T9" fmla="*/ 0 h 51"/>
                  <a:gd name="T10" fmla="*/ 1 w 50"/>
                  <a:gd name="T11" fmla="*/ 0 h 51"/>
                  <a:gd name="T12" fmla="*/ 1 w 50"/>
                  <a:gd name="T13" fmla="*/ 0 h 51"/>
                  <a:gd name="T14" fmla="*/ 1 w 50"/>
                  <a:gd name="T15" fmla="*/ 0 h 51"/>
                  <a:gd name="T16" fmla="*/ 1 w 50"/>
                  <a:gd name="T17" fmla="*/ 0 h 51"/>
                  <a:gd name="T18" fmla="*/ 1 w 50"/>
                  <a:gd name="T19" fmla="*/ 0 h 51"/>
                  <a:gd name="T20" fmla="*/ 1 w 50"/>
                  <a:gd name="T21" fmla="*/ 0 h 51"/>
                  <a:gd name="T22" fmla="*/ 1 w 50"/>
                  <a:gd name="T23" fmla="*/ 0 h 51"/>
                  <a:gd name="T24" fmla="*/ 1 w 50"/>
                  <a:gd name="T25" fmla="*/ 0 h 51"/>
                  <a:gd name="T26" fmla="*/ 1 w 50"/>
                  <a:gd name="T27" fmla="*/ 0 h 51"/>
                  <a:gd name="T28" fmla="*/ 1 w 50"/>
                  <a:gd name="T29" fmla="*/ 0 h 51"/>
                  <a:gd name="T30" fmla="*/ 1 w 50"/>
                  <a:gd name="T31" fmla="*/ 0 h 51"/>
                  <a:gd name="T32" fmla="*/ 1 w 50"/>
                  <a:gd name="T33" fmla="*/ 0 h 51"/>
                  <a:gd name="T34" fmla="*/ 1 w 50"/>
                  <a:gd name="T35" fmla="*/ 0 h 51"/>
                  <a:gd name="T36" fmla="*/ 1 w 50"/>
                  <a:gd name="T37" fmla="*/ 0 h 51"/>
                  <a:gd name="T38" fmla="*/ 1 w 50"/>
                  <a:gd name="T39" fmla="*/ 0 h 51"/>
                  <a:gd name="T40" fmla="*/ 1 w 50"/>
                  <a:gd name="T41" fmla="*/ 0 h 51"/>
                  <a:gd name="T42" fmla="*/ 1 w 50"/>
                  <a:gd name="T43" fmla="*/ 0 h 51"/>
                  <a:gd name="T44" fmla="*/ 1 w 50"/>
                  <a:gd name="T45" fmla="*/ 0 h 51"/>
                  <a:gd name="T46" fmla="*/ 1 w 50"/>
                  <a:gd name="T47" fmla="*/ 0 h 51"/>
                  <a:gd name="T48" fmla="*/ 1 w 50"/>
                  <a:gd name="T49" fmla="*/ 0 h 51"/>
                  <a:gd name="T50" fmla="*/ 1 w 50"/>
                  <a:gd name="T51" fmla="*/ 0 h 51"/>
                  <a:gd name="T52" fmla="*/ 1 w 50"/>
                  <a:gd name="T53" fmla="*/ 0 h 51"/>
                  <a:gd name="T54" fmla="*/ 1 w 50"/>
                  <a:gd name="T55" fmla="*/ 0 h 51"/>
                  <a:gd name="T56" fmla="*/ 1 w 50"/>
                  <a:gd name="T57" fmla="*/ 0 h 51"/>
                  <a:gd name="T58" fmla="*/ 1 w 50"/>
                  <a:gd name="T59" fmla="*/ 0 h 51"/>
                  <a:gd name="T60" fmla="*/ 1 w 50"/>
                  <a:gd name="T61" fmla="*/ 0 h 51"/>
                  <a:gd name="T62" fmla="*/ 1 w 50"/>
                  <a:gd name="T63" fmla="*/ 0 h 51"/>
                  <a:gd name="T64" fmla="*/ 0 w 50"/>
                  <a:gd name="T65" fmla="*/ 0 h 51"/>
                  <a:gd name="T66" fmla="*/ 0 w 50"/>
                  <a:gd name="T67" fmla="*/ 0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1"/>
                  <a:gd name="T104" fmla="*/ 50 w 50"/>
                  <a:gd name="T105" fmla="*/ 51 h 5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1">
                    <a:moveTo>
                      <a:pt x="0" y="26"/>
                    </a:moveTo>
                    <a:lnTo>
                      <a:pt x="0" y="19"/>
                    </a:lnTo>
                    <a:lnTo>
                      <a:pt x="1" y="15"/>
                    </a:lnTo>
                    <a:lnTo>
                      <a:pt x="4" y="11"/>
                    </a:lnTo>
                    <a:lnTo>
                      <a:pt x="8" y="7"/>
                    </a:lnTo>
                    <a:lnTo>
                      <a:pt x="11" y="4"/>
                    </a:lnTo>
                    <a:lnTo>
                      <a:pt x="15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2"/>
                    </a:lnTo>
                    <a:lnTo>
                      <a:pt x="39" y="4"/>
                    </a:lnTo>
                    <a:lnTo>
                      <a:pt x="42" y="7"/>
                    </a:lnTo>
                    <a:lnTo>
                      <a:pt x="45" y="11"/>
                    </a:lnTo>
                    <a:lnTo>
                      <a:pt x="48" y="15"/>
                    </a:lnTo>
                    <a:lnTo>
                      <a:pt x="50" y="19"/>
                    </a:lnTo>
                    <a:lnTo>
                      <a:pt x="50" y="26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40"/>
                    </a:lnTo>
                    <a:lnTo>
                      <a:pt x="42" y="43"/>
                    </a:lnTo>
                    <a:lnTo>
                      <a:pt x="39" y="46"/>
                    </a:lnTo>
                    <a:lnTo>
                      <a:pt x="34" y="48"/>
                    </a:lnTo>
                    <a:lnTo>
                      <a:pt x="29" y="49"/>
                    </a:lnTo>
                    <a:lnTo>
                      <a:pt x="25" y="51"/>
                    </a:lnTo>
                    <a:lnTo>
                      <a:pt x="20" y="49"/>
                    </a:lnTo>
                    <a:lnTo>
                      <a:pt x="15" y="48"/>
                    </a:lnTo>
                    <a:lnTo>
                      <a:pt x="11" y="46"/>
                    </a:lnTo>
                    <a:lnTo>
                      <a:pt x="8" y="43"/>
                    </a:lnTo>
                    <a:lnTo>
                      <a:pt x="4" y="40"/>
                    </a:lnTo>
                    <a:lnTo>
                      <a:pt x="1" y="35"/>
                    </a:lnTo>
                    <a:lnTo>
                      <a:pt x="0" y="30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81" name="Freeform 86"/>
              <p:cNvSpPr>
                <a:spLocks/>
              </p:cNvSpPr>
              <p:nvPr/>
            </p:nvSpPr>
            <p:spPr bwMode="auto">
              <a:xfrm>
                <a:off x="4226" y="1416"/>
                <a:ext cx="25" cy="25"/>
              </a:xfrm>
              <a:custGeom>
                <a:avLst/>
                <a:gdLst>
                  <a:gd name="T0" fmla="*/ 0 w 49"/>
                  <a:gd name="T1" fmla="*/ 1 h 50"/>
                  <a:gd name="T2" fmla="*/ 0 w 49"/>
                  <a:gd name="T3" fmla="*/ 1 h 50"/>
                  <a:gd name="T4" fmla="*/ 1 w 49"/>
                  <a:gd name="T5" fmla="*/ 1 h 50"/>
                  <a:gd name="T6" fmla="*/ 1 w 49"/>
                  <a:gd name="T7" fmla="*/ 1 h 50"/>
                  <a:gd name="T8" fmla="*/ 1 w 49"/>
                  <a:gd name="T9" fmla="*/ 1 h 50"/>
                  <a:gd name="T10" fmla="*/ 1 w 49"/>
                  <a:gd name="T11" fmla="*/ 1 h 50"/>
                  <a:gd name="T12" fmla="*/ 1 w 49"/>
                  <a:gd name="T13" fmla="*/ 1 h 50"/>
                  <a:gd name="T14" fmla="*/ 1 w 49"/>
                  <a:gd name="T15" fmla="*/ 0 h 50"/>
                  <a:gd name="T16" fmla="*/ 1 w 49"/>
                  <a:gd name="T17" fmla="*/ 0 h 50"/>
                  <a:gd name="T18" fmla="*/ 1 w 49"/>
                  <a:gd name="T19" fmla="*/ 0 h 50"/>
                  <a:gd name="T20" fmla="*/ 1 w 49"/>
                  <a:gd name="T21" fmla="*/ 1 h 50"/>
                  <a:gd name="T22" fmla="*/ 1 w 49"/>
                  <a:gd name="T23" fmla="*/ 1 h 50"/>
                  <a:gd name="T24" fmla="*/ 1 w 49"/>
                  <a:gd name="T25" fmla="*/ 1 h 50"/>
                  <a:gd name="T26" fmla="*/ 1 w 49"/>
                  <a:gd name="T27" fmla="*/ 1 h 50"/>
                  <a:gd name="T28" fmla="*/ 1 w 49"/>
                  <a:gd name="T29" fmla="*/ 1 h 50"/>
                  <a:gd name="T30" fmla="*/ 1 w 49"/>
                  <a:gd name="T31" fmla="*/ 1 h 50"/>
                  <a:gd name="T32" fmla="*/ 1 w 49"/>
                  <a:gd name="T33" fmla="*/ 1 h 50"/>
                  <a:gd name="T34" fmla="*/ 1 w 49"/>
                  <a:gd name="T35" fmla="*/ 1 h 50"/>
                  <a:gd name="T36" fmla="*/ 1 w 49"/>
                  <a:gd name="T37" fmla="*/ 1 h 50"/>
                  <a:gd name="T38" fmla="*/ 1 w 49"/>
                  <a:gd name="T39" fmla="*/ 1 h 50"/>
                  <a:gd name="T40" fmla="*/ 1 w 49"/>
                  <a:gd name="T41" fmla="*/ 1 h 50"/>
                  <a:gd name="T42" fmla="*/ 1 w 49"/>
                  <a:gd name="T43" fmla="*/ 1 h 50"/>
                  <a:gd name="T44" fmla="*/ 1 w 49"/>
                  <a:gd name="T45" fmla="*/ 1 h 50"/>
                  <a:gd name="T46" fmla="*/ 1 w 49"/>
                  <a:gd name="T47" fmla="*/ 1 h 50"/>
                  <a:gd name="T48" fmla="*/ 1 w 49"/>
                  <a:gd name="T49" fmla="*/ 1 h 50"/>
                  <a:gd name="T50" fmla="*/ 1 w 49"/>
                  <a:gd name="T51" fmla="*/ 1 h 50"/>
                  <a:gd name="T52" fmla="*/ 1 w 49"/>
                  <a:gd name="T53" fmla="*/ 1 h 50"/>
                  <a:gd name="T54" fmla="*/ 1 w 49"/>
                  <a:gd name="T55" fmla="*/ 1 h 50"/>
                  <a:gd name="T56" fmla="*/ 1 w 49"/>
                  <a:gd name="T57" fmla="*/ 1 h 50"/>
                  <a:gd name="T58" fmla="*/ 1 w 49"/>
                  <a:gd name="T59" fmla="*/ 1 h 50"/>
                  <a:gd name="T60" fmla="*/ 1 w 49"/>
                  <a:gd name="T61" fmla="*/ 1 h 50"/>
                  <a:gd name="T62" fmla="*/ 1 w 49"/>
                  <a:gd name="T63" fmla="*/ 1 h 50"/>
                  <a:gd name="T64" fmla="*/ 0 w 49"/>
                  <a:gd name="T65" fmla="*/ 1 h 50"/>
                  <a:gd name="T66" fmla="*/ 0 w 49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49"/>
                  <a:gd name="T103" fmla="*/ 0 h 50"/>
                  <a:gd name="T104" fmla="*/ 49 w 49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49" h="50">
                    <a:moveTo>
                      <a:pt x="0" y="25"/>
                    </a:moveTo>
                    <a:lnTo>
                      <a:pt x="0" y="19"/>
                    </a:lnTo>
                    <a:lnTo>
                      <a:pt x="1" y="14"/>
                    </a:lnTo>
                    <a:lnTo>
                      <a:pt x="3" y="11"/>
                    </a:lnTo>
                    <a:lnTo>
                      <a:pt x="6" y="6"/>
                    </a:lnTo>
                    <a:lnTo>
                      <a:pt x="11" y="3"/>
                    </a:lnTo>
                    <a:lnTo>
                      <a:pt x="14" y="1"/>
                    </a:lnTo>
                    <a:lnTo>
                      <a:pt x="18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1"/>
                    </a:lnTo>
                    <a:lnTo>
                      <a:pt x="37" y="3"/>
                    </a:lnTo>
                    <a:lnTo>
                      <a:pt x="42" y="6"/>
                    </a:lnTo>
                    <a:lnTo>
                      <a:pt x="45" y="11"/>
                    </a:lnTo>
                    <a:lnTo>
                      <a:pt x="46" y="14"/>
                    </a:lnTo>
                    <a:lnTo>
                      <a:pt x="48" y="19"/>
                    </a:lnTo>
                    <a:lnTo>
                      <a:pt x="49" y="25"/>
                    </a:lnTo>
                    <a:lnTo>
                      <a:pt x="48" y="30"/>
                    </a:lnTo>
                    <a:lnTo>
                      <a:pt x="46" y="34"/>
                    </a:lnTo>
                    <a:lnTo>
                      <a:pt x="45" y="39"/>
                    </a:lnTo>
                    <a:lnTo>
                      <a:pt x="42" y="42"/>
                    </a:lnTo>
                    <a:lnTo>
                      <a:pt x="37" y="45"/>
                    </a:lnTo>
                    <a:lnTo>
                      <a:pt x="34" y="47"/>
                    </a:lnTo>
                    <a:lnTo>
                      <a:pt x="29" y="48"/>
                    </a:lnTo>
                    <a:lnTo>
                      <a:pt x="25" y="50"/>
                    </a:lnTo>
                    <a:lnTo>
                      <a:pt x="18" y="48"/>
                    </a:lnTo>
                    <a:lnTo>
                      <a:pt x="14" y="47"/>
                    </a:lnTo>
                    <a:lnTo>
                      <a:pt x="11" y="45"/>
                    </a:lnTo>
                    <a:lnTo>
                      <a:pt x="6" y="42"/>
                    </a:lnTo>
                    <a:lnTo>
                      <a:pt x="3" y="39"/>
                    </a:lnTo>
                    <a:lnTo>
                      <a:pt x="1" y="34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82" name="Rectangle 87"/>
              <p:cNvSpPr>
                <a:spLocks noChangeArrowheads="1"/>
              </p:cNvSpPr>
              <p:nvPr/>
            </p:nvSpPr>
            <p:spPr bwMode="auto">
              <a:xfrm>
                <a:off x="5057" y="1389"/>
                <a:ext cx="49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 i="1">
                    <a:solidFill>
                      <a:srgbClr val="000000"/>
                    </a:solidFill>
                    <a:latin typeface="Times New Roman" pitchFamily="18" charset="0"/>
                  </a:rPr>
                  <a:t>R</a:t>
                </a:r>
                <a:endParaRPr lang="en-US" altLang="zh-CN"/>
              </a:p>
            </p:txBody>
          </p:sp>
          <p:sp>
            <p:nvSpPr>
              <p:cNvPr id="76883" name="Freeform 88"/>
              <p:cNvSpPr>
                <a:spLocks noEditPoints="1"/>
              </p:cNvSpPr>
              <p:nvPr/>
            </p:nvSpPr>
            <p:spPr bwMode="auto">
              <a:xfrm>
                <a:off x="3869" y="1268"/>
                <a:ext cx="12" cy="112"/>
              </a:xfrm>
              <a:custGeom>
                <a:avLst/>
                <a:gdLst>
                  <a:gd name="T0" fmla="*/ 1 w 24"/>
                  <a:gd name="T1" fmla="*/ 3 h 225"/>
                  <a:gd name="T2" fmla="*/ 1 w 24"/>
                  <a:gd name="T3" fmla="*/ 3 h 225"/>
                  <a:gd name="T4" fmla="*/ 1 w 24"/>
                  <a:gd name="T5" fmla="*/ 3 h 225"/>
                  <a:gd name="T6" fmla="*/ 0 w 24"/>
                  <a:gd name="T7" fmla="*/ 3 h 225"/>
                  <a:gd name="T8" fmla="*/ 0 w 24"/>
                  <a:gd name="T9" fmla="*/ 3 h 225"/>
                  <a:gd name="T10" fmla="*/ 1 w 24"/>
                  <a:gd name="T11" fmla="*/ 3 h 225"/>
                  <a:gd name="T12" fmla="*/ 1 w 24"/>
                  <a:gd name="T13" fmla="*/ 3 h 225"/>
                  <a:gd name="T14" fmla="*/ 1 w 24"/>
                  <a:gd name="T15" fmla="*/ 3 h 225"/>
                  <a:gd name="T16" fmla="*/ 1 w 24"/>
                  <a:gd name="T17" fmla="*/ 3 h 225"/>
                  <a:gd name="T18" fmla="*/ 1 w 24"/>
                  <a:gd name="T19" fmla="*/ 3 h 225"/>
                  <a:gd name="T20" fmla="*/ 1 w 24"/>
                  <a:gd name="T21" fmla="*/ 3 h 225"/>
                  <a:gd name="T22" fmla="*/ 1 w 24"/>
                  <a:gd name="T23" fmla="*/ 3 h 225"/>
                  <a:gd name="T24" fmla="*/ 1 w 24"/>
                  <a:gd name="T25" fmla="*/ 3 h 225"/>
                  <a:gd name="T26" fmla="*/ 1 w 24"/>
                  <a:gd name="T27" fmla="*/ 3 h 225"/>
                  <a:gd name="T28" fmla="*/ 1 w 24"/>
                  <a:gd name="T29" fmla="*/ 3 h 225"/>
                  <a:gd name="T30" fmla="*/ 1 w 24"/>
                  <a:gd name="T31" fmla="*/ 3 h 225"/>
                  <a:gd name="T32" fmla="*/ 1 w 24"/>
                  <a:gd name="T33" fmla="*/ 3 h 225"/>
                  <a:gd name="T34" fmla="*/ 1 w 24"/>
                  <a:gd name="T35" fmla="*/ 3 h 225"/>
                  <a:gd name="T36" fmla="*/ 1 w 24"/>
                  <a:gd name="T37" fmla="*/ 0 h 225"/>
                  <a:gd name="T38" fmla="*/ 1 w 24"/>
                  <a:gd name="T39" fmla="*/ 0 h 225"/>
                  <a:gd name="T40" fmla="*/ 1 w 24"/>
                  <a:gd name="T41" fmla="*/ 0 h 225"/>
                  <a:gd name="T42" fmla="*/ 0 w 24"/>
                  <a:gd name="T43" fmla="*/ 0 h 225"/>
                  <a:gd name="T44" fmla="*/ 0 w 24"/>
                  <a:gd name="T45" fmla="*/ 0 h 225"/>
                  <a:gd name="T46" fmla="*/ 1 w 24"/>
                  <a:gd name="T47" fmla="*/ 0 h 225"/>
                  <a:gd name="T48" fmla="*/ 1 w 24"/>
                  <a:gd name="T49" fmla="*/ 0 h 225"/>
                  <a:gd name="T50" fmla="*/ 1 w 24"/>
                  <a:gd name="T51" fmla="*/ 0 h 225"/>
                  <a:gd name="T52" fmla="*/ 1 w 24"/>
                  <a:gd name="T53" fmla="*/ 0 h 225"/>
                  <a:gd name="T54" fmla="*/ 1 w 24"/>
                  <a:gd name="T55" fmla="*/ 0 h 225"/>
                  <a:gd name="T56" fmla="*/ 1 w 24"/>
                  <a:gd name="T57" fmla="*/ 0 h 225"/>
                  <a:gd name="T58" fmla="*/ 1 w 24"/>
                  <a:gd name="T59" fmla="*/ 0 h 225"/>
                  <a:gd name="T60" fmla="*/ 1 w 24"/>
                  <a:gd name="T61" fmla="*/ 0 h 225"/>
                  <a:gd name="T62" fmla="*/ 1 w 24"/>
                  <a:gd name="T63" fmla="*/ 0 h 225"/>
                  <a:gd name="T64" fmla="*/ 1 w 24"/>
                  <a:gd name="T65" fmla="*/ 0 h 225"/>
                  <a:gd name="T66" fmla="*/ 1 w 24"/>
                  <a:gd name="T67" fmla="*/ 0 h 225"/>
                  <a:gd name="T68" fmla="*/ 1 w 24"/>
                  <a:gd name="T69" fmla="*/ 0 h 225"/>
                  <a:gd name="T70" fmla="*/ 1 w 24"/>
                  <a:gd name="T71" fmla="*/ 0 h 225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4"/>
                  <a:gd name="T109" fmla="*/ 0 h 225"/>
                  <a:gd name="T110" fmla="*/ 24 w 24"/>
                  <a:gd name="T111" fmla="*/ 225 h 225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4" h="225">
                    <a:moveTo>
                      <a:pt x="12" y="200"/>
                    </a:moveTo>
                    <a:lnTo>
                      <a:pt x="9" y="200"/>
                    </a:lnTo>
                    <a:lnTo>
                      <a:pt x="7" y="201"/>
                    </a:lnTo>
                    <a:lnTo>
                      <a:pt x="4" y="201"/>
                    </a:lnTo>
                    <a:lnTo>
                      <a:pt x="3" y="203"/>
                    </a:lnTo>
                    <a:lnTo>
                      <a:pt x="1" y="204"/>
                    </a:lnTo>
                    <a:lnTo>
                      <a:pt x="0" y="208"/>
                    </a:lnTo>
                    <a:lnTo>
                      <a:pt x="0" y="209"/>
                    </a:lnTo>
                    <a:lnTo>
                      <a:pt x="0" y="212"/>
                    </a:lnTo>
                    <a:lnTo>
                      <a:pt x="0" y="214"/>
                    </a:lnTo>
                    <a:lnTo>
                      <a:pt x="0" y="217"/>
                    </a:lnTo>
                    <a:lnTo>
                      <a:pt x="1" y="219"/>
                    </a:lnTo>
                    <a:lnTo>
                      <a:pt x="3" y="222"/>
                    </a:lnTo>
                    <a:lnTo>
                      <a:pt x="4" y="222"/>
                    </a:lnTo>
                    <a:lnTo>
                      <a:pt x="7" y="223"/>
                    </a:lnTo>
                    <a:lnTo>
                      <a:pt x="9" y="225"/>
                    </a:lnTo>
                    <a:lnTo>
                      <a:pt x="12" y="225"/>
                    </a:lnTo>
                    <a:lnTo>
                      <a:pt x="14" y="225"/>
                    </a:lnTo>
                    <a:lnTo>
                      <a:pt x="17" y="223"/>
                    </a:lnTo>
                    <a:lnTo>
                      <a:pt x="18" y="222"/>
                    </a:lnTo>
                    <a:lnTo>
                      <a:pt x="20" y="222"/>
                    </a:lnTo>
                    <a:lnTo>
                      <a:pt x="21" y="219"/>
                    </a:lnTo>
                    <a:lnTo>
                      <a:pt x="23" y="217"/>
                    </a:lnTo>
                    <a:lnTo>
                      <a:pt x="23" y="214"/>
                    </a:lnTo>
                    <a:lnTo>
                      <a:pt x="24" y="212"/>
                    </a:lnTo>
                    <a:lnTo>
                      <a:pt x="23" y="209"/>
                    </a:lnTo>
                    <a:lnTo>
                      <a:pt x="23" y="208"/>
                    </a:lnTo>
                    <a:lnTo>
                      <a:pt x="21" y="204"/>
                    </a:lnTo>
                    <a:lnTo>
                      <a:pt x="20" y="203"/>
                    </a:lnTo>
                    <a:lnTo>
                      <a:pt x="18" y="201"/>
                    </a:lnTo>
                    <a:lnTo>
                      <a:pt x="17" y="201"/>
                    </a:lnTo>
                    <a:lnTo>
                      <a:pt x="14" y="200"/>
                    </a:lnTo>
                    <a:lnTo>
                      <a:pt x="12" y="200"/>
                    </a:lnTo>
                    <a:close/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1"/>
                    </a:lnTo>
                    <a:lnTo>
                      <a:pt x="3" y="3"/>
                    </a:lnTo>
                    <a:lnTo>
                      <a:pt x="1" y="5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1" y="19"/>
                    </a:lnTo>
                    <a:lnTo>
                      <a:pt x="3" y="22"/>
                    </a:lnTo>
                    <a:lnTo>
                      <a:pt x="4" y="22"/>
                    </a:lnTo>
                    <a:lnTo>
                      <a:pt x="7" y="23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3"/>
                    </a:lnTo>
                    <a:lnTo>
                      <a:pt x="18" y="23"/>
                    </a:lnTo>
                    <a:lnTo>
                      <a:pt x="20" y="22"/>
                    </a:lnTo>
                    <a:lnTo>
                      <a:pt x="21" y="19"/>
                    </a:lnTo>
                    <a:lnTo>
                      <a:pt x="23" y="17"/>
                    </a:lnTo>
                    <a:lnTo>
                      <a:pt x="23" y="16"/>
                    </a:lnTo>
                    <a:lnTo>
                      <a:pt x="24" y="12"/>
                    </a:lnTo>
                    <a:lnTo>
                      <a:pt x="23" y="9"/>
                    </a:lnTo>
                    <a:lnTo>
                      <a:pt x="23" y="8"/>
                    </a:lnTo>
                    <a:lnTo>
                      <a:pt x="21" y="5"/>
                    </a:lnTo>
                    <a:lnTo>
                      <a:pt x="20" y="3"/>
                    </a:lnTo>
                    <a:lnTo>
                      <a:pt x="18" y="1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84" name="Freeform 89"/>
              <p:cNvSpPr>
                <a:spLocks/>
              </p:cNvSpPr>
              <p:nvPr/>
            </p:nvSpPr>
            <p:spPr bwMode="auto">
              <a:xfrm>
                <a:off x="3869" y="1368"/>
                <a:ext cx="12" cy="12"/>
              </a:xfrm>
              <a:custGeom>
                <a:avLst/>
                <a:gdLst>
                  <a:gd name="T0" fmla="*/ 1 w 24"/>
                  <a:gd name="T1" fmla="*/ 0 h 25"/>
                  <a:gd name="T2" fmla="*/ 1 w 24"/>
                  <a:gd name="T3" fmla="*/ 0 h 25"/>
                  <a:gd name="T4" fmla="*/ 1 w 24"/>
                  <a:gd name="T5" fmla="*/ 0 h 25"/>
                  <a:gd name="T6" fmla="*/ 1 w 24"/>
                  <a:gd name="T7" fmla="*/ 0 h 25"/>
                  <a:gd name="T8" fmla="*/ 1 w 24"/>
                  <a:gd name="T9" fmla="*/ 0 h 25"/>
                  <a:gd name="T10" fmla="*/ 1 w 24"/>
                  <a:gd name="T11" fmla="*/ 0 h 25"/>
                  <a:gd name="T12" fmla="*/ 0 w 24"/>
                  <a:gd name="T13" fmla="*/ 0 h 25"/>
                  <a:gd name="T14" fmla="*/ 0 w 24"/>
                  <a:gd name="T15" fmla="*/ 0 h 25"/>
                  <a:gd name="T16" fmla="*/ 0 w 24"/>
                  <a:gd name="T17" fmla="*/ 0 h 25"/>
                  <a:gd name="T18" fmla="*/ 0 w 24"/>
                  <a:gd name="T19" fmla="*/ 0 h 25"/>
                  <a:gd name="T20" fmla="*/ 0 w 24"/>
                  <a:gd name="T21" fmla="*/ 0 h 25"/>
                  <a:gd name="T22" fmla="*/ 1 w 24"/>
                  <a:gd name="T23" fmla="*/ 0 h 25"/>
                  <a:gd name="T24" fmla="*/ 1 w 24"/>
                  <a:gd name="T25" fmla="*/ 0 h 25"/>
                  <a:gd name="T26" fmla="*/ 1 w 24"/>
                  <a:gd name="T27" fmla="*/ 0 h 25"/>
                  <a:gd name="T28" fmla="*/ 1 w 24"/>
                  <a:gd name="T29" fmla="*/ 0 h 25"/>
                  <a:gd name="T30" fmla="*/ 1 w 24"/>
                  <a:gd name="T31" fmla="*/ 0 h 25"/>
                  <a:gd name="T32" fmla="*/ 1 w 24"/>
                  <a:gd name="T33" fmla="*/ 0 h 25"/>
                  <a:gd name="T34" fmla="*/ 1 w 24"/>
                  <a:gd name="T35" fmla="*/ 0 h 25"/>
                  <a:gd name="T36" fmla="*/ 1 w 24"/>
                  <a:gd name="T37" fmla="*/ 0 h 25"/>
                  <a:gd name="T38" fmla="*/ 1 w 24"/>
                  <a:gd name="T39" fmla="*/ 0 h 25"/>
                  <a:gd name="T40" fmla="*/ 1 w 24"/>
                  <a:gd name="T41" fmla="*/ 0 h 25"/>
                  <a:gd name="T42" fmla="*/ 1 w 24"/>
                  <a:gd name="T43" fmla="*/ 0 h 25"/>
                  <a:gd name="T44" fmla="*/ 1 w 24"/>
                  <a:gd name="T45" fmla="*/ 0 h 25"/>
                  <a:gd name="T46" fmla="*/ 1 w 24"/>
                  <a:gd name="T47" fmla="*/ 0 h 25"/>
                  <a:gd name="T48" fmla="*/ 1 w 24"/>
                  <a:gd name="T49" fmla="*/ 0 h 25"/>
                  <a:gd name="T50" fmla="*/ 1 w 24"/>
                  <a:gd name="T51" fmla="*/ 0 h 25"/>
                  <a:gd name="T52" fmla="*/ 1 w 24"/>
                  <a:gd name="T53" fmla="*/ 0 h 25"/>
                  <a:gd name="T54" fmla="*/ 1 w 24"/>
                  <a:gd name="T55" fmla="*/ 0 h 25"/>
                  <a:gd name="T56" fmla="*/ 1 w 24"/>
                  <a:gd name="T57" fmla="*/ 0 h 25"/>
                  <a:gd name="T58" fmla="*/ 1 w 24"/>
                  <a:gd name="T59" fmla="*/ 0 h 25"/>
                  <a:gd name="T60" fmla="*/ 1 w 24"/>
                  <a:gd name="T61" fmla="*/ 0 h 25"/>
                  <a:gd name="T62" fmla="*/ 1 w 24"/>
                  <a:gd name="T63" fmla="*/ 0 h 25"/>
                  <a:gd name="T64" fmla="*/ 1 w 24"/>
                  <a:gd name="T65" fmla="*/ 0 h 25"/>
                  <a:gd name="T66" fmla="*/ 1 w 24"/>
                  <a:gd name="T67" fmla="*/ 0 h 25"/>
                  <a:gd name="T68" fmla="*/ 1 w 24"/>
                  <a:gd name="T69" fmla="*/ 0 h 2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4"/>
                  <a:gd name="T106" fmla="*/ 0 h 25"/>
                  <a:gd name="T107" fmla="*/ 24 w 24"/>
                  <a:gd name="T108" fmla="*/ 25 h 25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4" h="25"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1"/>
                    </a:lnTo>
                    <a:lnTo>
                      <a:pt x="3" y="3"/>
                    </a:lnTo>
                    <a:lnTo>
                      <a:pt x="1" y="4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1" y="19"/>
                    </a:lnTo>
                    <a:lnTo>
                      <a:pt x="3" y="22"/>
                    </a:lnTo>
                    <a:lnTo>
                      <a:pt x="4" y="22"/>
                    </a:lnTo>
                    <a:lnTo>
                      <a:pt x="7" y="23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3"/>
                    </a:lnTo>
                    <a:lnTo>
                      <a:pt x="18" y="22"/>
                    </a:lnTo>
                    <a:lnTo>
                      <a:pt x="20" y="22"/>
                    </a:lnTo>
                    <a:lnTo>
                      <a:pt x="21" y="19"/>
                    </a:lnTo>
                    <a:lnTo>
                      <a:pt x="23" y="17"/>
                    </a:lnTo>
                    <a:lnTo>
                      <a:pt x="23" y="14"/>
                    </a:lnTo>
                    <a:lnTo>
                      <a:pt x="24" y="12"/>
                    </a:lnTo>
                    <a:lnTo>
                      <a:pt x="23" y="9"/>
                    </a:lnTo>
                    <a:lnTo>
                      <a:pt x="23" y="8"/>
                    </a:lnTo>
                    <a:lnTo>
                      <a:pt x="21" y="4"/>
                    </a:lnTo>
                    <a:lnTo>
                      <a:pt x="20" y="3"/>
                    </a:lnTo>
                    <a:lnTo>
                      <a:pt x="18" y="1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85" name="Freeform 90"/>
              <p:cNvSpPr>
                <a:spLocks/>
              </p:cNvSpPr>
              <p:nvPr/>
            </p:nvSpPr>
            <p:spPr bwMode="auto">
              <a:xfrm>
                <a:off x="3869" y="1268"/>
                <a:ext cx="12" cy="13"/>
              </a:xfrm>
              <a:custGeom>
                <a:avLst/>
                <a:gdLst>
                  <a:gd name="T0" fmla="*/ 1 w 24"/>
                  <a:gd name="T1" fmla="*/ 0 h 25"/>
                  <a:gd name="T2" fmla="*/ 1 w 24"/>
                  <a:gd name="T3" fmla="*/ 0 h 25"/>
                  <a:gd name="T4" fmla="*/ 1 w 24"/>
                  <a:gd name="T5" fmla="*/ 1 h 25"/>
                  <a:gd name="T6" fmla="*/ 1 w 24"/>
                  <a:gd name="T7" fmla="*/ 1 h 25"/>
                  <a:gd name="T8" fmla="*/ 1 w 24"/>
                  <a:gd name="T9" fmla="*/ 1 h 25"/>
                  <a:gd name="T10" fmla="*/ 1 w 24"/>
                  <a:gd name="T11" fmla="*/ 1 h 25"/>
                  <a:gd name="T12" fmla="*/ 0 w 24"/>
                  <a:gd name="T13" fmla="*/ 1 h 25"/>
                  <a:gd name="T14" fmla="*/ 0 w 24"/>
                  <a:gd name="T15" fmla="*/ 1 h 25"/>
                  <a:gd name="T16" fmla="*/ 0 w 24"/>
                  <a:gd name="T17" fmla="*/ 1 h 25"/>
                  <a:gd name="T18" fmla="*/ 0 w 24"/>
                  <a:gd name="T19" fmla="*/ 1 h 25"/>
                  <a:gd name="T20" fmla="*/ 0 w 24"/>
                  <a:gd name="T21" fmla="*/ 1 h 25"/>
                  <a:gd name="T22" fmla="*/ 1 w 24"/>
                  <a:gd name="T23" fmla="*/ 1 h 25"/>
                  <a:gd name="T24" fmla="*/ 1 w 24"/>
                  <a:gd name="T25" fmla="*/ 1 h 25"/>
                  <a:gd name="T26" fmla="*/ 1 w 24"/>
                  <a:gd name="T27" fmla="*/ 1 h 25"/>
                  <a:gd name="T28" fmla="*/ 1 w 24"/>
                  <a:gd name="T29" fmla="*/ 1 h 25"/>
                  <a:gd name="T30" fmla="*/ 1 w 24"/>
                  <a:gd name="T31" fmla="*/ 1 h 25"/>
                  <a:gd name="T32" fmla="*/ 1 w 24"/>
                  <a:gd name="T33" fmla="*/ 1 h 25"/>
                  <a:gd name="T34" fmla="*/ 1 w 24"/>
                  <a:gd name="T35" fmla="*/ 1 h 25"/>
                  <a:gd name="T36" fmla="*/ 1 w 24"/>
                  <a:gd name="T37" fmla="*/ 1 h 25"/>
                  <a:gd name="T38" fmla="*/ 1 w 24"/>
                  <a:gd name="T39" fmla="*/ 1 h 25"/>
                  <a:gd name="T40" fmla="*/ 1 w 24"/>
                  <a:gd name="T41" fmla="*/ 1 h 25"/>
                  <a:gd name="T42" fmla="*/ 1 w 24"/>
                  <a:gd name="T43" fmla="*/ 1 h 25"/>
                  <a:gd name="T44" fmla="*/ 1 w 24"/>
                  <a:gd name="T45" fmla="*/ 1 h 25"/>
                  <a:gd name="T46" fmla="*/ 1 w 24"/>
                  <a:gd name="T47" fmla="*/ 1 h 25"/>
                  <a:gd name="T48" fmla="*/ 1 w 24"/>
                  <a:gd name="T49" fmla="*/ 1 h 25"/>
                  <a:gd name="T50" fmla="*/ 1 w 24"/>
                  <a:gd name="T51" fmla="*/ 1 h 25"/>
                  <a:gd name="T52" fmla="*/ 1 w 24"/>
                  <a:gd name="T53" fmla="*/ 1 h 25"/>
                  <a:gd name="T54" fmla="*/ 1 w 24"/>
                  <a:gd name="T55" fmla="*/ 1 h 25"/>
                  <a:gd name="T56" fmla="*/ 1 w 24"/>
                  <a:gd name="T57" fmla="*/ 1 h 25"/>
                  <a:gd name="T58" fmla="*/ 1 w 24"/>
                  <a:gd name="T59" fmla="*/ 1 h 25"/>
                  <a:gd name="T60" fmla="*/ 1 w 24"/>
                  <a:gd name="T61" fmla="*/ 1 h 25"/>
                  <a:gd name="T62" fmla="*/ 1 w 24"/>
                  <a:gd name="T63" fmla="*/ 1 h 25"/>
                  <a:gd name="T64" fmla="*/ 1 w 24"/>
                  <a:gd name="T65" fmla="*/ 0 h 25"/>
                  <a:gd name="T66" fmla="*/ 1 w 24"/>
                  <a:gd name="T67" fmla="*/ 0 h 25"/>
                  <a:gd name="T68" fmla="*/ 1 w 24"/>
                  <a:gd name="T69" fmla="*/ 0 h 2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4"/>
                  <a:gd name="T106" fmla="*/ 0 h 25"/>
                  <a:gd name="T107" fmla="*/ 24 w 24"/>
                  <a:gd name="T108" fmla="*/ 25 h 25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4" h="25"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1"/>
                    </a:lnTo>
                    <a:lnTo>
                      <a:pt x="3" y="3"/>
                    </a:lnTo>
                    <a:lnTo>
                      <a:pt x="1" y="5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1" y="19"/>
                    </a:lnTo>
                    <a:lnTo>
                      <a:pt x="3" y="22"/>
                    </a:lnTo>
                    <a:lnTo>
                      <a:pt x="4" y="22"/>
                    </a:lnTo>
                    <a:lnTo>
                      <a:pt x="7" y="23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3"/>
                    </a:lnTo>
                    <a:lnTo>
                      <a:pt x="18" y="23"/>
                    </a:lnTo>
                    <a:lnTo>
                      <a:pt x="20" y="22"/>
                    </a:lnTo>
                    <a:lnTo>
                      <a:pt x="21" y="19"/>
                    </a:lnTo>
                    <a:lnTo>
                      <a:pt x="23" y="17"/>
                    </a:lnTo>
                    <a:lnTo>
                      <a:pt x="23" y="16"/>
                    </a:lnTo>
                    <a:lnTo>
                      <a:pt x="24" y="12"/>
                    </a:lnTo>
                    <a:lnTo>
                      <a:pt x="23" y="9"/>
                    </a:lnTo>
                    <a:lnTo>
                      <a:pt x="23" y="8"/>
                    </a:lnTo>
                    <a:lnTo>
                      <a:pt x="21" y="5"/>
                    </a:lnTo>
                    <a:lnTo>
                      <a:pt x="20" y="3"/>
                    </a:lnTo>
                    <a:lnTo>
                      <a:pt x="18" y="1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86" name="Line 91"/>
              <p:cNvSpPr>
                <a:spLocks noChangeShapeType="1"/>
              </p:cNvSpPr>
              <p:nvPr/>
            </p:nvSpPr>
            <p:spPr bwMode="auto">
              <a:xfrm>
                <a:off x="3877" y="1280"/>
                <a:ext cx="29" cy="8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87" name="Freeform 92"/>
              <p:cNvSpPr>
                <a:spLocks/>
              </p:cNvSpPr>
              <p:nvPr/>
            </p:nvSpPr>
            <p:spPr bwMode="auto">
              <a:xfrm>
                <a:off x="4974" y="1321"/>
                <a:ext cx="25" cy="26"/>
              </a:xfrm>
              <a:custGeom>
                <a:avLst/>
                <a:gdLst>
                  <a:gd name="T0" fmla="*/ 0 w 50"/>
                  <a:gd name="T1" fmla="*/ 1 h 50"/>
                  <a:gd name="T2" fmla="*/ 1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1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2" y="20"/>
                    </a:lnTo>
                    <a:lnTo>
                      <a:pt x="3" y="16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1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1" y="0"/>
                    </a:lnTo>
                    <a:lnTo>
                      <a:pt x="36" y="1"/>
                    </a:lnTo>
                    <a:lnTo>
                      <a:pt x="39" y="5"/>
                    </a:lnTo>
                    <a:lnTo>
                      <a:pt x="44" y="8"/>
                    </a:lnTo>
                    <a:lnTo>
                      <a:pt x="47" y="11"/>
                    </a:lnTo>
                    <a:lnTo>
                      <a:pt x="48" y="16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4"/>
                    </a:lnTo>
                    <a:lnTo>
                      <a:pt x="47" y="39"/>
                    </a:lnTo>
                    <a:lnTo>
                      <a:pt x="44" y="42"/>
                    </a:lnTo>
                    <a:lnTo>
                      <a:pt x="39" y="45"/>
                    </a:lnTo>
                    <a:lnTo>
                      <a:pt x="36" y="49"/>
                    </a:lnTo>
                    <a:lnTo>
                      <a:pt x="31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6" y="49"/>
                    </a:lnTo>
                    <a:lnTo>
                      <a:pt x="11" y="45"/>
                    </a:lnTo>
                    <a:lnTo>
                      <a:pt x="8" y="42"/>
                    </a:lnTo>
                    <a:lnTo>
                      <a:pt x="5" y="39"/>
                    </a:lnTo>
                    <a:lnTo>
                      <a:pt x="3" y="34"/>
                    </a:lnTo>
                    <a:lnTo>
                      <a:pt x="2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88" name="Line 93"/>
              <p:cNvSpPr>
                <a:spLocks noChangeShapeType="1"/>
              </p:cNvSpPr>
              <p:nvPr/>
            </p:nvSpPr>
            <p:spPr bwMode="auto">
              <a:xfrm flipH="1" flipV="1">
                <a:off x="4230" y="1334"/>
                <a:ext cx="1" cy="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89" name="Freeform 94"/>
              <p:cNvSpPr>
                <a:spLocks/>
              </p:cNvSpPr>
              <p:nvPr/>
            </p:nvSpPr>
            <p:spPr bwMode="auto">
              <a:xfrm>
                <a:off x="4893" y="1333"/>
                <a:ext cx="253" cy="94"/>
              </a:xfrm>
              <a:custGeom>
                <a:avLst/>
                <a:gdLst>
                  <a:gd name="T0" fmla="*/ 8 w 506"/>
                  <a:gd name="T1" fmla="*/ 3 h 188"/>
                  <a:gd name="T2" fmla="*/ 8 w 506"/>
                  <a:gd name="T3" fmla="*/ 1 h 188"/>
                  <a:gd name="T4" fmla="*/ 0 w 506"/>
                  <a:gd name="T5" fmla="*/ 0 h 188"/>
                  <a:gd name="T6" fmla="*/ 0 60000 65536"/>
                  <a:gd name="T7" fmla="*/ 0 60000 65536"/>
                  <a:gd name="T8" fmla="*/ 0 60000 65536"/>
                  <a:gd name="T9" fmla="*/ 0 w 506"/>
                  <a:gd name="T10" fmla="*/ 0 h 188"/>
                  <a:gd name="T11" fmla="*/ 506 w 506"/>
                  <a:gd name="T12" fmla="*/ 188 h 1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06" h="188">
                    <a:moveTo>
                      <a:pt x="506" y="188"/>
                    </a:moveTo>
                    <a:lnTo>
                      <a:pt x="506" y="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90" name="Line 95"/>
              <p:cNvSpPr>
                <a:spLocks noChangeShapeType="1"/>
              </p:cNvSpPr>
              <p:nvPr/>
            </p:nvSpPr>
            <p:spPr bwMode="auto">
              <a:xfrm flipH="1" flipV="1">
                <a:off x="4986" y="1333"/>
                <a:ext cx="1" cy="2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91" name="Freeform 96"/>
              <p:cNvSpPr>
                <a:spLocks/>
              </p:cNvSpPr>
              <p:nvPr/>
            </p:nvSpPr>
            <p:spPr bwMode="auto">
              <a:xfrm>
                <a:off x="4696" y="1304"/>
                <a:ext cx="197" cy="30"/>
              </a:xfrm>
              <a:custGeom>
                <a:avLst/>
                <a:gdLst>
                  <a:gd name="T0" fmla="*/ 0 w 395"/>
                  <a:gd name="T1" fmla="*/ 1 h 60"/>
                  <a:gd name="T2" fmla="*/ 0 w 395"/>
                  <a:gd name="T3" fmla="*/ 1 h 60"/>
                  <a:gd name="T4" fmla="*/ 0 w 395"/>
                  <a:gd name="T5" fmla="*/ 1 h 60"/>
                  <a:gd name="T6" fmla="*/ 0 w 395"/>
                  <a:gd name="T7" fmla="*/ 1 h 60"/>
                  <a:gd name="T8" fmla="*/ 0 w 395"/>
                  <a:gd name="T9" fmla="*/ 1 h 60"/>
                  <a:gd name="T10" fmla="*/ 0 w 395"/>
                  <a:gd name="T11" fmla="*/ 1 h 60"/>
                  <a:gd name="T12" fmla="*/ 0 w 395"/>
                  <a:gd name="T13" fmla="*/ 1 h 60"/>
                  <a:gd name="T14" fmla="*/ 0 w 395"/>
                  <a:gd name="T15" fmla="*/ 0 h 60"/>
                  <a:gd name="T16" fmla="*/ 0 w 395"/>
                  <a:gd name="T17" fmla="*/ 0 h 60"/>
                  <a:gd name="T18" fmla="*/ 1 w 395"/>
                  <a:gd name="T19" fmla="*/ 1 h 60"/>
                  <a:gd name="T20" fmla="*/ 1 w 395"/>
                  <a:gd name="T21" fmla="*/ 1 h 60"/>
                  <a:gd name="T22" fmla="*/ 1 w 395"/>
                  <a:gd name="T23" fmla="*/ 1 h 60"/>
                  <a:gd name="T24" fmla="*/ 1 w 395"/>
                  <a:gd name="T25" fmla="*/ 1 h 60"/>
                  <a:gd name="T26" fmla="*/ 1 w 395"/>
                  <a:gd name="T27" fmla="*/ 1 h 60"/>
                  <a:gd name="T28" fmla="*/ 1 w 395"/>
                  <a:gd name="T29" fmla="*/ 1 h 60"/>
                  <a:gd name="T30" fmla="*/ 1 w 395"/>
                  <a:gd name="T31" fmla="*/ 1 h 60"/>
                  <a:gd name="T32" fmla="*/ 1 w 395"/>
                  <a:gd name="T33" fmla="*/ 1 h 60"/>
                  <a:gd name="T34" fmla="*/ 1 w 395"/>
                  <a:gd name="T35" fmla="*/ 1 h 60"/>
                  <a:gd name="T36" fmla="*/ 1 w 395"/>
                  <a:gd name="T37" fmla="*/ 1 h 60"/>
                  <a:gd name="T38" fmla="*/ 1 w 395"/>
                  <a:gd name="T39" fmla="*/ 1 h 60"/>
                  <a:gd name="T40" fmla="*/ 1 w 395"/>
                  <a:gd name="T41" fmla="*/ 1 h 60"/>
                  <a:gd name="T42" fmla="*/ 2 w 395"/>
                  <a:gd name="T43" fmla="*/ 1 h 60"/>
                  <a:gd name="T44" fmla="*/ 2 w 395"/>
                  <a:gd name="T45" fmla="*/ 0 h 60"/>
                  <a:gd name="T46" fmla="*/ 2 w 395"/>
                  <a:gd name="T47" fmla="*/ 0 h 60"/>
                  <a:gd name="T48" fmla="*/ 2 w 395"/>
                  <a:gd name="T49" fmla="*/ 1 h 60"/>
                  <a:gd name="T50" fmla="*/ 2 w 395"/>
                  <a:gd name="T51" fmla="*/ 1 h 60"/>
                  <a:gd name="T52" fmla="*/ 2 w 395"/>
                  <a:gd name="T53" fmla="*/ 1 h 60"/>
                  <a:gd name="T54" fmla="*/ 2 w 395"/>
                  <a:gd name="T55" fmla="*/ 1 h 60"/>
                  <a:gd name="T56" fmla="*/ 3 w 395"/>
                  <a:gd name="T57" fmla="*/ 1 h 60"/>
                  <a:gd name="T58" fmla="*/ 3 w 395"/>
                  <a:gd name="T59" fmla="*/ 1 h 60"/>
                  <a:gd name="T60" fmla="*/ 3 w 395"/>
                  <a:gd name="T61" fmla="*/ 1 h 60"/>
                  <a:gd name="T62" fmla="*/ 3 w 395"/>
                  <a:gd name="T63" fmla="*/ 1 h 60"/>
                  <a:gd name="T64" fmla="*/ 3 w 395"/>
                  <a:gd name="T65" fmla="*/ 1 h 60"/>
                  <a:gd name="T66" fmla="*/ 3 w 395"/>
                  <a:gd name="T67" fmla="*/ 1 h 60"/>
                  <a:gd name="T68" fmla="*/ 3 w 395"/>
                  <a:gd name="T69" fmla="*/ 1 h 60"/>
                  <a:gd name="T70" fmla="*/ 3 w 395"/>
                  <a:gd name="T71" fmla="*/ 1 h 60"/>
                  <a:gd name="T72" fmla="*/ 3 w 395"/>
                  <a:gd name="T73" fmla="*/ 1 h 60"/>
                  <a:gd name="T74" fmla="*/ 3 w 395"/>
                  <a:gd name="T75" fmla="*/ 1 h 60"/>
                  <a:gd name="T76" fmla="*/ 3 w 395"/>
                  <a:gd name="T77" fmla="*/ 0 h 60"/>
                  <a:gd name="T78" fmla="*/ 3 w 395"/>
                  <a:gd name="T79" fmla="*/ 0 h 60"/>
                  <a:gd name="T80" fmla="*/ 4 w 395"/>
                  <a:gd name="T81" fmla="*/ 1 h 60"/>
                  <a:gd name="T82" fmla="*/ 4 w 395"/>
                  <a:gd name="T83" fmla="*/ 1 h 60"/>
                  <a:gd name="T84" fmla="*/ 4 w 395"/>
                  <a:gd name="T85" fmla="*/ 1 h 60"/>
                  <a:gd name="T86" fmla="*/ 4 w 395"/>
                  <a:gd name="T87" fmla="*/ 1 h 60"/>
                  <a:gd name="T88" fmla="*/ 4 w 395"/>
                  <a:gd name="T89" fmla="*/ 1 h 60"/>
                  <a:gd name="T90" fmla="*/ 4 w 395"/>
                  <a:gd name="T91" fmla="*/ 1 h 60"/>
                  <a:gd name="T92" fmla="*/ 4 w 395"/>
                  <a:gd name="T93" fmla="*/ 1 h 60"/>
                  <a:gd name="T94" fmla="*/ 4 w 395"/>
                  <a:gd name="T95" fmla="*/ 1 h 60"/>
                  <a:gd name="T96" fmla="*/ 4 w 395"/>
                  <a:gd name="T97" fmla="*/ 1 h 60"/>
                  <a:gd name="T98" fmla="*/ 4 w 395"/>
                  <a:gd name="T99" fmla="*/ 1 h 60"/>
                  <a:gd name="T100" fmla="*/ 4 w 395"/>
                  <a:gd name="T101" fmla="*/ 1 h 60"/>
                  <a:gd name="T102" fmla="*/ 5 w 395"/>
                  <a:gd name="T103" fmla="*/ 1 h 60"/>
                  <a:gd name="T104" fmla="*/ 5 w 395"/>
                  <a:gd name="T105" fmla="*/ 1 h 60"/>
                  <a:gd name="T106" fmla="*/ 5 w 395"/>
                  <a:gd name="T107" fmla="*/ 0 h 60"/>
                  <a:gd name="T108" fmla="*/ 5 w 395"/>
                  <a:gd name="T109" fmla="*/ 0 h 60"/>
                  <a:gd name="T110" fmla="*/ 5 w 395"/>
                  <a:gd name="T111" fmla="*/ 1 h 60"/>
                  <a:gd name="T112" fmla="*/ 5 w 395"/>
                  <a:gd name="T113" fmla="*/ 1 h 60"/>
                  <a:gd name="T114" fmla="*/ 5 w 395"/>
                  <a:gd name="T115" fmla="*/ 1 h 60"/>
                  <a:gd name="T116" fmla="*/ 6 w 395"/>
                  <a:gd name="T117" fmla="*/ 1 h 60"/>
                  <a:gd name="T118" fmla="*/ 6 w 395"/>
                  <a:gd name="T119" fmla="*/ 1 h 60"/>
                  <a:gd name="T120" fmla="*/ 6 w 395"/>
                  <a:gd name="T121" fmla="*/ 1 h 60"/>
                  <a:gd name="T122" fmla="*/ 6 w 395"/>
                  <a:gd name="T123" fmla="*/ 1 h 6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395"/>
                  <a:gd name="T187" fmla="*/ 0 h 60"/>
                  <a:gd name="T188" fmla="*/ 395 w 395"/>
                  <a:gd name="T189" fmla="*/ 60 h 60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395" h="60">
                    <a:moveTo>
                      <a:pt x="0" y="60"/>
                    </a:moveTo>
                    <a:lnTo>
                      <a:pt x="0" y="54"/>
                    </a:lnTo>
                    <a:lnTo>
                      <a:pt x="0" y="49"/>
                    </a:lnTo>
                    <a:lnTo>
                      <a:pt x="2" y="43"/>
                    </a:lnTo>
                    <a:lnTo>
                      <a:pt x="3" y="38"/>
                    </a:lnTo>
                    <a:lnTo>
                      <a:pt x="5" y="33"/>
                    </a:lnTo>
                    <a:lnTo>
                      <a:pt x="6" y="27"/>
                    </a:lnTo>
                    <a:lnTo>
                      <a:pt x="13" y="19"/>
                    </a:lnTo>
                    <a:lnTo>
                      <a:pt x="16" y="14"/>
                    </a:lnTo>
                    <a:lnTo>
                      <a:pt x="20" y="11"/>
                    </a:lnTo>
                    <a:lnTo>
                      <a:pt x="24" y="8"/>
                    </a:lnTo>
                    <a:lnTo>
                      <a:pt x="28" y="5"/>
                    </a:lnTo>
                    <a:lnTo>
                      <a:pt x="33" y="3"/>
                    </a:lnTo>
                    <a:lnTo>
                      <a:pt x="38" y="2"/>
                    </a:lnTo>
                    <a:lnTo>
                      <a:pt x="42" y="0"/>
                    </a:lnTo>
                    <a:lnTo>
                      <a:pt x="47" y="0"/>
                    </a:lnTo>
                    <a:lnTo>
                      <a:pt x="52" y="0"/>
                    </a:lnTo>
                    <a:lnTo>
                      <a:pt x="58" y="0"/>
                    </a:lnTo>
                    <a:lnTo>
                      <a:pt x="62" y="2"/>
                    </a:lnTo>
                    <a:lnTo>
                      <a:pt x="67" y="3"/>
                    </a:lnTo>
                    <a:lnTo>
                      <a:pt x="70" y="7"/>
                    </a:lnTo>
                    <a:lnTo>
                      <a:pt x="75" y="10"/>
                    </a:lnTo>
                    <a:lnTo>
                      <a:pt x="80" y="13"/>
                    </a:lnTo>
                    <a:lnTo>
                      <a:pt x="83" y="16"/>
                    </a:lnTo>
                    <a:lnTo>
                      <a:pt x="89" y="24"/>
                    </a:lnTo>
                    <a:lnTo>
                      <a:pt x="92" y="29"/>
                    </a:lnTo>
                    <a:lnTo>
                      <a:pt x="94" y="33"/>
                    </a:lnTo>
                    <a:lnTo>
                      <a:pt x="95" y="38"/>
                    </a:lnTo>
                    <a:lnTo>
                      <a:pt x="97" y="44"/>
                    </a:lnTo>
                    <a:lnTo>
                      <a:pt x="98" y="51"/>
                    </a:lnTo>
                    <a:lnTo>
                      <a:pt x="98" y="55"/>
                    </a:lnTo>
                    <a:lnTo>
                      <a:pt x="98" y="60"/>
                    </a:lnTo>
                    <a:lnTo>
                      <a:pt x="98" y="54"/>
                    </a:lnTo>
                    <a:lnTo>
                      <a:pt x="100" y="49"/>
                    </a:lnTo>
                    <a:lnTo>
                      <a:pt x="100" y="43"/>
                    </a:lnTo>
                    <a:lnTo>
                      <a:pt x="101" y="38"/>
                    </a:lnTo>
                    <a:lnTo>
                      <a:pt x="103" y="33"/>
                    </a:lnTo>
                    <a:lnTo>
                      <a:pt x="106" y="27"/>
                    </a:lnTo>
                    <a:lnTo>
                      <a:pt x="112" y="19"/>
                    </a:lnTo>
                    <a:lnTo>
                      <a:pt x="115" y="14"/>
                    </a:lnTo>
                    <a:lnTo>
                      <a:pt x="118" y="11"/>
                    </a:lnTo>
                    <a:lnTo>
                      <a:pt x="123" y="8"/>
                    </a:lnTo>
                    <a:lnTo>
                      <a:pt x="126" y="5"/>
                    </a:lnTo>
                    <a:lnTo>
                      <a:pt x="131" y="3"/>
                    </a:lnTo>
                    <a:lnTo>
                      <a:pt x="136" y="2"/>
                    </a:lnTo>
                    <a:lnTo>
                      <a:pt x="140" y="0"/>
                    </a:lnTo>
                    <a:lnTo>
                      <a:pt x="146" y="0"/>
                    </a:lnTo>
                    <a:lnTo>
                      <a:pt x="151" y="0"/>
                    </a:lnTo>
                    <a:lnTo>
                      <a:pt x="156" y="0"/>
                    </a:lnTo>
                    <a:lnTo>
                      <a:pt x="160" y="2"/>
                    </a:lnTo>
                    <a:lnTo>
                      <a:pt x="165" y="3"/>
                    </a:lnTo>
                    <a:lnTo>
                      <a:pt x="170" y="7"/>
                    </a:lnTo>
                    <a:lnTo>
                      <a:pt x="174" y="10"/>
                    </a:lnTo>
                    <a:lnTo>
                      <a:pt x="178" y="13"/>
                    </a:lnTo>
                    <a:lnTo>
                      <a:pt x="181" y="16"/>
                    </a:lnTo>
                    <a:lnTo>
                      <a:pt x="188" y="24"/>
                    </a:lnTo>
                    <a:lnTo>
                      <a:pt x="190" y="29"/>
                    </a:lnTo>
                    <a:lnTo>
                      <a:pt x="193" y="33"/>
                    </a:lnTo>
                    <a:lnTo>
                      <a:pt x="195" y="38"/>
                    </a:lnTo>
                    <a:lnTo>
                      <a:pt x="196" y="44"/>
                    </a:lnTo>
                    <a:lnTo>
                      <a:pt x="196" y="51"/>
                    </a:lnTo>
                    <a:lnTo>
                      <a:pt x="198" y="55"/>
                    </a:lnTo>
                    <a:lnTo>
                      <a:pt x="198" y="60"/>
                    </a:lnTo>
                    <a:lnTo>
                      <a:pt x="198" y="54"/>
                    </a:lnTo>
                    <a:lnTo>
                      <a:pt x="198" y="49"/>
                    </a:lnTo>
                    <a:lnTo>
                      <a:pt x="199" y="43"/>
                    </a:lnTo>
                    <a:lnTo>
                      <a:pt x="201" y="38"/>
                    </a:lnTo>
                    <a:lnTo>
                      <a:pt x="202" y="33"/>
                    </a:lnTo>
                    <a:lnTo>
                      <a:pt x="204" y="27"/>
                    </a:lnTo>
                    <a:lnTo>
                      <a:pt x="210" y="19"/>
                    </a:lnTo>
                    <a:lnTo>
                      <a:pt x="213" y="14"/>
                    </a:lnTo>
                    <a:lnTo>
                      <a:pt x="218" y="11"/>
                    </a:lnTo>
                    <a:lnTo>
                      <a:pt x="221" y="8"/>
                    </a:lnTo>
                    <a:lnTo>
                      <a:pt x="226" y="5"/>
                    </a:lnTo>
                    <a:lnTo>
                      <a:pt x="230" y="3"/>
                    </a:lnTo>
                    <a:lnTo>
                      <a:pt x="235" y="2"/>
                    </a:lnTo>
                    <a:lnTo>
                      <a:pt x="240" y="0"/>
                    </a:lnTo>
                    <a:lnTo>
                      <a:pt x="244" y="0"/>
                    </a:lnTo>
                    <a:lnTo>
                      <a:pt x="249" y="0"/>
                    </a:lnTo>
                    <a:lnTo>
                      <a:pt x="255" y="0"/>
                    </a:lnTo>
                    <a:lnTo>
                      <a:pt x="260" y="2"/>
                    </a:lnTo>
                    <a:lnTo>
                      <a:pt x="265" y="3"/>
                    </a:lnTo>
                    <a:lnTo>
                      <a:pt x="268" y="7"/>
                    </a:lnTo>
                    <a:lnTo>
                      <a:pt x="272" y="10"/>
                    </a:lnTo>
                    <a:lnTo>
                      <a:pt x="277" y="13"/>
                    </a:lnTo>
                    <a:lnTo>
                      <a:pt x="280" y="16"/>
                    </a:lnTo>
                    <a:lnTo>
                      <a:pt x="286" y="24"/>
                    </a:lnTo>
                    <a:lnTo>
                      <a:pt x="290" y="29"/>
                    </a:lnTo>
                    <a:lnTo>
                      <a:pt x="291" y="33"/>
                    </a:lnTo>
                    <a:lnTo>
                      <a:pt x="293" y="38"/>
                    </a:lnTo>
                    <a:lnTo>
                      <a:pt x="294" y="44"/>
                    </a:lnTo>
                    <a:lnTo>
                      <a:pt x="296" y="51"/>
                    </a:lnTo>
                    <a:lnTo>
                      <a:pt x="296" y="55"/>
                    </a:lnTo>
                    <a:lnTo>
                      <a:pt x="296" y="60"/>
                    </a:lnTo>
                    <a:lnTo>
                      <a:pt x="296" y="54"/>
                    </a:lnTo>
                    <a:lnTo>
                      <a:pt x="297" y="49"/>
                    </a:lnTo>
                    <a:lnTo>
                      <a:pt x="297" y="43"/>
                    </a:lnTo>
                    <a:lnTo>
                      <a:pt x="299" y="38"/>
                    </a:lnTo>
                    <a:lnTo>
                      <a:pt x="300" y="33"/>
                    </a:lnTo>
                    <a:lnTo>
                      <a:pt x="304" y="27"/>
                    </a:lnTo>
                    <a:lnTo>
                      <a:pt x="310" y="19"/>
                    </a:lnTo>
                    <a:lnTo>
                      <a:pt x="313" y="14"/>
                    </a:lnTo>
                    <a:lnTo>
                      <a:pt x="316" y="11"/>
                    </a:lnTo>
                    <a:lnTo>
                      <a:pt x="321" y="8"/>
                    </a:lnTo>
                    <a:lnTo>
                      <a:pt x="324" y="5"/>
                    </a:lnTo>
                    <a:lnTo>
                      <a:pt x="328" y="3"/>
                    </a:lnTo>
                    <a:lnTo>
                      <a:pt x="333" y="2"/>
                    </a:lnTo>
                    <a:lnTo>
                      <a:pt x="338" y="0"/>
                    </a:lnTo>
                    <a:lnTo>
                      <a:pt x="344" y="0"/>
                    </a:lnTo>
                    <a:lnTo>
                      <a:pt x="349" y="0"/>
                    </a:lnTo>
                    <a:lnTo>
                      <a:pt x="353" y="0"/>
                    </a:lnTo>
                    <a:lnTo>
                      <a:pt x="358" y="2"/>
                    </a:lnTo>
                    <a:lnTo>
                      <a:pt x="363" y="3"/>
                    </a:lnTo>
                    <a:lnTo>
                      <a:pt x="367" y="7"/>
                    </a:lnTo>
                    <a:lnTo>
                      <a:pt x="372" y="10"/>
                    </a:lnTo>
                    <a:lnTo>
                      <a:pt x="375" y="13"/>
                    </a:lnTo>
                    <a:lnTo>
                      <a:pt x="380" y="16"/>
                    </a:lnTo>
                    <a:lnTo>
                      <a:pt x="386" y="24"/>
                    </a:lnTo>
                    <a:lnTo>
                      <a:pt x="388" y="29"/>
                    </a:lnTo>
                    <a:lnTo>
                      <a:pt x="391" y="33"/>
                    </a:lnTo>
                    <a:lnTo>
                      <a:pt x="392" y="38"/>
                    </a:lnTo>
                    <a:lnTo>
                      <a:pt x="394" y="44"/>
                    </a:lnTo>
                    <a:lnTo>
                      <a:pt x="394" y="51"/>
                    </a:lnTo>
                    <a:lnTo>
                      <a:pt x="395" y="55"/>
                    </a:lnTo>
                    <a:lnTo>
                      <a:pt x="395" y="6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92" name="Rectangle 97"/>
              <p:cNvSpPr>
                <a:spLocks noChangeArrowheads="1"/>
              </p:cNvSpPr>
              <p:nvPr/>
            </p:nvSpPr>
            <p:spPr bwMode="auto">
              <a:xfrm>
                <a:off x="4416" y="1233"/>
                <a:ext cx="28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7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endParaRPr lang="en-US" altLang="zh-CN"/>
              </a:p>
            </p:txBody>
          </p:sp>
          <p:sp>
            <p:nvSpPr>
              <p:cNvPr id="76893" name="Rectangle 98"/>
              <p:cNvSpPr>
                <a:spLocks noChangeArrowheads="1"/>
              </p:cNvSpPr>
              <p:nvPr/>
            </p:nvSpPr>
            <p:spPr bwMode="auto">
              <a:xfrm>
                <a:off x="4367" y="1197"/>
                <a:ext cx="58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  <a:endParaRPr lang="en-US" altLang="zh-CN"/>
              </a:p>
            </p:txBody>
          </p:sp>
          <p:sp>
            <p:nvSpPr>
              <p:cNvPr id="76894" name="Rectangle 99"/>
              <p:cNvSpPr>
                <a:spLocks noChangeArrowheads="1"/>
              </p:cNvSpPr>
              <p:nvPr/>
            </p:nvSpPr>
            <p:spPr bwMode="auto">
              <a:xfrm>
                <a:off x="4416" y="1792"/>
                <a:ext cx="28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7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US" altLang="zh-CN"/>
              </a:p>
            </p:txBody>
          </p:sp>
          <p:sp>
            <p:nvSpPr>
              <p:cNvPr id="76895" name="Rectangle 100"/>
              <p:cNvSpPr>
                <a:spLocks noChangeArrowheads="1"/>
              </p:cNvSpPr>
              <p:nvPr/>
            </p:nvSpPr>
            <p:spPr bwMode="auto">
              <a:xfrm>
                <a:off x="4360" y="1753"/>
                <a:ext cx="58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  <a:endParaRPr lang="en-US" altLang="zh-CN"/>
              </a:p>
            </p:txBody>
          </p:sp>
          <p:sp>
            <p:nvSpPr>
              <p:cNvPr id="76896" name="Rectangle 101"/>
              <p:cNvSpPr>
                <a:spLocks noChangeArrowheads="1"/>
              </p:cNvSpPr>
              <p:nvPr/>
            </p:nvSpPr>
            <p:spPr bwMode="auto">
              <a:xfrm>
                <a:off x="4784" y="1329"/>
                <a:ext cx="48" cy="11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200" i="1">
                    <a:solidFill>
                      <a:srgbClr val="000000"/>
                    </a:solidFill>
                    <a:latin typeface="宋体" pitchFamily="2" charset="-122"/>
                  </a:rPr>
                  <a:t>L</a:t>
                </a:r>
                <a:endParaRPr lang="en-US" altLang="zh-CN" sz="1200"/>
              </a:p>
            </p:txBody>
          </p:sp>
          <p:sp>
            <p:nvSpPr>
              <p:cNvPr id="76897" name="Freeform 102"/>
              <p:cNvSpPr>
                <a:spLocks noEditPoints="1"/>
              </p:cNvSpPr>
              <p:nvPr/>
            </p:nvSpPr>
            <p:spPr bwMode="auto">
              <a:xfrm>
                <a:off x="3870" y="1867"/>
                <a:ext cx="13" cy="113"/>
              </a:xfrm>
              <a:custGeom>
                <a:avLst/>
                <a:gdLst>
                  <a:gd name="T0" fmla="*/ 1 w 25"/>
                  <a:gd name="T1" fmla="*/ 4 h 225"/>
                  <a:gd name="T2" fmla="*/ 1 w 25"/>
                  <a:gd name="T3" fmla="*/ 4 h 225"/>
                  <a:gd name="T4" fmla="*/ 1 w 25"/>
                  <a:gd name="T5" fmla="*/ 4 h 225"/>
                  <a:gd name="T6" fmla="*/ 0 w 25"/>
                  <a:gd name="T7" fmla="*/ 4 h 225"/>
                  <a:gd name="T8" fmla="*/ 0 w 25"/>
                  <a:gd name="T9" fmla="*/ 4 h 225"/>
                  <a:gd name="T10" fmla="*/ 1 w 25"/>
                  <a:gd name="T11" fmla="*/ 4 h 225"/>
                  <a:gd name="T12" fmla="*/ 1 w 25"/>
                  <a:gd name="T13" fmla="*/ 4 h 225"/>
                  <a:gd name="T14" fmla="*/ 1 w 25"/>
                  <a:gd name="T15" fmla="*/ 4 h 225"/>
                  <a:gd name="T16" fmla="*/ 1 w 25"/>
                  <a:gd name="T17" fmla="*/ 4 h 225"/>
                  <a:gd name="T18" fmla="*/ 1 w 25"/>
                  <a:gd name="T19" fmla="*/ 4 h 225"/>
                  <a:gd name="T20" fmla="*/ 1 w 25"/>
                  <a:gd name="T21" fmla="*/ 4 h 225"/>
                  <a:gd name="T22" fmla="*/ 1 w 25"/>
                  <a:gd name="T23" fmla="*/ 4 h 225"/>
                  <a:gd name="T24" fmla="*/ 1 w 25"/>
                  <a:gd name="T25" fmla="*/ 4 h 225"/>
                  <a:gd name="T26" fmla="*/ 1 w 25"/>
                  <a:gd name="T27" fmla="*/ 4 h 225"/>
                  <a:gd name="T28" fmla="*/ 1 w 25"/>
                  <a:gd name="T29" fmla="*/ 4 h 225"/>
                  <a:gd name="T30" fmla="*/ 1 w 25"/>
                  <a:gd name="T31" fmla="*/ 4 h 225"/>
                  <a:gd name="T32" fmla="*/ 1 w 25"/>
                  <a:gd name="T33" fmla="*/ 4 h 225"/>
                  <a:gd name="T34" fmla="*/ 1 w 25"/>
                  <a:gd name="T35" fmla="*/ 4 h 225"/>
                  <a:gd name="T36" fmla="*/ 1 w 25"/>
                  <a:gd name="T37" fmla="*/ 0 h 225"/>
                  <a:gd name="T38" fmla="*/ 1 w 25"/>
                  <a:gd name="T39" fmla="*/ 1 h 225"/>
                  <a:gd name="T40" fmla="*/ 1 w 25"/>
                  <a:gd name="T41" fmla="*/ 1 h 225"/>
                  <a:gd name="T42" fmla="*/ 0 w 25"/>
                  <a:gd name="T43" fmla="*/ 1 h 225"/>
                  <a:gd name="T44" fmla="*/ 0 w 25"/>
                  <a:gd name="T45" fmla="*/ 1 h 225"/>
                  <a:gd name="T46" fmla="*/ 1 w 25"/>
                  <a:gd name="T47" fmla="*/ 1 h 225"/>
                  <a:gd name="T48" fmla="*/ 1 w 25"/>
                  <a:gd name="T49" fmla="*/ 1 h 225"/>
                  <a:gd name="T50" fmla="*/ 1 w 25"/>
                  <a:gd name="T51" fmla="*/ 1 h 225"/>
                  <a:gd name="T52" fmla="*/ 1 w 25"/>
                  <a:gd name="T53" fmla="*/ 1 h 225"/>
                  <a:gd name="T54" fmla="*/ 1 w 25"/>
                  <a:gd name="T55" fmla="*/ 1 h 225"/>
                  <a:gd name="T56" fmla="*/ 1 w 25"/>
                  <a:gd name="T57" fmla="*/ 1 h 225"/>
                  <a:gd name="T58" fmla="*/ 1 w 25"/>
                  <a:gd name="T59" fmla="*/ 1 h 225"/>
                  <a:gd name="T60" fmla="*/ 1 w 25"/>
                  <a:gd name="T61" fmla="*/ 1 h 225"/>
                  <a:gd name="T62" fmla="*/ 1 w 25"/>
                  <a:gd name="T63" fmla="*/ 1 h 225"/>
                  <a:gd name="T64" fmla="*/ 1 w 25"/>
                  <a:gd name="T65" fmla="*/ 1 h 225"/>
                  <a:gd name="T66" fmla="*/ 1 w 25"/>
                  <a:gd name="T67" fmla="*/ 1 h 225"/>
                  <a:gd name="T68" fmla="*/ 1 w 25"/>
                  <a:gd name="T69" fmla="*/ 0 h 225"/>
                  <a:gd name="T70" fmla="*/ 1 w 25"/>
                  <a:gd name="T71" fmla="*/ 0 h 225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5"/>
                  <a:gd name="T109" fmla="*/ 0 h 225"/>
                  <a:gd name="T110" fmla="*/ 25 w 25"/>
                  <a:gd name="T111" fmla="*/ 225 h 225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5" h="225">
                    <a:moveTo>
                      <a:pt x="12" y="200"/>
                    </a:moveTo>
                    <a:lnTo>
                      <a:pt x="9" y="200"/>
                    </a:lnTo>
                    <a:lnTo>
                      <a:pt x="7" y="201"/>
                    </a:lnTo>
                    <a:lnTo>
                      <a:pt x="4" y="203"/>
                    </a:lnTo>
                    <a:lnTo>
                      <a:pt x="3" y="204"/>
                    </a:lnTo>
                    <a:lnTo>
                      <a:pt x="1" y="206"/>
                    </a:lnTo>
                    <a:lnTo>
                      <a:pt x="1" y="207"/>
                    </a:lnTo>
                    <a:lnTo>
                      <a:pt x="0" y="211"/>
                    </a:lnTo>
                    <a:lnTo>
                      <a:pt x="0" y="212"/>
                    </a:lnTo>
                    <a:lnTo>
                      <a:pt x="0" y="215"/>
                    </a:lnTo>
                    <a:lnTo>
                      <a:pt x="1" y="217"/>
                    </a:lnTo>
                    <a:lnTo>
                      <a:pt x="1" y="220"/>
                    </a:lnTo>
                    <a:lnTo>
                      <a:pt x="3" y="222"/>
                    </a:lnTo>
                    <a:lnTo>
                      <a:pt x="4" y="223"/>
                    </a:lnTo>
                    <a:lnTo>
                      <a:pt x="7" y="223"/>
                    </a:lnTo>
                    <a:lnTo>
                      <a:pt x="9" y="225"/>
                    </a:lnTo>
                    <a:lnTo>
                      <a:pt x="12" y="225"/>
                    </a:lnTo>
                    <a:lnTo>
                      <a:pt x="14" y="225"/>
                    </a:lnTo>
                    <a:lnTo>
                      <a:pt x="17" y="223"/>
                    </a:lnTo>
                    <a:lnTo>
                      <a:pt x="18" y="223"/>
                    </a:lnTo>
                    <a:lnTo>
                      <a:pt x="20" y="222"/>
                    </a:lnTo>
                    <a:lnTo>
                      <a:pt x="21" y="220"/>
                    </a:lnTo>
                    <a:lnTo>
                      <a:pt x="23" y="217"/>
                    </a:lnTo>
                    <a:lnTo>
                      <a:pt x="25" y="215"/>
                    </a:lnTo>
                    <a:lnTo>
                      <a:pt x="25" y="212"/>
                    </a:lnTo>
                    <a:lnTo>
                      <a:pt x="25" y="211"/>
                    </a:lnTo>
                    <a:lnTo>
                      <a:pt x="23" y="207"/>
                    </a:lnTo>
                    <a:lnTo>
                      <a:pt x="21" y="206"/>
                    </a:lnTo>
                    <a:lnTo>
                      <a:pt x="21" y="204"/>
                    </a:lnTo>
                    <a:lnTo>
                      <a:pt x="18" y="203"/>
                    </a:lnTo>
                    <a:lnTo>
                      <a:pt x="17" y="201"/>
                    </a:lnTo>
                    <a:lnTo>
                      <a:pt x="14" y="200"/>
                    </a:lnTo>
                    <a:lnTo>
                      <a:pt x="12" y="200"/>
                    </a:lnTo>
                    <a:close/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3"/>
                    </a:lnTo>
                    <a:lnTo>
                      <a:pt x="3" y="5"/>
                    </a:lnTo>
                    <a:lnTo>
                      <a:pt x="1" y="6"/>
                    </a:lnTo>
                    <a:lnTo>
                      <a:pt x="1" y="8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1" y="17"/>
                    </a:lnTo>
                    <a:lnTo>
                      <a:pt x="1" y="20"/>
                    </a:lnTo>
                    <a:lnTo>
                      <a:pt x="3" y="22"/>
                    </a:lnTo>
                    <a:lnTo>
                      <a:pt x="4" y="23"/>
                    </a:lnTo>
                    <a:lnTo>
                      <a:pt x="7" y="25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5"/>
                    </a:lnTo>
                    <a:lnTo>
                      <a:pt x="18" y="23"/>
                    </a:lnTo>
                    <a:lnTo>
                      <a:pt x="20" y="22"/>
                    </a:lnTo>
                    <a:lnTo>
                      <a:pt x="21" y="20"/>
                    </a:lnTo>
                    <a:lnTo>
                      <a:pt x="23" y="17"/>
                    </a:lnTo>
                    <a:lnTo>
                      <a:pt x="25" y="16"/>
                    </a:lnTo>
                    <a:lnTo>
                      <a:pt x="25" y="12"/>
                    </a:lnTo>
                    <a:lnTo>
                      <a:pt x="25" y="11"/>
                    </a:lnTo>
                    <a:lnTo>
                      <a:pt x="23" y="8"/>
                    </a:lnTo>
                    <a:lnTo>
                      <a:pt x="21" y="6"/>
                    </a:lnTo>
                    <a:lnTo>
                      <a:pt x="21" y="5"/>
                    </a:lnTo>
                    <a:lnTo>
                      <a:pt x="18" y="3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98" name="Freeform 103"/>
              <p:cNvSpPr>
                <a:spLocks/>
              </p:cNvSpPr>
              <p:nvPr/>
            </p:nvSpPr>
            <p:spPr bwMode="auto">
              <a:xfrm>
                <a:off x="3870" y="1967"/>
                <a:ext cx="13" cy="13"/>
              </a:xfrm>
              <a:custGeom>
                <a:avLst/>
                <a:gdLst>
                  <a:gd name="T0" fmla="*/ 1 w 25"/>
                  <a:gd name="T1" fmla="*/ 0 h 25"/>
                  <a:gd name="T2" fmla="*/ 1 w 25"/>
                  <a:gd name="T3" fmla="*/ 0 h 25"/>
                  <a:gd name="T4" fmla="*/ 1 w 25"/>
                  <a:gd name="T5" fmla="*/ 1 h 25"/>
                  <a:gd name="T6" fmla="*/ 1 w 25"/>
                  <a:gd name="T7" fmla="*/ 1 h 25"/>
                  <a:gd name="T8" fmla="*/ 1 w 25"/>
                  <a:gd name="T9" fmla="*/ 1 h 25"/>
                  <a:gd name="T10" fmla="*/ 1 w 25"/>
                  <a:gd name="T11" fmla="*/ 1 h 25"/>
                  <a:gd name="T12" fmla="*/ 1 w 25"/>
                  <a:gd name="T13" fmla="*/ 1 h 25"/>
                  <a:gd name="T14" fmla="*/ 0 w 25"/>
                  <a:gd name="T15" fmla="*/ 1 h 25"/>
                  <a:gd name="T16" fmla="*/ 0 w 25"/>
                  <a:gd name="T17" fmla="*/ 1 h 25"/>
                  <a:gd name="T18" fmla="*/ 0 w 25"/>
                  <a:gd name="T19" fmla="*/ 1 h 25"/>
                  <a:gd name="T20" fmla="*/ 1 w 25"/>
                  <a:gd name="T21" fmla="*/ 1 h 25"/>
                  <a:gd name="T22" fmla="*/ 1 w 25"/>
                  <a:gd name="T23" fmla="*/ 1 h 25"/>
                  <a:gd name="T24" fmla="*/ 1 w 25"/>
                  <a:gd name="T25" fmla="*/ 1 h 25"/>
                  <a:gd name="T26" fmla="*/ 1 w 25"/>
                  <a:gd name="T27" fmla="*/ 1 h 25"/>
                  <a:gd name="T28" fmla="*/ 1 w 25"/>
                  <a:gd name="T29" fmla="*/ 1 h 25"/>
                  <a:gd name="T30" fmla="*/ 1 w 25"/>
                  <a:gd name="T31" fmla="*/ 1 h 25"/>
                  <a:gd name="T32" fmla="*/ 1 w 25"/>
                  <a:gd name="T33" fmla="*/ 1 h 25"/>
                  <a:gd name="T34" fmla="*/ 1 w 25"/>
                  <a:gd name="T35" fmla="*/ 1 h 25"/>
                  <a:gd name="T36" fmla="*/ 1 w 25"/>
                  <a:gd name="T37" fmla="*/ 1 h 25"/>
                  <a:gd name="T38" fmla="*/ 1 w 25"/>
                  <a:gd name="T39" fmla="*/ 1 h 25"/>
                  <a:gd name="T40" fmla="*/ 1 w 25"/>
                  <a:gd name="T41" fmla="*/ 1 h 25"/>
                  <a:gd name="T42" fmla="*/ 1 w 25"/>
                  <a:gd name="T43" fmla="*/ 1 h 25"/>
                  <a:gd name="T44" fmla="*/ 1 w 25"/>
                  <a:gd name="T45" fmla="*/ 1 h 25"/>
                  <a:gd name="T46" fmla="*/ 1 w 25"/>
                  <a:gd name="T47" fmla="*/ 1 h 25"/>
                  <a:gd name="T48" fmla="*/ 1 w 25"/>
                  <a:gd name="T49" fmla="*/ 1 h 25"/>
                  <a:gd name="T50" fmla="*/ 1 w 25"/>
                  <a:gd name="T51" fmla="*/ 1 h 25"/>
                  <a:gd name="T52" fmla="*/ 1 w 25"/>
                  <a:gd name="T53" fmla="*/ 1 h 25"/>
                  <a:gd name="T54" fmla="*/ 1 w 25"/>
                  <a:gd name="T55" fmla="*/ 1 h 25"/>
                  <a:gd name="T56" fmla="*/ 1 w 25"/>
                  <a:gd name="T57" fmla="*/ 1 h 25"/>
                  <a:gd name="T58" fmla="*/ 1 w 25"/>
                  <a:gd name="T59" fmla="*/ 1 h 25"/>
                  <a:gd name="T60" fmla="*/ 1 w 25"/>
                  <a:gd name="T61" fmla="*/ 1 h 25"/>
                  <a:gd name="T62" fmla="*/ 1 w 25"/>
                  <a:gd name="T63" fmla="*/ 1 h 25"/>
                  <a:gd name="T64" fmla="*/ 1 w 25"/>
                  <a:gd name="T65" fmla="*/ 0 h 25"/>
                  <a:gd name="T66" fmla="*/ 1 w 25"/>
                  <a:gd name="T67" fmla="*/ 0 h 25"/>
                  <a:gd name="T68" fmla="*/ 1 w 25"/>
                  <a:gd name="T69" fmla="*/ 0 h 2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5"/>
                  <a:gd name="T106" fmla="*/ 0 h 25"/>
                  <a:gd name="T107" fmla="*/ 25 w 25"/>
                  <a:gd name="T108" fmla="*/ 25 h 25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5" h="25"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3"/>
                    </a:lnTo>
                    <a:lnTo>
                      <a:pt x="3" y="4"/>
                    </a:lnTo>
                    <a:lnTo>
                      <a:pt x="1" y="6"/>
                    </a:lnTo>
                    <a:lnTo>
                      <a:pt x="1" y="7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1" y="17"/>
                    </a:lnTo>
                    <a:lnTo>
                      <a:pt x="1" y="20"/>
                    </a:lnTo>
                    <a:lnTo>
                      <a:pt x="3" y="22"/>
                    </a:lnTo>
                    <a:lnTo>
                      <a:pt x="4" y="23"/>
                    </a:lnTo>
                    <a:lnTo>
                      <a:pt x="7" y="23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3"/>
                    </a:lnTo>
                    <a:lnTo>
                      <a:pt x="18" y="23"/>
                    </a:lnTo>
                    <a:lnTo>
                      <a:pt x="20" y="22"/>
                    </a:lnTo>
                    <a:lnTo>
                      <a:pt x="21" y="20"/>
                    </a:lnTo>
                    <a:lnTo>
                      <a:pt x="23" y="17"/>
                    </a:lnTo>
                    <a:lnTo>
                      <a:pt x="25" y="15"/>
                    </a:lnTo>
                    <a:lnTo>
                      <a:pt x="25" y="12"/>
                    </a:lnTo>
                    <a:lnTo>
                      <a:pt x="25" y="11"/>
                    </a:lnTo>
                    <a:lnTo>
                      <a:pt x="23" y="7"/>
                    </a:lnTo>
                    <a:lnTo>
                      <a:pt x="21" y="6"/>
                    </a:lnTo>
                    <a:lnTo>
                      <a:pt x="21" y="4"/>
                    </a:lnTo>
                    <a:lnTo>
                      <a:pt x="18" y="3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99" name="Freeform 104"/>
              <p:cNvSpPr>
                <a:spLocks/>
              </p:cNvSpPr>
              <p:nvPr/>
            </p:nvSpPr>
            <p:spPr bwMode="auto">
              <a:xfrm>
                <a:off x="3870" y="1867"/>
                <a:ext cx="13" cy="13"/>
              </a:xfrm>
              <a:custGeom>
                <a:avLst/>
                <a:gdLst>
                  <a:gd name="T0" fmla="*/ 1 w 25"/>
                  <a:gd name="T1" fmla="*/ 0 h 25"/>
                  <a:gd name="T2" fmla="*/ 1 w 25"/>
                  <a:gd name="T3" fmla="*/ 0 h 25"/>
                  <a:gd name="T4" fmla="*/ 1 w 25"/>
                  <a:gd name="T5" fmla="*/ 1 h 25"/>
                  <a:gd name="T6" fmla="*/ 1 w 25"/>
                  <a:gd name="T7" fmla="*/ 1 h 25"/>
                  <a:gd name="T8" fmla="*/ 1 w 25"/>
                  <a:gd name="T9" fmla="*/ 1 h 25"/>
                  <a:gd name="T10" fmla="*/ 1 w 25"/>
                  <a:gd name="T11" fmla="*/ 1 h 25"/>
                  <a:gd name="T12" fmla="*/ 1 w 25"/>
                  <a:gd name="T13" fmla="*/ 1 h 25"/>
                  <a:gd name="T14" fmla="*/ 0 w 25"/>
                  <a:gd name="T15" fmla="*/ 1 h 25"/>
                  <a:gd name="T16" fmla="*/ 0 w 25"/>
                  <a:gd name="T17" fmla="*/ 1 h 25"/>
                  <a:gd name="T18" fmla="*/ 0 w 25"/>
                  <a:gd name="T19" fmla="*/ 1 h 25"/>
                  <a:gd name="T20" fmla="*/ 1 w 25"/>
                  <a:gd name="T21" fmla="*/ 1 h 25"/>
                  <a:gd name="T22" fmla="*/ 1 w 25"/>
                  <a:gd name="T23" fmla="*/ 1 h 25"/>
                  <a:gd name="T24" fmla="*/ 1 w 25"/>
                  <a:gd name="T25" fmla="*/ 1 h 25"/>
                  <a:gd name="T26" fmla="*/ 1 w 25"/>
                  <a:gd name="T27" fmla="*/ 1 h 25"/>
                  <a:gd name="T28" fmla="*/ 1 w 25"/>
                  <a:gd name="T29" fmla="*/ 1 h 25"/>
                  <a:gd name="T30" fmla="*/ 1 w 25"/>
                  <a:gd name="T31" fmla="*/ 1 h 25"/>
                  <a:gd name="T32" fmla="*/ 1 w 25"/>
                  <a:gd name="T33" fmla="*/ 1 h 25"/>
                  <a:gd name="T34" fmla="*/ 1 w 25"/>
                  <a:gd name="T35" fmla="*/ 1 h 25"/>
                  <a:gd name="T36" fmla="*/ 1 w 25"/>
                  <a:gd name="T37" fmla="*/ 1 h 25"/>
                  <a:gd name="T38" fmla="*/ 1 w 25"/>
                  <a:gd name="T39" fmla="*/ 1 h 25"/>
                  <a:gd name="T40" fmla="*/ 1 w 25"/>
                  <a:gd name="T41" fmla="*/ 1 h 25"/>
                  <a:gd name="T42" fmla="*/ 1 w 25"/>
                  <a:gd name="T43" fmla="*/ 1 h 25"/>
                  <a:gd name="T44" fmla="*/ 1 w 25"/>
                  <a:gd name="T45" fmla="*/ 1 h 25"/>
                  <a:gd name="T46" fmla="*/ 1 w 25"/>
                  <a:gd name="T47" fmla="*/ 1 h 25"/>
                  <a:gd name="T48" fmla="*/ 1 w 25"/>
                  <a:gd name="T49" fmla="*/ 1 h 25"/>
                  <a:gd name="T50" fmla="*/ 1 w 25"/>
                  <a:gd name="T51" fmla="*/ 1 h 25"/>
                  <a:gd name="T52" fmla="*/ 1 w 25"/>
                  <a:gd name="T53" fmla="*/ 1 h 25"/>
                  <a:gd name="T54" fmla="*/ 1 w 25"/>
                  <a:gd name="T55" fmla="*/ 1 h 25"/>
                  <a:gd name="T56" fmla="*/ 1 w 25"/>
                  <a:gd name="T57" fmla="*/ 1 h 25"/>
                  <a:gd name="T58" fmla="*/ 1 w 25"/>
                  <a:gd name="T59" fmla="*/ 1 h 25"/>
                  <a:gd name="T60" fmla="*/ 1 w 25"/>
                  <a:gd name="T61" fmla="*/ 1 h 25"/>
                  <a:gd name="T62" fmla="*/ 1 w 25"/>
                  <a:gd name="T63" fmla="*/ 1 h 25"/>
                  <a:gd name="T64" fmla="*/ 1 w 25"/>
                  <a:gd name="T65" fmla="*/ 0 h 25"/>
                  <a:gd name="T66" fmla="*/ 1 w 25"/>
                  <a:gd name="T67" fmla="*/ 0 h 25"/>
                  <a:gd name="T68" fmla="*/ 1 w 25"/>
                  <a:gd name="T69" fmla="*/ 0 h 2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5"/>
                  <a:gd name="T106" fmla="*/ 0 h 25"/>
                  <a:gd name="T107" fmla="*/ 25 w 25"/>
                  <a:gd name="T108" fmla="*/ 25 h 25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5" h="25"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3"/>
                    </a:lnTo>
                    <a:lnTo>
                      <a:pt x="3" y="5"/>
                    </a:lnTo>
                    <a:lnTo>
                      <a:pt x="1" y="6"/>
                    </a:lnTo>
                    <a:lnTo>
                      <a:pt x="1" y="8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1" y="17"/>
                    </a:lnTo>
                    <a:lnTo>
                      <a:pt x="1" y="20"/>
                    </a:lnTo>
                    <a:lnTo>
                      <a:pt x="3" y="22"/>
                    </a:lnTo>
                    <a:lnTo>
                      <a:pt x="4" y="23"/>
                    </a:lnTo>
                    <a:lnTo>
                      <a:pt x="7" y="25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5"/>
                    </a:lnTo>
                    <a:lnTo>
                      <a:pt x="18" y="23"/>
                    </a:lnTo>
                    <a:lnTo>
                      <a:pt x="20" y="22"/>
                    </a:lnTo>
                    <a:lnTo>
                      <a:pt x="21" y="20"/>
                    </a:lnTo>
                    <a:lnTo>
                      <a:pt x="23" y="17"/>
                    </a:lnTo>
                    <a:lnTo>
                      <a:pt x="25" y="16"/>
                    </a:lnTo>
                    <a:lnTo>
                      <a:pt x="25" y="12"/>
                    </a:lnTo>
                    <a:lnTo>
                      <a:pt x="25" y="11"/>
                    </a:lnTo>
                    <a:lnTo>
                      <a:pt x="23" y="8"/>
                    </a:lnTo>
                    <a:lnTo>
                      <a:pt x="21" y="6"/>
                    </a:lnTo>
                    <a:lnTo>
                      <a:pt x="21" y="5"/>
                    </a:lnTo>
                    <a:lnTo>
                      <a:pt x="18" y="3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00" name="Line 105"/>
              <p:cNvSpPr>
                <a:spLocks noChangeShapeType="1"/>
              </p:cNvSpPr>
              <p:nvPr/>
            </p:nvSpPr>
            <p:spPr bwMode="auto">
              <a:xfrm>
                <a:off x="3879" y="1880"/>
                <a:ext cx="29" cy="8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01" name="Freeform 106"/>
              <p:cNvSpPr>
                <a:spLocks/>
              </p:cNvSpPr>
              <p:nvPr/>
            </p:nvSpPr>
            <p:spPr bwMode="auto">
              <a:xfrm>
                <a:off x="4200" y="1614"/>
                <a:ext cx="30" cy="200"/>
              </a:xfrm>
              <a:custGeom>
                <a:avLst/>
                <a:gdLst>
                  <a:gd name="T0" fmla="*/ 1 w 59"/>
                  <a:gd name="T1" fmla="*/ 0 h 400"/>
                  <a:gd name="T2" fmla="*/ 1 w 59"/>
                  <a:gd name="T3" fmla="*/ 1 h 400"/>
                  <a:gd name="T4" fmla="*/ 1 w 59"/>
                  <a:gd name="T5" fmla="*/ 1 h 400"/>
                  <a:gd name="T6" fmla="*/ 1 w 59"/>
                  <a:gd name="T7" fmla="*/ 1 h 400"/>
                  <a:gd name="T8" fmla="*/ 1 w 59"/>
                  <a:gd name="T9" fmla="*/ 1 h 400"/>
                  <a:gd name="T10" fmla="*/ 1 w 59"/>
                  <a:gd name="T11" fmla="*/ 1 h 400"/>
                  <a:gd name="T12" fmla="*/ 1 w 59"/>
                  <a:gd name="T13" fmla="*/ 1 h 400"/>
                  <a:gd name="T14" fmla="*/ 0 w 59"/>
                  <a:gd name="T15" fmla="*/ 1 h 400"/>
                  <a:gd name="T16" fmla="*/ 1 w 59"/>
                  <a:gd name="T17" fmla="*/ 1 h 400"/>
                  <a:gd name="T18" fmla="*/ 1 w 59"/>
                  <a:gd name="T19" fmla="*/ 2 h 400"/>
                  <a:gd name="T20" fmla="*/ 1 w 59"/>
                  <a:gd name="T21" fmla="*/ 2 h 400"/>
                  <a:gd name="T22" fmla="*/ 1 w 59"/>
                  <a:gd name="T23" fmla="*/ 2 h 400"/>
                  <a:gd name="T24" fmla="*/ 1 w 59"/>
                  <a:gd name="T25" fmla="*/ 2 h 400"/>
                  <a:gd name="T26" fmla="*/ 1 w 59"/>
                  <a:gd name="T27" fmla="*/ 2 h 400"/>
                  <a:gd name="T28" fmla="*/ 1 w 59"/>
                  <a:gd name="T29" fmla="*/ 2 h 400"/>
                  <a:gd name="T30" fmla="*/ 1 w 59"/>
                  <a:gd name="T31" fmla="*/ 2 h 400"/>
                  <a:gd name="T32" fmla="*/ 1 w 59"/>
                  <a:gd name="T33" fmla="*/ 2 h 400"/>
                  <a:gd name="T34" fmla="*/ 1 w 59"/>
                  <a:gd name="T35" fmla="*/ 2 h 400"/>
                  <a:gd name="T36" fmla="*/ 1 w 59"/>
                  <a:gd name="T37" fmla="*/ 2 h 400"/>
                  <a:gd name="T38" fmla="*/ 1 w 59"/>
                  <a:gd name="T39" fmla="*/ 2 h 400"/>
                  <a:gd name="T40" fmla="*/ 1 w 59"/>
                  <a:gd name="T41" fmla="*/ 2 h 400"/>
                  <a:gd name="T42" fmla="*/ 1 w 59"/>
                  <a:gd name="T43" fmla="*/ 3 h 400"/>
                  <a:gd name="T44" fmla="*/ 0 w 59"/>
                  <a:gd name="T45" fmla="*/ 3 h 400"/>
                  <a:gd name="T46" fmla="*/ 0 w 59"/>
                  <a:gd name="T47" fmla="*/ 3 h 400"/>
                  <a:gd name="T48" fmla="*/ 1 w 59"/>
                  <a:gd name="T49" fmla="*/ 3 h 400"/>
                  <a:gd name="T50" fmla="*/ 1 w 59"/>
                  <a:gd name="T51" fmla="*/ 3 h 400"/>
                  <a:gd name="T52" fmla="*/ 1 w 59"/>
                  <a:gd name="T53" fmla="*/ 3 h 400"/>
                  <a:gd name="T54" fmla="*/ 1 w 59"/>
                  <a:gd name="T55" fmla="*/ 3 h 400"/>
                  <a:gd name="T56" fmla="*/ 1 w 59"/>
                  <a:gd name="T57" fmla="*/ 4 h 400"/>
                  <a:gd name="T58" fmla="*/ 1 w 59"/>
                  <a:gd name="T59" fmla="*/ 4 h 400"/>
                  <a:gd name="T60" fmla="*/ 1 w 59"/>
                  <a:gd name="T61" fmla="*/ 4 h 400"/>
                  <a:gd name="T62" fmla="*/ 1 w 59"/>
                  <a:gd name="T63" fmla="*/ 4 h 400"/>
                  <a:gd name="T64" fmla="*/ 1 w 59"/>
                  <a:gd name="T65" fmla="*/ 4 h 400"/>
                  <a:gd name="T66" fmla="*/ 1 w 59"/>
                  <a:gd name="T67" fmla="*/ 4 h 400"/>
                  <a:gd name="T68" fmla="*/ 1 w 59"/>
                  <a:gd name="T69" fmla="*/ 4 h 400"/>
                  <a:gd name="T70" fmla="*/ 1 w 59"/>
                  <a:gd name="T71" fmla="*/ 4 h 400"/>
                  <a:gd name="T72" fmla="*/ 1 w 59"/>
                  <a:gd name="T73" fmla="*/ 4 h 400"/>
                  <a:gd name="T74" fmla="*/ 1 w 59"/>
                  <a:gd name="T75" fmla="*/ 4 h 400"/>
                  <a:gd name="T76" fmla="*/ 0 w 59"/>
                  <a:gd name="T77" fmla="*/ 4 h 400"/>
                  <a:gd name="T78" fmla="*/ 1 w 59"/>
                  <a:gd name="T79" fmla="*/ 5 h 400"/>
                  <a:gd name="T80" fmla="*/ 1 w 59"/>
                  <a:gd name="T81" fmla="*/ 5 h 400"/>
                  <a:gd name="T82" fmla="*/ 1 w 59"/>
                  <a:gd name="T83" fmla="*/ 5 h 400"/>
                  <a:gd name="T84" fmla="*/ 1 w 59"/>
                  <a:gd name="T85" fmla="*/ 5 h 400"/>
                  <a:gd name="T86" fmla="*/ 1 w 59"/>
                  <a:gd name="T87" fmla="*/ 5 h 400"/>
                  <a:gd name="T88" fmla="*/ 1 w 59"/>
                  <a:gd name="T89" fmla="*/ 5 h 400"/>
                  <a:gd name="T90" fmla="*/ 1 w 59"/>
                  <a:gd name="T91" fmla="*/ 5 h 400"/>
                  <a:gd name="T92" fmla="*/ 1 w 59"/>
                  <a:gd name="T93" fmla="*/ 5 h 400"/>
                  <a:gd name="T94" fmla="*/ 1 w 59"/>
                  <a:gd name="T95" fmla="*/ 5 h 400"/>
                  <a:gd name="T96" fmla="*/ 1 w 59"/>
                  <a:gd name="T97" fmla="*/ 5 h 400"/>
                  <a:gd name="T98" fmla="*/ 1 w 59"/>
                  <a:gd name="T99" fmla="*/ 5 h 400"/>
                  <a:gd name="T100" fmla="*/ 1 w 59"/>
                  <a:gd name="T101" fmla="*/ 5 h 400"/>
                  <a:gd name="T102" fmla="*/ 1 w 59"/>
                  <a:gd name="T103" fmla="*/ 6 h 400"/>
                  <a:gd name="T104" fmla="*/ 1 w 59"/>
                  <a:gd name="T105" fmla="*/ 6 h 400"/>
                  <a:gd name="T106" fmla="*/ 0 w 59"/>
                  <a:gd name="T107" fmla="*/ 6 h 400"/>
                  <a:gd name="T108" fmla="*/ 0 w 59"/>
                  <a:gd name="T109" fmla="*/ 6 h 400"/>
                  <a:gd name="T110" fmla="*/ 1 w 59"/>
                  <a:gd name="T111" fmla="*/ 6 h 400"/>
                  <a:gd name="T112" fmla="*/ 1 w 59"/>
                  <a:gd name="T113" fmla="*/ 6 h 400"/>
                  <a:gd name="T114" fmla="*/ 1 w 59"/>
                  <a:gd name="T115" fmla="*/ 6 h 400"/>
                  <a:gd name="T116" fmla="*/ 1 w 59"/>
                  <a:gd name="T117" fmla="*/ 7 h 400"/>
                  <a:gd name="T118" fmla="*/ 1 w 59"/>
                  <a:gd name="T119" fmla="*/ 7 h 400"/>
                  <a:gd name="T120" fmla="*/ 1 w 59"/>
                  <a:gd name="T121" fmla="*/ 7 h 400"/>
                  <a:gd name="T122" fmla="*/ 1 w 59"/>
                  <a:gd name="T123" fmla="*/ 7 h 40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59"/>
                  <a:gd name="T187" fmla="*/ 0 h 400"/>
                  <a:gd name="T188" fmla="*/ 59 w 59"/>
                  <a:gd name="T189" fmla="*/ 400 h 400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59" h="400">
                    <a:moveTo>
                      <a:pt x="59" y="0"/>
                    </a:moveTo>
                    <a:lnTo>
                      <a:pt x="53" y="0"/>
                    </a:lnTo>
                    <a:lnTo>
                      <a:pt x="49" y="0"/>
                    </a:lnTo>
                    <a:lnTo>
                      <a:pt x="42" y="2"/>
                    </a:lnTo>
                    <a:lnTo>
                      <a:pt x="38" y="3"/>
                    </a:lnTo>
                    <a:lnTo>
                      <a:pt x="33" y="5"/>
                    </a:lnTo>
                    <a:lnTo>
                      <a:pt x="28" y="8"/>
                    </a:lnTo>
                    <a:lnTo>
                      <a:pt x="19" y="13"/>
                    </a:lnTo>
                    <a:lnTo>
                      <a:pt x="14" y="16"/>
                    </a:lnTo>
                    <a:lnTo>
                      <a:pt x="11" y="21"/>
                    </a:lnTo>
                    <a:lnTo>
                      <a:pt x="8" y="24"/>
                    </a:lnTo>
                    <a:lnTo>
                      <a:pt x="7" y="28"/>
                    </a:lnTo>
                    <a:lnTo>
                      <a:pt x="3" y="33"/>
                    </a:lnTo>
                    <a:lnTo>
                      <a:pt x="2" y="38"/>
                    </a:lnTo>
                    <a:lnTo>
                      <a:pt x="0" y="43"/>
                    </a:lnTo>
                    <a:lnTo>
                      <a:pt x="0" y="47"/>
                    </a:lnTo>
                    <a:lnTo>
                      <a:pt x="0" y="54"/>
                    </a:lnTo>
                    <a:lnTo>
                      <a:pt x="2" y="58"/>
                    </a:lnTo>
                    <a:lnTo>
                      <a:pt x="2" y="63"/>
                    </a:lnTo>
                    <a:lnTo>
                      <a:pt x="3" y="68"/>
                    </a:lnTo>
                    <a:lnTo>
                      <a:pt x="7" y="73"/>
                    </a:lnTo>
                    <a:lnTo>
                      <a:pt x="10" y="76"/>
                    </a:lnTo>
                    <a:lnTo>
                      <a:pt x="13" y="80"/>
                    </a:lnTo>
                    <a:lnTo>
                      <a:pt x="16" y="84"/>
                    </a:lnTo>
                    <a:lnTo>
                      <a:pt x="24" y="90"/>
                    </a:lnTo>
                    <a:lnTo>
                      <a:pt x="28" y="93"/>
                    </a:lnTo>
                    <a:lnTo>
                      <a:pt x="33" y="95"/>
                    </a:lnTo>
                    <a:lnTo>
                      <a:pt x="38" y="98"/>
                    </a:lnTo>
                    <a:lnTo>
                      <a:pt x="44" y="99"/>
                    </a:lnTo>
                    <a:lnTo>
                      <a:pt x="50" y="99"/>
                    </a:lnTo>
                    <a:lnTo>
                      <a:pt x="55" y="99"/>
                    </a:lnTo>
                    <a:lnTo>
                      <a:pt x="59" y="99"/>
                    </a:lnTo>
                    <a:lnTo>
                      <a:pt x="53" y="99"/>
                    </a:lnTo>
                    <a:lnTo>
                      <a:pt x="49" y="101"/>
                    </a:lnTo>
                    <a:lnTo>
                      <a:pt x="42" y="101"/>
                    </a:lnTo>
                    <a:lnTo>
                      <a:pt x="38" y="102"/>
                    </a:lnTo>
                    <a:lnTo>
                      <a:pt x="33" y="106"/>
                    </a:lnTo>
                    <a:lnTo>
                      <a:pt x="28" y="107"/>
                    </a:lnTo>
                    <a:lnTo>
                      <a:pt x="19" y="113"/>
                    </a:lnTo>
                    <a:lnTo>
                      <a:pt x="14" y="117"/>
                    </a:lnTo>
                    <a:lnTo>
                      <a:pt x="11" y="120"/>
                    </a:lnTo>
                    <a:lnTo>
                      <a:pt x="8" y="124"/>
                    </a:lnTo>
                    <a:lnTo>
                      <a:pt x="7" y="129"/>
                    </a:lnTo>
                    <a:lnTo>
                      <a:pt x="3" y="134"/>
                    </a:lnTo>
                    <a:lnTo>
                      <a:pt x="2" y="139"/>
                    </a:lnTo>
                    <a:lnTo>
                      <a:pt x="0" y="143"/>
                    </a:lnTo>
                    <a:lnTo>
                      <a:pt x="0" y="148"/>
                    </a:lnTo>
                    <a:lnTo>
                      <a:pt x="0" y="153"/>
                    </a:lnTo>
                    <a:lnTo>
                      <a:pt x="2" y="157"/>
                    </a:lnTo>
                    <a:lnTo>
                      <a:pt x="2" y="162"/>
                    </a:lnTo>
                    <a:lnTo>
                      <a:pt x="3" y="167"/>
                    </a:lnTo>
                    <a:lnTo>
                      <a:pt x="7" y="172"/>
                    </a:lnTo>
                    <a:lnTo>
                      <a:pt x="10" y="176"/>
                    </a:lnTo>
                    <a:lnTo>
                      <a:pt x="13" y="180"/>
                    </a:lnTo>
                    <a:lnTo>
                      <a:pt x="16" y="184"/>
                    </a:lnTo>
                    <a:lnTo>
                      <a:pt x="24" y="191"/>
                    </a:lnTo>
                    <a:lnTo>
                      <a:pt x="28" y="192"/>
                    </a:lnTo>
                    <a:lnTo>
                      <a:pt x="33" y="195"/>
                    </a:lnTo>
                    <a:lnTo>
                      <a:pt x="38" y="197"/>
                    </a:lnTo>
                    <a:lnTo>
                      <a:pt x="44" y="198"/>
                    </a:lnTo>
                    <a:lnTo>
                      <a:pt x="50" y="200"/>
                    </a:lnTo>
                    <a:lnTo>
                      <a:pt x="55" y="200"/>
                    </a:lnTo>
                    <a:lnTo>
                      <a:pt x="59" y="200"/>
                    </a:lnTo>
                    <a:lnTo>
                      <a:pt x="53" y="200"/>
                    </a:lnTo>
                    <a:lnTo>
                      <a:pt x="49" y="200"/>
                    </a:lnTo>
                    <a:lnTo>
                      <a:pt x="42" y="202"/>
                    </a:lnTo>
                    <a:lnTo>
                      <a:pt x="38" y="203"/>
                    </a:lnTo>
                    <a:lnTo>
                      <a:pt x="33" y="205"/>
                    </a:lnTo>
                    <a:lnTo>
                      <a:pt x="28" y="208"/>
                    </a:lnTo>
                    <a:lnTo>
                      <a:pt x="19" y="213"/>
                    </a:lnTo>
                    <a:lnTo>
                      <a:pt x="14" y="216"/>
                    </a:lnTo>
                    <a:lnTo>
                      <a:pt x="11" y="220"/>
                    </a:lnTo>
                    <a:lnTo>
                      <a:pt x="8" y="224"/>
                    </a:lnTo>
                    <a:lnTo>
                      <a:pt x="7" y="228"/>
                    </a:lnTo>
                    <a:lnTo>
                      <a:pt x="3" y="233"/>
                    </a:lnTo>
                    <a:lnTo>
                      <a:pt x="2" y="238"/>
                    </a:lnTo>
                    <a:lnTo>
                      <a:pt x="0" y="242"/>
                    </a:lnTo>
                    <a:lnTo>
                      <a:pt x="0" y="247"/>
                    </a:lnTo>
                    <a:lnTo>
                      <a:pt x="0" y="253"/>
                    </a:lnTo>
                    <a:lnTo>
                      <a:pt x="2" y="258"/>
                    </a:lnTo>
                    <a:lnTo>
                      <a:pt x="2" y="263"/>
                    </a:lnTo>
                    <a:lnTo>
                      <a:pt x="3" y="268"/>
                    </a:lnTo>
                    <a:lnTo>
                      <a:pt x="7" y="272"/>
                    </a:lnTo>
                    <a:lnTo>
                      <a:pt x="10" y="276"/>
                    </a:lnTo>
                    <a:lnTo>
                      <a:pt x="13" y="280"/>
                    </a:lnTo>
                    <a:lnTo>
                      <a:pt x="16" y="283"/>
                    </a:lnTo>
                    <a:lnTo>
                      <a:pt x="24" y="290"/>
                    </a:lnTo>
                    <a:lnTo>
                      <a:pt x="28" y="293"/>
                    </a:lnTo>
                    <a:lnTo>
                      <a:pt x="33" y="294"/>
                    </a:lnTo>
                    <a:lnTo>
                      <a:pt x="38" y="298"/>
                    </a:lnTo>
                    <a:lnTo>
                      <a:pt x="44" y="299"/>
                    </a:lnTo>
                    <a:lnTo>
                      <a:pt x="50" y="299"/>
                    </a:lnTo>
                    <a:lnTo>
                      <a:pt x="55" y="299"/>
                    </a:lnTo>
                    <a:lnTo>
                      <a:pt x="59" y="299"/>
                    </a:lnTo>
                    <a:lnTo>
                      <a:pt x="53" y="301"/>
                    </a:lnTo>
                    <a:lnTo>
                      <a:pt x="49" y="301"/>
                    </a:lnTo>
                    <a:lnTo>
                      <a:pt x="42" y="302"/>
                    </a:lnTo>
                    <a:lnTo>
                      <a:pt x="38" y="302"/>
                    </a:lnTo>
                    <a:lnTo>
                      <a:pt x="33" y="305"/>
                    </a:lnTo>
                    <a:lnTo>
                      <a:pt x="28" y="307"/>
                    </a:lnTo>
                    <a:lnTo>
                      <a:pt x="19" y="313"/>
                    </a:lnTo>
                    <a:lnTo>
                      <a:pt x="14" y="316"/>
                    </a:lnTo>
                    <a:lnTo>
                      <a:pt x="11" y="320"/>
                    </a:lnTo>
                    <a:lnTo>
                      <a:pt x="8" y="324"/>
                    </a:lnTo>
                    <a:lnTo>
                      <a:pt x="7" y="329"/>
                    </a:lnTo>
                    <a:lnTo>
                      <a:pt x="3" y="334"/>
                    </a:lnTo>
                    <a:lnTo>
                      <a:pt x="2" y="338"/>
                    </a:lnTo>
                    <a:lnTo>
                      <a:pt x="0" y="343"/>
                    </a:lnTo>
                    <a:lnTo>
                      <a:pt x="0" y="348"/>
                    </a:lnTo>
                    <a:lnTo>
                      <a:pt x="0" y="353"/>
                    </a:lnTo>
                    <a:lnTo>
                      <a:pt x="2" y="357"/>
                    </a:lnTo>
                    <a:lnTo>
                      <a:pt x="2" y="362"/>
                    </a:lnTo>
                    <a:lnTo>
                      <a:pt x="3" y="367"/>
                    </a:lnTo>
                    <a:lnTo>
                      <a:pt x="7" y="371"/>
                    </a:lnTo>
                    <a:lnTo>
                      <a:pt x="10" y="376"/>
                    </a:lnTo>
                    <a:lnTo>
                      <a:pt x="13" y="379"/>
                    </a:lnTo>
                    <a:lnTo>
                      <a:pt x="16" y="384"/>
                    </a:lnTo>
                    <a:lnTo>
                      <a:pt x="24" y="390"/>
                    </a:lnTo>
                    <a:lnTo>
                      <a:pt x="28" y="394"/>
                    </a:lnTo>
                    <a:lnTo>
                      <a:pt x="33" y="395"/>
                    </a:lnTo>
                    <a:lnTo>
                      <a:pt x="38" y="397"/>
                    </a:lnTo>
                    <a:lnTo>
                      <a:pt x="44" y="398"/>
                    </a:lnTo>
                    <a:lnTo>
                      <a:pt x="50" y="400"/>
                    </a:lnTo>
                    <a:lnTo>
                      <a:pt x="55" y="400"/>
                    </a:lnTo>
                    <a:lnTo>
                      <a:pt x="59" y="40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02" name="Line 107"/>
              <p:cNvSpPr>
                <a:spLocks noChangeShapeType="1"/>
              </p:cNvSpPr>
              <p:nvPr/>
            </p:nvSpPr>
            <p:spPr bwMode="auto">
              <a:xfrm>
                <a:off x="4164" y="1619"/>
                <a:ext cx="1" cy="1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03" name="Line 108"/>
              <p:cNvSpPr>
                <a:spLocks noChangeShapeType="1"/>
              </p:cNvSpPr>
              <p:nvPr/>
            </p:nvSpPr>
            <p:spPr bwMode="auto">
              <a:xfrm flipV="1">
                <a:off x="4177" y="1619"/>
                <a:ext cx="1" cy="1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04" name="Freeform 109"/>
              <p:cNvSpPr>
                <a:spLocks/>
              </p:cNvSpPr>
              <p:nvPr/>
            </p:nvSpPr>
            <p:spPr bwMode="auto">
              <a:xfrm>
                <a:off x="4220" y="1621"/>
                <a:ext cx="24" cy="25"/>
              </a:xfrm>
              <a:custGeom>
                <a:avLst/>
                <a:gdLst>
                  <a:gd name="T0" fmla="*/ 0 w 50"/>
                  <a:gd name="T1" fmla="*/ 0 h 51"/>
                  <a:gd name="T2" fmla="*/ 0 w 50"/>
                  <a:gd name="T3" fmla="*/ 0 h 51"/>
                  <a:gd name="T4" fmla="*/ 0 w 50"/>
                  <a:gd name="T5" fmla="*/ 0 h 51"/>
                  <a:gd name="T6" fmla="*/ 0 w 50"/>
                  <a:gd name="T7" fmla="*/ 0 h 51"/>
                  <a:gd name="T8" fmla="*/ 0 w 50"/>
                  <a:gd name="T9" fmla="*/ 0 h 51"/>
                  <a:gd name="T10" fmla="*/ 0 w 50"/>
                  <a:gd name="T11" fmla="*/ 0 h 51"/>
                  <a:gd name="T12" fmla="*/ 0 w 50"/>
                  <a:gd name="T13" fmla="*/ 0 h 51"/>
                  <a:gd name="T14" fmla="*/ 0 w 50"/>
                  <a:gd name="T15" fmla="*/ 0 h 51"/>
                  <a:gd name="T16" fmla="*/ 0 w 50"/>
                  <a:gd name="T17" fmla="*/ 0 h 51"/>
                  <a:gd name="T18" fmla="*/ 0 w 50"/>
                  <a:gd name="T19" fmla="*/ 0 h 51"/>
                  <a:gd name="T20" fmla="*/ 0 w 50"/>
                  <a:gd name="T21" fmla="*/ 0 h 51"/>
                  <a:gd name="T22" fmla="*/ 0 w 50"/>
                  <a:gd name="T23" fmla="*/ 0 h 51"/>
                  <a:gd name="T24" fmla="*/ 0 w 50"/>
                  <a:gd name="T25" fmla="*/ 0 h 51"/>
                  <a:gd name="T26" fmla="*/ 0 w 50"/>
                  <a:gd name="T27" fmla="*/ 0 h 51"/>
                  <a:gd name="T28" fmla="*/ 0 w 50"/>
                  <a:gd name="T29" fmla="*/ 0 h 51"/>
                  <a:gd name="T30" fmla="*/ 0 w 50"/>
                  <a:gd name="T31" fmla="*/ 0 h 51"/>
                  <a:gd name="T32" fmla="*/ 0 w 50"/>
                  <a:gd name="T33" fmla="*/ 0 h 51"/>
                  <a:gd name="T34" fmla="*/ 0 w 50"/>
                  <a:gd name="T35" fmla="*/ 0 h 51"/>
                  <a:gd name="T36" fmla="*/ 0 w 50"/>
                  <a:gd name="T37" fmla="*/ 0 h 51"/>
                  <a:gd name="T38" fmla="*/ 0 w 50"/>
                  <a:gd name="T39" fmla="*/ 0 h 51"/>
                  <a:gd name="T40" fmla="*/ 0 w 50"/>
                  <a:gd name="T41" fmla="*/ 0 h 51"/>
                  <a:gd name="T42" fmla="*/ 0 w 50"/>
                  <a:gd name="T43" fmla="*/ 0 h 51"/>
                  <a:gd name="T44" fmla="*/ 0 w 50"/>
                  <a:gd name="T45" fmla="*/ 0 h 51"/>
                  <a:gd name="T46" fmla="*/ 0 w 50"/>
                  <a:gd name="T47" fmla="*/ 0 h 51"/>
                  <a:gd name="T48" fmla="*/ 0 w 50"/>
                  <a:gd name="T49" fmla="*/ 0 h 51"/>
                  <a:gd name="T50" fmla="*/ 0 w 50"/>
                  <a:gd name="T51" fmla="*/ 0 h 51"/>
                  <a:gd name="T52" fmla="*/ 0 w 50"/>
                  <a:gd name="T53" fmla="*/ 0 h 51"/>
                  <a:gd name="T54" fmla="*/ 0 w 50"/>
                  <a:gd name="T55" fmla="*/ 0 h 51"/>
                  <a:gd name="T56" fmla="*/ 0 w 50"/>
                  <a:gd name="T57" fmla="*/ 0 h 51"/>
                  <a:gd name="T58" fmla="*/ 0 w 50"/>
                  <a:gd name="T59" fmla="*/ 0 h 51"/>
                  <a:gd name="T60" fmla="*/ 0 w 50"/>
                  <a:gd name="T61" fmla="*/ 0 h 51"/>
                  <a:gd name="T62" fmla="*/ 0 w 50"/>
                  <a:gd name="T63" fmla="*/ 0 h 51"/>
                  <a:gd name="T64" fmla="*/ 0 w 50"/>
                  <a:gd name="T65" fmla="*/ 0 h 51"/>
                  <a:gd name="T66" fmla="*/ 0 w 50"/>
                  <a:gd name="T67" fmla="*/ 0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1"/>
                  <a:gd name="T104" fmla="*/ 50 w 50"/>
                  <a:gd name="T105" fmla="*/ 51 h 5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1">
                    <a:moveTo>
                      <a:pt x="0" y="25"/>
                    </a:moveTo>
                    <a:lnTo>
                      <a:pt x="2" y="21"/>
                    </a:lnTo>
                    <a:lnTo>
                      <a:pt x="3" y="16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3"/>
                    </a:lnTo>
                    <a:lnTo>
                      <a:pt x="20" y="2"/>
                    </a:lnTo>
                    <a:lnTo>
                      <a:pt x="25" y="0"/>
                    </a:lnTo>
                    <a:lnTo>
                      <a:pt x="31" y="2"/>
                    </a:lnTo>
                    <a:lnTo>
                      <a:pt x="36" y="3"/>
                    </a:lnTo>
                    <a:lnTo>
                      <a:pt x="39" y="5"/>
                    </a:lnTo>
                    <a:lnTo>
                      <a:pt x="44" y="8"/>
                    </a:lnTo>
                    <a:lnTo>
                      <a:pt x="47" y="11"/>
                    </a:lnTo>
                    <a:lnTo>
                      <a:pt x="48" y="16"/>
                    </a:lnTo>
                    <a:lnTo>
                      <a:pt x="50" y="21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7" y="40"/>
                    </a:lnTo>
                    <a:lnTo>
                      <a:pt x="44" y="44"/>
                    </a:lnTo>
                    <a:lnTo>
                      <a:pt x="39" y="48"/>
                    </a:lnTo>
                    <a:lnTo>
                      <a:pt x="36" y="49"/>
                    </a:lnTo>
                    <a:lnTo>
                      <a:pt x="31" y="51"/>
                    </a:lnTo>
                    <a:lnTo>
                      <a:pt x="25" y="51"/>
                    </a:lnTo>
                    <a:lnTo>
                      <a:pt x="20" y="51"/>
                    </a:lnTo>
                    <a:lnTo>
                      <a:pt x="16" y="49"/>
                    </a:lnTo>
                    <a:lnTo>
                      <a:pt x="11" y="48"/>
                    </a:lnTo>
                    <a:lnTo>
                      <a:pt x="8" y="44"/>
                    </a:lnTo>
                    <a:lnTo>
                      <a:pt x="5" y="40"/>
                    </a:lnTo>
                    <a:lnTo>
                      <a:pt x="3" y="35"/>
                    </a:lnTo>
                    <a:lnTo>
                      <a:pt x="2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05" name="Line 110"/>
              <p:cNvSpPr>
                <a:spLocks noChangeShapeType="1"/>
              </p:cNvSpPr>
              <p:nvPr/>
            </p:nvSpPr>
            <p:spPr bwMode="auto">
              <a:xfrm flipH="1">
                <a:off x="3875" y="1164"/>
                <a:ext cx="13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06" name="Freeform 111"/>
              <p:cNvSpPr>
                <a:spLocks/>
              </p:cNvSpPr>
              <p:nvPr/>
            </p:nvSpPr>
            <p:spPr bwMode="auto">
              <a:xfrm>
                <a:off x="3877" y="1974"/>
                <a:ext cx="157" cy="110"/>
              </a:xfrm>
              <a:custGeom>
                <a:avLst/>
                <a:gdLst>
                  <a:gd name="T0" fmla="*/ 4 w 316"/>
                  <a:gd name="T1" fmla="*/ 4 h 220"/>
                  <a:gd name="T2" fmla="*/ 0 w 316"/>
                  <a:gd name="T3" fmla="*/ 4 h 220"/>
                  <a:gd name="T4" fmla="*/ 0 w 316"/>
                  <a:gd name="T5" fmla="*/ 0 h 220"/>
                  <a:gd name="T6" fmla="*/ 0 60000 65536"/>
                  <a:gd name="T7" fmla="*/ 0 60000 65536"/>
                  <a:gd name="T8" fmla="*/ 0 60000 65536"/>
                  <a:gd name="T9" fmla="*/ 0 w 316"/>
                  <a:gd name="T10" fmla="*/ 0 h 220"/>
                  <a:gd name="T11" fmla="*/ 316 w 316"/>
                  <a:gd name="T12" fmla="*/ 220 h 2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6" h="220">
                    <a:moveTo>
                      <a:pt x="316" y="220"/>
                    </a:moveTo>
                    <a:lnTo>
                      <a:pt x="0" y="22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07" name="Line 112"/>
              <p:cNvSpPr>
                <a:spLocks noChangeShapeType="1"/>
              </p:cNvSpPr>
              <p:nvPr/>
            </p:nvSpPr>
            <p:spPr bwMode="auto">
              <a:xfrm flipH="1">
                <a:off x="3877" y="1764"/>
                <a:ext cx="157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08" name="Freeform 113"/>
              <p:cNvSpPr>
                <a:spLocks/>
              </p:cNvSpPr>
              <p:nvPr/>
            </p:nvSpPr>
            <p:spPr bwMode="auto">
              <a:xfrm>
                <a:off x="3864" y="1751"/>
                <a:ext cx="25" cy="25"/>
              </a:xfrm>
              <a:custGeom>
                <a:avLst/>
                <a:gdLst>
                  <a:gd name="T0" fmla="*/ 0 w 50"/>
                  <a:gd name="T1" fmla="*/ 1 h 50"/>
                  <a:gd name="T2" fmla="*/ 0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1 h 50"/>
                  <a:gd name="T16" fmla="*/ 1 w 50"/>
                  <a:gd name="T17" fmla="*/ 0 h 50"/>
                  <a:gd name="T18" fmla="*/ 1 w 50"/>
                  <a:gd name="T19" fmla="*/ 1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0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0" y="20"/>
                    </a:lnTo>
                    <a:lnTo>
                      <a:pt x="2" y="16"/>
                    </a:lnTo>
                    <a:lnTo>
                      <a:pt x="5" y="13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3"/>
                    </a:lnTo>
                    <a:lnTo>
                      <a:pt x="20" y="2"/>
                    </a:lnTo>
                    <a:lnTo>
                      <a:pt x="25" y="0"/>
                    </a:lnTo>
                    <a:lnTo>
                      <a:pt x="30" y="2"/>
                    </a:lnTo>
                    <a:lnTo>
                      <a:pt x="34" y="3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3"/>
                    </a:lnTo>
                    <a:lnTo>
                      <a:pt x="48" y="16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1"/>
                    </a:lnTo>
                    <a:lnTo>
                      <a:pt x="48" y="36"/>
                    </a:lnTo>
                    <a:lnTo>
                      <a:pt x="45" y="39"/>
                    </a:lnTo>
                    <a:lnTo>
                      <a:pt x="42" y="44"/>
                    </a:lnTo>
                    <a:lnTo>
                      <a:pt x="39" y="47"/>
                    </a:lnTo>
                    <a:lnTo>
                      <a:pt x="34" y="49"/>
                    </a:lnTo>
                    <a:lnTo>
                      <a:pt x="30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6" y="49"/>
                    </a:lnTo>
                    <a:lnTo>
                      <a:pt x="11" y="47"/>
                    </a:lnTo>
                    <a:lnTo>
                      <a:pt x="8" y="44"/>
                    </a:lnTo>
                    <a:lnTo>
                      <a:pt x="5" y="39"/>
                    </a:lnTo>
                    <a:lnTo>
                      <a:pt x="2" y="36"/>
                    </a:lnTo>
                    <a:lnTo>
                      <a:pt x="0" y="31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09" name="Freeform 114"/>
              <p:cNvSpPr>
                <a:spLocks/>
              </p:cNvSpPr>
              <p:nvPr/>
            </p:nvSpPr>
            <p:spPr bwMode="auto">
              <a:xfrm>
                <a:off x="3864" y="2071"/>
                <a:ext cx="25" cy="25"/>
              </a:xfrm>
              <a:custGeom>
                <a:avLst/>
                <a:gdLst>
                  <a:gd name="T0" fmla="*/ 0 w 50"/>
                  <a:gd name="T1" fmla="*/ 0 h 51"/>
                  <a:gd name="T2" fmla="*/ 0 w 50"/>
                  <a:gd name="T3" fmla="*/ 0 h 51"/>
                  <a:gd name="T4" fmla="*/ 1 w 50"/>
                  <a:gd name="T5" fmla="*/ 0 h 51"/>
                  <a:gd name="T6" fmla="*/ 1 w 50"/>
                  <a:gd name="T7" fmla="*/ 0 h 51"/>
                  <a:gd name="T8" fmla="*/ 1 w 50"/>
                  <a:gd name="T9" fmla="*/ 0 h 51"/>
                  <a:gd name="T10" fmla="*/ 1 w 50"/>
                  <a:gd name="T11" fmla="*/ 0 h 51"/>
                  <a:gd name="T12" fmla="*/ 1 w 50"/>
                  <a:gd name="T13" fmla="*/ 0 h 51"/>
                  <a:gd name="T14" fmla="*/ 1 w 50"/>
                  <a:gd name="T15" fmla="*/ 0 h 51"/>
                  <a:gd name="T16" fmla="*/ 1 w 50"/>
                  <a:gd name="T17" fmla="*/ 0 h 51"/>
                  <a:gd name="T18" fmla="*/ 1 w 50"/>
                  <a:gd name="T19" fmla="*/ 0 h 51"/>
                  <a:gd name="T20" fmla="*/ 1 w 50"/>
                  <a:gd name="T21" fmla="*/ 0 h 51"/>
                  <a:gd name="T22" fmla="*/ 1 w 50"/>
                  <a:gd name="T23" fmla="*/ 0 h 51"/>
                  <a:gd name="T24" fmla="*/ 1 w 50"/>
                  <a:gd name="T25" fmla="*/ 0 h 51"/>
                  <a:gd name="T26" fmla="*/ 1 w 50"/>
                  <a:gd name="T27" fmla="*/ 0 h 51"/>
                  <a:gd name="T28" fmla="*/ 1 w 50"/>
                  <a:gd name="T29" fmla="*/ 0 h 51"/>
                  <a:gd name="T30" fmla="*/ 1 w 50"/>
                  <a:gd name="T31" fmla="*/ 0 h 51"/>
                  <a:gd name="T32" fmla="*/ 1 w 50"/>
                  <a:gd name="T33" fmla="*/ 0 h 51"/>
                  <a:gd name="T34" fmla="*/ 1 w 50"/>
                  <a:gd name="T35" fmla="*/ 0 h 51"/>
                  <a:gd name="T36" fmla="*/ 1 w 50"/>
                  <a:gd name="T37" fmla="*/ 0 h 51"/>
                  <a:gd name="T38" fmla="*/ 1 w 50"/>
                  <a:gd name="T39" fmla="*/ 0 h 51"/>
                  <a:gd name="T40" fmla="*/ 1 w 50"/>
                  <a:gd name="T41" fmla="*/ 0 h 51"/>
                  <a:gd name="T42" fmla="*/ 1 w 50"/>
                  <a:gd name="T43" fmla="*/ 0 h 51"/>
                  <a:gd name="T44" fmla="*/ 1 w 50"/>
                  <a:gd name="T45" fmla="*/ 0 h 51"/>
                  <a:gd name="T46" fmla="*/ 1 w 50"/>
                  <a:gd name="T47" fmla="*/ 0 h 51"/>
                  <a:gd name="T48" fmla="*/ 1 w 50"/>
                  <a:gd name="T49" fmla="*/ 0 h 51"/>
                  <a:gd name="T50" fmla="*/ 1 w 50"/>
                  <a:gd name="T51" fmla="*/ 0 h 51"/>
                  <a:gd name="T52" fmla="*/ 1 w 50"/>
                  <a:gd name="T53" fmla="*/ 0 h 51"/>
                  <a:gd name="T54" fmla="*/ 1 w 50"/>
                  <a:gd name="T55" fmla="*/ 0 h 51"/>
                  <a:gd name="T56" fmla="*/ 1 w 50"/>
                  <a:gd name="T57" fmla="*/ 0 h 51"/>
                  <a:gd name="T58" fmla="*/ 1 w 50"/>
                  <a:gd name="T59" fmla="*/ 0 h 51"/>
                  <a:gd name="T60" fmla="*/ 1 w 50"/>
                  <a:gd name="T61" fmla="*/ 0 h 51"/>
                  <a:gd name="T62" fmla="*/ 1 w 50"/>
                  <a:gd name="T63" fmla="*/ 0 h 51"/>
                  <a:gd name="T64" fmla="*/ 0 w 50"/>
                  <a:gd name="T65" fmla="*/ 0 h 51"/>
                  <a:gd name="T66" fmla="*/ 0 w 50"/>
                  <a:gd name="T67" fmla="*/ 0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1"/>
                  <a:gd name="T104" fmla="*/ 50 w 50"/>
                  <a:gd name="T105" fmla="*/ 51 h 5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1">
                    <a:moveTo>
                      <a:pt x="0" y="25"/>
                    </a:moveTo>
                    <a:lnTo>
                      <a:pt x="0" y="21"/>
                    </a:lnTo>
                    <a:lnTo>
                      <a:pt x="2" y="16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0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1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40"/>
                    </a:lnTo>
                    <a:lnTo>
                      <a:pt x="42" y="43"/>
                    </a:lnTo>
                    <a:lnTo>
                      <a:pt x="39" y="46"/>
                    </a:lnTo>
                    <a:lnTo>
                      <a:pt x="34" y="49"/>
                    </a:lnTo>
                    <a:lnTo>
                      <a:pt x="30" y="51"/>
                    </a:lnTo>
                    <a:lnTo>
                      <a:pt x="25" y="51"/>
                    </a:lnTo>
                    <a:lnTo>
                      <a:pt x="20" y="51"/>
                    </a:lnTo>
                    <a:lnTo>
                      <a:pt x="16" y="49"/>
                    </a:lnTo>
                    <a:lnTo>
                      <a:pt x="11" y="46"/>
                    </a:lnTo>
                    <a:lnTo>
                      <a:pt x="8" y="43"/>
                    </a:lnTo>
                    <a:lnTo>
                      <a:pt x="5" y="40"/>
                    </a:lnTo>
                    <a:lnTo>
                      <a:pt x="2" y="35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10" name="Line 115"/>
              <p:cNvSpPr>
                <a:spLocks noChangeShapeType="1"/>
              </p:cNvSpPr>
              <p:nvPr/>
            </p:nvSpPr>
            <p:spPr bwMode="auto">
              <a:xfrm flipV="1">
                <a:off x="4230" y="1814"/>
                <a:ext cx="1" cy="8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11" name="Line 116"/>
              <p:cNvSpPr>
                <a:spLocks noChangeShapeType="1"/>
              </p:cNvSpPr>
              <p:nvPr/>
            </p:nvSpPr>
            <p:spPr bwMode="auto">
              <a:xfrm flipH="1" flipV="1">
                <a:off x="4546" y="1334"/>
                <a:ext cx="3" cy="56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12" name="Line 117"/>
              <p:cNvSpPr>
                <a:spLocks noChangeShapeType="1"/>
              </p:cNvSpPr>
              <p:nvPr/>
            </p:nvSpPr>
            <p:spPr bwMode="auto">
              <a:xfrm>
                <a:off x="4546" y="1334"/>
                <a:ext cx="150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13" name="Line 118"/>
              <p:cNvSpPr>
                <a:spLocks noChangeShapeType="1"/>
              </p:cNvSpPr>
              <p:nvPr/>
            </p:nvSpPr>
            <p:spPr bwMode="auto">
              <a:xfrm>
                <a:off x="5145" y="1527"/>
                <a:ext cx="1" cy="4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14" name="Freeform 119"/>
              <p:cNvSpPr>
                <a:spLocks/>
              </p:cNvSpPr>
              <p:nvPr/>
            </p:nvSpPr>
            <p:spPr bwMode="auto">
              <a:xfrm>
                <a:off x="4230" y="1614"/>
                <a:ext cx="911" cy="1"/>
              </a:xfrm>
              <a:custGeom>
                <a:avLst/>
                <a:gdLst>
                  <a:gd name="T0" fmla="*/ 0 w 1824"/>
                  <a:gd name="T1" fmla="*/ 0 h 1"/>
                  <a:gd name="T2" fmla="*/ 28 w 1824"/>
                  <a:gd name="T3" fmla="*/ 0 h 1"/>
                  <a:gd name="T4" fmla="*/ 28 w 182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824"/>
                  <a:gd name="T10" fmla="*/ 0 h 1"/>
                  <a:gd name="T11" fmla="*/ 1824 w 182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24" h="1">
                    <a:moveTo>
                      <a:pt x="0" y="0"/>
                    </a:moveTo>
                    <a:lnTo>
                      <a:pt x="1824" y="0"/>
                    </a:lnTo>
                    <a:lnTo>
                      <a:pt x="181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15" name="Line 120"/>
              <p:cNvSpPr>
                <a:spLocks noChangeShapeType="1"/>
              </p:cNvSpPr>
              <p:nvPr/>
            </p:nvSpPr>
            <p:spPr bwMode="auto">
              <a:xfrm>
                <a:off x="5145" y="1574"/>
                <a:ext cx="1" cy="4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16" name="Line 121"/>
              <p:cNvSpPr>
                <a:spLocks noChangeShapeType="1"/>
              </p:cNvSpPr>
              <p:nvPr/>
            </p:nvSpPr>
            <p:spPr bwMode="auto">
              <a:xfrm>
                <a:off x="4987" y="1574"/>
                <a:ext cx="1" cy="4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17" name="Freeform 122"/>
              <p:cNvSpPr>
                <a:spLocks/>
              </p:cNvSpPr>
              <p:nvPr/>
            </p:nvSpPr>
            <p:spPr bwMode="auto">
              <a:xfrm>
                <a:off x="4974" y="1601"/>
                <a:ext cx="25" cy="26"/>
              </a:xfrm>
              <a:custGeom>
                <a:avLst/>
                <a:gdLst>
                  <a:gd name="T0" fmla="*/ 0 w 50"/>
                  <a:gd name="T1" fmla="*/ 1 h 50"/>
                  <a:gd name="T2" fmla="*/ 1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1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2" y="20"/>
                    </a:lnTo>
                    <a:lnTo>
                      <a:pt x="3" y="16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1" y="0"/>
                    </a:lnTo>
                    <a:lnTo>
                      <a:pt x="36" y="2"/>
                    </a:lnTo>
                    <a:lnTo>
                      <a:pt x="39" y="5"/>
                    </a:lnTo>
                    <a:lnTo>
                      <a:pt x="44" y="8"/>
                    </a:lnTo>
                    <a:lnTo>
                      <a:pt x="47" y="11"/>
                    </a:lnTo>
                    <a:lnTo>
                      <a:pt x="48" y="16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7" y="39"/>
                    </a:lnTo>
                    <a:lnTo>
                      <a:pt x="44" y="42"/>
                    </a:lnTo>
                    <a:lnTo>
                      <a:pt x="39" y="46"/>
                    </a:lnTo>
                    <a:lnTo>
                      <a:pt x="36" y="49"/>
                    </a:lnTo>
                    <a:lnTo>
                      <a:pt x="31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6" y="49"/>
                    </a:lnTo>
                    <a:lnTo>
                      <a:pt x="11" y="46"/>
                    </a:lnTo>
                    <a:lnTo>
                      <a:pt x="8" y="42"/>
                    </a:lnTo>
                    <a:lnTo>
                      <a:pt x="5" y="39"/>
                    </a:lnTo>
                    <a:lnTo>
                      <a:pt x="3" y="35"/>
                    </a:lnTo>
                    <a:lnTo>
                      <a:pt x="2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18" name="Freeform 123"/>
              <p:cNvSpPr>
                <a:spLocks/>
              </p:cNvSpPr>
              <p:nvPr/>
            </p:nvSpPr>
            <p:spPr bwMode="auto">
              <a:xfrm>
                <a:off x="4534" y="1321"/>
                <a:ext cx="25" cy="26"/>
              </a:xfrm>
              <a:custGeom>
                <a:avLst/>
                <a:gdLst>
                  <a:gd name="T0" fmla="*/ 0 w 49"/>
                  <a:gd name="T1" fmla="*/ 1 h 50"/>
                  <a:gd name="T2" fmla="*/ 0 w 49"/>
                  <a:gd name="T3" fmla="*/ 1 h 50"/>
                  <a:gd name="T4" fmla="*/ 1 w 49"/>
                  <a:gd name="T5" fmla="*/ 1 h 50"/>
                  <a:gd name="T6" fmla="*/ 1 w 49"/>
                  <a:gd name="T7" fmla="*/ 1 h 50"/>
                  <a:gd name="T8" fmla="*/ 1 w 49"/>
                  <a:gd name="T9" fmla="*/ 1 h 50"/>
                  <a:gd name="T10" fmla="*/ 1 w 49"/>
                  <a:gd name="T11" fmla="*/ 1 h 50"/>
                  <a:gd name="T12" fmla="*/ 1 w 49"/>
                  <a:gd name="T13" fmla="*/ 1 h 50"/>
                  <a:gd name="T14" fmla="*/ 1 w 49"/>
                  <a:gd name="T15" fmla="*/ 0 h 50"/>
                  <a:gd name="T16" fmla="*/ 1 w 49"/>
                  <a:gd name="T17" fmla="*/ 0 h 50"/>
                  <a:gd name="T18" fmla="*/ 1 w 49"/>
                  <a:gd name="T19" fmla="*/ 0 h 50"/>
                  <a:gd name="T20" fmla="*/ 1 w 49"/>
                  <a:gd name="T21" fmla="*/ 1 h 50"/>
                  <a:gd name="T22" fmla="*/ 1 w 49"/>
                  <a:gd name="T23" fmla="*/ 1 h 50"/>
                  <a:gd name="T24" fmla="*/ 1 w 49"/>
                  <a:gd name="T25" fmla="*/ 1 h 50"/>
                  <a:gd name="T26" fmla="*/ 1 w 49"/>
                  <a:gd name="T27" fmla="*/ 1 h 50"/>
                  <a:gd name="T28" fmla="*/ 1 w 49"/>
                  <a:gd name="T29" fmla="*/ 1 h 50"/>
                  <a:gd name="T30" fmla="*/ 1 w 49"/>
                  <a:gd name="T31" fmla="*/ 1 h 50"/>
                  <a:gd name="T32" fmla="*/ 1 w 49"/>
                  <a:gd name="T33" fmla="*/ 1 h 50"/>
                  <a:gd name="T34" fmla="*/ 1 w 49"/>
                  <a:gd name="T35" fmla="*/ 1 h 50"/>
                  <a:gd name="T36" fmla="*/ 1 w 49"/>
                  <a:gd name="T37" fmla="*/ 1 h 50"/>
                  <a:gd name="T38" fmla="*/ 1 w 49"/>
                  <a:gd name="T39" fmla="*/ 1 h 50"/>
                  <a:gd name="T40" fmla="*/ 1 w 49"/>
                  <a:gd name="T41" fmla="*/ 1 h 50"/>
                  <a:gd name="T42" fmla="*/ 1 w 49"/>
                  <a:gd name="T43" fmla="*/ 1 h 50"/>
                  <a:gd name="T44" fmla="*/ 1 w 49"/>
                  <a:gd name="T45" fmla="*/ 1 h 50"/>
                  <a:gd name="T46" fmla="*/ 1 w 49"/>
                  <a:gd name="T47" fmla="*/ 1 h 50"/>
                  <a:gd name="T48" fmla="*/ 1 w 49"/>
                  <a:gd name="T49" fmla="*/ 1 h 50"/>
                  <a:gd name="T50" fmla="*/ 1 w 49"/>
                  <a:gd name="T51" fmla="*/ 1 h 50"/>
                  <a:gd name="T52" fmla="*/ 1 w 49"/>
                  <a:gd name="T53" fmla="*/ 1 h 50"/>
                  <a:gd name="T54" fmla="*/ 1 w 49"/>
                  <a:gd name="T55" fmla="*/ 1 h 50"/>
                  <a:gd name="T56" fmla="*/ 1 w 49"/>
                  <a:gd name="T57" fmla="*/ 1 h 50"/>
                  <a:gd name="T58" fmla="*/ 1 w 49"/>
                  <a:gd name="T59" fmla="*/ 1 h 50"/>
                  <a:gd name="T60" fmla="*/ 1 w 49"/>
                  <a:gd name="T61" fmla="*/ 1 h 50"/>
                  <a:gd name="T62" fmla="*/ 1 w 49"/>
                  <a:gd name="T63" fmla="*/ 1 h 50"/>
                  <a:gd name="T64" fmla="*/ 0 w 49"/>
                  <a:gd name="T65" fmla="*/ 1 h 50"/>
                  <a:gd name="T66" fmla="*/ 0 w 49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49"/>
                  <a:gd name="T103" fmla="*/ 0 h 50"/>
                  <a:gd name="T104" fmla="*/ 49 w 49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49" h="50">
                    <a:moveTo>
                      <a:pt x="0" y="25"/>
                    </a:moveTo>
                    <a:lnTo>
                      <a:pt x="0" y="20"/>
                    </a:lnTo>
                    <a:lnTo>
                      <a:pt x="1" y="16"/>
                    </a:lnTo>
                    <a:lnTo>
                      <a:pt x="4" y="11"/>
                    </a:lnTo>
                    <a:lnTo>
                      <a:pt x="7" y="8"/>
                    </a:lnTo>
                    <a:lnTo>
                      <a:pt x="11" y="5"/>
                    </a:lnTo>
                    <a:lnTo>
                      <a:pt x="15" y="1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1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49" y="20"/>
                    </a:lnTo>
                    <a:lnTo>
                      <a:pt x="49" y="25"/>
                    </a:lnTo>
                    <a:lnTo>
                      <a:pt x="49" y="30"/>
                    </a:lnTo>
                    <a:lnTo>
                      <a:pt x="48" y="34"/>
                    </a:lnTo>
                    <a:lnTo>
                      <a:pt x="45" y="39"/>
                    </a:lnTo>
                    <a:lnTo>
                      <a:pt x="42" y="42"/>
                    </a:lnTo>
                    <a:lnTo>
                      <a:pt x="39" y="45"/>
                    </a:lnTo>
                    <a:lnTo>
                      <a:pt x="34" y="49"/>
                    </a:lnTo>
                    <a:lnTo>
                      <a:pt x="29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5" y="49"/>
                    </a:lnTo>
                    <a:lnTo>
                      <a:pt x="11" y="45"/>
                    </a:lnTo>
                    <a:lnTo>
                      <a:pt x="7" y="42"/>
                    </a:lnTo>
                    <a:lnTo>
                      <a:pt x="4" y="39"/>
                    </a:lnTo>
                    <a:lnTo>
                      <a:pt x="1" y="34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19" name="Line 124"/>
              <p:cNvSpPr>
                <a:spLocks noChangeShapeType="1"/>
              </p:cNvSpPr>
              <p:nvPr/>
            </p:nvSpPr>
            <p:spPr bwMode="auto">
              <a:xfrm>
                <a:off x="3537" y="1334"/>
                <a:ext cx="7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20" name="Line 125"/>
              <p:cNvSpPr>
                <a:spLocks noChangeShapeType="1"/>
              </p:cNvSpPr>
              <p:nvPr/>
            </p:nvSpPr>
            <p:spPr bwMode="auto">
              <a:xfrm>
                <a:off x="3537" y="1364"/>
                <a:ext cx="7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21" name="Line 126"/>
              <p:cNvSpPr>
                <a:spLocks noChangeShapeType="1"/>
              </p:cNvSpPr>
              <p:nvPr/>
            </p:nvSpPr>
            <p:spPr bwMode="auto">
              <a:xfrm>
                <a:off x="3576" y="1364"/>
                <a:ext cx="1" cy="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22" name="Line 127"/>
              <p:cNvSpPr>
                <a:spLocks noChangeShapeType="1"/>
              </p:cNvSpPr>
              <p:nvPr/>
            </p:nvSpPr>
            <p:spPr bwMode="auto">
              <a:xfrm flipV="1">
                <a:off x="3576" y="1244"/>
                <a:ext cx="1" cy="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23" name="Line 128"/>
              <p:cNvSpPr>
                <a:spLocks noChangeShapeType="1"/>
              </p:cNvSpPr>
              <p:nvPr/>
            </p:nvSpPr>
            <p:spPr bwMode="auto">
              <a:xfrm>
                <a:off x="3537" y="1933"/>
                <a:ext cx="7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24" name="Line 129"/>
              <p:cNvSpPr>
                <a:spLocks noChangeShapeType="1"/>
              </p:cNvSpPr>
              <p:nvPr/>
            </p:nvSpPr>
            <p:spPr bwMode="auto">
              <a:xfrm>
                <a:off x="3537" y="1964"/>
                <a:ext cx="7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25" name="Line 130"/>
              <p:cNvSpPr>
                <a:spLocks noChangeShapeType="1"/>
              </p:cNvSpPr>
              <p:nvPr/>
            </p:nvSpPr>
            <p:spPr bwMode="auto">
              <a:xfrm>
                <a:off x="3576" y="1964"/>
                <a:ext cx="1" cy="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26" name="Line 131"/>
              <p:cNvSpPr>
                <a:spLocks noChangeShapeType="1"/>
              </p:cNvSpPr>
              <p:nvPr/>
            </p:nvSpPr>
            <p:spPr bwMode="auto">
              <a:xfrm flipV="1">
                <a:off x="3576" y="1844"/>
                <a:ext cx="1" cy="8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27" name="Line 132"/>
              <p:cNvSpPr>
                <a:spLocks noChangeShapeType="1"/>
              </p:cNvSpPr>
              <p:nvPr/>
            </p:nvSpPr>
            <p:spPr bwMode="auto">
              <a:xfrm flipH="1">
                <a:off x="3306" y="2084"/>
                <a:ext cx="69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28" name="Line 133"/>
              <p:cNvSpPr>
                <a:spLocks noChangeShapeType="1"/>
              </p:cNvSpPr>
              <p:nvPr/>
            </p:nvSpPr>
            <p:spPr bwMode="auto">
              <a:xfrm flipH="1">
                <a:off x="3306" y="1164"/>
                <a:ext cx="63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29" name="Line 134"/>
              <p:cNvSpPr>
                <a:spLocks noChangeShapeType="1"/>
              </p:cNvSpPr>
              <p:nvPr/>
            </p:nvSpPr>
            <p:spPr bwMode="auto">
              <a:xfrm flipV="1">
                <a:off x="3875" y="1164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30" name="Line 135"/>
              <p:cNvSpPr>
                <a:spLocks noChangeShapeType="1"/>
              </p:cNvSpPr>
              <p:nvPr/>
            </p:nvSpPr>
            <p:spPr bwMode="auto">
              <a:xfrm>
                <a:off x="3875" y="1374"/>
                <a:ext cx="2" cy="3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31" name="Line 136"/>
              <p:cNvSpPr>
                <a:spLocks noChangeShapeType="1"/>
              </p:cNvSpPr>
              <p:nvPr/>
            </p:nvSpPr>
            <p:spPr bwMode="auto">
              <a:xfrm>
                <a:off x="3877" y="1764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32" name="Line 137"/>
              <p:cNvSpPr>
                <a:spLocks noChangeShapeType="1"/>
              </p:cNvSpPr>
              <p:nvPr/>
            </p:nvSpPr>
            <p:spPr bwMode="auto">
              <a:xfrm flipH="1">
                <a:off x="3875" y="1484"/>
                <a:ext cx="13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33" name="Line 138"/>
              <p:cNvSpPr>
                <a:spLocks noChangeShapeType="1"/>
              </p:cNvSpPr>
              <p:nvPr/>
            </p:nvSpPr>
            <p:spPr bwMode="auto">
              <a:xfrm flipV="1">
                <a:off x="3576" y="1164"/>
                <a:ext cx="1" cy="9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34" name="Line 139"/>
              <p:cNvSpPr>
                <a:spLocks noChangeShapeType="1"/>
              </p:cNvSpPr>
              <p:nvPr/>
            </p:nvSpPr>
            <p:spPr bwMode="auto">
              <a:xfrm>
                <a:off x="3576" y="1434"/>
                <a:ext cx="1" cy="4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35" name="Line 140"/>
              <p:cNvSpPr>
                <a:spLocks noChangeShapeType="1"/>
              </p:cNvSpPr>
              <p:nvPr/>
            </p:nvSpPr>
            <p:spPr bwMode="auto">
              <a:xfrm>
                <a:off x="3576" y="2014"/>
                <a:ext cx="1" cy="7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36" name="Line 141"/>
              <p:cNvSpPr>
                <a:spLocks noChangeShapeType="1"/>
              </p:cNvSpPr>
              <p:nvPr/>
            </p:nvSpPr>
            <p:spPr bwMode="auto">
              <a:xfrm flipH="1">
                <a:off x="3877" y="1524"/>
                <a:ext cx="240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37" name="Line 142"/>
              <p:cNvSpPr>
                <a:spLocks noChangeShapeType="1"/>
              </p:cNvSpPr>
              <p:nvPr/>
            </p:nvSpPr>
            <p:spPr bwMode="auto">
              <a:xfrm flipH="1">
                <a:off x="3576" y="1724"/>
                <a:ext cx="541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38" name="Freeform 143"/>
              <p:cNvSpPr>
                <a:spLocks/>
              </p:cNvSpPr>
              <p:nvPr/>
            </p:nvSpPr>
            <p:spPr bwMode="auto">
              <a:xfrm>
                <a:off x="3864" y="1513"/>
                <a:ext cx="25" cy="26"/>
              </a:xfrm>
              <a:custGeom>
                <a:avLst/>
                <a:gdLst>
                  <a:gd name="T0" fmla="*/ 0 w 50"/>
                  <a:gd name="T1" fmla="*/ 1 h 50"/>
                  <a:gd name="T2" fmla="*/ 0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0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0" y="20"/>
                    </a:lnTo>
                    <a:lnTo>
                      <a:pt x="2" y="15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4"/>
                    </a:lnTo>
                    <a:lnTo>
                      <a:pt x="16" y="1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0" y="0"/>
                    </a:lnTo>
                    <a:lnTo>
                      <a:pt x="34" y="1"/>
                    </a:lnTo>
                    <a:lnTo>
                      <a:pt x="39" y="4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5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4"/>
                    </a:lnTo>
                    <a:lnTo>
                      <a:pt x="45" y="39"/>
                    </a:lnTo>
                    <a:lnTo>
                      <a:pt x="42" y="42"/>
                    </a:lnTo>
                    <a:lnTo>
                      <a:pt x="39" y="45"/>
                    </a:lnTo>
                    <a:lnTo>
                      <a:pt x="34" y="49"/>
                    </a:lnTo>
                    <a:lnTo>
                      <a:pt x="30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6" y="49"/>
                    </a:lnTo>
                    <a:lnTo>
                      <a:pt x="11" y="45"/>
                    </a:lnTo>
                    <a:lnTo>
                      <a:pt x="8" y="42"/>
                    </a:lnTo>
                    <a:lnTo>
                      <a:pt x="5" y="39"/>
                    </a:lnTo>
                    <a:lnTo>
                      <a:pt x="2" y="34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39" name="Freeform 144"/>
              <p:cNvSpPr>
                <a:spLocks/>
              </p:cNvSpPr>
              <p:nvPr/>
            </p:nvSpPr>
            <p:spPr bwMode="auto">
              <a:xfrm>
                <a:off x="3864" y="1472"/>
                <a:ext cx="25" cy="25"/>
              </a:xfrm>
              <a:custGeom>
                <a:avLst/>
                <a:gdLst>
                  <a:gd name="T0" fmla="*/ 0 w 50"/>
                  <a:gd name="T1" fmla="*/ 0 h 51"/>
                  <a:gd name="T2" fmla="*/ 0 w 50"/>
                  <a:gd name="T3" fmla="*/ 0 h 51"/>
                  <a:gd name="T4" fmla="*/ 1 w 50"/>
                  <a:gd name="T5" fmla="*/ 0 h 51"/>
                  <a:gd name="T6" fmla="*/ 1 w 50"/>
                  <a:gd name="T7" fmla="*/ 0 h 51"/>
                  <a:gd name="T8" fmla="*/ 1 w 50"/>
                  <a:gd name="T9" fmla="*/ 0 h 51"/>
                  <a:gd name="T10" fmla="*/ 1 w 50"/>
                  <a:gd name="T11" fmla="*/ 0 h 51"/>
                  <a:gd name="T12" fmla="*/ 1 w 50"/>
                  <a:gd name="T13" fmla="*/ 0 h 51"/>
                  <a:gd name="T14" fmla="*/ 1 w 50"/>
                  <a:gd name="T15" fmla="*/ 0 h 51"/>
                  <a:gd name="T16" fmla="*/ 1 w 50"/>
                  <a:gd name="T17" fmla="*/ 0 h 51"/>
                  <a:gd name="T18" fmla="*/ 1 w 50"/>
                  <a:gd name="T19" fmla="*/ 0 h 51"/>
                  <a:gd name="T20" fmla="*/ 1 w 50"/>
                  <a:gd name="T21" fmla="*/ 0 h 51"/>
                  <a:gd name="T22" fmla="*/ 1 w 50"/>
                  <a:gd name="T23" fmla="*/ 0 h 51"/>
                  <a:gd name="T24" fmla="*/ 1 w 50"/>
                  <a:gd name="T25" fmla="*/ 0 h 51"/>
                  <a:gd name="T26" fmla="*/ 1 w 50"/>
                  <a:gd name="T27" fmla="*/ 0 h 51"/>
                  <a:gd name="T28" fmla="*/ 1 w 50"/>
                  <a:gd name="T29" fmla="*/ 0 h 51"/>
                  <a:gd name="T30" fmla="*/ 1 w 50"/>
                  <a:gd name="T31" fmla="*/ 0 h 51"/>
                  <a:gd name="T32" fmla="*/ 1 w 50"/>
                  <a:gd name="T33" fmla="*/ 0 h 51"/>
                  <a:gd name="T34" fmla="*/ 1 w 50"/>
                  <a:gd name="T35" fmla="*/ 0 h 51"/>
                  <a:gd name="T36" fmla="*/ 1 w 50"/>
                  <a:gd name="T37" fmla="*/ 0 h 51"/>
                  <a:gd name="T38" fmla="*/ 1 w 50"/>
                  <a:gd name="T39" fmla="*/ 0 h 51"/>
                  <a:gd name="T40" fmla="*/ 1 w 50"/>
                  <a:gd name="T41" fmla="*/ 0 h 51"/>
                  <a:gd name="T42" fmla="*/ 1 w 50"/>
                  <a:gd name="T43" fmla="*/ 0 h 51"/>
                  <a:gd name="T44" fmla="*/ 1 w 50"/>
                  <a:gd name="T45" fmla="*/ 0 h 51"/>
                  <a:gd name="T46" fmla="*/ 1 w 50"/>
                  <a:gd name="T47" fmla="*/ 0 h 51"/>
                  <a:gd name="T48" fmla="*/ 1 w 50"/>
                  <a:gd name="T49" fmla="*/ 0 h 51"/>
                  <a:gd name="T50" fmla="*/ 1 w 50"/>
                  <a:gd name="T51" fmla="*/ 0 h 51"/>
                  <a:gd name="T52" fmla="*/ 1 w 50"/>
                  <a:gd name="T53" fmla="*/ 0 h 51"/>
                  <a:gd name="T54" fmla="*/ 1 w 50"/>
                  <a:gd name="T55" fmla="*/ 0 h 51"/>
                  <a:gd name="T56" fmla="*/ 1 w 50"/>
                  <a:gd name="T57" fmla="*/ 0 h 51"/>
                  <a:gd name="T58" fmla="*/ 1 w 50"/>
                  <a:gd name="T59" fmla="*/ 0 h 51"/>
                  <a:gd name="T60" fmla="*/ 1 w 50"/>
                  <a:gd name="T61" fmla="*/ 0 h 51"/>
                  <a:gd name="T62" fmla="*/ 1 w 50"/>
                  <a:gd name="T63" fmla="*/ 0 h 51"/>
                  <a:gd name="T64" fmla="*/ 0 w 50"/>
                  <a:gd name="T65" fmla="*/ 0 h 51"/>
                  <a:gd name="T66" fmla="*/ 0 w 50"/>
                  <a:gd name="T67" fmla="*/ 0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1"/>
                  <a:gd name="T104" fmla="*/ 50 w 50"/>
                  <a:gd name="T105" fmla="*/ 51 h 5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1">
                    <a:moveTo>
                      <a:pt x="0" y="26"/>
                    </a:moveTo>
                    <a:lnTo>
                      <a:pt x="0" y="21"/>
                    </a:lnTo>
                    <a:lnTo>
                      <a:pt x="2" y="16"/>
                    </a:lnTo>
                    <a:lnTo>
                      <a:pt x="5" y="11"/>
                    </a:lnTo>
                    <a:lnTo>
                      <a:pt x="8" y="7"/>
                    </a:lnTo>
                    <a:lnTo>
                      <a:pt x="11" y="4"/>
                    </a:lnTo>
                    <a:lnTo>
                      <a:pt x="16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0" y="0"/>
                    </a:lnTo>
                    <a:lnTo>
                      <a:pt x="34" y="2"/>
                    </a:lnTo>
                    <a:lnTo>
                      <a:pt x="39" y="4"/>
                    </a:lnTo>
                    <a:lnTo>
                      <a:pt x="42" y="7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1"/>
                    </a:lnTo>
                    <a:lnTo>
                      <a:pt x="50" y="26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40"/>
                    </a:lnTo>
                    <a:lnTo>
                      <a:pt x="42" y="43"/>
                    </a:lnTo>
                    <a:lnTo>
                      <a:pt x="39" y="46"/>
                    </a:lnTo>
                    <a:lnTo>
                      <a:pt x="34" y="48"/>
                    </a:lnTo>
                    <a:lnTo>
                      <a:pt x="30" y="49"/>
                    </a:lnTo>
                    <a:lnTo>
                      <a:pt x="25" y="51"/>
                    </a:lnTo>
                    <a:lnTo>
                      <a:pt x="20" y="49"/>
                    </a:lnTo>
                    <a:lnTo>
                      <a:pt x="16" y="48"/>
                    </a:lnTo>
                    <a:lnTo>
                      <a:pt x="11" y="46"/>
                    </a:lnTo>
                    <a:lnTo>
                      <a:pt x="8" y="43"/>
                    </a:lnTo>
                    <a:lnTo>
                      <a:pt x="5" y="40"/>
                    </a:lnTo>
                    <a:lnTo>
                      <a:pt x="2" y="35"/>
                    </a:lnTo>
                    <a:lnTo>
                      <a:pt x="0" y="30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40" name="Freeform 145"/>
              <p:cNvSpPr>
                <a:spLocks/>
              </p:cNvSpPr>
              <p:nvPr/>
            </p:nvSpPr>
            <p:spPr bwMode="auto">
              <a:xfrm>
                <a:off x="3564" y="1710"/>
                <a:ext cx="25" cy="25"/>
              </a:xfrm>
              <a:custGeom>
                <a:avLst/>
                <a:gdLst>
                  <a:gd name="T0" fmla="*/ 0 w 50"/>
                  <a:gd name="T1" fmla="*/ 1 h 50"/>
                  <a:gd name="T2" fmla="*/ 0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0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0" y="21"/>
                    </a:lnTo>
                    <a:lnTo>
                      <a:pt x="1" y="16"/>
                    </a:lnTo>
                    <a:lnTo>
                      <a:pt x="4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5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1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39"/>
                    </a:lnTo>
                    <a:lnTo>
                      <a:pt x="42" y="43"/>
                    </a:lnTo>
                    <a:lnTo>
                      <a:pt x="39" y="46"/>
                    </a:lnTo>
                    <a:lnTo>
                      <a:pt x="34" y="49"/>
                    </a:lnTo>
                    <a:lnTo>
                      <a:pt x="29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5" y="49"/>
                    </a:lnTo>
                    <a:lnTo>
                      <a:pt x="11" y="46"/>
                    </a:lnTo>
                    <a:lnTo>
                      <a:pt x="8" y="43"/>
                    </a:lnTo>
                    <a:lnTo>
                      <a:pt x="4" y="39"/>
                    </a:lnTo>
                    <a:lnTo>
                      <a:pt x="1" y="35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41" name="Freeform 146"/>
              <p:cNvSpPr>
                <a:spLocks/>
              </p:cNvSpPr>
              <p:nvPr/>
            </p:nvSpPr>
            <p:spPr bwMode="auto">
              <a:xfrm>
                <a:off x="3564" y="2071"/>
                <a:ext cx="25" cy="25"/>
              </a:xfrm>
              <a:custGeom>
                <a:avLst/>
                <a:gdLst>
                  <a:gd name="T0" fmla="*/ 0 w 50"/>
                  <a:gd name="T1" fmla="*/ 0 h 51"/>
                  <a:gd name="T2" fmla="*/ 0 w 50"/>
                  <a:gd name="T3" fmla="*/ 0 h 51"/>
                  <a:gd name="T4" fmla="*/ 1 w 50"/>
                  <a:gd name="T5" fmla="*/ 0 h 51"/>
                  <a:gd name="T6" fmla="*/ 1 w 50"/>
                  <a:gd name="T7" fmla="*/ 0 h 51"/>
                  <a:gd name="T8" fmla="*/ 1 w 50"/>
                  <a:gd name="T9" fmla="*/ 0 h 51"/>
                  <a:gd name="T10" fmla="*/ 1 w 50"/>
                  <a:gd name="T11" fmla="*/ 0 h 51"/>
                  <a:gd name="T12" fmla="*/ 1 w 50"/>
                  <a:gd name="T13" fmla="*/ 0 h 51"/>
                  <a:gd name="T14" fmla="*/ 1 w 50"/>
                  <a:gd name="T15" fmla="*/ 0 h 51"/>
                  <a:gd name="T16" fmla="*/ 1 w 50"/>
                  <a:gd name="T17" fmla="*/ 0 h 51"/>
                  <a:gd name="T18" fmla="*/ 1 w 50"/>
                  <a:gd name="T19" fmla="*/ 0 h 51"/>
                  <a:gd name="T20" fmla="*/ 1 w 50"/>
                  <a:gd name="T21" fmla="*/ 0 h 51"/>
                  <a:gd name="T22" fmla="*/ 1 w 50"/>
                  <a:gd name="T23" fmla="*/ 0 h 51"/>
                  <a:gd name="T24" fmla="*/ 1 w 50"/>
                  <a:gd name="T25" fmla="*/ 0 h 51"/>
                  <a:gd name="T26" fmla="*/ 1 w 50"/>
                  <a:gd name="T27" fmla="*/ 0 h 51"/>
                  <a:gd name="T28" fmla="*/ 1 w 50"/>
                  <a:gd name="T29" fmla="*/ 0 h 51"/>
                  <a:gd name="T30" fmla="*/ 1 w 50"/>
                  <a:gd name="T31" fmla="*/ 0 h 51"/>
                  <a:gd name="T32" fmla="*/ 1 w 50"/>
                  <a:gd name="T33" fmla="*/ 0 h 51"/>
                  <a:gd name="T34" fmla="*/ 1 w 50"/>
                  <a:gd name="T35" fmla="*/ 0 h 51"/>
                  <a:gd name="T36" fmla="*/ 1 w 50"/>
                  <a:gd name="T37" fmla="*/ 0 h 51"/>
                  <a:gd name="T38" fmla="*/ 1 w 50"/>
                  <a:gd name="T39" fmla="*/ 0 h 51"/>
                  <a:gd name="T40" fmla="*/ 1 w 50"/>
                  <a:gd name="T41" fmla="*/ 0 h 51"/>
                  <a:gd name="T42" fmla="*/ 1 w 50"/>
                  <a:gd name="T43" fmla="*/ 0 h 51"/>
                  <a:gd name="T44" fmla="*/ 1 w 50"/>
                  <a:gd name="T45" fmla="*/ 0 h 51"/>
                  <a:gd name="T46" fmla="*/ 1 w 50"/>
                  <a:gd name="T47" fmla="*/ 0 h 51"/>
                  <a:gd name="T48" fmla="*/ 1 w 50"/>
                  <a:gd name="T49" fmla="*/ 0 h 51"/>
                  <a:gd name="T50" fmla="*/ 1 w 50"/>
                  <a:gd name="T51" fmla="*/ 0 h 51"/>
                  <a:gd name="T52" fmla="*/ 1 w 50"/>
                  <a:gd name="T53" fmla="*/ 0 h 51"/>
                  <a:gd name="T54" fmla="*/ 1 w 50"/>
                  <a:gd name="T55" fmla="*/ 0 h 51"/>
                  <a:gd name="T56" fmla="*/ 1 w 50"/>
                  <a:gd name="T57" fmla="*/ 0 h 51"/>
                  <a:gd name="T58" fmla="*/ 1 w 50"/>
                  <a:gd name="T59" fmla="*/ 0 h 51"/>
                  <a:gd name="T60" fmla="*/ 1 w 50"/>
                  <a:gd name="T61" fmla="*/ 0 h 51"/>
                  <a:gd name="T62" fmla="*/ 1 w 50"/>
                  <a:gd name="T63" fmla="*/ 0 h 51"/>
                  <a:gd name="T64" fmla="*/ 0 w 50"/>
                  <a:gd name="T65" fmla="*/ 0 h 51"/>
                  <a:gd name="T66" fmla="*/ 0 w 50"/>
                  <a:gd name="T67" fmla="*/ 0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1"/>
                  <a:gd name="T104" fmla="*/ 50 w 50"/>
                  <a:gd name="T105" fmla="*/ 51 h 5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1">
                    <a:moveTo>
                      <a:pt x="0" y="25"/>
                    </a:moveTo>
                    <a:lnTo>
                      <a:pt x="0" y="21"/>
                    </a:lnTo>
                    <a:lnTo>
                      <a:pt x="1" y="16"/>
                    </a:lnTo>
                    <a:lnTo>
                      <a:pt x="4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5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1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40"/>
                    </a:lnTo>
                    <a:lnTo>
                      <a:pt x="42" y="43"/>
                    </a:lnTo>
                    <a:lnTo>
                      <a:pt x="39" y="46"/>
                    </a:lnTo>
                    <a:lnTo>
                      <a:pt x="34" y="49"/>
                    </a:lnTo>
                    <a:lnTo>
                      <a:pt x="29" y="51"/>
                    </a:lnTo>
                    <a:lnTo>
                      <a:pt x="25" y="51"/>
                    </a:lnTo>
                    <a:lnTo>
                      <a:pt x="20" y="51"/>
                    </a:lnTo>
                    <a:lnTo>
                      <a:pt x="15" y="49"/>
                    </a:lnTo>
                    <a:lnTo>
                      <a:pt x="11" y="46"/>
                    </a:lnTo>
                    <a:lnTo>
                      <a:pt x="8" y="43"/>
                    </a:lnTo>
                    <a:lnTo>
                      <a:pt x="4" y="40"/>
                    </a:lnTo>
                    <a:lnTo>
                      <a:pt x="1" y="35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42" name="Freeform 147"/>
              <p:cNvSpPr>
                <a:spLocks/>
              </p:cNvSpPr>
              <p:nvPr/>
            </p:nvSpPr>
            <p:spPr bwMode="auto">
              <a:xfrm>
                <a:off x="3564" y="1151"/>
                <a:ext cx="25" cy="26"/>
              </a:xfrm>
              <a:custGeom>
                <a:avLst/>
                <a:gdLst>
                  <a:gd name="T0" fmla="*/ 0 w 50"/>
                  <a:gd name="T1" fmla="*/ 1 h 50"/>
                  <a:gd name="T2" fmla="*/ 0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0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0" y="20"/>
                    </a:lnTo>
                    <a:lnTo>
                      <a:pt x="1" y="16"/>
                    </a:lnTo>
                    <a:lnTo>
                      <a:pt x="4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5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39"/>
                    </a:lnTo>
                    <a:lnTo>
                      <a:pt x="42" y="42"/>
                    </a:lnTo>
                    <a:lnTo>
                      <a:pt x="39" y="46"/>
                    </a:lnTo>
                    <a:lnTo>
                      <a:pt x="34" y="49"/>
                    </a:lnTo>
                    <a:lnTo>
                      <a:pt x="29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5" y="49"/>
                    </a:lnTo>
                    <a:lnTo>
                      <a:pt x="11" y="46"/>
                    </a:lnTo>
                    <a:lnTo>
                      <a:pt x="8" y="42"/>
                    </a:lnTo>
                    <a:lnTo>
                      <a:pt x="4" y="39"/>
                    </a:lnTo>
                    <a:lnTo>
                      <a:pt x="1" y="35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43" name="Freeform 148"/>
              <p:cNvSpPr>
                <a:spLocks/>
              </p:cNvSpPr>
              <p:nvPr/>
            </p:nvSpPr>
            <p:spPr bwMode="auto">
              <a:xfrm>
                <a:off x="3864" y="1151"/>
                <a:ext cx="25" cy="26"/>
              </a:xfrm>
              <a:custGeom>
                <a:avLst/>
                <a:gdLst>
                  <a:gd name="T0" fmla="*/ 0 w 50"/>
                  <a:gd name="T1" fmla="*/ 1 h 50"/>
                  <a:gd name="T2" fmla="*/ 0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0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0" y="20"/>
                    </a:lnTo>
                    <a:lnTo>
                      <a:pt x="2" y="16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0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39"/>
                    </a:lnTo>
                    <a:lnTo>
                      <a:pt x="42" y="42"/>
                    </a:lnTo>
                    <a:lnTo>
                      <a:pt x="39" y="46"/>
                    </a:lnTo>
                    <a:lnTo>
                      <a:pt x="34" y="49"/>
                    </a:lnTo>
                    <a:lnTo>
                      <a:pt x="30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6" y="49"/>
                    </a:lnTo>
                    <a:lnTo>
                      <a:pt x="11" y="46"/>
                    </a:lnTo>
                    <a:lnTo>
                      <a:pt x="8" y="42"/>
                    </a:lnTo>
                    <a:lnTo>
                      <a:pt x="5" y="39"/>
                    </a:lnTo>
                    <a:lnTo>
                      <a:pt x="2" y="35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44" name="Rectangle 149"/>
              <p:cNvSpPr>
                <a:spLocks noChangeArrowheads="1"/>
              </p:cNvSpPr>
              <p:nvPr/>
            </p:nvSpPr>
            <p:spPr bwMode="auto">
              <a:xfrm>
                <a:off x="3379" y="1298"/>
                <a:ext cx="111" cy="13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C</a:t>
                </a:r>
                <a:r>
                  <a:rPr lang="en-US" altLang="zh-CN" sz="14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76945" name="Rectangle 150"/>
              <p:cNvSpPr>
                <a:spLocks noChangeArrowheads="1"/>
              </p:cNvSpPr>
              <p:nvPr/>
            </p:nvSpPr>
            <p:spPr bwMode="auto">
              <a:xfrm>
                <a:off x="3379" y="1888"/>
                <a:ext cx="111" cy="13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C</a:t>
                </a:r>
                <a:r>
                  <a:rPr lang="en-US" altLang="zh-CN" sz="14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76946" name="Freeform 151"/>
              <p:cNvSpPr>
                <a:spLocks/>
              </p:cNvSpPr>
              <p:nvPr/>
            </p:nvSpPr>
            <p:spPr bwMode="auto">
              <a:xfrm>
                <a:off x="4793" y="1250"/>
                <a:ext cx="50" cy="14"/>
              </a:xfrm>
              <a:custGeom>
                <a:avLst/>
                <a:gdLst>
                  <a:gd name="T0" fmla="*/ 2 w 99"/>
                  <a:gd name="T1" fmla="*/ 1 h 28"/>
                  <a:gd name="T2" fmla="*/ 0 w 99"/>
                  <a:gd name="T3" fmla="*/ 0 h 28"/>
                  <a:gd name="T4" fmla="*/ 0 w 99"/>
                  <a:gd name="T5" fmla="*/ 1 h 28"/>
                  <a:gd name="T6" fmla="*/ 2 w 99"/>
                  <a:gd name="T7" fmla="*/ 1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28"/>
                  <a:gd name="T14" fmla="*/ 99 w 99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28">
                    <a:moveTo>
                      <a:pt x="99" y="14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99" y="14"/>
                    </a:lnTo>
                    <a:close/>
                  </a:path>
                </a:pathLst>
              </a:custGeom>
              <a:solidFill>
                <a:srgbClr val="1A1A1A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47" name="Freeform 152"/>
              <p:cNvSpPr>
                <a:spLocks/>
              </p:cNvSpPr>
              <p:nvPr/>
            </p:nvSpPr>
            <p:spPr bwMode="auto">
              <a:xfrm>
                <a:off x="4793" y="1250"/>
                <a:ext cx="50" cy="14"/>
              </a:xfrm>
              <a:custGeom>
                <a:avLst/>
                <a:gdLst>
                  <a:gd name="T0" fmla="*/ 2 w 99"/>
                  <a:gd name="T1" fmla="*/ 1 h 28"/>
                  <a:gd name="T2" fmla="*/ 0 w 99"/>
                  <a:gd name="T3" fmla="*/ 0 h 28"/>
                  <a:gd name="T4" fmla="*/ 0 w 99"/>
                  <a:gd name="T5" fmla="*/ 1 h 28"/>
                  <a:gd name="T6" fmla="*/ 2 w 99"/>
                  <a:gd name="T7" fmla="*/ 1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28"/>
                  <a:gd name="T14" fmla="*/ 99 w 99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28">
                    <a:moveTo>
                      <a:pt x="99" y="14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99" y="14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48" name="Line 153"/>
              <p:cNvSpPr>
                <a:spLocks noChangeShapeType="1"/>
              </p:cNvSpPr>
              <p:nvPr/>
            </p:nvSpPr>
            <p:spPr bwMode="auto">
              <a:xfrm flipH="1">
                <a:off x="4730" y="1257"/>
                <a:ext cx="6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49" name="Freeform 154"/>
              <p:cNvSpPr>
                <a:spLocks/>
              </p:cNvSpPr>
              <p:nvPr/>
            </p:nvSpPr>
            <p:spPr bwMode="auto">
              <a:xfrm>
                <a:off x="5036" y="1290"/>
                <a:ext cx="49" cy="14"/>
              </a:xfrm>
              <a:custGeom>
                <a:avLst/>
                <a:gdLst>
                  <a:gd name="T0" fmla="*/ 2 w 98"/>
                  <a:gd name="T1" fmla="*/ 1 h 28"/>
                  <a:gd name="T2" fmla="*/ 0 w 98"/>
                  <a:gd name="T3" fmla="*/ 0 h 28"/>
                  <a:gd name="T4" fmla="*/ 0 w 98"/>
                  <a:gd name="T5" fmla="*/ 1 h 28"/>
                  <a:gd name="T6" fmla="*/ 2 w 98"/>
                  <a:gd name="T7" fmla="*/ 1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8"/>
                  <a:gd name="T13" fmla="*/ 0 h 28"/>
                  <a:gd name="T14" fmla="*/ 98 w 98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8" h="28">
                    <a:moveTo>
                      <a:pt x="98" y="14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98" y="14"/>
                    </a:lnTo>
                    <a:close/>
                  </a:path>
                </a:pathLst>
              </a:custGeom>
              <a:solidFill>
                <a:srgbClr val="1A1A1A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50" name="Freeform 155"/>
              <p:cNvSpPr>
                <a:spLocks/>
              </p:cNvSpPr>
              <p:nvPr/>
            </p:nvSpPr>
            <p:spPr bwMode="auto">
              <a:xfrm>
                <a:off x="5036" y="1290"/>
                <a:ext cx="49" cy="14"/>
              </a:xfrm>
              <a:custGeom>
                <a:avLst/>
                <a:gdLst>
                  <a:gd name="T0" fmla="*/ 2 w 98"/>
                  <a:gd name="T1" fmla="*/ 1 h 28"/>
                  <a:gd name="T2" fmla="*/ 0 w 98"/>
                  <a:gd name="T3" fmla="*/ 0 h 28"/>
                  <a:gd name="T4" fmla="*/ 0 w 98"/>
                  <a:gd name="T5" fmla="*/ 1 h 28"/>
                  <a:gd name="T6" fmla="*/ 2 w 98"/>
                  <a:gd name="T7" fmla="*/ 1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8"/>
                  <a:gd name="T13" fmla="*/ 0 h 28"/>
                  <a:gd name="T14" fmla="*/ 98 w 98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8" h="28">
                    <a:moveTo>
                      <a:pt x="98" y="14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98" y="14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51" name="Line 156"/>
              <p:cNvSpPr>
                <a:spLocks noChangeShapeType="1"/>
              </p:cNvSpPr>
              <p:nvPr/>
            </p:nvSpPr>
            <p:spPr bwMode="auto">
              <a:xfrm flipH="1">
                <a:off x="4973" y="1297"/>
                <a:ext cx="6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52" name="Rectangle 157"/>
              <p:cNvSpPr>
                <a:spLocks noChangeArrowheads="1"/>
              </p:cNvSpPr>
              <p:nvPr/>
            </p:nvSpPr>
            <p:spPr bwMode="auto">
              <a:xfrm>
                <a:off x="4788" y="1177"/>
                <a:ext cx="31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700" i="1">
                    <a:solidFill>
                      <a:srgbClr val="000000"/>
                    </a:solidFill>
                    <a:latin typeface="Times New Roman" pitchFamily="18" charset="0"/>
                  </a:rPr>
                  <a:t>L</a:t>
                </a:r>
                <a:endParaRPr lang="en-US" altLang="zh-CN"/>
              </a:p>
            </p:txBody>
          </p:sp>
          <p:sp>
            <p:nvSpPr>
              <p:cNvPr id="76953" name="Rectangle 158"/>
              <p:cNvSpPr>
                <a:spLocks noChangeArrowheads="1"/>
              </p:cNvSpPr>
              <p:nvPr/>
            </p:nvSpPr>
            <p:spPr bwMode="auto">
              <a:xfrm>
                <a:off x="4770" y="1136"/>
                <a:ext cx="22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 i="1">
                    <a:solidFill>
                      <a:srgbClr val="000000"/>
                    </a:solidFill>
                    <a:latin typeface="Times New Roman" pitchFamily="18" charset="0"/>
                  </a:rPr>
                  <a:t>i</a:t>
                </a:r>
                <a:endParaRPr lang="en-US" altLang="zh-CN"/>
              </a:p>
            </p:txBody>
          </p:sp>
          <p:sp>
            <p:nvSpPr>
              <p:cNvPr id="76954" name="Rectangle 159"/>
              <p:cNvSpPr>
                <a:spLocks noChangeArrowheads="1"/>
              </p:cNvSpPr>
              <p:nvPr/>
            </p:nvSpPr>
            <p:spPr bwMode="auto">
              <a:xfrm>
                <a:off x="5002" y="1205"/>
                <a:ext cx="40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 i="1">
                    <a:solidFill>
                      <a:srgbClr val="000000"/>
                    </a:solidFill>
                    <a:latin typeface="宋体" pitchFamily="2" charset="-122"/>
                  </a:rPr>
                  <a:t>I</a:t>
                </a:r>
                <a:endParaRPr lang="en-US" altLang="zh-CN"/>
              </a:p>
            </p:txBody>
          </p:sp>
          <p:sp>
            <p:nvSpPr>
              <p:cNvPr id="76955" name="Rectangle 160"/>
              <p:cNvSpPr>
                <a:spLocks noChangeArrowheads="1"/>
              </p:cNvSpPr>
              <p:nvPr/>
            </p:nvSpPr>
            <p:spPr bwMode="auto">
              <a:xfrm>
                <a:off x="5038" y="1233"/>
                <a:ext cx="28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700">
                    <a:solidFill>
                      <a:srgbClr val="000000"/>
                    </a:solidFill>
                    <a:latin typeface="宋体" pitchFamily="2" charset="-122"/>
                  </a:rPr>
                  <a:t>o</a:t>
                </a:r>
                <a:endParaRPr lang="en-US" altLang="zh-CN"/>
              </a:p>
            </p:txBody>
          </p:sp>
          <p:sp>
            <p:nvSpPr>
              <p:cNvPr id="76956" name="Rectangle 161"/>
              <p:cNvSpPr>
                <a:spLocks noChangeArrowheads="1"/>
              </p:cNvSpPr>
              <p:nvPr/>
            </p:nvSpPr>
            <p:spPr bwMode="auto">
              <a:xfrm>
                <a:off x="3334" y="1661"/>
                <a:ext cx="191" cy="13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sz="14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/2</a:t>
                </a:r>
                <a:endParaRPr lang="en-US" altLang="zh-CN" sz="1400"/>
              </a:p>
            </p:txBody>
          </p:sp>
          <p:sp>
            <p:nvSpPr>
              <p:cNvPr id="76957" name="Rectangle 162"/>
              <p:cNvSpPr>
                <a:spLocks noChangeArrowheads="1"/>
              </p:cNvSpPr>
              <p:nvPr/>
            </p:nvSpPr>
            <p:spPr bwMode="auto">
              <a:xfrm>
                <a:off x="3742" y="1434"/>
                <a:ext cx="86" cy="40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+</a:t>
                </a:r>
              </a:p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sz="14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-</a:t>
                </a:r>
                <a:endParaRPr lang="en-US" altLang="zh-CN" sz="1400"/>
              </a:p>
            </p:txBody>
          </p:sp>
          <p:sp>
            <p:nvSpPr>
              <p:cNvPr id="76958" name="Freeform 163"/>
              <p:cNvSpPr>
                <a:spLocks/>
              </p:cNvSpPr>
              <p:nvPr/>
            </p:nvSpPr>
            <p:spPr bwMode="auto">
              <a:xfrm>
                <a:off x="3996" y="1883"/>
                <a:ext cx="77" cy="79"/>
              </a:xfrm>
              <a:custGeom>
                <a:avLst/>
                <a:gdLst>
                  <a:gd name="T0" fmla="*/ 0 w 156"/>
                  <a:gd name="T1" fmla="*/ 3 h 158"/>
                  <a:gd name="T2" fmla="*/ 1 w 156"/>
                  <a:gd name="T3" fmla="*/ 0 h 158"/>
                  <a:gd name="T4" fmla="*/ 2 w 156"/>
                  <a:gd name="T5" fmla="*/ 3 h 158"/>
                  <a:gd name="T6" fmla="*/ 0 w 156"/>
                  <a:gd name="T7" fmla="*/ 3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158"/>
                  <a:gd name="T14" fmla="*/ 156 w 156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158">
                    <a:moveTo>
                      <a:pt x="0" y="158"/>
                    </a:moveTo>
                    <a:lnTo>
                      <a:pt x="78" y="0"/>
                    </a:lnTo>
                    <a:lnTo>
                      <a:pt x="156" y="158"/>
                    </a:lnTo>
                    <a:lnTo>
                      <a:pt x="0" y="158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59" name="Line 164"/>
              <p:cNvSpPr>
                <a:spLocks noChangeShapeType="1"/>
              </p:cNvSpPr>
              <p:nvPr/>
            </p:nvSpPr>
            <p:spPr bwMode="auto">
              <a:xfrm flipH="1">
                <a:off x="3996" y="1883"/>
                <a:ext cx="77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60" name="Freeform 165"/>
              <p:cNvSpPr>
                <a:spLocks/>
              </p:cNvSpPr>
              <p:nvPr/>
            </p:nvSpPr>
            <p:spPr bwMode="auto">
              <a:xfrm>
                <a:off x="3996" y="1883"/>
                <a:ext cx="77" cy="79"/>
              </a:xfrm>
              <a:custGeom>
                <a:avLst/>
                <a:gdLst>
                  <a:gd name="T0" fmla="*/ 0 w 156"/>
                  <a:gd name="T1" fmla="*/ 3 h 158"/>
                  <a:gd name="T2" fmla="*/ 1 w 156"/>
                  <a:gd name="T3" fmla="*/ 0 h 158"/>
                  <a:gd name="T4" fmla="*/ 2 w 156"/>
                  <a:gd name="T5" fmla="*/ 3 h 158"/>
                  <a:gd name="T6" fmla="*/ 0 w 156"/>
                  <a:gd name="T7" fmla="*/ 3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158"/>
                  <a:gd name="T14" fmla="*/ 156 w 156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158">
                    <a:moveTo>
                      <a:pt x="0" y="158"/>
                    </a:moveTo>
                    <a:lnTo>
                      <a:pt x="78" y="0"/>
                    </a:lnTo>
                    <a:lnTo>
                      <a:pt x="156" y="158"/>
                    </a:lnTo>
                    <a:lnTo>
                      <a:pt x="0" y="15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61" name="Line 166"/>
              <p:cNvSpPr>
                <a:spLocks noChangeShapeType="1"/>
              </p:cNvSpPr>
              <p:nvPr/>
            </p:nvSpPr>
            <p:spPr bwMode="auto">
              <a:xfrm flipV="1">
                <a:off x="4034" y="1764"/>
                <a:ext cx="1" cy="31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62" name="Freeform 167"/>
              <p:cNvSpPr>
                <a:spLocks/>
              </p:cNvSpPr>
              <p:nvPr/>
            </p:nvSpPr>
            <p:spPr bwMode="auto">
              <a:xfrm>
                <a:off x="3996" y="1883"/>
                <a:ext cx="77" cy="79"/>
              </a:xfrm>
              <a:custGeom>
                <a:avLst/>
                <a:gdLst>
                  <a:gd name="T0" fmla="*/ 1 w 156"/>
                  <a:gd name="T1" fmla="*/ 0 h 158"/>
                  <a:gd name="T2" fmla="*/ 0 w 156"/>
                  <a:gd name="T3" fmla="*/ 3 h 158"/>
                  <a:gd name="T4" fmla="*/ 2 w 156"/>
                  <a:gd name="T5" fmla="*/ 3 h 158"/>
                  <a:gd name="T6" fmla="*/ 1 w 156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158"/>
                  <a:gd name="T14" fmla="*/ 156 w 156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158">
                    <a:moveTo>
                      <a:pt x="78" y="0"/>
                    </a:moveTo>
                    <a:lnTo>
                      <a:pt x="0" y="158"/>
                    </a:lnTo>
                    <a:lnTo>
                      <a:pt x="156" y="158"/>
                    </a:lnTo>
                    <a:lnTo>
                      <a:pt x="78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63" name="Freeform 168"/>
              <p:cNvSpPr>
                <a:spLocks/>
              </p:cNvSpPr>
              <p:nvPr/>
            </p:nvSpPr>
            <p:spPr bwMode="auto">
              <a:xfrm>
                <a:off x="3996" y="1883"/>
                <a:ext cx="77" cy="79"/>
              </a:xfrm>
              <a:custGeom>
                <a:avLst/>
                <a:gdLst>
                  <a:gd name="T0" fmla="*/ 1 w 156"/>
                  <a:gd name="T1" fmla="*/ 0 h 158"/>
                  <a:gd name="T2" fmla="*/ 0 w 156"/>
                  <a:gd name="T3" fmla="*/ 3 h 158"/>
                  <a:gd name="T4" fmla="*/ 2 w 156"/>
                  <a:gd name="T5" fmla="*/ 3 h 158"/>
                  <a:gd name="T6" fmla="*/ 1 w 156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158"/>
                  <a:gd name="T14" fmla="*/ 156 w 156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158">
                    <a:moveTo>
                      <a:pt x="78" y="0"/>
                    </a:moveTo>
                    <a:lnTo>
                      <a:pt x="0" y="158"/>
                    </a:lnTo>
                    <a:lnTo>
                      <a:pt x="156" y="158"/>
                    </a:lnTo>
                    <a:lnTo>
                      <a:pt x="78" y="0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64" name="Line 169"/>
              <p:cNvSpPr>
                <a:spLocks noChangeShapeType="1"/>
              </p:cNvSpPr>
              <p:nvPr/>
            </p:nvSpPr>
            <p:spPr bwMode="auto">
              <a:xfrm flipV="1">
                <a:off x="4034" y="1883"/>
                <a:ext cx="1" cy="7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65" name="Line 170"/>
              <p:cNvSpPr>
                <a:spLocks noChangeShapeType="1"/>
              </p:cNvSpPr>
              <p:nvPr/>
            </p:nvSpPr>
            <p:spPr bwMode="auto">
              <a:xfrm flipH="1">
                <a:off x="3996" y="1883"/>
                <a:ext cx="77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66" name="Freeform 171"/>
              <p:cNvSpPr>
                <a:spLocks/>
              </p:cNvSpPr>
              <p:nvPr/>
            </p:nvSpPr>
            <p:spPr bwMode="auto">
              <a:xfrm>
                <a:off x="3974" y="1283"/>
                <a:ext cx="78" cy="79"/>
              </a:xfrm>
              <a:custGeom>
                <a:avLst/>
                <a:gdLst>
                  <a:gd name="T0" fmla="*/ 0 w 155"/>
                  <a:gd name="T1" fmla="*/ 3 h 157"/>
                  <a:gd name="T2" fmla="*/ 2 w 155"/>
                  <a:gd name="T3" fmla="*/ 0 h 157"/>
                  <a:gd name="T4" fmla="*/ 3 w 155"/>
                  <a:gd name="T5" fmla="*/ 3 h 157"/>
                  <a:gd name="T6" fmla="*/ 0 w 155"/>
                  <a:gd name="T7" fmla="*/ 3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7"/>
                  <a:gd name="T14" fmla="*/ 155 w 155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7">
                    <a:moveTo>
                      <a:pt x="0" y="157"/>
                    </a:moveTo>
                    <a:lnTo>
                      <a:pt x="77" y="0"/>
                    </a:lnTo>
                    <a:lnTo>
                      <a:pt x="155" y="157"/>
                    </a:lnTo>
                    <a:lnTo>
                      <a:pt x="0" y="157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67" name="Line 172"/>
              <p:cNvSpPr>
                <a:spLocks noChangeShapeType="1"/>
              </p:cNvSpPr>
              <p:nvPr/>
            </p:nvSpPr>
            <p:spPr bwMode="auto">
              <a:xfrm flipH="1">
                <a:off x="3974" y="1283"/>
                <a:ext cx="7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68" name="Freeform 173"/>
              <p:cNvSpPr>
                <a:spLocks/>
              </p:cNvSpPr>
              <p:nvPr/>
            </p:nvSpPr>
            <p:spPr bwMode="auto">
              <a:xfrm>
                <a:off x="3974" y="1283"/>
                <a:ext cx="78" cy="79"/>
              </a:xfrm>
              <a:custGeom>
                <a:avLst/>
                <a:gdLst>
                  <a:gd name="T0" fmla="*/ 0 w 155"/>
                  <a:gd name="T1" fmla="*/ 3 h 157"/>
                  <a:gd name="T2" fmla="*/ 2 w 155"/>
                  <a:gd name="T3" fmla="*/ 0 h 157"/>
                  <a:gd name="T4" fmla="*/ 3 w 155"/>
                  <a:gd name="T5" fmla="*/ 3 h 157"/>
                  <a:gd name="T6" fmla="*/ 0 w 155"/>
                  <a:gd name="T7" fmla="*/ 3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7"/>
                  <a:gd name="T14" fmla="*/ 155 w 155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7">
                    <a:moveTo>
                      <a:pt x="0" y="157"/>
                    </a:moveTo>
                    <a:lnTo>
                      <a:pt x="77" y="0"/>
                    </a:lnTo>
                    <a:lnTo>
                      <a:pt x="155" y="157"/>
                    </a:lnTo>
                    <a:lnTo>
                      <a:pt x="0" y="157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69" name="Line 174"/>
              <p:cNvSpPr>
                <a:spLocks noChangeShapeType="1"/>
              </p:cNvSpPr>
              <p:nvPr/>
            </p:nvSpPr>
            <p:spPr bwMode="auto">
              <a:xfrm flipV="1">
                <a:off x="4013" y="1164"/>
                <a:ext cx="1" cy="31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70" name="Freeform 175"/>
              <p:cNvSpPr>
                <a:spLocks/>
              </p:cNvSpPr>
              <p:nvPr/>
            </p:nvSpPr>
            <p:spPr bwMode="auto">
              <a:xfrm>
                <a:off x="3974" y="1283"/>
                <a:ext cx="78" cy="79"/>
              </a:xfrm>
              <a:custGeom>
                <a:avLst/>
                <a:gdLst>
                  <a:gd name="T0" fmla="*/ 2 w 155"/>
                  <a:gd name="T1" fmla="*/ 0 h 159"/>
                  <a:gd name="T2" fmla="*/ 0 w 155"/>
                  <a:gd name="T3" fmla="*/ 2 h 159"/>
                  <a:gd name="T4" fmla="*/ 3 w 155"/>
                  <a:gd name="T5" fmla="*/ 2 h 159"/>
                  <a:gd name="T6" fmla="*/ 2 w 155"/>
                  <a:gd name="T7" fmla="*/ 0 h 15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9"/>
                  <a:gd name="T14" fmla="*/ 155 w 155"/>
                  <a:gd name="T15" fmla="*/ 159 h 15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9">
                    <a:moveTo>
                      <a:pt x="77" y="0"/>
                    </a:moveTo>
                    <a:lnTo>
                      <a:pt x="0" y="159"/>
                    </a:lnTo>
                    <a:lnTo>
                      <a:pt x="155" y="159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71" name="Freeform 176"/>
              <p:cNvSpPr>
                <a:spLocks/>
              </p:cNvSpPr>
              <p:nvPr/>
            </p:nvSpPr>
            <p:spPr bwMode="auto">
              <a:xfrm>
                <a:off x="3974" y="1283"/>
                <a:ext cx="78" cy="79"/>
              </a:xfrm>
              <a:custGeom>
                <a:avLst/>
                <a:gdLst>
                  <a:gd name="T0" fmla="*/ 2 w 155"/>
                  <a:gd name="T1" fmla="*/ 0 h 159"/>
                  <a:gd name="T2" fmla="*/ 0 w 155"/>
                  <a:gd name="T3" fmla="*/ 2 h 159"/>
                  <a:gd name="T4" fmla="*/ 3 w 155"/>
                  <a:gd name="T5" fmla="*/ 2 h 159"/>
                  <a:gd name="T6" fmla="*/ 2 w 155"/>
                  <a:gd name="T7" fmla="*/ 0 h 15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9"/>
                  <a:gd name="T14" fmla="*/ 155 w 155"/>
                  <a:gd name="T15" fmla="*/ 159 h 15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9">
                    <a:moveTo>
                      <a:pt x="77" y="0"/>
                    </a:moveTo>
                    <a:lnTo>
                      <a:pt x="0" y="159"/>
                    </a:lnTo>
                    <a:lnTo>
                      <a:pt x="155" y="159"/>
                    </a:lnTo>
                    <a:lnTo>
                      <a:pt x="77" y="0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72" name="Line 177"/>
              <p:cNvSpPr>
                <a:spLocks noChangeShapeType="1"/>
              </p:cNvSpPr>
              <p:nvPr/>
            </p:nvSpPr>
            <p:spPr bwMode="auto">
              <a:xfrm flipV="1">
                <a:off x="4013" y="1283"/>
                <a:ext cx="1" cy="7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73" name="Line 178"/>
              <p:cNvSpPr>
                <a:spLocks noChangeShapeType="1"/>
              </p:cNvSpPr>
              <p:nvPr/>
            </p:nvSpPr>
            <p:spPr bwMode="auto">
              <a:xfrm flipH="1">
                <a:off x="3974" y="1283"/>
                <a:ext cx="7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74" name="Freeform 179"/>
              <p:cNvSpPr>
                <a:spLocks/>
              </p:cNvSpPr>
              <p:nvPr/>
            </p:nvSpPr>
            <p:spPr bwMode="auto">
              <a:xfrm>
                <a:off x="4348" y="1295"/>
                <a:ext cx="78" cy="78"/>
              </a:xfrm>
              <a:custGeom>
                <a:avLst/>
                <a:gdLst>
                  <a:gd name="T0" fmla="*/ 0 w 155"/>
                  <a:gd name="T1" fmla="*/ 0 h 158"/>
                  <a:gd name="T2" fmla="*/ 3 w 155"/>
                  <a:gd name="T3" fmla="*/ 1 h 158"/>
                  <a:gd name="T4" fmla="*/ 0 w 155"/>
                  <a:gd name="T5" fmla="*/ 2 h 158"/>
                  <a:gd name="T6" fmla="*/ 0 w 155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8"/>
                  <a:gd name="T14" fmla="*/ 155 w 155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8">
                    <a:moveTo>
                      <a:pt x="0" y="0"/>
                    </a:moveTo>
                    <a:lnTo>
                      <a:pt x="155" y="79"/>
                    </a:lnTo>
                    <a:lnTo>
                      <a:pt x="0" y="15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75" name="Line 180"/>
              <p:cNvSpPr>
                <a:spLocks noChangeShapeType="1"/>
              </p:cNvSpPr>
              <p:nvPr/>
            </p:nvSpPr>
            <p:spPr bwMode="auto">
              <a:xfrm flipV="1">
                <a:off x="4426" y="1295"/>
                <a:ext cx="1" cy="7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76" name="Freeform 181"/>
              <p:cNvSpPr>
                <a:spLocks/>
              </p:cNvSpPr>
              <p:nvPr/>
            </p:nvSpPr>
            <p:spPr bwMode="auto">
              <a:xfrm>
                <a:off x="4348" y="1295"/>
                <a:ext cx="78" cy="78"/>
              </a:xfrm>
              <a:custGeom>
                <a:avLst/>
                <a:gdLst>
                  <a:gd name="T0" fmla="*/ 0 w 155"/>
                  <a:gd name="T1" fmla="*/ 0 h 158"/>
                  <a:gd name="T2" fmla="*/ 3 w 155"/>
                  <a:gd name="T3" fmla="*/ 1 h 158"/>
                  <a:gd name="T4" fmla="*/ 0 w 155"/>
                  <a:gd name="T5" fmla="*/ 2 h 158"/>
                  <a:gd name="T6" fmla="*/ 0 w 155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8"/>
                  <a:gd name="T14" fmla="*/ 155 w 155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8">
                    <a:moveTo>
                      <a:pt x="0" y="0"/>
                    </a:moveTo>
                    <a:lnTo>
                      <a:pt x="155" y="79"/>
                    </a:lnTo>
                    <a:lnTo>
                      <a:pt x="0" y="15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77" name="Line 182"/>
              <p:cNvSpPr>
                <a:spLocks noChangeShapeType="1"/>
              </p:cNvSpPr>
              <p:nvPr/>
            </p:nvSpPr>
            <p:spPr bwMode="auto">
              <a:xfrm>
                <a:off x="4230" y="1334"/>
                <a:ext cx="31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78" name="Freeform 183"/>
              <p:cNvSpPr>
                <a:spLocks/>
              </p:cNvSpPr>
              <p:nvPr/>
            </p:nvSpPr>
            <p:spPr bwMode="auto">
              <a:xfrm>
                <a:off x="4347" y="1295"/>
                <a:ext cx="79" cy="78"/>
              </a:xfrm>
              <a:custGeom>
                <a:avLst/>
                <a:gdLst>
                  <a:gd name="T0" fmla="*/ 3 w 157"/>
                  <a:gd name="T1" fmla="*/ 1 h 158"/>
                  <a:gd name="T2" fmla="*/ 0 w 157"/>
                  <a:gd name="T3" fmla="*/ 0 h 158"/>
                  <a:gd name="T4" fmla="*/ 0 w 157"/>
                  <a:gd name="T5" fmla="*/ 2 h 158"/>
                  <a:gd name="T6" fmla="*/ 3 w 157"/>
                  <a:gd name="T7" fmla="*/ 1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7"/>
                  <a:gd name="T13" fmla="*/ 0 h 158"/>
                  <a:gd name="T14" fmla="*/ 157 w 157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7" h="158">
                    <a:moveTo>
                      <a:pt x="157" y="79"/>
                    </a:moveTo>
                    <a:lnTo>
                      <a:pt x="0" y="0"/>
                    </a:lnTo>
                    <a:lnTo>
                      <a:pt x="0" y="158"/>
                    </a:lnTo>
                    <a:lnTo>
                      <a:pt x="157" y="79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79" name="Freeform 184"/>
              <p:cNvSpPr>
                <a:spLocks/>
              </p:cNvSpPr>
              <p:nvPr/>
            </p:nvSpPr>
            <p:spPr bwMode="auto">
              <a:xfrm>
                <a:off x="4347" y="1295"/>
                <a:ext cx="79" cy="78"/>
              </a:xfrm>
              <a:custGeom>
                <a:avLst/>
                <a:gdLst>
                  <a:gd name="T0" fmla="*/ 3 w 157"/>
                  <a:gd name="T1" fmla="*/ 1 h 158"/>
                  <a:gd name="T2" fmla="*/ 0 w 157"/>
                  <a:gd name="T3" fmla="*/ 0 h 158"/>
                  <a:gd name="T4" fmla="*/ 0 w 157"/>
                  <a:gd name="T5" fmla="*/ 2 h 158"/>
                  <a:gd name="T6" fmla="*/ 3 w 157"/>
                  <a:gd name="T7" fmla="*/ 1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7"/>
                  <a:gd name="T13" fmla="*/ 0 h 158"/>
                  <a:gd name="T14" fmla="*/ 157 w 157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7" h="158">
                    <a:moveTo>
                      <a:pt x="157" y="79"/>
                    </a:moveTo>
                    <a:lnTo>
                      <a:pt x="0" y="0"/>
                    </a:lnTo>
                    <a:lnTo>
                      <a:pt x="0" y="158"/>
                    </a:lnTo>
                    <a:lnTo>
                      <a:pt x="157" y="79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80" name="Line 185"/>
              <p:cNvSpPr>
                <a:spLocks noChangeShapeType="1"/>
              </p:cNvSpPr>
              <p:nvPr/>
            </p:nvSpPr>
            <p:spPr bwMode="auto">
              <a:xfrm>
                <a:off x="4347" y="1334"/>
                <a:ext cx="7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81" name="Line 186"/>
              <p:cNvSpPr>
                <a:spLocks noChangeShapeType="1"/>
              </p:cNvSpPr>
              <p:nvPr/>
            </p:nvSpPr>
            <p:spPr bwMode="auto">
              <a:xfrm flipV="1">
                <a:off x="4426" y="1295"/>
                <a:ext cx="1" cy="7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82" name="Freeform 187"/>
              <p:cNvSpPr>
                <a:spLocks/>
              </p:cNvSpPr>
              <p:nvPr/>
            </p:nvSpPr>
            <p:spPr bwMode="auto">
              <a:xfrm>
                <a:off x="4350" y="1855"/>
                <a:ext cx="78" cy="78"/>
              </a:xfrm>
              <a:custGeom>
                <a:avLst/>
                <a:gdLst>
                  <a:gd name="T0" fmla="*/ 0 w 155"/>
                  <a:gd name="T1" fmla="*/ 0 h 157"/>
                  <a:gd name="T2" fmla="*/ 3 w 155"/>
                  <a:gd name="T3" fmla="*/ 1 h 157"/>
                  <a:gd name="T4" fmla="*/ 0 w 155"/>
                  <a:gd name="T5" fmla="*/ 2 h 157"/>
                  <a:gd name="T6" fmla="*/ 0 w 155"/>
                  <a:gd name="T7" fmla="*/ 0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7"/>
                  <a:gd name="T14" fmla="*/ 155 w 155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7">
                    <a:moveTo>
                      <a:pt x="0" y="0"/>
                    </a:moveTo>
                    <a:lnTo>
                      <a:pt x="155" y="78"/>
                    </a:lnTo>
                    <a:lnTo>
                      <a:pt x="0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83" name="Line 188"/>
              <p:cNvSpPr>
                <a:spLocks noChangeShapeType="1"/>
              </p:cNvSpPr>
              <p:nvPr/>
            </p:nvSpPr>
            <p:spPr bwMode="auto">
              <a:xfrm flipV="1">
                <a:off x="4428" y="1855"/>
                <a:ext cx="1" cy="7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84" name="Freeform 189"/>
              <p:cNvSpPr>
                <a:spLocks/>
              </p:cNvSpPr>
              <p:nvPr/>
            </p:nvSpPr>
            <p:spPr bwMode="auto">
              <a:xfrm>
                <a:off x="4350" y="1855"/>
                <a:ext cx="78" cy="78"/>
              </a:xfrm>
              <a:custGeom>
                <a:avLst/>
                <a:gdLst>
                  <a:gd name="T0" fmla="*/ 0 w 155"/>
                  <a:gd name="T1" fmla="*/ 0 h 157"/>
                  <a:gd name="T2" fmla="*/ 3 w 155"/>
                  <a:gd name="T3" fmla="*/ 1 h 157"/>
                  <a:gd name="T4" fmla="*/ 0 w 155"/>
                  <a:gd name="T5" fmla="*/ 2 h 157"/>
                  <a:gd name="T6" fmla="*/ 0 w 155"/>
                  <a:gd name="T7" fmla="*/ 0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7"/>
                  <a:gd name="T14" fmla="*/ 155 w 155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7">
                    <a:moveTo>
                      <a:pt x="0" y="0"/>
                    </a:moveTo>
                    <a:lnTo>
                      <a:pt x="155" y="78"/>
                    </a:lnTo>
                    <a:lnTo>
                      <a:pt x="0" y="157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85" name="Line 190"/>
              <p:cNvSpPr>
                <a:spLocks noChangeShapeType="1"/>
              </p:cNvSpPr>
              <p:nvPr/>
            </p:nvSpPr>
            <p:spPr bwMode="auto">
              <a:xfrm>
                <a:off x="4230" y="1894"/>
                <a:ext cx="31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86" name="Freeform 191"/>
              <p:cNvSpPr>
                <a:spLocks/>
              </p:cNvSpPr>
              <p:nvPr/>
            </p:nvSpPr>
            <p:spPr bwMode="auto">
              <a:xfrm>
                <a:off x="4349" y="1855"/>
                <a:ext cx="80" cy="78"/>
              </a:xfrm>
              <a:custGeom>
                <a:avLst/>
                <a:gdLst>
                  <a:gd name="T0" fmla="*/ 3 w 159"/>
                  <a:gd name="T1" fmla="*/ 1 h 157"/>
                  <a:gd name="T2" fmla="*/ 0 w 159"/>
                  <a:gd name="T3" fmla="*/ 0 h 157"/>
                  <a:gd name="T4" fmla="*/ 0 w 159"/>
                  <a:gd name="T5" fmla="*/ 2 h 157"/>
                  <a:gd name="T6" fmla="*/ 3 w 159"/>
                  <a:gd name="T7" fmla="*/ 1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9"/>
                  <a:gd name="T13" fmla="*/ 0 h 157"/>
                  <a:gd name="T14" fmla="*/ 159 w 159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9" h="157">
                    <a:moveTo>
                      <a:pt x="159" y="78"/>
                    </a:moveTo>
                    <a:lnTo>
                      <a:pt x="0" y="0"/>
                    </a:lnTo>
                    <a:lnTo>
                      <a:pt x="0" y="157"/>
                    </a:lnTo>
                    <a:lnTo>
                      <a:pt x="159" y="78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87" name="Freeform 192"/>
              <p:cNvSpPr>
                <a:spLocks/>
              </p:cNvSpPr>
              <p:nvPr/>
            </p:nvSpPr>
            <p:spPr bwMode="auto">
              <a:xfrm>
                <a:off x="4349" y="1855"/>
                <a:ext cx="80" cy="78"/>
              </a:xfrm>
              <a:custGeom>
                <a:avLst/>
                <a:gdLst>
                  <a:gd name="T0" fmla="*/ 3 w 159"/>
                  <a:gd name="T1" fmla="*/ 1 h 157"/>
                  <a:gd name="T2" fmla="*/ 0 w 159"/>
                  <a:gd name="T3" fmla="*/ 0 h 157"/>
                  <a:gd name="T4" fmla="*/ 0 w 159"/>
                  <a:gd name="T5" fmla="*/ 2 h 157"/>
                  <a:gd name="T6" fmla="*/ 3 w 159"/>
                  <a:gd name="T7" fmla="*/ 1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9"/>
                  <a:gd name="T13" fmla="*/ 0 h 157"/>
                  <a:gd name="T14" fmla="*/ 159 w 159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9" h="157">
                    <a:moveTo>
                      <a:pt x="159" y="78"/>
                    </a:moveTo>
                    <a:lnTo>
                      <a:pt x="0" y="0"/>
                    </a:lnTo>
                    <a:lnTo>
                      <a:pt x="0" y="157"/>
                    </a:lnTo>
                    <a:lnTo>
                      <a:pt x="159" y="78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88" name="Line 193"/>
              <p:cNvSpPr>
                <a:spLocks noChangeShapeType="1"/>
              </p:cNvSpPr>
              <p:nvPr/>
            </p:nvSpPr>
            <p:spPr bwMode="auto">
              <a:xfrm>
                <a:off x="4349" y="1894"/>
                <a:ext cx="80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89" name="Line 194"/>
              <p:cNvSpPr>
                <a:spLocks noChangeShapeType="1"/>
              </p:cNvSpPr>
              <p:nvPr/>
            </p:nvSpPr>
            <p:spPr bwMode="auto">
              <a:xfrm flipV="1">
                <a:off x="4429" y="1855"/>
                <a:ext cx="1" cy="7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90" name="Rectangle 195"/>
              <p:cNvSpPr>
                <a:spLocks noChangeArrowheads="1"/>
              </p:cNvSpPr>
              <p:nvPr/>
            </p:nvSpPr>
            <p:spPr bwMode="auto">
              <a:xfrm>
                <a:off x="4575" y="1378"/>
                <a:ext cx="36" cy="8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900">
                    <a:solidFill>
                      <a:srgbClr val="000000"/>
                    </a:solidFill>
                    <a:latin typeface="宋体" pitchFamily="2" charset="-122"/>
                  </a:rPr>
                  <a:t>+</a:t>
                </a:r>
                <a:endParaRPr lang="en-US" altLang="zh-CN"/>
              </a:p>
            </p:txBody>
          </p:sp>
          <p:sp>
            <p:nvSpPr>
              <p:cNvPr id="76991" name="Rectangle 196"/>
              <p:cNvSpPr>
                <a:spLocks noChangeArrowheads="1"/>
              </p:cNvSpPr>
              <p:nvPr/>
            </p:nvSpPr>
            <p:spPr bwMode="auto">
              <a:xfrm>
                <a:off x="4575" y="1529"/>
                <a:ext cx="36" cy="8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900">
                    <a:solidFill>
                      <a:srgbClr val="000000"/>
                    </a:solidFill>
                    <a:latin typeface="宋体" pitchFamily="2" charset="-122"/>
                  </a:rPr>
                  <a:t>-</a:t>
                </a:r>
                <a:endParaRPr lang="en-US" altLang="zh-CN"/>
              </a:p>
            </p:txBody>
          </p:sp>
          <p:sp>
            <p:nvSpPr>
              <p:cNvPr id="76992" name="Rectangle 197"/>
              <p:cNvSpPr>
                <a:spLocks noChangeArrowheads="1"/>
              </p:cNvSpPr>
              <p:nvPr/>
            </p:nvSpPr>
            <p:spPr bwMode="auto">
              <a:xfrm>
                <a:off x="4633" y="1484"/>
                <a:ext cx="44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700">
                    <a:solidFill>
                      <a:srgbClr val="000000"/>
                    </a:solidFill>
                    <a:latin typeface="Times New Roman" pitchFamily="18" charset="0"/>
                  </a:rPr>
                  <a:t>oi</a:t>
                </a:r>
                <a:endParaRPr lang="en-US" altLang="zh-CN"/>
              </a:p>
            </p:txBody>
          </p:sp>
          <p:sp>
            <p:nvSpPr>
              <p:cNvPr id="76993" name="Rectangle 198"/>
              <p:cNvSpPr>
                <a:spLocks noChangeArrowheads="1"/>
              </p:cNvSpPr>
              <p:nvPr/>
            </p:nvSpPr>
            <p:spPr bwMode="auto">
              <a:xfrm>
                <a:off x="4595" y="1446"/>
                <a:ext cx="40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 i="1">
                    <a:solidFill>
                      <a:srgbClr val="000000"/>
                    </a:solidFill>
                    <a:latin typeface="Times New Roman" pitchFamily="18" charset="0"/>
                  </a:rPr>
                  <a:t>u</a:t>
                </a:r>
                <a:endParaRPr lang="en-US" altLang="zh-CN"/>
              </a:p>
            </p:txBody>
          </p:sp>
          <p:sp>
            <p:nvSpPr>
              <p:cNvPr id="76994" name="Rectangle 199"/>
              <p:cNvSpPr>
                <a:spLocks noChangeArrowheads="1"/>
              </p:cNvSpPr>
              <p:nvPr/>
            </p:nvSpPr>
            <p:spPr bwMode="auto">
              <a:xfrm>
                <a:off x="3198" y="1207"/>
                <a:ext cx="122" cy="77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+</a:t>
                </a:r>
              </a:p>
              <a:p>
                <a:pPr eaLnBrk="1" hangingPunct="1"/>
                <a:endParaRPr lang="en-US" altLang="zh-CN" sz="1600" i="1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</a:p>
              <a:p>
                <a:pPr eaLnBrk="1" hangingPunct="1"/>
                <a:endParaRPr lang="en-US" altLang="zh-CN" sz="1600" i="1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-</a:t>
                </a:r>
                <a:endParaRPr lang="en-US" altLang="zh-CN" sz="1600"/>
              </a:p>
            </p:txBody>
          </p:sp>
          <p:sp>
            <p:nvSpPr>
              <p:cNvPr id="76995" name="Rectangle 200"/>
              <p:cNvSpPr>
                <a:spLocks noChangeArrowheads="1"/>
              </p:cNvSpPr>
              <p:nvPr/>
            </p:nvSpPr>
            <p:spPr bwMode="auto">
              <a:xfrm>
                <a:off x="5239" y="1253"/>
                <a:ext cx="122" cy="46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+</a:t>
                </a:r>
              </a:p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o</a:t>
                </a:r>
              </a:p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-</a:t>
                </a:r>
                <a:endParaRPr lang="en-US" altLang="zh-CN" sz="1600"/>
              </a:p>
            </p:txBody>
          </p:sp>
          <p:sp>
            <p:nvSpPr>
              <p:cNvPr id="76996" name="Rectangle 201"/>
              <p:cNvSpPr>
                <a:spLocks noChangeArrowheads="1"/>
              </p:cNvSpPr>
              <p:nvPr/>
            </p:nvSpPr>
            <p:spPr bwMode="auto">
              <a:xfrm>
                <a:off x="3969" y="1525"/>
                <a:ext cx="96" cy="11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200" i="1">
                    <a:solidFill>
                      <a:srgbClr val="000000"/>
                    </a:solidFill>
                    <a:latin typeface="Times New Roman" pitchFamily="18" charset="0"/>
                  </a:rPr>
                  <a:t>N</a:t>
                </a:r>
                <a:r>
                  <a:rPr lang="en-US" altLang="zh-CN" sz="12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76997" name="Rectangle 202"/>
              <p:cNvSpPr>
                <a:spLocks noChangeArrowheads="1"/>
              </p:cNvSpPr>
              <p:nvPr/>
            </p:nvSpPr>
            <p:spPr bwMode="auto">
              <a:xfrm>
                <a:off x="4241" y="1434"/>
                <a:ext cx="96" cy="11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200" i="1">
                    <a:solidFill>
                      <a:srgbClr val="000000"/>
                    </a:solidFill>
                    <a:latin typeface="Times New Roman" pitchFamily="18" charset="0"/>
                  </a:rPr>
                  <a:t>N</a:t>
                </a:r>
                <a:r>
                  <a:rPr lang="en-US" altLang="zh-CN" sz="12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76998" name="Rectangle 203"/>
              <p:cNvSpPr>
                <a:spLocks noChangeArrowheads="1"/>
              </p:cNvSpPr>
              <p:nvPr/>
            </p:nvSpPr>
            <p:spPr bwMode="auto">
              <a:xfrm>
                <a:off x="3696" y="1253"/>
                <a:ext cx="122" cy="15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600">
                    <a:solidFill>
                      <a:srgbClr val="000000"/>
                    </a:solidFill>
                    <a:latin typeface="Times New Roman" pitchFamily="18" charset="0"/>
                  </a:rPr>
                  <a:t>T</a:t>
                </a:r>
                <a:r>
                  <a:rPr lang="en-US" altLang="zh-CN" sz="1600" baseline="-250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76999" name="Rectangle 204"/>
              <p:cNvSpPr>
                <a:spLocks noChangeArrowheads="1"/>
              </p:cNvSpPr>
              <p:nvPr/>
            </p:nvSpPr>
            <p:spPr bwMode="auto">
              <a:xfrm>
                <a:off x="3696" y="1797"/>
                <a:ext cx="122" cy="15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600">
                    <a:solidFill>
                      <a:srgbClr val="000000"/>
                    </a:solidFill>
                    <a:latin typeface="Times New Roman" pitchFamily="18" charset="0"/>
                  </a:rPr>
                  <a:t>T</a:t>
                </a:r>
                <a:r>
                  <a:rPr lang="en-US" altLang="zh-CN" sz="1600" baseline="-250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77000" name="Rectangle 205"/>
              <p:cNvSpPr>
                <a:spLocks noChangeArrowheads="1"/>
              </p:cNvSpPr>
              <p:nvPr/>
            </p:nvSpPr>
            <p:spPr bwMode="auto">
              <a:xfrm>
                <a:off x="4241" y="1661"/>
                <a:ext cx="96" cy="11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200" i="1">
                    <a:solidFill>
                      <a:srgbClr val="000000"/>
                    </a:solidFill>
                    <a:latin typeface="Times New Roman" pitchFamily="18" charset="0"/>
                  </a:rPr>
                  <a:t>N</a:t>
                </a:r>
                <a:r>
                  <a:rPr lang="en-US" altLang="zh-CN" sz="12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</p:grpSp>
        <p:sp>
          <p:nvSpPr>
            <p:cNvPr id="76866" name="Line 206"/>
            <p:cNvSpPr>
              <a:spLocks noChangeShapeType="1"/>
            </p:cNvSpPr>
            <p:nvPr/>
          </p:nvSpPr>
          <p:spPr bwMode="auto">
            <a:xfrm flipV="1">
              <a:off x="3561" y="2432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67" name="Line 207"/>
            <p:cNvSpPr>
              <a:spLocks noChangeShapeType="1"/>
            </p:cNvSpPr>
            <p:nvPr/>
          </p:nvSpPr>
          <p:spPr bwMode="auto">
            <a:xfrm>
              <a:off x="3561" y="2659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68" name="Line 208"/>
            <p:cNvSpPr>
              <a:spLocks noChangeShapeType="1"/>
            </p:cNvSpPr>
            <p:nvPr/>
          </p:nvSpPr>
          <p:spPr bwMode="auto">
            <a:xfrm flipH="1">
              <a:off x="3652" y="2341"/>
              <a:ext cx="181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6803" name="Text Box 211"/>
          <p:cNvSpPr txBox="1">
            <a:spLocks noChangeArrowheads="1"/>
          </p:cNvSpPr>
          <p:nvPr/>
        </p:nvSpPr>
        <p:spPr bwMode="auto">
          <a:xfrm>
            <a:off x="32568" y="922263"/>
            <a:ext cx="4032250" cy="1369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en-US" altLang="zh-CN" sz="2800" b="1" dirty="0">
                <a:solidFill>
                  <a:srgbClr val="FF0000"/>
                </a:solidFill>
              </a:rPr>
              <a:t>2 Operation principle</a:t>
            </a:r>
          </a:p>
          <a:p>
            <a:pPr eaLnBrk="1" hangingPunct="1"/>
            <a:r>
              <a:rPr lang="en-US" altLang="zh-CN" sz="2400" b="1" dirty="0"/>
              <a:t>(Similar to that of push-pull converter)</a:t>
            </a:r>
          </a:p>
        </p:txBody>
      </p:sp>
      <p:sp>
        <p:nvSpPr>
          <p:cNvPr id="76804" name="Text Box 212"/>
          <p:cNvSpPr txBox="1">
            <a:spLocks noChangeArrowheads="1"/>
          </p:cNvSpPr>
          <p:nvPr/>
        </p:nvSpPr>
        <p:spPr bwMode="auto">
          <a:xfrm>
            <a:off x="73431" y="2306908"/>
            <a:ext cx="4392612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A50021"/>
                </a:solidFill>
              </a:rPr>
              <a:t>(1)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A50021"/>
                </a:solidFill>
              </a:rPr>
              <a:t>When 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1</a:t>
            </a:r>
            <a:r>
              <a:rPr lang="en-US" altLang="zh-CN" sz="2400" dirty="0">
                <a:solidFill>
                  <a:srgbClr val="A50021"/>
                </a:solidFill>
              </a:rPr>
              <a:t> is on and 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2</a:t>
            </a:r>
            <a:r>
              <a:rPr lang="en-US" altLang="zh-CN" sz="2400" dirty="0">
                <a:solidFill>
                  <a:srgbClr val="A50021"/>
                </a:solidFill>
              </a:rPr>
              <a:t> is off (0&lt;t&lt;t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on</a:t>
            </a:r>
            <a:r>
              <a:rPr lang="en-US" altLang="zh-CN" sz="2400" dirty="0">
                <a:solidFill>
                  <a:srgbClr val="A50021"/>
                </a:solidFill>
              </a:rPr>
              <a:t>)</a:t>
            </a:r>
            <a:r>
              <a:rPr lang="en-US" altLang="zh-CN" sz="2400" dirty="0"/>
              <a:t>, D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conducts and D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gets reverse biased. </a:t>
            </a:r>
            <a:r>
              <a:rPr lang="en-US" altLang="zh-CN" sz="2400" dirty="0" err="1">
                <a:solidFill>
                  <a:srgbClr val="A50021"/>
                </a:solidFill>
              </a:rPr>
              <a:t>i</a:t>
            </a:r>
            <a:r>
              <a:rPr lang="en-US" altLang="zh-CN" sz="2400" baseline="-25000" dirty="0" err="1">
                <a:solidFill>
                  <a:srgbClr val="A50021"/>
                </a:solidFill>
              </a:rPr>
              <a:t>L</a:t>
            </a:r>
            <a:r>
              <a:rPr lang="en-US" altLang="zh-CN" sz="2400" dirty="0">
                <a:solidFill>
                  <a:srgbClr val="A50021"/>
                </a:solidFill>
              </a:rPr>
              <a:t> through D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1</a:t>
            </a:r>
            <a:r>
              <a:rPr lang="en-US" altLang="zh-CN" sz="2400" dirty="0">
                <a:solidFill>
                  <a:srgbClr val="A50021"/>
                </a:solidFill>
              </a:rPr>
              <a:t> increase linearly</a:t>
            </a:r>
            <a:r>
              <a:rPr lang="en-US" altLang="zh-CN" sz="2400" dirty="0"/>
              <a:t>.</a:t>
            </a:r>
          </a:p>
        </p:txBody>
      </p:sp>
      <p:graphicFrame>
        <p:nvGraphicFramePr>
          <p:cNvPr id="7680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596884"/>
              </p:ext>
            </p:extLst>
          </p:nvPr>
        </p:nvGraphicFramePr>
        <p:xfrm>
          <a:off x="254258" y="4362763"/>
          <a:ext cx="3743325" cy="223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8" name="公式" r:id="rId3" imgW="1854200" imgH="1104900" progId="">
                  <p:embed/>
                </p:oleObj>
              </mc:Choice>
              <mc:Fallback>
                <p:oleObj name="公式" r:id="rId3" imgW="1854200" imgH="11049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258" y="4362763"/>
                        <a:ext cx="3743325" cy="2230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26" name="Object 2"/>
          <p:cNvGraphicFramePr>
            <a:graphicFrameLocks noChangeAspect="1"/>
          </p:cNvGraphicFramePr>
          <p:nvPr/>
        </p:nvGraphicFramePr>
        <p:xfrm>
          <a:off x="120526" y="3286125"/>
          <a:ext cx="4235450" cy="231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2" name="公式" r:id="rId3" imgW="2019300" imgH="1104900" progId="">
                  <p:embed/>
                </p:oleObj>
              </mc:Choice>
              <mc:Fallback>
                <p:oleObj name="公式" r:id="rId3" imgW="2019300" imgH="11049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526" y="3286125"/>
                        <a:ext cx="4235450" cy="2317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7" name="Text Box 203"/>
          <p:cNvSpPr txBox="1">
            <a:spLocks noChangeArrowheads="1"/>
          </p:cNvSpPr>
          <p:nvPr/>
        </p:nvSpPr>
        <p:spPr bwMode="auto">
          <a:xfrm>
            <a:off x="0" y="1214438"/>
            <a:ext cx="4392613" cy="189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A50021"/>
                </a:solidFill>
              </a:rPr>
              <a:t>(2)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A50021"/>
                </a:solidFill>
              </a:rPr>
              <a:t>When 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1</a:t>
            </a:r>
            <a:r>
              <a:rPr lang="en-US" altLang="zh-CN" sz="2400" dirty="0">
                <a:solidFill>
                  <a:srgbClr val="A50021"/>
                </a:solidFill>
              </a:rPr>
              <a:t> is off and 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2</a:t>
            </a:r>
            <a:r>
              <a:rPr lang="en-US" altLang="zh-CN" sz="2400" dirty="0">
                <a:solidFill>
                  <a:srgbClr val="A50021"/>
                </a:solidFill>
              </a:rPr>
              <a:t> is on (0&lt;t&lt;t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on</a:t>
            </a:r>
            <a:r>
              <a:rPr lang="en-US" altLang="zh-CN" sz="2400" dirty="0">
                <a:solidFill>
                  <a:srgbClr val="A50021"/>
                </a:solidFill>
              </a:rPr>
              <a:t>)</a:t>
            </a:r>
            <a:r>
              <a:rPr lang="en-US" altLang="zh-CN" sz="2400" dirty="0"/>
              <a:t>, D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gets reverse biased and D</a:t>
            </a:r>
            <a:r>
              <a:rPr lang="en-US" altLang="zh-CN" sz="2400" baseline="-25000" dirty="0"/>
              <a:t>2 </a:t>
            </a:r>
            <a:r>
              <a:rPr lang="en-US" altLang="zh-CN" sz="2400" dirty="0"/>
              <a:t>conducts. </a:t>
            </a:r>
            <a:r>
              <a:rPr lang="en-US" altLang="zh-CN" sz="2400" dirty="0" err="1">
                <a:solidFill>
                  <a:srgbClr val="A50021"/>
                </a:solidFill>
              </a:rPr>
              <a:t>i</a:t>
            </a:r>
            <a:r>
              <a:rPr lang="en-US" altLang="zh-CN" sz="2400" baseline="-25000" dirty="0" err="1">
                <a:solidFill>
                  <a:srgbClr val="A50021"/>
                </a:solidFill>
              </a:rPr>
              <a:t>L</a:t>
            </a:r>
            <a:r>
              <a:rPr lang="en-US" altLang="zh-CN" sz="2400" dirty="0">
                <a:solidFill>
                  <a:srgbClr val="A50021"/>
                </a:solidFill>
              </a:rPr>
              <a:t> through D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2</a:t>
            </a:r>
            <a:r>
              <a:rPr lang="en-US" altLang="zh-CN" sz="2400" dirty="0">
                <a:solidFill>
                  <a:srgbClr val="A50021"/>
                </a:solidFill>
              </a:rPr>
              <a:t> increase linearly</a:t>
            </a:r>
            <a:r>
              <a:rPr lang="en-US" altLang="zh-CN" sz="2400" dirty="0"/>
              <a:t>.</a:t>
            </a:r>
          </a:p>
        </p:txBody>
      </p:sp>
      <p:grpSp>
        <p:nvGrpSpPr>
          <p:cNvPr id="2" name="Group 210"/>
          <p:cNvGrpSpPr>
            <a:grpSpLocks/>
          </p:cNvGrpSpPr>
          <p:nvPr/>
        </p:nvGrpSpPr>
        <p:grpSpPr bwMode="auto">
          <a:xfrm>
            <a:off x="4357688" y="1268413"/>
            <a:ext cx="4664075" cy="5589587"/>
            <a:chOff x="3334" y="1071"/>
            <a:chExt cx="2349" cy="3103"/>
          </a:xfrm>
        </p:grpSpPr>
        <p:sp>
          <p:nvSpPr>
            <p:cNvPr id="77829" name="Rectangle 5"/>
            <p:cNvSpPr>
              <a:spLocks noChangeArrowheads="1"/>
            </p:cNvSpPr>
            <p:nvPr/>
          </p:nvSpPr>
          <p:spPr bwMode="auto">
            <a:xfrm>
              <a:off x="4377" y="2004"/>
              <a:ext cx="192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宋体" pitchFamily="2" charset="-122"/>
                </a:rPr>
                <a:t>(a)</a:t>
              </a:r>
              <a:endParaRPr lang="en-US" altLang="zh-CN" sz="1600"/>
            </a:p>
          </p:txBody>
        </p:sp>
        <p:sp>
          <p:nvSpPr>
            <p:cNvPr id="77830" name="Freeform 6"/>
            <p:cNvSpPr>
              <a:spLocks/>
            </p:cNvSpPr>
            <p:nvPr/>
          </p:nvSpPr>
          <p:spPr bwMode="auto">
            <a:xfrm>
              <a:off x="3470" y="2302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1" name="Freeform 7"/>
            <p:cNvSpPr>
              <a:spLocks/>
            </p:cNvSpPr>
            <p:nvPr/>
          </p:nvSpPr>
          <p:spPr bwMode="auto">
            <a:xfrm>
              <a:off x="3470" y="2302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2" name="Line 8"/>
            <p:cNvSpPr>
              <a:spLocks noChangeShapeType="1"/>
            </p:cNvSpPr>
            <p:nvPr/>
          </p:nvSpPr>
          <p:spPr bwMode="auto">
            <a:xfrm>
              <a:off x="3478" y="2361"/>
              <a:ext cx="1" cy="7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3" name="Freeform 9"/>
            <p:cNvSpPr>
              <a:spLocks/>
            </p:cNvSpPr>
            <p:nvPr/>
          </p:nvSpPr>
          <p:spPr bwMode="auto">
            <a:xfrm>
              <a:off x="5557" y="2884"/>
              <a:ext cx="54" cy="17"/>
            </a:xfrm>
            <a:custGeom>
              <a:avLst/>
              <a:gdLst>
                <a:gd name="T0" fmla="*/ 2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4" name="Freeform 10"/>
            <p:cNvSpPr>
              <a:spLocks/>
            </p:cNvSpPr>
            <p:nvPr/>
          </p:nvSpPr>
          <p:spPr bwMode="auto">
            <a:xfrm>
              <a:off x="5557" y="2884"/>
              <a:ext cx="54" cy="17"/>
            </a:xfrm>
            <a:custGeom>
              <a:avLst/>
              <a:gdLst>
                <a:gd name="T0" fmla="*/ 2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5" name="Line 11"/>
            <p:cNvSpPr>
              <a:spLocks noChangeShapeType="1"/>
            </p:cNvSpPr>
            <p:nvPr/>
          </p:nvSpPr>
          <p:spPr bwMode="auto">
            <a:xfrm flipH="1">
              <a:off x="3478" y="2893"/>
              <a:ext cx="207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6" name="Line 12"/>
            <p:cNvSpPr>
              <a:spLocks noChangeShapeType="1"/>
            </p:cNvSpPr>
            <p:nvPr/>
          </p:nvSpPr>
          <p:spPr bwMode="auto">
            <a:xfrm>
              <a:off x="3478" y="2413"/>
              <a:ext cx="32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7" name="Freeform 13"/>
            <p:cNvSpPr>
              <a:spLocks/>
            </p:cNvSpPr>
            <p:nvPr/>
          </p:nvSpPr>
          <p:spPr bwMode="auto">
            <a:xfrm>
              <a:off x="5554" y="3935"/>
              <a:ext cx="54" cy="17"/>
            </a:xfrm>
            <a:custGeom>
              <a:avLst/>
              <a:gdLst>
                <a:gd name="T0" fmla="*/ 2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8" name="Freeform 14"/>
            <p:cNvSpPr>
              <a:spLocks/>
            </p:cNvSpPr>
            <p:nvPr/>
          </p:nvSpPr>
          <p:spPr bwMode="auto">
            <a:xfrm>
              <a:off x="5554" y="3935"/>
              <a:ext cx="54" cy="17"/>
            </a:xfrm>
            <a:custGeom>
              <a:avLst/>
              <a:gdLst>
                <a:gd name="T0" fmla="*/ 2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9" name="Line 15"/>
            <p:cNvSpPr>
              <a:spLocks noChangeShapeType="1"/>
            </p:cNvSpPr>
            <p:nvPr/>
          </p:nvSpPr>
          <p:spPr bwMode="auto">
            <a:xfrm flipH="1">
              <a:off x="3475" y="3944"/>
              <a:ext cx="207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0" name="Rectangle 16"/>
            <p:cNvSpPr>
              <a:spLocks noChangeArrowheads="1"/>
            </p:cNvSpPr>
            <p:nvPr/>
          </p:nvSpPr>
          <p:spPr bwMode="auto">
            <a:xfrm>
              <a:off x="3515" y="2186"/>
              <a:ext cx="124" cy="17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oi</a:t>
              </a:r>
            </a:p>
          </p:txBody>
        </p:sp>
        <p:sp>
          <p:nvSpPr>
            <p:cNvPr id="77841" name="Rectangle 17"/>
            <p:cNvSpPr>
              <a:spLocks noChangeArrowheads="1"/>
            </p:cNvSpPr>
            <p:nvPr/>
          </p:nvSpPr>
          <p:spPr bwMode="auto">
            <a:xfrm>
              <a:off x="3409" y="2824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77842" name="Rectangle 18"/>
            <p:cNvSpPr>
              <a:spLocks noChangeArrowheads="1"/>
            </p:cNvSpPr>
            <p:nvPr/>
          </p:nvSpPr>
          <p:spPr bwMode="auto">
            <a:xfrm>
              <a:off x="3408" y="3873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77843" name="Rectangle 19"/>
            <p:cNvSpPr>
              <a:spLocks noChangeArrowheads="1"/>
            </p:cNvSpPr>
            <p:nvPr/>
          </p:nvSpPr>
          <p:spPr bwMode="auto">
            <a:xfrm>
              <a:off x="5643" y="2821"/>
              <a:ext cx="40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77844" name="Rectangle 20"/>
            <p:cNvSpPr>
              <a:spLocks noChangeArrowheads="1"/>
            </p:cNvSpPr>
            <p:nvPr/>
          </p:nvSpPr>
          <p:spPr bwMode="auto">
            <a:xfrm>
              <a:off x="5640" y="3854"/>
              <a:ext cx="40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77845" name="Line 21"/>
            <p:cNvSpPr>
              <a:spLocks noChangeShapeType="1"/>
            </p:cNvSpPr>
            <p:nvPr/>
          </p:nvSpPr>
          <p:spPr bwMode="auto">
            <a:xfrm>
              <a:off x="4331" y="2413"/>
              <a:ext cx="32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6" name="Line 22"/>
            <p:cNvSpPr>
              <a:spLocks noChangeShapeType="1"/>
            </p:cNvSpPr>
            <p:nvPr/>
          </p:nvSpPr>
          <p:spPr bwMode="auto">
            <a:xfrm>
              <a:off x="4651" y="2892"/>
              <a:ext cx="53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7" name="Line 23"/>
            <p:cNvSpPr>
              <a:spLocks noChangeShapeType="1"/>
            </p:cNvSpPr>
            <p:nvPr/>
          </p:nvSpPr>
          <p:spPr bwMode="auto">
            <a:xfrm>
              <a:off x="4651" y="2413"/>
              <a:ext cx="1" cy="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8" name="Line 24"/>
            <p:cNvSpPr>
              <a:spLocks noChangeShapeType="1"/>
            </p:cNvSpPr>
            <p:nvPr/>
          </p:nvSpPr>
          <p:spPr bwMode="auto">
            <a:xfrm>
              <a:off x="5185" y="2413"/>
              <a:ext cx="31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9" name="Line 25"/>
            <p:cNvSpPr>
              <a:spLocks noChangeShapeType="1"/>
            </p:cNvSpPr>
            <p:nvPr/>
          </p:nvSpPr>
          <p:spPr bwMode="auto">
            <a:xfrm>
              <a:off x="5185" y="2413"/>
              <a:ext cx="1" cy="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0" name="Rectangle 32"/>
            <p:cNvSpPr>
              <a:spLocks noChangeArrowheads="1"/>
            </p:cNvSpPr>
            <p:nvPr/>
          </p:nvSpPr>
          <p:spPr bwMode="auto">
            <a:xfrm>
              <a:off x="3788" y="2205"/>
              <a:ext cx="508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N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2</a:t>
              </a:r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V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d</a:t>
              </a:r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/2N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77851" name="Line 36"/>
            <p:cNvSpPr>
              <a:spLocks noChangeShapeType="1"/>
            </p:cNvSpPr>
            <p:nvPr/>
          </p:nvSpPr>
          <p:spPr bwMode="auto">
            <a:xfrm>
              <a:off x="3798" y="2939"/>
              <a:ext cx="1" cy="1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2" name="Line 37"/>
            <p:cNvSpPr>
              <a:spLocks noChangeShapeType="1"/>
            </p:cNvSpPr>
            <p:nvPr/>
          </p:nvSpPr>
          <p:spPr bwMode="auto">
            <a:xfrm>
              <a:off x="4331" y="2939"/>
              <a:ext cx="1" cy="1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3" name="Line 38"/>
            <p:cNvSpPr>
              <a:spLocks noChangeShapeType="1"/>
            </p:cNvSpPr>
            <p:nvPr/>
          </p:nvSpPr>
          <p:spPr bwMode="auto">
            <a:xfrm>
              <a:off x="4331" y="2939"/>
              <a:ext cx="1" cy="2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4" name="Line 39"/>
            <p:cNvSpPr>
              <a:spLocks noChangeShapeType="1"/>
            </p:cNvSpPr>
            <p:nvPr/>
          </p:nvSpPr>
          <p:spPr bwMode="auto">
            <a:xfrm>
              <a:off x="3478" y="3091"/>
              <a:ext cx="1" cy="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5" name="Line 40"/>
            <p:cNvSpPr>
              <a:spLocks noChangeShapeType="1"/>
            </p:cNvSpPr>
            <p:nvPr/>
          </p:nvSpPr>
          <p:spPr bwMode="auto">
            <a:xfrm>
              <a:off x="3530" y="2998"/>
              <a:ext cx="21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6" name="Freeform 41"/>
            <p:cNvSpPr>
              <a:spLocks/>
            </p:cNvSpPr>
            <p:nvPr/>
          </p:nvSpPr>
          <p:spPr bwMode="auto">
            <a:xfrm>
              <a:off x="3478" y="2960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2 w 140"/>
                <a:gd name="T3" fmla="*/ 0 h 76"/>
                <a:gd name="T4" fmla="*/ 2 w 140"/>
                <a:gd name="T5" fmla="*/ 5 h 76"/>
                <a:gd name="T6" fmla="*/ 2 w 140"/>
                <a:gd name="T7" fmla="*/ 9 h 76"/>
                <a:gd name="T8" fmla="*/ 2 w 140"/>
                <a:gd name="T9" fmla="*/ 14 h 76"/>
                <a:gd name="T10" fmla="*/ 1 w 140"/>
                <a:gd name="T11" fmla="*/ 18 h 76"/>
                <a:gd name="T12" fmla="*/ 1 w 140"/>
                <a:gd name="T13" fmla="*/ 23 h 76"/>
                <a:gd name="T14" fmla="*/ 1 w 140"/>
                <a:gd name="T15" fmla="*/ 29 h 76"/>
                <a:gd name="T16" fmla="*/ 1 w 140"/>
                <a:gd name="T17" fmla="*/ 33 h 76"/>
                <a:gd name="T18" fmla="*/ 1 w 140"/>
                <a:gd name="T19" fmla="*/ 38 h 76"/>
                <a:gd name="T20" fmla="*/ 1 w 140"/>
                <a:gd name="T21" fmla="*/ 43 h 76"/>
                <a:gd name="T22" fmla="*/ 1 w 140"/>
                <a:gd name="T23" fmla="*/ 47 h 76"/>
                <a:gd name="T24" fmla="*/ 1 w 140"/>
                <a:gd name="T25" fmla="*/ 52 h 76"/>
                <a:gd name="T26" fmla="*/ 1 w 140"/>
                <a:gd name="T27" fmla="*/ 58 h 76"/>
                <a:gd name="T28" fmla="*/ 2 w 140"/>
                <a:gd name="T29" fmla="*/ 62 h 76"/>
                <a:gd name="T30" fmla="*/ 2 w 140"/>
                <a:gd name="T31" fmla="*/ 67 h 76"/>
                <a:gd name="T32" fmla="*/ 2 w 140"/>
                <a:gd name="T33" fmla="*/ 71 h 76"/>
                <a:gd name="T34" fmla="*/ 2 w 140"/>
                <a:gd name="T35" fmla="*/ 76 h 76"/>
                <a:gd name="T36" fmla="*/ 2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7" name="Freeform 42"/>
            <p:cNvSpPr>
              <a:spLocks/>
            </p:cNvSpPr>
            <p:nvPr/>
          </p:nvSpPr>
          <p:spPr bwMode="auto">
            <a:xfrm>
              <a:off x="3729" y="2960"/>
              <a:ext cx="69" cy="76"/>
            </a:xfrm>
            <a:custGeom>
              <a:avLst/>
              <a:gdLst>
                <a:gd name="T0" fmla="*/ 2 w 140"/>
                <a:gd name="T1" fmla="*/ 38 h 76"/>
                <a:gd name="T2" fmla="*/ 0 w 140"/>
                <a:gd name="T3" fmla="*/ 76 h 76"/>
                <a:gd name="T4" fmla="*/ 0 w 140"/>
                <a:gd name="T5" fmla="*/ 71 h 76"/>
                <a:gd name="T6" fmla="*/ 0 w 140"/>
                <a:gd name="T7" fmla="*/ 67 h 76"/>
                <a:gd name="T8" fmla="*/ 0 w 140"/>
                <a:gd name="T9" fmla="*/ 62 h 76"/>
                <a:gd name="T10" fmla="*/ 0 w 140"/>
                <a:gd name="T11" fmla="*/ 58 h 76"/>
                <a:gd name="T12" fmla="*/ 0 w 140"/>
                <a:gd name="T13" fmla="*/ 52 h 76"/>
                <a:gd name="T14" fmla="*/ 0 w 140"/>
                <a:gd name="T15" fmla="*/ 47 h 76"/>
                <a:gd name="T16" fmla="*/ 0 w 140"/>
                <a:gd name="T17" fmla="*/ 43 h 76"/>
                <a:gd name="T18" fmla="*/ 0 w 140"/>
                <a:gd name="T19" fmla="*/ 38 h 76"/>
                <a:gd name="T20" fmla="*/ 0 w 140"/>
                <a:gd name="T21" fmla="*/ 33 h 76"/>
                <a:gd name="T22" fmla="*/ 0 w 140"/>
                <a:gd name="T23" fmla="*/ 29 h 76"/>
                <a:gd name="T24" fmla="*/ 0 w 140"/>
                <a:gd name="T25" fmla="*/ 23 h 76"/>
                <a:gd name="T26" fmla="*/ 0 w 140"/>
                <a:gd name="T27" fmla="*/ 18 h 76"/>
                <a:gd name="T28" fmla="*/ 0 w 140"/>
                <a:gd name="T29" fmla="*/ 14 h 76"/>
                <a:gd name="T30" fmla="*/ 0 w 140"/>
                <a:gd name="T31" fmla="*/ 9 h 76"/>
                <a:gd name="T32" fmla="*/ 0 w 140"/>
                <a:gd name="T33" fmla="*/ 5 h 76"/>
                <a:gd name="T34" fmla="*/ 0 w 140"/>
                <a:gd name="T35" fmla="*/ 0 h 76"/>
                <a:gd name="T36" fmla="*/ 0 w 140"/>
                <a:gd name="T37" fmla="*/ 0 h 76"/>
                <a:gd name="T38" fmla="*/ 2 w 140"/>
                <a:gd name="T39" fmla="*/ 38 h 76"/>
                <a:gd name="T40" fmla="*/ 2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140" y="38"/>
                  </a:moveTo>
                  <a:lnTo>
                    <a:pt x="0" y="76"/>
                  </a:lnTo>
                  <a:lnTo>
                    <a:pt x="4" y="71"/>
                  </a:lnTo>
                  <a:lnTo>
                    <a:pt x="8" y="67"/>
                  </a:lnTo>
                  <a:lnTo>
                    <a:pt x="11" y="62"/>
                  </a:lnTo>
                  <a:lnTo>
                    <a:pt x="13" y="58"/>
                  </a:lnTo>
                  <a:lnTo>
                    <a:pt x="15" y="52"/>
                  </a:lnTo>
                  <a:lnTo>
                    <a:pt x="17" y="47"/>
                  </a:lnTo>
                  <a:lnTo>
                    <a:pt x="17" y="43"/>
                  </a:lnTo>
                  <a:lnTo>
                    <a:pt x="17" y="38"/>
                  </a:lnTo>
                  <a:lnTo>
                    <a:pt x="17" y="33"/>
                  </a:lnTo>
                  <a:lnTo>
                    <a:pt x="17" y="29"/>
                  </a:lnTo>
                  <a:lnTo>
                    <a:pt x="15" y="23"/>
                  </a:lnTo>
                  <a:lnTo>
                    <a:pt x="13" y="18"/>
                  </a:lnTo>
                  <a:lnTo>
                    <a:pt x="11" y="14"/>
                  </a:lnTo>
                  <a:lnTo>
                    <a:pt x="8" y="9"/>
                  </a:lnTo>
                  <a:lnTo>
                    <a:pt x="4" y="5"/>
                  </a:lnTo>
                  <a:lnTo>
                    <a:pt x="0" y="0"/>
                  </a:lnTo>
                  <a:lnTo>
                    <a:pt x="14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8" name="Line 43"/>
            <p:cNvSpPr>
              <a:spLocks noChangeShapeType="1"/>
            </p:cNvSpPr>
            <p:nvPr/>
          </p:nvSpPr>
          <p:spPr bwMode="auto">
            <a:xfrm>
              <a:off x="3850" y="2998"/>
              <a:ext cx="42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9" name="Freeform 44"/>
            <p:cNvSpPr>
              <a:spLocks/>
            </p:cNvSpPr>
            <p:nvPr/>
          </p:nvSpPr>
          <p:spPr bwMode="auto">
            <a:xfrm>
              <a:off x="3798" y="2960"/>
              <a:ext cx="69" cy="76"/>
            </a:xfrm>
            <a:custGeom>
              <a:avLst/>
              <a:gdLst>
                <a:gd name="T0" fmla="*/ 0 w 137"/>
                <a:gd name="T1" fmla="*/ 38 h 76"/>
                <a:gd name="T2" fmla="*/ 3 w 137"/>
                <a:gd name="T3" fmla="*/ 0 h 76"/>
                <a:gd name="T4" fmla="*/ 3 w 137"/>
                <a:gd name="T5" fmla="*/ 5 h 76"/>
                <a:gd name="T6" fmla="*/ 3 w 137"/>
                <a:gd name="T7" fmla="*/ 9 h 76"/>
                <a:gd name="T8" fmla="*/ 2 w 137"/>
                <a:gd name="T9" fmla="*/ 14 h 76"/>
                <a:gd name="T10" fmla="*/ 2 w 137"/>
                <a:gd name="T11" fmla="*/ 18 h 76"/>
                <a:gd name="T12" fmla="*/ 2 w 137"/>
                <a:gd name="T13" fmla="*/ 23 h 76"/>
                <a:gd name="T14" fmla="*/ 2 w 137"/>
                <a:gd name="T15" fmla="*/ 29 h 76"/>
                <a:gd name="T16" fmla="*/ 2 w 137"/>
                <a:gd name="T17" fmla="*/ 33 h 76"/>
                <a:gd name="T18" fmla="*/ 2 w 137"/>
                <a:gd name="T19" fmla="*/ 38 h 76"/>
                <a:gd name="T20" fmla="*/ 2 w 137"/>
                <a:gd name="T21" fmla="*/ 43 h 76"/>
                <a:gd name="T22" fmla="*/ 2 w 137"/>
                <a:gd name="T23" fmla="*/ 47 h 76"/>
                <a:gd name="T24" fmla="*/ 2 w 137"/>
                <a:gd name="T25" fmla="*/ 52 h 76"/>
                <a:gd name="T26" fmla="*/ 2 w 137"/>
                <a:gd name="T27" fmla="*/ 58 h 76"/>
                <a:gd name="T28" fmla="*/ 2 w 137"/>
                <a:gd name="T29" fmla="*/ 62 h 76"/>
                <a:gd name="T30" fmla="*/ 3 w 137"/>
                <a:gd name="T31" fmla="*/ 67 h 76"/>
                <a:gd name="T32" fmla="*/ 3 w 137"/>
                <a:gd name="T33" fmla="*/ 71 h 76"/>
                <a:gd name="T34" fmla="*/ 3 w 137"/>
                <a:gd name="T35" fmla="*/ 76 h 76"/>
                <a:gd name="T36" fmla="*/ 3 w 137"/>
                <a:gd name="T37" fmla="*/ 76 h 76"/>
                <a:gd name="T38" fmla="*/ 0 w 137"/>
                <a:gd name="T39" fmla="*/ 38 h 76"/>
                <a:gd name="T40" fmla="*/ 0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0" y="38"/>
                  </a:moveTo>
                  <a:lnTo>
                    <a:pt x="137" y="0"/>
                  </a:lnTo>
                  <a:lnTo>
                    <a:pt x="134" y="5"/>
                  </a:lnTo>
                  <a:lnTo>
                    <a:pt x="130" y="9"/>
                  </a:lnTo>
                  <a:lnTo>
                    <a:pt x="128" y="14"/>
                  </a:lnTo>
                  <a:lnTo>
                    <a:pt x="124" y="18"/>
                  </a:lnTo>
                  <a:lnTo>
                    <a:pt x="122" y="23"/>
                  </a:lnTo>
                  <a:lnTo>
                    <a:pt x="122" y="29"/>
                  </a:lnTo>
                  <a:lnTo>
                    <a:pt x="120" y="33"/>
                  </a:lnTo>
                  <a:lnTo>
                    <a:pt x="120" y="38"/>
                  </a:lnTo>
                  <a:lnTo>
                    <a:pt x="120" y="43"/>
                  </a:lnTo>
                  <a:lnTo>
                    <a:pt x="122" y="47"/>
                  </a:lnTo>
                  <a:lnTo>
                    <a:pt x="122" y="52"/>
                  </a:lnTo>
                  <a:lnTo>
                    <a:pt x="124" y="58"/>
                  </a:lnTo>
                  <a:lnTo>
                    <a:pt x="128" y="62"/>
                  </a:lnTo>
                  <a:lnTo>
                    <a:pt x="130" y="67"/>
                  </a:lnTo>
                  <a:lnTo>
                    <a:pt x="134" y="71"/>
                  </a:lnTo>
                  <a:lnTo>
                    <a:pt x="137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60" name="Freeform 45"/>
            <p:cNvSpPr>
              <a:spLocks/>
            </p:cNvSpPr>
            <p:nvPr/>
          </p:nvSpPr>
          <p:spPr bwMode="auto">
            <a:xfrm>
              <a:off x="4262" y="2960"/>
              <a:ext cx="69" cy="76"/>
            </a:xfrm>
            <a:custGeom>
              <a:avLst/>
              <a:gdLst>
                <a:gd name="T0" fmla="*/ 3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3 w 137"/>
                <a:gd name="T39" fmla="*/ 38 h 76"/>
                <a:gd name="T40" fmla="*/ 3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61" name="Line 46"/>
            <p:cNvSpPr>
              <a:spLocks noChangeShapeType="1"/>
            </p:cNvSpPr>
            <p:nvPr/>
          </p:nvSpPr>
          <p:spPr bwMode="auto">
            <a:xfrm>
              <a:off x="3530" y="3115"/>
              <a:ext cx="74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62" name="Freeform 47"/>
            <p:cNvSpPr>
              <a:spLocks/>
            </p:cNvSpPr>
            <p:nvPr/>
          </p:nvSpPr>
          <p:spPr bwMode="auto">
            <a:xfrm>
              <a:off x="3478" y="3077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2 w 140"/>
                <a:gd name="T3" fmla="*/ 0 h 76"/>
                <a:gd name="T4" fmla="*/ 2 w 140"/>
                <a:gd name="T5" fmla="*/ 5 h 76"/>
                <a:gd name="T6" fmla="*/ 2 w 140"/>
                <a:gd name="T7" fmla="*/ 9 h 76"/>
                <a:gd name="T8" fmla="*/ 2 w 140"/>
                <a:gd name="T9" fmla="*/ 14 h 76"/>
                <a:gd name="T10" fmla="*/ 1 w 140"/>
                <a:gd name="T11" fmla="*/ 18 h 76"/>
                <a:gd name="T12" fmla="*/ 1 w 140"/>
                <a:gd name="T13" fmla="*/ 23 h 76"/>
                <a:gd name="T14" fmla="*/ 1 w 140"/>
                <a:gd name="T15" fmla="*/ 29 h 76"/>
                <a:gd name="T16" fmla="*/ 1 w 140"/>
                <a:gd name="T17" fmla="*/ 33 h 76"/>
                <a:gd name="T18" fmla="*/ 1 w 140"/>
                <a:gd name="T19" fmla="*/ 38 h 76"/>
                <a:gd name="T20" fmla="*/ 1 w 140"/>
                <a:gd name="T21" fmla="*/ 43 h 76"/>
                <a:gd name="T22" fmla="*/ 1 w 140"/>
                <a:gd name="T23" fmla="*/ 47 h 76"/>
                <a:gd name="T24" fmla="*/ 1 w 140"/>
                <a:gd name="T25" fmla="*/ 52 h 76"/>
                <a:gd name="T26" fmla="*/ 1 w 140"/>
                <a:gd name="T27" fmla="*/ 58 h 76"/>
                <a:gd name="T28" fmla="*/ 2 w 140"/>
                <a:gd name="T29" fmla="*/ 62 h 76"/>
                <a:gd name="T30" fmla="*/ 2 w 140"/>
                <a:gd name="T31" fmla="*/ 67 h 76"/>
                <a:gd name="T32" fmla="*/ 2 w 140"/>
                <a:gd name="T33" fmla="*/ 71 h 76"/>
                <a:gd name="T34" fmla="*/ 2 w 140"/>
                <a:gd name="T35" fmla="*/ 76 h 76"/>
                <a:gd name="T36" fmla="*/ 2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63" name="Freeform 48"/>
            <p:cNvSpPr>
              <a:spLocks/>
            </p:cNvSpPr>
            <p:nvPr/>
          </p:nvSpPr>
          <p:spPr bwMode="auto">
            <a:xfrm>
              <a:off x="4262" y="3077"/>
              <a:ext cx="69" cy="76"/>
            </a:xfrm>
            <a:custGeom>
              <a:avLst/>
              <a:gdLst>
                <a:gd name="T0" fmla="*/ 3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3 w 137"/>
                <a:gd name="T39" fmla="*/ 38 h 76"/>
                <a:gd name="T40" fmla="*/ 3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64" name="Rectangle 49"/>
            <p:cNvSpPr>
              <a:spLocks noChangeArrowheads="1"/>
            </p:cNvSpPr>
            <p:nvPr/>
          </p:nvSpPr>
          <p:spPr bwMode="auto">
            <a:xfrm>
              <a:off x="3635" y="2919"/>
              <a:ext cx="72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on</a:t>
              </a:r>
              <a:endParaRPr lang="en-US" altLang="zh-CN"/>
            </a:p>
          </p:txBody>
        </p:sp>
        <p:sp>
          <p:nvSpPr>
            <p:cNvPr id="77865" name="Rectangle 50"/>
            <p:cNvSpPr>
              <a:spLocks noChangeArrowheads="1"/>
            </p:cNvSpPr>
            <p:nvPr/>
          </p:nvSpPr>
          <p:spPr bwMode="auto">
            <a:xfrm>
              <a:off x="3616" y="2873"/>
              <a:ext cx="2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77866" name="Line 51"/>
            <p:cNvSpPr>
              <a:spLocks noChangeShapeType="1"/>
            </p:cNvSpPr>
            <p:nvPr/>
          </p:nvSpPr>
          <p:spPr bwMode="auto">
            <a:xfrm flipV="1">
              <a:off x="3795" y="3893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67" name="Line 52"/>
            <p:cNvSpPr>
              <a:spLocks noChangeShapeType="1"/>
            </p:cNvSpPr>
            <p:nvPr/>
          </p:nvSpPr>
          <p:spPr bwMode="auto">
            <a:xfrm flipV="1">
              <a:off x="4328" y="3893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68" name="Line 53"/>
            <p:cNvSpPr>
              <a:spLocks noChangeShapeType="1"/>
            </p:cNvSpPr>
            <p:nvPr/>
          </p:nvSpPr>
          <p:spPr bwMode="auto">
            <a:xfrm flipV="1">
              <a:off x="4648" y="3893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69" name="Line 54"/>
            <p:cNvSpPr>
              <a:spLocks noChangeShapeType="1"/>
            </p:cNvSpPr>
            <p:nvPr/>
          </p:nvSpPr>
          <p:spPr bwMode="auto">
            <a:xfrm flipV="1">
              <a:off x="5182" y="3893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70" name="Freeform 55"/>
            <p:cNvSpPr>
              <a:spLocks/>
            </p:cNvSpPr>
            <p:nvPr/>
          </p:nvSpPr>
          <p:spPr bwMode="auto">
            <a:xfrm>
              <a:off x="3478" y="3466"/>
              <a:ext cx="1898" cy="234"/>
            </a:xfrm>
            <a:custGeom>
              <a:avLst/>
              <a:gdLst>
                <a:gd name="T0" fmla="*/ 0 w 3797"/>
                <a:gd name="T1" fmla="*/ 234 h 234"/>
                <a:gd name="T2" fmla="*/ 10 w 3797"/>
                <a:gd name="T3" fmla="*/ 0 h 234"/>
                <a:gd name="T4" fmla="*/ 26 w 3797"/>
                <a:gd name="T5" fmla="*/ 234 h 234"/>
                <a:gd name="T6" fmla="*/ 36 w 3797"/>
                <a:gd name="T7" fmla="*/ 0 h 234"/>
                <a:gd name="T8" fmla="*/ 53 w 3797"/>
                <a:gd name="T9" fmla="*/ 234 h 234"/>
                <a:gd name="T10" fmla="*/ 59 w 3797"/>
                <a:gd name="T11" fmla="*/ 117 h 2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797"/>
                <a:gd name="T19" fmla="*/ 0 h 234"/>
                <a:gd name="T20" fmla="*/ 3797 w 3797"/>
                <a:gd name="T21" fmla="*/ 234 h 2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797" h="234">
                  <a:moveTo>
                    <a:pt x="0" y="234"/>
                  </a:moveTo>
                  <a:lnTo>
                    <a:pt x="642" y="0"/>
                  </a:lnTo>
                  <a:lnTo>
                    <a:pt x="1707" y="234"/>
                  </a:lnTo>
                  <a:lnTo>
                    <a:pt x="2347" y="0"/>
                  </a:lnTo>
                  <a:lnTo>
                    <a:pt x="3414" y="234"/>
                  </a:lnTo>
                  <a:lnTo>
                    <a:pt x="3797" y="11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71" name="Freeform 56"/>
            <p:cNvSpPr>
              <a:spLocks/>
            </p:cNvSpPr>
            <p:nvPr/>
          </p:nvSpPr>
          <p:spPr bwMode="auto">
            <a:xfrm>
              <a:off x="3798" y="2413"/>
              <a:ext cx="533" cy="479"/>
            </a:xfrm>
            <a:custGeom>
              <a:avLst/>
              <a:gdLst>
                <a:gd name="T0" fmla="*/ 0 w 1065"/>
                <a:gd name="T1" fmla="*/ 0 h 479"/>
                <a:gd name="T2" fmla="*/ 0 w 1065"/>
                <a:gd name="T3" fmla="*/ 479 h 479"/>
                <a:gd name="T4" fmla="*/ 17 w 1065"/>
                <a:gd name="T5" fmla="*/ 479 h 479"/>
                <a:gd name="T6" fmla="*/ 17 w 1065"/>
                <a:gd name="T7" fmla="*/ 0 h 4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5"/>
                <a:gd name="T13" fmla="*/ 0 h 479"/>
                <a:gd name="T14" fmla="*/ 1065 w 1065"/>
                <a:gd name="T15" fmla="*/ 479 h 4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5" h="479">
                  <a:moveTo>
                    <a:pt x="0" y="0"/>
                  </a:moveTo>
                  <a:lnTo>
                    <a:pt x="0" y="479"/>
                  </a:lnTo>
                  <a:lnTo>
                    <a:pt x="1065" y="479"/>
                  </a:lnTo>
                  <a:lnTo>
                    <a:pt x="106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72" name="Freeform 57"/>
            <p:cNvSpPr>
              <a:spLocks noEditPoints="1"/>
            </p:cNvSpPr>
            <p:nvPr/>
          </p:nvSpPr>
          <p:spPr bwMode="auto">
            <a:xfrm>
              <a:off x="3475" y="2597"/>
              <a:ext cx="2039" cy="13"/>
            </a:xfrm>
            <a:custGeom>
              <a:avLst/>
              <a:gdLst>
                <a:gd name="T0" fmla="*/ 4 w 4078"/>
                <a:gd name="T1" fmla="*/ 5 h 13"/>
                <a:gd name="T2" fmla="*/ 3 w 4078"/>
                <a:gd name="T3" fmla="*/ 13 h 13"/>
                <a:gd name="T4" fmla="*/ 0 w 4078"/>
                <a:gd name="T5" fmla="*/ 6 h 13"/>
                <a:gd name="T6" fmla="*/ 1 w 4078"/>
                <a:gd name="T7" fmla="*/ 0 h 13"/>
                <a:gd name="T8" fmla="*/ 8 w 4078"/>
                <a:gd name="T9" fmla="*/ 5 h 13"/>
                <a:gd name="T10" fmla="*/ 8 w 4078"/>
                <a:gd name="T11" fmla="*/ 13 h 13"/>
                <a:gd name="T12" fmla="*/ 5 w 4078"/>
                <a:gd name="T13" fmla="*/ 6 h 13"/>
                <a:gd name="T14" fmla="*/ 5 w 4078"/>
                <a:gd name="T15" fmla="*/ 0 h 13"/>
                <a:gd name="T16" fmla="*/ 13 w 4078"/>
                <a:gd name="T17" fmla="*/ 5 h 13"/>
                <a:gd name="T18" fmla="*/ 13 w 4078"/>
                <a:gd name="T19" fmla="*/ 13 h 13"/>
                <a:gd name="T20" fmla="*/ 10 w 4078"/>
                <a:gd name="T21" fmla="*/ 6 h 13"/>
                <a:gd name="T22" fmla="*/ 10 w 4078"/>
                <a:gd name="T23" fmla="*/ 0 h 13"/>
                <a:gd name="T24" fmla="*/ 18 w 4078"/>
                <a:gd name="T25" fmla="*/ 5 h 13"/>
                <a:gd name="T26" fmla="*/ 18 w 4078"/>
                <a:gd name="T27" fmla="*/ 13 h 13"/>
                <a:gd name="T28" fmla="*/ 15 w 4078"/>
                <a:gd name="T29" fmla="*/ 6 h 13"/>
                <a:gd name="T30" fmla="*/ 15 w 4078"/>
                <a:gd name="T31" fmla="*/ 0 h 13"/>
                <a:gd name="T32" fmla="*/ 23 w 4078"/>
                <a:gd name="T33" fmla="*/ 5 h 13"/>
                <a:gd name="T34" fmla="*/ 23 w 4078"/>
                <a:gd name="T35" fmla="*/ 13 h 13"/>
                <a:gd name="T36" fmla="*/ 20 w 4078"/>
                <a:gd name="T37" fmla="*/ 6 h 13"/>
                <a:gd name="T38" fmla="*/ 20 w 4078"/>
                <a:gd name="T39" fmla="*/ 0 h 13"/>
                <a:gd name="T40" fmla="*/ 28 w 4078"/>
                <a:gd name="T41" fmla="*/ 5 h 13"/>
                <a:gd name="T42" fmla="*/ 27 w 4078"/>
                <a:gd name="T43" fmla="*/ 13 h 13"/>
                <a:gd name="T44" fmla="*/ 24 w 4078"/>
                <a:gd name="T45" fmla="*/ 6 h 13"/>
                <a:gd name="T46" fmla="*/ 25 w 4078"/>
                <a:gd name="T47" fmla="*/ 0 h 13"/>
                <a:gd name="T48" fmla="*/ 32 w 4078"/>
                <a:gd name="T49" fmla="*/ 5 h 13"/>
                <a:gd name="T50" fmla="*/ 32 w 4078"/>
                <a:gd name="T51" fmla="*/ 13 h 13"/>
                <a:gd name="T52" fmla="*/ 29 w 4078"/>
                <a:gd name="T53" fmla="*/ 6 h 13"/>
                <a:gd name="T54" fmla="*/ 29 w 4078"/>
                <a:gd name="T55" fmla="*/ 0 h 13"/>
                <a:gd name="T56" fmla="*/ 37 w 4078"/>
                <a:gd name="T57" fmla="*/ 5 h 13"/>
                <a:gd name="T58" fmla="*/ 37 w 4078"/>
                <a:gd name="T59" fmla="*/ 13 h 13"/>
                <a:gd name="T60" fmla="*/ 34 w 4078"/>
                <a:gd name="T61" fmla="*/ 6 h 13"/>
                <a:gd name="T62" fmla="*/ 34 w 4078"/>
                <a:gd name="T63" fmla="*/ 0 h 13"/>
                <a:gd name="T64" fmla="*/ 42 w 4078"/>
                <a:gd name="T65" fmla="*/ 5 h 13"/>
                <a:gd name="T66" fmla="*/ 42 w 4078"/>
                <a:gd name="T67" fmla="*/ 13 h 13"/>
                <a:gd name="T68" fmla="*/ 39 w 4078"/>
                <a:gd name="T69" fmla="*/ 6 h 13"/>
                <a:gd name="T70" fmla="*/ 39 w 4078"/>
                <a:gd name="T71" fmla="*/ 0 h 13"/>
                <a:gd name="T72" fmla="*/ 47 w 4078"/>
                <a:gd name="T73" fmla="*/ 5 h 13"/>
                <a:gd name="T74" fmla="*/ 47 w 4078"/>
                <a:gd name="T75" fmla="*/ 13 h 13"/>
                <a:gd name="T76" fmla="*/ 44 w 4078"/>
                <a:gd name="T77" fmla="*/ 6 h 13"/>
                <a:gd name="T78" fmla="*/ 44 w 4078"/>
                <a:gd name="T79" fmla="*/ 0 h 13"/>
                <a:gd name="T80" fmla="*/ 52 w 4078"/>
                <a:gd name="T81" fmla="*/ 5 h 13"/>
                <a:gd name="T82" fmla="*/ 51 w 4078"/>
                <a:gd name="T83" fmla="*/ 13 h 13"/>
                <a:gd name="T84" fmla="*/ 48 w 4078"/>
                <a:gd name="T85" fmla="*/ 6 h 13"/>
                <a:gd name="T86" fmla="*/ 49 w 4078"/>
                <a:gd name="T87" fmla="*/ 0 h 13"/>
                <a:gd name="T88" fmla="*/ 56 w 4078"/>
                <a:gd name="T89" fmla="*/ 5 h 13"/>
                <a:gd name="T90" fmla="*/ 56 w 4078"/>
                <a:gd name="T91" fmla="*/ 13 h 13"/>
                <a:gd name="T92" fmla="*/ 53 w 4078"/>
                <a:gd name="T93" fmla="*/ 6 h 13"/>
                <a:gd name="T94" fmla="*/ 53 w 4078"/>
                <a:gd name="T95" fmla="*/ 0 h 13"/>
                <a:gd name="T96" fmla="*/ 61 w 4078"/>
                <a:gd name="T97" fmla="*/ 5 h 13"/>
                <a:gd name="T98" fmla="*/ 61 w 4078"/>
                <a:gd name="T99" fmla="*/ 13 h 13"/>
                <a:gd name="T100" fmla="*/ 58 w 4078"/>
                <a:gd name="T101" fmla="*/ 6 h 13"/>
                <a:gd name="T102" fmla="*/ 58 w 4078"/>
                <a:gd name="T103" fmla="*/ 0 h 13"/>
                <a:gd name="T104" fmla="*/ 64 w 4078"/>
                <a:gd name="T105" fmla="*/ 5 h 13"/>
                <a:gd name="T106" fmla="*/ 64 w 4078"/>
                <a:gd name="T107" fmla="*/ 13 h 13"/>
                <a:gd name="T108" fmla="*/ 63 w 4078"/>
                <a:gd name="T109" fmla="*/ 6 h 13"/>
                <a:gd name="T110" fmla="*/ 63 w 4078"/>
                <a:gd name="T111" fmla="*/ 0 h 13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4078"/>
                <a:gd name="T169" fmla="*/ 0 h 13"/>
                <a:gd name="T170" fmla="*/ 4078 w 4078"/>
                <a:gd name="T171" fmla="*/ 13 h 13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4078" h="13">
                  <a:moveTo>
                    <a:pt x="11" y="0"/>
                  </a:moveTo>
                  <a:lnTo>
                    <a:pt x="191" y="0"/>
                  </a:lnTo>
                  <a:lnTo>
                    <a:pt x="194" y="0"/>
                  </a:lnTo>
                  <a:lnTo>
                    <a:pt x="196" y="0"/>
                  </a:lnTo>
                  <a:lnTo>
                    <a:pt x="200" y="2"/>
                  </a:lnTo>
                  <a:lnTo>
                    <a:pt x="202" y="4"/>
                  </a:lnTo>
                  <a:lnTo>
                    <a:pt x="204" y="5"/>
                  </a:lnTo>
                  <a:lnTo>
                    <a:pt x="204" y="6"/>
                  </a:lnTo>
                  <a:lnTo>
                    <a:pt x="204" y="8"/>
                  </a:lnTo>
                  <a:lnTo>
                    <a:pt x="202" y="9"/>
                  </a:lnTo>
                  <a:lnTo>
                    <a:pt x="200" y="11"/>
                  </a:lnTo>
                  <a:lnTo>
                    <a:pt x="196" y="13"/>
                  </a:lnTo>
                  <a:lnTo>
                    <a:pt x="194" y="13"/>
                  </a:lnTo>
                  <a:lnTo>
                    <a:pt x="191" y="13"/>
                  </a:lnTo>
                  <a:lnTo>
                    <a:pt x="11" y="13"/>
                  </a:lnTo>
                  <a:lnTo>
                    <a:pt x="9" y="13"/>
                  </a:lnTo>
                  <a:lnTo>
                    <a:pt x="8" y="13"/>
                  </a:lnTo>
                  <a:lnTo>
                    <a:pt x="4" y="11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4" y="2"/>
                  </a:lnTo>
                  <a:lnTo>
                    <a:pt x="8" y="0"/>
                  </a:lnTo>
                  <a:lnTo>
                    <a:pt x="9" y="0"/>
                  </a:lnTo>
                  <a:lnTo>
                    <a:pt x="11" y="0"/>
                  </a:lnTo>
                  <a:close/>
                  <a:moveTo>
                    <a:pt x="319" y="0"/>
                  </a:moveTo>
                  <a:lnTo>
                    <a:pt x="498" y="0"/>
                  </a:lnTo>
                  <a:lnTo>
                    <a:pt x="500" y="0"/>
                  </a:lnTo>
                  <a:lnTo>
                    <a:pt x="502" y="0"/>
                  </a:lnTo>
                  <a:lnTo>
                    <a:pt x="507" y="2"/>
                  </a:lnTo>
                  <a:lnTo>
                    <a:pt x="509" y="4"/>
                  </a:lnTo>
                  <a:lnTo>
                    <a:pt x="509" y="5"/>
                  </a:lnTo>
                  <a:lnTo>
                    <a:pt x="511" y="6"/>
                  </a:lnTo>
                  <a:lnTo>
                    <a:pt x="509" y="8"/>
                  </a:lnTo>
                  <a:lnTo>
                    <a:pt x="509" y="9"/>
                  </a:lnTo>
                  <a:lnTo>
                    <a:pt x="507" y="11"/>
                  </a:lnTo>
                  <a:lnTo>
                    <a:pt x="502" y="13"/>
                  </a:lnTo>
                  <a:lnTo>
                    <a:pt x="500" y="13"/>
                  </a:lnTo>
                  <a:lnTo>
                    <a:pt x="498" y="13"/>
                  </a:lnTo>
                  <a:lnTo>
                    <a:pt x="319" y="13"/>
                  </a:lnTo>
                  <a:lnTo>
                    <a:pt x="317" y="13"/>
                  </a:lnTo>
                  <a:lnTo>
                    <a:pt x="313" y="13"/>
                  </a:lnTo>
                  <a:lnTo>
                    <a:pt x="309" y="11"/>
                  </a:lnTo>
                  <a:lnTo>
                    <a:pt x="307" y="9"/>
                  </a:lnTo>
                  <a:lnTo>
                    <a:pt x="306" y="8"/>
                  </a:lnTo>
                  <a:lnTo>
                    <a:pt x="306" y="6"/>
                  </a:lnTo>
                  <a:lnTo>
                    <a:pt x="306" y="5"/>
                  </a:lnTo>
                  <a:lnTo>
                    <a:pt x="307" y="4"/>
                  </a:lnTo>
                  <a:lnTo>
                    <a:pt x="309" y="2"/>
                  </a:lnTo>
                  <a:lnTo>
                    <a:pt x="313" y="0"/>
                  </a:lnTo>
                  <a:lnTo>
                    <a:pt x="317" y="0"/>
                  </a:lnTo>
                  <a:lnTo>
                    <a:pt x="319" y="0"/>
                  </a:lnTo>
                  <a:close/>
                  <a:moveTo>
                    <a:pt x="626" y="0"/>
                  </a:moveTo>
                  <a:lnTo>
                    <a:pt x="804" y="0"/>
                  </a:lnTo>
                  <a:lnTo>
                    <a:pt x="807" y="0"/>
                  </a:lnTo>
                  <a:lnTo>
                    <a:pt x="809" y="0"/>
                  </a:lnTo>
                  <a:lnTo>
                    <a:pt x="813" y="2"/>
                  </a:lnTo>
                  <a:lnTo>
                    <a:pt x="817" y="4"/>
                  </a:lnTo>
                  <a:lnTo>
                    <a:pt x="817" y="5"/>
                  </a:lnTo>
                  <a:lnTo>
                    <a:pt x="817" y="6"/>
                  </a:lnTo>
                  <a:lnTo>
                    <a:pt x="817" y="8"/>
                  </a:lnTo>
                  <a:lnTo>
                    <a:pt x="817" y="9"/>
                  </a:lnTo>
                  <a:lnTo>
                    <a:pt x="813" y="11"/>
                  </a:lnTo>
                  <a:lnTo>
                    <a:pt x="809" y="13"/>
                  </a:lnTo>
                  <a:lnTo>
                    <a:pt x="807" y="13"/>
                  </a:lnTo>
                  <a:lnTo>
                    <a:pt x="804" y="13"/>
                  </a:lnTo>
                  <a:lnTo>
                    <a:pt x="626" y="13"/>
                  </a:lnTo>
                  <a:lnTo>
                    <a:pt x="622" y="13"/>
                  </a:lnTo>
                  <a:lnTo>
                    <a:pt x="621" y="13"/>
                  </a:lnTo>
                  <a:lnTo>
                    <a:pt x="617" y="11"/>
                  </a:lnTo>
                  <a:lnTo>
                    <a:pt x="613" y="9"/>
                  </a:lnTo>
                  <a:lnTo>
                    <a:pt x="613" y="8"/>
                  </a:lnTo>
                  <a:lnTo>
                    <a:pt x="613" y="6"/>
                  </a:lnTo>
                  <a:lnTo>
                    <a:pt x="613" y="5"/>
                  </a:lnTo>
                  <a:lnTo>
                    <a:pt x="613" y="4"/>
                  </a:lnTo>
                  <a:lnTo>
                    <a:pt x="617" y="2"/>
                  </a:lnTo>
                  <a:lnTo>
                    <a:pt x="621" y="0"/>
                  </a:lnTo>
                  <a:lnTo>
                    <a:pt x="622" y="0"/>
                  </a:lnTo>
                  <a:lnTo>
                    <a:pt x="626" y="0"/>
                  </a:lnTo>
                  <a:close/>
                  <a:moveTo>
                    <a:pt x="932" y="0"/>
                  </a:moveTo>
                  <a:lnTo>
                    <a:pt x="1111" y="0"/>
                  </a:lnTo>
                  <a:lnTo>
                    <a:pt x="1113" y="0"/>
                  </a:lnTo>
                  <a:lnTo>
                    <a:pt x="1117" y="0"/>
                  </a:lnTo>
                  <a:lnTo>
                    <a:pt x="1120" y="2"/>
                  </a:lnTo>
                  <a:lnTo>
                    <a:pt x="1122" y="4"/>
                  </a:lnTo>
                  <a:lnTo>
                    <a:pt x="1124" y="5"/>
                  </a:lnTo>
                  <a:lnTo>
                    <a:pt x="1124" y="6"/>
                  </a:lnTo>
                  <a:lnTo>
                    <a:pt x="1124" y="8"/>
                  </a:lnTo>
                  <a:lnTo>
                    <a:pt x="1122" y="9"/>
                  </a:lnTo>
                  <a:lnTo>
                    <a:pt x="1120" y="11"/>
                  </a:lnTo>
                  <a:lnTo>
                    <a:pt x="1117" y="13"/>
                  </a:lnTo>
                  <a:lnTo>
                    <a:pt x="1113" y="13"/>
                  </a:lnTo>
                  <a:lnTo>
                    <a:pt x="1111" y="13"/>
                  </a:lnTo>
                  <a:lnTo>
                    <a:pt x="932" y="13"/>
                  </a:lnTo>
                  <a:lnTo>
                    <a:pt x="930" y="13"/>
                  </a:lnTo>
                  <a:lnTo>
                    <a:pt x="926" y="13"/>
                  </a:lnTo>
                  <a:lnTo>
                    <a:pt x="922" y="11"/>
                  </a:lnTo>
                  <a:lnTo>
                    <a:pt x="920" y="9"/>
                  </a:lnTo>
                  <a:lnTo>
                    <a:pt x="919" y="8"/>
                  </a:lnTo>
                  <a:lnTo>
                    <a:pt x="919" y="6"/>
                  </a:lnTo>
                  <a:lnTo>
                    <a:pt x="919" y="5"/>
                  </a:lnTo>
                  <a:lnTo>
                    <a:pt x="920" y="4"/>
                  </a:lnTo>
                  <a:lnTo>
                    <a:pt x="922" y="2"/>
                  </a:lnTo>
                  <a:lnTo>
                    <a:pt x="926" y="0"/>
                  </a:lnTo>
                  <a:lnTo>
                    <a:pt x="930" y="0"/>
                  </a:lnTo>
                  <a:lnTo>
                    <a:pt x="932" y="0"/>
                  </a:lnTo>
                  <a:close/>
                  <a:moveTo>
                    <a:pt x="1239" y="0"/>
                  </a:moveTo>
                  <a:lnTo>
                    <a:pt x="1417" y="0"/>
                  </a:lnTo>
                  <a:lnTo>
                    <a:pt x="1420" y="0"/>
                  </a:lnTo>
                  <a:lnTo>
                    <a:pt x="1422" y="0"/>
                  </a:lnTo>
                  <a:lnTo>
                    <a:pt x="1426" y="2"/>
                  </a:lnTo>
                  <a:lnTo>
                    <a:pt x="1430" y="4"/>
                  </a:lnTo>
                  <a:lnTo>
                    <a:pt x="1430" y="5"/>
                  </a:lnTo>
                  <a:lnTo>
                    <a:pt x="1430" y="6"/>
                  </a:lnTo>
                  <a:lnTo>
                    <a:pt x="1430" y="8"/>
                  </a:lnTo>
                  <a:lnTo>
                    <a:pt x="1430" y="9"/>
                  </a:lnTo>
                  <a:lnTo>
                    <a:pt x="1426" y="11"/>
                  </a:lnTo>
                  <a:lnTo>
                    <a:pt x="1422" y="13"/>
                  </a:lnTo>
                  <a:lnTo>
                    <a:pt x="1420" y="13"/>
                  </a:lnTo>
                  <a:lnTo>
                    <a:pt x="1417" y="13"/>
                  </a:lnTo>
                  <a:lnTo>
                    <a:pt x="1239" y="13"/>
                  </a:lnTo>
                  <a:lnTo>
                    <a:pt x="1235" y="13"/>
                  </a:lnTo>
                  <a:lnTo>
                    <a:pt x="1234" y="13"/>
                  </a:lnTo>
                  <a:lnTo>
                    <a:pt x="1230" y="11"/>
                  </a:lnTo>
                  <a:lnTo>
                    <a:pt x="1226" y="9"/>
                  </a:lnTo>
                  <a:lnTo>
                    <a:pt x="1226" y="8"/>
                  </a:lnTo>
                  <a:lnTo>
                    <a:pt x="1226" y="6"/>
                  </a:lnTo>
                  <a:lnTo>
                    <a:pt x="1226" y="5"/>
                  </a:lnTo>
                  <a:lnTo>
                    <a:pt x="1226" y="4"/>
                  </a:lnTo>
                  <a:lnTo>
                    <a:pt x="1230" y="2"/>
                  </a:lnTo>
                  <a:lnTo>
                    <a:pt x="1234" y="0"/>
                  </a:lnTo>
                  <a:lnTo>
                    <a:pt x="1235" y="0"/>
                  </a:lnTo>
                  <a:lnTo>
                    <a:pt x="1239" y="0"/>
                  </a:lnTo>
                  <a:close/>
                  <a:moveTo>
                    <a:pt x="1545" y="0"/>
                  </a:moveTo>
                  <a:lnTo>
                    <a:pt x="1724" y="0"/>
                  </a:lnTo>
                  <a:lnTo>
                    <a:pt x="1726" y="0"/>
                  </a:lnTo>
                  <a:lnTo>
                    <a:pt x="1730" y="0"/>
                  </a:lnTo>
                  <a:lnTo>
                    <a:pt x="1733" y="2"/>
                  </a:lnTo>
                  <a:lnTo>
                    <a:pt x="1735" y="4"/>
                  </a:lnTo>
                  <a:lnTo>
                    <a:pt x="1737" y="5"/>
                  </a:lnTo>
                  <a:lnTo>
                    <a:pt x="1737" y="6"/>
                  </a:lnTo>
                  <a:lnTo>
                    <a:pt x="1737" y="8"/>
                  </a:lnTo>
                  <a:lnTo>
                    <a:pt x="1735" y="9"/>
                  </a:lnTo>
                  <a:lnTo>
                    <a:pt x="1733" y="11"/>
                  </a:lnTo>
                  <a:lnTo>
                    <a:pt x="1730" y="13"/>
                  </a:lnTo>
                  <a:lnTo>
                    <a:pt x="1726" y="13"/>
                  </a:lnTo>
                  <a:lnTo>
                    <a:pt x="1724" y="13"/>
                  </a:lnTo>
                  <a:lnTo>
                    <a:pt x="1545" y="13"/>
                  </a:lnTo>
                  <a:lnTo>
                    <a:pt x="1543" y="13"/>
                  </a:lnTo>
                  <a:lnTo>
                    <a:pt x="1541" y="13"/>
                  </a:lnTo>
                  <a:lnTo>
                    <a:pt x="1535" y="11"/>
                  </a:lnTo>
                  <a:lnTo>
                    <a:pt x="1533" y="9"/>
                  </a:lnTo>
                  <a:lnTo>
                    <a:pt x="1533" y="8"/>
                  </a:lnTo>
                  <a:lnTo>
                    <a:pt x="1532" y="6"/>
                  </a:lnTo>
                  <a:lnTo>
                    <a:pt x="1533" y="5"/>
                  </a:lnTo>
                  <a:lnTo>
                    <a:pt x="1533" y="4"/>
                  </a:lnTo>
                  <a:lnTo>
                    <a:pt x="1535" y="2"/>
                  </a:lnTo>
                  <a:lnTo>
                    <a:pt x="1541" y="0"/>
                  </a:lnTo>
                  <a:lnTo>
                    <a:pt x="1543" y="0"/>
                  </a:lnTo>
                  <a:lnTo>
                    <a:pt x="1545" y="0"/>
                  </a:lnTo>
                  <a:close/>
                  <a:moveTo>
                    <a:pt x="1852" y="0"/>
                  </a:moveTo>
                  <a:lnTo>
                    <a:pt x="2031" y="0"/>
                  </a:lnTo>
                  <a:lnTo>
                    <a:pt x="2033" y="0"/>
                  </a:lnTo>
                  <a:lnTo>
                    <a:pt x="2035" y="0"/>
                  </a:lnTo>
                  <a:lnTo>
                    <a:pt x="2039" y="2"/>
                  </a:lnTo>
                  <a:lnTo>
                    <a:pt x="2043" y="4"/>
                  </a:lnTo>
                  <a:lnTo>
                    <a:pt x="2043" y="5"/>
                  </a:lnTo>
                  <a:lnTo>
                    <a:pt x="2043" y="6"/>
                  </a:lnTo>
                  <a:lnTo>
                    <a:pt x="2043" y="8"/>
                  </a:lnTo>
                  <a:lnTo>
                    <a:pt x="2043" y="9"/>
                  </a:lnTo>
                  <a:lnTo>
                    <a:pt x="2039" y="11"/>
                  </a:lnTo>
                  <a:lnTo>
                    <a:pt x="2035" y="13"/>
                  </a:lnTo>
                  <a:lnTo>
                    <a:pt x="2033" y="13"/>
                  </a:lnTo>
                  <a:lnTo>
                    <a:pt x="2031" y="13"/>
                  </a:lnTo>
                  <a:lnTo>
                    <a:pt x="1852" y="13"/>
                  </a:lnTo>
                  <a:lnTo>
                    <a:pt x="1848" y="13"/>
                  </a:lnTo>
                  <a:lnTo>
                    <a:pt x="1847" y="13"/>
                  </a:lnTo>
                  <a:lnTo>
                    <a:pt x="1843" y="11"/>
                  </a:lnTo>
                  <a:lnTo>
                    <a:pt x="1839" y="9"/>
                  </a:lnTo>
                  <a:lnTo>
                    <a:pt x="1839" y="8"/>
                  </a:lnTo>
                  <a:lnTo>
                    <a:pt x="1839" y="6"/>
                  </a:lnTo>
                  <a:lnTo>
                    <a:pt x="1839" y="5"/>
                  </a:lnTo>
                  <a:lnTo>
                    <a:pt x="1839" y="4"/>
                  </a:lnTo>
                  <a:lnTo>
                    <a:pt x="1843" y="2"/>
                  </a:lnTo>
                  <a:lnTo>
                    <a:pt x="1847" y="0"/>
                  </a:lnTo>
                  <a:lnTo>
                    <a:pt x="1848" y="0"/>
                  </a:lnTo>
                  <a:lnTo>
                    <a:pt x="1852" y="0"/>
                  </a:lnTo>
                  <a:close/>
                  <a:moveTo>
                    <a:pt x="2158" y="0"/>
                  </a:moveTo>
                  <a:lnTo>
                    <a:pt x="2337" y="0"/>
                  </a:lnTo>
                  <a:lnTo>
                    <a:pt x="2341" y="0"/>
                  </a:lnTo>
                  <a:lnTo>
                    <a:pt x="2343" y="0"/>
                  </a:lnTo>
                  <a:lnTo>
                    <a:pt x="2346" y="2"/>
                  </a:lnTo>
                  <a:lnTo>
                    <a:pt x="2348" y="4"/>
                  </a:lnTo>
                  <a:lnTo>
                    <a:pt x="2350" y="5"/>
                  </a:lnTo>
                  <a:lnTo>
                    <a:pt x="2350" y="6"/>
                  </a:lnTo>
                  <a:lnTo>
                    <a:pt x="2350" y="8"/>
                  </a:lnTo>
                  <a:lnTo>
                    <a:pt x="2348" y="9"/>
                  </a:lnTo>
                  <a:lnTo>
                    <a:pt x="2346" y="11"/>
                  </a:lnTo>
                  <a:lnTo>
                    <a:pt x="2343" y="13"/>
                  </a:lnTo>
                  <a:lnTo>
                    <a:pt x="2341" y="13"/>
                  </a:lnTo>
                  <a:lnTo>
                    <a:pt x="2337" y="13"/>
                  </a:lnTo>
                  <a:lnTo>
                    <a:pt x="2158" y="13"/>
                  </a:lnTo>
                  <a:lnTo>
                    <a:pt x="2156" y="13"/>
                  </a:lnTo>
                  <a:lnTo>
                    <a:pt x="2154" y="13"/>
                  </a:lnTo>
                  <a:lnTo>
                    <a:pt x="2148" y="11"/>
                  </a:lnTo>
                  <a:lnTo>
                    <a:pt x="2146" y="9"/>
                  </a:lnTo>
                  <a:lnTo>
                    <a:pt x="2146" y="8"/>
                  </a:lnTo>
                  <a:lnTo>
                    <a:pt x="2146" y="6"/>
                  </a:lnTo>
                  <a:lnTo>
                    <a:pt x="2146" y="5"/>
                  </a:lnTo>
                  <a:lnTo>
                    <a:pt x="2146" y="4"/>
                  </a:lnTo>
                  <a:lnTo>
                    <a:pt x="2148" y="2"/>
                  </a:lnTo>
                  <a:lnTo>
                    <a:pt x="2154" y="0"/>
                  </a:lnTo>
                  <a:lnTo>
                    <a:pt x="2156" y="0"/>
                  </a:lnTo>
                  <a:lnTo>
                    <a:pt x="2158" y="0"/>
                  </a:lnTo>
                  <a:close/>
                  <a:moveTo>
                    <a:pt x="2465" y="0"/>
                  </a:moveTo>
                  <a:lnTo>
                    <a:pt x="2644" y="0"/>
                  </a:lnTo>
                  <a:lnTo>
                    <a:pt x="2646" y="0"/>
                  </a:lnTo>
                  <a:lnTo>
                    <a:pt x="2648" y="0"/>
                  </a:lnTo>
                  <a:lnTo>
                    <a:pt x="2652" y="2"/>
                  </a:lnTo>
                  <a:lnTo>
                    <a:pt x="2656" y="4"/>
                  </a:lnTo>
                  <a:lnTo>
                    <a:pt x="2656" y="5"/>
                  </a:lnTo>
                  <a:lnTo>
                    <a:pt x="2656" y="6"/>
                  </a:lnTo>
                  <a:lnTo>
                    <a:pt x="2656" y="8"/>
                  </a:lnTo>
                  <a:lnTo>
                    <a:pt x="2656" y="9"/>
                  </a:lnTo>
                  <a:lnTo>
                    <a:pt x="2652" y="11"/>
                  </a:lnTo>
                  <a:lnTo>
                    <a:pt x="2648" y="13"/>
                  </a:lnTo>
                  <a:lnTo>
                    <a:pt x="2646" y="13"/>
                  </a:lnTo>
                  <a:lnTo>
                    <a:pt x="2644" y="13"/>
                  </a:lnTo>
                  <a:lnTo>
                    <a:pt x="2465" y="13"/>
                  </a:lnTo>
                  <a:lnTo>
                    <a:pt x="2463" y="13"/>
                  </a:lnTo>
                  <a:lnTo>
                    <a:pt x="2460" y="13"/>
                  </a:lnTo>
                  <a:lnTo>
                    <a:pt x="2456" y="11"/>
                  </a:lnTo>
                  <a:lnTo>
                    <a:pt x="2454" y="9"/>
                  </a:lnTo>
                  <a:lnTo>
                    <a:pt x="2452" y="8"/>
                  </a:lnTo>
                  <a:lnTo>
                    <a:pt x="2452" y="6"/>
                  </a:lnTo>
                  <a:lnTo>
                    <a:pt x="2452" y="5"/>
                  </a:lnTo>
                  <a:lnTo>
                    <a:pt x="2454" y="4"/>
                  </a:lnTo>
                  <a:lnTo>
                    <a:pt x="2456" y="2"/>
                  </a:lnTo>
                  <a:lnTo>
                    <a:pt x="2460" y="0"/>
                  </a:lnTo>
                  <a:lnTo>
                    <a:pt x="2463" y="0"/>
                  </a:lnTo>
                  <a:lnTo>
                    <a:pt x="2465" y="0"/>
                  </a:lnTo>
                  <a:close/>
                  <a:moveTo>
                    <a:pt x="2771" y="0"/>
                  </a:moveTo>
                  <a:lnTo>
                    <a:pt x="2950" y="0"/>
                  </a:lnTo>
                  <a:lnTo>
                    <a:pt x="2954" y="0"/>
                  </a:lnTo>
                  <a:lnTo>
                    <a:pt x="2956" y="0"/>
                  </a:lnTo>
                  <a:lnTo>
                    <a:pt x="2959" y="2"/>
                  </a:lnTo>
                  <a:lnTo>
                    <a:pt x="2961" y="4"/>
                  </a:lnTo>
                  <a:lnTo>
                    <a:pt x="2963" y="5"/>
                  </a:lnTo>
                  <a:lnTo>
                    <a:pt x="2963" y="6"/>
                  </a:lnTo>
                  <a:lnTo>
                    <a:pt x="2963" y="8"/>
                  </a:lnTo>
                  <a:lnTo>
                    <a:pt x="2961" y="9"/>
                  </a:lnTo>
                  <a:lnTo>
                    <a:pt x="2959" y="11"/>
                  </a:lnTo>
                  <a:lnTo>
                    <a:pt x="2956" y="13"/>
                  </a:lnTo>
                  <a:lnTo>
                    <a:pt x="2954" y="13"/>
                  </a:lnTo>
                  <a:lnTo>
                    <a:pt x="2950" y="13"/>
                  </a:lnTo>
                  <a:lnTo>
                    <a:pt x="2771" y="13"/>
                  </a:lnTo>
                  <a:lnTo>
                    <a:pt x="2769" y="13"/>
                  </a:lnTo>
                  <a:lnTo>
                    <a:pt x="2767" y="13"/>
                  </a:lnTo>
                  <a:lnTo>
                    <a:pt x="2763" y="11"/>
                  </a:lnTo>
                  <a:lnTo>
                    <a:pt x="2759" y="9"/>
                  </a:lnTo>
                  <a:lnTo>
                    <a:pt x="2759" y="8"/>
                  </a:lnTo>
                  <a:lnTo>
                    <a:pt x="2759" y="6"/>
                  </a:lnTo>
                  <a:lnTo>
                    <a:pt x="2759" y="5"/>
                  </a:lnTo>
                  <a:lnTo>
                    <a:pt x="2759" y="4"/>
                  </a:lnTo>
                  <a:lnTo>
                    <a:pt x="2763" y="2"/>
                  </a:lnTo>
                  <a:lnTo>
                    <a:pt x="2767" y="0"/>
                  </a:lnTo>
                  <a:lnTo>
                    <a:pt x="2769" y="0"/>
                  </a:lnTo>
                  <a:lnTo>
                    <a:pt x="2771" y="0"/>
                  </a:lnTo>
                  <a:close/>
                  <a:moveTo>
                    <a:pt x="3078" y="0"/>
                  </a:moveTo>
                  <a:lnTo>
                    <a:pt x="3257" y="0"/>
                  </a:lnTo>
                  <a:lnTo>
                    <a:pt x="3259" y="0"/>
                  </a:lnTo>
                  <a:lnTo>
                    <a:pt x="3261" y="0"/>
                  </a:lnTo>
                  <a:lnTo>
                    <a:pt x="3267" y="2"/>
                  </a:lnTo>
                  <a:lnTo>
                    <a:pt x="3269" y="4"/>
                  </a:lnTo>
                  <a:lnTo>
                    <a:pt x="3269" y="5"/>
                  </a:lnTo>
                  <a:lnTo>
                    <a:pt x="3271" y="6"/>
                  </a:lnTo>
                  <a:lnTo>
                    <a:pt x="3269" y="8"/>
                  </a:lnTo>
                  <a:lnTo>
                    <a:pt x="3269" y="9"/>
                  </a:lnTo>
                  <a:lnTo>
                    <a:pt x="3267" y="11"/>
                  </a:lnTo>
                  <a:lnTo>
                    <a:pt x="3261" y="13"/>
                  </a:lnTo>
                  <a:lnTo>
                    <a:pt x="3259" y="13"/>
                  </a:lnTo>
                  <a:lnTo>
                    <a:pt x="3257" y="13"/>
                  </a:lnTo>
                  <a:lnTo>
                    <a:pt x="3078" y="13"/>
                  </a:lnTo>
                  <a:lnTo>
                    <a:pt x="3076" y="13"/>
                  </a:lnTo>
                  <a:lnTo>
                    <a:pt x="3073" y="13"/>
                  </a:lnTo>
                  <a:lnTo>
                    <a:pt x="3069" y="11"/>
                  </a:lnTo>
                  <a:lnTo>
                    <a:pt x="3067" y="9"/>
                  </a:lnTo>
                  <a:lnTo>
                    <a:pt x="3065" y="8"/>
                  </a:lnTo>
                  <a:lnTo>
                    <a:pt x="3065" y="6"/>
                  </a:lnTo>
                  <a:lnTo>
                    <a:pt x="3065" y="5"/>
                  </a:lnTo>
                  <a:lnTo>
                    <a:pt x="3067" y="4"/>
                  </a:lnTo>
                  <a:lnTo>
                    <a:pt x="3069" y="2"/>
                  </a:lnTo>
                  <a:lnTo>
                    <a:pt x="3073" y="0"/>
                  </a:lnTo>
                  <a:lnTo>
                    <a:pt x="3076" y="0"/>
                  </a:lnTo>
                  <a:lnTo>
                    <a:pt x="3078" y="0"/>
                  </a:lnTo>
                  <a:close/>
                  <a:moveTo>
                    <a:pt x="3386" y="0"/>
                  </a:moveTo>
                  <a:lnTo>
                    <a:pt x="3563" y="0"/>
                  </a:lnTo>
                  <a:lnTo>
                    <a:pt x="3567" y="0"/>
                  </a:lnTo>
                  <a:lnTo>
                    <a:pt x="3569" y="0"/>
                  </a:lnTo>
                  <a:lnTo>
                    <a:pt x="3572" y="2"/>
                  </a:lnTo>
                  <a:lnTo>
                    <a:pt x="3576" y="4"/>
                  </a:lnTo>
                  <a:lnTo>
                    <a:pt x="3576" y="5"/>
                  </a:lnTo>
                  <a:lnTo>
                    <a:pt x="3576" y="6"/>
                  </a:lnTo>
                  <a:lnTo>
                    <a:pt x="3576" y="8"/>
                  </a:lnTo>
                  <a:lnTo>
                    <a:pt x="3576" y="9"/>
                  </a:lnTo>
                  <a:lnTo>
                    <a:pt x="3572" y="11"/>
                  </a:lnTo>
                  <a:lnTo>
                    <a:pt x="3569" y="13"/>
                  </a:lnTo>
                  <a:lnTo>
                    <a:pt x="3567" y="13"/>
                  </a:lnTo>
                  <a:lnTo>
                    <a:pt x="3563" y="13"/>
                  </a:lnTo>
                  <a:lnTo>
                    <a:pt x="3386" y="13"/>
                  </a:lnTo>
                  <a:lnTo>
                    <a:pt x="3382" y="13"/>
                  </a:lnTo>
                  <a:lnTo>
                    <a:pt x="3380" y="13"/>
                  </a:lnTo>
                  <a:lnTo>
                    <a:pt x="3376" y="11"/>
                  </a:lnTo>
                  <a:lnTo>
                    <a:pt x="3373" y="9"/>
                  </a:lnTo>
                  <a:lnTo>
                    <a:pt x="3373" y="8"/>
                  </a:lnTo>
                  <a:lnTo>
                    <a:pt x="3373" y="6"/>
                  </a:lnTo>
                  <a:lnTo>
                    <a:pt x="3373" y="5"/>
                  </a:lnTo>
                  <a:lnTo>
                    <a:pt x="3373" y="4"/>
                  </a:lnTo>
                  <a:lnTo>
                    <a:pt x="3376" y="2"/>
                  </a:lnTo>
                  <a:lnTo>
                    <a:pt x="3380" y="0"/>
                  </a:lnTo>
                  <a:lnTo>
                    <a:pt x="3382" y="0"/>
                  </a:lnTo>
                  <a:lnTo>
                    <a:pt x="3386" y="0"/>
                  </a:lnTo>
                  <a:close/>
                  <a:moveTo>
                    <a:pt x="3691" y="0"/>
                  </a:moveTo>
                  <a:lnTo>
                    <a:pt x="3870" y="0"/>
                  </a:lnTo>
                  <a:lnTo>
                    <a:pt x="3872" y="0"/>
                  </a:lnTo>
                  <a:lnTo>
                    <a:pt x="3876" y="0"/>
                  </a:lnTo>
                  <a:lnTo>
                    <a:pt x="3880" y="2"/>
                  </a:lnTo>
                  <a:lnTo>
                    <a:pt x="3882" y="4"/>
                  </a:lnTo>
                  <a:lnTo>
                    <a:pt x="3884" y="5"/>
                  </a:lnTo>
                  <a:lnTo>
                    <a:pt x="3884" y="6"/>
                  </a:lnTo>
                  <a:lnTo>
                    <a:pt x="3884" y="8"/>
                  </a:lnTo>
                  <a:lnTo>
                    <a:pt x="3882" y="9"/>
                  </a:lnTo>
                  <a:lnTo>
                    <a:pt x="3880" y="11"/>
                  </a:lnTo>
                  <a:lnTo>
                    <a:pt x="3876" y="13"/>
                  </a:lnTo>
                  <a:lnTo>
                    <a:pt x="3872" y="13"/>
                  </a:lnTo>
                  <a:lnTo>
                    <a:pt x="3870" y="13"/>
                  </a:lnTo>
                  <a:lnTo>
                    <a:pt x="3691" y="13"/>
                  </a:lnTo>
                  <a:lnTo>
                    <a:pt x="3689" y="13"/>
                  </a:lnTo>
                  <a:lnTo>
                    <a:pt x="3686" y="13"/>
                  </a:lnTo>
                  <a:lnTo>
                    <a:pt x="3682" y="11"/>
                  </a:lnTo>
                  <a:lnTo>
                    <a:pt x="3680" y="9"/>
                  </a:lnTo>
                  <a:lnTo>
                    <a:pt x="3678" y="8"/>
                  </a:lnTo>
                  <a:lnTo>
                    <a:pt x="3678" y="6"/>
                  </a:lnTo>
                  <a:lnTo>
                    <a:pt x="3678" y="5"/>
                  </a:lnTo>
                  <a:lnTo>
                    <a:pt x="3680" y="4"/>
                  </a:lnTo>
                  <a:lnTo>
                    <a:pt x="3682" y="2"/>
                  </a:lnTo>
                  <a:lnTo>
                    <a:pt x="3686" y="0"/>
                  </a:lnTo>
                  <a:lnTo>
                    <a:pt x="3689" y="0"/>
                  </a:lnTo>
                  <a:lnTo>
                    <a:pt x="3691" y="0"/>
                  </a:lnTo>
                  <a:close/>
                  <a:moveTo>
                    <a:pt x="3999" y="0"/>
                  </a:moveTo>
                  <a:lnTo>
                    <a:pt x="4065" y="0"/>
                  </a:lnTo>
                  <a:lnTo>
                    <a:pt x="4067" y="0"/>
                  </a:lnTo>
                  <a:lnTo>
                    <a:pt x="4068" y="0"/>
                  </a:lnTo>
                  <a:lnTo>
                    <a:pt x="4074" y="2"/>
                  </a:lnTo>
                  <a:lnTo>
                    <a:pt x="4076" y="4"/>
                  </a:lnTo>
                  <a:lnTo>
                    <a:pt x="4078" y="5"/>
                  </a:lnTo>
                  <a:lnTo>
                    <a:pt x="4078" y="6"/>
                  </a:lnTo>
                  <a:lnTo>
                    <a:pt x="4078" y="8"/>
                  </a:lnTo>
                  <a:lnTo>
                    <a:pt x="4076" y="9"/>
                  </a:lnTo>
                  <a:lnTo>
                    <a:pt x="4074" y="11"/>
                  </a:lnTo>
                  <a:lnTo>
                    <a:pt x="4068" y="13"/>
                  </a:lnTo>
                  <a:lnTo>
                    <a:pt x="4067" y="13"/>
                  </a:lnTo>
                  <a:lnTo>
                    <a:pt x="4065" y="13"/>
                  </a:lnTo>
                  <a:lnTo>
                    <a:pt x="3999" y="13"/>
                  </a:lnTo>
                  <a:lnTo>
                    <a:pt x="3995" y="13"/>
                  </a:lnTo>
                  <a:lnTo>
                    <a:pt x="3993" y="13"/>
                  </a:lnTo>
                  <a:lnTo>
                    <a:pt x="3989" y="11"/>
                  </a:lnTo>
                  <a:lnTo>
                    <a:pt x="3986" y="9"/>
                  </a:lnTo>
                  <a:lnTo>
                    <a:pt x="3986" y="8"/>
                  </a:lnTo>
                  <a:lnTo>
                    <a:pt x="3986" y="6"/>
                  </a:lnTo>
                  <a:lnTo>
                    <a:pt x="3986" y="5"/>
                  </a:lnTo>
                  <a:lnTo>
                    <a:pt x="3986" y="4"/>
                  </a:lnTo>
                  <a:lnTo>
                    <a:pt x="3989" y="2"/>
                  </a:lnTo>
                  <a:lnTo>
                    <a:pt x="3993" y="0"/>
                  </a:lnTo>
                  <a:lnTo>
                    <a:pt x="3995" y="0"/>
                  </a:lnTo>
                  <a:lnTo>
                    <a:pt x="3999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73" name="Rectangle 58"/>
            <p:cNvSpPr>
              <a:spLocks noChangeArrowheads="1"/>
            </p:cNvSpPr>
            <p:nvPr/>
          </p:nvSpPr>
          <p:spPr bwMode="auto">
            <a:xfrm>
              <a:off x="4005" y="2884"/>
              <a:ext cx="59" cy="11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/>
            </a:p>
          </p:txBody>
        </p:sp>
        <p:sp>
          <p:nvSpPr>
            <p:cNvPr id="77874" name="Rectangle 59"/>
            <p:cNvSpPr>
              <a:spLocks noChangeArrowheads="1"/>
            </p:cNvSpPr>
            <p:nvPr/>
          </p:nvSpPr>
          <p:spPr bwMode="auto">
            <a:xfrm>
              <a:off x="3793" y="3128"/>
              <a:ext cx="194" cy="17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/2</a:t>
              </a:r>
              <a:endParaRPr lang="en-US" altLang="zh-CN" sz="2000"/>
            </a:p>
          </p:txBody>
        </p:sp>
        <p:sp>
          <p:nvSpPr>
            <p:cNvPr id="77875" name="Rectangle 60"/>
            <p:cNvSpPr>
              <a:spLocks noChangeArrowheads="1"/>
            </p:cNvSpPr>
            <p:nvPr/>
          </p:nvSpPr>
          <p:spPr bwMode="auto">
            <a:xfrm>
              <a:off x="3521" y="3264"/>
              <a:ext cx="83" cy="17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</a:p>
          </p:txBody>
        </p:sp>
        <p:sp>
          <p:nvSpPr>
            <p:cNvPr id="77876" name="Freeform 61"/>
            <p:cNvSpPr>
              <a:spLocks noEditPoints="1"/>
            </p:cNvSpPr>
            <p:nvPr/>
          </p:nvSpPr>
          <p:spPr bwMode="auto">
            <a:xfrm>
              <a:off x="3474" y="3591"/>
              <a:ext cx="1980" cy="8"/>
            </a:xfrm>
            <a:custGeom>
              <a:avLst/>
              <a:gdLst>
                <a:gd name="T0" fmla="*/ 1 w 3961"/>
                <a:gd name="T1" fmla="*/ 5 h 8"/>
                <a:gd name="T2" fmla="*/ 0 w 3961"/>
                <a:gd name="T3" fmla="*/ 5 h 8"/>
                <a:gd name="T4" fmla="*/ 3 w 3961"/>
                <a:gd name="T5" fmla="*/ 0 h 8"/>
                <a:gd name="T6" fmla="*/ 4 w 3961"/>
                <a:gd name="T7" fmla="*/ 6 h 8"/>
                <a:gd name="T8" fmla="*/ 2 w 3961"/>
                <a:gd name="T9" fmla="*/ 4 h 8"/>
                <a:gd name="T10" fmla="*/ 7 w 3961"/>
                <a:gd name="T11" fmla="*/ 0 h 8"/>
                <a:gd name="T12" fmla="*/ 7 w 3961"/>
                <a:gd name="T13" fmla="*/ 7 h 8"/>
                <a:gd name="T14" fmla="*/ 5 w 3961"/>
                <a:gd name="T15" fmla="*/ 2 h 8"/>
                <a:gd name="T16" fmla="*/ 10 w 3961"/>
                <a:gd name="T17" fmla="*/ 0 h 8"/>
                <a:gd name="T18" fmla="*/ 10 w 3961"/>
                <a:gd name="T19" fmla="*/ 8 h 8"/>
                <a:gd name="T20" fmla="*/ 8 w 3961"/>
                <a:gd name="T21" fmla="*/ 1 h 8"/>
                <a:gd name="T22" fmla="*/ 13 w 3961"/>
                <a:gd name="T23" fmla="*/ 1 h 8"/>
                <a:gd name="T24" fmla="*/ 11 w 3961"/>
                <a:gd name="T25" fmla="*/ 8 h 8"/>
                <a:gd name="T26" fmla="*/ 11 w 3961"/>
                <a:gd name="T27" fmla="*/ 0 h 8"/>
                <a:gd name="T28" fmla="*/ 16 w 3961"/>
                <a:gd name="T29" fmla="*/ 2 h 8"/>
                <a:gd name="T30" fmla="*/ 14 w 3961"/>
                <a:gd name="T31" fmla="*/ 7 h 8"/>
                <a:gd name="T32" fmla="*/ 14 w 3961"/>
                <a:gd name="T33" fmla="*/ 0 h 8"/>
                <a:gd name="T34" fmla="*/ 19 w 3961"/>
                <a:gd name="T35" fmla="*/ 4 h 8"/>
                <a:gd name="T36" fmla="*/ 17 w 3961"/>
                <a:gd name="T37" fmla="*/ 6 h 8"/>
                <a:gd name="T38" fmla="*/ 17 w 3961"/>
                <a:gd name="T39" fmla="*/ 0 h 8"/>
                <a:gd name="T40" fmla="*/ 22 w 3961"/>
                <a:gd name="T41" fmla="*/ 5 h 8"/>
                <a:gd name="T42" fmla="*/ 20 w 3961"/>
                <a:gd name="T43" fmla="*/ 5 h 8"/>
                <a:gd name="T44" fmla="*/ 23 w 3961"/>
                <a:gd name="T45" fmla="*/ 0 h 8"/>
                <a:gd name="T46" fmla="*/ 24 w 3961"/>
                <a:gd name="T47" fmla="*/ 6 h 8"/>
                <a:gd name="T48" fmla="*/ 23 w 3961"/>
                <a:gd name="T49" fmla="*/ 4 h 8"/>
                <a:gd name="T50" fmla="*/ 27 w 3961"/>
                <a:gd name="T51" fmla="*/ 0 h 8"/>
                <a:gd name="T52" fmla="*/ 27 w 3961"/>
                <a:gd name="T53" fmla="*/ 7 h 8"/>
                <a:gd name="T54" fmla="*/ 25 w 3961"/>
                <a:gd name="T55" fmla="*/ 2 h 8"/>
                <a:gd name="T56" fmla="*/ 30 w 3961"/>
                <a:gd name="T57" fmla="*/ 0 h 8"/>
                <a:gd name="T58" fmla="*/ 30 w 3961"/>
                <a:gd name="T59" fmla="*/ 8 h 8"/>
                <a:gd name="T60" fmla="*/ 28 w 3961"/>
                <a:gd name="T61" fmla="*/ 1 h 8"/>
                <a:gd name="T62" fmla="*/ 33 w 3961"/>
                <a:gd name="T63" fmla="*/ 1 h 8"/>
                <a:gd name="T64" fmla="*/ 31 w 3961"/>
                <a:gd name="T65" fmla="*/ 8 h 8"/>
                <a:gd name="T66" fmla="*/ 31 w 3961"/>
                <a:gd name="T67" fmla="*/ 0 h 8"/>
                <a:gd name="T68" fmla="*/ 36 w 3961"/>
                <a:gd name="T69" fmla="*/ 2 h 8"/>
                <a:gd name="T70" fmla="*/ 34 w 3961"/>
                <a:gd name="T71" fmla="*/ 7 h 8"/>
                <a:gd name="T72" fmla="*/ 34 w 3961"/>
                <a:gd name="T73" fmla="*/ 0 h 8"/>
                <a:gd name="T74" fmla="*/ 39 w 3961"/>
                <a:gd name="T75" fmla="*/ 4 h 8"/>
                <a:gd name="T76" fmla="*/ 37 w 3961"/>
                <a:gd name="T77" fmla="*/ 6 h 8"/>
                <a:gd name="T78" fmla="*/ 37 w 3961"/>
                <a:gd name="T79" fmla="*/ 0 h 8"/>
                <a:gd name="T80" fmla="*/ 42 w 3961"/>
                <a:gd name="T81" fmla="*/ 5 h 8"/>
                <a:gd name="T82" fmla="*/ 40 w 3961"/>
                <a:gd name="T83" fmla="*/ 5 h 8"/>
                <a:gd name="T84" fmla="*/ 43 w 3961"/>
                <a:gd name="T85" fmla="*/ 0 h 8"/>
                <a:gd name="T86" fmla="*/ 45 w 3961"/>
                <a:gd name="T87" fmla="*/ 6 h 8"/>
                <a:gd name="T88" fmla="*/ 43 w 3961"/>
                <a:gd name="T89" fmla="*/ 4 h 8"/>
                <a:gd name="T90" fmla="*/ 47 w 3961"/>
                <a:gd name="T91" fmla="*/ 0 h 8"/>
                <a:gd name="T92" fmla="*/ 47 w 3961"/>
                <a:gd name="T93" fmla="*/ 7 h 8"/>
                <a:gd name="T94" fmla="*/ 46 w 3961"/>
                <a:gd name="T95" fmla="*/ 2 h 8"/>
                <a:gd name="T96" fmla="*/ 50 w 3961"/>
                <a:gd name="T97" fmla="*/ 0 h 8"/>
                <a:gd name="T98" fmla="*/ 50 w 3961"/>
                <a:gd name="T99" fmla="*/ 8 h 8"/>
                <a:gd name="T100" fmla="*/ 48 w 3961"/>
                <a:gd name="T101" fmla="*/ 1 h 8"/>
                <a:gd name="T102" fmla="*/ 53 w 3961"/>
                <a:gd name="T103" fmla="*/ 1 h 8"/>
                <a:gd name="T104" fmla="*/ 51 w 3961"/>
                <a:gd name="T105" fmla="*/ 8 h 8"/>
                <a:gd name="T106" fmla="*/ 51 w 3961"/>
                <a:gd name="T107" fmla="*/ 0 h 8"/>
                <a:gd name="T108" fmla="*/ 56 w 3961"/>
                <a:gd name="T109" fmla="*/ 2 h 8"/>
                <a:gd name="T110" fmla="*/ 54 w 3961"/>
                <a:gd name="T111" fmla="*/ 7 h 8"/>
                <a:gd name="T112" fmla="*/ 54 w 3961"/>
                <a:gd name="T113" fmla="*/ 0 h 8"/>
                <a:gd name="T114" fmla="*/ 59 w 3961"/>
                <a:gd name="T115" fmla="*/ 4 h 8"/>
                <a:gd name="T116" fmla="*/ 57 w 3961"/>
                <a:gd name="T117" fmla="*/ 6 h 8"/>
                <a:gd name="T118" fmla="*/ 57 w 3961"/>
                <a:gd name="T119" fmla="*/ 0 h 8"/>
                <a:gd name="T120" fmla="*/ 61 w 3961"/>
                <a:gd name="T121" fmla="*/ 5 h 8"/>
                <a:gd name="T122" fmla="*/ 60 w 3961"/>
                <a:gd name="T123" fmla="*/ 5 h 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961"/>
                <a:gd name="T187" fmla="*/ 0 h 8"/>
                <a:gd name="T188" fmla="*/ 3961 w 3961"/>
                <a:gd name="T189" fmla="*/ 8 h 8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961" h="8">
                  <a:moveTo>
                    <a:pt x="7" y="0"/>
                  </a:moveTo>
                  <a:lnTo>
                    <a:pt x="115" y="0"/>
                  </a:lnTo>
                  <a:lnTo>
                    <a:pt x="119" y="0"/>
                  </a:lnTo>
                  <a:lnTo>
                    <a:pt x="121" y="1"/>
                  </a:lnTo>
                  <a:lnTo>
                    <a:pt x="122" y="2"/>
                  </a:lnTo>
                  <a:lnTo>
                    <a:pt x="122" y="4"/>
                  </a:lnTo>
                  <a:lnTo>
                    <a:pt x="122" y="5"/>
                  </a:lnTo>
                  <a:lnTo>
                    <a:pt x="121" y="6"/>
                  </a:lnTo>
                  <a:lnTo>
                    <a:pt x="119" y="7"/>
                  </a:lnTo>
                  <a:lnTo>
                    <a:pt x="115" y="8"/>
                  </a:lnTo>
                  <a:lnTo>
                    <a:pt x="7" y="8"/>
                  </a:lnTo>
                  <a:lnTo>
                    <a:pt x="5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1"/>
                  </a:lnTo>
                  <a:lnTo>
                    <a:pt x="5" y="0"/>
                  </a:lnTo>
                  <a:lnTo>
                    <a:pt x="7" y="0"/>
                  </a:lnTo>
                  <a:close/>
                  <a:moveTo>
                    <a:pt x="192" y="0"/>
                  </a:moveTo>
                  <a:lnTo>
                    <a:pt x="300" y="0"/>
                  </a:lnTo>
                  <a:lnTo>
                    <a:pt x="302" y="0"/>
                  </a:lnTo>
                  <a:lnTo>
                    <a:pt x="305" y="1"/>
                  </a:lnTo>
                  <a:lnTo>
                    <a:pt x="307" y="2"/>
                  </a:lnTo>
                  <a:lnTo>
                    <a:pt x="307" y="4"/>
                  </a:lnTo>
                  <a:lnTo>
                    <a:pt x="307" y="5"/>
                  </a:lnTo>
                  <a:lnTo>
                    <a:pt x="305" y="6"/>
                  </a:lnTo>
                  <a:lnTo>
                    <a:pt x="302" y="7"/>
                  </a:lnTo>
                  <a:lnTo>
                    <a:pt x="300" y="8"/>
                  </a:lnTo>
                  <a:lnTo>
                    <a:pt x="192" y="8"/>
                  </a:lnTo>
                  <a:lnTo>
                    <a:pt x="188" y="7"/>
                  </a:lnTo>
                  <a:lnTo>
                    <a:pt x="187" y="6"/>
                  </a:lnTo>
                  <a:lnTo>
                    <a:pt x="185" y="5"/>
                  </a:lnTo>
                  <a:lnTo>
                    <a:pt x="185" y="4"/>
                  </a:lnTo>
                  <a:lnTo>
                    <a:pt x="185" y="2"/>
                  </a:lnTo>
                  <a:lnTo>
                    <a:pt x="187" y="1"/>
                  </a:lnTo>
                  <a:lnTo>
                    <a:pt x="188" y="0"/>
                  </a:lnTo>
                  <a:lnTo>
                    <a:pt x="192" y="0"/>
                  </a:lnTo>
                  <a:close/>
                  <a:moveTo>
                    <a:pt x="375" y="0"/>
                  </a:moveTo>
                  <a:lnTo>
                    <a:pt x="483" y="0"/>
                  </a:lnTo>
                  <a:lnTo>
                    <a:pt x="486" y="0"/>
                  </a:lnTo>
                  <a:lnTo>
                    <a:pt x="488" y="1"/>
                  </a:lnTo>
                  <a:lnTo>
                    <a:pt x="490" y="2"/>
                  </a:lnTo>
                  <a:lnTo>
                    <a:pt x="490" y="4"/>
                  </a:lnTo>
                  <a:lnTo>
                    <a:pt x="490" y="5"/>
                  </a:lnTo>
                  <a:lnTo>
                    <a:pt x="488" y="6"/>
                  </a:lnTo>
                  <a:lnTo>
                    <a:pt x="486" y="7"/>
                  </a:lnTo>
                  <a:lnTo>
                    <a:pt x="483" y="8"/>
                  </a:lnTo>
                  <a:lnTo>
                    <a:pt x="375" y="8"/>
                  </a:lnTo>
                  <a:lnTo>
                    <a:pt x="373" y="7"/>
                  </a:lnTo>
                  <a:lnTo>
                    <a:pt x="371" y="6"/>
                  </a:lnTo>
                  <a:lnTo>
                    <a:pt x="370" y="5"/>
                  </a:lnTo>
                  <a:lnTo>
                    <a:pt x="368" y="4"/>
                  </a:lnTo>
                  <a:lnTo>
                    <a:pt x="370" y="2"/>
                  </a:lnTo>
                  <a:lnTo>
                    <a:pt x="371" y="1"/>
                  </a:lnTo>
                  <a:lnTo>
                    <a:pt x="373" y="0"/>
                  </a:lnTo>
                  <a:lnTo>
                    <a:pt x="375" y="0"/>
                  </a:lnTo>
                  <a:close/>
                  <a:moveTo>
                    <a:pt x="560" y="0"/>
                  </a:moveTo>
                  <a:lnTo>
                    <a:pt x="668" y="0"/>
                  </a:lnTo>
                  <a:lnTo>
                    <a:pt x="669" y="0"/>
                  </a:lnTo>
                  <a:lnTo>
                    <a:pt x="673" y="1"/>
                  </a:lnTo>
                  <a:lnTo>
                    <a:pt x="675" y="2"/>
                  </a:lnTo>
                  <a:lnTo>
                    <a:pt x="675" y="4"/>
                  </a:lnTo>
                  <a:lnTo>
                    <a:pt x="675" y="5"/>
                  </a:lnTo>
                  <a:lnTo>
                    <a:pt x="673" y="6"/>
                  </a:lnTo>
                  <a:lnTo>
                    <a:pt x="669" y="7"/>
                  </a:lnTo>
                  <a:lnTo>
                    <a:pt x="668" y="8"/>
                  </a:lnTo>
                  <a:lnTo>
                    <a:pt x="560" y="8"/>
                  </a:lnTo>
                  <a:lnTo>
                    <a:pt x="556" y="7"/>
                  </a:lnTo>
                  <a:lnTo>
                    <a:pt x="554" y="6"/>
                  </a:lnTo>
                  <a:lnTo>
                    <a:pt x="552" y="5"/>
                  </a:lnTo>
                  <a:lnTo>
                    <a:pt x="552" y="4"/>
                  </a:lnTo>
                  <a:lnTo>
                    <a:pt x="552" y="2"/>
                  </a:lnTo>
                  <a:lnTo>
                    <a:pt x="554" y="1"/>
                  </a:lnTo>
                  <a:lnTo>
                    <a:pt x="556" y="0"/>
                  </a:lnTo>
                  <a:lnTo>
                    <a:pt x="560" y="0"/>
                  </a:lnTo>
                  <a:close/>
                  <a:moveTo>
                    <a:pt x="745" y="0"/>
                  </a:moveTo>
                  <a:lnTo>
                    <a:pt x="850" y="0"/>
                  </a:lnTo>
                  <a:lnTo>
                    <a:pt x="854" y="0"/>
                  </a:lnTo>
                  <a:lnTo>
                    <a:pt x="856" y="1"/>
                  </a:lnTo>
                  <a:lnTo>
                    <a:pt x="858" y="2"/>
                  </a:lnTo>
                  <a:lnTo>
                    <a:pt x="860" y="4"/>
                  </a:lnTo>
                  <a:lnTo>
                    <a:pt x="858" y="5"/>
                  </a:lnTo>
                  <a:lnTo>
                    <a:pt x="856" y="6"/>
                  </a:lnTo>
                  <a:lnTo>
                    <a:pt x="854" y="7"/>
                  </a:lnTo>
                  <a:lnTo>
                    <a:pt x="850" y="8"/>
                  </a:lnTo>
                  <a:lnTo>
                    <a:pt x="745" y="8"/>
                  </a:lnTo>
                  <a:lnTo>
                    <a:pt x="741" y="7"/>
                  </a:lnTo>
                  <a:lnTo>
                    <a:pt x="739" y="6"/>
                  </a:lnTo>
                  <a:lnTo>
                    <a:pt x="737" y="5"/>
                  </a:lnTo>
                  <a:lnTo>
                    <a:pt x="735" y="4"/>
                  </a:lnTo>
                  <a:lnTo>
                    <a:pt x="737" y="2"/>
                  </a:lnTo>
                  <a:lnTo>
                    <a:pt x="739" y="1"/>
                  </a:lnTo>
                  <a:lnTo>
                    <a:pt x="741" y="0"/>
                  </a:lnTo>
                  <a:lnTo>
                    <a:pt x="745" y="0"/>
                  </a:lnTo>
                  <a:close/>
                  <a:moveTo>
                    <a:pt x="928" y="0"/>
                  </a:moveTo>
                  <a:lnTo>
                    <a:pt x="1035" y="0"/>
                  </a:lnTo>
                  <a:lnTo>
                    <a:pt x="1037" y="0"/>
                  </a:lnTo>
                  <a:lnTo>
                    <a:pt x="1041" y="1"/>
                  </a:lnTo>
                  <a:lnTo>
                    <a:pt x="1043" y="2"/>
                  </a:lnTo>
                  <a:lnTo>
                    <a:pt x="1043" y="4"/>
                  </a:lnTo>
                  <a:lnTo>
                    <a:pt x="1043" y="5"/>
                  </a:lnTo>
                  <a:lnTo>
                    <a:pt x="1041" y="6"/>
                  </a:lnTo>
                  <a:lnTo>
                    <a:pt x="1037" y="7"/>
                  </a:lnTo>
                  <a:lnTo>
                    <a:pt x="1035" y="8"/>
                  </a:lnTo>
                  <a:lnTo>
                    <a:pt x="928" y="8"/>
                  </a:lnTo>
                  <a:lnTo>
                    <a:pt x="924" y="7"/>
                  </a:lnTo>
                  <a:lnTo>
                    <a:pt x="922" y="6"/>
                  </a:lnTo>
                  <a:lnTo>
                    <a:pt x="920" y="5"/>
                  </a:lnTo>
                  <a:lnTo>
                    <a:pt x="920" y="4"/>
                  </a:lnTo>
                  <a:lnTo>
                    <a:pt x="920" y="2"/>
                  </a:lnTo>
                  <a:lnTo>
                    <a:pt x="922" y="1"/>
                  </a:lnTo>
                  <a:lnTo>
                    <a:pt x="924" y="0"/>
                  </a:lnTo>
                  <a:lnTo>
                    <a:pt x="928" y="0"/>
                  </a:lnTo>
                  <a:close/>
                  <a:moveTo>
                    <a:pt x="1113" y="0"/>
                  </a:moveTo>
                  <a:lnTo>
                    <a:pt x="1220" y="0"/>
                  </a:lnTo>
                  <a:lnTo>
                    <a:pt x="1222" y="0"/>
                  </a:lnTo>
                  <a:lnTo>
                    <a:pt x="1224" y="1"/>
                  </a:lnTo>
                  <a:lnTo>
                    <a:pt x="1226" y="2"/>
                  </a:lnTo>
                  <a:lnTo>
                    <a:pt x="1228" y="4"/>
                  </a:lnTo>
                  <a:lnTo>
                    <a:pt x="1226" y="5"/>
                  </a:lnTo>
                  <a:lnTo>
                    <a:pt x="1224" y="6"/>
                  </a:lnTo>
                  <a:lnTo>
                    <a:pt x="1222" y="7"/>
                  </a:lnTo>
                  <a:lnTo>
                    <a:pt x="1220" y="8"/>
                  </a:lnTo>
                  <a:lnTo>
                    <a:pt x="1113" y="8"/>
                  </a:lnTo>
                  <a:lnTo>
                    <a:pt x="1109" y="7"/>
                  </a:lnTo>
                  <a:lnTo>
                    <a:pt x="1107" y="6"/>
                  </a:lnTo>
                  <a:lnTo>
                    <a:pt x="1105" y="5"/>
                  </a:lnTo>
                  <a:lnTo>
                    <a:pt x="1105" y="4"/>
                  </a:lnTo>
                  <a:lnTo>
                    <a:pt x="1105" y="2"/>
                  </a:lnTo>
                  <a:lnTo>
                    <a:pt x="1107" y="1"/>
                  </a:lnTo>
                  <a:lnTo>
                    <a:pt x="1109" y="0"/>
                  </a:lnTo>
                  <a:lnTo>
                    <a:pt x="1113" y="0"/>
                  </a:lnTo>
                  <a:close/>
                  <a:moveTo>
                    <a:pt x="1296" y="0"/>
                  </a:moveTo>
                  <a:lnTo>
                    <a:pt x="1403" y="0"/>
                  </a:lnTo>
                  <a:lnTo>
                    <a:pt x="1407" y="0"/>
                  </a:lnTo>
                  <a:lnTo>
                    <a:pt x="1409" y="1"/>
                  </a:lnTo>
                  <a:lnTo>
                    <a:pt x="1411" y="2"/>
                  </a:lnTo>
                  <a:lnTo>
                    <a:pt x="1411" y="4"/>
                  </a:lnTo>
                  <a:lnTo>
                    <a:pt x="1411" y="5"/>
                  </a:lnTo>
                  <a:lnTo>
                    <a:pt x="1409" y="6"/>
                  </a:lnTo>
                  <a:lnTo>
                    <a:pt x="1407" y="7"/>
                  </a:lnTo>
                  <a:lnTo>
                    <a:pt x="1403" y="8"/>
                  </a:lnTo>
                  <a:lnTo>
                    <a:pt x="1296" y="8"/>
                  </a:lnTo>
                  <a:lnTo>
                    <a:pt x="1294" y="7"/>
                  </a:lnTo>
                  <a:lnTo>
                    <a:pt x="1290" y="6"/>
                  </a:lnTo>
                  <a:lnTo>
                    <a:pt x="1288" y="5"/>
                  </a:lnTo>
                  <a:lnTo>
                    <a:pt x="1288" y="4"/>
                  </a:lnTo>
                  <a:lnTo>
                    <a:pt x="1288" y="2"/>
                  </a:lnTo>
                  <a:lnTo>
                    <a:pt x="1290" y="1"/>
                  </a:lnTo>
                  <a:lnTo>
                    <a:pt x="1294" y="0"/>
                  </a:lnTo>
                  <a:lnTo>
                    <a:pt x="1296" y="0"/>
                  </a:lnTo>
                  <a:close/>
                  <a:moveTo>
                    <a:pt x="1480" y="0"/>
                  </a:moveTo>
                  <a:lnTo>
                    <a:pt x="1588" y="0"/>
                  </a:lnTo>
                  <a:lnTo>
                    <a:pt x="1590" y="0"/>
                  </a:lnTo>
                  <a:lnTo>
                    <a:pt x="1592" y="1"/>
                  </a:lnTo>
                  <a:lnTo>
                    <a:pt x="1594" y="2"/>
                  </a:lnTo>
                  <a:lnTo>
                    <a:pt x="1596" y="4"/>
                  </a:lnTo>
                  <a:lnTo>
                    <a:pt x="1594" y="5"/>
                  </a:lnTo>
                  <a:lnTo>
                    <a:pt x="1592" y="6"/>
                  </a:lnTo>
                  <a:lnTo>
                    <a:pt x="1590" y="7"/>
                  </a:lnTo>
                  <a:lnTo>
                    <a:pt x="1588" y="8"/>
                  </a:lnTo>
                  <a:lnTo>
                    <a:pt x="1480" y="8"/>
                  </a:lnTo>
                  <a:lnTo>
                    <a:pt x="1477" y="7"/>
                  </a:lnTo>
                  <a:lnTo>
                    <a:pt x="1475" y="6"/>
                  </a:lnTo>
                  <a:lnTo>
                    <a:pt x="1473" y="5"/>
                  </a:lnTo>
                  <a:lnTo>
                    <a:pt x="1473" y="4"/>
                  </a:lnTo>
                  <a:lnTo>
                    <a:pt x="1473" y="2"/>
                  </a:lnTo>
                  <a:lnTo>
                    <a:pt x="1475" y="1"/>
                  </a:lnTo>
                  <a:lnTo>
                    <a:pt x="1477" y="0"/>
                  </a:lnTo>
                  <a:lnTo>
                    <a:pt x="1480" y="0"/>
                  </a:lnTo>
                  <a:close/>
                  <a:moveTo>
                    <a:pt x="1663" y="0"/>
                  </a:moveTo>
                  <a:lnTo>
                    <a:pt x="1771" y="0"/>
                  </a:lnTo>
                  <a:lnTo>
                    <a:pt x="1775" y="0"/>
                  </a:lnTo>
                  <a:lnTo>
                    <a:pt x="1777" y="1"/>
                  </a:lnTo>
                  <a:lnTo>
                    <a:pt x="1778" y="2"/>
                  </a:lnTo>
                  <a:lnTo>
                    <a:pt x="1778" y="4"/>
                  </a:lnTo>
                  <a:lnTo>
                    <a:pt x="1778" y="5"/>
                  </a:lnTo>
                  <a:lnTo>
                    <a:pt x="1777" y="6"/>
                  </a:lnTo>
                  <a:lnTo>
                    <a:pt x="1775" y="7"/>
                  </a:lnTo>
                  <a:lnTo>
                    <a:pt x="1771" y="8"/>
                  </a:lnTo>
                  <a:lnTo>
                    <a:pt x="1663" y="8"/>
                  </a:lnTo>
                  <a:lnTo>
                    <a:pt x="1662" y="7"/>
                  </a:lnTo>
                  <a:lnTo>
                    <a:pt x="1658" y="6"/>
                  </a:lnTo>
                  <a:lnTo>
                    <a:pt x="1656" y="5"/>
                  </a:lnTo>
                  <a:lnTo>
                    <a:pt x="1656" y="4"/>
                  </a:lnTo>
                  <a:lnTo>
                    <a:pt x="1656" y="2"/>
                  </a:lnTo>
                  <a:lnTo>
                    <a:pt x="1658" y="1"/>
                  </a:lnTo>
                  <a:lnTo>
                    <a:pt x="1662" y="0"/>
                  </a:lnTo>
                  <a:lnTo>
                    <a:pt x="1663" y="0"/>
                  </a:lnTo>
                  <a:close/>
                  <a:moveTo>
                    <a:pt x="1848" y="0"/>
                  </a:moveTo>
                  <a:lnTo>
                    <a:pt x="1956" y="0"/>
                  </a:lnTo>
                  <a:lnTo>
                    <a:pt x="1958" y="0"/>
                  </a:lnTo>
                  <a:lnTo>
                    <a:pt x="1960" y="1"/>
                  </a:lnTo>
                  <a:lnTo>
                    <a:pt x="1961" y="2"/>
                  </a:lnTo>
                  <a:lnTo>
                    <a:pt x="1963" y="4"/>
                  </a:lnTo>
                  <a:lnTo>
                    <a:pt x="1961" y="5"/>
                  </a:lnTo>
                  <a:lnTo>
                    <a:pt x="1960" y="6"/>
                  </a:lnTo>
                  <a:lnTo>
                    <a:pt x="1958" y="7"/>
                  </a:lnTo>
                  <a:lnTo>
                    <a:pt x="1956" y="8"/>
                  </a:lnTo>
                  <a:lnTo>
                    <a:pt x="1848" y="8"/>
                  </a:lnTo>
                  <a:lnTo>
                    <a:pt x="1844" y="7"/>
                  </a:lnTo>
                  <a:lnTo>
                    <a:pt x="1843" y="6"/>
                  </a:lnTo>
                  <a:lnTo>
                    <a:pt x="1841" y="5"/>
                  </a:lnTo>
                  <a:lnTo>
                    <a:pt x="1841" y="4"/>
                  </a:lnTo>
                  <a:lnTo>
                    <a:pt x="1841" y="2"/>
                  </a:lnTo>
                  <a:lnTo>
                    <a:pt x="1843" y="1"/>
                  </a:lnTo>
                  <a:lnTo>
                    <a:pt x="1844" y="0"/>
                  </a:lnTo>
                  <a:lnTo>
                    <a:pt x="1848" y="0"/>
                  </a:lnTo>
                  <a:close/>
                  <a:moveTo>
                    <a:pt x="2031" y="0"/>
                  </a:moveTo>
                  <a:lnTo>
                    <a:pt x="2139" y="0"/>
                  </a:lnTo>
                  <a:lnTo>
                    <a:pt x="2142" y="0"/>
                  </a:lnTo>
                  <a:lnTo>
                    <a:pt x="2144" y="1"/>
                  </a:lnTo>
                  <a:lnTo>
                    <a:pt x="2146" y="2"/>
                  </a:lnTo>
                  <a:lnTo>
                    <a:pt x="2146" y="4"/>
                  </a:lnTo>
                  <a:lnTo>
                    <a:pt x="2146" y="5"/>
                  </a:lnTo>
                  <a:lnTo>
                    <a:pt x="2144" y="6"/>
                  </a:lnTo>
                  <a:lnTo>
                    <a:pt x="2142" y="7"/>
                  </a:lnTo>
                  <a:lnTo>
                    <a:pt x="2139" y="8"/>
                  </a:lnTo>
                  <a:lnTo>
                    <a:pt x="2031" y="8"/>
                  </a:lnTo>
                  <a:lnTo>
                    <a:pt x="2029" y="7"/>
                  </a:lnTo>
                  <a:lnTo>
                    <a:pt x="2026" y="6"/>
                  </a:lnTo>
                  <a:lnTo>
                    <a:pt x="2024" y="5"/>
                  </a:lnTo>
                  <a:lnTo>
                    <a:pt x="2024" y="4"/>
                  </a:lnTo>
                  <a:lnTo>
                    <a:pt x="2024" y="2"/>
                  </a:lnTo>
                  <a:lnTo>
                    <a:pt x="2026" y="1"/>
                  </a:lnTo>
                  <a:lnTo>
                    <a:pt x="2029" y="0"/>
                  </a:lnTo>
                  <a:lnTo>
                    <a:pt x="2031" y="0"/>
                  </a:lnTo>
                  <a:close/>
                  <a:moveTo>
                    <a:pt x="2216" y="0"/>
                  </a:moveTo>
                  <a:lnTo>
                    <a:pt x="2324" y="0"/>
                  </a:lnTo>
                  <a:lnTo>
                    <a:pt x="2325" y="0"/>
                  </a:lnTo>
                  <a:lnTo>
                    <a:pt x="2329" y="1"/>
                  </a:lnTo>
                  <a:lnTo>
                    <a:pt x="2329" y="2"/>
                  </a:lnTo>
                  <a:lnTo>
                    <a:pt x="2331" y="4"/>
                  </a:lnTo>
                  <a:lnTo>
                    <a:pt x="2329" y="5"/>
                  </a:lnTo>
                  <a:lnTo>
                    <a:pt x="2329" y="6"/>
                  </a:lnTo>
                  <a:lnTo>
                    <a:pt x="2325" y="7"/>
                  </a:lnTo>
                  <a:lnTo>
                    <a:pt x="2324" y="8"/>
                  </a:lnTo>
                  <a:lnTo>
                    <a:pt x="2216" y="8"/>
                  </a:lnTo>
                  <a:lnTo>
                    <a:pt x="2212" y="7"/>
                  </a:lnTo>
                  <a:lnTo>
                    <a:pt x="2210" y="6"/>
                  </a:lnTo>
                  <a:lnTo>
                    <a:pt x="2209" y="5"/>
                  </a:lnTo>
                  <a:lnTo>
                    <a:pt x="2209" y="4"/>
                  </a:lnTo>
                  <a:lnTo>
                    <a:pt x="2209" y="2"/>
                  </a:lnTo>
                  <a:lnTo>
                    <a:pt x="2210" y="1"/>
                  </a:lnTo>
                  <a:lnTo>
                    <a:pt x="2212" y="0"/>
                  </a:lnTo>
                  <a:lnTo>
                    <a:pt x="2216" y="0"/>
                  </a:lnTo>
                  <a:close/>
                  <a:moveTo>
                    <a:pt x="2399" y="0"/>
                  </a:moveTo>
                  <a:lnTo>
                    <a:pt x="2507" y="0"/>
                  </a:lnTo>
                  <a:lnTo>
                    <a:pt x="2510" y="0"/>
                  </a:lnTo>
                  <a:lnTo>
                    <a:pt x="2512" y="1"/>
                  </a:lnTo>
                  <a:lnTo>
                    <a:pt x="2514" y="2"/>
                  </a:lnTo>
                  <a:lnTo>
                    <a:pt x="2514" y="4"/>
                  </a:lnTo>
                  <a:lnTo>
                    <a:pt x="2514" y="5"/>
                  </a:lnTo>
                  <a:lnTo>
                    <a:pt x="2512" y="6"/>
                  </a:lnTo>
                  <a:lnTo>
                    <a:pt x="2510" y="7"/>
                  </a:lnTo>
                  <a:lnTo>
                    <a:pt x="2507" y="8"/>
                  </a:lnTo>
                  <a:lnTo>
                    <a:pt x="2399" y="8"/>
                  </a:lnTo>
                  <a:lnTo>
                    <a:pt x="2397" y="7"/>
                  </a:lnTo>
                  <a:lnTo>
                    <a:pt x="2393" y="6"/>
                  </a:lnTo>
                  <a:lnTo>
                    <a:pt x="2393" y="5"/>
                  </a:lnTo>
                  <a:lnTo>
                    <a:pt x="2391" y="4"/>
                  </a:lnTo>
                  <a:lnTo>
                    <a:pt x="2393" y="2"/>
                  </a:lnTo>
                  <a:lnTo>
                    <a:pt x="2393" y="1"/>
                  </a:lnTo>
                  <a:lnTo>
                    <a:pt x="2397" y="0"/>
                  </a:lnTo>
                  <a:lnTo>
                    <a:pt x="2399" y="0"/>
                  </a:lnTo>
                  <a:close/>
                  <a:moveTo>
                    <a:pt x="2584" y="0"/>
                  </a:moveTo>
                  <a:lnTo>
                    <a:pt x="2691" y="0"/>
                  </a:lnTo>
                  <a:lnTo>
                    <a:pt x="2693" y="0"/>
                  </a:lnTo>
                  <a:lnTo>
                    <a:pt x="2697" y="1"/>
                  </a:lnTo>
                  <a:lnTo>
                    <a:pt x="2699" y="2"/>
                  </a:lnTo>
                  <a:lnTo>
                    <a:pt x="2699" y="4"/>
                  </a:lnTo>
                  <a:lnTo>
                    <a:pt x="2699" y="5"/>
                  </a:lnTo>
                  <a:lnTo>
                    <a:pt x="2697" y="6"/>
                  </a:lnTo>
                  <a:lnTo>
                    <a:pt x="2693" y="7"/>
                  </a:lnTo>
                  <a:lnTo>
                    <a:pt x="2691" y="8"/>
                  </a:lnTo>
                  <a:lnTo>
                    <a:pt x="2584" y="8"/>
                  </a:lnTo>
                  <a:lnTo>
                    <a:pt x="2580" y="7"/>
                  </a:lnTo>
                  <a:lnTo>
                    <a:pt x="2578" y="6"/>
                  </a:lnTo>
                  <a:lnTo>
                    <a:pt x="2576" y="5"/>
                  </a:lnTo>
                  <a:lnTo>
                    <a:pt x="2576" y="4"/>
                  </a:lnTo>
                  <a:lnTo>
                    <a:pt x="2576" y="2"/>
                  </a:lnTo>
                  <a:lnTo>
                    <a:pt x="2578" y="1"/>
                  </a:lnTo>
                  <a:lnTo>
                    <a:pt x="2580" y="0"/>
                  </a:lnTo>
                  <a:lnTo>
                    <a:pt x="2584" y="0"/>
                  </a:lnTo>
                  <a:close/>
                  <a:moveTo>
                    <a:pt x="2767" y="0"/>
                  </a:moveTo>
                  <a:lnTo>
                    <a:pt x="2874" y="0"/>
                  </a:lnTo>
                  <a:lnTo>
                    <a:pt x="2878" y="0"/>
                  </a:lnTo>
                  <a:lnTo>
                    <a:pt x="2880" y="1"/>
                  </a:lnTo>
                  <a:lnTo>
                    <a:pt x="2882" y="2"/>
                  </a:lnTo>
                  <a:lnTo>
                    <a:pt x="2882" y="4"/>
                  </a:lnTo>
                  <a:lnTo>
                    <a:pt x="2882" y="5"/>
                  </a:lnTo>
                  <a:lnTo>
                    <a:pt x="2880" y="6"/>
                  </a:lnTo>
                  <a:lnTo>
                    <a:pt x="2878" y="7"/>
                  </a:lnTo>
                  <a:lnTo>
                    <a:pt x="2874" y="8"/>
                  </a:lnTo>
                  <a:lnTo>
                    <a:pt x="2767" y="8"/>
                  </a:lnTo>
                  <a:lnTo>
                    <a:pt x="2765" y="7"/>
                  </a:lnTo>
                  <a:lnTo>
                    <a:pt x="2763" y="6"/>
                  </a:lnTo>
                  <a:lnTo>
                    <a:pt x="2761" y="5"/>
                  </a:lnTo>
                  <a:lnTo>
                    <a:pt x="2759" y="4"/>
                  </a:lnTo>
                  <a:lnTo>
                    <a:pt x="2761" y="2"/>
                  </a:lnTo>
                  <a:lnTo>
                    <a:pt x="2763" y="1"/>
                  </a:lnTo>
                  <a:lnTo>
                    <a:pt x="2765" y="0"/>
                  </a:lnTo>
                  <a:lnTo>
                    <a:pt x="2767" y="0"/>
                  </a:lnTo>
                  <a:close/>
                  <a:moveTo>
                    <a:pt x="2952" y="0"/>
                  </a:moveTo>
                  <a:lnTo>
                    <a:pt x="3059" y="0"/>
                  </a:lnTo>
                  <a:lnTo>
                    <a:pt x="3061" y="0"/>
                  </a:lnTo>
                  <a:lnTo>
                    <a:pt x="3065" y="1"/>
                  </a:lnTo>
                  <a:lnTo>
                    <a:pt x="3067" y="2"/>
                  </a:lnTo>
                  <a:lnTo>
                    <a:pt x="3067" y="4"/>
                  </a:lnTo>
                  <a:lnTo>
                    <a:pt x="3067" y="5"/>
                  </a:lnTo>
                  <a:lnTo>
                    <a:pt x="3065" y="6"/>
                  </a:lnTo>
                  <a:lnTo>
                    <a:pt x="3061" y="7"/>
                  </a:lnTo>
                  <a:lnTo>
                    <a:pt x="3059" y="8"/>
                  </a:lnTo>
                  <a:lnTo>
                    <a:pt x="2952" y="8"/>
                  </a:lnTo>
                  <a:lnTo>
                    <a:pt x="2948" y="7"/>
                  </a:lnTo>
                  <a:lnTo>
                    <a:pt x="2946" y="6"/>
                  </a:lnTo>
                  <a:lnTo>
                    <a:pt x="2944" y="5"/>
                  </a:lnTo>
                  <a:lnTo>
                    <a:pt x="2944" y="4"/>
                  </a:lnTo>
                  <a:lnTo>
                    <a:pt x="2944" y="2"/>
                  </a:lnTo>
                  <a:lnTo>
                    <a:pt x="2946" y="1"/>
                  </a:lnTo>
                  <a:lnTo>
                    <a:pt x="2948" y="0"/>
                  </a:lnTo>
                  <a:lnTo>
                    <a:pt x="2952" y="0"/>
                  </a:lnTo>
                  <a:close/>
                  <a:moveTo>
                    <a:pt x="3137" y="0"/>
                  </a:moveTo>
                  <a:lnTo>
                    <a:pt x="3242" y="0"/>
                  </a:lnTo>
                  <a:lnTo>
                    <a:pt x="3246" y="0"/>
                  </a:lnTo>
                  <a:lnTo>
                    <a:pt x="3248" y="1"/>
                  </a:lnTo>
                  <a:lnTo>
                    <a:pt x="3250" y="2"/>
                  </a:lnTo>
                  <a:lnTo>
                    <a:pt x="3250" y="4"/>
                  </a:lnTo>
                  <a:lnTo>
                    <a:pt x="3250" y="5"/>
                  </a:lnTo>
                  <a:lnTo>
                    <a:pt x="3248" y="6"/>
                  </a:lnTo>
                  <a:lnTo>
                    <a:pt x="3246" y="7"/>
                  </a:lnTo>
                  <a:lnTo>
                    <a:pt x="3242" y="8"/>
                  </a:lnTo>
                  <a:lnTo>
                    <a:pt x="3137" y="8"/>
                  </a:lnTo>
                  <a:lnTo>
                    <a:pt x="3133" y="7"/>
                  </a:lnTo>
                  <a:lnTo>
                    <a:pt x="3131" y="6"/>
                  </a:lnTo>
                  <a:lnTo>
                    <a:pt x="3129" y="5"/>
                  </a:lnTo>
                  <a:lnTo>
                    <a:pt x="3127" y="4"/>
                  </a:lnTo>
                  <a:lnTo>
                    <a:pt x="3129" y="2"/>
                  </a:lnTo>
                  <a:lnTo>
                    <a:pt x="3131" y="1"/>
                  </a:lnTo>
                  <a:lnTo>
                    <a:pt x="3133" y="0"/>
                  </a:lnTo>
                  <a:lnTo>
                    <a:pt x="3137" y="0"/>
                  </a:lnTo>
                  <a:close/>
                  <a:moveTo>
                    <a:pt x="3319" y="0"/>
                  </a:moveTo>
                  <a:lnTo>
                    <a:pt x="3427" y="0"/>
                  </a:lnTo>
                  <a:lnTo>
                    <a:pt x="3429" y="0"/>
                  </a:lnTo>
                  <a:lnTo>
                    <a:pt x="3433" y="1"/>
                  </a:lnTo>
                  <a:lnTo>
                    <a:pt x="3435" y="2"/>
                  </a:lnTo>
                  <a:lnTo>
                    <a:pt x="3435" y="4"/>
                  </a:lnTo>
                  <a:lnTo>
                    <a:pt x="3435" y="5"/>
                  </a:lnTo>
                  <a:lnTo>
                    <a:pt x="3433" y="6"/>
                  </a:lnTo>
                  <a:lnTo>
                    <a:pt x="3429" y="7"/>
                  </a:lnTo>
                  <a:lnTo>
                    <a:pt x="3427" y="8"/>
                  </a:lnTo>
                  <a:lnTo>
                    <a:pt x="3319" y="8"/>
                  </a:lnTo>
                  <a:lnTo>
                    <a:pt x="3316" y="7"/>
                  </a:lnTo>
                  <a:lnTo>
                    <a:pt x="3314" y="6"/>
                  </a:lnTo>
                  <a:lnTo>
                    <a:pt x="3312" y="5"/>
                  </a:lnTo>
                  <a:lnTo>
                    <a:pt x="3312" y="4"/>
                  </a:lnTo>
                  <a:lnTo>
                    <a:pt x="3312" y="2"/>
                  </a:lnTo>
                  <a:lnTo>
                    <a:pt x="3314" y="1"/>
                  </a:lnTo>
                  <a:lnTo>
                    <a:pt x="3316" y="0"/>
                  </a:lnTo>
                  <a:lnTo>
                    <a:pt x="3319" y="0"/>
                  </a:lnTo>
                  <a:close/>
                  <a:moveTo>
                    <a:pt x="3504" y="0"/>
                  </a:moveTo>
                  <a:lnTo>
                    <a:pt x="3610" y="0"/>
                  </a:lnTo>
                  <a:lnTo>
                    <a:pt x="3614" y="0"/>
                  </a:lnTo>
                  <a:lnTo>
                    <a:pt x="3616" y="1"/>
                  </a:lnTo>
                  <a:lnTo>
                    <a:pt x="3617" y="2"/>
                  </a:lnTo>
                  <a:lnTo>
                    <a:pt x="3619" y="4"/>
                  </a:lnTo>
                  <a:lnTo>
                    <a:pt x="3617" y="5"/>
                  </a:lnTo>
                  <a:lnTo>
                    <a:pt x="3616" y="6"/>
                  </a:lnTo>
                  <a:lnTo>
                    <a:pt x="3614" y="7"/>
                  </a:lnTo>
                  <a:lnTo>
                    <a:pt x="3610" y="8"/>
                  </a:lnTo>
                  <a:lnTo>
                    <a:pt x="3504" y="8"/>
                  </a:lnTo>
                  <a:lnTo>
                    <a:pt x="3501" y="7"/>
                  </a:lnTo>
                  <a:lnTo>
                    <a:pt x="3499" y="6"/>
                  </a:lnTo>
                  <a:lnTo>
                    <a:pt x="3497" y="5"/>
                  </a:lnTo>
                  <a:lnTo>
                    <a:pt x="3497" y="4"/>
                  </a:lnTo>
                  <a:lnTo>
                    <a:pt x="3497" y="2"/>
                  </a:lnTo>
                  <a:lnTo>
                    <a:pt x="3499" y="1"/>
                  </a:lnTo>
                  <a:lnTo>
                    <a:pt x="3501" y="0"/>
                  </a:lnTo>
                  <a:lnTo>
                    <a:pt x="3504" y="0"/>
                  </a:lnTo>
                  <a:close/>
                  <a:moveTo>
                    <a:pt x="3687" y="0"/>
                  </a:moveTo>
                  <a:lnTo>
                    <a:pt x="3795" y="0"/>
                  </a:lnTo>
                  <a:lnTo>
                    <a:pt x="3799" y="0"/>
                  </a:lnTo>
                  <a:lnTo>
                    <a:pt x="3800" y="1"/>
                  </a:lnTo>
                  <a:lnTo>
                    <a:pt x="3802" y="2"/>
                  </a:lnTo>
                  <a:lnTo>
                    <a:pt x="3802" y="4"/>
                  </a:lnTo>
                  <a:lnTo>
                    <a:pt x="3802" y="5"/>
                  </a:lnTo>
                  <a:lnTo>
                    <a:pt x="3800" y="6"/>
                  </a:lnTo>
                  <a:lnTo>
                    <a:pt x="3799" y="7"/>
                  </a:lnTo>
                  <a:lnTo>
                    <a:pt x="3795" y="8"/>
                  </a:lnTo>
                  <a:lnTo>
                    <a:pt x="3687" y="8"/>
                  </a:lnTo>
                  <a:lnTo>
                    <a:pt x="3685" y="7"/>
                  </a:lnTo>
                  <a:lnTo>
                    <a:pt x="3682" y="6"/>
                  </a:lnTo>
                  <a:lnTo>
                    <a:pt x="3680" y="5"/>
                  </a:lnTo>
                  <a:lnTo>
                    <a:pt x="3680" y="4"/>
                  </a:lnTo>
                  <a:lnTo>
                    <a:pt x="3680" y="2"/>
                  </a:lnTo>
                  <a:lnTo>
                    <a:pt x="3682" y="1"/>
                  </a:lnTo>
                  <a:lnTo>
                    <a:pt x="3685" y="0"/>
                  </a:lnTo>
                  <a:lnTo>
                    <a:pt x="3687" y="0"/>
                  </a:lnTo>
                  <a:close/>
                  <a:moveTo>
                    <a:pt x="3872" y="0"/>
                  </a:moveTo>
                  <a:lnTo>
                    <a:pt x="3953" y="0"/>
                  </a:lnTo>
                  <a:lnTo>
                    <a:pt x="3957" y="0"/>
                  </a:lnTo>
                  <a:lnTo>
                    <a:pt x="3959" y="1"/>
                  </a:lnTo>
                  <a:lnTo>
                    <a:pt x="3961" y="2"/>
                  </a:lnTo>
                  <a:lnTo>
                    <a:pt x="3961" y="4"/>
                  </a:lnTo>
                  <a:lnTo>
                    <a:pt x="3961" y="5"/>
                  </a:lnTo>
                  <a:lnTo>
                    <a:pt x="3959" y="6"/>
                  </a:lnTo>
                  <a:lnTo>
                    <a:pt x="3957" y="7"/>
                  </a:lnTo>
                  <a:lnTo>
                    <a:pt x="3953" y="8"/>
                  </a:lnTo>
                  <a:lnTo>
                    <a:pt x="3872" y="8"/>
                  </a:lnTo>
                  <a:lnTo>
                    <a:pt x="3868" y="7"/>
                  </a:lnTo>
                  <a:lnTo>
                    <a:pt x="3866" y="6"/>
                  </a:lnTo>
                  <a:lnTo>
                    <a:pt x="3865" y="5"/>
                  </a:lnTo>
                  <a:lnTo>
                    <a:pt x="3865" y="4"/>
                  </a:lnTo>
                  <a:lnTo>
                    <a:pt x="3865" y="2"/>
                  </a:lnTo>
                  <a:lnTo>
                    <a:pt x="3866" y="1"/>
                  </a:lnTo>
                  <a:lnTo>
                    <a:pt x="3868" y="0"/>
                  </a:lnTo>
                  <a:lnTo>
                    <a:pt x="3872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77" name="Rectangle 62"/>
            <p:cNvSpPr>
              <a:spLocks noChangeArrowheads="1"/>
            </p:cNvSpPr>
            <p:nvPr/>
          </p:nvSpPr>
          <p:spPr bwMode="auto">
            <a:xfrm>
              <a:off x="4564" y="3672"/>
              <a:ext cx="107" cy="17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宋体" pitchFamily="2" charset="-122"/>
                </a:rPr>
                <a:t>I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宋体" pitchFamily="2" charset="-122"/>
                </a:rPr>
                <a:t>o</a:t>
              </a:r>
            </a:p>
          </p:txBody>
        </p:sp>
        <p:sp>
          <p:nvSpPr>
            <p:cNvPr id="77878" name="Line 63"/>
            <p:cNvSpPr>
              <a:spLocks noChangeShapeType="1"/>
            </p:cNvSpPr>
            <p:nvPr/>
          </p:nvSpPr>
          <p:spPr bwMode="auto">
            <a:xfrm>
              <a:off x="4651" y="2658"/>
              <a:ext cx="1" cy="2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79" name="Line 64"/>
            <p:cNvSpPr>
              <a:spLocks noChangeShapeType="1"/>
            </p:cNvSpPr>
            <p:nvPr/>
          </p:nvSpPr>
          <p:spPr bwMode="auto">
            <a:xfrm>
              <a:off x="5185" y="2658"/>
              <a:ext cx="1" cy="2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80" name="Line 65"/>
            <p:cNvSpPr>
              <a:spLocks noChangeShapeType="1"/>
            </p:cNvSpPr>
            <p:nvPr/>
          </p:nvSpPr>
          <p:spPr bwMode="auto">
            <a:xfrm flipV="1">
              <a:off x="4011" y="2657"/>
              <a:ext cx="1" cy="1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81" name="Freeform 66"/>
            <p:cNvSpPr>
              <a:spLocks/>
            </p:cNvSpPr>
            <p:nvPr/>
          </p:nvSpPr>
          <p:spPr bwMode="auto">
            <a:xfrm>
              <a:off x="3977" y="2817"/>
              <a:ext cx="68" cy="75"/>
            </a:xfrm>
            <a:custGeom>
              <a:avLst/>
              <a:gdLst>
                <a:gd name="T0" fmla="*/ 1 w 138"/>
                <a:gd name="T1" fmla="*/ 75 h 75"/>
                <a:gd name="T2" fmla="*/ 0 w 138"/>
                <a:gd name="T3" fmla="*/ 0 h 75"/>
                <a:gd name="T4" fmla="*/ 0 w 138"/>
                <a:gd name="T5" fmla="*/ 2 h 75"/>
                <a:gd name="T6" fmla="*/ 0 w 138"/>
                <a:gd name="T7" fmla="*/ 4 h 75"/>
                <a:gd name="T8" fmla="*/ 0 w 138"/>
                <a:gd name="T9" fmla="*/ 5 h 75"/>
                <a:gd name="T10" fmla="*/ 0 w 138"/>
                <a:gd name="T11" fmla="*/ 6 h 75"/>
                <a:gd name="T12" fmla="*/ 0 w 138"/>
                <a:gd name="T13" fmla="*/ 7 h 75"/>
                <a:gd name="T14" fmla="*/ 0 w 138"/>
                <a:gd name="T15" fmla="*/ 8 h 75"/>
                <a:gd name="T16" fmla="*/ 0 w 138"/>
                <a:gd name="T17" fmla="*/ 8 h 75"/>
                <a:gd name="T18" fmla="*/ 1 w 138"/>
                <a:gd name="T19" fmla="*/ 9 h 75"/>
                <a:gd name="T20" fmla="*/ 1 w 138"/>
                <a:gd name="T21" fmla="*/ 8 h 75"/>
                <a:gd name="T22" fmla="*/ 1 w 138"/>
                <a:gd name="T23" fmla="*/ 8 h 75"/>
                <a:gd name="T24" fmla="*/ 1 w 138"/>
                <a:gd name="T25" fmla="*/ 7 h 75"/>
                <a:gd name="T26" fmla="*/ 1 w 138"/>
                <a:gd name="T27" fmla="*/ 6 h 75"/>
                <a:gd name="T28" fmla="*/ 1 w 138"/>
                <a:gd name="T29" fmla="*/ 5 h 75"/>
                <a:gd name="T30" fmla="*/ 1 w 138"/>
                <a:gd name="T31" fmla="*/ 4 h 75"/>
                <a:gd name="T32" fmla="*/ 2 w 138"/>
                <a:gd name="T33" fmla="*/ 2 h 75"/>
                <a:gd name="T34" fmla="*/ 2 w 138"/>
                <a:gd name="T35" fmla="*/ 0 h 75"/>
                <a:gd name="T36" fmla="*/ 1 w 138"/>
                <a:gd name="T37" fmla="*/ 75 h 75"/>
                <a:gd name="T38" fmla="*/ 1 w 138"/>
                <a:gd name="T39" fmla="*/ 75 h 7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38"/>
                <a:gd name="T61" fmla="*/ 0 h 75"/>
                <a:gd name="T62" fmla="*/ 138 w 138"/>
                <a:gd name="T63" fmla="*/ 75 h 7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38" h="75">
                  <a:moveTo>
                    <a:pt x="70" y="75"/>
                  </a:moveTo>
                  <a:lnTo>
                    <a:pt x="0" y="0"/>
                  </a:lnTo>
                  <a:lnTo>
                    <a:pt x="10" y="2"/>
                  </a:lnTo>
                  <a:lnTo>
                    <a:pt x="17" y="4"/>
                  </a:lnTo>
                  <a:lnTo>
                    <a:pt x="25" y="5"/>
                  </a:lnTo>
                  <a:lnTo>
                    <a:pt x="34" y="6"/>
                  </a:lnTo>
                  <a:lnTo>
                    <a:pt x="44" y="7"/>
                  </a:lnTo>
                  <a:lnTo>
                    <a:pt x="51" y="8"/>
                  </a:lnTo>
                  <a:lnTo>
                    <a:pt x="60" y="8"/>
                  </a:lnTo>
                  <a:lnTo>
                    <a:pt x="70" y="9"/>
                  </a:lnTo>
                  <a:lnTo>
                    <a:pt x="77" y="8"/>
                  </a:lnTo>
                  <a:lnTo>
                    <a:pt x="87" y="8"/>
                  </a:lnTo>
                  <a:lnTo>
                    <a:pt x="96" y="7"/>
                  </a:lnTo>
                  <a:lnTo>
                    <a:pt x="104" y="6"/>
                  </a:lnTo>
                  <a:lnTo>
                    <a:pt x="113" y="5"/>
                  </a:lnTo>
                  <a:lnTo>
                    <a:pt x="121" y="4"/>
                  </a:lnTo>
                  <a:lnTo>
                    <a:pt x="130" y="2"/>
                  </a:lnTo>
                  <a:lnTo>
                    <a:pt x="138" y="0"/>
                  </a:lnTo>
                  <a:lnTo>
                    <a:pt x="70" y="75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82" name="Freeform 67"/>
            <p:cNvSpPr>
              <a:spLocks/>
            </p:cNvSpPr>
            <p:nvPr/>
          </p:nvSpPr>
          <p:spPr bwMode="auto">
            <a:xfrm>
              <a:off x="3977" y="2599"/>
              <a:ext cx="68" cy="77"/>
            </a:xfrm>
            <a:custGeom>
              <a:avLst/>
              <a:gdLst>
                <a:gd name="T0" fmla="*/ 1 w 138"/>
                <a:gd name="T1" fmla="*/ 0 h 77"/>
                <a:gd name="T2" fmla="*/ 2 w 138"/>
                <a:gd name="T3" fmla="*/ 77 h 77"/>
                <a:gd name="T4" fmla="*/ 2 w 138"/>
                <a:gd name="T5" fmla="*/ 75 h 77"/>
                <a:gd name="T6" fmla="*/ 1 w 138"/>
                <a:gd name="T7" fmla="*/ 73 h 77"/>
                <a:gd name="T8" fmla="*/ 1 w 138"/>
                <a:gd name="T9" fmla="*/ 71 h 77"/>
                <a:gd name="T10" fmla="*/ 1 w 138"/>
                <a:gd name="T11" fmla="*/ 70 h 77"/>
                <a:gd name="T12" fmla="*/ 1 w 138"/>
                <a:gd name="T13" fmla="*/ 69 h 77"/>
                <a:gd name="T14" fmla="*/ 1 w 138"/>
                <a:gd name="T15" fmla="*/ 69 h 77"/>
                <a:gd name="T16" fmla="*/ 1 w 138"/>
                <a:gd name="T17" fmla="*/ 68 h 77"/>
                <a:gd name="T18" fmla="*/ 1 w 138"/>
                <a:gd name="T19" fmla="*/ 68 h 77"/>
                <a:gd name="T20" fmla="*/ 0 w 138"/>
                <a:gd name="T21" fmla="*/ 68 h 77"/>
                <a:gd name="T22" fmla="*/ 0 w 138"/>
                <a:gd name="T23" fmla="*/ 69 h 77"/>
                <a:gd name="T24" fmla="*/ 0 w 138"/>
                <a:gd name="T25" fmla="*/ 69 h 77"/>
                <a:gd name="T26" fmla="*/ 0 w 138"/>
                <a:gd name="T27" fmla="*/ 70 h 77"/>
                <a:gd name="T28" fmla="*/ 0 w 138"/>
                <a:gd name="T29" fmla="*/ 71 h 77"/>
                <a:gd name="T30" fmla="*/ 0 w 138"/>
                <a:gd name="T31" fmla="*/ 73 h 77"/>
                <a:gd name="T32" fmla="*/ 0 w 138"/>
                <a:gd name="T33" fmla="*/ 75 h 77"/>
                <a:gd name="T34" fmla="*/ 0 w 138"/>
                <a:gd name="T35" fmla="*/ 77 h 77"/>
                <a:gd name="T36" fmla="*/ 0 w 138"/>
                <a:gd name="T37" fmla="*/ 77 h 77"/>
                <a:gd name="T38" fmla="*/ 1 w 138"/>
                <a:gd name="T39" fmla="*/ 0 h 77"/>
                <a:gd name="T40" fmla="*/ 1 w 138"/>
                <a:gd name="T41" fmla="*/ 0 h 7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8"/>
                <a:gd name="T64" fmla="*/ 0 h 77"/>
                <a:gd name="T65" fmla="*/ 138 w 138"/>
                <a:gd name="T66" fmla="*/ 77 h 7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8" h="77">
                  <a:moveTo>
                    <a:pt x="70" y="0"/>
                  </a:moveTo>
                  <a:lnTo>
                    <a:pt x="138" y="77"/>
                  </a:lnTo>
                  <a:lnTo>
                    <a:pt x="130" y="75"/>
                  </a:lnTo>
                  <a:lnTo>
                    <a:pt x="121" y="73"/>
                  </a:lnTo>
                  <a:lnTo>
                    <a:pt x="113" y="71"/>
                  </a:lnTo>
                  <a:lnTo>
                    <a:pt x="104" y="70"/>
                  </a:lnTo>
                  <a:lnTo>
                    <a:pt x="96" y="69"/>
                  </a:lnTo>
                  <a:lnTo>
                    <a:pt x="87" y="69"/>
                  </a:lnTo>
                  <a:lnTo>
                    <a:pt x="77" y="68"/>
                  </a:lnTo>
                  <a:lnTo>
                    <a:pt x="70" y="68"/>
                  </a:lnTo>
                  <a:lnTo>
                    <a:pt x="60" y="68"/>
                  </a:lnTo>
                  <a:lnTo>
                    <a:pt x="51" y="69"/>
                  </a:lnTo>
                  <a:lnTo>
                    <a:pt x="44" y="69"/>
                  </a:lnTo>
                  <a:lnTo>
                    <a:pt x="34" y="70"/>
                  </a:lnTo>
                  <a:lnTo>
                    <a:pt x="25" y="71"/>
                  </a:lnTo>
                  <a:lnTo>
                    <a:pt x="17" y="73"/>
                  </a:lnTo>
                  <a:lnTo>
                    <a:pt x="10" y="75"/>
                  </a:lnTo>
                  <a:lnTo>
                    <a:pt x="0" y="77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83" name="Rectangle 68"/>
            <p:cNvSpPr>
              <a:spLocks noChangeArrowheads="1"/>
            </p:cNvSpPr>
            <p:nvPr/>
          </p:nvSpPr>
          <p:spPr bwMode="auto">
            <a:xfrm>
              <a:off x="4065" y="2674"/>
              <a:ext cx="108" cy="17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</p:txBody>
        </p:sp>
        <p:sp>
          <p:nvSpPr>
            <p:cNvPr id="77884" name="Rectangle 69"/>
            <p:cNvSpPr>
              <a:spLocks noChangeArrowheads="1"/>
            </p:cNvSpPr>
            <p:nvPr/>
          </p:nvSpPr>
          <p:spPr bwMode="auto">
            <a:xfrm>
              <a:off x="4470" y="4020"/>
              <a:ext cx="192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宋体" pitchFamily="2" charset="-122"/>
                </a:rPr>
                <a:t>(b)</a:t>
              </a:r>
              <a:endParaRPr lang="en-US" altLang="zh-CN" sz="1600"/>
            </a:p>
          </p:txBody>
        </p:sp>
        <p:sp>
          <p:nvSpPr>
            <p:cNvPr id="77885" name="Line 70"/>
            <p:cNvSpPr>
              <a:spLocks noChangeShapeType="1"/>
            </p:cNvSpPr>
            <p:nvPr/>
          </p:nvSpPr>
          <p:spPr bwMode="auto">
            <a:xfrm flipV="1">
              <a:off x="4519" y="3581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86" name="Line 71"/>
            <p:cNvSpPr>
              <a:spLocks noChangeShapeType="1"/>
            </p:cNvSpPr>
            <p:nvPr/>
          </p:nvSpPr>
          <p:spPr bwMode="auto">
            <a:xfrm>
              <a:off x="4519" y="3763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87" name="Line 72"/>
            <p:cNvSpPr>
              <a:spLocks noChangeShapeType="1"/>
            </p:cNvSpPr>
            <p:nvPr/>
          </p:nvSpPr>
          <p:spPr bwMode="auto">
            <a:xfrm flipV="1">
              <a:off x="3475" y="3355"/>
              <a:ext cx="0" cy="5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" name="Group 73"/>
            <p:cNvGrpSpPr>
              <a:grpSpLocks/>
            </p:cNvGrpSpPr>
            <p:nvPr/>
          </p:nvGrpSpPr>
          <p:grpSpPr bwMode="auto">
            <a:xfrm>
              <a:off x="3334" y="1071"/>
              <a:ext cx="2163" cy="960"/>
              <a:chOff x="3198" y="1136"/>
              <a:chExt cx="2163" cy="960"/>
            </a:xfrm>
          </p:grpSpPr>
          <p:sp>
            <p:nvSpPr>
              <p:cNvPr id="77892" name="Freeform 74"/>
              <p:cNvSpPr>
                <a:spLocks/>
              </p:cNvSpPr>
              <p:nvPr/>
            </p:nvSpPr>
            <p:spPr bwMode="auto">
              <a:xfrm>
                <a:off x="4117" y="1524"/>
                <a:ext cx="29" cy="200"/>
              </a:xfrm>
              <a:custGeom>
                <a:avLst/>
                <a:gdLst>
                  <a:gd name="T0" fmla="*/ 0 w 59"/>
                  <a:gd name="T1" fmla="*/ 0 h 399"/>
                  <a:gd name="T2" fmla="*/ 0 w 59"/>
                  <a:gd name="T3" fmla="*/ 1 h 399"/>
                  <a:gd name="T4" fmla="*/ 0 w 59"/>
                  <a:gd name="T5" fmla="*/ 1 h 399"/>
                  <a:gd name="T6" fmla="*/ 0 w 59"/>
                  <a:gd name="T7" fmla="*/ 1 h 399"/>
                  <a:gd name="T8" fmla="*/ 0 w 59"/>
                  <a:gd name="T9" fmla="*/ 1 h 399"/>
                  <a:gd name="T10" fmla="*/ 0 w 59"/>
                  <a:gd name="T11" fmla="*/ 1 h 399"/>
                  <a:gd name="T12" fmla="*/ 0 w 59"/>
                  <a:gd name="T13" fmla="*/ 1 h 399"/>
                  <a:gd name="T14" fmla="*/ 0 w 59"/>
                  <a:gd name="T15" fmla="*/ 1 h 399"/>
                  <a:gd name="T16" fmla="*/ 0 w 59"/>
                  <a:gd name="T17" fmla="*/ 1 h 399"/>
                  <a:gd name="T18" fmla="*/ 0 w 59"/>
                  <a:gd name="T19" fmla="*/ 2 h 399"/>
                  <a:gd name="T20" fmla="*/ 0 w 59"/>
                  <a:gd name="T21" fmla="*/ 2 h 399"/>
                  <a:gd name="T22" fmla="*/ 0 w 59"/>
                  <a:gd name="T23" fmla="*/ 2 h 399"/>
                  <a:gd name="T24" fmla="*/ 0 w 59"/>
                  <a:gd name="T25" fmla="*/ 2 h 399"/>
                  <a:gd name="T26" fmla="*/ 0 w 59"/>
                  <a:gd name="T27" fmla="*/ 2 h 399"/>
                  <a:gd name="T28" fmla="*/ 0 w 59"/>
                  <a:gd name="T29" fmla="*/ 2 h 399"/>
                  <a:gd name="T30" fmla="*/ 0 w 59"/>
                  <a:gd name="T31" fmla="*/ 2 h 399"/>
                  <a:gd name="T32" fmla="*/ 0 w 59"/>
                  <a:gd name="T33" fmla="*/ 2 h 399"/>
                  <a:gd name="T34" fmla="*/ 0 w 59"/>
                  <a:gd name="T35" fmla="*/ 2 h 399"/>
                  <a:gd name="T36" fmla="*/ 0 w 59"/>
                  <a:gd name="T37" fmla="*/ 2 h 399"/>
                  <a:gd name="T38" fmla="*/ 0 w 59"/>
                  <a:gd name="T39" fmla="*/ 2 h 399"/>
                  <a:gd name="T40" fmla="*/ 0 w 59"/>
                  <a:gd name="T41" fmla="*/ 2 h 399"/>
                  <a:gd name="T42" fmla="*/ 0 w 59"/>
                  <a:gd name="T43" fmla="*/ 3 h 399"/>
                  <a:gd name="T44" fmla="*/ 0 w 59"/>
                  <a:gd name="T45" fmla="*/ 3 h 399"/>
                  <a:gd name="T46" fmla="*/ 0 w 59"/>
                  <a:gd name="T47" fmla="*/ 3 h 399"/>
                  <a:gd name="T48" fmla="*/ 0 w 59"/>
                  <a:gd name="T49" fmla="*/ 3 h 399"/>
                  <a:gd name="T50" fmla="*/ 0 w 59"/>
                  <a:gd name="T51" fmla="*/ 3 h 399"/>
                  <a:gd name="T52" fmla="*/ 0 w 59"/>
                  <a:gd name="T53" fmla="*/ 3 h 399"/>
                  <a:gd name="T54" fmla="*/ 0 w 59"/>
                  <a:gd name="T55" fmla="*/ 3 h 399"/>
                  <a:gd name="T56" fmla="*/ 0 w 59"/>
                  <a:gd name="T57" fmla="*/ 4 h 399"/>
                  <a:gd name="T58" fmla="*/ 0 w 59"/>
                  <a:gd name="T59" fmla="*/ 4 h 399"/>
                  <a:gd name="T60" fmla="*/ 0 w 59"/>
                  <a:gd name="T61" fmla="*/ 4 h 399"/>
                  <a:gd name="T62" fmla="*/ 0 w 59"/>
                  <a:gd name="T63" fmla="*/ 4 h 399"/>
                  <a:gd name="T64" fmla="*/ 0 w 59"/>
                  <a:gd name="T65" fmla="*/ 4 h 399"/>
                  <a:gd name="T66" fmla="*/ 0 w 59"/>
                  <a:gd name="T67" fmla="*/ 4 h 399"/>
                  <a:gd name="T68" fmla="*/ 0 w 59"/>
                  <a:gd name="T69" fmla="*/ 4 h 399"/>
                  <a:gd name="T70" fmla="*/ 0 w 59"/>
                  <a:gd name="T71" fmla="*/ 4 h 399"/>
                  <a:gd name="T72" fmla="*/ 0 w 59"/>
                  <a:gd name="T73" fmla="*/ 4 h 399"/>
                  <a:gd name="T74" fmla="*/ 0 w 59"/>
                  <a:gd name="T75" fmla="*/ 4 h 399"/>
                  <a:gd name="T76" fmla="*/ 0 w 59"/>
                  <a:gd name="T77" fmla="*/ 4 h 399"/>
                  <a:gd name="T78" fmla="*/ 0 w 59"/>
                  <a:gd name="T79" fmla="*/ 5 h 399"/>
                  <a:gd name="T80" fmla="*/ 0 w 59"/>
                  <a:gd name="T81" fmla="*/ 5 h 399"/>
                  <a:gd name="T82" fmla="*/ 0 w 59"/>
                  <a:gd name="T83" fmla="*/ 5 h 399"/>
                  <a:gd name="T84" fmla="*/ 0 w 59"/>
                  <a:gd name="T85" fmla="*/ 5 h 399"/>
                  <a:gd name="T86" fmla="*/ 0 w 59"/>
                  <a:gd name="T87" fmla="*/ 5 h 399"/>
                  <a:gd name="T88" fmla="*/ 0 w 59"/>
                  <a:gd name="T89" fmla="*/ 5 h 399"/>
                  <a:gd name="T90" fmla="*/ 0 w 59"/>
                  <a:gd name="T91" fmla="*/ 5 h 399"/>
                  <a:gd name="T92" fmla="*/ 0 w 59"/>
                  <a:gd name="T93" fmla="*/ 5 h 399"/>
                  <a:gd name="T94" fmla="*/ 0 w 59"/>
                  <a:gd name="T95" fmla="*/ 5 h 399"/>
                  <a:gd name="T96" fmla="*/ 0 w 59"/>
                  <a:gd name="T97" fmla="*/ 5 h 399"/>
                  <a:gd name="T98" fmla="*/ 0 w 59"/>
                  <a:gd name="T99" fmla="*/ 5 h 399"/>
                  <a:gd name="T100" fmla="*/ 0 w 59"/>
                  <a:gd name="T101" fmla="*/ 5 h 399"/>
                  <a:gd name="T102" fmla="*/ 0 w 59"/>
                  <a:gd name="T103" fmla="*/ 6 h 399"/>
                  <a:gd name="T104" fmla="*/ 0 w 59"/>
                  <a:gd name="T105" fmla="*/ 6 h 399"/>
                  <a:gd name="T106" fmla="*/ 0 w 59"/>
                  <a:gd name="T107" fmla="*/ 6 h 399"/>
                  <a:gd name="T108" fmla="*/ 0 w 59"/>
                  <a:gd name="T109" fmla="*/ 6 h 399"/>
                  <a:gd name="T110" fmla="*/ 0 w 59"/>
                  <a:gd name="T111" fmla="*/ 6 h 399"/>
                  <a:gd name="T112" fmla="*/ 0 w 59"/>
                  <a:gd name="T113" fmla="*/ 6 h 399"/>
                  <a:gd name="T114" fmla="*/ 0 w 59"/>
                  <a:gd name="T115" fmla="*/ 6 h 399"/>
                  <a:gd name="T116" fmla="*/ 0 w 59"/>
                  <a:gd name="T117" fmla="*/ 7 h 399"/>
                  <a:gd name="T118" fmla="*/ 0 w 59"/>
                  <a:gd name="T119" fmla="*/ 7 h 399"/>
                  <a:gd name="T120" fmla="*/ 0 w 59"/>
                  <a:gd name="T121" fmla="*/ 7 h 399"/>
                  <a:gd name="T122" fmla="*/ 0 w 59"/>
                  <a:gd name="T123" fmla="*/ 7 h 399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59"/>
                  <a:gd name="T187" fmla="*/ 0 h 399"/>
                  <a:gd name="T188" fmla="*/ 59 w 59"/>
                  <a:gd name="T189" fmla="*/ 399 h 399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59" h="399">
                    <a:moveTo>
                      <a:pt x="0" y="0"/>
                    </a:moveTo>
                    <a:lnTo>
                      <a:pt x="6" y="0"/>
                    </a:lnTo>
                    <a:lnTo>
                      <a:pt x="11" y="0"/>
                    </a:lnTo>
                    <a:lnTo>
                      <a:pt x="17" y="1"/>
                    </a:lnTo>
                    <a:lnTo>
                      <a:pt x="22" y="3"/>
                    </a:lnTo>
                    <a:lnTo>
                      <a:pt x="26" y="4"/>
                    </a:lnTo>
                    <a:lnTo>
                      <a:pt x="31" y="6"/>
                    </a:lnTo>
                    <a:lnTo>
                      <a:pt x="40" y="12"/>
                    </a:lnTo>
                    <a:lnTo>
                      <a:pt x="45" y="16"/>
                    </a:lnTo>
                    <a:lnTo>
                      <a:pt x="48" y="19"/>
                    </a:lnTo>
                    <a:lnTo>
                      <a:pt x="51" y="23"/>
                    </a:lnTo>
                    <a:lnTo>
                      <a:pt x="53" y="28"/>
                    </a:lnTo>
                    <a:lnTo>
                      <a:pt x="56" y="33"/>
                    </a:lnTo>
                    <a:lnTo>
                      <a:pt x="57" y="38"/>
                    </a:lnTo>
                    <a:lnTo>
                      <a:pt x="59" y="42"/>
                    </a:lnTo>
                    <a:lnTo>
                      <a:pt x="59" y="47"/>
                    </a:lnTo>
                    <a:lnTo>
                      <a:pt x="59" y="52"/>
                    </a:lnTo>
                    <a:lnTo>
                      <a:pt x="57" y="56"/>
                    </a:lnTo>
                    <a:lnTo>
                      <a:pt x="57" y="63"/>
                    </a:lnTo>
                    <a:lnTo>
                      <a:pt x="56" y="67"/>
                    </a:lnTo>
                    <a:lnTo>
                      <a:pt x="53" y="71"/>
                    </a:lnTo>
                    <a:lnTo>
                      <a:pt x="50" y="75"/>
                    </a:lnTo>
                    <a:lnTo>
                      <a:pt x="47" y="80"/>
                    </a:lnTo>
                    <a:lnTo>
                      <a:pt x="43" y="83"/>
                    </a:lnTo>
                    <a:lnTo>
                      <a:pt x="36" y="89"/>
                    </a:lnTo>
                    <a:lnTo>
                      <a:pt x="31" y="93"/>
                    </a:lnTo>
                    <a:lnTo>
                      <a:pt x="26" y="94"/>
                    </a:lnTo>
                    <a:lnTo>
                      <a:pt x="20" y="96"/>
                    </a:lnTo>
                    <a:lnTo>
                      <a:pt x="15" y="97"/>
                    </a:lnTo>
                    <a:lnTo>
                      <a:pt x="9" y="99"/>
                    </a:lnTo>
                    <a:lnTo>
                      <a:pt x="5" y="99"/>
                    </a:lnTo>
                    <a:lnTo>
                      <a:pt x="0" y="99"/>
                    </a:lnTo>
                    <a:lnTo>
                      <a:pt x="6" y="99"/>
                    </a:lnTo>
                    <a:lnTo>
                      <a:pt x="11" y="99"/>
                    </a:lnTo>
                    <a:lnTo>
                      <a:pt x="17" y="100"/>
                    </a:lnTo>
                    <a:lnTo>
                      <a:pt x="22" y="102"/>
                    </a:lnTo>
                    <a:lnTo>
                      <a:pt x="26" y="104"/>
                    </a:lnTo>
                    <a:lnTo>
                      <a:pt x="31" y="107"/>
                    </a:lnTo>
                    <a:lnTo>
                      <a:pt x="40" y="111"/>
                    </a:lnTo>
                    <a:lnTo>
                      <a:pt x="45" y="116"/>
                    </a:lnTo>
                    <a:lnTo>
                      <a:pt x="48" y="119"/>
                    </a:lnTo>
                    <a:lnTo>
                      <a:pt x="51" y="124"/>
                    </a:lnTo>
                    <a:lnTo>
                      <a:pt x="53" y="127"/>
                    </a:lnTo>
                    <a:lnTo>
                      <a:pt x="56" y="132"/>
                    </a:lnTo>
                    <a:lnTo>
                      <a:pt x="57" y="137"/>
                    </a:lnTo>
                    <a:lnTo>
                      <a:pt x="59" y="141"/>
                    </a:lnTo>
                    <a:lnTo>
                      <a:pt x="59" y="148"/>
                    </a:lnTo>
                    <a:lnTo>
                      <a:pt x="59" y="152"/>
                    </a:lnTo>
                    <a:lnTo>
                      <a:pt x="57" y="157"/>
                    </a:lnTo>
                    <a:lnTo>
                      <a:pt x="57" y="162"/>
                    </a:lnTo>
                    <a:lnTo>
                      <a:pt x="56" y="167"/>
                    </a:lnTo>
                    <a:lnTo>
                      <a:pt x="53" y="171"/>
                    </a:lnTo>
                    <a:lnTo>
                      <a:pt x="50" y="176"/>
                    </a:lnTo>
                    <a:lnTo>
                      <a:pt x="47" y="179"/>
                    </a:lnTo>
                    <a:lnTo>
                      <a:pt x="43" y="182"/>
                    </a:lnTo>
                    <a:lnTo>
                      <a:pt x="36" y="189"/>
                    </a:lnTo>
                    <a:lnTo>
                      <a:pt x="31" y="192"/>
                    </a:lnTo>
                    <a:lnTo>
                      <a:pt x="26" y="195"/>
                    </a:lnTo>
                    <a:lnTo>
                      <a:pt x="20" y="196"/>
                    </a:lnTo>
                    <a:lnTo>
                      <a:pt x="15" y="198"/>
                    </a:lnTo>
                    <a:lnTo>
                      <a:pt x="9" y="198"/>
                    </a:lnTo>
                    <a:lnTo>
                      <a:pt x="5" y="200"/>
                    </a:lnTo>
                    <a:lnTo>
                      <a:pt x="0" y="200"/>
                    </a:lnTo>
                    <a:lnTo>
                      <a:pt x="6" y="200"/>
                    </a:lnTo>
                    <a:lnTo>
                      <a:pt x="11" y="200"/>
                    </a:lnTo>
                    <a:lnTo>
                      <a:pt x="17" y="201"/>
                    </a:lnTo>
                    <a:lnTo>
                      <a:pt x="22" y="203"/>
                    </a:lnTo>
                    <a:lnTo>
                      <a:pt x="26" y="204"/>
                    </a:lnTo>
                    <a:lnTo>
                      <a:pt x="31" y="206"/>
                    </a:lnTo>
                    <a:lnTo>
                      <a:pt x="40" y="212"/>
                    </a:lnTo>
                    <a:lnTo>
                      <a:pt x="45" y="215"/>
                    </a:lnTo>
                    <a:lnTo>
                      <a:pt x="48" y="220"/>
                    </a:lnTo>
                    <a:lnTo>
                      <a:pt x="51" y="223"/>
                    </a:lnTo>
                    <a:lnTo>
                      <a:pt x="53" y="228"/>
                    </a:lnTo>
                    <a:lnTo>
                      <a:pt x="56" y="233"/>
                    </a:lnTo>
                    <a:lnTo>
                      <a:pt x="57" y="237"/>
                    </a:lnTo>
                    <a:lnTo>
                      <a:pt x="59" y="242"/>
                    </a:lnTo>
                    <a:lnTo>
                      <a:pt x="59" y="247"/>
                    </a:lnTo>
                    <a:lnTo>
                      <a:pt x="59" y="252"/>
                    </a:lnTo>
                    <a:lnTo>
                      <a:pt x="57" y="258"/>
                    </a:lnTo>
                    <a:lnTo>
                      <a:pt x="57" y="263"/>
                    </a:lnTo>
                    <a:lnTo>
                      <a:pt x="56" y="267"/>
                    </a:lnTo>
                    <a:lnTo>
                      <a:pt x="53" y="270"/>
                    </a:lnTo>
                    <a:lnTo>
                      <a:pt x="50" y="275"/>
                    </a:lnTo>
                    <a:lnTo>
                      <a:pt x="47" y="280"/>
                    </a:lnTo>
                    <a:lnTo>
                      <a:pt x="43" y="283"/>
                    </a:lnTo>
                    <a:lnTo>
                      <a:pt x="36" y="289"/>
                    </a:lnTo>
                    <a:lnTo>
                      <a:pt x="31" y="292"/>
                    </a:lnTo>
                    <a:lnTo>
                      <a:pt x="26" y="294"/>
                    </a:lnTo>
                    <a:lnTo>
                      <a:pt x="20" y="296"/>
                    </a:lnTo>
                    <a:lnTo>
                      <a:pt x="15" y="297"/>
                    </a:lnTo>
                    <a:lnTo>
                      <a:pt x="9" y="299"/>
                    </a:lnTo>
                    <a:lnTo>
                      <a:pt x="5" y="299"/>
                    </a:lnTo>
                    <a:lnTo>
                      <a:pt x="0" y="299"/>
                    </a:lnTo>
                    <a:lnTo>
                      <a:pt x="6" y="299"/>
                    </a:lnTo>
                    <a:lnTo>
                      <a:pt x="11" y="299"/>
                    </a:lnTo>
                    <a:lnTo>
                      <a:pt x="17" y="300"/>
                    </a:lnTo>
                    <a:lnTo>
                      <a:pt x="22" y="302"/>
                    </a:lnTo>
                    <a:lnTo>
                      <a:pt x="26" y="303"/>
                    </a:lnTo>
                    <a:lnTo>
                      <a:pt x="31" y="307"/>
                    </a:lnTo>
                    <a:lnTo>
                      <a:pt x="40" y="311"/>
                    </a:lnTo>
                    <a:lnTo>
                      <a:pt x="45" y="316"/>
                    </a:lnTo>
                    <a:lnTo>
                      <a:pt x="48" y="319"/>
                    </a:lnTo>
                    <a:lnTo>
                      <a:pt x="51" y="324"/>
                    </a:lnTo>
                    <a:lnTo>
                      <a:pt x="53" y="327"/>
                    </a:lnTo>
                    <a:lnTo>
                      <a:pt x="56" y="332"/>
                    </a:lnTo>
                    <a:lnTo>
                      <a:pt x="57" y="336"/>
                    </a:lnTo>
                    <a:lnTo>
                      <a:pt x="59" y="341"/>
                    </a:lnTo>
                    <a:lnTo>
                      <a:pt x="59" y="348"/>
                    </a:lnTo>
                    <a:lnTo>
                      <a:pt x="59" y="352"/>
                    </a:lnTo>
                    <a:lnTo>
                      <a:pt x="57" y="357"/>
                    </a:lnTo>
                    <a:lnTo>
                      <a:pt x="57" y="362"/>
                    </a:lnTo>
                    <a:lnTo>
                      <a:pt x="56" y="366"/>
                    </a:lnTo>
                    <a:lnTo>
                      <a:pt x="53" y="371"/>
                    </a:lnTo>
                    <a:lnTo>
                      <a:pt x="50" y="376"/>
                    </a:lnTo>
                    <a:lnTo>
                      <a:pt x="47" y="379"/>
                    </a:lnTo>
                    <a:lnTo>
                      <a:pt x="43" y="382"/>
                    </a:lnTo>
                    <a:lnTo>
                      <a:pt x="36" y="388"/>
                    </a:lnTo>
                    <a:lnTo>
                      <a:pt x="31" y="392"/>
                    </a:lnTo>
                    <a:lnTo>
                      <a:pt x="26" y="395"/>
                    </a:lnTo>
                    <a:lnTo>
                      <a:pt x="20" y="396"/>
                    </a:lnTo>
                    <a:lnTo>
                      <a:pt x="15" y="398"/>
                    </a:lnTo>
                    <a:lnTo>
                      <a:pt x="9" y="398"/>
                    </a:lnTo>
                    <a:lnTo>
                      <a:pt x="5" y="399"/>
                    </a:lnTo>
                    <a:lnTo>
                      <a:pt x="0" y="39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93" name="Freeform 75"/>
              <p:cNvSpPr>
                <a:spLocks/>
              </p:cNvSpPr>
              <p:nvPr/>
            </p:nvSpPr>
            <p:spPr bwMode="auto">
              <a:xfrm>
                <a:off x="4201" y="1414"/>
                <a:ext cx="29" cy="200"/>
              </a:xfrm>
              <a:custGeom>
                <a:avLst/>
                <a:gdLst>
                  <a:gd name="T0" fmla="*/ 0 w 59"/>
                  <a:gd name="T1" fmla="*/ 0 h 400"/>
                  <a:gd name="T2" fmla="*/ 0 w 59"/>
                  <a:gd name="T3" fmla="*/ 1 h 400"/>
                  <a:gd name="T4" fmla="*/ 0 w 59"/>
                  <a:gd name="T5" fmla="*/ 1 h 400"/>
                  <a:gd name="T6" fmla="*/ 0 w 59"/>
                  <a:gd name="T7" fmla="*/ 1 h 400"/>
                  <a:gd name="T8" fmla="*/ 0 w 59"/>
                  <a:gd name="T9" fmla="*/ 1 h 400"/>
                  <a:gd name="T10" fmla="*/ 0 w 59"/>
                  <a:gd name="T11" fmla="*/ 1 h 400"/>
                  <a:gd name="T12" fmla="*/ 0 w 59"/>
                  <a:gd name="T13" fmla="*/ 1 h 400"/>
                  <a:gd name="T14" fmla="*/ 0 w 59"/>
                  <a:gd name="T15" fmla="*/ 1 h 400"/>
                  <a:gd name="T16" fmla="*/ 0 w 59"/>
                  <a:gd name="T17" fmla="*/ 1 h 400"/>
                  <a:gd name="T18" fmla="*/ 0 w 59"/>
                  <a:gd name="T19" fmla="*/ 2 h 400"/>
                  <a:gd name="T20" fmla="*/ 0 w 59"/>
                  <a:gd name="T21" fmla="*/ 2 h 400"/>
                  <a:gd name="T22" fmla="*/ 0 w 59"/>
                  <a:gd name="T23" fmla="*/ 2 h 400"/>
                  <a:gd name="T24" fmla="*/ 0 w 59"/>
                  <a:gd name="T25" fmla="*/ 2 h 400"/>
                  <a:gd name="T26" fmla="*/ 0 w 59"/>
                  <a:gd name="T27" fmla="*/ 2 h 400"/>
                  <a:gd name="T28" fmla="*/ 0 w 59"/>
                  <a:gd name="T29" fmla="*/ 2 h 400"/>
                  <a:gd name="T30" fmla="*/ 0 w 59"/>
                  <a:gd name="T31" fmla="*/ 2 h 400"/>
                  <a:gd name="T32" fmla="*/ 0 w 59"/>
                  <a:gd name="T33" fmla="*/ 2 h 400"/>
                  <a:gd name="T34" fmla="*/ 0 w 59"/>
                  <a:gd name="T35" fmla="*/ 2 h 400"/>
                  <a:gd name="T36" fmla="*/ 0 w 59"/>
                  <a:gd name="T37" fmla="*/ 2 h 400"/>
                  <a:gd name="T38" fmla="*/ 0 w 59"/>
                  <a:gd name="T39" fmla="*/ 2 h 400"/>
                  <a:gd name="T40" fmla="*/ 0 w 59"/>
                  <a:gd name="T41" fmla="*/ 2 h 400"/>
                  <a:gd name="T42" fmla="*/ 0 w 59"/>
                  <a:gd name="T43" fmla="*/ 3 h 400"/>
                  <a:gd name="T44" fmla="*/ 0 w 59"/>
                  <a:gd name="T45" fmla="*/ 3 h 400"/>
                  <a:gd name="T46" fmla="*/ 0 w 59"/>
                  <a:gd name="T47" fmla="*/ 3 h 400"/>
                  <a:gd name="T48" fmla="*/ 0 w 59"/>
                  <a:gd name="T49" fmla="*/ 3 h 400"/>
                  <a:gd name="T50" fmla="*/ 0 w 59"/>
                  <a:gd name="T51" fmla="*/ 3 h 400"/>
                  <a:gd name="T52" fmla="*/ 0 w 59"/>
                  <a:gd name="T53" fmla="*/ 3 h 400"/>
                  <a:gd name="T54" fmla="*/ 0 w 59"/>
                  <a:gd name="T55" fmla="*/ 3 h 400"/>
                  <a:gd name="T56" fmla="*/ 0 w 59"/>
                  <a:gd name="T57" fmla="*/ 4 h 400"/>
                  <a:gd name="T58" fmla="*/ 0 w 59"/>
                  <a:gd name="T59" fmla="*/ 4 h 400"/>
                  <a:gd name="T60" fmla="*/ 0 w 59"/>
                  <a:gd name="T61" fmla="*/ 4 h 400"/>
                  <a:gd name="T62" fmla="*/ 0 w 59"/>
                  <a:gd name="T63" fmla="*/ 4 h 400"/>
                  <a:gd name="T64" fmla="*/ 0 w 59"/>
                  <a:gd name="T65" fmla="*/ 4 h 400"/>
                  <a:gd name="T66" fmla="*/ 0 w 59"/>
                  <a:gd name="T67" fmla="*/ 4 h 400"/>
                  <a:gd name="T68" fmla="*/ 0 w 59"/>
                  <a:gd name="T69" fmla="*/ 4 h 400"/>
                  <a:gd name="T70" fmla="*/ 0 w 59"/>
                  <a:gd name="T71" fmla="*/ 4 h 400"/>
                  <a:gd name="T72" fmla="*/ 0 w 59"/>
                  <a:gd name="T73" fmla="*/ 4 h 400"/>
                  <a:gd name="T74" fmla="*/ 0 w 59"/>
                  <a:gd name="T75" fmla="*/ 4 h 400"/>
                  <a:gd name="T76" fmla="*/ 0 w 59"/>
                  <a:gd name="T77" fmla="*/ 4 h 400"/>
                  <a:gd name="T78" fmla="*/ 0 w 59"/>
                  <a:gd name="T79" fmla="*/ 5 h 400"/>
                  <a:gd name="T80" fmla="*/ 0 w 59"/>
                  <a:gd name="T81" fmla="*/ 5 h 400"/>
                  <a:gd name="T82" fmla="*/ 0 w 59"/>
                  <a:gd name="T83" fmla="*/ 5 h 400"/>
                  <a:gd name="T84" fmla="*/ 0 w 59"/>
                  <a:gd name="T85" fmla="*/ 5 h 400"/>
                  <a:gd name="T86" fmla="*/ 0 w 59"/>
                  <a:gd name="T87" fmla="*/ 5 h 400"/>
                  <a:gd name="T88" fmla="*/ 0 w 59"/>
                  <a:gd name="T89" fmla="*/ 5 h 400"/>
                  <a:gd name="T90" fmla="*/ 0 w 59"/>
                  <a:gd name="T91" fmla="*/ 5 h 400"/>
                  <a:gd name="T92" fmla="*/ 0 w 59"/>
                  <a:gd name="T93" fmla="*/ 5 h 400"/>
                  <a:gd name="T94" fmla="*/ 0 w 59"/>
                  <a:gd name="T95" fmla="*/ 5 h 400"/>
                  <a:gd name="T96" fmla="*/ 0 w 59"/>
                  <a:gd name="T97" fmla="*/ 5 h 400"/>
                  <a:gd name="T98" fmla="*/ 0 w 59"/>
                  <a:gd name="T99" fmla="*/ 5 h 400"/>
                  <a:gd name="T100" fmla="*/ 0 w 59"/>
                  <a:gd name="T101" fmla="*/ 5 h 400"/>
                  <a:gd name="T102" fmla="*/ 0 w 59"/>
                  <a:gd name="T103" fmla="*/ 6 h 400"/>
                  <a:gd name="T104" fmla="*/ 0 w 59"/>
                  <a:gd name="T105" fmla="*/ 6 h 400"/>
                  <a:gd name="T106" fmla="*/ 0 w 59"/>
                  <a:gd name="T107" fmla="*/ 6 h 400"/>
                  <a:gd name="T108" fmla="*/ 0 w 59"/>
                  <a:gd name="T109" fmla="*/ 6 h 400"/>
                  <a:gd name="T110" fmla="*/ 0 w 59"/>
                  <a:gd name="T111" fmla="*/ 6 h 400"/>
                  <a:gd name="T112" fmla="*/ 0 w 59"/>
                  <a:gd name="T113" fmla="*/ 6 h 400"/>
                  <a:gd name="T114" fmla="*/ 0 w 59"/>
                  <a:gd name="T115" fmla="*/ 6 h 400"/>
                  <a:gd name="T116" fmla="*/ 0 w 59"/>
                  <a:gd name="T117" fmla="*/ 7 h 400"/>
                  <a:gd name="T118" fmla="*/ 0 w 59"/>
                  <a:gd name="T119" fmla="*/ 7 h 400"/>
                  <a:gd name="T120" fmla="*/ 0 w 59"/>
                  <a:gd name="T121" fmla="*/ 7 h 400"/>
                  <a:gd name="T122" fmla="*/ 0 w 59"/>
                  <a:gd name="T123" fmla="*/ 7 h 40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59"/>
                  <a:gd name="T187" fmla="*/ 0 h 400"/>
                  <a:gd name="T188" fmla="*/ 59 w 59"/>
                  <a:gd name="T189" fmla="*/ 400 h 400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59" h="400">
                    <a:moveTo>
                      <a:pt x="59" y="0"/>
                    </a:moveTo>
                    <a:lnTo>
                      <a:pt x="53" y="0"/>
                    </a:lnTo>
                    <a:lnTo>
                      <a:pt x="47" y="0"/>
                    </a:lnTo>
                    <a:lnTo>
                      <a:pt x="42" y="2"/>
                    </a:lnTo>
                    <a:lnTo>
                      <a:pt x="36" y="4"/>
                    </a:lnTo>
                    <a:lnTo>
                      <a:pt x="31" y="5"/>
                    </a:lnTo>
                    <a:lnTo>
                      <a:pt x="26" y="8"/>
                    </a:lnTo>
                    <a:lnTo>
                      <a:pt x="19" y="13"/>
                    </a:lnTo>
                    <a:lnTo>
                      <a:pt x="14" y="16"/>
                    </a:lnTo>
                    <a:lnTo>
                      <a:pt x="11" y="21"/>
                    </a:lnTo>
                    <a:lnTo>
                      <a:pt x="8" y="24"/>
                    </a:lnTo>
                    <a:lnTo>
                      <a:pt x="5" y="29"/>
                    </a:lnTo>
                    <a:lnTo>
                      <a:pt x="3" y="34"/>
                    </a:lnTo>
                    <a:lnTo>
                      <a:pt x="1" y="38"/>
                    </a:lnTo>
                    <a:lnTo>
                      <a:pt x="0" y="43"/>
                    </a:lnTo>
                    <a:lnTo>
                      <a:pt x="0" y="48"/>
                    </a:lnTo>
                    <a:lnTo>
                      <a:pt x="0" y="54"/>
                    </a:lnTo>
                    <a:lnTo>
                      <a:pt x="0" y="59"/>
                    </a:lnTo>
                    <a:lnTo>
                      <a:pt x="1" y="63"/>
                    </a:lnTo>
                    <a:lnTo>
                      <a:pt x="3" y="68"/>
                    </a:lnTo>
                    <a:lnTo>
                      <a:pt x="6" y="73"/>
                    </a:lnTo>
                    <a:lnTo>
                      <a:pt x="8" y="76"/>
                    </a:lnTo>
                    <a:lnTo>
                      <a:pt x="11" y="81"/>
                    </a:lnTo>
                    <a:lnTo>
                      <a:pt x="14" y="84"/>
                    </a:lnTo>
                    <a:lnTo>
                      <a:pt x="23" y="90"/>
                    </a:lnTo>
                    <a:lnTo>
                      <a:pt x="28" y="93"/>
                    </a:lnTo>
                    <a:lnTo>
                      <a:pt x="33" y="95"/>
                    </a:lnTo>
                    <a:lnTo>
                      <a:pt x="37" y="96"/>
                    </a:lnTo>
                    <a:lnTo>
                      <a:pt x="43" y="98"/>
                    </a:lnTo>
                    <a:lnTo>
                      <a:pt x="48" y="100"/>
                    </a:lnTo>
                    <a:lnTo>
                      <a:pt x="54" y="100"/>
                    </a:lnTo>
                    <a:lnTo>
                      <a:pt x="59" y="100"/>
                    </a:lnTo>
                    <a:lnTo>
                      <a:pt x="53" y="100"/>
                    </a:lnTo>
                    <a:lnTo>
                      <a:pt x="47" y="101"/>
                    </a:lnTo>
                    <a:lnTo>
                      <a:pt x="42" y="101"/>
                    </a:lnTo>
                    <a:lnTo>
                      <a:pt x="36" y="103"/>
                    </a:lnTo>
                    <a:lnTo>
                      <a:pt x="31" y="106"/>
                    </a:lnTo>
                    <a:lnTo>
                      <a:pt x="26" y="107"/>
                    </a:lnTo>
                    <a:lnTo>
                      <a:pt x="19" y="114"/>
                    </a:lnTo>
                    <a:lnTo>
                      <a:pt x="14" y="117"/>
                    </a:lnTo>
                    <a:lnTo>
                      <a:pt x="11" y="120"/>
                    </a:lnTo>
                    <a:lnTo>
                      <a:pt x="8" y="125"/>
                    </a:lnTo>
                    <a:lnTo>
                      <a:pt x="5" y="130"/>
                    </a:lnTo>
                    <a:lnTo>
                      <a:pt x="3" y="133"/>
                    </a:lnTo>
                    <a:lnTo>
                      <a:pt x="1" y="137"/>
                    </a:lnTo>
                    <a:lnTo>
                      <a:pt x="0" y="144"/>
                    </a:lnTo>
                    <a:lnTo>
                      <a:pt x="0" y="148"/>
                    </a:lnTo>
                    <a:lnTo>
                      <a:pt x="0" y="153"/>
                    </a:lnTo>
                    <a:lnTo>
                      <a:pt x="0" y="158"/>
                    </a:lnTo>
                    <a:lnTo>
                      <a:pt x="1" y="163"/>
                    </a:lnTo>
                    <a:lnTo>
                      <a:pt x="3" y="167"/>
                    </a:lnTo>
                    <a:lnTo>
                      <a:pt x="6" y="172"/>
                    </a:lnTo>
                    <a:lnTo>
                      <a:pt x="8" y="177"/>
                    </a:lnTo>
                    <a:lnTo>
                      <a:pt x="11" y="180"/>
                    </a:lnTo>
                    <a:lnTo>
                      <a:pt x="14" y="185"/>
                    </a:lnTo>
                    <a:lnTo>
                      <a:pt x="23" y="191"/>
                    </a:lnTo>
                    <a:lnTo>
                      <a:pt x="28" y="192"/>
                    </a:lnTo>
                    <a:lnTo>
                      <a:pt x="33" y="196"/>
                    </a:lnTo>
                    <a:lnTo>
                      <a:pt x="37" y="197"/>
                    </a:lnTo>
                    <a:lnTo>
                      <a:pt x="43" y="199"/>
                    </a:lnTo>
                    <a:lnTo>
                      <a:pt x="48" y="200"/>
                    </a:lnTo>
                    <a:lnTo>
                      <a:pt x="54" y="200"/>
                    </a:lnTo>
                    <a:lnTo>
                      <a:pt x="59" y="200"/>
                    </a:lnTo>
                    <a:lnTo>
                      <a:pt x="53" y="200"/>
                    </a:lnTo>
                    <a:lnTo>
                      <a:pt x="47" y="200"/>
                    </a:lnTo>
                    <a:lnTo>
                      <a:pt x="42" y="202"/>
                    </a:lnTo>
                    <a:lnTo>
                      <a:pt x="36" y="203"/>
                    </a:lnTo>
                    <a:lnTo>
                      <a:pt x="31" y="205"/>
                    </a:lnTo>
                    <a:lnTo>
                      <a:pt x="26" y="208"/>
                    </a:lnTo>
                    <a:lnTo>
                      <a:pt x="19" y="213"/>
                    </a:lnTo>
                    <a:lnTo>
                      <a:pt x="14" y="216"/>
                    </a:lnTo>
                    <a:lnTo>
                      <a:pt x="11" y="221"/>
                    </a:lnTo>
                    <a:lnTo>
                      <a:pt x="8" y="224"/>
                    </a:lnTo>
                    <a:lnTo>
                      <a:pt x="5" y="229"/>
                    </a:lnTo>
                    <a:lnTo>
                      <a:pt x="3" y="233"/>
                    </a:lnTo>
                    <a:lnTo>
                      <a:pt x="1" y="238"/>
                    </a:lnTo>
                    <a:lnTo>
                      <a:pt x="0" y="243"/>
                    </a:lnTo>
                    <a:lnTo>
                      <a:pt x="0" y="248"/>
                    </a:lnTo>
                    <a:lnTo>
                      <a:pt x="0" y="254"/>
                    </a:lnTo>
                    <a:lnTo>
                      <a:pt x="0" y="259"/>
                    </a:lnTo>
                    <a:lnTo>
                      <a:pt x="1" y="263"/>
                    </a:lnTo>
                    <a:lnTo>
                      <a:pt x="3" y="268"/>
                    </a:lnTo>
                    <a:lnTo>
                      <a:pt x="6" y="273"/>
                    </a:lnTo>
                    <a:lnTo>
                      <a:pt x="8" y="276"/>
                    </a:lnTo>
                    <a:lnTo>
                      <a:pt x="11" y="281"/>
                    </a:lnTo>
                    <a:lnTo>
                      <a:pt x="14" y="284"/>
                    </a:lnTo>
                    <a:lnTo>
                      <a:pt x="23" y="290"/>
                    </a:lnTo>
                    <a:lnTo>
                      <a:pt x="28" y="293"/>
                    </a:lnTo>
                    <a:lnTo>
                      <a:pt x="33" y="295"/>
                    </a:lnTo>
                    <a:lnTo>
                      <a:pt x="37" y="298"/>
                    </a:lnTo>
                    <a:lnTo>
                      <a:pt x="43" y="298"/>
                    </a:lnTo>
                    <a:lnTo>
                      <a:pt x="48" y="299"/>
                    </a:lnTo>
                    <a:lnTo>
                      <a:pt x="54" y="299"/>
                    </a:lnTo>
                    <a:lnTo>
                      <a:pt x="59" y="299"/>
                    </a:lnTo>
                    <a:lnTo>
                      <a:pt x="53" y="299"/>
                    </a:lnTo>
                    <a:lnTo>
                      <a:pt x="47" y="301"/>
                    </a:lnTo>
                    <a:lnTo>
                      <a:pt x="42" y="301"/>
                    </a:lnTo>
                    <a:lnTo>
                      <a:pt x="36" y="303"/>
                    </a:lnTo>
                    <a:lnTo>
                      <a:pt x="31" y="306"/>
                    </a:lnTo>
                    <a:lnTo>
                      <a:pt x="26" y="307"/>
                    </a:lnTo>
                    <a:lnTo>
                      <a:pt x="19" y="314"/>
                    </a:lnTo>
                    <a:lnTo>
                      <a:pt x="14" y="317"/>
                    </a:lnTo>
                    <a:lnTo>
                      <a:pt x="11" y="320"/>
                    </a:lnTo>
                    <a:lnTo>
                      <a:pt x="8" y="325"/>
                    </a:lnTo>
                    <a:lnTo>
                      <a:pt x="5" y="329"/>
                    </a:lnTo>
                    <a:lnTo>
                      <a:pt x="3" y="332"/>
                    </a:lnTo>
                    <a:lnTo>
                      <a:pt x="1" y="337"/>
                    </a:lnTo>
                    <a:lnTo>
                      <a:pt x="0" y="344"/>
                    </a:lnTo>
                    <a:lnTo>
                      <a:pt x="0" y="348"/>
                    </a:lnTo>
                    <a:lnTo>
                      <a:pt x="0" y="353"/>
                    </a:lnTo>
                    <a:lnTo>
                      <a:pt x="0" y="358"/>
                    </a:lnTo>
                    <a:lnTo>
                      <a:pt x="1" y="362"/>
                    </a:lnTo>
                    <a:lnTo>
                      <a:pt x="3" y="367"/>
                    </a:lnTo>
                    <a:lnTo>
                      <a:pt x="6" y="372"/>
                    </a:lnTo>
                    <a:lnTo>
                      <a:pt x="8" y="377"/>
                    </a:lnTo>
                    <a:lnTo>
                      <a:pt x="11" y="380"/>
                    </a:lnTo>
                    <a:lnTo>
                      <a:pt x="14" y="384"/>
                    </a:lnTo>
                    <a:lnTo>
                      <a:pt x="23" y="391"/>
                    </a:lnTo>
                    <a:lnTo>
                      <a:pt x="28" y="392"/>
                    </a:lnTo>
                    <a:lnTo>
                      <a:pt x="33" y="395"/>
                    </a:lnTo>
                    <a:lnTo>
                      <a:pt x="37" y="397"/>
                    </a:lnTo>
                    <a:lnTo>
                      <a:pt x="43" y="399"/>
                    </a:lnTo>
                    <a:lnTo>
                      <a:pt x="48" y="400"/>
                    </a:lnTo>
                    <a:lnTo>
                      <a:pt x="54" y="400"/>
                    </a:lnTo>
                    <a:lnTo>
                      <a:pt x="59" y="40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94" name="Line 76"/>
              <p:cNvSpPr>
                <a:spLocks noChangeShapeType="1"/>
              </p:cNvSpPr>
              <p:nvPr/>
            </p:nvSpPr>
            <p:spPr bwMode="auto">
              <a:xfrm>
                <a:off x="4165" y="1419"/>
                <a:ext cx="1" cy="1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95" name="Line 77"/>
              <p:cNvSpPr>
                <a:spLocks noChangeShapeType="1"/>
              </p:cNvSpPr>
              <p:nvPr/>
            </p:nvSpPr>
            <p:spPr bwMode="auto">
              <a:xfrm flipV="1">
                <a:off x="4177" y="1419"/>
                <a:ext cx="1" cy="1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96" name="Rectangle 78"/>
              <p:cNvSpPr>
                <a:spLocks noChangeArrowheads="1"/>
              </p:cNvSpPr>
              <p:nvPr/>
            </p:nvSpPr>
            <p:spPr bwMode="auto">
              <a:xfrm>
                <a:off x="5125" y="1427"/>
                <a:ext cx="40" cy="100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77897" name="Rectangle 79"/>
              <p:cNvSpPr>
                <a:spLocks noChangeArrowheads="1"/>
              </p:cNvSpPr>
              <p:nvPr/>
            </p:nvSpPr>
            <p:spPr bwMode="auto">
              <a:xfrm>
                <a:off x="5125" y="1427"/>
                <a:ext cx="40" cy="100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77898" name="Line 80"/>
              <p:cNvSpPr>
                <a:spLocks noChangeShapeType="1"/>
              </p:cNvSpPr>
              <p:nvPr/>
            </p:nvSpPr>
            <p:spPr bwMode="auto">
              <a:xfrm>
                <a:off x="4948" y="1467"/>
                <a:ext cx="7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99" name="Line 81"/>
              <p:cNvSpPr>
                <a:spLocks noChangeShapeType="1"/>
              </p:cNvSpPr>
              <p:nvPr/>
            </p:nvSpPr>
            <p:spPr bwMode="auto">
              <a:xfrm>
                <a:off x="4948" y="1497"/>
                <a:ext cx="7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00" name="Line 82"/>
              <p:cNvSpPr>
                <a:spLocks noChangeShapeType="1"/>
              </p:cNvSpPr>
              <p:nvPr/>
            </p:nvSpPr>
            <p:spPr bwMode="auto">
              <a:xfrm>
                <a:off x="4987" y="1497"/>
                <a:ext cx="1" cy="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01" name="Line 83"/>
              <p:cNvSpPr>
                <a:spLocks noChangeShapeType="1"/>
              </p:cNvSpPr>
              <p:nvPr/>
            </p:nvSpPr>
            <p:spPr bwMode="auto">
              <a:xfrm flipV="1">
                <a:off x="4987" y="1377"/>
                <a:ext cx="1" cy="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02" name="Line 84"/>
              <p:cNvSpPr>
                <a:spLocks noChangeShapeType="1"/>
              </p:cNvSpPr>
              <p:nvPr/>
            </p:nvSpPr>
            <p:spPr bwMode="auto">
              <a:xfrm flipV="1">
                <a:off x="4987" y="1357"/>
                <a:ext cx="1" cy="2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03" name="Freeform 85"/>
              <p:cNvSpPr>
                <a:spLocks/>
              </p:cNvSpPr>
              <p:nvPr/>
            </p:nvSpPr>
            <p:spPr bwMode="auto">
              <a:xfrm>
                <a:off x="4101" y="1542"/>
                <a:ext cx="25" cy="25"/>
              </a:xfrm>
              <a:custGeom>
                <a:avLst/>
                <a:gdLst>
                  <a:gd name="T0" fmla="*/ 0 w 50"/>
                  <a:gd name="T1" fmla="*/ 0 h 51"/>
                  <a:gd name="T2" fmla="*/ 0 w 50"/>
                  <a:gd name="T3" fmla="*/ 0 h 51"/>
                  <a:gd name="T4" fmla="*/ 1 w 50"/>
                  <a:gd name="T5" fmla="*/ 0 h 51"/>
                  <a:gd name="T6" fmla="*/ 1 w 50"/>
                  <a:gd name="T7" fmla="*/ 0 h 51"/>
                  <a:gd name="T8" fmla="*/ 1 w 50"/>
                  <a:gd name="T9" fmla="*/ 0 h 51"/>
                  <a:gd name="T10" fmla="*/ 1 w 50"/>
                  <a:gd name="T11" fmla="*/ 0 h 51"/>
                  <a:gd name="T12" fmla="*/ 1 w 50"/>
                  <a:gd name="T13" fmla="*/ 0 h 51"/>
                  <a:gd name="T14" fmla="*/ 1 w 50"/>
                  <a:gd name="T15" fmla="*/ 0 h 51"/>
                  <a:gd name="T16" fmla="*/ 1 w 50"/>
                  <a:gd name="T17" fmla="*/ 0 h 51"/>
                  <a:gd name="T18" fmla="*/ 1 w 50"/>
                  <a:gd name="T19" fmla="*/ 0 h 51"/>
                  <a:gd name="T20" fmla="*/ 1 w 50"/>
                  <a:gd name="T21" fmla="*/ 0 h 51"/>
                  <a:gd name="T22" fmla="*/ 1 w 50"/>
                  <a:gd name="T23" fmla="*/ 0 h 51"/>
                  <a:gd name="T24" fmla="*/ 1 w 50"/>
                  <a:gd name="T25" fmla="*/ 0 h 51"/>
                  <a:gd name="T26" fmla="*/ 1 w 50"/>
                  <a:gd name="T27" fmla="*/ 0 h 51"/>
                  <a:gd name="T28" fmla="*/ 1 w 50"/>
                  <a:gd name="T29" fmla="*/ 0 h 51"/>
                  <a:gd name="T30" fmla="*/ 1 w 50"/>
                  <a:gd name="T31" fmla="*/ 0 h 51"/>
                  <a:gd name="T32" fmla="*/ 1 w 50"/>
                  <a:gd name="T33" fmla="*/ 0 h 51"/>
                  <a:gd name="T34" fmla="*/ 1 w 50"/>
                  <a:gd name="T35" fmla="*/ 0 h 51"/>
                  <a:gd name="T36" fmla="*/ 1 w 50"/>
                  <a:gd name="T37" fmla="*/ 0 h 51"/>
                  <a:gd name="T38" fmla="*/ 1 w 50"/>
                  <a:gd name="T39" fmla="*/ 0 h 51"/>
                  <a:gd name="T40" fmla="*/ 1 w 50"/>
                  <a:gd name="T41" fmla="*/ 0 h 51"/>
                  <a:gd name="T42" fmla="*/ 1 w 50"/>
                  <a:gd name="T43" fmla="*/ 0 h 51"/>
                  <a:gd name="T44" fmla="*/ 1 w 50"/>
                  <a:gd name="T45" fmla="*/ 0 h 51"/>
                  <a:gd name="T46" fmla="*/ 1 w 50"/>
                  <a:gd name="T47" fmla="*/ 0 h 51"/>
                  <a:gd name="T48" fmla="*/ 1 w 50"/>
                  <a:gd name="T49" fmla="*/ 0 h 51"/>
                  <a:gd name="T50" fmla="*/ 1 w 50"/>
                  <a:gd name="T51" fmla="*/ 0 h 51"/>
                  <a:gd name="T52" fmla="*/ 1 w 50"/>
                  <a:gd name="T53" fmla="*/ 0 h 51"/>
                  <a:gd name="T54" fmla="*/ 1 w 50"/>
                  <a:gd name="T55" fmla="*/ 0 h 51"/>
                  <a:gd name="T56" fmla="*/ 1 w 50"/>
                  <a:gd name="T57" fmla="*/ 0 h 51"/>
                  <a:gd name="T58" fmla="*/ 1 w 50"/>
                  <a:gd name="T59" fmla="*/ 0 h 51"/>
                  <a:gd name="T60" fmla="*/ 1 w 50"/>
                  <a:gd name="T61" fmla="*/ 0 h 51"/>
                  <a:gd name="T62" fmla="*/ 1 w 50"/>
                  <a:gd name="T63" fmla="*/ 0 h 51"/>
                  <a:gd name="T64" fmla="*/ 0 w 50"/>
                  <a:gd name="T65" fmla="*/ 0 h 51"/>
                  <a:gd name="T66" fmla="*/ 0 w 50"/>
                  <a:gd name="T67" fmla="*/ 0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1"/>
                  <a:gd name="T104" fmla="*/ 50 w 50"/>
                  <a:gd name="T105" fmla="*/ 51 h 5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1">
                    <a:moveTo>
                      <a:pt x="0" y="26"/>
                    </a:moveTo>
                    <a:lnTo>
                      <a:pt x="0" y="19"/>
                    </a:lnTo>
                    <a:lnTo>
                      <a:pt x="1" y="15"/>
                    </a:lnTo>
                    <a:lnTo>
                      <a:pt x="4" y="11"/>
                    </a:lnTo>
                    <a:lnTo>
                      <a:pt x="8" y="7"/>
                    </a:lnTo>
                    <a:lnTo>
                      <a:pt x="11" y="4"/>
                    </a:lnTo>
                    <a:lnTo>
                      <a:pt x="15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2"/>
                    </a:lnTo>
                    <a:lnTo>
                      <a:pt x="39" y="4"/>
                    </a:lnTo>
                    <a:lnTo>
                      <a:pt x="42" y="7"/>
                    </a:lnTo>
                    <a:lnTo>
                      <a:pt x="45" y="11"/>
                    </a:lnTo>
                    <a:lnTo>
                      <a:pt x="48" y="15"/>
                    </a:lnTo>
                    <a:lnTo>
                      <a:pt x="50" y="19"/>
                    </a:lnTo>
                    <a:lnTo>
                      <a:pt x="50" y="26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40"/>
                    </a:lnTo>
                    <a:lnTo>
                      <a:pt x="42" y="43"/>
                    </a:lnTo>
                    <a:lnTo>
                      <a:pt x="39" y="46"/>
                    </a:lnTo>
                    <a:lnTo>
                      <a:pt x="34" y="48"/>
                    </a:lnTo>
                    <a:lnTo>
                      <a:pt x="29" y="49"/>
                    </a:lnTo>
                    <a:lnTo>
                      <a:pt x="25" y="51"/>
                    </a:lnTo>
                    <a:lnTo>
                      <a:pt x="20" y="49"/>
                    </a:lnTo>
                    <a:lnTo>
                      <a:pt x="15" y="48"/>
                    </a:lnTo>
                    <a:lnTo>
                      <a:pt x="11" y="46"/>
                    </a:lnTo>
                    <a:lnTo>
                      <a:pt x="8" y="43"/>
                    </a:lnTo>
                    <a:lnTo>
                      <a:pt x="4" y="40"/>
                    </a:lnTo>
                    <a:lnTo>
                      <a:pt x="1" y="35"/>
                    </a:lnTo>
                    <a:lnTo>
                      <a:pt x="0" y="30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04" name="Freeform 86"/>
              <p:cNvSpPr>
                <a:spLocks/>
              </p:cNvSpPr>
              <p:nvPr/>
            </p:nvSpPr>
            <p:spPr bwMode="auto">
              <a:xfrm>
                <a:off x="4226" y="1416"/>
                <a:ext cx="25" cy="25"/>
              </a:xfrm>
              <a:custGeom>
                <a:avLst/>
                <a:gdLst>
                  <a:gd name="T0" fmla="*/ 0 w 49"/>
                  <a:gd name="T1" fmla="*/ 1 h 50"/>
                  <a:gd name="T2" fmla="*/ 0 w 49"/>
                  <a:gd name="T3" fmla="*/ 1 h 50"/>
                  <a:gd name="T4" fmla="*/ 1 w 49"/>
                  <a:gd name="T5" fmla="*/ 1 h 50"/>
                  <a:gd name="T6" fmla="*/ 1 w 49"/>
                  <a:gd name="T7" fmla="*/ 1 h 50"/>
                  <a:gd name="T8" fmla="*/ 1 w 49"/>
                  <a:gd name="T9" fmla="*/ 1 h 50"/>
                  <a:gd name="T10" fmla="*/ 1 w 49"/>
                  <a:gd name="T11" fmla="*/ 1 h 50"/>
                  <a:gd name="T12" fmla="*/ 1 w 49"/>
                  <a:gd name="T13" fmla="*/ 1 h 50"/>
                  <a:gd name="T14" fmla="*/ 1 w 49"/>
                  <a:gd name="T15" fmla="*/ 0 h 50"/>
                  <a:gd name="T16" fmla="*/ 1 w 49"/>
                  <a:gd name="T17" fmla="*/ 0 h 50"/>
                  <a:gd name="T18" fmla="*/ 1 w 49"/>
                  <a:gd name="T19" fmla="*/ 0 h 50"/>
                  <a:gd name="T20" fmla="*/ 1 w 49"/>
                  <a:gd name="T21" fmla="*/ 1 h 50"/>
                  <a:gd name="T22" fmla="*/ 1 w 49"/>
                  <a:gd name="T23" fmla="*/ 1 h 50"/>
                  <a:gd name="T24" fmla="*/ 1 w 49"/>
                  <a:gd name="T25" fmla="*/ 1 h 50"/>
                  <a:gd name="T26" fmla="*/ 1 w 49"/>
                  <a:gd name="T27" fmla="*/ 1 h 50"/>
                  <a:gd name="T28" fmla="*/ 1 w 49"/>
                  <a:gd name="T29" fmla="*/ 1 h 50"/>
                  <a:gd name="T30" fmla="*/ 1 w 49"/>
                  <a:gd name="T31" fmla="*/ 1 h 50"/>
                  <a:gd name="T32" fmla="*/ 1 w 49"/>
                  <a:gd name="T33" fmla="*/ 1 h 50"/>
                  <a:gd name="T34" fmla="*/ 1 w 49"/>
                  <a:gd name="T35" fmla="*/ 1 h 50"/>
                  <a:gd name="T36" fmla="*/ 1 w 49"/>
                  <a:gd name="T37" fmla="*/ 1 h 50"/>
                  <a:gd name="T38" fmla="*/ 1 w 49"/>
                  <a:gd name="T39" fmla="*/ 1 h 50"/>
                  <a:gd name="T40" fmla="*/ 1 w 49"/>
                  <a:gd name="T41" fmla="*/ 1 h 50"/>
                  <a:gd name="T42" fmla="*/ 1 w 49"/>
                  <a:gd name="T43" fmla="*/ 1 h 50"/>
                  <a:gd name="T44" fmla="*/ 1 w 49"/>
                  <a:gd name="T45" fmla="*/ 1 h 50"/>
                  <a:gd name="T46" fmla="*/ 1 w 49"/>
                  <a:gd name="T47" fmla="*/ 1 h 50"/>
                  <a:gd name="T48" fmla="*/ 1 w 49"/>
                  <a:gd name="T49" fmla="*/ 1 h 50"/>
                  <a:gd name="T50" fmla="*/ 1 w 49"/>
                  <a:gd name="T51" fmla="*/ 1 h 50"/>
                  <a:gd name="T52" fmla="*/ 1 w 49"/>
                  <a:gd name="T53" fmla="*/ 1 h 50"/>
                  <a:gd name="T54" fmla="*/ 1 w 49"/>
                  <a:gd name="T55" fmla="*/ 1 h 50"/>
                  <a:gd name="T56" fmla="*/ 1 w 49"/>
                  <a:gd name="T57" fmla="*/ 1 h 50"/>
                  <a:gd name="T58" fmla="*/ 1 w 49"/>
                  <a:gd name="T59" fmla="*/ 1 h 50"/>
                  <a:gd name="T60" fmla="*/ 1 w 49"/>
                  <a:gd name="T61" fmla="*/ 1 h 50"/>
                  <a:gd name="T62" fmla="*/ 1 w 49"/>
                  <a:gd name="T63" fmla="*/ 1 h 50"/>
                  <a:gd name="T64" fmla="*/ 0 w 49"/>
                  <a:gd name="T65" fmla="*/ 1 h 50"/>
                  <a:gd name="T66" fmla="*/ 0 w 49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49"/>
                  <a:gd name="T103" fmla="*/ 0 h 50"/>
                  <a:gd name="T104" fmla="*/ 49 w 49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49" h="50">
                    <a:moveTo>
                      <a:pt x="0" y="25"/>
                    </a:moveTo>
                    <a:lnTo>
                      <a:pt x="0" y="19"/>
                    </a:lnTo>
                    <a:lnTo>
                      <a:pt x="1" y="14"/>
                    </a:lnTo>
                    <a:lnTo>
                      <a:pt x="3" y="11"/>
                    </a:lnTo>
                    <a:lnTo>
                      <a:pt x="6" y="6"/>
                    </a:lnTo>
                    <a:lnTo>
                      <a:pt x="11" y="3"/>
                    </a:lnTo>
                    <a:lnTo>
                      <a:pt x="14" y="1"/>
                    </a:lnTo>
                    <a:lnTo>
                      <a:pt x="18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1"/>
                    </a:lnTo>
                    <a:lnTo>
                      <a:pt x="37" y="3"/>
                    </a:lnTo>
                    <a:lnTo>
                      <a:pt x="42" y="6"/>
                    </a:lnTo>
                    <a:lnTo>
                      <a:pt x="45" y="11"/>
                    </a:lnTo>
                    <a:lnTo>
                      <a:pt x="46" y="14"/>
                    </a:lnTo>
                    <a:lnTo>
                      <a:pt x="48" y="19"/>
                    </a:lnTo>
                    <a:lnTo>
                      <a:pt x="49" y="25"/>
                    </a:lnTo>
                    <a:lnTo>
                      <a:pt x="48" y="30"/>
                    </a:lnTo>
                    <a:lnTo>
                      <a:pt x="46" y="34"/>
                    </a:lnTo>
                    <a:lnTo>
                      <a:pt x="45" y="39"/>
                    </a:lnTo>
                    <a:lnTo>
                      <a:pt x="42" y="42"/>
                    </a:lnTo>
                    <a:lnTo>
                      <a:pt x="37" y="45"/>
                    </a:lnTo>
                    <a:lnTo>
                      <a:pt x="34" y="47"/>
                    </a:lnTo>
                    <a:lnTo>
                      <a:pt x="29" y="48"/>
                    </a:lnTo>
                    <a:lnTo>
                      <a:pt x="25" y="50"/>
                    </a:lnTo>
                    <a:lnTo>
                      <a:pt x="18" y="48"/>
                    </a:lnTo>
                    <a:lnTo>
                      <a:pt x="14" y="47"/>
                    </a:lnTo>
                    <a:lnTo>
                      <a:pt x="11" y="45"/>
                    </a:lnTo>
                    <a:lnTo>
                      <a:pt x="6" y="42"/>
                    </a:lnTo>
                    <a:lnTo>
                      <a:pt x="3" y="39"/>
                    </a:lnTo>
                    <a:lnTo>
                      <a:pt x="1" y="34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05" name="Rectangle 87"/>
              <p:cNvSpPr>
                <a:spLocks noChangeArrowheads="1"/>
              </p:cNvSpPr>
              <p:nvPr/>
            </p:nvSpPr>
            <p:spPr bwMode="auto">
              <a:xfrm>
                <a:off x="5057" y="1389"/>
                <a:ext cx="49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 i="1">
                    <a:solidFill>
                      <a:srgbClr val="000000"/>
                    </a:solidFill>
                    <a:latin typeface="Times New Roman" pitchFamily="18" charset="0"/>
                  </a:rPr>
                  <a:t>R</a:t>
                </a:r>
                <a:endParaRPr lang="en-US" altLang="zh-CN"/>
              </a:p>
            </p:txBody>
          </p:sp>
          <p:sp>
            <p:nvSpPr>
              <p:cNvPr id="77906" name="Freeform 88"/>
              <p:cNvSpPr>
                <a:spLocks noEditPoints="1"/>
              </p:cNvSpPr>
              <p:nvPr/>
            </p:nvSpPr>
            <p:spPr bwMode="auto">
              <a:xfrm>
                <a:off x="3869" y="1268"/>
                <a:ext cx="12" cy="112"/>
              </a:xfrm>
              <a:custGeom>
                <a:avLst/>
                <a:gdLst>
                  <a:gd name="T0" fmla="*/ 1 w 24"/>
                  <a:gd name="T1" fmla="*/ 3 h 225"/>
                  <a:gd name="T2" fmla="*/ 1 w 24"/>
                  <a:gd name="T3" fmla="*/ 3 h 225"/>
                  <a:gd name="T4" fmla="*/ 1 w 24"/>
                  <a:gd name="T5" fmla="*/ 3 h 225"/>
                  <a:gd name="T6" fmla="*/ 0 w 24"/>
                  <a:gd name="T7" fmla="*/ 3 h 225"/>
                  <a:gd name="T8" fmla="*/ 0 w 24"/>
                  <a:gd name="T9" fmla="*/ 3 h 225"/>
                  <a:gd name="T10" fmla="*/ 1 w 24"/>
                  <a:gd name="T11" fmla="*/ 3 h 225"/>
                  <a:gd name="T12" fmla="*/ 1 w 24"/>
                  <a:gd name="T13" fmla="*/ 3 h 225"/>
                  <a:gd name="T14" fmla="*/ 1 w 24"/>
                  <a:gd name="T15" fmla="*/ 3 h 225"/>
                  <a:gd name="T16" fmla="*/ 1 w 24"/>
                  <a:gd name="T17" fmla="*/ 3 h 225"/>
                  <a:gd name="T18" fmla="*/ 1 w 24"/>
                  <a:gd name="T19" fmla="*/ 3 h 225"/>
                  <a:gd name="T20" fmla="*/ 1 w 24"/>
                  <a:gd name="T21" fmla="*/ 3 h 225"/>
                  <a:gd name="T22" fmla="*/ 1 w 24"/>
                  <a:gd name="T23" fmla="*/ 3 h 225"/>
                  <a:gd name="T24" fmla="*/ 1 w 24"/>
                  <a:gd name="T25" fmla="*/ 3 h 225"/>
                  <a:gd name="T26" fmla="*/ 1 w 24"/>
                  <a:gd name="T27" fmla="*/ 3 h 225"/>
                  <a:gd name="T28" fmla="*/ 1 w 24"/>
                  <a:gd name="T29" fmla="*/ 3 h 225"/>
                  <a:gd name="T30" fmla="*/ 1 w 24"/>
                  <a:gd name="T31" fmla="*/ 3 h 225"/>
                  <a:gd name="T32" fmla="*/ 1 w 24"/>
                  <a:gd name="T33" fmla="*/ 3 h 225"/>
                  <a:gd name="T34" fmla="*/ 1 w 24"/>
                  <a:gd name="T35" fmla="*/ 3 h 225"/>
                  <a:gd name="T36" fmla="*/ 1 w 24"/>
                  <a:gd name="T37" fmla="*/ 0 h 225"/>
                  <a:gd name="T38" fmla="*/ 1 w 24"/>
                  <a:gd name="T39" fmla="*/ 0 h 225"/>
                  <a:gd name="T40" fmla="*/ 1 w 24"/>
                  <a:gd name="T41" fmla="*/ 0 h 225"/>
                  <a:gd name="T42" fmla="*/ 0 w 24"/>
                  <a:gd name="T43" fmla="*/ 0 h 225"/>
                  <a:gd name="T44" fmla="*/ 0 w 24"/>
                  <a:gd name="T45" fmla="*/ 0 h 225"/>
                  <a:gd name="T46" fmla="*/ 1 w 24"/>
                  <a:gd name="T47" fmla="*/ 0 h 225"/>
                  <a:gd name="T48" fmla="*/ 1 w 24"/>
                  <a:gd name="T49" fmla="*/ 0 h 225"/>
                  <a:gd name="T50" fmla="*/ 1 w 24"/>
                  <a:gd name="T51" fmla="*/ 0 h 225"/>
                  <a:gd name="T52" fmla="*/ 1 w 24"/>
                  <a:gd name="T53" fmla="*/ 0 h 225"/>
                  <a:gd name="T54" fmla="*/ 1 w 24"/>
                  <a:gd name="T55" fmla="*/ 0 h 225"/>
                  <a:gd name="T56" fmla="*/ 1 w 24"/>
                  <a:gd name="T57" fmla="*/ 0 h 225"/>
                  <a:gd name="T58" fmla="*/ 1 w 24"/>
                  <a:gd name="T59" fmla="*/ 0 h 225"/>
                  <a:gd name="T60" fmla="*/ 1 w 24"/>
                  <a:gd name="T61" fmla="*/ 0 h 225"/>
                  <a:gd name="T62" fmla="*/ 1 w 24"/>
                  <a:gd name="T63" fmla="*/ 0 h 225"/>
                  <a:gd name="T64" fmla="*/ 1 w 24"/>
                  <a:gd name="T65" fmla="*/ 0 h 225"/>
                  <a:gd name="T66" fmla="*/ 1 w 24"/>
                  <a:gd name="T67" fmla="*/ 0 h 225"/>
                  <a:gd name="T68" fmla="*/ 1 w 24"/>
                  <a:gd name="T69" fmla="*/ 0 h 225"/>
                  <a:gd name="T70" fmla="*/ 1 w 24"/>
                  <a:gd name="T71" fmla="*/ 0 h 225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4"/>
                  <a:gd name="T109" fmla="*/ 0 h 225"/>
                  <a:gd name="T110" fmla="*/ 24 w 24"/>
                  <a:gd name="T111" fmla="*/ 225 h 225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4" h="225">
                    <a:moveTo>
                      <a:pt x="12" y="200"/>
                    </a:moveTo>
                    <a:lnTo>
                      <a:pt x="9" y="200"/>
                    </a:lnTo>
                    <a:lnTo>
                      <a:pt x="7" y="201"/>
                    </a:lnTo>
                    <a:lnTo>
                      <a:pt x="4" y="201"/>
                    </a:lnTo>
                    <a:lnTo>
                      <a:pt x="3" y="203"/>
                    </a:lnTo>
                    <a:lnTo>
                      <a:pt x="1" y="204"/>
                    </a:lnTo>
                    <a:lnTo>
                      <a:pt x="0" y="208"/>
                    </a:lnTo>
                    <a:lnTo>
                      <a:pt x="0" y="209"/>
                    </a:lnTo>
                    <a:lnTo>
                      <a:pt x="0" y="212"/>
                    </a:lnTo>
                    <a:lnTo>
                      <a:pt x="0" y="214"/>
                    </a:lnTo>
                    <a:lnTo>
                      <a:pt x="0" y="217"/>
                    </a:lnTo>
                    <a:lnTo>
                      <a:pt x="1" y="219"/>
                    </a:lnTo>
                    <a:lnTo>
                      <a:pt x="3" y="222"/>
                    </a:lnTo>
                    <a:lnTo>
                      <a:pt x="4" y="222"/>
                    </a:lnTo>
                    <a:lnTo>
                      <a:pt x="7" y="223"/>
                    </a:lnTo>
                    <a:lnTo>
                      <a:pt x="9" y="225"/>
                    </a:lnTo>
                    <a:lnTo>
                      <a:pt x="12" y="225"/>
                    </a:lnTo>
                    <a:lnTo>
                      <a:pt x="14" y="225"/>
                    </a:lnTo>
                    <a:lnTo>
                      <a:pt x="17" y="223"/>
                    </a:lnTo>
                    <a:lnTo>
                      <a:pt x="18" y="222"/>
                    </a:lnTo>
                    <a:lnTo>
                      <a:pt x="20" y="222"/>
                    </a:lnTo>
                    <a:lnTo>
                      <a:pt x="21" y="219"/>
                    </a:lnTo>
                    <a:lnTo>
                      <a:pt x="23" y="217"/>
                    </a:lnTo>
                    <a:lnTo>
                      <a:pt x="23" y="214"/>
                    </a:lnTo>
                    <a:lnTo>
                      <a:pt x="24" y="212"/>
                    </a:lnTo>
                    <a:lnTo>
                      <a:pt x="23" y="209"/>
                    </a:lnTo>
                    <a:lnTo>
                      <a:pt x="23" y="208"/>
                    </a:lnTo>
                    <a:lnTo>
                      <a:pt x="21" y="204"/>
                    </a:lnTo>
                    <a:lnTo>
                      <a:pt x="20" y="203"/>
                    </a:lnTo>
                    <a:lnTo>
                      <a:pt x="18" y="201"/>
                    </a:lnTo>
                    <a:lnTo>
                      <a:pt x="17" y="201"/>
                    </a:lnTo>
                    <a:lnTo>
                      <a:pt x="14" y="200"/>
                    </a:lnTo>
                    <a:lnTo>
                      <a:pt x="12" y="200"/>
                    </a:lnTo>
                    <a:close/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1"/>
                    </a:lnTo>
                    <a:lnTo>
                      <a:pt x="3" y="3"/>
                    </a:lnTo>
                    <a:lnTo>
                      <a:pt x="1" y="5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1" y="19"/>
                    </a:lnTo>
                    <a:lnTo>
                      <a:pt x="3" y="22"/>
                    </a:lnTo>
                    <a:lnTo>
                      <a:pt x="4" y="22"/>
                    </a:lnTo>
                    <a:lnTo>
                      <a:pt x="7" y="23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3"/>
                    </a:lnTo>
                    <a:lnTo>
                      <a:pt x="18" y="23"/>
                    </a:lnTo>
                    <a:lnTo>
                      <a:pt x="20" y="22"/>
                    </a:lnTo>
                    <a:lnTo>
                      <a:pt x="21" y="19"/>
                    </a:lnTo>
                    <a:lnTo>
                      <a:pt x="23" y="17"/>
                    </a:lnTo>
                    <a:lnTo>
                      <a:pt x="23" y="16"/>
                    </a:lnTo>
                    <a:lnTo>
                      <a:pt x="24" y="12"/>
                    </a:lnTo>
                    <a:lnTo>
                      <a:pt x="23" y="9"/>
                    </a:lnTo>
                    <a:lnTo>
                      <a:pt x="23" y="8"/>
                    </a:lnTo>
                    <a:lnTo>
                      <a:pt x="21" y="5"/>
                    </a:lnTo>
                    <a:lnTo>
                      <a:pt x="20" y="3"/>
                    </a:lnTo>
                    <a:lnTo>
                      <a:pt x="18" y="1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07" name="Freeform 89"/>
              <p:cNvSpPr>
                <a:spLocks/>
              </p:cNvSpPr>
              <p:nvPr/>
            </p:nvSpPr>
            <p:spPr bwMode="auto">
              <a:xfrm>
                <a:off x="3869" y="1368"/>
                <a:ext cx="12" cy="12"/>
              </a:xfrm>
              <a:custGeom>
                <a:avLst/>
                <a:gdLst>
                  <a:gd name="T0" fmla="*/ 1 w 24"/>
                  <a:gd name="T1" fmla="*/ 0 h 25"/>
                  <a:gd name="T2" fmla="*/ 1 w 24"/>
                  <a:gd name="T3" fmla="*/ 0 h 25"/>
                  <a:gd name="T4" fmla="*/ 1 w 24"/>
                  <a:gd name="T5" fmla="*/ 0 h 25"/>
                  <a:gd name="T6" fmla="*/ 1 w 24"/>
                  <a:gd name="T7" fmla="*/ 0 h 25"/>
                  <a:gd name="T8" fmla="*/ 1 w 24"/>
                  <a:gd name="T9" fmla="*/ 0 h 25"/>
                  <a:gd name="T10" fmla="*/ 1 w 24"/>
                  <a:gd name="T11" fmla="*/ 0 h 25"/>
                  <a:gd name="T12" fmla="*/ 0 w 24"/>
                  <a:gd name="T13" fmla="*/ 0 h 25"/>
                  <a:gd name="T14" fmla="*/ 0 w 24"/>
                  <a:gd name="T15" fmla="*/ 0 h 25"/>
                  <a:gd name="T16" fmla="*/ 0 w 24"/>
                  <a:gd name="T17" fmla="*/ 0 h 25"/>
                  <a:gd name="T18" fmla="*/ 0 w 24"/>
                  <a:gd name="T19" fmla="*/ 0 h 25"/>
                  <a:gd name="T20" fmla="*/ 0 w 24"/>
                  <a:gd name="T21" fmla="*/ 0 h 25"/>
                  <a:gd name="T22" fmla="*/ 1 w 24"/>
                  <a:gd name="T23" fmla="*/ 0 h 25"/>
                  <a:gd name="T24" fmla="*/ 1 w 24"/>
                  <a:gd name="T25" fmla="*/ 0 h 25"/>
                  <a:gd name="T26" fmla="*/ 1 w 24"/>
                  <a:gd name="T27" fmla="*/ 0 h 25"/>
                  <a:gd name="T28" fmla="*/ 1 w 24"/>
                  <a:gd name="T29" fmla="*/ 0 h 25"/>
                  <a:gd name="T30" fmla="*/ 1 w 24"/>
                  <a:gd name="T31" fmla="*/ 0 h 25"/>
                  <a:gd name="T32" fmla="*/ 1 w 24"/>
                  <a:gd name="T33" fmla="*/ 0 h 25"/>
                  <a:gd name="T34" fmla="*/ 1 w 24"/>
                  <a:gd name="T35" fmla="*/ 0 h 25"/>
                  <a:gd name="T36" fmla="*/ 1 w 24"/>
                  <a:gd name="T37" fmla="*/ 0 h 25"/>
                  <a:gd name="T38" fmla="*/ 1 w 24"/>
                  <a:gd name="T39" fmla="*/ 0 h 25"/>
                  <a:gd name="T40" fmla="*/ 1 w 24"/>
                  <a:gd name="T41" fmla="*/ 0 h 25"/>
                  <a:gd name="T42" fmla="*/ 1 w 24"/>
                  <a:gd name="T43" fmla="*/ 0 h 25"/>
                  <a:gd name="T44" fmla="*/ 1 w 24"/>
                  <a:gd name="T45" fmla="*/ 0 h 25"/>
                  <a:gd name="T46" fmla="*/ 1 w 24"/>
                  <a:gd name="T47" fmla="*/ 0 h 25"/>
                  <a:gd name="T48" fmla="*/ 1 w 24"/>
                  <a:gd name="T49" fmla="*/ 0 h 25"/>
                  <a:gd name="T50" fmla="*/ 1 w 24"/>
                  <a:gd name="T51" fmla="*/ 0 h 25"/>
                  <a:gd name="T52" fmla="*/ 1 w 24"/>
                  <a:gd name="T53" fmla="*/ 0 h 25"/>
                  <a:gd name="T54" fmla="*/ 1 w 24"/>
                  <a:gd name="T55" fmla="*/ 0 h 25"/>
                  <a:gd name="T56" fmla="*/ 1 w 24"/>
                  <a:gd name="T57" fmla="*/ 0 h 25"/>
                  <a:gd name="T58" fmla="*/ 1 w 24"/>
                  <a:gd name="T59" fmla="*/ 0 h 25"/>
                  <a:gd name="T60" fmla="*/ 1 w 24"/>
                  <a:gd name="T61" fmla="*/ 0 h 25"/>
                  <a:gd name="T62" fmla="*/ 1 w 24"/>
                  <a:gd name="T63" fmla="*/ 0 h 25"/>
                  <a:gd name="T64" fmla="*/ 1 w 24"/>
                  <a:gd name="T65" fmla="*/ 0 h 25"/>
                  <a:gd name="T66" fmla="*/ 1 w 24"/>
                  <a:gd name="T67" fmla="*/ 0 h 25"/>
                  <a:gd name="T68" fmla="*/ 1 w 24"/>
                  <a:gd name="T69" fmla="*/ 0 h 2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4"/>
                  <a:gd name="T106" fmla="*/ 0 h 25"/>
                  <a:gd name="T107" fmla="*/ 24 w 24"/>
                  <a:gd name="T108" fmla="*/ 25 h 25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4" h="25"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1"/>
                    </a:lnTo>
                    <a:lnTo>
                      <a:pt x="3" y="3"/>
                    </a:lnTo>
                    <a:lnTo>
                      <a:pt x="1" y="4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1" y="19"/>
                    </a:lnTo>
                    <a:lnTo>
                      <a:pt x="3" y="22"/>
                    </a:lnTo>
                    <a:lnTo>
                      <a:pt x="4" y="22"/>
                    </a:lnTo>
                    <a:lnTo>
                      <a:pt x="7" y="23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3"/>
                    </a:lnTo>
                    <a:lnTo>
                      <a:pt x="18" y="22"/>
                    </a:lnTo>
                    <a:lnTo>
                      <a:pt x="20" y="22"/>
                    </a:lnTo>
                    <a:lnTo>
                      <a:pt x="21" y="19"/>
                    </a:lnTo>
                    <a:lnTo>
                      <a:pt x="23" y="17"/>
                    </a:lnTo>
                    <a:lnTo>
                      <a:pt x="23" y="14"/>
                    </a:lnTo>
                    <a:lnTo>
                      <a:pt x="24" y="12"/>
                    </a:lnTo>
                    <a:lnTo>
                      <a:pt x="23" y="9"/>
                    </a:lnTo>
                    <a:lnTo>
                      <a:pt x="23" y="8"/>
                    </a:lnTo>
                    <a:lnTo>
                      <a:pt x="21" y="4"/>
                    </a:lnTo>
                    <a:lnTo>
                      <a:pt x="20" y="3"/>
                    </a:lnTo>
                    <a:lnTo>
                      <a:pt x="18" y="1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08" name="Freeform 90"/>
              <p:cNvSpPr>
                <a:spLocks/>
              </p:cNvSpPr>
              <p:nvPr/>
            </p:nvSpPr>
            <p:spPr bwMode="auto">
              <a:xfrm>
                <a:off x="3869" y="1268"/>
                <a:ext cx="12" cy="13"/>
              </a:xfrm>
              <a:custGeom>
                <a:avLst/>
                <a:gdLst>
                  <a:gd name="T0" fmla="*/ 1 w 24"/>
                  <a:gd name="T1" fmla="*/ 0 h 25"/>
                  <a:gd name="T2" fmla="*/ 1 w 24"/>
                  <a:gd name="T3" fmla="*/ 0 h 25"/>
                  <a:gd name="T4" fmla="*/ 1 w 24"/>
                  <a:gd name="T5" fmla="*/ 1 h 25"/>
                  <a:gd name="T6" fmla="*/ 1 w 24"/>
                  <a:gd name="T7" fmla="*/ 1 h 25"/>
                  <a:gd name="T8" fmla="*/ 1 w 24"/>
                  <a:gd name="T9" fmla="*/ 1 h 25"/>
                  <a:gd name="T10" fmla="*/ 1 w 24"/>
                  <a:gd name="T11" fmla="*/ 1 h 25"/>
                  <a:gd name="T12" fmla="*/ 0 w 24"/>
                  <a:gd name="T13" fmla="*/ 1 h 25"/>
                  <a:gd name="T14" fmla="*/ 0 w 24"/>
                  <a:gd name="T15" fmla="*/ 1 h 25"/>
                  <a:gd name="T16" fmla="*/ 0 w 24"/>
                  <a:gd name="T17" fmla="*/ 1 h 25"/>
                  <a:gd name="T18" fmla="*/ 0 w 24"/>
                  <a:gd name="T19" fmla="*/ 1 h 25"/>
                  <a:gd name="T20" fmla="*/ 0 w 24"/>
                  <a:gd name="T21" fmla="*/ 1 h 25"/>
                  <a:gd name="T22" fmla="*/ 1 w 24"/>
                  <a:gd name="T23" fmla="*/ 1 h 25"/>
                  <a:gd name="T24" fmla="*/ 1 w 24"/>
                  <a:gd name="T25" fmla="*/ 1 h 25"/>
                  <a:gd name="T26" fmla="*/ 1 w 24"/>
                  <a:gd name="T27" fmla="*/ 1 h 25"/>
                  <a:gd name="T28" fmla="*/ 1 w 24"/>
                  <a:gd name="T29" fmla="*/ 1 h 25"/>
                  <a:gd name="T30" fmla="*/ 1 w 24"/>
                  <a:gd name="T31" fmla="*/ 1 h 25"/>
                  <a:gd name="T32" fmla="*/ 1 w 24"/>
                  <a:gd name="T33" fmla="*/ 1 h 25"/>
                  <a:gd name="T34" fmla="*/ 1 w 24"/>
                  <a:gd name="T35" fmla="*/ 1 h 25"/>
                  <a:gd name="T36" fmla="*/ 1 w 24"/>
                  <a:gd name="T37" fmla="*/ 1 h 25"/>
                  <a:gd name="T38" fmla="*/ 1 w 24"/>
                  <a:gd name="T39" fmla="*/ 1 h 25"/>
                  <a:gd name="T40" fmla="*/ 1 w 24"/>
                  <a:gd name="T41" fmla="*/ 1 h 25"/>
                  <a:gd name="T42" fmla="*/ 1 w 24"/>
                  <a:gd name="T43" fmla="*/ 1 h 25"/>
                  <a:gd name="T44" fmla="*/ 1 w 24"/>
                  <a:gd name="T45" fmla="*/ 1 h 25"/>
                  <a:gd name="T46" fmla="*/ 1 w 24"/>
                  <a:gd name="T47" fmla="*/ 1 h 25"/>
                  <a:gd name="T48" fmla="*/ 1 w 24"/>
                  <a:gd name="T49" fmla="*/ 1 h 25"/>
                  <a:gd name="T50" fmla="*/ 1 w 24"/>
                  <a:gd name="T51" fmla="*/ 1 h 25"/>
                  <a:gd name="T52" fmla="*/ 1 w 24"/>
                  <a:gd name="T53" fmla="*/ 1 h 25"/>
                  <a:gd name="T54" fmla="*/ 1 w 24"/>
                  <a:gd name="T55" fmla="*/ 1 h 25"/>
                  <a:gd name="T56" fmla="*/ 1 w 24"/>
                  <a:gd name="T57" fmla="*/ 1 h 25"/>
                  <a:gd name="T58" fmla="*/ 1 w 24"/>
                  <a:gd name="T59" fmla="*/ 1 h 25"/>
                  <a:gd name="T60" fmla="*/ 1 w 24"/>
                  <a:gd name="T61" fmla="*/ 1 h 25"/>
                  <a:gd name="T62" fmla="*/ 1 w 24"/>
                  <a:gd name="T63" fmla="*/ 1 h 25"/>
                  <a:gd name="T64" fmla="*/ 1 w 24"/>
                  <a:gd name="T65" fmla="*/ 0 h 25"/>
                  <a:gd name="T66" fmla="*/ 1 w 24"/>
                  <a:gd name="T67" fmla="*/ 0 h 25"/>
                  <a:gd name="T68" fmla="*/ 1 w 24"/>
                  <a:gd name="T69" fmla="*/ 0 h 2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4"/>
                  <a:gd name="T106" fmla="*/ 0 h 25"/>
                  <a:gd name="T107" fmla="*/ 24 w 24"/>
                  <a:gd name="T108" fmla="*/ 25 h 25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4" h="25"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1"/>
                    </a:lnTo>
                    <a:lnTo>
                      <a:pt x="3" y="3"/>
                    </a:lnTo>
                    <a:lnTo>
                      <a:pt x="1" y="5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1" y="19"/>
                    </a:lnTo>
                    <a:lnTo>
                      <a:pt x="3" y="22"/>
                    </a:lnTo>
                    <a:lnTo>
                      <a:pt x="4" y="22"/>
                    </a:lnTo>
                    <a:lnTo>
                      <a:pt x="7" y="23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3"/>
                    </a:lnTo>
                    <a:lnTo>
                      <a:pt x="18" y="23"/>
                    </a:lnTo>
                    <a:lnTo>
                      <a:pt x="20" y="22"/>
                    </a:lnTo>
                    <a:lnTo>
                      <a:pt x="21" y="19"/>
                    </a:lnTo>
                    <a:lnTo>
                      <a:pt x="23" y="17"/>
                    </a:lnTo>
                    <a:lnTo>
                      <a:pt x="23" y="16"/>
                    </a:lnTo>
                    <a:lnTo>
                      <a:pt x="24" y="12"/>
                    </a:lnTo>
                    <a:lnTo>
                      <a:pt x="23" y="9"/>
                    </a:lnTo>
                    <a:lnTo>
                      <a:pt x="23" y="8"/>
                    </a:lnTo>
                    <a:lnTo>
                      <a:pt x="21" y="5"/>
                    </a:lnTo>
                    <a:lnTo>
                      <a:pt x="20" y="3"/>
                    </a:lnTo>
                    <a:lnTo>
                      <a:pt x="18" y="1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09" name="Line 91"/>
              <p:cNvSpPr>
                <a:spLocks noChangeShapeType="1"/>
              </p:cNvSpPr>
              <p:nvPr/>
            </p:nvSpPr>
            <p:spPr bwMode="auto">
              <a:xfrm>
                <a:off x="3877" y="1280"/>
                <a:ext cx="29" cy="8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10" name="Freeform 92"/>
              <p:cNvSpPr>
                <a:spLocks/>
              </p:cNvSpPr>
              <p:nvPr/>
            </p:nvSpPr>
            <p:spPr bwMode="auto">
              <a:xfrm>
                <a:off x="4974" y="1321"/>
                <a:ext cx="25" cy="26"/>
              </a:xfrm>
              <a:custGeom>
                <a:avLst/>
                <a:gdLst>
                  <a:gd name="T0" fmla="*/ 0 w 50"/>
                  <a:gd name="T1" fmla="*/ 1 h 50"/>
                  <a:gd name="T2" fmla="*/ 1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1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2" y="20"/>
                    </a:lnTo>
                    <a:lnTo>
                      <a:pt x="3" y="16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1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1" y="0"/>
                    </a:lnTo>
                    <a:lnTo>
                      <a:pt x="36" y="1"/>
                    </a:lnTo>
                    <a:lnTo>
                      <a:pt x="39" y="5"/>
                    </a:lnTo>
                    <a:lnTo>
                      <a:pt x="44" y="8"/>
                    </a:lnTo>
                    <a:lnTo>
                      <a:pt x="47" y="11"/>
                    </a:lnTo>
                    <a:lnTo>
                      <a:pt x="48" y="16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4"/>
                    </a:lnTo>
                    <a:lnTo>
                      <a:pt x="47" y="39"/>
                    </a:lnTo>
                    <a:lnTo>
                      <a:pt x="44" y="42"/>
                    </a:lnTo>
                    <a:lnTo>
                      <a:pt x="39" y="45"/>
                    </a:lnTo>
                    <a:lnTo>
                      <a:pt x="36" y="49"/>
                    </a:lnTo>
                    <a:lnTo>
                      <a:pt x="31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6" y="49"/>
                    </a:lnTo>
                    <a:lnTo>
                      <a:pt x="11" y="45"/>
                    </a:lnTo>
                    <a:lnTo>
                      <a:pt x="8" y="42"/>
                    </a:lnTo>
                    <a:lnTo>
                      <a:pt x="5" y="39"/>
                    </a:lnTo>
                    <a:lnTo>
                      <a:pt x="3" y="34"/>
                    </a:lnTo>
                    <a:lnTo>
                      <a:pt x="2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11" name="Line 93"/>
              <p:cNvSpPr>
                <a:spLocks noChangeShapeType="1"/>
              </p:cNvSpPr>
              <p:nvPr/>
            </p:nvSpPr>
            <p:spPr bwMode="auto">
              <a:xfrm flipH="1" flipV="1">
                <a:off x="4230" y="1334"/>
                <a:ext cx="1" cy="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12" name="Freeform 94"/>
              <p:cNvSpPr>
                <a:spLocks/>
              </p:cNvSpPr>
              <p:nvPr/>
            </p:nvSpPr>
            <p:spPr bwMode="auto">
              <a:xfrm>
                <a:off x="4893" y="1333"/>
                <a:ext cx="253" cy="94"/>
              </a:xfrm>
              <a:custGeom>
                <a:avLst/>
                <a:gdLst>
                  <a:gd name="T0" fmla="*/ 8 w 506"/>
                  <a:gd name="T1" fmla="*/ 3 h 188"/>
                  <a:gd name="T2" fmla="*/ 8 w 506"/>
                  <a:gd name="T3" fmla="*/ 1 h 188"/>
                  <a:gd name="T4" fmla="*/ 0 w 506"/>
                  <a:gd name="T5" fmla="*/ 0 h 188"/>
                  <a:gd name="T6" fmla="*/ 0 60000 65536"/>
                  <a:gd name="T7" fmla="*/ 0 60000 65536"/>
                  <a:gd name="T8" fmla="*/ 0 60000 65536"/>
                  <a:gd name="T9" fmla="*/ 0 w 506"/>
                  <a:gd name="T10" fmla="*/ 0 h 188"/>
                  <a:gd name="T11" fmla="*/ 506 w 506"/>
                  <a:gd name="T12" fmla="*/ 188 h 1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06" h="188">
                    <a:moveTo>
                      <a:pt x="506" y="188"/>
                    </a:moveTo>
                    <a:lnTo>
                      <a:pt x="506" y="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13" name="Line 95"/>
              <p:cNvSpPr>
                <a:spLocks noChangeShapeType="1"/>
              </p:cNvSpPr>
              <p:nvPr/>
            </p:nvSpPr>
            <p:spPr bwMode="auto">
              <a:xfrm flipH="1" flipV="1">
                <a:off x="4986" y="1333"/>
                <a:ext cx="1" cy="2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14" name="Freeform 96"/>
              <p:cNvSpPr>
                <a:spLocks/>
              </p:cNvSpPr>
              <p:nvPr/>
            </p:nvSpPr>
            <p:spPr bwMode="auto">
              <a:xfrm>
                <a:off x="4696" y="1304"/>
                <a:ext cx="197" cy="30"/>
              </a:xfrm>
              <a:custGeom>
                <a:avLst/>
                <a:gdLst>
                  <a:gd name="T0" fmla="*/ 0 w 395"/>
                  <a:gd name="T1" fmla="*/ 1 h 60"/>
                  <a:gd name="T2" fmla="*/ 0 w 395"/>
                  <a:gd name="T3" fmla="*/ 1 h 60"/>
                  <a:gd name="T4" fmla="*/ 0 w 395"/>
                  <a:gd name="T5" fmla="*/ 1 h 60"/>
                  <a:gd name="T6" fmla="*/ 0 w 395"/>
                  <a:gd name="T7" fmla="*/ 1 h 60"/>
                  <a:gd name="T8" fmla="*/ 0 w 395"/>
                  <a:gd name="T9" fmla="*/ 1 h 60"/>
                  <a:gd name="T10" fmla="*/ 0 w 395"/>
                  <a:gd name="T11" fmla="*/ 1 h 60"/>
                  <a:gd name="T12" fmla="*/ 0 w 395"/>
                  <a:gd name="T13" fmla="*/ 1 h 60"/>
                  <a:gd name="T14" fmla="*/ 0 w 395"/>
                  <a:gd name="T15" fmla="*/ 0 h 60"/>
                  <a:gd name="T16" fmla="*/ 0 w 395"/>
                  <a:gd name="T17" fmla="*/ 0 h 60"/>
                  <a:gd name="T18" fmla="*/ 1 w 395"/>
                  <a:gd name="T19" fmla="*/ 1 h 60"/>
                  <a:gd name="T20" fmla="*/ 1 w 395"/>
                  <a:gd name="T21" fmla="*/ 1 h 60"/>
                  <a:gd name="T22" fmla="*/ 1 w 395"/>
                  <a:gd name="T23" fmla="*/ 1 h 60"/>
                  <a:gd name="T24" fmla="*/ 1 w 395"/>
                  <a:gd name="T25" fmla="*/ 1 h 60"/>
                  <a:gd name="T26" fmla="*/ 1 w 395"/>
                  <a:gd name="T27" fmla="*/ 1 h 60"/>
                  <a:gd name="T28" fmla="*/ 1 w 395"/>
                  <a:gd name="T29" fmla="*/ 1 h 60"/>
                  <a:gd name="T30" fmla="*/ 1 w 395"/>
                  <a:gd name="T31" fmla="*/ 1 h 60"/>
                  <a:gd name="T32" fmla="*/ 1 w 395"/>
                  <a:gd name="T33" fmla="*/ 1 h 60"/>
                  <a:gd name="T34" fmla="*/ 1 w 395"/>
                  <a:gd name="T35" fmla="*/ 1 h 60"/>
                  <a:gd name="T36" fmla="*/ 1 w 395"/>
                  <a:gd name="T37" fmla="*/ 1 h 60"/>
                  <a:gd name="T38" fmla="*/ 1 w 395"/>
                  <a:gd name="T39" fmla="*/ 1 h 60"/>
                  <a:gd name="T40" fmla="*/ 1 w 395"/>
                  <a:gd name="T41" fmla="*/ 1 h 60"/>
                  <a:gd name="T42" fmla="*/ 2 w 395"/>
                  <a:gd name="T43" fmla="*/ 1 h 60"/>
                  <a:gd name="T44" fmla="*/ 2 w 395"/>
                  <a:gd name="T45" fmla="*/ 0 h 60"/>
                  <a:gd name="T46" fmla="*/ 2 w 395"/>
                  <a:gd name="T47" fmla="*/ 0 h 60"/>
                  <a:gd name="T48" fmla="*/ 2 w 395"/>
                  <a:gd name="T49" fmla="*/ 1 h 60"/>
                  <a:gd name="T50" fmla="*/ 2 w 395"/>
                  <a:gd name="T51" fmla="*/ 1 h 60"/>
                  <a:gd name="T52" fmla="*/ 2 w 395"/>
                  <a:gd name="T53" fmla="*/ 1 h 60"/>
                  <a:gd name="T54" fmla="*/ 2 w 395"/>
                  <a:gd name="T55" fmla="*/ 1 h 60"/>
                  <a:gd name="T56" fmla="*/ 3 w 395"/>
                  <a:gd name="T57" fmla="*/ 1 h 60"/>
                  <a:gd name="T58" fmla="*/ 3 w 395"/>
                  <a:gd name="T59" fmla="*/ 1 h 60"/>
                  <a:gd name="T60" fmla="*/ 3 w 395"/>
                  <a:gd name="T61" fmla="*/ 1 h 60"/>
                  <a:gd name="T62" fmla="*/ 3 w 395"/>
                  <a:gd name="T63" fmla="*/ 1 h 60"/>
                  <a:gd name="T64" fmla="*/ 3 w 395"/>
                  <a:gd name="T65" fmla="*/ 1 h 60"/>
                  <a:gd name="T66" fmla="*/ 3 w 395"/>
                  <a:gd name="T67" fmla="*/ 1 h 60"/>
                  <a:gd name="T68" fmla="*/ 3 w 395"/>
                  <a:gd name="T69" fmla="*/ 1 h 60"/>
                  <a:gd name="T70" fmla="*/ 3 w 395"/>
                  <a:gd name="T71" fmla="*/ 1 h 60"/>
                  <a:gd name="T72" fmla="*/ 3 w 395"/>
                  <a:gd name="T73" fmla="*/ 1 h 60"/>
                  <a:gd name="T74" fmla="*/ 3 w 395"/>
                  <a:gd name="T75" fmla="*/ 1 h 60"/>
                  <a:gd name="T76" fmla="*/ 3 w 395"/>
                  <a:gd name="T77" fmla="*/ 0 h 60"/>
                  <a:gd name="T78" fmla="*/ 3 w 395"/>
                  <a:gd name="T79" fmla="*/ 0 h 60"/>
                  <a:gd name="T80" fmla="*/ 4 w 395"/>
                  <a:gd name="T81" fmla="*/ 1 h 60"/>
                  <a:gd name="T82" fmla="*/ 4 w 395"/>
                  <a:gd name="T83" fmla="*/ 1 h 60"/>
                  <a:gd name="T84" fmla="*/ 4 w 395"/>
                  <a:gd name="T85" fmla="*/ 1 h 60"/>
                  <a:gd name="T86" fmla="*/ 4 w 395"/>
                  <a:gd name="T87" fmla="*/ 1 h 60"/>
                  <a:gd name="T88" fmla="*/ 4 w 395"/>
                  <a:gd name="T89" fmla="*/ 1 h 60"/>
                  <a:gd name="T90" fmla="*/ 4 w 395"/>
                  <a:gd name="T91" fmla="*/ 1 h 60"/>
                  <a:gd name="T92" fmla="*/ 4 w 395"/>
                  <a:gd name="T93" fmla="*/ 1 h 60"/>
                  <a:gd name="T94" fmla="*/ 4 w 395"/>
                  <a:gd name="T95" fmla="*/ 1 h 60"/>
                  <a:gd name="T96" fmla="*/ 4 w 395"/>
                  <a:gd name="T97" fmla="*/ 1 h 60"/>
                  <a:gd name="T98" fmla="*/ 4 w 395"/>
                  <a:gd name="T99" fmla="*/ 1 h 60"/>
                  <a:gd name="T100" fmla="*/ 4 w 395"/>
                  <a:gd name="T101" fmla="*/ 1 h 60"/>
                  <a:gd name="T102" fmla="*/ 5 w 395"/>
                  <a:gd name="T103" fmla="*/ 1 h 60"/>
                  <a:gd name="T104" fmla="*/ 5 w 395"/>
                  <a:gd name="T105" fmla="*/ 1 h 60"/>
                  <a:gd name="T106" fmla="*/ 5 w 395"/>
                  <a:gd name="T107" fmla="*/ 0 h 60"/>
                  <a:gd name="T108" fmla="*/ 5 w 395"/>
                  <a:gd name="T109" fmla="*/ 0 h 60"/>
                  <a:gd name="T110" fmla="*/ 5 w 395"/>
                  <a:gd name="T111" fmla="*/ 1 h 60"/>
                  <a:gd name="T112" fmla="*/ 5 w 395"/>
                  <a:gd name="T113" fmla="*/ 1 h 60"/>
                  <a:gd name="T114" fmla="*/ 5 w 395"/>
                  <a:gd name="T115" fmla="*/ 1 h 60"/>
                  <a:gd name="T116" fmla="*/ 6 w 395"/>
                  <a:gd name="T117" fmla="*/ 1 h 60"/>
                  <a:gd name="T118" fmla="*/ 6 w 395"/>
                  <a:gd name="T119" fmla="*/ 1 h 60"/>
                  <a:gd name="T120" fmla="*/ 6 w 395"/>
                  <a:gd name="T121" fmla="*/ 1 h 60"/>
                  <a:gd name="T122" fmla="*/ 6 w 395"/>
                  <a:gd name="T123" fmla="*/ 1 h 6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395"/>
                  <a:gd name="T187" fmla="*/ 0 h 60"/>
                  <a:gd name="T188" fmla="*/ 395 w 395"/>
                  <a:gd name="T189" fmla="*/ 60 h 60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395" h="60">
                    <a:moveTo>
                      <a:pt x="0" y="60"/>
                    </a:moveTo>
                    <a:lnTo>
                      <a:pt x="0" y="54"/>
                    </a:lnTo>
                    <a:lnTo>
                      <a:pt x="0" y="49"/>
                    </a:lnTo>
                    <a:lnTo>
                      <a:pt x="2" y="43"/>
                    </a:lnTo>
                    <a:lnTo>
                      <a:pt x="3" y="38"/>
                    </a:lnTo>
                    <a:lnTo>
                      <a:pt x="5" y="33"/>
                    </a:lnTo>
                    <a:lnTo>
                      <a:pt x="6" y="27"/>
                    </a:lnTo>
                    <a:lnTo>
                      <a:pt x="13" y="19"/>
                    </a:lnTo>
                    <a:lnTo>
                      <a:pt x="16" y="14"/>
                    </a:lnTo>
                    <a:lnTo>
                      <a:pt x="20" y="11"/>
                    </a:lnTo>
                    <a:lnTo>
                      <a:pt x="24" y="8"/>
                    </a:lnTo>
                    <a:lnTo>
                      <a:pt x="28" y="5"/>
                    </a:lnTo>
                    <a:lnTo>
                      <a:pt x="33" y="3"/>
                    </a:lnTo>
                    <a:lnTo>
                      <a:pt x="38" y="2"/>
                    </a:lnTo>
                    <a:lnTo>
                      <a:pt x="42" y="0"/>
                    </a:lnTo>
                    <a:lnTo>
                      <a:pt x="47" y="0"/>
                    </a:lnTo>
                    <a:lnTo>
                      <a:pt x="52" y="0"/>
                    </a:lnTo>
                    <a:lnTo>
                      <a:pt x="58" y="0"/>
                    </a:lnTo>
                    <a:lnTo>
                      <a:pt x="62" y="2"/>
                    </a:lnTo>
                    <a:lnTo>
                      <a:pt x="67" y="3"/>
                    </a:lnTo>
                    <a:lnTo>
                      <a:pt x="70" y="7"/>
                    </a:lnTo>
                    <a:lnTo>
                      <a:pt x="75" y="10"/>
                    </a:lnTo>
                    <a:lnTo>
                      <a:pt x="80" y="13"/>
                    </a:lnTo>
                    <a:lnTo>
                      <a:pt x="83" y="16"/>
                    </a:lnTo>
                    <a:lnTo>
                      <a:pt x="89" y="24"/>
                    </a:lnTo>
                    <a:lnTo>
                      <a:pt x="92" y="29"/>
                    </a:lnTo>
                    <a:lnTo>
                      <a:pt x="94" y="33"/>
                    </a:lnTo>
                    <a:lnTo>
                      <a:pt x="95" y="38"/>
                    </a:lnTo>
                    <a:lnTo>
                      <a:pt x="97" y="44"/>
                    </a:lnTo>
                    <a:lnTo>
                      <a:pt x="98" y="51"/>
                    </a:lnTo>
                    <a:lnTo>
                      <a:pt x="98" y="55"/>
                    </a:lnTo>
                    <a:lnTo>
                      <a:pt x="98" y="60"/>
                    </a:lnTo>
                    <a:lnTo>
                      <a:pt x="98" y="54"/>
                    </a:lnTo>
                    <a:lnTo>
                      <a:pt x="100" y="49"/>
                    </a:lnTo>
                    <a:lnTo>
                      <a:pt x="100" y="43"/>
                    </a:lnTo>
                    <a:lnTo>
                      <a:pt x="101" y="38"/>
                    </a:lnTo>
                    <a:lnTo>
                      <a:pt x="103" y="33"/>
                    </a:lnTo>
                    <a:lnTo>
                      <a:pt x="106" y="27"/>
                    </a:lnTo>
                    <a:lnTo>
                      <a:pt x="112" y="19"/>
                    </a:lnTo>
                    <a:lnTo>
                      <a:pt x="115" y="14"/>
                    </a:lnTo>
                    <a:lnTo>
                      <a:pt x="118" y="11"/>
                    </a:lnTo>
                    <a:lnTo>
                      <a:pt x="123" y="8"/>
                    </a:lnTo>
                    <a:lnTo>
                      <a:pt x="126" y="5"/>
                    </a:lnTo>
                    <a:lnTo>
                      <a:pt x="131" y="3"/>
                    </a:lnTo>
                    <a:lnTo>
                      <a:pt x="136" y="2"/>
                    </a:lnTo>
                    <a:lnTo>
                      <a:pt x="140" y="0"/>
                    </a:lnTo>
                    <a:lnTo>
                      <a:pt x="146" y="0"/>
                    </a:lnTo>
                    <a:lnTo>
                      <a:pt x="151" y="0"/>
                    </a:lnTo>
                    <a:lnTo>
                      <a:pt x="156" y="0"/>
                    </a:lnTo>
                    <a:lnTo>
                      <a:pt x="160" y="2"/>
                    </a:lnTo>
                    <a:lnTo>
                      <a:pt x="165" y="3"/>
                    </a:lnTo>
                    <a:lnTo>
                      <a:pt x="170" y="7"/>
                    </a:lnTo>
                    <a:lnTo>
                      <a:pt x="174" y="10"/>
                    </a:lnTo>
                    <a:lnTo>
                      <a:pt x="178" y="13"/>
                    </a:lnTo>
                    <a:lnTo>
                      <a:pt x="181" y="16"/>
                    </a:lnTo>
                    <a:lnTo>
                      <a:pt x="188" y="24"/>
                    </a:lnTo>
                    <a:lnTo>
                      <a:pt x="190" y="29"/>
                    </a:lnTo>
                    <a:lnTo>
                      <a:pt x="193" y="33"/>
                    </a:lnTo>
                    <a:lnTo>
                      <a:pt x="195" y="38"/>
                    </a:lnTo>
                    <a:lnTo>
                      <a:pt x="196" y="44"/>
                    </a:lnTo>
                    <a:lnTo>
                      <a:pt x="196" y="51"/>
                    </a:lnTo>
                    <a:lnTo>
                      <a:pt x="198" y="55"/>
                    </a:lnTo>
                    <a:lnTo>
                      <a:pt x="198" y="60"/>
                    </a:lnTo>
                    <a:lnTo>
                      <a:pt x="198" y="54"/>
                    </a:lnTo>
                    <a:lnTo>
                      <a:pt x="198" y="49"/>
                    </a:lnTo>
                    <a:lnTo>
                      <a:pt x="199" y="43"/>
                    </a:lnTo>
                    <a:lnTo>
                      <a:pt x="201" y="38"/>
                    </a:lnTo>
                    <a:lnTo>
                      <a:pt x="202" y="33"/>
                    </a:lnTo>
                    <a:lnTo>
                      <a:pt x="204" y="27"/>
                    </a:lnTo>
                    <a:lnTo>
                      <a:pt x="210" y="19"/>
                    </a:lnTo>
                    <a:lnTo>
                      <a:pt x="213" y="14"/>
                    </a:lnTo>
                    <a:lnTo>
                      <a:pt x="218" y="11"/>
                    </a:lnTo>
                    <a:lnTo>
                      <a:pt x="221" y="8"/>
                    </a:lnTo>
                    <a:lnTo>
                      <a:pt x="226" y="5"/>
                    </a:lnTo>
                    <a:lnTo>
                      <a:pt x="230" y="3"/>
                    </a:lnTo>
                    <a:lnTo>
                      <a:pt x="235" y="2"/>
                    </a:lnTo>
                    <a:lnTo>
                      <a:pt x="240" y="0"/>
                    </a:lnTo>
                    <a:lnTo>
                      <a:pt x="244" y="0"/>
                    </a:lnTo>
                    <a:lnTo>
                      <a:pt x="249" y="0"/>
                    </a:lnTo>
                    <a:lnTo>
                      <a:pt x="255" y="0"/>
                    </a:lnTo>
                    <a:lnTo>
                      <a:pt x="260" y="2"/>
                    </a:lnTo>
                    <a:lnTo>
                      <a:pt x="265" y="3"/>
                    </a:lnTo>
                    <a:lnTo>
                      <a:pt x="268" y="7"/>
                    </a:lnTo>
                    <a:lnTo>
                      <a:pt x="272" y="10"/>
                    </a:lnTo>
                    <a:lnTo>
                      <a:pt x="277" y="13"/>
                    </a:lnTo>
                    <a:lnTo>
                      <a:pt x="280" y="16"/>
                    </a:lnTo>
                    <a:lnTo>
                      <a:pt x="286" y="24"/>
                    </a:lnTo>
                    <a:lnTo>
                      <a:pt x="290" y="29"/>
                    </a:lnTo>
                    <a:lnTo>
                      <a:pt x="291" y="33"/>
                    </a:lnTo>
                    <a:lnTo>
                      <a:pt x="293" y="38"/>
                    </a:lnTo>
                    <a:lnTo>
                      <a:pt x="294" y="44"/>
                    </a:lnTo>
                    <a:lnTo>
                      <a:pt x="296" y="51"/>
                    </a:lnTo>
                    <a:lnTo>
                      <a:pt x="296" y="55"/>
                    </a:lnTo>
                    <a:lnTo>
                      <a:pt x="296" y="60"/>
                    </a:lnTo>
                    <a:lnTo>
                      <a:pt x="296" y="54"/>
                    </a:lnTo>
                    <a:lnTo>
                      <a:pt x="297" y="49"/>
                    </a:lnTo>
                    <a:lnTo>
                      <a:pt x="297" y="43"/>
                    </a:lnTo>
                    <a:lnTo>
                      <a:pt x="299" y="38"/>
                    </a:lnTo>
                    <a:lnTo>
                      <a:pt x="300" y="33"/>
                    </a:lnTo>
                    <a:lnTo>
                      <a:pt x="304" y="27"/>
                    </a:lnTo>
                    <a:lnTo>
                      <a:pt x="310" y="19"/>
                    </a:lnTo>
                    <a:lnTo>
                      <a:pt x="313" y="14"/>
                    </a:lnTo>
                    <a:lnTo>
                      <a:pt x="316" y="11"/>
                    </a:lnTo>
                    <a:lnTo>
                      <a:pt x="321" y="8"/>
                    </a:lnTo>
                    <a:lnTo>
                      <a:pt x="324" y="5"/>
                    </a:lnTo>
                    <a:lnTo>
                      <a:pt x="328" y="3"/>
                    </a:lnTo>
                    <a:lnTo>
                      <a:pt x="333" y="2"/>
                    </a:lnTo>
                    <a:lnTo>
                      <a:pt x="338" y="0"/>
                    </a:lnTo>
                    <a:lnTo>
                      <a:pt x="344" y="0"/>
                    </a:lnTo>
                    <a:lnTo>
                      <a:pt x="349" y="0"/>
                    </a:lnTo>
                    <a:lnTo>
                      <a:pt x="353" y="0"/>
                    </a:lnTo>
                    <a:lnTo>
                      <a:pt x="358" y="2"/>
                    </a:lnTo>
                    <a:lnTo>
                      <a:pt x="363" y="3"/>
                    </a:lnTo>
                    <a:lnTo>
                      <a:pt x="367" y="7"/>
                    </a:lnTo>
                    <a:lnTo>
                      <a:pt x="372" y="10"/>
                    </a:lnTo>
                    <a:lnTo>
                      <a:pt x="375" y="13"/>
                    </a:lnTo>
                    <a:lnTo>
                      <a:pt x="380" y="16"/>
                    </a:lnTo>
                    <a:lnTo>
                      <a:pt x="386" y="24"/>
                    </a:lnTo>
                    <a:lnTo>
                      <a:pt x="388" y="29"/>
                    </a:lnTo>
                    <a:lnTo>
                      <a:pt x="391" y="33"/>
                    </a:lnTo>
                    <a:lnTo>
                      <a:pt x="392" y="38"/>
                    </a:lnTo>
                    <a:lnTo>
                      <a:pt x="394" y="44"/>
                    </a:lnTo>
                    <a:lnTo>
                      <a:pt x="394" y="51"/>
                    </a:lnTo>
                    <a:lnTo>
                      <a:pt x="395" y="55"/>
                    </a:lnTo>
                    <a:lnTo>
                      <a:pt x="395" y="6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15" name="Rectangle 97"/>
              <p:cNvSpPr>
                <a:spLocks noChangeArrowheads="1"/>
              </p:cNvSpPr>
              <p:nvPr/>
            </p:nvSpPr>
            <p:spPr bwMode="auto">
              <a:xfrm>
                <a:off x="4416" y="1233"/>
                <a:ext cx="28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7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endParaRPr lang="en-US" altLang="zh-CN"/>
              </a:p>
            </p:txBody>
          </p:sp>
          <p:sp>
            <p:nvSpPr>
              <p:cNvPr id="77916" name="Rectangle 98"/>
              <p:cNvSpPr>
                <a:spLocks noChangeArrowheads="1"/>
              </p:cNvSpPr>
              <p:nvPr/>
            </p:nvSpPr>
            <p:spPr bwMode="auto">
              <a:xfrm>
                <a:off x="4367" y="1197"/>
                <a:ext cx="58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  <a:endParaRPr lang="en-US" altLang="zh-CN"/>
              </a:p>
            </p:txBody>
          </p:sp>
          <p:sp>
            <p:nvSpPr>
              <p:cNvPr id="77917" name="Rectangle 99"/>
              <p:cNvSpPr>
                <a:spLocks noChangeArrowheads="1"/>
              </p:cNvSpPr>
              <p:nvPr/>
            </p:nvSpPr>
            <p:spPr bwMode="auto">
              <a:xfrm>
                <a:off x="4416" y="1792"/>
                <a:ext cx="28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7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US" altLang="zh-CN"/>
              </a:p>
            </p:txBody>
          </p:sp>
          <p:sp>
            <p:nvSpPr>
              <p:cNvPr id="77918" name="Rectangle 100"/>
              <p:cNvSpPr>
                <a:spLocks noChangeArrowheads="1"/>
              </p:cNvSpPr>
              <p:nvPr/>
            </p:nvSpPr>
            <p:spPr bwMode="auto">
              <a:xfrm>
                <a:off x="4360" y="1753"/>
                <a:ext cx="58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  <a:endParaRPr lang="en-US" altLang="zh-CN"/>
              </a:p>
            </p:txBody>
          </p:sp>
          <p:sp>
            <p:nvSpPr>
              <p:cNvPr id="77919" name="Rectangle 101"/>
              <p:cNvSpPr>
                <a:spLocks noChangeArrowheads="1"/>
              </p:cNvSpPr>
              <p:nvPr/>
            </p:nvSpPr>
            <p:spPr bwMode="auto">
              <a:xfrm>
                <a:off x="4784" y="1329"/>
                <a:ext cx="48" cy="11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200" i="1">
                    <a:solidFill>
                      <a:srgbClr val="000000"/>
                    </a:solidFill>
                    <a:latin typeface="宋体" pitchFamily="2" charset="-122"/>
                  </a:rPr>
                  <a:t>L</a:t>
                </a:r>
                <a:endParaRPr lang="en-US" altLang="zh-CN" sz="1200"/>
              </a:p>
            </p:txBody>
          </p:sp>
          <p:sp>
            <p:nvSpPr>
              <p:cNvPr id="77920" name="Freeform 102"/>
              <p:cNvSpPr>
                <a:spLocks noEditPoints="1"/>
              </p:cNvSpPr>
              <p:nvPr/>
            </p:nvSpPr>
            <p:spPr bwMode="auto">
              <a:xfrm>
                <a:off x="3870" y="1867"/>
                <a:ext cx="13" cy="113"/>
              </a:xfrm>
              <a:custGeom>
                <a:avLst/>
                <a:gdLst>
                  <a:gd name="T0" fmla="*/ 1 w 25"/>
                  <a:gd name="T1" fmla="*/ 4 h 225"/>
                  <a:gd name="T2" fmla="*/ 1 w 25"/>
                  <a:gd name="T3" fmla="*/ 4 h 225"/>
                  <a:gd name="T4" fmla="*/ 1 w 25"/>
                  <a:gd name="T5" fmla="*/ 4 h 225"/>
                  <a:gd name="T6" fmla="*/ 0 w 25"/>
                  <a:gd name="T7" fmla="*/ 4 h 225"/>
                  <a:gd name="T8" fmla="*/ 0 w 25"/>
                  <a:gd name="T9" fmla="*/ 4 h 225"/>
                  <a:gd name="T10" fmla="*/ 1 w 25"/>
                  <a:gd name="T11" fmla="*/ 4 h 225"/>
                  <a:gd name="T12" fmla="*/ 1 w 25"/>
                  <a:gd name="T13" fmla="*/ 4 h 225"/>
                  <a:gd name="T14" fmla="*/ 1 w 25"/>
                  <a:gd name="T15" fmla="*/ 4 h 225"/>
                  <a:gd name="T16" fmla="*/ 1 w 25"/>
                  <a:gd name="T17" fmla="*/ 4 h 225"/>
                  <a:gd name="T18" fmla="*/ 1 w 25"/>
                  <a:gd name="T19" fmla="*/ 4 h 225"/>
                  <a:gd name="T20" fmla="*/ 1 w 25"/>
                  <a:gd name="T21" fmla="*/ 4 h 225"/>
                  <a:gd name="T22" fmla="*/ 1 w 25"/>
                  <a:gd name="T23" fmla="*/ 4 h 225"/>
                  <a:gd name="T24" fmla="*/ 1 w 25"/>
                  <a:gd name="T25" fmla="*/ 4 h 225"/>
                  <a:gd name="T26" fmla="*/ 1 w 25"/>
                  <a:gd name="T27" fmla="*/ 4 h 225"/>
                  <a:gd name="T28" fmla="*/ 1 w 25"/>
                  <a:gd name="T29" fmla="*/ 4 h 225"/>
                  <a:gd name="T30" fmla="*/ 1 w 25"/>
                  <a:gd name="T31" fmla="*/ 4 h 225"/>
                  <a:gd name="T32" fmla="*/ 1 w 25"/>
                  <a:gd name="T33" fmla="*/ 4 h 225"/>
                  <a:gd name="T34" fmla="*/ 1 w 25"/>
                  <a:gd name="T35" fmla="*/ 4 h 225"/>
                  <a:gd name="T36" fmla="*/ 1 w 25"/>
                  <a:gd name="T37" fmla="*/ 0 h 225"/>
                  <a:gd name="T38" fmla="*/ 1 w 25"/>
                  <a:gd name="T39" fmla="*/ 1 h 225"/>
                  <a:gd name="T40" fmla="*/ 1 w 25"/>
                  <a:gd name="T41" fmla="*/ 1 h 225"/>
                  <a:gd name="T42" fmla="*/ 0 w 25"/>
                  <a:gd name="T43" fmla="*/ 1 h 225"/>
                  <a:gd name="T44" fmla="*/ 0 w 25"/>
                  <a:gd name="T45" fmla="*/ 1 h 225"/>
                  <a:gd name="T46" fmla="*/ 1 w 25"/>
                  <a:gd name="T47" fmla="*/ 1 h 225"/>
                  <a:gd name="T48" fmla="*/ 1 w 25"/>
                  <a:gd name="T49" fmla="*/ 1 h 225"/>
                  <a:gd name="T50" fmla="*/ 1 w 25"/>
                  <a:gd name="T51" fmla="*/ 1 h 225"/>
                  <a:gd name="T52" fmla="*/ 1 w 25"/>
                  <a:gd name="T53" fmla="*/ 1 h 225"/>
                  <a:gd name="T54" fmla="*/ 1 w 25"/>
                  <a:gd name="T55" fmla="*/ 1 h 225"/>
                  <a:gd name="T56" fmla="*/ 1 w 25"/>
                  <a:gd name="T57" fmla="*/ 1 h 225"/>
                  <a:gd name="T58" fmla="*/ 1 w 25"/>
                  <a:gd name="T59" fmla="*/ 1 h 225"/>
                  <a:gd name="T60" fmla="*/ 1 w 25"/>
                  <a:gd name="T61" fmla="*/ 1 h 225"/>
                  <a:gd name="T62" fmla="*/ 1 w 25"/>
                  <a:gd name="T63" fmla="*/ 1 h 225"/>
                  <a:gd name="T64" fmla="*/ 1 w 25"/>
                  <a:gd name="T65" fmla="*/ 1 h 225"/>
                  <a:gd name="T66" fmla="*/ 1 w 25"/>
                  <a:gd name="T67" fmla="*/ 1 h 225"/>
                  <a:gd name="T68" fmla="*/ 1 w 25"/>
                  <a:gd name="T69" fmla="*/ 0 h 225"/>
                  <a:gd name="T70" fmla="*/ 1 w 25"/>
                  <a:gd name="T71" fmla="*/ 0 h 225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5"/>
                  <a:gd name="T109" fmla="*/ 0 h 225"/>
                  <a:gd name="T110" fmla="*/ 25 w 25"/>
                  <a:gd name="T111" fmla="*/ 225 h 225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5" h="225">
                    <a:moveTo>
                      <a:pt x="12" y="200"/>
                    </a:moveTo>
                    <a:lnTo>
                      <a:pt x="9" y="200"/>
                    </a:lnTo>
                    <a:lnTo>
                      <a:pt x="7" y="201"/>
                    </a:lnTo>
                    <a:lnTo>
                      <a:pt x="4" y="203"/>
                    </a:lnTo>
                    <a:lnTo>
                      <a:pt x="3" y="204"/>
                    </a:lnTo>
                    <a:lnTo>
                      <a:pt x="1" y="206"/>
                    </a:lnTo>
                    <a:lnTo>
                      <a:pt x="1" y="207"/>
                    </a:lnTo>
                    <a:lnTo>
                      <a:pt x="0" y="211"/>
                    </a:lnTo>
                    <a:lnTo>
                      <a:pt x="0" y="212"/>
                    </a:lnTo>
                    <a:lnTo>
                      <a:pt x="0" y="215"/>
                    </a:lnTo>
                    <a:lnTo>
                      <a:pt x="1" y="217"/>
                    </a:lnTo>
                    <a:lnTo>
                      <a:pt x="1" y="220"/>
                    </a:lnTo>
                    <a:lnTo>
                      <a:pt x="3" y="222"/>
                    </a:lnTo>
                    <a:lnTo>
                      <a:pt x="4" y="223"/>
                    </a:lnTo>
                    <a:lnTo>
                      <a:pt x="7" y="223"/>
                    </a:lnTo>
                    <a:lnTo>
                      <a:pt x="9" y="225"/>
                    </a:lnTo>
                    <a:lnTo>
                      <a:pt x="12" y="225"/>
                    </a:lnTo>
                    <a:lnTo>
                      <a:pt x="14" y="225"/>
                    </a:lnTo>
                    <a:lnTo>
                      <a:pt x="17" y="223"/>
                    </a:lnTo>
                    <a:lnTo>
                      <a:pt x="18" y="223"/>
                    </a:lnTo>
                    <a:lnTo>
                      <a:pt x="20" y="222"/>
                    </a:lnTo>
                    <a:lnTo>
                      <a:pt x="21" y="220"/>
                    </a:lnTo>
                    <a:lnTo>
                      <a:pt x="23" y="217"/>
                    </a:lnTo>
                    <a:lnTo>
                      <a:pt x="25" y="215"/>
                    </a:lnTo>
                    <a:lnTo>
                      <a:pt x="25" y="212"/>
                    </a:lnTo>
                    <a:lnTo>
                      <a:pt x="25" y="211"/>
                    </a:lnTo>
                    <a:lnTo>
                      <a:pt x="23" y="207"/>
                    </a:lnTo>
                    <a:lnTo>
                      <a:pt x="21" y="206"/>
                    </a:lnTo>
                    <a:lnTo>
                      <a:pt x="21" y="204"/>
                    </a:lnTo>
                    <a:lnTo>
                      <a:pt x="18" y="203"/>
                    </a:lnTo>
                    <a:lnTo>
                      <a:pt x="17" y="201"/>
                    </a:lnTo>
                    <a:lnTo>
                      <a:pt x="14" y="200"/>
                    </a:lnTo>
                    <a:lnTo>
                      <a:pt x="12" y="200"/>
                    </a:lnTo>
                    <a:close/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3"/>
                    </a:lnTo>
                    <a:lnTo>
                      <a:pt x="3" y="5"/>
                    </a:lnTo>
                    <a:lnTo>
                      <a:pt x="1" y="6"/>
                    </a:lnTo>
                    <a:lnTo>
                      <a:pt x="1" y="8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1" y="17"/>
                    </a:lnTo>
                    <a:lnTo>
                      <a:pt x="1" y="20"/>
                    </a:lnTo>
                    <a:lnTo>
                      <a:pt x="3" y="22"/>
                    </a:lnTo>
                    <a:lnTo>
                      <a:pt x="4" y="23"/>
                    </a:lnTo>
                    <a:lnTo>
                      <a:pt x="7" y="25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5"/>
                    </a:lnTo>
                    <a:lnTo>
                      <a:pt x="18" y="23"/>
                    </a:lnTo>
                    <a:lnTo>
                      <a:pt x="20" y="22"/>
                    </a:lnTo>
                    <a:lnTo>
                      <a:pt x="21" y="20"/>
                    </a:lnTo>
                    <a:lnTo>
                      <a:pt x="23" y="17"/>
                    </a:lnTo>
                    <a:lnTo>
                      <a:pt x="25" y="16"/>
                    </a:lnTo>
                    <a:lnTo>
                      <a:pt x="25" y="12"/>
                    </a:lnTo>
                    <a:lnTo>
                      <a:pt x="25" y="11"/>
                    </a:lnTo>
                    <a:lnTo>
                      <a:pt x="23" y="8"/>
                    </a:lnTo>
                    <a:lnTo>
                      <a:pt x="21" y="6"/>
                    </a:lnTo>
                    <a:lnTo>
                      <a:pt x="21" y="5"/>
                    </a:lnTo>
                    <a:lnTo>
                      <a:pt x="18" y="3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21" name="Freeform 103"/>
              <p:cNvSpPr>
                <a:spLocks/>
              </p:cNvSpPr>
              <p:nvPr/>
            </p:nvSpPr>
            <p:spPr bwMode="auto">
              <a:xfrm>
                <a:off x="3870" y="1967"/>
                <a:ext cx="13" cy="13"/>
              </a:xfrm>
              <a:custGeom>
                <a:avLst/>
                <a:gdLst>
                  <a:gd name="T0" fmla="*/ 1 w 25"/>
                  <a:gd name="T1" fmla="*/ 0 h 25"/>
                  <a:gd name="T2" fmla="*/ 1 w 25"/>
                  <a:gd name="T3" fmla="*/ 0 h 25"/>
                  <a:gd name="T4" fmla="*/ 1 w 25"/>
                  <a:gd name="T5" fmla="*/ 1 h 25"/>
                  <a:gd name="T6" fmla="*/ 1 w 25"/>
                  <a:gd name="T7" fmla="*/ 1 h 25"/>
                  <a:gd name="T8" fmla="*/ 1 w 25"/>
                  <a:gd name="T9" fmla="*/ 1 h 25"/>
                  <a:gd name="T10" fmla="*/ 1 w 25"/>
                  <a:gd name="T11" fmla="*/ 1 h 25"/>
                  <a:gd name="T12" fmla="*/ 1 w 25"/>
                  <a:gd name="T13" fmla="*/ 1 h 25"/>
                  <a:gd name="T14" fmla="*/ 0 w 25"/>
                  <a:gd name="T15" fmla="*/ 1 h 25"/>
                  <a:gd name="T16" fmla="*/ 0 w 25"/>
                  <a:gd name="T17" fmla="*/ 1 h 25"/>
                  <a:gd name="T18" fmla="*/ 0 w 25"/>
                  <a:gd name="T19" fmla="*/ 1 h 25"/>
                  <a:gd name="T20" fmla="*/ 1 w 25"/>
                  <a:gd name="T21" fmla="*/ 1 h 25"/>
                  <a:gd name="T22" fmla="*/ 1 w 25"/>
                  <a:gd name="T23" fmla="*/ 1 h 25"/>
                  <a:gd name="T24" fmla="*/ 1 w 25"/>
                  <a:gd name="T25" fmla="*/ 1 h 25"/>
                  <a:gd name="T26" fmla="*/ 1 w 25"/>
                  <a:gd name="T27" fmla="*/ 1 h 25"/>
                  <a:gd name="T28" fmla="*/ 1 w 25"/>
                  <a:gd name="T29" fmla="*/ 1 h 25"/>
                  <a:gd name="T30" fmla="*/ 1 w 25"/>
                  <a:gd name="T31" fmla="*/ 1 h 25"/>
                  <a:gd name="T32" fmla="*/ 1 w 25"/>
                  <a:gd name="T33" fmla="*/ 1 h 25"/>
                  <a:gd name="T34" fmla="*/ 1 w 25"/>
                  <a:gd name="T35" fmla="*/ 1 h 25"/>
                  <a:gd name="T36" fmla="*/ 1 w 25"/>
                  <a:gd name="T37" fmla="*/ 1 h 25"/>
                  <a:gd name="T38" fmla="*/ 1 w 25"/>
                  <a:gd name="T39" fmla="*/ 1 h 25"/>
                  <a:gd name="T40" fmla="*/ 1 w 25"/>
                  <a:gd name="T41" fmla="*/ 1 h 25"/>
                  <a:gd name="T42" fmla="*/ 1 w 25"/>
                  <a:gd name="T43" fmla="*/ 1 h 25"/>
                  <a:gd name="T44" fmla="*/ 1 w 25"/>
                  <a:gd name="T45" fmla="*/ 1 h 25"/>
                  <a:gd name="T46" fmla="*/ 1 w 25"/>
                  <a:gd name="T47" fmla="*/ 1 h 25"/>
                  <a:gd name="T48" fmla="*/ 1 w 25"/>
                  <a:gd name="T49" fmla="*/ 1 h 25"/>
                  <a:gd name="T50" fmla="*/ 1 w 25"/>
                  <a:gd name="T51" fmla="*/ 1 h 25"/>
                  <a:gd name="T52" fmla="*/ 1 w 25"/>
                  <a:gd name="T53" fmla="*/ 1 h 25"/>
                  <a:gd name="T54" fmla="*/ 1 w 25"/>
                  <a:gd name="T55" fmla="*/ 1 h 25"/>
                  <a:gd name="T56" fmla="*/ 1 w 25"/>
                  <a:gd name="T57" fmla="*/ 1 h 25"/>
                  <a:gd name="T58" fmla="*/ 1 w 25"/>
                  <a:gd name="T59" fmla="*/ 1 h 25"/>
                  <a:gd name="T60" fmla="*/ 1 w 25"/>
                  <a:gd name="T61" fmla="*/ 1 h 25"/>
                  <a:gd name="T62" fmla="*/ 1 w 25"/>
                  <a:gd name="T63" fmla="*/ 1 h 25"/>
                  <a:gd name="T64" fmla="*/ 1 w 25"/>
                  <a:gd name="T65" fmla="*/ 0 h 25"/>
                  <a:gd name="T66" fmla="*/ 1 w 25"/>
                  <a:gd name="T67" fmla="*/ 0 h 25"/>
                  <a:gd name="T68" fmla="*/ 1 w 25"/>
                  <a:gd name="T69" fmla="*/ 0 h 2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5"/>
                  <a:gd name="T106" fmla="*/ 0 h 25"/>
                  <a:gd name="T107" fmla="*/ 25 w 25"/>
                  <a:gd name="T108" fmla="*/ 25 h 25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5" h="25"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3"/>
                    </a:lnTo>
                    <a:lnTo>
                      <a:pt x="3" y="4"/>
                    </a:lnTo>
                    <a:lnTo>
                      <a:pt x="1" y="6"/>
                    </a:lnTo>
                    <a:lnTo>
                      <a:pt x="1" y="7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1" y="17"/>
                    </a:lnTo>
                    <a:lnTo>
                      <a:pt x="1" y="20"/>
                    </a:lnTo>
                    <a:lnTo>
                      <a:pt x="3" y="22"/>
                    </a:lnTo>
                    <a:lnTo>
                      <a:pt x="4" y="23"/>
                    </a:lnTo>
                    <a:lnTo>
                      <a:pt x="7" y="23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3"/>
                    </a:lnTo>
                    <a:lnTo>
                      <a:pt x="18" y="23"/>
                    </a:lnTo>
                    <a:lnTo>
                      <a:pt x="20" y="22"/>
                    </a:lnTo>
                    <a:lnTo>
                      <a:pt x="21" y="20"/>
                    </a:lnTo>
                    <a:lnTo>
                      <a:pt x="23" y="17"/>
                    </a:lnTo>
                    <a:lnTo>
                      <a:pt x="25" y="15"/>
                    </a:lnTo>
                    <a:lnTo>
                      <a:pt x="25" y="12"/>
                    </a:lnTo>
                    <a:lnTo>
                      <a:pt x="25" y="11"/>
                    </a:lnTo>
                    <a:lnTo>
                      <a:pt x="23" y="7"/>
                    </a:lnTo>
                    <a:lnTo>
                      <a:pt x="21" y="6"/>
                    </a:lnTo>
                    <a:lnTo>
                      <a:pt x="21" y="4"/>
                    </a:lnTo>
                    <a:lnTo>
                      <a:pt x="18" y="3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22" name="Freeform 104"/>
              <p:cNvSpPr>
                <a:spLocks/>
              </p:cNvSpPr>
              <p:nvPr/>
            </p:nvSpPr>
            <p:spPr bwMode="auto">
              <a:xfrm>
                <a:off x="3870" y="1867"/>
                <a:ext cx="13" cy="13"/>
              </a:xfrm>
              <a:custGeom>
                <a:avLst/>
                <a:gdLst>
                  <a:gd name="T0" fmla="*/ 1 w 25"/>
                  <a:gd name="T1" fmla="*/ 0 h 25"/>
                  <a:gd name="T2" fmla="*/ 1 w 25"/>
                  <a:gd name="T3" fmla="*/ 0 h 25"/>
                  <a:gd name="T4" fmla="*/ 1 w 25"/>
                  <a:gd name="T5" fmla="*/ 1 h 25"/>
                  <a:gd name="T6" fmla="*/ 1 w 25"/>
                  <a:gd name="T7" fmla="*/ 1 h 25"/>
                  <a:gd name="T8" fmla="*/ 1 w 25"/>
                  <a:gd name="T9" fmla="*/ 1 h 25"/>
                  <a:gd name="T10" fmla="*/ 1 w 25"/>
                  <a:gd name="T11" fmla="*/ 1 h 25"/>
                  <a:gd name="T12" fmla="*/ 1 w 25"/>
                  <a:gd name="T13" fmla="*/ 1 h 25"/>
                  <a:gd name="T14" fmla="*/ 0 w 25"/>
                  <a:gd name="T15" fmla="*/ 1 h 25"/>
                  <a:gd name="T16" fmla="*/ 0 w 25"/>
                  <a:gd name="T17" fmla="*/ 1 h 25"/>
                  <a:gd name="T18" fmla="*/ 0 w 25"/>
                  <a:gd name="T19" fmla="*/ 1 h 25"/>
                  <a:gd name="T20" fmla="*/ 1 w 25"/>
                  <a:gd name="T21" fmla="*/ 1 h 25"/>
                  <a:gd name="T22" fmla="*/ 1 w 25"/>
                  <a:gd name="T23" fmla="*/ 1 h 25"/>
                  <a:gd name="T24" fmla="*/ 1 w 25"/>
                  <a:gd name="T25" fmla="*/ 1 h 25"/>
                  <a:gd name="T26" fmla="*/ 1 w 25"/>
                  <a:gd name="T27" fmla="*/ 1 h 25"/>
                  <a:gd name="T28" fmla="*/ 1 w 25"/>
                  <a:gd name="T29" fmla="*/ 1 h 25"/>
                  <a:gd name="T30" fmla="*/ 1 w 25"/>
                  <a:gd name="T31" fmla="*/ 1 h 25"/>
                  <a:gd name="T32" fmla="*/ 1 w 25"/>
                  <a:gd name="T33" fmla="*/ 1 h 25"/>
                  <a:gd name="T34" fmla="*/ 1 w 25"/>
                  <a:gd name="T35" fmla="*/ 1 h 25"/>
                  <a:gd name="T36" fmla="*/ 1 w 25"/>
                  <a:gd name="T37" fmla="*/ 1 h 25"/>
                  <a:gd name="T38" fmla="*/ 1 w 25"/>
                  <a:gd name="T39" fmla="*/ 1 h 25"/>
                  <a:gd name="T40" fmla="*/ 1 w 25"/>
                  <a:gd name="T41" fmla="*/ 1 h 25"/>
                  <a:gd name="T42" fmla="*/ 1 w 25"/>
                  <a:gd name="T43" fmla="*/ 1 h 25"/>
                  <a:gd name="T44" fmla="*/ 1 w 25"/>
                  <a:gd name="T45" fmla="*/ 1 h 25"/>
                  <a:gd name="T46" fmla="*/ 1 w 25"/>
                  <a:gd name="T47" fmla="*/ 1 h 25"/>
                  <a:gd name="T48" fmla="*/ 1 w 25"/>
                  <a:gd name="T49" fmla="*/ 1 h 25"/>
                  <a:gd name="T50" fmla="*/ 1 w 25"/>
                  <a:gd name="T51" fmla="*/ 1 h 25"/>
                  <a:gd name="T52" fmla="*/ 1 w 25"/>
                  <a:gd name="T53" fmla="*/ 1 h 25"/>
                  <a:gd name="T54" fmla="*/ 1 w 25"/>
                  <a:gd name="T55" fmla="*/ 1 h 25"/>
                  <a:gd name="T56" fmla="*/ 1 w 25"/>
                  <a:gd name="T57" fmla="*/ 1 h 25"/>
                  <a:gd name="T58" fmla="*/ 1 w 25"/>
                  <a:gd name="T59" fmla="*/ 1 h 25"/>
                  <a:gd name="T60" fmla="*/ 1 w 25"/>
                  <a:gd name="T61" fmla="*/ 1 h 25"/>
                  <a:gd name="T62" fmla="*/ 1 w 25"/>
                  <a:gd name="T63" fmla="*/ 1 h 25"/>
                  <a:gd name="T64" fmla="*/ 1 w 25"/>
                  <a:gd name="T65" fmla="*/ 0 h 25"/>
                  <a:gd name="T66" fmla="*/ 1 w 25"/>
                  <a:gd name="T67" fmla="*/ 0 h 25"/>
                  <a:gd name="T68" fmla="*/ 1 w 25"/>
                  <a:gd name="T69" fmla="*/ 0 h 2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5"/>
                  <a:gd name="T106" fmla="*/ 0 h 25"/>
                  <a:gd name="T107" fmla="*/ 25 w 25"/>
                  <a:gd name="T108" fmla="*/ 25 h 25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5" h="25"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3"/>
                    </a:lnTo>
                    <a:lnTo>
                      <a:pt x="3" y="5"/>
                    </a:lnTo>
                    <a:lnTo>
                      <a:pt x="1" y="6"/>
                    </a:lnTo>
                    <a:lnTo>
                      <a:pt x="1" y="8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1" y="17"/>
                    </a:lnTo>
                    <a:lnTo>
                      <a:pt x="1" y="20"/>
                    </a:lnTo>
                    <a:lnTo>
                      <a:pt x="3" y="22"/>
                    </a:lnTo>
                    <a:lnTo>
                      <a:pt x="4" y="23"/>
                    </a:lnTo>
                    <a:lnTo>
                      <a:pt x="7" y="25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5"/>
                    </a:lnTo>
                    <a:lnTo>
                      <a:pt x="18" y="23"/>
                    </a:lnTo>
                    <a:lnTo>
                      <a:pt x="20" y="22"/>
                    </a:lnTo>
                    <a:lnTo>
                      <a:pt x="21" y="20"/>
                    </a:lnTo>
                    <a:lnTo>
                      <a:pt x="23" y="17"/>
                    </a:lnTo>
                    <a:lnTo>
                      <a:pt x="25" y="16"/>
                    </a:lnTo>
                    <a:lnTo>
                      <a:pt x="25" y="12"/>
                    </a:lnTo>
                    <a:lnTo>
                      <a:pt x="25" y="11"/>
                    </a:lnTo>
                    <a:lnTo>
                      <a:pt x="23" y="8"/>
                    </a:lnTo>
                    <a:lnTo>
                      <a:pt x="21" y="6"/>
                    </a:lnTo>
                    <a:lnTo>
                      <a:pt x="21" y="5"/>
                    </a:lnTo>
                    <a:lnTo>
                      <a:pt x="18" y="3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23" name="Line 105"/>
              <p:cNvSpPr>
                <a:spLocks noChangeShapeType="1"/>
              </p:cNvSpPr>
              <p:nvPr/>
            </p:nvSpPr>
            <p:spPr bwMode="auto">
              <a:xfrm>
                <a:off x="3879" y="1880"/>
                <a:ext cx="29" cy="8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24" name="Freeform 106"/>
              <p:cNvSpPr>
                <a:spLocks/>
              </p:cNvSpPr>
              <p:nvPr/>
            </p:nvSpPr>
            <p:spPr bwMode="auto">
              <a:xfrm>
                <a:off x="4200" y="1614"/>
                <a:ext cx="30" cy="200"/>
              </a:xfrm>
              <a:custGeom>
                <a:avLst/>
                <a:gdLst>
                  <a:gd name="T0" fmla="*/ 1 w 59"/>
                  <a:gd name="T1" fmla="*/ 0 h 400"/>
                  <a:gd name="T2" fmla="*/ 1 w 59"/>
                  <a:gd name="T3" fmla="*/ 1 h 400"/>
                  <a:gd name="T4" fmla="*/ 1 w 59"/>
                  <a:gd name="T5" fmla="*/ 1 h 400"/>
                  <a:gd name="T6" fmla="*/ 1 w 59"/>
                  <a:gd name="T7" fmla="*/ 1 h 400"/>
                  <a:gd name="T8" fmla="*/ 1 w 59"/>
                  <a:gd name="T9" fmla="*/ 1 h 400"/>
                  <a:gd name="T10" fmla="*/ 1 w 59"/>
                  <a:gd name="T11" fmla="*/ 1 h 400"/>
                  <a:gd name="T12" fmla="*/ 1 w 59"/>
                  <a:gd name="T13" fmla="*/ 1 h 400"/>
                  <a:gd name="T14" fmla="*/ 0 w 59"/>
                  <a:gd name="T15" fmla="*/ 1 h 400"/>
                  <a:gd name="T16" fmla="*/ 1 w 59"/>
                  <a:gd name="T17" fmla="*/ 1 h 400"/>
                  <a:gd name="T18" fmla="*/ 1 w 59"/>
                  <a:gd name="T19" fmla="*/ 2 h 400"/>
                  <a:gd name="T20" fmla="*/ 1 w 59"/>
                  <a:gd name="T21" fmla="*/ 2 h 400"/>
                  <a:gd name="T22" fmla="*/ 1 w 59"/>
                  <a:gd name="T23" fmla="*/ 2 h 400"/>
                  <a:gd name="T24" fmla="*/ 1 w 59"/>
                  <a:gd name="T25" fmla="*/ 2 h 400"/>
                  <a:gd name="T26" fmla="*/ 1 w 59"/>
                  <a:gd name="T27" fmla="*/ 2 h 400"/>
                  <a:gd name="T28" fmla="*/ 1 w 59"/>
                  <a:gd name="T29" fmla="*/ 2 h 400"/>
                  <a:gd name="T30" fmla="*/ 1 w 59"/>
                  <a:gd name="T31" fmla="*/ 2 h 400"/>
                  <a:gd name="T32" fmla="*/ 1 w 59"/>
                  <a:gd name="T33" fmla="*/ 2 h 400"/>
                  <a:gd name="T34" fmla="*/ 1 w 59"/>
                  <a:gd name="T35" fmla="*/ 2 h 400"/>
                  <a:gd name="T36" fmla="*/ 1 w 59"/>
                  <a:gd name="T37" fmla="*/ 2 h 400"/>
                  <a:gd name="T38" fmla="*/ 1 w 59"/>
                  <a:gd name="T39" fmla="*/ 2 h 400"/>
                  <a:gd name="T40" fmla="*/ 1 w 59"/>
                  <a:gd name="T41" fmla="*/ 2 h 400"/>
                  <a:gd name="T42" fmla="*/ 1 w 59"/>
                  <a:gd name="T43" fmla="*/ 3 h 400"/>
                  <a:gd name="T44" fmla="*/ 0 w 59"/>
                  <a:gd name="T45" fmla="*/ 3 h 400"/>
                  <a:gd name="T46" fmla="*/ 0 w 59"/>
                  <a:gd name="T47" fmla="*/ 3 h 400"/>
                  <a:gd name="T48" fmla="*/ 1 w 59"/>
                  <a:gd name="T49" fmla="*/ 3 h 400"/>
                  <a:gd name="T50" fmla="*/ 1 w 59"/>
                  <a:gd name="T51" fmla="*/ 3 h 400"/>
                  <a:gd name="T52" fmla="*/ 1 w 59"/>
                  <a:gd name="T53" fmla="*/ 3 h 400"/>
                  <a:gd name="T54" fmla="*/ 1 w 59"/>
                  <a:gd name="T55" fmla="*/ 3 h 400"/>
                  <a:gd name="T56" fmla="*/ 1 w 59"/>
                  <a:gd name="T57" fmla="*/ 4 h 400"/>
                  <a:gd name="T58" fmla="*/ 1 w 59"/>
                  <a:gd name="T59" fmla="*/ 4 h 400"/>
                  <a:gd name="T60" fmla="*/ 1 w 59"/>
                  <a:gd name="T61" fmla="*/ 4 h 400"/>
                  <a:gd name="T62" fmla="*/ 1 w 59"/>
                  <a:gd name="T63" fmla="*/ 4 h 400"/>
                  <a:gd name="T64" fmla="*/ 1 w 59"/>
                  <a:gd name="T65" fmla="*/ 4 h 400"/>
                  <a:gd name="T66" fmla="*/ 1 w 59"/>
                  <a:gd name="T67" fmla="*/ 4 h 400"/>
                  <a:gd name="T68" fmla="*/ 1 w 59"/>
                  <a:gd name="T69" fmla="*/ 4 h 400"/>
                  <a:gd name="T70" fmla="*/ 1 w 59"/>
                  <a:gd name="T71" fmla="*/ 4 h 400"/>
                  <a:gd name="T72" fmla="*/ 1 w 59"/>
                  <a:gd name="T73" fmla="*/ 4 h 400"/>
                  <a:gd name="T74" fmla="*/ 1 w 59"/>
                  <a:gd name="T75" fmla="*/ 4 h 400"/>
                  <a:gd name="T76" fmla="*/ 0 w 59"/>
                  <a:gd name="T77" fmla="*/ 4 h 400"/>
                  <a:gd name="T78" fmla="*/ 1 w 59"/>
                  <a:gd name="T79" fmla="*/ 5 h 400"/>
                  <a:gd name="T80" fmla="*/ 1 w 59"/>
                  <a:gd name="T81" fmla="*/ 5 h 400"/>
                  <a:gd name="T82" fmla="*/ 1 w 59"/>
                  <a:gd name="T83" fmla="*/ 5 h 400"/>
                  <a:gd name="T84" fmla="*/ 1 w 59"/>
                  <a:gd name="T85" fmla="*/ 5 h 400"/>
                  <a:gd name="T86" fmla="*/ 1 w 59"/>
                  <a:gd name="T87" fmla="*/ 5 h 400"/>
                  <a:gd name="T88" fmla="*/ 1 w 59"/>
                  <a:gd name="T89" fmla="*/ 5 h 400"/>
                  <a:gd name="T90" fmla="*/ 1 w 59"/>
                  <a:gd name="T91" fmla="*/ 5 h 400"/>
                  <a:gd name="T92" fmla="*/ 1 w 59"/>
                  <a:gd name="T93" fmla="*/ 5 h 400"/>
                  <a:gd name="T94" fmla="*/ 1 w 59"/>
                  <a:gd name="T95" fmla="*/ 5 h 400"/>
                  <a:gd name="T96" fmla="*/ 1 w 59"/>
                  <a:gd name="T97" fmla="*/ 5 h 400"/>
                  <a:gd name="T98" fmla="*/ 1 w 59"/>
                  <a:gd name="T99" fmla="*/ 5 h 400"/>
                  <a:gd name="T100" fmla="*/ 1 w 59"/>
                  <a:gd name="T101" fmla="*/ 5 h 400"/>
                  <a:gd name="T102" fmla="*/ 1 w 59"/>
                  <a:gd name="T103" fmla="*/ 6 h 400"/>
                  <a:gd name="T104" fmla="*/ 1 w 59"/>
                  <a:gd name="T105" fmla="*/ 6 h 400"/>
                  <a:gd name="T106" fmla="*/ 0 w 59"/>
                  <a:gd name="T107" fmla="*/ 6 h 400"/>
                  <a:gd name="T108" fmla="*/ 0 w 59"/>
                  <a:gd name="T109" fmla="*/ 6 h 400"/>
                  <a:gd name="T110" fmla="*/ 1 w 59"/>
                  <a:gd name="T111" fmla="*/ 6 h 400"/>
                  <a:gd name="T112" fmla="*/ 1 w 59"/>
                  <a:gd name="T113" fmla="*/ 6 h 400"/>
                  <a:gd name="T114" fmla="*/ 1 w 59"/>
                  <a:gd name="T115" fmla="*/ 6 h 400"/>
                  <a:gd name="T116" fmla="*/ 1 w 59"/>
                  <a:gd name="T117" fmla="*/ 7 h 400"/>
                  <a:gd name="T118" fmla="*/ 1 w 59"/>
                  <a:gd name="T119" fmla="*/ 7 h 400"/>
                  <a:gd name="T120" fmla="*/ 1 w 59"/>
                  <a:gd name="T121" fmla="*/ 7 h 400"/>
                  <a:gd name="T122" fmla="*/ 1 w 59"/>
                  <a:gd name="T123" fmla="*/ 7 h 40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59"/>
                  <a:gd name="T187" fmla="*/ 0 h 400"/>
                  <a:gd name="T188" fmla="*/ 59 w 59"/>
                  <a:gd name="T189" fmla="*/ 400 h 400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59" h="400">
                    <a:moveTo>
                      <a:pt x="59" y="0"/>
                    </a:moveTo>
                    <a:lnTo>
                      <a:pt x="53" y="0"/>
                    </a:lnTo>
                    <a:lnTo>
                      <a:pt x="49" y="0"/>
                    </a:lnTo>
                    <a:lnTo>
                      <a:pt x="42" y="2"/>
                    </a:lnTo>
                    <a:lnTo>
                      <a:pt x="38" y="3"/>
                    </a:lnTo>
                    <a:lnTo>
                      <a:pt x="33" y="5"/>
                    </a:lnTo>
                    <a:lnTo>
                      <a:pt x="28" y="8"/>
                    </a:lnTo>
                    <a:lnTo>
                      <a:pt x="19" y="13"/>
                    </a:lnTo>
                    <a:lnTo>
                      <a:pt x="14" y="16"/>
                    </a:lnTo>
                    <a:lnTo>
                      <a:pt x="11" y="21"/>
                    </a:lnTo>
                    <a:lnTo>
                      <a:pt x="8" y="24"/>
                    </a:lnTo>
                    <a:lnTo>
                      <a:pt x="7" y="28"/>
                    </a:lnTo>
                    <a:lnTo>
                      <a:pt x="3" y="33"/>
                    </a:lnTo>
                    <a:lnTo>
                      <a:pt x="2" y="38"/>
                    </a:lnTo>
                    <a:lnTo>
                      <a:pt x="0" y="43"/>
                    </a:lnTo>
                    <a:lnTo>
                      <a:pt x="0" y="47"/>
                    </a:lnTo>
                    <a:lnTo>
                      <a:pt x="0" y="54"/>
                    </a:lnTo>
                    <a:lnTo>
                      <a:pt x="2" y="58"/>
                    </a:lnTo>
                    <a:lnTo>
                      <a:pt x="2" y="63"/>
                    </a:lnTo>
                    <a:lnTo>
                      <a:pt x="3" y="68"/>
                    </a:lnTo>
                    <a:lnTo>
                      <a:pt x="7" y="73"/>
                    </a:lnTo>
                    <a:lnTo>
                      <a:pt x="10" y="76"/>
                    </a:lnTo>
                    <a:lnTo>
                      <a:pt x="13" y="80"/>
                    </a:lnTo>
                    <a:lnTo>
                      <a:pt x="16" y="84"/>
                    </a:lnTo>
                    <a:lnTo>
                      <a:pt x="24" y="90"/>
                    </a:lnTo>
                    <a:lnTo>
                      <a:pt x="28" y="93"/>
                    </a:lnTo>
                    <a:lnTo>
                      <a:pt x="33" y="95"/>
                    </a:lnTo>
                    <a:lnTo>
                      <a:pt x="38" y="98"/>
                    </a:lnTo>
                    <a:lnTo>
                      <a:pt x="44" y="99"/>
                    </a:lnTo>
                    <a:lnTo>
                      <a:pt x="50" y="99"/>
                    </a:lnTo>
                    <a:lnTo>
                      <a:pt x="55" y="99"/>
                    </a:lnTo>
                    <a:lnTo>
                      <a:pt x="59" y="99"/>
                    </a:lnTo>
                    <a:lnTo>
                      <a:pt x="53" y="99"/>
                    </a:lnTo>
                    <a:lnTo>
                      <a:pt x="49" y="101"/>
                    </a:lnTo>
                    <a:lnTo>
                      <a:pt x="42" y="101"/>
                    </a:lnTo>
                    <a:lnTo>
                      <a:pt x="38" y="102"/>
                    </a:lnTo>
                    <a:lnTo>
                      <a:pt x="33" y="106"/>
                    </a:lnTo>
                    <a:lnTo>
                      <a:pt x="28" y="107"/>
                    </a:lnTo>
                    <a:lnTo>
                      <a:pt x="19" y="113"/>
                    </a:lnTo>
                    <a:lnTo>
                      <a:pt x="14" y="117"/>
                    </a:lnTo>
                    <a:lnTo>
                      <a:pt x="11" y="120"/>
                    </a:lnTo>
                    <a:lnTo>
                      <a:pt x="8" y="124"/>
                    </a:lnTo>
                    <a:lnTo>
                      <a:pt x="7" y="129"/>
                    </a:lnTo>
                    <a:lnTo>
                      <a:pt x="3" y="134"/>
                    </a:lnTo>
                    <a:lnTo>
                      <a:pt x="2" y="139"/>
                    </a:lnTo>
                    <a:lnTo>
                      <a:pt x="0" y="143"/>
                    </a:lnTo>
                    <a:lnTo>
                      <a:pt x="0" y="148"/>
                    </a:lnTo>
                    <a:lnTo>
                      <a:pt x="0" y="153"/>
                    </a:lnTo>
                    <a:lnTo>
                      <a:pt x="2" y="157"/>
                    </a:lnTo>
                    <a:lnTo>
                      <a:pt x="2" y="162"/>
                    </a:lnTo>
                    <a:lnTo>
                      <a:pt x="3" y="167"/>
                    </a:lnTo>
                    <a:lnTo>
                      <a:pt x="7" y="172"/>
                    </a:lnTo>
                    <a:lnTo>
                      <a:pt x="10" y="176"/>
                    </a:lnTo>
                    <a:lnTo>
                      <a:pt x="13" y="180"/>
                    </a:lnTo>
                    <a:lnTo>
                      <a:pt x="16" y="184"/>
                    </a:lnTo>
                    <a:lnTo>
                      <a:pt x="24" y="191"/>
                    </a:lnTo>
                    <a:lnTo>
                      <a:pt x="28" y="192"/>
                    </a:lnTo>
                    <a:lnTo>
                      <a:pt x="33" y="195"/>
                    </a:lnTo>
                    <a:lnTo>
                      <a:pt x="38" y="197"/>
                    </a:lnTo>
                    <a:lnTo>
                      <a:pt x="44" y="198"/>
                    </a:lnTo>
                    <a:lnTo>
                      <a:pt x="50" y="200"/>
                    </a:lnTo>
                    <a:lnTo>
                      <a:pt x="55" y="200"/>
                    </a:lnTo>
                    <a:lnTo>
                      <a:pt x="59" y="200"/>
                    </a:lnTo>
                    <a:lnTo>
                      <a:pt x="53" y="200"/>
                    </a:lnTo>
                    <a:lnTo>
                      <a:pt x="49" y="200"/>
                    </a:lnTo>
                    <a:lnTo>
                      <a:pt x="42" y="202"/>
                    </a:lnTo>
                    <a:lnTo>
                      <a:pt x="38" y="203"/>
                    </a:lnTo>
                    <a:lnTo>
                      <a:pt x="33" y="205"/>
                    </a:lnTo>
                    <a:lnTo>
                      <a:pt x="28" y="208"/>
                    </a:lnTo>
                    <a:lnTo>
                      <a:pt x="19" y="213"/>
                    </a:lnTo>
                    <a:lnTo>
                      <a:pt x="14" y="216"/>
                    </a:lnTo>
                    <a:lnTo>
                      <a:pt x="11" y="220"/>
                    </a:lnTo>
                    <a:lnTo>
                      <a:pt x="8" y="224"/>
                    </a:lnTo>
                    <a:lnTo>
                      <a:pt x="7" y="228"/>
                    </a:lnTo>
                    <a:lnTo>
                      <a:pt x="3" y="233"/>
                    </a:lnTo>
                    <a:lnTo>
                      <a:pt x="2" y="238"/>
                    </a:lnTo>
                    <a:lnTo>
                      <a:pt x="0" y="242"/>
                    </a:lnTo>
                    <a:lnTo>
                      <a:pt x="0" y="247"/>
                    </a:lnTo>
                    <a:lnTo>
                      <a:pt x="0" y="253"/>
                    </a:lnTo>
                    <a:lnTo>
                      <a:pt x="2" y="258"/>
                    </a:lnTo>
                    <a:lnTo>
                      <a:pt x="2" y="263"/>
                    </a:lnTo>
                    <a:lnTo>
                      <a:pt x="3" y="268"/>
                    </a:lnTo>
                    <a:lnTo>
                      <a:pt x="7" y="272"/>
                    </a:lnTo>
                    <a:lnTo>
                      <a:pt x="10" y="276"/>
                    </a:lnTo>
                    <a:lnTo>
                      <a:pt x="13" y="280"/>
                    </a:lnTo>
                    <a:lnTo>
                      <a:pt x="16" y="283"/>
                    </a:lnTo>
                    <a:lnTo>
                      <a:pt x="24" y="290"/>
                    </a:lnTo>
                    <a:lnTo>
                      <a:pt x="28" y="293"/>
                    </a:lnTo>
                    <a:lnTo>
                      <a:pt x="33" y="294"/>
                    </a:lnTo>
                    <a:lnTo>
                      <a:pt x="38" y="298"/>
                    </a:lnTo>
                    <a:lnTo>
                      <a:pt x="44" y="299"/>
                    </a:lnTo>
                    <a:lnTo>
                      <a:pt x="50" y="299"/>
                    </a:lnTo>
                    <a:lnTo>
                      <a:pt x="55" y="299"/>
                    </a:lnTo>
                    <a:lnTo>
                      <a:pt x="59" y="299"/>
                    </a:lnTo>
                    <a:lnTo>
                      <a:pt x="53" y="301"/>
                    </a:lnTo>
                    <a:lnTo>
                      <a:pt x="49" y="301"/>
                    </a:lnTo>
                    <a:lnTo>
                      <a:pt x="42" y="302"/>
                    </a:lnTo>
                    <a:lnTo>
                      <a:pt x="38" y="302"/>
                    </a:lnTo>
                    <a:lnTo>
                      <a:pt x="33" y="305"/>
                    </a:lnTo>
                    <a:lnTo>
                      <a:pt x="28" y="307"/>
                    </a:lnTo>
                    <a:lnTo>
                      <a:pt x="19" y="313"/>
                    </a:lnTo>
                    <a:lnTo>
                      <a:pt x="14" y="316"/>
                    </a:lnTo>
                    <a:lnTo>
                      <a:pt x="11" y="320"/>
                    </a:lnTo>
                    <a:lnTo>
                      <a:pt x="8" y="324"/>
                    </a:lnTo>
                    <a:lnTo>
                      <a:pt x="7" y="329"/>
                    </a:lnTo>
                    <a:lnTo>
                      <a:pt x="3" y="334"/>
                    </a:lnTo>
                    <a:lnTo>
                      <a:pt x="2" y="338"/>
                    </a:lnTo>
                    <a:lnTo>
                      <a:pt x="0" y="343"/>
                    </a:lnTo>
                    <a:lnTo>
                      <a:pt x="0" y="348"/>
                    </a:lnTo>
                    <a:lnTo>
                      <a:pt x="0" y="353"/>
                    </a:lnTo>
                    <a:lnTo>
                      <a:pt x="2" y="357"/>
                    </a:lnTo>
                    <a:lnTo>
                      <a:pt x="2" y="362"/>
                    </a:lnTo>
                    <a:lnTo>
                      <a:pt x="3" y="367"/>
                    </a:lnTo>
                    <a:lnTo>
                      <a:pt x="7" y="371"/>
                    </a:lnTo>
                    <a:lnTo>
                      <a:pt x="10" y="376"/>
                    </a:lnTo>
                    <a:lnTo>
                      <a:pt x="13" y="379"/>
                    </a:lnTo>
                    <a:lnTo>
                      <a:pt x="16" y="384"/>
                    </a:lnTo>
                    <a:lnTo>
                      <a:pt x="24" y="390"/>
                    </a:lnTo>
                    <a:lnTo>
                      <a:pt x="28" y="394"/>
                    </a:lnTo>
                    <a:lnTo>
                      <a:pt x="33" y="395"/>
                    </a:lnTo>
                    <a:lnTo>
                      <a:pt x="38" y="397"/>
                    </a:lnTo>
                    <a:lnTo>
                      <a:pt x="44" y="398"/>
                    </a:lnTo>
                    <a:lnTo>
                      <a:pt x="50" y="400"/>
                    </a:lnTo>
                    <a:lnTo>
                      <a:pt x="55" y="400"/>
                    </a:lnTo>
                    <a:lnTo>
                      <a:pt x="59" y="40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25" name="Line 107"/>
              <p:cNvSpPr>
                <a:spLocks noChangeShapeType="1"/>
              </p:cNvSpPr>
              <p:nvPr/>
            </p:nvSpPr>
            <p:spPr bwMode="auto">
              <a:xfrm>
                <a:off x="4164" y="1619"/>
                <a:ext cx="1" cy="1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26" name="Line 108"/>
              <p:cNvSpPr>
                <a:spLocks noChangeShapeType="1"/>
              </p:cNvSpPr>
              <p:nvPr/>
            </p:nvSpPr>
            <p:spPr bwMode="auto">
              <a:xfrm flipV="1">
                <a:off x="4177" y="1619"/>
                <a:ext cx="1" cy="1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27" name="Freeform 109"/>
              <p:cNvSpPr>
                <a:spLocks/>
              </p:cNvSpPr>
              <p:nvPr/>
            </p:nvSpPr>
            <p:spPr bwMode="auto">
              <a:xfrm>
                <a:off x="4220" y="1621"/>
                <a:ext cx="24" cy="25"/>
              </a:xfrm>
              <a:custGeom>
                <a:avLst/>
                <a:gdLst>
                  <a:gd name="T0" fmla="*/ 0 w 50"/>
                  <a:gd name="T1" fmla="*/ 0 h 51"/>
                  <a:gd name="T2" fmla="*/ 0 w 50"/>
                  <a:gd name="T3" fmla="*/ 0 h 51"/>
                  <a:gd name="T4" fmla="*/ 0 w 50"/>
                  <a:gd name="T5" fmla="*/ 0 h 51"/>
                  <a:gd name="T6" fmla="*/ 0 w 50"/>
                  <a:gd name="T7" fmla="*/ 0 h 51"/>
                  <a:gd name="T8" fmla="*/ 0 w 50"/>
                  <a:gd name="T9" fmla="*/ 0 h 51"/>
                  <a:gd name="T10" fmla="*/ 0 w 50"/>
                  <a:gd name="T11" fmla="*/ 0 h 51"/>
                  <a:gd name="T12" fmla="*/ 0 w 50"/>
                  <a:gd name="T13" fmla="*/ 0 h 51"/>
                  <a:gd name="T14" fmla="*/ 0 w 50"/>
                  <a:gd name="T15" fmla="*/ 0 h 51"/>
                  <a:gd name="T16" fmla="*/ 0 w 50"/>
                  <a:gd name="T17" fmla="*/ 0 h 51"/>
                  <a:gd name="T18" fmla="*/ 0 w 50"/>
                  <a:gd name="T19" fmla="*/ 0 h 51"/>
                  <a:gd name="T20" fmla="*/ 0 w 50"/>
                  <a:gd name="T21" fmla="*/ 0 h 51"/>
                  <a:gd name="T22" fmla="*/ 0 w 50"/>
                  <a:gd name="T23" fmla="*/ 0 h 51"/>
                  <a:gd name="T24" fmla="*/ 0 w 50"/>
                  <a:gd name="T25" fmla="*/ 0 h 51"/>
                  <a:gd name="T26" fmla="*/ 0 w 50"/>
                  <a:gd name="T27" fmla="*/ 0 h 51"/>
                  <a:gd name="T28" fmla="*/ 0 w 50"/>
                  <a:gd name="T29" fmla="*/ 0 h 51"/>
                  <a:gd name="T30" fmla="*/ 0 w 50"/>
                  <a:gd name="T31" fmla="*/ 0 h 51"/>
                  <a:gd name="T32" fmla="*/ 0 w 50"/>
                  <a:gd name="T33" fmla="*/ 0 h 51"/>
                  <a:gd name="T34" fmla="*/ 0 w 50"/>
                  <a:gd name="T35" fmla="*/ 0 h 51"/>
                  <a:gd name="T36" fmla="*/ 0 w 50"/>
                  <a:gd name="T37" fmla="*/ 0 h 51"/>
                  <a:gd name="T38" fmla="*/ 0 w 50"/>
                  <a:gd name="T39" fmla="*/ 0 h 51"/>
                  <a:gd name="T40" fmla="*/ 0 w 50"/>
                  <a:gd name="T41" fmla="*/ 0 h 51"/>
                  <a:gd name="T42" fmla="*/ 0 w 50"/>
                  <a:gd name="T43" fmla="*/ 0 h 51"/>
                  <a:gd name="T44" fmla="*/ 0 w 50"/>
                  <a:gd name="T45" fmla="*/ 0 h 51"/>
                  <a:gd name="T46" fmla="*/ 0 w 50"/>
                  <a:gd name="T47" fmla="*/ 0 h 51"/>
                  <a:gd name="T48" fmla="*/ 0 w 50"/>
                  <a:gd name="T49" fmla="*/ 0 h 51"/>
                  <a:gd name="T50" fmla="*/ 0 w 50"/>
                  <a:gd name="T51" fmla="*/ 0 h 51"/>
                  <a:gd name="T52" fmla="*/ 0 w 50"/>
                  <a:gd name="T53" fmla="*/ 0 h 51"/>
                  <a:gd name="T54" fmla="*/ 0 w 50"/>
                  <a:gd name="T55" fmla="*/ 0 h 51"/>
                  <a:gd name="T56" fmla="*/ 0 w 50"/>
                  <a:gd name="T57" fmla="*/ 0 h 51"/>
                  <a:gd name="T58" fmla="*/ 0 w 50"/>
                  <a:gd name="T59" fmla="*/ 0 h 51"/>
                  <a:gd name="T60" fmla="*/ 0 w 50"/>
                  <a:gd name="T61" fmla="*/ 0 h 51"/>
                  <a:gd name="T62" fmla="*/ 0 w 50"/>
                  <a:gd name="T63" fmla="*/ 0 h 51"/>
                  <a:gd name="T64" fmla="*/ 0 w 50"/>
                  <a:gd name="T65" fmla="*/ 0 h 51"/>
                  <a:gd name="T66" fmla="*/ 0 w 50"/>
                  <a:gd name="T67" fmla="*/ 0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1"/>
                  <a:gd name="T104" fmla="*/ 50 w 50"/>
                  <a:gd name="T105" fmla="*/ 51 h 5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1">
                    <a:moveTo>
                      <a:pt x="0" y="25"/>
                    </a:moveTo>
                    <a:lnTo>
                      <a:pt x="2" y="21"/>
                    </a:lnTo>
                    <a:lnTo>
                      <a:pt x="3" y="16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3"/>
                    </a:lnTo>
                    <a:lnTo>
                      <a:pt x="20" y="2"/>
                    </a:lnTo>
                    <a:lnTo>
                      <a:pt x="25" y="0"/>
                    </a:lnTo>
                    <a:lnTo>
                      <a:pt x="31" y="2"/>
                    </a:lnTo>
                    <a:lnTo>
                      <a:pt x="36" y="3"/>
                    </a:lnTo>
                    <a:lnTo>
                      <a:pt x="39" y="5"/>
                    </a:lnTo>
                    <a:lnTo>
                      <a:pt x="44" y="8"/>
                    </a:lnTo>
                    <a:lnTo>
                      <a:pt x="47" y="11"/>
                    </a:lnTo>
                    <a:lnTo>
                      <a:pt x="48" y="16"/>
                    </a:lnTo>
                    <a:lnTo>
                      <a:pt x="50" y="21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7" y="40"/>
                    </a:lnTo>
                    <a:lnTo>
                      <a:pt x="44" y="44"/>
                    </a:lnTo>
                    <a:lnTo>
                      <a:pt x="39" y="48"/>
                    </a:lnTo>
                    <a:lnTo>
                      <a:pt x="36" y="49"/>
                    </a:lnTo>
                    <a:lnTo>
                      <a:pt x="31" y="51"/>
                    </a:lnTo>
                    <a:lnTo>
                      <a:pt x="25" y="51"/>
                    </a:lnTo>
                    <a:lnTo>
                      <a:pt x="20" y="51"/>
                    </a:lnTo>
                    <a:lnTo>
                      <a:pt x="16" y="49"/>
                    </a:lnTo>
                    <a:lnTo>
                      <a:pt x="11" y="48"/>
                    </a:lnTo>
                    <a:lnTo>
                      <a:pt x="8" y="44"/>
                    </a:lnTo>
                    <a:lnTo>
                      <a:pt x="5" y="40"/>
                    </a:lnTo>
                    <a:lnTo>
                      <a:pt x="3" y="35"/>
                    </a:lnTo>
                    <a:lnTo>
                      <a:pt x="2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28" name="Line 110"/>
              <p:cNvSpPr>
                <a:spLocks noChangeShapeType="1"/>
              </p:cNvSpPr>
              <p:nvPr/>
            </p:nvSpPr>
            <p:spPr bwMode="auto">
              <a:xfrm flipH="1">
                <a:off x="3875" y="1164"/>
                <a:ext cx="13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29" name="Freeform 111"/>
              <p:cNvSpPr>
                <a:spLocks/>
              </p:cNvSpPr>
              <p:nvPr/>
            </p:nvSpPr>
            <p:spPr bwMode="auto">
              <a:xfrm>
                <a:off x="3877" y="1974"/>
                <a:ext cx="157" cy="110"/>
              </a:xfrm>
              <a:custGeom>
                <a:avLst/>
                <a:gdLst>
                  <a:gd name="T0" fmla="*/ 4 w 316"/>
                  <a:gd name="T1" fmla="*/ 4 h 220"/>
                  <a:gd name="T2" fmla="*/ 0 w 316"/>
                  <a:gd name="T3" fmla="*/ 4 h 220"/>
                  <a:gd name="T4" fmla="*/ 0 w 316"/>
                  <a:gd name="T5" fmla="*/ 0 h 220"/>
                  <a:gd name="T6" fmla="*/ 0 60000 65536"/>
                  <a:gd name="T7" fmla="*/ 0 60000 65536"/>
                  <a:gd name="T8" fmla="*/ 0 60000 65536"/>
                  <a:gd name="T9" fmla="*/ 0 w 316"/>
                  <a:gd name="T10" fmla="*/ 0 h 220"/>
                  <a:gd name="T11" fmla="*/ 316 w 316"/>
                  <a:gd name="T12" fmla="*/ 220 h 2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6" h="220">
                    <a:moveTo>
                      <a:pt x="316" y="220"/>
                    </a:moveTo>
                    <a:lnTo>
                      <a:pt x="0" y="22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30" name="Line 112"/>
              <p:cNvSpPr>
                <a:spLocks noChangeShapeType="1"/>
              </p:cNvSpPr>
              <p:nvPr/>
            </p:nvSpPr>
            <p:spPr bwMode="auto">
              <a:xfrm flipH="1">
                <a:off x="3877" y="1764"/>
                <a:ext cx="157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31" name="Freeform 113"/>
              <p:cNvSpPr>
                <a:spLocks/>
              </p:cNvSpPr>
              <p:nvPr/>
            </p:nvSpPr>
            <p:spPr bwMode="auto">
              <a:xfrm>
                <a:off x="3864" y="1751"/>
                <a:ext cx="25" cy="25"/>
              </a:xfrm>
              <a:custGeom>
                <a:avLst/>
                <a:gdLst>
                  <a:gd name="T0" fmla="*/ 0 w 50"/>
                  <a:gd name="T1" fmla="*/ 1 h 50"/>
                  <a:gd name="T2" fmla="*/ 0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1 h 50"/>
                  <a:gd name="T16" fmla="*/ 1 w 50"/>
                  <a:gd name="T17" fmla="*/ 0 h 50"/>
                  <a:gd name="T18" fmla="*/ 1 w 50"/>
                  <a:gd name="T19" fmla="*/ 1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0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0" y="20"/>
                    </a:lnTo>
                    <a:lnTo>
                      <a:pt x="2" y="16"/>
                    </a:lnTo>
                    <a:lnTo>
                      <a:pt x="5" y="13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3"/>
                    </a:lnTo>
                    <a:lnTo>
                      <a:pt x="20" y="2"/>
                    </a:lnTo>
                    <a:lnTo>
                      <a:pt x="25" y="0"/>
                    </a:lnTo>
                    <a:lnTo>
                      <a:pt x="30" y="2"/>
                    </a:lnTo>
                    <a:lnTo>
                      <a:pt x="34" y="3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3"/>
                    </a:lnTo>
                    <a:lnTo>
                      <a:pt x="48" y="16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1"/>
                    </a:lnTo>
                    <a:lnTo>
                      <a:pt x="48" y="36"/>
                    </a:lnTo>
                    <a:lnTo>
                      <a:pt x="45" y="39"/>
                    </a:lnTo>
                    <a:lnTo>
                      <a:pt x="42" y="44"/>
                    </a:lnTo>
                    <a:lnTo>
                      <a:pt x="39" y="47"/>
                    </a:lnTo>
                    <a:lnTo>
                      <a:pt x="34" y="49"/>
                    </a:lnTo>
                    <a:lnTo>
                      <a:pt x="30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6" y="49"/>
                    </a:lnTo>
                    <a:lnTo>
                      <a:pt x="11" y="47"/>
                    </a:lnTo>
                    <a:lnTo>
                      <a:pt x="8" y="44"/>
                    </a:lnTo>
                    <a:lnTo>
                      <a:pt x="5" y="39"/>
                    </a:lnTo>
                    <a:lnTo>
                      <a:pt x="2" y="36"/>
                    </a:lnTo>
                    <a:lnTo>
                      <a:pt x="0" y="31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32" name="Freeform 114"/>
              <p:cNvSpPr>
                <a:spLocks/>
              </p:cNvSpPr>
              <p:nvPr/>
            </p:nvSpPr>
            <p:spPr bwMode="auto">
              <a:xfrm>
                <a:off x="3864" y="2071"/>
                <a:ext cx="25" cy="25"/>
              </a:xfrm>
              <a:custGeom>
                <a:avLst/>
                <a:gdLst>
                  <a:gd name="T0" fmla="*/ 0 w 50"/>
                  <a:gd name="T1" fmla="*/ 0 h 51"/>
                  <a:gd name="T2" fmla="*/ 0 w 50"/>
                  <a:gd name="T3" fmla="*/ 0 h 51"/>
                  <a:gd name="T4" fmla="*/ 1 w 50"/>
                  <a:gd name="T5" fmla="*/ 0 h 51"/>
                  <a:gd name="T6" fmla="*/ 1 w 50"/>
                  <a:gd name="T7" fmla="*/ 0 h 51"/>
                  <a:gd name="T8" fmla="*/ 1 w 50"/>
                  <a:gd name="T9" fmla="*/ 0 h 51"/>
                  <a:gd name="T10" fmla="*/ 1 w 50"/>
                  <a:gd name="T11" fmla="*/ 0 h 51"/>
                  <a:gd name="T12" fmla="*/ 1 w 50"/>
                  <a:gd name="T13" fmla="*/ 0 h 51"/>
                  <a:gd name="T14" fmla="*/ 1 w 50"/>
                  <a:gd name="T15" fmla="*/ 0 h 51"/>
                  <a:gd name="T16" fmla="*/ 1 w 50"/>
                  <a:gd name="T17" fmla="*/ 0 h 51"/>
                  <a:gd name="T18" fmla="*/ 1 w 50"/>
                  <a:gd name="T19" fmla="*/ 0 h 51"/>
                  <a:gd name="T20" fmla="*/ 1 w 50"/>
                  <a:gd name="T21" fmla="*/ 0 h 51"/>
                  <a:gd name="T22" fmla="*/ 1 w 50"/>
                  <a:gd name="T23" fmla="*/ 0 h 51"/>
                  <a:gd name="T24" fmla="*/ 1 w 50"/>
                  <a:gd name="T25" fmla="*/ 0 h 51"/>
                  <a:gd name="T26" fmla="*/ 1 w 50"/>
                  <a:gd name="T27" fmla="*/ 0 h 51"/>
                  <a:gd name="T28" fmla="*/ 1 w 50"/>
                  <a:gd name="T29" fmla="*/ 0 h 51"/>
                  <a:gd name="T30" fmla="*/ 1 w 50"/>
                  <a:gd name="T31" fmla="*/ 0 h 51"/>
                  <a:gd name="T32" fmla="*/ 1 w 50"/>
                  <a:gd name="T33" fmla="*/ 0 h 51"/>
                  <a:gd name="T34" fmla="*/ 1 w 50"/>
                  <a:gd name="T35" fmla="*/ 0 h 51"/>
                  <a:gd name="T36" fmla="*/ 1 w 50"/>
                  <a:gd name="T37" fmla="*/ 0 h 51"/>
                  <a:gd name="T38" fmla="*/ 1 w 50"/>
                  <a:gd name="T39" fmla="*/ 0 h 51"/>
                  <a:gd name="T40" fmla="*/ 1 w 50"/>
                  <a:gd name="T41" fmla="*/ 0 h 51"/>
                  <a:gd name="T42" fmla="*/ 1 w 50"/>
                  <a:gd name="T43" fmla="*/ 0 h 51"/>
                  <a:gd name="T44" fmla="*/ 1 w 50"/>
                  <a:gd name="T45" fmla="*/ 0 h 51"/>
                  <a:gd name="T46" fmla="*/ 1 w 50"/>
                  <a:gd name="T47" fmla="*/ 0 h 51"/>
                  <a:gd name="T48" fmla="*/ 1 w 50"/>
                  <a:gd name="T49" fmla="*/ 0 h 51"/>
                  <a:gd name="T50" fmla="*/ 1 w 50"/>
                  <a:gd name="T51" fmla="*/ 0 h 51"/>
                  <a:gd name="T52" fmla="*/ 1 w 50"/>
                  <a:gd name="T53" fmla="*/ 0 h 51"/>
                  <a:gd name="T54" fmla="*/ 1 w 50"/>
                  <a:gd name="T55" fmla="*/ 0 h 51"/>
                  <a:gd name="T56" fmla="*/ 1 w 50"/>
                  <a:gd name="T57" fmla="*/ 0 h 51"/>
                  <a:gd name="T58" fmla="*/ 1 w 50"/>
                  <a:gd name="T59" fmla="*/ 0 h 51"/>
                  <a:gd name="T60" fmla="*/ 1 w 50"/>
                  <a:gd name="T61" fmla="*/ 0 h 51"/>
                  <a:gd name="T62" fmla="*/ 1 w 50"/>
                  <a:gd name="T63" fmla="*/ 0 h 51"/>
                  <a:gd name="T64" fmla="*/ 0 w 50"/>
                  <a:gd name="T65" fmla="*/ 0 h 51"/>
                  <a:gd name="T66" fmla="*/ 0 w 50"/>
                  <a:gd name="T67" fmla="*/ 0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1"/>
                  <a:gd name="T104" fmla="*/ 50 w 50"/>
                  <a:gd name="T105" fmla="*/ 51 h 5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1">
                    <a:moveTo>
                      <a:pt x="0" y="25"/>
                    </a:moveTo>
                    <a:lnTo>
                      <a:pt x="0" y="21"/>
                    </a:lnTo>
                    <a:lnTo>
                      <a:pt x="2" y="16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0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1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40"/>
                    </a:lnTo>
                    <a:lnTo>
                      <a:pt x="42" y="43"/>
                    </a:lnTo>
                    <a:lnTo>
                      <a:pt x="39" y="46"/>
                    </a:lnTo>
                    <a:lnTo>
                      <a:pt x="34" y="49"/>
                    </a:lnTo>
                    <a:lnTo>
                      <a:pt x="30" y="51"/>
                    </a:lnTo>
                    <a:lnTo>
                      <a:pt x="25" y="51"/>
                    </a:lnTo>
                    <a:lnTo>
                      <a:pt x="20" y="51"/>
                    </a:lnTo>
                    <a:lnTo>
                      <a:pt x="16" y="49"/>
                    </a:lnTo>
                    <a:lnTo>
                      <a:pt x="11" y="46"/>
                    </a:lnTo>
                    <a:lnTo>
                      <a:pt x="8" y="43"/>
                    </a:lnTo>
                    <a:lnTo>
                      <a:pt x="5" y="40"/>
                    </a:lnTo>
                    <a:lnTo>
                      <a:pt x="2" y="35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33" name="Line 115"/>
              <p:cNvSpPr>
                <a:spLocks noChangeShapeType="1"/>
              </p:cNvSpPr>
              <p:nvPr/>
            </p:nvSpPr>
            <p:spPr bwMode="auto">
              <a:xfrm flipV="1">
                <a:off x="4230" y="1814"/>
                <a:ext cx="1" cy="8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34" name="Line 116"/>
              <p:cNvSpPr>
                <a:spLocks noChangeShapeType="1"/>
              </p:cNvSpPr>
              <p:nvPr/>
            </p:nvSpPr>
            <p:spPr bwMode="auto">
              <a:xfrm flipH="1" flipV="1">
                <a:off x="4546" y="1334"/>
                <a:ext cx="3" cy="56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35" name="Line 117"/>
              <p:cNvSpPr>
                <a:spLocks noChangeShapeType="1"/>
              </p:cNvSpPr>
              <p:nvPr/>
            </p:nvSpPr>
            <p:spPr bwMode="auto">
              <a:xfrm>
                <a:off x="4546" y="1334"/>
                <a:ext cx="150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36" name="Line 118"/>
              <p:cNvSpPr>
                <a:spLocks noChangeShapeType="1"/>
              </p:cNvSpPr>
              <p:nvPr/>
            </p:nvSpPr>
            <p:spPr bwMode="auto">
              <a:xfrm>
                <a:off x="5145" y="1527"/>
                <a:ext cx="1" cy="4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37" name="Freeform 119"/>
              <p:cNvSpPr>
                <a:spLocks/>
              </p:cNvSpPr>
              <p:nvPr/>
            </p:nvSpPr>
            <p:spPr bwMode="auto">
              <a:xfrm>
                <a:off x="4230" y="1614"/>
                <a:ext cx="911" cy="1"/>
              </a:xfrm>
              <a:custGeom>
                <a:avLst/>
                <a:gdLst>
                  <a:gd name="T0" fmla="*/ 0 w 1824"/>
                  <a:gd name="T1" fmla="*/ 0 h 1"/>
                  <a:gd name="T2" fmla="*/ 28 w 1824"/>
                  <a:gd name="T3" fmla="*/ 0 h 1"/>
                  <a:gd name="T4" fmla="*/ 28 w 182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824"/>
                  <a:gd name="T10" fmla="*/ 0 h 1"/>
                  <a:gd name="T11" fmla="*/ 1824 w 182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24" h="1">
                    <a:moveTo>
                      <a:pt x="0" y="0"/>
                    </a:moveTo>
                    <a:lnTo>
                      <a:pt x="1824" y="0"/>
                    </a:lnTo>
                    <a:lnTo>
                      <a:pt x="181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38" name="Line 120"/>
              <p:cNvSpPr>
                <a:spLocks noChangeShapeType="1"/>
              </p:cNvSpPr>
              <p:nvPr/>
            </p:nvSpPr>
            <p:spPr bwMode="auto">
              <a:xfrm>
                <a:off x="5145" y="1574"/>
                <a:ext cx="1" cy="4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39" name="Line 121"/>
              <p:cNvSpPr>
                <a:spLocks noChangeShapeType="1"/>
              </p:cNvSpPr>
              <p:nvPr/>
            </p:nvSpPr>
            <p:spPr bwMode="auto">
              <a:xfrm>
                <a:off x="4987" y="1574"/>
                <a:ext cx="1" cy="4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40" name="Freeform 122"/>
              <p:cNvSpPr>
                <a:spLocks/>
              </p:cNvSpPr>
              <p:nvPr/>
            </p:nvSpPr>
            <p:spPr bwMode="auto">
              <a:xfrm>
                <a:off x="4974" y="1601"/>
                <a:ext cx="25" cy="26"/>
              </a:xfrm>
              <a:custGeom>
                <a:avLst/>
                <a:gdLst>
                  <a:gd name="T0" fmla="*/ 0 w 50"/>
                  <a:gd name="T1" fmla="*/ 1 h 50"/>
                  <a:gd name="T2" fmla="*/ 1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1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2" y="20"/>
                    </a:lnTo>
                    <a:lnTo>
                      <a:pt x="3" y="16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1" y="0"/>
                    </a:lnTo>
                    <a:lnTo>
                      <a:pt x="36" y="2"/>
                    </a:lnTo>
                    <a:lnTo>
                      <a:pt x="39" y="5"/>
                    </a:lnTo>
                    <a:lnTo>
                      <a:pt x="44" y="8"/>
                    </a:lnTo>
                    <a:lnTo>
                      <a:pt x="47" y="11"/>
                    </a:lnTo>
                    <a:lnTo>
                      <a:pt x="48" y="16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7" y="39"/>
                    </a:lnTo>
                    <a:lnTo>
                      <a:pt x="44" y="42"/>
                    </a:lnTo>
                    <a:lnTo>
                      <a:pt x="39" y="46"/>
                    </a:lnTo>
                    <a:lnTo>
                      <a:pt x="36" y="49"/>
                    </a:lnTo>
                    <a:lnTo>
                      <a:pt x="31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6" y="49"/>
                    </a:lnTo>
                    <a:lnTo>
                      <a:pt x="11" y="46"/>
                    </a:lnTo>
                    <a:lnTo>
                      <a:pt x="8" y="42"/>
                    </a:lnTo>
                    <a:lnTo>
                      <a:pt x="5" y="39"/>
                    </a:lnTo>
                    <a:lnTo>
                      <a:pt x="3" y="35"/>
                    </a:lnTo>
                    <a:lnTo>
                      <a:pt x="2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41" name="Freeform 123"/>
              <p:cNvSpPr>
                <a:spLocks/>
              </p:cNvSpPr>
              <p:nvPr/>
            </p:nvSpPr>
            <p:spPr bwMode="auto">
              <a:xfrm>
                <a:off x="4534" y="1321"/>
                <a:ext cx="25" cy="26"/>
              </a:xfrm>
              <a:custGeom>
                <a:avLst/>
                <a:gdLst>
                  <a:gd name="T0" fmla="*/ 0 w 49"/>
                  <a:gd name="T1" fmla="*/ 1 h 50"/>
                  <a:gd name="T2" fmla="*/ 0 w 49"/>
                  <a:gd name="T3" fmla="*/ 1 h 50"/>
                  <a:gd name="T4" fmla="*/ 1 w 49"/>
                  <a:gd name="T5" fmla="*/ 1 h 50"/>
                  <a:gd name="T6" fmla="*/ 1 w 49"/>
                  <a:gd name="T7" fmla="*/ 1 h 50"/>
                  <a:gd name="T8" fmla="*/ 1 w 49"/>
                  <a:gd name="T9" fmla="*/ 1 h 50"/>
                  <a:gd name="T10" fmla="*/ 1 w 49"/>
                  <a:gd name="T11" fmla="*/ 1 h 50"/>
                  <a:gd name="T12" fmla="*/ 1 w 49"/>
                  <a:gd name="T13" fmla="*/ 1 h 50"/>
                  <a:gd name="T14" fmla="*/ 1 w 49"/>
                  <a:gd name="T15" fmla="*/ 0 h 50"/>
                  <a:gd name="T16" fmla="*/ 1 w 49"/>
                  <a:gd name="T17" fmla="*/ 0 h 50"/>
                  <a:gd name="T18" fmla="*/ 1 w 49"/>
                  <a:gd name="T19" fmla="*/ 0 h 50"/>
                  <a:gd name="T20" fmla="*/ 1 w 49"/>
                  <a:gd name="T21" fmla="*/ 1 h 50"/>
                  <a:gd name="T22" fmla="*/ 1 w 49"/>
                  <a:gd name="T23" fmla="*/ 1 h 50"/>
                  <a:gd name="T24" fmla="*/ 1 w 49"/>
                  <a:gd name="T25" fmla="*/ 1 h 50"/>
                  <a:gd name="T26" fmla="*/ 1 w 49"/>
                  <a:gd name="T27" fmla="*/ 1 h 50"/>
                  <a:gd name="T28" fmla="*/ 1 w 49"/>
                  <a:gd name="T29" fmla="*/ 1 h 50"/>
                  <a:gd name="T30" fmla="*/ 1 w 49"/>
                  <a:gd name="T31" fmla="*/ 1 h 50"/>
                  <a:gd name="T32" fmla="*/ 1 w 49"/>
                  <a:gd name="T33" fmla="*/ 1 h 50"/>
                  <a:gd name="T34" fmla="*/ 1 w 49"/>
                  <a:gd name="T35" fmla="*/ 1 h 50"/>
                  <a:gd name="T36" fmla="*/ 1 w 49"/>
                  <a:gd name="T37" fmla="*/ 1 h 50"/>
                  <a:gd name="T38" fmla="*/ 1 w 49"/>
                  <a:gd name="T39" fmla="*/ 1 h 50"/>
                  <a:gd name="T40" fmla="*/ 1 w 49"/>
                  <a:gd name="T41" fmla="*/ 1 h 50"/>
                  <a:gd name="T42" fmla="*/ 1 w 49"/>
                  <a:gd name="T43" fmla="*/ 1 h 50"/>
                  <a:gd name="T44" fmla="*/ 1 w 49"/>
                  <a:gd name="T45" fmla="*/ 1 h 50"/>
                  <a:gd name="T46" fmla="*/ 1 w 49"/>
                  <a:gd name="T47" fmla="*/ 1 h 50"/>
                  <a:gd name="T48" fmla="*/ 1 w 49"/>
                  <a:gd name="T49" fmla="*/ 1 h 50"/>
                  <a:gd name="T50" fmla="*/ 1 w 49"/>
                  <a:gd name="T51" fmla="*/ 1 h 50"/>
                  <a:gd name="T52" fmla="*/ 1 w 49"/>
                  <a:gd name="T53" fmla="*/ 1 h 50"/>
                  <a:gd name="T54" fmla="*/ 1 w 49"/>
                  <a:gd name="T55" fmla="*/ 1 h 50"/>
                  <a:gd name="T56" fmla="*/ 1 w 49"/>
                  <a:gd name="T57" fmla="*/ 1 h 50"/>
                  <a:gd name="T58" fmla="*/ 1 w 49"/>
                  <a:gd name="T59" fmla="*/ 1 h 50"/>
                  <a:gd name="T60" fmla="*/ 1 w 49"/>
                  <a:gd name="T61" fmla="*/ 1 h 50"/>
                  <a:gd name="T62" fmla="*/ 1 w 49"/>
                  <a:gd name="T63" fmla="*/ 1 h 50"/>
                  <a:gd name="T64" fmla="*/ 0 w 49"/>
                  <a:gd name="T65" fmla="*/ 1 h 50"/>
                  <a:gd name="T66" fmla="*/ 0 w 49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49"/>
                  <a:gd name="T103" fmla="*/ 0 h 50"/>
                  <a:gd name="T104" fmla="*/ 49 w 49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49" h="50">
                    <a:moveTo>
                      <a:pt x="0" y="25"/>
                    </a:moveTo>
                    <a:lnTo>
                      <a:pt x="0" y="20"/>
                    </a:lnTo>
                    <a:lnTo>
                      <a:pt x="1" y="16"/>
                    </a:lnTo>
                    <a:lnTo>
                      <a:pt x="4" y="11"/>
                    </a:lnTo>
                    <a:lnTo>
                      <a:pt x="7" y="8"/>
                    </a:lnTo>
                    <a:lnTo>
                      <a:pt x="11" y="5"/>
                    </a:lnTo>
                    <a:lnTo>
                      <a:pt x="15" y="1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1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49" y="20"/>
                    </a:lnTo>
                    <a:lnTo>
                      <a:pt x="49" y="25"/>
                    </a:lnTo>
                    <a:lnTo>
                      <a:pt x="49" y="30"/>
                    </a:lnTo>
                    <a:lnTo>
                      <a:pt x="48" y="34"/>
                    </a:lnTo>
                    <a:lnTo>
                      <a:pt x="45" y="39"/>
                    </a:lnTo>
                    <a:lnTo>
                      <a:pt x="42" y="42"/>
                    </a:lnTo>
                    <a:lnTo>
                      <a:pt x="39" y="45"/>
                    </a:lnTo>
                    <a:lnTo>
                      <a:pt x="34" y="49"/>
                    </a:lnTo>
                    <a:lnTo>
                      <a:pt x="29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5" y="49"/>
                    </a:lnTo>
                    <a:lnTo>
                      <a:pt x="11" y="45"/>
                    </a:lnTo>
                    <a:lnTo>
                      <a:pt x="7" y="42"/>
                    </a:lnTo>
                    <a:lnTo>
                      <a:pt x="4" y="39"/>
                    </a:lnTo>
                    <a:lnTo>
                      <a:pt x="1" y="34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42" name="Line 124"/>
              <p:cNvSpPr>
                <a:spLocks noChangeShapeType="1"/>
              </p:cNvSpPr>
              <p:nvPr/>
            </p:nvSpPr>
            <p:spPr bwMode="auto">
              <a:xfrm>
                <a:off x="3537" y="1334"/>
                <a:ext cx="7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43" name="Line 125"/>
              <p:cNvSpPr>
                <a:spLocks noChangeShapeType="1"/>
              </p:cNvSpPr>
              <p:nvPr/>
            </p:nvSpPr>
            <p:spPr bwMode="auto">
              <a:xfrm>
                <a:off x="3537" y="1364"/>
                <a:ext cx="7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44" name="Line 126"/>
              <p:cNvSpPr>
                <a:spLocks noChangeShapeType="1"/>
              </p:cNvSpPr>
              <p:nvPr/>
            </p:nvSpPr>
            <p:spPr bwMode="auto">
              <a:xfrm>
                <a:off x="3576" y="1364"/>
                <a:ext cx="1" cy="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45" name="Line 127"/>
              <p:cNvSpPr>
                <a:spLocks noChangeShapeType="1"/>
              </p:cNvSpPr>
              <p:nvPr/>
            </p:nvSpPr>
            <p:spPr bwMode="auto">
              <a:xfrm flipV="1">
                <a:off x="3576" y="1244"/>
                <a:ext cx="1" cy="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46" name="Line 128"/>
              <p:cNvSpPr>
                <a:spLocks noChangeShapeType="1"/>
              </p:cNvSpPr>
              <p:nvPr/>
            </p:nvSpPr>
            <p:spPr bwMode="auto">
              <a:xfrm>
                <a:off x="3537" y="1933"/>
                <a:ext cx="7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47" name="Line 129"/>
              <p:cNvSpPr>
                <a:spLocks noChangeShapeType="1"/>
              </p:cNvSpPr>
              <p:nvPr/>
            </p:nvSpPr>
            <p:spPr bwMode="auto">
              <a:xfrm>
                <a:off x="3537" y="1964"/>
                <a:ext cx="7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48" name="Line 130"/>
              <p:cNvSpPr>
                <a:spLocks noChangeShapeType="1"/>
              </p:cNvSpPr>
              <p:nvPr/>
            </p:nvSpPr>
            <p:spPr bwMode="auto">
              <a:xfrm>
                <a:off x="3576" y="1964"/>
                <a:ext cx="1" cy="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49" name="Line 131"/>
              <p:cNvSpPr>
                <a:spLocks noChangeShapeType="1"/>
              </p:cNvSpPr>
              <p:nvPr/>
            </p:nvSpPr>
            <p:spPr bwMode="auto">
              <a:xfrm flipV="1">
                <a:off x="3576" y="1844"/>
                <a:ext cx="1" cy="8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50" name="Line 132"/>
              <p:cNvSpPr>
                <a:spLocks noChangeShapeType="1"/>
              </p:cNvSpPr>
              <p:nvPr/>
            </p:nvSpPr>
            <p:spPr bwMode="auto">
              <a:xfrm flipH="1">
                <a:off x="3306" y="2084"/>
                <a:ext cx="69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51" name="Line 133"/>
              <p:cNvSpPr>
                <a:spLocks noChangeShapeType="1"/>
              </p:cNvSpPr>
              <p:nvPr/>
            </p:nvSpPr>
            <p:spPr bwMode="auto">
              <a:xfrm flipH="1">
                <a:off x="3306" y="1164"/>
                <a:ext cx="63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52" name="Line 134"/>
              <p:cNvSpPr>
                <a:spLocks noChangeShapeType="1"/>
              </p:cNvSpPr>
              <p:nvPr/>
            </p:nvSpPr>
            <p:spPr bwMode="auto">
              <a:xfrm flipV="1">
                <a:off x="3875" y="1164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53" name="Line 135"/>
              <p:cNvSpPr>
                <a:spLocks noChangeShapeType="1"/>
              </p:cNvSpPr>
              <p:nvPr/>
            </p:nvSpPr>
            <p:spPr bwMode="auto">
              <a:xfrm>
                <a:off x="3875" y="1374"/>
                <a:ext cx="2" cy="3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54" name="Line 136"/>
              <p:cNvSpPr>
                <a:spLocks noChangeShapeType="1"/>
              </p:cNvSpPr>
              <p:nvPr/>
            </p:nvSpPr>
            <p:spPr bwMode="auto">
              <a:xfrm>
                <a:off x="3877" y="1764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55" name="Line 137"/>
              <p:cNvSpPr>
                <a:spLocks noChangeShapeType="1"/>
              </p:cNvSpPr>
              <p:nvPr/>
            </p:nvSpPr>
            <p:spPr bwMode="auto">
              <a:xfrm flipH="1">
                <a:off x="3875" y="1484"/>
                <a:ext cx="13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56" name="Line 138"/>
              <p:cNvSpPr>
                <a:spLocks noChangeShapeType="1"/>
              </p:cNvSpPr>
              <p:nvPr/>
            </p:nvSpPr>
            <p:spPr bwMode="auto">
              <a:xfrm flipV="1">
                <a:off x="3576" y="1164"/>
                <a:ext cx="1" cy="9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57" name="Line 139"/>
              <p:cNvSpPr>
                <a:spLocks noChangeShapeType="1"/>
              </p:cNvSpPr>
              <p:nvPr/>
            </p:nvSpPr>
            <p:spPr bwMode="auto">
              <a:xfrm>
                <a:off x="3576" y="1434"/>
                <a:ext cx="1" cy="4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58" name="Line 140"/>
              <p:cNvSpPr>
                <a:spLocks noChangeShapeType="1"/>
              </p:cNvSpPr>
              <p:nvPr/>
            </p:nvSpPr>
            <p:spPr bwMode="auto">
              <a:xfrm>
                <a:off x="3576" y="2014"/>
                <a:ext cx="1" cy="7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59" name="Line 141"/>
              <p:cNvSpPr>
                <a:spLocks noChangeShapeType="1"/>
              </p:cNvSpPr>
              <p:nvPr/>
            </p:nvSpPr>
            <p:spPr bwMode="auto">
              <a:xfrm flipH="1">
                <a:off x="3877" y="1524"/>
                <a:ext cx="240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60" name="Line 142"/>
              <p:cNvSpPr>
                <a:spLocks noChangeShapeType="1"/>
              </p:cNvSpPr>
              <p:nvPr/>
            </p:nvSpPr>
            <p:spPr bwMode="auto">
              <a:xfrm flipH="1">
                <a:off x="3576" y="1724"/>
                <a:ext cx="541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61" name="Freeform 143"/>
              <p:cNvSpPr>
                <a:spLocks/>
              </p:cNvSpPr>
              <p:nvPr/>
            </p:nvSpPr>
            <p:spPr bwMode="auto">
              <a:xfrm>
                <a:off x="3864" y="1513"/>
                <a:ext cx="25" cy="26"/>
              </a:xfrm>
              <a:custGeom>
                <a:avLst/>
                <a:gdLst>
                  <a:gd name="T0" fmla="*/ 0 w 50"/>
                  <a:gd name="T1" fmla="*/ 1 h 50"/>
                  <a:gd name="T2" fmla="*/ 0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0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0" y="20"/>
                    </a:lnTo>
                    <a:lnTo>
                      <a:pt x="2" y="15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4"/>
                    </a:lnTo>
                    <a:lnTo>
                      <a:pt x="16" y="1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0" y="0"/>
                    </a:lnTo>
                    <a:lnTo>
                      <a:pt x="34" y="1"/>
                    </a:lnTo>
                    <a:lnTo>
                      <a:pt x="39" y="4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5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4"/>
                    </a:lnTo>
                    <a:lnTo>
                      <a:pt x="45" y="39"/>
                    </a:lnTo>
                    <a:lnTo>
                      <a:pt x="42" y="42"/>
                    </a:lnTo>
                    <a:lnTo>
                      <a:pt x="39" y="45"/>
                    </a:lnTo>
                    <a:lnTo>
                      <a:pt x="34" y="49"/>
                    </a:lnTo>
                    <a:lnTo>
                      <a:pt x="30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6" y="49"/>
                    </a:lnTo>
                    <a:lnTo>
                      <a:pt x="11" y="45"/>
                    </a:lnTo>
                    <a:lnTo>
                      <a:pt x="8" y="42"/>
                    </a:lnTo>
                    <a:lnTo>
                      <a:pt x="5" y="39"/>
                    </a:lnTo>
                    <a:lnTo>
                      <a:pt x="2" y="34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62" name="Freeform 144"/>
              <p:cNvSpPr>
                <a:spLocks/>
              </p:cNvSpPr>
              <p:nvPr/>
            </p:nvSpPr>
            <p:spPr bwMode="auto">
              <a:xfrm>
                <a:off x="3864" y="1472"/>
                <a:ext cx="25" cy="25"/>
              </a:xfrm>
              <a:custGeom>
                <a:avLst/>
                <a:gdLst>
                  <a:gd name="T0" fmla="*/ 0 w 50"/>
                  <a:gd name="T1" fmla="*/ 0 h 51"/>
                  <a:gd name="T2" fmla="*/ 0 w 50"/>
                  <a:gd name="T3" fmla="*/ 0 h 51"/>
                  <a:gd name="T4" fmla="*/ 1 w 50"/>
                  <a:gd name="T5" fmla="*/ 0 h 51"/>
                  <a:gd name="T6" fmla="*/ 1 w 50"/>
                  <a:gd name="T7" fmla="*/ 0 h 51"/>
                  <a:gd name="T8" fmla="*/ 1 w 50"/>
                  <a:gd name="T9" fmla="*/ 0 h 51"/>
                  <a:gd name="T10" fmla="*/ 1 w 50"/>
                  <a:gd name="T11" fmla="*/ 0 h 51"/>
                  <a:gd name="T12" fmla="*/ 1 w 50"/>
                  <a:gd name="T13" fmla="*/ 0 h 51"/>
                  <a:gd name="T14" fmla="*/ 1 w 50"/>
                  <a:gd name="T15" fmla="*/ 0 h 51"/>
                  <a:gd name="T16" fmla="*/ 1 w 50"/>
                  <a:gd name="T17" fmla="*/ 0 h 51"/>
                  <a:gd name="T18" fmla="*/ 1 w 50"/>
                  <a:gd name="T19" fmla="*/ 0 h 51"/>
                  <a:gd name="T20" fmla="*/ 1 w 50"/>
                  <a:gd name="T21" fmla="*/ 0 h 51"/>
                  <a:gd name="T22" fmla="*/ 1 w 50"/>
                  <a:gd name="T23" fmla="*/ 0 h 51"/>
                  <a:gd name="T24" fmla="*/ 1 w 50"/>
                  <a:gd name="T25" fmla="*/ 0 h 51"/>
                  <a:gd name="T26" fmla="*/ 1 w 50"/>
                  <a:gd name="T27" fmla="*/ 0 h 51"/>
                  <a:gd name="T28" fmla="*/ 1 w 50"/>
                  <a:gd name="T29" fmla="*/ 0 h 51"/>
                  <a:gd name="T30" fmla="*/ 1 w 50"/>
                  <a:gd name="T31" fmla="*/ 0 h 51"/>
                  <a:gd name="T32" fmla="*/ 1 w 50"/>
                  <a:gd name="T33" fmla="*/ 0 h 51"/>
                  <a:gd name="T34" fmla="*/ 1 w 50"/>
                  <a:gd name="T35" fmla="*/ 0 h 51"/>
                  <a:gd name="T36" fmla="*/ 1 w 50"/>
                  <a:gd name="T37" fmla="*/ 0 h 51"/>
                  <a:gd name="T38" fmla="*/ 1 w 50"/>
                  <a:gd name="T39" fmla="*/ 0 h 51"/>
                  <a:gd name="T40" fmla="*/ 1 w 50"/>
                  <a:gd name="T41" fmla="*/ 0 h 51"/>
                  <a:gd name="T42" fmla="*/ 1 w 50"/>
                  <a:gd name="T43" fmla="*/ 0 h 51"/>
                  <a:gd name="T44" fmla="*/ 1 w 50"/>
                  <a:gd name="T45" fmla="*/ 0 h 51"/>
                  <a:gd name="T46" fmla="*/ 1 w 50"/>
                  <a:gd name="T47" fmla="*/ 0 h 51"/>
                  <a:gd name="T48" fmla="*/ 1 w 50"/>
                  <a:gd name="T49" fmla="*/ 0 h 51"/>
                  <a:gd name="T50" fmla="*/ 1 w 50"/>
                  <a:gd name="T51" fmla="*/ 0 h 51"/>
                  <a:gd name="T52" fmla="*/ 1 w 50"/>
                  <a:gd name="T53" fmla="*/ 0 h 51"/>
                  <a:gd name="T54" fmla="*/ 1 w 50"/>
                  <a:gd name="T55" fmla="*/ 0 h 51"/>
                  <a:gd name="T56" fmla="*/ 1 w 50"/>
                  <a:gd name="T57" fmla="*/ 0 h 51"/>
                  <a:gd name="T58" fmla="*/ 1 w 50"/>
                  <a:gd name="T59" fmla="*/ 0 h 51"/>
                  <a:gd name="T60" fmla="*/ 1 w 50"/>
                  <a:gd name="T61" fmla="*/ 0 h 51"/>
                  <a:gd name="T62" fmla="*/ 1 w 50"/>
                  <a:gd name="T63" fmla="*/ 0 h 51"/>
                  <a:gd name="T64" fmla="*/ 0 w 50"/>
                  <a:gd name="T65" fmla="*/ 0 h 51"/>
                  <a:gd name="T66" fmla="*/ 0 w 50"/>
                  <a:gd name="T67" fmla="*/ 0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1"/>
                  <a:gd name="T104" fmla="*/ 50 w 50"/>
                  <a:gd name="T105" fmla="*/ 51 h 5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1">
                    <a:moveTo>
                      <a:pt x="0" y="26"/>
                    </a:moveTo>
                    <a:lnTo>
                      <a:pt x="0" y="21"/>
                    </a:lnTo>
                    <a:lnTo>
                      <a:pt x="2" y="16"/>
                    </a:lnTo>
                    <a:lnTo>
                      <a:pt x="5" y="11"/>
                    </a:lnTo>
                    <a:lnTo>
                      <a:pt x="8" y="7"/>
                    </a:lnTo>
                    <a:lnTo>
                      <a:pt x="11" y="4"/>
                    </a:lnTo>
                    <a:lnTo>
                      <a:pt x="16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0" y="0"/>
                    </a:lnTo>
                    <a:lnTo>
                      <a:pt x="34" y="2"/>
                    </a:lnTo>
                    <a:lnTo>
                      <a:pt x="39" y="4"/>
                    </a:lnTo>
                    <a:lnTo>
                      <a:pt x="42" y="7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1"/>
                    </a:lnTo>
                    <a:lnTo>
                      <a:pt x="50" y="26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40"/>
                    </a:lnTo>
                    <a:lnTo>
                      <a:pt x="42" y="43"/>
                    </a:lnTo>
                    <a:lnTo>
                      <a:pt x="39" y="46"/>
                    </a:lnTo>
                    <a:lnTo>
                      <a:pt x="34" y="48"/>
                    </a:lnTo>
                    <a:lnTo>
                      <a:pt x="30" y="49"/>
                    </a:lnTo>
                    <a:lnTo>
                      <a:pt x="25" y="51"/>
                    </a:lnTo>
                    <a:lnTo>
                      <a:pt x="20" y="49"/>
                    </a:lnTo>
                    <a:lnTo>
                      <a:pt x="16" y="48"/>
                    </a:lnTo>
                    <a:lnTo>
                      <a:pt x="11" y="46"/>
                    </a:lnTo>
                    <a:lnTo>
                      <a:pt x="8" y="43"/>
                    </a:lnTo>
                    <a:lnTo>
                      <a:pt x="5" y="40"/>
                    </a:lnTo>
                    <a:lnTo>
                      <a:pt x="2" y="35"/>
                    </a:lnTo>
                    <a:lnTo>
                      <a:pt x="0" y="30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63" name="Freeform 145"/>
              <p:cNvSpPr>
                <a:spLocks/>
              </p:cNvSpPr>
              <p:nvPr/>
            </p:nvSpPr>
            <p:spPr bwMode="auto">
              <a:xfrm>
                <a:off x="3564" y="1710"/>
                <a:ext cx="25" cy="25"/>
              </a:xfrm>
              <a:custGeom>
                <a:avLst/>
                <a:gdLst>
                  <a:gd name="T0" fmla="*/ 0 w 50"/>
                  <a:gd name="T1" fmla="*/ 1 h 50"/>
                  <a:gd name="T2" fmla="*/ 0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0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0" y="21"/>
                    </a:lnTo>
                    <a:lnTo>
                      <a:pt x="1" y="16"/>
                    </a:lnTo>
                    <a:lnTo>
                      <a:pt x="4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5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1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39"/>
                    </a:lnTo>
                    <a:lnTo>
                      <a:pt x="42" y="43"/>
                    </a:lnTo>
                    <a:lnTo>
                      <a:pt x="39" y="46"/>
                    </a:lnTo>
                    <a:lnTo>
                      <a:pt x="34" y="49"/>
                    </a:lnTo>
                    <a:lnTo>
                      <a:pt x="29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5" y="49"/>
                    </a:lnTo>
                    <a:lnTo>
                      <a:pt x="11" y="46"/>
                    </a:lnTo>
                    <a:lnTo>
                      <a:pt x="8" y="43"/>
                    </a:lnTo>
                    <a:lnTo>
                      <a:pt x="4" y="39"/>
                    </a:lnTo>
                    <a:lnTo>
                      <a:pt x="1" y="35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64" name="Freeform 146"/>
              <p:cNvSpPr>
                <a:spLocks/>
              </p:cNvSpPr>
              <p:nvPr/>
            </p:nvSpPr>
            <p:spPr bwMode="auto">
              <a:xfrm>
                <a:off x="3564" y="2071"/>
                <a:ext cx="25" cy="25"/>
              </a:xfrm>
              <a:custGeom>
                <a:avLst/>
                <a:gdLst>
                  <a:gd name="T0" fmla="*/ 0 w 50"/>
                  <a:gd name="T1" fmla="*/ 0 h 51"/>
                  <a:gd name="T2" fmla="*/ 0 w 50"/>
                  <a:gd name="T3" fmla="*/ 0 h 51"/>
                  <a:gd name="T4" fmla="*/ 1 w 50"/>
                  <a:gd name="T5" fmla="*/ 0 h 51"/>
                  <a:gd name="T6" fmla="*/ 1 w 50"/>
                  <a:gd name="T7" fmla="*/ 0 h 51"/>
                  <a:gd name="T8" fmla="*/ 1 w 50"/>
                  <a:gd name="T9" fmla="*/ 0 h 51"/>
                  <a:gd name="T10" fmla="*/ 1 w 50"/>
                  <a:gd name="T11" fmla="*/ 0 h 51"/>
                  <a:gd name="T12" fmla="*/ 1 w 50"/>
                  <a:gd name="T13" fmla="*/ 0 h 51"/>
                  <a:gd name="T14" fmla="*/ 1 w 50"/>
                  <a:gd name="T15" fmla="*/ 0 h 51"/>
                  <a:gd name="T16" fmla="*/ 1 w 50"/>
                  <a:gd name="T17" fmla="*/ 0 h 51"/>
                  <a:gd name="T18" fmla="*/ 1 w 50"/>
                  <a:gd name="T19" fmla="*/ 0 h 51"/>
                  <a:gd name="T20" fmla="*/ 1 w 50"/>
                  <a:gd name="T21" fmla="*/ 0 h 51"/>
                  <a:gd name="T22" fmla="*/ 1 w 50"/>
                  <a:gd name="T23" fmla="*/ 0 h 51"/>
                  <a:gd name="T24" fmla="*/ 1 w 50"/>
                  <a:gd name="T25" fmla="*/ 0 h 51"/>
                  <a:gd name="T26" fmla="*/ 1 w 50"/>
                  <a:gd name="T27" fmla="*/ 0 h 51"/>
                  <a:gd name="T28" fmla="*/ 1 w 50"/>
                  <a:gd name="T29" fmla="*/ 0 h 51"/>
                  <a:gd name="T30" fmla="*/ 1 w 50"/>
                  <a:gd name="T31" fmla="*/ 0 h 51"/>
                  <a:gd name="T32" fmla="*/ 1 w 50"/>
                  <a:gd name="T33" fmla="*/ 0 h 51"/>
                  <a:gd name="T34" fmla="*/ 1 w 50"/>
                  <a:gd name="T35" fmla="*/ 0 h 51"/>
                  <a:gd name="T36" fmla="*/ 1 w 50"/>
                  <a:gd name="T37" fmla="*/ 0 h 51"/>
                  <a:gd name="T38" fmla="*/ 1 w 50"/>
                  <a:gd name="T39" fmla="*/ 0 h 51"/>
                  <a:gd name="T40" fmla="*/ 1 w 50"/>
                  <a:gd name="T41" fmla="*/ 0 h 51"/>
                  <a:gd name="T42" fmla="*/ 1 w 50"/>
                  <a:gd name="T43" fmla="*/ 0 h 51"/>
                  <a:gd name="T44" fmla="*/ 1 w 50"/>
                  <a:gd name="T45" fmla="*/ 0 h 51"/>
                  <a:gd name="T46" fmla="*/ 1 w 50"/>
                  <a:gd name="T47" fmla="*/ 0 h 51"/>
                  <a:gd name="T48" fmla="*/ 1 w 50"/>
                  <a:gd name="T49" fmla="*/ 0 h 51"/>
                  <a:gd name="T50" fmla="*/ 1 w 50"/>
                  <a:gd name="T51" fmla="*/ 0 h 51"/>
                  <a:gd name="T52" fmla="*/ 1 w 50"/>
                  <a:gd name="T53" fmla="*/ 0 h 51"/>
                  <a:gd name="T54" fmla="*/ 1 w 50"/>
                  <a:gd name="T55" fmla="*/ 0 h 51"/>
                  <a:gd name="T56" fmla="*/ 1 w 50"/>
                  <a:gd name="T57" fmla="*/ 0 h 51"/>
                  <a:gd name="T58" fmla="*/ 1 w 50"/>
                  <a:gd name="T59" fmla="*/ 0 h 51"/>
                  <a:gd name="T60" fmla="*/ 1 w 50"/>
                  <a:gd name="T61" fmla="*/ 0 h 51"/>
                  <a:gd name="T62" fmla="*/ 1 w 50"/>
                  <a:gd name="T63" fmla="*/ 0 h 51"/>
                  <a:gd name="T64" fmla="*/ 0 w 50"/>
                  <a:gd name="T65" fmla="*/ 0 h 51"/>
                  <a:gd name="T66" fmla="*/ 0 w 50"/>
                  <a:gd name="T67" fmla="*/ 0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1"/>
                  <a:gd name="T104" fmla="*/ 50 w 50"/>
                  <a:gd name="T105" fmla="*/ 51 h 5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1">
                    <a:moveTo>
                      <a:pt x="0" y="25"/>
                    </a:moveTo>
                    <a:lnTo>
                      <a:pt x="0" y="21"/>
                    </a:lnTo>
                    <a:lnTo>
                      <a:pt x="1" y="16"/>
                    </a:lnTo>
                    <a:lnTo>
                      <a:pt x="4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5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1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40"/>
                    </a:lnTo>
                    <a:lnTo>
                      <a:pt x="42" y="43"/>
                    </a:lnTo>
                    <a:lnTo>
                      <a:pt x="39" y="46"/>
                    </a:lnTo>
                    <a:lnTo>
                      <a:pt x="34" y="49"/>
                    </a:lnTo>
                    <a:lnTo>
                      <a:pt x="29" y="51"/>
                    </a:lnTo>
                    <a:lnTo>
                      <a:pt x="25" y="51"/>
                    </a:lnTo>
                    <a:lnTo>
                      <a:pt x="20" y="51"/>
                    </a:lnTo>
                    <a:lnTo>
                      <a:pt x="15" y="49"/>
                    </a:lnTo>
                    <a:lnTo>
                      <a:pt x="11" y="46"/>
                    </a:lnTo>
                    <a:lnTo>
                      <a:pt x="8" y="43"/>
                    </a:lnTo>
                    <a:lnTo>
                      <a:pt x="4" y="40"/>
                    </a:lnTo>
                    <a:lnTo>
                      <a:pt x="1" y="35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65" name="Freeform 147"/>
              <p:cNvSpPr>
                <a:spLocks/>
              </p:cNvSpPr>
              <p:nvPr/>
            </p:nvSpPr>
            <p:spPr bwMode="auto">
              <a:xfrm>
                <a:off x="3564" y="1151"/>
                <a:ext cx="25" cy="26"/>
              </a:xfrm>
              <a:custGeom>
                <a:avLst/>
                <a:gdLst>
                  <a:gd name="T0" fmla="*/ 0 w 50"/>
                  <a:gd name="T1" fmla="*/ 1 h 50"/>
                  <a:gd name="T2" fmla="*/ 0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0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0" y="20"/>
                    </a:lnTo>
                    <a:lnTo>
                      <a:pt x="1" y="16"/>
                    </a:lnTo>
                    <a:lnTo>
                      <a:pt x="4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5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39"/>
                    </a:lnTo>
                    <a:lnTo>
                      <a:pt x="42" y="42"/>
                    </a:lnTo>
                    <a:lnTo>
                      <a:pt x="39" y="46"/>
                    </a:lnTo>
                    <a:lnTo>
                      <a:pt x="34" y="49"/>
                    </a:lnTo>
                    <a:lnTo>
                      <a:pt x="29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5" y="49"/>
                    </a:lnTo>
                    <a:lnTo>
                      <a:pt x="11" y="46"/>
                    </a:lnTo>
                    <a:lnTo>
                      <a:pt x="8" y="42"/>
                    </a:lnTo>
                    <a:lnTo>
                      <a:pt x="4" y="39"/>
                    </a:lnTo>
                    <a:lnTo>
                      <a:pt x="1" y="35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66" name="Freeform 148"/>
              <p:cNvSpPr>
                <a:spLocks/>
              </p:cNvSpPr>
              <p:nvPr/>
            </p:nvSpPr>
            <p:spPr bwMode="auto">
              <a:xfrm>
                <a:off x="3864" y="1151"/>
                <a:ext cx="25" cy="26"/>
              </a:xfrm>
              <a:custGeom>
                <a:avLst/>
                <a:gdLst>
                  <a:gd name="T0" fmla="*/ 0 w 50"/>
                  <a:gd name="T1" fmla="*/ 1 h 50"/>
                  <a:gd name="T2" fmla="*/ 0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0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0" y="20"/>
                    </a:lnTo>
                    <a:lnTo>
                      <a:pt x="2" y="16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0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39"/>
                    </a:lnTo>
                    <a:lnTo>
                      <a:pt x="42" y="42"/>
                    </a:lnTo>
                    <a:lnTo>
                      <a:pt x="39" y="46"/>
                    </a:lnTo>
                    <a:lnTo>
                      <a:pt x="34" y="49"/>
                    </a:lnTo>
                    <a:lnTo>
                      <a:pt x="30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6" y="49"/>
                    </a:lnTo>
                    <a:lnTo>
                      <a:pt x="11" y="46"/>
                    </a:lnTo>
                    <a:lnTo>
                      <a:pt x="8" y="42"/>
                    </a:lnTo>
                    <a:lnTo>
                      <a:pt x="5" y="39"/>
                    </a:lnTo>
                    <a:lnTo>
                      <a:pt x="2" y="35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67" name="Rectangle 149"/>
              <p:cNvSpPr>
                <a:spLocks noChangeArrowheads="1"/>
              </p:cNvSpPr>
              <p:nvPr/>
            </p:nvSpPr>
            <p:spPr bwMode="auto">
              <a:xfrm>
                <a:off x="3379" y="1298"/>
                <a:ext cx="111" cy="13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C</a:t>
                </a:r>
                <a:r>
                  <a:rPr lang="en-US" altLang="zh-CN" sz="14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77968" name="Rectangle 150"/>
              <p:cNvSpPr>
                <a:spLocks noChangeArrowheads="1"/>
              </p:cNvSpPr>
              <p:nvPr/>
            </p:nvSpPr>
            <p:spPr bwMode="auto">
              <a:xfrm>
                <a:off x="3379" y="1888"/>
                <a:ext cx="111" cy="13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C</a:t>
                </a:r>
                <a:r>
                  <a:rPr lang="en-US" altLang="zh-CN" sz="14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77969" name="Freeform 151"/>
              <p:cNvSpPr>
                <a:spLocks/>
              </p:cNvSpPr>
              <p:nvPr/>
            </p:nvSpPr>
            <p:spPr bwMode="auto">
              <a:xfrm>
                <a:off x="4793" y="1250"/>
                <a:ext cx="50" cy="14"/>
              </a:xfrm>
              <a:custGeom>
                <a:avLst/>
                <a:gdLst>
                  <a:gd name="T0" fmla="*/ 2 w 99"/>
                  <a:gd name="T1" fmla="*/ 1 h 28"/>
                  <a:gd name="T2" fmla="*/ 0 w 99"/>
                  <a:gd name="T3" fmla="*/ 0 h 28"/>
                  <a:gd name="T4" fmla="*/ 0 w 99"/>
                  <a:gd name="T5" fmla="*/ 1 h 28"/>
                  <a:gd name="T6" fmla="*/ 2 w 99"/>
                  <a:gd name="T7" fmla="*/ 1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28"/>
                  <a:gd name="T14" fmla="*/ 99 w 99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28">
                    <a:moveTo>
                      <a:pt x="99" y="14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99" y="14"/>
                    </a:lnTo>
                    <a:close/>
                  </a:path>
                </a:pathLst>
              </a:custGeom>
              <a:solidFill>
                <a:srgbClr val="1A1A1A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70" name="Freeform 152"/>
              <p:cNvSpPr>
                <a:spLocks/>
              </p:cNvSpPr>
              <p:nvPr/>
            </p:nvSpPr>
            <p:spPr bwMode="auto">
              <a:xfrm>
                <a:off x="4793" y="1250"/>
                <a:ext cx="50" cy="14"/>
              </a:xfrm>
              <a:custGeom>
                <a:avLst/>
                <a:gdLst>
                  <a:gd name="T0" fmla="*/ 2 w 99"/>
                  <a:gd name="T1" fmla="*/ 1 h 28"/>
                  <a:gd name="T2" fmla="*/ 0 w 99"/>
                  <a:gd name="T3" fmla="*/ 0 h 28"/>
                  <a:gd name="T4" fmla="*/ 0 w 99"/>
                  <a:gd name="T5" fmla="*/ 1 h 28"/>
                  <a:gd name="T6" fmla="*/ 2 w 99"/>
                  <a:gd name="T7" fmla="*/ 1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28"/>
                  <a:gd name="T14" fmla="*/ 99 w 99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28">
                    <a:moveTo>
                      <a:pt x="99" y="14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99" y="14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71" name="Line 153"/>
              <p:cNvSpPr>
                <a:spLocks noChangeShapeType="1"/>
              </p:cNvSpPr>
              <p:nvPr/>
            </p:nvSpPr>
            <p:spPr bwMode="auto">
              <a:xfrm flipH="1">
                <a:off x="4730" y="1257"/>
                <a:ext cx="6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72" name="Freeform 154"/>
              <p:cNvSpPr>
                <a:spLocks/>
              </p:cNvSpPr>
              <p:nvPr/>
            </p:nvSpPr>
            <p:spPr bwMode="auto">
              <a:xfrm>
                <a:off x="5036" y="1290"/>
                <a:ext cx="49" cy="14"/>
              </a:xfrm>
              <a:custGeom>
                <a:avLst/>
                <a:gdLst>
                  <a:gd name="T0" fmla="*/ 2 w 98"/>
                  <a:gd name="T1" fmla="*/ 1 h 28"/>
                  <a:gd name="T2" fmla="*/ 0 w 98"/>
                  <a:gd name="T3" fmla="*/ 0 h 28"/>
                  <a:gd name="T4" fmla="*/ 0 w 98"/>
                  <a:gd name="T5" fmla="*/ 1 h 28"/>
                  <a:gd name="T6" fmla="*/ 2 w 98"/>
                  <a:gd name="T7" fmla="*/ 1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8"/>
                  <a:gd name="T13" fmla="*/ 0 h 28"/>
                  <a:gd name="T14" fmla="*/ 98 w 98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8" h="28">
                    <a:moveTo>
                      <a:pt x="98" y="14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98" y="14"/>
                    </a:lnTo>
                    <a:close/>
                  </a:path>
                </a:pathLst>
              </a:custGeom>
              <a:solidFill>
                <a:srgbClr val="1A1A1A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73" name="Freeform 155"/>
              <p:cNvSpPr>
                <a:spLocks/>
              </p:cNvSpPr>
              <p:nvPr/>
            </p:nvSpPr>
            <p:spPr bwMode="auto">
              <a:xfrm>
                <a:off x="5036" y="1290"/>
                <a:ext cx="49" cy="14"/>
              </a:xfrm>
              <a:custGeom>
                <a:avLst/>
                <a:gdLst>
                  <a:gd name="T0" fmla="*/ 2 w 98"/>
                  <a:gd name="T1" fmla="*/ 1 h 28"/>
                  <a:gd name="T2" fmla="*/ 0 w 98"/>
                  <a:gd name="T3" fmla="*/ 0 h 28"/>
                  <a:gd name="T4" fmla="*/ 0 w 98"/>
                  <a:gd name="T5" fmla="*/ 1 h 28"/>
                  <a:gd name="T6" fmla="*/ 2 w 98"/>
                  <a:gd name="T7" fmla="*/ 1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8"/>
                  <a:gd name="T13" fmla="*/ 0 h 28"/>
                  <a:gd name="T14" fmla="*/ 98 w 98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8" h="28">
                    <a:moveTo>
                      <a:pt x="98" y="14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98" y="14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74" name="Line 156"/>
              <p:cNvSpPr>
                <a:spLocks noChangeShapeType="1"/>
              </p:cNvSpPr>
              <p:nvPr/>
            </p:nvSpPr>
            <p:spPr bwMode="auto">
              <a:xfrm flipH="1">
                <a:off x="4973" y="1297"/>
                <a:ext cx="6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75" name="Rectangle 157"/>
              <p:cNvSpPr>
                <a:spLocks noChangeArrowheads="1"/>
              </p:cNvSpPr>
              <p:nvPr/>
            </p:nvSpPr>
            <p:spPr bwMode="auto">
              <a:xfrm>
                <a:off x="4788" y="1177"/>
                <a:ext cx="31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700" i="1">
                    <a:solidFill>
                      <a:srgbClr val="000000"/>
                    </a:solidFill>
                    <a:latin typeface="Times New Roman" pitchFamily="18" charset="0"/>
                  </a:rPr>
                  <a:t>L</a:t>
                </a:r>
                <a:endParaRPr lang="en-US" altLang="zh-CN"/>
              </a:p>
            </p:txBody>
          </p:sp>
          <p:sp>
            <p:nvSpPr>
              <p:cNvPr id="77976" name="Rectangle 158"/>
              <p:cNvSpPr>
                <a:spLocks noChangeArrowheads="1"/>
              </p:cNvSpPr>
              <p:nvPr/>
            </p:nvSpPr>
            <p:spPr bwMode="auto">
              <a:xfrm>
                <a:off x="4770" y="1136"/>
                <a:ext cx="22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 i="1">
                    <a:solidFill>
                      <a:srgbClr val="000000"/>
                    </a:solidFill>
                    <a:latin typeface="Times New Roman" pitchFamily="18" charset="0"/>
                  </a:rPr>
                  <a:t>i</a:t>
                </a:r>
                <a:endParaRPr lang="en-US" altLang="zh-CN"/>
              </a:p>
            </p:txBody>
          </p:sp>
          <p:sp>
            <p:nvSpPr>
              <p:cNvPr id="77977" name="Rectangle 159"/>
              <p:cNvSpPr>
                <a:spLocks noChangeArrowheads="1"/>
              </p:cNvSpPr>
              <p:nvPr/>
            </p:nvSpPr>
            <p:spPr bwMode="auto">
              <a:xfrm>
                <a:off x="5002" y="1205"/>
                <a:ext cx="40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 i="1">
                    <a:solidFill>
                      <a:srgbClr val="000000"/>
                    </a:solidFill>
                    <a:latin typeface="宋体" pitchFamily="2" charset="-122"/>
                  </a:rPr>
                  <a:t>I</a:t>
                </a:r>
                <a:endParaRPr lang="en-US" altLang="zh-CN"/>
              </a:p>
            </p:txBody>
          </p:sp>
          <p:sp>
            <p:nvSpPr>
              <p:cNvPr id="77978" name="Rectangle 160"/>
              <p:cNvSpPr>
                <a:spLocks noChangeArrowheads="1"/>
              </p:cNvSpPr>
              <p:nvPr/>
            </p:nvSpPr>
            <p:spPr bwMode="auto">
              <a:xfrm>
                <a:off x="5038" y="1233"/>
                <a:ext cx="28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700">
                    <a:solidFill>
                      <a:srgbClr val="000000"/>
                    </a:solidFill>
                    <a:latin typeface="宋体" pitchFamily="2" charset="-122"/>
                  </a:rPr>
                  <a:t>o</a:t>
                </a:r>
                <a:endParaRPr lang="en-US" altLang="zh-CN"/>
              </a:p>
            </p:txBody>
          </p:sp>
          <p:sp>
            <p:nvSpPr>
              <p:cNvPr id="77979" name="Rectangle 161"/>
              <p:cNvSpPr>
                <a:spLocks noChangeArrowheads="1"/>
              </p:cNvSpPr>
              <p:nvPr/>
            </p:nvSpPr>
            <p:spPr bwMode="auto">
              <a:xfrm>
                <a:off x="3334" y="1661"/>
                <a:ext cx="191" cy="13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sz="14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/2</a:t>
                </a:r>
                <a:endParaRPr lang="en-US" altLang="zh-CN" sz="1400"/>
              </a:p>
            </p:txBody>
          </p:sp>
          <p:sp>
            <p:nvSpPr>
              <p:cNvPr id="77980" name="Rectangle 162"/>
              <p:cNvSpPr>
                <a:spLocks noChangeArrowheads="1"/>
              </p:cNvSpPr>
              <p:nvPr/>
            </p:nvSpPr>
            <p:spPr bwMode="auto">
              <a:xfrm>
                <a:off x="3742" y="1434"/>
                <a:ext cx="86" cy="40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+</a:t>
                </a:r>
              </a:p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sz="14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-</a:t>
                </a:r>
                <a:endParaRPr lang="en-US" altLang="zh-CN" sz="1400"/>
              </a:p>
            </p:txBody>
          </p:sp>
          <p:sp>
            <p:nvSpPr>
              <p:cNvPr id="77981" name="Freeform 163"/>
              <p:cNvSpPr>
                <a:spLocks/>
              </p:cNvSpPr>
              <p:nvPr/>
            </p:nvSpPr>
            <p:spPr bwMode="auto">
              <a:xfrm>
                <a:off x="3996" y="1883"/>
                <a:ext cx="77" cy="79"/>
              </a:xfrm>
              <a:custGeom>
                <a:avLst/>
                <a:gdLst>
                  <a:gd name="T0" fmla="*/ 0 w 156"/>
                  <a:gd name="T1" fmla="*/ 3 h 158"/>
                  <a:gd name="T2" fmla="*/ 1 w 156"/>
                  <a:gd name="T3" fmla="*/ 0 h 158"/>
                  <a:gd name="T4" fmla="*/ 2 w 156"/>
                  <a:gd name="T5" fmla="*/ 3 h 158"/>
                  <a:gd name="T6" fmla="*/ 0 w 156"/>
                  <a:gd name="T7" fmla="*/ 3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158"/>
                  <a:gd name="T14" fmla="*/ 156 w 156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158">
                    <a:moveTo>
                      <a:pt x="0" y="158"/>
                    </a:moveTo>
                    <a:lnTo>
                      <a:pt x="78" y="0"/>
                    </a:lnTo>
                    <a:lnTo>
                      <a:pt x="156" y="158"/>
                    </a:lnTo>
                    <a:lnTo>
                      <a:pt x="0" y="158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82" name="Line 164"/>
              <p:cNvSpPr>
                <a:spLocks noChangeShapeType="1"/>
              </p:cNvSpPr>
              <p:nvPr/>
            </p:nvSpPr>
            <p:spPr bwMode="auto">
              <a:xfrm flipH="1">
                <a:off x="3996" y="1883"/>
                <a:ext cx="77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83" name="Freeform 165"/>
              <p:cNvSpPr>
                <a:spLocks/>
              </p:cNvSpPr>
              <p:nvPr/>
            </p:nvSpPr>
            <p:spPr bwMode="auto">
              <a:xfrm>
                <a:off x="3996" y="1883"/>
                <a:ext cx="77" cy="79"/>
              </a:xfrm>
              <a:custGeom>
                <a:avLst/>
                <a:gdLst>
                  <a:gd name="T0" fmla="*/ 0 w 156"/>
                  <a:gd name="T1" fmla="*/ 3 h 158"/>
                  <a:gd name="T2" fmla="*/ 1 w 156"/>
                  <a:gd name="T3" fmla="*/ 0 h 158"/>
                  <a:gd name="T4" fmla="*/ 2 w 156"/>
                  <a:gd name="T5" fmla="*/ 3 h 158"/>
                  <a:gd name="T6" fmla="*/ 0 w 156"/>
                  <a:gd name="T7" fmla="*/ 3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158"/>
                  <a:gd name="T14" fmla="*/ 156 w 156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158">
                    <a:moveTo>
                      <a:pt x="0" y="158"/>
                    </a:moveTo>
                    <a:lnTo>
                      <a:pt x="78" y="0"/>
                    </a:lnTo>
                    <a:lnTo>
                      <a:pt x="156" y="158"/>
                    </a:lnTo>
                    <a:lnTo>
                      <a:pt x="0" y="15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84" name="Line 166"/>
              <p:cNvSpPr>
                <a:spLocks noChangeShapeType="1"/>
              </p:cNvSpPr>
              <p:nvPr/>
            </p:nvSpPr>
            <p:spPr bwMode="auto">
              <a:xfrm flipV="1">
                <a:off x="4034" y="1764"/>
                <a:ext cx="1" cy="31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85" name="Freeform 167"/>
              <p:cNvSpPr>
                <a:spLocks/>
              </p:cNvSpPr>
              <p:nvPr/>
            </p:nvSpPr>
            <p:spPr bwMode="auto">
              <a:xfrm>
                <a:off x="3996" y="1883"/>
                <a:ext cx="77" cy="79"/>
              </a:xfrm>
              <a:custGeom>
                <a:avLst/>
                <a:gdLst>
                  <a:gd name="T0" fmla="*/ 1 w 156"/>
                  <a:gd name="T1" fmla="*/ 0 h 158"/>
                  <a:gd name="T2" fmla="*/ 0 w 156"/>
                  <a:gd name="T3" fmla="*/ 3 h 158"/>
                  <a:gd name="T4" fmla="*/ 2 w 156"/>
                  <a:gd name="T5" fmla="*/ 3 h 158"/>
                  <a:gd name="T6" fmla="*/ 1 w 156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158"/>
                  <a:gd name="T14" fmla="*/ 156 w 156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158">
                    <a:moveTo>
                      <a:pt x="78" y="0"/>
                    </a:moveTo>
                    <a:lnTo>
                      <a:pt x="0" y="158"/>
                    </a:lnTo>
                    <a:lnTo>
                      <a:pt x="156" y="158"/>
                    </a:lnTo>
                    <a:lnTo>
                      <a:pt x="78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86" name="Freeform 168"/>
              <p:cNvSpPr>
                <a:spLocks/>
              </p:cNvSpPr>
              <p:nvPr/>
            </p:nvSpPr>
            <p:spPr bwMode="auto">
              <a:xfrm>
                <a:off x="3996" y="1883"/>
                <a:ext cx="77" cy="79"/>
              </a:xfrm>
              <a:custGeom>
                <a:avLst/>
                <a:gdLst>
                  <a:gd name="T0" fmla="*/ 1 w 156"/>
                  <a:gd name="T1" fmla="*/ 0 h 158"/>
                  <a:gd name="T2" fmla="*/ 0 w 156"/>
                  <a:gd name="T3" fmla="*/ 3 h 158"/>
                  <a:gd name="T4" fmla="*/ 2 w 156"/>
                  <a:gd name="T5" fmla="*/ 3 h 158"/>
                  <a:gd name="T6" fmla="*/ 1 w 156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158"/>
                  <a:gd name="T14" fmla="*/ 156 w 156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158">
                    <a:moveTo>
                      <a:pt x="78" y="0"/>
                    </a:moveTo>
                    <a:lnTo>
                      <a:pt x="0" y="158"/>
                    </a:lnTo>
                    <a:lnTo>
                      <a:pt x="156" y="158"/>
                    </a:lnTo>
                    <a:lnTo>
                      <a:pt x="78" y="0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87" name="Line 169"/>
              <p:cNvSpPr>
                <a:spLocks noChangeShapeType="1"/>
              </p:cNvSpPr>
              <p:nvPr/>
            </p:nvSpPr>
            <p:spPr bwMode="auto">
              <a:xfrm flipV="1">
                <a:off x="4034" y="1883"/>
                <a:ext cx="1" cy="7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88" name="Line 170"/>
              <p:cNvSpPr>
                <a:spLocks noChangeShapeType="1"/>
              </p:cNvSpPr>
              <p:nvPr/>
            </p:nvSpPr>
            <p:spPr bwMode="auto">
              <a:xfrm flipH="1">
                <a:off x="3996" y="1883"/>
                <a:ext cx="77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89" name="Freeform 171"/>
              <p:cNvSpPr>
                <a:spLocks/>
              </p:cNvSpPr>
              <p:nvPr/>
            </p:nvSpPr>
            <p:spPr bwMode="auto">
              <a:xfrm>
                <a:off x="3974" y="1283"/>
                <a:ext cx="78" cy="79"/>
              </a:xfrm>
              <a:custGeom>
                <a:avLst/>
                <a:gdLst>
                  <a:gd name="T0" fmla="*/ 0 w 155"/>
                  <a:gd name="T1" fmla="*/ 3 h 157"/>
                  <a:gd name="T2" fmla="*/ 2 w 155"/>
                  <a:gd name="T3" fmla="*/ 0 h 157"/>
                  <a:gd name="T4" fmla="*/ 3 w 155"/>
                  <a:gd name="T5" fmla="*/ 3 h 157"/>
                  <a:gd name="T6" fmla="*/ 0 w 155"/>
                  <a:gd name="T7" fmla="*/ 3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7"/>
                  <a:gd name="T14" fmla="*/ 155 w 155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7">
                    <a:moveTo>
                      <a:pt x="0" y="157"/>
                    </a:moveTo>
                    <a:lnTo>
                      <a:pt x="77" y="0"/>
                    </a:lnTo>
                    <a:lnTo>
                      <a:pt x="155" y="157"/>
                    </a:lnTo>
                    <a:lnTo>
                      <a:pt x="0" y="157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90" name="Line 172"/>
              <p:cNvSpPr>
                <a:spLocks noChangeShapeType="1"/>
              </p:cNvSpPr>
              <p:nvPr/>
            </p:nvSpPr>
            <p:spPr bwMode="auto">
              <a:xfrm flipH="1">
                <a:off x="3974" y="1283"/>
                <a:ext cx="7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91" name="Freeform 173"/>
              <p:cNvSpPr>
                <a:spLocks/>
              </p:cNvSpPr>
              <p:nvPr/>
            </p:nvSpPr>
            <p:spPr bwMode="auto">
              <a:xfrm>
                <a:off x="3974" y="1283"/>
                <a:ext cx="78" cy="79"/>
              </a:xfrm>
              <a:custGeom>
                <a:avLst/>
                <a:gdLst>
                  <a:gd name="T0" fmla="*/ 0 w 155"/>
                  <a:gd name="T1" fmla="*/ 3 h 157"/>
                  <a:gd name="T2" fmla="*/ 2 w 155"/>
                  <a:gd name="T3" fmla="*/ 0 h 157"/>
                  <a:gd name="T4" fmla="*/ 3 w 155"/>
                  <a:gd name="T5" fmla="*/ 3 h 157"/>
                  <a:gd name="T6" fmla="*/ 0 w 155"/>
                  <a:gd name="T7" fmla="*/ 3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7"/>
                  <a:gd name="T14" fmla="*/ 155 w 155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7">
                    <a:moveTo>
                      <a:pt x="0" y="157"/>
                    </a:moveTo>
                    <a:lnTo>
                      <a:pt x="77" y="0"/>
                    </a:lnTo>
                    <a:lnTo>
                      <a:pt x="155" y="157"/>
                    </a:lnTo>
                    <a:lnTo>
                      <a:pt x="0" y="157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92" name="Line 174"/>
              <p:cNvSpPr>
                <a:spLocks noChangeShapeType="1"/>
              </p:cNvSpPr>
              <p:nvPr/>
            </p:nvSpPr>
            <p:spPr bwMode="auto">
              <a:xfrm flipV="1">
                <a:off x="4013" y="1164"/>
                <a:ext cx="1" cy="31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93" name="Freeform 175"/>
              <p:cNvSpPr>
                <a:spLocks/>
              </p:cNvSpPr>
              <p:nvPr/>
            </p:nvSpPr>
            <p:spPr bwMode="auto">
              <a:xfrm>
                <a:off x="3974" y="1283"/>
                <a:ext cx="78" cy="79"/>
              </a:xfrm>
              <a:custGeom>
                <a:avLst/>
                <a:gdLst>
                  <a:gd name="T0" fmla="*/ 2 w 155"/>
                  <a:gd name="T1" fmla="*/ 0 h 159"/>
                  <a:gd name="T2" fmla="*/ 0 w 155"/>
                  <a:gd name="T3" fmla="*/ 2 h 159"/>
                  <a:gd name="T4" fmla="*/ 3 w 155"/>
                  <a:gd name="T5" fmla="*/ 2 h 159"/>
                  <a:gd name="T6" fmla="*/ 2 w 155"/>
                  <a:gd name="T7" fmla="*/ 0 h 15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9"/>
                  <a:gd name="T14" fmla="*/ 155 w 155"/>
                  <a:gd name="T15" fmla="*/ 159 h 15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9">
                    <a:moveTo>
                      <a:pt x="77" y="0"/>
                    </a:moveTo>
                    <a:lnTo>
                      <a:pt x="0" y="159"/>
                    </a:lnTo>
                    <a:lnTo>
                      <a:pt x="155" y="159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94" name="Freeform 176"/>
              <p:cNvSpPr>
                <a:spLocks/>
              </p:cNvSpPr>
              <p:nvPr/>
            </p:nvSpPr>
            <p:spPr bwMode="auto">
              <a:xfrm>
                <a:off x="3974" y="1283"/>
                <a:ext cx="78" cy="79"/>
              </a:xfrm>
              <a:custGeom>
                <a:avLst/>
                <a:gdLst>
                  <a:gd name="T0" fmla="*/ 2 w 155"/>
                  <a:gd name="T1" fmla="*/ 0 h 159"/>
                  <a:gd name="T2" fmla="*/ 0 w 155"/>
                  <a:gd name="T3" fmla="*/ 2 h 159"/>
                  <a:gd name="T4" fmla="*/ 3 w 155"/>
                  <a:gd name="T5" fmla="*/ 2 h 159"/>
                  <a:gd name="T6" fmla="*/ 2 w 155"/>
                  <a:gd name="T7" fmla="*/ 0 h 15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9"/>
                  <a:gd name="T14" fmla="*/ 155 w 155"/>
                  <a:gd name="T15" fmla="*/ 159 h 15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9">
                    <a:moveTo>
                      <a:pt x="77" y="0"/>
                    </a:moveTo>
                    <a:lnTo>
                      <a:pt x="0" y="159"/>
                    </a:lnTo>
                    <a:lnTo>
                      <a:pt x="155" y="159"/>
                    </a:lnTo>
                    <a:lnTo>
                      <a:pt x="77" y="0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95" name="Line 177"/>
              <p:cNvSpPr>
                <a:spLocks noChangeShapeType="1"/>
              </p:cNvSpPr>
              <p:nvPr/>
            </p:nvSpPr>
            <p:spPr bwMode="auto">
              <a:xfrm flipV="1">
                <a:off x="4013" y="1283"/>
                <a:ext cx="1" cy="7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96" name="Line 178"/>
              <p:cNvSpPr>
                <a:spLocks noChangeShapeType="1"/>
              </p:cNvSpPr>
              <p:nvPr/>
            </p:nvSpPr>
            <p:spPr bwMode="auto">
              <a:xfrm flipH="1">
                <a:off x="3974" y="1283"/>
                <a:ext cx="7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97" name="Freeform 179"/>
              <p:cNvSpPr>
                <a:spLocks/>
              </p:cNvSpPr>
              <p:nvPr/>
            </p:nvSpPr>
            <p:spPr bwMode="auto">
              <a:xfrm>
                <a:off x="4348" y="1295"/>
                <a:ext cx="78" cy="78"/>
              </a:xfrm>
              <a:custGeom>
                <a:avLst/>
                <a:gdLst>
                  <a:gd name="T0" fmla="*/ 0 w 155"/>
                  <a:gd name="T1" fmla="*/ 0 h 158"/>
                  <a:gd name="T2" fmla="*/ 3 w 155"/>
                  <a:gd name="T3" fmla="*/ 1 h 158"/>
                  <a:gd name="T4" fmla="*/ 0 w 155"/>
                  <a:gd name="T5" fmla="*/ 2 h 158"/>
                  <a:gd name="T6" fmla="*/ 0 w 155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8"/>
                  <a:gd name="T14" fmla="*/ 155 w 155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8">
                    <a:moveTo>
                      <a:pt x="0" y="0"/>
                    </a:moveTo>
                    <a:lnTo>
                      <a:pt x="155" y="79"/>
                    </a:lnTo>
                    <a:lnTo>
                      <a:pt x="0" y="15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98" name="Line 180"/>
              <p:cNvSpPr>
                <a:spLocks noChangeShapeType="1"/>
              </p:cNvSpPr>
              <p:nvPr/>
            </p:nvSpPr>
            <p:spPr bwMode="auto">
              <a:xfrm flipV="1">
                <a:off x="4426" y="1295"/>
                <a:ext cx="1" cy="7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99" name="Freeform 181"/>
              <p:cNvSpPr>
                <a:spLocks/>
              </p:cNvSpPr>
              <p:nvPr/>
            </p:nvSpPr>
            <p:spPr bwMode="auto">
              <a:xfrm>
                <a:off x="4348" y="1295"/>
                <a:ext cx="78" cy="78"/>
              </a:xfrm>
              <a:custGeom>
                <a:avLst/>
                <a:gdLst>
                  <a:gd name="T0" fmla="*/ 0 w 155"/>
                  <a:gd name="T1" fmla="*/ 0 h 158"/>
                  <a:gd name="T2" fmla="*/ 3 w 155"/>
                  <a:gd name="T3" fmla="*/ 1 h 158"/>
                  <a:gd name="T4" fmla="*/ 0 w 155"/>
                  <a:gd name="T5" fmla="*/ 2 h 158"/>
                  <a:gd name="T6" fmla="*/ 0 w 155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8"/>
                  <a:gd name="T14" fmla="*/ 155 w 155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8">
                    <a:moveTo>
                      <a:pt x="0" y="0"/>
                    </a:moveTo>
                    <a:lnTo>
                      <a:pt x="155" y="79"/>
                    </a:lnTo>
                    <a:lnTo>
                      <a:pt x="0" y="15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000" name="Line 182"/>
              <p:cNvSpPr>
                <a:spLocks noChangeShapeType="1"/>
              </p:cNvSpPr>
              <p:nvPr/>
            </p:nvSpPr>
            <p:spPr bwMode="auto">
              <a:xfrm>
                <a:off x="4230" y="1334"/>
                <a:ext cx="31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001" name="Freeform 183"/>
              <p:cNvSpPr>
                <a:spLocks/>
              </p:cNvSpPr>
              <p:nvPr/>
            </p:nvSpPr>
            <p:spPr bwMode="auto">
              <a:xfrm>
                <a:off x="4347" y="1295"/>
                <a:ext cx="79" cy="78"/>
              </a:xfrm>
              <a:custGeom>
                <a:avLst/>
                <a:gdLst>
                  <a:gd name="T0" fmla="*/ 3 w 157"/>
                  <a:gd name="T1" fmla="*/ 1 h 158"/>
                  <a:gd name="T2" fmla="*/ 0 w 157"/>
                  <a:gd name="T3" fmla="*/ 0 h 158"/>
                  <a:gd name="T4" fmla="*/ 0 w 157"/>
                  <a:gd name="T5" fmla="*/ 2 h 158"/>
                  <a:gd name="T6" fmla="*/ 3 w 157"/>
                  <a:gd name="T7" fmla="*/ 1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7"/>
                  <a:gd name="T13" fmla="*/ 0 h 158"/>
                  <a:gd name="T14" fmla="*/ 157 w 157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7" h="158">
                    <a:moveTo>
                      <a:pt x="157" y="79"/>
                    </a:moveTo>
                    <a:lnTo>
                      <a:pt x="0" y="0"/>
                    </a:lnTo>
                    <a:lnTo>
                      <a:pt x="0" y="158"/>
                    </a:lnTo>
                    <a:lnTo>
                      <a:pt x="157" y="79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002" name="Freeform 184"/>
              <p:cNvSpPr>
                <a:spLocks/>
              </p:cNvSpPr>
              <p:nvPr/>
            </p:nvSpPr>
            <p:spPr bwMode="auto">
              <a:xfrm>
                <a:off x="4347" y="1295"/>
                <a:ext cx="79" cy="78"/>
              </a:xfrm>
              <a:custGeom>
                <a:avLst/>
                <a:gdLst>
                  <a:gd name="T0" fmla="*/ 3 w 157"/>
                  <a:gd name="T1" fmla="*/ 1 h 158"/>
                  <a:gd name="T2" fmla="*/ 0 w 157"/>
                  <a:gd name="T3" fmla="*/ 0 h 158"/>
                  <a:gd name="T4" fmla="*/ 0 w 157"/>
                  <a:gd name="T5" fmla="*/ 2 h 158"/>
                  <a:gd name="T6" fmla="*/ 3 w 157"/>
                  <a:gd name="T7" fmla="*/ 1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7"/>
                  <a:gd name="T13" fmla="*/ 0 h 158"/>
                  <a:gd name="T14" fmla="*/ 157 w 157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7" h="158">
                    <a:moveTo>
                      <a:pt x="157" y="79"/>
                    </a:moveTo>
                    <a:lnTo>
                      <a:pt x="0" y="0"/>
                    </a:lnTo>
                    <a:lnTo>
                      <a:pt x="0" y="158"/>
                    </a:lnTo>
                    <a:lnTo>
                      <a:pt x="157" y="79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003" name="Line 185"/>
              <p:cNvSpPr>
                <a:spLocks noChangeShapeType="1"/>
              </p:cNvSpPr>
              <p:nvPr/>
            </p:nvSpPr>
            <p:spPr bwMode="auto">
              <a:xfrm>
                <a:off x="4347" y="1334"/>
                <a:ext cx="7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004" name="Line 186"/>
              <p:cNvSpPr>
                <a:spLocks noChangeShapeType="1"/>
              </p:cNvSpPr>
              <p:nvPr/>
            </p:nvSpPr>
            <p:spPr bwMode="auto">
              <a:xfrm flipV="1">
                <a:off x="4426" y="1295"/>
                <a:ext cx="1" cy="7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005" name="Freeform 187"/>
              <p:cNvSpPr>
                <a:spLocks/>
              </p:cNvSpPr>
              <p:nvPr/>
            </p:nvSpPr>
            <p:spPr bwMode="auto">
              <a:xfrm>
                <a:off x="4350" y="1855"/>
                <a:ext cx="78" cy="78"/>
              </a:xfrm>
              <a:custGeom>
                <a:avLst/>
                <a:gdLst>
                  <a:gd name="T0" fmla="*/ 0 w 155"/>
                  <a:gd name="T1" fmla="*/ 0 h 157"/>
                  <a:gd name="T2" fmla="*/ 3 w 155"/>
                  <a:gd name="T3" fmla="*/ 1 h 157"/>
                  <a:gd name="T4" fmla="*/ 0 w 155"/>
                  <a:gd name="T5" fmla="*/ 2 h 157"/>
                  <a:gd name="T6" fmla="*/ 0 w 155"/>
                  <a:gd name="T7" fmla="*/ 0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7"/>
                  <a:gd name="T14" fmla="*/ 155 w 155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7">
                    <a:moveTo>
                      <a:pt x="0" y="0"/>
                    </a:moveTo>
                    <a:lnTo>
                      <a:pt x="155" y="78"/>
                    </a:lnTo>
                    <a:lnTo>
                      <a:pt x="0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006" name="Line 188"/>
              <p:cNvSpPr>
                <a:spLocks noChangeShapeType="1"/>
              </p:cNvSpPr>
              <p:nvPr/>
            </p:nvSpPr>
            <p:spPr bwMode="auto">
              <a:xfrm flipV="1">
                <a:off x="4428" y="1855"/>
                <a:ext cx="1" cy="7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007" name="Freeform 189"/>
              <p:cNvSpPr>
                <a:spLocks/>
              </p:cNvSpPr>
              <p:nvPr/>
            </p:nvSpPr>
            <p:spPr bwMode="auto">
              <a:xfrm>
                <a:off x="4350" y="1855"/>
                <a:ext cx="78" cy="78"/>
              </a:xfrm>
              <a:custGeom>
                <a:avLst/>
                <a:gdLst>
                  <a:gd name="T0" fmla="*/ 0 w 155"/>
                  <a:gd name="T1" fmla="*/ 0 h 157"/>
                  <a:gd name="T2" fmla="*/ 3 w 155"/>
                  <a:gd name="T3" fmla="*/ 1 h 157"/>
                  <a:gd name="T4" fmla="*/ 0 w 155"/>
                  <a:gd name="T5" fmla="*/ 2 h 157"/>
                  <a:gd name="T6" fmla="*/ 0 w 155"/>
                  <a:gd name="T7" fmla="*/ 0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7"/>
                  <a:gd name="T14" fmla="*/ 155 w 155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7">
                    <a:moveTo>
                      <a:pt x="0" y="0"/>
                    </a:moveTo>
                    <a:lnTo>
                      <a:pt x="155" y="78"/>
                    </a:lnTo>
                    <a:lnTo>
                      <a:pt x="0" y="157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008" name="Line 190"/>
              <p:cNvSpPr>
                <a:spLocks noChangeShapeType="1"/>
              </p:cNvSpPr>
              <p:nvPr/>
            </p:nvSpPr>
            <p:spPr bwMode="auto">
              <a:xfrm>
                <a:off x="4230" y="1894"/>
                <a:ext cx="31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009" name="Freeform 191"/>
              <p:cNvSpPr>
                <a:spLocks/>
              </p:cNvSpPr>
              <p:nvPr/>
            </p:nvSpPr>
            <p:spPr bwMode="auto">
              <a:xfrm>
                <a:off x="4349" y="1855"/>
                <a:ext cx="80" cy="78"/>
              </a:xfrm>
              <a:custGeom>
                <a:avLst/>
                <a:gdLst>
                  <a:gd name="T0" fmla="*/ 3 w 159"/>
                  <a:gd name="T1" fmla="*/ 1 h 157"/>
                  <a:gd name="T2" fmla="*/ 0 w 159"/>
                  <a:gd name="T3" fmla="*/ 0 h 157"/>
                  <a:gd name="T4" fmla="*/ 0 w 159"/>
                  <a:gd name="T5" fmla="*/ 2 h 157"/>
                  <a:gd name="T6" fmla="*/ 3 w 159"/>
                  <a:gd name="T7" fmla="*/ 1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9"/>
                  <a:gd name="T13" fmla="*/ 0 h 157"/>
                  <a:gd name="T14" fmla="*/ 159 w 159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9" h="157">
                    <a:moveTo>
                      <a:pt x="159" y="78"/>
                    </a:moveTo>
                    <a:lnTo>
                      <a:pt x="0" y="0"/>
                    </a:lnTo>
                    <a:lnTo>
                      <a:pt x="0" y="157"/>
                    </a:lnTo>
                    <a:lnTo>
                      <a:pt x="159" y="78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010" name="Freeform 192"/>
              <p:cNvSpPr>
                <a:spLocks/>
              </p:cNvSpPr>
              <p:nvPr/>
            </p:nvSpPr>
            <p:spPr bwMode="auto">
              <a:xfrm>
                <a:off x="4349" y="1855"/>
                <a:ext cx="80" cy="78"/>
              </a:xfrm>
              <a:custGeom>
                <a:avLst/>
                <a:gdLst>
                  <a:gd name="T0" fmla="*/ 3 w 159"/>
                  <a:gd name="T1" fmla="*/ 1 h 157"/>
                  <a:gd name="T2" fmla="*/ 0 w 159"/>
                  <a:gd name="T3" fmla="*/ 0 h 157"/>
                  <a:gd name="T4" fmla="*/ 0 w 159"/>
                  <a:gd name="T5" fmla="*/ 2 h 157"/>
                  <a:gd name="T6" fmla="*/ 3 w 159"/>
                  <a:gd name="T7" fmla="*/ 1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9"/>
                  <a:gd name="T13" fmla="*/ 0 h 157"/>
                  <a:gd name="T14" fmla="*/ 159 w 159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9" h="157">
                    <a:moveTo>
                      <a:pt x="159" y="78"/>
                    </a:moveTo>
                    <a:lnTo>
                      <a:pt x="0" y="0"/>
                    </a:lnTo>
                    <a:lnTo>
                      <a:pt x="0" y="157"/>
                    </a:lnTo>
                    <a:lnTo>
                      <a:pt x="159" y="78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011" name="Line 193"/>
              <p:cNvSpPr>
                <a:spLocks noChangeShapeType="1"/>
              </p:cNvSpPr>
              <p:nvPr/>
            </p:nvSpPr>
            <p:spPr bwMode="auto">
              <a:xfrm>
                <a:off x="4349" y="1894"/>
                <a:ext cx="80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012" name="Line 194"/>
              <p:cNvSpPr>
                <a:spLocks noChangeShapeType="1"/>
              </p:cNvSpPr>
              <p:nvPr/>
            </p:nvSpPr>
            <p:spPr bwMode="auto">
              <a:xfrm flipV="1">
                <a:off x="4429" y="1855"/>
                <a:ext cx="1" cy="7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013" name="Rectangle 195"/>
              <p:cNvSpPr>
                <a:spLocks noChangeArrowheads="1"/>
              </p:cNvSpPr>
              <p:nvPr/>
            </p:nvSpPr>
            <p:spPr bwMode="auto">
              <a:xfrm>
                <a:off x="4575" y="1378"/>
                <a:ext cx="36" cy="8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900">
                    <a:solidFill>
                      <a:srgbClr val="000000"/>
                    </a:solidFill>
                    <a:latin typeface="宋体" pitchFamily="2" charset="-122"/>
                  </a:rPr>
                  <a:t>+</a:t>
                </a:r>
                <a:endParaRPr lang="en-US" altLang="zh-CN"/>
              </a:p>
            </p:txBody>
          </p:sp>
          <p:sp>
            <p:nvSpPr>
              <p:cNvPr id="78014" name="Rectangle 196"/>
              <p:cNvSpPr>
                <a:spLocks noChangeArrowheads="1"/>
              </p:cNvSpPr>
              <p:nvPr/>
            </p:nvSpPr>
            <p:spPr bwMode="auto">
              <a:xfrm>
                <a:off x="4575" y="1529"/>
                <a:ext cx="36" cy="8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900">
                    <a:solidFill>
                      <a:srgbClr val="000000"/>
                    </a:solidFill>
                    <a:latin typeface="宋体" pitchFamily="2" charset="-122"/>
                  </a:rPr>
                  <a:t>-</a:t>
                </a:r>
                <a:endParaRPr lang="en-US" altLang="zh-CN"/>
              </a:p>
            </p:txBody>
          </p:sp>
          <p:sp>
            <p:nvSpPr>
              <p:cNvPr id="78015" name="Rectangle 197"/>
              <p:cNvSpPr>
                <a:spLocks noChangeArrowheads="1"/>
              </p:cNvSpPr>
              <p:nvPr/>
            </p:nvSpPr>
            <p:spPr bwMode="auto">
              <a:xfrm>
                <a:off x="4633" y="1484"/>
                <a:ext cx="44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700">
                    <a:solidFill>
                      <a:srgbClr val="000000"/>
                    </a:solidFill>
                    <a:latin typeface="Times New Roman" pitchFamily="18" charset="0"/>
                  </a:rPr>
                  <a:t>oi</a:t>
                </a:r>
                <a:endParaRPr lang="en-US" altLang="zh-CN"/>
              </a:p>
            </p:txBody>
          </p:sp>
          <p:sp>
            <p:nvSpPr>
              <p:cNvPr id="78016" name="Rectangle 198"/>
              <p:cNvSpPr>
                <a:spLocks noChangeArrowheads="1"/>
              </p:cNvSpPr>
              <p:nvPr/>
            </p:nvSpPr>
            <p:spPr bwMode="auto">
              <a:xfrm>
                <a:off x="4595" y="1446"/>
                <a:ext cx="40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 i="1">
                    <a:solidFill>
                      <a:srgbClr val="000000"/>
                    </a:solidFill>
                    <a:latin typeface="Times New Roman" pitchFamily="18" charset="0"/>
                  </a:rPr>
                  <a:t>u</a:t>
                </a:r>
                <a:endParaRPr lang="en-US" altLang="zh-CN"/>
              </a:p>
            </p:txBody>
          </p:sp>
          <p:sp>
            <p:nvSpPr>
              <p:cNvPr id="78017" name="Rectangle 199"/>
              <p:cNvSpPr>
                <a:spLocks noChangeArrowheads="1"/>
              </p:cNvSpPr>
              <p:nvPr/>
            </p:nvSpPr>
            <p:spPr bwMode="auto">
              <a:xfrm>
                <a:off x="3198" y="1207"/>
                <a:ext cx="122" cy="77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+</a:t>
                </a:r>
              </a:p>
              <a:p>
                <a:pPr eaLnBrk="1" hangingPunct="1"/>
                <a:endParaRPr lang="en-US" altLang="zh-CN" sz="1600" i="1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</a:p>
              <a:p>
                <a:pPr eaLnBrk="1" hangingPunct="1"/>
                <a:endParaRPr lang="en-US" altLang="zh-CN" sz="1600" i="1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-</a:t>
                </a:r>
                <a:endParaRPr lang="en-US" altLang="zh-CN" sz="1600"/>
              </a:p>
            </p:txBody>
          </p:sp>
          <p:sp>
            <p:nvSpPr>
              <p:cNvPr id="78018" name="Rectangle 200"/>
              <p:cNvSpPr>
                <a:spLocks noChangeArrowheads="1"/>
              </p:cNvSpPr>
              <p:nvPr/>
            </p:nvSpPr>
            <p:spPr bwMode="auto">
              <a:xfrm>
                <a:off x="5239" y="1253"/>
                <a:ext cx="122" cy="46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+</a:t>
                </a:r>
              </a:p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o</a:t>
                </a:r>
              </a:p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-</a:t>
                </a:r>
                <a:endParaRPr lang="en-US" altLang="zh-CN" sz="1600"/>
              </a:p>
            </p:txBody>
          </p:sp>
          <p:sp>
            <p:nvSpPr>
              <p:cNvPr id="78019" name="Rectangle 201"/>
              <p:cNvSpPr>
                <a:spLocks noChangeArrowheads="1"/>
              </p:cNvSpPr>
              <p:nvPr/>
            </p:nvSpPr>
            <p:spPr bwMode="auto">
              <a:xfrm>
                <a:off x="3969" y="1525"/>
                <a:ext cx="96" cy="11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200" i="1">
                    <a:solidFill>
                      <a:srgbClr val="000000"/>
                    </a:solidFill>
                    <a:latin typeface="Times New Roman" pitchFamily="18" charset="0"/>
                  </a:rPr>
                  <a:t>N</a:t>
                </a:r>
                <a:r>
                  <a:rPr lang="en-US" altLang="zh-CN" sz="12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78020" name="Rectangle 202"/>
              <p:cNvSpPr>
                <a:spLocks noChangeArrowheads="1"/>
              </p:cNvSpPr>
              <p:nvPr/>
            </p:nvSpPr>
            <p:spPr bwMode="auto">
              <a:xfrm>
                <a:off x="4241" y="1434"/>
                <a:ext cx="96" cy="11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200" i="1">
                    <a:solidFill>
                      <a:srgbClr val="000000"/>
                    </a:solidFill>
                    <a:latin typeface="Times New Roman" pitchFamily="18" charset="0"/>
                  </a:rPr>
                  <a:t>N</a:t>
                </a:r>
                <a:r>
                  <a:rPr lang="en-US" altLang="zh-CN" sz="12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78021" name="Rectangle 203"/>
              <p:cNvSpPr>
                <a:spLocks noChangeArrowheads="1"/>
              </p:cNvSpPr>
              <p:nvPr/>
            </p:nvSpPr>
            <p:spPr bwMode="auto">
              <a:xfrm>
                <a:off x="3696" y="1253"/>
                <a:ext cx="122" cy="15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600">
                    <a:solidFill>
                      <a:srgbClr val="000000"/>
                    </a:solidFill>
                    <a:latin typeface="Times New Roman" pitchFamily="18" charset="0"/>
                  </a:rPr>
                  <a:t>T</a:t>
                </a:r>
                <a:r>
                  <a:rPr lang="en-US" altLang="zh-CN" sz="1600" baseline="-250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78022" name="Rectangle 204"/>
              <p:cNvSpPr>
                <a:spLocks noChangeArrowheads="1"/>
              </p:cNvSpPr>
              <p:nvPr/>
            </p:nvSpPr>
            <p:spPr bwMode="auto">
              <a:xfrm>
                <a:off x="3696" y="1797"/>
                <a:ext cx="122" cy="15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600">
                    <a:solidFill>
                      <a:srgbClr val="000000"/>
                    </a:solidFill>
                    <a:latin typeface="Times New Roman" pitchFamily="18" charset="0"/>
                  </a:rPr>
                  <a:t>T</a:t>
                </a:r>
                <a:r>
                  <a:rPr lang="en-US" altLang="zh-CN" sz="1600" baseline="-250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78023" name="Rectangle 205"/>
              <p:cNvSpPr>
                <a:spLocks noChangeArrowheads="1"/>
              </p:cNvSpPr>
              <p:nvPr/>
            </p:nvSpPr>
            <p:spPr bwMode="auto">
              <a:xfrm>
                <a:off x="4241" y="1661"/>
                <a:ext cx="96" cy="11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200" i="1">
                    <a:solidFill>
                      <a:srgbClr val="000000"/>
                    </a:solidFill>
                    <a:latin typeface="Times New Roman" pitchFamily="18" charset="0"/>
                  </a:rPr>
                  <a:t>N</a:t>
                </a:r>
                <a:r>
                  <a:rPr lang="en-US" altLang="zh-CN" sz="12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</p:grpSp>
        <p:sp>
          <p:nvSpPr>
            <p:cNvPr id="77889" name="Line 206"/>
            <p:cNvSpPr>
              <a:spLocks noChangeShapeType="1"/>
            </p:cNvSpPr>
            <p:nvPr/>
          </p:nvSpPr>
          <p:spPr bwMode="auto">
            <a:xfrm flipV="1">
              <a:off x="3561" y="2432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90" name="Line 207"/>
            <p:cNvSpPr>
              <a:spLocks noChangeShapeType="1"/>
            </p:cNvSpPr>
            <p:nvPr/>
          </p:nvSpPr>
          <p:spPr bwMode="auto">
            <a:xfrm>
              <a:off x="3561" y="2659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91" name="Line 208"/>
            <p:cNvSpPr>
              <a:spLocks noChangeShapeType="1"/>
            </p:cNvSpPr>
            <p:nvPr/>
          </p:nvSpPr>
          <p:spPr bwMode="auto">
            <a:xfrm flipH="1">
              <a:off x="3652" y="2341"/>
              <a:ext cx="181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201"/>
          <p:cNvSpPr txBox="1">
            <a:spLocks noChangeArrowheads="1"/>
          </p:cNvSpPr>
          <p:nvPr/>
        </p:nvSpPr>
        <p:spPr bwMode="auto">
          <a:xfrm>
            <a:off x="107379" y="1214438"/>
            <a:ext cx="4392613" cy="189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A50021"/>
                </a:solidFill>
              </a:rPr>
              <a:t>(3)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A50021"/>
                </a:solidFill>
              </a:rPr>
              <a:t>When 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1</a:t>
            </a:r>
            <a:r>
              <a:rPr lang="en-US" altLang="zh-CN" sz="2400" dirty="0">
                <a:solidFill>
                  <a:srgbClr val="A50021"/>
                </a:solidFill>
              </a:rPr>
              <a:t> and 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2</a:t>
            </a:r>
            <a:r>
              <a:rPr lang="en-US" altLang="zh-CN" sz="2400" dirty="0">
                <a:solidFill>
                  <a:srgbClr val="A50021"/>
                </a:solidFill>
              </a:rPr>
              <a:t> are off (t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on</a:t>
            </a:r>
            <a:r>
              <a:rPr lang="en-US" altLang="zh-CN" sz="2400" dirty="0">
                <a:solidFill>
                  <a:srgbClr val="A50021"/>
                </a:solidFill>
              </a:rPr>
              <a:t>&lt;t&lt;t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on</a:t>
            </a:r>
            <a:r>
              <a:rPr lang="en-US" altLang="zh-CN" sz="2400" dirty="0">
                <a:solidFill>
                  <a:srgbClr val="A50021"/>
                </a:solidFill>
              </a:rPr>
              <a:t>+</a:t>
            </a:r>
            <a:r>
              <a:rPr lang="el-GR" altLang="zh-CN" sz="2400" dirty="0">
                <a:solidFill>
                  <a:srgbClr val="A50021"/>
                </a:solidFill>
                <a:cs typeface="Arial" charset="0"/>
              </a:rPr>
              <a:t>Δ</a:t>
            </a:r>
            <a:r>
              <a:rPr lang="en-US" altLang="zh-CN" sz="2400" dirty="0">
                <a:solidFill>
                  <a:srgbClr val="A50021"/>
                </a:solidFill>
              </a:rPr>
              <a:t>)</a:t>
            </a:r>
            <a:r>
              <a:rPr lang="en-US" altLang="zh-CN" sz="2400" dirty="0"/>
              <a:t>, D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and D</a:t>
            </a:r>
            <a:r>
              <a:rPr lang="en-US" altLang="zh-CN" sz="2400" baseline="-25000" dirty="0"/>
              <a:t>2 </a:t>
            </a:r>
            <a:r>
              <a:rPr lang="en-US" altLang="zh-CN" sz="2400" dirty="0"/>
              <a:t>conduct. </a:t>
            </a:r>
            <a:r>
              <a:rPr lang="en-US" altLang="zh-CN" sz="2400" dirty="0" err="1">
                <a:solidFill>
                  <a:srgbClr val="A50021"/>
                </a:solidFill>
              </a:rPr>
              <a:t>i</a:t>
            </a:r>
            <a:r>
              <a:rPr lang="en-US" altLang="zh-CN" sz="2400" baseline="-25000" dirty="0" err="1">
                <a:solidFill>
                  <a:srgbClr val="A50021"/>
                </a:solidFill>
              </a:rPr>
              <a:t>L</a:t>
            </a:r>
            <a:r>
              <a:rPr lang="en-US" altLang="zh-CN" sz="2400" dirty="0">
                <a:solidFill>
                  <a:srgbClr val="A50021"/>
                </a:solidFill>
              </a:rPr>
              <a:t> through D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1</a:t>
            </a:r>
            <a:r>
              <a:rPr lang="en-US" altLang="zh-CN" sz="2400" dirty="0">
                <a:solidFill>
                  <a:srgbClr val="A50021"/>
                </a:solidFill>
              </a:rPr>
              <a:t> and D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2</a:t>
            </a:r>
            <a:r>
              <a:rPr lang="en-US" altLang="zh-CN" sz="2400" dirty="0">
                <a:solidFill>
                  <a:srgbClr val="A50021"/>
                </a:solidFill>
              </a:rPr>
              <a:t> decrease linearly</a:t>
            </a:r>
            <a:r>
              <a:rPr lang="en-US" altLang="zh-CN" sz="2400" dirty="0"/>
              <a:t>.</a:t>
            </a:r>
          </a:p>
        </p:txBody>
      </p:sp>
      <p:graphicFrame>
        <p:nvGraphicFramePr>
          <p:cNvPr id="78851" name="Object 2"/>
          <p:cNvGraphicFramePr>
            <a:graphicFrameLocks noChangeAspect="1"/>
          </p:cNvGraphicFramePr>
          <p:nvPr/>
        </p:nvGraphicFramePr>
        <p:xfrm>
          <a:off x="359742" y="3286125"/>
          <a:ext cx="3132138" cy="191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6" name="公式" r:id="rId3" imgW="1409088" imgH="863225" progId="">
                  <p:embed/>
                </p:oleObj>
              </mc:Choice>
              <mc:Fallback>
                <p:oleObj name="公式" r:id="rId3" imgW="1409088" imgH="863225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42" y="3286125"/>
                        <a:ext cx="3132138" cy="191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10"/>
          <p:cNvGrpSpPr>
            <a:grpSpLocks/>
          </p:cNvGrpSpPr>
          <p:nvPr/>
        </p:nvGrpSpPr>
        <p:grpSpPr bwMode="auto">
          <a:xfrm>
            <a:off x="4357688" y="1268413"/>
            <a:ext cx="4664075" cy="5589587"/>
            <a:chOff x="3334" y="1071"/>
            <a:chExt cx="2349" cy="3103"/>
          </a:xfrm>
        </p:grpSpPr>
        <p:sp>
          <p:nvSpPr>
            <p:cNvPr id="78853" name="Rectangle 5"/>
            <p:cNvSpPr>
              <a:spLocks noChangeArrowheads="1"/>
            </p:cNvSpPr>
            <p:nvPr/>
          </p:nvSpPr>
          <p:spPr bwMode="auto">
            <a:xfrm>
              <a:off x="4377" y="2004"/>
              <a:ext cx="192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宋体" pitchFamily="2" charset="-122"/>
                </a:rPr>
                <a:t>(a)</a:t>
              </a:r>
              <a:endParaRPr lang="en-US" altLang="zh-CN" sz="1600"/>
            </a:p>
          </p:txBody>
        </p:sp>
        <p:sp>
          <p:nvSpPr>
            <p:cNvPr id="78854" name="Freeform 6"/>
            <p:cNvSpPr>
              <a:spLocks/>
            </p:cNvSpPr>
            <p:nvPr/>
          </p:nvSpPr>
          <p:spPr bwMode="auto">
            <a:xfrm>
              <a:off x="3470" y="2302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55" name="Freeform 7"/>
            <p:cNvSpPr>
              <a:spLocks/>
            </p:cNvSpPr>
            <p:nvPr/>
          </p:nvSpPr>
          <p:spPr bwMode="auto">
            <a:xfrm>
              <a:off x="3470" y="2302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56" name="Line 8"/>
            <p:cNvSpPr>
              <a:spLocks noChangeShapeType="1"/>
            </p:cNvSpPr>
            <p:nvPr/>
          </p:nvSpPr>
          <p:spPr bwMode="auto">
            <a:xfrm>
              <a:off x="3478" y="2361"/>
              <a:ext cx="1" cy="7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57" name="Freeform 9"/>
            <p:cNvSpPr>
              <a:spLocks/>
            </p:cNvSpPr>
            <p:nvPr/>
          </p:nvSpPr>
          <p:spPr bwMode="auto">
            <a:xfrm>
              <a:off x="5557" y="2884"/>
              <a:ext cx="54" cy="17"/>
            </a:xfrm>
            <a:custGeom>
              <a:avLst/>
              <a:gdLst>
                <a:gd name="T0" fmla="*/ 2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58" name="Freeform 10"/>
            <p:cNvSpPr>
              <a:spLocks/>
            </p:cNvSpPr>
            <p:nvPr/>
          </p:nvSpPr>
          <p:spPr bwMode="auto">
            <a:xfrm>
              <a:off x="5557" y="2884"/>
              <a:ext cx="54" cy="17"/>
            </a:xfrm>
            <a:custGeom>
              <a:avLst/>
              <a:gdLst>
                <a:gd name="T0" fmla="*/ 2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59" name="Line 11"/>
            <p:cNvSpPr>
              <a:spLocks noChangeShapeType="1"/>
            </p:cNvSpPr>
            <p:nvPr/>
          </p:nvSpPr>
          <p:spPr bwMode="auto">
            <a:xfrm flipH="1">
              <a:off x="3478" y="2893"/>
              <a:ext cx="207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0" name="Line 12"/>
            <p:cNvSpPr>
              <a:spLocks noChangeShapeType="1"/>
            </p:cNvSpPr>
            <p:nvPr/>
          </p:nvSpPr>
          <p:spPr bwMode="auto">
            <a:xfrm>
              <a:off x="3478" y="2413"/>
              <a:ext cx="32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1" name="Freeform 13"/>
            <p:cNvSpPr>
              <a:spLocks/>
            </p:cNvSpPr>
            <p:nvPr/>
          </p:nvSpPr>
          <p:spPr bwMode="auto">
            <a:xfrm>
              <a:off x="5554" y="3935"/>
              <a:ext cx="54" cy="17"/>
            </a:xfrm>
            <a:custGeom>
              <a:avLst/>
              <a:gdLst>
                <a:gd name="T0" fmla="*/ 2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2" name="Freeform 14"/>
            <p:cNvSpPr>
              <a:spLocks/>
            </p:cNvSpPr>
            <p:nvPr/>
          </p:nvSpPr>
          <p:spPr bwMode="auto">
            <a:xfrm>
              <a:off x="5554" y="3935"/>
              <a:ext cx="54" cy="17"/>
            </a:xfrm>
            <a:custGeom>
              <a:avLst/>
              <a:gdLst>
                <a:gd name="T0" fmla="*/ 2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3" name="Line 15"/>
            <p:cNvSpPr>
              <a:spLocks noChangeShapeType="1"/>
            </p:cNvSpPr>
            <p:nvPr/>
          </p:nvSpPr>
          <p:spPr bwMode="auto">
            <a:xfrm flipH="1">
              <a:off x="3475" y="3944"/>
              <a:ext cx="207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4" name="Rectangle 16"/>
            <p:cNvSpPr>
              <a:spLocks noChangeArrowheads="1"/>
            </p:cNvSpPr>
            <p:nvPr/>
          </p:nvSpPr>
          <p:spPr bwMode="auto">
            <a:xfrm>
              <a:off x="3515" y="2186"/>
              <a:ext cx="124" cy="17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oi</a:t>
              </a:r>
            </a:p>
          </p:txBody>
        </p:sp>
        <p:sp>
          <p:nvSpPr>
            <p:cNvPr id="78865" name="Rectangle 17"/>
            <p:cNvSpPr>
              <a:spLocks noChangeArrowheads="1"/>
            </p:cNvSpPr>
            <p:nvPr/>
          </p:nvSpPr>
          <p:spPr bwMode="auto">
            <a:xfrm>
              <a:off x="3409" y="2824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78866" name="Rectangle 18"/>
            <p:cNvSpPr>
              <a:spLocks noChangeArrowheads="1"/>
            </p:cNvSpPr>
            <p:nvPr/>
          </p:nvSpPr>
          <p:spPr bwMode="auto">
            <a:xfrm>
              <a:off x="3408" y="3873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78867" name="Rectangle 19"/>
            <p:cNvSpPr>
              <a:spLocks noChangeArrowheads="1"/>
            </p:cNvSpPr>
            <p:nvPr/>
          </p:nvSpPr>
          <p:spPr bwMode="auto">
            <a:xfrm>
              <a:off x="5643" y="2821"/>
              <a:ext cx="40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78868" name="Rectangle 20"/>
            <p:cNvSpPr>
              <a:spLocks noChangeArrowheads="1"/>
            </p:cNvSpPr>
            <p:nvPr/>
          </p:nvSpPr>
          <p:spPr bwMode="auto">
            <a:xfrm>
              <a:off x="5640" y="3854"/>
              <a:ext cx="40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78869" name="Line 21"/>
            <p:cNvSpPr>
              <a:spLocks noChangeShapeType="1"/>
            </p:cNvSpPr>
            <p:nvPr/>
          </p:nvSpPr>
          <p:spPr bwMode="auto">
            <a:xfrm>
              <a:off x="4331" y="2413"/>
              <a:ext cx="32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0" name="Line 22"/>
            <p:cNvSpPr>
              <a:spLocks noChangeShapeType="1"/>
            </p:cNvSpPr>
            <p:nvPr/>
          </p:nvSpPr>
          <p:spPr bwMode="auto">
            <a:xfrm>
              <a:off x="4651" y="2892"/>
              <a:ext cx="53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1" name="Line 23"/>
            <p:cNvSpPr>
              <a:spLocks noChangeShapeType="1"/>
            </p:cNvSpPr>
            <p:nvPr/>
          </p:nvSpPr>
          <p:spPr bwMode="auto">
            <a:xfrm>
              <a:off x="4651" y="2413"/>
              <a:ext cx="1" cy="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2" name="Line 24"/>
            <p:cNvSpPr>
              <a:spLocks noChangeShapeType="1"/>
            </p:cNvSpPr>
            <p:nvPr/>
          </p:nvSpPr>
          <p:spPr bwMode="auto">
            <a:xfrm>
              <a:off x="5185" y="2413"/>
              <a:ext cx="31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3" name="Line 25"/>
            <p:cNvSpPr>
              <a:spLocks noChangeShapeType="1"/>
            </p:cNvSpPr>
            <p:nvPr/>
          </p:nvSpPr>
          <p:spPr bwMode="auto">
            <a:xfrm>
              <a:off x="5185" y="2413"/>
              <a:ext cx="1" cy="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4" name="Rectangle 32"/>
            <p:cNvSpPr>
              <a:spLocks noChangeArrowheads="1"/>
            </p:cNvSpPr>
            <p:nvPr/>
          </p:nvSpPr>
          <p:spPr bwMode="auto">
            <a:xfrm>
              <a:off x="3788" y="2205"/>
              <a:ext cx="508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N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2</a:t>
              </a:r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V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d</a:t>
              </a:r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/2N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78875" name="Line 36"/>
            <p:cNvSpPr>
              <a:spLocks noChangeShapeType="1"/>
            </p:cNvSpPr>
            <p:nvPr/>
          </p:nvSpPr>
          <p:spPr bwMode="auto">
            <a:xfrm>
              <a:off x="3798" y="2939"/>
              <a:ext cx="1" cy="1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6" name="Line 37"/>
            <p:cNvSpPr>
              <a:spLocks noChangeShapeType="1"/>
            </p:cNvSpPr>
            <p:nvPr/>
          </p:nvSpPr>
          <p:spPr bwMode="auto">
            <a:xfrm>
              <a:off x="4331" y="2939"/>
              <a:ext cx="1" cy="1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7" name="Line 38"/>
            <p:cNvSpPr>
              <a:spLocks noChangeShapeType="1"/>
            </p:cNvSpPr>
            <p:nvPr/>
          </p:nvSpPr>
          <p:spPr bwMode="auto">
            <a:xfrm>
              <a:off x="4331" y="2939"/>
              <a:ext cx="1" cy="2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8" name="Line 39"/>
            <p:cNvSpPr>
              <a:spLocks noChangeShapeType="1"/>
            </p:cNvSpPr>
            <p:nvPr/>
          </p:nvSpPr>
          <p:spPr bwMode="auto">
            <a:xfrm>
              <a:off x="3478" y="3091"/>
              <a:ext cx="1" cy="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9" name="Line 40"/>
            <p:cNvSpPr>
              <a:spLocks noChangeShapeType="1"/>
            </p:cNvSpPr>
            <p:nvPr/>
          </p:nvSpPr>
          <p:spPr bwMode="auto">
            <a:xfrm>
              <a:off x="3530" y="2998"/>
              <a:ext cx="21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80" name="Freeform 41"/>
            <p:cNvSpPr>
              <a:spLocks/>
            </p:cNvSpPr>
            <p:nvPr/>
          </p:nvSpPr>
          <p:spPr bwMode="auto">
            <a:xfrm>
              <a:off x="3478" y="2960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2 w 140"/>
                <a:gd name="T3" fmla="*/ 0 h 76"/>
                <a:gd name="T4" fmla="*/ 2 w 140"/>
                <a:gd name="T5" fmla="*/ 5 h 76"/>
                <a:gd name="T6" fmla="*/ 2 w 140"/>
                <a:gd name="T7" fmla="*/ 9 h 76"/>
                <a:gd name="T8" fmla="*/ 2 w 140"/>
                <a:gd name="T9" fmla="*/ 14 h 76"/>
                <a:gd name="T10" fmla="*/ 1 w 140"/>
                <a:gd name="T11" fmla="*/ 18 h 76"/>
                <a:gd name="T12" fmla="*/ 1 w 140"/>
                <a:gd name="T13" fmla="*/ 23 h 76"/>
                <a:gd name="T14" fmla="*/ 1 w 140"/>
                <a:gd name="T15" fmla="*/ 29 h 76"/>
                <a:gd name="T16" fmla="*/ 1 w 140"/>
                <a:gd name="T17" fmla="*/ 33 h 76"/>
                <a:gd name="T18" fmla="*/ 1 w 140"/>
                <a:gd name="T19" fmla="*/ 38 h 76"/>
                <a:gd name="T20" fmla="*/ 1 w 140"/>
                <a:gd name="T21" fmla="*/ 43 h 76"/>
                <a:gd name="T22" fmla="*/ 1 w 140"/>
                <a:gd name="T23" fmla="*/ 47 h 76"/>
                <a:gd name="T24" fmla="*/ 1 w 140"/>
                <a:gd name="T25" fmla="*/ 52 h 76"/>
                <a:gd name="T26" fmla="*/ 1 w 140"/>
                <a:gd name="T27" fmla="*/ 58 h 76"/>
                <a:gd name="T28" fmla="*/ 2 w 140"/>
                <a:gd name="T29" fmla="*/ 62 h 76"/>
                <a:gd name="T30" fmla="*/ 2 w 140"/>
                <a:gd name="T31" fmla="*/ 67 h 76"/>
                <a:gd name="T32" fmla="*/ 2 w 140"/>
                <a:gd name="T33" fmla="*/ 71 h 76"/>
                <a:gd name="T34" fmla="*/ 2 w 140"/>
                <a:gd name="T35" fmla="*/ 76 h 76"/>
                <a:gd name="T36" fmla="*/ 2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81" name="Freeform 42"/>
            <p:cNvSpPr>
              <a:spLocks/>
            </p:cNvSpPr>
            <p:nvPr/>
          </p:nvSpPr>
          <p:spPr bwMode="auto">
            <a:xfrm>
              <a:off x="3729" y="2960"/>
              <a:ext cx="69" cy="76"/>
            </a:xfrm>
            <a:custGeom>
              <a:avLst/>
              <a:gdLst>
                <a:gd name="T0" fmla="*/ 2 w 140"/>
                <a:gd name="T1" fmla="*/ 38 h 76"/>
                <a:gd name="T2" fmla="*/ 0 w 140"/>
                <a:gd name="T3" fmla="*/ 76 h 76"/>
                <a:gd name="T4" fmla="*/ 0 w 140"/>
                <a:gd name="T5" fmla="*/ 71 h 76"/>
                <a:gd name="T6" fmla="*/ 0 w 140"/>
                <a:gd name="T7" fmla="*/ 67 h 76"/>
                <a:gd name="T8" fmla="*/ 0 w 140"/>
                <a:gd name="T9" fmla="*/ 62 h 76"/>
                <a:gd name="T10" fmla="*/ 0 w 140"/>
                <a:gd name="T11" fmla="*/ 58 h 76"/>
                <a:gd name="T12" fmla="*/ 0 w 140"/>
                <a:gd name="T13" fmla="*/ 52 h 76"/>
                <a:gd name="T14" fmla="*/ 0 w 140"/>
                <a:gd name="T15" fmla="*/ 47 h 76"/>
                <a:gd name="T16" fmla="*/ 0 w 140"/>
                <a:gd name="T17" fmla="*/ 43 h 76"/>
                <a:gd name="T18" fmla="*/ 0 w 140"/>
                <a:gd name="T19" fmla="*/ 38 h 76"/>
                <a:gd name="T20" fmla="*/ 0 w 140"/>
                <a:gd name="T21" fmla="*/ 33 h 76"/>
                <a:gd name="T22" fmla="*/ 0 w 140"/>
                <a:gd name="T23" fmla="*/ 29 h 76"/>
                <a:gd name="T24" fmla="*/ 0 w 140"/>
                <a:gd name="T25" fmla="*/ 23 h 76"/>
                <a:gd name="T26" fmla="*/ 0 w 140"/>
                <a:gd name="T27" fmla="*/ 18 h 76"/>
                <a:gd name="T28" fmla="*/ 0 w 140"/>
                <a:gd name="T29" fmla="*/ 14 h 76"/>
                <a:gd name="T30" fmla="*/ 0 w 140"/>
                <a:gd name="T31" fmla="*/ 9 h 76"/>
                <a:gd name="T32" fmla="*/ 0 w 140"/>
                <a:gd name="T33" fmla="*/ 5 h 76"/>
                <a:gd name="T34" fmla="*/ 0 w 140"/>
                <a:gd name="T35" fmla="*/ 0 h 76"/>
                <a:gd name="T36" fmla="*/ 0 w 140"/>
                <a:gd name="T37" fmla="*/ 0 h 76"/>
                <a:gd name="T38" fmla="*/ 2 w 140"/>
                <a:gd name="T39" fmla="*/ 38 h 76"/>
                <a:gd name="T40" fmla="*/ 2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140" y="38"/>
                  </a:moveTo>
                  <a:lnTo>
                    <a:pt x="0" y="76"/>
                  </a:lnTo>
                  <a:lnTo>
                    <a:pt x="4" y="71"/>
                  </a:lnTo>
                  <a:lnTo>
                    <a:pt x="8" y="67"/>
                  </a:lnTo>
                  <a:lnTo>
                    <a:pt x="11" y="62"/>
                  </a:lnTo>
                  <a:lnTo>
                    <a:pt x="13" y="58"/>
                  </a:lnTo>
                  <a:lnTo>
                    <a:pt x="15" y="52"/>
                  </a:lnTo>
                  <a:lnTo>
                    <a:pt x="17" y="47"/>
                  </a:lnTo>
                  <a:lnTo>
                    <a:pt x="17" y="43"/>
                  </a:lnTo>
                  <a:lnTo>
                    <a:pt x="17" y="38"/>
                  </a:lnTo>
                  <a:lnTo>
                    <a:pt x="17" y="33"/>
                  </a:lnTo>
                  <a:lnTo>
                    <a:pt x="17" y="29"/>
                  </a:lnTo>
                  <a:lnTo>
                    <a:pt x="15" y="23"/>
                  </a:lnTo>
                  <a:lnTo>
                    <a:pt x="13" y="18"/>
                  </a:lnTo>
                  <a:lnTo>
                    <a:pt x="11" y="14"/>
                  </a:lnTo>
                  <a:lnTo>
                    <a:pt x="8" y="9"/>
                  </a:lnTo>
                  <a:lnTo>
                    <a:pt x="4" y="5"/>
                  </a:lnTo>
                  <a:lnTo>
                    <a:pt x="0" y="0"/>
                  </a:lnTo>
                  <a:lnTo>
                    <a:pt x="14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82" name="Line 43"/>
            <p:cNvSpPr>
              <a:spLocks noChangeShapeType="1"/>
            </p:cNvSpPr>
            <p:nvPr/>
          </p:nvSpPr>
          <p:spPr bwMode="auto">
            <a:xfrm>
              <a:off x="3850" y="2998"/>
              <a:ext cx="42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83" name="Freeform 44"/>
            <p:cNvSpPr>
              <a:spLocks/>
            </p:cNvSpPr>
            <p:nvPr/>
          </p:nvSpPr>
          <p:spPr bwMode="auto">
            <a:xfrm>
              <a:off x="3798" y="2960"/>
              <a:ext cx="69" cy="76"/>
            </a:xfrm>
            <a:custGeom>
              <a:avLst/>
              <a:gdLst>
                <a:gd name="T0" fmla="*/ 0 w 137"/>
                <a:gd name="T1" fmla="*/ 38 h 76"/>
                <a:gd name="T2" fmla="*/ 3 w 137"/>
                <a:gd name="T3" fmla="*/ 0 h 76"/>
                <a:gd name="T4" fmla="*/ 3 w 137"/>
                <a:gd name="T5" fmla="*/ 5 h 76"/>
                <a:gd name="T6" fmla="*/ 3 w 137"/>
                <a:gd name="T7" fmla="*/ 9 h 76"/>
                <a:gd name="T8" fmla="*/ 2 w 137"/>
                <a:gd name="T9" fmla="*/ 14 h 76"/>
                <a:gd name="T10" fmla="*/ 2 w 137"/>
                <a:gd name="T11" fmla="*/ 18 h 76"/>
                <a:gd name="T12" fmla="*/ 2 w 137"/>
                <a:gd name="T13" fmla="*/ 23 h 76"/>
                <a:gd name="T14" fmla="*/ 2 w 137"/>
                <a:gd name="T15" fmla="*/ 29 h 76"/>
                <a:gd name="T16" fmla="*/ 2 w 137"/>
                <a:gd name="T17" fmla="*/ 33 h 76"/>
                <a:gd name="T18" fmla="*/ 2 w 137"/>
                <a:gd name="T19" fmla="*/ 38 h 76"/>
                <a:gd name="T20" fmla="*/ 2 w 137"/>
                <a:gd name="T21" fmla="*/ 43 h 76"/>
                <a:gd name="T22" fmla="*/ 2 w 137"/>
                <a:gd name="T23" fmla="*/ 47 h 76"/>
                <a:gd name="T24" fmla="*/ 2 w 137"/>
                <a:gd name="T25" fmla="*/ 52 h 76"/>
                <a:gd name="T26" fmla="*/ 2 w 137"/>
                <a:gd name="T27" fmla="*/ 58 h 76"/>
                <a:gd name="T28" fmla="*/ 2 w 137"/>
                <a:gd name="T29" fmla="*/ 62 h 76"/>
                <a:gd name="T30" fmla="*/ 3 w 137"/>
                <a:gd name="T31" fmla="*/ 67 h 76"/>
                <a:gd name="T32" fmla="*/ 3 w 137"/>
                <a:gd name="T33" fmla="*/ 71 h 76"/>
                <a:gd name="T34" fmla="*/ 3 w 137"/>
                <a:gd name="T35" fmla="*/ 76 h 76"/>
                <a:gd name="T36" fmla="*/ 3 w 137"/>
                <a:gd name="T37" fmla="*/ 76 h 76"/>
                <a:gd name="T38" fmla="*/ 0 w 137"/>
                <a:gd name="T39" fmla="*/ 38 h 76"/>
                <a:gd name="T40" fmla="*/ 0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0" y="38"/>
                  </a:moveTo>
                  <a:lnTo>
                    <a:pt x="137" y="0"/>
                  </a:lnTo>
                  <a:lnTo>
                    <a:pt x="134" y="5"/>
                  </a:lnTo>
                  <a:lnTo>
                    <a:pt x="130" y="9"/>
                  </a:lnTo>
                  <a:lnTo>
                    <a:pt x="128" y="14"/>
                  </a:lnTo>
                  <a:lnTo>
                    <a:pt x="124" y="18"/>
                  </a:lnTo>
                  <a:lnTo>
                    <a:pt x="122" y="23"/>
                  </a:lnTo>
                  <a:lnTo>
                    <a:pt x="122" y="29"/>
                  </a:lnTo>
                  <a:lnTo>
                    <a:pt x="120" y="33"/>
                  </a:lnTo>
                  <a:lnTo>
                    <a:pt x="120" y="38"/>
                  </a:lnTo>
                  <a:lnTo>
                    <a:pt x="120" y="43"/>
                  </a:lnTo>
                  <a:lnTo>
                    <a:pt x="122" y="47"/>
                  </a:lnTo>
                  <a:lnTo>
                    <a:pt x="122" y="52"/>
                  </a:lnTo>
                  <a:lnTo>
                    <a:pt x="124" y="58"/>
                  </a:lnTo>
                  <a:lnTo>
                    <a:pt x="128" y="62"/>
                  </a:lnTo>
                  <a:lnTo>
                    <a:pt x="130" y="67"/>
                  </a:lnTo>
                  <a:lnTo>
                    <a:pt x="134" y="71"/>
                  </a:lnTo>
                  <a:lnTo>
                    <a:pt x="137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84" name="Freeform 45"/>
            <p:cNvSpPr>
              <a:spLocks/>
            </p:cNvSpPr>
            <p:nvPr/>
          </p:nvSpPr>
          <p:spPr bwMode="auto">
            <a:xfrm>
              <a:off x="4262" y="2960"/>
              <a:ext cx="69" cy="76"/>
            </a:xfrm>
            <a:custGeom>
              <a:avLst/>
              <a:gdLst>
                <a:gd name="T0" fmla="*/ 3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3 w 137"/>
                <a:gd name="T39" fmla="*/ 38 h 76"/>
                <a:gd name="T40" fmla="*/ 3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85" name="Line 46"/>
            <p:cNvSpPr>
              <a:spLocks noChangeShapeType="1"/>
            </p:cNvSpPr>
            <p:nvPr/>
          </p:nvSpPr>
          <p:spPr bwMode="auto">
            <a:xfrm>
              <a:off x="3530" y="3115"/>
              <a:ext cx="74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86" name="Freeform 47"/>
            <p:cNvSpPr>
              <a:spLocks/>
            </p:cNvSpPr>
            <p:nvPr/>
          </p:nvSpPr>
          <p:spPr bwMode="auto">
            <a:xfrm>
              <a:off x="3478" y="3077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2 w 140"/>
                <a:gd name="T3" fmla="*/ 0 h 76"/>
                <a:gd name="T4" fmla="*/ 2 w 140"/>
                <a:gd name="T5" fmla="*/ 5 h 76"/>
                <a:gd name="T6" fmla="*/ 2 w 140"/>
                <a:gd name="T7" fmla="*/ 9 h 76"/>
                <a:gd name="T8" fmla="*/ 2 w 140"/>
                <a:gd name="T9" fmla="*/ 14 h 76"/>
                <a:gd name="T10" fmla="*/ 1 w 140"/>
                <a:gd name="T11" fmla="*/ 18 h 76"/>
                <a:gd name="T12" fmla="*/ 1 w 140"/>
                <a:gd name="T13" fmla="*/ 23 h 76"/>
                <a:gd name="T14" fmla="*/ 1 w 140"/>
                <a:gd name="T15" fmla="*/ 29 h 76"/>
                <a:gd name="T16" fmla="*/ 1 w 140"/>
                <a:gd name="T17" fmla="*/ 33 h 76"/>
                <a:gd name="T18" fmla="*/ 1 w 140"/>
                <a:gd name="T19" fmla="*/ 38 h 76"/>
                <a:gd name="T20" fmla="*/ 1 w 140"/>
                <a:gd name="T21" fmla="*/ 43 h 76"/>
                <a:gd name="T22" fmla="*/ 1 w 140"/>
                <a:gd name="T23" fmla="*/ 47 h 76"/>
                <a:gd name="T24" fmla="*/ 1 w 140"/>
                <a:gd name="T25" fmla="*/ 52 h 76"/>
                <a:gd name="T26" fmla="*/ 1 w 140"/>
                <a:gd name="T27" fmla="*/ 58 h 76"/>
                <a:gd name="T28" fmla="*/ 2 w 140"/>
                <a:gd name="T29" fmla="*/ 62 h 76"/>
                <a:gd name="T30" fmla="*/ 2 w 140"/>
                <a:gd name="T31" fmla="*/ 67 h 76"/>
                <a:gd name="T32" fmla="*/ 2 w 140"/>
                <a:gd name="T33" fmla="*/ 71 h 76"/>
                <a:gd name="T34" fmla="*/ 2 w 140"/>
                <a:gd name="T35" fmla="*/ 76 h 76"/>
                <a:gd name="T36" fmla="*/ 2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87" name="Freeform 48"/>
            <p:cNvSpPr>
              <a:spLocks/>
            </p:cNvSpPr>
            <p:nvPr/>
          </p:nvSpPr>
          <p:spPr bwMode="auto">
            <a:xfrm>
              <a:off x="4262" y="3077"/>
              <a:ext cx="69" cy="76"/>
            </a:xfrm>
            <a:custGeom>
              <a:avLst/>
              <a:gdLst>
                <a:gd name="T0" fmla="*/ 3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3 w 137"/>
                <a:gd name="T39" fmla="*/ 38 h 76"/>
                <a:gd name="T40" fmla="*/ 3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88" name="Rectangle 49"/>
            <p:cNvSpPr>
              <a:spLocks noChangeArrowheads="1"/>
            </p:cNvSpPr>
            <p:nvPr/>
          </p:nvSpPr>
          <p:spPr bwMode="auto">
            <a:xfrm>
              <a:off x="3635" y="2919"/>
              <a:ext cx="72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on</a:t>
              </a:r>
              <a:endParaRPr lang="en-US" altLang="zh-CN"/>
            </a:p>
          </p:txBody>
        </p:sp>
        <p:sp>
          <p:nvSpPr>
            <p:cNvPr id="78889" name="Rectangle 50"/>
            <p:cNvSpPr>
              <a:spLocks noChangeArrowheads="1"/>
            </p:cNvSpPr>
            <p:nvPr/>
          </p:nvSpPr>
          <p:spPr bwMode="auto">
            <a:xfrm>
              <a:off x="3616" y="2873"/>
              <a:ext cx="2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78890" name="Line 51"/>
            <p:cNvSpPr>
              <a:spLocks noChangeShapeType="1"/>
            </p:cNvSpPr>
            <p:nvPr/>
          </p:nvSpPr>
          <p:spPr bwMode="auto">
            <a:xfrm flipV="1">
              <a:off x="3795" y="3893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91" name="Line 52"/>
            <p:cNvSpPr>
              <a:spLocks noChangeShapeType="1"/>
            </p:cNvSpPr>
            <p:nvPr/>
          </p:nvSpPr>
          <p:spPr bwMode="auto">
            <a:xfrm flipV="1">
              <a:off x="4328" y="3893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92" name="Line 53"/>
            <p:cNvSpPr>
              <a:spLocks noChangeShapeType="1"/>
            </p:cNvSpPr>
            <p:nvPr/>
          </p:nvSpPr>
          <p:spPr bwMode="auto">
            <a:xfrm flipV="1">
              <a:off x="4648" y="3893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93" name="Line 54"/>
            <p:cNvSpPr>
              <a:spLocks noChangeShapeType="1"/>
            </p:cNvSpPr>
            <p:nvPr/>
          </p:nvSpPr>
          <p:spPr bwMode="auto">
            <a:xfrm flipV="1">
              <a:off x="5182" y="3893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94" name="Freeform 55"/>
            <p:cNvSpPr>
              <a:spLocks/>
            </p:cNvSpPr>
            <p:nvPr/>
          </p:nvSpPr>
          <p:spPr bwMode="auto">
            <a:xfrm>
              <a:off x="3478" y="3466"/>
              <a:ext cx="1898" cy="234"/>
            </a:xfrm>
            <a:custGeom>
              <a:avLst/>
              <a:gdLst>
                <a:gd name="T0" fmla="*/ 0 w 3797"/>
                <a:gd name="T1" fmla="*/ 234 h 234"/>
                <a:gd name="T2" fmla="*/ 10 w 3797"/>
                <a:gd name="T3" fmla="*/ 0 h 234"/>
                <a:gd name="T4" fmla="*/ 26 w 3797"/>
                <a:gd name="T5" fmla="*/ 234 h 234"/>
                <a:gd name="T6" fmla="*/ 36 w 3797"/>
                <a:gd name="T7" fmla="*/ 0 h 234"/>
                <a:gd name="T8" fmla="*/ 53 w 3797"/>
                <a:gd name="T9" fmla="*/ 234 h 234"/>
                <a:gd name="T10" fmla="*/ 59 w 3797"/>
                <a:gd name="T11" fmla="*/ 117 h 2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797"/>
                <a:gd name="T19" fmla="*/ 0 h 234"/>
                <a:gd name="T20" fmla="*/ 3797 w 3797"/>
                <a:gd name="T21" fmla="*/ 234 h 2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797" h="234">
                  <a:moveTo>
                    <a:pt x="0" y="234"/>
                  </a:moveTo>
                  <a:lnTo>
                    <a:pt x="642" y="0"/>
                  </a:lnTo>
                  <a:lnTo>
                    <a:pt x="1707" y="234"/>
                  </a:lnTo>
                  <a:lnTo>
                    <a:pt x="2347" y="0"/>
                  </a:lnTo>
                  <a:lnTo>
                    <a:pt x="3414" y="234"/>
                  </a:lnTo>
                  <a:lnTo>
                    <a:pt x="3797" y="11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95" name="Freeform 56"/>
            <p:cNvSpPr>
              <a:spLocks/>
            </p:cNvSpPr>
            <p:nvPr/>
          </p:nvSpPr>
          <p:spPr bwMode="auto">
            <a:xfrm>
              <a:off x="3798" y="2413"/>
              <a:ext cx="533" cy="479"/>
            </a:xfrm>
            <a:custGeom>
              <a:avLst/>
              <a:gdLst>
                <a:gd name="T0" fmla="*/ 0 w 1065"/>
                <a:gd name="T1" fmla="*/ 0 h 479"/>
                <a:gd name="T2" fmla="*/ 0 w 1065"/>
                <a:gd name="T3" fmla="*/ 479 h 479"/>
                <a:gd name="T4" fmla="*/ 17 w 1065"/>
                <a:gd name="T5" fmla="*/ 479 h 479"/>
                <a:gd name="T6" fmla="*/ 17 w 1065"/>
                <a:gd name="T7" fmla="*/ 0 h 4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5"/>
                <a:gd name="T13" fmla="*/ 0 h 479"/>
                <a:gd name="T14" fmla="*/ 1065 w 1065"/>
                <a:gd name="T15" fmla="*/ 479 h 4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5" h="479">
                  <a:moveTo>
                    <a:pt x="0" y="0"/>
                  </a:moveTo>
                  <a:lnTo>
                    <a:pt x="0" y="479"/>
                  </a:lnTo>
                  <a:lnTo>
                    <a:pt x="1065" y="479"/>
                  </a:lnTo>
                  <a:lnTo>
                    <a:pt x="106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96" name="Freeform 57"/>
            <p:cNvSpPr>
              <a:spLocks noEditPoints="1"/>
            </p:cNvSpPr>
            <p:nvPr/>
          </p:nvSpPr>
          <p:spPr bwMode="auto">
            <a:xfrm>
              <a:off x="3475" y="2597"/>
              <a:ext cx="2039" cy="13"/>
            </a:xfrm>
            <a:custGeom>
              <a:avLst/>
              <a:gdLst>
                <a:gd name="T0" fmla="*/ 4 w 4078"/>
                <a:gd name="T1" fmla="*/ 5 h 13"/>
                <a:gd name="T2" fmla="*/ 3 w 4078"/>
                <a:gd name="T3" fmla="*/ 13 h 13"/>
                <a:gd name="T4" fmla="*/ 0 w 4078"/>
                <a:gd name="T5" fmla="*/ 6 h 13"/>
                <a:gd name="T6" fmla="*/ 1 w 4078"/>
                <a:gd name="T7" fmla="*/ 0 h 13"/>
                <a:gd name="T8" fmla="*/ 8 w 4078"/>
                <a:gd name="T9" fmla="*/ 5 h 13"/>
                <a:gd name="T10" fmla="*/ 8 w 4078"/>
                <a:gd name="T11" fmla="*/ 13 h 13"/>
                <a:gd name="T12" fmla="*/ 5 w 4078"/>
                <a:gd name="T13" fmla="*/ 6 h 13"/>
                <a:gd name="T14" fmla="*/ 5 w 4078"/>
                <a:gd name="T15" fmla="*/ 0 h 13"/>
                <a:gd name="T16" fmla="*/ 13 w 4078"/>
                <a:gd name="T17" fmla="*/ 5 h 13"/>
                <a:gd name="T18" fmla="*/ 13 w 4078"/>
                <a:gd name="T19" fmla="*/ 13 h 13"/>
                <a:gd name="T20" fmla="*/ 10 w 4078"/>
                <a:gd name="T21" fmla="*/ 6 h 13"/>
                <a:gd name="T22" fmla="*/ 10 w 4078"/>
                <a:gd name="T23" fmla="*/ 0 h 13"/>
                <a:gd name="T24" fmla="*/ 18 w 4078"/>
                <a:gd name="T25" fmla="*/ 5 h 13"/>
                <a:gd name="T26" fmla="*/ 18 w 4078"/>
                <a:gd name="T27" fmla="*/ 13 h 13"/>
                <a:gd name="T28" fmla="*/ 15 w 4078"/>
                <a:gd name="T29" fmla="*/ 6 h 13"/>
                <a:gd name="T30" fmla="*/ 15 w 4078"/>
                <a:gd name="T31" fmla="*/ 0 h 13"/>
                <a:gd name="T32" fmla="*/ 23 w 4078"/>
                <a:gd name="T33" fmla="*/ 5 h 13"/>
                <a:gd name="T34" fmla="*/ 23 w 4078"/>
                <a:gd name="T35" fmla="*/ 13 h 13"/>
                <a:gd name="T36" fmla="*/ 20 w 4078"/>
                <a:gd name="T37" fmla="*/ 6 h 13"/>
                <a:gd name="T38" fmla="*/ 20 w 4078"/>
                <a:gd name="T39" fmla="*/ 0 h 13"/>
                <a:gd name="T40" fmla="*/ 28 w 4078"/>
                <a:gd name="T41" fmla="*/ 5 h 13"/>
                <a:gd name="T42" fmla="*/ 27 w 4078"/>
                <a:gd name="T43" fmla="*/ 13 h 13"/>
                <a:gd name="T44" fmla="*/ 24 w 4078"/>
                <a:gd name="T45" fmla="*/ 6 h 13"/>
                <a:gd name="T46" fmla="*/ 25 w 4078"/>
                <a:gd name="T47" fmla="*/ 0 h 13"/>
                <a:gd name="T48" fmla="*/ 32 w 4078"/>
                <a:gd name="T49" fmla="*/ 5 h 13"/>
                <a:gd name="T50" fmla="*/ 32 w 4078"/>
                <a:gd name="T51" fmla="*/ 13 h 13"/>
                <a:gd name="T52" fmla="*/ 29 w 4078"/>
                <a:gd name="T53" fmla="*/ 6 h 13"/>
                <a:gd name="T54" fmla="*/ 29 w 4078"/>
                <a:gd name="T55" fmla="*/ 0 h 13"/>
                <a:gd name="T56" fmla="*/ 37 w 4078"/>
                <a:gd name="T57" fmla="*/ 5 h 13"/>
                <a:gd name="T58" fmla="*/ 37 w 4078"/>
                <a:gd name="T59" fmla="*/ 13 h 13"/>
                <a:gd name="T60" fmla="*/ 34 w 4078"/>
                <a:gd name="T61" fmla="*/ 6 h 13"/>
                <a:gd name="T62" fmla="*/ 34 w 4078"/>
                <a:gd name="T63" fmla="*/ 0 h 13"/>
                <a:gd name="T64" fmla="*/ 42 w 4078"/>
                <a:gd name="T65" fmla="*/ 5 h 13"/>
                <a:gd name="T66" fmla="*/ 42 w 4078"/>
                <a:gd name="T67" fmla="*/ 13 h 13"/>
                <a:gd name="T68" fmla="*/ 39 w 4078"/>
                <a:gd name="T69" fmla="*/ 6 h 13"/>
                <a:gd name="T70" fmla="*/ 39 w 4078"/>
                <a:gd name="T71" fmla="*/ 0 h 13"/>
                <a:gd name="T72" fmla="*/ 47 w 4078"/>
                <a:gd name="T73" fmla="*/ 5 h 13"/>
                <a:gd name="T74" fmla="*/ 47 w 4078"/>
                <a:gd name="T75" fmla="*/ 13 h 13"/>
                <a:gd name="T76" fmla="*/ 44 w 4078"/>
                <a:gd name="T77" fmla="*/ 6 h 13"/>
                <a:gd name="T78" fmla="*/ 44 w 4078"/>
                <a:gd name="T79" fmla="*/ 0 h 13"/>
                <a:gd name="T80" fmla="*/ 52 w 4078"/>
                <a:gd name="T81" fmla="*/ 5 h 13"/>
                <a:gd name="T82" fmla="*/ 51 w 4078"/>
                <a:gd name="T83" fmla="*/ 13 h 13"/>
                <a:gd name="T84" fmla="*/ 48 w 4078"/>
                <a:gd name="T85" fmla="*/ 6 h 13"/>
                <a:gd name="T86" fmla="*/ 49 w 4078"/>
                <a:gd name="T87" fmla="*/ 0 h 13"/>
                <a:gd name="T88" fmla="*/ 56 w 4078"/>
                <a:gd name="T89" fmla="*/ 5 h 13"/>
                <a:gd name="T90" fmla="*/ 56 w 4078"/>
                <a:gd name="T91" fmla="*/ 13 h 13"/>
                <a:gd name="T92" fmla="*/ 53 w 4078"/>
                <a:gd name="T93" fmla="*/ 6 h 13"/>
                <a:gd name="T94" fmla="*/ 53 w 4078"/>
                <a:gd name="T95" fmla="*/ 0 h 13"/>
                <a:gd name="T96" fmla="*/ 61 w 4078"/>
                <a:gd name="T97" fmla="*/ 5 h 13"/>
                <a:gd name="T98" fmla="*/ 61 w 4078"/>
                <a:gd name="T99" fmla="*/ 13 h 13"/>
                <a:gd name="T100" fmla="*/ 58 w 4078"/>
                <a:gd name="T101" fmla="*/ 6 h 13"/>
                <a:gd name="T102" fmla="*/ 58 w 4078"/>
                <a:gd name="T103" fmla="*/ 0 h 13"/>
                <a:gd name="T104" fmla="*/ 64 w 4078"/>
                <a:gd name="T105" fmla="*/ 5 h 13"/>
                <a:gd name="T106" fmla="*/ 64 w 4078"/>
                <a:gd name="T107" fmla="*/ 13 h 13"/>
                <a:gd name="T108" fmla="*/ 63 w 4078"/>
                <a:gd name="T109" fmla="*/ 6 h 13"/>
                <a:gd name="T110" fmla="*/ 63 w 4078"/>
                <a:gd name="T111" fmla="*/ 0 h 13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4078"/>
                <a:gd name="T169" fmla="*/ 0 h 13"/>
                <a:gd name="T170" fmla="*/ 4078 w 4078"/>
                <a:gd name="T171" fmla="*/ 13 h 13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4078" h="13">
                  <a:moveTo>
                    <a:pt x="11" y="0"/>
                  </a:moveTo>
                  <a:lnTo>
                    <a:pt x="191" y="0"/>
                  </a:lnTo>
                  <a:lnTo>
                    <a:pt x="194" y="0"/>
                  </a:lnTo>
                  <a:lnTo>
                    <a:pt x="196" y="0"/>
                  </a:lnTo>
                  <a:lnTo>
                    <a:pt x="200" y="2"/>
                  </a:lnTo>
                  <a:lnTo>
                    <a:pt x="202" y="4"/>
                  </a:lnTo>
                  <a:lnTo>
                    <a:pt x="204" y="5"/>
                  </a:lnTo>
                  <a:lnTo>
                    <a:pt x="204" y="6"/>
                  </a:lnTo>
                  <a:lnTo>
                    <a:pt x="204" y="8"/>
                  </a:lnTo>
                  <a:lnTo>
                    <a:pt x="202" y="9"/>
                  </a:lnTo>
                  <a:lnTo>
                    <a:pt x="200" y="11"/>
                  </a:lnTo>
                  <a:lnTo>
                    <a:pt x="196" y="13"/>
                  </a:lnTo>
                  <a:lnTo>
                    <a:pt x="194" y="13"/>
                  </a:lnTo>
                  <a:lnTo>
                    <a:pt x="191" y="13"/>
                  </a:lnTo>
                  <a:lnTo>
                    <a:pt x="11" y="13"/>
                  </a:lnTo>
                  <a:lnTo>
                    <a:pt x="9" y="13"/>
                  </a:lnTo>
                  <a:lnTo>
                    <a:pt x="8" y="13"/>
                  </a:lnTo>
                  <a:lnTo>
                    <a:pt x="4" y="11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4" y="2"/>
                  </a:lnTo>
                  <a:lnTo>
                    <a:pt x="8" y="0"/>
                  </a:lnTo>
                  <a:lnTo>
                    <a:pt x="9" y="0"/>
                  </a:lnTo>
                  <a:lnTo>
                    <a:pt x="11" y="0"/>
                  </a:lnTo>
                  <a:close/>
                  <a:moveTo>
                    <a:pt x="319" y="0"/>
                  </a:moveTo>
                  <a:lnTo>
                    <a:pt x="498" y="0"/>
                  </a:lnTo>
                  <a:lnTo>
                    <a:pt x="500" y="0"/>
                  </a:lnTo>
                  <a:lnTo>
                    <a:pt x="502" y="0"/>
                  </a:lnTo>
                  <a:lnTo>
                    <a:pt x="507" y="2"/>
                  </a:lnTo>
                  <a:lnTo>
                    <a:pt x="509" y="4"/>
                  </a:lnTo>
                  <a:lnTo>
                    <a:pt x="509" y="5"/>
                  </a:lnTo>
                  <a:lnTo>
                    <a:pt x="511" y="6"/>
                  </a:lnTo>
                  <a:lnTo>
                    <a:pt x="509" y="8"/>
                  </a:lnTo>
                  <a:lnTo>
                    <a:pt x="509" y="9"/>
                  </a:lnTo>
                  <a:lnTo>
                    <a:pt x="507" y="11"/>
                  </a:lnTo>
                  <a:lnTo>
                    <a:pt x="502" y="13"/>
                  </a:lnTo>
                  <a:lnTo>
                    <a:pt x="500" y="13"/>
                  </a:lnTo>
                  <a:lnTo>
                    <a:pt x="498" y="13"/>
                  </a:lnTo>
                  <a:lnTo>
                    <a:pt x="319" y="13"/>
                  </a:lnTo>
                  <a:lnTo>
                    <a:pt x="317" y="13"/>
                  </a:lnTo>
                  <a:lnTo>
                    <a:pt x="313" y="13"/>
                  </a:lnTo>
                  <a:lnTo>
                    <a:pt x="309" y="11"/>
                  </a:lnTo>
                  <a:lnTo>
                    <a:pt x="307" y="9"/>
                  </a:lnTo>
                  <a:lnTo>
                    <a:pt x="306" y="8"/>
                  </a:lnTo>
                  <a:lnTo>
                    <a:pt x="306" y="6"/>
                  </a:lnTo>
                  <a:lnTo>
                    <a:pt x="306" y="5"/>
                  </a:lnTo>
                  <a:lnTo>
                    <a:pt x="307" y="4"/>
                  </a:lnTo>
                  <a:lnTo>
                    <a:pt x="309" y="2"/>
                  </a:lnTo>
                  <a:lnTo>
                    <a:pt x="313" y="0"/>
                  </a:lnTo>
                  <a:lnTo>
                    <a:pt x="317" y="0"/>
                  </a:lnTo>
                  <a:lnTo>
                    <a:pt x="319" y="0"/>
                  </a:lnTo>
                  <a:close/>
                  <a:moveTo>
                    <a:pt x="626" y="0"/>
                  </a:moveTo>
                  <a:lnTo>
                    <a:pt x="804" y="0"/>
                  </a:lnTo>
                  <a:lnTo>
                    <a:pt x="807" y="0"/>
                  </a:lnTo>
                  <a:lnTo>
                    <a:pt x="809" y="0"/>
                  </a:lnTo>
                  <a:lnTo>
                    <a:pt x="813" y="2"/>
                  </a:lnTo>
                  <a:lnTo>
                    <a:pt x="817" y="4"/>
                  </a:lnTo>
                  <a:lnTo>
                    <a:pt x="817" y="5"/>
                  </a:lnTo>
                  <a:lnTo>
                    <a:pt x="817" y="6"/>
                  </a:lnTo>
                  <a:lnTo>
                    <a:pt x="817" y="8"/>
                  </a:lnTo>
                  <a:lnTo>
                    <a:pt x="817" y="9"/>
                  </a:lnTo>
                  <a:lnTo>
                    <a:pt x="813" y="11"/>
                  </a:lnTo>
                  <a:lnTo>
                    <a:pt x="809" y="13"/>
                  </a:lnTo>
                  <a:lnTo>
                    <a:pt x="807" y="13"/>
                  </a:lnTo>
                  <a:lnTo>
                    <a:pt x="804" y="13"/>
                  </a:lnTo>
                  <a:lnTo>
                    <a:pt x="626" y="13"/>
                  </a:lnTo>
                  <a:lnTo>
                    <a:pt x="622" y="13"/>
                  </a:lnTo>
                  <a:lnTo>
                    <a:pt x="621" y="13"/>
                  </a:lnTo>
                  <a:lnTo>
                    <a:pt x="617" y="11"/>
                  </a:lnTo>
                  <a:lnTo>
                    <a:pt x="613" y="9"/>
                  </a:lnTo>
                  <a:lnTo>
                    <a:pt x="613" y="8"/>
                  </a:lnTo>
                  <a:lnTo>
                    <a:pt x="613" y="6"/>
                  </a:lnTo>
                  <a:lnTo>
                    <a:pt x="613" y="5"/>
                  </a:lnTo>
                  <a:lnTo>
                    <a:pt x="613" y="4"/>
                  </a:lnTo>
                  <a:lnTo>
                    <a:pt x="617" y="2"/>
                  </a:lnTo>
                  <a:lnTo>
                    <a:pt x="621" y="0"/>
                  </a:lnTo>
                  <a:lnTo>
                    <a:pt x="622" y="0"/>
                  </a:lnTo>
                  <a:lnTo>
                    <a:pt x="626" y="0"/>
                  </a:lnTo>
                  <a:close/>
                  <a:moveTo>
                    <a:pt x="932" y="0"/>
                  </a:moveTo>
                  <a:lnTo>
                    <a:pt x="1111" y="0"/>
                  </a:lnTo>
                  <a:lnTo>
                    <a:pt x="1113" y="0"/>
                  </a:lnTo>
                  <a:lnTo>
                    <a:pt x="1117" y="0"/>
                  </a:lnTo>
                  <a:lnTo>
                    <a:pt x="1120" y="2"/>
                  </a:lnTo>
                  <a:lnTo>
                    <a:pt x="1122" y="4"/>
                  </a:lnTo>
                  <a:lnTo>
                    <a:pt x="1124" y="5"/>
                  </a:lnTo>
                  <a:lnTo>
                    <a:pt x="1124" y="6"/>
                  </a:lnTo>
                  <a:lnTo>
                    <a:pt x="1124" y="8"/>
                  </a:lnTo>
                  <a:lnTo>
                    <a:pt x="1122" y="9"/>
                  </a:lnTo>
                  <a:lnTo>
                    <a:pt x="1120" y="11"/>
                  </a:lnTo>
                  <a:lnTo>
                    <a:pt x="1117" y="13"/>
                  </a:lnTo>
                  <a:lnTo>
                    <a:pt x="1113" y="13"/>
                  </a:lnTo>
                  <a:lnTo>
                    <a:pt x="1111" y="13"/>
                  </a:lnTo>
                  <a:lnTo>
                    <a:pt x="932" y="13"/>
                  </a:lnTo>
                  <a:lnTo>
                    <a:pt x="930" y="13"/>
                  </a:lnTo>
                  <a:lnTo>
                    <a:pt x="926" y="13"/>
                  </a:lnTo>
                  <a:lnTo>
                    <a:pt x="922" y="11"/>
                  </a:lnTo>
                  <a:lnTo>
                    <a:pt x="920" y="9"/>
                  </a:lnTo>
                  <a:lnTo>
                    <a:pt x="919" y="8"/>
                  </a:lnTo>
                  <a:lnTo>
                    <a:pt x="919" y="6"/>
                  </a:lnTo>
                  <a:lnTo>
                    <a:pt x="919" y="5"/>
                  </a:lnTo>
                  <a:lnTo>
                    <a:pt x="920" y="4"/>
                  </a:lnTo>
                  <a:lnTo>
                    <a:pt x="922" y="2"/>
                  </a:lnTo>
                  <a:lnTo>
                    <a:pt x="926" y="0"/>
                  </a:lnTo>
                  <a:lnTo>
                    <a:pt x="930" y="0"/>
                  </a:lnTo>
                  <a:lnTo>
                    <a:pt x="932" y="0"/>
                  </a:lnTo>
                  <a:close/>
                  <a:moveTo>
                    <a:pt x="1239" y="0"/>
                  </a:moveTo>
                  <a:lnTo>
                    <a:pt x="1417" y="0"/>
                  </a:lnTo>
                  <a:lnTo>
                    <a:pt x="1420" y="0"/>
                  </a:lnTo>
                  <a:lnTo>
                    <a:pt x="1422" y="0"/>
                  </a:lnTo>
                  <a:lnTo>
                    <a:pt x="1426" y="2"/>
                  </a:lnTo>
                  <a:lnTo>
                    <a:pt x="1430" y="4"/>
                  </a:lnTo>
                  <a:lnTo>
                    <a:pt x="1430" y="5"/>
                  </a:lnTo>
                  <a:lnTo>
                    <a:pt x="1430" y="6"/>
                  </a:lnTo>
                  <a:lnTo>
                    <a:pt x="1430" y="8"/>
                  </a:lnTo>
                  <a:lnTo>
                    <a:pt x="1430" y="9"/>
                  </a:lnTo>
                  <a:lnTo>
                    <a:pt x="1426" y="11"/>
                  </a:lnTo>
                  <a:lnTo>
                    <a:pt x="1422" y="13"/>
                  </a:lnTo>
                  <a:lnTo>
                    <a:pt x="1420" y="13"/>
                  </a:lnTo>
                  <a:lnTo>
                    <a:pt x="1417" y="13"/>
                  </a:lnTo>
                  <a:lnTo>
                    <a:pt x="1239" y="13"/>
                  </a:lnTo>
                  <a:lnTo>
                    <a:pt x="1235" y="13"/>
                  </a:lnTo>
                  <a:lnTo>
                    <a:pt x="1234" y="13"/>
                  </a:lnTo>
                  <a:lnTo>
                    <a:pt x="1230" y="11"/>
                  </a:lnTo>
                  <a:lnTo>
                    <a:pt x="1226" y="9"/>
                  </a:lnTo>
                  <a:lnTo>
                    <a:pt x="1226" y="8"/>
                  </a:lnTo>
                  <a:lnTo>
                    <a:pt x="1226" y="6"/>
                  </a:lnTo>
                  <a:lnTo>
                    <a:pt x="1226" y="5"/>
                  </a:lnTo>
                  <a:lnTo>
                    <a:pt x="1226" y="4"/>
                  </a:lnTo>
                  <a:lnTo>
                    <a:pt x="1230" y="2"/>
                  </a:lnTo>
                  <a:lnTo>
                    <a:pt x="1234" y="0"/>
                  </a:lnTo>
                  <a:lnTo>
                    <a:pt x="1235" y="0"/>
                  </a:lnTo>
                  <a:lnTo>
                    <a:pt x="1239" y="0"/>
                  </a:lnTo>
                  <a:close/>
                  <a:moveTo>
                    <a:pt x="1545" y="0"/>
                  </a:moveTo>
                  <a:lnTo>
                    <a:pt x="1724" y="0"/>
                  </a:lnTo>
                  <a:lnTo>
                    <a:pt x="1726" y="0"/>
                  </a:lnTo>
                  <a:lnTo>
                    <a:pt x="1730" y="0"/>
                  </a:lnTo>
                  <a:lnTo>
                    <a:pt x="1733" y="2"/>
                  </a:lnTo>
                  <a:lnTo>
                    <a:pt x="1735" y="4"/>
                  </a:lnTo>
                  <a:lnTo>
                    <a:pt x="1737" y="5"/>
                  </a:lnTo>
                  <a:lnTo>
                    <a:pt x="1737" y="6"/>
                  </a:lnTo>
                  <a:lnTo>
                    <a:pt x="1737" y="8"/>
                  </a:lnTo>
                  <a:lnTo>
                    <a:pt x="1735" y="9"/>
                  </a:lnTo>
                  <a:lnTo>
                    <a:pt x="1733" y="11"/>
                  </a:lnTo>
                  <a:lnTo>
                    <a:pt x="1730" y="13"/>
                  </a:lnTo>
                  <a:lnTo>
                    <a:pt x="1726" y="13"/>
                  </a:lnTo>
                  <a:lnTo>
                    <a:pt x="1724" y="13"/>
                  </a:lnTo>
                  <a:lnTo>
                    <a:pt x="1545" y="13"/>
                  </a:lnTo>
                  <a:lnTo>
                    <a:pt x="1543" y="13"/>
                  </a:lnTo>
                  <a:lnTo>
                    <a:pt x="1541" y="13"/>
                  </a:lnTo>
                  <a:lnTo>
                    <a:pt x="1535" y="11"/>
                  </a:lnTo>
                  <a:lnTo>
                    <a:pt x="1533" y="9"/>
                  </a:lnTo>
                  <a:lnTo>
                    <a:pt x="1533" y="8"/>
                  </a:lnTo>
                  <a:lnTo>
                    <a:pt x="1532" y="6"/>
                  </a:lnTo>
                  <a:lnTo>
                    <a:pt x="1533" y="5"/>
                  </a:lnTo>
                  <a:lnTo>
                    <a:pt x="1533" y="4"/>
                  </a:lnTo>
                  <a:lnTo>
                    <a:pt x="1535" y="2"/>
                  </a:lnTo>
                  <a:lnTo>
                    <a:pt x="1541" y="0"/>
                  </a:lnTo>
                  <a:lnTo>
                    <a:pt x="1543" y="0"/>
                  </a:lnTo>
                  <a:lnTo>
                    <a:pt x="1545" y="0"/>
                  </a:lnTo>
                  <a:close/>
                  <a:moveTo>
                    <a:pt x="1852" y="0"/>
                  </a:moveTo>
                  <a:lnTo>
                    <a:pt x="2031" y="0"/>
                  </a:lnTo>
                  <a:lnTo>
                    <a:pt x="2033" y="0"/>
                  </a:lnTo>
                  <a:lnTo>
                    <a:pt x="2035" y="0"/>
                  </a:lnTo>
                  <a:lnTo>
                    <a:pt x="2039" y="2"/>
                  </a:lnTo>
                  <a:lnTo>
                    <a:pt x="2043" y="4"/>
                  </a:lnTo>
                  <a:lnTo>
                    <a:pt x="2043" y="5"/>
                  </a:lnTo>
                  <a:lnTo>
                    <a:pt x="2043" y="6"/>
                  </a:lnTo>
                  <a:lnTo>
                    <a:pt x="2043" y="8"/>
                  </a:lnTo>
                  <a:lnTo>
                    <a:pt x="2043" y="9"/>
                  </a:lnTo>
                  <a:lnTo>
                    <a:pt x="2039" y="11"/>
                  </a:lnTo>
                  <a:lnTo>
                    <a:pt x="2035" y="13"/>
                  </a:lnTo>
                  <a:lnTo>
                    <a:pt x="2033" y="13"/>
                  </a:lnTo>
                  <a:lnTo>
                    <a:pt x="2031" y="13"/>
                  </a:lnTo>
                  <a:lnTo>
                    <a:pt x="1852" y="13"/>
                  </a:lnTo>
                  <a:lnTo>
                    <a:pt x="1848" y="13"/>
                  </a:lnTo>
                  <a:lnTo>
                    <a:pt x="1847" y="13"/>
                  </a:lnTo>
                  <a:lnTo>
                    <a:pt x="1843" y="11"/>
                  </a:lnTo>
                  <a:lnTo>
                    <a:pt x="1839" y="9"/>
                  </a:lnTo>
                  <a:lnTo>
                    <a:pt x="1839" y="8"/>
                  </a:lnTo>
                  <a:lnTo>
                    <a:pt x="1839" y="6"/>
                  </a:lnTo>
                  <a:lnTo>
                    <a:pt x="1839" y="5"/>
                  </a:lnTo>
                  <a:lnTo>
                    <a:pt x="1839" y="4"/>
                  </a:lnTo>
                  <a:lnTo>
                    <a:pt x="1843" y="2"/>
                  </a:lnTo>
                  <a:lnTo>
                    <a:pt x="1847" y="0"/>
                  </a:lnTo>
                  <a:lnTo>
                    <a:pt x="1848" y="0"/>
                  </a:lnTo>
                  <a:lnTo>
                    <a:pt x="1852" y="0"/>
                  </a:lnTo>
                  <a:close/>
                  <a:moveTo>
                    <a:pt x="2158" y="0"/>
                  </a:moveTo>
                  <a:lnTo>
                    <a:pt x="2337" y="0"/>
                  </a:lnTo>
                  <a:lnTo>
                    <a:pt x="2341" y="0"/>
                  </a:lnTo>
                  <a:lnTo>
                    <a:pt x="2343" y="0"/>
                  </a:lnTo>
                  <a:lnTo>
                    <a:pt x="2346" y="2"/>
                  </a:lnTo>
                  <a:lnTo>
                    <a:pt x="2348" y="4"/>
                  </a:lnTo>
                  <a:lnTo>
                    <a:pt x="2350" y="5"/>
                  </a:lnTo>
                  <a:lnTo>
                    <a:pt x="2350" y="6"/>
                  </a:lnTo>
                  <a:lnTo>
                    <a:pt x="2350" y="8"/>
                  </a:lnTo>
                  <a:lnTo>
                    <a:pt x="2348" y="9"/>
                  </a:lnTo>
                  <a:lnTo>
                    <a:pt x="2346" y="11"/>
                  </a:lnTo>
                  <a:lnTo>
                    <a:pt x="2343" y="13"/>
                  </a:lnTo>
                  <a:lnTo>
                    <a:pt x="2341" y="13"/>
                  </a:lnTo>
                  <a:lnTo>
                    <a:pt x="2337" y="13"/>
                  </a:lnTo>
                  <a:lnTo>
                    <a:pt x="2158" y="13"/>
                  </a:lnTo>
                  <a:lnTo>
                    <a:pt x="2156" y="13"/>
                  </a:lnTo>
                  <a:lnTo>
                    <a:pt x="2154" y="13"/>
                  </a:lnTo>
                  <a:lnTo>
                    <a:pt x="2148" y="11"/>
                  </a:lnTo>
                  <a:lnTo>
                    <a:pt x="2146" y="9"/>
                  </a:lnTo>
                  <a:lnTo>
                    <a:pt x="2146" y="8"/>
                  </a:lnTo>
                  <a:lnTo>
                    <a:pt x="2146" y="6"/>
                  </a:lnTo>
                  <a:lnTo>
                    <a:pt x="2146" y="5"/>
                  </a:lnTo>
                  <a:lnTo>
                    <a:pt x="2146" y="4"/>
                  </a:lnTo>
                  <a:lnTo>
                    <a:pt x="2148" y="2"/>
                  </a:lnTo>
                  <a:lnTo>
                    <a:pt x="2154" y="0"/>
                  </a:lnTo>
                  <a:lnTo>
                    <a:pt x="2156" y="0"/>
                  </a:lnTo>
                  <a:lnTo>
                    <a:pt x="2158" y="0"/>
                  </a:lnTo>
                  <a:close/>
                  <a:moveTo>
                    <a:pt x="2465" y="0"/>
                  </a:moveTo>
                  <a:lnTo>
                    <a:pt x="2644" y="0"/>
                  </a:lnTo>
                  <a:lnTo>
                    <a:pt x="2646" y="0"/>
                  </a:lnTo>
                  <a:lnTo>
                    <a:pt x="2648" y="0"/>
                  </a:lnTo>
                  <a:lnTo>
                    <a:pt x="2652" y="2"/>
                  </a:lnTo>
                  <a:lnTo>
                    <a:pt x="2656" y="4"/>
                  </a:lnTo>
                  <a:lnTo>
                    <a:pt x="2656" y="5"/>
                  </a:lnTo>
                  <a:lnTo>
                    <a:pt x="2656" y="6"/>
                  </a:lnTo>
                  <a:lnTo>
                    <a:pt x="2656" y="8"/>
                  </a:lnTo>
                  <a:lnTo>
                    <a:pt x="2656" y="9"/>
                  </a:lnTo>
                  <a:lnTo>
                    <a:pt x="2652" y="11"/>
                  </a:lnTo>
                  <a:lnTo>
                    <a:pt x="2648" y="13"/>
                  </a:lnTo>
                  <a:lnTo>
                    <a:pt x="2646" y="13"/>
                  </a:lnTo>
                  <a:lnTo>
                    <a:pt x="2644" y="13"/>
                  </a:lnTo>
                  <a:lnTo>
                    <a:pt x="2465" y="13"/>
                  </a:lnTo>
                  <a:lnTo>
                    <a:pt x="2463" y="13"/>
                  </a:lnTo>
                  <a:lnTo>
                    <a:pt x="2460" y="13"/>
                  </a:lnTo>
                  <a:lnTo>
                    <a:pt x="2456" y="11"/>
                  </a:lnTo>
                  <a:lnTo>
                    <a:pt x="2454" y="9"/>
                  </a:lnTo>
                  <a:lnTo>
                    <a:pt x="2452" y="8"/>
                  </a:lnTo>
                  <a:lnTo>
                    <a:pt x="2452" y="6"/>
                  </a:lnTo>
                  <a:lnTo>
                    <a:pt x="2452" y="5"/>
                  </a:lnTo>
                  <a:lnTo>
                    <a:pt x="2454" y="4"/>
                  </a:lnTo>
                  <a:lnTo>
                    <a:pt x="2456" y="2"/>
                  </a:lnTo>
                  <a:lnTo>
                    <a:pt x="2460" y="0"/>
                  </a:lnTo>
                  <a:lnTo>
                    <a:pt x="2463" y="0"/>
                  </a:lnTo>
                  <a:lnTo>
                    <a:pt x="2465" y="0"/>
                  </a:lnTo>
                  <a:close/>
                  <a:moveTo>
                    <a:pt x="2771" y="0"/>
                  </a:moveTo>
                  <a:lnTo>
                    <a:pt x="2950" y="0"/>
                  </a:lnTo>
                  <a:lnTo>
                    <a:pt x="2954" y="0"/>
                  </a:lnTo>
                  <a:lnTo>
                    <a:pt x="2956" y="0"/>
                  </a:lnTo>
                  <a:lnTo>
                    <a:pt x="2959" y="2"/>
                  </a:lnTo>
                  <a:lnTo>
                    <a:pt x="2961" y="4"/>
                  </a:lnTo>
                  <a:lnTo>
                    <a:pt x="2963" y="5"/>
                  </a:lnTo>
                  <a:lnTo>
                    <a:pt x="2963" y="6"/>
                  </a:lnTo>
                  <a:lnTo>
                    <a:pt x="2963" y="8"/>
                  </a:lnTo>
                  <a:lnTo>
                    <a:pt x="2961" y="9"/>
                  </a:lnTo>
                  <a:lnTo>
                    <a:pt x="2959" y="11"/>
                  </a:lnTo>
                  <a:lnTo>
                    <a:pt x="2956" y="13"/>
                  </a:lnTo>
                  <a:lnTo>
                    <a:pt x="2954" y="13"/>
                  </a:lnTo>
                  <a:lnTo>
                    <a:pt x="2950" y="13"/>
                  </a:lnTo>
                  <a:lnTo>
                    <a:pt x="2771" y="13"/>
                  </a:lnTo>
                  <a:lnTo>
                    <a:pt x="2769" y="13"/>
                  </a:lnTo>
                  <a:lnTo>
                    <a:pt x="2767" y="13"/>
                  </a:lnTo>
                  <a:lnTo>
                    <a:pt x="2763" y="11"/>
                  </a:lnTo>
                  <a:lnTo>
                    <a:pt x="2759" y="9"/>
                  </a:lnTo>
                  <a:lnTo>
                    <a:pt x="2759" y="8"/>
                  </a:lnTo>
                  <a:lnTo>
                    <a:pt x="2759" y="6"/>
                  </a:lnTo>
                  <a:lnTo>
                    <a:pt x="2759" y="5"/>
                  </a:lnTo>
                  <a:lnTo>
                    <a:pt x="2759" y="4"/>
                  </a:lnTo>
                  <a:lnTo>
                    <a:pt x="2763" y="2"/>
                  </a:lnTo>
                  <a:lnTo>
                    <a:pt x="2767" y="0"/>
                  </a:lnTo>
                  <a:lnTo>
                    <a:pt x="2769" y="0"/>
                  </a:lnTo>
                  <a:lnTo>
                    <a:pt x="2771" y="0"/>
                  </a:lnTo>
                  <a:close/>
                  <a:moveTo>
                    <a:pt x="3078" y="0"/>
                  </a:moveTo>
                  <a:lnTo>
                    <a:pt x="3257" y="0"/>
                  </a:lnTo>
                  <a:lnTo>
                    <a:pt x="3259" y="0"/>
                  </a:lnTo>
                  <a:lnTo>
                    <a:pt x="3261" y="0"/>
                  </a:lnTo>
                  <a:lnTo>
                    <a:pt x="3267" y="2"/>
                  </a:lnTo>
                  <a:lnTo>
                    <a:pt x="3269" y="4"/>
                  </a:lnTo>
                  <a:lnTo>
                    <a:pt x="3269" y="5"/>
                  </a:lnTo>
                  <a:lnTo>
                    <a:pt x="3271" y="6"/>
                  </a:lnTo>
                  <a:lnTo>
                    <a:pt x="3269" y="8"/>
                  </a:lnTo>
                  <a:lnTo>
                    <a:pt x="3269" y="9"/>
                  </a:lnTo>
                  <a:lnTo>
                    <a:pt x="3267" y="11"/>
                  </a:lnTo>
                  <a:lnTo>
                    <a:pt x="3261" y="13"/>
                  </a:lnTo>
                  <a:lnTo>
                    <a:pt x="3259" y="13"/>
                  </a:lnTo>
                  <a:lnTo>
                    <a:pt x="3257" y="13"/>
                  </a:lnTo>
                  <a:lnTo>
                    <a:pt x="3078" y="13"/>
                  </a:lnTo>
                  <a:lnTo>
                    <a:pt x="3076" y="13"/>
                  </a:lnTo>
                  <a:lnTo>
                    <a:pt x="3073" y="13"/>
                  </a:lnTo>
                  <a:lnTo>
                    <a:pt x="3069" y="11"/>
                  </a:lnTo>
                  <a:lnTo>
                    <a:pt x="3067" y="9"/>
                  </a:lnTo>
                  <a:lnTo>
                    <a:pt x="3065" y="8"/>
                  </a:lnTo>
                  <a:lnTo>
                    <a:pt x="3065" y="6"/>
                  </a:lnTo>
                  <a:lnTo>
                    <a:pt x="3065" y="5"/>
                  </a:lnTo>
                  <a:lnTo>
                    <a:pt x="3067" y="4"/>
                  </a:lnTo>
                  <a:lnTo>
                    <a:pt x="3069" y="2"/>
                  </a:lnTo>
                  <a:lnTo>
                    <a:pt x="3073" y="0"/>
                  </a:lnTo>
                  <a:lnTo>
                    <a:pt x="3076" y="0"/>
                  </a:lnTo>
                  <a:lnTo>
                    <a:pt x="3078" y="0"/>
                  </a:lnTo>
                  <a:close/>
                  <a:moveTo>
                    <a:pt x="3386" y="0"/>
                  </a:moveTo>
                  <a:lnTo>
                    <a:pt x="3563" y="0"/>
                  </a:lnTo>
                  <a:lnTo>
                    <a:pt x="3567" y="0"/>
                  </a:lnTo>
                  <a:lnTo>
                    <a:pt x="3569" y="0"/>
                  </a:lnTo>
                  <a:lnTo>
                    <a:pt x="3572" y="2"/>
                  </a:lnTo>
                  <a:lnTo>
                    <a:pt x="3576" y="4"/>
                  </a:lnTo>
                  <a:lnTo>
                    <a:pt x="3576" y="5"/>
                  </a:lnTo>
                  <a:lnTo>
                    <a:pt x="3576" y="6"/>
                  </a:lnTo>
                  <a:lnTo>
                    <a:pt x="3576" y="8"/>
                  </a:lnTo>
                  <a:lnTo>
                    <a:pt x="3576" y="9"/>
                  </a:lnTo>
                  <a:lnTo>
                    <a:pt x="3572" y="11"/>
                  </a:lnTo>
                  <a:lnTo>
                    <a:pt x="3569" y="13"/>
                  </a:lnTo>
                  <a:lnTo>
                    <a:pt x="3567" y="13"/>
                  </a:lnTo>
                  <a:lnTo>
                    <a:pt x="3563" y="13"/>
                  </a:lnTo>
                  <a:lnTo>
                    <a:pt x="3386" y="13"/>
                  </a:lnTo>
                  <a:lnTo>
                    <a:pt x="3382" y="13"/>
                  </a:lnTo>
                  <a:lnTo>
                    <a:pt x="3380" y="13"/>
                  </a:lnTo>
                  <a:lnTo>
                    <a:pt x="3376" y="11"/>
                  </a:lnTo>
                  <a:lnTo>
                    <a:pt x="3373" y="9"/>
                  </a:lnTo>
                  <a:lnTo>
                    <a:pt x="3373" y="8"/>
                  </a:lnTo>
                  <a:lnTo>
                    <a:pt x="3373" y="6"/>
                  </a:lnTo>
                  <a:lnTo>
                    <a:pt x="3373" y="5"/>
                  </a:lnTo>
                  <a:lnTo>
                    <a:pt x="3373" y="4"/>
                  </a:lnTo>
                  <a:lnTo>
                    <a:pt x="3376" y="2"/>
                  </a:lnTo>
                  <a:lnTo>
                    <a:pt x="3380" y="0"/>
                  </a:lnTo>
                  <a:lnTo>
                    <a:pt x="3382" y="0"/>
                  </a:lnTo>
                  <a:lnTo>
                    <a:pt x="3386" y="0"/>
                  </a:lnTo>
                  <a:close/>
                  <a:moveTo>
                    <a:pt x="3691" y="0"/>
                  </a:moveTo>
                  <a:lnTo>
                    <a:pt x="3870" y="0"/>
                  </a:lnTo>
                  <a:lnTo>
                    <a:pt x="3872" y="0"/>
                  </a:lnTo>
                  <a:lnTo>
                    <a:pt x="3876" y="0"/>
                  </a:lnTo>
                  <a:lnTo>
                    <a:pt x="3880" y="2"/>
                  </a:lnTo>
                  <a:lnTo>
                    <a:pt x="3882" y="4"/>
                  </a:lnTo>
                  <a:lnTo>
                    <a:pt x="3884" y="5"/>
                  </a:lnTo>
                  <a:lnTo>
                    <a:pt x="3884" y="6"/>
                  </a:lnTo>
                  <a:lnTo>
                    <a:pt x="3884" y="8"/>
                  </a:lnTo>
                  <a:lnTo>
                    <a:pt x="3882" y="9"/>
                  </a:lnTo>
                  <a:lnTo>
                    <a:pt x="3880" y="11"/>
                  </a:lnTo>
                  <a:lnTo>
                    <a:pt x="3876" y="13"/>
                  </a:lnTo>
                  <a:lnTo>
                    <a:pt x="3872" y="13"/>
                  </a:lnTo>
                  <a:lnTo>
                    <a:pt x="3870" y="13"/>
                  </a:lnTo>
                  <a:lnTo>
                    <a:pt x="3691" y="13"/>
                  </a:lnTo>
                  <a:lnTo>
                    <a:pt x="3689" y="13"/>
                  </a:lnTo>
                  <a:lnTo>
                    <a:pt x="3686" y="13"/>
                  </a:lnTo>
                  <a:lnTo>
                    <a:pt x="3682" y="11"/>
                  </a:lnTo>
                  <a:lnTo>
                    <a:pt x="3680" y="9"/>
                  </a:lnTo>
                  <a:lnTo>
                    <a:pt x="3678" y="8"/>
                  </a:lnTo>
                  <a:lnTo>
                    <a:pt x="3678" y="6"/>
                  </a:lnTo>
                  <a:lnTo>
                    <a:pt x="3678" y="5"/>
                  </a:lnTo>
                  <a:lnTo>
                    <a:pt x="3680" y="4"/>
                  </a:lnTo>
                  <a:lnTo>
                    <a:pt x="3682" y="2"/>
                  </a:lnTo>
                  <a:lnTo>
                    <a:pt x="3686" y="0"/>
                  </a:lnTo>
                  <a:lnTo>
                    <a:pt x="3689" y="0"/>
                  </a:lnTo>
                  <a:lnTo>
                    <a:pt x="3691" y="0"/>
                  </a:lnTo>
                  <a:close/>
                  <a:moveTo>
                    <a:pt x="3999" y="0"/>
                  </a:moveTo>
                  <a:lnTo>
                    <a:pt x="4065" y="0"/>
                  </a:lnTo>
                  <a:lnTo>
                    <a:pt x="4067" y="0"/>
                  </a:lnTo>
                  <a:lnTo>
                    <a:pt x="4068" y="0"/>
                  </a:lnTo>
                  <a:lnTo>
                    <a:pt x="4074" y="2"/>
                  </a:lnTo>
                  <a:lnTo>
                    <a:pt x="4076" y="4"/>
                  </a:lnTo>
                  <a:lnTo>
                    <a:pt x="4078" y="5"/>
                  </a:lnTo>
                  <a:lnTo>
                    <a:pt x="4078" y="6"/>
                  </a:lnTo>
                  <a:lnTo>
                    <a:pt x="4078" y="8"/>
                  </a:lnTo>
                  <a:lnTo>
                    <a:pt x="4076" y="9"/>
                  </a:lnTo>
                  <a:lnTo>
                    <a:pt x="4074" y="11"/>
                  </a:lnTo>
                  <a:lnTo>
                    <a:pt x="4068" y="13"/>
                  </a:lnTo>
                  <a:lnTo>
                    <a:pt x="4067" y="13"/>
                  </a:lnTo>
                  <a:lnTo>
                    <a:pt x="4065" y="13"/>
                  </a:lnTo>
                  <a:lnTo>
                    <a:pt x="3999" y="13"/>
                  </a:lnTo>
                  <a:lnTo>
                    <a:pt x="3995" y="13"/>
                  </a:lnTo>
                  <a:lnTo>
                    <a:pt x="3993" y="13"/>
                  </a:lnTo>
                  <a:lnTo>
                    <a:pt x="3989" y="11"/>
                  </a:lnTo>
                  <a:lnTo>
                    <a:pt x="3986" y="9"/>
                  </a:lnTo>
                  <a:lnTo>
                    <a:pt x="3986" y="8"/>
                  </a:lnTo>
                  <a:lnTo>
                    <a:pt x="3986" y="6"/>
                  </a:lnTo>
                  <a:lnTo>
                    <a:pt x="3986" y="5"/>
                  </a:lnTo>
                  <a:lnTo>
                    <a:pt x="3986" y="4"/>
                  </a:lnTo>
                  <a:lnTo>
                    <a:pt x="3989" y="2"/>
                  </a:lnTo>
                  <a:lnTo>
                    <a:pt x="3993" y="0"/>
                  </a:lnTo>
                  <a:lnTo>
                    <a:pt x="3995" y="0"/>
                  </a:lnTo>
                  <a:lnTo>
                    <a:pt x="3999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97" name="Rectangle 58"/>
            <p:cNvSpPr>
              <a:spLocks noChangeArrowheads="1"/>
            </p:cNvSpPr>
            <p:nvPr/>
          </p:nvSpPr>
          <p:spPr bwMode="auto">
            <a:xfrm>
              <a:off x="4005" y="2884"/>
              <a:ext cx="59" cy="11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/>
            </a:p>
          </p:txBody>
        </p:sp>
        <p:sp>
          <p:nvSpPr>
            <p:cNvPr id="78898" name="Rectangle 59"/>
            <p:cNvSpPr>
              <a:spLocks noChangeArrowheads="1"/>
            </p:cNvSpPr>
            <p:nvPr/>
          </p:nvSpPr>
          <p:spPr bwMode="auto">
            <a:xfrm>
              <a:off x="3793" y="3128"/>
              <a:ext cx="194" cy="17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/2</a:t>
              </a:r>
              <a:endParaRPr lang="en-US" altLang="zh-CN" sz="2000"/>
            </a:p>
          </p:txBody>
        </p:sp>
        <p:sp>
          <p:nvSpPr>
            <p:cNvPr id="78899" name="Rectangle 60"/>
            <p:cNvSpPr>
              <a:spLocks noChangeArrowheads="1"/>
            </p:cNvSpPr>
            <p:nvPr/>
          </p:nvSpPr>
          <p:spPr bwMode="auto">
            <a:xfrm>
              <a:off x="3521" y="3264"/>
              <a:ext cx="83" cy="17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</a:p>
          </p:txBody>
        </p:sp>
        <p:sp>
          <p:nvSpPr>
            <p:cNvPr id="78900" name="Freeform 61"/>
            <p:cNvSpPr>
              <a:spLocks noEditPoints="1"/>
            </p:cNvSpPr>
            <p:nvPr/>
          </p:nvSpPr>
          <p:spPr bwMode="auto">
            <a:xfrm>
              <a:off x="3474" y="3591"/>
              <a:ext cx="1980" cy="8"/>
            </a:xfrm>
            <a:custGeom>
              <a:avLst/>
              <a:gdLst>
                <a:gd name="T0" fmla="*/ 1 w 3961"/>
                <a:gd name="T1" fmla="*/ 5 h 8"/>
                <a:gd name="T2" fmla="*/ 0 w 3961"/>
                <a:gd name="T3" fmla="*/ 5 h 8"/>
                <a:gd name="T4" fmla="*/ 3 w 3961"/>
                <a:gd name="T5" fmla="*/ 0 h 8"/>
                <a:gd name="T6" fmla="*/ 4 w 3961"/>
                <a:gd name="T7" fmla="*/ 6 h 8"/>
                <a:gd name="T8" fmla="*/ 2 w 3961"/>
                <a:gd name="T9" fmla="*/ 4 h 8"/>
                <a:gd name="T10" fmla="*/ 7 w 3961"/>
                <a:gd name="T11" fmla="*/ 0 h 8"/>
                <a:gd name="T12" fmla="*/ 7 w 3961"/>
                <a:gd name="T13" fmla="*/ 7 h 8"/>
                <a:gd name="T14" fmla="*/ 5 w 3961"/>
                <a:gd name="T15" fmla="*/ 2 h 8"/>
                <a:gd name="T16" fmla="*/ 10 w 3961"/>
                <a:gd name="T17" fmla="*/ 0 h 8"/>
                <a:gd name="T18" fmla="*/ 10 w 3961"/>
                <a:gd name="T19" fmla="*/ 8 h 8"/>
                <a:gd name="T20" fmla="*/ 8 w 3961"/>
                <a:gd name="T21" fmla="*/ 1 h 8"/>
                <a:gd name="T22" fmla="*/ 13 w 3961"/>
                <a:gd name="T23" fmla="*/ 1 h 8"/>
                <a:gd name="T24" fmla="*/ 11 w 3961"/>
                <a:gd name="T25" fmla="*/ 8 h 8"/>
                <a:gd name="T26" fmla="*/ 11 w 3961"/>
                <a:gd name="T27" fmla="*/ 0 h 8"/>
                <a:gd name="T28" fmla="*/ 16 w 3961"/>
                <a:gd name="T29" fmla="*/ 2 h 8"/>
                <a:gd name="T30" fmla="*/ 14 w 3961"/>
                <a:gd name="T31" fmla="*/ 7 h 8"/>
                <a:gd name="T32" fmla="*/ 14 w 3961"/>
                <a:gd name="T33" fmla="*/ 0 h 8"/>
                <a:gd name="T34" fmla="*/ 19 w 3961"/>
                <a:gd name="T35" fmla="*/ 4 h 8"/>
                <a:gd name="T36" fmla="*/ 17 w 3961"/>
                <a:gd name="T37" fmla="*/ 6 h 8"/>
                <a:gd name="T38" fmla="*/ 17 w 3961"/>
                <a:gd name="T39" fmla="*/ 0 h 8"/>
                <a:gd name="T40" fmla="*/ 22 w 3961"/>
                <a:gd name="T41" fmla="*/ 5 h 8"/>
                <a:gd name="T42" fmla="*/ 20 w 3961"/>
                <a:gd name="T43" fmla="*/ 5 h 8"/>
                <a:gd name="T44" fmla="*/ 23 w 3961"/>
                <a:gd name="T45" fmla="*/ 0 h 8"/>
                <a:gd name="T46" fmla="*/ 24 w 3961"/>
                <a:gd name="T47" fmla="*/ 6 h 8"/>
                <a:gd name="T48" fmla="*/ 23 w 3961"/>
                <a:gd name="T49" fmla="*/ 4 h 8"/>
                <a:gd name="T50" fmla="*/ 27 w 3961"/>
                <a:gd name="T51" fmla="*/ 0 h 8"/>
                <a:gd name="T52" fmla="*/ 27 w 3961"/>
                <a:gd name="T53" fmla="*/ 7 h 8"/>
                <a:gd name="T54" fmla="*/ 25 w 3961"/>
                <a:gd name="T55" fmla="*/ 2 h 8"/>
                <a:gd name="T56" fmla="*/ 30 w 3961"/>
                <a:gd name="T57" fmla="*/ 0 h 8"/>
                <a:gd name="T58" fmla="*/ 30 w 3961"/>
                <a:gd name="T59" fmla="*/ 8 h 8"/>
                <a:gd name="T60" fmla="*/ 28 w 3961"/>
                <a:gd name="T61" fmla="*/ 1 h 8"/>
                <a:gd name="T62" fmla="*/ 33 w 3961"/>
                <a:gd name="T63" fmla="*/ 1 h 8"/>
                <a:gd name="T64" fmla="*/ 31 w 3961"/>
                <a:gd name="T65" fmla="*/ 8 h 8"/>
                <a:gd name="T66" fmla="*/ 31 w 3961"/>
                <a:gd name="T67" fmla="*/ 0 h 8"/>
                <a:gd name="T68" fmla="*/ 36 w 3961"/>
                <a:gd name="T69" fmla="*/ 2 h 8"/>
                <a:gd name="T70" fmla="*/ 34 w 3961"/>
                <a:gd name="T71" fmla="*/ 7 h 8"/>
                <a:gd name="T72" fmla="*/ 34 w 3961"/>
                <a:gd name="T73" fmla="*/ 0 h 8"/>
                <a:gd name="T74" fmla="*/ 39 w 3961"/>
                <a:gd name="T75" fmla="*/ 4 h 8"/>
                <a:gd name="T76" fmla="*/ 37 w 3961"/>
                <a:gd name="T77" fmla="*/ 6 h 8"/>
                <a:gd name="T78" fmla="*/ 37 w 3961"/>
                <a:gd name="T79" fmla="*/ 0 h 8"/>
                <a:gd name="T80" fmla="*/ 42 w 3961"/>
                <a:gd name="T81" fmla="*/ 5 h 8"/>
                <a:gd name="T82" fmla="*/ 40 w 3961"/>
                <a:gd name="T83" fmla="*/ 5 h 8"/>
                <a:gd name="T84" fmla="*/ 43 w 3961"/>
                <a:gd name="T85" fmla="*/ 0 h 8"/>
                <a:gd name="T86" fmla="*/ 45 w 3961"/>
                <a:gd name="T87" fmla="*/ 6 h 8"/>
                <a:gd name="T88" fmla="*/ 43 w 3961"/>
                <a:gd name="T89" fmla="*/ 4 h 8"/>
                <a:gd name="T90" fmla="*/ 47 w 3961"/>
                <a:gd name="T91" fmla="*/ 0 h 8"/>
                <a:gd name="T92" fmla="*/ 47 w 3961"/>
                <a:gd name="T93" fmla="*/ 7 h 8"/>
                <a:gd name="T94" fmla="*/ 46 w 3961"/>
                <a:gd name="T95" fmla="*/ 2 h 8"/>
                <a:gd name="T96" fmla="*/ 50 w 3961"/>
                <a:gd name="T97" fmla="*/ 0 h 8"/>
                <a:gd name="T98" fmla="*/ 50 w 3961"/>
                <a:gd name="T99" fmla="*/ 8 h 8"/>
                <a:gd name="T100" fmla="*/ 48 w 3961"/>
                <a:gd name="T101" fmla="*/ 1 h 8"/>
                <a:gd name="T102" fmla="*/ 53 w 3961"/>
                <a:gd name="T103" fmla="*/ 1 h 8"/>
                <a:gd name="T104" fmla="*/ 51 w 3961"/>
                <a:gd name="T105" fmla="*/ 8 h 8"/>
                <a:gd name="T106" fmla="*/ 51 w 3961"/>
                <a:gd name="T107" fmla="*/ 0 h 8"/>
                <a:gd name="T108" fmla="*/ 56 w 3961"/>
                <a:gd name="T109" fmla="*/ 2 h 8"/>
                <a:gd name="T110" fmla="*/ 54 w 3961"/>
                <a:gd name="T111" fmla="*/ 7 h 8"/>
                <a:gd name="T112" fmla="*/ 54 w 3961"/>
                <a:gd name="T113" fmla="*/ 0 h 8"/>
                <a:gd name="T114" fmla="*/ 59 w 3961"/>
                <a:gd name="T115" fmla="*/ 4 h 8"/>
                <a:gd name="T116" fmla="*/ 57 w 3961"/>
                <a:gd name="T117" fmla="*/ 6 h 8"/>
                <a:gd name="T118" fmla="*/ 57 w 3961"/>
                <a:gd name="T119" fmla="*/ 0 h 8"/>
                <a:gd name="T120" fmla="*/ 61 w 3961"/>
                <a:gd name="T121" fmla="*/ 5 h 8"/>
                <a:gd name="T122" fmla="*/ 60 w 3961"/>
                <a:gd name="T123" fmla="*/ 5 h 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961"/>
                <a:gd name="T187" fmla="*/ 0 h 8"/>
                <a:gd name="T188" fmla="*/ 3961 w 3961"/>
                <a:gd name="T189" fmla="*/ 8 h 8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961" h="8">
                  <a:moveTo>
                    <a:pt x="7" y="0"/>
                  </a:moveTo>
                  <a:lnTo>
                    <a:pt x="115" y="0"/>
                  </a:lnTo>
                  <a:lnTo>
                    <a:pt x="119" y="0"/>
                  </a:lnTo>
                  <a:lnTo>
                    <a:pt x="121" y="1"/>
                  </a:lnTo>
                  <a:lnTo>
                    <a:pt x="122" y="2"/>
                  </a:lnTo>
                  <a:lnTo>
                    <a:pt x="122" y="4"/>
                  </a:lnTo>
                  <a:lnTo>
                    <a:pt x="122" y="5"/>
                  </a:lnTo>
                  <a:lnTo>
                    <a:pt x="121" y="6"/>
                  </a:lnTo>
                  <a:lnTo>
                    <a:pt x="119" y="7"/>
                  </a:lnTo>
                  <a:lnTo>
                    <a:pt x="115" y="8"/>
                  </a:lnTo>
                  <a:lnTo>
                    <a:pt x="7" y="8"/>
                  </a:lnTo>
                  <a:lnTo>
                    <a:pt x="5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1"/>
                  </a:lnTo>
                  <a:lnTo>
                    <a:pt x="5" y="0"/>
                  </a:lnTo>
                  <a:lnTo>
                    <a:pt x="7" y="0"/>
                  </a:lnTo>
                  <a:close/>
                  <a:moveTo>
                    <a:pt x="192" y="0"/>
                  </a:moveTo>
                  <a:lnTo>
                    <a:pt x="300" y="0"/>
                  </a:lnTo>
                  <a:lnTo>
                    <a:pt x="302" y="0"/>
                  </a:lnTo>
                  <a:lnTo>
                    <a:pt x="305" y="1"/>
                  </a:lnTo>
                  <a:lnTo>
                    <a:pt x="307" y="2"/>
                  </a:lnTo>
                  <a:lnTo>
                    <a:pt x="307" y="4"/>
                  </a:lnTo>
                  <a:lnTo>
                    <a:pt x="307" y="5"/>
                  </a:lnTo>
                  <a:lnTo>
                    <a:pt x="305" y="6"/>
                  </a:lnTo>
                  <a:lnTo>
                    <a:pt x="302" y="7"/>
                  </a:lnTo>
                  <a:lnTo>
                    <a:pt x="300" y="8"/>
                  </a:lnTo>
                  <a:lnTo>
                    <a:pt x="192" y="8"/>
                  </a:lnTo>
                  <a:lnTo>
                    <a:pt x="188" y="7"/>
                  </a:lnTo>
                  <a:lnTo>
                    <a:pt x="187" y="6"/>
                  </a:lnTo>
                  <a:lnTo>
                    <a:pt x="185" y="5"/>
                  </a:lnTo>
                  <a:lnTo>
                    <a:pt x="185" y="4"/>
                  </a:lnTo>
                  <a:lnTo>
                    <a:pt x="185" y="2"/>
                  </a:lnTo>
                  <a:lnTo>
                    <a:pt x="187" y="1"/>
                  </a:lnTo>
                  <a:lnTo>
                    <a:pt x="188" y="0"/>
                  </a:lnTo>
                  <a:lnTo>
                    <a:pt x="192" y="0"/>
                  </a:lnTo>
                  <a:close/>
                  <a:moveTo>
                    <a:pt x="375" y="0"/>
                  </a:moveTo>
                  <a:lnTo>
                    <a:pt x="483" y="0"/>
                  </a:lnTo>
                  <a:lnTo>
                    <a:pt x="486" y="0"/>
                  </a:lnTo>
                  <a:lnTo>
                    <a:pt x="488" y="1"/>
                  </a:lnTo>
                  <a:lnTo>
                    <a:pt x="490" y="2"/>
                  </a:lnTo>
                  <a:lnTo>
                    <a:pt x="490" y="4"/>
                  </a:lnTo>
                  <a:lnTo>
                    <a:pt x="490" y="5"/>
                  </a:lnTo>
                  <a:lnTo>
                    <a:pt x="488" y="6"/>
                  </a:lnTo>
                  <a:lnTo>
                    <a:pt x="486" y="7"/>
                  </a:lnTo>
                  <a:lnTo>
                    <a:pt x="483" y="8"/>
                  </a:lnTo>
                  <a:lnTo>
                    <a:pt x="375" y="8"/>
                  </a:lnTo>
                  <a:lnTo>
                    <a:pt x="373" y="7"/>
                  </a:lnTo>
                  <a:lnTo>
                    <a:pt x="371" y="6"/>
                  </a:lnTo>
                  <a:lnTo>
                    <a:pt x="370" y="5"/>
                  </a:lnTo>
                  <a:lnTo>
                    <a:pt x="368" y="4"/>
                  </a:lnTo>
                  <a:lnTo>
                    <a:pt x="370" y="2"/>
                  </a:lnTo>
                  <a:lnTo>
                    <a:pt x="371" y="1"/>
                  </a:lnTo>
                  <a:lnTo>
                    <a:pt x="373" y="0"/>
                  </a:lnTo>
                  <a:lnTo>
                    <a:pt x="375" y="0"/>
                  </a:lnTo>
                  <a:close/>
                  <a:moveTo>
                    <a:pt x="560" y="0"/>
                  </a:moveTo>
                  <a:lnTo>
                    <a:pt x="668" y="0"/>
                  </a:lnTo>
                  <a:lnTo>
                    <a:pt x="669" y="0"/>
                  </a:lnTo>
                  <a:lnTo>
                    <a:pt x="673" y="1"/>
                  </a:lnTo>
                  <a:lnTo>
                    <a:pt x="675" y="2"/>
                  </a:lnTo>
                  <a:lnTo>
                    <a:pt x="675" y="4"/>
                  </a:lnTo>
                  <a:lnTo>
                    <a:pt x="675" y="5"/>
                  </a:lnTo>
                  <a:lnTo>
                    <a:pt x="673" y="6"/>
                  </a:lnTo>
                  <a:lnTo>
                    <a:pt x="669" y="7"/>
                  </a:lnTo>
                  <a:lnTo>
                    <a:pt x="668" y="8"/>
                  </a:lnTo>
                  <a:lnTo>
                    <a:pt x="560" y="8"/>
                  </a:lnTo>
                  <a:lnTo>
                    <a:pt x="556" y="7"/>
                  </a:lnTo>
                  <a:lnTo>
                    <a:pt x="554" y="6"/>
                  </a:lnTo>
                  <a:lnTo>
                    <a:pt x="552" y="5"/>
                  </a:lnTo>
                  <a:lnTo>
                    <a:pt x="552" y="4"/>
                  </a:lnTo>
                  <a:lnTo>
                    <a:pt x="552" y="2"/>
                  </a:lnTo>
                  <a:lnTo>
                    <a:pt x="554" y="1"/>
                  </a:lnTo>
                  <a:lnTo>
                    <a:pt x="556" y="0"/>
                  </a:lnTo>
                  <a:lnTo>
                    <a:pt x="560" y="0"/>
                  </a:lnTo>
                  <a:close/>
                  <a:moveTo>
                    <a:pt x="745" y="0"/>
                  </a:moveTo>
                  <a:lnTo>
                    <a:pt x="850" y="0"/>
                  </a:lnTo>
                  <a:lnTo>
                    <a:pt x="854" y="0"/>
                  </a:lnTo>
                  <a:lnTo>
                    <a:pt x="856" y="1"/>
                  </a:lnTo>
                  <a:lnTo>
                    <a:pt x="858" y="2"/>
                  </a:lnTo>
                  <a:lnTo>
                    <a:pt x="860" y="4"/>
                  </a:lnTo>
                  <a:lnTo>
                    <a:pt x="858" y="5"/>
                  </a:lnTo>
                  <a:lnTo>
                    <a:pt x="856" y="6"/>
                  </a:lnTo>
                  <a:lnTo>
                    <a:pt x="854" y="7"/>
                  </a:lnTo>
                  <a:lnTo>
                    <a:pt x="850" y="8"/>
                  </a:lnTo>
                  <a:lnTo>
                    <a:pt x="745" y="8"/>
                  </a:lnTo>
                  <a:lnTo>
                    <a:pt x="741" y="7"/>
                  </a:lnTo>
                  <a:lnTo>
                    <a:pt x="739" y="6"/>
                  </a:lnTo>
                  <a:lnTo>
                    <a:pt x="737" y="5"/>
                  </a:lnTo>
                  <a:lnTo>
                    <a:pt x="735" y="4"/>
                  </a:lnTo>
                  <a:lnTo>
                    <a:pt x="737" y="2"/>
                  </a:lnTo>
                  <a:lnTo>
                    <a:pt x="739" y="1"/>
                  </a:lnTo>
                  <a:lnTo>
                    <a:pt x="741" y="0"/>
                  </a:lnTo>
                  <a:lnTo>
                    <a:pt x="745" y="0"/>
                  </a:lnTo>
                  <a:close/>
                  <a:moveTo>
                    <a:pt x="928" y="0"/>
                  </a:moveTo>
                  <a:lnTo>
                    <a:pt x="1035" y="0"/>
                  </a:lnTo>
                  <a:lnTo>
                    <a:pt x="1037" y="0"/>
                  </a:lnTo>
                  <a:lnTo>
                    <a:pt x="1041" y="1"/>
                  </a:lnTo>
                  <a:lnTo>
                    <a:pt x="1043" y="2"/>
                  </a:lnTo>
                  <a:lnTo>
                    <a:pt x="1043" y="4"/>
                  </a:lnTo>
                  <a:lnTo>
                    <a:pt x="1043" y="5"/>
                  </a:lnTo>
                  <a:lnTo>
                    <a:pt x="1041" y="6"/>
                  </a:lnTo>
                  <a:lnTo>
                    <a:pt x="1037" y="7"/>
                  </a:lnTo>
                  <a:lnTo>
                    <a:pt x="1035" y="8"/>
                  </a:lnTo>
                  <a:lnTo>
                    <a:pt x="928" y="8"/>
                  </a:lnTo>
                  <a:lnTo>
                    <a:pt x="924" y="7"/>
                  </a:lnTo>
                  <a:lnTo>
                    <a:pt x="922" y="6"/>
                  </a:lnTo>
                  <a:lnTo>
                    <a:pt x="920" y="5"/>
                  </a:lnTo>
                  <a:lnTo>
                    <a:pt x="920" y="4"/>
                  </a:lnTo>
                  <a:lnTo>
                    <a:pt x="920" y="2"/>
                  </a:lnTo>
                  <a:lnTo>
                    <a:pt x="922" y="1"/>
                  </a:lnTo>
                  <a:lnTo>
                    <a:pt x="924" y="0"/>
                  </a:lnTo>
                  <a:lnTo>
                    <a:pt x="928" y="0"/>
                  </a:lnTo>
                  <a:close/>
                  <a:moveTo>
                    <a:pt x="1113" y="0"/>
                  </a:moveTo>
                  <a:lnTo>
                    <a:pt x="1220" y="0"/>
                  </a:lnTo>
                  <a:lnTo>
                    <a:pt x="1222" y="0"/>
                  </a:lnTo>
                  <a:lnTo>
                    <a:pt x="1224" y="1"/>
                  </a:lnTo>
                  <a:lnTo>
                    <a:pt x="1226" y="2"/>
                  </a:lnTo>
                  <a:lnTo>
                    <a:pt x="1228" y="4"/>
                  </a:lnTo>
                  <a:lnTo>
                    <a:pt x="1226" y="5"/>
                  </a:lnTo>
                  <a:lnTo>
                    <a:pt x="1224" y="6"/>
                  </a:lnTo>
                  <a:lnTo>
                    <a:pt x="1222" y="7"/>
                  </a:lnTo>
                  <a:lnTo>
                    <a:pt x="1220" y="8"/>
                  </a:lnTo>
                  <a:lnTo>
                    <a:pt x="1113" y="8"/>
                  </a:lnTo>
                  <a:lnTo>
                    <a:pt x="1109" y="7"/>
                  </a:lnTo>
                  <a:lnTo>
                    <a:pt x="1107" y="6"/>
                  </a:lnTo>
                  <a:lnTo>
                    <a:pt x="1105" y="5"/>
                  </a:lnTo>
                  <a:lnTo>
                    <a:pt x="1105" y="4"/>
                  </a:lnTo>
                  <a:lnTo>
                    <a:pt x="1105" y="2"/>
                  </a:lnTo>
                  <a:lnTo>
                    <a:pt x="1107" y="1"/>
                  </a:lnTo>
                  <a:lnTo>
                    <a:pt x="1109" y="0"/>
                  </a:lnTo>
                  <a:lnTo>
                    <a:pt x="1113" y="0"/>
                  </a:lnTo>
                  <a:close/>
                  <a:moveTo>
                    <a:pt x="1296" y="0"/>
                  </a:moveTo>
                  <a:lnTo>
                    <a:pt x="1403" y="0"/>
                  </a:lnTo>
                  <a:lnTo>
                    <a:pt x="1407" y="0"/>
                  </a:lnTo>
                  <a:lnTo>
                    <a:pt x="1409" y="1"/>
                  </a:lnTo>
                  <a:lnTo>
                    <a:pt x="1411" y="2"/>
                  </a:lnTo>
                  <a:lnTo>
                    <a:pt x="1411" y="4"/>
                  </a:lnTo>
                  <a:lnTo>
                    <a:pt x="1411" y="5"/>
                  </a:lnTo>
                  <a:lnTo>
                    <a:pt x="1409" y="6"/>
                  </a:lnTo>
                  <a:lnTo>
                    <a:pt x="1407" y="7"/>
                  </a:lnTo>
                  <a:lnTo>
                    <a:pt x="1403" y="8"/>
                  </a:lnTo>
                  <a:lnTo>
                    <a:pt x="1296" y="8"/>
                  </a:lnTo>
                  <a:lnTo>
                    <a:pt x="1294" y="7"/>
                  </a:lnTo>
                  <a:lnTo>
                    <a:pt x="1290" y="6"/>
                  </a:lnTo>
                  <a:lnTo>
                    <a:pt x="1288" y="5"/>
                  </a:lnTo>
                  <a:lnTo>
                    <a:pt x="1288" y="4"/>
                  </a:lnTo>
                  <a:lnTo>
                    <a:pt x="1288" y="2"/>
                  </a:lnTo>
                  <a:lnTo>
                    <a:pt x="1290" y="1"/>
                  </a:lnTo>
                  <a:lnTo>
                    <a:pt x="1294" y="0"/>
                  </a:lnTo>
                  <a:lnTo>
                    <a:pt x="1296" y="0"/>
                  </a:lnTo>
                  <a:close/>
                  <a:moveTo>
                    <a:pt x="1480" y="0"/>
                  </a:moveTo>
                  <a:lnTo>
                    <a:pt x="1588" y="0"/>
                  </a:lnTo>
                  <a:lnTo>
                    <a:pt x="1590" y="0"/>
                  </a:lnTo>
                  <a:lnTo>
                    <a:pt x="1592" y="1"/>
                  </a:lnTo>
                  <a:lnTo>
                    <a:pt x="1594" y="2"/>
                  </a:lnTo>
                  <a:lnTo>
                    <a:pt x="1596" y="4"/>
                  </a:lnTo>
                  <a:lnTo>
                    <a:pt x="1594" y="5"/>
                  </a:lnTo>
                  <a:lnTo>
                    <a:pt x="1592" y="6"/>
                  </a:lnTo>
                  <a:lnTo>
                    <a:pt x="1590" y="7"/>
                  </a:lnTo>
                  <a:lnTo>
                    <a:pt x="1588" y="8"/>
                  </a:lnTo>
                  <a:lnTo>
                    <a:pt x="1480" y="8"/>
                  </a:lnTo>
                  <a:lnTo>
                    <a:pt x="1477" y="7"/>
                  </a:lnTo>
                  <a:lnTo>
                    <a:pt x="1475" y="6"/>
                  </a:lnTo>
                  <a:lnTo>
                    <a:pt x="1473" y="5"/>
                  </a:lnTo>
                  <a:lnTo>
                    <a:pt x="1473" y="4"/>
                  </a:lnTo>
                  <a:lnTo>
                    <a:pt x="1473" y="2"/>
                  </a:lnTo>
                  <a:lnTo>
                    <a:pt x="1475" y="1"/>
                  </a:lnTo>
                  <a:lnTo>
                    <a:pt x="1477" y="0"/>
                  </a:lnTo>
                  <a:lnTo>
                    <a:pt x="1480" y="0"/>
                  </a:lnTo>
                  <a:close/>
                  <a:moveTo>
                    <a:pt x="1663" y="0"/>
                  </a:moveTo>
                  <a:lnTo>
                    <a:pt x="1771" y="0"/>
                  </a:lnTo>
                  <a:lnTo>
                    <a:pt x="1775" y="0"/>
                  </a:lnTo>
                  <a:lnTo>
                    <a:pt x="1777" y="1"/>
                  </a:lnTo>
                  <a:lnTo>
                    <a:pt x="1778" y="2"/>
                  </a:lnTo>
                  <a:lnTo>
                    <a:pt x="1778" y="4"/>
                  </a:lnTo>
                  <a:lnTo>
                    <a:pt x="1778" y="5"/>
                  </a:lnTo>
                  <a:lnTo>
                    <a:pt x="1777" y="6"/>
                  </a:lnTo>
                  <a:lnTo>
                    <a:pt x="1775" y="7"/>
                  </a:lnTo>
                  <a:lnTo>
                    <a:pt x="1771" y="8"/>
                  </a:lnTo>
                  <a:lnTo>
                    <a:pt x="1663" y="8"/>
                  </a:lnTo>
                  <a:lnTo>
                    <a:pt x="1662" y="7"/>
                  </a:lnTo>
                  <a:lnTo>
                    <a:pt x="1658" y="6"/>
                  </a:lnTo>
                  <a:lnTo>
                    <a:pt x="1656" y="5"/>
                  </a:lnTo>
                  <a:lnTo>
                    <a:pt x="1656" y="4"/>
                  </a:lnTo>
                  <a:lnTo>
                    <a:pt x="1656" y="2"/>
                  </a:lnTo>
                  <a:lnTo>
                    <a:pt x="1658" y="1"/>
                  </a:lnTo>
                  <a:lnTo>
                    <a:pt x="1662" y="0"/>
                  </a:lnTo>
                  <a:lnTo>
                    <a:pt x="1663" y="0"/>
                  </a:lnTo>
                  <a:close/>
                  <a:moveTo>
                    <a:pt x="1848" y="0"/>
                  </a:moveTo>
                  <a:lnTo>
                    <a:pt x="1956" y="0"/>
                  </a:lnTo>
                  <a:lnTo>
                    <a:pt x="1958" y="0"/>
                  </a:lnTo>
                  <a:lnTo>
                    <a:pt x="1960" y="1"/>
                  </a:lnTo>
                  <a:lnTo>
                    <a:pt x="1961" y="2"/>
                  </a:lnTo>
                  <a:lnTo>
                    <a:pt x="1963" y="4"/>
                  </a:lnTo>
                  <a:lnTo>
                    <a:pt x="1961" y="5"/>
                  </a:lnTo>
                  <a:lnTo>
                    <a:pt x="1960" y="6"/>
                  </a:lnTo>
                  <a:lnTo>
                    <a:pt x="1958" y="7"/>
                  </a:lnTo>
                  <a:lnTo>
                    <a:pt x="1956" y="8"/>
                  </a:lnTo>
                  <a:lnTo>
                    <a:pt x="1848" y="8"/>
                  </a:lnTo>
                  <a:lnTo>
                    <a:pt x="1844" y="7"/>
                  </a:lnTo>
                  <a:lnTo>
                    <a:pt x="1843" y="6"/>
                  </a:lnTo>
                  <a:lnTo>
                    <a:pt x="1841" y="5"/>
                  </a:lnTo>
                  <a:lnTo>
                    <a:pt x="1841" y="4"/>
                  </a:lnTo>
                  <a:lnTo>
                    <a:pt x="1841" y="2"/>
                  </a:lnTo>
                  <a:lnTo>
                    <a:pt x="1843" y="1"/>
                  </a:lnTo>
                  <a:lnTo>
                    <a:pt x="1844" y="0"/>
                  </a:lnTo>
                  <a:lnTo>
                    <a:pt x="1848" y="0"/>
                  </a:lnTo>
                  <a:close/>
                  <a:moveTo>
                    <a:pt x="2031" y="0"/>
                  </a:moveTo>
                  <a:lnTo>
                    <a:pt x="2139" y="0"/>
                  </a:lnTo>
                  <a:lnTo>
                    <a:pt x="2142" y="0"/>
                  </a:lnTo>
                  <a:lnTo>
                    <a:pt x="2144" y="1"/>
                  </a:lnTo>
                  <a:lnTo>
                    <a:pt x="2146" y="2"/>
                  </a:lnTo>
                  <a:lnTo>
                    <a:pt x="2146" y="4"/>
                  </a:lnTo>
                  <a:lnTo>
                    <a:pt x="2146" y="5"/>
                  </a:lnTo>
                  <a:lnTo>
                    <a:pt x="2144" y="6"/>
                  </a:lnTo>
                  <a:lnTo>
                    <a:pt x="2142" y="7"/>
                  </a:lnTo>
                  <a:lnTo>
                    <a:pt x="2139" y="8"/>
                  </a:lnTo>
                  <a:lnTo>
                    <a:pt x="2031" y="8"/>
                  </a:lnTo>
                  <a:lnTo>
                    <a:pt x="2029" y="7"/>
                  </a:lnTo>
                  <a:lnTo>
                    <a:pt x="2026" y="6"/>
                  </a:lnTo>
                  <a:lnTo>
                    <a:pt x="2024" y="5"/>
                  </a:lnTo>
                  <a:lnTo>
                    <a:pt x="2024" y="4"/>
                  </a:lnTo>
                  <a:lnTo>
                    <a:pt x="2024" y="2"/>
                  </a:lnTo>
                  <a:lnTo>
                    <a:pt x="2026" y="1"/>
                  </a:lnTo>
                  <a:lnTo>
                    <a:pt x="2029" y="0"/>
                  </a:lnTo>
                  <a:lnTo>
                    <a:pt x="2031" y="0"/>
                  </a:lnTo>
                  <a:close/>
                  <a:moveTo>
                    <a:pt x="2216" y="0"/>
                  </a:moveTo>
                  <a:lnTo>
                    <a:pt x="2324" y="0"/>
                  </a:lnTo>
                  <a:lnTo>
                    <a:pt x="2325" y="0"/>
                  </a:lnTo>
                  <a:lnTo>
                    <a:pt x="2329" y="1"/>
                  </a:lnTo>
                  <a:lnTo>
                    <a:pt x="2329" y="2"/>
                  </a:lnTo>
                  <a:lnTo>
                    <a:pt x="2331" y="4"/>
                  </a:lnTo>
                  <a:lnTo>
                    <a:pt x="2329" y="5"/>
                  </a:lnTo>
                  <a:lnTo>
                    <a:pt x="2329" y="6"/>
                  </a:lnTo>
                  <a:lnTo>
                    <a:pt x="2325" y="7"/>
                  </a:lnTo>
                  <a:lnTo>
                    <a:pt x="2324" y="8"/>
                  </a:lnTo>
                  <a:lnTo>
                    <a:pt x="2216" y="8"/>
                  </a:lnTo>
                  <a:lnTo>
                    <a:pt x="2212" y="7"/>
                  </a:lnTo>
                  <a:lnTo>
                    <a:pt x="2210" y="6"/>
                  </a:lnTo>
                  <a:lnTo>
                    <a:pt x="2209" y="5"/>
                  </a:lnTo>
                  <a:lnTo>
                    <a:pt x="2209" y="4"/>
                  </a:lnTo>
                  <a:lnTo>
                    <a:pt x="2209" y="2"/>
                  </a:lnTo>
                  <a:lnTo>
                    <a:pt x="2210" y="1"/>
                  </a:lnTo>
                  <a:lnTo>
                    <a:pt x="2212" y="0"/>
                  </a:lnTo>
                  <a:lnTo>
                    <a:pt x="2216" y="0"/>
                  </a:lnTo>
                  <a:close/>
                  <a:moveTo>
                    <a:pt x="2399" y="0"/>
                  </a:moveTo>
                  <a:lnTo>
                    <a:pt x="2507" y="0"/>
                  </a:lnTo>
                  <a:lnTo>
                    <a:pt x="2510" y="0"/>
                  </a:lnTo>
                  <a:lnTo>
                    <a:pt x="2512" y="1"/>
                  </a:lnTo>
                  <a:lnTo>
                    <a:pt x="2514" y="2"/>
                  </a:lnTo>
                  <a:lnTo>
                    <a:pt x="2514" y="4"/>
                  </a:lnTo>
                  <a:lnTo>
                    <a:pt x="2514" y="5"/>
                  </a:lnTo>
                  <a:lnTo>
                    <a:pt x="2512" y="6"/>
                  </a:lnTo>
                  <a:lnTo>
                    <a:pt x="2510" y="7"/>
                  </a:lnTo>
                  <a:lnTo>
                    <a:pt x="2507" y="8"/>
                  </a:lnTo>
                  <a:lnTo>
                    <a:pt x="2399" y="8"/>
                  </a:lnTo>
                  <a:lnTo>
                    <a:pt x="2397" y="7"/>
                  </a:lnTo>
                  <a:lnTo>
                    <a:pt x="2393" y="6"/>
                  </a:lnTo>
                  <a:lnTo>
                    <a:pt x="2393" y="5"/>
                  </a:lnTo>
                  <a:lnTo>
                    <a:pt x="2391" y="4"/>
                  </a:lnTo>
                  <a:lnTo>
                    <a:pt x="2393" y="2"/>
                  </a:lnTo>
                  <a:lnTo>
                    <a:pt x="2393" y="1"/>
                  </a:lnTo>
                  <a:lnTo>
                    <a:pt x="2397" y="0"/>
                  </a:lnTo>
                  <a:lnTo>
                    <a:pt x="2399" y="0"/>
                  </a:lnTo>
                  <a:close/>
                  <a:moveTo>
                    <a:pt x="2584" y="0"/>
                  </a:moveTo>
                  <a:lnTo>
                    <a:pt x="2691" y="0"/>
                  </a:lnTo>
                  <a:lnTo>
                    <a:pt x="2693" y="0"/>
                  </a:lnTo>
                  <a:lnTo>
                    <a:pt x="2697" y="1"/>
                  </a:lnTo>
                  <a:lnTo>
                    <a:pt x="2699" y="2"/>
                  </a:lnTo>
                  <a:lnTo>
                    <a:pt x="2699" y="4"/>
                  </a:lnTo>
                  <a:lnTo>
                    <a:pt x="2699" y="5"/>
                  </a:lnTo>
                  <a:lnTo>
                    <a:pt x="2697" y="6"/>
                  </a:lnTo>
                  <a:lnTo>
                    <a:pt x="2693" y="7"/>
                  </a:lnTo>
                  <a:lnTo>
                    <a:pt x="2691" y="8"/>
                  </a:lnTo>
                  <a:lnTo>
                    <a:pt x="2584" y="8"/>
                  </a:lnTo>
                  <a:lnTo>
                    <a:pt x="2580" y="7"/>
                  </a:lnTo>
                  <a:lnTo>
                    <a:pt x="2578" y="6"/>
                  </a:lnTo>
                  <a:lnTo>
                    <a:pt x="2576" y="5"/>
                  </a:lnTo>
                  <a:lnTo>
                    <a:pt x="2576" y="4"/>
                  </a:lnTo>
                  <a:lnTo>
                    <a:pt x="2576" y="2"/>
                  </a:lnTo>
                  <a:lnTo>
                    <a:pt x="2578" y="1"/>
                  </a:lnTo>
                  <a:lnTo>
                    <a:pt x="2580" y="0"/>
                  </a:lnTo>
                  <a:lnTo>
                    <a:pt x="2584" y="0"/>
                  </a:lnTo>
                  <a:close/>
                  <a:moveTo>
                    <a:pt x="2767" y="0"/>
                  </a:moveTo>
                  <a:lnTo>
                    <a:pt x="2874" y="0"/>
                  </a:lnTo>
                  <a:lnTo>
                    <a:pt x="2878" y="0"/>
                  </a:lnTo>
                  <a:lnTo>
                    <a:pt x="2880" y="1"/>
                  </a:lnTo>
                  <a:lnTo>
                    <a:pt x="2882" y="2"/>
                  </a:lnTo>
                  <a:lnTo>
                    <a:pt x="2882" y="4"/>
                  </a:lnTo>
                  <a:lnTo>
                    <a:pt x="2882" y="5"/>
                  </a:lnTo>
                  <a:lnTo>
                    <a:pt x="2880" y="6"/>
                  </a:lnTo>
                  <a:lnTo>
                    <a:pt x="2878" y="7"/>
                  </a:lnTo>
                  <a:lnTo>
                    <a:pt x="2874" y="8"/>
                  </a:lnTo>
                  <a:lnTo>
                    <a:pt x="2767" y="8"/>
                  </a:lnTo>
                  <a:lnTo>
                    <a:pt x="2765" y="7"/>
                  </a:lnTo>
                  <a:lnTo>
                    <a:pt x="2763" y="6"/>
                  </a:lnTo>
                  <a:lnTo>
                    <a:pt x="2761" y="5"/>
                  </a:lnTo>
                  <a:lnTo>
                    <a:pt x="2759" y="4"/>
                  </a:lnTo>
                  <a:lnTo>
                    <a:pt x="2761" y="2"/>
                  </a:lnTo>
                  <a:lnTo>
                    <a:pt x="2763" y="1"/>
                  </a:lnTo>
                  <a:lnTo>
                    <a:pt x="2765" y="0"/>
                  </a:lnTo>
                  <a:lnTo>
                    <a:pt x="2767" y="0"/>
                  </a:lnTo>
                  <a:close/>
                  <a:moveTo>
                    <a:pt x="2952" y="0"/>
                  </a:moveTo>
                  <a:lnTo>
                    <a:pt x="3059" y="0"/>
                  </a:lnTo>
                  <a:lnTo>
                    <a:pt x="3061" y="0"/>
                  </a:lnTo>
                  <a:lnTo>
                    <a:pt x="3065" y="1"/>
                  </a:lnTo>
                  <a:lnTo>
                    <a:pt x="3067" y="2"/>
                  </a:lnTo>
                  <a:lnTo>
                    <a:pt x="3067" y="4"/>
                  </a:lnTo>
                  <a:lnTo>
                    <a:pt x="3067" y="5"/>
                  </a:lnTo>
                  <a:lnTo>
                    <a:pt x="3065" y="6"/>
                  </a:lnTo>
                  <a:lnTo>
                    <a:pt x="3061" y="7"/>
                  </a:lnTo>
                  <a:lnTo>
                    <a:pt x="3059" y="8"/>
                  </a:lnTo>
                  <a:lnTo>
                    <a:pt x="2952" y="8"/>
                  </a:lnTo>
                  <a:lnTo>
                    <a:pt x="2948" y="7"/>
                  </a:lnTo>
                  <a:lnTo>
                    <a:pt x="2946" y="6"/>
                  </a:lnTo>
                  <a:lnTo>
                    <a:pt x="2944" y="5"/>
                  </a:lnTo>
                  <a:lnTo>
                    <a:pt x="2944" y="4"/>
                  </a:lnTo>
                  <a:lnTo>
                    <a:pt x="2944" y="2"/>
                  </a:lnTo>
                  <a:lnTo>
                    <a:pt x="2946" y="1"/>
                  </a:lnTo>
                  <a:lnTo>
                    <a:pt x="2948" y="0"/>
                  </a:lnTo>
                  <a:lnTo>
                    <a:pt x="2952" y="0"/>
                  </a:lnTo>
                  <a:close/>
                  <a:moveTo>
                    <a:pt x="3137" y="0"/>
                  </a:moveTo>
                  <a:lnTo>
                    <a:pt x="3242" y="0"/>
                  </a:lnTo>
                  <a:lnTo>
                    <a:pt x="3246" y="0"/>
                  </a:lnTo>
                  <a:lnTo>
                    <a:pt x="3248" y="1"/>
                  </a:lnTo>
                  <a:lnTo>
                    <a:pt x="3250" y="2"/>
                  </a:lnTo>
                  <a:lnTo>
                    <a:pt x="3250" y="4"/>
                  </a:lnTo>
                  <a:lnTo>
                    <a:pt x="3250" y="5"/>
                  </a:lnTo>
                  <a:lnTo>
                    <a:pt x="3248" y="6"/>
                  </a:lnTo>
                  <a:lnTo>
                    <a:pt x="3246" y="7"/>
                  </a:lnTo>
                  <a:lnTo>
                    <a:pt x="3242" y="8"/>
                  </a:lnTo>
                  <a:lnTo>
                    <a:pt x="3137" y="8"/>
                  </a:lnTo>
                  <a:lnTo>
                    <a:pt x="3133" y="7"/>
                  </a:lnTo>
                  <a:lnTo>
                    <a:pt x="3131" y="6"/>
                  </a:lnTo>
                  <a:lnTo>
                    <a:pt x="3129" y="5"/>
                  </a:lnTo>
                  <a:lnTo>
                    <a:pt x="3127" y="4"/>
                  </a:lnTo>
                  <a:lnTo>
                    <a:pt x="3129" y="2"/>
                  </a:lnTo>
                  <a:lnTo>
                    <a:pt x="3131" y="1"/>
                  </a:lnTo>
                  <a:lnTo>
                    <a:pt x="3133" y="0"/>
                  </a:lnTo>
                  <a:lnTo>
                    <a:pt x="3137" y="0"/>
                  </a:lnTo>
                  <a:close/>
                  <a:moveTo>
                    <a:pt x="3319" y="0"/>
                  </a:moveTo>
                  <a:lnTo>
                    <a:pt x="3427" y="0"/>
                  </a:lnTo>
                  <a:lnTo>
                    <a:pt x="3429" y="0"/>
                  </a:lnTo>
                  <a:lnTo>
                    <a:pt x="3433" y="1"/>
                  </a:lnTo>
                  <a:lnTo>
                    <a:pt x="3435" y="2"/>
                  </a:lnTo>
                  <a:lnTo>
                    <a:pt x="3435" y="4"/>
                  </a:lnTo>
                  <a:lnTo>
                    <a:pt x="3435" y="5"/>
                  </a:lnTo>
                  <a:lnTo>
                    <a:pt x="3433" y="6"/>
                  </a:lnTo>
                  <a:lnTo>
                    <a:pt x="3429" y="7"/>
                  </a:lnTo>
                  <a:lnTo>
                    <a:pt x="3427" y="8"/>
                  </a:lnTo>
                  <a:lnTo>
                    <a:pt x="3319" y="8"/>
                  </a:lnTo>
                  <a:lnTo>
                    <a:pt x="3316" y="7"/>
                  </a:lnTo>
                  <a:lnTo>
                    <a:pt x="3314" y="6"/>
                  </a:lnTo>
                  <a:lnTo>
                    <a:pt x="3312" y="5"/>
                  </a:lnTo>
                  <a:lnTo>
                    <a:pt x="3312" y="4"/>
                  </a:lnTo>
                  <a:lnTo>
                    <a:pt x="3312" y="2"/>
                  </a:lnTo>
                  <a:lnTo>
                    <a:pt x="3314" y="1"/>
                  </a:lnTo>
                  <a:lnTo>
                    <a:pt x="3316" y="0"/>
                  </a:lnTo>
                  <a:lnTo>
                    <a:pt x="3319" y="0"/>
                  </a:lnTo>
                  <a:close/>
                  <a:moveTo>
                    <a:pt x="3504" y="0"/>
                  </a:moveTo>
                  <a:lnTo>
                    <a:pt x="3610" y="0"/>
                  </a:lnTo>
                  <a:lnTo>
                    <a:pt x="3614" y="0"/>
                  </a:lnTo>
                  <a:lnTo>
                    <a:pt x="3616" y="1"/>
                  </a:lnTo>
                  <a:lnTo>
                    <a:pt x="3617" y="2"/>
                  </a:lnTo>
                  <a:lnTo>
                    <a:pt x="3619" y="4"/>
                  </a:lnTo>
                  <a:lnTo>
                    <a:pt x="3617" y="5"/>
                  </a:lnTo>
                  <a:lnTo>
                    <a:pt x="3616" y="6"/>
                  </a:lnTo>
                  <a:lnTo>
                    <a:pt x="3614" y="7"/>
                  </a:lnTo>
                  <a:lnTo>
                    <a:pt x="3610" y="8"/>
                  </a:lnTo>
                  <a:lnTo>
                    <a:pt x="3504" y="8"/>
                  </a:lnTo>
                  <a:lnTo>
                    <a:pt x="3501" y="7"/>
                  </a:lnTo>
                  <a:lnTo>
                    <a:pt x="3499" y="6"/>
                  </a:lnTo>
                  <a:lnTo>
                    <a:pt x="3497" y="5"/>
                  </a:lnTo>
                  <a:lnTo>
                    <a:pt x="3497" y="4"/>
                  </a:lnTo>
                  <a:lnTo>
                    <a:pt x="3497" y="2"/>
                  </a:lnTo>
                  <a:lnTo>
                    <a:pt x="3499" y="1"/>
                  </a:lnTo>
                  <a:lnTo>
                    <a:pt x="3501" y="0"/>
                  </a:lnTo>
                  <a:lnTo>
                    <a:pt x="3504" y="0"/>
                  </a:lnTo>
                  <a:close/>
                  <a:moveTo>
                    <a:pt x="3687" y="0"/>
                  </a:moveTo>
                  <a:lnTo>
                    <a:pt x="3795" y="0"/>
                  </a:lnTo>
                  <a:lnTo>
                    <a:pt x="3799" y="0"/>
                  </a:lnTo>
                  <a:lnTo>
                    <a:pt x="3800" y="1"/>
                  </a:lnTo>
                  <a:lnTo>
                    <a:pt x="3802" y="2"/>
                  </a:lnTo>
                  <a:lnTo>
                    <a:pt x="3802" y="4"/>
                  </a:lnTo>
                  <a:lnTo>
                    <a:pt x="3802" y="5"/>
                  </a:lnTo>
                  <a:lnTo>
                    <a:pt x="3800" y="6"/>
                  </a:lnTo>
                  <a:lnTo>
                    <a:pt x="3799" y="7"/>
                  </a:lnTo>
                  <a:lnTo>
                    <a:pt x="3795" y="8"/>
                  </a:lnTo>
                  <a:lnTo>
                    <a:pt x="3687" y="8"/>
                  </a:lnTo>
                  <a:lnTo>
                    <a:pt x="3685" y="7"/>
                  </a:lnTo>
                  <a:lnTo>
                    <a:pt x="3682" y="6"/>
                  </a:lnTo>
                  <a:lnTo>
                    <a:pt x="3680" y="5"/>
                  </a:lnTo>
                  <a:lnTo>
                    <a:pt x="3680" y="4"/>
                  </a:lnTo>
                  <a:lnTo>
                    <a:pt x="3680" y="2"/>
                  </a:lnTo>
                  <a:lnTo>
                    <a:pt x="3682" y="1"/>
                  </a:lnTo>
                  <a:lnTo>
                    <a:pt x="3685" y="0"/>
                  </a:lnTo>
                  <a:lnTo>
                    <a:pt x="3687" y="0"/>
                  </a:lnTo>
                  <a:close/>
                  <a:moveTo>
                    <a:pt x="3872" y="0"/>
                  </a:moveTo>
                  <a:lnTo>
                    <a:pt x="3953" y="0"/>
                  </a:lnTo>
                  <a:lnTo>
                    <a:pt x="3957" y="0"/>
                  </a:lnTo>
                  <a:lnTo>
                    <a:pt x="3959" y="1"/>
                  </a:lnTo>
                  <a:lnTo>
                    <a:pt x="3961" y="2"/>
                  </a:lnTo>
                  <a:lnTo>
                    <a:pt x="3961" y="4"/>
                  </a:lnTo>
                  <a:lnTo>
                    <a:pt x="3961" y="5"/>
                  </a:lnTo>
                  <a:lnTo>
                    <a:pt x="3959" y="6"/>
                  </a:lnTo>
                  <a:lnTo>
                    <a:pt x="3957" y="7"/>
                  </a:lnTo>
                  <a:lnTo>
                    <a:pt x="3953" y="8"/>
                  </a:lnTo>
                  <a:lnTo>
                    <a:pt x="3872" y="8"/>
                  </a:lnTo>
                  <a:lnTo>
                    <a:pt x="3868" y="7"/>
                  </a:lnTo>
                  <a:lnTo>
                    <a:pt x="3866" y="6"/>
                  </a:lnTo>
                  <a:lnTo>
                    <a:pt x="3865" y="5"/>
                  </a:lnTo>
                  <a:lnTo>
                    <a:pt x="3865" y="4"/>
                  </a:lnTo>
                  <a:lnTo>
                    <a:pt x="3865" y="2"/>
                  </a:lnTo>
                  <a:lnTo>
                    <a:pt x="3866" y="1"/>
                  </a:lnTo>
                  <a:lnTo>
                    <a:pt x="3868" y="0"/>
                  </a:lnTo>
                  <a:lnTo>
                    <a:pt x="3872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01" name="Rectangle 62"/>
            <p:cNvSpPr>
              <a:spLocks noChangeArrowheads="1"/>
            </p:cNvSpPr>
            <p:nvPr/>
          </p:nvSpPr>
          <p:spPr bwMode="auto">
            <a:xfrm>
              <a:off x="4564" y="3672"/>
              <a:ext cx="107" cy="17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宋体" pitchFamily="2" charset="-122"/>
                </a:rPr>
                <a:t>I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宋体" pitchFamily="2" charset="-122"/>
                </a:rPr>
                <a:t>o</a:t>
              </a:r>
            </a:p>
          </p:txBody>
        </p:sp>
        <p:sp>
          <p:nvSpPr>
            <p:cNvPr id="78902" name="Line 63"/>
            <p:cNvSpPr>
              <a:spLocks noChangeShapeType="1"/>
            </p:cNvSpPr>
            <p:nvPr/>
          </p:nvSpPr>
          <p:spPr bwMode="auto">
            <a:xfrm>
              <a:off x="4651" y="2658"/>
              <a:ext cx="1" cy="2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03" name="Line 64"/>
            <p:cNvSpPr>
              <a:spLocks noChangeShapeType="1"/>
            </p:cNvSpPr>
            <p:nvPr/>
          </p:nvSpPr>
          <p:spPr bwMode="auto">
            <a:xfrm>
              <a:off x="5185" y="2658"/>
              <a:ext cx="1" cy="2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04" name="Line 65"/>
            <p:cNvSpPr>
              <a:spLocks noChangeShapeType="1"/>
            </p:cNvSpPr>
            <p:nvPr/>
          </p:nvSpPr>
          <p:spPr bwMode="auto">
            <a:xfrm flipV="1">
              <a:off x="4011" y="2657"/>
              <a:ext cx="1" cy="1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05" name="Freeform 66"/>
            <p:cNvSpPr>
              <a:spLocks/>
            </p:cNvSpPr>
            <p:nvPr/>
          </p:nvSpPr>
          <p:spPr bwMode="auto">
            <a:xfrm>
              <a:off x="3977" y="2817"/>
              <a:ext cx="68" cy="75"/>
            </a:xfrm>
            <a:custGeom>
              <a:avLst/>
              <a:gdLst>
                <a:gd name="T0" fmla="*/ 1 w 138"/>
                <a:gd name="T1" fmla="*/ 75 h 75"/>
                <a:gd name="T2" fmla="*/ 0 w 138"/>
                <a:gd name="T3" fmla="*/ 0 h 75"/>
                <a:gd name="T4" fmla="*/ 0 w 138"/>
                <a:gd name="T5" fmla="*/ 2 h 75"/>
                <a:gd name="T6" fmla="*/ 0 w 138"/>
                <a:gd name="T7" fmla="*/ 4 h 75"/>
                <a:gd name="T8" fmla="*/ 0 w 138"/>
                <a:gd name="T9" fmla="*/ 5 h 75"/>
                <a:gd name="T10" fmla="*/ 0 w 138"/>
                <a:gd name="T11" fmla="*/ 6 h 75"/>
                <a:gd name="T12" fmla="*/ 0 w 138"/>
                <a:gd name="T13" fmla="*/ 7 h 75"/>
                <a:gd name="T14" fmla="*/ 0 w 138"/>
                <a:gd name="T15" fmla="*/ 8 h 75"/>
                <a:gd name="T16" fmla="*/ 0 w 138"/>
                <a:gd name="T17" fmla="*/ 8 h 75"/>
                <a:gd name="T18" fmla="*/ 1 w 138"/>
                <a:gd name="T19" fmla="*/ 9 h 75"/>
                <a:gd name="T20" fmla="*/ 1 w 138"/>
                <a:gd name="T21" fmla="*/ 8 h 75"/>
                <a:gd name="T22" fmla="*/ 1 w 138"/>
                <a:gd name="T23" fmla="*/ 8 h 75"/>
                <a:gd name="T24" fmla="*/ 1 w 138"/>
                <a:gd name="T25" fmla="*/ 7 h 75"/>
                <a:gd name="T26" fmla="*/ 1 w 138"/>
                <a:gd name="T27" fmla="*/ 6 h 75"/>
                <a:gd name="T28" fmla="*/ 1 w 138"/>
                <a:gd name="T29" fmla="*/ 5 h 75"/>
                <a:gd name="T30" fmla="*/ 1 w 138"/>
                <a:gd name="T31" fmla="*/ 4 h 75"/>
                <a:gd name="T32" fmla="*/ 2 w 138"/>
                <a:gd name="T33" fmla="*/ 2 h 75"/>
                <a:gd name="T34" fmla="*/ 2 w 138"/>
                <a:gd name="T35" fmla="*/ 0 h 75"/>
                <a:gd name="T36" fmla="*/ 1 w 138"/>
                <a:gd name="T37" fmla="*/ 75 h 75"/>
                <a:gd name="T38" fmla="*/ 1 w 138"/>
                <a:gd name="T39" fmla="*/ 75 h 7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38"/>
                <a:gd name="T61" fmla="*/ 0 h 75"/>
                <a:gd name="T62" fmla="*/ 138 w 138"/>
                <a:gd name="T63" fmla="*/ 75 h 7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38" h="75">
                  <a:moveTo>
                    <a:pt x="70" y="75"/>
                  </a:moveTo>
                  <a:lnTo>
                    <a:pt x="0" y="0"/>
                  </a:lnTo>
                  <a:lnTo>
                    <a:pt x="10" y="2"/>
                  </a:lnTo>
                  <a:lnTo>
                    <a:pt x="17" y="4"/>
                  </a:lnTo>
                  <a:lnTo>
                    <a:pt x="25" y="5"/>
                  </a:lnTo>
                  <a:lnTo>
                    <a:pt x="34" y="6"/>
                  </a:lnTo>
                  <a:lnTo>
                    <a:pt x="44" y="7"/>
                  </a:lnTo>
                  <a:lnTo>
                    <a:pt x="51" y="8"/>
                  </a:lnTo>
                  <a:lnTo>
                    <a:pt x="60" y="8"/>
                  </a:lnTo>
                  <a:lnTo>
                    <a:pt x="70" y="9"/>
                  </a:lnTo>
                  <a:lnTo>
                    <a:pt x="77" y="8"/>
                  </a:lnTo>
                  <a:lnTo>
                    <a:pt x="87" y="8"/>
                  </a:lnTo>
                  <a:lnTo>
                    <a:pt x="96" y="7"/>
                  </a:lnTo>
                  <a:lnTo>
                    <a:pt x="104" y="6"/>
                  </a:lnTo>
                  <a:lnTo>
                    <a:pt x="113" y="5"/>
                  </a:lnTo>
                  <a:lnTo>
                    <a:pt x="121" y="4"/>
                  </a:lnTo>
                  <a:lnTo>
                    <a:pt x="130" y="2"/>
                  </a:lnTo>
                  <a:lnTo>
                    <a:pt x="138" y="0"/>
                  </a:lnTo>
                  <a:lnTo>
                    <a:pt x="70" y="75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06" name="Freeform 67"/>
            <p:cNvSpPr>
              <a:spLocks/>
            </p:cNvSpPr>
            <p:nvPr/>
          </p:nvSpPr>
          <p:spPr bwMode="auto">
            <a:xfrm>
              <a:off x="3977" y="2599"/>
              <a:ext cx="68" cy="77"/>
            </a:xfrm>
            <a:custGeom>
              <a:avLst/>
              <a:gdLst>
                <a:gd name="T0" fmla="*/ 1 w 138"/>
                <a:gd name="T1" fmla="*/ 0 h 77"/>
                <a:gd name="T2" fmla="*/ 2 w 138"/>
                <a:gd name="T3" fmla="*/ 77 h 77"/>
                <a:gd name="T4" fmla="*/ 2 w 138"/>
                <a:gd name="T5" fmla="*/ 75 h 77"/>
                <a:gd name="T6" fmla="*/ 1 w 138"/>
                <a:gd name="T7" fmla="*/ 73 h 77"/>
                <a:gd name="T8" fmla="*/ 1 w 138"/>
                <a:gd name="T9" fmla="*/ 71 h 77"/>
                <a:gd name="T10" fmla="*/ 1 w 138"/>
                <a:gd name="T11" fmla="*/ 70 h 77"/>
                <a:gd name="T12" fmla="*/ 1 w 138"/>
                <a:gd name="T13" fmla="*/ 69 h 77"/>
                <a:gd name="T14" fmla="*/ 1 w 138"/>
                <a:gd name="T15" fmla="*/ 69 h 77"/>
                <a:gd name="T16" fmla="*/ 1 w 138"/>
                <a:gd name="T17" fmla="*/ 68 h 77"/>
                <a:gd name="T18" fmla="*/ 1 w 138"/>
                <a:gd name="T19" fmla="*/ 68 h 77"/>
                <a:gd name="T20" fmla="*/ 0 w 138"/>
                <a:gd name="T21" fmla="*/ 68 h 77"/>
                <a:gd name="T22" fmla="*/ 0 w 138"/>
                <a:gd name="T23" fmla="*/ 69 h 77"/>
                <a:gd name="T24" fmla="*/ 0 w 138"/>
                <a:gd name="T25" fmla="*/ 69 h 77"/>
                <a:gd name="T26" fmla="*/ 0 w 138"/>
                <a:gd name="T27" fmla="*/ 70 h 77"/>
                <a:gd name="T28" fmla="*/ 0 w 138"/>
                <a:gd name="T29" fmla="*/ 71 h 77"/>
                <a:gd name="T30" fmla="*/ 0 w 138"/>
                <a:gd name="T31" fmla="*/ 73 h 77"/>
                <a:gd name="T32" fmla="*/ 0 w 138"/>
                <a:gd name="T33" fmla="*/ 75 h 77"/>
                <a:gd name="T34" fmla="*/ 0 w 138"/>
                <a:gd name="T35" fmla="*/ 77 h 77"/>
                <a:gd name="T36" fmla="*/ 0 w 138"/>
                <a:gd name="T37" fmla="*/ 77 h 77"/>
                <a:gd name="T38" fmla="*/ 1 w 138"/>
                <a:gd name="T39" fmla="*/ 0 h 77"/>
                <a:gd name="T40" fmla="*/ 1 w 138"/>
                <a:gd name="T41" fmla="*/ 0 h 7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8"/>
                <a:gd name="T64" fmla="*/ 0 h 77"/>
                <a:gd name="T65" fmla="*/ 138 w 138"/>
                <a:gd name="T66" fmla="*/ 77 h 7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8" h="77">
                  <a:moveTo>
                    <a:pt x="70" y="0"/>
                  </a:moveTo>
                  <a:lnTo>
                    <a:pt x="138" y="77"/>
                  </a:lnTo>
                  <a:lnTo>
                    <a:pt x="130" y="75"/>
                  </a:lnTo>
                  <a:lnTo>
                    <a:pt x="121" y="73"/>
                  </a:lnTo>
                  <a:lnTo>
                    <a:pt x="113" y="71"/>
                  </a:lnTo>
                  <a:lnTo>
                    <a:pt x="104" y="70"/>
                  </a:lnTo>
                  <a:lnTo>
                    <a:pt x="96" y="69"/>
                  </a:lnTo>
                  <a:lnTo>
                    <a:pt x="87" y="69"/>
                  </a:lnTo>
                  <a:lnTo>
                    <a:pt x="77" y="68"/>
                  </a:lnTo>
                  <a:lnTo>
                    <a:pt x="70" y="68"/>
                  </a:lnTo>
                  <a:lnTo>
                    <a:pt x="60" y="68"/>
                  </a:lnTo>
                  <a:lnTo>
                    <a:pt x="51" y="69"/>
                  </a:lnTo>
                  <a:lnTo>
                    <a:pt x="44" y="69"/>
                  </a:lnTo>
                  <a:lnTo>
                    <a:pt x="34" y="70"/>
                  </a:lnTo>
                  <a:lnTo>
                    <a:pt x="25" y="71"/>
                  </a:lnTo>
                  <a:lnTo>
                    <a:pt x="17" y="73"/>
                  </a:lnTo>
                  <a:lnTo>
                    <a:pt x="10" y="75"/>
                  </a:lnTo>
                  <a:lnTo>
                    <a:pt x="0" y="77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07" name="Rectangle 68"/>
            <p:cNvSpPr>
              <a:spLocks noChangeArrowheads="1"/>
            </p:cNvSpPr>
            <p:nvPr/>
          </p:nvSpPr>
          <p:spPr bwMode="auto">
            <a:xfrm>
              <a:off x="4065" y="2674"/>
              <a:ext cx="108" cy="17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</p:txBody>
        </p:sp>
        <p:sp>
          <p:nvSpPr>
            <p:cNvPr id="78908" name="Rectangle 69"/>
            <p:cNvSpPr>
              <a:spLocks noChangeArrowheads="1"/>
            </p:cNvSpPr>
            <p:nvPr/>
          </p:nvSpPr>
          <p:spPr bwMode="auto">
            <a:xfrm>
              <a:off x="4470" y="4020"/>
              <a:ext cx="192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宋体" pitchFamily="2" charset="-122"/>
                </a:rPr>
                <a:t>(b)</a:t>
              </a:r>
              <a:endParaRPr lang="en-US" altLang="zh-CN" sz="1600"/>
            </a:p>
          </p:txBody>
        </p:sp>
        <p:sp>
          <p:nvSpPr>
            <p:cNvPr id="78909" name="Line 70"/>
            <p:cNvSpPr>
              <a:spLocks noChangeShapeType="1"/>
            </p:cNvSpPr>
            <p:nvPr/>
          </p:nvSpPr>
          <p:spPr bwMode="auto">
            <a:xfrm flipV="1">
              <a:off x="4519" y="3581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10" name="Line 71"/>
            <p:cNvSpPr>
              <a:spLocks noChangeShapeType="1"/>
            </p:cNvSpPr>
            <p:nvPr/>
          </p:nvSpPr>
          <p:spPr bwMode="auto">
            <a:xfrm>
              <a:off x="4519" y="3763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11" name="Line 72"/>
            <p:cNvSpPr>
              <a:spLocks noChangeShapeType="1"/>
            </p:cNvSpPr>
            <p:nvPr/>
          </p:nvSpPr>
          <p:spPr bwMode="auto">
            <a:xfrm flipV="1">
              <a:off x="3475" y="3355"/>
              <a:ext cx="0" cy="5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" name="Group 73"/>
            <p:cNvGrpSpPr>
              <a:grpSpLocks/>
            </p:cNvGrpSpPr>
            <p:nvPr/>
          </p:nvGrpSpPr>
          <p:grpSpPr bwMode="auto">
            <a:xfrm>
              <a:off x="3334" y="1071"/>
              <a:ext cx="2163" cy="960"/>
              <a:chOff x="3198" y="1136"/>
              <a:chExt cx="2163" cy="960"/>
            </a:xfrm>
          </p:grpSpPr>
          <p:sp>
            <p:nvSpPr>
              <p:cNvPr id="78916" name="Freeform 74"/>
              <p:cNvSpPr>
                <a:spLocks/>
              </p:cNvSpPr>
              <p:nvPr/>
            </p:nvSpPr>
            <p:spPr bwMode="auto">
              <a:xfrm>
                <a:off x="4117" y="1524"/>
                <a:ext cx="29" cy="200"/>
              </a:xfrm>
              <a:custGeom>
                <a:avLst/>
                <a:gdLst>
                  <a:gd name="T0" fmla="*/ 0 w 59"/>
                  <a:gd name="T1" fmla="*/ 0 h 399"/>
                  <a:gd name="T2" fmla="*/ 0 w 59"/>
                  <a:gd name="T3" fmla="*/ 1 h 399"/>
                  <a:gd name="T4" fmla="*/ 0 w 59"/>
                  <a:gd name="T5" fmla="*/ 1 h 399"/>
                  <a:gd name="T6" fmla="*/ 0 w 59"/>
                  <a:gd name="T7" fmla="*/ 1 h 399"/>
                  <a:gd name="T8" fmla="*/ 0 w 59"/>
                  <a:gd name="T9" fmla="*/ 1 h 399"/>
                  <a:gd name="T10" fmla="*/ 0 w 59"/>
                  <a:gd name="T11" fmla="*/ 1 h 399"/>
                  <a:gd name="T12" fmla="*/ 0 w 59"/>
                  <a:gd name="T13" fmla="*/ 1 h 399"/>
                  <a:gd name="T14" fmla="*/ 0 w 59"/>
                  <a:gd name="T15" fmla="*/ 1 h 399"/>
                  <a:gd name="T16" fmla="*/ 0 w 59"/>
                  <a:gd name="T17" fmla="*/ 1 h 399"/>
                  <a:gd name="T18" fmla="*/ 0 w 59"/>
                  <a:gd name="T19" fmla="*/ 2 h 399"/>
                  <a:gd name="T20" fmla="*/ 0 w 59"/>
                  <a:gd name="T21" fmla="*/ 2 h 399"/>
                  <a:gd name="T22" fmla="*/ 0 w 59"/>
                  <a:gd name="T23" fmla="*/ 2 h 399"/>
                  <a:gd name="T24" fmla="*/ 0 w 59"/>
                  <a:gd name="T25" fmla="*/ 2 h 399"/>
                  <a:gd name="T26" fmla="*/ 0 w 59"/>
                  <a:gd name="T27" fmla="*/ 2 h 399"/>
                  <a:gd name="T28" fmla="*/ 0 w 59"/>
                  <a:gd name="T29" fmla="*/ 2 h 399"/>
                  <a:gd name="T30" fmla="*/ 0 w 59"/>
                  <a:gd name="T31" fmla="*/ 2 h 399"/>
                  <a:gd name="T32" fmla="*/ 0 w 59"/>
                  <a:gd name="T33" fmla="*/ 2 h 399"/>
                  <a:gd name="T34" fmla="*/ 0 w 59"/>
                  <a:gd name="T35" fmla="*/ 2 h 399"/>
                  <a:gd name="T36" fmla="*/ 0 w 59"/>
                  <a:gd name="T37" fmla="*/ 2 h 399"/>
                  <a:gd name="T38" fmla="*/ 0 w 59"/>
                  <a:gd name="T39" fmla="*/ 2 h 399"/>
                  <a:gd name="T40" fmla="*/ 0 w 59"/>
                  <a:gd name="T41" fmla="*/ 2 h 399"/>
                  <a:gd name="T42" fmla="*/ 0 w 59"/>
                  <a:gd name="T43" fmla="*/ 3 h 399"/>
                  <a:gd name="T44" fmla="*/ 0 w 59"/>
                  <a:gd name="T45" fmla="*/ 3 h 399"/>
                  <a:gd name="T46" fmla="*/ 0 w 59"/>
                  <a:gd name="T47" fmla="*/ 3 h 399"/>
                  <a:gd name="T48" fmla="*/ 0 w 59"/>
                  <a:gd name="T49" fmla="*/ 3 h 399"/>
                  <a:gd name="T50" fmla="*/ 0 w 59"/>
                  <a:gd name="T51" fmla="*/ 3 h 399"/>
                  <a:gd name="T52" fmla="*/ 0 w 59"/>
                  <a:gd name="T53" fmla="*/ 3 h 399"/>
                  <a:gd name="T54" fmla="*/ 0 w 59"/>
                  <a:gd name="T55" fmla="*/ 3 h 399"/>
                  <a:gd name="T56" fmla="*/ 0 w 59"/>
                  <a:gd name="T57" fmla="*/ 4 h 399"/>
                  <a:gd name="T58" fmla="*/ 0 w 59"/>
                  <a:gd name="T59" fmla="*/ 4 h 399"/>
                  <a:gd name="T60" fmla="*/ 0 w 59"/>
                  <a:gd name="T61" fmla="*/ 4 h 399"/>
                  <a:gd name="T62" fmla="*/ 0 w 59"/>
                  <a:gd name="T63" fmla="*/ 4 h 399"/>
                  <a:gd name="T64" fmla="*/ 0 w 59"/>
                  <a:gd name="T65" fmla="*/ 4 h 399"/>
                  <a:gd name="T66" fmla="*/ 0 w 59"/>
                  <a:gd name="T67" fmla="*/ 4 h 399"/>
                  <a:gd name="T68" fmla="*/ 0 w 59"/>
                  <a:gd name="T69" fmla="*/ 4 h 399"/>
                  <a:gd name="T70" fmla="*/ 0 w 59"/>
                  <a:gd name="T71" fmla="*/ 4 h 399"/>
                  <a:gd name="T72" fmla="*/ 0 w 59"/>
                  <a:gd name="T73" fmla="*/ 4 h 399"/>
                  <a:gd name="T74" fmla="*/ 0 w 59"/>
                  <a:gd name="T75" fmla="*/ 4 h 399"/>
                  <a:gd name="T76" fmla="*/ 0 w 59"/>
                  <a:gd name="T77" fmla="*/ 4 h 399"/>
                  <a:gd name="T78" fmla="*/ 0 w 59"/>
                  <a:gd name="T79" fmla="*/ 5 h 399"/>
                  <a:gd name="T80" fmla="*/ 0 w 59"/>
                  <a:gd name="T81" fmla="*/ 5 h 399"/>
                  <a:gd name="T82" fmla="*/ 0 w 59"/>
                  <a:gd name="T83" fmla="*/ 5 h 399"/>
                  <a:gd name="T84" fmla="*/ 0 w 59"/>
                  <a:gd name="T85" fmla="*/ 5 h 399"/>
                  <a:gd name="T86" fmla="*/ 0 w 59"/>
                  <a:gd name="T87" fmla="*/ 5 h 399"/>
                  <a:gd name="T88" fmla="*/ 0 w 59"/>
                  <a:gd name="T89" fmla="*/ 5 h 399"/>
                  <a:gd name="T90" fmla="*/ 0 w 59"/>
                  <a:gd name="T91" fmla="*/ 5 h 399"/>
                  <a:gd name="T92" fmla="*/ 0 w 59"/>
                  <a:gd name="T93" fmla="*/ 5 h 399"/>
                  <a:gd name="T94" fmla="*/ 0 w 59"/>
                  <a:gd name="T95" fmla="*/ 5 h 399"/>
                  <a:gd name="T96" fmla="*/ 0 w 59"/>
                  <a:gd name="T97" fmla="*/ 5 h 399"/>
                  <a:gd name="T98" fmla="*/ 0 w 59"/>
                  <a:gd name="T99" fmla="*/ 5 h 399"/>
                  <a:gd name="T100" fmla="*/ 0 w 59"/>
                  <a:gd name="T101" fmla="*/ 5 h 399"/>
                  <a:gd name="T102" fmla="*/ 0 w 59"/>
                  <a:gd name="T103" fmla="*/ 6 h 399"/>
                  <a:gd name="T104" fmla="*/ 0 w 59"/>
                  <a:gd name="T105" fmla="*/ 6 h 399"/>
                  <a:gd name="T106" fmla="*/ 0 w 59"/>
                  <a:gd name="T107" fmla="*/ 6 h 399"/>
                  <a:gd name="T108" fmla="*/ 0 w 59"/>
                  <a:gd name="T109" fmla="*/ 6 h 399"/>
                  <a:gd name="T110" fmla="*/ 0 w 59"/>
                  <a:gd name="T111" fmla="*/ 6 h 399"/>
                  <a:gd name="T112" fmla="*/ 0 w 59"/>
                  <a:gd name="T113" fmla="*/ 6 h 399"/>
                  <a:gd name="T114" fmla="*/ 0 w 59"/>
                  <a:gd name="T115" fmla="*/ 6 h 399"/>
                  <a:gd name="T116" fmla="*/ 0 w 59"/>
                  <a:gd name="T117" fmla="*/ 7 h 399"/>
                  <a:gd name="T118" fmla="*/ 0 w 59"/>
                  <a:gd name="T119" fmla="*/ 7 h 399"/>
                  <a:gd name="T120" fmla="*/ 0 w 59"/>
                  <a:gd name="T121" fmla="*/ 7 h 399"/>
                  <a:gd name="T122" fmla="*/ 0 w 59"/>
                  <a:gd name="T123" fmla="*/ 7 h 399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59"/>
                  <a:gd name="T187" fmla="*/ 0 h 399"/>
                  <a:gd name="T188" fmla="*/ 59 w 59"/>
                  <a:gd name="T189" fmla="*/ 399 h 399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59" h="399">
                    <a:moveTo>
                      <a:pt x="0" y="0"/>
                    </a:moveTo>
                    <a:lnTo>
                      <a:pt x="6" y="0"/>
                    </a:lnTo>
                    <a:lnTo>
                      <a:pt x="11" y="0"/>
                    </a:lnTo>
                    <a:lnTo>
                      <a:pt x="17" y="1"/>
                    </a:lnTo>
                    <a:lnTo>
                      <a:pt x="22" y="3"/>
                    </a:lnTo>
                    <a:lnTo>
                      <a:pt x="26" y="4"/>
                    </a:lnTo>
                    <a:lnTo>
                      <a:pt x="31" y="6"/>
                    </a:lnTo>
                    <a:lnTo>
                      <a:pt x="40" y="12"/>
                    </a:lnTo>
                    <a:lnTo>
                      <a:pt x="45" y="16"/>
                    </a:lnTo>
                    <a:lnTo>
                      <a:pt x="48" y="19"/>
                    </a:lnTo>
                    <a:lnTo>
                      <a:pt x="51" y="23"/>
                    </a:lnTo>
                    <a:lnTo>
                      <a:pt x="53" y="28"/>
                    </a:lnTo>
                    <a:lnTo>
                      <a:pt x="56" y="33"/>
                    </a:lnTo>
                    <a:lnTo>
                      <a:pt x="57" y="38"/>
                    </a:lnTo>
                    <a:lnTo>
                      <a:pt x="59" y="42"/>
                    </a:lnTo>
                    <a:lnTo>
                      <a:pt x="59" y="47"/>
                    </a:lnTo>
                    <a:lnTo>
                      <a:pt x="59" y="52"/>
                    </a:lnTo>
                    <a:lnTo>
                      <a:pt x="57" y="56"/>
                    </a:lnTo>
                    <a:lnTo>
                      <a:pt x="57" y="63"/>
                    </a:lnTo>
                    <a:lnTo>
                      <a:pt x="56" y="67"/>
                    </a:lnTo>
                    <a:lnTo>
                      <a:pt x="53" y="71"/>
                    </a:lnTo>
                    <a:lnTo>
                      <a:pt x="50" y="75"/>
                    </a:lnTo>
                    <a:lnTo>
                      <a:pt x="47" y="80"/>
                    </a:lnTo>
                    <a:lnTo>
                      <a:pt x="43" y="83"/>
                    </a:lnTo>
                    <a:lnTo>
                      <a:pt x="36" y="89"/>
                    </a:lnTo>
                    <a:lnTo>
                      <a:pt x="31" y="93"/>
                    </a:lnTo>
                    <a:lnTo>
                      <a:pt x="26" y="94"/>
                    </a:lnTo>
                    <a:lnTo>
                      <a:pt x="20" y="96"/>
                    </a:lnTo>
                    <a:lnTo>
                      <a:pt x="15" y="97"/>
                    </a:lnTo>
                    <a:lnTo>
                      <a:pt x="9" y="99"/>
                    </a:lnTo>
                    <a:lnTo>
                      <a:pt x="5" y="99"/>
                    </a:lnTo>
                    <a:lnTo>
                      <a:pt x="0" y="99"/>
                    </a:lnTo>
                    <a:lnTo>
                      <a:pt x="6" y="99"/>
                    </a:lnTo>
                    <a:lnTo>
                      <a:pt x="11" y="99"/>
                    </a:lnTo>
                    <a:lnTo>
                      <a:pt x="17" y="100"/>
                    </a:lnTo>
                    <a:lnTo>
                      <a:pt x="22" y="102"/>
                    </a:lnTo>
                    <a:lnTo>
                      <a:pt x="26" y="104"/>
                    </a:lnTo>
                    <a:lnTo>
                      <a:pt x="31" y="107"/>
                    </a:lnTo>
                    <a:lnTo>
                      <a:pt x="40" y="111"/>
                    </a:lnTo>
                    <a:lnTo>
                      <a:pt x="45" y="116"/>
                    </a:lnTo>
                    <a:lnTo>
                      <a:pt x="48" y="119"/>
                    </a:lnTo>
                    <a:lnTo>
                      <a:pt x="51" y="124"/>
                    </a:lnTo>
                    <a:lnTo>
                      <a:pt x="53" y="127"/>
                    </a:lnTo>
                    <a:lnTo>
                      <a:pt x="56" y="132"/>
                    </a:lnTo>
                    <a:lnTo>
                      <a:pt x="57" y="137"/>
                    </a:lnTo>
                    <a:lnTo>
                      <a:pt x="59" y="141"/>
                    </a:lnTo>
                    <a:lnTo>
                      <a:pt x="59" y="148"/>
                    </a:lnTo>
                    <a:lnTo>
                      <a:pt x="59" y="152"/>
                    </a:lnTo>
                    <a:lnTo>
                      <a:pt x="57" y="157"/>
                    </a:lnTo>
                    <a:lnTo>
                      <a:pt x="57" y="162"/>
                    </a:lnTo>
                    <a:lnTo>
                      <a:pt x="56" y="167"/>
                    </a:lnTo>
                    <a:lnTo>
                      <a:pt x="53" y="171"/>
                    </a:lnTo>
                    <a:lnTo>
                      <a:pt x="50" y="176"/>
                    </a:lnTo>
                    <a:lnTo>
                      <a:pt x="47" y="179"/>
                    </a:lnTo>
                    <a:lnTo>
                      <a:pt x="43" y="182"/>
                    </a:lnTo>
                    <a:lnTo>
                      <a:pt x="36" y="189"/>
                    </a:lnTo>
                    <a:lnTo>
                      <a:pt x="31" y="192"/>
                    </a:lnTo>
                    <a:lnTo>
                      <a:pt x="26" y="195"/>
                    </a:lnTo>
                    <a:lnTo>
                      <a:pt x="20" y="196"/>
                    </a:lnTo>
                    <a:lnTo>
                      <a:pt x="15" y="198"/>
                    </a:lnTo>
                    <a:lnTo>
                      <a:pt x="9" y="198"/>
                    </a:lnTo>
                    <a:lnTo>
                      <a:pt x="5" y="200"/>
                    </a:lnTo>
                    <a:lnTo>
                      <a:pt x="0" y="200"/>
                    </a:lnTo>
                    <a:lnTo>
                      <a:pt x="6" y="200"/>
                    </a:lnTo>
                    <a:lnTo>
                      <a:pt x="11" y="200"/>
                    </a:lnTo>
                    <a:lnTo>
                      <a:pt x="17" y="201"/>
                    </a:lnTo>
                    <a:lnTo>
                      <a:pt x="22" y="203"/>
                    </a:lnTo>
                    <a:lnTo>
                      <a:pt x="26" y="204"/>
                    </a:lnTo>
                    <a:lnTo>
                      <a:pt x="31" y="206"/>
                    </a:lnTo>
                    <a:lnTo>
                      <a:pt x="40" y="212"/>
                    </a:lnTo>
                    <a:lnTo>
                      <a:pt x="45" y="215"/>
                    </a:lnTo>
                    <a:lnTo>
                      <a:pt x="48" y="220"/>
                    </a:lnTo>
                    <a:lnTo>
                      <a:pt x="51" y="223"/>
                    </a:lnTo>
                    <a:lnTo>
                      <a:pt x="53" y="228"/>
                    </a:lnTo>
                    <a:lnTo>
                      <a:pt x="56" y="233"/>
                    </a:lnTo>
                    <a:lnTo>
                      <a:pt x="57" y="237"/>
                    </a:lnTo>
                    <a:lnTo>
                      <a:pt x="59" y="242"/>
                    </a:lnTo>
                    <a:lnTo>
                      <a:pt x="59" y="247"/>
                    </a:lnTo>
                    <a:lnTo>
                      <a:pt x="59" y="252"/>
                    </a:lnTo>
                    <a:lnTo>
                      <a:pt x="57" y="258"/>
                    </a:lnTo>
                    <a:lnTo>
                      <a:pt x="57" y="263"/>
                    </a:lnTo>
                    <a:lnTo>
                      <a:pt x="56" y="267"/>
                    </a:lnTo>
                    <a:lnTo>
                      <a:pt x="53" y="270"/>
                    </a:lnTo>
                    <a:lnTo>
                      <a:pt x="50" y="275"/>
                    </a:lnTo>
                    <a:lnTo>
                      <a:pt x="47" y="280"/>
                    </a:lnTo>
                    <a:lnTo>
                      <a:pt x="43" y="283"/>
                    </a:lnTo>
                    <a:lnTo>
                      <a:pt x="36" y="289"/>
                    </a:lnTo>
                    <a:lnTo>
                      <a:pt x="31" y="292"/>
                    </a:lnTo>
                    <a:lnTo>
                      <a:pt x="26" y="294"/>
                    </a:lnTo>
                    <a:lnTo>
                      <a:pt x="20" y="296"/>
                    </a:lnTo>
                    <a:lnTo>
                      <a:pt x="15" y="297"/>
                    </a:lnTo>
                    <a:lnTo>
                      <a:pt x="9" y="299"/>
                    </a:lnTo>
                    <a:lnTo>
                      <a:pt x="5" y="299"/>
                    </a:lnTo>
                    <a:lnTo>
                      <a:pt x="0" y="299"/>
                    </a:lnTo>
                    <a:lnTo>
                      <a:pt x="6" y="299"/>
                    </a:lnTo>
                    <a:lnTo>
                      <a:pt x="11" y="299"/>
                    </a:lnTo>
                    <a:lnTo>
                      <a:pt x="17" y="300"/>
                    </a:lnTo>
                    <a:lnTo>
                      <a:pt x="22" y="302"/>
                    </a:lnTo>
                    <a:lnTo>
                      <a:pt x="26" y="303"/>
                    </a:lnTo>
                    <a:lnTo>
                      <a:pt x="31" y="307"/>
                    </a:lnTo>
                    <a:lnTo>
                      <a:pt x="40" y="311"/>
                    </a:lnTo>
                    <a:lnTo>
                      <a:pt x="45" y="316"/>
                    </a:lnTo>
                    <a:lnTo>
                      <a:pt x="48" y="319"/>
                    </a:lnTo>
                    <a:lnTo>
                      <a:pt x="51" y="324"/>
                    </a:lnTo>
                    <a:lnTo>
                      <a:pt x="53" y="327"/>
                    </a:lnTo>
                    <a:lnTo>
                      <a:pt x="56" y="332"/>
                    </a:lnTo>
                    <a:lnTo>
                      <a:pt x="57" y="336"/>
                    </a:lnTo>
                    <a:lnTo>
                      <a:pt x="59" y="341"/>
                    </a:lnTo>
                    <a:lnTo>
                      <a:pt x="59" y="348"/>
                    </a:lnTo>
                    <a:lnTo>
                      <a:pt x="59" y="352"/>
                    </a:lnTo>
                    <a:lnTo>
                      <a:pt x="57" y="357"/>
                    </a:lnTo>
                    <a:lnTo>
                      <a:pt x="57" y="362"/>
                    </a:lnTo>
                    <a:lnTo>
                      <a:pt x="56" y="366"/>
                    </a:lnTo>
                    <a:lnTo>
                      <a:pt x="53" y="371"/>
                    </a:lnTo>
                    <a:lnTo>
                      <a:pt x="50" y="376"/>
                    </a:lnTo>
                    <a:lnTo>
                      <a:pt x="47" y="379"/>
                    </a:lnTo>
                    <a:lnTo>
                      <a:pt x="43" y="382"/>
                    </a:lnTo>
                    <a:lnTo>
                      <a:pt x="36" y="388"/>
                    </a:lnTo>
                    <a:lnTo>
                      <a:pt x="31" y="392"/>
                    </a:lnTo>
                    <a:lnTo>
                      <a:pt x="26" y="395"/>
                    </a:lnTo>
                    <a:lnTo>
                      <a:pt x="20" y="396"/>
                    </a:lnTo>
                    <a:lnTo>
                      <a:pt x="15" y="398"/>
                    </a:lnTo>
                    <a:lnTo>
                      <a:pt x="9" y="398"/>
                    </a:lnTo>
                    <a:lnTo>
                      <a:pt x="5" y="399"/>
                    </a:lnTo>
                    <a:lnTo>
                      <a:pt x="0" y="39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17" name="Freeform 75"/>
              <p:cNvSpPr>
                <a:spLocks/>
              </p:cNvSpPr>
              <p:nvPr/>
            </p:nvSpPr>
            <p:spPr bwMode="auto">
              <a:xfrm>
                <a:off x="4201" y="1414"/>
                <a:ext cx="29" cy="200"/>
              </a:xfrm>
              <a:custGeom>
                <a:avLst/>
                <a:gdLst>
                  <a:gd name="T0" fmla="*/ 0 w 59"/>
                  <a:gd name="T1" fmla="*/ 0 h 400"/>
                  <a:gd name="T2" fmla="*/ 0 w 59"/>
                  <a:gd name="T3" fmla="*/ 1 h 400"/>
                  <a:gd name="T4" fmla="*/ 0 w 59"/>
                  <a:gd name="T5" fmla="*/ 1 h 400"/>
                  <a:gd name="T6" fmla="*/ 0 w 59"/>
                  <a:gd name="T7" fmla="*/ 1 h 400"/>
                  <a:gd name="T8" fmla="*/ 0 w 59"/>
                  <a:gd name="T9" fmla="*/ 1 h 400"/>
                  <a:gd name="T10" fmla="*/ 0 w 59"/>
                  <a:gd name="T11" fmla="*/ 1 h 400"/>
                  <a:gd name="T12" fmla="*/ 0 w 59"/>
                  <a:gd name="T13" fmla="*/ 1 h 400"/>
                  <a:gd name="T14" fmla="*/ 0 w 59"/>
                  <a:gd name="T15" fmla="*/ 1 h 400"/>
                  <a:gd name="T16" fmla="*/ 0 w 59"/>
                  <a:gd name="T17" fmla="*/ 1 h 400"/>
                  <a:gd name="T18" fmla="*/ 0 w 59"/>
                  <a:gd name="T19" fmla="*/ 2 h 400"/>
                  <a:gd name="T20" fmla="*/ 0 w 59"/>
                  <a:gd name="T21" fmla="*/ 2 h 400"/>
                  <a:gd name="T22" fmla="*/ 0 w 59"/>
                  <a:gd name="T23" fmla="*/ 2 h 400"/>
                  <a:gd name="T24" fmla="*/ 0 w 59"/>
                  <a:gd name="T25" fmla="*/ 2 h 400"/>
                  <a:gd name="T26" fmla="*/ 0 w 59"/>
                  <a:gd name="T27" fmla="*/ 2 h 400"/>
                  <a:gd name="T28" fmla="*/ 0 w 59"/>
                  <a:gd name="T29" fmla="*/ 2 h 400"/>
                  <a:gd name="T30" fmla="*/ 0 w 59"/>
                  <a:gd name="T31" fmla="*/ 2 h 400"/>
                  <a:gd name="T32" fmla="*/ 0 w 59"/>
                  <a:gd name="T33" fmla="*/ 2 h 400"/>
                  <a:gd name="T34" fmla="*/ 0 w 59"/>
                  <a:gd name="T35" fmla="*/ 2 h 400"/>
                  <a:gd name="T36" fmla="*/ 0 w 59"/>
                  <a:gd name="T37" fmla="*/ 2 h 400"/>
                  <a:gd name="T38" fmla="*/ 0 w 59"/>
                  <a:gd name="T39" fmla="*/ 2 h 400"/>
                  <a:gd name="T40" fmla="*/ 0 w 59"/>
                  <a:gd name="T41" fmla="*/ 2 h 400"/>
                  <a:gd name="T42" fmla="*/ 0 w 59"/>
                  <a:gd name="T43" fmla="*/ 3 h 400"/>
                  <a:gd name="T44" fmla="*/ 0 w 59"/>
                  <a:gd name="T45" fmla="*/ 3 h 400"/>
                  <a:gd name="T46" fmla="*/ 0 w 59"/>
                  <a:gd name="T47" fmla="*/ 3 h 400"/>
                  <a:gd name="T48" fmla="*/ 0 w 59"/>
                  <a:gd name="T49" fmla="*/ 3 h 400"/>
                  <a:gd name="T50" fmla="*/ 0 w 59"/>
                  <a:gd name="T51" fmla="*/ 3 h 400"/>
                  <a:gd name="T52" fmla="*/ 0 w 59"/>
                  <a:gd name="T53" fmla="*/ 3 h 400"/>
                  <a:gd name="T54" fmla="*/ 0 w 59"/>
                  <a:gd name="T55" fmla="*/ 3 h 400"/>
                  <a:gd name="T56" fmla="*/ 0 w 59"/>
                  <a:gd name="T57" fmla="*/ 4 h 400"/>
                  <a:gd name="T58" fmla="*/ 0 w 59"/>
                  <a:gd name="T59" fmla="*/ 4 h 400"/>
                  <a:gd name="T60" fmla="*/ 0 w 59"/>
                  <a:gd name="T61" fmla="*/ 4 h 400"/>
                  <a:gd name="T62" fmla="*/ 0 w 59"/>
                  <a:gd name="T63" fmla="*/ 4 h 400"/>
                  <a:gd name="T64" fmla="*/ 0 w 59"/>
                  <a:gd name="T65" fmla="*/ 4 h 400"/>
                  <a:gd name="T66" fmla="*/ 0 w 59"/>
                  <a:gd name="T67" fmla="*/ 4 h 400"/>
                  <a:gd name="T68" fmla="*/ 0 w 59"/>
                  <a:gd name="T69" fmla="*/ 4 h 400"/>
                  <a:gd name="T70" fmla="*/ 0 w 59"/>
                  <a:gd name="T71" fmla="*/ 4 h 400"/>
                  <a:gd name="T72" fmla="*/ 0 w 59"/>
                  <a:gd name="T73" fmla="*/ 4 h 400"/>
                  <a:gd name="T74" fmla="*/ 0 w 59"/>
                  <a:gd name="T75" fmla="*/ 4 h 400"/>
                  <a:gd name="T76" fmla="*/ 0 w 59"/>
                  <a:gd name="T77" fmla="*/ 4 h 400"/>
                  <a:gd name="T78" fmla="*/ 0 w 59"/>
                  <a:gd name="T79" fmla="*/ 5 h 400"/>
                  <a:gd name="T80" fmla="*/ 0 w 59"/>
                  <a:gd name="T81" fmla="*/ 5 h 400"/>
                  <a:gd name="T82" fmla="*/ 0 w 59"/>
                  <a:gd name="T83" fmla="*/ 5 h 400"/>
                  <a:gd name="T84" fmla="*/ 0 w 59"/>
                  <a:gd name="T85" fmla="*/ 5 h 400"/>
                  <a:gd name="T86" fmla="*/ 0 w 59"/>
                  <a:gd name="T87" fmla="*/ 5 h 400"/>
                  <a:gd name="T88" fmla="*/ 0 w 59"/>
                  <a:gd name="T89" fmla="*/ 5 h 400"/>
                  <a:gd name="T90" fmla="*/ 0 w 59"/>
                  <a:gd name="T91" fmla="*/ 5 h 400"/>
                  <a:gd name="T92" fmla="*/ 0 w 59"/>
                  <a:gd name="T93" fmla="*/ 5 h 400"/>
                  <a:gd name="T94" fmla="*/ 0 w 59"/>
                  <a:gd name="T95" fmla="*/ 5 h 400"/>
                  <a:gd name="T96" fmla="*/ 0 w 59"/>
                  <a:gd name="T97" fmla="*/ 5 h 400"/>
                  <a:gd name="T98" fmla="*/ 0 w 59"/>
                  <a:gd name="T99" fmla="*/ 5 h 400"/>
                  <a:gd name="T100" fmla="*/ 0 w 59"/>
                  <a:gd name="T101" fmla="*/ 5 h 400"/>
                  <a:gd name="T102" fmla="*/ 0 w 59"/>
                  <a:gd name="T103" fmla="*/ 6 h 400"/>
                  <a:gd name="T104" fmla="*/ 0 w 59"/>
                  <a:gd name="T105" fmla="*/ 6 h 400"/>
                  <a:gd name="T106" fmla="*/ 0 w 59"/>
                  <a:gd name="T107" fmla="*/ 6 h 400"/>
                  <a:gd name="T108" fmla="*/ 0 w 59"/>
                  <a:gd name="T109" fmla="*/ 6 h 400"/>
                  <a:gd name="T110" fmla="*/ 0 w 59"/>
                  <a:gd name="T111" fmla="*/ 6 h 400"/>
                  <a:gd name="T112" fmla="*/ 0 w 59"/>
                  <a:gd name="T113" fmla="*/ 6 h 400"/>
                  <a:gd name="T114" fmla="*/ 0 w 59"/>
                  <a:gd name="T115" fmla="*/ 6 h 400"/>
                  <a:gd name="T116" fmla="*/ 0 w 59"/>
                  <a:gd name="T117" fmla="*/ 7 h 400"/>
                  <a:gd name="T118" fmla="*/ 0 w 59"/>
                  <a:gd name="T119" fmla="*/ 7 h 400"/>
                  <a:gd name="T120" fmla="*/ 0 w 59"/>
                  <a:gd name="T121" fmla="*/ 7 h 400"/>
                  <a:gd name="T122" fmla="*/ 0 w 59"/>
                  <a:gd name="T123" fmla="*/ 7 h 40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59"/>
                  <a:gd name="T187" fmla="*/ 0 h 400"/>
                  <a:gd name="T188" fmla="*/ 59 w 59"/>
                  <a:gd name="T189" fmla="*/ 400 h 400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59" h="400">
                    <a:moveTo>
                      <a:pt x="59" y="0"/>
                    </a:moveTo>
                    <a:lnTo>
                      <a:pt x="53" y="0"/>
                    </a:lnTo>
                    <a:lnTo>
                      <a:pt x="47" y="0"/>
                    </a:lnTo>
                    <a:lnTo>
                      <a:pt x="42" y="2"/>
                    </a:lnTo>
                    <a:lnTo>
                      <a:pt x="36" y="4"/>
                    </a:lnTo>
                    <a:lnTo>
                      <a:pt x="31" y="5"/>
                    </a:lnTo>
                    <a:lnTo>
                      <a:pt x="26" y="8"/>
                    </a:lnTo>
                    <a:lnTo>
                      <a:pt x="19" y="13"/>
                    </a:lnTo>
                    <a:lnTo>
                      <a:pt x="14" y="16"/>
                    </a:lnTo>
                    <a:lnTo>
                      <a:pt x="11" y="21"/>
                    </a:lnTo>
                    <a:lnTo>
                      <a:pt x="8" y="24"/>
                    </a:lnTo>
                    <a:lnTo>
                      <a:pt x="5" y="29"/>
                    </a:lnTo>
                    <a:lnTo>
                      <a:pt x="3" y="34"/>
                    </a:lnTo>
                    <a:lnTo>
                      <a:pt x="1" y="38"/>
                    </a:lnTo>
                    <a:lnTo>
                      <a:pt x="0" y="43"/>
                    </a:lnTo>
                    <a:lnTo>
                      <a:pt x="0" y="48"/>
                    </a:lnTo>
                    <a:lnTo>
                      <a:pt x="0" y="54"/>
                    </a:lnTo>
                    <a:lnTo>
                      <a:pt x="0" y="59"/>
                    </a:lnTo>
                    <a:lnTo>
                      <a:pt x="1" y="63"/>
                    </a:lnTo>
                    <a:lnTo>
                      <a:pt x="3" y="68"/>
                    </a:lnTo>
                    <a:lnTo>
                      <a:pt x="6" y="73"/>
                    </a:lnTo>
                    <a:lnTo>
                      <a:pt x="8" y="76"/>
                    </a:lnTo>
                    <a:lnTo>
                      <a:pt x="11" y="81"/>
                    </a:lnTo>
                    <a:lnTo>
                      <a:pt x="14" y="84"/>
                    </a:lnTo>
                    <a:lnTo>
                      <a:pt x="23" y="90"/>
                    </a:lnTo>
                    <a:lnTo>
                      <a:pt x="28" y="93"/>
                    </a:lnTo>
                    <a:lnTo>
                      <a:pt x="33" y="95"/>
                    </a:lnTo>
                    <a:lnTo>
                      <a:pt x="37" y="96"/>
                    </a:lnTo>
                    <a:lnTo>
                      <a:pt x="43" y="98"/>
                    </a:lnTo>
                    <a:lnTo>
                      <a:pt x="48" y="100"/>
                    </a:lnTo>
                    <a:lnTo>
                      <a:pt x="54" y="100"/>
                    </a:lnTo>
                    <a:lnTo>
                      <a:pt x="59" y="100"/>
                    </a:lnTo>
                    <a:lnTo>
                      <a:pt x="53" y="100"/>
                    </a:lnTo>
                    <a:lnTo>
                      <a:pt x="47" y="101"/>
                    </a:lnTo>
                    <a:lnTo>
                      <a:pt x="42" y="101"/>
                    </a:lnTo>
                    <a:lnTo>
                      <a:pt x="36" y="103"/>
                    </a:lnTo>
                    <a:lnTo>
                      <a:pt x="31" y="106"/>
                    </a:lnTo>
                    <a:lnTo>
                      <a:pt x="26" y="107"/>
                    </a:lnTo>
                    <a:lnTo>
                      <a:pt x="19" y="114"/>
                    </a:lnTo>
                    <a:lnTo>
                      <a:pt x="14" y="117"/>
                    </a:lnTo>
                    <a:lnTo>
                      <a:pt x="11" y="120"/>
                    </a:lnTo>
                    <a:lnTo>
                      <a:pt x="8" y="125"/>
                    </a:lnTo>
                    <a:lnTo>
                      <a:pt x="5" y="130"/>
                    </a:lnTo>
                    <a:lnTo>
                      <a:pt x="3" y="133"/>
                    </a:lnTo>
                    <a:lnTo>
                      <a:pt x="1" y="137"/>
                    </a:lnTo>
                    <a:lnTo>
                      <a:pt x="0" y="144"/>
                    </a:lnTo>
                    <a:lnTo>
                      <a:pt x="0" y="148"/>
                    </a:lnTo>
                    <a:lnTo>
                      <a:pt x="0" y="153"/>
                    </a:lnTo>
                    <a:lnTo>
                      <a:pt x="0" y="158"/>
                    </a:lnTo>
                    <a:lnTo>
                      <a:pt x="1" y="163"/>
                    </a:lnTo>
                    <a:lnTo>
                      <a:pt x="3" y="167"/>
                    </a:lnTo>
                    <a:lnTo>
                      <a:pt x="6" y="172"/>
                    </a:lnTo>
                    <a:lnTo>
                      <a:pt x="8" y="177"/>
                    </a:lnTo>
                    <a:lnTo>
                      <a:pt x="11" y="180"/>
                    </a:lnTo>
                    <a:lnTo>
                      <a:pt x="14" y="185"/>
                    </a:lnTo>
                    <a:lnTo>
                      <a:pt x="23" y="191"/>
                    </a:lnTo>
                    <a:lnTo>
                      <a:pt x="28" y="192"/>
                    </a:lnTo>
                    <a:lnTo>
                      <a:pt x="33" y="196"/>
                    </a:lnTo>
                    <a:lnTo>
                      <a:pt x="37" y="197"/>
                    </a:lnTo>
                    <a:lnTo>
                      <a:pt x="43" y="199"/>
                    </a:lnTo>
                    <a:lnTo>
                      <a:pt x="48" y="200"/>
                    </a:lnTo>
                    <a:lnTo>
                      <a:pt x="54" y="200"/>
                    </a:lnTo>
                    <a:lnTo>
                      <a:pt x="59" y="200"/>
                    </a:lnTo>
                    <a:lnTo>
                      <a:pt x="53" y="200"/>
                    </a:lnTo>
                    <a:lnTo>
                      <a:pt x="47" y="200"/>
                    </a:lnTo>
                    <a:lnTo>
                      <a:pt x="42" y="202"/>
                    </a:lnTo>
                    <a:lnTo>
                      <a:pt x="36" y="203"/>
                    </a:lnTo>
                    <a:lnTo>
                      <a:pt x="31" y="205"/>
                    </a:lnTo>
                    <a:lnTo>
                      <a:pt x="26" y="208"/>
                    </a:lnTo>
                    <a:lnTo>
                      <a:pt x="19" y="213"/>
                    </a:lnTo>
                    <a:lnTo>
                      <a:pt x="14" y="216"/>
                    </a:lnTo>
                    <a:lnTo>
                      <a:pt x="11" y="221"/>
                    </a:lnTo>
                    <a:lnTo>
                      <a:pt x="8" y="224"/>
                    </a:lnTo>
                    <a:lnTo>
                      <a:pt x="5" y="229"/>
                    </a:lnTo>
                    <a:lnTo>
                      <a:pt x="3" y="233"/>
                    </a:lnTo>
                    <a:lnTo>
                      <a:pt x="1" y="238"/>
                    </a:lnTo>
                    <a:lnTo>
                      <a:pt x="0" y="243"/>
                    </a:lnTo>
                    <a:lnTo>
                      <a:pt x="0" y="248"/>
                    </a:lnTo>
                    <a:lnTo>
                      <a:pt x="0" y="254"/>
                    </a:lnTo>
                    <a:lnTo>
                      <a:pt x="0" y="259"/>
                    </a:lnTo>
                    <a:lnTo>
                      <a:pt x="1" y="263"/>
                    </a:lnTo>
                    <a:lnTo>
                      <a:pt x="3" y="268"/>
                    </a:lnTo>
                    <a:lnTo>
                      <a:pt x="6" y="273"/>
                    </a:lnTo>
                    <a:lnTo>
                      <a:pt x="8" y="276"/>
                    </a:lnTo>
                    <a:lnTo>
                      <a:pt x="11" y="281"/>
                    </a:lnTo>
                    <a:lnTo>
                      <a:pt x="14" y="284"/>
                    </a:lnTo>
                    <a:lnTo>
                      <a:pt x="23" y="290"/>
                    </a:lnTo>
                    <a:lnTo>
                      <a:pt x="28" y="293"/>
                    </a:lnTo>
                    <a:lnTo>
                      <a:pt x="33" y="295"/>
                    </a:lnTo>
                    <a:lnTo>
                      <a:pt x="37" y="298"/>
                    </a:lnTo>
                    <a:lnTo>
                      <a:pt x="43" y="298"/>
                    </a:lnTo>
                    <a:lnTo>
                      <a:pt x="48" y="299"/>
                    </a:lnTo>
                    <a:lnTo>
                      <a:pt x="54" y="299"/>
                    </a:lnTo>
                    <a:lnTo>
                      <a:pt x="59" y="299"/>
                    </a:lnTo>
                    <a:lnTo>
                      <a:pt x="53" y="299"/>
                    </a:lnTo>
                    <a:lnTo>
                      <a:pt x="47" y="301"/>
                    </a:lnTo>
                    <a:lnTo>
                      <a:pt x="42" y="301"/>
                    </a:lnTo>
                    <a:lnTo>
                      <a:pt x="36" y="303"/>
                    </a:lnTo>
                    <a:lnTo>
                      <a:pt x="31" y="306"/>
                    </a:lnTo>
                    <a:lnTo>
                      <a:pt x="26" y="307"/>
                    </a:lnTo>
                    <a:lnTo>
                      <a:pt x="19" y="314"/>
                    </a:lnTo>
                    <a:lnTo>
                      <a:pt x="14" y="317"/>
                    </a:lnTo>
                    <a:lnTo>
                      <a:pt x="11" y="320"/>
                    </a:lnTo>
                    <a:lnTo>
                      <a:pt x="8" y="325"/>
                    </a:lnTo>
                    <a:lnTo>
                      <a:pt x="5" y="329"/>
                    </a:lnTo>
                    <a:lnTo>
                      <a:pt x="3" y="332"/>
                    </a:lnTo>
                    <a:lnTo>
                      <a:pt x="1" y="337"/>
                    </a:lnTo>
                    <a:lnTo>
                      <a:pt x="0" y="344"/>
                    </a:lnTo>
                    <a:lnTo>
                      <a:pt x="0" y="348"/>
                    </a:lnTo>
                    <a:lnTo>
                      <a:pt x="0" y="353"/>
                    </a:lnTo>
                    <a:lnTo>
                      <a:pt x="0" y="358"/>
                    </a:lnTo>
                    <a:lnTo>
                      <a:pt x="1" y="362"/>
                    </a:lnTo>
                    <a:lnTo>
                      <a:pt x="3" y="367"/>
                    </a:lnTo>
                    <a:lnTo>
                      <a:pt x="6" y="372"/>
                    </a:lnTo>
                    <a:lnTo>
                      <a:pt x="8" y="377"/>
                    </a:lnTo>
                    <a:lnTo>
                      <a:pt x="11" y="380"/>
                    </a:lnTo>
                    <a:lnTo>
                      <a:pt x="14" y="384"/>
                    </a:lnTo>
                    <a:lnTo>
                      <a:pt x="23" y="391"/>
                    </a:lnTo>
                    <a:lnTo>
                      <a:pt x="28" y="392"/>
                    </a:lnTo>
                    <a:lnTo>
                      <a:pt x="33" y="395"/>
                    </a:lnTo>
                    <a:lnTo>
                      <a:pt x="37" y="397"/>
                    </a:lnTo>
                    <a:lnTo>
                      <a:pt x="43" y="399"/>
                    </a:lnTo>
                    <a:lnTo>
                      <a:pt x="48" y="400"/>
                    </a:lnTo>
                    <a:lnTo>
                      <a:pt x="54" y="400"/>
                    </a:lnTo>
                    <a:lnTo>
                      <a:pt x="59" y="40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18" name="Line 76"/>
              <p:cNvSpPr>
                <a:spLocks noChangeShapeType="1"/>
              </p:cNvSpPr>
              <p:nvPr/>
            </p:nvSpPr>
            <p:spPr bwMode="auto">
              <a:xfrm>
                <a:off x="4165" y="1419"/>
                <a:ext cx="1" cy="1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19" name="Line 77"/>
              <p:cNvSpPr>
                <a:spLocks noChangeShapeType="1"/>
              </p:cNvSpPr>
              <p:nvPr/>
            </p:nvSpPr>
            <p:spPr bwMode="auto">
              <a:xfrm flipV="1">
                <a:off x="4177" y="1419"/>
                <a:ext cx="1" cy="1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20" name="Rectangle 78"/>
              <p:cNvSpPr>
                <a:spLocks noChangeArrowheads="1"/>
              </p:cNvSpPr>
              <p:nvPr/>
            </p:nvSpPr>
            <p:spPr bwMode="auto">
              <a:xfrm>
                <a:off x="5125" y="1427"/>
                <a:ext cx="40" cy="100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78921" name="Rectangle 79"/>
              <p:cNvSpPr>
                <a:spLocks noChangeArrowheads="1"/>
              </p:cNvSpPr>
              <p:nvPr/>
            </p:nvSpPr>
            <p:spPr bwMode="auto">
              <a:xfrm>
                <a:off x="5125" y="1427"/>
                <a:ext cx="40" cy="100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78922" name="Line 80"/>
              <p:cNvSpPr>
                <a:spLocks noChangeShapeType="1"/>
              </p:cNvSpPr>
              <p:nvPr/>
            </p:nvSpPr>
            <p:spPr bwMode="auto">
              <a:xfrm>
                <a:off x="4948" y="1467"/>
                <a:ext cx="7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23" name="Line 81"/>
              <p:cNvSpPr>
                <a:spLocks noChangeShapeType="1"/>
              </p:cNvSpPr>
              <p:nvPr/>
            </p:nvSpPr>
            <p:spPr bwMode="auto">
              <a:xfrm>
                <a:off x="4948" y="1497"/>
                <a:ext cx="7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24" name="Line 82"/>
              <p:cNvSpPr>
                <a:spLocks noChangeShapeType="1"/>
              </p:cNvSpPr>
              <p:nvPr/>
            </p:nvSpPr>
            <p:spPr bwMode="auto">
              <a:xfrm>
                <a:off x="4987" y="1497"/>
                <a:ext cx="1" cy="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25" name="Line 83"/>
              <p:cNvSpPr>
                <a:spLocks noChangeShapeType="1"/>
              </p:cNvSpPr>
              <p:nvPr/>
            </p:nvSpPr>
            <p:spPr bwMode="auto">
              <a:xfrm flipV="1">
                <a:off x="4987" y="1377"/>
                <a:ext cx="1" cy="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26" name="Line 84"/>
              <p:cNvSpPr>
                <a:spLocks noChangeShapeType="1"/>
              </p:cNvSpPr>
              <p:nvPr/>
            </p:nvSpPr>
            <p:spPr bwMode="auto">
              <a:xfrm flipV="1">
                <a:off x="4987" y="1357"/>
                <a:ext cx="1" cy="2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27" name="Freeform 85"/>
              <p:cNvSpPr>
                <a:spLocks/>
              </p:cNvSpPr>
              <p:nvPr/>
            </p:nvSpPr>
            <p:spPr bwMode="auto">
              <a:xfrm>
                <a:off x="4101" y="1542"/>
                <a:ext cx="25" cy="25"/>
              </a:xfrm>
              <a:custGeom>
                <a:avLst/>
                <a:gdLst>
                  <a:gd name="T0" fmla="*/ 0 w 50"/>
                  <a:gd name="T1" fmla="*/ 0 h 51"/>
                  <a:gd name="T2" fmla="*/ 0 w 50"/>
                  <a:gd name="T3" fmla="*/ 0 h 51"/>
                  <a:gd name="T4" fmla="*/ 1 w 50"/>
                  <a:gd name="T5" fmla="*/ 0 h 51"/>
                  <a:gd name="T6" fmla="*/ 1 w 50"/>
                  <a:gd name="T7" fmla="*/ 0 h 51"/>
                  <a:gd name="T8" fmla="*/ 1 w 50"/>
                  <a:gd name="T9" fmla="*/ 0 h 51"/>
                  <a:gd name="T10" fmla="*/ 1 w 50"/>
                  <a:gd name="T11" fmla="*/ 0 h 51"/>
                  <a:gd name="T12" fmla="*/ 1 w 50"/>
                  <a:gd name="T13" fmla="*/ 0 h 51"/>
                  <a:gd name="T14" fmla="*/ 1 w 50"/>
                  <a:gd name="T15" fmla="*/ 0 h 51"/>
                  <a:gd name="T16" fmla="*/ 1 w 50"/>
                  <a:gd name="T17" fmla="*/ 0 h 51"/>
                  <a:gd name="T18" fmla="*/ 1 w 50"/>
                  <a:gd name="T19" fmla="*/ 0 h 51"/>
                  <a:gd name="T20" fmla="*/ 1 w 50"/>
                  <a:gd name="T21" fmla="*/ 0 h 51"/>
                  <a:gd name="T22" fmla="*/ 1 w 50"/>
                  <a:gd name="T23" fmla="*/ 0 h 51"/>
                  <a:gd name="T24" fmla="*/ 1 w 50"/>
                  <a:gd name="T25" fmla="*/ 0 h 51"/>
                  <a:gd name="T26" fmla="*/ 1 w 50"/>
                  <a:gd name="T27" fmla="*/ 0 h 51"/>
                  <a:gd name="T28" fmla="*/ 1 w 50"/>
                  <a:gd name="T29" fmla="*/ 0 h 51"/>
                  <a:gd name="T30" fmla="*/ 1 w 50"/>
                  <a:gd name="T31" fmla="*/ 0 h 51"/>
                  <a:gd name="T32" fmla="*/ 1 w 50"/>
                  <a:gd name="T33" fmla="*/ 0 h 51"/>
                  <a:gd name="T34" fmla="*/ 1 w 50"/>
                  <a:gd name="T35" fmla="*/ 0 h 51"/>
                  <a:gd name="T36" fmla="*/ 1 w 50"/>
                  <a:gd name="T37" fmla="*/ 0 h 51"/>
                  <a:gd name="T38" fmla="*/ 1 w 50"/>
                  <a:gd name="T39" fmla="*/ 0 h 51"/>
                  <a:gd name="T40" fmla="*/ 1 w 50"/>
                  <a:gd name="T41" fmla="*/ 0 h 51"/>
                  <a:gd name="T42" fmla="*/ 1 w 50"/>
                  <a:gd name="T43" fmla="*/ 0 h 51"/>
                  <a:gd name="T44" fmla="*/ 1 w 50"/>
                  <a:gd name="T45" fmla="*/ 0 h 51"/>
                  <a:gd name="T46" fmla="*/ 1 w 50"/>
                  <a:gd name="T47" fmla="*/ 0 h 51"/>
                  <a:gd name="T48" fmla="*/ 1 w 50"/>
                  <a:gd name="T49" fmla="*/ 0 h 51"/>
                  <a:gd name="T50" fmla="*/ 1 w 50"/>
                  <a:gd name="T51" fmla="*/ 0 h 51"/>
                  <a:gd name="T52" fmla="*/ 1 w 50"/>
                  <a:gd name="T53" fmla="*/ 0 h 51"/>
                  <a:gd name="T54" fmla="*/ 1 w 50"/>
                  <a:gd name="T55" fmla="*/ 0 h 51"/>
                  <a:gd name="T56" fmla="*/ 1 w 50"/>
                  <a:gd name="T57" fmla="*/ 0 h 51"/>
                  <a:gd name="T58" fmla="*/ 1 w 50"/>
                  <a:gd name="T59" fmla="*/ 0 h 51"/>
                  <a:gd name="T60" fmla="*/ 1 w 50"/>
                  <a:gd name="T61" fmla="*/ 0 h 51"/>
                  <a:gd name="T62" fmla="*/ 1 w 50"/>
                  <a:gd name="T63" fmla="*/ 0 h 51"/>
                  <a:gd name="T64" fmla="*/ 0 w 50"/>
                  <a:gd name="T65" fmla="*/ 0 h 51"/>
                  <a:gd name="T66" fmla="*/ 0 w 50"/>
                  <a:gd name="T67" fmla="*/ 0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1"/>
                  <a:gd name="T104" fmla="*/ 50 w 50"/>
                  <a:gd name="T105" fmla="*/ 51 h 5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1">
                    <a:moveTo>
                      <a:pt x="0" y="26"/>
                    </a:moveTo>
                    <a:lnTo>
                      <a:pt x="0" y="19"/>
                    </a:lnTo>
                    <a:lnTo>
                      <a:pt x="1" y="15"/>
                    </a:lnTo>
                    <a:lnTo>
                      <a:pt x="4" y="11"/>
                    </a:lnTo>
                    <a:lnTo>
                      <a:pt x="8" y="7"/>
                    </a:lnTo>
                    <a:lnTo>
                      <a:pt x="11" y="4"/>
                    </a:lnTo>
                    <a:lnTo>
                      <a:pt x="15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2"/>
                    </a:lnTo>
                    <a:lnTo>
                      <a:pt x="39" y="4"/>
                    </a:lnTo>
                    <a:lnTo>
                      <a:pt x="42" y="7"/>
                    </a:lnTo>
                    <a:lnTo>
                      <a:pt x="45" y="11"/>
                    </a:lnTo>
                    <a:lnTo>
                      <a:pt x="48" y="15"/>
                    </a:lnTo>
                    <a:lnTo>
                      <a:pt x="50" y="19"/>
                    </a:lnTo>
                    <a:lnTo>
                      <a:pt x="50" y="26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40"/>
                    </a:lnTo>
                    <a:lnTo>
                      <a:pt x="42" y="43"/>
                    </a:lnTo>
                    <a:lnTo>
                      <a:pt x="39" y="46"/>
                    </a:lnTo>
                    <a:lnTo>
                      <a:pt x="34" y="48"/>
                    </a:lnTo>
                    <a:lnTo>
                      <a:pt x="29" y="49"/>
                    </a:lnTo>
                    <a:lnTo>
                      <a:pt x="25" y="51"/>
                    </a:lnTo>
                    <a:lnTo>
                      <a:pt x="20" y="49"/>
                    </a:lnTo>
                    <a:lnTo>
                      <a:pt x="15" y="48"/>
                    </a:lnTo>
                    <a:lnTo>
                      <a:pt x="11" y="46"/>
                    </a:lnTo>
                    <a:lnTo>
                      <a:pt x="8" y="43"/>
                    </a:lnTo>
                    <a:lnTo>
                      <a:pt x="4" y="40"/>
                    </a:lnTo>
                    <a:lnTo>
                      <a:pt x="1" y="35"/>
                    </a:lnTo>
                    <a:lnTo>
                      <a:pt x="0" y="30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28" name="Freeform 86"/>
              <p:cNvSpPr>
                <a:spLocks/>
              </p:cNvSpPr>
              <p:nvPr/>
            </p:nvSpPr>
            <p:spPr bwMode="auto">
              <a:xfrm>
                <a:off x="4226" y="1416"/>
                <a:ext cx="25" cy="25"/>
              </a:xfrm>
              <a:custGeom>
                <a:avLst/>
                <a:gdLst>
                  <a:gd name="T0" fmla="*/ 0 w 49"/>
                  <a:gd name="T1" fmla="*/ 1 h 50"/>
                  <a:gd name="T2" fmla="*/ 0 w 49"/>
                  <a:gd name="T3" fmla="*/ 1 h 50"/>
                  <a:gd name="T4" fmla="*/ 1 w 49"/>
                  <a:gd name="T5" fmla="*/ 1 h 50"/>
                  <a:gd name="T6" fmla="*/ 1 w 49"/>
                  <a:gd name="T7" fmla="*/ 1 h 50"/>
                  <a:gd name="T8" fmla="*/ 1 w 49"/>
                  <a:gd name="T9" fmla="*/ 1 h 50"/>
                  <a:gd name="T10" fmla="*/ 1 w 49"/>
                  <a:gd name="T11" fmla="*/ 1 h 50"/>
                  <a:gd name="T12" fmla="*/ 1 w 49"/>
                  <a:gd name="T13" fmla="*/ 1 h 50"/>
                  <a:gd name="T14" fmla="*/ 1 w 49"/>
                  <a:gd name="T15" fmla="*/ 0 h 50"/>
                  <a:gd name="T16" fmla="*/ 1 w 49"/>
                  <a:gd name="T17" fmla="*/ 0 h 50"/>
                  <a:gd name="T18" fmla="*/ 1 w 49"/>
                  <a:gd name="T19" fmla="*/ 0 h 50"/>
                  <a:gd name="T20" fmla="*/ 1 w 49"/>
                  <a:gd name="T21" fmla="*/ 1 h 50"/>
                  <a:gd name="T22" fmla="*/ 1 w 49"/>
                  <a:gd name="T23" fmla="*/ 1 h 50"/>
                  <a:gd name="T24" fmla="*/ 1 w 49"/>
                  <a:gd name="T25" fmla="*/ 1 h 50"/>
                  <a:gd name="T26" fmla="*/ 1 w 49"/>
                  <a:gd name="T27" fmla="*/ 1 h 50"/>
                  <a:gd name="T28" fmla="*/ 1 w 49"/>
                  <a:gd name="T29" fmla="*/ 1 h 50"/>
                  <a:gd name="T30" fmla="*/ 1 w 49"/>
                  <a:gd name="T31" fmla="*/ 1 h 50"/>
                  <a:gd name="T32" fmla="*/ 1 w 49"/>
                  <a:gd name="T33" fmla="*/ 1 h 50"/>
                  <a:gd name="T34" fmla="*/ 1 w 49"/>
                  <a:gd name="T35" fmla="*/ 1 h 50"/>
                  <a:gd name="T36" fmla="*/ 1 w 49"/>
                  <a:gd name="T37" fmla="*/ 1 h 50"/>
                  <a:gd name="T38" fmla="*/ 1 w 49"/>
                  <a:gd name="T39" fmla="*/ 1 h 50"/>
                  <a:gd name="T40" fmla="*/ 1 w 49"/>
                  <a:gd name="T41" fmla="*/ 1 h 50"/>
                  <a:gd name="T42" fmla="*/ 1 w 49"/>
                  <a:gd name="T43" fmla="*/ 1 h 50"/>
                  <a:gd name="T44" fmla="*/ 1 w 49"/>
                  <a:gd name="T45" fmla="*/ 1 h 50"/>
                  <a:gd name="T46" fmla="*/ 1 w 49"/>
                  <a:gd name="T47" fmla="*/ 1 h 50"/>
                  <a:gd name="T48" fmla="*/ 1 w 49"/>
                  <a:gd name="T49" fmla="*/ 1 h 50"/>
                  <a:gd name="T50" fmla="*/ 1 w 49"/>
                  <a:gd name="T51" fmla="*/ 1 h 50"/>
                  <a:gd name="T52" fmla="*/ 1 w 49"/>
                  <a:gd name="T53" fmla="*/ 1 h 50"/>
                  <a:gd name="T54" fmla="*/ 1 w 49"/>
                  <a:gd name="T55" fmla="*/ 1 h 50"/>
                  <a:gd name="T56" fmla="*/ 1 w 49"/>
                  <a:gd name="T57" fmla="*/ 1 h 50"/>
                  <a:gd name="T58" fmla="*/ 1 w 49"/>
                  <a:gd name="T59" fmla="*/ 1 h 50"/>
                  <a:gd name="T60" fmla="*/ 1 w 49"/>
                  <a:gd name="T61" fmla="*/ 1 h 50"/>
                  <a:gd name="T62" fmla="*/ 1 w 49"/>
                  <a:gd name="T63" fmla="*/ 1 h 50"/>
                  <a:gd name="T64" fmla="*/ 0 w 49"/>
                  <a:gd name="T65" fmla="*/ 1 h 50"/>
                  <a:gd name="T66" fmla="*/ 0 w 49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49"/>
                  <a:gd name="T103" fmla="*/ 0 h 50"/>
                  <a:gd name="T104" fmla="*/ 49 w 49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49" h="50">
                    <a:moveTo>
                      <a:pt x="0" y="25"/>
                    </a:moveTo>
                    <a:lnTo>
                      <a:pt x="0" y="19"/>
                    </a:lnTo>
                    <a:lnTo>
                      <a:pt x="1" y="14"/>
                    </a:lnTo>
                    <a:lnTo>
                      <a:pt x="3" y="11"/>
                    </a:lnTo>
                    <a:lnTo>
                      <a:pt x="6" y="6"/>
                    </a:lnTo>
                    <a:lnTo>
                      <a:pt x="11" y="3"/>
                    </a:lnTo>
                    <a:lnTo>
                      <a:pt x="14" y="1"/>
                    </a:lnTo>
                    <a:lnTo>
                      <a:pt x="18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1"/>
                    </a:lnTo>
                    <a:lnTo>
                      <a:pt x="37" y="3"/>
                    </a:lnTo>
                    <a:lnTo>
                      <a:pt x="42" y="6"/>
                    </a:lnTo>
                    <a:lnTo>
                      <a:pt x="45" y="11"/>
                    </a:lnTo>
                    <a:lnTo>
                      <a:pt x="46" y="14"/>
                    </a:lnTo>
                    <a:lnTo>
                      <a:pt x="48" y="19"/>
                    </a:lnTo>
                    <a:lnTo>
                      <a:pt x="49" y="25"/>
                    </a:lnTo>
                    <a:lnTo>
                      <a:pt x="48" y="30"/>
                    </a:lnTo>
                    <a:lnTo>
                      <a:pt x="46" y="34"/>
                    </a:lnTo>
                    <a:lnTo>
                      <a:pt x="45" y="39"/>
                    </a:lnTo>
                    <a:lnTo>
                      <a:pt x="42" y="42"/>
                    </a:lnTo>
                    <a:lnTo>
                      <a:pt x="37" y="45"/>
                    </a:lnTo>
                    <a:lnTo>
                      <a:pt x="34" y="47"/>
                    </a:lnTo>
                    <a:lnTo>
                      <a:pt x="29" y="48"/>
                    </a:lnTo>
                    <a:lnTo>
                      <a:pt x="25" y="50"/>
                    </a:lnTo>
                    <a:lnTo>
                      <a:pt x="18" y="48"/>
                    </a:lnTo>
                    <a:lnTo>
                      <a:pt x="14" y="47"/>
                    </a:lnTo>
                    <a:lnTo>
                      <a:pt x="11" y="45"/>
                    </a:lnTo>
                    <a:lnTo>
                      <a:pt x="6" y="42"/>
                    </a:lnTo>
                    <a:lnTo>
                      <a:pt x="3" y="39"/>
                    </a:lnTo>
                    <a:lnTo>
                      <a:pt x="1" y="34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29" name="Rectangle 87"/>
              <p:cNvSpPr>
                <a:spLocks noChangeArrowheads="1"/>
              </p:cNvSpPr>
              <p:nvPr/>
            </p:nvSpPr>
            <p:spPr bwMode="auto">
              <a:xfrm>
                <a:off x="5057" y="1389"/>
                <a:ext cx="49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 i="1">
                    <a:solidFill>
                      <a:srgbClr val="000000"/>
                    </a:solidFill>
                    <a:latin typeface="Times New Roman" pitchFamily="18" charset="0"/>
                  </a:rPr>
                  <a:t>R</a:t>
                </a:r>
                <a:endParaRPr lang="en-US" altLang="zh-CN"/>
              </a:p>
            </p:txBody>
          </p:sp>
          <p:sp>
            <p:nvSpPr>
              <p:cNvPr id="78930" name="Freeform 88"/>
              <p:cNvSpPr>
                <a:spLocks noEditPoints="1"/>
              </p:cNvSpPr>
              <p:nvPr/>
            </p:nvSpPr>
            <p:spPr bwMode="auto">
              <a:xfrm>
                <a:off x="3869" y="1268"/>
                <a:ext cx="12" cy="112"/>
              </a:xfrm>
              <a:custGeom>
                <a:avLst/>
                <a:gdLst>
                  <a:gd name="T0" fmla="*/ 1 w 24"/>
                  <a:gd name="T1" fmla="*/ 3 h 225"/>
                  <a:gd name="T2" fmla="*/ 1 w 24"/>
                  <a:gd name="T3" fmla="*/ 3 h 225"/>
                  <a:gd name="T4" fmla="*/ 1 w 24"/>
                  <a:gd name="T5" fmla="*/ 3 h 225"/>
                  <a:gd name="T6" fmla="*/ 0 w 24"/>
                  <a:gd name="T7" fmla="*/ 3 h 225"/>
                  <a:gd name="T8" fmla="*/ 0 w 24"/>
                  <a:gd name="T9" fmla="*/ 3 h 225"/>
                  <a:gd name="T10" fmla="*/ 1 w 24"/>
                  <a:gd name="T11" fmla="*/ 3 h 225"/>
                  <a:gd name="T12" fmla="*/ 1 w 24"/>
                  <a:gd name="T13" fmla="*/ 3 h 225"/>
                  <a:gd name="T14" fmla="*/ 1 w 24"/>
                  <a:gd name="T15" fmla="*/ 3 h 225"/>
                  <a:gd name="T16" fmla="*/ 1 w 24"/>
                  <a:gd name="T17" fmla="*/ 3 h 225"/>
                  <a:gd name="T18" fmla="*/ 1 w 24"/>
                  <a:gd name="T19" fmla="*/ 3 h 225"/>
                  <a:gd name="T20" fmla="*/ 1 w 24"/>
                  <a:gd name="T21" fmla="*/ 3 h 225"/>
                  <a:gd name="T22" fmla="*/ 1 w 24"/>
                  <a:gd name="T23" fmla="*/ 3 h 225"/>
                  <a:gd name="T24" fmla="*/ 1 w 24"/>
                  <a:gd name="T25" fmla="*/ 3 h 225"/>
                  <a:gd name="T26" fmla="*/ 1 w 24"/>
                  <a:gd name="T27" fmla="*/ 3 h 225"/>
                  <a:gd name="T28" fmla="*/ 1 w 24"/>
                  <a:gd name="T29" fmla="*/ 3 h 225"/>
                  <a:gd name="T30" fmla="*/ 1 w 24"/>
                  <a:gd name="T31" fmla="*/ 3 h 225"/>
                  <a:gd name="T32" fmla="*/ 1 w 24"/>
                  <a:gd name="T33" fmla="*/ 3 h 225"/>
                  <a:gd name="T34" fmla="*/ 1 w 24"/>
                  <a:gd name="T35" fmla="*/ 3 h 225"/>
                  <a:gd name="T36" fmla="*/ 1 w 24"/>
                  <a:gd name="T37" fmla="*/ 0 h 225"/>
                  <a:gd name="T38" fmla="*/ 1 w 24"/>
                  <a:gd name="T39" fmla="*/ 0 h 225"/>
                  <a:gd name="T40" fmla="*/ 1 w 24"/>
                  <a:gd name="T41" fmla="*/ 0 h 225"/>
                  <a:gd name="T42" fmla="*/ 0 w 24"/>
                  <a:gd name="T43" fmla="*/ 0 h 225"/>
                  <a:gd name="T44" fmla="*/ 0 w 24"/>
                  <a:gd name="T45" fmla="*/ 0 h 225"/>
                  <a:gd name="T46" fmla="*/ 1 w 24"/>
                  <a:gd name="T47" fmla="*/ 0 h 225"/>
                  <a:gd name="T48" fmla="*/ 1 w 24"/>
                  <a:gd name="T49" fmla="*/ 0 h 225"/>
                  <a:gd name="T50" fmla="*/ 1 w 24"/>
                  <a:gd name="T51" fmla="*/ 0 h 225"/>
                  <a:gd name="T52" fmla="*/ 1 w 24"/>
                  <a:gd name="T53" fmla="*/ 0 h 225"/>
                  <a:gd name="T54" fmla="*/ 1 w 24"/>
                  <a:gd name="T55" fmla="*/ 0 h 225"/>
                  <a:gd name="T56" fmla="*/ 1 w 24"/>
                  <a:gd name="T57" fmla="*/ 0 h 225"/>
                  <a:gd name="T58" fmla="*/ 1 w 24"/>
                  <a:gd name="T59" fmla="*/ 0 h 225"/>
                  <a:gd name="T60" fmla="*/ 1 w 24"/>
                  <a:gd name="T61" fmla="*/ 0 h 225"/>
                  <a:gd name="T62" fmla="*/ 1 w 24"/>
                  <a:gd name="T63" fmla="*/ 0 h 225"/>
                  <a:gd name="T64" fmla="*/ 1 w 24"/>
                  <a:gd name="T65" fmla="*/ 0 h 225"/>
                  <a:gd name="T66" fmla="*/ 1 w 24"/>
                  <a:gd name="T67" fmla="*/ 0 h 225"/>
                  <a:gd name="T68" fmla="*/ 1 w 24"/>
                  <a:gd name="T69" fmla="*/ 0 h 225"/>
                  <a:gd name="T70" fmla="*/ 1 w 24"/>
                  <a:gd name="T71" fmla="*/ 0 h 225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4"/>
                  <a:gd name="T109" fmla="*/ 0 h 225"/>
                  <a:gd name="T110" fmla="*/ 24 w 24"/>
                  <a:gd name="T111" fmla="*/ 225 h 225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4" h="225">
                    <a:moveTo>
                      <a:pt x="12" y="200"/>
                    </a:moveTo>
                    <a:lnTo>
                      <a:pt x="9" y="200"/>
                    </a:lnTo>
                    <a:lnTo>
                      <a:pt x="7" y="201"/>
                    </a:lnTo>
                    <a:lnTo>
                      <a:pt x="4" y="201"/>
                    </a:lnTo>
                    <a:lnTo>
                      <a:pt x="3" y="203"/>
                    </a:lnTo>
                    <a:lnTo>
                      <a:pt x="1" y="204"/>
                    </a:lnTo>
                    <a:lnTo>
                      <a:pt x="0" y="208"/>
                    </a:lnTo>
                    <a:lnTo>
                      <a:pt x="0" y="209"/>
                    </a:lnTo>
                    <a:lnTo>
                      <a:pt x="0" y="212"/>
                    </a:lnTo>
                    <a:lnTo>
                      <a:pt x="0" y="214"/>
                    </a:lnTo>
                    <a:lnTo>
                      <a:pt x="0" y="217"/>
                    </a:lnTo>
                    <a:lnTo>
                      <a:pt x="1" y="219"/>
                    </a:lnTo>
                    <a:lnTo>
                      <a:pt x="3" y="222"/>
                    </a:lnTo>
                    <a:lnTo>
                      <a:pt x="4" y="222"/>
                    </a:lnTo>
                    <a:lnTo>
                      <a:pt x="7" y="223"/>
                    </a:lnTo>
                    <a:lnTo>
                      <a:pt x="9" y="225"/>
                    </a:lnTo>
                    <a:lnTo>
                      <a:pt x="12" y="225"/>
                    </a:lnTo>
                    <a:lnTo>
                      <a:pt x="14" y="225"/>
                    </a:lnTo>
                    <a:lnTo>
                      <a:pt x="17" y="223"/>
                    </a:lnTo>
                    <a:lnTo>
                      <a:pt x="18" y="222"/>
                    </a:lnTo>
                    <a:lnTo>
                      <a:pt x="20" y="222"/>
                    </a:lnTo>
                    <a:lnTo>
                      <a:pt x="21" y="219"/>
                    </a:lnTo>
                    <a:lnTo>
                      <a:pt x="23" y="217"/>
                    </a:lnTo>
                    <a:lnTo>
                      <a:pt x="23" y="214"/>
                    </a:lnTo>
                    <a:lnTo>
                      <a:pt x="24" y="212"/>
                    </a:lnTo>
                    <a:lnTo>
                      <a:pt x="23" y="209"/>
                    </a:lnTo>
                    <a:lnTo>
                      <a:pt x="23" y="208"/>
                    </a:lnTo>
                    <a:lnTo>
                      <a:pt x="21" y="204"/>
                    </a:lnTo>
                    <a:lnTo>
                      <a:pt x="20" y="203"/>
                    </a:lnTo>
                    <a:lnTo>
                      <a:pt x="18" y="201"/>
                    </a:lnTo>
                    <a:lnTo>
                      <a:pt x="17" y="201"/>
                    </a:lnTo>
                    <a:lnTo>
                      <a:pt x="14" y="200"/>
                    </a:lnTo>
                    <a:lnTo>
                      <a:pt x="12" y="200"/>
                    </a:lnTo>
                    <a:close/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1"/>
                    </a:lnTo>
                    <a:lnTo>
                      <a:pt x="3" y="3"/>
                    </a:lnTo>
                    <a:lnTo>
                      <a:pt x="1" y="5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1" y="19"/>
                    </a:lnTo>
                    <a:lnTo>
                      <a:pt x="3" y="22"/>
                    </a:lnTo>
                    <a:lnTo>
                      <a:pt x="4" y="22"/>
                    </a:lnTo>
                    <a:lnTo>
                      <a:pt x="7" y="23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3"/>
                    </a:lnTo>
                    <a:lnTo>
                      <a:pt x="18" y="23"/>
                    </a:lnTo>
                    <a:lnTo>
                      <a:pt x="20" y="22"/>
                    </a:lnTo>
                    <a:lnTo>
                      <a:pt x="21" y="19"/>
                    </a:lnTo>
                    <a:lnTo>
                      <a:pt x="23" y="17"/>
                    </a:lnTo>
                    <a:lnTo>
                      <a:pt x="23" y="16"/>
                    </a:lnTo>
                    <a:lnTo>
                      <a:pt x="24" y="12"/>
                    </a:lnTo>
                    <a:lnTo>
                      <a:pt x="23" y="9"/>
                    </a:lnTo>
                    <a:lnTo>
                      <a:pt x="23" y="8"/>
                    </a:lnTo>
                    <a:lnTo>
                      <a:pt x="21" y="5"/>
                    </a:lnTo>
                    <a:lnTo>
                      <a:pt x="20" y="3"/>
                    </a:lnTo>
                    <a:lnTo>
                      <a:pt x="18" y="1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31" name="Freeform 89"/>
              <p:cNvSpPr>
                <a:spLocks/>
              </p:cNvSpPr>
              <p:nvPr/>
            </p:nvSpPr>
            <p:spPr bwMode="auto">
              <a:xfrm>
                <a:off x="3869" y="1368"/>
                <a:ext cx="12" cy="12"/>
              </a:xfrm>
              <a:custGeom>
                <a:avLst/>
                <a:gdLst>
                  <a:gd name="T0" fmla="*/ 1 w 24"/>
                  <a:gd name="T1" fmla="*/ 0 h 25"/>
                  <a:gd name="T2" fmla="*/ 1 w 24"/>
                  <a:gd name="T3" fmla="*/ 0 h 25"/>
                  <a:gd name="T4" fmla="*/ 1 w 24"/>
                  <a:gd name="T5" fmla="*/ 0 h 25"/>
                  <a:gd name="T6" fmla="*/ 1 w 24"/>
                  <a:gd name="T7" fmla="*/ 0 h 25"/>
                  <a:gd name="T8" fmla="*/ 1 w 24"/>
                  <a:gd name="T9" fmla="*/ 0 h 25"/>
                  <a:gd name="T10" fmla="*/ 1 w 24"/>
                  <a:gd name="T11" fmla="*/ 0 h 25"/>
                  <a:gd name="T12" fmla="*/ 0 w 24"/>
                  <a:gd name="T13" fmla="*/ 0 h 25"/>
                  <a:gd name="T14" fmla="*/ 0 w 24"/>
                  <a:gd name="T15" fmla="*/ 0 h 25"/>
                  <a:gd name="T16" fmla="*/ 0 w 24"/>
                  <a:gd name="T17" fmla="*/ 0 h 25"/>
                  <a:gd name="T18" fmla="*/ 0 w 24"/>
                  <a:gd name="T19" fmla="*/ 0 h 25"/>
                  <a:gd name="T20" fmla="*/ 0 w 24"/>
                  <a:gd name="T21" fmla="*/ 0 h 25"/>
                  <a:gd name="T22" fmla="*/ 1 w 24"/>
                  <a:gd name="T23" fmla="*/ 0 h 25"/>
                  <a:gd name="T24" fmla="*/ 1 w 24"/>
                  <a:gd name="T25" fmla="*/ 0 h 25"/>
                  <a:gd name="T26" fmla="*/ 1 w 24"/>
                  <a:gd name="T27" fmla="*/ 0 h 25"/>
                  <a:gd name="T28" fmla="*/ 1 w 24"/>
                  <a:gd name="T29" fmla="*/ 0 h 25"/>
                  <a:gd name="T30" fmla="*/ 1 w 24"/>
                  <a:gd name="T31" fmla="*/ 0 h 25"/>
                  <a:gd name="T32" fmla="*/ 1 w 24"/>
                  <a:gd name="T33" fmla="*/ 0 h 25"/>
                  <a:gd name="T34" fmla="*/ 1 w 24"/>
                  <a:gd name="T35" fmla="*/ 0 h 25"/>
                  <a:gd name="T36" fmla="*/ 1 w 24"/>
                  <a:gd name="T37" fmla="*/ 0 h 25"/>
                  <a:gd name="T38" fmla="*/ 1 w 24"/>
                  <a:gd name="T39" fmla="*/ 0 h 25"/>
                  <a:gd name="T40" fmla="*/ 1 w 24"/>
                  <a:gd name="T41" fmla="*/ 0 h 25"/>
                  <a:gd name="T42" fmla="*/ 1 w 24"/>
                  <a:gd name="T43" fmla="*/ 0 h 25"/>
                  <a:gd name="T44" fmla="*/ 1 w 24"/>
                  <a:gd name="T45" fmla="*/ 0 h 25"/>
                  <a:gd name="T46" fmla="*/ 1 w 24"/>
                  <a:gd name="T47" fmla="*/ 0 h 25"/>
                  <a:gd name="T48" fmla="*/ 1 w 24"/>
                  <a:gd name="T49" fmla="*/ 0 h 25"/>
                  <a:gd name="T50" fmla="*/ 1 w 24"/>
                  <a:gd name="T51" fmla="*/ 0 h 25"/>
                  <a:gd name="T52" fmla="*/ 1 w 24"/>
                  <a:gd name="T53" fmla="*/ 0 h 25"/>
                  <a:gd name="T54" fmla="*/ 1 w 24"/>
                  <a:gd name="T55" fmla="*/ 0 h 25"/>
                  <a:gd name="T56" fmla="*/ 1 w 24"/>
                  <a:gd name="T57" fmla="*/ 0 h 25"/>
                  <a:gd name="T58" fmla="*/ 1 w 24"/>
                  <a:gd name="T59" fmla="*/ 0 h 25"/>
                  <a:gd name="T60" fmla="*/ 1 w 24"/>
                  <a:gd name="T61" fmla="*/ 0 h 25"/>
                  <a:gd name="T62" fmla="*/ 1 w 24"/>
                  <a:gd name="T63" fmla="*/ 0 h 25"/>
                  <a:gd name="T64" fmla="*/ 1 w 24"/>
                  <a:gd name="T65" fmla="*/ 0 h 25"/>
                  <a:gd name="T66" fmla="*/ 1 w 24"/>
                  <a:gd name="T67" fmla="*/ 0 h 25"/>
                  <a:gd name="T68" fmla="*/ 1 w 24"/>
                  <a:gd name="T69" fmla="*/ 0 h 2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4"/>
                  <a:gd name="T106" fmla="*/ 0 h 25"/>
                  <a:gd name="T107" fmla="*/ 24 w 24"/>
                  <a:gd name="T108" fmla="*/ 25 h 25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4" h="25"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1"/>
                    </a:lnTo>
                    <a:lnTo>
                      <a:pt x="3" y="3"/>
                    </a:lnTo>
                    <a:lnTo>
                      <a:pt x="1" y="4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1" y="19"/>
                    </a:lnTo>
                    <a:lnTo>
                      <a:pt x="3" y="22"/>
                    </a:lnTo>
                    <a:lnTo>
                      <a:pt x="4" y="22"/>
                    </a:lnTo>
                    <a:lnTo>
                      <a:pt x="7" y="23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3"/>
                    </a:lnTo>
                    <a:lnTo>
                      <a:pt x="18" y="22"/>
                    </a:lnTo>
                    <a:lnTo>
                      <a:pt x="20" y="22"/>
                    </a:lnTo>
                    <a:lnTo>
                      <a:pt x="21" y="19"/>
                    </a:lnTo>
                    <a:lnTo>
                      <a:pt x="23" y="17"/>
                    </a:lnTo>
                    <a:lnTo>
                      <a:pt x="23" y="14"/>
                    </a:lnTo>
                    <a:lnTo>
                      <a:pt x="24" y="12"/>
                    </a:lnTo>
                    <a:lnTo>
                      <a:pt x="23" y="9"/>
                    </a:lnTo>
                    <a:lnTo>
                      <a:pt x="23" y="8"/>
                    </a:lnTo>
                    <a:lnTo>
                      <a:pt x="21" y="4"/>
                    </a:lnTo>
                    <a:lnTo>
                      <a:pt x="20" y="3"/>
                    </a:lnTo>
                    <a:lnTo>
                      <a:pt x="18" y="1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32" name="Freeform 90"/>
              <p:cNvSpPr>
                <a:spLocks/>
              </p:cNvSpPr>
              <p:nvPr/>
            </p:nvSpPr>
            <p:spPr bwMode="auto">
              <a:xfrm>
                <a:off x="3869" y="1268"/>
                <a:ext cx="12" cy="13"/>
              </a:xfrm>
              <a:custGeom>
                <a:avLst/>
                <a:gdLst>
                  <a:gd name="T0" fmla="*/ 1 w 24"/>
                  <a:gd name="T1" fmla="*/ 0 h 25"/>
                  <a:gd name="T2" fmla="*/ 1 w 24"/>
                  <a:gd name="T3" fmla="*/ 0 h 25"/>
                  <a:gd name="T4" fmla="*/ 1 w 24"/>
                  <a:gd name="T5" fmla="*/ 1 h 25"/>
                  <a:gd name="T6" fmla="*/ 1 w 24"/>
                  <a:gd name="T7" fmla="*/ 1 h 25"/>
                  <a:gd name="T8" fmla="*/ 1 w 24"/>
                  <a:gd name="T9" fmla="*/ 1 h 25"/>
                  <a:gd name="T10" fmla="*/ 1 w 24"/>
                  <a:gd name="T11" fmla="*/ 1 h 25"/>
                  <a:gd name="T12" fmla="*/ 0 w 24"/>
                  <a:gd name="T13" fmla="*/ 1 h 25"/>
                  <a:gd name="T14" fmla="*/ 0 w 24"/>
                  <a:gd name="T15" fmla="*/ 1 h 25"/>
                  <a:gd name="T16" fmla="*/ 0 w 24"/>
                  <a:gd name="T17" fmla="*/ 1 h 25"/>
                  <a:gd name="T18" fmla="*/ 0 w 24"/>
                  <a:gd name="T19" fmla="*/ 1 h 25"/>
                  <a:gd name="T20" fmla="*/ 0 w 24"/>
                  <a:gd name="T21" fmla="*/ 1 h 25"/>
                  <a:gd name="T22" fmla="*/ 1 w 24"/>
                  <a:gd name="T23" fmla="*/ 1 h 25"/>
                  <a:gd name="T24" fmla="*/ 1 w 24"/>
                  <a:gd name="T25" fmla="*/ 1 h 25"/>
                  <a:gd name="T26" fmla="*/ 1 w 24"/>
                  <a:gd name="T27" fmla="*/ 1 h 25"/>
                  <a:gd name="T28" fmla="*/ 1 w 24"/>
                  <a:gd name="T29" fmla="*/ 1 h 25"/>
                  <a:gd name="T30" fmla="*/ 1 w 24"/>
                  <a:gd name="T31" fmla="*/ 1 h 25"/>
                  <a:gd name="T32" fmla="*/ 1 w 24"/>
                  <a:gd name="T33" fmla="*/ 1 h 25"/>
                  <a:gd name="T34" fmla="*/ 1 w 24"/>
                  <a:gd name="T35" fmla="*/ 1 h 25"/>
                  <a:gd name="T36" fmla="*/ 1 w 24"/>
                  <a:gd name="T37" fmla="*/ 1 h 25"/>
                  <a:gd name="T38" fmla="*/ 1 w 24"/>
                  <a:gd name="T39" fmla="*/ 1 h 25"/>
                  <a:gd name="T40" fmla="*/ 1 w 24"/>
                  <a:gd name="T41" fmla="*/ 1 h 25"/>
                  <a:gd name="T42" fmla="*/ 1 w 24"/>
                  <a:gd name="T43" fmla="*/ 1 h 25"/>
                  <a:gd name="T44" fmla="*/ 1 w 24"/>
                  <a:gd name="T45" fmla="*/ 1 h 25"/>
                  <a:gd name="T46" fmla="*/ 1 w 24"/>
                  <a:gd name="T47" fmla="*/ 1 h 25"/>
                  <a:gd name="T48" fmla="*/ 1 w 24"/>
                  <a:gd name="T49" fmla="*/ 1 h 25"/>
                  <a:gd name="T50" fmla="*/ 1 w 24"/>
                  <a:gd name="T51" fmla="*/ 1 h 25"/>
                  <a:gd name="T52" fmla="*/ 1 w 24"/>
                  <a:gd name="T53" fmla="*/ 1 h 25"/>
                  <a:gd name="T54" fmla="*/ 1 w 24"/>
                  <a:gd name="T55" fmla="*/ 1 h 25"/>
                  <a:gd name="T56" fmla="*/ 1 w 24"/>
                  <a:gd name="T57" fmla="*/ 1 h 25"/>
                  <a:gd name="T58" fmla="*/ 1 w 24"/>
                  <a:gd name="T59" fmla="*/ 1 h 25"/>
                  <a:gd name="T60" fmla="*/ 1 w 24"/>
                  <a:gd name="T61" fmla="*/ 1 h 25"/>
                  <a:gd name="T62" fmla="*/ 1 w 24"/>
                  <a:gd name="T63" fmla="*/ 1 h 25"/>
                  <a:gd name="T64" fmla="*/ 1 w 24"/>
                  <a:gd name="T65" fmla="*/ 0 h 25"/>
                  <a:gd name="T66" fmla="*/ 1 w 24"/>
                  <a:gd name="T67" fmla="*/ 0 h 25"/>
                  <a:gd name="T68" fmla="*/ 1 w 24"/>
                  <a:gd name="T69" fmla="*/ 0 h 2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4"/>
                  <a:gd name="T106" fmla="*/ 0 h 25"/>
                  <a:gd name="T107" fmla="*/ 24 w 24"/>
                  <a:gd name="T108" fmla="*/ 25 h 25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4" h="25"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1"/>
                    </a:lnTo>
                    <a:lnTo>
                      <a:pt x="3" y="3"/>
                    </a:lnTo>
                    <a:lnTo>
                      <a:pt x="1" y="5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1" y="19"/>
                    </a:lnTo>
                    <a:lnTo>
                      <a:pt x="3" y="22"/>
                    </a:lnTo>
                    <a:lnTo>
                      <a:pt x="4" y="22"/>
                    </a:lnTo>
                    <a:lnTo>
                      <a:pt x="7" y="23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3"/>
                    </a:lnTo>
                    <a:lnTo>
                      <a:pt x="18" y="23"/>
                    </a:lnTo>
                    <a:lnTo>
                      <a:pt x="20" y="22"/>
                    </a:lnTo>
                    <a:lnTo>
                      <a:pt x="21" y="19"/>
                    </a:lnTo>
                    <a:lnTo>
                      <a:pt x="23" y="17"/>
                    </a:lnTo>
                    <a:lnTo>
                      <a:pt x="23" y="16"/>
                    </a:lnTo>
                    <a:lnTo>
                      <a:pt x="24" y="12"/>
                    </a:lnTo>
                    <a:lnTo>
                      <a:pt x="23" y="9"/>
                    </a:lnTo>
                    <a:lnTo>
                      <a:pt x="23" y="8"/>
                    </a:lnTo>
                    <a:lnTo>
                      <a:pt x="21" y="5"/>
                    </a:lnTo>
                    <a:lnTo>
                      <a:pt x="20" y="3"/>
                    </a:lnTo>
                    <a:lnTo>
                      <a:pt x="18" y="1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33" name="Line 91"/>
              <p:cNvSpPr>
                <a:spLocks noChangeShapeType="1"/>
              </p:cNvSpPr>
              <p:nvPr/>
            </p:nvSpPr>
            <p:spPr bwMode="auto">
              <a:xfrm>
                <a:off x="3877" y="1280"/>
                <a:ext cx="29" cy="8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34" name="Freeform 92"/>
              <p:cNvSpPr>
                <a:spLocks/>
              </p:cNvSpPr>
              <p:nvPr/>
            </p:nvSpPr>
            <p:spPr bwMode="auto">
              <a:xfrm>
                <a:off x="4974" y="1321"/>
                <a:ext cx="25" cy="26"/>
              </a:xfrm>
              <a:custGeom>
                <a:avLst/>
                <a:gdLst>
                  <a:gd name="T0" fmla="*/ 0 w 50"/>
                  <a:gd name="T1" fmla="*/ 1 h 50"/>
                  <a:gd name="T2" fmla="*/ 1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1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2" y="20"/>
                    </a:lnTo>
                    <a:lnTo>
                      <a:pt x="3" y="16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1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1" y="0"/>
                    </a:lnTo>
                    <a:lnTo>
                      <a:pt x="36" y="1"/>
                    </a:lnTo>
                    <a:lnTo>
                      <a:pt x="39" y="5"/>
                    </a:lnTo>
                    <a:lnTo>
                      <a:pt x="44" y="8"/>
                    </a:lnTo>
                    <a:lnTo>
                      <a:pt x="47" y="11"/>
                    </a:lnTo>
                    <a:lnTo>
                      <a:pt x="48" y="16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4"/>
                    </a:lnTo>
                    <a:lnTo>
                      <a:pt x="47" y="39"/>
                    </a:lnTo>
                    <a:lnTo>
                      <a:pt x="44" y="42"/>
                    </a:lnTo>
                    <a:lnTo>
                      <a:pt x="39" y="45"/>
                    </a:lnTo>
                    <a:lnTo>
                      <a:pt x="36" y="49"/>
                    </a:lnTo>
                    <a:lnTo>
                      <a:pt x="31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6" y="49"/>
                    </a:lnTo>
                    <a:lnTo>
                      <a:pt x="11" y="45"/>
                    </a:lnTo>
                    <a:lnTo>
                      <a:pt x="8" y="42"/>
                    </a:lnTo>
                    <a:lnTo>
                      <a:pt x="5" y="39"/>
                    </a:lnTo>
                    <a:lnTo>
                      <a:pt x="3" y="34"/>
                    </a:lnTo>
                    <a:lnTo>
                      <a:pt x="2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35" name="Line 93"/>
              <p:cNvSpPr>
                <a:spLocks noChangeShapeType="1"/>
              </p:cNvSpPr>
              <p:nvPr/>
            </p:nvSpPr>
            <p:spPr bwMode="auto">
              <a:xfrm flipH="1" flipV="1">
                <a:off x="4230" y="1334"/>
                <a:ext cx="1" cy="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36" name="Freeform 94"/>
              <p:cNvSpPr>
                <a:spLocks/>
              </p:cNvSpPr>
              <p:nvPr/>
            </p:nvSpPr>
            <p:spPr bwMode="auto">
              <a:xfrm>
                <a:off x="4893" y="1333"/>
                <a:ext cx="253" cy="94"/>
              </a:xfrm>
              <a:custGeom>
                <a:avLst/>
                <a:gdLst>
                  <a:gd name="T0" fmla="*/ 8 w 506"/>
                  <a:gd name="T1" fmla="*/ 3 h 188"/>
                  <a:gd name="T2" fmla="*/ 8 w 506"/>
                  <a:gd name="T3" fmla="*/ 1 h 188"/>
                  <a:gd name="T4" fmla="*/ 0 w 506"/>
                  <a:gd name="T5" fmla="*/ 0 h 188"/>
                  <a:gd name="T6" fmla="*/ 0 60000 65536"/>
                  <a:gd name="T7" fmla="*/ 0 60000 65536"/>
                  <a:gd name="T8" fmla="*/ 0 60000 65536"/>
                  <a:gd name="T9" fmla="*/ 0 w 506"/>
                  <a:gd name="T10" fmla="*/ 0 h 188"/>
                  <a:gd name="T11" fmla="*/ 506 w 506"/>
                  <a:gd name="T12" fmla="*/ 188 h 1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06" h="188">
                    <a:moveTo>
                      <a:pt x="506" y="188"/>
                    </a:moveTo>
                    <a:lnTo>
                      <a:pt x="506" y="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37" name="Line 95"/>
              <p:cNvSpPr>
                <a:spLocks noChangeShapeType="1"/>
              </p:cNvSpPr>
              <p:nvPr/>
            </p:nvSpPr>
            <p:spPr bwMode="auto">
              <a:xfrm flipH="1" flipV="1">
                <a:off x="4986" y="1333"/>
                <a:ext cx="1" cy="2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38" name="Freeform 96"/>
              <p:cNvSpPr>
                <a:spLocks/>
              </p:cNvSpPr>
              <p:nvPr/>
            </p:nvSpPr>
            <p:spPr bwMode="auto">
              <a:xfrm>
                <a:off x="4696" y="1304"/>
                <a:ext cx="197" cy="30"/>
              </a:xfrm>
              <a:custGeom>
                <a:avLst/>
                <a:gdLst>
                  <a:gd name="T0" fmla="*/ 0 w 395"/>
                  <a:gd name="T1" fmla="*/ 1 h 60"/>
                  <a:gd name="T2" fmla="*/ 0 w 395"/>
                  <a:gd name="T3" fmla="*/ 1 h 60"/>
                  <a:gd name="T4" fmla="*/ 0 w 395"/>
                  <a:gd name="T5" fmla="*/ 1 h 60"/>
                  <a:gd name="T6" fmla="*/ 0 w 395"/>
                  <a:gd name="T7" fmla="*/ 1 h 60"/>
                  <a:gd name="T8" fmla="*/ 0 w 395"/>
                  <a:gd name="T9" fmla="*/ 1 h 60"/>
                  <a:gd name="T10" fmla="*/ 0 w 395"/>
                  <a:gd name="T11" fmla="*/ 1 h 60"/>
                  <a:gd name="T12" fmla="*/ 0 w 395"/>
                  <a:gd name="T13" fmla="*/ 1 h 60"/>
                  <a:gd name="T14" fmla="*/ 0 w 395"/>
                  <a:gd name="T15" fmla="*/ 0 h 60"/>
                  <a:gd name="T16" fmla="*/ 0 w 395"/>
                  <a:gd name="T17" fmla="*/ 0 h 60"/>
                  <a:gd name="T18" fmla="*/ 1 w 395"/>
                  <a:gd name="T19" fmla="*/ 1 h 60"/>
                  <a:gd name="T20" fmla="*/ 1 w 395"/>
                  <a:gd name="T21" fmla="*/ 1 h 60"/>
                  <a:gd name="T22" fmla="*/ 1 w 395"/>
                  <a:gd name="T23" fmla="*/ 1 h 60"/>
                  <a:gd name="T24" fmla="*/ 1 w 395"/>
                  <a:gd name="T25" fmla="*/ 1 h 60"/>
                  <a:gd name="T26" fmla="*/ 1 w 395"/>
                  <a:gd name="T27" fmla="*/ 1 h 60"/>
                  <a:gd name="T28" fmla="*/ 1 w 395"/>
                  <a:gd name="T29" fmla="*/ 1 h 60"/>
                  <a:gd name="T30" fmla="*/ 1 w 395"/>
                  <a:gd name="T31" fmla="*/ 1 h 60"/>
                  <a:gd name="T32" fmla="*/ 1 w 395"/>
                  <a:gd name="T33" fmla="*/ 1 h 60"/>
                  <a:gd name="T34" fmla="*/ 1 w 395"/>
                  <a:gd name="T35" fmla="*/ 1 h 60"/>
                  <a:gd name="T36" fmla="*/ 1 w 395"/>
                  <a:gd name="T37" fmla="*/ 1 h 60"/>
                  <a:gd name="T38" fmla="*/ 1 w 395"/>
                  <a:gd name="T39" fmla="*/ 1 h 60"/>
                  <a:gd name="T40" fmla="*/ 1 w 395"/>
                  <a:gd name="T41" fmla="*/ 1 h 60"/>
                  <a:gd name="T42" fmla="*/ 2 w 395"/>
                  <a:gd name="T43" fmla="*/ 1 h 60"/>
                  <a:gd name="T44" fmla="*/ 2 w 395"/>
                  <a:gd name="T45" fmla="*/ 0 h 60"/>
                  <a:gd name="T46" fmla="*/ 2 w 395"/>
                  <a:gd name="T47" fmla="*/ 0 h 60"/>
                  <a:gd name="T48" fmla="*/ 2 w 395"/>
                  <a:gd name="T49" fmla="*/ 1 h 60"/>
                  <a:gd name="T50" fmla="*/ 2 w 395"/>
                  <a:gd name="T51" fmla="*/ 1 h 60"/>
                  <a:gd name="T52" fmla="*/ 2 w 395"/>
                  <a:gd name="T53" fmla="*/ 1 h 60"/>
                  <a:gd name="T54" fmla="*/ 2 w 395"/>
                  <a:gd name="T55" fmla="*/ 1 h 60"/>
                  <a:gd name="T56" fmla="*/ 3 w 395"/>
                  <a:gd name="T57" fmla="*/ 1 h 60"/>
                  <a:gd name="T58" fmla="*/ 3 w 395"/>
                  <a:gd name="T59" fmla="*/ 1 h 60"/>
                  <a:gd name="T60" fmla="*/ 3 w 395"/>
                  <a:gd name="T61" fmla="*/ 1 h 60"/>
                  <a:gd name="T62" fmla="*/ 3 w 395"/>
                  <a:gd name="T63" fmla="*/ 1 h 60"/>
                  <a:gd name="T64" fmla="*/ 3 w 395"/>
                  <a:gd name="T65" fmla="*/ 1 h 60"/>
                  <a:gd name="T66" fmla="*/ 3 w 395"/>
                  <a:gd name="T67" fmla="*/ 1 h 60"/>
                  <a:gd name="T68" fmla="*/ 3 w 395"/>
                  <a:gd name="T69" fmla="*/ 1 h 60"/>
                  <a:gd name="T70" fmla="*/ 3 w 395"/>
                  <a:gd name="T71" fmla="*/ 1 h 60"/>
                  <a:gd name="T72" fmla="*/ 3 w 395"/>
                  <a:gd name="T73" fmla="*/ 1 h 60"/>
                  <a:gd name="T74" fmla="*/ 3 w 395"/>
                  <a:gd name="T75" fmla="*/ 1 h 60"/>
                  <a:gd name="T76" fmla="*/ 3 w 395"/>
                  <a:gd name="T77" fmla="*/ 0 h 60"/>
                  <a:gd name="T78" fmla="*/ 3 w 395"/>
                  <a:gd name="T79" fmla="*/ 0 h 60"/>
                  <a:gd name="T80" fmla="*/ 4 w 395"/>
                  <a:gd name="T81" fmla="*/ 1 h 60"/>
                  <a:gd name="T82" fmla="*/ 4 w 395"/>
                  <a:gd name="T83" fmla="*/ 1 h 60"/>
                  <a:gd name="T84" fmla="*/ 4 w 395"/>
                  <a:gd name="T85" fmla="*/ 1 h 60"/>
                  <a:gd name="T86" fmla="*/ 4 w 395"/>
                  <a:gd name="T87" fmla="*/ 1 h 60"/>
                  <a:gd name="T88" fmla="*/ 4 w 395"/>
                  <a:gd name="T89" fmla="*/ 1 h 60"/>
                  <a:gd name="T90" fmla="*/ 4 w 395"/>
                  <a:gd name="T91" fmla="*/ 1 h 60"/>
                  <a:gd name="T92" fmla="*/ 4 w 395"/>
                  <a:gd name="T93" fmla="*/ 1 h 60"/>
                  <a:gd name="T94" fmla="*/ 4 w 395"/>
                  <a:gd name="T95" fmla="*/ 1 h 60"/>
                  <a:gd name="T96" fmla="*/ 4 w 395"/>
                  <a:gd name="T97" fmla="*/ 1 h 60"/>
                  <a:gd name="T98" fmla="*/ 4 w 395"/>
                  <a:gd name="T99" fmla="*/ 1 h 60"/>
                  <a:gd name="T100" fmla="*/ 4 w 395"/>
                  <a:gd name="T101" fmla="*/ 1 h 60"/>
                  <a:gd name="T102" fmla="*/ 5 w 395"/>
                  <a:gd name="T103" fmla="*/ 1 h 60"/>
                  <a:gd name="T104" fmla="*/ 5 w 395"/>
                  <a:gd name="T105" fmla="*/ 1 h 60"/>
                  <a:gd name="T106" fmla="*/ 5 w 395"/>
                  <a:gd name="T107" fmla="*/ 0 h 60"/>
                  <a:gd name="T108" fmla="*/ 5 w 395"/>
                  <a:gd name="T109" fmla="*/ 0 h 60"/>
                  <a:gd name="T110" fmla="*/ 5 w 395"/>
                  <a:gd name="T111" fmla="*/ 1 h 60"/>
                  <a:gd name="T112" fmla="*/ 5 w 395"/>
                  <a:gd name="T113" fmla="*/ 1 h 60"/>
                  <a:gd name="T114" fmla="*/ 5 w 395"/>
                  <a:gd name="T115" fmla="*/ 1 h 60"/>
                  <a:gd name="T116" fmla="*/ 6 w 395"/>
                  <a:gd name="T117" fmla="*/ 1 h 60"/>
                  <a:gd name="T118" fmla="*/ 6 w 395"/>
                  <a:gd name="T119" fmla="*/ 1 h 60"/>
                  <a:gd name="T120" fmla="*/ 6 w 395"/>
                  <a:gd name="T121" fmla="*/ 1 h 60"/>
                  <a:gd name="T122" fmla="*/ 6 w 395"/>
                  <a:gd name="T123" fmla="*/ 1 h 6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395"/>
                  <a:gd name="T187" fmla="*/ 0 h 60"/>
                  <a:gd name="T188" fmla="*/ 395 w 395"/>
                  <a:gd name="T189" fmla="*/ 60 h 60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395" h="60">
                    <a:moveTo>
                      <a:pt x="0" y="60"/>
                    </a:moveTo>
                    <a:lnTo>
                      <a:pt x="0" y="54"/>
                    </a:lnTo>
                    <a:lnTo>
                      <a:pt x="0" y="49"/>
                    </a:lnTo>
                    <a:lnTo>
                      <a:pt x="2" y="43"/>
                    </a:lnTo>
                    <a:lnTo>
                      <a:pt x="3" y="38"/>
                    </a:lnTo>
                    <a:lnTo>
                      <a:pt x="5" y="33"/>
                    </a:lnTo>
                    <a:lnTo>
                      <a:pt x="6" y="27"/>
                    </a:lnTo>
                    <a:lnTo>
                      <a:pt x="13" y="19"/>
                    </a:lnTo>
                    <a:lnTo>
                      <a:pt x="16" y="14"/>
                    </a:lnTo>
                    <a:lnTo>
                      <a:pt x="20" y="11"/>
                    </a:lnTo>
                    <a:lnTo>
                      <a:pt x="24" y="8"/>
                    </a:lnTo>
                    <a:lnTo>
                      <a:pt x="28" y="5"/>
                    </a:lnTo>
                    <a:lnTo>
                      <a:pt x="33" y="3"/>
                    </a:lnTo>
                    <a:lnTo>
                      <a:pt x="38" y="2"/>
                    </a:lnTo>
                    <a:lnTo>
                      <a:pt x="42" y="0"/>
                    </a:lnTo>
                    <a:lnTo>
                      <a:pt x="47" y="0"/>
                    </a:lnTo>
                    <a:lnTo>
                      <a:pt x="52" y="0"/>
                    </a:lnTo>
                    <a:lnTo>
                      <a:pt x="58" y="0"/>
                    </a:lnTo>
                    <a:lnTo>
                      <a:pt x="62" y="2"/>
                    </a:lnTo>
                    <a:lnTo>
                      <a:pt x="67" y="3"/>
                    </a:lnTo>
                    <a:lnTo>
                      <a:pt x="70" y="7"/>
                    </a:lnTo>
                    <a:lnTo>
                      <a:pt x="75" y="10"/>
                    </a:lnTo>
                    <a:lnTo>
                      <a:pt x="80" y="13"/>
                    </a:lnTo>
                    <a:lnTo>
                      <a:pt x="83" y="16"/>
                    </a:lnTo>
                    <a:lnTo>
                      <a:pt x="89" y="24"/>
                    </a:lnTo>
                    <a:lnTo>
                      <a:pt x="92" y="29"/>
                    </a:lnTo>
                    <a:lnTo>
                      <a:pt x="94" y="33"/>
                    </a:lnTo>
                    <a:lnTo>
                      <a:pt x="95" y="38"/>
                    </a:lnTo>
                    <a:lnTo>
                      <a:pt x="97" y="44"/>
                    </a:lnTo>
                    <a:lnTo>
                      <a:pt x="98" y="51"/>
                    </a:lnTo>
                    <a:lnTo>
                      <a:pt x="98" y="55"/>
                    </a:lnTo>
                    <a:lnTo>
                      <a:pt x="98" y="60"/>
                    </a:lnTo>
                    <a:lnTo>
                      <a:pt x="98" y="54"/>
                    </a:lnTo>
                    <a:lnTo>
                      <a:pt x="100" y="49"/>
                    </a:lnTo>
                    <a:lnTo>
                      <a:pt x="100" y="43"/>
                    </a:lnTo>
                    <a:lnTo>
                      <a:pt x="101" y="38"/>
                    </a:lnTo>
                    <a:lnTo>
                      <a:pt x="103" y="33"/>
                    </a:lnTo>
                    <a:lnTo>
                      <a:pt x="106" y="27"/>
                    </a:lnTo>
                    <a:lnTo>
                      <a:pt x="112" y="19"/>
                    </a:lnTo>
                    <a:lnTo>
                      <a:pt x="115" y="14"/>
                    </a:lnTo>
                    <a:lnTo>
                      <a:pt x="118" y="11"/>
                    </a:lnTo>
                    <a:lnTo>
                      <a:pt x="123" y="8"/>
                    </a:lnTo>
                    <a:lnTo>
                      <a:pt x="126" y="5"/>
                    </a:lnTo>
                    <a:lnTo>
                      <a:pt x="131" y="3"/>
                    </a:lnTo>
                    <a:lnTo>
                      <a:pt x="136" y="2"/>
                    </a:lnTo>
                    <a:lnTo>
                      <a:pt x="140" y="0"/>
                    </a:lnTo>
                    <a:lnTo>
                      <a:pt x="146" y="0"/>
                    </a:lnTo>
                    <a:lnTo>
                      <a:pt x="151" y="0"/>
                    </a:lnTo>
                    <a:lnTo>
                      <a:pt x="156" y="0"/>
                    </a:lnTo>
                    <a:lnTo>
                      <a:pt x="160" y="2"/>
                    </a:lnTo>
                    <a:lnTo>
                      <a:pt x="165" y="3"/>
                    </a:lnTo>
                    <a:lnTo>
                      <a:pt x="170" y="7"/>
                    </a:lnTo>
                    <a:lnTo>
                      <a:pt x="174" y="10"/>
                    </a:lnTo>
                    <a:lnTo>
                      <a:pt x="178" y="13"/>
                    </a:lnTo>
                    <a:lnTo>
                      <a:pt x="181" y="16"/>
                    </a:lnTo>
                    <a:lnTo>
                      <a:pt x="188" y="24"/>
                    </a:lnTo>
                    <a:lnTo>
                      <a:pt x="190" y="29"/>
                    </a:lnTo>
                    <a:lnTo>
                      <a:pt x="193" y="33"/>
                    </a:lnTo>
                    <a:lnTo>
                      <a:pt x="195" y="38"/>
                    </a:lnTo>
                    <a:lnTo>
                      <a:pt x="196" y="44"/>
                    </a:lnTo>
                    <a:lnTo>
                      <a:pt x="196" y="51"/>
                    </a:lnTo>
                    <a:lnTo>
                      <a:pt x="198" y="55"/>
                    </a:lnTo>
                    <a:lnTo>
                      <a:pt x="198" y="60"/>
                    </a:lnTo>
                    <a:lnTo>
                      <a:pt x="198" y="54"/>
                    </a:lnTo>
                    <a:lnTo>
                      <a:pt x="198" y="49"/>
                    </a:lnTo>
                    <a:lnTo>
                      <a:pt x="199" y="43"/>
                    </a:lnTo>
                    <a:lnTo>
                      <a:pt x="201" y="38"/>
                    </a:lnTo>
                    <a:lnTo>
                      <a:pt x="202" y="33"/>
                    </a:lnTo>
                    <a:lnTo>
                      <a:pt x="204" y="27"/>
                    </a:lnTo>
                    <a:lnTo>
                      <a:pt x="210" y="19"/>
                    </a:lnTo>
                    <a:lnTo>
                      <a:pt x="213" y="14"/>
                    </a:lnTo>
                    <a:lnTo>
                      <a:pt x="218" y="11"/>
                    </a:lnTo>
                    <a:lnTo>
                      <a:pt x="221" y="8"/>
                    </a:lnTo>
                    <a:lnTo>
                      <a:pt x="226" y="5"/>
                    </a:lnTo>
                    <a:lnTo>
                      <a:pt x="230" y="3"/>
                    </a:lnTo>
                    <a:lnTo>
                      <a:pt x="235" y="2"/>
                    </a:lnTo>
                    <a:lnTo>
                      <a:pt x="240" y="0"/>
                    </a:lnTo>
                    <a:lnTo>
                      <a:pt x="244" y="0"/>
                    </a:lnTo>
                    <a:lnTo>
                      <a:pt x="249" y="0"/>
                    </a:lnTo>
                    <a:lnTo>
                      <a:pt x="255" y="0"/>
                    </a:lnTo>
                    <a:lnTo>
                      <a:pt x="260" y="2"/>
                    </a:lnTo>
                    <a:lnTo>
                      <a:pt x="265" y="3"/>
                    </a:lnTo>
                    <a:lnTo>
                      <a:pt x="268" y="7"/>
                    </a:lnTo>
                    <a:lnTo>
                      <a:pt x="272" y="10"/>
                    </a:lnTo>
                    <a:lnTo>
                      <a:pt x="277" y="13"/>
                    </a:lnTo>
                    <a:lnTo>
                      <a:pt x="280" y="16"/>
                    </a:lnTo>
                    <a:lnTo>
                      <a:pt x="286" y="24"/>
                    </a:lnTo>
                    <a:lnTo>
                      <a:pt x="290" y="29"/>
                    </a:lnTo>
                    <a:lnTo>
                      <a:pt x="291" y="33"/>
                    </a:lnTo>
                    <a:lnTo>
                      <a:pt x="293" y="38"/>
                    </a:lnTo>
                    <a:lnTo>
                      <a:pt x="294" y="44"/>
                    </a:lnTo>
                    <a:lnTo>
                      <a:pt x="296" y="51"/>
                    </a:lnTo>
                    <a:lnTo>
                      <a:pt x="296" y="55"/>
                    </a:lnTo>
                    <a:lnTo>
                      <a:pt x="296" y="60"/>
                    </a:lnTo>
                    <a:lnTo>
                      <a:pt x="296" y="54"/>
                    </a:lnTo>
                    <a:lnTo>
                      <a:pt x="297" y="49"/>
                    </a:lnTo>
                    <a:lnTo>
                      <a:pt x="297" y="43"/>
                    </a:lnTo>
                    <a:lnTo>
                      <a:pt x="299" y="38"/>
                    </a:lnTo>
                    <a:lnTo>
                      <a:pt x="300" y="33"/>
                    </a:lnTo>
                    <a:lnTo>
                      <a:pt x="304" y="27"/>
                    </a:lnTo>
                    <a:lnTo>
                      <a:pt x="310" y="19"/>
                    </a:lnTo>
                    <a:lnTo>
                      <a:pt x="313" y="14"/>
                    </a:lnTo>
                    <a:lnTo>
                      <a:pt x="316" y="11"/>
                    </a:lnTo>
                    <a:lnTo>
                      <a:pt x="321" y="8"/>
                    </a:lnTo>
                    <a:lnTo>
                      <a:pt x="324" y="5"/>
                    </a:lnTo>
                    <a:lnTo>
                      <a:pt x="328" y="3"/>
                    </a:lnTo>
                    <a:lnTo>
                      <a:pt x="333" y="2"/>
                    </a:lnTo>
                    <a:lnTo>
                      <a:pt x="338" y="0"/>
                    </a:lnTo>
                    <a:lnTo>
                      <a:pt x="344" y="0"/>
                    </a:lnTo>
                    <a:lnTo>
                      <a:pt x="349" y="0"/>
                    </a:lnTo>
                    <a:lnTo>
                      <a:pt x="353" y="0"/>
                    </a:lnTo>
                    <a:lnTo>
                      <a:pt x="358" y="2"/>
                    </a:lnTo>
                    <a:lnTo>
                      <a:pt x="363" y="3"/>
                    </a:lnTo>
                    <a:lnTo>
                      <a:pt x="367" y="7"/>
                    </a:lnTo>
                    <a:lnTo>
                      <a:pt x="372" y="10"/>
                    </a:lnTo>
                    <a:lnTo>
                      <a:pt x="375" y="13"/>
                    </a:lnTo>
                    <a:lnTo>
                      <a:pt x="380" y="16"/>
                    </a:lnTo>
                    <a:lnTo>
                      <a:pt x="386" y="24"/>
                    </a:lnTo>
                    <a:lnTo>
                      <a:pt x="388" y="29"/>
                    </a:lnTo>
                    <a:lnTo>
                      <a:pt x="391" y="33"/>
                    </a:lnTo>
                    <a:lnTo>
                      <a:pt x="392" y="38"/>
                    </a:lnTo>
                    <a:lnTo>
                      <a:pt x="394" y="44"/>
                    </a:lnTo>
                    <a:lnTo>
                      <a:pt x="394" y="51"/>
                    </a:lnTo>
                    <a:lnTo>
                      <a:pt x="395" y="55"/>
                    </a:lnTo>
                    <a:lnTo>
                      <a:pt x="395" y="6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39" name="Rectangle 97"/>
              <p:cNvSpPr>
                <a:spLocks noChangeArrowheads="1"/>
              </p:cNvSpPr>
              <p:nvPr/>
            </p:nvSpPr>
            <p:spPr bwMode="auto">
              <a:xfrm>
                <a:off x="4416" y="1233"/>
                <a:ext cx="28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7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endParaRPr lang="en-US" altLang="zh-CN"/>
              </a:p>
            </p:txBody>
          </p:sp>
          <p:sp>
            <p:nvSpPr>
              <p:cNvPr id="78940" name="Rectangle 98"/>
              <p:cNvSpPr>
                <a:spLocks noChangeArrowheads="1"/>
              </p:cNvSpPr>
              <p:nvPr/>
            </p:nvSpPr>
            <p:spPr bwMode="auto">
              <a:xfrm>
                <a:off x="4367" y="1197"/>
                <a:ext cx="58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  <a:endParaRPr lang="en-US" altLang="zh-CN"/>
              </a:p>
            </p:txBody>
          </p:sp>
          <p:sp>
            <p:nvSpPr>
              <p:cNvPr id="78941" name="Rectangle 99"/>
              <p:cNvSpPr>
                <a:spLocks noChangeArrowheads="1"/>
              </p:cNvSpPr>
              <p:nvPr/>
            </p:nvSpPr>
            <p:spPr bwMode="auto">
              <a:xfrm>
                <a:off x="4416" y="1792"/>
                <a:ext cx="28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7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US" altLang="zh-CN"/>
              </a:p>
            </p:txBody>
          </p:sp>
          <p:sp>
            <p:nvSpPr>
              <p:cNvPr id="78942" name="Rectangle 100"/>
              <p:cNvSpPr>
                <a:spLocks noChangeArrowheads="1"/>
              </p:cNvSpPr>
              <p:nvPr/>
            </p:nvSpPr>
            <p:spPr bwMode="auto">
              <a:xfrm>
                <a:off x="4360" y="1753"/>
                <a:ext cx="58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  <a:endParaRPr lang="en-US" altLang="zh-CN"/>
              </a:p>
            </p:txBody>
          </p:sp>
          <p:sp>
            <p:nvSpPr>
              <p:cNvPr id="78943" name="Rectangle 101"/>
              <p:cNvSpPr>
                <a:spLocks noChangeArrowheads="1"/>
              </p:cNvSpPr>
              <p:nvPr/>
            </p:nvSpPr>
            <p:spPr bwMode="auto">
              <a:xfrm>
                <a:off x="4784" y="1329"/>
                <a:ext cx="48" cy="11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200" i="1">
                    <a:solidFill>
                      <a:srgbClr val="000000"/>
                    </a:solidFill>
                    <a:latin typeface="宋体" pitchFamily="2" charset="-122"/>
                  </a:rPr>
                  <a:t>L</a:t>
                </a:r>
                <a:endParaRPr lang="en-US" altLang="zh-CN" sz="1200"/>
              </a:p>
            </p:txBody>
          </p:sp>
          <p:sp>
            <p:nvSpPr>
              <p:cNvPr id="78944" name="Freeform 102"/>
              <p:cNvSpPr>
                <a:spLocks noEditPoints="1"/>
              </p:cNvSpPr>
              <p:nvPr/>
            </p:nvSpPr>
            <p:spPr bwMode="auto">
              <a:xfrm>
                <a:off x="3870" y="1867"/>
                <a:ext cx="13" cy="113"/>
              </a:xfrm>
              <a:custGeom>
                <a:avLst/>
                <a:gdLst>
                  <a:gd name="T0" fmla="*/ 1 w 25"/>
                  <a:gd name="T1" fmla="*/ 4 h 225"/>
                  <a:gd name="T2" fmla="*/ 1 w 25"/>
                  <a:gd name="T3" fmla="*/ 4 h 225"/>
                  <a:gd name="T4" fmla="*/ 1 w 25"/>
                  <a:gd name="T5" fmla="*/ 4 h 225"/>
                  <a:gd name="T6" fmla="*/ 0 w 25"/>
                  <a:gd name="T7" fmla="*/ 4 h 225"/>
                  <a:gd name="T8" fmla="*/ 0 w 25"/>
                  <a:gd name="T9" fmla="*/ 4 h 225"/>
                  <a:gd name="T10" fmla="*/ 1 w 25"/>
                  <a:gd name="T11" fmla="*/ 4 h 225"/>
                  <a:gd name="T12" fmla="*/ 1 w 25"/>
                  <a:gd name="T13" fmla="*/ 4 h 225"/>
                  <a:gd name="T14" fmla="*/ 1 w 25"/>
                  <a:gd name="T15" fmla="*/ 4 h 225"/>
                  <a:gd name="T16" fmla="*/ 1 w 25"/>
                  <a:gd name="T17" fmla="*/ 4 h 225"/>
                  <a:gd name="T18" fmla="*/ 1 w 25"/>
                  <a:gd name="T19" fmla="*/ 4 h 225"/>
                  <a:gd name="T20" fmla="*/ 1 w 25"/>
                  <a:gd name="T21" fmla="*/ 4 h 225"/>
                  <a:gd name="T22" fmla="*/ 1 w 25"/>
                  <a:gd name="T23" fmla="*/ 4 h 225"/>
                  <a:gd name="T24" fmla="*/ 1 w 25"/>
                  <a:gd name="T25" fmla="*/ 4 h 225"/>
                  <a:gd name="T26" fmla="*/ 1 w 25"/>
                  <a:gd name="T27" fmla="*/ 4 h 225"/>
                  <a:gd name="T28" fmla="*/ 1 w 25"/>
                  <a:gd name="T29" fmla="*/ 4 h 225"/>
                  <a:gd name="T30" fmla="*/ 1 w 25"/>
                  <a:gd name="T31" fmla="*/ 4 h 225"/>
                  <a:gd name="T32" fmla="*/ 1 w 25"/>
                  <a:gd name="T33" fmla="*/ 4 h 225"/>
                  <a:gd name="T34" fmla="*/ 1 w 25"/>
                  <a:gd name="T35" fmla="*/ 4 h 225"/>
                  <a:gd name="T36" fmla="*/ 1 w 25"/>
                  <a:gd name="T37" fmla="*/ 0 h 225"/>
                  <a:gd name="T38" fmla="*/ 1 w 25"/>
                  <a:gd name="T39" fmla="*/ 1 h 225"/>
                  <a:gd name="T40" fmla="*/ 1 w 25"/>
                  <a:gd name="T41" fmla="*/ 1 h 225"/>
                  <a:gd name="T42" fmla="*/ 0 w 25"/>
                  <a:gd name="T43" fmla="*/ 1 h 225"/>
                  <a:gd name="T44" fmla="*/ 0 w 25"/>
                  <a:gd name="T45" fmla="*/ 1 h 225"/>
                  <a:gd name="T46" fmla="*/ 1 w 25"/>
                  <a:gd name="T47" fmla="*/ 1 h 225"/>
                  <a:gd name="T48" fmla="*/ 1 w 25"/>
                  <a:gd name="T49" fmla="*/ 1 h 225"/>
                  <a:gd name="T50" fmla="*/ 1 w 25"/>
                  <a:gd name="T51" fmla="*/ 1 h 225"/>
                  <a:gd name="T52" fmla="*/ 1 w 25"/>
                  <a:gd name="T53" fmla="*/ 1 h 225"/>
                  <a:gd name="T54" fmla="*/ 1 w 25"/>
                  <a:gd name="T55" fmla="*/ 1 h 225"/>
                  <a:gd name="T56" fmla="*/ 1 w 25"/>
                  <a:gd name="T57" fmla="*/ 1 h 225"/>
                  <a:gd name="T58" fmla="*/ 1 w 25"/>
                  <a:gd name="T59" fmla="*/ 1 h 225"/>
                  <a:gd name="T60" fmla="*/ 1 w 25"/>
                  <a:gd name="T61" fmla="*/ 1 h 225"/>
                  <a:gd name="T62" fmla="*/ 1 w 25"/>
                  <a:gd name="T63" fmla="*/ 1 h 225"/>
                  <a:gd name="T64" fmla="*/ 1 w 25"/>
                  <a:gd name="T65" fmla="*/ 1 h 225"/>
                  <a:gd name="T66" fmla="*/ 1 w 25"/>
                  <a:gd name="T67" fmla="*/ 1 h 225"/>
                  <a:gd name="T68" fmla="*/ 1 w 25"/>
                  <a:gd name="T69" fmla="*/ 0 h 225"/>
                  <a:gd name="T70" fmla="*/ 1 w 25"/>
                  <a:gd name="T71" fmla="*/ 0 h 225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5"/>
                  <a:gd name="T109" fmla="*/ 0 h 225"/>
                  <a:gd name="T110" fmla="*/ 25 w 25"/>
                  <a:gd name="T111" fmla="*/ 225 h 225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5" h="225">
                    <a:moveTo>
                      <a:pt x="12" y="200"/>
                    </a:moveTo>
                    <a:lnTo>
                      <a:pt x="9" y="200"/>
                    </a:lnTo>
                    <a:lnTo>
                      <a:pt x="7" y="201"/>
                    </a:lnTo>
                    <a:lnTo>
                      <a:pt x="4" y="203"/>
                    </a:lnTo>
                    <a:lnTo>
                      <a:pt x="3" y="204"/>
                    </a:lnTo>
                    <a:lnTo>
                      <a:pt x="1" y="206"/>
                    </a:lnTo>
                    <a:lnTo>
                      <a:pt x="1" y="207"/>
                    </a:lnTo>
                    <a:lnTo>
                      <a:pt x="0" y="211"/>
                    </a:lnTo>
                    <a:lnTo>
                      <a:pt x="0" y="212"/>
                    </a:lnTo>
                    <a:lnTo>
                      <a:pt x="0" y="215"/>
                    </a:lnTo>
                    <a:lnTo>
                      <a:pt x="1" y="217"/>
                    </a:lnTo>
                    <a:lnTo>
                      <a:pt x="1" y="220"/>
                    </a:lnTo>
                    <a:lnTo>
                      <a:pt x="3" y="222"/>
                    </a:lnTo>
                    <a:lnTo>
                      <a:pt x="4" y="223"/>
                    </a:lnTo>
                    <a:lnTo>
                      <a:pt x="7" y="223"/>
                    </a:lnTo>
                    <a:lnTo>
                      <a:pt x="9" y="225"/>
                    </a:lnTo>
                    <a:lnTo>
                      <a:pt x="12" y="225"/>
                    </a:lnTo>
                    <a:lnTo>
                      <a:pt x="14" y="225"/>
                    </a:lnTo>
                    <a:lnTo>
                      <a:pt x="17" y="223"/>
                    </a:lnTo>
                    <a:lnTo>
                      <a:pt x="18" y="223"/>
                    </a:lnTo>
                    <a:lnTo>
                      <a:pt x="20" y="222"/>
                    </a:lnTo>
                    <a:lnTo>
                      <a:pt x="21" y="220"/>
                    </a:lnTo>
                    <a:lnTo>
                      <a:pt x="23" y="217"/>
                    </a:lnTo>
                    <a:lnTo>
                      <a:pt x="25" y="215"/>
                    </a:lnTo>
                    <a:lnTo>
                      <a:pt x="25" y="212"/>
                    </a:lnTo>
                    <a:lnTo>
                      <a:pt x="25" y="211"/>
                    </a:lnTo>
                    <a:lnTo>
                      <a:pt x="23" y="207"/>
                    </a:lnTo>
                    <a:lnTo>
                      <a:pt x="21" y="206"/>
                    </a:lnTo>
                    <a:lnTo>
                      <a:pt x="21" y="204"/>
                    </a:lnTo>
                    <a:lnTo>
                      <a:pt x="18" y="203"/>
                    </a:lnTo>
                    <a:lnTo>
                      <a:pt x="17" y="201"/>
                    </a:lnTo>
                    <a:lnTo>
                      <a:pt x="14" y="200"/>
                    </a:lnTo>
                    <a:lnTo>
                      <a:pt x="12" y="200"/>
                    </a:lnTo>
                    <a:close/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3"/>
                    </a:lnTo>
                    <a:lnTo>
                      <a:pt x="3" y="5"/>
                    </a:lnTo>
                    <a:lnTo>
                      <a:pt x="1" y="6"/>
                    </a:lnTo>
                    <a:lnTo>
                      <a:pt x="1" y="8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1" y="17"/>
                    </a:lnTo>
                    <a:lnTo>
                      <a:pt x="1" y="20"/>
                    </a:lnTo>
                    <a:lnTo>
                      <a:pt x="3" y="22"/>
                    </a:lnTo>
                    <a:lnTo>
                      <a:pt x="4" y="23"/>
                    </a:lnTo>
                    <a:lnTo>
                      <a:pt x="7" y="25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5"/>
                    </a:lnTo>
                    <a:lnTo>
                      <a:pt x="18" y="23"/>
                    </a:lnTo>
                    <a:lnTo>
                      <a:pt x="20" y="22"/>
                    </a:lnTo>
                    <a:lnTo>
                      <a:pt x="21" y="20"/>
                    </a:lnTo>
                    <a:lnTo>
                      <a:pt x="23" y="17"/>
                    </a:lnTo>
                    <a:lnTo>
                      <a:pt x="25" y="16"/>
                    </a:lnTo>
                    <a:lnTo>
                      <a:pt x="25" y="12"/>
                    </a:lnTo>
                    <a:lnTo>
                      <a:pt x="25" y="11"/>
                    </a:lnTo>
                    <a:lnTo>
                      <a:pt x="23" y="8"/>
                    </a:lnTo>
                    <a:lnTo>
                      <a:pt x="21" y="6"/>
                    </a:lnTo>
                    <a:lnTo>
                      <a:pt x="21" y="5"/>
                    </a:lnTo>
                    <a:lnTo>
                      <a:pt x="18" y="3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45" name="Freeform 103"/>
              <p:cNvSpPr>
                <a:spLocks/>
              </p:cNvSpPr>
              <p:nvPr/>
            </p:nvSpPr>
            <p:spPr bwMode="auto">
              <a:xfrm>
                <a:off x="3870" y="1967"/>
                <a:ext cx="13" cy="13"/>
              </a:xfrm>
              <a:custGeom>
                <a:avLst/>
                <a:gdLst>
                  <a:gd name="T0" fmla="*/ 1 w 25"/>
                  <a:gd name="T1" fmla="*/ 0 h 25"/>
                  <a:gd name="T2" fmla="*/ 1 w 25"/>
                  <a:gd name="T3" fmla="*/ 0 h 25"/>
                  <a:gd name="T4" fmla="*/ 1 w 25"/>
                  <a:gd name="T5" fmla="*/ 1 h 25"/>
                  <a:gd name="T6" fmla="*/ 1 w 25"/>
                  <a:gd name="T7" fmla="*/ 1 h 25"/>
                  <a:gd name="T8" fmla="*/ 1 w 25"/>
                  <a:gd name="T9" fmla="*/ 1 h 25"/>
                  <a:gd name="T10" fmla="*/ 1 w 25"/>
                  <a:gd name="T11" fmla="*/ 1 h 25"/>
                  <a:gd name="T12" fmla="*/ 1 w 25"/>
                  <a:gd name="T13" fmla="*/ 1 h 25"/>
                  <a:gd name="T14" fmla="*/ 0 w 25"/>
                  <a:gd name="T15" fmla="*/ 1 h 25"/>
                  <a:gd name="T16" fmla="*/ 0 w 25"/>
                  <a:gd name="T17" fmla="*/ 1 h 25"/>
                  <a:gd name="T18" fmla="*/ 0 w 25"/>
                  <a:gd name="T19" fmla="*/ 1 h 25"/>
                  <a:gd name="T20" fmla="*/ 1 w 25"/>
                  <a:gd name="T21" fmla="*/ 1 h 25"/>
                  <a:gd name="T22" fmla="*/ 1 w 25"/>
                  <a:gd name="T23" fmla="*/ 1 h 25"/>
                  <a:gd name="T24" fmla="*/ 1 w 25"/>
                  <a:gd name="T25" fmla="*/ 1 h 25"/>
                  <a:gd name="T26" fmla="*/ 1 w 25"/>
                  <a:gd name="T27" fmla="*/ 1 h 25"/>
                  <a:gd name="T28" fmla="*/ 1 w 25"/>
                  <a:gd name="T29" fmla="*/ 1 h 25"/>
                  <a:gd name="T30" fmla="*/ 1 w 25"/>
                  <a:gd name="T31" fmla="*/ 1 h 25"/>
                  <a:gd name="T32" fmla="*/ 1 w 25"/>
                  <a:gd name="T33" fmla="*/ 1 h 25"/>
                  <a:gd name="T34" fmla="*/ 1 w 25"/>
                  <a:gd name="T35" fmla="*/ 1 h 25"/>
                  <a:gd name="T36" fmla="*/ 1 w 25"/>
                  <a:gd name="T37" fmla="*/ 1 h 25"/>
                  <a:gd name="T38" fmla="*/ 1 w 25"/>
                  <a:gd name="T39" fmla="*/ 1 h 25"/>
                  <a:gd name="T40" fmla="*/ 1 w 25"/>
                  <a:gd name="T41" fmla="*/ 1 h 25"/>
                  <a:gd name="T42" fmla="*/ 1 w 25"/>
                  <a:gd name="T43" fmla="*/ 1 h 25"/>
                  <a:gd name="T44" fmla="*/ 1 w 25"/>
                  <a:gd name="T45" fmla="*/ 1 h 25"/>
                  <a:gd name="T46" fmla="*/ 1 w 25"/>
                  <a:gd name="T47" fmla="*/ 1 h 25"/>
                  <a:gd name="T48" fmla="*/ 1 w 25"/>
                  <a:gd name="T49" fmla="*/ 1 h 25"/>
                  <a:gd name="T50" fmla="*/ 1 w 25"/>
                  <a:gd name="T51" fmla="*/ 1 h 25"/>
                  <a:gd name="T52" fmla="*/ 1 w 25"/>
                  <a:gd name="T53" fmla="*/ 1 h 25"/>
                  <a:gd name="T54" fmla="*/ 1 w 25"/>
                  <a:gd name="T55" fmla="*/ 1 h 25"/>
                  <a:gd name="T56" fmla="*/ 1 w 25"/>
                  <a:gd name="T57" fmla="*/ 1 h 25"/>
                  <a:gd name="T58" fmla="*/ 1 w 25"/>
                  <a:gd name="T59" fmla="*/ 1 h 25"/>
                  <a:gd name="T60" fmla="*/ 1 w 25"/>
                  <a:gd name="T61" fmla="*/ 1 h 25"/>
                  <a:gd name="T62" fmla="*/ 1 w 25"/>
                  <a:gd name="T63" fmla="*/ 1 h 25"/>
                  <a:gd name="T64" fmla="*/ 1 w 25"/>
                  <a:gd name="T65" fmla="*/ 0 h 25"/>
                  <a:gd name="T66" fmla="*/ 1 w 25"/>
                  <a:gd name="T67" fmla="*/ 0 h 25"/>
                  <a:gd name="T68" fmla="*/ 1 w 25"/>
                  <a:gd name="T69" fmla="*/ 0 h 2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5"/>
                  <a:gd name="T106" fmla="*/ 0 h 25"/>
                  <a:gd name="T107" fmla="*/ 25 w 25"/>
                  <a:gd name="T108" fmla="*/ 25 h 25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5" h="25"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3"/>
                    </a:lnTo>
                    <a:lnTo>
                      <a:pt x="3" y="4"/>
                    </a:lnTo>
                    <a:lnTo>
                      <a:pt x="1" y="6"/>
                    </a:lnTo>
                    <a:lnTo>
                      <a:pt x="1" y="7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1" y="17"/>
                    </a:lnTo>
                    <a:lnTo>
                      <a:pt x="1" y="20"/>
                    </a:lnTo>
                    <a:lnTo>
                      <a:pt x="3" y="22"/>
                    </a:lnTo>
                    <a:lnTo>
                      <a:pt x="4" y="23"/>
                    </a:lnTo>
                    <a:lnTo>
                      <a:pt x="7" y="23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3"/>
                    </a:lnTo>
                    <a:lnTo>
                      <a:pt x="18" y="23"/>
                    </a:lnTo>
                    <a:lnTo>
                      <a:pt x="20" y="22"/>
                    </a:lnTo>
                    <a:lnTo>
                      <a:pt x="21" y="20"/>
                    </a:lnTo>
                    <a:lnTo>
                      <a:pt x="23" y="17"/>
                    </a:lnTo>
                    <a:lnTo>
                      <a:pt x="25" y="15"/>
                    </a:lnTo>
                    <a:lnTo>
                      <a:pt x="25" y="12"/>
                    </a:lnTo>
                    <a:lnTo>
                      <a:pt x="25" y="11"/>
                    </a:lnTo>
                    <a:lnTo>
                      <a:pt x="23" y="7"/>
                    </a:lnTo>
                    <a:lnTo>
                      <a:pt x="21" y="6"/>
                    </a:lnTo>
                    <a:lnTo>
                      <a:pt x="21" y="4"/>
                    </a:lnTo>
                    <a:lnTo>
                      <a:pt x="18" y="3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46" name="Freeform 104"/>
              <p:cNvSpPr>
                <a:spLocks/>
              </p:cNvSpPr>
              <p:nvPr/>
            </p:nvSpPr>
            <p:spPr bwMode="auto">
              <a:xfrm>
                <a:off x="3870" y="1867"/>
                <a:ext cx="13" cy="13"/>
              </a:xfrm>
              <a:custGeom>
                <a:avLst/>
                <a:gdLst>
                  <a:gd name="T0" fmla="*/ 1 w 25"/>
                  <a:gd name="T1" fmla="*/ 0 h 25"/>
                  <a:gd name="T2" fmla="*/ 1 w 25"/>
                  <a:gd name="T3" fmla="*/ 0 h 25"/>
                  <a:gd name="T4" fmla="*/ 1 w 25"/>
                  <a:gd name="T5" fmla="*/ 1 h 25"/>
                  <a:gd name="T6" fmla="*/ 1 w 25"/>
                  <a:gd name="T7" fmla="*/ 1 h 25"/>
                  <a:gd name="T8" fmla="*/ 1 w 25"/>
                  <a:gd name="T9" fmla="*/ 1 h 25"/>
                  <a:gd name="T10" fmla="*/ 1 w 25"/>
                  <a:gd name="T11" fmla="*/ 1 h 25"/>
                  <a:gd name="T12" fmla="*/ 1 w 25"/>
                  <a:gd name="T13" fmla="*/ 1 h 25"/>
                  <a:gd name="T14" fmla="*/ 0 w 25"/>
                  <a:gd name="T15" fmla="*/ 1 h 25"/>
                  <a:gd name="T16" fmla="*/ 0 w 25"/>
                  <a:gd name="T17" fmla="*/ 1 h 25"/>
                  <a:gd name="T18" fmla="*/ 0 w 25"/>
                  <a:gd name="T19" fmla="*/ 1 h 25"/>
                  <a:gd name="T20" fmla="*/ 1 w 25"/>
                  <a:gd name="T21" fmla="*/ 1 h 25"/>
                  <a:gd name="T22" fmla="*/ 1 w 25"/>
                  <a:gd name="T23" fmla="*/ 1 h 25"/>
                  <a:gd name="T24" fmla="*/ 1 w 25"/>
                  <a:gd name="T25" fmla="*/ 1 h 25"/>
                  <a:gd name="T26" fmla="*/ 1 w 25"/>
                  <a:gd name="T27" fmla="*/ 1 h 25"/>
                  <a:gd name="T28" fmla="*/ 1 w 25"/>
                  <a:gd name="T29" fmla="*/ 1 h 25"/>
                  <a:gd name="T30" fmla="*/ 1 w 25"/>
                  <a:gd name="T31" fmla="*/ 1 h 25"/>
                  <a:gd name="T32" fmla="*/ 1 w 25"/>
                  <a:gd name="T33" fmla="*/ 1 h 25"/>
                  <a:gd name="T34" fmla="*/ 1 w 25"/>
                  <a:gd name="T35" fmla="*/ 1 h 25"/>
                  <a:gd name="T36" fmla="*/ 1 w 25"/>
                  <a:gd name="T37" fmla="*/ 1 h 25"/>
                  <a:gd name="T38" fmla="*/ 1 w 25"/>
                  <a:gd name="T39" fmla="*/ 1 h 25"/>
                  <a:gd name="T40" fmla="*/ 1 w 25"/>
                  <a:gd name="T41" fmla="*/ 1 h 25"/>
                  <a:gd name="T42" fmla="*/ 1 w 25"/>
                  <a:gd name="T43" fmla="*/ 1 h 25"/>
                  <a:gd name="T44" fmla="*/ 1 w 25"/>
                  <a:gd name="T45" fmla="*/ 1 h 25"/>
                  <a:gd name="T46" fmla="*/ 1 w 25"/>
                  <a:gd name="T47" fmla="*/ 1 h 25"/>
                  <a:gd name="T48" fmla="*/ 1 w 25"/>
                  <a:gd name="T49" fmla="*/ 1 h 25"/>
                  <a:gd name="T50" fmla="*/ 1 w 25"/>
                  <a:gd name="T51" fmla="*/ 1 h 25"/>
                  <a:gd name="T52" fmla="*/ 1 w 25"/>
                  <a:gd name="T53" fmla="*/ 1 h 25"/>
                  <a:gd name="T54" fmla="*/ 1 w 25"/>
                  <a:gd name="T55" fmla="*/ 1 h 25"/>
                  <a:gd name="T56" fmla="*/ 1 w 25"/>
                  <a:gd name="T57" fmla="*/ 1 h 25"/>
                  <a:gd name="T58" fmla="*/ 1 w 25"/>
                  <a:gd name="T59" fmla="*/ 1 h 25"/>
                  <a:gd name="T60" fmla="*/ 1 w 25"/>
                  <a:gd name="T61" fmla="*/ 1 h 25"/>
                  <a:gd name="T62" fmla="*/ 1 w 25"/>
                  <a:gd name="T63" fmla="*/ 1 h 25"/>
                  <a:gd name="T64" fmla="*/ 1 w 25"/>
                  <a:gd name="T65" fmla="*/ 0 h 25"/>
                  <a:gd name="T66" fmla="*/ 1 w 25"/>
                  <a:gd name="T67" fmla="*/ 0 h 25"/>
                  <a:gd name="T68" fmla="*/ 1 w 25"/>
                  <a:gd name="T69" fmla="*/ 0 h 2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5"/>
                  <a:gd name="T106" fmla="*/ 0 h 25"/>
                  <a:gd name="T107" fmla="*/ 25 w 25"/>
                  <a:gd name="T108" fmla="*/ 25 h 25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5" h="25"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3"/>
                    </a:lnTo>
                    <a:lnTo>
                      <a:pt x="3" y="5"/>
                    </a:lnTo>
                    <a:lnTo>
                      <a:pt x="1" y="6"/>
                    </a:lnTo>
                    <a:lnTo>
                      <a:pt x="1" y="8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1" y="17"/>
                    </a:lnTo>
                    <a:lnTo>
                      <a:pt x="1" y="20"/>
                    </a:lnTo>
                    <a:lnTo>
                      <a:pt x="3" y="22"/>
                    </a:lnTo>
                    <a:lnTo>
                      <a:pt x="4" y="23"/>
                    </a:lnTo>
                    <a:lnTo>
                      <a:pt x="7" y="25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5"/>
                    </a:lnTo>
                    <a:lnTo>
                      <a:pt x="18" y="23"/>
                    </a:lnTo>
                    <a:lnTo>
                      <a:pt x="20" y="22"/>
                    </a:lnTo>
                    <a:lnTo>
                      <a:pt x="21" y="20"/>
                    </a:lnTo>
                    <a:lnTo>
                      <a:pt x="23" y="17"/>
                    </a:lnTo>
                    <a:lnTo>
                      <a:pt x="25" y="16"/>
                    </a:lnTo>
                    <a:lnTo>
                      <a:pt x="25" y="12"/>
                    </a:lnTo>
                    <a:lnTo>
                      <a:pt x="25" y="11"/>
                    </a:lnTo>
                    <a:lnTo>
                      <a:pt x="23" y="8"/>
                    </a:lnTo>
                    <a:lnTo>
                      <a:pt x="21" y="6"/>
                    </a:lnTo>
                    <a:lnTo>
                      <a:pt x="21" y="5"/>
                    </a:lnTo>
                    <a:lnTo>
                      <a:pt x="18" y="3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47" name="Line 105"/>
              <p:cNvSpPr>
                <a:spLocks noChangeShapeType="1"/>
              </p:cNvSpPr>
              <p:nvPr/>
            </p:nvSpPr>
            <p:spPr bwMode="auto">
              <a:xfrm>
                <a:off x="3879" y="1880"/>
                <a:ext cx="29" cy="8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48" name="Freeform 106"/>
              <p:cNvSpPr>
                <a:spLocks/>
              </p:cNvSpPr>
              <p:nvPr/>
            </p:nvSpPr>
            <p:spPr bwMode="auto">
              <a:xfrm>
                <a:off x="4200" y="1614"/>
                <a:ext cx="30" cy="200"/>
              </a:xfrm>
              <a:custGeom>
                <a:avLst/>
                <a:gdLst>
                  <a:gd name="T0" fmla="*/ 1 w 59"/>
                  <a:gd name="T1" fmla="*/ 0 h 400"/>
                  <a:gd name="T2" fmla="*/ 1 w 59"/>
                  <a:gd name="T3" fmla="*/ 1 h 400"/>
                  <a:gd name="T4" fmla="*/ 1 w 59"/>
                  <a:gd name="T5" fmla="*/ 1 h 400"/>
                  <a:gd name="T6" fmla="*/ 1 w 59"/>
                  <a:gd name="T7" fmla="*/ 1 h 400"/>
                  <a:gd name="T8" fmla="*/ 1 w 59"/>
                  <a:gd name="T9" fmla="*/ 1 h 400"/>
                  <a:gd name="T10" fmla="*/ 1 w 59"/>
                  <a:gd name="T11" fmla="*/ 1 h 400"/>
                  <a:gd name="T12" fmla="*/ 1 w 59"/>
                  <a:gd name="T13" fmla="*/ 1 h 400"/>
                  <a:gd name="T14" fmla="*/ 0 w 59"/>
                  <a:gd name="T15" fmla="*/ 1 h 400"/>
                  <a:gd name="T16" fmla="*/ 1 w 59"/>
                  <a:gd name="T17" fmla="*/ 1 h 400"/>
                  <a:gd name="T18" fmla="*/ 1 w 59"/>
                  <a:gd name="T19" fmla="*/ 2 h 400"/>
                  <a:gd name="T20" fmla="*/ 1 w 59"/>
                  <a:gd name="T21" fmla="*/ 2 h 400"/>
                  <a:gd name="T22" fmla="*/ 1 w 59"/>
                  <a:gd name="T23" fmla="*/ 2 h 400"/>
                  <a:gd name="T24" fmla="*/ 1 w 59"/>
                  <a:gd name="T25" fmla="*/ 2 h 400"/>
                  <a:gd name="T26" fmla="*/ 1 w 59"/>
                  <a:gd name="T27" fmla="*/ 2 h 400"/>
                  <a:gd name="T28" fmla="*/ 1 w 59"/>
                  <a:gd name="T29" fmla="*/ 2 h 400"/>
                  <a:gd name="T30" fmla="*/ 1 w 59"/>
                  <a:gd name="T31" fmla="*/ 2 h 400"/>
                  <a:gd name="T32" fmla="*/ 1 w 59"/>
                  <a:gd name="T33" fmla="*/ 2 h 400"/>
                  <a:gd name="T34" fmla="*/ 1 w 59"/>
                  <a:gd name="T35" fmla="*/ 2 h 400"/>
                  <a:gd name="T36" fmla="*/ 1 w 59"/>
                  <a:gd name="T37" fmla="*/ 2 h 400"/>
                  <a:gd name="T38" fmla="*/ 1 w 59"/>
                  <a:gd name="T39" fmla="*/ 2 h 400"/>
                  <a:gd name="T40" fmla="*/ 1 w 59"/>
                  <a:gd name="T41" fmla="*/ 2 h 400"/>
                  <a:gd name="T42" fmla="*/ 1 w 59"/>
                  <a:gd name="T43" fmla="*/ 3 h 400"/>
                  <a:gd name="T44" fmla="*/ 0 w 59"/>
                  <a:gd name="T45" fmla="*/ 3 h 400"/>
                  <a:gd name="T46" fmla="*/ 0 w 59"/>
                  <a:gd name="T47" fmla="*/ 3 h 400"/>
                  <a:gd name="T48" fmla="*/ 1 w 59"/>
                  <a:gd name="T49" fmla="*/ 3 h 400"/>
                  <a:gd name="T50" fmla="*/ 1 w 59"/>
                  <a:gd name="T51" fmla="*/ 3 h 400"/>
                  <a:gd name="T52" fmla="*/ 1 w 59"/>
                  <a:gd name="T53" fmla="*/ 3 h 400"/>
                  <a:gd name="T54" fmla="*/ 1 w 59"/>
                  <a:gd name="T55" fmla="*/ 3 h 400"/>
                  <a:gd name="T56" fmla="*/ 1 w 59"/>
                  <a:gd name="T57" fmla="*/ 4 h 400"/>
                  <a:gd name="T58" fmla="*/ 1 w 59"/>
                  <a:gd name="T59" fmla="*/ 4 h 400"/>
                  <a:gd name="T60" fmla="*/ 1 w 59"/>
                  <a:gd name="T61" fmla="*/ 4 h 400"/>
                  <a:gd name="T62" fmla="*/ 1 w 59"/>
                  <a:gd name="T63" fmla="*/ 4 h 400"/>
                  <a:gd name="T64" fmla="*/ 1 w 59"/>
                  <a:gd name="T65" fmla="*/ 4 h 400"/>
                  <a:gd name="T66" fmla="*/ 1 w 59"/>
                  <a:gd name="T67" fmla="*/ 4 h 400"/>
                  <a:gd name="T68" fmla="*/ 1 w 59"/>
                  <a:gd name="T69" fmla="*/ 4 h 400"/>
                  <a:gd name="T70" fmla="*/ 1 w 59"/>
                  <a:gd name="T71" fmla="*/ 4 h 400"/>
                  <a:gd name="T72" fmla="*/ 1 w 59"/>
                  <a:gd name="T73" fmla="*/ 4 h 400"/>
                  <a:gd name="T74" fmla="*/ 1 w 59"/>
                  <a:gd name="T75" fmla="*/ 4 h 400"/>
                  <a:gd name="T76" fmla="*/ 0 w 59"/>
                  <a:gd name="T77" fmla="*/ 4 h 400"/>
                  <a:gd name="T78" fmla="*/ 1 w 59"/>
                  <a:gd name="T79" fmla="*/ 5 h 400"/>
                  <a:gd name="T80" fmla="*/ 1 w 59"/>
                  <a:gd name="T81" fmla="*/ 5 h 400"/>
                  <a:gd name="T82" fmla="*/ 1 w 59"/>
                  <a:gd name="T83" fmla="*/ 5 h 400"/>
                  <a:gd name="T84" fmla="*/ 1 w 59"/>
                  <a:gd name="T85" fmla="*/ 5 h 400"/>
                  <a:gd name="T86" fmla="*/ 1 w 59"/>
                  <a:gd name="T87" fmla="*/ 5 h 400"/>
                  <a:gd name="T88" fmla="*/ 1 w 59"/>
                  <a:gd name="T89" fmla="*/ 5 h 400"/>
                  <a:gd name="T90" fmla="*/ 1 w 59"/>
                  <a:gd name="T91" fmla="*/ 5 h 400"/>
                  <a:gd name="T92" fmla="*/ 1 w 59"/>
                  <a:gd name="T93" fmla="*/ 5 h 400"/>
                  <a:gd name="T94" fmla="*/ 1 w 59"/>
                  <a:gd name="T95" fmla="*/ 5 h 400"/>
                  <a:gd name="T96" fmla="*/ 1 w 59"/>
                  <a:gd name="T97" fmla="*/ 5 h 400"/>
                  <a:gd name="T98" fmla="*/ 1 w 59"/>
                  <a:gd name="T99" fmla="*/ 5 h 400"/>
                  <a:gd name="T100" fmla="*/ 1 w 59"/>
                  <a:gd name="T101" fmla="*/ 5 h 400"/>
                  <a:gd name="T102" fmla="*/ 1 w 59"/>
                  <a:gd name="T103" fmla="*/ 6 h 400"/>
                  <a:gd name="T104" fmla="*/ 1 w 59"/>
                  <a:gd name="T105" fmla="*/ 6 h 400"/>
                  <a:gd name="T106" fmla="*/ 0 w 59"/>
                  <a:gd name="T107" fmla="*/ 6 h 400"/>
                  <a:gd name="T108" fmla="*/ 0 w 59"/>
                  <a:gd name="T109" fmla="*/ 6 h 400"/>
                  <a:gd name="T110" fmla="*/ 1 w 59"/>
                  <a:gd name="T111" fmla="*/ 6 h 400"/>
                  <a:gd name="T112" fmla="*/ 1 w 59"/>
                  <a:gd name="T113" fmla="*/ 6 h 400"/>
                  <a:gd name="T114" fmla="*/ 1 w 59"/>
                  <a:gd name="T115" fmla="*/ 6 h 400"/>
                  <a:gd name="T116" fmla="*/ 1 w 59"/>
                  <a:gd name="T117" fmla="*/ 7 h 400"/>
                  <a:gd name="T118" fmla="*/ 1 w 59"/>
                  <a:gd name="T119" fmla="*/ 7 h 400"/>
                  <a:gd name="T120" fmla="*/ 1 w 59"/>
                  <a:gd name="T121" fmla="*/ 7 h 400"/>
                  <a:gd name="T122" fmla="*/ 1 w 59"/>
                  <a:gd name="T123" fmla="*/ 7 h 40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59"/>
                  <a:gd name="T187" fmla="*/ 0 h 400"/>
                  <a:gd name="T188" fmla="*/ 59 w 59"/>
                  <a:gd name="T189" fmla="*/ 400 h 400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59" h="400">
                    <a:moveTo>
                      <a:pt x="59" y="0"/>
                    </a:moveTo>
                    <a:lnTo>
                      <a:pt x="53" y="0"/>
                    </a:lnTo>
                    <a:lnTo>
                      <a:pt x="49" y="0"/>
                    </a:lnTo>
                    <a:lnTo>
                      <a:pt x="42" y="2"/>
                    </a:lnTo>
                    <a:lnTo>
                      <a:pt x="38" y="3"/>
                    </a:lnTo>
                    <a:lnTo>
                      <a:pt x="33" y="5"/>
                    </a:lnTo>
                    <a:lnTo>
                      <a:pt x="28" y="8"/>
                    </a:lnTo>
                    <a:lnTo>
                      <a:pt x="19" y="13"/>
                    </a:lnTo>
                    <a:lnTo>
                      <a:pt x="14" y="16"/>
                    </a:lnTo>
                    <a:lnTo>
                      <a:pt x="11" y="21"/>
                    </a:lnTo>
                    <a:lnTo>
                      <a:pt x="8" y="24"/>
                    </a:lnTo>
                    <a:lnTo>
                      <a:pt x="7" y="28"/>
                    </a:lnTo>
                    <a:lnTo>
                      <a:pt x="3" y="33"/>
                    </a:lnTo>
                    <a:lnTo>
                      <a:pt x="2" y="38"/>
                    </a:lnTo>
                    <a:lnTo>
                      <a:pt x="0" y="43"/>
                    </a:lnTo>
                    <a:lnTo>
                      <a:pt x="0" y="47"/>
                    </a:lnTo>
                    <a:lnTo>
                      <a:pt x="0" y="54"/>
                    </a:lnTo>
                    <a:lnTo>
                      <a:pt x="2" y="58"/>
                    </a:lnTo>
                    <a:lnTo>
                      <a:pt x="2" y="63"/>
                    </a:lnTo>
                    <a:lnTo>
                      <a:pt x="3" y="68"/>
                    </a:lnTo>
                    <a:lnTo>
                      <a:pt x="7" y="73"/>
                    </a:lnTo>
                    <a:lnTo>
                      <a:pt x="10" y="76"/>
                    </a:lnTo>
                    <a:lnTo>
                      <a:pt x="13" y="80"/>
                    </a:lnTo>
                    <a:lnTo>
                      <a:pt x="16" y="84"/>
                    </a:lnTo>
                    <a:lnTo>
                      <a:pt x="24" y="90"/>
                    </a:lnTo>
                    <a:lnTo>
                      <a:pt x="28" y="93"/>
                    </a:lnTo>
                    <a:lnTo>
                      <a:pt x="33" y="95"/>
                    </a:lnTo>
                    <a:lnTo>
                      <a:pt x="38" y="98"/>
                    </a:lnTo>
                    <a:lnTo>
                      <a:pt x="44" y="99"/>
                    </a:lnTo>
                    <a:lnTo>
                      <a:pt x="50" y="99"/>
                    </a:lnTo>
                    <a:lnTo>
                      <a:pt x="55" y="99"/>
                    </a:lnTo>
                    <a:lnTo>
                      <a:pt x="59" y="99"/>
                    </a:lnTo>
                    <a:lnTo>
                      <a:pt x="53" y="99"/>
                    </a:lnTo>
                    <a:lnTo>
                      <a:pt x="49" y="101"/>
                    </a:lnTo>
                    <a:lnTo>
                      <a:pt x="42" y="101"/>
                    </a:lnTo>
                    <a:lnTo>
                      <a:pt x="38" y="102"/>
                    </a:lnTo>
                    <a:lnTo>
                      <a:pt x="33" y="106"/>
                    </a:lnTo>
                    <a:lnTo>
                      <a:pt x="28" y="107"/>
                    </a:lnTo>
                    <a:lnTo>
                      <a:pt x="19" y="113"/>
                    </a:lnTo>
                    <a:lnTo>
                      <a:pt x="14" y="117"/>
                    </a:lnTo>
                    <a:lnTo>
                      <a:pt x="11" y="120"/>
                    </a:lnTo>
                    <a:lnTo>
                      <a:pt x="8" y="124"/>
                    </a:lnTo>
                    <a:lnTo>
                      <a:pt x="7" y="129"/>
                    </a:lnTo>
                    <a:lnTo>
                      <a:pt x="3" y="134"/>
                    </a:lnTo>
                    <a:lnTo>
                      <a:pt x="2" y="139"/>
                    </a:lnTo>
                    <a:lnTo>
                      <a:pt x="0" y="143"/>
                    </a:lnTo>
                    <a:lnTo>
                      <a:pt x="0" y="148"/>
                    </a:lnTo>
                    <a:lnTo>
                      <a:pt x="0" y="153"/>
                    </a:lnTo>
                    <a:lnTo>
                      <a:pt x="2" y="157"/>
                    </a:lnTo>
                    <a:lnTo>
                      <a:pt x="2" y="162"/>
                    </a:lnTo>
                    <a:lnTo>
                      <a:pt x="3" y="167"/>
                    </a:lnTo>
                    <a:lnTo>
                      <a:pt x="7" y="172"/>
                    </a:lnTo>
                    <a:lnTo>
                      <a:pt x="10" y="176"/>
                    </a:lnTo>
                    <a:lnTo>
                      <a:pt x="13" y="180"/>
                    </a:lnTo>
                    <a:lnTo>
                      <a:pt x="16" y="184"/>
                    </a:lnTo>
                    <a:lnTo>
                      <a:pt x="24" y="191"/>
                    </a:lnTo>
                    <a:lnTo>
                      <a:pt x="28" y="192"/>
                    </a:lnTo>
                    <a:lnTo>
                      <a:pt x="33" y="195"/>
                    </a:lnTo>
                    <a:lnTo>
                      <a:pt x="38" y="197"/>
                    </a:lnTo>
                    <a:lnTo>
                      <a:pt x="44" y="198"/>
                    </a:lnTo>
                    <a:lnTo>
                      <a:pt x="50" y="200"/>
                    </a:lnTo>
                    <a:lnTo>
                      <a:pt x="55" y="200"/>
                    </a:lnTo>
                    <a:lnTo>
                      <a:pt x="59" y="200"/>
                    </a:lnTo>
                    <a:lnTo>
                      <a:pt x="53" y="200"/>
                    </a:lnTo>
                    <a:lnTo>
                      <a:pt x="49" y="200"/>
                    </a:lnTo>
                    <a:lnTo>
                      <a:pt x="42" y="202"/>
                    </a:lnTo>
                    <a:lnTo>
                      <a:pt x="38" y="203"/>
                    </a:lnTo>
                    <a:lnTo>
                      <a:pt x="33" y="205"/>
                    </a:lnTo>
                    <a:lnTo>
                      <a:pt x="28" y="208"/>
                    </a:lnTo>
                    <a:lnTo>
                      <a:pt x="19" y="213"/>
                    </a:lnTo>
                    <a:lnTo>
                      <a:pt x="14" y="216"/>
                    </a:lnTo>
                    <a:lnTo>
                      <a:pt x="11" y="220"/>
                    </a:lnTo>
                    <a:lnTo>
                      <a:pt x="8" y="224"/>
                    </a:lnTo>
                    <a:lnTo>
                      <a:pt x="7" y="228"/>
                    </a:lnTo>
                    <a:lnTo>
                      <a:pt x="3" y="233"/>
                    </a:lnTo>
                    <a:lnTo>
                      <a:pt x="2" y="238"/>
                    </a:lnTo>
                    <a:lnTo>
                      <a:pt x="0" y="242"/>
                    </a:lnTo>
                    <a:lnTo>
                      <a:pt x="0" y="247"/>
                    </a:lnTo>
                    <a:lnTo>
                      <a:pt x="0" y="253"/>
                    </a:lnTo>
                    <a:lnTo>
                      <a:pt x="2" y="258"/>
                    </a:lnTo>
                    <a:lnTo>
                      <a:pt x="2" y="263"/>
                    </a:lnTo>
                    <a:lnTo>
                      <a:pt x="3" y="268"/>
                    </a:lnTo>
                    <a:lnTo>
                      <a:pt x="7" y="272"/>
                    </a:lnTo>
                    <a:lnTo>
                      <a:pt x="10" y="276"/>
                    </a:lnTo>
                    <a:lnTo>
                      <a:pt x="13" y="280"/>
                    </a:lnTo>
                    <a:lnTo>
                      <a:pt x="16" y="283"/>
                    </a:lnTo>
                    <a:lnTo>
                      <a:pt x="24" y="290"/>
                    </a:lnTo>
                    <a:lnTo>
                      <a:pt x="28" y="293"/>
                    </a:lnTo>
                    <a:lnTo>
                      <a:pt x="33" y="294"/>
                    </a:lnTo>
                    <a:lnTo>
                      <a:pt x="38" y="298"/>
                    </a:lnTo>
                    <a:lnTo>
                      <a:pt x="44" y="299"/>
                    </a:lnTo>
                    <a:lnTo>
                      <a:pt x="50" y="299"/>
                    </a:lnTo>
                    <a:lnTo>
                      <a:pt x="55" y="299"/>
                    </a:lnTo>
                    <a:lnTo>
                      <a:pt x="59" y="299"/>
                    </a:lnTo>
                    <a:lnTo>
                      <a:pt x="53" y="301"/>
                    </a:lnTo>
                    <a:lnTo>
                      <a:pt x="49" y="301"/>
                    </a:lnTo>
                    <a:lnTo>
                      <a:pt x="42" y="302"/>
                    </a:lnTo>
                    <a:lnTo>
                      <a:pt x="38" y="302"/>
                    </a:lnTo>
                    <a:lnTo>
                      <a:pt x="33" y="305"/>
                    </a:lnTo>
                    <a:lnTo>
                      <a:pt x="28" y="307"/>
                    </a:lnTo>
                    <a:lnTo>
                      <a:pt x="19" y="313"/>
                    </a:lnTo>
                    <a:lnTo>
                      <a:pt x="14" y="316"/>
                    </a:lnTo>
                    <a:lnTo>
                      <a:pt x="11" y="320"/>
                    </a:lnTo>
                    <a:lnTo>
                      <a:pt x="8" y="324"/>
                    </a:lnTo>
                    <a:lnTo>
                      <a:pt x="7" y="329"/>
                    </a:lnTo>
                    <a:lnTo>
                      <a:pt x="3" y="334"/>
                    </a:lnTo>
                    <a:lnTo>
                      <a:pt x="2" y="338"/>
                    </a:lnTo>
                    <a:lnTo>
                      <a:pt x="0" y="343"/>
                    </a:lnTo>
                    <a:lnTo>
                      <a:pt x="0" y="348"/>
                    </a:lnTo>
                    <a:lnTo>
                      <a:pt x="0" y="353"/>
                    </a:lnTo>
                    <a:lnTo>
                      <a:pt x="2" y="357"/>
                    </a:lnTo>
                    <a:lnTo>
                      <a:pt x="2" y="362"/>
                    </a:lnTo>
                    <a:lnTo>
                      <a:pt x="3" y="367"/>
                    </a:lnTo>
                    <a:lnTo>
                      <a:pt x="7" y="371"/>
                    </a:lnTo>
                    <a:lnTo>
                      <a:pt x="10" y="376"/>
                    </a:lnTo>
                    <a:lnTo>
                      <a:pt x="13" y="379"/>
                    </a:lnTo>
                    <a:lnTo>
                      <a:pt x="16" y="384"/>
                    </a:lnTo>
                    <a:lnTo>
                      <a:pt x="24" y="390"/>
                    </a:lnTo>
                    <a:lnTo>
                      <a:pt x="28" y="394"/>
                    </a:lnTo>
                    <a:lnTo>
                      <a:pt x="33" y="395"/>
                    </a:lnTo>
                    <a:lnTo>
                      <a:pt x="38" y="397"/>
                    </a:lnTo>
                    <a:lnTo>
                      <a:pt x="44" y="398"/>
                    </a:lnTo>
                    <a:lnTo>
                      <a:pt x="50" y="400"/>
                    </a:lnTo>
                    <a:lnTo>
                      <a:pt x="55" y="400"/>
                    </a:lnTo>
                    <a:lnTo>
                      <a:pt x="59" y="40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49" name="Line 107"/>
              <p:cNvSpPr>
                <a:spLocks noChangeShapeType="1"/>
              </p:cNvSpPr>
              <p:nvPr/>
            </p:nvSpPr>
            <p:spPr bwMode="auto">
              <a:xfrm>
                <a:off x="4164" y="1619"/>
                <a:ext cx="1" cy="1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50" name="Line 108"/>
              <p:cNvSpPr>
                <a:spLocks noChangeShapeType="1"/>
              </p:cNvSpPr>
              <p:nvPr/>
            </p:nvSpPr>
            <p:spPr bwMode="auto">
              <a:xfrm flipV="1">
                <a:off x="4177" y="1619"/>
                <a:ext cx="1" cy="1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51" name="Freeform 109"/>
              <p:cNvSpPr>
                <a:spLocks/>
              </p:cNvSpPr>
              <p:nvPr/>
            </p:nvSpPr>
            <p:spPr bwMode="auto">
              <a:xfrm>
                <a:off x="4220" y="1621"/>
                <a:ext cx="24" cy="25"/>
              </a:xfrm>
              <a:custGeom>
                <a:avLst/>
                <a:gdLst>
                  <a:gd name="T0" fmla="*/ 0 w 50"/>
                  <a:gd name="T1" fmla="*/ 0 h 51"/>
                  <a:gd name="T2" fmla="*/ 0 w 50"/>
                  <a:gd name="T3" fmla="*/ 0 h 51"/>
                  <a:gd name="T4" fmla="*/ 0 w 50"/>
                  <a:gd name="T5" fmla="*/ 0 h 51"/>
                  <a:gd name="T6" fmla="*/ 0 w 50"/>
                  <a:gd name="T7" fmla="*/ 0 h 51"/>
                  <a:gd name="T8" fmla="*/ 0 w 50"/>
                  <a:gd name="T9" fmla="*/ 0 h 51"/>
                  <a:gd name="T10" fmla="*/ 0 w 50"/>
                  <a:gd name="T11" fmla="*/ 0 h 51"/>
                  <a:gd name="T12" fmla="*/ 0 w 50"/>
                  <a:gd name="T13" fmla="*/ 0 h 51"/>
                  <a:gd name="T14" fmla="*/ 0 w 50"/>
                  <a:gd name="T15" fmla="*/ 0 h 51"/>
                  <a:gd name="T16" fmla="*/ 0 w 50"/>
                  <a:gd name="T17" fmla="*/ 0 h 51"/>
                  <a:gd name="T18" fmla="*/ 0 w 50"/>
                  <a:gd name="T19" fmla="*/ 0 h 51"/>
                  <a:gd name="T20" fmla="*/ 0 w 50"/>
                  <a:gd name="T21" fmla="*/ 0 h 51"/>
                  <a:gd name="T22" fmla="*/ 0 w 50"/>
                  <a:gd name="T23" fmla="*/ 0 h 51"/>
                  <a:gd name="T24" fmla="*/ 0 w 50"/>
                  <a:gd name="T25" fmla="*/ 0 h 51"/>
                  <a:gd name="T26" fmla="*/ 0 w 50"/>
                  <a:gd name="T27" fmla="*/ 0 h 51"/>
                  <a:gd name="T28" fmla="*/ 0 w 50"/>
                  <a:gd name="T29" fmla="*/ 0 h 51"/>
                  <a:gd name="T30" fmla="*/ 0 w 50"/>
                  <a:gd name="T31" fmla="*/ 0 h 51"/>
                  <a:gd name="T32" fmla="*/ 0 w 50"/>
                  <a:gd name="T33" fmla="*/ 0 h 51"/>
                  <a:gd name="T34" fmla="*/ 0 w 50"/>
                  <a:gd name="T35" fmla="*/ 0 h 51"/>
                  <a:gd name="T36" fmla="*/ 0 w 50"/>
                  <a:gd name="T37" fmla="*/ 0 h 51"/>
                  <a:gd name="T38" fmla="*/ 0 w 50"/>
                  <a:gd name="T39" fmla="*/ 0 h 51"/>
                  <a:gd name="T40" fmla="*/ 0 w 50"/>
                  <a:gd name="T41" fmla="*/ 0 h 51"/>
                  <a:gd name="T42" fmla="*/ 0 w 50"/>
                  <a:gd name="T43" fmla="*/ 0 h 51"/>
                  <a:gd name="T44" fmla="*/ 0 w 50"/>
                  <a:gd name="T45" fmla="*/ 0 h 51"/>
                  <a:gd name="T46" fmla="*/ 0 w 50"/>
                  <a:gd name="T47" fmla="*/ 0 h 51"/>
                  <a:gd name="T48" fmla="*/ 0 w 50"/>
                  <a:gd name="T49" fmla="*/ 0 h 51"/>
                  <a:gd name="T50" fmla="*/ 0 w 50"/>
                  <a:gd name="T51" fmla="*/ 0 h 51"/>
                  <a:gd name="T52" fmla="*/ 0 w 50"/>
                  <a:gd name="T53" fmla="*/ 0 h 51"/>
                  <a:gd name="T54" fmla="*/ 0 w 50"/>
                  <a:gd name="T55" fmla="*/ 0 h 51"/>
                  <a:gd name="T56" fmla="*/ 0 w 50"/>
                  <a:gd name="T57" fmla="*/ 0 h 51"/>
                  <a:gd name="T58" fmla="*/ 0 w 50"/>
                  <a:gd name="T59" fmla="*/ 0 h 51"/>
                  <a:gd name="T60" fmla="*/ 0 w 50"/>
                  <a:gd name="T61" fmla="*/ 0 h 51"/>
                  <a:gd name="T62" fmla="*/ 0 w 50"/>
                  <a:gd name="T63" fmla="*/ 0 h 51"/>
                  <a:gd name="T64" fmla="*/ 0 w 50"/>
                  <a:gd name="T65" fmla="*/ 0 h 51"/>
                  <a:gd name="T66" fmla="*/ 0 w 50"/>
                  <a:gd name="T67" fmla="*/ 0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1"/>
                  <a:gd name="T104" fmla="*/ 50 w 50"/>
                  <a:gd name="T105" fmla="*/ 51 h 5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1">
                    <a:moveTo>
                      <a:pt x="0" y="25"/>
                    </a:moveTo>
                    <a:lnTo>
                      <a:pt x="2" y="21"/>
                    </a:lnTo>
                    <a:lnTo>
                      <a:pt x="3" y="16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3"/>
                    </a:lnTo>
                    <a:lnTo>
                      <a:pt x="20" y="2"/>
                    </a:lnTo>
                    <a:lnTo>
                      <a:pt x="25" y="0"/>
                    </a:lnTo>
                    <a:lnTo>
                      <a:pt x="31" y="2"/>
                    </a:lnTo>
                    <a:lnTo>
                      <a:pt x="36" y="3"/>
                    </a:lnTo>
                    <a:lnTo>
                      <a:pt x="39" y="5"/>
                    </a:lnTo>
                    <a:lnTo>
                      <a:pt x="44" y="8"/>
                    </a:lnTo>
                    <a:lnTo>
                      <a:pt x="47" y="11"/>
                    </a:lnTo>
                    <a:lnTo>
                      <a:pt x="48" y="16"/>
                    </a:lnTo>
                    <a:lnTo>
                      <a:pt x="50" y="21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7" y="40"/>
                    </a:lnTo>
                    <a:lnTo>
                      <a:pt x="44" y="44"/>
                    </a:lnTo>
                    <a:lnTo>
                      <a:pt x="39" y="48"/>
                    </a:lnTo>
                    <a:lnTo>
                      <a:pt x="36" y="49"/>
                    </a:lnTo>
                    <a:lnTo>
                      <a:pt x="31" y="51"/>
                    </a:lnTo>
                    <a:lnTo>
                      <a:pt x="25" y="51"/>
                    </a:lnTo>
                    <a:lnTo>
                      <a:pt x="20" y="51"/>
                    </a:lnTo>
                    <a:lnTo>
                      <a:pt x="16" y="49"/>
                    </a:lnTo>
                    <a:lnTo>
                      <a:pt x="11" y="48"/>
                    </a:lnTo>
                    <a:lnTo>
                      <a:pt x="8" y="44"/>
                    </a:lnTo>
                    <a:lnTo>
                      <a:pt x="5" y="40"/>
                    </a:lnTo>
                    <a:lnTo>
                      <a:pt x="3" y="35"/>
                    </a:lnTo>
                    <a:lnTo>
                      <a:pt x="2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52" name="Line 110"/>
              <p:cNvSpPr>
                <a:spLocks noChangeShapeType="1"/>
              </p:cNvSpPr>
              <p:nvPr/>
            </p:nvSpPr>
            <p:spPr bwMode="auto">
              <a:xfrm flipH="1">
                <a:off x="3875" y="1164"/>
                <a:ext cx="13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53" name="Freeform 111"/>
              <p:cNvSpPr>
                <a:spLocks/>
              </p:cNvSpPr>
              <p:nvPr/>
            </p:nvSpPr>
            <p:spPr bwMode="auto">
              <a:xfrm>
                <a:off x="3877" y="1974"/>
                <a:ext cx="157" cy="110"/>
              </a:xfrm>
              <a:custGeom>
                <a:avLst/>
                <a:gdLst>
                  <a:gd name="T0" fmla="*/ 4 w 316"/>
                  <a:gd name="T1" fmla="*/ 4 h 220"/>
                  <a:gd name="T2" fmla="*/ 0 w 316"/>
                  <a:gd name="T3" fmla="*/ 4 h 220"/>
                  <a:gd name="T4" fmla="*/ 0 w 316"/>
                  <a:gd name="T5" fmla="*/ 0 h 220"/>
                  <a:gd name="T6" fmla="*/ 0 60000 65536"/>
                  <a:gd name="T7" fmla="*/ 0 60000 65536"/>
                  <a:gd name="T8" fmla="*/ 0 60000 65536"/>
                  <a:gd name="T9" fmla="*/ 0 w 316"/>
                  <a:gd name="T10" fmla="*/ 0 h 220"/>
                  <a:gd name="T11" fmla="*/ 316 w 316"/>
                  <a:gd name="T12" fmla="*/ 220 h 2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6" h="220">
                    <a:moveTo>
                      <a:pt x="316" y="220"/>
                    </a:moveTo>
                    <a:lnTo>
                      <a:pt x="0" y="22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54" name="Line 112"/>
              <p:cNvSpPr>
                <a:spLocks noChangeShapeType="1"/>
              </p:cNvSpPr>
              <p:nvPr/>
            </p:nvSpPr>
            <p:spPr bwMode="auto">
              <a:xfrm flipH="1">
                <a:off x="3877" y="1764"/>
                <a:ext cx="157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55" name="Freeform 113"/>
              <p:cNvSpPr>
                <a:spLocks/>
              </p:cNvSpPr>
              <p:nvPr/>
            </p:nvSpPr>
            <p:spPr bwMode="auto">
              <a:xfrm>
                <a:off x="3864" y="1751"/>
                <a:ext cx="25" cy="25"/>
              </a:xfrm>
              <a:custGeom>
                <a:avLst/>
                <a:gdLst>
                  <a:gd name="T0" fmla="*/ 0 w 50"/>
                  <a:gd name="T1" fmla="*/ 1 h 50"/>
                  <a:gd name="T2" fmla="*/ 0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1 h 50"/>
                  <a:gd name="T16" fmla="*/ 1 w 50"/>
                  <a:gd name="T17" fmla="*/ 0 h 50"/>
                  <a:gd name="T18" fmla="*/ 1 w 50"/>
                  <a:gd name="T19" fmla="*/ 1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0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0" y="20"/>
                    </a:lnTo>
                    <a:lnTo>
                      <a:pt x="2" y="16"/>
                    </a:lnTo>
                    <a:lnTo>
                      <a:pt x="5" y="13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3"/>
                    </a:lnTo>
                    <a:lnTo>
                      <a:pt x="20" y="2"/>
                    </a:lnTo>
                    <a:lnTo>
                      <a:pt x="25" y="0"/>
                    </a:lnTo>
                    <a:lnTo>
                      <a:pt x="30" y="2"/>
                    </a:lnTo>
                    <a:lnTo>
                      <a:pt x="34" y="3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3"/>
                    </a:lnTo>
                    <a:lnTo>
                      <a:pt x="48" y="16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1"/>
                    </a:lnTo>
                    <a:lnTo>
                      <a:pt x="48" y="36"/>
                    </a:lnTo>
                    <a:lnTo>
                      <a:pt x="45" y="39"/>
                    </a:lnTo>
                    <a:lnTo>
                      <a:pt x="42" y="44"/>
                    </a:lnTo>
                    <a:lnTo>
                      <a:pt x="39" y="47"/>
                    </a:lnTo>
                    <a:lnTo>
                      <a:pt x="34" y="49"/>
                    </a:lnTo>
                    <a:lnTo>
                      <a:pt x="30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6" y="49"/>
                    </a:lnTo>
                    <a:lnTo>
                      <a:pt x="11" y="47"/>
                    </a:lnTo>
                    <a:lnTo>
                      <a:pt x="8" y="44"/>
                    </a:lnTo>
                    <a:lnTo>
                      <a:pt x="5" y="39"/>
                    </a:lnTo>
                    <a:lnTo>
                      <a:pt x="2" y="36"/>
                    </a:lnTo>
                    <a:lnTo>
                      <a:pt x="0" y="31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56" name="Freeform 114"/>
              <p:cNvSpPr>
                <a:spLocks/>
              </p:cNvSpPr>
              <p:nvPr/>
            </p:nvSpPr>
            <p:spPr bwMode="auto">
              <a:xfrm>
                <a:off x="3864" y="2071"/>
                <a:ext cx="25" cy="25"/>
              </a:xfrm>
              <a:custGeom>
                <a:avLst/>
                <a:gdLst>
                  <a:gd name="T0" fmla="*/ 0 w 50"/>
                  <a:gd name="T1" fmla="*/ 0 h 51"/>
                  <a:gd name="T2" fmla="*/ 0 w 50"/>
                  <a:gd name="T3" fmla="*/ 0 h 51"/>
                  <a:gd name="T4" fmla="*/ 1 w 50"/>
                  <a:gd name="T5" fmla="*/ 0 h 51"/>
                  <a:gd name="T6" fmla="*/ 1 w 50"/>
                  <a:gd name="T7" fmla="*/ 0 h 51"/>
                  <a:gd name="T8" fmla="*/ 1 w 50"/>
                  <a:gd name="T9" fmla="*/ 0 h 51"/>
                  <a:gd name="T10" fmla="*/ 1 w 50"/>
                  <a:gd name="T11" fmla="*/ 0 h 51"/>
                  <a:gd name="T12" fmla="*/ 1 w 50"/>
                  <a:gd name="T13" fmla="*/ 0 h 51"/>
                  <a:gd name="T14" fmla="*/ 1 w 50"/>
                  <a:gd name="T15" fmla="*/ 0 h 51"/>
                  <a:gd name="T16" fmla="*/ 1 w 50"/>
                  <a:gd name="T17" fmla="*/ 0 h 51"/>
                  <a:gd name="T18" fmla="*/ 1 w 50"/>
                  <a:gd name="T19" fmla="*/ 0 h 51"/>
                  <a:gd name="T20" fmla="*/ 1 w 50"/>
                  <a:gd name="T21" fmla="*/ 0 h 51"/>
                  <a:gd name="T22" fmla="*/ 1 w 50"/>
                  <a:gd name="T23" fmla="*/ 0 h 51"/>
                  <a:gd name="T24" fmla="*/ 1 w 50"/>
                  <a:gd name="T25" fmla="*/ 0 h 51"/>
                  <a:gd name="T26" fmla="*/ 1 w 50"/>
                  <a:gd name="T27" fmla="*/ 0 h 51"/>
                  <a:gd name="T28" fmla="*/ 1 w 50"/>
                  <a:gd name="T29" fmla="*/ 0 h 51"/>
                  <a:gd name="T30" fmla="*/ 1 w 50"/>
                  <a:gd name="T31" fmla="*/ 0 h 51"/>
                  <a:gd name="T32" fmla="*/ 1 w 50"/>
                  <a:gd name="T33" fmla="*/ 0 h 51"/>
                  <a:gd name="T34" fmla="*/ 1 w 50"/>
                  <a:gd name="T35" fmla="*/ 0 h 51"/>
                  <a:gd name="T36" fmla="*/ 1 w 50"/>
                  <a:gd name="T37" fmla="*/ 0 h 51"/>
                  <a:gd name="T38" fmla="*/ 1 w 50"/>
                  <a:gd name="T39" fmla="*/ 0 h 51"/>
                  <a:gd name="T40" fmla="*/ 1 w 50"/>
                  <a:gd name="T41" fmla="*/ 0 h 51"/>
                  <a:gd name="T42" fmla="*/ 1 w 50"/>
                  <a:gd name="T43" fmla="*/ 0 h 51"/>
                  <a:gd name="T44" fmla="*/ 1 w 50"/>
                  <a:gd name="T45" fmla="*/ 0 h 51"/>
                  <a:gd name="T46" fmla="*/ 1 w 50"/>
                  <a:gd name="T47" fmla="*/ 0 h 51"/>
                  <a:gd name="T48" fmla="*/ 1 w 50"/>
                  <a:gd name="T49" fmla="*/ 0 h 51"/>
                  <a:gd name="T50" fmla="*/ 1 w 50"/>
                  <a:gd name="T51" fmla="*/ 0 h 51"/>
                  <a:gd name="T52" fmla="*/ 1 w 50"/>
                  <a:gd name="T53" fmla="*/ 0 h 51"/>
                  <a:gd name="T54" fmla="*/ 1 w 50"/>
                  <a:gd name="T55" fmla="*/ 0 h 51"/>
                  <a:gd name="T56" fmla="*/ 1 w 50"/>
                  <a:gd name="T57" fmla="*/ 0 h 51"/>
                  <a:gd name="T58" fmla="*/ 1 w 50"/>
                  <a:gd name="T59" fmla="*/ 0 h 51"/>
                  <a:gd name="T60" fmla="*/ 1 w 50"/>
                  <a:gd name="T61" fmla="*/ 0 h 51"/>
                  <a:gd name="T62" fmla="*/ 1 w 50"/>
                  <a:gd name="T63" fmla="*/ 0 h 51"/>
                  <a:gd name="T64" fmla="*/ 0 w 50"/>
                  <a:gd name="T65" fmla="*/ 0 h 51"/>
                  <a:gd name="T66" fmla="*/ 0 w 50"/>
                  <a:gd name="T67" fmla="*/ 0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1"/>
                  <a:gd name="T104" fmla="*/ 50 w 50"/>
                  <a:gd name="T105" fmla="*/ 51 h 5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1">
                    <a:moveTo>
                      <a:pt x="0" y="25"/>
                    </a:moveTo>
                    <a:lnTo>
                      <a:pt x="0" y="21"/>
                    </a:lnTo>
                    <a:lnTo>
                      <a:pt x="2" y="16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0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1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40"/>
                    </a:lnTo>
                    <a:lnTo>
                      <a:pt x="42" y="43"/>
                    </a:lnTo>
                    <a:lnTo>
                      <a:pt x="39" y="46"/>
                    </a:lnTo>
                    <a:lnTo>
                      <a:pt x="34" y="49"/>
                    </a:lnTo>
                    <a:lnTo>
                      <a:pt x="30" y="51"/>
                    </a:lnTo>
                    <a:lnTo>
                      <a:pt x="25" y="51"/>
                    </a:lnTo>
                    <a:lnTo>
                      <a:pt x="20" y="51"/>
                    </a:lnTo>
                    <a:lnTo>
                      <a:pt x="16" y="49"/>
                    </a:lnTo>
                    <a:lnTo>
                      <a:pt x="11" y="46"/>
                    </a:lnTo>
                    <a:lnTo>
                      <a:pt x="8" y="43"/>
                    </a:lnTo>
                    <a:lnTo>
                      <a:pt x="5" y="40"/>
                    </a:lnTo>
                    <a:lnTo>
                      <a:pt x="2" y="35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57" name="Line 115"/>
              <p:cNvSpPr>
                <a:spLocks noChangeShapeType="1"/>
              </p:cNvSpPr>
              <p:nvPr/>
            </p:nvSpPr>
            <p:spPr bwMode="auto">
              <a:xfrm flipV="1">
                <a:off x="4230" y="1814"/>
                <a:ext cx="1" cy="8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58" name="Line 116"/>
              <p:cNvSpPr>
                <a:spLocks noChangeShapeType="1"/>
              </p:cNvSpPr>
              <p:nvPr/>
            </p:nvSpPr>
            <p:spPr bwMode="auto">
              <a:xfrm flipH="1" flipV="1">
                <a:off x="4546" y="1334"/>
                <a:ext cx="3" cy="56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59" name="Line 117"/>
              <p:cNvSpPr>
                <a:spLocks noChangeShapeType="1"/>
              </p:cNvSpPr>
              <p:nvPr/>
            </p:nvSpPr>
            <p:spPr bwMode="auto">
              <a:xfrm>
                <a:off x="4546" y="1334"/>
                <a:ext cx="150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60" name="Line 118"/>
              <p:cNvSpPr>
                <a:spLocks noChangeShapeType="1"/>
              </p:cNvSpPr>
              <p:nvPr/>
            </p:nvSpPr>
            <p:spPr bwMode="auto">
              <a:xfrm>
                <a:off x="5145" y="1527"/>
                <a:ext cx="1" cy="4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61" name="Freeform 119"/>
              <p:cNvSpPr>
                <a:spLocks/>
              </p:cNvSpPr>
              <p:nvPr/>
            </p:nvSpPr>
            <p:spPr bwMode="auto">
              <a:xfrm>
                <a:off x="4230" y="1614"/>
                <a:ext cx="911" cy="1"/>
              </a:xfrm>
              <a:custGeom>
                <a:avLst/>
                <a:gdLst>
                  <a:gd name="T0" fmla="*/ 0 w 1824"/>
                  <a:gd name="T1" fmla="*/ 0 h 1"/>
                  <a:gd name="T2" fmla="*/ 28 w 1824"/>
                  <a:gd name="T3" fmla="*/ 0 h 1"/>
                  <a:gd name="T4" fmla="*/ 28 w 182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824"/>
                  <a:gd name="T10" fmla="*/ 0 h 1"/>
                  <a:gd name="T11" fmla="*/ 1824 w 182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24" h="1">
                    <a:moveTo>
                      <a:pt x="0" y="0"/>
                    </a:moveTo>
                    <a:lnTo>
                      <a:pt x="1824" y="0"/>
                    </a:lnTo>
                    <a:lnTo>
                      <a:pt x="181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62" name="Line 120"/>
              <p:cNvSpPr>
                <a:spLocks noChangeShapeType="1"/>
              </p:cNvSpPr>
              <p:nvPr/>
            </p:nvSpPr>
            <p:spPr bwMode="auto">
              <a:xfrm>
                <a:off x="5145" y="1574"/>
                <a:ext cx="1" cy="4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63" name="Line 121"/>
              <p:cNvSpPr>
                <a:spLocks noChangeShapeType="1"/>
              </p:cNvSpPr>
              <p:nvPr/>
            </p:nvSpPr>
            <p:spPr bwMode="auto">
              <a:xfrm>
                <a:off x="4987" y="1574"/>
                <a:ext cx="1" cy="4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64" name="Freeform 122"/>
              <p:cNvSpPr>
                <a:spLocks/>
              </p:cNvSpPr>
              <p:nvPr/>
            </p:nvSpPr>
            <p:spPr bwMode="auto">
              <a:xfrm>
                <a:off x="4974" y="1601"/>
                <a:ext cx="25" cy="26"/>
              </a:xfrm>
              <a:custGeom>
                <a:avLst/>
                <a:gdLst>
                  <a:gd name="T0" fmla="*/ 0 w 50"/>
                  <a:gd name="T1" fmla="*/ 1 h 50"/>
                  <a:gd name="T2" fmla="*/ 1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1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2" y="20"/>
                    </a:lnTo>
                    <a:lnTo>
                      <a:pt x="3" y="16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1" y="0"/>
                    </a:lnTo>
                    <a:lnTo>
                      <a:pt x="36" y="2"/>
                    </a:lnTo>
                    <a:lnTo>
                      <a:pt x="39" y="5"/>
                    </a:lnTo>
                    <a:lnTo>
                      <a:pt x="44" y="8"/>
                    </a:lnTo>
                    <a:lnTo>
                      <a:pt x="47" y="11"/>
                    </a:lnTo>
                    <a:lnTo>
                      <a:pt x="48" y="16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7" y="39"/>
                    </a:lnTo>
                    <a:lnTo>
                      <a:pt x="44" y="42"/>
                    </a:lnTo>
                    <a:lnTo>
                      <a:pt x="39" y="46"/>
                    </a:lnTo>
                    <a:lnTo>
                      <a:pt x="36" y="49"/>
                    </a:lnTo>
                    <a:lnTo>
                      <a:pt x="31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6" y="49"/>
                    </a:lnTo>
                    <a:lnTo>
                      <a:pt x="11" y="46"/>
                    </a:lnTo>
                    <a:lnTo>
                      <a:pt x="8" y="42"/>
                    </a:lnTo>
                    <a:lnTo>
                      <a:pt x="5" y="39"/>
                    </a:lnTo>
                    <a:lnTo>
                      <a:pt x="3" y="35"/>
                    </a:lnTo>
                    <a:lnTo>
                      <a:pt x="2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65" name="Freeform 123"/>
              <p:cNvSpPr>
                <a:spLocks/>
              </p:cNvSpPr>
              <p:nvPr/>
            </p:nvSpPr>
            <p:spPr bwMode="auto">
              <a:xfrm>
                <a:off x="4534" y="1321"/>
                <a:ext cx="25" cy="26"/>
              </a:xfrm>
              <a:custGeom>
                <a:avLst/>
                <a:gdLst>
                  <a:gd name="T0" fmla="*/ 0 w 49"/>
                  <a:gd name="T1" fmla="*/ 1 h 50"/>
                  <a:gd name="T2" fmla="*/ 0 w 49"/>
                  <a:gd name="T3" fmla="*/ 1 h 50"/>
                  <a:gd name="T4" fmla="*/ 1 w 49"/>
                  <a:gd name="T5" fmla="*/ 1 h 50"/>
                  <a:gd name="T6" fmla="*/ 1 w 49"/>
                  <a:gd name="T7" fmla="*/ 1 h 50"/>
                  <a:gd name="T8" fmla="*/ 1 w 49"/>
                  <a:gd name="T9" fmla="*/ 1 h 50"/>
                  <a:gd name="T10" fmla="*/ 1 w 49"/>
                  <a:gd name="T11" fmla="*/ 1 h 50"/>
                  <a:gd name="T12" fmla="*/ 1 w 49"/>
                  <a:gd name="T13" fmla="*/ 1 h 50"/>
                  <a:gd name="T14" fmla="*/ 1 w 49"/>
                  <a:gd name="T15" fmla="*/ 0 h 50"/>
                  <a:gd name="T16" fmla="*/ 1 w 49"/>
                  <a:gd name="T17" fmla="*/ 0 h 50"/>
                  <a:gd name="T18" fmla="*/ 1 w 49"/>
                  <a:gd name="T19" fmla="*/ 0 h 50"/>
                  <a:gd name="T20" fmla="*/ 1 w 49"/>
                  <a:gd name="T21" fmla="*/ 1 h 50"/>
                  <a:gd name="T22" fmla="*/ 1 w 49"/>
                  <a:gd name="T23" fmla="*/ 1 h 50"/>
                  <a:gd name="T24" fmla="*/ 1 w 49"/>
                  <a:gd name="T25" fmla="*/ 1 h 50"/>
                  <a:gd name="T26" fmla="*/ 1 w 49"/>
                  <a:gd name="T27" fmla="*/ 1 h 50"/>
                  <a:gd name="T28" fmla="*/ 1 w 49"/>
                  <a:gd name="T29" fmla="*/ 1 h 50"/>
                  <a:gd name="T30" fmla="*/ 1 w 49"/>
                  <a:gd name="T31" fmla="*/ 1 h 50"/>
                  <a:gd name="T32" fmla="*/ 1 w 49"/>
                  <a:gd name="T33" fmla="*/ 1 h 50"/>
                  <a:gd name="T34" fmla="*/ 1 w 49"/>
                  <a:gd name="T35" fmla="*/ 1 h 50"/>
                  <a:gd name="T36" fmla="*/ 1 w 49"/>
                  <a:gd name="T37" fmla="*/ 1 h 50"/>
                  <a:gd name="T38" fmla="*/ 1 w 49"/>
                  <a:gd name="T39" fmla="*/ 1 h 50"/>
                  <a:gd name="T40" fmla="*/ 1 w 49"/>
                  <a:gd name="T41" fmla="*/ 1 h 50"/>
                  <a:gd name="T42" fmla="*/ 1 w 49"/>
                  <a:gd name="T43" fmla="*/ 1 h 50"/>
                  <a:gd name="T44" fmla="*/ 1 w 49"/>
                  <a:gd name="T45" fmla="*/ 1 h 50"/>
                  <a:gd name="T46" fmla="*/ 1 w 49"/>
                  <a:gd name="T47" fmla="*/ 1 h 50"/>
                  <a:gd name="T48" fmla="*/ 1 w 49"/>
                  <a:gd name="T49" fmla="*/ 1 h 50"/>
                  <a:gd name="T50" fmla="*/ 1 w 49"/>
                  <a:gd name="T51" fmla="*/ 1 h 50"/>
                  <a:gd name="T52" fmla="*/ 1 w 49"/>
                  <a:gd name="T53" fmla="*/ 1 h 50"/>
                  <a:gd name="T54" fmla="*/ 1 w 49"/>
                  <a:gd name="T55" fmla="*/ 1 h 50"/>
                  <a:gd name="T56" fmla="*/ 1 w 49"/>
                  <a:gd name="T57" fmla="*/ 1 h 50"/>
                  <a:gd name="T58" fmla="*/ 1 w 49"/>
                  <a:gd name="T59" fmla="*/ 1 h 50"/>
                  <a:gd name="T60" fmla="*/ 1 w 49"/>
                  <a:gd name="T61" fmla="*/ 1 h 50"/>
                  <a:gd name="T62" fmla="*/ 1 w 49"/>
                  <a:gd name="T63" fmla="*/ 1 h 50"/>
                  <a:gd name="T64" fmla="*/ 0 w 49"/>
                  <a:gd name="T65" fmla="*/ 1 h 50"/>
                  <a:gd name="T66" fmla="*/ 0 w 49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49"/>
                  <a:gd name="T103" fmla="*/ 0 h 50"/>
                  <a:gd name="T104" fmla="*/ 49 w 49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49" h="50">
                    <a:moveTo>
                      <a:pt x="0" y="25"/>
                    </a:moveTo>
                    <a:lnTo>
                      <a:pt x="0" y="20"/>
                    </a:lnTo>
                    <a:lnTo>
                      <a:pt x="1" y="16"/>
                    </a:lnTo>
                    <a:lnTo>
                      <a:pt x="4" y="11"/>
                    </a:lnTo>
                    <a:lnTo>
                      <a:pt x="7" y="8"/>
                    </a:lnTo>
                    <a:lnTo>
                      <a:pt x="11" y="5"/>
                    </a:lnTo>
                    <a:lnTo>
                      <a:pt x="15" y="1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1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49" y="20"/>
                    </a:lnTo>
                    <a:lnTo>
                      <a:pt x="49" y="25"/>
                    </a:lnTo>
                    <a:lnTo>
                      <a:pt x="49" y="30"/>
                    </a:lnTo>
                    <a:lnTo>
                      <a:pt x="48" y="34"/>
                    </a:lnTo>
                    <a:lnTo>
                      <a:pt x="45" y="39"/>
                    </a:lnTo>
                    <a:lnTo>
                      <a:pt x="42" y="42"/>
                    </a:lnTo>
                    <a:lnTo>
                      <a:pt x="39" y="45"/>
                    </a:lnTo>
                    <a:lnTo>
                      <a:pt x="34" y="49"/>
                    </a:lnTo>
                    <a:lnTo>
                      <a:pt x="29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5" y="49"/>
                    </a:lnTo>
                    <a:lnTo>
                      <a:pt x="11" y="45"/>
                    </a:lnTo>
                    <a:lnTo>
                      <a:pt x="7" y="42"/>
                    </a:lnTo>
                    <a:lnTo>
                      <a:pt x="4" y="39"/>
                    </a:lnTo>
                    <a:lnTo>
                      <a:pt x="1" y="34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66" name="Line 124"/>
              <p:cNvSpPr>
                <a:spLocks noChangeShapeType="1"/>
              </p:cNvSpPr>
              <p:nvPr/>
            </p:nvSpPr>
            <p:spPr bwMode="auto">
              <a:xfrm>
                <a:off x="3537" y="1334"/>
                <a:ext cx="7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67" name="Line 125"/>
              <p:cNvSpPr>
                <a:spLocks noChangeShapeType="1"/>
              </p:cNvSpPr>
              <p:nvPr/>
            </p:nvSpPr>
            <p:spPr bwMode="auto">
              <a:xfrm>
                <a:off x="3537" y="1364"/>
                <a:ext cx="7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68" name="Line 126"/>
              <p:cNvSpPr>
                <a:spLocks noChangeShapeType="1"/>
              </p:cNvSpPr>
              <p:nvPr/>
            </p:nvSpPr>
            <p:spPr bwMode="auto">
              <a:xfrm>
                <a:off x="3576" y="1364"/>
                <a:ext cx="1" cy="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69" name="Line 127"/>
              <p:cNvSpPr>
                <a:spLocks noChangeShapeType="1"/>
              </p:cNvSpPr>
              <p:nvPr/>
            </p:nvSpPr>
            <p:spPr bwMode="auto">
              <a:xfrm flipV="1">
                <a:off x="3576" y="1244"/>
                <a:ext cx="1" cy="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70" name="Line 128"/>
              <p:cNvSpPr>
                <a:spLocks noChangeShapeType="1"/>
              </p:cNvSpPr>
              <p:nvPr/>
            </p:nvSpPr>
            <p:spPr bwMode="auto">
              <a:xfrm>
                <a:off x="3537" y="1933"/>
                <a:ext cx="7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71" name="Line 129"/>
              <p:cNvSpPr>
                <a:spLocks noChangeShapeType="1"/>
              </p:cNvSpPr>
              <p:nvPr/>
            </p:nvSpPr>
            <p:spPr bwMode="auto">
              <a:xfrm>
                <a:off x="3537" y="1964"/>
                <a:ext cx="7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72" name="Line 130"/>
              <p:cNvSpPr>
                <a:spLocks noChangeShapeType="1"/>
              </p:cNvSpPr>
              <p:nvPr/>
            </p:nvSpPr>
            <p:spPr bwMode="auto">
              <a:xfrm>
                <a:off x="3576" y="1964"/>
                <a:ext cx="1" cy="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73" name="Line 131"/>
              <p:cNvSpPr>
                <a:spLocks noChangeShapeType="1"/>
              </p:cNvSpPr>
              <p:nvPr/>
            </p:nvSpPr>
            <p:spPr bwMode="auto">
              <a:xfrm flipV="1">
                <a:off x="3576" y="1844"/>
                <a:ext cx="1" cy="8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74" name="Line 132"/>
              <p:cNvSpPr>
                <a:spLocks noChangeShapeType="1"/>
              </p:cNvSpPr>
              <p:nvPr/>
            </p:nvSpPr>
            <p:spPr bwMode="auto">
              <a:xfrm flipH="1">
                <a:off x="3306" y="2084"/>
                <a:ext cx="69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75" name="Line 133"/>
              <p:cNvSpPr>
                <a:spLocks noChangeShapeType="1"/>
              </p:cNvSpPr>
              <p:nvPr/>
            </p:nvSpPr>
            <p:spPr bwMode="auto">
              <a:xfrm flipH="1">
                <a:off x="3306" y="1164"/>
                <a:ext cx="63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76" name="Line 134"/>
              <p:cNvSpPr>
                <a:spLocks noChangeShapeType="1"/>
              </p:cNvSpPr>
              <p:nvPr/>
            </p:nvSpPr>
            <p:spPr bwMode="auto">
              <a:xfrm flipV="1">
                <a:off x="3875" y="1164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77" name="Line 135"/>
              <p:cNvSpPr>
                <a:spLocks noChangeShapeType="1"/>
              </p:cNvSpPr>
              <p:nvPr/>
            </p:nvSpPr>
            <p:spPr bwMode="auto">
              <a:xfrm>
                <a:off x="3875" y="1374"/>
                <a:ext cx="2" cy="3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78" name="Line 136"/>
              <p:cNvSpPr>
                <a:spLocks noChangeShapeType="1"/>
              </p:cNvSpPr>
              <p:nvPr/>
            </p:nvSpPr>
            <p:spPr bwMode="auto">
              <a:xfrm>
                <a:off x="3877" y="1764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79" name="Line 137"/>
              <p:cNvSpPr>
                <a:spLocks noChangeShapeType="1"/>
              </p:cNvSpPr>
              <p:nvPr/>
            </p:nvSpPr>
            <p:spPr bwMode="auto">
              <a:xfrm flipH="1">
                <a:off x="3875" y="1484"/>
                <a:ext cx="13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80" name="Line 138"/>
              <p:cNvSpPr>
                <a:spLocks noChangeShapeType="1"/>
              </p:cNvSpPr>
              <p:nvPr/>
            </p:nvSpPr>
            <p:spPr bwMode="auto">
              <a:xfrm flipV="1">
                <a:off x="3576" y="1164"/>
                <a:ext cx="1" cy="9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81" name="Line 139"/>
              <p:cNvSpPr>
                <a:spLocks noChangeShapeType="1"/>
              </p:cNvSpPr>
              <p:nvPr/>
            </p:nvSpPr>
            <p:spPr bwMode="auto">
              <a:xfrm>
                <a:off x="3576" y="1434"/>
                <a:ext cx="1" cy="4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82" name="Line 140"/>
              <p:cNvSpPr>
                <a:spLocks noChangeShapeType="1"/>
              </p:cNvSpPr>
              <p:nvPr/>
            </p:nvSpPr>
            <p:spPr bwMode="auto">
              <a:xfrm>
                <a:off x="3576" y="2014"/>
                <a:ext cx="1" cy="7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83" name="Line 141"/>
              <p:cNvSpPr>
                <a:spLocks noChangeShapeType="1"/>
              </p:cNvSpPr>
              <p:nvPr/>
            </p:nvSpPr>
            <p:spPr bwMode="auto">
              <a:xfrm flipH="1">
                <a:off x="3877" y="1524"/>
                <a:ext cx="240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84" name="Line 142"/>
              <p:cNvSpPr>
                <a:spLocks noChangeShapeType="1"/>
              </p:cNvSpPr>
              <p:nvPr/>
            </p:nvSpPr>
            <p:spPr bwMode="auto">
              <a:xfrm flipH="1">
                <a:off x="3576" y="1724"/>
                <a:ext cx="541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85" name="Freeform 143"/>
              <p:cNvSpPr>
                <a:spLocks/>
              </p:cNvSpPr>
              <p:nvPr/>
            </p:nvSpPr>
            <p:spPr bwMode="auto">
              <a:xfrm>
                <a:off x="3864" y="1513"/>
                <a:ext cx="25" cy="26"/>
              </a:xfrm>
              <a:custGeom>
                <a:avLst/>
                <a:gdLst>
                  <a:gd name="T0" fmla="*/ 0 w 50"/>
                  <a:gd name="T1" fmla="*/ 1 h 50"/>
                  <a:gd name="T2" fmla="*/ 0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0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0" y="20"/>
                    </a:lnTo>
                    <a:lnTo>
                      <a:pt x="2" y="15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4"/>
                    </a:lnTo>
                    <a:lnTo>
                      <a:pt x="16" y="1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0" y="0"/>
                    </a:lnTo>
                    <a:lnTo>
                      <a:pt x="34" y="1"/>
                    </a:lnTo>
                    <a:lnTo>
                      <a:pt x="39" y="4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5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4"/>
                    </a:lnTo>
                    <a:lnTo>
                      <a:pt x="45" y="39"/>
                    </a:lnTo>
                    <a:lnTo>
                      <a:pt x="42" y="42"/>
                    </a:lnTo>
                    <a:lnTo>
                      <a:pt x="39" y="45"/>
                    </a:lnTo>
                    <a:lnTo>
                      <a:pt x="34" y="49"/>
                    </a:lnTo>
                    <a:lnTo>
                      <a:pt x="30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6" y="49"/>
                    </a:lnTo>
                    <a:lnTo>
                      <a:pt x="11" y="45"/>
                    </a:lnTo>
                    <a:lnTo>
                      <a:pt x="8" y="42"/>
                    </a:lnTo>
                    <a:lnTo>
                      <a:pt x="5" y="39"/>
                    </a:lnTo>
                    <a:lnTo>
                      <a:pt x="2" y="34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86" name="Freeform 144"/>
              <p:cNvSpPr>
                <a:spLocks/>
              </p:cNvSpPr>
              <p:nvPr/>
            </p:nvSpPr>
            <p:spPr bwMode="auto">
              <a:xfrm>
                <a:off x="3864" y="1472"/>
                <a:ext cx="25" cy="25"/>
              </a:xfrm>
              <a:custGeom>
                <a:avLst/>
                <a:gdLst>
                  <a:gd name="T0" fmla="*/ 0 w 50"/>
                  <a:gd name="T1" fmla="*/ 0 h 51"/>
                  <a:gd name="T2" fmla="*/ 0 w 50"/>
                  <a:gd name="T3" fmla="*/ 0 h 51"/>
                  <a:gd name="T4" fmla="*/ 1 w 50"/>
                  <a:gd name="T5" fmla="*/ 0 h 51"/>
                  <a:gd name="T6" fmla="*/ 1 w 50"/>
                  <a:gd name="T7" fmla="*/ 0 h 51"/>
                  <a:gd name="T8" fmla="*/ 1 w 50"/>
                  <a:gd name="T9" fmla="*/ 0 h 51"/>
                  <a:gd name="T10" fmla="*/ 1 w 50"/>
                  <a:gd name="T11" fmla="*/ 0 h 51"/>
                  <a:gd name="T12" fmla="*/ 1 w 50"/>
                  <a:gd name="T13" fmla="*/ 0 h 51"/>
                  <a:gd name="T14" fmla="*/ 1 w 50"/>
                  <a:gd name="T15" fmla="*/ 0 h 51"/>
                  <a:gd name="T16" fmla="*/ 1 w 50"/>
                  <a:gd name="T17" fmla="*/ 0 h 51"/>
                  <a:gd name="T18" fmla="*/ 1 w 50"/>
                  <a:gd name="T19" fmla="*/ 0 h 51"/>
                  <a:gd name="T20" fmla="*/ 1 w 50"/>
                  <a:gd name="T21" fmla="*/ 0 h 51"/>
                  <a:gd name="T22" fmla="*/ 1 w 50"/>
                  <a:gd name="T23" fmla="*/ 0 h 51"/>
                  <a:gd name="T24" fmla="*/ 1 w 50"/>
                  <a:gd name="T25" fmla="*/ 0 h 51"/>
                  <a:gd name="T26" fmla="*/ 1 w 50"/>
                  <a:gd name="T27" fmla="*/ 0 h 51"/>
                  <a:gd name="T28" fmla="*/ 1 w 50"/>
                  <a:gd name="T29" fmla="*/ 0 h 51"/>
                  <a:gd name="T30" fmla="*/ 1 w 50"/>
                  <a:gd name="T31" fmla="*/ 0 h 51"/>
                  <a:gd name="T32" fmla="*/ 1 w 50"/>
                  <a:gd name="T33" fmla="*/ 0 h 51"/>
                  <a:gd name="T34" fmla="*/ 1 w 50"/>
                  <a:gd name="T35" fmla="*/ 0 h 51"/>
                  <a:gd name="T36" fmla="*/ 1 w 50"/>
                  <a:gd name="T37" fmla="*/ 0 h 51"/>
                  <a:gd name="T38" fmla="*/ 1 w 50"/>
                  <a:gd name="T39" fmla="*/ 0 h 51"/>
                  <a:gd name="T40" fmla="*/ 1 w 50"/>
                  <a:gd name="T41" fmla="*/ 0 h 51"/>
                  <a:gd name="T42" fmla="*/ 1 w 50"/>
                  <a:gd name="T43" fmla="*/ 0 h 51"/>
                  <a:gd name="T44" fmla="*/ 1 w 50"/>
                  <a:gd name="T45" fmla="*/ 0 h 51"/>
                  <a:gd name="T46" fmla="*/ 1 w 50"/>
                  <a:gd name="T47" fmla="*/ 0 h 51"/>
                  <a:gd name="T48" fmla="*/ 1 w 50"/>
                  <a:gd name="T49" fmla="*/ 0 h 51"/>
                  <a:gd name="T50" fmla="*/ 1 w 50"/>
                  <a:gd name="T51" fmla="*/ 0 h 51"/>
                  <a:gd name="T52" fmla="*/ 1 w 50"/>
                  <a:gd name="T53" fmla="*/ 0 h 51"/>
                  <a:gd name="T54" fmla="*/ 1 w 50"/>
                  <a:gd name="T55" fmla="*/ 0 h 51"/>
                  <a:gd name="T56" fmla="*/ 1 w 50"/>
                  <a:gd name="T57" fmla="*/ 0 h 51"/>
                  <a:gd name="T58" fmla="*/ 1 w 50"/>
                  <a:gd name="T59" fmla="*/ 0 h 51"/>
                  <a:gd name="T60" fmla="*/ 1 w 50"/>
                  <a:gd name="T61" fmla="*/ 0 h 51"/>
                  <a:gd name="T62" fmla="*/ 1 w 50"/>
                  <a:gd name="T63" fmla="*/ 0 h 51"/>
                  <a:gd name="T64" fmla="*/ 0 w 50"/>
                  <a:gd name="T65" fmla="*/ 0 h 51"/>
                  <a:gd name="T66" fmla="*/ 0 w 50"/>
                  <a:gd name="T67" fmla="*/ 0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1"/>
                  <a:gd name="T104" fmla="*/ 50 w 50"/>
                  <a:gd name="T105" fmla="*/ 51 h 5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1">
                    <a:moveTo>
                      <a:pt x="0" y="26"/>
                    </a:moveTo>
                    <a:lnTo>
                      <a:pt x="0" y="21"/>
                    </a:lnTo>
                    <a:lnTo>
                      <a:pt x="2" y="16"/>
                    </a:lnTo>
                    <a:lnTo>
                      <a:pt x="5" y="11"/>
                    </a:lnTo>
                    <a:lnTo>
                      <a:pt x="8" y="7"/>
                    </a:lnTo>
                    <a:lnTo>
                      <a:pt x="11" y="4"/>
                    </a:lnTo>
                    <a:lnTo>
                      <a:pt x="16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0" y="0"/>
                    </a:lnTo>
                    <a:lnTo>
                      <a:pt x="34" y="2"/>
                    </a:lnTo>
                    <a:lnTo>
                      <a:pt x="39" y="4"/>
                    </a:lnTo>
                    <a:lnTo>
                      <a:pt x="42" y="7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1"/>
                    </a:lnTo>
                    <a:lnTo>
                      <a:pt x="50" y="26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40"/>
                    </a:lnTo>
                    <a:lnTo>
                      <a:pt x="42" y="43"/>
                    </a:lnTo>
                    <a:lnTo>
                      <a:pt x="39" y="46"/>
                    </a:lnTo>
                    <a:lnTo>
                      <a:pt x="34" y="48"/>
                    </a:lnTo>
                    <a:lnTo>
                      <a:pt x="30" y="49"/>
                    </a:lnTo>
                    <a:lnTo>
                      <a:pt x="25" y="51"/>
                    </a:lnTo>
                    <a:lnTo>
                      <a:pt x="20" y="49"/>
                    </a:lnTo>
                    <a:lnTo>
                      <a:pt x="16" y="48"/>
                    </a:lnTo>
                    <a:lnTo>
                      <a:pt x="11" y="46"/>
                    </a:lnTo>
                    <a:lnTo>
                      <a:pt x="8" y="43"/>
                    </a:lnTo>
                    <a:lnTo>
                      <a:pt x="5" y="40"/>
                    </a:lnTo>
                    <a:lnTo>
                      <a:pt x="2" y="35"/>
                    </a:lnTo>
                    <a:lnTo>
                      <a:pt x="0" y="30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87" name="Freeform 145"/>
              <p:cNvSpPr>
                <a:spLocks/>
              </p:cNvSpPr>
              <p:nvPr/>
            </p:nvSpPr>
            <p:spPr bwMode="auto">
              <a:xfrm>
                <a:off x="3564" y="1710"/>
                <a:ext cx="25" cy="25"/>
              </a:xfrm>
              <a:custGeom>
                <a:avLst/>
                <a:gdLst>
                  <a:gd name="T0" fmla="*/ 0 w 50"/>
                  <a:gd name="T1" fmla="*/ 1 h 50"/>
                  <a:gd name="T2" fmla="*/ 0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0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0" y="21"/>
                    </a:lnTo>
                    <a:lnTo>
                      <a:pt x="1" y="16"/>
                    </a:lnTo>
                    <a:lnTo>
                      <a:pt x="4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5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1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39"/>
                    </a:lnTo>
                    <a:lnTo>
                      <a:pt x="42" y="43"/>
                    </a:lnTo>
                    <a:lnTo>
                      <a:pt x="39" y="46"/>
                    </a:lnTo>
                    <a:lnTo>
                      <a:pt x="34" y="49"/>
                    </a:lnTo>
                    <a:lnTo>
                      <a:pt x="29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5" y="49"/>
                    </a:lnTo>
                    <a:lnTo>
                      <a:pt x="11" y="46"/>
                    </a:lnTo>
                    <a:lnTo>
                      <a:pt x="8" y="43"/>
                    </a:lnTo>
                    <a:lnTo>
                      <a:pt x="4" y="39"/>
                    </a:lnTo>
                    <a:lnTo>
                      <a:pt x="1" y="35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88" name="Freeform 146"/>
              <p:cNvSpPr>
                <a:spLocks/>
              </p:cNvSpPr>
              <p:nvPr/>
            </p:nvSpPr>
            <p:spPr bwMode="auto">
              <a:xfrm>
                <a:off x="3564" y="2071"/>
                <a:ext cx="25" cy="25"/>
              </a:xfrm>
              <a:custGeom>
                <a:avLst/>
                <a:gdLst>
                  <a:gd name="T0" fmla="*/ 0 w 50"/>
                  <a:gd name="T1" fmla="*/ 0 h 51"/>
                  <a:gd name="T2" fmla="*/ 0 w 50"/>
                  <a:gd name="T3" fmla="*/ 0 h 51"/>
                  <a:gd name="T4" fmla="*/ 1 w 50"/>
                  <a:gd name="T5" fmla="*/ 0 h 51"/>
                  <a:gd name="T6" fmla="*/ 1 w 50"/>
                  <a:gd name="T7" fmla="*/ 0 h 51"/>
                  <a:gd name="T8" fmla="*/ 1 w 50"/>
                  <a:gd name="T9" fmla="*/ 0 h 51"/>
                  <a:gd name="T10" fmla="*/ 1 w 50"/>
                  <a:gd name="T11" fmla="*/ 0 h 51"/>
                  <a:gd name="T12" fmla="*/ 1 w 50"/>
                  <a:gd name="T13" fmla="*/ 0 h 51"/>
                  <a:gd name="T14" fmla="*/ 1 w 50"/>
                  <a:gd name="T15" fmla="*/ 0 h 51"/>
                  <a:gd name="T16" fmla="*/ 1 w 50"/>
                  <a:gd name="T17" fmla="*/ 0 h 51"/>
                  <a:gd name="T18" fmla="*/ 1 w 50"/>
                  <a:gd name="T19" fmla="*/ 0 h 51"/>
                  <a:gd name="T20" fmla="*/ 1 w 50"/>
                  <a:gd name="T21" fmla="*/ 0 h 51"/>
                  <a:gd name="T22" fmla="*/ 1 w 50"/>
                  <a:gd name="T23" fmla="*/ 0 h 51"/>
                  <a:gd name="T24" fmla="*/ 1 w 50"/>
                  <a:gd name="T25" fmla="*/ 0 h 51"/>
                  <a:gd name="T26" fmla="*/ 1 w 50"/>
                  <a:gd name="T27" fmla="*/ 0 h 51"/>
                  <a:gd name="T28" fmla="*/ 1 w 50"/>
                  <a:gd name="T29" fmla="*/ 0 h 51"/>
                  <a:gd name="T30" fmla="*/ 1 w 50"/>
                  <a:gd name="T31" fmla="*/ 0 h 51"/>
                  <a:gd name="T32" fmla="*/ 1 w 50"/>
                  <a:gd name="T33" fmla="*/ 0 h 51"/>
                  <a:gd name="T34" fmla="*/ 1 w 50"/>
                  <a:gd name="T35" fmla="*/ 0 h 51"/>
                  <a:gd name="T36" fmla="*/ 1 w 50"/>
                  <a:gd name="T37" fmla="*/ 0 h 51"/>
                  <a:gd name="T38" fmla="*/ 1 w 50"/>
                  <a:gd name="T39" fmla="*/ 0 h 51"/>
                  <a:gd name="T40" fmla="*/ 1 w 50"/>
                  <a:gd name="T41" fmla="*/ 0 h 51"/>
                  <a:gd name="T42" fmla="*/ 1 w 50"/>
                  <a:gd name="T43" fmla="*/ 0 h 51"/>
                  <a:gd name="T44" fmla="*/ 1 w 50"/>
                  <a:gd name="T45" fmla="*/ 0 h 51"/>
                  <a:gd name="T46" fmla="*/ 1 w 50"/>
                  <a:gd name="T47" fmla="*/ 0 h 51"/>
                  <a:gd name="T48" fmla="*/ 1 w 50"/>
                  <a:gd name="T49" fmla="*/ 0 h 51"/>
                  <a:gd name="T50" fmla="*/ 1 w 50"/>
                  <a:gd name="T51" fmla="*/ 0 h 51"/>
                  <a:gd name="T52" fmla="*/ 1 w 50"/>
                  <a:gd name="T53" fmla="*/ 0 h 51"/>
                  <a:gd name="T54" fmla="*/ 1 w 50"/>
                  <a:gd name="T55" fmla="*/ 0 h 51"/>
                  <a:gd name="T56" fmla="*/ 1 w 50"/>
                  <a:gd name="T57" fmla="*/ 0 h 51"/>
                  <a:gd name="T58" fmla="*/ 1 w 50"/>
                  <a:gd name="T59" fmla="*/ 0 h 51"/>
                  <a:gd name="T60" fmla="*/ 1 w 50"/>
                  <a:gd name="T61" fmla="*/ 0 h 51"/>
                  <a:gd name="T62" fmla="*/ 1 w 50"/>
                  <a:gd name="T63" fmla="*/ 0 h 51"/>
                  <a:gd name="T64" fmla="*/ 0 w 50"/>
                  <a:gd name="T65" fmla="*/ 0 h 51"/>
                  <a:gd name="T66" fmla="*/ 0 w 50"/>
                  <a:gd name="T67" fmla="*/ 0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1"/>
                  <a:gd name="T104" fmla="*/ 50 w 50"/>
                  <a:gd name="T105" fmla="*/ 51 h 5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1">
                    <a:moveTo>
                      <a:pt x="0" y="25"/>
                    </a:moveTo>
                    <a:lnTo>
                      <a:pt x="0" y="21"/>
                    </a:lnTo>
                    <a:lnTo>
                      <a:pt x="1" y="16"/>
                    </a:lnTo>
                    <a:lnTo>
                      <a:pt x="4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5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1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40"/>
                    </a:lnTo>
                    <a:lnTo>
                      <a:pt x="42" y="43"/>
                    </a:lnTo>
                    <a:lnTo>
                      <a:pt x="39" y="46"/>
                    </a:lnTo>
                    <a:lnTo>
                      <a:pt x="34" y="49"/>
                    </a:lnTo>
                    <a:lnTo>
                      <a:pt x="29" y="51"/>
                    </a:lnTo>
                    <a:lnTo>
                      <a:pt x="25" y="51"/>
                    </a:lnTo>
                    <a:lnTo>
                      <a:pt x="20" y="51"/>
                    </a:lnTo>
                    <a:lnTo>
                      <a:pt x="15" y="49"/>
                    </a:lnTo>
                    <a:lnTo>
                      <a:pt x="11" y="46"/>
                    </a:lnTo>
                    <a:lnTo>
                      <a:pt x="8" y="43"/>
                    </a:lnTo>
                    <a:lnTo>
                      <a:pt x="4" y="40"/>
                    </a:lnTo>
                    <a:lnTo>
                      <a:pt x="1" y="35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89" name="Freeform 147"/>
              <p:cNvSpPr>
                <a:spLocks/>
              </p:cNvSpPr>
              <p:nvPr/>
            </p:nvSpPr>
            <p:spPr bwMode="auto">
              <a:xfrm>
                <a:off x="3564" y="1151"/>
                <a:ext cx="25" cy="26"/>
              </a:xfrm>
              <a:custGeom>
                <a:avLst/>
                <a:gdLst>
                  <a:gd name="T0" fmla="*/ 0 w 50"/>
                  <a:gd name="T1" fmla="*/ 1 h 50"/>
                  <a:gd name="T2" fmla="*/ 0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0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0" y="20"/>
                    </a:lnTo>
                    <a:lnTo>
                      <a:pt x="1" y="16"/>
                    </a:lnTo>
                    <a:lnTo>
                      <a:pt x="4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5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39"/>
                    </a:lnTo>
                    <a:lnTo>
                      <a:pt x="42" y="42"/>
                    </a:lnTo>
                    <a:lnTo>
                      <a:pt x="39" y="46"/>
                    </a:lnTo>
                    <a:lnTo>
                      <a:pt x="34" y="49"/>
                    </a:lnTo>
                    <a:lnTo>
                      <a:pt x="29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5" y="49"/>
                    </a:lnTo>
                    <a:lnTo>
                      <a:pt x="11" y="46"/>
                    </a:lnTo>
                    <a:lnTo>
                      <a:pt x="8" y="42"/>
                    </a:lnTo>
                    <a:lnTo>
                      <a:pt x="4" y="39"/>
                    </a:lnTo>
                    <a:lnTo>
                      <a:pt x="1" y="35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90" name="Freeform 148"/>
              <p:cNvSpPr>
                <a:spLocks/>
              </p:cNvSpPr>
              <p:nvPr/>
            </p:nvSpPr>
            <p:spPr bwMode="auto">
              <a:xfrm>
                <a:off x="3864" y="1151"/>
                <a:ext cx="25" cy="26"/>
              </a:xfrm>
              <a:custGeom>
                <a:avLst/>
                <a:gdLst>
                  <a:gd name="T0" fmla="*/ 0 w 50"/>
                  <a:gd name="T1" fmla="*/ 1 h 50"/>
                  <a:gd name="T2" fmla="*/ 0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0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0" y="20"/>
                    </a:lnTo>
                    <a:lnTo>
                      <a:pt x="2" y="16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0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39"/>
                    </a:lnTo>
                    <a:lnTo>
                      <a:pt x="42" y="42"/>
                    </a:lnTo>
                    <a:lnTo>
                      <a:pt x="39" y="46"/>
                    </a:lnTo>
                    <a:lnTo>
                      <a:pt x="34" y="49"/>
                    </a:lnTo>
                    <a:lnTo>
                      <a:pt x="30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6" y="49"/>
                    </a:lnTo>
                    <a:lnTo>
                      <a:pt x="11" y="46"/>
                    </a:lnTo>
                    <a:lnTo>
                      <a:pt x="8" y="42"/>
                    </a:lnTo>
                    <a:lnTo>
                      <a:pt x="5" y="39"/>
                    </a:lnTo>
                    <a:lnTo>
                      <a:pt x="2" y="35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91" name="Rectangle 149"/>
              <p:cNvSpPr>
                <a:spLocks noChangeArrowheads="1"/>
              </p:cNvSpPr>
              <p:nvPr/>
            </p:nvSpPr>
            <p:spPr bwMode="auto">
              <a:xfrm>
                <a:off x="3379" y="1298"/>
                <a:ext cx="111" cy="13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C</a:t>
                </a:r>
                <a:r>
                  <a:rPr lang="en-US" altLang="zh-CN" sz="14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78992" name="Rectangle 150"/>
              <p:cNvSpPr>
                <a:spLocks noChangeArrowheads="1"/>
              </p:cNvSpPr>
              <p:nvPr/>
            </p:nvSpPr>
            <p:spPr bwMode="auto">
              <a:xfrm>
                <a:off x="3379" y="1888"/>
                <a:ext cx="111" cy="13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C</a:t>
                </a:r>
                <a:r>
                  <a:rPr lang="en-US" altLang="zh-CN" sz="14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78993" name="Freeform 151"/>
              <p:cNvSpPr>
                <a:spLocks/>
              </p:cNvSpPr>
              <p:nvPr/>
            </p:nvSpPr>
            <p:spPr bwMode="auto">
              <a:xfrm>
                <a:off x="4793" y="1250"/>
                <a:ext cx="50" cy="14"/>
              </a:xfrm>
              <a:custGeom>
                <a:avLst/>
                <a:gdLst>
                  <a:gd name="T0" fmla="*/ 2 w 99"/>
                  <a:gd name="T1" fmla="*/ 1 h 28"/>
                  <a:gd name="T2" fmla="*/ 0 w 99"/>
                  <a:gd name="T3" fmla="*/ 0 h 28"/>
                  <a:gd name="T4" fmla="*/ 0 w 99"/>
                  <a:gd name="T5" fmla="*/ 1 h 28"/>
                  <a:gd name="T6" fmla="*/ 2 w 99"/>
                  <a:gd name="T7" fmla="*/ 1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28"/>
                  <a:gd name="T14" fmla="*/ 99 w 99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28">
                    <a:moveTo>
                      <a:pt x="99" y="14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99" y="14"/>
                    </a:lnTo>
                    <a:close/>
                  </a:path>
                </a:pathLst>
              </a:custGeom>
              <a:solidFill>
                <a:srgbClr val="1A1A1A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94" name="Freeform 152"/>
              <p:cNvSpPr>
                <a:spLocks/>
              </p:cNvSpPr>
              <p:nvPr/>
            </p:nvSpPr>
            <p:spPr bwMode="auto">
              <a:xfrm>
                <a:off x="4793" y="1250"/>
                <a:ext cx="50" cy="14"/>
              </a:xfrm>
              <a:custGeom>
                <a:avLst/>
                <a:gdLst>
                  <a:gd name="T0" fmla="*/ 2 w 99"/>
                  <a:gd name="T1" fmla="*/ 1 h 28"/>
                  <a:gd name="T2" fmla="*/ 0 w 99"/>
                  <a:gd name="T3" fmla="*/ 0 h 28"/>
                  <a:gd name="T4" fmla="*/ 0 w 99"/>
                  <a:gd name="T5" fmla="*/ 1 h 28"/>
                  <a:gd name="T6" fmla="*/ 2 w 99"/>
                  <a:gd name="T7" fmla="*/ 1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28"/>
                  <a:gd name="T14" fmla="*/ 99 w 99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28">
                    <a:moveTo>
                      <a:pt x="99" y="14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99" y="14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95" name="Line 153"/>
              <p:cNvSpPr>
                <a:spLocks noChangeShapeType="1"/>
              </p:cNvSpPr>
              <p:nvPr/>
            </p:nvSpPr>
            <p:spPr bwMode="auto">
              <a:xfrm flipH="1">
                <a:off x="4730" y="1257"/>
                <a:ext cx="6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96" name="Freeform 154"/>
              <p:cNvSpPr>
                <a:spLocks/>
              </p:cNvSpPr>
              <p:nvPr/>
            </p:nvSpPr>
            <p:spPr bwMode="auto">
              <a:xfrm>
                <a:off x="5036" y="1290"/>
                <a:ext cx="49" cy="14"/>
              </a:xfrm>
              <a:custGeom>
                <a:avLst/>
                <a:gdLst>
                  <a:gd name="T0" fmla="*/ 2 w 98"/>
                  <a:gd name="T1" fmla="*/ 1 h 28"/>
                  <a:gd name="T2" fmla="*/ 0 w 98"/>
                  <a:gd name="T3" fmla="*/ 0 h 28"/>
                  <a:gd name="T4" fmla="*/ 0 w 98"/>
                  <a:gd name="T5" fmla="*/ 1 h 28"/>
                  <a:gd name="T6" fmla="*/ 2 w 98"/>
                  <a:gd name="T7" fmla="*/ 1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8"/>
                  <a:gd name="T13" fmla="*/ 0 h 28"/>
                  <a:gd name="T14" fmla="*/ 98 w 98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8" h="28">
                    <a:moveTo>
                      <a:pt x="98" y="14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98" y="14"/>
                    </a:lnTo>
                    <a:close/>
                  </a:path>
                </a:pathLst>
              </a:custGeom>
              <a:solidFill>
                <a:srgbClr val="1A1A1A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97" name="Freeform 155"/>
              <p:cNvSpPr>
                <a:spLocks/>
              </p:cNvSpPr>
              <p:nvPr/>
            </p:nvSpPr>
            <p:spPr bwMode="auto">
              <a:xfrm>
                <a:off x="5036" y="1290"/>
                <a:ext cx="49" cy="14"/>
              </a:xfrm>
              <a:custGeom>
                <a:avLst/>
                <a:gdLst>
                  <a:gd name="T0" fmla="*/ 2 w 98"/>
                  <a:gd name="T1" fmla="*/ 1 h 28"/>
                  <a:gd name="T2" fmla="*/ 0 w 98"/>
                  <a:gd name="T3" fmla="*/ 0 h 28"/>
                  <a:gd name="T4" fmla="*/ 0 w 98"/>
                  <a:gd name="T5" fmla="*/ 1 h 28"/>
                  <a:gd name="T6" fmla="*/ 2 w 98"/>
                  <a:gd name="T7" fmla="*/ 1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8"/>
                  <a:gd name="T13" fmla="*/ 0 h 28"/>
                  <a:gd name="T14" fmla="*/ 98 w 98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8" h="28">
                    <a:moveTo>
                      <a:pt x="98" y="14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98" y="14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98" name="Line 156"/>
              <p:cNvSpPr>
                <a:spLocks noChangeShapeType="1"/>
              </p:cNvSpPr>
              <p:nvPr/>
            </p:nvSpPr>
            <p:spPr bwMode="auto">
              <a:xfrm flipH="1">
                <a:off x="4973" y="1297"/>
                <a:ext cx="6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99" name="Rectangle 157"/>
              <p:cNvSpPr>
                <a:spLocks noChangeArrowheads="1"/>
              </p:cNvSpPr>
              <p:nvPr/>
            </p:nvSpPr>
            <p:spPr bwMode="auto">
              <a:xfrm>
                <a:off x="4788" y="1177"/>
                <a:ext cx="31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700" i="1">
                    <a:solidFill>
                      <a:srgbClr val="000000"/>
                    </a:solidFill>
                    <a:latin typeface="Times New Roman" pitchFamily="18" charset="0"/>
                  </a:rPr>
                  <a:t>L</a:t>
                </a:r>
                <a:endParaRPr lang="en-US" altLang="zh-CN"/>
              </a:p>
            </p:txBody>
          </p:sp>
          <p:sp>
            <p:nvSpPr>
              <p:cNvPr id="79000" name="Rectangle 158"/>
              <p:cNvSpPr>
                <a:spLocks noChangeArrowheads="1"/>
              </p:cNvSpPr>
              <p:nvPr/>
            </p:nvSpPr>
            <p:spPr bwMode="auto">
              <a:xfrm>
                <a:off x="4770" y="1136"/>
                <a:ext cx="22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 i="1">
                    <a:solidFill>
                      <a:srgbClr val="000000"/>
                    </a:solidFill>
                    <a:latin typeface="Times New Roman" pitchFamily="18" charset="0"/>
                  </a:rPr>
                  <a:t>i</a:t>
                </a:r>
                <a:endParaRPr lang="en-US" altLang="zh-CN"/>
              </a:p>
            </p:txBody>
          </p:sp>
          <p:sp>
            <p:nvSpPr>
              <p:cNvPr id="79001" name="Rectangle 159"/>
              <p:cNvSpPr>
                <a:spLocks noChangeArrowheads="1"/>
              </p:cNvSpPr>
              <p:nvPr/>
            </p:nvSpPr>
            <p:spPr bwMode="auto">
              <a:xfrm>
                <a:off x="5002" y="1205"/>
                <a:ext cx="40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 i="1">
                    <a:solidFill>
                      <a:srgbClr val="000000"/>
                    </a:solidFill>
                    <a:latin typeface="宋体" pitchFamily="2" charset="-122"/>
                  </a:rPr>
                  <a:t>I</a:t>
                </a:r>
                <a:endParaRPr lang="en-US" altLang="zh-CN"/>
              </a:p>
            </p:txBody>
          </p:sp>
          <p:sp>
            <p:nvSpPr>
              <p:cNvPr id="79002" name="Rectangle 160"/>
              <p:cNvSpPr>
                <a:spLocks noChangeArrowheads="1"/>
              </p:cNvSpPr>
              <p:nvPr/>
            </p:nvSpPr>
            <p:spPr bwMode="auto">
              <a:xfrm>
                <a:off x="5038" y="1233"/>
                <a:ext cx="28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700">
                    <a:solidFill>
                      <a:srgbClr val="000000"/>
                    </a:solidFill>
                    <a:latin typeface="宋体" pitchFamily="2" charset="-122"/>
                  </a:rPr>
                  <a:t>o</a:t>
                </a:r>
                <a:endParaRPr lang="en-US" altLang="zh-CN"/>
              </a:p>
            </p:txBody>
          </p:sp>
          <p:sp>
            <p:nvSpPr>
              <p:cNvPr id="79003" name="Rectangle 161"/>
              <p:cNvSpPr>
                <a:spLocks noChangeArrowheads="1"/>
              </p:cNvSpPr>
              <p:nvPr/>
            </p:nvSpPr>
            <p:spPr bwMode="auto">
              <a:xfrm>
                <a:off x="3334" y="1661"/>
                <a:ext cx="191" cy="13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sz="14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/2</a:t>
                </a:r>
                <a:endParaRPr lang="en-US" altLang="zh-CN" sz="1400"/>
              </a:p>
            </p:txBody>
          </p:sp>
          <p:sp>
            <p:nvSpPr>
              <p:cNvPr id="79004" name="Rectangle 162"/>
              <p:cNvSpPr>
                <a:spLocks noChangeArrowheads="1"/>
              </p:cNvSpPr>
              <p:nvPr/>
            </p:nvSpPr>
            <p:spPr bwMode="auto">
              <a:xfrm>
                <a:off x="3742" y="1434"/>
                <a:ext cx="86" cy="40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+</a:t>
                </a:r>
              </a:p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sz="14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-</a:t>
                </a:r>
                <a:endParaRPr lang="en-US" altLang="zh-CN" sz="1400"/>
              </a:p>
            </p:txBody>
          </p:sp>
          <p:sp>
            <p:nvSpPr>
              <p:cNvPr id="79005" name="Freeform 163"/>
              <p:cNvSpPr>
                <a:spLocks/>
              </p:cNvSpPr>
              <p:nvPr/>
            </p:nvSpPr>
            <p:spPr bwMode="auto">
              <a:xfrm>
                <a:off x="3996" y="1883"/>
                <a:ext cx="77" cy="79"/>
              </a:xfrm>
              <a:custGeom>
                <a:avLst/>
                <a:gdLst>
                  <a:gd name="T0" fmla="*/ 0 w 156"/>
                  <a:gd name="T1" fmla="*/ 3 h 158"/>
                  <a:gd name="T2" fmla="*/ 1 w 156"/>
                  <a:gd name="T3" fmla="*/ 0 h 158"/>
                  <a:gd name="T4" fmla="*/ 2 w 156"/>
                  <a:gd name="T5" fmla="*/ 3 h 158"/>
                  <a:gd name="T6" fmla="*/ 0 w 156"/>
                  <a:gd name="T7" fmla="*/ 3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158"/>
                  <a:gd name="T14" fmla="*/ 156 w 156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158">
                    <a:moveTo>
                      <a:pt x="0" y="158"/>
                    </a:moveTo>
                    <a:lnTo>
                      <a:pt x="78" y="0"/>
                    </a:lnTo>
                    <a:lnTo>
                      <a:pt x="156" y="158"/>
                    </a:lnTo>
                    <a:lnTo>
                      <a:pt x="0" y="158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06" name="Line 164"/>
              <p:cNvSpPr>
                <a:spLocks noChangeShapeType="1"/>
              </p:cNvSpPr>
              <p:nvPr/>
            </p:nvSpPr>
            <p:spPr bwMode="auto">
              <a:xfrm flipH="1">
                <a:off x="3996" y="1883"/>
                <a:ext cx="77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07" name="Freeform 165"/>
              <p:cNvSpPr>
                <a:spLocks/>
              </p:cNvSpPr>
              <p:nvPr/>
            </p:nvSpPr>
            <p:spPr bwMode="auto">
              <a:xfrm>
                <a:off x="3996" y="1883"/>
                <a:ext cx="77" cy="79"/>
              </a:xfrm>
              <a:custGeom>
                <a:avLst/>
                <a:gdLst>
                  <a:gd name="T0" fmla="*/ 0 w 156"/>
                  <a:gd name="T1" fmla="*/ 3 h 158"/>
                  <a:gd name="T2" fmla="*/ 1 w 156"/>
                  <a:gd name="T3" fmla="*/ 0 h 158"/>
                  <a:gd name="T4" fmla="*/ 2 w 156"/>
                  <a:gd name="T5" fmla="*/ 3 h 158"/>
                  <a:gd name="T6" fmla="*/ 0 w 156"/>
                  <a:gd name="T7" fmla="*/ 3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158"/>
                  <a:gd name="T14" fmla="*/ 156 w 156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158">
                    <a:moveTo>
                      <a:pt x="0" y="158"/>
                    </a:moveTo>
                    <a:lnTo>
                      <a:pt x="78" y="0"/>
                    </a:lnTo>
                    <a:lnTo>
                      <a:pt x="156" y="158"/>
                    </a:lnTo>
                    <a:lnTo>
                      <a:pt x="0" y="15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08" name="Line 166"/>
              <p:cNvSpPr>
                <a:spLocks noChangeShapeType="1"/>
              </p:cNvSpPr>
              <p:nvPr/>
            </p:nvSpPr>
            <p:spPr bwMode="auto">
              <a:xfrm flipV="1">
                <a:off x="4034" y="1764"/>
                <a:ext cx="1" cy="31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09" name="Freeform 167"/>
              <p:cNvSpPr>
                <a:spLocks/>
              </p:cNvSpPr>
              <p:nvPr/>
            </p:nvSpPr>
            <p:spPr bwMode="auto">
              <a:xfrm>
                <a:off x="3996" y="1883"/>
                <a:ext cx="77" cy="79"/>
              </a:xfrm>
              <a:custGeom>
                <a:avLst/>
                <a:gdLst>
                  <a:gd name="T0" fmla="*/ 1 w 156"/>
                  <a:gd name="T1" fmla="*/ 0 h 158"/>
                  <a:gd name="T2" fmla="*/ 0 w 156"/>
                  <a:gd name="T3" fmla="*/ 3 h 158"/>
                  <a:gd name="T4" fmla="*/ 2 w 156"/>
                  <a:gd name="T5" fmla="*/ 3 h 158"/>
                  <a:gd name="T6" fmla="*/ 1 w 156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158"/>
                  <a:gd name="T14" fmla="*/ 156 w 156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158">
                    <a:moveTo>
                      <a:pt x="78" y="0"/>
                    </a:moveTo>
                    <a:lnTo>
                      <a:pt x="0" y="158"/>
                    </a:lnTo>
                    <a:lnTo>
                      <a:pt x="156" y="158"/>
                    </a:lnTo>
                    <a:lnTo>
                      <a:pt x="78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10" name="Freeform 168"/>
              <p:cNvSpPr>
                <a:spLocks/>
              </p:cNvSpPr>
              <p:nvPr/>
            </p:nvSpPr>
            <p:spPr bwMode="auto">
              <a:xfrm>
                <a:off x="3996" y="1883"/>
                <a:ext cx="77" cy="79"/>
              </a:xfrm>
              <a:custGeom>
                <a:avLst/>
                <a:gdLst>
                  <a:gd name="T0" fmla="*/ 1 w 156"/>
                  <a:gd name="T1" fmla="*/ 0 h 158"/>
                  <a:gd name="T2" fmla="*/ 0 w 156"/>
                  <a:gd name="T3" fmla="*/ 3 h 158"/>
                  <a:gd name="T4" fmla="*/ 2 w 156"/>
                  <a:gd name="T5" fmla="*/ 3 h 158"/>
                  <a:gd name="T6" fmla="*/ 1 w 156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158"/>
                  <a:gd name="T14" fmla="*/ 156 w 156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158">
                    <a:moveTo>
                      <a:pt x="78" y="0"/>
                    </a:moveTo>
                    <a:lnTo>
                      <a:pt x="0" y="158"/>
                    </a:lnTo>
                    <a:lnTo>
                      <a:pt x="156" y="158"/>
                    </a:lnTo>
                    <a:lnTo>
                      <a:pt x="78" y="0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11" name="Line 169"/>
              <p:cNvSpPr>
                <a:spLocks noChangeShapeType="1"/>
              </p:cNvSpPr>
              <p:nvPr/>
            </p:nvSpPr>
            <p:spPr bwMode="auto">
              <a:xfrm flipV="1">
                <a:off x="4034" y="1883"/>
                <a:ext cx="1" cy="7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12" name="Line 170"/>
              <p:cNvSpPr>
                <a:spLocks noChangeShapeType="1"/>
              </p:cNvSpPr>
              <p:nvPr/>
            </p:nvSpPr>
            <p:spPr bwMode="auto">
              <a:xfrm flipH="1">
                <a:off x="3996" y="1883"/>
                <a:ext cx="77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13" name="Freeform 171"/>
              <p:cNvSpPr>
                <a:spLocks/>
              </p:cNvSpPr>
              <p:nvPr/>
            </p:nvSpPr>
            <p:spPr bwMode="auto">
              <a:xfrm>
                <a:off x="3974" y="1283"/>
                <a:ext cx="78" cy="79"/>
              </a:xfrm>
              <a:custGeom>
                <a:avLst/>
                <a:gdLst>
                  <a:gd name="T0" fmla="*/ 0 w 155"/>
                  <a:gd name="T1" fmla="*/ 3 h 157"/>
                  <a:gd name="T2" fmla="*/ 2 w 155"/>
                  <a:gd name="T3" fmla="*/ 0 h 157"/>
                  <a:gd name="T4" fmla="*/ 3 w 155"/>
                  <a:gd name="T5" fmla="*/ 3 h 157"/>
                  <a:gd name="T6" fmla="*/ 0 w 155"/>
                  <a:gd name="T7" fmla="*/ 3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7"/>
                  <a:gd name="T14" fmla="*/ 155 w 155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7">
                    <a:moveTo>
                      <a:pt x="0" y="157"/>
                    </a:moveTo>
                    <a:lnTo>
                      <a:pt x="77" y="0"/>
                    </a:lnTo>
                    <a:lnTo>
                      <a:pt x="155" y="157"/>
                    </a:lnTo>
                    <a:lnTo>
                      <a:pt x="0" y="157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14" name="Line 172"/>
              <p:cNvSpPr>
                <a:spLocks noChangeShapeType="1"/>
              </p:cNvSpPr>
              <p:nvPr/>
            </p:nvSpPr>
            <p:spPr bwMode="auto">
              <a:xfrm flipH="1">
                <a:off x="3974" y="1283"/>
                <a:ext cx="7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15" name="Freeform 173"/>
              <p:cNvSpPr>
                <a:spLocks/>
              </p:cNvSpPr>
              <p:nvPr/>
            </p:nvSpPr>
            <p:spPr bwMode="auto">
              <a:xfrm>
                <a:off x="3974" y="1283"/>
                <a:ext cx="78" cy="79"/>
              </a:xfrm>
              <a:custGeom>
                <a:avLst/>
                <a:gdLst>
                  <a:gd name="T0" fmla="*/ 0 w 155"/>
                  <a:gd name="T1" fmla="*/ 3 h 157"/>
                  <a:gd name="T2" fmla="*/ 2 w 155"/>
                  <a:gd name="T3" fmla="*/ 0 h 157"/>
                  <a:gd name="T4" fmla="*/ 3 w 155"/>
                  <a:gd name="T5" fmla="*/ 3 h 157"/>
                  <a:gd name="T6" fmla="*/ 0 w 155"/>
                  <a:gd name="T7" fmla="*/ 3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7"/>
                  <a:gd name="T14" fmla="*/ 155 w 155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7">
                    <a:moveTo>
                      <a:pt x="0" y="157"/>
                    </a:moveTo>
                    <a:lnTo>
                      <a:pt x="77" y="0"/>
                    </a:lnTo>
                    <a:lnTo>
                      <a:pt x="155" y="157"/>
                    </a:lnTo>
                    <a:lnTo>
                      <a:pt x="0" y="157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16" name="Line 174"/>
              <p:cNvSpPr>
                <a:spLocks noChangeShapeType="1"/>
              </p:cNvSpPr>
              <p:nvPr/>
            </p:nvSpPr>
            <p:spPr bwMode="auto">
              <a:xfrm flipV="1">
                <a:off x="4013" y="1164"/>
                <a:ext cx="1" cy="31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17" name="Freeform 175"/>
              <p:cNvSpPr>
                <a:spLocks/>
              </p:cNvSpPr>
              <p:nvPr/>
            </p:nvSpPr>
            <p:spPr bwMode="auto">
              <a:xfrm>
                <a:off x="3974" y="1283"/>
                <a:ext cx="78" cy="79"/>
              </a:xfrm>
              <a:custGeom>
                <a:avLst/>
                <a:gdLst>
                  <a:gd name="T0" fmla="*/ 2 w 155"/>
                  <a:gd name="T1" fmla="*/ 0 h 159"/>
                  <a:gd name="T2" fmla="*/ 0 w 155"/>
                  <a:gd name="T3" fmla="*/ 2 h 159"/>
                  <a:gd name="T4" fmla="*/ 3 w 155"/>
                  <a:gd name="T5" fmla="*/ 2 h 159"/>
                  <a:gd name="T6" fmla="*/ 2 w 155"/>
                  <a:gd name="T7" fmla="*/ 0 h 15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9"/>
                  <a:gd name="T14" fmla="*/ 155 w 155"/>
                  <a:gd name="T15" fmla="*/ 159 h 15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9">
                    <a:moveTo>
                      <a:pt x="77" y="0"/>
                    </a:moveTo>
                    <a:lnTo>
                      <a:pt x="0" y="159"/>
                    </a:lnTo>
                    <a:lnTo>
                      <a:pt x="155" y="159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18" name="Freeform 176"/>
              <p:cNvSpPr>
                <a:spLocks/>
              </p:cNvSpPr>
              <p:nvPr/>
            </p:nvSpPr>
            <p:spPr bwMode="auto">
              <a:xfrm>
                <a:off x="3974" y="1283"/>
                <a:ext cx="78" cy="79"/>
              </a:xfrm>
              <a:custGeom>
                <a:avLst/>
                <a:gdLst>
                  <a:gd name="T0" fmla="*/ 2 w 155"/>
                  <a:gd name="T1" fmla="*/ 0 h 159"/>
                  <a:gd name="T2" fmla="*/ 0 w 155"/>
                  <a:gd name="T3" fmla="*/ 2 h 159"/>
                  <a:gd name="T4" fmla="*/ 3 w 155"/>
                  <a:gd name="T5" fmla="*/ 2 h 159"/>
                  <a:gd name="T6" fmla="*/ 2 w 155"/>
                  <a:gd name="T7" fmla="*/ 0 h 15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9"/>
                  <a:gd name="T14" fmla="*/ 155 w 155"/>
                  <a:gd name="T15" fmla="*/ 159 h 15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9">
                    <a:moveTo>
                      <a:pt x="77" y="0"/>
                    </a:moveTo>
                    <a:lnTo>
                      <a:pt x="0" y="159"/>
                    </a:lnTo>
                    <a:lnTo>
                      <a:pt x="155" y="159"/>
                    </a:lnTo>
                    <a:lnTo>
                      <a:pt x="77" y="0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19" name="Line 177"/>
              <p:cNvSpPr>
                <a:spLocks noChangeShapeType="1"/>
              </p:cNvSpPr>
              <p:nvPr/>
            </p:nvSpPr>
            <p:spPr bwMode="auto">
              <a:xfrm flipV="1">
                <a:off x="4013" y="1283"/>
                <a:ext cx="1" cy="7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20" name="Line 178"/>
              <p:cNvSpPr>
                <a:spLocks noChangeShapeType="1"/>
              </p:cNvSpPr>
              <p:nvPr/>
            </p:nvSpPr>
            <p:spPr bwMode="auto">
              <a:xfrm flipH="1">
                <a:off x="3974" y="1283"/>
                <a:ext cx="7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21" name="Freeform 179"/>
              <p:cNvSpPr>
                <a:spLocks/>
              </p:cNvSpPr>
              <p:nvPr/>
            </p:nvSpPr>
            <p:spPr bwMode="auto">
              <a:xfrm>
                <a:off x="4348" y="1295"/>
                <a:ext cx="78" cy="78"/>
              </a:xfrm>
              <a:custGeom>
                <a:avLst/>
                <a:gdLst>
                  <a:gd name="T0" fmla="*/ 0 w 155"/>
                  <a:gd name="T1" fmla="*/ 0 h 158"/>
                  <a:gd name="T2" fmla="*/ 3 w 155"/>
                  <a:gd name="T3" fmla="*/ 1 h 158"/>
                  <a:gd name="T4" fmla="*/ 0 w 155"/>
                  <a:gd name="T5" fmla="*/ 2 h 158"/>
                  <a:gd name="T6" fmla="*/ 0 w 155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8"/>
                  <a:gd name="T14" fmla="*/ 155 w 155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8">
                    <a:moveTo>
                      <a:pt x="0" y="0"/>
                    </a:moveTo>
                    <a:lnTo>
                      <a:pt x="155" y="79"/>
                    </a:lnTo>
                    <a:lnTo>
                      <a:pt x="0" y="15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22" name="Line 180"/>
              <p:cNvSpPr>
                <a:spLocks noChangeShapeType="1"/>
              </p:cNvSpPr>
              <p:nvPr/>
            </p:nvSpPr>
            <p:spPr bwMode="auto">
              <a:xfrm flipV="1">
                <a:off x="4426" y="1295"/>
                <a:ext cx="1" cy="7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23" name="Freeform 181"/>
              <p:cNvSpPr>
                <a:spLocks/>
              </p:cNvSpPr>
              <p:nvPr/>
            </p:nvSpPr>
            <p:spPr bwMode="auto">
              <a:xfrm>
                <a:off x="4348" y="1295"/>
                <a:ext cx="78" cy="78"/>
              </a:xfrm>
              <a:custGeom>
                <a:avLst/>
                <a:gdLst>
                  <a:gd name="T0" fmla="*/ 0 w 155"/>
                  <a:gd name="T1" fmla="*/ 0 h 158"/>
                  <a:gd name="T2" fmla="*/ 3 w 155"/>
                  <a:gd name="T3" fmla="*/ 1 h 158"/>
                  <a:gd name="T4" fmla="*/ 0 w 155"/>
                  <a:gd name="T5" fmla="*/ 2 h 158"/>
                  <a:gd name="T6" fmla="*/ 0 w 155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8"/>
                  <a:gd name="T14" fmla="*/ 155 w 155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8">
                    <a:moveTo>
                      <a:pt x="0" y="0"/>
                    </a:moveTo>
                    <a:lnTo>
                      <a:pt x="155" y="79"/>
                    </a:lnTo>
                    <a:lnTo>
                      <a:pt x="0" y="15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24" name="Line 182"/>
              <p:cNvSpPr>
                <a:spLocks noChangeShapeType="1"/>
              </p:cNvSpPr>
              <p:nvPr/>
            </p:nvSpPr>
            <p:spPr bwMode="auto">
              <a:xfrm>
                <a:off x="4230" y="1334"/>
                <a:ext cx="31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25" name="Freeform 183"/>
              <p:cNvSpPr>
                <a:spLocks/>
              </p:cNvSpPr>
              <p:nvPr/>
            </p:nvSpPr>
            <p:spPr bwMode="auto">
              <a:xfrm>
                <a:off x="4347" y="1295"/>
                <a:ext cx="79" cy="78"/>
              </a:xfrm>
              <a:custGeom>
                <a:avLst/>
                <a:gdLst>
                  <a:gd name="T0" fmla="*/ 3 w 157"/>
                  <a:gd name="T1" fmla="*/ 1 h 158"/>
                  <a:gd name="T2" fmla="*/ 0 w 157"/>
                  <a:gd name="T3" fmla="*/ 0 h 158"/>
                  <a:gd name="T4" fmla="*/ 0 w 157"/>
                  <a:gd name="T5" fmla="*/ 2 h 158"/>
                  <a:gd name="T6" fmla="*/ 3 w 157"/>
                  <a:gd name="T7" fmla="*/ 1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7"/>
                  <a:gd name="T13" fmla="*/ 0 h 158"/>
                  <a:gd name="T14" fmla="*/ 157 w 157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7" h="158">
                    <a:moveTo>
                      <a:pt x="157" y="79"/>
                    </a:moveTo>
                    <a:lnTo>
                      <a:pt x="0" y="0"/>
                    </a:lnTo>
                    <a:lnTo>
                      <a:pt x="0" y="158"/>
                    </a:lnTo>
                    <a:lnTo>
                      <a:pt x="157" y="79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26" name="Freeform 184"/>
              <p:cNvSpPr>
                <a:spLocks/>
              </p:cNvSpPr>
              <p:nvPr/>
            </p:nvSpPr>
            <p:spPr bwMode="auto">
              <a:xfrm>
                <a:off x="4347" y="1295"/>
                <a:ext cx="79" cy="78"/>
              </a:xfrm>
              <a:custGeom>
                <a:avLst/>
                <a:gdLst>
                  <a:gd name="T0" fmla="*/ 3 w 157"/>
                  <a:gd name="T1" fmla="*/ 1 h 158"/>
                  <a:gd name="T2" fmla="*/ 0 w 157"/>
                  <a:gd name="T3" fmla="*/ 0 h 158"/>
                  <a:gd name="T4" fmla="*/ 0 w 157"/>
                  <a:gd name="T5" fmla="*/ 2 h 158"/>
                  <a:gd name="T6" fmla="*/ 3 w 157"/>
                  <a:gd name="T7" fmla="*/ 1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7"/>
                  <a:gd name="T13" fmla="*/ 0 h 158"/>
                  <a:gd name="T14" fmla="*/ 157 w 157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7" h="158">
                    <a:moveTo>
                      <a:pt x="157" y="79"/>
                    </a:moveTo>
                    <a:lnTo>
                      <a:pt x="0" y="0"/>
                    </a:lnTo>
                    <a:lnTo>
                      <a:pt x="0" y="158"/>
                    </a:lnTo>
                    <a:lnTo>
                      <a:pt x="157" y="79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27" name="Line 185"/>
              <p:cNvSpPr>
                <a:spLocks noChangeShapeType="1"/>
              </p:cNvSpPr>
              <p:nvPr/>
            </p:nvSpPr>
            <p:spPr bwMode="auto">
              <a:xfrm>
                <a:off x="4347" y="1334"/>
                <a:ext cx="7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28" name="Line 186"/>
              <p:cNvSpPr>
                <a:spLocks noChangeShapeType="1"/>
              </p:cNvSpPr>
              <p:nvPr/>
            </p:nvSpPr>
            <p:spPr bwMode="auto">
              <a:xfrm flipV="1">
                <a:off x="4426" y="1295"/>
                <a:ext cx="1" cy="7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29" name="Freeform 187"/>
              <p:cNvSpPr>
                <a:spLocks/>
              </p:cNvSpPr>
              <p:nvPr/>
            </p:nvSpPr>
            <p:spPr bwMode="auto">
              <a:xfrm>
                <a:off x="4350" y="1855"/>
                <a:ext cx="78" cy="78"/>
              </a:xfrm>
              <a:custGeom>
                <a:avLst/>
                <a:gdLst>
                  <a:gd name="T0" fmla="*/ 0 w 155"/>
                  <a:gd name="T1" fmla="*/ 0 h 157"/>
                  <a:gd name="T2" fmla="*/ 3 w 155"/>
                  <a:gd name="T3" fmla="*/ 1 h 157"/>
                  <a:gd name="T4" fmla="*/ 0 w 155"/>
                  <a:gd name="T5" fmla="*/ 2 h 157"/>
                  <a:gd name="T6" fmla="*/ 0 w 155"/>
                  <a:gd name="T7" fmla="*/ 0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7"/>
                  <a:gd name="T14" fmla="*/ 155 w 155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7">
                    <a:moveTo>
                      <a:pt x="0" y="0"/>
                    </a:moveTo>
                    <a:lnTo>
                      <a:pt x="155" y="78"/>
                    </a:lnTo>
                    <a:lnTo>
                      <a:pt x="0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30" name="Line 188"/>
              <p:cNvSpPr>
                <a:spLocks noChangeShapeType="1"/>
              </p:cNvSpPr>
              <p:nvPr/>
            </p:nvSpPr>
            <p:spPr bwMode="auto">
              <a:xfrm flipV="1">
                <a:off x="4428" y="1855"/>
                <a:ext cx="1" cy="7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31" name="Freeform 189"/>
              <p:cNvSpPr>
                <a:spLocks/>
              </p:cNvSpPr>
              <p:nvPr/>
            </p:nvSpPr>
            <p:spPr bwMode="auto">
              <a:xfrm>
                <a:off x="4350" y="1855"/>
                <a:ext cx="78" cy="78"/>
              </a:xfrm>
              <a:custGeom>
                <a:avLst/>
                <a:gdLst>
                  <a:gd name="T0" fmla="*/ 0 w 155"/>
                  <a:gd name="T1" fmla="*/ 0 h 157"/>
                  <a:gd name="T2" fmla="*/ 3 w 155"/>
                  <a:gd name="T3" fmla="*/ 1 h 157"/>
                  <a:gd name="T4" fmla="*/ 0 w 155"/>
                  <a:gd name="T5" fmla="*/ 2 h 157"/>
                  <a:gd name="T6" fmla="*/ 0 w 155"/>
                  <a:gd name="T7" fmla="*/ 0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7"/>
                  <a:gd name="T14" fmla="*/ 155 w 155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7">
                    <a:moveTo>
                      <a:pt x="0" y="0"/>
                    </a:moveTo>
                    <a:lnTo>
                      <a:pt x="155" y="78"/>
                    </a:lnTo>
                    <a:lnTo>
                      <a:pt x="0" y="157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32" name="Line 190"/>
              <p:cNvSpPr>
                <a:spLocks noChangeShapeType="1"/>
              </p:cNvSpPr>
              <p:nvPr/>
            </p:nvSpPr>
            <p:spPr bwMode="auto">
              <a:xfrm>
                <a:off x="4230" y="1894"/>
                <a:ext cx="31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33" name="Freeform 191"/>
              <p:cNvSpPr>
                <a:spLocks/>
              </p:cNvSpPr>
              <p:nvPr/>
            </p:nvSpPr>
            <p:spPr bwMode="auto">
              <a:xfrm>
                <a:off x="4349" y="1855"/>
                <a:ext cx="80" cy="78"/>
              </a:xfrm>
              <a:custGeom>
                <a:avLst/>
                <a:gdLst>
                  <a:gd name="T0" fmla="*/ 3 w 159"/>
                  <a:gd name="T1" fmla="*/ 1 h 157"/>
                  <a:gd name="T2" fmla="*/ 0 w 159"/>
                  <a:gd name="T3" fmla="*/ 0 h 157"/>
                  <a:gd name="T4" fmla="*/ 0 w 159"/>
                  <a:gd name="T5" fmla="*/ 2 h 157"/>
                  <a:gd name="T6" fmla="*/ 3 w 159"/>
                  <a:gd name="T7" fmla="*/ 1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9"/>
                  <a:gd name="T13" fmla="*/ 0 h 157"/>
                  <a:gd name="T14" fmla="*/ 159 w 159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9" h="157">
                    <a:moveTo>
                      <a:pt x="159" y="78"/>
                    </a:moveTo>
                    <a:lnTo>
                      <a:pt x="0" y="0"/>
                    </a:lnTo>
                    <a:lnTo>
                      <a:pt x="0" y="157"/>
                    </a:lnTo>
                    <a:lnTo>
                      <a:pt x="159" y="78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34" name="Freeform 192"/>
              <p:cNvSpPr>
                <a:spLocks/>
              </p:cNvSpPr>
              <p:nvPr/>
            </p:nvSpPr>
            <p:spPr bwMode="auto">
              <a:xfrm>
                <a:off x="4349" y="1855"/>
                <a:ext cx="80" cy="78"/>
              </a:xfrm>
              <a:custGeom>
                <a:avLst/>
                <a:gdLst>
                  <a:gd name="T0" fmla="*/ 3 w 159"/>
                  <a:gd name="T1" fmla="*/ 1 h 157"/>
                  <a:gd name="T2" fmla="*/ 0 w 159"/>
                  <a:gd name="T3" fmla="*/ 0 h 157"/>
                  <a:gd name="T4" fmla="*/ 0 w 159"/>
                  <a:gd name="T5" fmla="*/ 2 h 157"/>
                  <a:gd name="T6" fmla="*/ 3 w 159"/>
                  <a:gd name="T7" fmla="*/ 1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9"/>
                  <a:gd name="T13" fmla="*/ 0 h 157"/>
                  <a:gd name="T14" fmla="*/ 159 w 159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9" h="157">
                    <a:moveTo>
                      <a:pt x="159" y="78"/>
                    </a:moveTo>
                    <a:lnTo>
                      <a:pt x="0" y="0"/>
                    </a:lnTo>
                    <a:lnTo>
                      <a:pt x="0" y="157"/>
                    </a:lnTo>
                    <a:lnTo>
                      <a:pt x="159" y="78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35" name="Line 193"/>
              <p:cNvSpPr>
                <a:spLocks noChangeShapeType="1"/>
              </p:cNvSpPr>
              <p:nvPr/>
            </p:nvSpPr>
            <p:spPr bwMode="auto">
              <a:xfrm>
                <a:off x="4349" y="1894"/>
                <a:ext cx="80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36" name="Line 194"/>
              <p:cNvSpPr>
                <a:spLocks noChangeShapeType="1"/>
              </p:cNvSpPr>
              <p:nvPr/>
            </p:nvSpPr>
            <p:spPr bwMode="auto">
              <a:xfrm flipV="1">
                <a:off x="4429" y="1855"/>
                <a:ext cx="1" cy="7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37" name="Rectangle 195"/>
              <p:cNvSpPr>
                <a:spLocks noChangeArrowheads="1"/>
              </p:cNvSpPr>
              <p:nvPr/>
            </p:nvSpPr>
            <p:spPr bwMode="auto">
              <a:xfrm>
                <a:off x="4575" y="1378"/>
                <a:ext cx="36" cy="8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900">
                    <a:solidFill>
                      <a:srgbClr val="000000"/>
                    </a:solidFill>
                    <a:latin typeface="宋体" pitchFamily="2" charset="-122"/>
                  </a:rPr>
                  <a:t>+</a:t>
                </a:r>
                <a:endParaRPr lang="en-US" altLang="zh-CN"/>
              </a:p>
            </p:txBody>
          </p:sp>
          <p:sp>
            <p:nvSpPr>
              <p:cNvPr id="79038" name="Rectangle 196"/>
              <p:cNvSpPr>
                <a:spLocks noChangeArrowheads="1"/>
              </p:cNvSpPr>
              <p:nvPr/>
            </p:nvSpPr>
            <p:spPr bwMode="auto">
              <a:xfrm>
                <a:off x="4575" y="1529"/>
                <a:ext cx="36" cy="8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900">
                    <a:solidFill>
                      <a:srgbClr val="000000"/>
                    </a:solidFill>
                    <a:latin typeface="宋体" pitchFamily="2" charset="-122"/>
                  </a:rPr>
                  <a:t>-</a:t>
                </a:r>
                <a:endParaRPr lang="en-US" altLang="zh-CN"/>
              </a:p>
            </p:txBody>
          </p:sp>
          <p:sp>
            <p:nvSpPr>
              <p:cNvPr id="79039" name="Rectangle 197"/>
              <p:cNvSpPr>
                <a:spLocks noChangeArrowheads="1"/>
              </p:cNvSpPr>
              <p:nvPr/>
            </p:nvSpPr>
            <p:spPr bwMode="auto">
              <a:xfrm>
                <a:off x="4633" y="1484"/>
                <a:ext cx="44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700">
                    <a:solidFill>
                      <a:srgbClr val="000000"/>
                    </a:solidFill>
                    <a:latin typeface="Times New Roman" pitchFamily="18" charset="0"/>
                  </a:rPr>
                  <a:t>oi</a:t>
                </a:r>
                <a:endParaRPr lang="en-US" altLang="zh-CN"/>
              </a:p>
            </p:txBody>
          </p:sp>
          <p:sp>
            <p:nvSpPr>
              <p:cNvPr id="79040" name="Rectangle 198"/>
              <p:cNvSpPr>
                <a:spLocks noChangeArrowheads="1"/>
              </p:cNvSpPr>
              <p:nvPr/>
            </p:nvSpPr>
            <p:spPr bwMode="auto">
              <a:xfrm>
                <a:off x="4595" y="1446"/>
                <a:ext cx="40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 i="1">
                    <a:solidFill>
                      <a:srgbClr val="000000"/>
                    </a:solidFill>
                    <a:latin typeface="Times New Roman" pitchFamily="18" charset="0"/>
                  </a:rPr>
                  <a:t>u</a:t>
                </a:r>
                <a:endParaRPr lang="en-US" altLang="zh-CN"/>
              </a:p>
            </p:txBody>
          </p:sp>
          <p:sp>
            <p:nvSpPr>
              <p:cNvPr id="79041" name="Rectangle 199"/>
              <p:cNvSpPr>
                <a:spLocks noChangeArrowheads="1"/>
              </p:cNvSpPr>
              <p:nvPr/>
            </p:nvSpPr>
            <p:spPr bwMode="auto">
              <a:xfrm>
                <a:off x="3198" y="1207"/>
                <a:ext cx="122" cy="77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+</a:t>
                </a:r>
              </a:p>
              <a:p>
                <a:pPr eaLnBrk="1" hangingPunct="1"/>
                <a:endParaRPr lang="en-US" altLang="zh-CN" sz="1600" i="1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</a:p>
              <a:p>
                <a:pPr eaLnBrk="1" hangingPunct="1"/>
                <a:endParaRPr lang="en-US" altLang="zh-CN" sz="1600" i="1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-</a:t>
                </a:r>
                <a:endParaRPr lang="en-US" altLang="zh-CN" sz="1600"/>
              </a:p>
            </p:txBody>
          </p:sp>
          <p:sp>
            <p:nvSpPr>
              <p:cNvPr id="79042" name="Rectangle 200"/>
              <p:cNvSpPr>
                <a:spLocks noChangeArrowheads="1"/>
              </p:cNvSpPr>
              <p:nvPr/>
            </p:nvSpPr>
            <p:spPr bwMode="auto">
              <a:xfrm>
                <a:off x="5239" y="1253"/>
                <a:ext cx="122" cy="46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+</a:t>
                </a:r>
              </a:p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o</a:t>
                </a:r>
              </a:p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-</a:t>
                </a:r>
                <a:endParaRPr lang="en-US" altLang="zh-CN" sz="1600"/>
              </a:p>
            </p:txBody>
          </p:sp>
          <p:sp>
            <p:nvSpPr>
              <p:cNvPr id="79043" name="Rectangle 201"/>
              <p:cNvSpPr>
                <a:spLocks noChangeArrowheads="1"/>
              </p:cNvSpPr>
              <p:nvPr/>
            </p:nvSpPr>
            <p:spPr bwMode="auto">
              <a:xfrm>
                <a:off x="3969" y="1525"/>
                <a:ext cx="96" cy="11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200" i="1">
                    <a:solidFill>
                      <a:srgbClr val="000000"/>
                    </a:solidFill>
                    <a:latin typeface="Times New Roman" pitchFamily="18" charset="0"/>
                  </a:rPr>
                  <a:t>N</a:t>
                </a:r>
                <a:r>
                  <a:rPr lang="en-US" altLang="zh-CN" sz="12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79044" name="Rectangle 202"/>
              <p:cNvSpPr>
                <a:spLocks noChangeArrowheads="1"/>
              </p:cNvSpPr>
              <p:nvPr/>
            </p:nvSpPr>
            <p:spPr bwMode="auto">
              <a:xfrm>
                <a:off x="4241" y="1434"/>
                <a:ext cx="96" cy="11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200" i="1">
                    <a:solidFill>
                      <a:srgbClr val="000000"/>
                    </a:solidFill>
                    <a:latin typeface="Times New Roman" pitchFamily="18" charset="0"/>
                  </a:rPr>
                  <a:t>N</a:t>
                </a:r>
                <a:r>
                  <a:rPr lang="en-US" altLang="zh-CN" sz="12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79045" name="Rectangle 203"/>
              <p:cNvSpPr>
                <a:spLocks noChangeArrowheads="1"/>
              </p:cNvSpPr>
              <p:nvPr/>
            </p:nvSpPr>
            <p:spPr bwMode="auto">
              <a:xfrm>
                <a:off x="3696" y="1253"/>
                <a:ext cx="122" cy="15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600">
                    <a:solidFill>
                      <a:srgbClr val="000000"/>
                    </a:solidFill>
                    <a:latin typeface="Times New Roman" pitchFamily="18" charset="0"/>
                  </a:rPr>
                  <a:t>T</a:t>
                </a:r>
                <a:r>
                  <a:rPr lang="en-US" altLang="zh-CN" sz="1600" baseline="-250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79046" name="Rectangle 204"/>
              <p:cNvSpPr>
                <a:spLocks noChangeArrowheads="1"/>
              </p:cNvSpPr>
              <p:nvPr/>
            </p:nvSpPr>
            <p:spPr bwMode="auto">
              <a:xfrm>
                <a:off x="3696" y="1797"/>
                <a:ext cx="122" cy="15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600">
                    <a:solidFill>
                      <a:srgbClr val="000000"/>
                    </a:solidFill>
                    <a:latin typeface="Times New Roman" pitchFamily="18" charset="0"/>
                  </a:rPr>
                  <a:t>T</a:t>
                </a:r>
                <a:r>
                  <a:rPr lang="en-US" altLang="zh-CN" sz="1600" baseline="-250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79047" name="Rectangle 205"/>
              <p:cNvSpPr>
                <a:spLocks noChangeArrowheads="1"/>
              </p:cNvSpPr>
              <p:nvPr/>
            </p:nvSpPr>
            <p:spPr bwMode="auto">
              <a:xfrm>
                <a:off x="4241" y="1661"/>
                <a:ext cx="96" cy="11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200" i="1">
                    <a:solidFill>
                      <a:srgbClr val="000000"/>
                    </a:solidFill>
                    <a:latin typeface="Times New Roman" pitchFamily="18" charset="0"/>
                  </a:rPr>
                  <a:t>N</a:t>
                </a:r>
                <a:r>
                  <a:rPr lang="en-US" altLang="zh-CN" sz="12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</p:grpSp>
        <p:sp>
          <p:nvSpPr>
            <p:cNvPr id="78913" name="Line 206"/>
            <p:cNvSpPr>
              <a:spLocks noChangeShapeType="1"/>
            </p:cNvSpPr>
            <p:nvPr/>
          </p:nvSpPr>
          <p:spPr bwMode="auto">
            <a:xfrm flipV="1">
              <a:off x="3561" y="2432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14" name="Line 207"/>
            <p:cNvSpPr>
              <a:spLocks noChangeShapeType="1"/>
            </p:cNvSpPr>
            <p:nvPr/>
          </p:nvSpPr>
          <p:spPr bwMode="auto">
            <a:xfrm>
              <a:off x="3561" y="2659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915" name="Line 208"/>
            <p:cNvSpPr>
              <a:spLocks noChangeShapeType="1"/>
            </p:cNvSpPr>
            <p:nvPr/>
          </p:nvSpPr>
          <p:spPr bwMode="auto">
            <a:xfrm flipH="1">
              <a:off x="3652" y="2341"/>
              <a:ext cx="181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874" name="Object 2"/>
          <p:cNvGraphicFramePr>
            <a:graphicFrameLocks noChangeAspect="1"/>
          </p:cNvGraphicFramePr>
          <p:nvPr/>
        </p:nvGraphicFramePr>
        <p:xfrm>
          <a:off x="357188" y="1214438"/>
          <a:ext cx="331152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8" name="公式" r:id="rId3" imgW="1574800" imgH="393700" progId="">
                  <p:embed/>
                </p:oleObj>
              </mc:Choice>
              <mc:Fallback>
                <p:oleObj name="公式" r:id="rId3" imgW="1574800" imgH="3937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1214438"/>
                        <a:ext cx="3311525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5" name="Text Box 202"/>
          <p:cNvSpPr txBox="1">
            <a:spLocks noChangeArrowheads="1"/>
          </p:cNvSpPr>
          <p:nvPr/>
        </p:nvSpPr>
        <p:spPr bwMode="auto">
          <a:xfrm>
            <a:off x="-71438" y="2286000"/>
            <a:ext cx="45354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/>
              <a:t> In the condition of steady-state:</a:t>
            </a:r>
          </a:p>
        </p:txBody>
      </p:sp>
      <p:graphicFrame>
        <p:nvGraphicFramePr>
          <p:cNvPr id="79876" name="Object 3"/>
          <p:cNvGraphicFramePr>
            <a:graphicFrameLocks noChangeAspect="1"/>
          </p:cNvGraphicFramePr>
          <p:nvPr/>
        </p:nvGraphicFramePr>
        <p:xfrm>
          <a:off x="0" y="3286125"/>
          <a:ext cx="4319588" cy="208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9" name="公式" r:id="rId5" imgW="2286000" imgH="1104840" progId="">
                  <p:embed/>
                </p:oleObj>
              </mc:Choice>
              <mc:Fallback>
                <p:oleObj name="公式" r:id="rId5" imgW="2286000" imgH="110484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286125"/>
                        <a:ext cx="4319588" cy="2089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10"/>
          <p:cNvGrpSpPr>
            <a:grpSpLocks/>
          </p:cNvGrpSpPr>
          <p:nvPr/>
        </p:nvGrpSpPr>
        <p:grpSpPr bwMode="auto">
          <a:xfrm>
            <a:off x="4500563" y="1268413"/>
            <a:ext cx="4521200" cy="5589587"/>
            <a:chOff x="3334" y="1071"/>
            <a:chExt cx="2349" cy="3103"/>
          </a:xfrm>
        </p:grpSpPr>
        <p:sp>
          <p:nvSpPr>
            <p:cNvPr id="79878" name="Rectangle 5"/>
            <p:cNvSpPr>
              <a:spLocks noChangeArrowheads="1"/>
            </p:cNvSpPr>
            <p:nvPr/>
          </p:nvSpPr>
          <p:spPr bwMode="auto">
            <a:xfrm>
              <a:off x="4377" y="2004"/>
              <a:ext cx="192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宋体" pitchFamily="2" charset="-122"/>
                </a:rPr>
                <a:t>(a)</a:t>
              </a:r>
              <a:endParaRPr lang="en-US" altLang="zh-CN" sz="1600"/>
            </a:p>
          </p:txBody>
        </p:sp>
        <p:sp>
          <p:nvSpPr>
            <p:cNvPr id="79879" name="Freeform 6"/>
            <p:cNvSpPr>
              <a:spLocks/>
            </p:cNvSpPr>
            <p:nvPr/>
          </p:nvSpPr>
          <p:spPr bwMode="auto">
            <a:xfrm>
              <a:off x="3470" y="2302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0" name="Freeform 7"/>
            <p:cNvSpPr>
              <a:spLocks/>
            </p:cNvSpPr>
            <p:nvPr/>
          </p:nvSpPr>
          <p:spPr bwMode="auto">
            <a:xfrm>
              <a:off x="3470" y="2302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1" name="Line 8"/>
            <p:cNvSpPr>
              <a:spLocks noChangeShapeType="1"/>
            </p:cNvSpPr>
            <p:nvPr/>
          </p:nvSpPr>
          <p:spPr bwMode="auto">
            <a:xfrm>
              <a:off x="3478" y="2361"/>
              <a:ext cx="1" cy="7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2" name="Freeform 9"/>
            <p:cNvSpPr>
              <a:spLocks/>
            </p:cNvSpPr>
            <p:nvPr/>
          </p:nvSpPr>
          <p:spPr bwMode="auto">
            <a:xfrm>
              <a:off x="5557" y="2884"/>
              <a:ext cx="54" cy="17"/>
            </a:xfrm>
            <a:custGeom>
              <a:avLst/>
              <a:gdLst>
                <a:gd name="T0" fmla="*/ 2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3" name="Freeform 10"/>
            <p:cNvSpPr>
              <a:spLocks/>
            </p:cNvSpPr>
            <p:nvPr/>
          </p:nvSpPr>
          <p:spPr bwMode="auto">
            <a:xfrm>
              <a:off x="5557" y="2884"/>
              <a:ext cx="54" cy="17"/>
            </a:xfrm>
            <a:custGeom>
              <a:avLst/>
              <a:gdLst>
                <a:gd name="T0" fmla="*/ 2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4" name="Line 11"/>
            <p:cNvSpPr>
              <a:spLocks noChangeShapeType="1"/>
            </p:cNvSpPr>
            <p:nvPr/>
          </p:nvSpPr>
          <p:spPr bwMode="auto">
            <a:xfrm flipH="1">
              <a:off x="3478" y="2893"/>
              <a:ext cx="207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5" name="Line 12"/>
            <p:cNvSpPr>
              <a:spLocks noChangeShapeType="1"/>
            </p:cNvSpPr>
            <p:nvPr/>
          </p:nvSpPr>
          <p:spPr bwMode="auto">
            <a:xfrm>
              <a:off x="3478" y="2413"/>
              <a:ext cx="32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6" name="Freeform 13"/>
            <p:cNvSpPr>
              <a:spLocks/>
            </p:cNvSpPr>
            <p:nvPr/>
          </p:nvSpPr>
          <p:spPr bwMode="auto">
            <a:xfrm>
              <a:off x="5554" y="3935"/>
              <a:ext cx="54" cy="17"/>
            </a:xfrm>
            <a:custGeom>
              <a:avLst/>
              <a:gdLst>
                <a:gd name="T0" fmla="*/ 2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7" name="Freeform 14"/>
            <p:cNvSpPr>
              <a:spLocks/>
            </p:cNvSpPr>
            <p:nvPr/>
          </p:nvSpPr>
          <p:spPr bwMode="auto">
            <a:xfrm>
              <a:off x="5554" y="3935"/>
              <a:ext cx="54" cy="17"/>
            </a:xfrm>
            <a:custGeom>
              <a:avLst/>
              <a:gdLst>
                <a:gd name="T0" fmla="*/ 2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8" name="Line 15"/>
            <p:cNvSpPr>
              <a:spLocks noChangeShapeType="1"/>
            </p:cNvSpPr>
            <p:nvPr/>
          </p:nvSpPr>
          <p:spPr bwMode="auto">
            <a:xfrm flipH="1">
              <a:off x="3475" y="3944"/>
              <a:ext cx="207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9" name="Rectangle 16"/>
            <p:cNvSpPr>
              <a:spLocks noChangeArrowheads="1"/>
            </p:cNvSpPr>
            <p:nvPr/>
          </p:nvSpPr>
          <p:spPr bwMode="auto">
            <a:xfrm>
              <a:off x="3515" y="2186"/>
              <a:ext cx="124" cy="17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oi</a:t>
              </a:r>
            </a:p>
          </p:txBody>
        </p:sp>
        <p:sp>
          <p:nvSpPr>
            <p:cNvPr id="79890" name="Rectangle 17"/>
            <p:cNvSpPr>
              <a:spLocks noChangeArrowheads="1"/>
            </p:cNvSpPr>
            <p:nvPr/>
          </p:nvSpPr>
          <p:spPr bwMode="auto">
            <a:xfrm>
              <a:off x="3409" y="2824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79891" name="Rectangle 18"/>
            <p:cNvSpPr>
              <a:spLocks noChangeArrowheads="1"/>
            </p:cNvSpPr>
            <p:nvPr/>
          </p:nvSpPr>
          <p:spPr bwMode="auto">
            <a:xfrm>
              <a:off x="3408" y="3873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79892" name="Rectangle 19"/>
            <p:cNvSpPr>
              <a:spLocks noChangeArrowheads="1"/>
            </p:cNvSpPr>
            <p:nvPr/>
          </p:nvSpPr>
          <p:spPr bwMode="auto">
            <a:xfrm>
              <a:off x="5643" y="2821"/>
              <a:ext cx="40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79893" name="Rectangle 20"/>
            <p:cNvSpPr>
              <a:spLocks noChangeArrowheads="1"/>
            </p:cNvSpPr>
            <p:nvPr/>
          </p:nvSpPr>
          <p:spPr bwMode="auto">
            <a:xfrm>
              <a:off x="5640" y="3854"/>
              <a:ext cx="40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79894" name="Line 21"/>
            <p:cNvSpPr>
              <a:spLocks noChangeShapeType="1"/>
            </p:cNvSpPr>
            <p:nvPr/>
          </p:nvSpPr>
          <p:spPr bwMode="auto">
            <a:xfrm>
              <a:off x="4331" y="2413"/>
              <a:ext cx="32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5" name="Line 22"/>
            <p:cNvSpPr>
              <a:spLocks noChangeShapeType="1"/>
            </p:cNvSpPr>
            <p:nvPr/>
          </p:nvSpPr>
          <p:spPr bwMode="auto">
            <a:xfrm>
              <a:off x="4651" y="2892"/>
              <a:ext cx="53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6" name="Line 23"/>
            <p:cNvSpPr>
              <a:spLocks noChangeShapeType="1"/>
            </p:cNvSpPr>
            <p:nvPr/>
          </p:nvSpPr>
          <p:spPr bwMode="auto">
            <a:xfrm>
              <a:off x="4651" y="2413"/>
              <a:ext cx="1" cy="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7" name="Line 24"/>
            <p:cNvSpPr>
              <a:spLocks noChangeShapeType="1"/>
            </p:cNvSpPr>
            <p:nvPr/>
          </p:nvSpPr>
          <p:spPr bwMode="auto">
            <a:xfrm>
              <a:off x="5185" y="2413"/>
              <a:ext cx="31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8" name="Line 25"/>
            <p:cNvSpPr>
              <a:spLocks noChangeShapeType="1"/>
            </p:cNvSpPr>
            <p:nvPr/>
          </p:nvSpPr>
          <p:spPr bwMode="auto">
            <a:xfrm>
              <a:off x="5185" y="2413"/>
              <a:ext cx="1" cy="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9" name="Rectangle 32"/>
            <p:cNvSpPr>
              <a:spLocks noChangeArrowheads="1"/>
            </p:cNvSpPr>
            <p:nvPr/>
          </p:nvSpPr>
          <p:spPr bwMode="auto">
            <a:xfrm>
              <a:off x="3788" y="2205"/>
              <a:ext cx="508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N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2</a:t>
              </a:r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V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d</a:t>
              </a:r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/2N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79900" name="Line 36"/>
            <p:cNvSpPr>
              <a:spLocks noChangeShapeType="1"/>
            </p:cNvSpPr>
            <p:nvPr/>
          </p:nvSpPr>
          <p:spPr bwMode="auto">
            <a:xfrm>
              <a:off x="3798" y="2939"/>
              <a:ext cx="1" cy="1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1" name="Line 37"/>
            <p:cNvSpPr>
              <a:spLocks noChangeShapeType="1"/>
            </p:cNvSpPr>
            <p:nvPr/>
          </p:nvSpPr>
          <p:spPr bwMode="auto">
            <a:xfrm>
              <a:off x="4331" y="2939"/>
              <a:ext cx="1" cy="1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2" name="Line 38"/>
            <p:cNvSpPr>
              <a:spLocks noChangeShapeType="1"/>
            </p:cNvSpPr>
            <p:nvPr/>
          </p:nvSpPr>
          <p:spPr bwMode="auto">
            <a:xfrm>
              <a:off x="4331" y="2939"/>
              <a:ext cx="1" cy="2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3" name="Line 39"/>
            <p:cNvSpPr>
              <a:spLocks noChangeShapeType="1"/>
            </p:cNvSpPr>
            <p:nvPr/>
          </p:nvSpPr>
          <p:spPr bwMode="auto">
            <a:xfrm>
              <a:off x="3478" y="3091"/>
              <a:ext cx="1" cy="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4" name="Line 40"/>
            <p:cNvSpPr>
              <a:spLocks noChangeShapeType="1"/>
            </p:cNvSpPr>
            <p:nvPr/>
          </p:nvSpPr>
          <p:spPr bwMode="auto">
            <a:xfrm>
              <a:off x="3530" y="2998"/>
              <a:ext cx="21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5" name="Freeform 41"/>
            <p:cNvSpPr>
              <a:spLocks/>
            </p:cNvSpPr>
            <p:nvPr/>
          </p:nvSpPr>
          <p:spPr bwMode="auto">
            <a:xfrm>
              <a:off x="3478" y="2960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2 w 140"/>
                <a:gd name="T3" fmla="*/ 0 h 76"/>
                <a:gd name="T4" fmla="*/ 2 w 140"/>
                <a:gd name="T5" fmla="*/ 5 h 76"/>
                <a:gd name="T6" fmla="*/ 2 w 140"/>
                <a:gd name="T7" fmla="*/ 9 h 76"/>
                <a:gd name="T8" fmla="*/ 2 w 140"/>
                <a:gd name="T9" fmla="*/ 14 h 76"/>
                <a:gd name="T10" fmla="*/ 1 w 140"/>
                <a:gd name="T11" fmla="*/ 18 h 76"/>
                <a:gd name="T12" fmla="*/ 1 w 140"/>
                <a:gd name="T13" fmla="*/ 23 h 76"/>
                <a:gd name="T14" fmla="*/ 1 w 140"/>
                <a:gd name="T15" fmla="*/ 29 h 76"/>
                <a:gd name="T16" fmla="*/ 1 w 140"/>
                <a:gd name="T17" fmla="*/ 33 h 76"/>
                <a:gd name="T18" fmla="*/ 1 w 140"/>
                <a:gd name="T19" fmla="*/ 38 h 76"/>
                <a:gd name="T20" fmla="*/ 1 w 140"/>
                <a:gd name="T21" fmla="*/ 43 h 76"/>
                <a:gd name="T22" fmla="*/ 1 w 140"/>
                <a:gd name="T23" fmla="*/ 47 h 76"/>
                <a:gd name="T24" fmla="*/ 1 w 140"/>
                <a:gd name="T25" fmla="*/ 52 h 76"/>
                <a:gd name="T26" fmla="*/ 1 w 140"/>
                <a:gd name="T27" fmla="*/ 58 h 76"/>
                <a:gd name="T28" fmla="*/ 2 w 140"/>
                <a:gd name="T29" fmla="*/ 62 h 76"/>
                <a:gd name="T30" fmla="*/ 2 w 140"/>
                <a:gd name="T31" fmla="*/ 67 h 76"/>
                <a:gd name="T32" fmla="*/ 2 w 140"/>
                <a:gd name="T33" fmla="*/ 71 h 76"/>
                <a:gd name="T34" fmla="*/ 2 w 140"/>
                <a:gd name="T35" fmla="*/ 76 h 76"/>
                <a:gd name="T36" fmla="*/ 2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6" name="Freeform 42"/>
            <p:cNvSpPr>
              <a:spLocks/>
            </p:cNvSpPr>
            <p:nvPr/>
          </p:nvSpPr>
          <p:spPr bwMode="auto">
            <a:xfrm>
              <a:off x="3729" y="2960"/>
              <a:ext cx="69" cy="76"/>
            </a:xfrm>
            <a:custGeom>
              <a:avLst/>
              <a:gdLst>
                <a:gd name="T0" fmla="*/ 2 w 140"/>
                <a:gd name="T1" fmla="*/ 38 h 76"/>
                <a:gd name="T2" fmla="*/ 0 w 140"/>
                <a:gd name="T3" fmla="*/ 76 h 76"/>
                <a:gd name="T4" fmla="*/ 0 w 140"/>
                <a:gd name="T5" fmla="*/ 71 h 76"/>
                <a:gd name="T6" fmla="*/ 0 w 140"/>
                <a:gd name="T7" fmla="*/ 67 h 76"/>
                <a:gd name="T8" fmla="*/ 0 w 140"/>
                <a:gd name="T9" fmla="*/ 62 h 76"/>
                <a:gd name="T10" fmla="*/ 0 w 140"/>
                <a:gd name="T11" fmla="*/ 58 h 76"/>
                <a:gd name="T12" fmla="*/ 0 w 140"/>
                <a:gd name="T13" fmla="*/ 52 h 76"/>
                <a:gd name="T14" fmla="*/ 0 w 140"/>
                <a:gd name="T15" fmla="*/ 47 h 76"/>
                <a:gd name="T16" fmla="*/ 0 w 140"/>
                <a:gd name="T17" fmla="*/ 43 h 76"/>
                <a:gd name="T18" fmla="*/ 0 w 140"/>
                <a:gd name="T19" fmla="*/ 38 h 76"/>
                <a:gd name="T20" fmla="*/ 0 w 140"/>
                <a:gd name="T21" fmla="*/ 33 h 76"/>
                <a:gd name="T22" fmla="*/ 0 w 140"/>
                <a:gd name="T23" fmla="*/ 29 h 76"/>
                <a:gd name="T24" fmla="*/ 0 w 140"/>
                <a:gd name="T25" fmla="*/ 23 h 76"/>
                <a:gd name="T26" fmla="*/ 0 w 140"/>
                <a:gd name="T27" fmla="*/ 18 h 76"/>
                <a:gd name="T28" fmla="*/ 0 w 140"/>
                <a:gd name="T29" fmla="*/ 14 h 76"/>
                <a:gd name="T30" fmla="*/ 0 w 140"/>
                <a:gd name="T31" fmla="*/ 9 h 76"/>
                <a:gd name="T32" fmla="*/ 0 w 140"/>
                <a:gd name="T33" fmla="*/ 5 h 76"/>
                <a:gd name="T34" fmla="*/ 0 w 140"/>
                <a:gd name="T35" fmla="*/ 0 h 76"/>
                <a:gd name="T36" fmla="*/ 0 w 140"/>
                <a:gd name="T37" fmla="*/ 0 h 76"/>
                <a:gd name="T38" fmla="*/ 2 w 140"/>
                <a:gd name="T39" fmla="*/ 38 h 76"/>
                <a:gd name="T40" fmla="*/ 2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140" y="38"/>
                  </a:moveTo>
                  <a:lnTo>
                    <a:pt x="0" y="76"/>
                  </a:lnTo>
                  <a:lnTo>
                    <a:pt x="4" y="71"/>
                  </a:lnTo>
                  <a:lnTo>
                    <a:pt x="8" y="67"/>
                  </a:lnTo>
                  <a:lnTo>
                    <a:pt x="11" y="62"/>
                  </a:lnTo>
                  <a:lnTo>
                    <a:pt x="13" y="58"/>
                  </a:lnTo>
                  <a:lnTo>
                    <a:pt x="15" y="52"/>
                  </a:lnTo>
                  <a:lnTo>
                    <a:pt x="17" y="47"/>
                  </a:lnTo>
                  <a:lnTo>
                    <a:pt x="17" y="43"/>
                  </a:lnTo>
                  <a:lnTo>
                    <a:pt x="17" y="38"/>
                  </a:lnTo>
                  <a:lnTo>
                    <a:pt x="17" y="33"/>
                  </a:lnTo>
                  <a:lnTo>
                    <a:pt x="17" y="29"/>
                  </a:lnTo>
                  <a:lnTo>
                    <a:pt x="15" y="23"/>
                  </a:lnTo>
                  <a:lnTo>
                    <a:pt x="13" y="18"/>
                  </a:lnTo>
                  <a:lnTo>
                    <a:pt x="11" y="14"/>
                  </a:lnTo>
                  <a:lnTo>
                    <a:pt x="8" y="9"/>
                  </a:lnTo>
                  <a:lnTo>
                    <a:pt x="4" y="5"/>
                  </a:lnTo>
                  <a:lnTo>
                    <a:pt x="0" y="0"/>
                  </a:lnTo>
                  <a:lnTo>
                    <a:pt x="14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7" name="Line 43"/>
            <p:cNvSpPr>
              <a:spLocks noChangeShapeType="1"/>
            </p:cNvSpPr>
            <p:nvPr/>
          </p:nvSpPr>
          <p:spPr bwMode="auto">
            <a:xfrm>
              <a:off x="3850" y="2998"/>
              <a:ext cx="42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8" name="Freeform 44"/>
            <p:cNvSpPr>
              <a:spLocks/>
            </p:cNvSpPr>
            <p:nvPr/>
          </p:nvSpPr>
          <p:spPr bwMode="auto">
            <a:xfrm>
              <a:off x="3798" y="2960"/>
              <a:ext cx="69" cy="76"/>
            </a:xfrm>
            <a:custGeom>
              <a:avLst/>
              <a:gdLst>
                <a:gd name="T0" fmla="*/ 0 w 137"/>
                <a:gd name="T1" fmla="*/ 38 h 76"/>
                <a:gd name="T2" fmla="*/ 3 w 137"/>
                <a:gd name="T3" fmla="*/ 0 h 76"/>
                <a:gd name="T4" fmla="*/ 3 w 137"/>
                <a:gd name="T5" fmla="*/ 5 h 76"/>
                <a:gd name="T6" fmla="*/ 3 w 137"/>
                <a:gd name="T7" fmla="*/ 9 h 76"/>
                <a:gd name="T8" fmla="*/ 2 w 137"/>
                <a:gd name="T9" fmla="*/ 14 h 76"/>
                <a:gd name="T10" fmla="*/ 2 w 137"/>
                <a:gd name="T11" fmla="*/ 18 h 76"/>
                <a:gd name="T12" fmla="*/ 2 w 137"/>
                <a:gd name="T13" fmla="*/ 23 h 76"/>
                <a:gd name="T14" fmla="*/ 2 w 137"/>
                <a:gd name="T15" fmla="*/ 29 h 76"/>
                <a:gd name="T16" fmla="*/ 2 w 137"/>
                <a:gd name="T17" fmla="*/ 33 h 76"/>
                <a:gd name="T18" fmla="*/ 2 w 137"/>
                <a:gd name="T19" fmla="*/ 38 h 76"/>
                <a:gd name="T20" fmla="*/ 2 w 137"/>
                <a:gd name="T21" fmla="*/ 43 h 76"/>
                <a:gd name="T22" fmla="*/ 2 w 137"/>
                <a:gd name="T23" fmla="*/ 47 h 76"/>
                <a:gd name="T24" fmla="*/ 2 w 137"/>
                <a:gd name="T25" fmla="*/ 52 h 76"/>
                <a:gd name="T26" fmla="*/ 2 w 137"/>
                <a:gd name="T27" fmla="*/ 58 h 76"/>
                <a:gd name="T28" fmla="*/ 2 w 137"/>
                <a:gd name="T29" fmla="*/ 62 h 76"/>
                <a:gd name="T30" fmla="*/ 3 w 137"/>
                <a:gd name="T31" fmla="*/ 67 h 76"/>
                <a:gd name="T32" fmla="*/ 3 w 137"/>
                <a:gd name="T33" fmla="*/ 71 h 76"/>
                <a:gd name="T34" fmla="*/ 3 w 137"/>
                <a:gd name="T35" fmla="*/ 76 h 76"/>
                <a:gd name="T36" fmla="*/ 3 w 137"/>
                <a:gd name="T37" fmla="*/ 76 h 76"/>
                <a:gd name="T38" fmla="*/ 0 w 137"/>
                <a:gd name="T39" fmla="*/ 38 h 76"/>
                <a:gd name="T40" fmla="*/ 0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0" y="38"/>
                  </a:moveTo>
                  <a:lnTo>
                    <a:pt x="137" y="0"/>
                  </a:lnTo>
                  <a:lnTo>
                    <a:pt x="134" y="5"/>
                  </a:lnTo>
                  <a:lnTo>
                    <a:pt x="130" y="9"/>
                  </a:lnTo>
                  <a:lnTo>
                    <a:pt x="128" y="14"/>
                  </a:lnTo>
                  <a:lnTo>
                    <a:pt x="124" y="18"/>
                  </a:lnTo>
                  <a:lnTo>
                    <a:pt x="122" y="23"/>
                  </a:lnTo>
                  <a:lnTo>
                    <a:pt x="122" y="29"/>
                  </a:lnTo>
                  <a:lnTo>
                    <a:pt x="120" y="33"/>
                  </a:lnTo>
                  <a:lnTo>
                    <a:pt x="120" y="38"/>
                  </a:lnTo>
                  <a:lnTo>
                    <a:pt x="120" y="43"/>
                  </a:lnTo>
                  <a:lnTo>
                    <a:pt x="122" y="47"/>
                  </a:lnTo>
                  <a:lnTo>
                    <a:pt x="122" y="52"/>
                  </a:lnTo>
                  <a:lnTo>
                    <a:pt x="124" y="58"/>
                  </a:lnTo>
                  <a:lnTo>
                    <a:pt x="128" y="62"/>
                  </a:lnTo>
                  <a:lnTo>
                    <a:pt x="130" y="67"/>
                  </a:lnTo>
                  <a:lnTo>
                    <a:pt x="134" y="71"/>
                  </a:lnTo>
                  <a:lnTo>
                    <a:pt x="137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9" name="Freeform 45"/>
            <p:cNvSpPr>
              <a:spLocks/>
            </p:cNvSpPr>
            <p:nvPr/>
          </p:nvSpPr>
          <p:spPr bwMode="auto">
            <a:xfrm>
              <a:off x="4262" y="2960"/>
              <a:ext cx="69" cy="76"/>
            </a:xfrm>
            <a:custGeom>
              <a:avLst/>
              <a:gdLst>
                <a:gd name="T0" fmla="*/ 3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3 w 137"/>
                <a:gd name="T39" fmla="*/ 38 h 76"/>
                <a:gd name="T40" fmla="*/ 3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0" name="Line 46"/>
            <p:cNvSpPr>
              <a:spLocks noChangeShapeType="1"/>
            </p:cNvSpPr>
            <p:nvPr/>
          </p:nvSpPr>
          <p:spPr bwMode="auto">
            <a:xfrm>
              <a:off x="3530" y="3115"/>
              <a:ext cx="74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1" name="Freeform 47"/>
            <p:cNvSpPr>
              <a:spLocks/>
            </p:cNvSpPr>
            <p:nvPr/>
          </p:nvSpPr>
          <p:spPr bwMode="auto">
            <a:xfrm>
              <a:off x="3478" y="3077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2 w 140"/>
                <a:gd name="T3" fmla="*/ 0 h 76"/>
                <a:gd name="T4" fmla="*/ 2 w 140"/>
                <a:gd name="T5" fmla="*/ 5 h 76"/>
                <a:gd name="T6" fmla="*/ 2 w 140"/>
                <a:gd name="T7" fmla="*/ 9 h 76"/>
                <a:gd name="T8" fmla="*/ 2 w 140"/>
                <a:gd name="T9" fmla="*/ 14 h 76"/>
                <a:gd name="T10" fmla="*/ 1 w 140"/>
                <a:gd name="T11" fmla="*/ 18 h 76"/>
                <a:gd name="T12" fmla="*/ 1 w 140"/>
                <a:gd name="T13" fmla="*/ 23 h 76"/>
                <a:gd name="T14" fmla="*/ 1 w 140"/>
                <a:gd name="T15" fmla="*/ 29 h 76"/>
                <a:gd name="T16" fmla="*/ 1 w 140"/>
                <a:gd name="T17" fmla="*/ 33 h 76"/>
                <a:gd name="T18" fmla="*/ 1 w 140"/>
                <a:gd name="T19" fmla="*/ 38 h 76"/>
                <a:gd name="T20" fmla="*/ 1 w 140"/>
                <a:gd name="T21" fmla="*/ 43 h 76"/>
                <a:gd name="T22" fmla="*/ 1 w 140"/>
                <a:gd name="T23" fmla="*/ 47 h 76"/>
                <a:gd name="T24" fmla="*/ 1 w 140"/>
                <a:gd name="T25" fmla="*/ 52 h 76"/>
                <a:gd name="T26" fmla="*/ 1 w 140"/>
                <a:gd name="T27" fmla="*/ 58 h 76"/>
                <a:gd name="T28" fmla="*/ 2 w 140"/>
                <a:gd name="T29" fmla="*/ 62 h 76"/>
                <a:gd name="T30" fmla="*/ 2 w 140"/>
                <a:gd name="T31" fmla="*/ 67 h 76"/>
                <a:gd name="T32" fmla="*/ 2 w 140"/>
                <a:gd name="T33" fmla="*/ 71 h 76"/>
                <a:gd name="T34" fmla="*/ 2 w 140"/>
                <a:gd name="T35" fmla="*/ 76 h 76"/>
                <a:gd name="T36" fmla="*/ 2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2" name="Freeform 48"/>
            <p:cNvSpPr>
              <a:spLocks/>
            </p:cNvSpPr>
            <p:nvPr/>
          </p:nvSpPr>
          <p:spPr bwMode="auto">
            <a:xfrm>
              <a:off x="4262" y="3077"/>
              <a:ext cx="69" cy="76"/>
            </a:xfrm>
            <a:custGeom>
              <a:avLst/>
              <a:gdLst>
                <a:gd name="T0" fmla="*/ 3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3 w 137"/>
                <a:gd name="T39" fmla="*/ 38 h 76"/>
                <a:gd name="T40" fmla="*/ 3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3" name="Rectangle 49"/>
            <p:cNvSpPr>
              <a:spLocks noChangeArrowheads="1"/>
            </p:cNvSpPr>
            <p:nvPr/>
          </p:nvSpPr>
          <p:spPr bwMode="auto">
            <a:xfrm>
              <a:off x="3635" y="2919"/>
              <a:ext cx="72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on</a:t>
              </a:r>
              <a:endParaRPr lang="en-US" altLang="zh-CN"/>
            </a:p>
          </p:txBody>
        </p:sp>
        <p:sp>
          <p:nvSpPr>
            <p:cNvPr id="79914" name="Rectangle 50"/>
            <p:cNvSpPr>
              <a:spLocks noChangeArrowheads="1"/>
            </p:cNvSpPr>
            <p:nvPr/>
          </p:nvSpPr>
          <p:spPr bwMode="auto">
            <a:xfrm>
              <a:off x="3616" y="2873"/>
              <a:ext cx="2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79915" name="Line 51"/>
            <p:cNvSpPr>
              <a:spLocks noChangeShapeType="1"/>
            </p:cNvSpPr>
            <p:nvPr/>
          </p:nvSpPr>
          <p:spPr bwMode="auto">
            <a:xfrm flipV="1">
              <a:off x="3795" y="3893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6" name="Line 52"/>
            <p:cNvSpPr>
              <a:spLocks noChangeShapeType="1"/>
            </p:cNvSpPr>
            <p:nvPr/>
          </p:nvSpPr>
          <p:spPr bwMode="auto">
            <a:xfrm flipV="1">
              <a:off x="4328" y="3893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7" name="Line 53"/>
            <p:cNvSpPr>
              <a:spLocks noChangeShapeType="1"/>
            </p:cNvSpPr>
            <p:nvPr/>
          </p:nvSpPr>
          <p:spPr bwMode="auto">
            <a:xfrm flipV="1">
              <a:off x="4648" y="3893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8" name="Line 54"/>
            <p:cNvSpPr>
              <a:spLocks noChangeShapeType="1"/>
            </p:cNvSpPr>
            <p:nvPr/>
          </p:nvSpPr>
          <p:spPr bwMode="auto">
            <a:xfrm flipV="1">
              <a:off x="5182" y="3893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9" name="Freeform 55"/>
            <p:cNvSpPr>
              <a:spLocks/>
            </p:cNvSpPr>
            <p:nvPr/>
          </p:nvSpPr>
          <p:spPr bwMode="auto">
            <a:xfrm>
              <a:off x="3478" y="3466"/>
              <a:ext cx="1898" cy="234"/>
            </a:xfrm>
            <a:custGeom>
              <a:avLst/>
              <a:gdLst>
                <a:gd name="T0" fmla="*/ 0 w 3797"/>
                <a:gd name="T1" fmla="*/ 234 h 234"/>
                <a:gd name="T2" fmla="*/ 10 w 3797"/>
                <a:gd name="T3" fmla="*/ 0 h 234"/>
                <a:gd name="T4" fmla="*/ 26 w 3797"/>
                <a:gd name="T5" fmla="*/ 234 h 234"/>
                <a:gd name="T6" fmla="*/ 36 w 3797"/>
                <a:gd name="T7" fmla="*/ 0 h 234"/>
                <a:gd name="T8" fmla="*/ 53 w 3797"/>
                <a:gd name="T9" fmla="*/ 234 h 234"/>
                <a:gd name="T10" fmla="*/ 59 w 3797"/>
                <a:gd name="T11" fmla="*/ 117 h 2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797"/>
                <a:gd name="T19" fmla="*/ 0 h 234"/>
                <a:gd name="T20" fmla="*/ 3797 w 3797"/>
                <a:gd name="T21" fmla="*/ 234 h 2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797" h="234">
                  <a:moveTo>
                    <a:pt x="0" y="234"/>
                  </a:moveTo>
                  <a:lnTo>
                    <a:pt x="642" y="0"/>
                  </a:lnTo>
                  <a:lnTo>
                    <a:pt x="1707" y="234"/>
                  </a:lnTo>
                  <a:lnTo>
                    <a:pt x="2347" y="0"/>
                  </a:lnTo>
                  <a:lnTo>
                    <a:pt x="3414" y="234"/>
                  </a:lnTo>
                  <a:lnTo>
                    <a:pt x="3797" y="11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0" name="Freeform 56"/>
            <p:cNvSpPr>
              <a:spLocks/>
            </p:cNvSpPr>
            <p:nvPr/>
          </p:nvSpPr>
          <p:spPr bwMode="auto">
            <a:xfrm>
              <a:off x="3798" y="2413"/>
              <a:ext cx="533" cy="479"/>
            </a:xfrm>
            <a:custGeom>
              <a:avLst/>
              <a:gdLst>
                <a:gd name="T0" fmla="*/ 0 w 1065"/>
                <a:gd name="T1" fmla="*/ 0 h 479"/>
                <a:gd name="T2" fmla="*/ 0 w 1065"/>
                <a:gd name="T3" fmla="*/ 479 h 479"/>
                <a:gd name="T4" fmla="*/ 17 w 1065"/>
                <a:gd name="T5" fmla="*/ 479 h 479"/>
                <a:gd name="T6" fmla="*/ 17 w 1065"/>
                <a:gd name="T7" fmla="*/ 0 h 4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5"/>
                <a:gd name="T13" fmla="*/ 0 h 479"/>
                <a:gd name="T14" fmla="*/ 1065 w 1065"/>
                <a:gd name="T15" fmla="*/ 479 h 4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5" h="479">
                  <a:moveTo>
                    <a:pt x="0" y="0"/>
                  </a:moveTo>
                  <a:lnTo>
                    <a:pt x="0" y="479"/>
                  </a:lnTo>
                  <a:lnTo>
                    <a:pt x="1065" y="479"/>
                  </a:lnTo>
                  <a:lnTo>
                    <a:pt x="106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1" name="Freeform 57"/>
            <p:cNvSpPr>
              <a:spLocks noEditPoints="1"/>
            </p:cNvSpPr>
            <p:nvPr/>
          </p:nvSpPr>
          <p:spPr bwMode="auto">
            <a:xfrm>
              <a:off x="3475" y="2597"/>
              <a:ext cx="2039" cy="13"/>
            </a:xfrm>
            <a:custGeom>
              <a:avLst/>
              <a:gdLst>
                <a:gd name="T0" fmla="*/ 4 w 4078"/>
                <a:gd name="T1" fmla="*/ 5 h 13"/>
                <a:gd name="T2" fmla="*/ 3 w 4078"/>
                <a:gd name="T3" fmla="*/ 13 h 13"/>
                <a:gd name="T4" fmla="*/ 0 w 4078"/>
                <a:gd name="T5" fmla="*/ 6 h 13"/>
                <a:gd name="T6" fmla="*/ 1 w 4078"/>
                <a:gd name="T7" fmla="*/ 0 h 13"/>
                <a:gd name="T8" fmla="*/ 8 w 4078"/>
                <a:gd name="T9" fmla="*/ 5 h 13"/>
                <a:gd name="T10" fmla="*/ 8 w 4078"/>
                <a:gd name="T11" fmla="*/ 13 h 13"/>
                <a:gd name="T12" fmla="*/ 5 w 4078"/>
                <a:gd name="T13" fmla="*/ 6 h 13"/>
                <a:gd name="T14" fmla="*/ 5 w 4078"/>
                <a:gd name="T15" fmla="*/ 0 h 13"/>
                <a:gd name="T16" fmla="*/ 13 w 4078"/>
                <a:gd name="T17" fmla="*/ 5 h 13"/>
                <a:gd name="T18" fmla="*/ 13 w 4078"/>
                <a:gd name="T19" fmla="*/ 13 h 13"/>
                <a:gd name="T20" fmla="*/ 10 w 4078"/>
                <a:gd name="T21" fmla="*/ 6 h 13"/>
                <a:gd name="T22" fmla="*/ 10 w 4078"/>
                <a:gd name="T23" fmla="*/ 0 h 13"/>
                <a:gd name="T24" fmla="*/ 18 w 4078"/>
                <a:gd name="T25" fmla="*/ 5 h 13"/>
                <a:gd name="T26" fmla="*/ 18 w 4078"/>
                <a:gd name="T27" fmla="*/ 13 h 13"/>
                <a:gd name="T28" fmla="*/ 15 w 4078"/>
                <a:gd name="T29" fmla="*/ 6 h 13"/>
                <a:gd name="T30" fmla="*/ 15 w 4078"/>
                <a:gd name="T31" fmla="*/ 0 h 13"/>
                <a:gd name="T32" fmla="*/ 23 w 4078"/>
                <a:gd name="T33" fmla="*/ 5 h 13"/>
                <a:gd name="T34" fmla="*/ 23 w 4078"/>
                <a:gd name="T35" fmla="*/ 13 h 13"/>
                <a:gd name="T36" fmla="*/ 20 w 4078"/>
                <a:gd name="T37" fmla="*/ 6 h 13"/>
                <a:gd name="T38" fmla="*/ 20 w 4078"/>
                <a:gd name="T39" fmla="*/ 0 h 13"/>
                <a:gd name="T40" fmla="*/ 28 w 4078"/>
                <a:gd name="T41" fmla="*/ 5 h 13"/>
                <a:gd name="T42" fmla="*/ 27 w 4078"/>
                <a:gd name="T43" fmla="*/ 13 h 13"/>
                <a:gd name="T44" fmla="*/ 24 w 4078"/>
                <a:gd name="T45" fmla="*/ 6 h 13"/>
                <a:gd name="T46" fmla="*/ 25 w 4078"/>
                <a:gd name="T47" fmla="*/ 0 h 13"/>
                <a:gd name="T48" fmla="*/ 32 w 4078"/>
                <a:gd name="T49" fmla="*/ 5 h 13"/>
                <a:gd name="T50" fmla="*/ 32 w 4078"/>
                <a:gd name="T51" fmla="*/ 13 h 13"/>
                <a:gd name="T52" fmla="*/ 29 w 4078"/>
                <a:gd name="T53" fmla="*/ 6 h 13"/>
                <a:gd name="T54" fmla="*/ 29 w 4078"/>
                <a:gd name="T55" fmla="*/ 0 h 13"/>
                <a:gd name="T56" fmla="*/ 37 w 4078"/>
                <a:gd name="T57" fmla="*/ 5 h 13"/>
                <a:gd name="T58" fmla="*/ 37 w 4078"/>
                <a:gd name="T59" fmla="*/ 13 h 13"/>
                <a:gd name="T60" fmla="*/ 34 w 4078"/>
                <a:gd name="T61" fmla="*/ 6 h 13"/>
                <a:gd name="T62" fmla="*/ 34 w 4078"/>
                <a:gd name="T63" fmla="*/ 0 h 13"/>
                <a:gd name="T64" fmla="*/ 42 w 4078"/>
                <a:gd name="T65" fmla="*/ 5 h 13"/>
                <a:gd name="T66" fmla="*/ 42 w 4078"/>
                <a:gd name="T67" fmla="*/ 13 h 13"/>
                <a:gd name="T68" fmla="*/ 39 w 4078"/>
                <a:gd name="T69" fmla="*/ 6 h 13"/>
                <a:gd name="T70" fmla="*/ 39 w 4078"/>
                <a:gd name="T71" fmla="*/ 0 h 13"/>
                <a:gd name="T72" fmla="*/ 47 w 4078"/>
                <a:gd name="T73" fmla="*/ 5 h 13"/>
                <a:gd name="T74" fmla="*/ 47 w 4078"/>
                <a:gd name="T75" fmla="*/ 13 h 13"/>
                <a:gd name="T76" fmla="*/ 44 w 4078"/>
                <a:gd name="T77" fmla="*/ 6 h 13"/>
                <a:gd name="T78" fmla="*/ 44 w 4078"/>
                <a:gd name="T79" fmla="*/ 0 h 13"/>
                <a:gd name="T80" fmla="*/ 52 w 4078"/>
                <a:gd name="T81" fmla="*/ 5 h 13"/>
                <a:gd name="T82" fmla="*/ 51 w 4078"/>
                <a:gd name="T83" fmla="*/ 13 h 13"/>
                <a:gd name="T84" fmla="*/ 48 w 4078"/>
                <a:gd name="T85" fmla="*/ 6 h 13"/>
                <a:gd name="T86" fmla="*/ 49 w 4078"/>
                <a:gd name="T87" fmla="*/ 0 h 13"/>
                <a:gd name="T88" fmla="*/ 56 w 4078"/>
                <a:gd name="T89" fmla="*/ 5 h 13"/>
                <a:gd name="T90" fmla="*/ 56 w 4078"/>
                <a:gd name="T91" fmla="*/ 13 h 13"/>
                <a:gd name="T92" fmla="*/ 53 w 4078"/>
                <a:gd name="T93" fmla="*/ 6 h 13"/>
                <a:gd name="T94" fmla="*/ 53 w 4078"/>
                <a:gd name="T95" fmla="*/ 0 h 13"/>
                <a:gd name="T96" fmla="*/ 61 w 4078"/>
                <a:gd name="T97" fmla="*/ 5 h 13"/>
                <a:gd name="T98" fmla="*/ 61 w 4078"/>
                <a:gd name="T99" fmla="*/ 13 h 13"/>
                <a:gd name="T100" fmla="*/ 58 w 4078"/>
                <a:gd name="T101" fmla="*/ 6 h 13"/>
                <a:gd name="T102" fmla="*/ 58 w 4078"/>
                <a:gd name="T103" fmla="*/ 0 h 13"/>
                <a:gd name="T104" fmla="*/ 64 w 4078"/>
                <a:gd name="T105" fmla="*/ 5 h 13"/>
                <a:gd name="T106" fmla="*/ 64 w 4078"/>
                <a:gd name="T107" fmla="*/ 13 h 13"/>
                <a:gd name="T108" fmla="*/ 63 w 4078"/>
                <a:gd name="T109" fmla="*/ 6 h 13"/>
                <a:gd name="T110" fmla="*/ 63 w 4078"/>
                <a:gd name="T111" fmla="*/ 0 h 13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4078"/>
                <a:gd name="T169" fmla="*/ 0 h 13"/>
                <a:gd name="T170" fmla="*/ 4078 w 4078"/>
                <a:gd name="T171" fmla="*/ 13 h 13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4078" h="13">
                  <a:moveTo>
                    <a:pt x="11" y="0"/>
                  </a:moveTo>
                  <a:lnTo>
                    <a:pt x="191" y="0"/>
                  </a:lnTo>
                  <a:lnTo>
                    <a:pt x="194" y="0"/>
                  </a:lnTo>
                  <a:lnTo>
                    <a:pt x="196" y="0"/>
                  </a:lnTo>
                  <a:lnTo>
                    <a:pt x="200" y="2"/>
                  </a:lnTo>
                  <a:lnTo>
                    <a:pt x="202" y="4"/>
                  </a:lnTo>
                  <a:lnTo>
                    <a:pt x="204" y="5"/>
                  </a:lnTo>
                  <a:lnTo>
                    <a:pt x="204" y="6"/>
                  </a:lnTo>
                  <a:lnTo>
                    <a:pt x="204" y="8"/>
                  </a:lnTo>
                  <a:lnTo>
                    <a:pt x="202" y="9"/>
                  </a:lnTo>
                  <a:lnTo>
                    <a:pt x="200" y="11"/>
                  </a:lnTo>
                  <a:lnTo>
                    <a:pt x="196" y="13"/>
                  </a:lnTo>
                  <a:lnTo>
                    <a:pt x="194" y="13"/>
                  </a:lnTo>
                  <a:lnTo>
                    <a:pt x="191" y="13"/>
                  </a:lnTo>
                  <a:lnTo>
                    <a:pt x="11" y="13"/>
                  </a:lnTo>
                  <a:lnTo>
                    <a:pt x="9" y="13"/>
                  </a:lnTo>
                  <a:lnTo>
                    <a:pt x="8" y="13"/>
                  </a:lnTo>
                  <a:lnTo>
                    <a:pt x="4" y="11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4" y="2"/>
                  </a:lnTo>
                  <a:lnTo>
                    <a:pt x="8" y="0"/>
                  </a:lnTo>
                  <a:lnTo>
                    <a:pt x="9" y="0"/>
                  </a:lnTo>
                  <a:lnTo>
                    <a:pt x="11" y="0"/>
                  </a:lnTo>
                  <a:close/>
                  <a:moveTo>
                    <a:pt x="319" y="0"/>
                  </a:moveTo>
                  <a:lnTo>
                    <a:pt x="498" y="0"/>
                  </a:lnTo>
                  <a:lnTo>
                    <a:pt x="500" y="0"/>
                  </a:lnTo>
                  <a:lnTo>
                    <a:pt x="502" y="0"/>
                  </a:lnTo>
                  <a:lnTo>
                    <a:pt x="507" y="2"/>
                  </a:lnTo>
                  <a:lnTo>
                    <a:pt x="509" y="4"/>
                  </a:lnTo>
                  <a:lnTo>
                    <a:pt x="509" y="5"/>
                  </a:lnTo>
                  <a:lnTo>
                    <a:pt x="511" y="6"/>
                  </a:lnTo>
                  <a:lnTo>
                    <a:pt x="509" y="8"/>
                  </a:lnTo>
                  <a:lnTo>
                    <a:pt x="509" y="9"/>
                  </a:lnTo>
                  <a:lnTo>
                    <a:pt x="507" y="11"/>
                  </a:lnTo>
                  <a:lnTo>
                    <a:pt x="502" y="13"/>
                  </a:lnTo>
                  <a:lnTo>
                    <a:pt x="500" y="13"/>
                  </a:lnTo>
                  <a:lnTo>
                    <a:pt x="498" y="13"/>
                  </a:lnTo>
                  <a:lnTo>
                    <a:pt x="319" y="13"/>
                  </a:lnTo>
                  <a:lnTo>
                    <a:pt x="317" y="13"/>
                  </a:lnTo>
                  <a:lnTo>
                    <a:pt x="313" y="13"/>
                  </a:lnTo>
                  <a:lnTo>
                    <a:pt x="309" y="11"/>
                  </a:lnTo>
                  <a:lnTo>
                    <a:pt x="307" y="9"/>
                  </a:lnTo>
                  <a:lnTo>
                    <a:pt x="306" y="8"/>
                  </a:lnTo>
                  <a:lnTo>
                    <a:pt x="306" y="6"/>
                  </a:lnTo>
                  <a:lnTo>
                    <a:pt x="306" y="5"/>
                  </a:lnTo>
                  <a:lnTo>
                    <a:pt x="307" y="4"/>
                  </a:lnTo>
                  <a:lnTo>
                    <a:pt x="309" y="2"/>
                  </a:lnTo>
                  <a:lnTo>
                    <a:pt x="313" y="0"/>
                  </a:lnTo>
                  <a:lnTo>
                    <a:pt x="317" y="0"/>
                  </a:lnTo>
                  <a:lnTo>
                    <a:pt x="319" y="0"/>
                  </a:lnTo>
                  <a:close/>
                  <a:moveTo>
                    <a:pt x="626" y="0"/>
                  </a:moveTo>
                  <a:lnTo>
                    <a:pt x="804" y="0"/>
                  </a:lnTo>
                  <a:lnTo>
                    <a:pt x="807" y="0"/>
                  </a:lnTo>
                  <a:lnTo>
                    <a:pt x="809" y="0"/>
                  </a:lnTo>
                  <a:lnTo>
                    <a:pt x="813" y="2"/>
                  </a:lnTo>
                  <a:lnTo>
                    <a:pt x="817" y="4"/>
                  </a:lnTo>
                  <a:lnTo>
                    <a:pt x="817" y="5"/>
                  </a:lnTo>
                  <a:lnTo>
                    <a:pt x="817" y="6"/>
                  </a:lnTo>
                  <a:lnTo>
                    <a:pt x="817" y="8"/>
                  </a:lnTo>
                  <a:lnTo>
                    <a:pt x="817" y="9"/>
                  </a:lnTo>
                  <a:lnTo>
                    <a:pt x="813" y="11"/>
                  </a:lnTo>
                  <a:lnTo>
                    <a:pt x="809" y="13"/>
                  </a:lnTo>
                  <a:lnTo>
                    <a:pt x="807" y="13"/>
                  </a:lnTo>
                  <a:lnTo>
                    <a:pt x="804" y="13"/>
                  </a:lnTo>
                  <a:lnTo>
                    <a:pt x="626" y="13"/>
                  </a:lnTo>
                  <a:lnTo>
                    <a:pt x="622" y="13"/>
                  </a:lnTo>
                  <a:lnTo>
                    <a:pt x="621" y="13"/>
                  </a:lnTo>
                  <a:lnTo>
                    <a:pt x="617" y="11"/>
                  </a:lnTo>
                  <a:lnTo>
                    <a:pt x="613" y="9"/>
                  </a:lnTo>
                  <a:lnTo>
                    <a:pt x="613" y="8"/>
                  </a:lnTo>
                  <a:lnTo>
                    <a:pt x="613" y="6"/>
                  </a:lnTo>
                  <a:lnTo>
                    <a:pt x="613" y="5"/>
                  </a:lnTo>
                  <a:lnTo>
                    <a:pt x="613" y="4"/>
                  </a:lnTo>
                  <a:lnTo>
                    <a:pt x="617" y="2"/>
                  </a:lnTo>
                  <a:lnTo>
                    <a:pt x="621" y="0"/>
                  </a:lnTo>
                  <a:lnTo>
                    <a:pt x="622" y="0"/>
                  </a:lnTo>
                  <a:lnTo>
                    <a:pt x="626" y="0"/>
                  </a:lnTo>
                  <a:close/>
                  <a:moveTo>
                    <a:pt x="932" y="0"/>
                  </a:moveTo>
                  <a:lnTo>
                    <a:pt x="1111" y="0"/>
                  </a:lnTo>
                  <a:lnTo>
                    <a:pt x="1113" y="0"/>
                  </a:lnTo>
                  <a:lnTo>
                    <a:pt x="1117" y="0"/>
                  </a:lnTo>
                  <a:lnTo>
                    <a:pt x="1120" y="2"/>
                  </a:lnTo>
                  <a:lnTo>
                    <a:pt x="1122" y="4"/>
                  </a:lnTo>
                  <a:lnTo>
                    <a:pt x="1124" y="5"/>
                  </a:lnTo>
                  <a:lnTo>
                    <a:pt x="1124" y="6"/>
                  </a:lnTo>
                  <a:lnTo>
                    <a:pt x="1124" y="8"/>
                  </a:lnTo>
                  <a:lnTo>
                    <a:pt x="1122" y="9"/>
                  </a:lnTo>
                  <a:lnTo>
                    <a:pt x="1120" y="11"/>
                  </a:lnTo>
                  <a:lnTo>
                    <a:pt x="1117" y="13"/>
                  </a:lnTo>
                  <a:lnTo>
                    <a:pt x="1113" y="13"/>
                  </a:lnTo>
                  <a:lnTo>
                    <a:pt x="1111" y="13"/>
                  </a:lnTo>
                  <a:lnTo>
                    <a:pt x="932" y="13"/>
                  </a:lnTo>
                  <a:lnTo>
                    <a:pt x="930" y="13"/>
                  </a:lnTo>
                  <a:lnTo>
                    <a:pt x="926" y="13"/>
                  </a:lnTo>
                  <a:lnTo>
                    <a:pt x="922" y="11"/>
                  </a:lnTo>
                  <a:lnTo>
                    <a:pt x="920" y="9"/>
                  </a:lnTo>
                  <a:lnTo>
                    <a:pt x="919" y="8"/>
                  </a:lnTo>
                  <a:lnTo>
                    <a:pt x="919" y="6"/>
                  </a:lnTo>
                  <a:lnTo>
                    <a:pt x="919" y="5"/>
                  </a:lnTo>
                  <a:lnTo>
                    <a:pt x="920" y="4"/>
                  </a:lnTo>
                  <a:lnTo>
                    <a:pt x="922" y="2"/>
                  </a:lnTo>
                  <a:lnTo>
                    <a:pt x="926" y="0"/>
                  </a:lnTo>
                  <a:lnTo>
                    <a:pt x="930" y="0"/>
                  </a:lnTo>
                  <a:lnTo>
                    <a:pt x="932" y="0"/>
                  </a:lnTo>
                  <a:close/>
                  <a:moveTo>
                    <a:pt x="1239" y="0"/>
                  </a:moveTo>
                  <a:lnTo>
                    <a:pt x="1417" y="0"/>
                  </a:lnTo>
                  <a:lnTo>
                    <a:pt x="1420" y="0"/>
                  </a:lnTo>
                  <a:lnTo>
                    <a:pt x="1422" y="0"/>
                  </a:lnTo>
                  <a:lnTo>
                    <a:pt x="1426" y="2"/>
                  </a:lnTo>
                  <a:lnTo>
                    <a:pt x="1430" y="4"/>
                  </a:lnTo>
                  <a:lnTo>
                    <a:pt x="1430" y="5"/>
                  </a:lnTo>
                  <a:lnTo>
                    <a:pt x="1430" y="6"/>
                  </a:lnTo>
                  <a:lnTo>
                    <a:pt x="1430" y="8"/>
                  </a:lnTo>
                  <a:lnTo>
                    <a:pt x="1430" y="9"/>
                  </a:lnTo>
                  <a:lnTo>
                    <a:pt x="1426" y="11"/>
                  </a:lnTo>
                  <a:lnTo>
                    <a:pt x="1422" y="13"/>
                  </a:lnTo>
                  <a:lnTo>
                    <a:pt x="1420" y="13"/>
                  </a:lnTo>
                  <a:lnTo>
                    <a:pt x="1417" y="13"/>
                  </a:lnTo>
                  <a:lnTo>
                    <a:pt x="1239" y="13"/>
                  </a:lnTo>
                  <a:lnTo>
                    <a:pt x="1235" y="13"/>
                  </a:lnTo>
                  <a:lnTo>
                    <a:pt x="1234" y="13"/>
                  </a:lnTo>
                  <a:lnTo>
                    <a:pt x="1230" y="11"/>
                  </a:lnTo>
                  <a:lnTo>
                    <a:pt x="1226" y="9"/>
                  </a:lnTo>
                  <a:lnTo>
                    <a:pt x="1226" y="8"/>
                  </a:lnTo>
                  <a:lnTo>
                    <a:pt x="1226" y="6"/>
                  </a:lnTo>
                  <a:lnTo>
                    <a:pt x="1226" y="5"/>
                  </a:lnTo>
                  <a:lnTo>
                    <a:pt x="1226" y="4"/>
                  </a:lnTo>
                  <a:lnTo>
                    <a:pt x="1230" y="2"/>
                  </a:lnTo>
                  <a:lnTo>
                    <a:pt x="1234" y="0"/>
                  </a:lnTo>
                  <a:lnTo>
                    <a:pt x="1235" y="0"/>
                  </a:lnTo>
                  <a:lnTo>
                    <a:pt x="1239" y="0"/>
                  </a:lnTo>
                  <a:close/>
                  <a:moveTo>
                    <a:pt x="1545" y="0"/>
                  </a:moveTo>
                  <a:lnTo>
                    <a:pt x="1724" y="0"/>
                  </a:lnTo>
                  <a:lnTo>
                    <a:pt x="1726" y="0"/>
                  </a:lnTo>
                  <a:lnTo>
                    <a:pt x="1730" y="0"/>
                  </a:lnTo>
                  <a:lnTo>
                    <a:pt x="1733" y="2"/>
                  </a:lnTo>
                  <a:lnTo>
                    <a:pt x="1735" y="4"/>
                  </a:lnTo>
                  <a:lnTo>
                    <a:pt x="1737" y="5"/>
                  </a:lnTo>
                  <a:lnTo>
                    <a:pt x="1737" y="6"/>
                  </a:lnTo>
                  <a:lnTo>
                    <a:pt x="1737" y="8"/>
                  </a:lnTo>
                  <a:lnTo>
                    <a:pt x="1735" y="9"/>
                  </a:lnTo>
                  <a:lnTo>
                    <a:pt x="1733" y="11"/>
                  </a:lnTo>
                  <a:lnTo>
                    <a:pt x="1730" y="13"/>
                  </a:lnTo>
                  <a:lnTo>
                    <a:pt x="1726" y="13"/>
                  </a:lnTo>
                  <a:lnTo>
                    <a:pt x="1724" y="13"/>
                  </a:lnTo>
                  <a:lnTo>
                    <a:pt x="1545" y="13"/>
                  </a:lnTo>
                  <a:lnTo>
                    <a:pt x="1543" y="13"/>
                  </a:lnTo>
                  <a:lnTo>
                    <a:pt x="1541" y="13"/>
                  </a:lnTo>
                  <a:lnTo>
                    <a:pt x="1535" y="11"/>
                  </a:lnTo>
                  <a:lnTo>
                    <a:pt x="1533" y="9"/>
                  </a:lnTo>
                  <a:lnTo>
                    <a:pt x="1533" y="8"/>
                  </a:lnTo>
                  <a:lnTo>
                    <a:pt x="1532" y="6"/>
                  </a:lnTo>
                  <a:lnTo>
                    <a:pt x="1533" y="5"/>
                  </a:lnTo>
                  <a:lnTo>
                    <a:pt x="1533" y="4"/>
                  </a:lnTo>
                  <a:lnTo>
                    <a:pt x="1535" y="2"/>
                  </a:lnTo>
                  <a:lnTo>
                    <a:pt x="1541" y="0"/>
                  </a:lnTo>
                  <a:lnTo>
                    <a:pt x="1543" y="0"/>
                  </a:lnTo>
                  <a:lnTo>
                    <a:pt x="1545" y="0"/>
                  </a:lnTo>
                  <a:close/>
                  <a:moveTo>
                    <a:pt x="1852" y="0"/>
                  </a:moveTo>
                  <a:lnTo>
                    <a:pt x="2031" y="0"/>
                  </a:lnTo>
                  <a:lnTo>
                    <a:pt x="2033" y="0"/>
                  </a:lnTo>
                  <a:lnTo>
                    <a:pt x="2035" y="0"/>
                  </a:lnTo>
                  <a:lnTo>
                    <a:pt x="2039" y="2"/>
                  </a:lnTo>
                  <a:lnTo>
                    <a:pt x="2043" y="4"/>
                  </a:lnTo>
                  <a:lnTo>
                    <a:pt x="2043" y="5"/>
                  </a:lnTo>
                  <a:lnTo>
                    <a:pt x="2043" y="6"/>
                  </a:lnTo>
                  <a:lnTo>
                    <a:pt x="2043" y="8"/>
                  </a:lnTo>
                  <a:lnTo>
                    <a:pt x="2043" y="9"/>
                  </a:lnTo>
                  <a:lnTo>
                    <a:pt x="2039" y="11"/>
                  </a:lnTo>
                  <a:lnTo>
                    <a:pt x="2035" y="13"/>
                  </a:lnTo>
                  <a:lnTo>
                    <a:pt x="2033" y="13"/>
                  </a:lnTo>
                  <a:lnTo>
                    <a:pt x="2031" y="13"/>
                  </a:lnTo>
                  <a:lnTo>
                    <a:pt x="1852" y="13"/>
                  </a:lnTo>
                  <a:lnTo>
                    <a:pt x="1848" y="13"/>
                  </a:lnTo>
                  <a:lnTo>
                    <a:pt x="1847" y="13"/>
                  </a:lnTo>
                  <a:lnTo>
                    <a:pt x="1843" y="11"/>
                  </a:lnTo>
                  <a:lnTo>
                    <a:pt x="1839" y="9"/>
                  </a:lnTo>
                  <a:lnTo>
                    <a:pt x="1839" y="8"/>
                  </a:lnTo>
                  <a:lnTo>
                    <a:pt x="1839" y="6"/>
                  </a:lnTo>
                  <a:lnTo>
                    <a:pt x="1839" y="5"/>
                  </a:lnTo>
                  <a:lnTo>
                    <a:pt x="1839" y="4"/>
                  </a:lnTo>
                  <a:lnTo>
                    <a:pt x="1843" y="2"/>
                  </a:lnTo>
                  <a:lnTo>
                    <a:pt x="1847" y="0"/>
                  </a:lnTo>
                  <a:lnTo>
                    <a:pt x="1848" y="0"/>
                  </a:lnTo>
                  <a:lnTo>
                    <a:pt x="1852" y="0"/>
                  </a:lnTo>
                  <a:close/>
                  <a:moveTo>
                    <a:pt x="2158" y="0"/>
                  </a:moveTo>
                  <a:lnTo>
                    <a:pt x="2337" y="0"/>
                  </a:lnTo>
                  <a:lnTo>
                    <a:pt x="2341" y="0"/>
                  </a:lnTo>
                  <a:lnTo>
                    <a:pt x="2343" y="0"/>
                  </a:lnTo>
                  <a:lnTo>
                    <a:pt x="2346" y="2"/>
                  </a:lnTo>
                  <a:lnTo>
                    <a:pt x="2348" y="4"/>
                  </a:lnTo>
                  <a:lnTo>
                    <a:pt x="2350" y="5"/>
                  </a:lnTo>
                  <a:lnTo>
                    <a:pt x="2350" y="6"/>
                  </a:lnTo>
                  <a:lnTo>
                    <a:pt x="2350" y="8"/>
                  </a:lnTo>
                  <a:lnTo>
                    <a:pt x="2348" y="9"/>
                  </a:lnTo>
                  <a:lnTo>
                    <a:pt x="2346" y="11"/>
                  </a:lnTo>
                  <a:lnTo>
                    <a:pt x="2343" y="13"/>
                  </a:lnTo>
                  <a:lnTo>
                    <a:pt x="2341" y="13"/>
                  </a:lnTo>
                  <a:lnTo>
                    <a:pt x="2337" y="13"/>
                  </a:lnTo>
                  <a:lnTo>
                    <a:pt x="2158" y="13"/>
                  </a:lnTo>
                  <a:lnTo>
                    <a:pt x="2156" y="13"/>
                  </a:lnTo>
                  <a:lnTo>
                    <a:pt x="2154" y="13"/>
                  </a:lnTo>
                  <a:lnTo>
                    <a:pt x="2148" y="11"/>
                  </a:lnTo>
                  <a:lnTo>
                    <a:pt x="2146" y="9"/>
                  </a:lnTo>
                  <a:lnTo>
                    <a:pt x="2146" y="8"/>
                  </a:lnTo>
                  <a:lnTo>
                    <a:pt x="2146" y="6"/>
                  </a:lnTo>
                  <a:lnTo>
                    <a:pt x="2146" y="5"/>
                  </a:lnTo>
                  <a:lnTo>
                    <a:pt x="2146" y="4"/>
                  </a:lnTo>
                  <a:lnTo>
                    <a:pt x="2148" y="2"/>
                  </a:lnTo>
                  <a:lnTo>
                    <a:pt x="2154" y="0"/>
                  </a:lnTo>
                  <a:lnTo>
                    <a:pt x="2156" y="0"/>
                  </a:lnTo>
                  <a:lnTo>
                    <a:pt x="2158" y="0"/>
                  </a:lnTo>
                  <a:close/>
                  <a:moveTo>
                    <a:pt x="2465" y="0"/>
                  </a:moveTo>
                  <a:lnTo>
                    <a:pt x="2644" y="0"/>
                  </a:lnTo>
                  <a:lnTo>
                    <a:pt x="2646" y="0"/>
                  </a:lnTo>
                  <a:lnTo>
                    <a:pt x="2648" y="0"/>
                  </a:lnTo>
                  <a:lnTo>
                    <a:pt x="2652" y="2"/>
                  </a:lnTo>
                  <a:lnTo>
                    <a:pt x="2656" y="4"/>
                  </a:lnTo>
                  <a:lnTo>
                    <a:pt x="2656" y="5"/>
                  </a:lnTo>
                  <a:lnTo>
                    <a:pt x="2656" y="6"/>
                  </a:lnTo>
                  <a:lnTo>
                    <a:pt x="2656" y="8"/>
                  </a:lnTo>
                  <a:lnTo>
                    <a:pt x="2656" y="9"/>
                  </a:lnTo>
                  <a:lnTo>
                    <a:pt x="2652" y="11"/>
                  </a:lnTo>
                  <a:lnTo>
                    <a:pt x="2648" y="13"/>
                  </a:lnTo>
                  <a:lnTo>
                    <a:pt x="2646" y="13"/>
                  </a:lnTo>
                  <a:lnTo>
                    <a:pt x="2644" y="13"/>
                  </a:lnTo>
                  <a:lnTo>
                    <a:pt x="2465" y="13"/>
                  </a:lnTo>
                  <a:lnTo>
                    <a:pt x="2463" y="13"/>
                  </a:lnTo>
                  <a:lnTo>
                    <a:pt x="2460" y="13"/>
                  </a:lnTo>
                  <a:lnTo>
                    <a:pt x="2456" y="11"/>
                  </a:lnTo>
                  <a:lnTo>
                    <a:pt x="2454" y="9"/>
                  </a:lnTo>
                  <a:lnTo>
                    <a:pt x="2452" y="8"/>
                  </a:lnTo>
                  <a:lnTo>
                    <a:pt x="2452" y="6"/>
                  </a:lnTo>
                  <a:lnTo>
                    <a:pt x="2452" y="5"/>
                  </a:lnTo>
                  <a:lnTo>
                    <a:pt x="2454" y="4"/>
                  </a:lnTo>
                  <a:lnTo>
                    <a:pt x="2456" y="2"/>
                  </a:lnTo>
                  <a:lnTo>
                    <a:pt x="2460" y="0"/>
                  </a:lnTo>
                  <a:lnTo>
                    <a:pt x="2463" y="0"/>
                  </a:lnTo>
                  <a:lnTo>
                    <a:pt x="2465" y="0"/>
                  </a:lnTo>
                  <a:close/>
                  <a:moveTo>
                    <a:pt x="2771" y="0"/>
                  </a:moveTo>
                  <a:lnTo>
                    <a:pt x="2950" y="0"/>
                  </a:lnTo>
                  <a:lnTo>
                    <a:pt x="2954" y="0"/>
                  </a:lnTo>
                  <a:lnTo>
                    <a:pt x="2956" y="0"/>
                  </a:lnTo>
                  <a:lnTo>
                    <a:pt x="2959" y="2"/>
                  </a:lnTo>
                  <a:lnTo>
                    <a:pt x="2961" y="4"/>
                  </a:lnTo>
                  <a:lnTo>
                    <a:pt x="2963" y="5"/>
                  </a:lnTo>
                  <a:lnTo>
                    <a:pt x="2963" y="6"/>
                  </a:lnTo>
                  <a:lnTo>
                    <a:pt x="2963" y="8"/>
                  </a:lnTo>
                  <a:lnTo>
                    <a:pt x="2961" y="9"/>
                  </a:lnTo>
                  <a:lnTo>
                    <a:pt x="2959" y="11"/>
                  </a:lnTo>
                  <a:lnTo>
                    <a:pt x="2956" y="13"/>
                  </a:lnTo>
                  <a:lnTo>
                    <a:pt x="2954" y="13"/>
                  </a:lnTo>
                  <a:lnTo>
                    <a:pt x="2950" y="13"/>
                  </a:lnTo>
                  <a:lnTo>
                    <a:pt x="2771" y="13"/>
                  </a:lnTo>
                  <a:lnTo>
                    <a:pt x="2769" y="13"/>
                  </a:lnTo>
                  <a:lnTo>
                    <a:pt x="2767" y="13"/>
                  </a:lnTo>
                  <a:lnTo>
                    <a:pt x="2763" y="11"/>
                  </a:lnTo>
                  <a:lnTo>
                    <a:pt x="2759" y="9"/>
                  </a:lnTo>
                  <a:lnTo>
                    <a:pt x="2759" y="8"/>
                  </a:lnTo>
                  <a:lnTo>
                    <a:pt x="2759" y="6"/>
                  </a:lnTo>
                  <a:lnTo>
                    <a:pt x="2759" y="5"/>
                  </a:lnTo>
                  <a:lnTo>
                    <a:pt x="2759" y="4"/>
                  </a:lnTo>
                  <a:lnTo>
                    <a:pt x="2763" y="2"/>
                  </a:lnTo>
                  <a:lnTo>
                    <a:pt x="2767" y="0"/>
                  </a:lnTo>
                  <a:lnTo>
                    <a:pt x="2769" y="0"/>
                  </a:lnTo>
                  <a:lnTo>
                    <a:pt x="2771" y="0"/>
                  </a:lnTo>
                  <a:close/>
                  <a:moveTo>
                    <a:pt x="3078" y="0"/>
                  </a:moveTo>
                  <a:lnTo>
                    <a:pt x="3257" y="0"/>
                  </a:lnTo>
                  <a:lnTo>
                    <a:pt x="3259" y="0"/>
                  </a:lnTo>
                  <a:lnTo>
                    <a:pt x="3261" y="0"/>
                  </a:lnTo>
                  <a:lnTo>
                    <a:pt x="3267" y="2"/>
                  </a:lnTo>
                  <a:lnTo>
                    <a:pt x="3269" y="4"/>
                  </a:lnTo>
                  <a:lnTo>
                    <a:pt x="3269" y="5"/>
                  </a:lnTo>
                  <a:lnTo>
                    <a:pt x="3271" y="6"/>
                  </a:lnTo>
                  <a:lnTo>
                    <a:pt x="3269" y="8"/>
                  </a:lnTo>
                  <a:lnTo>
                    <a:pt x="3269" y="9"/>
                  </a:lnTo>
                  <a:lnTo>
                    <a:pt x="3267" y="11"/>
                  </a:lnTo>
                  <a:lnTo>
                    <a:pt x="3261" y="13"/>
                  </a:lnTo>
                  <a:lnTo>
                    <a:pt x="3259" y="13"/>
                  </a:lnTo>
                  <a:lnTo>
                    <a:pt x="3257" y="13"/>
                  </a:lnTo>
                  <a:lnTo>
                    <a:pt x="3078" y="13"/>
                  </a:lnTo>
                  <a:lnTo>
                    <a:pt x="3076" y="13"/>
                  </a:lnTo>
                  <a:lnTo>
                    <a:pt x="3073" y="13"/>
                  </a:lnTo>
                  <a:lnTo>
                    <a:pt x="3069" y="11"/>
                  </a:lnTo>
                  <a:lnTo>
                    <a:pt x="3067" y="9"/>
                  </a:lnTo>
                  <a:lnTo>
                    <a:pt x="3065" y="8"/>
                  </a:lnTo>
                  <a:lnTo>
                    <a:pt x="3065" y="6"/>
                  </a:lnTo>
                  <a:lnTo>
                    <a:pt x="3065" y="5"/>
                  </a:lnTo>
                  <a:lnTo>
                    <a:pt x="3067" y="4"/>
                  </a:lnTo>
                  <a:lnTo>
                    <a:pt x="3069" y="2"/>
                  </a:lnTo>
                  <a:lnTo>
                    <a:pt x="3073" y="0"/>
                  </a:lnTo>
                  <a:lnTo>
                    <a:pt x="3076" y="0"/>
                  </a:lnTo>
                  <a:lnTo>
                    <a:pt x="3078" y="0"/>
                  </a:lnTo>
                  <a:close/>
                  <a:moveTo>
                    <a:pt x="3386" y="0"/>
                  </a:moveTo>
                  <a:lnTo>
                    <a:pt x="3563" y="0"/>
                  </a:lnTo>
                  <a:lnTo>
                    <a:pt x="3567" y="0"/>
                  </a:lnTo>
                  <a:lnTo>
                    <a:pt x="3569" y="0"/>
                  </a:lnTo>
                  <a:lnTo>
                    <a:pt x="3572" y="2"/>
                  </a:lnTo>
                  <a:lnTo>
                    <a:pt x="3576" y="4"/>
                  </a:lnTo>
                  <a:lnTo>
                    <a:pt x="3576" y="5"/>
                  </a:lnTo>
                  <a:lnTo>
                    <a:pt x="3576" y="6"/>
                  </a:lnTo>
                  <a:lnTo>
                    <a:pt x="3576" y="8"/>
                  </a:lnTo>
                  <a:lnTo>
                    <a:pt x="3576" y="9"/>
                  </a:lnTo>
                  <a:lnTo>
                    <a:pt x="3572" y="11"/>
                  </a:lnTo>
                  <a:lnTo>
                    <a:pt x="3569" y="13"/>
                  </a:lnTo>
                  <a:lnTo>
                    <a:pt x="3567" y="13"/>
                  </a:lnTo>
                  <a:lnTo>
                    <a:pt x="3563" y="13"/>
                  </a:lnTo>
                  <a:lnTo>
                    <a:pt x="3386" y="13"/>
                  </a:lnTo>
                  <a:lnTo>
                    <a:pt x="3382" y="13"/>
                  </a:lnTo>
                  <a:lnTo>
                    <a:pt x="3380" y="13"/>
                  </a:lnTo>
                  <a:lnTo>
                    <a:pt x="3376" y="11"/>
                  </a:lnTo>
                  <a:lnTo>
                    <a:pt x="3373" y="9"/>
                  </a:lnTo>
                  <a:lnTo>
                    <a:pt x="3373" y="8"/>
                  </a:lnTo>
                  <a:lnTo>
                    <a:pt x="3373" y="6"/>
                  </a:lnTo>
                  <a:lnTo>
                    <a:pt x="3373" y="5"/>
                  </a:lnTo>
                  <a:lnTo>
                    <a:pt x="3373" y="4"/>
                  </a:lnTo>
                  <a:lnTo>
                    <a:pt x="3376" y="2"/>
                  </a:lnTo>
                  <a:lnTo>
                    <a:pt x="3380" y="0"/>
                  </a:lnTo>
                  <a:lnTo>
                    <a:pt x="3382" y="0"/>
                  </a:lnTo>
                  <a:lnTo>
                    <a:pt x="3386" y="0"/>
                  </a:lnTo>
                  <a:close/>
                  <a:moveTo>
                    <a:pt x="3691" y="0"/>
                  </a:moveTo>
                  <a:lnTo>
                    <a:pt x="3870" y="0"/>
                  </a:lnTo>
                  <a:lnTo>
                    <a:pt x="3872" y="0"/>
                  </a:lnTo>
                  <a:lnTo>
                    <a:pt x="3876" y="0"/>
                  </a:lnTo>
                  <a:lnTo>
                    <a:pt x="3880" y="2"/>
                  </a:lnTo>
                  <a:lnTo>
                    <a:pt x="3882" y="4"/>
                  </a:lnTo>
                  <a:lnTo>
                    <a:pt x="3884" y="5"/>
                  </a:lnTo>
                  <a:lnTo>
                    <a:pt x="3884" y="6"/>
                  </a:lnTo>
                  <a:lnTo>
                    <a:pt x="3884" y="8"/>
                  </a:lnTo>
                  <a:lnTo>
                    <a:pt x="3882" y="9"/>
                  </a:lnTo>
                  <a:lnTo>
                    <a:pt x="3880" y="11"/>
                  </a:lnTo>
                  <a:lnTo>
                    <a:pt x="3876" y="13"/>
                  </a:lnTo>
                  <a:lnTo>
                    <a:pt x="3872" y="13"/>
                  </a:lnTo>
                  <a:lnTo>
                    <a:pt x="3870" y="13"/>
                  </a:lnTo>
                  <a:lnTo>
                    <a:pt x="3691" y="13"/>
                  </a:lnTo>
                  <a:lnTo>
                    <a:pt x="3689" y="13"/>
                  </a:lnTo>
                  <a:lnTo>
                    <a:pt x="3686" y="13"/>
                  </a:lnTo>
                  <a:lnTo>
                    <a:pt x="3682" y="11"/>
                  </a:lnTo>
                  <a:lnTo>
                    <a:pt x="3680" y="9"/>
                  </a:lnTo>
                  <a:lnTo>
                    <a:pt x="3678" y="8"/>
                  </a:lnTo>
                  <a:lnTo>
                    <a:pt x="3678" y="6"/>
                  </a:lnTo>
                  <a:lnTo>
                    <a:pt x="3678" y="5"/>
                  </a:lnTo>
                  <a:lnTo>
                    <a:pt x="3680" y="4"/>
                  </a:lnTo>
                  <a:lnTo>
                    <a:pt x="3682" y="2"/>
                  </a:lnTo>
                  <a:lnTo>
                    <a:pt x="3686" y="0"/>
                  </a:lnTo>
                  <a:lnTo>
                    <a:pt x="3689" y="0"/>
                  </a:lnTo>
                  <a:lnTo>
                    <a:pt x="3691" y="0"/>
                  </a:lnTo>
                  <a:close/>
                  <a:moveTo>
                    <a:pt x="3999" y="0"/>
                  </a:moveTo>
                  <a:lnTo>
                    <a:pt x="4065" y="0"/>
                  </a:lnTo>
                  <a:lnTo>
                    <a:pt x="4067" y="0"/>
                  </a:lnTo>
                  <a:lnTo>
                    <a:pt x="4068" y="0"/>
                  </a:lnTo>
                  <a:lnTo>
                    <a:pt x="4074" y="2"/>
                  </a:lnTo>
                  <a:lnTo>
                    <a:pt x="4076" y="4"/>
                  </a:lnTo>
                  <a:lnTo>
                    <a:pt x="4078" y="5"/>
                  </a:lnTo>
                  <a:lnTo>
                    <a:pt x="4078" y="6"/>
                  </a:lnTo>
                  <a:lnTo>
                    <a:pt x="4078" y="8"/>
                  </a:lnTo>
                  <a:lnTo>
                    <a:pt x="4076" y="9"/>
                  </a:lnTo>
                  <a:lnTo>
                    <a:pt x="4074" y="11"/>
                  </a:lnTo>
                  <a:lnTo>
                    <a:pt x="4068" y="13"/>
                  </a:lnTo>
                  <a:lnTo>
                    <a:pt x="4067" y="13"/>
                  </a:lnTo>
                  <a:lnTo>
                    <a:pt x="4065" y="13"/>
                  </a:lnTo>
                  <a:lnTo>
                    <a:pt x="3999" y="13"/>
                  </a:lnTo>
                  <a:lnTo>
                    <a:pt x="3995" y="13"/>
                  </a:lnTo>
                  <a:lnTo>
                    <a:pt x="3993" y="13"/>
                  </a:lnTo>
                  <a:lnTo>
                    <a:pt x="3989" y="11"/>
                  </a:lnTo>
                  <a:lnTo>
                    <a:pt x="3986" y="9"/>
                  </a:lnTo>
                  <a:lnTo>
                    <a:pt x="3986" y="8"/>
                  </a:lnTo>
                  <a:lnTo>
                    <a:pt x="3986" y="6"/>
                  </a:lnTo>
                  <a:lnTo>
                    <a:pt x="3986" y="5"/>
                  </a:lnTo>
                  <a:lnTo>
                    <a:pt x="3986" y="4"/>
                  </a:lnTo>
                  <a:lnTo>
                    <a:pt x="3989" y="2"/>
                  </a:lnTo>
                  <a:lnTo>
                    <a:pt x="3993" y="0"/>
                  </a:lnTo>
                  <a:lnTo>
                    <a:pt x="3995" y="0"/>
                  </a:lnTo>
                  <a:lnTo>
                    <a:pt x="3999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2" name="Rectangle 58"/>
            <p:cNvSpPr>
              <a:spLocks noChangeArrowheads="1"/>
            </p:cNvSpPr>
            <p:nvPr/>
          </p:nvSpPr>
          <p:spPr bwMode="auto">
            <a:xfrm>
              <a:off x="4005" y="2884"/>
              <a:ext cx="59" cy="11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/>
            </a:p>
          </p:txBody>
        </p:sp>
        <p:sp>
          <p:nvSpPr>
            <p:cNvPr id="79923" name="Rectangle 59"/>
            <p:cNvSpPr>
              <a:spLocks noChangeArrowheads="1"/>
            </p:cNvSpPr>
            <p:nvPr/>
          </p:nvSpPr>
          <p:spPr bwMode="auto">
            <a:xfrm>
              <a:off x="3793" y="3128"/>
              <a:ext cx="194" cy="17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/2</a:t>
              </a:r>
              <a:endParaRPr lang="en-US" altLang="zh-CN" sz="2000"/>
            </a:p>
          </p:txBody>
        </p:sp>
        <p:sp>
          <p:nvSpPr>
            <p:cNvPr id="79924" name="Rectangle 60"/>
            <p:cNvSpPr>
              <a:spLocks noChangeArrowheads="1"/>
            </p:cNvSpPr>
            <p:nvPr/>
          </p:nvSpPr>
          <p:spPr bwMode="auto">
            <a:xfrm>
              <a:off x="3521" y="3264"/>
              <a:ext cx="83" cy="17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</a:p>
          </p:txBody>
        </p:sp>
        <p:sp>
          <p:nvSpPr>
            <p:cNvPr id="79925" name="Freeform 61"/>
            <p:cNvSpPr>
              <a:spLocks noEditPoints="1"/>
            </p:cNvSpPr>
            <p:nvPr/>
          </p:nvSpPr>
          <p:spPr bwMode="auto">
            <a:xfrm>
              <a:off x="3474" y="3591"/>
              <a:ext cx="1980" cy="8"/>
            </a:xfrm>
            <a:custGeom>
              <a:avLst/>
              <a:gdLst>
                <a:gd name="T0" fmla="*/ 1 w 3961"/>
                <a:gd name="T1" fmla="*/ 5 h 8"/>
                <a:gd name="T2" fmla="*/ 0 w 3961"/>
                <a:gd name="T3" fmla="*/ 5 h 8"/>
                <a:gd name="T4" fmla="*/ 3 w 3961"/>
                <a:gd name="T5" fmla="*/ 0 h 8"/>
                <a:gd name="T6" fmla="*/ 4 w 3961"/>
                <a:gd name="T7" fmla="*/ 6 h 8"/>
                <a:gd name="T8" fmla="*/ 2 w 3961"/>
                <a:gd name="T9" fmla="*/ 4 h 8"/>
                <a:gd name="T10" fmla="*/ 7 w 3961"/>
                <a:gd name="T11" fmla="*/ 0 h 8"/>
                <a:gd name="T12" fmla="*/ 7 w 3961"/>
                <a:gd name="T13" fmla="*/ 7 h 8"/>
                <a:gd name="T14" fmla="*/ 5 w 3961"/>
                <a:gd name="T15" fmla="*/ 2 h 8"/>
                <a:gd name="T16" fmla="*/ 10 w 3961"/>
                <a:gd name="T17" fmla="*/ 0 h 8"/>
                <a:gd name="T18" fmla="*/ 10 w 3961"/>
                <a:gd name="T19" fmla="*/ 8 h 8"/>
                <a:gd name="T20" fmla="*/ 8 w 3961"/>
                <a:gd name="T21" fmla="*/ 1 h 8"/>
                <a:gd name="T22" fmla="*/ 13 w 3961"/>
                <a:gd name="T23" fmla="*/ 1 h 8"/>
                <a:gd name="T24" fmla="*/ 11 w 3961"/>
                <a:gd name="T25" fmla="*/ 8 h 8"/>
                <a:gd name="T26" fmla="*/ 11 w 3961"/>
                <a:gd name="T27" fmla="*/ 0 h 8"/>
                <a:gd name="T28" fmla="*/ 16 w 3961"/>
                <a:gd name="T29" fmla="*/ 2 h 8"/>
                <a:gd name="T30" fmla="*/ 14 w 3961"/>
                <a:gd name="T31" fmla="*/ 7 h 8"/>
                <a:gd name="T32" fmla="*/ 14 w 3961"/>
                <a:gd name="T33" fmla="*/ 0 h 8"/>
                <a:gd name="T34" fmla="*/ 19 w 3961"/>
                <a:gd name="T35" fmla="*/ 4 h 8"/>
                <a:gd name="T36" fmla="*/ 17 w 3961"/>
                <a:gd name="T37" fmla="*/ 6 h 8"/>
                <a:gd name="T38" fmla="*/ 17 w 3961"/>
                <a:gd name="T39" fmla="*/ 0 h 8"/>
                <a:gd name="T40" fmla="*/ 22 w 3961"/>
                <a:gd name="T41" fmla="*/ 5 h 8"/>
                <a:gd name="T42" fmla="*/ 20 w 3961"/>
                <a:gd name="T43" fmla="*/ 5 h 8"/>
                <a:gd name="T44" fmla="*/ 23 w 3961"/>
                <a:gd name="T45" fmla="*/ 0 h 8"/>
                <a:gd name="T46" fmla="*/ 24 w 3961"/>
                <a:gd name="T47" fmla="*/ 6 h 8"/>
                <a:gd name="T48" fmla="*/ 23 w 3961"/>
                <a:gd name="T49" fmla="*/ 4 h 8"/>
                <a:gd name="T50" fmla="*/ 27 w 3961"/>
                <a:gd name="T51" fmla="*/ 0 h 8"/>
                <a:gd name="T52" fmla="*/ 27 w 3961"/>
                <a:gd name="T53" fmla="*/ 7 h 8"/>
                <a:gd name="T54" fmla="*/ 25 w 3961"/>
                <a:gd name="T55" fmla="*/ 2 h 8"/>
                <a:gd name="T56" fmla="*/ 30 w 3961"/>
                <a:gd name="T57" fmla="*/ 0 h 8"/>
                <a:gd name="T58" fmla="*/ 30 w 3961"/>
                <a:gd name="T59" fmla="*/ 8 h 8"/>
                <a:gd name="T60" fmla="*/ 28 w 3961"/>
                <a:gd name="T61" fmla="*/ 1 h 8"/>
                <a:gd name="T62" fmla="*/ 33 w 3961"/>
                <a:gd name="T63" fmla="*/ 1 h 8"/>
                <a:gd name="T64" fmla="*/ 31 w 3961"/>
                <a:gd name="T65" fmla="*/ 8 h 8"/>
                <a:gd name="T66" fmla="*/ 31 w 3961"/>
                <a:gd name="T67" fmla="*/ 0 h 8"/>
                <a:gd name="T68" fmla="*/ 36 w 3961"/>
                <a:gd name="T69" fmla="*/ 2 h 8"/>
                <a:gd name="T70" fmla="*/ 34 w 3961"/>
                <a:gd name="T71" fmla="*/ 7 h 8"/>
                <a:gd name="T72" fmla="*/ 34 w 3961"/>
                <a:gd name="T73" fmla="*/ 0 h 8"/>
                <a:gd name="T74" fmla="*/ 39 w 3961"/>
                <a:gd name="T75" fmla="*/ 4 h 8"/>
                <a:gd name="T76" fmla="*/ 37 w 3961"/>
                <a:gd name="T77" fmla="*/ 6 h 8"/>
                <a:gd name="T78" fmla="*/ 37 w 3961"/>
                <a:gd name="T79" fmla="*/ 0 h 8"/>
                <a:gd name="T80" fmla="*/ 42 w 3961"/>
                <a:gd name="T81" fmla="*/ 5 h 8"/>
                <a:gd name="T82" fmla="*/ 40 w 3961"/>
                <a:gd name="T83" fmla="*/ 5 h 8"/>
                <a:gd name="T84" fmla="*/ 43 w 3961"/>
                <a:gd name="T85" fmla="*/ 0 h 8"/>
                <a:gd name="T86" fmla="*/ 45 w 3961"/>
                <a:gd name="T87" fmla="*/ 6 h 8"/>
                <a:gd name="T88" fmla="*/ 43 w 3961"/>
                <a:gd name="T89" fmla="*/ 4 h 8"/>
                <a:gd name="T90" fmla="*/ 47 w 3961"/>
                <a:gd name="T91" fmla="*/ 0 h 8"/>
                <a:gd name="T92" fmla="*/ 47 w 3961"/>
                <a:gd name="T93" fmla="*/ 7 h 8"/>
                <a:gd name="T94" fmla="*/ 46 w 3961"/>
                <a:gd name="T95" fmla="*/ 2 h 8"/>
                <a:gd name="T96" fmla="*/ 50 w 3961"/>
                <a:gd name="T97" fmla="*/ 0 h 8"/>
                <a:gd name="T98" fmla="*/ 50 w 3961"/>
                <a:gd name="T99" fmla="*/ 8 h 8"/>
                <a:gd name="T100" fmla="*/ 48 w 3961"/>
                <a:gd name="T101" fmla="*/ 1 h 8"/>
                <a:gd name="T102" fmla="*/ 53 w 3961"/>
                <a:gd name="T103" fmla="*/ 1 h 8"/>
                <a:gd name="T104" fmla="*/ 51 w 3961"/>
                <a:gd name="T105" fmla="*/ 8 h 8"/>
                <a:gd name="T106" fmla="*/ 51 w 3961"/>
                <a:gd name="T107" fmla="*/ 0 h 8"/>
                <a:gd name="T108" fmla="*/ 56 w 3961"/>
                <a:gd name="T109" fmla="*/ 2 h 8"/>
                <a:gd name="T110" fmla="*/ 54 w 3961"/>
                <a:gd name="T111" fmla="*/ 7 h 8"/>
                <a:gd name="T112" fmla="*/ 54 w 3961"/>
                <a:gd name="T113" fmla="*/ 0 h 8"/>
                <a:gd name="T114" fmla="*/ 59 w 3961"/>
                <a:gd name="T115" fmla="*/ 4 h 8"/>
                <a:gd name="T116" fmla="*/ 57 w 3961"/>
                <a:gd name="T117" fmla="*/ 6 h 8"/>
                <a:gd name="T118" fmla="*/ 57 w 3961"/>
                <a:gd name="T119" fmla="*/ 0 h 8"/>
                <a:gd name="T120" fmla="*/ 61 w 3961"/>
                <a:gd name="T121" fmla="*/ 5 h 8"/>
                <a:gd name="T122" fmla="*/ 60 w 3961"/>
                <a:gd name="T123" fmla="*/ 5 h 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961"/>
                <a:gd name="T187" fmla="*/ 0 h 8"/>
                <a:gd name="T188" fmla="*/ 3961 w 3961"/>
                <a:gd name="T189" fmla="*/ 8 h 8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961" h="8">
                  <a:moveTo>
                    <a:pt x="7" y="0"/>
                  </a:moveTo>
                  <a:lnTo>
                    <a:pt x="115" y="0"/>
                  </a:lnTo>
                  <a:lnTo>
                    <a:pt x="119" y="0"/>
                  </a:lnTo>
                  <a:lnTo>
                    <a:pt x="121" y="1"/>
                  </a:lnTo>
                  <a:lnTo>
                    <a:pt x="122" y="2"/>
                  </a:lnTo>
                  <a:lnTo>
                    <a:pt x="122" y="4"/>
                  </a:lnTo>
                  <a:lnTo>
                    <a:pt x="122" y="5"/>
                  </a:lnTo>
                  <a:lnTo>
                    <a:pt x="121" y="6"/>
                  </a:lnTo>
                  <a:lnTo>
                    <a:pt x="119" y="7"/>
                  </a:lnTo>
                  <a:lnTo>
                    <a:pt x="115" y="8"/>
                  </a:lnTo>
                  <a:lnTo>
                    <a:pt x="7" y="8"/>
                  </a:lnTo>
                  <a:lnTo>
                    <a:pt x="5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1"/>
                  </a:lnTo>
                  <a:lnTo>
                    <a:pt x="5" y="0"/>
                  </a:lnTo>
                  <a:lnTo>
                    <a:pt x="7" y="0"/>
                  </a:lnTo>
                  <a:close/>
                  <a:moveTo>
                    <a:pt x="192" y="0"/>
                  </a:moveTo>
                  <a:lnTo>
                    <a:pt x="300" y="0"/>
                  </a:lnTo>
                  <a:lnTo>
                    <a:pt x="302" y="0"/>
                  </a:lnTo>
                  <a:lnTo>
                    <a:pt x="305" y="1"/>
                  </a:lnTo>
                  <a:lnTo>
                    <a:pt x="307" y="2"/>
                  </a:lnTo>
                  <a:lnTo>
                    <a:pt x="307" y="4"/>
                  </a:lnTo>
                  <a:lnTo>
                    <a:pt x="307" y="5"/>
                  </a:lnTo>
                  <a:lnTo>
                    <a:pt x="305" y="6"/>
                  </a:lnTo>
                  <a:lnTo>
                    <a:pt x="302" y="7"/>
                  </a:lnTo>
                  <a:lnTo>
                    <a:pt x="300" y="8"/>
                  </a:lnTo>
                  <a:lnTo>
                    <a:pt x="192" y="8"/>
                  </a:lnTo>
                  <a:lnTo>
                    <a:pt x="188" y="7"/>
                  </a:lnTo>
                  <a:lnTo>
                    <a:pt x="187" y="6"/>
                  </a:lnTo>
                  <a:lnTo>
                    <a:pt x="185" y="5"/>
                  </a:lnTo>
                  <a:lnTo>
                    <a:pt x="185" y="4"/>
                  </a:lnTo>
                  <a:lnTo>
                    <a:pt x="185" y="2"/>
                  </a:lnTo>
                  <a:lnTo>
                    <a:pt x="187" y="1"/>
                  </a:lnTo>
                  <a:lnTo>
                    <a:pt x="188" y="0"/>
                  </a:lnTo>
                  <a:lnTo>
                    <a:pt x="192" y="0"/>
                  </a:lnTo>
                  <a:close/>
                  <a:moveTo>
                    <a:pt x="375" y="0"/>
                  </a:moveTo>
                  <a:lnTo>
                    <a:pt x="483" y="0"/>
                  </a:lnTo>
                  <a:lnTo>
                    <a:pt x="486" y="0"/>
                  </a:lnTo>
                  <a:lnTo>
                    <a:pt x="488" y="1"/>
                  </a:lnTo>
                  <a:lnTo>
                    <a:pt x="490" y="2"/>
                  </a:lnTo>
                  <a:lnTo>
                    <a:pt x="490" y="4"/>
                  </a:lnTo>
                  <a:lnTo>
                    <a:pt x="490" y="5"/>
                  </a:lnTo>
                  <a:lnTo>
                    <a:pt x="488" y="6"/>
                  </a:lnTo>
                  <a:lnTo>
                    <a:pt x="486" y="7"/>
                  </a:lnTo>
                  <a:lnTo>
                    <a:pt x="483" y="8"/>
                  </a:lnTo>
                  <a:lnTo>
                    <a:pt x="375" y="8"/>
                  </a:lnTo>
                  <a:lnTo>
                    <a:pt x="373" y="7"/>
                  </a:lnTo>
                  <a:lnTo>
                    <a:pt x="371" y="6"/>
                  </a:lnTo>
                  <a:lnTo>
                    <a:pt x="370" y="5"/>
                  </a:lnTo>
                  <a:lnTo>
                    <a:pt x="368" y="4"/>
                  </a:lnTo>
                  <a:lnTo>
                    <a:pt x="370" y="2"/>
                  </a:lnTo>
                  <a:lnTo>
                    <a:pt x="371" y="1"/>
                  </a:lnTo>
                  <a:lnTo>
                    <a:pt x="373" y="0"/>
                  </a:lnTo>
                  <a:lnTo>
                    <a:pt x="375" y="0"/>
                  </a:lnTo>
                  <a:close/>
                  <a:moveTo>
                    <a:pt x="560" y="0"/>
                  </a:moveTo>
                  <a:lnTo>
                    <a:pt x="668" y="0"/>
                  </a:lnTo>
                  <a:lnTo>
                    <a:pt x="669" y="0"/>
                  </a:lnTo>
                  <a:lnTo>
                    <a:pt x="673" y="1"/>
                  </a:lnTo>
                  <a:lnTo>
                    <a:pt x="675" y="2"/>
                  </a:lnTo>
                  <a:lnTo>
                    <a:pt x="675" y="4"/>
                  </a:lnTo>
                  <a:lnTo>
                    <a:pt x="675" y="5"/>
                  </a:lnTo>
                  <a:lnTo>
                    <a:pt x="673" y="6"/>
                  </a:lnTo>
                  <a:lnTo>
                    <a:pt x="669" y="7"/>
                  </a:lnTo>
                  <a:lnTo>
                    <a:pt x="668" y="8"/>
                  </a:lnTo>
                  <a:lnTo>
                    <a:pt x="560" y="8"/>
                  </a:lnTo>
                  <a:lnTo>
                    <a:pt x="556" y="7"/>
                  </a:lnTo>
                  <a:lnTo>
                    <a:pt x="554" y="6"/>
                  </a:lnTo>
                  <a:lnTo>
                    <a:pt x="552" y="5"/>
                  </a:lnTo>
                  <a:lnTo>
                    <a:pt x="552" y="4"/>
                  </a:lnTo>
                  <a:lnTo>
                    <a:pt x="552" y="2"/>
                  </a:lnTo>
                  <a:lnTo>
                    <a:pt x="554" y="1"/>
                  </a:lnTo>
                  <a:lnTo>
                    <a:pt x="556" y="0"/>
                  </a:lnTo>
                  <a:lnTo>
                    <a:pt x="560" y="0"/>
                  </a:lnTo>
                  <a:close/>
                  <a:moveTo>
                    <a:pt x="745" y="0"/>
                  </a:moveTo>
                  <a:lnTo>
                    <a:pt x="850" y="0"/>
                  </a:lnTo>
                  <a:lnTo>
                    <a:pt x="854" y="0"/>
                  </a:lnTo>
                  <a:lnTo>
                    <a:pt x="856" y="1"/>
                  </a:lnTo>
                  <a:lnTo>
                    <a:pt x="858" y="2"/>
                  </a:lnTo>
                  <a:lnTo>
                    <a:pt x="860" y="4"/>
                  </a:lnTo>
                  <a:lnTo>
                    <a:pt x="858" y="5"/>
                  </a:lnTo>
                  <a:lnTo>
                    <a:pt x="856" y="6"/>
                  </a:lnTo>
                  <a:lnTo>
                    <a:pt x="854" y="7"/>
                  </a:lnTo>
                  <a:lnTo>
                    <a:pt x="850" y="8"/>
                  </a:lnTo>
                  <a:lnTo>
                    <a:pt x="745" y="8"/>
                  </a:lnTo>
                  <a:lnTo>
                    <a:pt x="741" y="7"/>
                  </a:lnTo>
                  <a:lnTo>
                    <a:pt x="739" y="6"/>
                  </a:lnTo>
                  <a:lnTo>
                    <a:pt x="737" y="5"/>
                  </a:lnTo>
                  <a:lnTo>
                    <a:pt x="735" y="4"/>
                  </a:lnTo>
                  <a:lnTo>
                    <a:pt x="737" y="2"/>
                  </a:lnTo>
                  <a:lnTo>
                    <a:pt x="739" y="1"/>
                  </a:lnTo>
                  <a:lnTo>
                    <a:pt x="741" y="0"/>
                  </a:lnTo>
                  <a:lnTo>
                    <a:pt x="745" y="0"/>
                  </a:lnTo>
                  <a:close/>
                  <a:moveTo>
                    <a:pt x="928" y="0"/>
                  </a:moveTo>
                  <a:lnTo>
                    <a:pt x="1035" y="0"/>
                  </a:lnTo>
                  <a:lnTo>
                    <a:pt x="1037" y="0"/>
                  </a:lnTo>
                  <a:lnTo>
                    <a:pt x="1041" y="1"/>
                  </a:lnTo>
                  <a:lnTo>
                    <a:pt x="1043" y="2"/>
                  </a:lnTo>
                  <a:lnTo>
                    <a:pt x="1043" y="4"/>
                  </a:lnTo>
                  <a:lnTo>
                    <a:pt x="1043" y="5"/>
                  </a:lnTo>
                  <a:lnTo>
                    <a:pt x="1041" y="6"/>
                  </a:lnTo>
                  <a:lnTo>
                    <a:pt x="1037" y="7"/>
                  </a:lnTo>
                  <a:lnTo>
                    <a:pt x="1035" y="8"/>
                  </a:lnTo>
                  <a:lnTo>
                    <a:pt x="928" y="8"/>
                  </a:lnTo>
                  <a:lnTo>
                    <a:pt x="924" y="7"/>
                  </a:lnTo>
                  <a:lnTo>
                    <a:pt x="922" y="6"/>
                  </a:lnTo>
                  <a:lnTo>
                    <a:pt x="920" y="5"/>
                  </a:lnTo>
                  <a:lnTo>
                    <a:pt x="920" y="4"/>
                  </a:lnTo>
                  <a:lnTo>
                    <a:pt x="920" y="2"/>
                  </a:lnTo>
                  <a:lnTo>
                    <a:pt x="922" y="1"/>
                  </a:lnTo>
                  <a:lnTo>
                    <a:pt x="924" y="0"/>
                  </a:lnTo>
                  <a:lnTo>
                    <a:pt x="928" y="0"/>
                  </a:lnTo>
                  <a:close/>
                  <a:moveTo>
                    <a:pt x="1113" y="0"/>
                  </a:moveTo>
                  <a:lnTo>
                    <a:pt x="1220" y="0"/>
                  </a:lnTo>
                  <a:lnTo>
                    <a:pt x="1222" y="0"/>
                  </a:lnTo>
                  <a:lnTo>
                    <a:pt x="1224" y="1"/>
                  </a:lnTo>
                  <a:lnTo>
                    <a:pt x="1226" y="2"/>
                  </a:lnTo>
                  <a:lnTo>
                    <a:pt x="1228" y="4"/>
                  </a:lnTo>
                  <a:lnTo>
                    <a:pt x="1226" y="5"/>
                  </a:lnTo>
                  <a:lnTo>
                    <a:pt x="1224" y="6"/>
                  </a:lnTo>
                  <a:lnTo>
                    <a:pt x="1222" y="7"/>
                  </a:lnTo>
                  <a:lnTo>
                    <a:pt x="1220" y="8"/>
                  </a:lnTo>
                  <a:lnTo>
                    <a:pt x="1113" y="8"/>
                  </a:lnTo>
                  <a:lnTo>
                    <a:pt x="1109" y="7"/>
                  </a:lnTo>
                  <a:lnTo>
                    <a:pt x="1107" y="6"/>
                  </a:lnTo>
                  <a:lnTo>
                    <a:pt x="1105" y="5"/>
                  </a:lnTo>
                  <a:lnTo>
                    <a:pt x="1105" y="4"/>
                  </a:lnTo>
                  <a:lnTo>
                    <a:pt x="1105" y="2"/>
                  </a:lnTo>
                  <a:lnTo>
                    <a:pt x="1107" y="1"/>
                  </a:lnTo>
                  <a:lnTo>
                    <a:pt x="1109" y="0"/>
                  </a:lnTo>
                  <a:lnTo>
                    <a:pt x="1113" y="0"/>
                  </a:lnTo>
                  <a:close/>
                  <a:moveTo>
                    <a:pt x="1296" y="0"/>
                  </a:moveTo>
                  <a:lnTo>
                    <a:pt x="1403" y="0"/>
                  </a:lnTo>
                  <a:lnTo>
                    <a:pt x="1407" y="0"/>
                  </a:lnTo>
                  <a:lnTo>
                    <a:pt x="1409" y="1"/>
                  </a:lnTo>
                  <a:lnTo>
                    <a:pt x="1411" y="2"/>
                  </a:lnTo>
                  <a:lnTo>
                    <a:pt x="1411" y="4"/>
                  </a:lnTo>
                  <a:lnTo>
                    <a:pt x="1411" y="5"/>
                  </a:lnTo>
                  <a:lnTo>
                    <a:pt x="1409" y="6"/>
                  </a:lnTo>
                  <a:lnTo>
                    <a:pt x="1407" y="7"/>
                  </a:lnTo>
                  <a:lnTo>
                    <a:pt x="1403" y="8"/>
                  </a:lnTo>
                  <a:lnTo>
                    <a:pt x="1296" y="8"/>
                  </a:lnTo>
                  <a:lnTo>
                    <a:pt x="1294" y="7"/>
                  </a:lnTo>
                  <a:lnTo>
                    <a:pt x="1290" y="6"/>
                  </a:lnTo>
                  <a:lnTo>
                    <a:pt x="1288" y="5"/>
                  </a:lnTo>
                  <a:lnTo>
                    <a:pt x="1288" y="4"/>
                  </a:lnTo>
                  <a:lnTo>
                    <a:pt x="1288" y="2"/>
                  </a:lnTo>
                  <a:lnTo>
                    <a:pt x="1290" y="1"/>
                  </a:lnTo>
                  <a:lnTo>
                    <a:pt x="1294" y="0"/>
                  </a:lnTo>
                  <a:lnTo>
                    <a:pt x="1296" y="0"/>
                  </a:lnTo>
                  <a:close/>
                  <a:moveTo>
                    <a:pt x="1480" y="0"/>
                  </a:moveTo>
                  <a:lnTo>
                    <a:pt x="1588" y="0"/>
                  </a:lnTo>
                  <a:lnTo>
                    <a:pt x="1590" y="0"/>
                  </a:lnTo>
                  <a:lnTo>
                    <a:pt x="1592" y="1"/>
                  </a:lnTo>
                  <a:lnTo>
                    <a:pt x="1594" y="2"/>
                  </a:lnTo>
                  <a:lnTo>
                    <a:pt x="1596" y="4"/>
                  </a:lnTo>
                  <a:lnTo>
                    <a:pt x="1594" y="5"/>
                  </a:lnTo>
                  <a:lnTo>
                    <a:pt x="1592" y="6"/>
                  </a:lnTo>
                  <a:lnTo>
                    <a:pt x="1590" y="7"/>
                  </a:lnTo>
                  <a:lnTo>
                    <a:pt x="1588" y="8"/>
                  </a:lnTo>
                  <a:lnTo>
                    <a:pt x="1480" y="8"/>
                  </a:lnTo>
                  <a:lnTo>
                    <a:pt x="1477" y="7"/>
                  </a:lnTo>
                  <a:lnTo>
                    <a:pt x="1475" y="6"/>
                  </a:lnTo>
                  <a:lnTo>
                    <a:pt x="1473" y="5"/>
                  </a:lnTo>
                  <a:lnTo>
                    <a:pt x="1473" y="4"/>
                  </a:lnTo>
                  <a:lnTo>
                    <a:pt x="1473" y="2"/>
                  </a:lnTo>
                  <a:lnTo>
                    <a:pt x="1475" y="1"/>
                  </a:lnTo>
                  <a:lnTo>
                    <a:pt x="1477" y="0"/>
                  </a:lnTo>
                  <a:lnTo>
                    <a:pt x="1480" y="0"/>
                  </a:lnTo>
                  <a:close/>
                  <a:moveTo>
                    <a:pt x="1663" y="0"/>
                  </a:moveTo>
                  <a:lnTo>
                    <a:pt x="1771" y="0"/>
                  </a:lnTo>
                  <a:lnTo>
                    <a:pt x="1775" y="0"/>
                  </a:lnTo>
                  <a:lnTo>
                    <a:pt x="1777" y="1"/>
                  </a:lnTo>
                  <a:lnTo>
                    <a:pt x="1778" y="2"/>
                  </a:lnTo>
                  <a:lnTo>
                    <a:pt x="1778" y="4"/>
                  </a:lnTo>
                  <a:lnTo>
                    <a:pt x="1778" y="5"/>
                  </a:lnTo>
                  <a:lnTo>
                    <a:pt x="1777" y="6"/>
                  </a:lnTo>
                  <a:lnTo>
                    <a:pt x="1775" y="7"/>
                  </a:lnTo>
                  <a:lnTo>
                    <a:pt x="1771" y="8"/>
                  </a:lnTo>
                  <a:lnTo>
                    <a:pt x="1663" y="8"/>
                  </a:lnTo>
                  <a:lnTo>
                    <a:pt x="1662" y="7"/>
                  </a:lnTo>
                  <a:lnTo>
                    <a:pt x="1658" y="6"/>
                  </a:lnTo>
                  <a:lnTo>
                    <a:pt x="1656" y="5"/>
                  </a:lnTo>
                  <a:lnTo>
                    <a:pt x="1656" y="4"/>
                  </a:lnTo>
                  <a:lnTo>
                    <a:pt x="1656" y="2"/>
                  </a:lnTo>
                  <a:lnTo>
                    <a:pt x="1658" y="1"/>
                  </a:lnTo>
                  <a:lnTo>
                    <a:pt x="1662" y="0"/>
                  </a:lnTo>
                  <a:lnTo>
                    <a:pt x="1663" y="0"/>
                  </a:lnTo>
                  <a:close/>
                  <a:moveTo>
                    <a:pt x="1848" y="0"/>
                  </a:moveTo>
                  <a:lnTo>
                    <a:pt x="1956" y="0"/>
                  </a:lnTo>
                  <a:lnTo>
                    <a:pt x="1958" y="0"/>
                  </a:lnTo>
                  <a:lnTo>
                    <a:pt x="1960" y="1"/>
                  </a:lnTo>
                  <a:lnTo>
                    <a:pt x="1961" y="2"/>
                  </a:lnTo>
                  <a:lnTo>
                    <a:pt x="1963" y="4"/>
                  </a:lnTo>
                  <a:lnTo>
                    <a:pt x="1961" y="5"/>
                  </a:lnTo>
                  <a:lnTo>
                    <a:pt x="1960" y="6"/>
                  </a:lnTo>
                  <a:lnTo>
                    <a:pt x="1958" y="7"/>
                  </a:lnTo>
                  <a:lnTo>
                    <a:pt x="1956" y="8"/>
                  </a:lnTo>
                  <a:lnTo>
                    <a:pt x="1848" y="8"/>
                  </a:lnTo>
                  <a:lnTo>
                    <a:pt x="1844" y="7"/>
                  </a:lnTo>
                  <a:lnTo>
                    <a:pt x="1843" y="6"/>
                  </a:lnTo>
                  <a:lnTo>
                    <a:pt x="1841" y="5"/>
                  </a:lnTo>
                  <a:lnTo>
                    <a:pt x="1841" y="4"/>
                  </a:lnTo>
                  <a:lnTo>
                    <a:pt x="1841" y="2"/>
                  </a:lnTo>
                  <a:lnTo>
                    <a:pt x="1843" y="1"/>
                  </a:lnTo>
                  <a:lnTo>
                    <a:pt x="1844" y="0"/>
                  </a:lnTo>
                  <a:lnTo>
                    <a:pt x="1848" y="0"/>
                  </a:lnTo>
                  <a:close/>
                  <a:moveTo>
                    <a:pt x="2031" y="0"/>
                  </a:moveTo>
                  <a:lnTo>
                    <a:pt x="2139" y="0"/>
                  </a:lnTo>
                  <a:lnTo>
                    <a:pt x="2142" y="0"/>
                  </a:lnTo>
                  <a:lnTo>
                    <a:pt x="2144" y="1"/>
                  </a:lnTo>
                  <a:lnTo>
                    <a:pt x="2146" y="2"/>
                  </a:lnTo>
                  <a:lnTo>
                    <a:pt x="2146" y="4"/>
                  </a:lnTo>
                  <a:lnTo>
                    <a:pt x="2146" y="5"/>
                  </a:lnTo>
                  <a:lnTo>
                    <a:pt x="2144" y="6"/>
                  </a:lnTo>
                  <a:lnTo>
                    <a:pt x="2142" y="7"/>
                  </a:lnTo>
                  <a:lnTo>
                    <a:pt x="2139" y="8"/>
                  </a:lnTo>
                  <a:lnTo>
                    <a:pt x="2031" y="8"/>
                  </a:lnTo>
                  <a:lnTo>
                    <a:pt x="2029" y="7"/>
                  </a:lnTo>
                  <a:lnTo>
                    <a:pt x="2026" y="6"/>
                  </a:lnTo>
                  <a:lnTo>
                    <a:pt x="2024" y="5"/>
                  </a:lnTo>
                  <a:lnTo>
                    <a:pt x="2024" y="4"/>
                  </a:lnTo>
                  <a:lnTo>
                    <a:pt x="2024" y="2"/>
                  </a:lnTo>
                  <a:lnTo>
                    <a:pt x="2026" y="1"/>
                  </a:lnTo>
                  <a:lnTo>
                    <a:pt x="2029" y="0"/>
                  </a:lnTo>
                  <a:lnTo>
                    <a:pt x="2031" y="0"/>
                  </a:lnTo>
                  <a:close/>
                  <a:moveTo>
                    <a:pt x="2216" y="0"/>
                  </a:moveTo>
                  <a:lnTo>
                    <a:pt x="2324" y="0"/>
                  </a:lnTo>
                  <a:lnTo>
                    <a:pt x="2325" y="0"/>
                  </a:lnTo>
                  <a:lnTo>
                    <a:pt x="2329" y="1"/>
                  </a:lnTo>
                  <a:lnTo>
                    <a:pt x="2329" y="2"/>
                  </a:lnTo>
                  <a:lnTo>
                    <a:pt x="2331" y="4"/>
                  </a:lnTo>
                  <a:lnTo>
                    <a:pt x="2329" y="5"/>
                  </a:lnTo>
                  <a:lnTo>
                    <a:pt x="2329" y="6"/>
                  </a:lnTo>
                  <a:lnTo>
                    <a:pt x="2325" y="7"/>
                  </a:lnTo>
                  <a:lnTo>
                    <a:pt x="2324" y="8"/>
                  </a:lnTo>
                  <a:lnTo>
                    <a:pt x="2216" y="8"/>
                  </a:lnTo>
                  <a:lnTo>
                    <a:pt x="2212" y="7"/>
                  </a:lnTo>
                  <a:lnTo>
                    <a:pt x="2210" y="6"/>
                  </a:lnTo>
                  <a:lnTo>
                    <a:pt x="2209" y="5"/>
                  </a:lnTo>
                  <a:lnTo>
                    <a:pt x="2209" y="4"/>
                  </a:lnTo>
                  <a:lnTo>
                    <a:pt x="2209" y="2"/>
                  </a:lnTo>
                  <a:lnTo>
                    <a:pt x="2210" y="1"/>
                  </a:lnTo>
                  <a:lnTo>
                    <a:pt x="2212" y="0"/>
                  </a:lnTo>
                  <a:lnTo>
                    <a:pt x="2216" y="0"/>
                  </a:lnTo>
                  <a:close/>
                  <a:moveTo>
                    <a:pt x="2399" y="0"/>
                  </a:moveTo>
                  <a:lnTo>
                    <a:pt x="2507" y="0"/>
                  </a:lnTo>
                  <a:lnTo>
                    <a:pt x="2510" y="0"/>
                  </a:lnTo>
                  <a:lnTo>
                    <a:pt x="2512" y="1"/>
                  </a:lnTo>
                  <a:lnTo>
                    <a:pt x="2514" y="2"/>
                  </a:lnTo>
                  <a:lnTo>
                    <a:pt x="2514" y="4"/>
                  </a:lnTo>
                  <a:lnTo>
                    <a:pt x="2514" y="5"/>
                  </a:lnTo>
                  <a:lnTo>
                    <a:pt x="2512" y="6"/>
                  </a:lnTo>
                  <a:lnTo>
                    <a:pt x="2510" y="7"/>
                  </a:lnTo>
                  <a:lnTo>
                    <a:pt x="2507" y="8"/>
                  </a:lnTo>
                  <a:lnTo>
                    <a:pt x="2399" y="8"/>
                  </a:lnTo>
                  <a:lnTo>
                    <a:pt x="2397" y="7"/>
                  </a:lnTo>
                  <a:lnTo>
                    <a:pt x="2393" y="6"/>
                  </a:lnTo>
                  <a:lnTo>
                    <a:pt x="2393" y="5"/>
                  </a:lnTo>
                  <a:lnTo>
                    <a:pt x="2391" y="4"/>
                  </a:lnTo>
                  <a:lnTo>
                    <a:pt x="2393" y="2"/>
                  </a:lnTo>
                  <a:lnTo>
                    <a:pt x="2393" y="1"/>
                  </a:lnTo>
                  <a:lnTo>
                    <a:pt x="2397" y="0"/>
                  </a:lnTo>
                  <a:lnTo>
                    <a:pt x="2399" y="0"/>
                  </a:lnTo>
                  <a:close/>
                  <a:moveTo>
                    <a:pt x="2584" y="0"/>
                  </a:moveTo>
                  <a:lnTo>
                    <a:pt x="2691" y="0"/>
                  </a:lnTo>
                  <a:lnTo>
                    <a:pt x="2693" y="0"/>
                  </a:lnTo>
                  <a:lnTo>
                    <a:pt x="2697" y="1"/>
                  </a:lnTo>
                  <a:lnTo>
                    <a:pt x="2699" y="2"/>
                  </a:lnTo>
                  <a:lnTo>
                    <a:pt x="2699" y="4"/>
                  </a:lnTo>
                  <a:lnTo>
                    <a:pt x="2699" y="5"/>
                  </a:lnTo>
                  <a:lnTo>
                    <a:pt x="2697" y="6"/>
                  </a:lnTo>
                  <a:lnTo>
                    <a:pt x="2693" y="7"/>
                  </a:lnTo>
                  <a:lnTo>
                    <a:pt x="2691" y="8"/>
                  </a:lnTo>
                  <a:lnTo>
                    <a:pt x="2584" y="8"/>
                  </a:lnTo>
                  <a:lnTo>
                    <a:pt x="2580" y="7"/>
                  </a:lnTo>
                  <a:lnTo>
                    <a:pt x="2578" y="6"/>
                  </a:lnTo>
                  <a:lnTo>
                    <a:pt x="2576" y="5"/>
                  </a:lnTo>
                  <a:lnTo>
                    <a:pt x="2576" y="4"/>
                  </a:lnTo>
                  <a:lnTo>
                    <a:pt x="2576" y="2"/>
                  </a:lnTo>
                  <a:lnTo>
                    <a:pt x="2578" y="1"/>
                  </a:lnTo>
                  <a:lnTo>
                    <a:pt x="2580" y="0"/>
                  </a:lnTo>
                  <a:lnTo>
                    <a:pt x="2584" y="0"/>
                  </a:lnTo>
                  <a:close/>
                  <a:moveTo>
                    <a:pt x="2767" y="0"/>
                  </a:moveTo>
                  <a:lnTo>
                    <a:pt x="2874" y="0"/>
                  </a:lnTo>
                  <a:lnTo>
                    <a:pt x="2878" y="0"/>
                  </a:lnTo>
                  <a:lnTo>
                    <a:pt x="2880" y="1"/>
                  </a:lnTo>
                  <a:lnTo>
                    <a:pt x="2882" y="2"/>
                  </a:lnTo>
                  <a:lnTo>
                    <a:pt x="2882" y="4"/>
                  </a:lnTo>
                  <a:lnTo>
                    <a:pt x="2882" y="5"/>
                  </a:lnTo>
                  <a:lnTo>
                    <a:pt x="2880" y="6"/>
                  </a:lnTo>
                  <a:lnTo>
                    <a:pt x="2878" y="7"/>
                  </a:lnTo>
                  <a:lnTo>
                    <a:pt x="2874" y="8"/>
                  </a:lnTo>
                  <a:lnTo>
                    <a:pt x="2767" y="8"/>
                  </a:lnTo>
                  <a:lnTo>
                    <a:pt x="2765" y="7"/>
                  </a:lnTo>
                  <a:lnTo>
                    <a:pt x="2763" y="6"/>
                  </a:lnTo>
                  <a:lnTo>
                    <a:pt x="2761" y="5"/>
                  </a:lnTo>
                  <a:lnTo>
                    <a:pt x="2759" y="4"/>
                  </a:lnTo>
                  <a:lnTo>
                    <a:pt x="2761" y="2"/>
                  </a:lnTo>
                  <a:lnTo>
                    <a:pt x="2763" y="1"/>
                  </a:lnTo>
                  <a:lnTo>
                    <a:pt x="2765" y="0"/>
                  </a:lnTo>
                  <a:lnTo>
                    <a:pt x="2767" y="0"/>
                  </a:lnTo>
                  <a:close/>
                  <a:moveTo>
                    <a:pt x="2952" y="0"/>
                  </a:moveTo>
                  <a:lnTo>
                    <a:pt x="3059" y="0"/>
                  </a:lnTo>
                  <a:lnTo>
                    <a:pt x="3061" y="0"/>
                  </a:lnTo>
                  <a:lnTo>
                    <a:pt x="3065" y="1"/>
                  </a:lnTo>
                  <a:lnTo>
                    <a:pt x="3067" y="2"/>
                  </a:lnTo>
                  <a:lnTo>
                    <a:pt x="3067" y="4"/>
                  </a:lnTo>
                  <a:lnTo>
                    <a:pt x="3067" y="5"/>
                  </a:lnTo>
                  <a:lnTo>
                    <a:pt x="3065" y="6"/>
                  </a:lnTo>
                  <a:lnTo>
                    <a:pt x="3061" y="7"/>
                  </a:lnTo>
                  <a:lnTo>
                    <a:pt x="3059" y="8"/>
                  </a:lnTo>
                  <a:lnTo>
                    <a:pt x="2952" y="8"/>
                  </a:lnTo>
                  <a:lnTo>
                    <a:pt x="2948" y="7"/>
                  </a:lnTo>
                  <a:lnTo>
                    <a:pt x="2946" y="6"/>
                  </a:lnTo>
                  <a:lnTo>
                    <a:pt x="2944" y="5"/>
                  </a:lnTo>
                  <a:lnTo>
                    <a:pt x="2944" y="4"/>
                  </a:lnTo>
                  <a:lnTo>
                    <a:pt x="2944" y="2"/>
                  </a:lnTo>
                  <a:lnTo>
                    <a:pt x="2946" y="1"/>
                  </a:lnTo>
                  <a:lnTo>
                    <a:pt x="2948" y="0"/>
                  </a:lnTo>
                  <a:lnTo>
                    <a:pt x="2952" y="0"/>
                  </a:lnTo>
                  <a:close/>
                  <a:moveTo>
                    <a:pt x="3137" y="0"/>
                  </a:moveTo>
                  <a:lnTo>
                    <a:pt x="3242" y="0"/>
                  </a:lnTo>
                  <a:lnTo>
                    <a:pt x="3246" y="0"/>
                  </a:lnTo>
                  <a:lnTo>
                    <a:pt x="3248" y="1"/>
                  </a:lnTo>
                  <a:lnTo>
                    <a:pt x="3250" y="2"/>
                  </a:lnTo>
                  <a:lnTo>
                    <a:pt x="3250" y="4"/>
                  </a:lnTo>
                  <a:lnTo>
                    <a:pt x="3250" y="5"/>
                  </a:lnTo>
                  <a:lnTo>
                    <a:pt x="3248" y="6"/>
                  </a:lnTo>
                  <a:lnTo>
                    <a:pt x="3246" y="7"/>
                  </a:lnTo>
                  <a:lnTo>
                    <a:pt x="3242" y="8"/>
                  </a:lnTo>
                  <a:lnTo>
                    <a:pt x="3137" y="8"/>
                  </a:lnTo>
                  <a:lnTo>
                    <a:pt x="3133" y="7"/>
                  </a:lnTo>
                  <a:lnTo>
                    <a:pt x="3131" y="6"/>
                  </a:lnTo>
                  <a:lnTo>
                    <a:pt x="3129" y="5"/>
                  </a:lnTo>
                  <a:lnTo>
                    <a:pt x="3127" y="4"/>
                  </a:lnTo>
                  <a:lnTo>
                    <a:pt x="3129" y="2"/>
                  </a:lnTo>
                  <a:lnTo>
                    <a:pt x="3131" y="1"/>
                  </a:lnTo>
                  <a:lnTo>
                    <a:pt x="3133" y="0"/>
                  </a:lnTo>
                  <a:lnTo>
                    <a:pt x="3137" y="0"/>
                  </a:lnTo>
                  <a:close/>
                  <a:moveTo>
                    <a:pt x="3319" y="0"/>
                  </a:moveTo>
                  <a:lnTo>
                    <a:pt x="3427" y="0"/>
                  </a:lnTo>
                  <a:lnTo>
                    <a:pt x="3429" y="0"/>
                  </a:lnTo>
                  <a:lnTo>
                    <a:pt x="3433" y="1"/>
                  </a:lnTo>
                  <a:lnTo>
                    <a:pt x="3435" y="2"/>
                  </a:lnTo>
                  <a:lnTo>
                    <a:pt x="3435" y="4"/>
                  </a:lnTo>
                  <a:lnTo>
                    <a:pt x="3435" y="5"/>
                  </a:lnTo>
                  <a:lnTo>
                    <a:pt x="3433" y="6"/>
                  </a:lnTo>
                  <a:lnTo>
                    <a:pt x="3429" y="7"/>
                  </a:lnTo>
                  <a:lnTo>
                    <a:pt x="3427" y="8"/>
                  </a:lnTo>
                  <a:lnTo>
                    <a:pt x="3319" y="8"/>
                  </a:lnTo>
                  <a:lnTo>
                    <a:pt x="3316" y="7"/>
                  </a:lnTo>
                  <a:lnTo>
                    <a:pt x="3314" y="6"/>
                  </a:lnTo>
                  <a:lnTo>
                    <a:pt x="3312" y="5"/>
                  </a:lnTo>
                  <a:lnTo>
                    <a:pt x="3312" y="4"/>
                  </a:lnTo>
                  <a:lnTo>
                    <a:pt x="3312" y="2"/>
                  </a:lnTo>
                  <a:lnTo>
                    <a:pt x="3314" y="1"/>
                  </a:lnTo>
                  <a:lnTo>
                    <a:pt x="3316" y="0"/>
                  </a:lnTo>
                  <a:lnTo>
                    <a:pt x="3319" y="0"/>
                  </a:lnTo>
                  <a:close/>
                  <a:moveTo>
                    <a:pt x="3504" y="0"/>
                  </a:moveTo>
                  <a:lnTo>
                    <a:pt x="3610" y="0"/>
                  </a:lnTo>
                  <a:lnTo>
                    <a:pt x="3614" y="0"/>
                  </a:lnTo>
                  <a:lnTo>
                    <a:pt x="3616" y="1"/>
                  </a:lnTo>
                  <a:lnTo>
                    <a:pt x="3617" y="2"/>
                  </a:lnTo>
                  <a:lnTo>
                    <a:pt x="3619" y="4"/>
                  </a:lnTo>
                  <a:lnTo>
                    <a:pt x="3617" y="5"/>
                  </a:lnTo>
                  <a:lnTo>
                    <a:pt x="3616" y="6"/>
                  </a:lnTo>
                  <a:lnTo>
                    <a:pt x="3614" y="7"/>
                  </a:lnTo>
                  <a:lnTo>
                    <a:pt x="3610" y="8"/>
                  </a:lnTo>
                  <a:lnTo>
                    <a:pt x="3504" y="8"/>
                  </a:lnTo>
                  <a:lnTo>
                    <a:pt x="3501" y="7"/>
                  </a:lnTo>
                  <a:lnTo>
                    <a:pt x="3499" y="6"/>
                  </a:lnTo>
                  <a:lnTo>
                    <a:pt x="3497" y="5"/>
                  </a:lnTo>
                  <a:lnTo>
                    <a:pt x="3497" y="4"/>
                  </a:lnTo>
                  <a:lnTo>
                    <a:pt x="3497" y="2"/>
                  </a:lnTo>
                  <a:lnTo>
                    <a:pt x="3499" y="1"/>
                  </a:lnTo>
                  <a:lnTo>
                    <a:pt x="3501" y="0"/>
                  </a:lnTo>
                  <a:lnTo>
                    <a:pt x="3504" y="0"/>
                  </a:lnTo>
                  <a:close/>
                  <a:moveTo>
                    <a:pt x="3687" y="0"/>
                  </a:moveTo>
                  <a:lnTo>
                    <a:pt x="3795" y="0"/>
                  </a:lnTo>
                  <a:lnTo>
                    <a:pt x="3799" y="0"/>
                  </a:lnTo>
                  <a:lnTo>
                    <a:pt x="3800" y="1"/>
                  </a:lnTo>
                  <a:lnTo>
                    <a:pt x="3802" y="2"/>
                  </a:lnTo>
                  <a:lnTo>
                    <a:pt x="3802" y="4"/>
                  </a:lnTo>
                  <a:lnTo>
                    <a:pt x="3802" y="5"/>
                  </a:lnTo>
                  <a:lnTo>
                    <a:pt x="3800" y="6"/>
                  </a:lnTo>
                  <a:lnTo>
                    <a:pt x="3799" y="7"/>
                  </a:lnTo>
                  <a:lnTo>
                    <a:pt x="3795" y="8"/>
                  </a:lnTo>
                  <a:lnTo>
                    <a:pt x="3687" y="8"/>
                  </a:lnTo>
                  <a:lnTo>
                    <a:pt x="3685" y="7"/>
                  </a:lnTo>
                  <a:lnTo>
                    <a:pt x="3682" y="6"/>
                  </a:lnTo>
                  <a:lnTo>
                    <a:pt x="3680" y="5"/>
                  </a:lnTo>
                  <a:lnTo>
                    <a:pt x="3680" y="4"/>
                  </a:lnTo>
                  <a:lnTo>
                    <a:pt x="3680" y="2"/>
                  </a:lnTo>
                  <a:lnTo>
                    <a:pt x="3682" y="1"/>
                  </a:lnTo>
                  <a:lnTo>
                    <a:pt x="3685" y="0"/>
                  </a:lnTo>
                  <a:lnTo>
                    <a:pt x="3687" y="0"/>
                  </a:lnTo>
                  <a:close/>
                  <a:moveTo>
                    <a:pt x="3872" y="0"/>
                  </a:moveTo>
                  <a:lnTo>
                    <a:pt x="3953" y="0"/>
                  </a:lnTo>
                  <a:lnTo>
                    <a:pt x="3957" y="0"/>
                  </a:lnTo>
                  <a:lnTo>
                    <a:pt x="3959" y="1"/>
                  </a:lnTo>
                  <a:lnTo>
                    <a:pt x="3961" y="2"/>
                  </a:lnTo>
                  <a:lnTo>
                    <a:pt x="3961" y="4"/>
                  </a:lnTo>
                  <a:lnTo>
                    <a:pt x="3961" y="5"/>
                  </a:lnTo>
                  <a:lnTo>
                    <a:pt x="3959" y="6"/>
                  </a:lnTo>
                  <a:lnTo>
                    <a:pt x="3957" y="7"/>
                  </a:lnTo>
                  <a:lnTo>
                    <a:pt x="3953" y="8"/>
                  </a:lnTo>
                  <a:lnTo>
                    <a:pt x="3872" y="8"/>
                  </a:lnTo>
                  <a:lnTo>
                    <a:pt x="3868" y="7"/>
                  </a:lnTo>
                  <a:lnTo>
                    <a:pt x="3866" y="6"/>
                  </a:lnTo>
                  <a:lnTo>
                    <a:pt x="3865" y="5"/>
                  </a:lnTo>
                  <a:lnTo>
                    <a:pt x="3865" y="4"/>
                  </a:lnTo>
                  <a:lnTo>
                    <a:pt x="3865" y="2"/>
                  </a:lnTo>
                  <a:lnTo>
                    <a:pt x="3866" y="1"/>
                  </a:lnTo>
                  <a:lnTo>
                    <a:pt x="3868" y="0"/>
                  </a:lnTo>
                  <a:lnTo>
                    <a:pt x="3872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6" name="Rectangle 62"/>
            <p:cNvSpPr>
              <a:spLocks noChangeArrowheads="1"/>
            </p:cNvSpPr>
            <p:nvPr/>
          </p:nvSpPr>
          <p:spPr bwMode="auto">
            <a:xfrm>
              <a:off x="4564" y="3672"/>
              <a:ext cx="107" cy="17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宋体" pitchFamily="2" charset="-122"/>
                </a:rPr>
                <a:t>I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宋体" pitchFamily="2" charset="-122"/>
                </a:rPr>
                <a:t>o</a:t>
              </a:r>
            </a:p>
          </p:txBody>
        </p:sp>
        <p:sp>
          <p:nvSpPr>
            <p:cNvPr id="79927" name="Line 63"/>
            <p:cNvSpPr>
              <a:spLocks noChangeShapeType="1"/>
            </p:cNvSpPr>
            <p:nvPr/>
          </p:nvSpPr>
          <p:spPr bwMode="auto">
            <a:xfrm>
              <a:off x="4651" y="2658"/>
              <a:ext cx="1" cy="2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8" name="Line 64"/>
            <p:cNvSpPr>
              <a:spLocks noChangeShapeType="1"/>
            </p:cNvSpPr>
            <p:nvPr/>
          </p:nvSpPr>
          <p:spPr bwMode="auto">
            <a:xfrm>
              <a:off x="5185" y="2658"/>
              <a:ext cx="1" cy="2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9" name="Line 65"/>
            <p:cNvSpPr>
              <a:spLocks noChangeShapeType="1"/>
            </p:cNvSpPr>
            <p:nvPr/>
          </p:nvSpPr>
          <p:spPr bwMode="auto">
            <a:xfrm flipV="1">
              <a:off x="4011" y="2657"/>
              <a:ext cx="1" cy="1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0" name="Freeform 66"/>
            <p:cNvSpPr>
              <a:spLocks/>
            </p:cNvSpPr>
            <p:nvPr/>
          </p:nvSpPr>
          <p:spPr bwMode="auto">
            <a:xfrm>
              <a:off x="3977" y="2817"/>
              <a:ext cx="68" cy="75"/>
            </a:xfrm>
            <a:custGeom>
              <a:avLst/>
              <a:gdLst>
                <a:gd name="T0" fmla="*/ 1 w 138"/>
                <a:gd name="T1" fmla="*/ 75 h 75"/>
                <a:gd name="T2" fmla="*/ 0 w 138"/>
                <a:gd name="T3" fmla="*/ 0 h 75"/>
                <a:gd name="T4" fmla="*/ 0 w 138"/>
                <a:gd name="T5" fmla="*/ 2 h 75"/>
                <a:gd name="T6" fmla="*/ 0 w 138"/>
                <a:gd name="T7" fmla="*/ 4 h 75"/>
                <a:gd name="T8" fmla="*/ 0 w 138"/>
                <a:gd name="T9" fmla="*/ 5 h 75"/>
                <a:gd name="T10" fmla="*/ 0 w 138"/>
                <a:gd name="T11" fmla="*/ 6 h 75"/>
                <a:gd name="T12" fmla="*/ 0 w 138"/>
                <a:gd name="T13" fmla="*/ 7 h 75"/>
                <a:gd name="T14" fmla="*/ 0 w 138"/>
                <a:gd name="T15" fmla="*/ 8 h 75"/>
                <a:gd name="T16" fmla="*/ 0 w 138"/>
                <a:gd name="T17" fmla="*/ 8 h 75"/>
                <a:gd name="T18" fmla="*/ 1 w 138"/>
                <a:gd name="T19" fmla="*/ 9 h 75"/>
                <a:gd name="T20" fmla="*/ 1 w 138"/>
                <a:gd name="T21" fmla="*/ 8 h 75"/>
                <a:gd name="T22" fmla="*/ 1 w 138"/>
                <a:gd name="T23" fmla="*/ 8 h 75"/>
                <a:gd name="T24" fmla="*/ 1 w 138"/>
                <a:gd name="T25" fmla="*/ 7 h 75"/>
                <a:gd name="T26" fmla="*/ 1 w 138"/>
                <a:gd name="T27" fmla="*/ 6 h 75"/>
                <a:gd name="T28" fmla="*/ 1 w 138"/>
                <a:gd name="T29" fmla="*/ 5 h 75"/>
                <a:gd name="T30" fmla="*/ 1 w 138"/>
                <a:gd name="T31" fmla="*/ 4 h 75"/>
                <a:gd name="T32" fmla="*/ 2 w 138"/>
                <a:gd name="T33" fmla="*/ 2 h 75"/>
                <a:gd name="T34" fmla="*/ 2 w 138"/>
                <a:gd name="T35" fmla="*/ 0 h 75"/>
                <a:gd name="T36" fmla="*/ 1 w 138"/>
                <a:gd name="T37" fmla="*/ 75 h 75"/>
                <a:gd name="T38" fmla="*/ 1 w 138"/>
                <a:gd name="T39" fmla="*/ 75 h 7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38"/>
                <a:gd name="T61" fmla="*/ 0 h 75"/>
                <a:gd name="T62" fmla="*/ 138 w 138"/>
                <a:gd name="T63" fmla="*/ 75 h 7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38" h="75">
                  <a:moveTo>
                    <a:pt x="70" y="75"/>
                  </a:moveTo>
                  <a:lnTo>
                    <a:pt x="0" y="0"/>
                  </a:lnTo>
                  <a:lnTo>
                    <a:pt x="10" y="2"/>
                  </a:lnTo>
                  <a:lnTo>
                    <a:pt x="17" y="4"/>
                  </a:lnTo>
                  <a:lnTo>
                    <a:pt x="25" y="5"/>
                  </a:lnTo>
                  <a:lnTo>
                    <a:pt x="34" y="6"/>
                  </a:lnTo>
                  <a:lnTo>
                    <a:pt x="44" y="7"/>
                  </a:lnTo>
                  <a:lnTo>
                    <a:pt x="51" y="8"/>
                  </a:lnTo>
                  <a:lnTo>
                    <a:pt x="60" y="8"/>
                  </a:lnTo>
                  <a:lnTo>
                    <a:pt x="70" y="9"/>
                  </a:lnTo>
                  <a:lnTo>
                    <a:pt x="77" y="8"/>
                  </a:lnTo>
                  <a:lnTo>
                    <a:pt x="87" y="8"/>
                  </a:lnTo>
                  <a:lnTo>
                    <a:pt x="96" y="7"/>
                  </a:lnTo>
                  <a:lnTo>
                    <a:pt x="104" y="6"/>
                  </a:lnTo>
                  <a:lnTo>
                    <a:pt x="113" y="5"/>
                  </a:lnTo>
                  <a:lnTo>
                    <a:pt x="121" y="4"/>
                  </a:lnTo>
                  <a:lnTo>
                    <a:pt x="130" y="2"/>
                  </a:lnTo>
                  <a:lnTo>
                    <a:pt x="138" y="0"/>
                  </a:lnTo>
                  <a:lnTo>
                    <a:pt x="70" y="75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1" name="Freeform 67"/>
            <p:cNvSpPr>
              <a:spLocks/>
            </p:cNvSpPr>
            <p:nvPr/>
          </p:nvSpPr>
          <p:spPr bwMode="auto">
            <a:xfrm>
              <a:off x="3977" y="2599"/>
              <a:ext cx="68" cy="77"/>
            </a:xfrm>
            <a:custGeom>
              <a:avLst/>
              <a:gdLst>
                <a:gd name="T0" fmla="*/ 1 w 138"/>
                <a:gd name="T1" fmla="*/ 0 h 77"/>
                <a:gd name="T2" fmla="*/ 2 w 138"/>
                <a:gd name="T3" fmla="*/ 77 h 77"/>
                <a:gd name="T4" fmla="*/ 2 w 138"/>
                <a:gd name="T5" fmla="*/ 75 h 77"/>
                <a:gd name="T6" fmla="*/ 1 w 138"/>
                <a:gd name="T7" fmla="*/ 73 h 77"/>
                <a:gd name="T8" fmla="*/ 1 w 138"/>
                <a:gd name="T9" fmla="*/ 71 h 77"/>
                <a:gd name="T10" fmla="*/ 1 w 138"/>
                <a:gd name="T11" fmla="*/ 70 h 77"/>
                <a:gd name="T12" fmla="*/ 1 w 138"/>
                <a:gd name="T13" fmla="*/ 69 h 77"/>
                <a:gd name="T14" fmla="*/ 1 w 138"/>
                <a:gd name="T15" fmla="*/ 69 h 77"/>
                <a:gd name="T16" fmla="*/ 1 w 138"/>
                <a:gd name="T17" fmla="*/ 68 h 77"/>
                <a:gd name="T18" fmla="*/ 1 w 138"/>
                <a:gd name="T19" fmla="*/ 68 h 77"/>
                <a:gd name="T20" fmla="*/ 0 w 138"/>
                <a:gd name="T21" fmla="*/ 68 h 77"/>
                <a:gd name="T22" fmla="*/ 0 w 138"/>
                <a:gd name="T23" fmla="*/ 69 h 77"/>
                <a:gd name="T24" fmla="*/ 0 w 138"/>
                <a:gd name="T25" fmla="*/ 69 h 77"/>
                <a:gd name="T26" fmla="*/ 0 w 138"/>
                <a:gd name="T27" fmla="*/ 70 h 77"/>
                <a:gd name="T28" fmla="*/ 0 w 138"/>
                <a:gd name="T29" fmla="*/ 71 h 77"/>
                <a:gd name="T30" fmla="*/ 0 w 138"/>
                <a:gd name="T31" fmla="*/ 73 h 77"/>
                <a:gd name="T32" fmla="*/ 0 w 138"/>
                <a:gd name="T33" fmla="*/ 75 h 77"/>
                <a:gd name="T34" fmla="*/ 0 w 138"/>
                <a:gd name="T35" fmla="*/ 77 h 77"/>
                <a:gd name="T36" fmla="*/ 0 w 138"/>
                <a:gd name="T37" fmla="*/ 77 h 77"/>
                <a:gd name="T38" fmla="*/ 1 w 138"/>
                <a:gd name="T39" fmla="*/ 0 h 77"/>
                <a:gd name="T40" fmla="*/ 1 w 138"/>
                <a:gd name="T41" fmla="*/ 0 h 7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8"/>
                <a:gd name="T64" fmla="*/ 0 h 77"/>
                <a:gd name="T65" fmla="*/ 138 w 138"/>
                <a:gd name="T66" fmla="*/ 77 h 7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8" h="77">
                  <a:moveTo>
                    <a:pt x="70" y="0"/>
                  </a:moveTo>
                  <a:lnTo>
                    <a:pt x="138" y="77"/>
                  </a:lnTo>
                  <a:lnTo>
                    <a:pt x="130" y="75"/>
                  </a:lnTo>
                  <a:lnTo>
                    <a:pt x="121" y="73"/>
                  </a:lnTo>
                  <a:lnTo>
                    <a:pt x="113" y="71"/>
                  </a:lnTo>
                  <a:lnTo>
                    <a:pt x="104" y="70"/>
                  </a:lnTo>
                  <a:lnTo>
                    <a:pt x="96" y="69"/>
                  </a:lnTo>
                  <a:lnTo>
                    <a:pt x="87" y="69"/>
                  </a:lnTo>
                  <a:lnTo>
                    <a:pt x="77" y="68"/>
                  </a:lnTo>
                  <a:lnTo>
                    <a:pt x="70" y="68"/>
                  </a:lnTo>
                  <a:lnTo>
                    <a:pt x="60" y="68"/>
                  </a:lnTo>
                  <a:lnTo>
                    <a:pt x="51" y="69"/>
                  </a:lnTo>
                  <a:lnTo>
                    <a:pt x="44" y="69"/>
                  </a:lnTo>
                  <a:lnTo>
                    <a:pt x="34" y="70"/>
                  </a:lnTo>
                  <a:lnTo>
                    <a:pt x="25" y="71"/>
                  </a:lnTo>
                  <a:lnTo>
                    <a:pt x="17" y="73"/>
                  </a:lnTo>
                  <a:lnTo>
                    <a:pt x="10" y="75"/>
                  </a:lnTo>
                  <a:lnTo>
                    <a:pt x="0" y="77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2" name="Rectangle 68"/>
            <p:cNvSpPr>
              <a:spLocks noChangeArrowheads="1"/>
            </p:cNvSpPr>
            <p:nvPr/>
          </p:nvSpPr>
          <p:spPr bwMode="auto">
            <a:xfrm>
              <a:off x="4065" y="2674"/>
              <a:ext cx="108" cy="17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</p:txBody>
        </p:sp>
        <p:sp>
          <p:nvSpPr>
            <p:cNvPr id="79933" name="Rectangle 69"/>
            <p:cNvSpPr>
              <a:spLocks noChangeArrowheads="1"/>
            </p:cNvSpPr>
            <p:nvPr/>
          </p:nvSpPr>
          <p:spPr bwMode="auto">
            <a:xfrm>
              <a:off x="4470" y="4020"/>
              <a:ext cx="192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宋体" pitchFamily="2" charset="-122"/>
                </a:rPr>
                <a:t>(b)</a:t>
              </a:r>
              <a:endParaRPr lang="en-US" altLang="zh-CN" sz="1600"/>
            </a:p>
          </p:txBody>
        </p:sp>
        <p:sp>
          <p:nvSpPr>
            <p:cNvPr id="79934" name="Line 70"/>
            <p:cNvSpPr>
              <a:spLocks noChangeShapeType="1"/>
            </p:cNvSpPr>
            <p:nvPr/>
          </p:nvSpPr>
          <p:spPr bwMode="auto">
            <a:xfrm flipV="1">
              <a:off x="4519" y="3581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5" name="Line 71"/>
            <p:cNvSpPr>
              <a:spLocks noChangeShapeType="1"/>
            </p:cNvSpPr>
            <p:nvPr/>
          </p:nvSpPr>
          <p:spPr bwMode="auto">
            <a:xfrm>
              <a:off x="4519" y="3763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6" name="Line 72"/>
            <p:cNvSpPr>
              <a:spLocks noChangeShapeType="1"/>
            </p:cNvSpPr>
            <p:nvPr/>
          </p:nvSpPr>
          <p:spPr bwMode="auto">
            <a:xfrm flipV="1">
              <a:off x="3475" y="3355"/>
              <a:ext cx="0" cy="5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" name="Group 73"/>
            <p:cNvGrpSpPr>
              <a:grpSpLocks/>
            </p:cNvGrpSpPr>
            <p:nvPr/>
          </p:nvGrpSpPr>
          <p:grpSpPr bwMode="auto">
            <a:xfrm>
              <a:off x="3334" y="1071"/>
              <a:ext cx="2163" cy="960"/>
              <a:chOff x="3198" y="1136"/>
              <a:chExt cx="2163" cy="960"/>
            </a:xfrm>
          </p:grpSpPr>
          <p:sp>
            <p:nvSpPr>
              <p:cNvPr id="79941" name="Freeform 74"/>
              <p:cNvSpPr>
                <a:spLocks/>
              </p:cNvSpPr>
              <p:nvPr/>
            </p:nvSpPr>
            <p:spPr bwMode="auto">
              <a:xfrm>
                <a:off x="4117" y="1524"/>
                <a:ext cx="29" cy="200"/>
              </a:xfrm>
              <a:custGeom>
                <a:avLst/>
                <a:gdLst>
                  <a:gd name="T0" fmla="*/ 0 w 59"/>
                  <a:gd name="T1" fmla="*/ 0 h 399"/>
                  <a:gd name="T2" fmla="*/ 0 w 59"/>
                  <a:gd name="T3" fmla="*/ 1 h 399"/>
                  <a:gd name="T4" fmla="*/ 0 w 59"/>
                  <a:gd name="T5" fmla="*/ 1 h 399"/>
                  <a:gd name="T6" fmla="*/ 0 w 59"/>
                  <a:gd name="T7" fmla="*/ 1 h 399"/>
                  <a:gd name="T8" fmla="*/ 0 w 59"/>
                  <a:gd name="T9" fmla="*/ 1 h 399"/>
                  <a:gd name="T10" fmla="*/ 0 w 59"/>
                  <a:gd name="T11" fmla="*/ 1 h 399"/>
                  <a:gd name="T12" fmla="*/ 0 w 59"/>
                  <a:gd name="T13" fmla="*/ 1 h 399"/>
                  <a:gd name="T14" fmla="*/ 0 w 59"/>
                  <a:gd name="T15" fmla="*/ 1 h 399"/>
                  <a:gd name="T16" fmla="*/ 0 w 59"/>
                  <a:gd name="T17" fmla="*/ 1 h 399"/>
                  <a:gd name="T18" fmla="*/ 0 w 59"/>
                  <a:gd name="T19" fmla="*/ 2 h 399"/>
                  <a:gd name="T20" fmla="*/ 0 w 59"/>
                  <a:gd name="T21" fmla="*/ 2 h 399"/>
                  <a:gd name="T22" fmla="*/ 0 w 59"/>
                  <a:gd name="T23" fmla="*/ 2 h 399"/>
                  <a:gd name="T24" fmla="*/ 0 w 59"/>
                  <a:gd name="T25" fmla="*/ 2 h 399"/>
                  <a:gd name="T26" fmla="*/ 0 w 59"/>
                  <a:gd name="T27" fmla="*/ 2 h 399"/>
                  <a:gd name="T28" fmla="*/ 0 w 59"/>
                  <a:gd name="T29" fmla="*/ 2 h 399"/>
                  <a:gd name="T30" fmla="*/ 0 w 59"/>
                  <a:gd name="T31" fmla="*/ 2 h 399"/>
                  <a:gd name="T32" fmla="*/ 0 w 59"/>
                  <a:gd name="T33" fmla="*/ 2 h 399"/>
                  <a:gd name="T34" fmla="*/ 0 w 59"/>
                  <a:gd name="T35" fmla="*/ 2 h 399"/>
                  <a:gd name="T36" fmla="*/ 0 w 59"/>
                  <a:gd name="T37" fmla="*/ 2 h 399"/>
                  <a:gd name="T38" fmla="*/ 0 w 59"/>
                  <a:gd name="T39" fmla="*/ 2 h 399"/>
                  <a:gd name="T40" fmla="*/ 0 w 59"/>
                  <a:gd name="T41" fmla="*/ 2 h 399"/>
                  <a:gd name="T42" fmla="*/ 0 w 59"/>
                  <a:gd name="T43" fmla="*/ 3 h 399"/>
                  <a:gd name="T44" fmla="*/ 0 w 59"/>
                  <a:gd name="T45" fmla="*/ 3 h 399"/>
                  <a:gd name="T46" fmla="*/ 0 w 59"/>
                  <a:gd name="T47" fmla="*/ 3 h 399"/>
                  <a:gd name="T48" fmla="*/ 0 w 59"/>
                  <a:gd name="T49" fmla="*/ 3 h 399"/>
                  <a:gd name="T50" fmla="*/ 0 w 59"/>
                  <a:gd name="T51" fmla="*/ 3 h 399"/>
                  <a:gd name="T52" fmla="*/ 0 w 59"/>
                  <a:gd name="T53" fmla="*/ 3 h 399"/>
                  <a:gd name="T54" fmla="*/ 0 w 59"/>
                  <a:gd name="T55" fmla="*/ 3 h 399"/>
                  <a:gd name="T56" fmla="*/ 0 w 59"/>
                  <a:gd name="T57" fmla="*/ 4 h 399"/>
                  <a:gd name="T58" fmla="*/ 0 w 59"/>
                  <a:gd name="T59" fmla="*/ 4 h 399"/>
                  <a:gd name="T60" fmla="*/ 0 w 59"/>
                  <a:gd name="T61" fmla="*/ 4 h 399"/>
                  <a:gd name="T62" fmla="*/ 0 w 59"/>
                  <a:gd name="T63" fmla="*/ 4 h 399"/>
                  <a:gd name="T64" fmla="*/ 0 w 59"/>
                  <a:gd name="T65" fmla="*/ 4 h 399"/>
                  <a:gd name="T66" fmla="*/ 0 w 59"/>
                  <a:gd name="T67" fmla="*/ 4 h 399"/>
                  <a:gd name="T68" fmla="*/ 0 w 59"/>
                  <a:gd name="T69" fmla="*/ 4 h 399"/>
                  <a:gd name="T70" fmla="*/ 0 w 59"/>
                  <a:gd name="T71" fmla="*/ 4 h 399"/>
                  <a:gd name="T72" fmla="*/ 0 w 59"/>
                  <a:gd name="T73" fmla="*/ 4 h 399"/>
                  <a:gd name="T74" fmla="*/ 0 w 59"/>
                  <a:gd name="T75" fmla="*/ 4 h 399"/>
                  <a:gd name="T76" fmla="*/ 0 w 59"/>
                  <a:gd name="T77" fmla="*/ 4 h 399"/>
                  <a:gd name="T78" fmla="*/ 0 w 59"/>
                  <a:gd name="T79" fmla="*/ 5 h 399"/>
                  <a:gd name="T80" fmla="*/ 0 w 59"/>
                  <a:gd name="T81" fmla="*/ 5 h 399"/>
                  <a:gd name="T82" fmla="*/ 0 w 59"/>
                  <a:gd name="T83" fmla="*/ 5 h 399"/>
                  <a:gd name="T84" fmla="*/ 0 w 59"/>
                  <a:gd name="T85" fmla="*/ 5 h 399"/>
                  <a:gd name="T86" fmla="*/ 0 w 59"/>
                  <a:gd name="T87" fmla="*/ 5 h 399"/>
                  <a:gd name="T88" fmla="*/ 0 w 59"/>
                  <a:gd name="T89" fmla="*/ 5 h 399"/>
                  <a:gd name="T90" fmla="*/ 0 w 59"/>
                  <a:gd name="T91" fmla="*/ 5 h 399"/>
                  <a:gd name="T92" fmla="*/ 0 w 59"/>
                  <a:gd name="T93" fmla="*/ 5 h 399"/>
                  <a:gd name="T94" fmla="*/ 0 w 59"/>
                  <a:gd name="T95" fmla="*/ 5 h 399"/>
                  <a:gd name="T96" fmla="*/ 0 w 59"/>
                  <a:gd name="T97" fmla="*/ 5 h 399"/>
                  <a:gd name="T98" fmla="*/ 0 w 59"/>
                  <a:gd name="T99" fmla="*/ 5 h 399"/>
                  <a:gd name="T100" fmla="*/ 0 w 59"/>
                  <a:gd name="T101" fmla="*/ 5 h 399"/>
                  <a:gd name="T102" fmla="*/ 0 w 59"/>
                  <a:gd name="T103" fmla="*/ 6 h 399"/>
                  <a:gd name="T104" fmla="*/ 0 w 59"/>
                  <a:gd name="T105" fmla="*/ 6 h 399"/>
                  <a:gd name="T106" fmla="*/ 0 w 59"/>
                  <a:gd name="T107" fmla="*/ 6 h 399"/>
                  <a:gd name="T108" fmla="*/ 0 w 59"/>
                  <a:gd name="T109" fmla="*/ 6 h 399"/>
                  <a:gd name="T110" fmla="*/ 0 w 59"/>
                  <a:gd name="T111" fmla="*/ 6 h 399"/>
                  <a:gd name="T112" fmla="*/ 0 w 59"/>
                  <a:gd name="T113" fmla="*/ 6 h 399"/>
                  <a:gd name="T114" fmla="*/ 0 w 59"/>
                  <a:gd name="T115" fmla="*/ 6 h 399"/>
                  <a:gd name="T116" fmla="*/ 0 w 59"/>
                  <a:gd name="T117" fmla="*/ 7 h 399"/>
                  <a:gd name="T118" fmla="*/ 0 w 59"/>
                  <a:gd name="T119" fmla="*/ 7 h 399"/>
                  <a:gd name="T120" fmla="*/ 0 w 59"/>
                  <a:gd name="T121" fmla="*/ 7 h 399"/>
                  <a:gd name="T122" fmla="*/ 0 w 59"/>
                  <a:gd name="T123" fmla="*/ 7 h 399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59"/>
                  <a:gd name="T187" fmla="*/ 0 h 399"/>
                  <a:gd name="T188" fmla="*/ 59 w 59"/>
                  <a:gd name="T189" fmla="*/ 399 h 399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59" h="399">
                    <a:moveTo>
                      <a:pt x="0" y="0"/>
                    </a:moveTo>
                    <a:lnTo>
                      <a:pt x="6" y="0"/>
                    </a:lnTo>
                    <a:lnTo>
                      <a:pt x="11" y="0"/>
                    </a:lnTo>
                    <a:lnTo>
                      <a:pt x="17" y="1"/>
                    </a:lnTo>
                    <a:lnTo>
                      <a:pt x="22" y="3"/>
                    </a:lnTo>
                    <a:lnTo>
                      <a:pt x="26" y="4"/>
                    </a:lnTo>
                    <a:lnTo>
                      <a:pt x="31" y="6"/>
                    </a:lnTo>
                    <a:lnTo>
                      <a:pt x="40" y="12"/>
                    </a:lnTo>
                    <a:lnTo>
                      <a:pt x="45" y="16"/>
                    </a:lnTo>
                    <a:lnTo>
                      <a:pt x="48" y="19"/>
                    </a:lnTo>
                    <a:lnTo>
                      <a:pt x="51" y="23"/>
                    </a:lnTo>
                    <a:lnTo>
                      <a:pt x="53" y="28"/>
                    </a:lnTo>
                    <a:lnTo>
                      <a:pt x="56" y="33"/>
                    </a:lnTo>
                    <a:lnTo>
                      <a:pt x="57" y="38"/>
                    </a:lnTo>
                    <a:lnTo>
                      <a:pt x="59" y="42"/>
                    </a:lnTo>
                    <a:lnTo>
                      <a:pt x="59" y="47"/>
                    </a:lnTo>
                    <a:lnTo>
                      <a:pt x="59" y="52"/>
                    </a:lnTo>
                    <a:lnTo>
                      <a:pt x="57" y="56"/>
                    </a:lnTo>
                    <a:lnTo>
                      <a:pt x="57" y="63"/>
                    </a:lnTo>
                    <a:lnTo>
                      <a:pt x="56" y="67"/>
                    </a:lnTo>
                    <a:lnTo>
                      <a:pt x="53" y="71"/>
                    </a:lnTo>
                    <a:lnTo>
                      <a:pt x="50" y="75"/>
                    </a:lnTo>
                    <a:lnTo>
                      <a:pt x="47" y="80"/>
                    </a:lnTo>
                    <a:lnTo>
                      <a:pt x="43" y="83"/>
                    </a:lnTo>
                    <a:lnTo>
                      <a:pt x="36" y="89"/>
                    </a:lnTo>
                    <a:lnTo>
                      <a:pt x="31" y="93"/>
                    </a:lnTo>
                    <a:lnTo>
                      <a:pt x="26" y="94"/>
                    </a:lnTo>
                    <a:lnTo>
                      <a:pt x="20" y="96"/>
                    </a:lnTo>
                    <a:lnTo>
                      <a:pt x="15" y="97"/>
                    </a:lnTo>
                    <a:lnTo>
                      <a:pt x="9" y="99"/>
                    </a:lnTo>
                    <a:lnTo>
                      <a:pt x="5" y="99"/>
                    </a:lnTo>
                    <a:lnTo>
                      <a:pt x="0" y="99"/>
                    </a:lnTo>
                    <a:lnTo>
                      <a:pt x="6" y="99"/>
                    </a:lnTo>
                    <a:lnTo>
                      <a:pt x="11" y="99"/>
                    </a:lnTo>
                    <a:lnTo>
                      <a:pt x="17" y="100"/>
                    </a:lnTo>
                    <a:lnTo>
                      <a:pt x="22" y="102"/>
                    </a:lnTo>
                    <a:lnTo>
                      <a:pt x="26" y="104"/>
                    </a:lnTo>
                    <a:lnTo>
                      <a:pt x="31" y="107"/>
                    </a:lnTo>
                    <a:lnTo>
                      <a:pt x="40" y="111"/>
                    </a:lnTo>
                    <a:lnTo>
                      <a:pt x="45" y="116"/>
                    </a:lnTo>
                    <a:lnTo>
                      <a:pt x="48" y="119"/>
                    </a:lnTo>
                    <a:lnTo>
                      <a:pt x="51" y="124"/>
                    </a:lnTo>
                    <a:lnTo>
                      <a:pt x="53" y="127"/>
                    </a:lnTo>
                    <a:lnTo>
                      <a:pt x="56" y="132"/>
                    </a:lnTo>
                    <a:lnTo>
                      <a:pt x="57" y="137"/>
                    </a:lnTo>
                    <a:lnTo>
                      <a:pt x="59" y="141"/>
                    </a:lnTo>
                    <a:lnTo>
                      <a:pt x="59" y="148"/>
                    </a:lnTo>
                    <a:lnTo>
                      <a:pt x="59" y="152"/>
                    </a:lnTo>
                    <a:lnTo>
                      <a:pt x="57" y="157"/>
                    </a:lnTo>
                    <a:lnTo>
                      <a:pt x="57" y="162"/>
                    </a:lnTo>
                    <a:lnTo>
                      <a:pt x="56" y="167"/>
                    </a:lnTo>
                    <a:lnTo>
                      <a:pt x="53" y="171"/>
                    </a:lnTo>
                    <a:lnTo>
                      <a:pt x="50" y="176"/>
                    </a:lnTo>
                    <a:lnTo>
                      <a:pt x="47" y="179"/>
                    </a:lnTo>
                    <a:lnTo>
                      <a:pt x="43" y="182"/>
                    </a:lnTo>
                    <a:lnTo>
                      <a:pt x="36" y="189"/>
                    </a:lnTo>
                    <a:lnTo>
                      <a:pt x="31" y="192"/>
                    </a:lnTo>
                    <a:lnTo>
                      <a:pt x="26" y="195"/>
                    </a:lnTo>
                    <a:lnTo>
                      <a:pt x="20" y="196"/>
                    </a:lnTo>
                    <a:lnTo>
                      <a:pt x="15" y="198"/>
                    </a:lnTo>
                    <a:lnTo>
                      <a:pt x="9" y="198"/>
                    </a:lnTo>
                    <a:lnTo>
                      <a:pt x="5" y="200"/>
                    </a:lnTo>
                    <a:lnTo>
                      <a:pt x="0" y="200"/>
                    </a:lnTo>
                    <a:lnTo>
                      <a:pt x="6" y="200"/>
                    </a:lnTo>
                    <a:lnTo>
                      <a:pt x="11" y="200"/>
                    </a:lnTo>
                    <a:lnTo>
                      <a:pt x="17" y="201"/>
                    </a:lnTo>
                    <a:lnTo>
                      <a:pt x="22" y="203"/>
                    </a:lnTo>
                    <a:lnTo>
                      <a:pt x="26" y="204"/>
                    </a:lnTo>
                    <a:lnTo>
                      <a:pt x="31" y="206"/>
                    </a:lnTo>
                    <a:lnTo>
                      <a:pt x="40" y="212"/>
                    </a:lnTo>
                    <a:lnTo>
                      <a:pt x="45" y="215"/>
                    </a:lnTo>
                    <a:lnTo>
                      <a:pt x="48" y="220"/>
                    </a:lnTo>
                    <a:lnTo>
                      <a:pt x="51" y="223"/>
                    </a:lnTo>
                    <a:lnTo>
                      <a:pt x="53" y="228"/>
                    </a:lnTo>
                    <a:lnTo>
                      <a:pt x="56" y="233"/>
                    </a:lnTo>
                    <a:lnTo>
                      <a:pt x="57" y="237"/>
                    </a:lnTo>
                    <a:lnTo>
                      <a:pt x="59" y="242"/>
                    </a:lnTo>
                    <a:lnTo>
                      <a:pt x="59" y="247"/>
                    </a:lnTo>
                    <a:lnTo>
                      <a:pt x="59" y="252"/>
                    </a:lnTo>
                    <a:lnTo>
                      <a:pt x="57" y="258"/>
                    </a:lnTo>
                    <a:lnTo>
                      <a:pt x="57" y="263"/>
                    </a:lnTo>
                    <a:lnTo>
                      <a:pt x="56" y="267"/>
                    </a:lnTo>
                    <a:lnTo>
                      <a:pt x="53" y="270"/>
                    </a:lnTo>
                    <a:lnTo>
                      <a:pt x="50" y="275"/>
                    </a:lnTo>
                    <a:lnTo>
                      <a:pt x="47" y="280"/>
                    </a:lnTo>
                    <a:lnTo>
                      <a:pt x="43" y="283"/>
                    </a:lnTo>
                    <a:lnTo>
                      <a:pt x="36" y="289"/>
                    </a:lnTo>
                    <a:lnTo>
                      <a:pt x="31" y="292"/>
                    </a:lnTo>
                    <a:lnTo>
                      <a:pt x="26" y="294"/>
                    </a:lnTo>
                    <a:lnTo>
                      <a:pt x="20" y="296"/>
                    </a:lnTo>
                    <a:lnTo>
                      <a:pt x="15" y="297"/>
                    </a:lnTo>
                    <a:lnTo>
                      <a:pt x="9" y="299"/>
                    </a:lnTo>
                    <a:lnTo>
                      <a:pt x="5" y="299"/>
                    </a:lnTo>
                    <a:lnTo>
                      <a:pt x="0" y="299"/>
                    </a:lnTo>
                    <a:lnTo>
                      <a:pt x="6" y="299"/>
                    </a:lnTo>
                    <a:lnTo>
                      <a:pt x="11" y="299"/>
                    </a:lnTo>
                    <a:lnTo>
                      <a:pt x="17" y="300"/>
                    </a:lnTo>
                    <a:lnTo>
                      <a:pt x="22" y="302"/>
                    </a:lnTo>
                    <a:lnTo>
                      <a:pt x="26" y="303"/>
                    </a:lnTo>
                    <a:lnTo>
                      <a:pt x="31" y="307"/>
                    </a:lnTo>
                    <a:lnTo>
                      <a:pt x="40" y="311"/>
                    </a:lnTo>
                    <a:lnTo>
                      <a:pt x="45" y="316"/>
                    </a:lnTo>
                    <a:lnTo>
                      <a:pt x="48" y="319"/>
                    </a:lnTo>
                    <a:lnTo>
                      <a:pt x="51" y="324"/>
                    </a:lnTo>
                    <a:lnTo>
                      <a:pt x="53" y="327"/>
                    </a:lnTo>
                    <a:lnTo>
                      <a:pt x="56" y="332"/>
                    </a:lnTo>
                    <a:lnTo>
                      <a:pt x="57" y="336"/>
                    </a:lnTo>
                    <a:lnTo>
                      <a:pt x="59" y="341"/>
                    </a:lnTo>
                    <a:lnTo>
                      <a:pt x="59" y="348"/>
                    </a:lnTo>
                    <a:lnTo>
                      <a:pt x="59" y="352"/>
                    </a:lnTo>
                    <a:lnTo>
                      <a:pt x="57" y="357"/>
                    </a:lnTo>
                    <a:lnTo>
                      <a:pt x="57" y="362"/>
                    </a:lnTo>
                    <a:lnTo>
                      <a:pt x="56" y="366"/>
                    </a:lnTo>
                    <a:lnTo>
                      <a:pt x="53" y="371"/>
                    </a:lnTo>
                    <a:lnTo>
                      <a:pt x="50" y="376"/>
                    </a:lnTo>
                    <a:lnTo>
                      <a:pt x="47" y="379"/>
                    </a:lnTo>
                    <a:lnTo>
                      <a:pt x="43" y="382"/>
                    </a:lnTo>
                    <a:lnTo>
                      <a:pt x="36" y="388"/>
                    </a:lnTo>
                    <a:lnTo>
                      <a:pt x="31" y="392"/>
                    </a:lnTo>
                    <a:lnTo>
                      <a:pt x="26" y="395"/>
                    </a:lnTo>
                    <a:lnTo>
                      <a:pt x="20" y="396"/>
                    </a:lnTo>
                    <a:lnTo>
                      <a:pt x="15" y="398"/>
                    </a:lnTo>
                    <a:lnTo>
                      <a:pt x="9" y="398"/>
                    </a:lnTo>
                    <a:lnTo>
                      <a:pt x="5" y="399"/>
                    </a:lnTo>
                    <a:lnTo>
                      <a:pt x="0" y="39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42" name="Freeform 75"/>
              <p:cNvSpPr>
                <a:spLocks/>
              </p:cNvSpPr>
              <p:nvPr/>
            </p:nvSpPr>
            <p:spPr bwMode="auto">
              <a:xfrm>
                <a:off x="4201" y="1414"/>
                <a:ext cx="29" cy="200"/>
              </a:xfrm>
              <a:custGeom>
                <a:avLst/>
                <a:gdLst>
                  <a:gd name="T0" fmla="*/ 0 w 59"/>
                  <a:gd name="T1" fmla="*/ 0 h 400"/>
                  <a:gd name="T2" fmla="*/ 0 w 59"/>
                  <a:gd name="T3" fmla="*/ 1 h 400"/>
                  <a:gd name="T4" fmla="*/ 0 w 59"/>
                  <a:gd name="T5" fmla="*/ 1 h 400"/>
                  <a:gd name="T6" fmla="*/ 0 w 59"/>
                  <a:gd name="T7" fmla="*/ 1 h 400"/>
                  <a:gd name="T8" fmla="*/ 0 w 59"/>
                  <a:gd name="T9" fmla="*/ 1 h 400"/>
                  <a:gd name="T10" fmla="*/ 0 w 59"/>
                  <a:gd name="T11" fmla="*/ 1 h 400"/>
                  <a:gd name="T12" fmla="*/ 0 w 59"/>
                  <a:gd name="T13" fmla="*/ 1 h 400"/>
                  <a:gd name="T14" fmla="*/ 0 w 59"/>
                  <a:gd name="T15" fmla="*/ 1 h 400"/>
                  <a:gd name="T16" fmla="*/ 0 w 59"/>
                  <a:gd name="T17" fmla="*/ 1 h 400"/>
                  <a:gd name="T18" fmla="*/ 0 w 59"/>
                  <a:gd name="T19" fmla="*/ 2 h 400"/>
                  <a:gd name="T20" fmla="*/ 0 w 59"/>
                  <a:gd name="T21" fmla="*/ 2 h 400"/>
                  <a:gd name="T22" fmla="*/ 0 w 59"/>
                  <a:gd name="T23" fmla="*/ 2 h 400"/>
                  <a:gd name="T24" fmla="*/ 0 w 59"/>
                  <a:gd name="T25" fmla="*/ 2 h 400"/>
                  <a:gd name="T26" fmla="*/ 0 w 59"/>
                  <a:gd name="T27" fmla="*/ 2 h 400"/>
                  <a:gd name="T28" fmla="*/ 0 w 59"/>
                  <a:gd name="T29" fmla="*/ 2 h 400"/>
                  <a:gd name="T30" fmla="*/ 0 w 59"/>
                  <a:gd name="T31" fmla="*/ 2 h 400"/>
                  <a:gd name="T32" fmla="*/ 0 w 59"/>
                  <a:gd name="T33" fmla="*/ 2 h 400"/>
                  <a:gd name="T34" fmla="*/ 0 w 59"/>
                  <a:gd name="T35" fmla="*/ 2 h 400"/>
                  <a:gd name="T36" fmla="*/ 0 w 59"/>
                  <a:gd name="T37" fmla="*/ 2 h 400"/>
                  <a:gd name="T38" fmla="*/ 0 w 59"/>
                  <a:gd name="T39" fmla="*/ 2 h 400"/>
                  <a:gd name="T40" fmla="*/ 0 w 59"/>
                  <a:gd name="T41" fmla="*/ 2 h 400"/>
                  <a:gd name="T42" fmla="*/ 0 w 59"/>
                  <a:gd name="T43" fmla="*/ 3 h 400"/>
                  <a:gd name="T44" fmla="*/ 0 w 59"/>
                  <a:gd name="T45" fmla="*/ 3 h 400"/>
                  <a:gd name="T46" fmla="*/ 0 w 59"/>
                  <a:gd name="T47" fmla="*/ 3 h 400"/>
                  <a:gd name="T48" fmla="*/ 0 w 59"/>
                  <a:gd name="T49" fmla="*/ 3 h 400"/>
                  <a:gd name="T50" fmla="*/ 0 w 59"/>
                  <a:gd name="T51" fmla="*/ 3 h 400"/>
                  <a:gd name="T52" fmla="*/ 0 w 59"/>
                  <a:gd name="T53" fmla="*/ 3 h 400"/>
                  <a:gd name="T54" fmla="*/ 0 w 59"/>
                  <a:gd name="T55" fmla="*/ 3 h 400"/>
                  <a:gd name="T56" fmla="*/ 0 w 59"/>
                  <a:gd name="T57" fmla="*/ 4 h 400"/>
                  <a:gd name="T58" fmla="*/ 0 w 59"/>
                  <a:gd name="T59" fmla="*/ 4 h 400"/>
                  <a:gd name="T60" fmla="*/ 0 w 59"/>
                  <a:gd name="T61" fmla="*/ 4 h 400"/>
                  <a:gd name="T62" fmla="*/ 0 w 59"/>
                  <a:gd name="T63" fmla="*/ 4 h 400"/>
                  <a:gd name="T64" fmla="*/ 0 w 59"/>
                  <a:gd name="T65" fmla="*/ 4 h 400"/>
                  <a:gd name="T66" fmla="*/ 0 w 59"/>
                  <a:gd name="T67" fmla="*/ 4 h 400"/>
                  <a:gd name="T68" fmla="*/ 0 w 59"/>
                  <a:gd name="T69" fmla="*/ 4 h 400"/>
                  <a:gd name="T70" fmla="*/ 0 w 59"/>
                  <a:gd name="T71" fmla="*/ 4 h 400"/>
                  <a:gd name="T72" fmla="*/ 0 w 59"/>
                  <a:gd name="T73" fmla="*/ 4 h 400"/>
                  <a:gd name="T74" fmla="*/ 0 w 59"/>
                  <a:gd name="T75" fmla="*/ 4 h 400"/>
                  <a:gd name="T76" fmla="*/ 0 w 59"/>
                  <a:gd name="T77" fmla="*/ 4 h 400"/>
                  <a:gd name="T78" fmla="*/ 0 w 59"/>
                  <a:gd name="T79" fmla="*/ 5 h 400"/>
                  <a:gd name="T80" fmla="*/ 0 w 59"/>
                  <a:gd name="T81" fmla="*/ 5 h 400"/>
                  <a:gd name="T82" fmla="*/ 0 w 59"/>
                  <a:gd name="T83" fmla="*/ 5 h 400"/>
                  <a:gd name="T84" fmla="*/ 0 w 59"/>
                  <a:gd name="T85" fmla="*/ 5 h 400"/>
                  <a:gd name="T86" fmla="*/ 0 w 59"/>
                  <a:gd name="T87" fmla="*/ 5 h 400"/>
                  <a:gd name="T88" fmla="*/ 0 w 59"/>
                  <a:gd name="T89" fmla="*/ 5 h 400"/>
                  <a:gd name="T90" fmla="*/ 0 w 59"/>
                  <a:gd name="T91" fmla="*/ 5 h 400"/>
                  <a:gd name="T92" fmla="*/ 0 w 59"/>
                  <a:gd name="T93" fmla="*/ 5 h 400"/>
                  <a:gd name="T94" fmla="*/ 0 w 59"/>
                  <a:gd name="T95" fmla="*/ 5 h 400"/>
                  <a:gd name="T96" fmla="*/ 0 w 59"/>
                  <a:gd name="T97" fmla="*/ 5 h 400"/>
                  <a:gd name="T98" fmla="*/ 0 w 59"/>
                  <a:gd name="T99" fmla="*/ 5 h 400"/>
                  <a:gd name="T100" fmla="*/ 0 w 59"/>
                  <a:gd name="T101" fmla="*/ 5 h 400"/>
                  <a:gd name="T102" fmla="*/ 0 w 59"/>
                  <a:gd name="T103" fmla="*/ 6 h 400"/>
                  <a:gd name="T104" fmla="*/ 0 w 59"/>
                  <a:gd name="T105" fmla="*/ 6 h 400"/>
                  <a:gd name="T106" fmla="*/ 0 w 59"/>
                  <a:gd name="T107" fmla="*/ 6 h 400"/>
                  <a:gd name="T108" fmla="*/ 0 w 59"/>
                  <a:gd name="T109" fmla="*/ 6 h 400"/>
                  <a:gd name="T110" fmla="*/ 0 w 59"/>
                  <a:gd name="T111" fmla="*/ 6 h 400"/>
                  <a:gd name="T112" fmla="*/ 0 w 59"/>
                  <a:gd name="T113" fmla="*/ 6 h 400"/>
                  <a:gd name="T114" fmla="*/ 0 w 59"/>
                  <a:gd name="T115" fmla="*/ 6 h 400"/>
                  <a:gd name="T116" fmla="*/ 0 w 59"/>
                  <a:gd name="T117" fmla="*/ 7 h 400"/>
                  <a:gd name="T118" fmla="*/ 0 w 59"/>
                  <a:gd name="T119" fmla="*/ 7 h 400"/>
                  <a:gd name="T120" fmla="*/ 0 w 59"/>
                  <a:gd name="T121" fmla="*/ 7 h 400"/>
                  <a:gd name="T122" fmla="*/ 0 w 59"/>
                  <a:gd name="T123" fmla="*/ 7 h 40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59"/>
                  <a:gd name="T187" fmla="*/ 0 h 400"/>
                  <a:gd name="T188" fmla="*/ 59 w 59"/>
                  <a:gd name="T189" fmla="*/ 400 h 400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59" h="400">
                    <a:moveTo>
                      <a:pt x="59" y="0"/>
                    </a:moveTo>
                    <a:lnTo>
                      <a:pt x="53" y="0"/>
                    </a:lnTo>
                    <a:lnTo>
                      <a:pt x="47" y="0"/>
                    </a:lnTo>
                    <a:lnTo>
                      <a:pt x="42" y="2"/>
                    </a:lnTo>
                    <a:lnTo>
                      <a:pt x="36" y="4"/>
                    </a:lnTo>
                    <a:lnTo>
                      <a:pt x="31" y="5"/>
                    </a:lnTo>
                    <a:lnTo>
                      <a:pt x="26" y="8"/>
                    </a:lnTo>
                    <a:lnTo>
                      <a:pt x="19" y="13"/>
                    </a:lnTo>
                    <a:lnTo>
                      <a:pt x="14" y="16"/>
                    </a:lnTo>
                    <a:lnTo>
                      <a:pt x="11" y="21"/>
                    </a:lnTo>
                    <a:lnTo>
                      <a:pt x="8" y="24"/>
                    </a:lnTo>
                    <a:lnTo>
                      <a:pt x="5" y="29"/>
                    </a:lnTo>
                    <a:lnTo>
                      <a:pt x="3" y="34"/>
                    </a:lnTo>
                    <a:lnTo>
                      <a:pt x="1" y="38"/>
                    </a:lnTo>
                    <a:lnTo>
                      <a:pt x="0" y="43"/>
                    </a:lnTo>
                    <a:lnTo>
                      <a:pt x="0" y="48"/>
                    </a:lnTo>
                    <a:lnTo>
                      <a:pt x="0" y="54"/>
                    </a:lnTo>
                    <a:lnTo>
                      <a:pt x="0" y="59"/>
                    </a:lnTo>
                    <a:lnTo>
                      <a:pt x="1" y="63"/>
                    </a:lnTo>
                    <a:lnTo>
                      <a:pt x="3" y="68"/>
                    </a:lnTo>
                    <a:lnTo>
                      <a:pt x="6" y="73"/>
                    </a:lnTo>
                    <a:lnTo>
                      <a:pt x="8" y="76"/>
                    </a:lnTo>
                    <a:lnTo>
                      <a:pt x="11" y="81"/>
                    </a:lnTo>
                    <a:lnTo>
                      <a:pt x="14" y="84"/>
                    </a:lnTo>
                    <a:lnTo>
                      <a:pt x="23" y="90"/>
                    </a:lnTo>
                    <a:lnTo>
                      <a:pt x="28" y="93"/>
                    </a:lnTo>
                    <a:lnTo>
                      <a:pt x="33" y="95"/>
                    </a:lnTo>
                    <a:lnTo>
                      <a:pt x="37" y="96"/>
                    </a:lnTo>
                    <a:lnTo>
                      <a:pt x="43" y="98"/>
                    </a:lnTo>
                    <a:lnTo>
                      <a:pt x="48" y="100"/>
                    </a:lnTo>
                    <a:lnTo>
                      <a:pt x="54" y="100"/>
                    </a:lnTo>
                    <a:lnTo>
                      <a:pt x="59" y="100"/>
                    </a:lnTo>
                    <a:lnTo>
                      <a:pt x="53" y="100"/>
                    </a:lnTo>
                    <a:lnTo>
                      <a:pt x="47" y="101"/>
                    </a:lnTo>
                    <a:lnTo>
                      <a:pt x="42" y="101"/>
                    </a:lnTo>
                    <a:lnTo>
                      <a:pt x="36" y="103"/>
                    </a:lnTo>
                    <a:lnTo>
                      <a:pt x="31" y="106"/>
                    </a:lnTo>
                    <a:lnTo>
                      <a:pt x="26" y="107"/>
                    </a:lnTo>
                    <a:lnTo>
                      <a:pt x="19" y="114"/>
                    </a:lnTo>
                    <a:lnTo>
                      <a:pt x="14" y="117"/>
                    </a:lnTo>
                    <a:lnTo>
                      <a:pt x="11" y="120"/>
                    </a:lnTo>
                    <a:lnTo>
                      <a:pt x="8" y="125"/>
                    </a:lnTo>
                    <a:lnTo>
                      <a:pt x="5" y="130"/>
                    </a:lnTo>
                    <a:lnTo>
                      <a:pt x="3" y="133"/>
                    </a:lnTo>
                    <a:lnTo>
                      <a:pt x="1" y="137"/>
                    </a:lnTo>
                    <a:lnTo>
                      <a:pt x="0" y="144"/>
                    </a:lnTo>
                    <a:lnTo>
                      <a:pt x="0" y="148"/>
                    </a:lnTo>
                    <a:lnTo>
                      <a:pt x="0" y="153"/>
                    </a:lnTo>
                    <a:lnTo>
                      <a:pt x="0" y="158"/>
                    </a:lnTo>
                    <a:lnTo>
                      <a:pt x="1" y="163"/>
                    </a:lnTo>
                    <a:lnTo>
                      <a:pt x="3" y="167"/>
                    </a:lnTo>
                    <a:lnTo>
                      <a:pt x="6" y="172"/>
                    </a:lnTo>
                    <a:lnTo>
                      <a:pt x="8" y="177"/>
                    </a:lnTo>
                    <a:lnTo>
                      <a:pt x="11" y="180"/>
                    </a:lnTo>
                    <a:lnTo>
                      <a:pt x="14" y="185"/>
                    </a:lnTo>
                    <a:lnTo>
                      <a:pt x="23" y="191"/>
                    </a:lnTo>
                    <a:lnTo>
                      <a:pt x="28" y="192"/>
                    </a:lnTo>
                    <a:lnTo>
                      <a:pt x="33" y="196"/>
                    </a:lnTo>
                    <a:lnTo>
                      <a:pt x="37" y="197"/>
                    </a:lnTo>
                    <a:lnTo>
                      <a:pt x="43" y="199"/>
                    </a:lnTo>
                    <a:lnTo>
                      <a:pt x="48" y="200"/>
                    </a:lnTo>
                    <a:lnTo>
                      <a:pt x="54" y="200"/>
                    </a:lnTo>
                    <a:lnTo>
                      <a:pt x="59" y="200"/>
                    </a:lnTo>
                    <a:lnTo>
                      <a:pt x="53" y="200"/>
                    </a:lnTo>
                    <a:lnTo>
                      <a:pt x="47" y="200"/>
                    </a:lnTo>
                    <a:lnTo>
                      <a:pt x="42" y="202"/>
                    </a:lnTo>
                    <a:lnTo>
                      <a:pt x="36" y="203"/>
                    </a:lnTo>
                    <a:lnTo>
                      <a:pt x="31" y="205"/>
                    </a:lnTo>
                    <a:lnTo>
                      <a:pt x="26" y="208"/>
                    </a:lnTo>
                    <a:lnTo>
                      <a:pt x="19" y="213"/>
                    </a:lnTo>
                    <a:lnTo>
                      <a:pt x="14" y="216"/>
                    </a:lnTo>
                    <a:lnTo>
                      <a:pt x="11" y="221"/>
                    </a:lnTo>
                    <a:lnTo>
                      <a:pt x="8" y="224"/>
                    </a:lnTo>
                    <a:lnTo>
                      <a:pt x="5" y="229"/>
                    </a:lnTo>
                    <a:lnTo>
                      <a:pt x="3" y="233"/>
                    </a:lnTo>
                    <a:lnTo>
                      <a:pt x="1" y="238"/>
                    </a:lnTo>
                    <a:lnTo>
                      <a:pt x="0" y="243"/>
                    </a:lnTo>
                    <a:lnTo>
                      <a:pt x="0" y="248"/>
                    </a:lnTo>
                    <a:lnTo>
                      <a:pt x="0" y="254"/>
                    </a:lnTo>
                    <a:lnTo>
                      <a:pt x="0" y="259"/>
                    </a:lnTo>
                    <a:lnTo>
                      <a:pt x="1" y="263"/>
                    </a:lnTo>
                    <a:lnTo>
                      <a:pt x="3" y="268"/>
                    </a:lnTo>
                    <a:lnTo>
                      <a:pt x="6" y="273"/>
                    </a:lnTo>
                    <a:lnTo>
                      <a:pt x="8" y="276"/>
                    </a:lnTo>
                    <a:lnTo>
                      <a:pt x="11" y="281"/>
                    </a:lnTo>
                    <a:lnTo>
                      <a:pt x="14" y="284"/>
                    </a:lnTo>
                    <a:lnTo>
                      <a:pt x="23" y="290"/>
                    </a:lnTo>
                    <a:lnTo>
                      <a:pt x="28" y="293"/>
                    </a:lnTo>
                    <a:lnTo>
                      <a:pt x="33" y="295"/>
                    </a:lnTo>
                    <a:lnTo>
                      <a:pt x="37" y="298"/>
                    </a:lnTo>
                    <a:lnTo>
                      <a:pt x="43" y="298"/>
                    </a:lnTo>
                    <a:lnTo>
                      <a:pt x="48" y="299"/>
                    </a:lnTo>
                    <a:lnTo>
                      <a:pt x="54" y="299"/>
                    </a:lnTo>
                    <a:lnTo>
                      <a:pt x="59" y="299"/>
                    </a:lnTo>
                    <a:lnTo>
                      <a:pt x="53" y="299"/>
                    </a:lnTo>
                    <a:lnTo>
                      <a:pt x="47" y="301"/>
                    </a:lnTo>
                    <a:lnTo>
                      <a:pt x="42" y="301"/>
                    </a:lnTo>
                    <a:lnTo>
                      <a:pt x="36" y="303"/>
                    </a:lnTo>
                    <a:lnTo>
                      <a:pt x="31" y="306"/>
                    </a:lnTo>
                    <a:lnTo>
                      <a:pt x="26" y="307"/>
                    </a:lnTo>
                    <a:lnTo>
                      <a:pt x="19" y="314"/>
                    </a:lnTo>
                    <a:lnTo>
                      <a:pt x="14" y="317"/>
                    </a:lnTo>
                    <a:lnTo>
                      <a:pt x="11" y="320"/>
                    </a:lnTo>
                    <a:lnTo>
                      <a:pt x="8" y="325"/>
                    </a:lnTo>
                    <a:lnTo>
                      <a:pt x="5" y="329"/>
                    </a:lnTo>
                    <a:lnTo>
                      <a:pt x="3" y="332"/>
                    </a:lnTo>
                    <a:lnTo>
                      <a:pt x="1" y="337"/>
                    </a:lnTo>
                    <a:lnTo>
                      <a:pt x="0" y="344"/>
                    </a:lnTo>
                    <a:lnTo>
                      <a:pt x="0" y="348"/>
                    </a:lnTo>
                    <a:lnTo>
                      <a:pt x="0" y="353"/>
                    </a:lnTo>
                    <a:lnTo>
                      <a:pt x="0" y="358"/>
                    </a:lnTo>
                    <a:lnTo>
                      <a:pt x="1" y="362"/>
                    </a:lnTo>
                    <a:lnTo>
                      <a:pt x="3" y="367"/>
                    </a:lnTo>
                    <a:lnTo>
                      <a:pt x="6" y="372"/>
                    </a:lnTo>
                    <a:lnTo>
                      <a:pt x="8" y="377"/>
                    </a:lnTo>
                    <a:lnTo>
                      <a:pt x="11" y="380"/>
                    </a:lnTo>
                    <a:lnTo>
                      <a:pt x="14" y="384"/>
                    </a:lnTo>
                    <a:lnTo>
                      <a:pt x="23" y="391"/>
                    </a:lnTo>
                    <a:lnTo>
                      <a:pt x="28" y="392"/>
                    </a:lnTo>
                    <a:lnTo>
                      <a:pt x="33" y="395"/>
                    </a:lnTo>
                    <a:lnTo>
                      <a:pt x="37" y="397"/>
                    </a:lnTo>
                    <a:lnTo>
                      <a:pt x="43" y="399"/>
                    </a:lnTo>
                    <a:lnTo>
                      <a:pt x="48" y="400"/>
                    </a:lnTo>
                    <a:lnTo>
                      <a:pt x="54" y="400"/>
                    </a:lnTo>
                    <a:lnTo>
                      <a:pt x="59" y="40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43" name="Line 76"/>
              <p:cNvSpPr>
                <a:spLocks noChangeShapeType="1"/>
              </p:cNvSpPr>
              <p:nvPr/>
            </p:nvSpPr>
            <p:spPr bwMode="auto">
              <a:xfrm>
                <a:off x="4165" y="1419"/>
                <a:ext cx="1" cy="1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44" name="Line 77"/>
              <p:cNvSpPr>
                <a:spLocks noChangeShapeType="1"/>
              </p:cNvSpPr>
              <p:nvPr/>
            </p:nvSpPr>
            <p:spPr bwMode="auto">
              <a:xfrm flipV="1">
                <a:off x="4177" y="1419"/>
                <a:ext cx="1" cy="1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45" name="Rectangle 78"/>
              <p:cNvSpPr>
                <a:spLocks noChangeArrowheads="1"/>
              </p:cNvSpPr>
              <p:nvPr/>
            </p:nvSpPr>
            <p:spPr bwMode="auto">
              <a:xfrm>
                <a:off x="5125" y="1427"/>
                <a:ext cx="40" cy="100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79946" name="Rectangle 79"/>
              <p:cNvSpPr>
                <a:spLocks noChangeArrowheads="1"/>
              </p:cNvSpPr>
              <p:nvPr/>
            </p:nvSpPr>
            <p:spPr bwMode="auto">
              <a:xfrm>
                <a:off x="5125" y="1427"/>
                <a:ext cx="40" cy="100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79947" name="Line 80"/>
              <p:cNvSpPr>
                <a:spLocks noChangeShapeType="1"/>
              </p:cNvSpPr>
              <p:nvPr/>
            </p:nvSpPr>
            <p:spPr bwMode="auto">
              <a:xfrm>
                <a:off x="4948" y="1467"/>
                <a:ext cx="7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48" name="Line 81"/>
              <p:cNvSpPr>
                <a:spLocks noChangeShapeType="1"/>
              </p:cNvSpPr>
              <p:nvPr/>
            </p:nvSpPr>
            <p:spPr bwMode="auto">
              <a:xfrm>
                <a:off x="4948" y="1497"/>
                <a:ext cx="7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49" name="Line 82"/>
              <p:cNvSpPr>
                <a:spLocks noChangeShapeType="1"/>
              </p:cNvSpPr>
              <p:nvPr/>
            </p:nvSpPr>
            <p:spPr bwMode="auto">
              <a:xfrm>
                <a:off x="4987" y="1497"/>
                <a:ext cx="1" cy="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50" name="Line 83"/>
              <p:cNvSpPr>
                <a:spLocks noChangeShapeType="1"/>
              </p:cNvSpPr>
              <p:nvPr/>
            </p:nvSpPr>
            <p:spPr bwMode="auto">
              <a:xfrm flipV="1">
                <a:off x="4987" y="1377"/>
                <a:ext cx="1" cy="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51" name="Line 84"/>
              <p:cNvSpPr>
                <a:spLocks noChangeShapeType="1"/>
              </p:cNvSpPr>
              <p:nvPr/>
            </p:nvSpPr>
            <p:spPr bwMode="auto">
              <a:xfrm flipV="1">
                <a:off x="4987" y="1357"/>
                <a:ext cx="1" cy="2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52" name="Freeform 85"/>
              <p:cNvSpPr>
                <a:spLocks/>
              </p:cNvSpPr>
              <p:nvPr/>
            </p:nvSpPr>
            <p:spPr bwMode="auto">
              <a:xfrm>
                <a:off x="4101" y="1542"/>
                <a:ext cx="25" cy="25"/>
              </a:xfrm>
              <a:custGeom>
                <a:avLst/>
                <a:gdLst>
                  <a:gd name="T0" fmla="*/ 0 w 50"/>
                  <a:gd name="T1" fmla="*/ 0 h 51"/>
                  <a:gd name="T2" fmla="*/ 0 w 50"/>
                  <a:gd name="T3" fmla="*/ 0 h 51"/>
                  <a:gd name="T4" fmla="*/ 1 w 50"/>
                  <a:gd name="T5" fmla="*/ 0 h 51"/>
                  <a:gd name="T6" fmla="*/ 1 w 50"/>
                  <a:gd name="T7" fmla="*/ 0 h 51"/>
                  <a:gd name="T8" fmla="*/ 1 w 50"/>
                  <a:gd name="T9" fmla="*/ 0 h 51"/>
                  <a:gd name="T10" fmla="*/ 1 w 50"/>
                  <a:gd name="T11" fmla="*/ 0 h 51"/>
                  <a:gd name="T12" fmla="*/ 1 w 50"/>
                  <a:gd name="T13" fmla="*/ 0 h 51"/>
                  <a:gd name="T14" fmla="*/ 1 w 50"/>
                  <a:gd name="T15" fmla="*/ 0 h 51"/>
                  <a:gd name="T16" fmla="*/ 1 w 50"/>
                  <a:gd name="T17" fmla="*/ 0 h 51"/>
                  <a:gd name="T18" fmla="*/ 1 w 50"/>
                  <a:gd name="T19" fmla="*/ 0 h 51"/>
                  <a:gd name="T20" fmla="*/ 1 w 50"/>
                  <a:gd name="T21" fmla="*/ 0 h 51"/>
                  <a:gd name="T22" fmla="*/ 1 w 50"/>
                  <a:gd name="T23" fmla="*/ 0 h 51"/>
                  <a:gd name="T24" fmla="*/ 1 w 50"/>
                  <a:gd name="T25" fmla="*/ 0 h 51"/>
                  <a:gd name="T26" fmla="*/ 1 w 50"/>
                  <a:gd name="T27" fmla="*/ 0 h 51"/>
                  <a:gd name="T28" fmla="*/ 1 w 50"/>
                  <a:gd name="T29" fmla="*/ 0 h 51"/>
                  <a:gd name="T30" fmla="*/ 1 w 50"/>
                  <a:gd name="T31" fmla="*/ 0 h 51"/>
                  <a:gd name="T32" fmla="*/ 1 w 50"/>
                  <a:gd name="T33" fmla="*/ 0 h 51"/>
                  <a:gd name="T34" fmla="*/ 1 w 50"/>
                  <a:gd name="T35" fmla="*/ 0 h 51"/>
                  <a:gd name="T36" fmla="*/ 1 w 50"/>
                  <a:gd name="T37" fmla="*/ 0 h 51"/>
                  <a:gd name="T38" fmla="*/ 1 w 50"/>
                  <a:gd name="T39" fmla="*/ 0 h 51"/>
                  <a:gd name="T40" fmla="*/ 1 w 50"/>
                  <a:gd name="T41" fmla="*/ 0 h 51"/>
                  <a:gd name="T42" fmla="*/ 1 w 50"/>
                  <a:gd name="T43" fmla="*/ 0 h 51"/>
                  <a:gd name="T44" fmla="*/ 1 w 50"/>
                  <a:gd name="T45" fmla="*/ 0 h 51"/>
                  <a:gd name="T46" fmla="*/ 1 w 50"/>
                  <a:gd name="T47" fmla="*/ 0 h 51"/>
                  <a:gd name="T48" fmla="*/ 1 w 50"/>
                  <a:gd name="T49" fmla="*/ 0 h 51"/>
                  <a:gd name="T50" fmla="*/ 1 w 50"/>
                  <a:gd name="T51" fmla="*/ 0 h 51"/>
                  <a:gd name="T52" fmla="*/ 1 w 50"/>
                  <a:gd name="T53" fmla="*/ 0 h 51"/>
                  <a:gd name="T54" fmla="*/ 1 w 50"/>
                  <a:gd name="T55" fmla="*/ 0 h 51"/>
                  <a:gd name="T56" fmla="*/ 1 w 50"/>
                  <a:gd name="T57" fmla="*/ 0 h 51"/>
                  <a:gd name="T58" fmla="*/ 1 w 50"/>
                  <a:gd name="T59" fmla="*/ 0 h 51"/>
                  <a:gd name="T60" fmla="*/ 1 w 50"/>
                  <a:gd name="T61" fmla="*/ 0 h 51"/>
                  <a:gd name="T62" fmla="*/ 1 w 50"/>
                  <a:gd name="T63" fmla="*/ 0 h 51"/>
                  <a:gd name="T64" fmla="*/ 0 w 50"/>
                  <a:gd name="T65" fmla="*/ 0 h 51"/>
                  <a:gd name="T66" fmla="*/ 0 w 50"/>
                  <a:gd name="T67" fmla="*/ 0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1"/>
                  <a:gd name="T104" fmla="*/ 50 w 50"/>
                  <a:gd name="T105" fmla="*/ 51 h 5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1">
                    <a:moveTo>
                      <a:pt x="0" y="26"/>
                    </a:moveTo>
                    <a:lnTo>
                      <a:pt x="0" y="19"/>
                    </a:lnTo>
                    <a:lnTo>
                      <a:pt x="1" y="15"/>
                    </a:lnTo>
                    <a:lnTo>
                      <a:pt x="4" y="11"/>
                    </a:lnTo>
                    <a:lnTo>
                      <a:pt x="8" y="7"/>
                    </a:lnTo>
                    <a:lnTo>
                      <a:pt x="11" y="4"/>
                    </a:lnTo>
                    <a:lnTo>
                      <a:pt x="15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2"/>
                    </a:lnTo>
                    <a:lnTo>
                      <a:pt x="39" y="4"/>
                    </a:lnTo>
                    <a:lnTo>
                      <a:pt x="42" y="7"/>
                    </a:lnTo>
                    <a:lnTo>
                      <a:pt x="45" y="11"/>
                    </a:lnTo>
                    <a:lnTo>
                      <a:pt x="48" y="15"/>
                    </a:lnTo>
                    <a:lnTo>
                      <a:pt x="50" y="19"/>
                    </a:lnTo>
                    <a:lnTo>
                      <a:pt x="50" y="26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40"/>
                    </a:lnTo>
                    <a:lnTo>
                      <a:pt x="42" y="43"/>
                    </a:lnTo>
                    <a:lnTo>
                      <a:pt x="39" y="46"/>
                    </a:lnTo>
                    <a:lnTo>
                      <a:pt x="34" y="48"/>
                    </a:lnTo>
                    <a:lnTo>
                      <a:pt x="29" y="49"/>
                    </a:lnTo>
                    <a:lnTo>
                      <a:pt x="25" y="51"/>
                    </a:lnTo>
                    <a:lnTo>
                      <a:pt x="20" y="49"/>
                    </a:lnTo>
                    <a:lnTo>
                      <a:pt x="15" y="48"/>
                    </a:lnTo>
                    <a:lnTo>
                      <a:pt x="11" y="46"/>
                    </a:lnTo>
                    <a:lnTo>
                      <a:pt x="8" y="43"/>
                    </a:lnTo>
                    <a:lnTo>
                      <a:pt x="4" y="40"/>
                    </a:lnTo>
                    <a:lnTo>
                      <a:pt x="1" y="35"/>
                    </a:lnTo>
                    <a:lnTo>
                      <a:pt x="0" y="30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53" name="Freeform 86"/>
              <p:cNvSpPr>
                <a:spLocks/>
              </p:cNvSpPr>
              <p:nvPr/>
            </p:nvSpPr>
            <p:spPr bwMode="auto">
              <a:xfrm>
                <a:off x="4226" y="1416"/>
                <a:ext cx="25" cy="25"/>
              </a:xfrm>
              <a:custGeom>
                <a:avLst/>
                <a:gdLst>
                  <a:gd name="T0" fmla="*/ 0 w 49"/>
                  <a:gd name="T1" fmla="*/ 1 h 50"/>
                  <a:gd name="T2" fmla="*/ 0 w 49"/>
                  <a:gd name="T3" fmla="*/ 1 h 50"/>
                  <a:gd name="T4" fmla="*/ 1 w 49"/>
                  <a:gd name="T5" fmla="*/ 1 h 50"/>
                  <a:gd name="T6" fmla="*/ 1 w 49"/>
                  <a:gd name="T7" fmla="*/ 1 h 50"/>
                  <a:gd name="T8" fmla="*/ 1 w 49"/>
                  <a:gd name="T9" fmla="*/ 1 h 50"/>
                  <a:gd name="T10" fmla="*/ 1 w 49"/>
                  <a:gd name="T11" fmla="*/ 1 h 50"/>
                  <a:gd name="T12" fmla="*/ 1 w 49"/>
                  <a:gd name="T13" fmla="*/ 1 h 50"/>
                  <a:gd name="T14" fmla="*/ 1 w 49"/>
                  <a:gd name="T15" fmla="*/ 0 h 50"/>
                  <a:gd name="T16" fmla="*/ 1 w 49"/>
                  <a:gd name="T17" fmla="*/ 0 h 50"/>
                  <a:gd name="T18" fmla="*/ 1 w 49"/>
                  <a:gd name="T19" fmla="*/ 0 h 50"/>
                  <a:gd name="T20" fmla="*/ 1 w 49"/>
                  <a:gd name="T21" fmla="*/ 1 h 50"/>
                  <a:gd name="T22" fmla="*/ 1 w 49"/>
                  <a:gd name="T23" fmla="*/ 1 h 50"/>
                  <a:gd name="T24" fmla="*/ 1 w 49"/>
                  <a:gd name="T25" fmla="*/ 1 h 50"/>
                  <a:gd name="T26" fmla="*/ 1 w 49"/>
                  <a:gd name="T27" fmla="*/ 1 h 50"/>
                  <a:gd name="T28" fmla="*/ 1 w 49"/>
                  <a:gd name="T29" fmla="*/ 1 h 50"/>
                  <a:gd name="T30" fmla="*/ 1 w 49"/>
                  <a:gd name="T31" fmla="*/ 1 h 50"/>
                  <a:gd name="T32" fmla="*/ 1 w 49"/>
                  <a:gd name="T33" fmla="*/ 1 h 50"/>
                  <a:gd name="T34" fmla="*/ 1 w 49"/>
                  <a:gd name="T35" fmla="*/ 1 h 50"/>
                  <a:gd name="T36" fmla="*/ 1 w 49"/>
                  <a:gd name="T37" fmla="*/ 1 h 50"/>
                  <a:gd name="T38" fmla="*/ 1 w 49"/>
                  <a:gd name="T39" fmla="*/ 1 h 50"/>
                  <a:gd name="T40" fmla="*/ 1 w 49"/>
                  <a:gd name="T41" fmla="*/ 1 h 50"/>
                  <a:gd name="T42" fmla="*/ 1 w 49"/>
                  <a:gd name="T43" fmla="*/ 1 h 50"/>
                  <a:gd name="T44" fmla="*/ 1 w 49"/>
                  <a:gd name="T45" fmla="*/ 1 h 50"/>
                  <a:gd name="T46" fmla="*/ 1 w 49"/>
                  <a:gd name="T47" fmla="*/ 1 h 50"/>
                  <a:gd name="T48" fmla="*/ 1 w 49"/>
                  <a:gd name="T49" fmla="*/ 1 h 50"/>
                  <a:gd name="T50" fmla="*/ 1 w 49"/>
                  <a:gd name="T51" fmla="*/ 1 h 50"/>
                  <a:gd name="T52" fmla="*/ 1 w 49"/>
                  <a:gd name="T53" fmla="*/ 1 h 50"/>
                  <a:gd name="T54" fmla="*/ 1 w 49"/>
                  <a:gd name="T55" fmla="*/ 1 h 50"/>
                  <a:gd name="T56" fmla="*/ 1 w 49"/>
                  <a:gd name="T57" fmla="*/ 1 h 50"/>
                  <a:gd name="T58" fmla="*/ 1 w 49"/>
                  <a:gd name="T59" fmla="*/ 1 h 50"/>
                  <a:gd name="T60" fmla="*/ 1 w 49"/>
                  <a:gd name="T61" fmla="*/ 1 h 50"/>
                  <a:gd name="T62" fmla="*/ 1 w 49"/>
                  <a:gd name="T63" fmla="*/ 1 h 50"/>
                  <a:gd name="T64" fmla="*/ 0 w 49"/>
                  <a:gd name="T65" fmla="*/ 1 h 50"/>
                  <a:gd name="T66" fmla="*/ 0 w 49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49"/>
                  <a:gd name="T103" fmla="*/ 0 h 50"/>
                  <a:gd name="T104" fmla="*/ 49 w 49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49" h="50">
                    <a:moveTo>
                      <a:pt x="0" y="25"/>
                    </a:moveTo>
                    <a:lnTo>
                      <a:pt x="0" y="19"/>
                    </a:lnTo>
                    <a:lnTo>
                      <a:pt x="1" y="14"/>
                    </a:lnTo>
                    <a:lnTo>
                      <a:pt x="3" y="11"/>
                    </a:lnTo>
                    <a:lnTo>
                      <a:pt x="6" y="6"/>
                    </a:lnTo>
                    <a:lnTo>
                      <a:pt x="11" y="3"/>
                    </a:lnTo>
                    <a:lnTo>
                      <a:pt x="14" y="1"/>
                    </a:lnTo>
                    <a:lnTo>
                      <a:pt x="18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1"/>
                    </a:lnTo>
                    <a:lnTo>
                      <a:pt x="37" y="3"/>
                    </a:lnTo>
                    <a:lnTo>
                      <a:pt x="42" y="6"/>
                    </a:lnTo>
                    <a:lnTo>
                      <a:pt x="45" y="11"/>
                    </a:lnTo>
                    <a:lnTo>
                      <a:pt x="46" y="14"/>
                    </a:lnTo>
                    <a:lnTo>
                      <a:pt x="48" y="19"/>
                    </a:lnTo>
                    <a:lnTo>
                      <a:pt x="49" y="25"/>
                    </a:lnTo>
                    <a:lnTo>
                      <a:pt x="48" y="30"/>
                    </a:lnTo>
                    <a:lnTo>
                      <a:pt x="46" y="34"/>
                    </a:lnTo>
                    <a:lnTo>
                      <a:pt x="45" y="39"/>
                    </a:lnTo>
                    <a:lnTo>
                      <a:pt x="42" y="42"/>
                    </a:lnTo>
                    <a:lnTo>
                      <a:pt x="37" y="45"/>
                    </a:lnTo>
                    <a:lnTo>
                      <a:pt x="34" y="47"/>
                    </a:lnTo>
                    <a:lnTo>
                      <a:pt x="29" y="48"/>
                    </a:lnTo>
                    <a:lnTo>
                      <a:pt x="25" y="50"/>
                    </a:lnTo>
                    <a:lnTo>
                      <a:pt x="18" y="48"/>
                    </a:lnTo>
                    <a:lnTo>
                      <a:pt x="14" y="47"/>
                    </a:lnTo>
                    <a:lnTo>
                      <a:pt x="11" y="45"/>
                    </a:lnTo>
                    <a:lnTo>
                      <a:pt x="6" y="42"/>
                    </a:lnTo>
                    <a:lnTo>
                      <a:pt x="3" y="39"/>
                    </a:lnTo>
                    <a:lnTo>
                      <a:pt x="1" y="34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54" name="Rectangle 87"/>
              <p:cNvSpPr>
                <a:spLocks noChangeArrowheads="1"/>
              </p:cNvSpPr>
              <p:nvPr/>
            </p:nvSpPr>
            <p:spPr bwMode="auto">
              <a:xfrm>
                <a:off x="5057" y="1389"/>
                <a:ext cx="49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 i="1">
                    <a:solidFill>
                      <a:srgbClr val="000000"/>
                    </a:solidFill>
                    <a:latin typeface="Times New Roman" pitchFamily="18" charset="0"/>
                  </a:rPr>
                  <a:t>R</a:t>
                </a:r>
                <a:endParaRPr lang="en-US" altLang="zh-CN"/>
              </a:p>
            </p:txBody>
          </p:sp>
          <p:sp>
            <p:nvSpPr>
              <p:cNvPr id="79955" name="Freeform 88"/>
              <p:cNvSpPr>
                <a:spLocks noEditPoints="1"/>
              </p:cNvSpPr>
              <p:nvPr/>
            </p:nvSpPr>
            <p:spPr bwMode="auto">
              <a:xfrm>
                <a:off x="3869" y="1268"/>
                <a:ext cx="12" cy="112"/>
              </a:xfrm>
              <a:custGeom>
                <a:avLst/>
                <a:gdLst>
                  <a:gd name="T0" fmla="*/ 1 w 24"/>
                  <a:gd name="T1" fmla="*/ 3 h 225"/>
                  <a:gd name="T2" fmla="*/ 1 w 24"/>
                  <a:gd name="T3" fmla="*/ 3 h 225"/>
                  <a:gd name="T4" fmla="*/ 1 w 24"/>
                  <a:gd name="T5" fmla="*/ 3 h 225"/>
                  <a:gd name="T6" fmla="*/ 0 w 24"/>
                  <a:gd name="T7" fmla="*/ 3 h 225"/>
                  <a:gd name="T8" fmla="*/ 0 w 24"/>
                  <a:gd name="T9" fmla="*/ 3 h 225"/>
                  <a:gd name="T10" fmla="*/ 1 w 24"/>
                  <a:gd name="T11" fmla="*/ 3 h 225"/>
                  <a:gd name="T12" fmla="*/ 1 w 24"/>
                  <a:gd name="T13" fmla="*/ 3 h 225"/>
                  <a:gd name="T14" fmla="*/ 1 w 24"/>
                  <a:gd name="T15" fmla="*/ 3 h 225"/>
                  <a:gd name="T16" fmla="*/ 1 w 24"/>
                  <a:gd name="T17" fmla="*/ 3 h 225"/>
                  <a:gd name="T18" fmla="*/ 1 w 24"/>
                  <a:gd name="T19" fmla="*/ 3 h 225"/>
                  <a:gd name="T20" fmla="*/ 1 w 24"/>
                  <a:gd name="T21" fmla="*/ 3 h 225"/>
                  <a:gd name="T22" fmla="*/ 1 w 24"/>
                  <a:gd name="T23" fmla="*/ 3 h 225"/>
                  <a:gd name="T24" fmla="*/ 1 w 24"/>
                  <a:gd name="T25" fmla="*/ 3 h 225"/>
                  <a:gd name="T26" fmla="*/ 1 w 24"/>
                  <a:gd name="T27" fmla="*/ 3 h 225"/>
                  <a:gd name="T28" fmla="*/ 1 w 24"/>
                  <a:gd name="T29" fmla="*/ 3 h 225"/>
                  <a:gd name="T30" fmla="*/ 1 w 24"/>
                  <a:gd name="T31" fmla="*/ 3 h 225"/>
                  <a:gd name="T32" fmla="*/ 1 w 24"/>
                  <a:gd name="T33" fmla="*/ 3 h 225"/>
                  <a:gd name="T34" fmla="*/ 1 w 24"/>
                  <a:gd name="T35" fmla="*/ 3 h 225"/>
                  <a:gd name="T36" fmla="*/ 1 w 24"/>
                  <a:gd name="T37" fmla="*/ 0 h 225"/>
                  <a:gd name="T38" fmla="*/ 1 w 24"/>
                  <a:gd name="T39" fmla="*/ 0 h 225"/>
                  <a:gd name="T40" fmla="*/ 1 w 24"/>
                  <a:gd name="T41" fmla="*/ 0 h 225"/>
                  <a:gd name="T42" fmla="*/ 0 w 24"/>
                  <a:gd name="T43" fmla="*/ 0 h 225"/>
                  <a:gd name="T44" fmla="*/ 0 w 24"/>
                  <a:gd name="T45" fmla="*/ 0 h 225"/>
                  <a:gd name="T46" fmla="*/ 1 w 24"/>
                  <a:gd name="T47" fmla="*/ 0 h 225"/>
                  <a:gd name="T48" fmla="*/ 1 w 24"/>
                  <a:gd name="T49" fmla="*/ 0 h 225"/>
                  <a:gd name="T50" fmla="*/ 1 w 24"/>
                  <a:gd name="T51" fmla="*/ 0 h 225"/>
                  <a:gd name="T52" fmla="*/ 1 w 24"/>
                  <a:gd name="T53" fmla="*/ 0 h 225"/>
                  <a:gd name="T54" fmla="*/ 1 w 24"/>
                  <a:gd name="T55" fmla="*/ 0 h 225"/>
                  <a:gd name="T56" fmla="*/ 1 w 24"/>
                  <a:gd name="T57" fmla="*/ 0 h 225"/>
                  <a:gd name="T58" fmla="*/ 1 w 24"/>
                  <a:gd name="T59" fmla="*/ 0 h 225"/>
                  <a:gd name="T60" fmla="*/ 1 w 24"/>
                  <a:gd name="T61" fmla="*/ 0 h 225"/>
                  <a:gd name="T62" fmla="*/ 1 w 24"/>
                  <a:gd name="T63" fmla="*/ 0 h 225"/>
                  <a:gd name="T64" fmla="*/ 1 w 24"/>
                  <a:gd name="T65" fmla="*/ 0 h 225"/>
                  <a:gd name="T66" fmla="*/ 1 w 24"/>
                  <a:gd name="T67" fmla="*/ 0 h 225"/>
                  <a:gd name="T68" fmla="*/ 1 w 24"/>
                  <a:gd name="T69" fmla="*/ 0 h 225"/>
                  <a:gd name="T70" fmla="*/ 1 w 24"/>
                  <a:gd name="T71" fmla="*/ 0 h 225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4"/>
                  <a:gd name="T109" fmla="*/ 0 h 225"/>
                  <a:gd name="T110" fmla="*/ 24 w 24"/>
                  <a:gd name="T111" fmla="*/ 225 h 225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4" h="225">
                    <a:moveTo>
                      <a:pt x="12" y="200"/>
                    </a:moveTo>
                    <a:lnTo>
                      <a:pt x="9" y="200"/>
                    </a:lnTo>
                    <a:lnTo>
                      <a:pt x="7" y="201"/>
                    </a:lnTo>
                    <a:lnTo>
                      <a:pt x="4" y="201"/>
                    </a:lnTo>
                    <a:lnTo>
                      <a:pt x="3" y="203"/>
                    </a:lnTo>
                    <a:lnTo>
                      <a:pt x="1" y="204"/>
                    </a:lnTo>
                    <a:lnTo>
                      <a:pt x="0" y="208"/>
                    </a:lnTo>
                    <a:lnTo>
                      <a:pt x="0" y="209"/>
                    </a:lnTo>
                    <a:lnTo>
                      <a:pt x="0" y="212"/>
                    </a:lnTo>
                    <a:lnTo>
                      <a:pt x="0" y="214"/>
                    </a:lnTo>
                    <a:lnTo>
                      <a:pt x="0" y="217"/>
                    </a:lnTo>
                    <a:lnTo>
                      <a:pt x="1" y="219"/>
                    </a:lnTo>
                    <a:lnTo>
                      <a:pt x="3" y="222"/>
                    </a:lnTo>
                    <a:lnTo>
                      <a:pt x="4" y="222"/>
                    </a:lnTo>
                    <a:lnTo>
                      <a:pt x="7" y="223"/>
                    </a:lnTo>
                    <a:lnTo>
                      <a:pt x="9" y="225"/>
                    </a:lnTo>
                    <a:lnTo>
                      <a:pt x="12" y="225"/>
                    </a:lnTo>
                    <a:lnTo>
                      <a:pt x="14" y="225"/>
                    </a:lnTo>
                    <a:lnTo>
                      <a:pt x="17" y="223"/>
                    </a:lnTo>
                    <a:lnTo>
                      <a:pt x="18" y="222"/>
                    </a:lnTo>
                    <a:lnTo>
                      <a:pt x="20" y="222"/>
                    </a:lnTo>
                    <a:lnTo>
                      <a:pt x="21" y="219"/>
                    </a:lnTo>
                    <a:lnTo>
                      <a:pt x="23" y="217"/>
                    </a:lnTo>
                    <a:lnTo>
                      <a:pt x="23" y="214"/>
                    </a:lnTo>
                    <a:lnTo>
                      <a:pt x="24" y="212"/>
                    </a:lnTo>
                    <a:lnTo>
                      <a:pt x="23" y="209"/>
                    </a:lnTo>
                    <a:lnTo>
                      <a:pt x="23" y="208"/>
                    </a:lnTo>
                    <a:lnTo>
                      <a:pt x="21" y="204"/>
                    </a:lnTo>
                    <a:lnTo>
                      <a:pt x="20" y="203"/>
                    </a:lnTo>
                    <a:lnTo>
                      <a:pt x="18" y="201"/>
                    </a:lnTo>
                    <a:lnTo>
                      <a:pt x="17" y="201"/>
                    </a:lnTo>
                    <a:lnTo>
                      <a:pt x="14" y="200"/>
                    </a:lnTo>
                    <a:lnTo>
                      <a:pt x="12" y="200"/>
                    </a:lnTo>
                    <a:close/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1"/>
                    </a:lnTo>
                    <a:lnTo>
                      <a:pt x="3" y="3"/>
                    </a:lnTo>
                    <a:lnTo>
                      <a:pt x="1" y="5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1" y="19"/>
                    </a:lnTo>
                    <a:lnTo>
                      <a:pt x="3" y="22"/>
                    </a:lnTo>
                    <a:lnTo>
                      <a:pt x="4" y="22"/>
                    </a:lnTo>
                    <a:lnTo>
                      <a:pt x="7" y="23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3"/>
                    </a:lnTo>
                    <a:lnTo>
                      <a:pt x="18" y="23"/>
                    </a:lnTo>
                    <a:lnTo>
                      <a:pt x="20" y="22"/>
                    </a:lnTo>
                    <a:lnTo>
                      <a:pt x="21" y="19"/>
                    </a:lnTo>
                    <a:lnTo>
                      <a:pt x="23" y="17"/>
                    </a:lnTo>
                    <a:lnTo>
                      <a:pt x="23" y="16"/>
                    </a:lnTo>
                    <a:lnTo>
                      <a:pt x="24" y="12"/>
                    </a:lnTo>
                    <a:lnTo>
                      <a:pt x="23" y="9"/>
                    </a:lnTo>
                    <a:lnTo>
                      <a:pt x="23" y="8"/>
                    </a:lnTo>
                    <a:lnTo>
                      <a:pt x="21" y="5"/>
                    </a:lnTo>
                    <a:lnTo>
                      <a:pt x="20" y="3"/>
                    </a:lnTo>
                    <a:lnTo>
                      <a:pt x="18" y="1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56" name="Freeform 89"/>
              <p:cNvSpPr>
                <a:spLocks/>
              </p:cNvSpPr>
              <p:nvPr/>
            </p:nvSpPr>
            <p:spPr bwMode="auto">
              <a:xfrm>
                <a:off x="3869" y="1368"/>
                <a:ext cx="12" cy="12"/>
              </a:xfrm>
              <a:custGeom>
                <a:avLst/>
                <a:gdLst>
                  <a:gd name="T0" fmla="*/ 1 w 24"/>
                  <a:gd name="T1" fmla="*/ 0 h 25"/>
                  <a:gd name="T2" fmla="*/ 1 w 24"/>
                  <a:gd name="T3" fmla="*/ 0 h 25"/>
                  <a:gd name="T4" fmla="*/ 1 w 24"/>
                  <a:gd name="T5" fmla="*/ 0 h 25"/>
                  <a:gd name="T6" fmla="*/ 1 w 24"/>
                  <a:gd name="T7" fmla="*/ 0 h 25"/>
                  <a:gd name="T8" fmla="*/ 1 w 24"/>
                  <a:gd name="T9" fmla="*/ 0 h 25"/>
                  <a:gd name="T10" fmla="*/ 1 w 24"/>
                  <a:gd name="T11" fmla="*/ 0 h 25"/>
                  <a:gd name="T12" fmla="*/ 0 w 24"/>
                  <a:gd name="T13" fmla="*/ 0 h 25"/>
                  <a:gd name="T14" fmla="*/ 0 w 24"/>
                  <a:gd name="T15" fmla="*/ 0 h 25"/>
                  <a:gd name="T16" fmla="*/ 0 w 24"/>
                  <a:gd name="T17" fmla="*/ 0 h 25"/>
                  <a:gd name="T18" fmla="*/ 0 w 24"/>
                  <a:gd name="T19" fmla="*/ 0 h 25"/>
                  <a:gd name="T20" fmla="*/ 0 w 24"/>
                  <a:gd name="T21" fmla="*/ 0 h 25"/>
                  <a:gd name="T22" fmla="*/ 1 w 24"/>
                  <a:gd name="T23" fmla="*/ 0 h 25"/>
                  <a:gd name="T24" fmla="*/ 1 w 24"/>
                  <a:gd name="T25" fmla="*/ 0 h 25"/>
                  <a:gd name="T26" fmla="*/ 1 w 24"/>
                  <a:gd name="T27" fmla="*/ 0 h 25"/>
                  <a:gd name="T28" fmla="*/ 1 w 24"/>
                  <a:gd name="T29" fmla="*/ 0 h 25"/>
                  <a:gd name="T30" fmla="*/ 1 w 24"/>
                  <a:gd name="T31" fmla="*/ 0 h 25"/>
                  <a:gd name="T32" fmla="*/ 1 w 24"/>
                  <a:gd name="T33" fmla="*/ 0 h 25"/>
                  <a:gd name="T34" fmla="*/ 1 w 24"/>
                  <a:gd name="T35" fmla="*/ 0 h 25"/>
                  <a:gd name="T36" fmla="*/ 1 w 24"/>
                  <a:gd name="T37" fmla="*/ 0 h 25"/>
                  <a:gd name="T38" fmla="*/ 1 w 24"/>
                  <a:gd name="T39" fmla="*/ 0 h 25"/>
                  <a:gd name="T40" fmla="*/ 1 w 24"/>
                  <a:gd name="T41" fmla="*/ 0 h 25"/>
                  <a:gd name="T42" fmla="*/ 1 w 24"/>
                  <a:gd name="T43" fmla="*/ 0 h 25"/>
                  <a:gd name="T44" fmla="*/ 1 w 24"/>
                  <a:gd name="T45" fmla="*/ 0 h 25"/>
                  <a:gd name="T46" fmla="*/ 1 w 24"/>
                  <a:gd name="T47" fmla="*/ 0 h 25"/>
                  <a:gd name="T48" fmla="*/ 1 w 24"/>
                  <a:gd name="T49" fmla="*/ 0 h 25"/>
                  <a:gd name="T50" fmla="*/ 1 w 24"/>
                  <a:gd name="T51" fmla="*/ 0 h 25"/>
                  <a:gd name="T52" fmla="*/ 1 w 24"/>
                  <a:gd name="T53" fmla="*/ 0 h 25"/>
                  <a:gd name="T54" fmla="*/ 1 w 24"/>
                  <a:gd name="T55" fmla="*/ 0 h 25"/>
                  <a:gd name="T56" fmla="*/ 1 w 24"/>
                  <a:gd name="T57" fmla="*/ 0 h 25"/>
                  <a:gd name="T58" fmla="*/ 1 w 24"/>
                  <a:gd name="T59" fmla="*/ 0 h 25"/>
                  <a:gd name="T60" fmla="*/ 1 w 24"/>
                  <a:gd name="T61" fmla="*/ 0 h 25"/>
                  <a:gd name="T62" fmla="*/ 1 w 24"/>
                  <a:gd name="T63" fmla="*/ 0 h 25"/>
                  <a:gd name="T64" fmla="*/ 1 w 24"/>
                  <a:gd name="T65" fmla="*/ 0 h 25"/>
                  <a:gd name="T66" fmla="*/ 1 w 24"/>
                  <a:gd name="T67" fmla="*/ 0 h 25"/>
                  <a:gd name="T68" fmla="*/ 1 w 24"/>
                  <a:gd name="T69" fmla="*/ 0 h 2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4"/>
                  <a:gd name="T106" fmla="*/ 0 h 25"/>
                  <a:gd name="T107" fmla="*/ 24 w 24"/>
                  <a:gd name="T108" fmla="*/ 25 h 25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4" h="25"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1"/>
                    </a:lnTo>
                    <a:lnTo>
                      <a:pt x="3" y="3"/>
                    </a:lnTo>
                    <a:lnTo>
                      <a:pt x="1" y="4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1" y="19"/>
                    </a:lnTo>
                    <a:lnTo>
                      <a:pt x="3" y="22"/>
                    </a:lnTo>
                    <a:lnTo>
                      <a:pt x="4" y="22"/>
                    </a:lnTo>
                    <a:lnTo>
                      <a:pt x="7" y="23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3"/>
                    </a:lnTo>
                    <a:lnTo>
                      <a:pt x="18" y="22"/>
                    </a:lnTo>
                    <a:lnTo>
                      <a:pt x="20" y="22"/>
                    </a:lnTo>
                    <a:lnTo>
                      <a:pt x="21" y="19"/>
                    </a:lnTo>
                    <a:lnTo>
                      <a:pt x="23" y="17"/>
                    </a:lnTo>
                    <a:lnTo>
                      <a:pt x="23" y="14"/>
                    </a:lnTo>
                    <a:lnTo>
                      <a:pt x="24" y="12"/>
                    </a:lnTo>
                    <a:lnTo>
                      <a:pt x="23" y="9"/>
                    </a:lnTo>
                    <a:lnTo>
                      <a:pt x="23" y="8"/>
                    </a:lnTo>
                    <a:lnTo>
                      <a:pt x="21" y="4"/>
                    </a:lnTo>
                    <a:lnTo>
                      <a:pt x="20" y="3"/>
                    </a:lnTo>
                    <a:lnTo>
                      <a:pt x="18" y="1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57" name="Freeform 90"/>
              <p:cNvSpPr>
                <a:spLocks/>
              </p:cNvSpPr>
              <p:nvPr/>
            </p:nvSpPr>
            <p:spPr bwMode="auto">
              <a:xfrm>
                <a:off x="3869" y="1268"/>
                <a:ext cx="12" cy="13"/>
              </a:xfrm>
              <a:custGeom>
                <a:avLst/>
                <a:gdLst>
                  <a:gd name="T0" fmla="*/ 1 w 24"/>
                  <a:gd name="T1" fmla="*/ 0 h 25"/>
                  <a:gd name="T2" fmla="*/ 1 w 24"/>
                  <a:gd name="T3" fmla="*/ 0 h 25"/>
                  <a:gd name="T4" fmla="*/ 1 w 24"/>
                  <a:gd name="T5" fmla="*/ 1 h 25"/>
                  <a:gd name="T6" fmla="*/ 1 w 24"/>
                  <a:gd name="T7" fmla="*/ 1 h 25"/>
                  <a:gd name="T8" fmla="*/ 1 w 24"/>
                  <a:gd name="T9" fmla="*/ 1 h 25"/>
                  <a:gd name="T10" fmla="*/ 1 w 24"/>
                  <a:gd name="T11" fmla="*/ 1 h 25"/>
                  <a:gd name="T12" fmla="*/ 0 w 24"/>
                  <a:gd name="T13" fmla="*/ 1 h 25"/>
                  <a:gd name="T14" fmla="*/ 0 w 24"/>
                  <a:gd name="T15" fmla="*/ 1 h 25"/>
                  <a:gd name="T16" fmla="*/ 0 w 24"/>
                  <a:gd name="T17" fmla="*/ 1 h 25"/>
                  <a:gd name="T18" fmla="*/ 0 w 24"/>
                  <a:gd name="T19" fmla="*/ 1 h 25"/>
                  <a:gd name="T20" fmla="*/ 0 w 24"/>
                  <a:gd name="T21" fmla="*/ 1 h 25"/>
                  <a:gd name="T22" fmla="*/ 1 w 24"/>
                  <a:gd name="T23" fmla="*/ 1 h 25"/>
                  <a:gd name="T24" fmla="*/ 1 w 24"/>
                  <a:gd name="T25" fmla="*/ 1 h 25"/>
                  <a:gd name="T26" fmla="*/ 1 w 24"/>
                  <a:gd name="T27" fmla="*/ 1 h 25"/>
                  <a:gd name="T28" fmla="*/ 1 w 24"/>
                  <a:gd name="T29" fmla="*/ 1 h 25"/>
                  <a:gd name="T30" fmla="*/ 1 w 24"/>
                  <a:gd name="T31" fmla="*/ 1 h 25"/>
                  <a:gd name="T32" fmla="*/ 1 w 24"/>
                  <a:gd name="T33" fmla="*/ 1 h 25"/>
                  <a:gd name="T34" fmla="*/ 1 w 24"/>
                  <a:gd name="T35" fmla="*/ 1 h 25"/>
                  <a:gd name="T36" fmla="*/ 1 w 24"/>
                  <a:gd name="T37" fmla="*/ 1 h 25"/>
                  <a:gd name="T38" fmla="*/ 1 w 24"/>
                  <a:gd name="T39" fmla="*/ 1 h 25"/>
                  <a:gd name="T40" fmla="*/ 1 w 24"/>
                  <a:gd name="T41" fmla="*/ 1 h 25"/>
                  <a:gd name="T42" fmla="*/ 1 w 24"/>
                  <a:gd name="T43" fmla="*/ 1 h 25"/>
                  <a:gd name="T44" fmla="*/ 1 w 24"/>
                  <a:gd name="T45" fmla="*/ 1 h 25"/>
                  <a:gd name="T46" fmla="*/ 1 w 24"/>
                  <a:gd name="T47" fmla="*/ 1 h 25"/>
                  <a:gd name="T48" fmla="*/ 1 w 24"/>
                  <a:gd name="T49" fmla="*/ 1 h 25"/>
                  <a:gd name="T50" fmla="*/ 1 w 24"/>
                  <a:gd name="T51" fmla="*/ 1 h 25"/>
                  <a:gd name="T52" fmla="*/ 1 w 24"/>
                  <a:gd name="T53" fmla="*/ 1 h 25"/>
                  <a:gd name="T54" fmla="*/ 1 w 24"/>
                  <a:gd name="T55" fmla="*/ 1 h 25"/>
                  <a:gd name="T56" fmla="*/ 1 w 24"/>
                  <a:gd name="T57" fmla="*/ 1 h 25"/>
                  <a:gd name="T58" fmla="*/ 1 w 24"/>
                  <a:gd name="T59" fmla="*/ 1 h 25"/>
                  <a:gd name="T60" fmla="*/ 1 w 24"/>
                  <a:gd name="T61" fmla="*/ 1 h 25"/>
                  <a:gd name="T62" fmla="*/ 1 w 24"/>
                  <a:gd name="T63" fmla="*/ 1 h 25"/>
                  <a:gd name="T64" fmla="*/ 1 w 24"/>
                  <a:gd name="T65" fmla="*/ 0 h 25"/>
                  <a:gd name="T66" fmla="*/ 1 w 24"/>
                  <a:gd name="T67" fmla="*/ 0 h 25"/>
                  <a:gd name="T68" fmla="*/ 1 w 24"/>
                  <a:gd name="T69" fmla="*/ 0 h 2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4"/>
                  <a:gd name="T106" fmla="*/ 0 h 25"/>
                  <a:gd name="T107" fmla="*/ 24 w 24"/>
                  <a:gd name="T108" fmla="*/ 25 h 25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4" h="25"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1"/>
                    </a:lnTo>
                    <a:lnTo>
                      <a:pt x="3" y="3"/>
                    </a:lnTo>
                    <a:lnTo>
                      <a:pt x="1" y="5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1" y="19"/>
                    </a:lnTo>
                    <a:lnTo>
                      <a:pt x="3" y="22"/>
                    </a:lnTo>
                    <a:lnTo>
                      <a:pt x="4" y="22"/>
                    </a:lnTo>
                    <a:lnTo>
                      <a:pt x="7" y="23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3"/>
                    </a:lnTo>
                    <a:lnTo>
                      <a:pt x="18" y="23"/>
                    </a:lnTo>
                    <a:lnTo>
                      <a:pt x="20" y="22"/>
                    </a:lnTo>
                    <a:lnTo>
                      <a:pt x="21" y="19"/>
                    </a:lnTo>
                    <a:lnTo>
                      <a:pt x="23" y="17"/>
                    </a:lnTo>
                    <a:lnTo>
                      <a:pt x="23" y="16"/>
                    </a:lnTo>
                    <a:lnTo>
                      <a:pt x="24" y="12"/>
                    </a:lnTo>
                    <a:lnTo>
                      <a:pt x="23" y="9"/>
                    </a:lnTo>
                    <a:lnTo>
                      <a:pt x="23" y="8"/>
                    </a:lnTo>
                    <a:lnTo>
                      <a:pt x="21" y="5"/>
                    </a:lnTo>
                    <a:lnTo>
                      <a:pt x="20" y="3"/>
                    </a:lnTo>
                    <a:lnTo>
                      <a:pt x="18" y="1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58" name="Line 91"/>
              <p:cNvSpPr>
                <a:spLocks noChangeShapeType="1"/>
              </p:cNvSpPr>
              <p:nvPr/>
            </p:nvSpPr>
            <p:spPr bwMode="auto">
              <a:xfrm>
                <a:off x="3877" y="1280"/>
                <a:ext cx="29" cy="8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59" name="Freeform 92"/>
              <p:cNvSpPr>
                <a:spLocks/>
              </p:cNvSpPr>
              <p:nvPr/>
            </p:nvSpPr>
            <p:spPr bwMode="auto">
              <a:xfrm>
                <a:off x="4974" y="1321"/>
                <a:ext cx="25" cy="26"/>
              </a:xfrm>
              <a:custGeom>
                <a:avLst/>
                <a:gdLst>
                  <a:gd name="T0" fmla="*/ 0 w 50"/>
                  <a:gd name="T1" fmla="*/ 1 h 50"/>
                  <a:gd name="T2" fmla="*/ 1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1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2" y="20"/>
                    </a:lnTo>
                    <a:lnTo>
                      <a:pt x="3" y="16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1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1" y="0"/>
                    </a:lnTo>
                    <a:lnTo>
                      <a:pt x="36" y="1"/>
                    </a:lnTo>
                    <a:lnTo>
                      <a:pt x="39" y="5"/>
                    </a:lnTo>
                    <a:lnTo>
                      <a:pt x="44" y="8"/>
                    </a:lnTo>
                    <a:lnTo>
                      <a:pt x="47" y="11"/>
                    </a:lnTo>
                    <a:lnTo>
                      <a:pt x="48" y="16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4"/>
                    </a:lnTo>
                    <a:lnTo>
                      <a:pt x="47" y="39"/>
                    </a:lnTo>
                    <a:lnTo>
                      <a:pt x="44" y="42"/>
                    </a:lnTo>
                    <a:lnTo>
                      <a:pt x="39" y="45"/>
                    </a:lnTo>
                    <a:lnTo>
                      <a:pt x="36" y="49"/>
                    </a:lnTo>
                    <a:lnTo>
                      <a:pt x="31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6" y="49"/>
                    </a:lnTo>
                    <a:lnTo>
                      <a:pt x="11" y="45"/>
                    </a:lnTo>
                    <a:lnTo>
                      <a:pt x="8" y="42"/>
                    </a:lnTo>
                    <a:lnTo>
                      <a:pt x="5" y="39"/>
                    </a:lnTo>
                    <a:lnTo>
                      <a:pt x="3" y="34"/>
                    </a:lnTo>
                    <a:lnTo>
                      <a:pt x="2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60" name="Line 93"/>
              <p:cNvSpPr>
                <a:spLocks noChangeShapeType="1"/>
              </p:cNvSpPr>
              <p:nvPr/>
            </p:nvSpPr>
            <p:spPr bwMode="auto">
              <a:xfrm flipH="1" flipV="1">
                <a:off x="4230" y="1334"/>
                <a:ext cx="1" cy="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61" name="Freeform 94"/>
              <p:cNvSpPr>
                <a:spLocks/>
              </p:cNvSpPr>
              <p:nvPr/>
            </p:nvSpPr>
            <p:spPr bwMode="auto">
              <a:xfrm>
                <a:off x="4893" y="1333"/>
                <a:ext cx="253" cy="94"/>
              </a:xfrm>
              <a:custGeom>
                <a:avLst/>
                <a:gdLst>
                  <a:gd name="T0" fmla="*/ 8 w 506"/>
                  <a:gd name="T1" fmla="*/ 3 h 188"/>
                  <a:gd name="T2" fmla="*/ 8 w 506"/>
                  <a:gd name="T3" fmla="*/ 1 h 188"/>
                  <a:gd name="T4" fmla="*/ 0 w 506"/>
                  <a:gd name="T5" fmla="*/ 0 h 188"/>
                  <a:gd name="T6" fmla="*/ 0 60000 65536"/>
                  <a:gd name="T7" fmla="*/ 0 60000 65536"/>
                  <a:gd name="T8" fmla="*/ 0 60000 65536"/>
                  <a:gd name="T9" fmla="*/ 0 w 506"/>
                  <a:gd name="T10" fmla="*/ 0 h 188"/>
                  <a:gd name="T11" fmla="*/ 506 w 506"/>
                  <a:gd name="T12" fmla="*/ 188 h 1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06" h="188">
                    <a:moveTo>
                      <a:pt x="506" y="188"/>
                    </a:moveTo>
                    <a:lnTo>
                      <a:pt x="506" y="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62" name="Line 95"/>
              <p:cNvSpPr>
                <a:spLocks noChangeShapeType="1"/>
              </p:cNvSpPr>
              <p:nvPr/>
            </p:nvSpPr>
            <p:spPr bwMode="auto">
              <a:xfrm flipH="1" flipV="1">
                <a:off x="4986" y="1333"/>
                <a:ext cx="1" cy="2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63" name="Freeform 96"/>
              <p:cNvSpPr>
                <a:spLocks/>
              </p:cNvSpPr>
              <p:nvPr/>
            </p:nvSpPr>
            <p:spPr bwMode="auto">
              <a:xfrm>
                <a:off x="4696" y="1304"/>
                <a:ext cx="197" cy="30"/>
              </a:xfrm>
              <a:custGeom>
                <a:avLst/>
                <a:gdLst>
                  <a:gd name="T0" fmla="*/ 0 w 395"/>
                  <a:gd name="T1" fmla="*/ 1 h 60"/>
                  <a:gd name="T2" fmla="*/ 0 w 395"/>
                  <a:gd name="T3" fmla="*/ 1 h 60"/>
                  <a:gd name="T4" fmla="*/ 0 w 395"/>
                  <a:gd name="T5" fmla="*/ 1 h 60"/>
                  <a:gd name="T6" fmla="*/ 0 w 395"/>
                  <a:gd name="T7" fmla="*/ 1 h 60"/>
                  <a:gd name="T8" fmla="*/ 0 w 395"/>
                  <a:gd name="T9" fmla="*/ 1 h 60"/>
                  <a:gd name="T10" fmla="*/ 0 w 395"/>
                  <a:gd name="T11" fmla="*/ 1 h 60"/>
                  <a:gd name="T12" fmla="*/ 0 w 395"/>
                  <a:gd name="T13" fmla="*/ 1 h 60"/>
                  <a:gd name="T14" fmla="*/ 0 w 395"/>
                  <a:gd name="T15" fmla="*/ 0 h 60"/>
                  <a:gd name="T16" fmla="*/ 0 w 395"/>
                  <a:gd name="T17" fmla="*/ 0 h 60"/>
                  <a:gd name="T18" fmla="*/ 1 w 395"/>
                  <a:gd name="T19" fmla="*/ 1 h 60"/>
                  <a:gd name="T20" fmla="*/ 1 w 395"/>
                  <a:gd name="T21" fmla="*/ 1 h 60"/>
                  <a:gd name="T22" fmla="*/ 1 w 395"/>
                  <a:gd name="T23" fmla="*/ 1 h 60"/>
                  <a:gd name="T24" fmla="*/ 1 w 395"/>
                  <a:gd name="T25" fmla="*/ 1 h 60"/>
                  <a:gd name="T26" fmla="*/ 1 w 395"/>
                  <a:gd name="T27" fmla="*/ 1 h 60"/>
                  <a:gd name="T28" fmla="*/ 1 w 395"/>
                  <a:gd name="T29" fmla="*/ 1 h 60"/>
                  <a:gd name="T30" fmla="*/ 1 w 395"/>
                  <a:gd name="T31" fmla="*/ 1 h 60"/>
                  <a:gd name="T32" fmla="*/ 1 w 395"/>
                  <a:gd name="T33" fmla="*/ 1 h 60"/>
                  <a:gd name="T34" fmla="*/ 1 w 395"/>
                  <a:gd name="T35" fmla="*/ 1 h 60"/>
                  <a:gd name="T36" fmla="*/ 1 w 395"/>
                  <a:gd name="T37" fmla="*/ 1 h 60"/>
                  <a:gd name="T38" fmla="*/ 1 w 395"/>
                  <a:gd name="T39" fmla="*/ 1 h 60"/>
                  <a:gd name="T40" fmla="*/ 1 w 395"/>
                  <a:gd name="T41" fmla="*/ 1 h 60"/>
                  <a:gd name="T42" fmla="*/ 2 w 395"/>
                  <a:gd name="T43" fmla="*/ 1 h 60"/>
                  <a:gd name="T44" fmla="*/ 2 w 395"/>
                  <a:gd name="T45" fmla="*/ 0 h 60"/>
                  <a:gd name="T46" fmla="*/ 2 w 395"/>
                  <a:gd name="T47" fmla="*/ 0 h 60"/>
                  <a:gd name="T48" fmla="*/ 2 w 395"/>
                  <a:gd name="T49" fmla="*/ 1 h 60"/>
                  <a:gd name="T50" fmla="*/ 2 w 395"/>
                  <a:gd name="T51" fmla="*/ 1 h 60"/>
                  <a:gd name="T52" fmla="*/ 2 w 395"/>
                  <a:gd name="T53" fmla="*/ 1 h 60"/>
                  <a:gd name="T54" fmla="*/ 2 w 395"/>
                  <a:gd name="T55" fmla="*/ 1 h 60"/>
                  <a:gd name="T56" fmla="*/ 3 w 395"/>
                  <a:gd name="T57" fmla="*/ 1 h 60"/>
                  <a:gd name="T58" fmla="*/ 3 w 395"/>
                  <a:gd name="T59" fmla="*/ 1 h 60"/>
                  <a:gd name="T60" fmla="*/ 3 w 395"/>
                  <a:gd name="T61" fmla="*/ 1 h 60"/>
                  <a:gd name="T62" fmla="*/ 3 w 395"/>
                  <a:gd name="T63" fmla="*/ 1 h 60"/>
                  <a:gd name="T64" fmla="*/ 3 w 395"/>
                  <a:gd name="T65" fmla="*/ 1 h 60"/>
                  <a:gd name="T66" fmla="*/ 3 w 395"/>
                  <a:gd name="T67" fmla="*/ 1 h 60"/>
                  <a:gd name="T68" fmla="*/ 3 w 395"/>
                  <a:gd name="T69" fmla="*/ 1 h 60"/>
                  <a:gd name="T70" fmla="*/ 3 w 395"/>
                  <a:gd name="T71" fmla="*/ 1 h 60"/>
                  <a:gd name="T72" fmla="*/ 3 w 395"/>
                  <a:gd name="T73" fmla="*/ 1 h 60"/>
                  <a:gd name="T74" fmla="*/ 3 w 395"/>
                  <a:gd name="T75" fmla="*/ 1 h 60"/>
                  <a:gd name="T76" fmla="*/ 3 w 395"/>
                  <a:gd name="T77" fmla="*/ 0 h 60"/>
                  <a:gd name="T78" fmla="*/ 3 w 395"/>
                  <a:gd name="T79" fmla="*/ 0 h 60"/>
                  <a:gd name="T80" fmla="*/ 4 w 395"/>
                  <a:gd name="T81" fmla="*/ 1 h 60"/>
                  <a:gd name="T82" fmla="*/ 4 w 395"/>
                  <a:gd name="T83" fmla="*/ 1 h 60"/>
                  <a:gd name="T84" fmla="*/ 4 w 395"/>
                  <a:gd name="T85" fmla="*/ 1 h 60"/>
                  <a:gd name="T86" fmla="*/ 4 w 395"/>
                  <a:gd name="T87" fmla="*/ 1 h 60"/>
                  <a:gd name="T88" fmla="*/ 4 w 395"/>
                  <a:gd name="T89" fmla="*/ 1 h 60"/>
                  <a:gd name="T90" fmla="*/ 4 w 395"/>
                  <a:gd name="T91" fmla="*/ 1 h 60"/>
                  <a:gd name="T92" fmla="*/ 4 w 395"/>
                  <a:gd name="T93" fmla="*/ 1 h 60"/>
                  <a:gd name="T94" fmla="*/ 4 w 395"/>
                  <a:gd name="T95" fmla="*/ 1 h 60"/>
                  <a:gd name="T96" fmla="*/ 4 w 395"/>
                  <a:gd name="T97" fmla="*/ 1 h 60"/>
                  <a:gd name="T98" fmla="*/ 4 w 395"/>
                  <a:gd name="T99" fmla="*/ 1 h 60"/>
                  <a:gd name="T100" fmla="*/ 4 w 395"/>
                  <a:gd name="T101" fmla="*/ 1 h 60"/>
                  <a:gd name="T102" fmla="*/ 5 w 395"/>
                  <a:gd name="T103" fmla="*/ 1 h 60"/>
                  <a:gd name="T104" fmla="*/ 5 w 395"/>
                  <a:gd name="T105" fmla="*/ 1 h 60"/>
                  <a:gd name="T106" fmla="*/ 5 w 395"/>
                  <a:gd name="T107" fmla="*/ 0 h 60"/>
                  <a:gd name="T108" fmla="*/ 5 w 395"/>
                  <a:gd name="T109" fmla="*/ 0 h 60"/>
                  <a:gd name="T110" fmla="*/ 5 w 395"/>
                  <a:gd name="T111" fmla="*/ 1 h 60"/>
                  <a:gd name="T112" fmla="*/ 5 w 395"/>
                  <a:gd name="T113" fmla="*/ 1 h 60"/>
                  <a:gd name="T114" fmla="*/ 5 w 395"/>
                  <a:gd name="T115" fmla="*/ 1 h 60"/>
                  <a:gd name="T116" fmla="*/ 6 w 395"/>
                  <a:gd name="T117" fmla="*/ 1 h 60"/>
                  <a:gd name="T118" fmla="*/ 6 w 395"/>
                  <a:gd name="T119" fmla="*/ 1 h 60"/>
                  <a:gd name="T120" fmla="*/ 6 w 395"/>
                  <a:gd name="T121" fmla="*/ 1 h 60"/>
                  <a:gd name="T122" fmla="*/ 6 w 395"/>
                  <a:gd name="T123" fmla="*/ 1 h 6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395"/>
                  <a:gd name="T187" fmla="*/ 0 h 60"/>
                  <a:gd name="T188" fmla="*/ 395 w 395"/>
                  <a:gd name="T189" fmla="*/ 60 h 60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395" h="60">
                    <a:moveTo>
                      <a:pt x="0" y="60"/>
                    </a:moveTo>
                    <a:lnTo>
                      <a:pt x="0" y="54"/>
                    </a:lnTo>
                    <a:lnTo>
                      <a:pt x="0" y="49"/>
                    </a:lnTo>
                    <a:lnTo>
                      <a:pt x="2" y="43"/>
                    </a:lnTo>
                    <a:lnTo>
                      <a:pt x="3" y="38"/>
                    </a:lnTo>
                    <a:lnTo>
                      <a:pt x="5" y="33"/>
                    </a:lnTo>
                    <a:lnTo>
                      <a:pt x="6" y="27"/>
                    </a:lnTo>
                    <a:lnTo>
                      <a:pt x="13" y="19"/>
                    </a:lnTo>
                    <a:lnTo>
                      <a:pt x="16" y="14"/>
                    </a:lnTo>
                    <a:lnTo>
                      <a:pt x="20" y="11"/>
                    </a:lnTo>
                    <a:lnTo>
                      <a:pt x="24" y="8"/>
                    </a:lnTo>
                    <a:lnTo>
                      <a:pt x="28" y="5"/>
                    </a:lnTo>
                    <a:lnTo>
                      <a:pt x="33" y="3"/>
                    </a:lnTo>
                    <a:lnTo>
                      <a:pt x="38" y="2"/>
                    </a:lnTo>
                    <a:lnTo>
                      <a:pt x="42" y="0"/>
                    </a:lnTo>
                    <a:lnTo>
                      <a:pt x="47" y="0"/>
                    </a:lnTo>
                    <a:lnTo>
                      <a:pt x="52" y="0"/>
                    </a:lnTo>
                    <a:lnTo>
                      <a:pt x="58" y="0"/>
                    </a:lnTo>
                    <a:lnTo>
                      <a:pt x="62" y="2"/>
                    </a:lnTo>
                    <a:lnTo>
                      <a:pt x="67" y="3"/>
                    </a:lnTo>
                    <a:lnTo>
                      <a:pt x="70" y="7"/>
                    </a:lnTo>
                    <a:lnTo>
                      <a:pt x="75" y="10"/>
                    </a:lnTo>
                    <a:lnTo>
                      <a:pt x="80" y="13"/>
                    </a:lnTo>
                    <a:lnTo>
                      <a:pt x="83" y="16"/>
                    </a:lnTo>
                    <a:lnTo>
                      <a:pt x="89" y="24"/>
                    </a:lnTo>
                    <a:lnTo>
                      <a:pt x="92" y="29"/>
                    </a:lnTo>
                    <a:lnTo>
                      <a:pt x="94" y="33"/>
                    </a:lnTo>
                    <a:lnTo>
                      <a:pt x="95" y="38"/>
                    </a:lnTo>
                    <a:lnTo>
                      <a:pt x="97" y="44"/>
                    </a:lnTo>
                    <a:lnTo>
                      <a:pt x="98" y="51"/>
                    </a:lnTo>
                    <a:lnTo>
                      <a:pt x="98" y="55"/>
                    </a:lnTo>
                    <a:lnTo>
                      <a:pt x="98" y="60"/>
                    </a:lnTo>
                    <a:lnTo>
                      <a:pt x="98" y="54"/>
                    </a:lnTo>
                    <a:lnTo>
                      <a:pt x="100" y="49"/>
                    </a:lnTo>
                    <a:lnTo>
                      <a:pt x="100" y="43"/>
                    </a:lnTo>
                    <a:lnTo>
                      <a:pt x="101" y="38"/>
                    </a:lnTo>
                    <a:lnTo>
                      <a:pt x="103" y="33"/>
                    </a:lnTo>
                    <a:lnTo>
                      <a:pt x="106" y="27"/>
                    </a:lnTo>
                    <a:lnTo>
                      <a:pt x="112" y="19"/>
                    </a:lnTo>
                    <a:lnTo>
                      <a:pt x="115" y="14"/>
                    </a:lnTo>
                    <a:lnTo>
                      <a:pt x="118" y="11"/>
                    </a:lnTo>
                    <a:lnTo>
                      <a:pt x="123" y="8"/>
                    </a:lnTo>
                    <a:lnTo>
                      <a:pt x="126" y="5"/>
                    </a:lnTo>
                    <a:lnTo>
                      <a:pt x="131" y="3"/>
                    </a:lnTo>
                    <a:lnTo>
                      <a:pt x="136" y="2"/>
                    </a:lnTo>
                    <a:lnTo>
                      <a:pt x="140" y="0"/>
                    </a:lnTo>
                    <a:lnTo>
                      <a:pt x="146" y="0"/>
                    </a:lnTo>
                    <a:lnTo>
                      <a:pt x="151" y="0"/>
                    </a:lnTo>
                    <a:lnTo>
                      <a:pt x="156" y="0"/>
                    </a:lnTo>
                    <a:lnTo>
                      <a:pt x="160" y="2"/>
                    </a:lnTo>
                    <a:lnTo>
                      <a:pt x="165" y="3"/>
                    </a:lnTo>
                    <a:lnTo>
                      <a:pt x="170" y="7"/>
                    </a:lnTo>
                    <a:lnTo>
                      <a:pt x="174" y="10"/>
                    </a:lnTo>
                    <a:lnTo>
                      <a:pt x="178" y="13"/>
                    </a:lnTo>
                    <a:lnTo>
                      <a:pt x="181" y="16"/>
                    </a:lnTo>
                    <a:lnTo>
                      <a:pt x="188" y="24"/>
                    </a:lnTo>
                    <a:lnTo>
                      <a:pt x="190" y="29"/>
                    </a:lnTo>
                    <a:lnTo>
                      <a:pt x="193" y="33"/>
                    </a:lnTo>
                    <a:lnTo>
                      <a:pt x="195" y="38"/>
                    </a:lnTo>
                    <a:lnTo>
                      <a:pt x="196" y="44"/>
                    </a:lnTo>
                    <a:lnTo>
                      <a:pt x="196" y="51"/>
                    </a:lnTo>
                    <a:lnTo>
                      <a:pt x="198" y="55"/>
                    </a:lnTo>
                    <a:lnTo>
                      <a:pt x="198" y="60"/>
                    </a:lnTo>
                    <a:lnTo>
                      <a:pt x="198" y="54"/>
                    </a:lnTo>
                    <a:lnTo>
                      <a:pt x="198" y="49"/>
                    </a:lnTo>
                    <a:lnTo>
                      <a:pt x="199" y="43"/>
                    </a:lnTo>
                    <a:lnTo>
                      <a:pt x="201" y="38"/>
                    </a:lnTo>
                    <a:lnTo>
                      <a:pt x="202" y="33"/>
                    </a:lnTo>
                    <a:lnTo>
                      <a:pt x="204" y="27"/>
                    </a:lnTo>
                    <a:lnTo>
                      <a:pt x="210" y="19"/>
                    </a:lnTo>
                    <a:lnTo>
                      <a:pt x="213" y="14"/>
                    </a:lnTo>
                    <a:lnTo>
                      <a:pt x="218" y="11"/>
                    </a:lnTo>
                    <a:lnTo>
                      <a:pt x="221" y="8"/>
                    </a:lnTo>
                    <a:lnTo>
                      <a:pt x="226" y="5"/>
                    </a:lnTo>
                    <a:lnTo>
                      <a:pt x="230" y="3"/>
                    </a:lnTo>
                    <a:lnTo>
                      <a:pt x="235" y="2"/>
                    </a:lnTo>
                    <a:lnTo>
                      <a:pt x="240" y="0"/>
                    </a:lnTo>
                    <a:lnTo>
                      <a:pt x="244" y="0"/>
                    </a:lnTo>
                    <a:lnTo>
                      <a:pt x="249" y="0"/>
                    </a:lnTo>
                    <a:lnTo>
                      <a:pt x="255" y="0"/>
                    </a:lnTo>
                    <a:lnTo>
                      <a:pt x="260" y="2"/>
                    </a:lnTo>
                    <a:lnTo>
                      <a:pt x="265" y="3"/>
                    </a:lnTo>
                    <a:lnTo>
                      <a:pt x="268" y="7"/>
                    </a:lnTo>
                    <a:lnTo>
                      <a:pt x="272" y="10"/>
                    </a:lnTo>
                    <a:lnTo>
                      <a:pt x="277" y="13"/>
                    </a:lnTo>
                    <a:lnTo>
                      <a:pt x="280" y="16"/>
                    </a:lnTo>
                    <a:lnTo>
                      <a:pt x="286" y="24"/>
                    </a:lnTo>
                    <a:lnTo>
                      <a:pt x="290" y="29"/>
                    </a:lnTo>
                    <a:lnTo>
                      <a:pt x="291" y="33"/>
                    </a:lnTo>
                    <a:lnTo>
                      <a:pt x="293" y="38"/>
                    </a:lnTo>
                    <a:lnTo>
                      <a:pt x="294" y="44"/>
                    </a:lnTo>
                    <a:lnTo>
                      <a:pt x="296" y="51"/>
                    </a:lnTo>
                    <a:lnTo>
                      <a:pt x="296" y="55"/>
                    </a:lnTo>
                    <a:lnTo>
                      <a:pt x="296" y="60"/>
                    </a:lnTo>
                    <a:lnTo>
                      <a:pt x="296" y="54"/>
                    </a:lnTo>
                    <a:lnTo>
                      <a:pt x="297" y="49"/>
                    </a:lnTo>
                    <a:lnTo>
                      <a:pt x="297" y="43"/>
                    </a:lnTo>
                    <a:lnTo>
                      <a:pt x="299" y="38"/>
                    </a:lnTo>
                    <a:lnTo>
                      <a:pt x="300" y="33"/>
                    </a:lnTo>
                    <a:lnTo>
                      <a:pt x="304" y="27"/>
                    </a:lnTo>
                    <a:lnTo>
                      <a:pt x="310" y="19"/>
                    </a:lnTo>
                    <a:lnTo>
                      <a:pt x="313" y="14"/>
                    </a:lnTo>
                    <a:lnTo>
                      <a:pt x="316" y="11"/>
                    </a:lnTo>
                    <a:lnTo>
                      <a:pt x="321" y="8"/>
                    </a:lnTo>
                    <a:lnTo>
                      <a:pt x="324" y="5"/>
                    </a:lnTo>
                    <a:lnTo>
                      <a:pt x="328" y="3"/>
                    </a:lnTo>
                    <a:lnTo>
                      <a:pt x="333" y="2"/>
                    </a:lnTo>
                    <a:lnTo>
                      <a:pt x="338" y="0"/>
                    </a:lnTo>
                    <a:lnTo>
                      <a:pt x="344" y="0"/>
                    </a:lnTo>
                    <a:lnTo>
                      <a:pt x="349" y="0"/>
                    </a:lnTo>
                    <a:lnTo>
                      <a:pt x="353" y="0"/>
                    </a:lnTo>
                    <a:lnTo>
                      <a:pt x="358" y="2"/>
                    </a:lnTo>
                    <a:lnTo>
                      <a:pt x="363" y="3"/>
                    </a:lnTo>
                    <a:lnTo>
                      <a:pt x="367" y="7"/>
                    </a:lnTo>
                    <a:lnTo>
                      <a:pt x="372" y="10"/>
                    </a:lnTo>
                    <a:lnTo>
                      <a:pt x="375" y="13"/>
                    </a:lnTo>
                    <a:lnTo>
                      <a:pt x="380" y="16"/>
                    </a:lnTo>
                    <a:lnTo>
                      <a:pt x="386" y="24"/>
                    </a:lnTo>
                    <a:lnTo>
                      <a:pt x="388" y="29"/>
                    </a:lnTo>
                    <a:lnTo>
                      <a:pt x="391" y="33"/>
                    </a:lnTo>
                    <a:lnTo>
                      <a:pt x="392" y="38"/>
                    </a:lnTo>
                    <a:lnTo>
                      <a:pt x="394" y="44"/>
                    </a:lnTo>
                    <a:lnTo>
                      <a:pt x="394" y="51"/>
                    </a:lnTo>
                    <a:lnTo>
                      <a:pt x="395" y="55"/>
                    </a:lnTo>
                    <a:lnTo>
                      <a:pt x="395" y="6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64" name="Rectangle 97"/>
              <p:cNvSpPr>
                <a:spLocks noChangeArrowheads="1"/>
              </p:cNvSpPr>
              <p:nvPr/>
            </p:nvSpPr>
            <p:spPr bwMode="auto">
              <a:xfrm>
                <a:off x="4416" y="1233"/>
                <a:ext cx="28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7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endParaRPr lang="en-US" altLang="zh-CN"/>
              </a:p>
            </p:txBody>
          </p:sp>
          <p:sp>
            <p:nvSpPr>
              <p:cNvPr id="79965" name="Rectangle 98"/>
              <p:cNvSpPr>
                <a:spLocks noChangeArrowheads="1"/>
              </p:cNvSpPr>
              <p:nvPr/>
            </p:nvSpPr>
            <p:spPr bwMode="auto">
              <a:xfrm>
                <a:off x="4367" y="1197"/>
                <a:ext cx="58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  <a:endParaRPr lang="en-US" altLang="zh-CN"/>
              </a:p>
            </p:txBody>
          </p:sp>
          <p:sp>
            <p:nvSpPr>
              <p:cNvPr id="79966" name="Rectangle 99"/>
              <p:cNvSpPr>
                <a:spLocks noChangeArrowheads="1"/>
              </p:cNvSpPr>
              <p:nvPr/>
            </p:nvSpPr>
            <p:spPr bwMode="auto">
              <a:xfrm>
                <a:off x="4416" y="1792"/>
                <a:ext cx="28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7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US" altLang="zh-CN"/>
              </a:p>
            </p:txBody>
          </p:sp>
          <p:sp>
            <p:nvSpPr>
              <p:cNvPr id="79967" name="Rectangle 100"/>
              <p:cNvSpPr>
                <a:spLocks noChangeArrowheads="1"/>
              </p:cNvSpPr>
              <p:nvPr/>
            </p:nvSpPr>
            <p:spPr bwMode="auto">
              <a:xfrm>
                <a:off x="4360" y="1753"/>
                <a:ext cx="58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  <a:endParaRPr lang="en-US" altLang="zh-CN"/>
              </a:p>
            </p:txBody>
          </p:sp>
          <p:sp>
            <p:nvSpPr>
              <p:cNvPr id="79968" name="Rectangle 101"/>
              <p:cNvSpPr>
                <a:spLocks noChangeArrowheads="1"/>
              </p:cNvSpPr>
              <p:nvPr/>
            </p:nvSpPr>
            <p:spPr bwMode="auto">
              <a:xfrm>
                <a:off x="4784" y="1329"/>
                <a:ext cx="48" cy="11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200" i="1">
                    <a:solidFill>
                      <a:srgbClr val="000000"/>
                    </a:solidFill>
                    <a:latin typeface="宋体" pitchFamily="2" charset="-122"/>
                  </a:rPr>
                  <a:t>L</a:t>
                </a:r>
                <a:endParaRPr lang="en-US" altLang="zh-CN" sz="1200"/>
              </a:p>
            </p:txBody>
          </p:sp>
          <p:sp>
            <p:nvSpPr>
              <p:cNvPr id="79969" name="Freeform 102"/>
              <p:cNvSpPr>
                <a:spLocks noEditPoints="1"/>
              </p:cNvSpPr>
              <p:nvPr/>
            </p:nvSpPr>
            <p:spPr bwMode="auto">
              <a:xfrm>
                <a:off x="3870" y="1867"/>
                <a:ext cx="13" cy="113"/>
              </a:xfrm>
              <a:custGeom>
                <a:avLst/>
                <a:gdLst>
                  <a:gd name="T0" fmla="*/ 1 w 25"/>
                  <a:gd name="T1" fmla="*/ 4 h 225"/>
                  <a:gd name="T2" fmla="*/ 1 w 25"/>
                  <a:gd name="T3" fmla="*/ 4 h 225"/>
                  <a:gd name="T4" fmla="*/ 1 w 25"/>
                  <a:gd name="T5" fmla="*/ 4 h 225"/>
                  <a:gd name="T6" fmla="*/ 0 w 25"/>
                  <a:gd name="T7" fmla="*/ 4 h 225"/>
                  <a:gd name="T8" fmla="*/ 0 w 25"/>
                  <a:gd name="T9" fmla="*/ 4 h 225"/>
                  <a:gd name="T10" fmla="*/ 1 w 25"/>
                  <a:gd name="T11" fmla="*/ 4 h 225"/>
                  <a:gd name="T12" fmla="*/ 1 w 25"/>
                  <a:gd name="T13" fmla="*/ 4 h 225"/>
                  <a:gd name="T14" fmla="*/ 1 w 25"/>
                  <a:gd name="T15" fmla="*/ 4 h 225"/>
                  <a:gd name="T16" fmla="*/ 1 w 25"/>
                  <a:gd name="T17" fmla="*/ 4 h 225"/>
                  <a:gd name="T18" fmla="*/ 1 w 25"/>
                  <a:gd name="T19" fmla="*/ 4 h 225"/>
                  <a:gd name="T20" fmla="*/ 1 w 25"/>
                  <a:gd name="T21" fmla="*/ 4 h 225"/>
                  <a:gd name="T22" fmla="*/ 1 w 25"/>
                  <a:gd name="T23" fmla="*/ 4 h 225"/>
                  <a:gd name="T24" fmla="*/ 1 w 25"/>
                  <a:gd name="T25" fmla="*/ 4 h 225"/>
                  <a:gd name="T26" fmla="*/ 1 w 25"/>
                  <a:gd name="T27" fmla="*/ 4 h 225"/>
                  <a:gd name="T28" fmla="*/ 1 w 25"/>
                  <a:gd name="T29" fmla="*/ 4 h 225"/>
                  <a:gd name="T30" fmla="*/ 1 w 25"/>
                  <a:gd name="T31" fmla="*/ 4 h 225"/>
                  <a:gd name="T32" fmla="*/ 1 w 25"/>
                  <a:gd name="T33" fmla="*/ 4 h 225"/>
                  <a:gd name="T34" fmla="*/ 1 w 25"/>
                  <a:gd name="T35" fmla="*/ 4 h 225"/>
                  <a:gd name="T36" fmla="*/ 1 w 25"/>
                  <a:gd name="T37" fmla="*/ 0 h 225"/>
                  <a:gd name="T38" fmla="*/ 1 w 25"/>
                  <a:gd name="T39" fmla="*/ 1 h 225"/>
                  <a:gd name="T40" fmla="*/ 1 w 25"/>
                  <a:gd name="T41" fmla="*/ 1 h 225"/>
                  <a:gd name="T42" fmla="*/ 0 w 25"/>
                  <a:gd name="T43" fmla="*/ 1 h 225"/>
                  <a:gd name="T44" fmla="*/ 0 w 25"/>
                  <a:gd name="T45" fmla="*/ 1 h 225"/>
                  <a:gd name="T46" fmla="*/ 1 w 25"/>
                  <a:gd name="T47" fmla="*/ 1 h 225"/>
                  <a:gd name="T48" fmla="*/ 1 w 25"/>
                  <a:gd name="T49" fmla="*/ 1 h 225"/>
                  <a:gd name="T50" fmla="*/ 1 w 25"/>
                  <a:gd name="T51" fmla="*/ 1 h 225"/>
                  <a:gd name="T52" fmla="*/ 1 w 25"/>
                  <a:gd name="T53" fmla="*/ 1 h 225"/>
                  <a:gd name="T54" fmla="*/ 1 w 25"/>
                  <a:gd name="T55" fmla="*/ 1 h 225"/>
                  <a:gd name="T56" fmla="*/ 1 w 25"/>
                  <a:gd name="T57" fmla="*/ 1 h 225"/>
                  <a:gd name="T58" fmla="*/ 1 w 25"/>
                  <a:gd name="T59" fmla="*/ 1 h 225"/>
                  <a:gd name="T60" fmla="*/ 1 w 25"/>
                  <a:gd name="T61" fmla="*/ 1 h 225"/>
                  <a:gd name="T62" fmla="*/ 1 w 25"/>
                  <a:gd name="T63" fmla="*/ 1 h 225"/>
                  <a:gd name="T64" fmla="*/ 1 w 25"/>
                  <a:gd name="T65" fmla="*/ 1 h 225"/>
                  <a:gd name="T66" fmla="*/ 1 w 25"/>
                  <a:gd name="T67" fmla="*/ 1 h 225"/>
                  <a:gd name="T68" fmla="*/ 1 w 25"/>
                  <a:gd name="T69" fmla="*/ 0 h 225"/>
                  <a:gd name="T70" fmla="*/ 1 w 25"/>
                  <a:gd name="T71" fmla="*/ 0 h 225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5"/>
                  <a:gd name="T109" fmla="*/ 0 h 225"/>
                  <a:gd name="T110" fmla="*/ 25 w 25"/>
                  <a:gd name="T111" fmla="*/ 225 h 225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5" h="225">
                    <a:moveTo>
                      <a:pt x="12" y="200"/>
                    </a:moveTo>
                    <a:lnTo>
                      <a:pt x="9" y="200"/>
                    </a:lnTo>
                    <a:lnTo>
                      <a:pt x="7" y="201"/>
                    </a:lnTo>
                    <a:lnTo>
                      <a:pt x="4" y="203"/>
                    </a:lnTo>
                    <a:lnTo>
                      <a:pt x="3" y="204"/>
                    </a:lnTo>
                    <a:lnTo>
                      <a:pt x="1" y="206"/>
                    </a:lnTo>
                    <a:lnTo>
                      <a:pt x="1" y="207"/>
                    </a:lnTo>
                    <a:lnTo>
                      <a:pt x="0" y="211"/>
                    </a:lnTo>
                    <a:lnTo>
                      <a:pt x="0" y="212"/>
                    </a:lnTo>
                    <a:lnTo>
                      <a:pt x="0" y="215"/>
                    </a:lnTo>
                    <a:lnTo>
                      <a:pt x="1" y="217"/>
                    </a:lnTo>
                    <a:lnTo>
                      <a:pt x="1" y="220"/>
                    </a:lnTo>
                    <a:lnTo>
                      <a:pt x="3" y="222"/>
                    </a:lnTo>
                    <a:lnTo>
                      <a:pt x="4" y="223"/>
                    </a:lnTo>
                    <a:lnTo>
                      <a:pt x="7" y="223"/>
                    </a:lnTo>
                    <a:lnTo>
                      <a:pt x="9" y="225"/>
                    </a:lnTo>
                    <a:lnTo>
                      <a:pt x="12" y="225"/>
                    </a:lnTo>
                    <a:lnTo>
                      <a:pt x="14" y="225"/>
                    </a:lnTo>
                    <a:lnTo>
                      <a:pt x="17" y="223"/>
                    </a:lnTo>
                    <a:lnTo>
                      <a:pt x="18" y="223"/>
                    </a:lnTo>
                    <a:lnTo>
                      <a:pt x="20" y="222"/>
                    </a:lnTo>
                    <a:lnTo>
                      <a:pt x="21" y="220"/>
                    </a:lnTo>
                    <a:lnTo>
                      <a:pt x="23" y="217"/>
                    </a:lnTo>
                    <a:lnTo>
                      <a:pt x="25" y="215"/>
                    </a:lnTo>
                    <a:lnTo>
                      <a:pt x="25" y="212"/>
                    </a:lnTo>
                    <a:lnTo>
                      <a:pt x="25" y="211"/>
                    </a:lnTo>
                    <a:lnTo>
                      <a:pt x="23" y="207"/>
                    </a:lnTo>
                    <a:lnTo>
                      <a:pt x="21" y="206"/>
                    </a:lnTo>
                    <a:lnTo>
                      <a:pt x="21" y="204"/>
                    </a:lnTo>
                    <a:lnTo>
                      <a:pt x="18" y="203"/>
                    </a:lnTo>
                    <a:lnTo>
                      <a:pt x="17" y="201"/>
                    </a:lnTo>
                    <a:lnTo>
                      <a:pt x="14" y="200"/>
                    </a:lnTo>
                    <a:lnTo>
                      <a:pt x="12" y="200"/>
                    </a:lnTo>
                    <a:close/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3"/>
                    </a:lnTo>
                    <a:lnTo>
                      <a:pt x="3" y="5"/>
                    </a:lnTo>
                    <a:lnTo>
                      <a:pt x="1" y="6"/>
                    </a:lnTo>
                    <a:lnTo>
                      <a:pt x="1" y="8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1" y="17"/>
                    </a:lnTo>
                    <a:lnTo>
                      <a:pt x="1" y="20"/>
                    </a:lnTo>
                    <a:lnTo>
                      <a:pt x="3" y="22"/>
                    </a:lnTo>
                    <a:lnTo>
                      <a:pt x="4" y="23"/>
                    </a:lnTo>
                    <a:lnTo>
                      <a:pt x="7" y="25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5"/>
                    </a:lnTo>
                    <a:lnTo>
                      <a:pt x="18" y="23"/>
                    </a:lnTo>
                    <a:lnTo>
                      <a:pt x="20" y="22"/>
                    </a:lnTo>
                    <a:lnTo>
                      <a:pt x="21" y="20"/>
                    </a:lnTo>
                    <a:lnTo>
                      <a:pt x="23" y="17"/>
                    </a:lnTo>
                    <a:lnTo>
                      <a:pt x="25" y="16"/>
                    </a:lnTo>
                    <a:lnTo>
                      <a:pt x="25" y="12"/>
                    </a:lnTo>
                    <a:lnTo>
                      <a:pt x="25" y="11"/>
                    </a:lnTo>
                    <a:lnTo>
                      <a:pt x="23" y="8"/>
                    </a:lnTo>
                    <a:lnTo>
                      <a:pt x="21" y="6"/>
                    </a:lnTo>
                    <a:lnTo>
                      <a:pt x="21" y="5"/>
                    </a:lnTo>
                    <a:lnTo>
                      <a:pt x="18" y="3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70" name="Freeform 103"/>
              <p:cNvSpPr>
                <a:spLocks/>
              </p:cNvSpPr>
              <p:nvPr/>
            </p:nvSpPr>
            <p:spPr bwMode="auto">
              <a:xfrm>
                <a:off x="3870" y="1967"/>
                <a:ext cx="13" cy="13"/>
              </a:xfrm>
              <a:custGeom>
                <a:avLst/>
                <a:gdLst>
                  <a:gd name="T0" fmla="*/ 1 w 25"/>
                  <a:gd name="T1" fmla="*/ 0 h 25"/>
                  <a:gd name="T2" fmla="*/ 1 w 25"/>
                  <a:gd name="T3" fmla="*/ 0 h 25"/>
                  <a:gd name="T4" fmla="*/ 1 w 25"/>
                  <a:gd name="T5" fmla="*/ 1 h 25"/>
                  <a:gd name="T6" fmla="*/ 1 w 25"/>
                  <a:gd name="T7" fmla="*/ 1 h 25"/>
                  <a:gd name="T8" fmla="*/ 1 w 25"/>
                  <a:gd name="T9" fmla="*/ 1 h 25"/>
                  <a:gd name="T10" fmla="*/ 1 w 25"/>
                  <a:gd name="T11" fmla="*/ 1 h 25"/>
                  <a:gd name="T12" fmla="*/ 1 w 25"/>
                  <a:gd name="T13" fmla="*/ 1 h 25"/>
                  <a:gd name="T14" fmla="*/ 0 w 25"/>
                  <a:gd name="T15" fmla="*/ 1 h 25"/>
                  <a:gd name="T16" fmla="*/ 0 w 25"/>
                  <a:gd name="T17" fmla="*/ 1 h 25"/>
                  <a:gd name="T18" fmla="*/ 0 w 25"/>
                  <a:gd name="T19" fmla="*/ 1 h 25"/>
                  <a:gd name="T20" fmla="*/ 1 w 25"/>
                  <a:gd name="T21" fmla="*/ 1 h 25"/>
                  <a:gd name="T22" fmla="*/ 1 w 25"/>
                  <a:gd name="T23" fmla="*/ 1 h 25"/>
                  <a:gd name="T24" fmla="*/ 1 w 25"/>
                  <a:gd name="T25" fmla="*/ 1 h 25"/>
                  <a:gd name="T26" fmla="*/ 1 w 25"/>
                  <a:gd name="T27" fmla="*/ 1 h 25"/>
                  <a:gd name="T28" fmla="*/ 1 w 25"/>
                  <a:gd name="T29" fmla="*/ 1 h 25"/>
                  <a:gd name="T30" fmla="*/ 1 w 25"/>
                  <a:gd name="T31" fmla="*/ 1 h 25"/>
                  <a:gd name="T32" fmla="*/ 1 w 25"/>
                  <a:gd name="T33" fmla="*/ 1 h 25"/>
                  <a:gd name="T34" fmla="*/ 1 w 25"/>
                  <a:gd name="T35" fmla="*/ 1 h 25"/>
                  <a:gd name="T36" fmla="*/ 1 w 25"/>
                  <a:gd name="T37" fmla="*/ 1 h 25"/>
                  <a:gd name="T38" fmla="*/ 1 w 25"/>
                  <a:gd name="T39" fmla="*/ 1 h 25"/>
                  <a:gd name="T40" fmla="*/ 1 w 25"/>
                  <a:gd name="T41" fmla="*/ 1 h 25"/>
                  <a:gd name="T42" fmla="*/ 1 w 25"/>
                  <a:gd name="T43" fmla="*/ 1 h 25"/>
                  <a:gd name="T44" fmla="*/ 1 w 25"/>
                  <a:gd name="T45" fmla="*/ 1 h 25"/>
                  <a:gd name="T46" fmla="*/ 1 w 25"/>
                  <a:gd name="T47" fmla="*/ 1 h 25"/>
                  <a:gd name="T48" fmla="*/ 1 w 25"/>
                  <a:gd name="T49" fmla="*/ 1 h 25"/>
                  <a:gd name="T50" fmla="*/ 1 w 25"/>
                  <a:gd name="T51" fmla="*/ 1 h 25"/>
                  <a:gd name="T52" fmla="*/ 1 w 25"/>
                  <a:gd name="T53" fmla="*/ 1 h 25"/>
                  <a:gd name="T54" fmla="*/ 1 w 25"/>
                  <a:gd name="T55" fmla="*/ 1 h 25"/>
                  <a:gd name="T56" fmla="*/ 1 w 25"/>
                  <a:gd name="T57" fmla="*/ 1 h 25"/>
                  <a:gd name="T58" fmla="*/ 1 w 25"/>
                  <a:gd name="T59" fmla="*/ 1 h 25"/>
                  <a:gd name="T60" fmla="*/ 1 w 25"/>
                  <a:gd name="T61" fmla="*/ 1 h 25"/>
                  <a:gd name="T62" fmla="*/ 1 w 25"/>
                  <a:gd name="T63" fmla="*/ 1 h 25"/>
                  <a:gd name="T64" fmla="*/ 1 w 25"/>
                  <a:gd name="T65" fmla="*/ 0 h 25"/>
                  <a:gd name="T66" fmla="*/ 1 w 25"/>
                  <a:gd name="T67" fmla="*/ 0 h 25"/>
                  <a:gd name="T68" fmla="*/ 1 w 25"/>
                  <a:gd name="T69" fmla="*/ 0 h 2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5"/>
                  <a:gd name="T106" fmla="*/ 0 h 25"/>
                  <a:gd name="T107" fmla="*/ 25 w 25"/>
                  <a:gd name="T108" fmla="*/ 25 h 25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5" h="25"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3"/>
                    </a:lnTo>
                    <a:lnTo>
                      <a:pt x="3" y="4"/>
                    </a:lnTo>
                    <a:lnTo>
                      <a:pt x="1" y="6"/>
                    </a:lnTo>
                    <a:lnTo>
                      <a:pt x="1" y="7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1" y="17"/>
                    </a:lnTo>
                    <a:lnTo>
                      <a:pt x="1" y="20"/>
                    </a:lnTo>
                    <a:lnTo>
                      <a:pt x="3" y="22"/>
                    </a:lnTo>
                    <a:lnTo>
                      <a:pt x="4" y="23"/>
                    </a:lnTo>
                    <a:lnTo>
                      <a:pt x="7" y="23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3"/>
                    </a:lnTo>
                    <a:lnTo>
                      <a:pt x="18" y="23"/>
                    </a:lnTo>
                    <a:lnTo>
                      <a:pt x="20" y="22"/>
                    </a:lnTo>
                    <a:lnTo>
                      <a:pt x="21" y="20"/>
                    </a:lnTo>
                    <a:lnTo>
                      <a:pt x="23" y="17"/>
                    </a:lnTo>
                    <a:lnTo>
                      <a:pt x="25" y="15"/>
                    </a:lnTo>
                    <a:lnTo>
                      <a:pt x="25" y="12"/>
                    </a:lnTo>
                    <a:lnTo>
                      <a:pt x="25" y="11"/>
                    </a:lnTo>
                    <a:lnTo>
                      <a:pt x="23" y="7"/>
                    </a:lnTo>
                    <a:lnTo>
                      <a:pt x="21" y="6"/>
                    </a:lnTo>
                    <a:lnTo>
                      <a:pt x="21" y="4"/>
                    </a:lnTo>
                    <a:lnTo>
                      <a:pt x="18" y="3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71" name="Freeform 104"/>
              <p:cNvSpPr>
                <a:spLocks/>
              </p:cNvSpPr>
              <p:nvPr/>
            </p:nvSpPr>
            <p:spPr bwMode="auto">
              <a:xfrm>
                <a:off x="3870" y="1867"/>
                <a:ext cx="13" cy="13"/>
              </a:xfrm>
              <a:custGeom>
                <a:avLst/>
                <a:gdLst>
                  <a:gd name="T0" fmla="*/ 1 w 25"/>
                  <a:gd name="T1" fmla="*/ 0 h 25"/>
                  <a:gd name="T2" fmla="*/ 1 w 25"/>
                  <a:gd name="T3" fmla="*/ 0 h 25"/>
                  <a:gd name="T4" fmla="*/ 1 w 25"/>
                  <a:gd name="T5" fmla="*/ 1 h 25"/>
                  <a:gd name="T6" fmla="*/ 1 w 25"/>
                  <a:gd name="T7" fmla="*/ 1 h 25"/>
                  <a:gd name="T8" fmla="*/ 1 w 25"/>
                  <a:gd name="T9" fmla="*/ 1 h 25"/>
                  <a:gd name="T10" fmla="*/ 1 w 25"/>
                  <a:gd name="T11" fmla="*/ 1 h 25"/>
                  <a:gd name="T12" fmla="*/ 1 w 25"/>
                  <a:gd name="T13" fmla="*/ 1 h 25"/>
                  <a:gd name="T14" fmla="*/ 0 w 25"/>
                  <a:gd name="T15" fmla="*/ 1 h 25"/>
                  <a:gd name="T16" fmla="*/ 0 w 25"/>
                  <a:gd name="T17" fmla="*/ 1 h 25"/>
                  <a:gd name="T18" fmla="*/ 0 w 25"/>
                  <a:gd name="T19" fmla="*/ 1 h 25"/>
                  <a:gd name="T20" fmla="*/ 1 w 25"/>
                  <a:gd name="T21" fmla="*/ 1 h 25"/>
                  <a:gd name="T22" fmla="*/ 1 w 25"/>
                  <a:gd name="T23" fmla="*/ 1 h 25"/>
                  <a:gd name="T24" fmla="*/ 1 w 25"/>
                  <a:gd name="T25" fmla="*/ 1 h 25"/>
                  <a:gd name="T26" fmla="*/ 1 w 25"/>
                  <a:gd name="T27" fmla="*/ 1 h 25"/>
                  <a:gd name="T28" fmla="*/ 1 w 25"/>
                  <a:gd name="T29" fmla="*/ 1 h 25"/>
                  <a:gd name="T30" fmla="*/ 1 w 25"/>
                  <a:gd name="T31" fmla="*/ 1 h 25"/>
                  <a:gd name="T32" fmla="*/ 1 w 25"/>
                  <a:gd name="T33" fmla="*/ 1 h 25"/>
                  <a:gd name="T34" fmla="*/ 1 w 25"/>
                  <a:gd name="T35" fmla="*/ 1 h 25"/>
                  <a:gd name="T36" fmla="*/ 1 w 25"/>
                  <a:gd name="T37" fmla="*/ 1 h 25"/>
                  <a:gd name="T38" fmla="*/ 1 w 25"/>
                  <a:gd name="T39" fmla="*/ 1 h 25"/>
                  <a:gd name="T40" fmla="*/ 1 w 25"/>
                  <a:gd name="T41" fmla="*/ 1 h 25"/>
                  <a:gd name="T42" fmla="*/ 1 w 25"/>
                  <a:gd name="T43" fmla="*/ 1 h 25"/>
                  <a:gd name="T44" fmla="*/ 1 w 25"/>
                  <a:gd name="T45" fmla="*/ 1 h 25"/>
                  <a:gd name="T46" fmla="*/ 1 w 25"/>
                  <a:gd name="T47" fmla="*/ 1 h 25"/>
                  <a:gd name="T48" fmla="*/ 1 w 25"/>
                  <a:gd name="T49" fmla="*/ 1 h 25"/>
                  <a:gd name="T50" fmla="*/ 1 w 25"/>
                  <a:gd name="T51" fmla="*/ 1 h 25"/>
                  <a:gd name="T52" fmla="*/ 1 w 25"/>
                  <a:gd name="T53" fmla="*/ 1 h 25"/>
                  <a:gd name="T54" fmla="*/ 1 w 25"/>
                  <a:gd name="T55" fmla="*/ 1 h 25"/>
                  <a:gd name="T56" fmla="*/ 1 w 25"/>
                  <a:gd name="T57" fmla="*/ 1 h 25"/>
                  <a:gd name="T58" fmla="*/ 1 w 25"/>
                  <a:gd name="T59" fmla="*/ 1 h 25"/>
                  <a:gd name="T60" fmla="*/ 1 w 25"/>
                  <a:gd name="T61" fmla="*/ 1 h 25"/>
                  <a:gd name="T62" fmla="*/ 1 w 25"/>
                  <a:gd name="T63" fmla="*/ 1 h 25"/>
                  <a:gd name="T64" fmla="*/ 1 w 25"/>
                  <a:gd name="T65" fmla="*/ 0 h 25"/>
                  <a:gd name="T66" fmla="*/ 1 w 25"/>
                  <a:gd name="T67" fmla="*/ 0 h 25"/>
                  <a:gd name="T68" fmla="*/ 1 w 25"/>
                  <a:gd name="T69" fmla="*/ 0 h 2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5"/>
                  <a:gd name="T106" fmla="*/ 0 h 25"/>
                  <a:gd name="T107" fmla="*/ 25 w 25"/>
                  <a:gd name="T108" fmla="*/ 25 h 25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5" h="25"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3"/>
                    </a:lnTo>
                    <a:lnTo>
                      <a:pt x="3" y="5"/>
                    </a:lnTo>
                    <a:lnTo>
                      <a:pt x="1" y="6"/>
                    </a:lnTo>
                    <a:lnTo>
                      <a:pt x="1" y="8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1" y="17"/>
                    </a:lnTo>
                    <a:lnTo>
                      <a:pt x="1" y="20"/>
                    </a:lnTo>
                    <a:lnTo>
                      <a:pt x="3" y="22"/>
                    </a:lnTo>
                    <a:lnTo>
                      <a:pt x="4" y="23"/>
                    </a:lnTo>
                    <a:lnTo>
                      <a:pt x="7" y="25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5"/>
                    </a:lnTo>
                    <a:lnTo>
                      <a:pt x="18" y="23"/>
                    </a:lnTo>
                    <a:lnTo>
                      <a:pt x="20" y="22"/>
                    </a:lnTo>
                    <a:lnTo>
                      <a:pt x="21" y="20"/>
                    </a:lnTo>
                    <a:lnTo>
                      <a:pt x="23" y="17"/>
                    </a:lnTo>
                    <a:lnTo>
                      <a:pt x="25" y="16"/>
                    </a:lnTo>
                    <a:lnTo>
                      <a:pt x="25" y="12"/>
                    </a:lnTo>
                    <a:lnTo>
                      <a:pt x="25" y="11"/>
                    </a:lnTo>
                    <a:lnTo>
                      <a:pt x="23" y="8"/>
                    </a:lnTo>
                    <a:lnTo>
                      <a:pt x="21" y="6"/>
                    </a:lnTo>
                    <a:lnTo>
                      <a:pt x="21" y="5"/>
                    </a:lnTo>
                    <a:lnTo>
                      <a:pt x="18" y="3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72" name="Line 105"/>
              <p:cNvSpPr>
                <a:spLocks noChangeShapeType="1"/>
              </p:cNvSpPr>
              <p:nvPr/>
            </p:nvSpPr>
            <p:spPr bwMode="auto">
              <a:xfrm>
                <a:off x="3879" y="1880"/>
                <a:ext cx="29" cy="8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73" name="Freeform 106"/>
              <p:cNvSpPr>
                <a:spLocks/>
              </p:cNvSpPr>
              <p:nvPr/>
            </p:nvSpPr>
            <p:spPr bwMode="auto">
              <a:xfrm>
                <a:off x="4200" y="1614"/>
                <a:ext cx="30" cy="200"/>
              </a:xfrm>
              <a:custGeom>
                <a:avLst/>
                <a:gdLst>
                  <a:gd name="T0" fmla="*/ 1 w 59"/>
                  <a:gd name="T1" fmla="*/ 0 h 400"/>
                  <a:gd name="T2" fmla="*/ 1 w 59"/>
                  <a:gd name="T3" fmla="*/ 1 h 400"/>
                  <a:gd name="T4" fmla="*/ 1 w 59"/>
                  <a:gd name="T5" fmla="*/ 1 h 400"/>
                  <a:gd name="T6" fmla="*/ 1 w 59"/>
                  <a:gd name="T7" fmla="*/ 1 h 400"/>
                  <a:gd name="T8" fmla="*/ 1 w 59"/>
                  <a:gd name="T9" fmla="*/ 1 h 400"/>
                  <a:gd name="T10" fmla="*/ 1 w 59"/>
                  <a:gd name="T11" fmla="*/ 1 h 400"/>
                  <a:gd name="T12" fmla="*/ 1 w 59"/>
                  <a:gd name="T13" fmla="*/ 1 h 400"/>
                  <a:gd name="T14" fmla="*/ 0 w 59"/>
                  <a:gd name="T15" fmla="*/ 1 h 400"/>
                  <a:gd name="T16" fmla="*/ 1 w 59"/>
                  <a:gd name="T17" fmla="*/ 1 h 400"/>
                  <a:gd name="T18" fmla="*/ 1 w 59"/>
                  <a:gd name="T19" fmla="*/ 2 h 400"/>
                  <a:gd name="T20" fmla="*/ 1 w 59"/>
                  <a:gd name="T21" fmla="*/ 2 h 400"/>
                  <a:gd name="T22" fmla="*/ 1 w 59"/>
                  <a:gd name="T23" fmla="*/ 2 h 400"/>
                  <a:gd name="T24" fmla="*/ 1 w 59"/>
                  <a:gd name="T25" fmla="*/ 2 h 400"/>
                  <a:gd name="T26" fmla="*/ 1 w 59"/>
                  <a:gd name="T27" fmla="*/ 2 h 400"/>
                  <a:gd name="T28" fmla="*/ 1 w 59"/>
                  <a:gd name="T29" fmla="*/ 2 h 400"/>
                  <a:gd name="T30" fmla="*/ 1 w 59"/>
                  <a:gd name="T31" fmla="*/ 2 h 400"/>
                  <a:gd name="T32" fmla="*/ 1 w 59"/>
                  <a:gd name="T33" fmla="*/ 2 h 400"/>
                  <a:gd name="T34" fmla="*/ 1 w 59"/>
                  <a:gd name="T35" fmla="*/ 2 h 400"/>
                  <a:gd name="T36" fmla="*/ 1 w 59"/>
                  <a:gd name="T37" fmla="*/ 2 h 400"/>
                  <a:gd name="T38" fmla="*/ 1 w 59"/>
                  <a:gd name="T39" fmla="*/ 2 h 400"/>
                  <a:gd name="T40" fmla="*/ 1 w 59"/>
                  <a:gd name="T41" fmla="*/ 2 h 400"/>
                  <a:gd name="T42" fmla="*/ 1 w 59"/>
                  <a:gd name="T43" fmla="*/ 3 h 400"/>
                  <a:gd name="T44" fmla="*/ 0 w 59"/>
                  <a:gd name="T45" fmla="*/ 3 h 400"/>
                  <a:gd name="T46" fmla="*/ 0 w 59"/>
                  <a:gd name="T47" fmla="*/ 3 h 400"/>
                  <a:gd name="T48" fmla="*/ 1 w 59"/>
                  <a:gd name="T49" fmla="*/ 3 h 400"/>
                  <a:gd name="T50" fmla="*/ 1 w 59"/>
                  <a:gd name="T51" fmla="*/ 3 h 400"/>
                  <a:gd name="T52" fmla="*/ 1 w 59"/>
                  <a:gd name="T53" fmla="*/ 3 h 400"/>
                  <a:gd name="T54" fmla="*/ 1 w 59"/>
                  <a:gd name="T55" fmla="*/ 3 h 400"/>
                  <a:gd name="T56" fmla="*/ 1 w 59"/>
                  <a:gd name="T57" fmla="*/ 4 h 400"/>
                  <a:gd name="T58" fmla="*/ 1 w 59"/>
                  <a:gd name="T59" fmla="*/ 4 h 400"/>
                  <a:gd name="T60" fmla="*/ 1 w 59"/>
                  <a:gd name="T61" fmla="*/ 4 h 400"/>
                  <a:gd name="T62" fmla="*/ 1 w 59"/>
                  <a:gd name="T63" fmla="*/ 4 h 400"/>
                  <a:gd name="T64" fmla="*/ 1 w 59"/>
                  <a:gd name="T65" fmla="*/ 4 h 400"/>
                  <a:gd name="T66" fmla="*/ 1 w 59"/>
                  <a:gd name="T67" fmla="*/ 4 h 400"/>
                  <a:gd name="T68" fmla="*/ 1 w 59"/>
                  <a:gd name="T69" fmla="*/ 4 h 400"/>
                  <a:gd name="T70" fmla="*/ 1 w 59"/>
                  <a:gd name="T71" fmla="*/ 4 h 400"/>
                  <a:gd name="T72" fmla="*/ 1 w 59"/>
                  <a:gd name="T73" fmla="*/ 4 h 400"/>
                  <a:gd name="T74" fmla="*/ 1 w 59"/>
                  <a:gd name="T75" fmla="*/ 4 h 400"/>
                  <a:gd name="T76" fmla="*/ 0 w 59"/>
                  <a:gd name="T77" fmla="*/ 4 h 400"/>
                  <a:gd name="T78" fmla="*/ 1 w 59"/>
                  <a:gd name="T79" fmla="*/ 5 h 400"/>
                  <a:gd name="T80" fmla="*/ 1 w 59"/>
                  <a:gd name="T81" fmla="*/ 5 h 400"/>
                  <a:gd name="T82" fmla="*/ 1 w 59"/>
                  <a:gd name="T83" fmla="*/ 5 h 400"/>
                  <a:gd name="T84" fmla="*/ 1 w 59"/>
                  <a:gd name="T85" fmla="*/ 5 h 400"/>
                  <a:gd name="T86" fmla="*/ 1 w 59"/>
                  <a:gd name="T87" fmla="*/ 5 h 400"/>
                  <a:gd name="T88" fmla="*/ 1 w 59"/>
                  <a:gd name="T89" fmla="*/ 5 h 400"/>
                  <a:gd name="T90" fmla="*/ 1 w 59"/>
                  <a:gd name="T91" fmla="*/ 5 h 400"/>
                  <a:gd name="T92" fmla="*/ 1 w 59"/>
                  <a:gd name="T93" fmla="*/ 5 h 400"/>
                  <a:gd name="T94" fmla="*/ 1 w 59"/>
                  <a:gd name="T95" fmla="*/ 5 h 400"/>
                  <a:gd name="T96" fmla="*/ 1 w 59"/>
                  <a:gd name="T97" fmla="*/ 5 h 400"/>
                  <a:gd name="T98" fmla="*/ 1 w 59"/>
                  <a:gd name="T99" fmla="*/ 5 h 400"/>
                  <a:gd name="T100" fmla="*/ 1 w 59"/>
                  <a:gd name="T101" fmla="*/ 5 h 400"/>
                  <a:gd name="T102" fmla="*/ 1 w 59"/>
                  <a:gd name="T103" fmla="*/ 6 h 400"/>
                  <a:gd name="T104" fmla="*/ 1 w 59"/>
                  <a:gd name="T105" fmla="*/ 6 h 400"/>
                  <a:gd name="T106" fmla="*/ 0 w 59"/>
                  <a:gd name="T107" fmla="*/ 6 h 400"/>
                  <a:gd name="T108" fmla="*/ 0 w 59"/>
                  <a:gd name="T109" fmla="*/ 6 h 400"/>
                  <a:gd name="T110" fmla="*/ 1 w 59"/>
                  <a:gd name="T111" fmla="*/ 6 h 400"/>
                  <a:gd name="T112" fmla="*/ 1 w 59"/>
                  <a:gd name="T113" fmla="*/ 6 h 400"/>
                  <a:gd name="T114" fmla="*/ 1 w 59"/>
                  <a:gd name="T115" fmla="*/ 6 h 400"/>
                  <a:gd name="T116" fmla="*/ 1 w 59"/>
                  <a:gd name="T117" fmla="*/ 7 h 400"/>
                  <a:gd name="T118" fmla="*/ 1 w 59"/>
                  <a:gd name="T119" fmla="*/ 7 h 400"/>
                  <a:gd name="T120" fmla="*/ 1 w 59"/>
                  <a:gd name="T121" fmla="*/ 7 h 400"/>
                  <a:gd name="T122" fmla="*/ 1 w 59"/>
                  <a:gd name="T123" fmla="*/ 7 h 40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59"/>
                  <a:gd name="T187" fmla="*/ 0 h 400"/>
                  <a:gd name="T188" fmla="*/ 59 w 59"/>
                  <a:gd name="T189" fmla="*/ 400 h 400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59" h="400">
                    <a:moveTo>
                      <a:pt x="59" y="0"/>
                    </a:moveTo>
                    <a:lnTo>
                      <a:pt x="53" y="0"/>
                    </a:lnTo>
                    <a:lnTo>
                      <a:pt x="49" y="0"/>
                    </a:lnTo>
                    <a:lnTo>
                      <a:pt x="42" y="2"/>
                    </a:lnTo>
                    <a:lnTo>
                      <a:pt x="38" y="3"/>
                    </a:lnTo>
                    <a:lnTo>
                      <a:pt x="33" y="5"/>
                    </a:lnTo>
                    <a:lnTo>
                      <a:pt x="28" y="8"/>
                    </a:lnTo>
                    <a:lnTo>
                      <a:pt x="19" y="13"/>
                    </a:lnTo>
                    <a:lnTo>
                      <a:pt x="14" y="16"/>
                    </a:lnTo>
                    <a:lnTo>
                      <a:pt x="11" y="21"/>
                    </a:lnTo>
                    <a:lnTo>
                      <a:pt x="8" y="24"/>
                    </a:lnTo>
                    <a:lnTo>
                      <a:pt x="7" y="28"/>
                    </a:lnTo>
                    <a:lnTo>
                      <a:pt x="3" y="33"/>
                    </a:lnTo>
                    <a:lnTo>
                      <a:pt x="2" y="38"/>
                    </a:lnTo>
                    <a:lnTo>
                      <a:pt x="0" y="43"/>
                    </a:lnTo>
                    <a:lnTo>
                      <a:pt x="0" y="47"/>
                    </a:lnTo>
                    <a:lnTo>
                      <a:pt x="0" y="54"/>
                    </a:lnTo>
                    <a:lnTo>
                      <a:pt x="2" y="58"/>
                    </a:lnTo>
                    <a:lnTo>
                      <a:pt x="2" y="63"/>
                    </a:lnTo>
                    <a:lnTo>
                      <a:pt x="3" y="68"/>
                    </a:lnTo>
                    <a:lnTo>
                      <a:pt x="7" y="73"/>
                    </a:lnTo>
                    <a:lnTo>
                      <a:pt x="10" y="76"/>
                    </a:lnTo>
                    <a:lnTo>
                      <a:pt x="13" y="80"/>
                    </a:lnTo>
                    <a:lnTo>
                      <a:pt x="16" y="84"/>
                    </a:lnTo>
                    <a:lnTo>
                      <a:pt x="24" y="90"/>
                    </a:lnTo>
                    <a:lnTo>
                      <a:pt x="28" y="93"/>
                    </a:lnTo>
                    <a:lnTo>
                      <a:pt x="33" y="95"/>
                    </a:lnTo>
                    <a:lnTo>
                      <a:pt x="38" y="98"/>
                    </a:lnTo>
                    <a:lnTo>
                      <a:pt x="44" y="99"/>
                    </a:lnTo>
                    <a:lnTo>
                      <a:pt x="50" y="99"/>
                    </a:lnTo>
                    <a:lnTo>
                      <a:pt x="55" y="99"/>
                    </a:lnTo>
                    <a:lnTo>
                      <a:pt x="59" y="99"/>
                    </a:lnTo>
                    <a:lnTo>
                      <a:pt x="53" y="99"/>
                    </a:lnTo>
                    <a:lnTo>
                      <a:pt x="49" y="101"/>
                    </a:lnTo>
                    <a:lnTo>
                      <a:pt x="42" y="101"/>
                    </a:lnTo>
                    <a:lnTo>
                      <a:pt x="38" y="102"/>
                    </a:lnTo>
                    <a:lnTo>
                      <a:pt x="33" y="106"/>
                    </a:lnTo>
                    <a:lnTo>
                      <a:pt x="28" y="107"/>
                    </a:lnTo>
                    <a:lnTo>
                      <a:pt x="19" y="113"/>
                    </a:lnTo>
                    <a:lnTo>
                      <a:pt x="14" y="117"/>
                    </a:lnTo>
                    <a:lnTo>
                      <a:pt x="11" y="120"/>
                    </a:lnTo>
                    <a:lnTo>
                      <a:pt x="8" y="124"/>
                    </a:lnTo>
                    <a:lnTo>
                      <a:pt x="7" y="129"/>
                    </a:lnTo>
                    <a:lnTo>
                      <a:pt x="3" y="134"/>
                    </a:lnTo>
                    <a:lnTo>
                      <a:pt x="2" y="139"/>
                    </a:lnTo>
                    <a:lnTo>
                      <a:pt x="0" y="143"/>
                    </a:lnTo>
                    <a:lnTo>
                      <a:pt x="0" y="148"/>
                    </a:lnTo>
                    <a:lnTo>
                      <a:pt x="0" y="153"/>
                    </a:lnTo>
                    <a:lnTo>
                      <a:pt x="2" y="157"/>
                    </a:lnTo>
                    <a:lnTo>
                      <a:pt x="2" y="162"/>
                    </a:lnTo>
                    <a:lnTo>
                      <a:pt x="3" y="167"/>
                    </a:lnTo>
                    <a:lnTo>
                      <a:pt x="7" y="172"/>
                    </a:lnTo>
                    <a:lnTo>
                      <a:pt x="10" y="176"/>
                    </a:lnTo>
                    <a:lnTo>
                      <a:pt x="13" y="180"/>
                    </a:lnTo>
                    <a:lnTo>
                      <a:pt x="16" y="184"/>
                    </a:lnTo>
                    <a:lnTo>
                      <a:pt x="24" y="191"/>
                    </a:lnTo>
                    <a:lnTo>
                      <a:pt x="28" y="192"/>
                    </a:lnTo>
                    <a:lnTo>
                      <a:pt x="33" y="195"/>
                    </a:lnTo>
                    <a:lnTo>
                      <a:pt x="38" y="197"/>
                    </a:lnTo>
                    <a:lnTo>
                      <a:pt x="44" y="198"/>
                    </a:lnTo>
                    <a:lnTo>
                      <a:pt x="50" y="200"/>
                    </a:lnTo>
                    <a:lnTo>
                      <a:pt x="55" y="200"/>
                    </a:lnTo>
                    <a:lnTo>
                      <a:pt x="59" y="200"/>
                    </a:lnTo>
                    <a:lnTo>
                      <a:pt x="53" y="200"/>
                    </a:lnTo>
                    <a:lnTo>
                      <a:pt x="49" y="200"/>
                    </a:lnTo>
                    <a:lnTo>
                      <a:pt x="42" y="202"/>
                    </a:lnTo>
                    <a:lnTo>
                      <a:pt x="38" y="203"/>
                    </a:lnTo>
                    <a:lnTo>
                      <a:pt x="33" y="205"/>
                    </a:lnTo>
                    <a:lnTo>
                      <a:pt x="28" y="208"/>
                    </a:lnTo>
                    <a:lnTo>
                      <a:pt x="19" y="213"/>
                    </a:lnTo>
                    <a:lnTo>
                      <a:pt x="14" y="216"/>
                    </a:lnTo>
                    <a:lnTo>
                      <a:pt x="11" y="220"/>
                    </a:lnTo>
                    <a:lnTo>
                      <a:pt x="8" y="224"/>
                    </a:lnTo>
                    <a:lnTo>
                      <a:pt x="7" y="228"/>
                    </a:lnTo>
                    <a:lnTo>
                      <a:pt x="3" y="233"/>
                    </a:lnTo>
                    <a:lnTo>
                      <a:pt x="2" y="238"/>
                    </a:lnTo>
                    <a:lnTo>
                      <a:pt x="0" y="242"/>
                    </a:lnTo>
                    <a:lnTo>
                      <a:pt x="0" y="247"/>
                    </a:lnTo>
                    <a:lnTo>
                      <a:pt x="0" y="253"/>
                    </a:lnTo>
                    <a:lnTo>
                      <a:pt x="2" y="258"/>
                    </a:lnTo>
                    <a:lnTo>
                      <a:pt x="2" y="263"/>
                    </a:lnTo>
                    <a:lnTo>
                      <a:pt x="3" y="268"/>
                    </a:lnTo>
                    <a:lnTo>
                      <a:pt x="7" y="272"/>
                    </a:lnTo>
                    <a:lnTo>
                      <a:pt x="10" y="276"/>
                    </a:lnTo>
                    <a:lnTo>
                      <a:pt x="13" y="280"/>
                    </a:lnTo>
                    <a:lnTo>
                      <a:pt x="16" y="283"/>
                    </a:lnTo>
                    <a:lnTo>
                      <a:pt x="24" y="290"/>
                    </a:lnTo>
                    <a:lnTo>
                      <a:pt x="28" y="293"/>
                    </a:lnTo>
                    <a:lnTo>
                      <a:pt x="33" y="294"/>
                    </a:lnTo>
                    <a:lnTo>
                      <a:pt x="38" y="298"/>
                    </a:lnTo>
                    <a:lnTo>
                      <a:pt x="44" y="299"/>
                    </a:lnTo>
                    <a:lnTo>
                      <a:pt x="50" y="299"/>
                    </a:lnTo>
                    <a:lnTo>
                      <a:pt x="55" y="299"/>
                    </a:lnTo>
                    <a:lnTo>
                      <a:pt x="59" y="299"/>
                    </a:lnTo>
                    <a:lnTo>
                      <a:pt x="53" y="301"/>
                    </a:lnTo>
                    <a:lnTo>
                      <a:pt x="49" y="301"/>
                    </a:lnTo>
                    <a:lnTo>
                      <a:pt x="42" y="302"/>
                    </a:lnTo>
                    <a:lnTo>
                      <a:pt x="38" y="302"/>
                    </a:lnTo>
                    <a:lnTo>
                      <a:pt x="33" y="305"/>
                    </a:lnTo>
                    <a:lnTo>
                      <a:pt x="28" y="307"/>
                    </a:lnTo>
                    <a:lnTo>
                      <a:pt x="19" y="313"/>
                    </a:lnTo>
                    <a:lnTo>
                      <a:pt x="14" y="316"/>
                    </a:lnTo>
                    <a:lnTo>
                      <a:pt x="11" y="320"/>
                    </a:lnTo>
                    <a:lnTo>
                      <a:pt x="8" y="324"/>
                    </a:lnTo>
                    <a:lnTo>
                      <a:pt x="7" y="329"/>
                    </a:lnTo>
                    <a:lnTo>
                      <a:pt x="3" y="334"/>
                    </a:lnTo>
                    <a:lnTo>
                      <a:pt x="2" y="338"/>
                    </a:lnTo>
                    <a:lnTo>
                      <a:pt x="0" y="343"/>
                    </a:lnTo>
                    <a:lnTo>
                      <a:pt x="0" y="348"/>
                    </a:lnTo>
                    <a:lnTo>
                      <a:pt x="0" y="353"/>
                    </a:lnTo>
                    <a:lnTo>
                      <a:pt x="2" y="357"/>
                    </a:lnTo>
                    <a:lnTo>
                      <a:pt x="2" y="362"/>
                    </a:lnTo>
                    <a:lnTo>
                      <a:pt x="3" y="367"/>
                    </a:lnTo>
                    <a:lnTo>
                      <a:pt x="7" y="371"/>
                    </a:lnTo>
                    <a:lnTo>
                      <a:pt x="10" y="376"/>
                    </a:lnTo>
                    <a:lnTo>
                      <a:pt x="13" y="379"/>
                    </a:lnTo>
                    <a:lnTo>
                      <a:pt x="16" y="384"/>
                    </a:lnTo>
                    <a:lnTo>
                      <a:pt x="24" y="390"/>
                    </a:lnTo>
                    <a:lnTo>
                      <a:pt x="28" y="394"/>
                    </a:lnTo>
                    <a:lnTo>
                      <a:pt x="33" y="395"/>
                    </a:lnTo>
                    <a:lnTo>
                      <a:pt x="38" y="397"/>
                    </a:lnTo>
                    <a:lnTo>
                      <a:pt x="44" y="398"/>
                    </a:lnTo>
                    <a:lnTo>
                      <a:pt x="50" y="400"/>
                    </a:lnTo>
                    <a:lnTo>
                      <a:pt x="55" y="400"/>
                    </a:lnTo>
                    <a:lnTo>
                      <a:pt x="59" y="40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74" name="Line 107"/>
              <p:cNvSpPr>
                <a:spLocks noChangeShapeType="1"/>
              </p:cNvSpPr>
              <p:nvPr/>
            </p:nvSpPr>
            <p:spPr bwMode="auto">
              <a:xfrm>
                <a:off x="4164" y="1619"/>
                <a:ext cx="1" cy="1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75" name="Line 108"/>
              <p:cNvSpPr>
                <a:spLocks noChangeShapeType="1"/>
              </p:cNvSpPr>
              <p:nvPr/>
            </p:nvSpPr>
            <p:spPr bwMode="auto">
              <a:xfrm flipV="1">
                <a:off x="4177" y="1619"/>
                <a:ext cx="1" cy="1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76" name="Freeform 109"/>
              <p:cNvSpPr>
                <a:spLocks/>
              </p:cNvSpPr>
              <p:nvPr/>
            </p:nvSpPr>
            <p:spPr bwMode="auto">
              <a:xfrm>
                <a:off x="4220" y="1621"/>
                <a:ext cx="24" cy="25"/>
              </a:xfrm>
              <a:custGeom>
                <a:avLst/>
                <a:gdLst>
                  <a:gd name="T0" fmla="*/ 0 w 50"/>
                  <a:gd name="T1" fmla="*/ 0 h 51"/>
                  <a:gd name="T2" fmla="*/ 0 w 50"/>
                  <a:gd name="T3" fmla="*/ 0 h 51"/>
                  <a:gd name="T4" fmla="*/ 0 w 50"/>
                  <a:gd name="T5" fmla="*/ 0 h 51"/>
                  <a:gd name="T6" fmla="*/ 0 w 50"/>
                  <a:gd name="T7" fmla="*/ 0 h 51"/>
                  <a:gd name="T8" fmla="*/ 0 w 50"/>
                  <a:gd name="T9" fmla="*/ 0 h 51"/>
                  <a:gd name="T10" fmla="*/ 0 w 50"/>
                  <a:gd name="T11" fmla="*/ 0 h 51"/>
                  <a:gd name="T12" fmla="*/ 0 w 50"/>
                  <a:gd name="T13" fmla="*/ 0 h 51"/>
                  <a:gd name="T14" fmla="*/ 0 w 50"/>
                  <a:gd name="T15" fmla="*/ 0 h 51"/>
                  <a:gd name="T16" fmla="*/ 0 w 50"/>
                  <a:gd name="T17" fmla="*/ 0 h 51"/>
                  <a:gd name="T18" fmla="*/ 0 w 50"/>
                  <a:gd name="T19" fmla="*/ 0 h 51"/>
                  <a:gd name="T20" fmla="*/ 0 w 50"/>
                  <a:gd name="T21" fmla="*/ 0 h 51"/>
                  <a:gd name="T22" fmla="*/ 0 w 50"/>
                  <a:gd name="T23" fmla="*/ 0 h 51"/>
                  <a:gd name="T24" fmla="*/ 0 w 50"/>
                  <a:gd name="T25" fmla="*/ 0 h 51"/>
                  <a:gd name="T26" fmla="*/ 0 w 50"/>
                  <a:gd name="T27" fmla="*/ 0 h 51"/>
                  <a:gd name="T28" fmla="*/ 0 w 50"/>
                  <a:gd name="T29" fmla="*/ 0 h 51"/>
                  <a:gd name="T30" fmla="*/ 0 w 50"/>
                  <a:gd name="T31" fmla="*/ 0 h 51"/>
                  <a:gd name="T32" fmla="*/ 0 w 50"/>
                  <a:gd name="T33" fmla="*/ 0 h 51"/>
                  <a:gd name="T34" fmla="*/ 0 w 50"/>
                  <a:gd name="T35" fmla="*/ 0 h 51"/>
                  <a:gd name="T36" fmla="*/ 0 w 50"/>
                  <a:gd name="T37" fmla="*/ 0 h 51"/>
                  <a:gd name="T38" fmla="*/ 0 w 50"/>
                  <a:gd name="T39" fmla="*/ 0 h 51"/>
                  <a:gd name="T40" fmla="*/ 0 w 50"/>
                  <a:gd name="T41" fmla="*/ 0 h 51"/>
                  <a:gd name="T42" fmla="*/ 0 w 50"/>
                  <a:gd name="T43" fmla="*/ 0 h 51"/>
                  <a:gd name="T44" fmla="*/ 0 w 50"/>
                  <a:gd name="T45" fmla="*/ 0 h 51"/>
                  <a:gd name="T46" fmla="*/ 0 w 50"/>
                  <a:gd name="T47" fmla="*/ 0 h 51"/>
                  <a:gd name="T48" fmla="*/ 0 w 50"/>
                  <a:gd name="T49" fmla="*/ 0 h 51"/>
                  <a:gd name="T50" fmla="*/ 0 w 50"/>
                  <a:gd name="T51" fmla="*/ 0 h 51"/>
                  <a:gd name="T52" fmla="*/ 0 w 50"/>
                  <a:gd name="T53" fmla="*/ 0 h 51"/>
                  <a:gd name="T54" fmla="*/ 0 w 50"/>
                  <a:gd name="T55" fmla="*/ 0 h 51"/>
                  <a:gd name="T56" fmla="*/ 0 w 50"/>
                  <a:gd name="T57" fmla="*/ 0 h 51"/>
                  <a:gd name="T58" fmla="*/ 0 w 50"/>
                  <a:gd name="T59" fmla="*/ 0 h 51"/>
                  <a:gd name="T60" fmla="*/ 0 w 50"/>
                  <a:gd name="T61" fmla="*/ 0 h 51"/>
                  <a:gd name="T62" fmla="*/ 0 w 50"/>
                  <a:gd name="T63" fmla="*/ 0 h 51"/>
                  <a:gd name="T64" fmla="*/ 0 w 50"/>
                  <a:gd name="T65" fmla="*/ 0 h 51"/>
                  <a:gd name="T66" fmla="*/ 0 w 50"/>
                  <a:gd name="T67" fmla="*/ 0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1"/>
                  <a:gd name="T104" fmla="*/ 50 w 50"/>
                  <a:gd name="T105" fmla="*/ 51 h 5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1">
                    <a:moveTo>
                      <a:pt x="0" y="25"/>
                    </a:moveTo>
                    <a:lnTo>
                      <a:pt x="2" y="21"/>
                    </a:lnTo>
                    <a:lnTo>
                      <a:pt x="3" y="16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3"/>
                    </a:lnTo>
                    <a:lnTo>
                      <a:pt x="20" y="2"/>
                    </a:lnTo>
                    <a:lnTo>
                      <a:pt x="25" y="0"/>
                    </a:lnTo>
                    <a:lnTo>
                      <a:pt x="31" y="2"/>
                    </a:lnTo>
                    <a:lnTo>
                      <a:pt x="36" y="3"/>
                    </a:lnTo>
                    <a:lnTo>
                      <a:pt x="39" y="5"/>
                    </a:lnTo>
                    <a:lnTo>
                      <a:pt x="44" y="8"/>
                    </a:lnTo>
                    <a:lnTo>
                      <a:pt x="47" y="11"/>
                    </a:lnTo>
                    <a:lnTo>
                      <a:pt x="48" y="16"/>
                    </a:lnTo>
                    <a:lnTo>
                      <a:pt x="50" y="21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7" y="40"/>
                    </a:lnTo>
                    <a:lnTo>
                      <a:pt x="44" y="44"/>
                    </a:lnTo>
                    <a:lnTo>
                      <a:pt x="39" y="48"/>
                    </a:lnTo>
                    <a:lnTo>
                      <a:pt x="36" y="49"/>
                    </a:lnTo>
                    <a:lnTo>
                      <a:pt x="31" y="51"/>
                    </a:lnTo>
                    <a:lnTo>
                      <a:pt x="25" y="51"/>
                    </a:lnTo>
                    <a:lnTo>
                      <a:pt x="20" y="51"/>
                    </a:lnTo>
                    <a:lnTo>
                      <a:pt x="16" y="49"/>
                    </a:lnTo>
                    <a:lnTo>
                      <a:pt x="11" y="48"/>
                    </a:lnTo>
                    <a:lnTo>
                      <a:pt x="8" y="44"/>
                    </a:lnTo>
                    <a:lnTo>
                      <a:pt x="5" y="40"/>
                    </a:lnTo>
                    <a:lnTo>
                      <a:pt x="3" y="35"/>
                    </a:lnTo>
                    <a:lnTo>
                      <a:pt x="2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77" name="Line 110"/>
              <p:cNvSpPr>
                <a:spLocks noChangeShapeType="1"/>
              </p:cNvSpPr>
              <p:nvPr/>
            </p:nvSpPr>
            <p:spPr bwMode="auto">
              <a:xfrm flipH="1">
                <a:off x="3875" y="1164"/>
                <a:ext cx="13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78" name="Freeform 111"/>
              <p:cNvSpPr>
                <a:spLocks/>
              </p:cNvSpPr>
              <p:nvPr/>
            </p:nvSpPr>
            <p:spPr bwMode="auto">
              <a:xfrm>
                <a:off x="3877" y="1974"/>
                <a:ext cx="157" cy="110"/>
              </a:xfrm>
              <a:custGeom>
                <a:avLst/>
                <a:gdLst>
                  <a:gd name="T0" fmla="*/ 4 w 316"/>
                  <a:gd name="T1" fmla="*/ 4 h 220"/>
                  <a:gd name="T2" fmla="*/ 0 w 316"/>
                  <a:gd name="T3" fmla="*/ 4 h 220"/>
                  <a:gd name="T4" fmla="*/ 0 w 316"/>
                  <a:gd name="T5" fmla="*/ 0 h 220"/>
                  <a:gd name="T6" fmla="*/ 0 60000 65536"/>
                  <a:gd name="T7" fmla="*/ 0 60000 65536"/>
                  <a:gd name="T8" fmla="*/ 0 60000 65536"/>
                  <a:gd name="T9" fmla="*/ 0 w 316"/>
                  <a:gd name="T10" fmla="*/ 0 h 220"/>
                  <a:gd name="T11" fmla="*/ 316 w 316"/>
                  <a:gd name="T12" fmla="*/ 220 h 2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6" h="220">
                    <a:moveTo>
                      <a:pt x="316" y="220"/>
                    </a:moveTo>
                    <a:lnTo>
                      <a:pt x="0" y="22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79" name="Line 112"/>
              <p:cNvSpPr>
                <a:spLocks noChangeShapeType="1"/>
              </p:cNvSpPr>
              <p:nvPr/>
            </p:nvSpPr>
            <p:spPr bwMode="auto">
              <a:xfrm flipH="1">
                <a:off x="3877" y="1764"/>
                <a:ext cx="157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80" name="Freeform 113"/>
              <p:cNvSpPr>
                <a:spLocks/>
              </p:cNvSpPr>
              <p:nvPr/>
            </p:nvSpPr>
            <p:spPr bwMode="auto">
              <a:xfrm>
                <a:off x="3864" y="1751"/>
                <a:ext cx="25" cy="25"/>
              </a:xfrm>
              <a:custGeom>
                <a:avLst/>
                <a:gdLst>
                  <a:gd name="T0" fmla="*/ 0 w 50"/>
                  <a:gd name="T1" fmla="*/ 1 h 50"/>
                  <a:gd name="T2" fmla="*/ 0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1 h 50"/>
                  <a:gd name="T16" fmla="*/ 1 w 50"/>
                  <a:gd name="T17" fmla="*/ 0 h 50"/>
                  <a:gd name="T18" fmla="*/ 1 w 50"/>
                  <a:gd name="T19" fmla="*/ 1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0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0" y="20"/>
                    </a:lnTo>
                    <a:lnTo>
                      <a:pt x="2" y="16"/>
                    </a:lnTo>
                    <a:lnTo>
                      <a:pt x="5" y="13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3"/>
                    </a:lnTo>
                    <a:lnTo>
                      <a:pt x="20" y="2"/>
                    </a:lnTo>
                    <a:lnTo>
                      <a:pt x="25" y="0"/>
                    </a:lnTo>
                    <a:lnTo>
                      <a:pt x="30" y="2"/>
                    </a:lnTo>
                    <a:lnTo>
                      <a:pt x="34" y="3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3"/>
                    </a:lnTo>
                    <a:lnTo>
                      <a:pt x="48" y="16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1"/>
                    </a:lnTo>
                    <a:lnTo>
                      <a:pt x="48" y="36"/>
                    </a:lnTo>
                    <a:lnTo>
                      <a:pt x="45" y="39"/>
                    </a:lnTo>
                    <a:lnTo>
                      <a:pt x="42" y="44"/>
                    </a:lnTo>
                    <a:lnTo>
                      <a:pt x="39" y="47"/>
                    </a:lnTo>
                    <a:lnTo>
                      <a:pt x="34" y="49"/>
                    </a:lnTo>
                    <a:lnTo>
                      <a:pt x="30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6" y="49"/>
                    </a:lnTo>
                    <a:lnTo>
                      <a:pt x="11" y="47"/>
                    </a:lnTo>
                    <a:lnTo>
                      <a:pt x="8" y="44"/>
                    </a:lnTo>
                    <a:lnTo>
                      <a:pt x="5" y="39"/>
                    </a:lnTo>
                    <a:lnTo>
                      <a:pt x="2" y="36"/>
                    </a:lnTo>
                    <a:lnTo>
                      <a:pt x="0" y="31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81" name="Freeform 114"/>
              <p:cNvSpPr>
                <a:spLocks/>
              </p:cNvSpPr>
              <p:nvPr/>
            </p:nvSpPr>
            <p:spPr bwMode="auto">
              <a:xfrm>
                <a:off x="3864" y="2071"/>
                <a:ext cx="25" cy="25"/>
              </a:xfrm>
              <a:custGeom>
                <a:avLst/>
                <a:gdLst>
                  <a:gd name="T0" fmla="*/ 0 w 50"/>
                  <a:gd name="T1" fmla="*/ 0 h 51"/>
                  <a:gd name="T2" fmla="*/ 0 w 50"/>
                  <a:gd name="T3" fmla="*/ 0 h 51"/>
                  <a:gd name="T4" fmla="*/ 1 w 50"/>
                  <a:gd name="T5" fmla="*/ 0 h 51"/>
                  <a:gd name="T6" fmla="*/ 1 w 50"/>
                  <a:gd name="T7" fmla="*/ 0 h 51"/>
                  <a:gd name="T8" fmla="*/ 1 w 50"/>
                  <a:gd name="T9" fmla="*/ 0 h 51"/>
                  <a:gd name="T10" fmla="*/ 1 w 50"/>
                  <a:gd name="T11" fmla="*/ 0 h 51"/>
                  <a:gd name="T12" fmla="*/ 1 w 50"/>
                  <a:gd name="T13" fmla="*/ 0 h 51"/>
                  <a:gd name="T14" fmla="*/ 1 w 50"/>
                  <a:gd name="T15" fmla="*/ 0 h 51"/>
                  <a:gd name="T16" fmla="*/ 1 w 50"/>
                  <a:gd name="T17" fmla="*/ 0 h 51"/>
                  <a:gd name="T18" fmla="*/ 1 w 50"/>
                  <a:gd name="T19" fmla="*/ 0 h 51"/>
                  <a:gd name="T20" fmla="*/ 1 w 50"/>
                  <a:gd name="T21" fmla="*/ 0 h 51"/>
                  <a:gd name="T22" fmla="*/ 1 w 50"/>
                  <a:gd name="T23" fmla="*/ 0 h 51"/>
                  <a:gd name="T24" fmla="*/ 1 w 50"/>
                  <a:gd name="T25" fmla="*/ 0 h 51"/>
                  <a:gd name="T26" fmla="*/ 1 w 50"/>
                  <a:gd name="T27" fmla="*/ 0 h 51"/>
                  <a:gd name="T28" fmla="*/ 1 w 50"/>
                  <a:gd name="T29" fmla="*/ 0 h 51"/>
                  <a:gd name="T30" fmla="*/ 1 w 50"/>
                  <a:gd name="T31" fmla="*/ 0 h 51"/>
                  <a:gd name="T32" fmla="*/ 1 w 50"/>
                  <a:gd name="T33" fmla="*/ 0 h 51"/>
                  <a:gd name="T34" fmla="*/ 1 w 50"/>
                  <a:gd name="T35" fmla="*/ 0 h 51"/>
                  <a:gd name="T36" fmla="*/ 1 w 50"/>
                  <a:gd name="T37" fmla="*/ 0 h 51"/>
                  <a:gd name="T38" fmla="*/ 1 w 50"/>
                  <a:gd name="T39" fmla="*/ 0 h 51"/>
                  <a:gd name="T40" fmla="*/ 1 w 50"/>
                  <a:gd name="T41" fmla="*/ 0 h 51"/>
                  <a:gd name="T42" fmla="*/ 1 w 50"/>
                  <a:gd name="T43" fmla="*/ 0 h 51"/>
                  <a:gd name="T44" fmla="*/ 1 w 50"/>
                  <a:gd name="T45" fmla="*/ 0 h 51"/>
                  <a:gd name="T46" fmla="*/ 1 w 50"/>
                  <a:gd name="T47" fmla="*/ 0 h 51"/>
                  <a:gd name="T48" fmla="*/ 1 w 50"/>
                  <a:gd name="T49" fmla="*/ 0 h 51"/>
                  <a:gd name="T50" fmla="*/ 1 w 50"/>
                  <a:gd name="T51" fmla="*/ 0 h 51"/>
                  <a:gd name="T52" fmla="*/ 1 w 50"/>
                  <a:gd name="T53" fmla="*/ 0 h 51"/>
                  <a:gd name="T54" fmla="*/ 1 w 50"/>
                  <a:gd name="T55" fmla="*/ 0 h 51"/>
                  <a:gd name="T56" fmla="*/ 1 w 50"/>
                  <a:gd name="T57" fmla="*/ 0 h 51"/>
                  <a:gd name="T58" fmla="*/ 1 w 50"/>
                  <a:gd name="T59" fmla="*/ 0 h 51"/>
                  <a:gd name="T60" fmla="*/ 1 w 50"/>
                  <a:gd name="T61" fmla="*/ 0 h 51"/>
                  <a:gd name="T62" fmla="*/ 1 w 50"/>
                  <a:gd name="T63" fmla="*/ 0 h 51"/>
                  <a:gd name="T64" fmla="*/ 0 w 50"/>
                  <a:gd name="T65" fmla="*/ 0 h 51"/>
                  <a:gd name="T66" fmla="*/ 0 w 50"/>
                  <a:gd name="T67" fmla="*/ 0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1"/>
                  <a:gd name="T104" fmla="*/ 50 w 50"/>
                  <a:gd name="T105" fmla="*/ 51 h 5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1">
                    <a:moveTo>
                      <a:pt x="0" y="25"/>
                    </a:moveTo>
                    <a:lnTo>
                      <a:pt x="0" y="21"/>
                    </a:lnTo>
                    <a:lnTo>
                      <a:pt x="2" y="16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0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1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40"/>
                    </a:lnTo>
                    <a:lnTo>
                      <a:pt x="42" y="43"/>
                    </a:lnTo>
                    <a:lnTo>
                      <a:pt x="39" y="46"/>
                    </a:lnTo>
                    <a:lnTo>
                      <a:pt x="34" y="49"/>
                    </a:lnTo>
                    <a:lnTo>
                      <a:pt x="30" y="51"/>
                    </a:lnTo>
                    <a:lnTo>
                      <a:pt x="25" y="51"/>
                    </a:lnTo>
                    <a:lnTo>
                      <a:pt x="20" y="51"/>
                    </a:lnTo>
                    <a:lnTo>
                      <a:pt x="16" y="49"/>
                    </a:lnTo>
                    <a:lnTo>
                      <a:pt x="11" y="46"/>
                    </a:lnTo>
                    <a:lnTo>
                      <a:pt x="8" y="43"/>
                    </a:lnTo>
                    <a:lnTo>
                      <a:pt x="5" y="40"/>
                    </a:lnTo>
                    <a:lnTo>
                      <a:pt x="2" y="35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82" name="Line 115"/>
              <p:cNvSpPr>
                <a:spLocks noChangeShapeType="1"/>
              </p:cNvSpPr>
              <p:nvPr/>
            </p:nvSpPr>
            <p:spPr bwMode="auto">
              <a:xfrm flipV="1">
                <a:off x="4230" y="1814"/>
                <a:ext cx="1" cy="8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83" name="Line 116"/>
              <p:cNvSpPr>
                <a:spLocks noChangeShapeType="1"/>
              </p:cNvSpPr>
              <p:nvPr/>
            </p:nvSpPr>
            <p:spPr bwMode="auto">
              <a:xfrm flipH="1" flipV="1">
                <a:off x="4546" y="1334"/>
                <a:ext cx="3" cy="56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84" name="Line 117"/>
              <p:cNvSpPr>
                <a:spLocks noChangeShapeType="1"/>
              </p:cNvSpPr>
              <p:nvPr/>
            </p:nvSpPr>
            <p:spPr bwMode="auto">
              <a:xfrm>
                <a:off x="4546" y="1334"/>
                <a:ext cx="150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85" name="Line 118"/>
              <p:cNvSpPr>
                <a:spLocks noChangeShapeType="1"/>
              </p:cNvSpPr>
              <p:nvPr/>
            </p:nvSpPr>
            <p:spPr bwMode="auto">
              <a:xfrm>
                <a:off x="5145" y="1527"/>
                <a:ext cx="1" cy="4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86" name="Freeform 119"/>
              <p:cNvSpPr>
                <a:spLocks/>
              </p:cNvSpPr>
              <p:nvPr/>
            </p:nvSpPr>
            <p:spPr bwMode="auto">
              <a:xfrm>
                <a:off x="4230" y="1614"/>
                <a:ext cx="911" cy="1"/>
              </a:xfrm>
              <a:custGeom>
                <a:avLst/>
                <a:gdLst>
                  <a:gd name="T0" fmla="*/ 0 w 1824"/>
                  <a:gd name="T1" fmla="*/ 0 h 1"/>
                  <a:gd name="T2" fmla="*/ 28 w 1824"/>
                  <a:gd name="T3" fmla="*/ 0 h 1"/>
                  <a:gd name="T4" fmla="*/ 28 w 182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824"/>
                  <a:gd name="T10" fmla="*/ 0 h 1"/>
                  <a:gd name="T11" fmla="*/ 1824 w 182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24" h="1">
                    <a:moveTo>
                      <a:pt x="0" y="0"/>
                    </a:moveTo>
                    <a:lnTo>
                      <a:pt x="1824" y="0"/>
                    </a:lnTo>
                    <a:lnTo>
                      <a:pt x="181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87" name="Line 120"/>
              <p:cNvSpPr>
                <a:spLocks noChangeShapeType="1"/>
              </p:cNvSpPr>
              <p:nvPr/>
            </p:nvSpPr>
            <p:spPr bwMode="auto">
              <a:xfrm>
                <a:off x="5145" y="1574"/>
                <a:ext cx="1" cy="4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88" name="Line 121"/>
              <p:cNvSpPr>
                <a:spLocks noChangeShapeType="1"/>
              </p:cNvSpPr>
              <p:nvPr/>
            </p:nvSpPr>
            <p:spPr bwMode="auto">
              <a:xfrm>
                <a:off x="4987" y="1574"/>
                <a:ext cx="1" cy="4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89" name="Freeform 122"/>
              <p:cNvSpPr>
                <a:spLocks/>
              </p:cNvSpPr>
              <p:nvPr/>
            </p:nvSpPr>
            <p:spPr bwMode="auto">
              <a:xfrm>
                <a:off x="4974" y="1601"/>
                <a:ext cx="25" cy="26"/>
              </a:xfrm>
              <a:custGeom>
                <a:avLst/>
                <a:gdLst>
                  <a:gd name="T0" fmla="*/ 0 w 50"/>
                  <a:gd name="T1" fmla="*/ 1 h 50"/>
                  <a:gd name="T2" fmla="*/ 1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1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2" y="20"/>
                    </a:lnTo>
                    <a:lnTo>
                      <a:pt x="3" y="16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1" y="0"/>
                    </a:lnTo>
                    <a:lnTo>
                      <a:pt x="36" y="2"/>
                    </a:lnTo>
                    <a:lnTo>
                      <a:pt x="39" y="5"/>
                    </a:lnTo>
                    <a:lnTo>
                      <a:pt x="44" y="8"/>
                    </a:lnTo>
                    <a:lnTo>
                      <a:pt x="47" y="11"/>
                    </a:lnTo>
                    <a:lnTo>
                      <a:pt x="48" y="16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7" y="39"/>
                    </a:lnTo>
                    <a:lnTo>
                      <a:pt x="44" y="42"/>
                    </a:lnTo>
                    <a:lnTo>
                      <a:pt x="39" y="46"/>
                    </a:lnTo>
                    <a:lnTo>
                      <a:pt x="36" y="49"/>
                    </a:lnTo>
                    <a:lnTo>
                      <a:pt x="31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6" y="49"/>
                    </a:lnTo>
                    <a:lnTo>
                      <a:pt x="11" y="46"/>
                    </a:lnTo>
                    <a:lnTo>
                      <a:pt x="8" y="42"/>
                    </a:lnTo>
                    <a:lnTo>
                      <a:pt x="5" y="39"/>
                    </a:lnTo>
                    <a:lnTo>
                      <a:pt x="3" y="35"/>
                    </a:lnTo>
                    <a:lnTo>
                      <a:pt x="2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90" name="Freeform 123"/>
              <p:cNvSpPr>
                <a:spLocks/>
              </p:cNvSpPr>
              <p:nvPr/>
            </p:nvSpPr>
            <p:spPr bwMode="auto">
              <a:xfrm>
                <a:off x="4534" y="1321"/>
                <a:ext cx="25" cy="26"/>
              </a:xfrm>
              <a:custGeom>
                <a:avLst/>
                <a:gdLst>
                  <a:gd name="T0" fmla="*/ 0 w 49"/>
                  <a:gd name="T1" fmla="*/ 1 h 50"/>
                  <a:gd name="T2" fmla="*/ 0 w 49"/>
                  <a:gd name="T3" fmla="*/ 1 h 50"/>
                  <a:gd name="T4" fmla="*/ 1 w 49"/>
                  <a:gd name="T5" fmla="*/ 1 h 50"/>
                  <a:gd name="T6" fmla="*/ 1 w 49"/>
                  <a:gd name="T7" fmla="*/ 1 h 50"/>
                  <a:gd name="T8" fmla="*/ 1 w 49"/>
                  <a:gd name="T9" fmla="*/ 1 h 50"/>
                  <a:gd name="T10" fmla="*/ 1 w 49"/>
                  <a:gd name="T11" fmla="*/ 1 h 50"/>
                  <a:gd name="T12" fmla="*/ 1 w 49"/>
                  <a:gd name="T13" fmla="*/ 1 h 50"/>
                  <a:gd name="T14" fmla="*/ 1 w 49"/>
                  <a:gd name="T15" fmla="*/ 0 h 50"/>
                  <a:gd name="T16" fmla="*/ 1 w 49"/>
                  <a:gd name="T17" fmla="*/ 0 h 50"/>
                  <a:gd name="T18" fmla="*/ 1 w 49"/>
                  <a:gd name="T19" fmla="*/ 0 h 50"/>
                  <a:gd name="T20" fmla="*/ 1 w 49"/>
                  <a:gd name="T21" fmla="*/ 1 h 50"/>
                  <a:gd name="T22" fmla="*/ 1 w 49"/>
                  <a:gd name="T23" fmla="*/ 1 h 50"/>
                  <a:gd name="T24" fmla="*/ 1 w 49"/>
                  <a:gd name="T25" fmla="*/ 1 h 50"/>
                  <a:gd name="T26" fmla="*/ 1 w 49"/>
                  <a:gd name="T27" fmla="*/ 1 h 50"/>
                  <a:gd name="T28" fmla="*/ 1 w 49"/>
                  <a:gd name="T29" fmla="*/ 1 h 50"/>
                  <a:gd name="T30" fmla="*/ 1 w 49"/>
                  <a:gd name="T31" fmla="*/ 1 h 50"/>
                  <a:gd name="T32" fmla="*/ 1 w 49"/>
                  <a:gd name="T33" fmla="*/ 1 h 50"/>
                  <a:gd name="T34" fmla="*/ 1 w 49"/>
                  <a:gd name="T35" fmla="*/ 1 h 50"/>
                  <a:gd name="T36" fmla="*/ 1 w 49"/>
                  <a:gd name="T37" fmla="*/ 1 h 50"/>
                  <a:gd name="T38" fmla="*/ 1 w 49"/>
                  <a:gd name="T39" fmla="*/ 1 h 50"/>
                  <a:gd name="T40" fmla="*/ 1 w 49"/>
                  <a:gd name="T41" fmla="*/ 1 h 50"/>
                  <a:gd name="T42" fmla="*/ 1 w 49"/>
                  <a:gd name="T43" fmla="*/ 1 h 50"/>
                  <a:gd name="T44" fmla="*/ 1 w 49"/>
                  <a:gd name="T45" fmla="*/ 1 h 50"/>
                  <a:gd name="T46" fmla="*/ 1 w 49"/>
                  <a:gd name="T47" fmla="*/ 1 h 50"/>
                  <a:gd name="T48" fmla="*/ 1 w 49"/>
                  <a:gd name="T49" fmla="*/ 1 h 50"/>
                  <a:gd name="T50" fmla="*/ 1 w 49"/>
                  <a:gd name="T51" fmla="*/ 1 h 50"/>
                  <a:gd name="T52" fmla="*/ 1 w 49"/>
                  <a:gd name="T53" fmla="*/ 1 h 50"/>
                  <a:gd name="T54" fmla="*/ 1 w 49"/>
                  <a:gd name="T55" fmla="*/ 1 h 50"/>
                  <a:gd name="T56" fmla="*/ 1 w 49"/>
                  <a:gd name="T57" fmla="*/ 1 h 50"/>
                  <a:gd name="T58" fmla="*/ 1 w 49"/>
                  <a:gd name="T59" fmla="*/ 1 h 50"/>
                  <a:gd name="T60" fmla="*/ 1 w 49"/>
                  <a:gd name="T61" fmla="*/ 1 h 50"/>
                  <a:gd name="T62" fmla="*/ 1 w 49"/>
                  <a:gd name="T63" fmla="*/ 1 h 50"/>
                  <a:gd name="T64" fmla="*/ 0 w 49"/>
                  <a:gd name="T65" fmla="*/ 1 h 50"/>
                  <a:gd name="T66" fmla="*/ 0 w 49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49"/>
                  <a:gd name="T103" fmla="*/ 0 h 50"/>
                  <a:gd name="T104" fmla="*/ 49 w 49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49" h="50">
                    <a:moveTo>
                      <a:pt x="0" y="25"/>
                    </a:moveTo>
                    <a:lnTo>
                      <a:pt x="0" y="20"/>
                    </a:lnTo>
                    <a:lnTo>
                      <a:pt x="1" y="16"/>
                    </a:lnTo>
                    <a:lnTo>
                      <a:pt x="4" y="11"/>
                    </a:lnTo>
                    <a:lnTo>
                      <a:pt x="7" y="8"/>
                    </a:lnTo>
                    <a:lnTo>
                      <a:pt x="11" y="5"/>
                    </a:lnTo>
                    <a:lnTo>
                      <a:pt x="15" y="1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1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49" y="20"/>
                    </a:lnTo>
                    <a:lnTo>
                      <a:pt x="49" y="25"/>
                    </a:lnTo>
                    <a:lnTo>
                      <a:pt x="49" y="30"/>
                    </a:lnTo>
                    <a:lnTo>
                      <a:pt x="48" y="34"/>
                    </a:lnTo>
                    <a:lnTo>
                      <a:pt x="45" y="39"/>
                    </a:lnTo>
                    <a:lnTo>
                      <a:pt x="42" y="42"/>
                    </a:lnTo>
                    <a:lnTo>
                      <a:pt x="39" y="45"/>
                    </a:lnTo>
                    <a:lnTo>
                      <a:pt x="34" y="49"/>
                    </a:lnTo>
                    <a:lnTo>
                      <a:pt x="29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5" y="49"/>
                    </a:lnTo>
                    <a:lnTo>
                      <a:pt x="11" y="45"/>
                    </a:lnTo>
                    <a:lnTo>
                      <a:pt x="7" y="42"/>
                    </a:lnTo>
                    <a:lnTo>
                      <a:pt x="4" y="39"/>
                    </a:lnTo>
                    <a:lnTo>
                      <a:pt x="1" y="34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91" name="Line 124"/>
              <p:cNvSpPr>
                <a:spLocks noChangeShapeType="1"/>
              </p:cNvSpPr>
              <p:nvPr/>
            </p:nvSpPr>
            <p:spPr bwMode="auto">
              <a:xfrm>
                <a:off x="3537" y="1334"/>
                <a:ext cx="7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92" name="Line 125"/>
              <p:cNvSpPr>
                <a:spLocks noChangeShapeType="1"/>
              </p:cNvSpPr>
              <p:nvPr/>
            </p:nvSpPr>
            <p:spPr bwMode="auto">
              <a:xfrm>
                <a:off x="3537" y="1364"/>
                <a:ext cx="7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93" name="Line 126"/>
              <p:cNvSpPr>
                <a:spLocks noChangeShapeType="1"/>
              </p:cNvSpPr>
              <p:nvPr/>
            </p:nvSpPr>
            <p:spPr bwMode="auto">
              <a:xfrm>
                <a:off x="3576" y="1364"/>
                <a:ext cx="1" cy="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94" name="Line 127"/>
              <p:cNvSpPr>
                <a:spLocks noChangeShapeType="1"/>
              </p:cNvSpPr>
              <p:nvPr/>
            </p:nvSpPr>
            <p:spPr bwMode="auto">
              <a:xfrm flipV="1">
                <a:off x="3576" y="1244"/>
                <a:ext cx="1" cy="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95" name="Line 128"/>
              <p:cNvSpPr>
                <a:spLocks noChangeShapeType="1"/>
              </p:cNvSpPr>
              <p:nvPr/>
            </p:nvSpPr>
            <p:spPr bwMode="auto">
              <a:xfrm>
                <a:off x="3537" y="1933"/>
                <a:ext cx="7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96" name="Line 129"/>
              <p:cNvSpPr>
                <a:spLocks noChangeShapeType="1"/>
              </p:cNvSpPr>
              <p:nvPr/>
            </p:nvSpPr>
            <p:spPr bwMode="auto">
              <a:xfrm>
                <a:off x="3537" y="1964"/>
                <a:ext cx="7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97" name="Line 130"/>
              <p:cNvSpPr>
                <a:spLocks noChangeShapeType="1"/>
              </p:cNvSpPr>
              <p:nvPr/>
            </p:nvSpPr>
            <p:spPr bwMode="auto">
              <a:xfrm>
                <a:off x="3576" y="1964"/>
                <a:ext cx="1" cy="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98" name="Line 131"/>
              <p:cNvSpPr>
                <a:spLocks noChangeShapeType="1"/>
              </p:cNvSpPr>
              <p:nvPr/>
            </p:nvSpPr>
            <p:spPr bwMode="auto">
              <a:xfrm flipV="1">
                <a:off x="3576" y="1844"/>
                <a:ext cx="1" cy="8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99" name="Line 132"/>
              <p:cNvSpPr>
                <a:spLocks noChangeShapeType="1"/>
              </p:cNvSpPr>
              <p:nvPr/>
            </p:nvSpPr>
            <p:spPr bwMode="auto">
              <a:xfrm flipH="1">
                <a:off x="3306" y="2084"/>
                <a:ext cx="69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00" name="Line 133"/>
              <p:cNvSpPr>
                <a:spLocks noChangeShapeType="1"/>
              </p:cNvSpPr>
              <p:nvPr/>
            </p:nvSpPr>
            <p:spPr bwMode="auto">
              <a:xfrm flipH="1">
                <a:off x="3306" y="1164"/>
                <a:ext cx="63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01" name="Line 134"/>
              <p:cNvSpPr>
                <a:spLocks noChangeShapeType="1"/>
              </p:cNvSpPr>
              <p:nvPr/>
            </p:nvSpPr>
            <p:spPr bwMode="auto">
              <a:xfrm flipV="1">
                <a:off x="3875" y="1164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02" name="Line 135"/>
              <p:cNvSpPr>
                <a:spLocks noChangeShapeType="1"/>
              </p:cNvSpPr>
              <p:nvPr/>
            </p:nvSpPr>
            <p:spPr bwMode="auto">
              <a:xfrm>
                <a:off x="3875" y="1374"/>
                <a:ext cx="2" cy="3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03" name="Line 136"/>
              <p:cNvSpPr>
                <a:spLocks noChangeShapeType="1"/>
              </p:cNvSpPr>
              <p:nvPr/>
            </p:nvSpPr>
            <p:spPr bwMode="auto">
              <a:xfrm>
                <a:off x="3877" y="1764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04" name="Line 137"/>
              <p:cNvSpPr>
                <a:spLocks noChangeShapeType="1"/>
              </p:cNvSpPr>
              <p:nvPr/>
            </p:nvSpPr>
            <p:spPr bwMode="auto">
              <a:xfrm flipH="1">
                <a:off x="3875" y="1484"/>
                <a:ext cx="13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05" name="Line 138"/>
              <p:cNvSpPr>
                <a:spLocks noChangeShapeType="1"/>
              </p:cNvSpPr>
              <p:nvPr/>
            </p:nvSpPr>
            <p:spPr bwMode="auto">
              <a:xfrm flipV="1">
                <a:off x="3576" y="1164"/>
                <a:ext cx="1" cy="9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06" name="Line 139"/>
              <p:cNvSpPr>
                <a:spLocks noChangeShapeType="1"/>
              </p:cNvSpPr>
              <p:nvPr/>
            </p:nvSpPr>
            <p:spPr bwMode="auto">
              <a:xfrm>
                <a:off x="3576" y="1434"/>
                <a:ext cx="1" cy="4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07" name="Line 140"/>
              <p:cNvSpPr>
                <a:spLocks noChangeShapeType="1"/>
              </p:cNvSpPr>
              <p:nvPr/>
            </p:nvSpPr>
            <p:spPr bwMode="auto">
              <a:xfrm>
                <a:off x="3576" y="2014"/>
                <a:ext cx="1" cy="7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08" name="Line 141"/>
              <p:cNvSpPr>
                <a:spLocks noChangeShapeType="1"/>
              </p:cNvSpPr>
              <p:nvPr/>
            </p:nvSpPr>
            <p:spPr bwMode="auto">
              <a:xfrm flipH="1">
                <a:off x="3877" y="1524"/>
                <a:ext cx="240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09" name="Line 142"/>
              <p:cNvSpPr>
                <a:spLocks noChangeShapeType="1"/>
              </p:cNvSpPr>
              <p:nvPr/>
            </p:nvSpPr>
            <p:spPr bwMode="auto">
              <a:xfrm flipH="1">
                <a:off x="3576" y="1724"/>
                <a:ext cx="541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10" name="Freeform 143"/>
              <p:cNvSpPr>
                <a:spLocks/>
              </p:cNvSpPr>
              <p:nvPr/>
            </p:nvSpPr>
            <p:spPr bwMode="auto">
              <a:xfrm>
                <a:off x="3864" y="1513"/>
                <a:ext cx="25" cy="26"/>
              </a:xfrm>
              <a:custGeom>
                <a:avLst/>
                <a:gdLst>
                  <a:gd name="T0" fmla="*/ 0 w 50"/>
                  <a:gd name="T1" fmla="*/ 1 h 50"/>
                  <a:gd name="T2" fmla="*/ 0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0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0" y="20"/>
                    </a:lnTo>
                    <a:lnTo>
                      <a:pt x="2" y="15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4"/>
                    </a:lnTo>
                    <a:lnTo>
                      <a:pt x="16" y="1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0" y="0"/>
                    </a:lnTo>
                    <a:lnTo>
                      <a:pt x="34" y="1"/>
                    </a:lnTo>
                    <a:lnTo>
                      <a:pt x="39" y="4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5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4"/>
                    </a:lnTo>
                    <a:lnTo>
                      <a:pt x="45" y="39"/>
                    </a:lnTo>
                    <a:lnTo>
                      <a:pt x="42" y="42"/>
                    </a:lnTo>
                    <a:lnTo>
                      <a:pt x="39" y="45"/>
                    </a:lnTo>
                    <a:lnTo>
                      <a:pt x="34" y="49"/>
                    </a:lnTo>
                    <a:lnTo>
                      <a:pt x="30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6" y="49"/>
                    </a:lnTo>
                    <a:lnTo>
                      <a:pt x="11" y="45"/>
                    </a:lnTo>
                    <a:lnTo>
                      <a:pt x="8" y="42"/>
                    </a:lnTo>
                    <a:lnTo>
                      <a:pt x="5" y="39"/>
                    </a:lnTo>
                    <a:lnTo>
                      <a:pt x="2" y="34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11" name="Freeform 144"/>
              <p:cNvSpPr>
                <a:spLocks/>
              </p:cNvSpPr>
              <p:nvPr/>
            </p:nvSpPr>
            <p:spPr bwMode="auto">
              <a:xfrm>
                <a:off x="3864" y="1472"/>
                <a:ext cx="25" cy="25"/>
              </a:xfrm>
              <a:custGeom>
                <a:avLst/>
                <a:gdLst>
                  <a:gd name="T0" fmla="*/ 0 w 50"/>
                  <a:gd name="T1" fmla="*/ 0 h 51"/>
                  <a:gd name="T2" fmla="*/ 0 w 50"/>
                  <a:gd name="T3" fmla="*/ 0 h 51"/>
                  <a:gd name="T4" fmla="*/ 1 w 50"/>
                  <a:gd name="T5" fmla="*/ 0 h 51"/>
                  <a:gd name="T6" fmla="*/ 1 w 50"/>
                  <a:gd name="T7" fmla="*/ 0 h 51"/>
                  <a:gd name="T8" fmla="*/ 1 w 50"/>
                  <a:gd name="T9" fmla="*/ 0 h 51"/>
                  <a:gd name="T10" fmla="*/ 1 w 50"/>
                  <a:gd name="T11" fmla="*/ 0 h 51"/>
                  <a:gd name="T12" fmla="*/ 1 w 50"/>
                  <a:gd name="T13" fmla="*/ 0 h 51"/>
                  <a:gd name="T14" fmla="*/ 1 w 50"/>
                  <a:gd name="T15" fmla="*/ 0 h 51"/>
                  <a:gd name="T16" fmla="*/ 1 w 50"/>
                  <a:gd name="T17" fmla="*/ 0 h 51"/>
                  <a:gd name="T18" fmla="*/ 1 w 50"/>
                  <a:gd name="T19" fmla="*/ 0 h 51"/>
                  <a:gd name="T20" fmla="*/ 1 w 50"/>
                  <a:gd name="T21" fmla="*/ 0 h 51"/>
                  <a:gd name="T22" fmla="*/ 1 w 50"/>
                  <a:gd name="T23" fmla="*/ 0 h 51"/>
                  <a:gd name="T24" fmla="*/ 1 w 50"/>
                  <a:gd name="T25" fmla="*/ 0 h 51"/>
                  <a:gd name="T26" fmla="*/ 1 w 50"/>
                  <a:gd name="T27" fmla="*/ 0 h 51"/>
                  <a:gd name="T28" fmla="*/ 1 w 50"/>
                  <a:gd name="T29" fmla="*/ 0 h 51"/>
                  <a:gd name="T30" fmla="*/ 1 w 50"/>
                  <a:gd name="T31" fmla="*/ 0 h 51"/>
                  <a:gd name="T32" fmla="*/ 1 w 50"/>
                  <a:gd name="T33" fmla="*/ 0 h 51"/>
                  <a:gd name="T34" fmla="*/ 1 w 50"/>
                  <a:gd name="T35" fmla="*/ 0 h 51"/>
                  <a:gd name="T36" fmla="*/ 1 w 50"/>
                  <a:gd name="T37" fmla="*/ 0 h 51"/>
                  <a:gd name="T38" fmla="*/ 1 w 50"/>
                  <a:gd name="T39" fmla="*/ 0 h 51"/>
                  <a:gd name="T40" fmla="*/ 1 w 50"/>
                  <a:gd name="T41" fmla="*/ 0 h 51"/>
                  <a:gd name="T42" fmla="*/ 1 w 50"/>
                  <a:gd name="T43" fmla="*/ 0 h 51"/>
                  <a:gd name="T44" fmla="*/ 1 w 50"/>
                  <a:gd name="T45" fmla="*/ 0 h 51"/>
                  <a:gd name="T46" fmla="*/ 1 w 50"/>
                  <a:gd name="T47" fmla="*/ 0 h 51"/>
                  <a:gd name="T48" fmla="*/ 1 w 50"/>
                  <a:gd name="T49" fmla="*/ 0 h 51"/>
                  <a:gd name="T50" fmla="*/ 1 w 50"/>
                  <a:gd name="T51" fmla="*/ 0 h 51"/>
                  <a:gd name="T52" fmla="*/ 1 w 50"/>
                  <a:gd name="T53" fmla="*/ 0 h 51"/>
                  <a:gd name="T54" fmla="*/ 1 w 50"/>
                  <a:gd name="T55" fmla="*/ 0 h 51"/>
                  <a:gd name="T56" fmla="*/ 1 w 50"/>
                  <a:gd name="T57" fmla="*/ 0 h 51"/>
                  <a:gd name="T58" fmla="*/ 1 w 50"/>
                  <a:gd name="T59" fmla="*/ 0 h 51"/>
                  <a:gd name="T60" fmla="*/ 1 w 50"/>
                  <a:gd name="T61" fmla="*/ 0 h 51"/>
                  <a:gd name="T62" fmla="*/ 1 w 50"/>
                  <a:gd name="T63" fmla="*/ 0 h 51"/>
                  <a:gd name="T64" fmla="*/ 0 w 50"/>
                  <a:gd name="T65" fmla="*/ 0 h 51"/>
                  <a:gd name="T66" fmla="*/ 0 w 50"/>
                  <a:gd name="T67" fmla="*/ 0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1"/>
                  <a:gd name="T104" fmla="*/ 50 w 50"/>
                  <a:gd name="T105" fmla="*/ 51 h 5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1">
                    <a:moveTo>
                      <a:pt x="0" y="26"/>
                    </a:moveTo>
                    <a:lnTo>
                      <a:pt x="0" y="21"/>
                    </a:lnTo>
                    <a:lnTo>
                      <a:pt x="2" y="16"/>
                    </a:lnTo>
                    <a:lnTo>
                      <a:pt x="5" y="11"/>
                    </a:lnTo>
                    <a:lnTo>
                      <a:pt x="8" y="7"/>
                    </a:lnTo>
                    <a:lnTo>
                      <a:pt x="11" y="4"/>
                    </a:lnTo>
                    <a:lnTo>
                      <a:pt x="16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0" y="0"/>
                    </a:lnTo>
                    <a:lnTo>
                      <a:pt x="34" y="2"/>
                    </a:lnTo>
                    <a:lnTo>
                      <a:pt x="39" y="4"/>
                    </a:lnTo>
                    <a:lnTo>
                      <a:pt x="42" y="7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1"/>
                    </a:lnTo>
                    <a:lnTo>
                      <a:pt x="50" y="26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40"/>
                    </a:lnTo>
                    <a:lnTo>
                      <a:pt x="42" y="43"/>
                    </a:lnTo>
                    <a:lnTo>
                      <a:pt x="39" y="46"/>
                    </a:lnTo>
                    <a:lnTo>
                      <a:pt x="34" y="48"/>
                    </a:lnTo>
                    <a:lnTo>
                      <a:pt x="30" y="49"/>
                    </a:lnTo>
                    <a:lnTo>
                      <a:pt x="25" y="51"/>
                    </a:lnTo>
                    <a:lnTo>
                      <a:pt x="20" y="49"/>
                    </a:lnTo>
                    <a:lnTo>
                      <a:pt x="16" y="48"/>
                    </a:lnTo>
                    <a:lnTo>
                      <a:pt x="11" y="46"/>
                    </a:lnTo>
                    <a:lnTo>
                      <a:pt x="8" y="43"/>
                    </a:lnTo>
                    <a:lnTo>
                      <a:pt x="5" y="40"/>
                    </a:lnTo>
                    <a:lnTo>
                      <a:pt x="2" y="35"/>
                    </a:lnTo>
                    <a:lnTo>
                      <a:pt x="0" y="30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12" name="Freeform 145"/>
              <p:cNvSpPr>
                <a:spLocks/>
              </p:cNvSpPr>
              <p:nvPr/>
            </p:nvSpPr>
            <p:spPr bwMode="auto">
              <a:xfrm>
                <a:off x="3564" y="1710"/>
                <a:ext cx="25" cy="25"/>
              </a:xfrm>
              <a:custGeom>
                <a:avLst/>
                <a:gdLst>
                  <a:gd name="T0" fmla="*/ 0 w 50"/>
                  <a:gd name="T1" fmla="*/ 1 h 50"/>
                  <a:gd name="T2" fmla="*/ 0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0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0" y="21"/>
                    </a:lnTo>
                    <a:lnTo>
                      <a:pt x="1" y="16"/>
                    </a:lnTo>
                    <a:lnTo>
                      <a:pt x="4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5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1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39"/>
                    </a:lnTo>
                    <a:lnTo>
                      <a:pt x="42" y="43"/>
                    </a:lnTo>
                    <a:lnTo>
                      <a:pt x="39" y="46"/>
                    </a:lnTo>
                    <a:lnTo>
                      <a:pt x="34" y="49"/>
                    </a:lnTo>
                    <a:lnTo>
                      <a:pt x="29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5" y="49"/>
                    </a:lnTo>
                    <a:lnTo>
                      <a:pt x="11" y="46"/>
                    </a:lnTo>
                    <a:lnTo>
                      <a:pt x="8" y="43"/>
                    </a:lnTo>
                    <a:lnTo>
                      <a:pt x="4" y="39"/>
                    </a:lnTo>
                    <a:lnTo>
                      <a:pt x="1" y="35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13" name="Freeform 146"/>
              <p:cNvSpPr>
                <a:spLocks/>
              </p:cNvSpPr>
              <p:nvPr/>
            </p:nvSpPr>
            <p:spPr bwMode="auto">
              <a:xfrm>
                <a:off x="3564" y="2071"/>
                <a:ext cx="25" cy="25"/>
              </a:xfrm>
              <a:custGeom>
                <a:avLst/>
                <a:gdLst>
                  <a:gd name="T0" fmla="*/ 0 w 50"/>
                  <a:gd name="T1" fmla="*/ 0 h 51"/>
                  <a:gd name="T2" fmla="*/ 0 w 50"/>
                  <a:gd name="T3" fmla="*/ 0 h 51"/>
                  <a:gd name="T4" fmla="*/ 1 w 50"/>
                  <a:gd name="T5" fmla="*/ 0 h 51"/>
                  <a:gd name="T6" fmla="*/ 1 w 50"/>
                  <a:gd name="T7" fmla="*/ 0 h 51"/>
                  <a:gd name="T8" fmla="*/ 1 w 50"/>
                  <a:gd name="T9" fmla="*/ 0 h 51"/>
                  <a:gd name="T10" fmla="*/ 1 w 50"/>
                  <a:gd name="T11" fmla="*/ 0 h 51"/>
                  <a:gd name="T12" fmla="*/ 1 w 50"/>
                  <a:gd name="T13" fmla="*/ 0 h 51"/>
                  <a:gd name="T14" fmla="*/ 1 w 50"/>
                  <a:gd name="T15" fmla="*/ 0 h 51"/>
                  <a:gd name="T16" fmla="*/ 1 w 50"/>
                  <a:gd name="T17" fmla="*/ 0 h 51"/>
                  <a:gd name="T18" fmla="*/ 1 w 50"/>
                  <a:gd name="T19" fmla="*/ 0 h 51"/>
                  <a:gd name="T20" fmla="*/ 1 w 50"/>
                  <a:gd name="T21" fmla="*/ 0 h 51"/>
                  <a:gd name="T22" fmla="*/ 1 w 50"/>
                  <a:gd name="T23" fmla="*/ 0 h 51"/>
                  <a:gd name="T24" fmla="*/ 1 w 50"/>
                  <a:gd name="T25" fmla="*/ 0 h 51"/>
                  <a:gd name="T26" fmla="*/ 1 w 50"/>
                  <a:gd name="T27" fmla="*/ 0 h 51"/>
                  <a:gd name="T28" fmla="*/ 1 w 50"/>
                  <a:gd name="T29" fmla="*/ 0 h 51"/>
                  <a:gd name="T30" fmla="*/ 1 w 50"/>
                  <a:gd name="T31" fmla="*/ 0 h 51"/>
                  <a:gd name="T32" fmla="*/ 1 w 50"/>
                  <a:gd name="T33" fmla="*/ 0 h 51"/>
                  <a:gd name="T34" fmla="*/ 1 w 50"/>
                  <a:gd name="T35" fmla="*/ 0 h 51"/>
                  <a:gd name="T36" fmla="*/ 1 w 50"/>
                  <a:gd name="T37" fmla="*/ 0 h 51"/>
                  <a:gd name="T38" fmla="*/ 1 w 50"/>
                  <a:gd name="T39" fmla="*/ 0 h 51"/>
                  <a:gd name="T40" fmla="*/ 1 w 50"/>
                  <a:gd name="T41" fmla="*/ 0 h 51"/>
                  <a:gd name="T42" fmla="*/ 1 w 50"/>
                  <a:gd name="T43" fmla="*/ 0 h 51"/>
                  <a:gd name="T44" fmla="*/ 1 w 50"/>
                  <a:gd name="T45" fmla="*/ 0 h 51"/>
                  <a:gd name="T46" fmla="*/ 1 w 50"/>
                  <a:gd name="T47" fmla="*/ 0 h 51"/>
                  <a:gd name="T48" fmla="*/ 1 w 50"/>
                  <a:gd name="T49" fmla="*/ 0 h 51"/>
                  <a:gd name="T50" fmla="*/ 1 w 50"/>
                  <a:gd name="T51" fmla="*/ 0 h 51"/>
                  <a:gd name="T52" fmla="*/ 1 w 50"/>
                  <a:gd name="T53" fmla="*/ 0 h 51"/>
                  <a:gd name="T54" fmla="*/ 1 w 50"/>
                  <a:gd name="T55" fmla="*/ 0 h 51"/>
                  <a:gd name="T56" fmla="*/ 1 w 50"/>
                  <a:gd name="T57" fmla="*/ 0 h 51"/>
                  <a:gd name="T58" fmla="*/ 1 w 50"/>
                  <a:gd name="T59" fmla="*/ 0 h 51"/>
                  <a:gd name="T60" fmla="*/ 1 w 50"/>
                  <a:gd name="T61" fmla="*/ 0 h 51"/>
                  <a:gd name="T62" fmla="*/ 1 w 50"/>
                  <a:gd name="T63" fmla="*/ 0 h 51"/>
                  <a:gd name="T64" fmla="*/ 0 w 50"/>
                  <a:gd name="T65" fmla="*/ 0 h 51"/>
                  <a:gd name="T66" fmla="*/ 0 w 50"/>
                  <a:gd name="T67" fmla="*/ 0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1"/>
                  <a:gd name="T104" fmla="*/ 50 w 50"/>
                  <a:gd name="T105" fmla="*/ 51 h 5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1">
                    <a:moveTo>
                      <a:pt x="0" y="25"/>
                    </a:moveTo>
                    <a:lnTo>
                      <a:pt x="0" y="21"/>
                    </a:lnTo>
                    <a:lnTo>
                      <a:pt x="1" y="16"/>
                    </a:lnTo>
                    <a:lnTo>
                      <a:pt x="4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5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1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40"/>
                    </a:lnTo>
                    <a:lnTo>
                      <a:pt x="42" y="43"/>
                    </a:lnTo>
                    <a:lnTo>
                      <a:pt x="39" y="46"/>
                    </a:lnTo>
                    <a:lnTo>
                      <a:pt x="34" y="49"/>
                    </a:lnTo>
                    <a:lnTo>
                      <a:pt x="29" y="51"/>
                    </a:lnTo>
                    <a:lnTo>
                      <a:pt x="25" y="51"/>
                    </a:lnTo>
                    <a:lnTo>
                      <a:pt x="20" y="51"/>
                    </a:lnTo>
                    <a:lnTo>
                      <a:pt x="15" y="49"/>
                    </a:lnTo>
                    <a:lnTo>
                      <a:pt x="11" y="46"/>
                    </a:lnTo>
                    <a:lnTo>
                      <a:pt x="8" y="43"/>
                    </a:lnTo>
                    <a:lnTo>
                      <a:pt x="4" y="40"/>
                    </a:lnTo>
                    <a:lnTo>
                      <a:pt x="1" y="35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14" name="Freeform 147"/>
              <p:cNvSpPr>
                <a:spLocks/>
              </p:cNvSpPr>
              <p:nvPr/>
            </p:nvSpPr>
            <p:spPr bwMode="auto">
              <a:xfrm>
                <a:off x="3564" y="1151"/>
                <a:ext cx="25" cy="26"/>
              </a:xfrm>
              <a:custGeom>
                <a:avLst/>
                <a:gdLst>
                  <a:gd name="T0" fmla="*/ 0 w 50"/>
                  <a:gd name="T1" fmla="*/ 1 h 50"/>
                  <a:gd name="T2" fmla="*/ 0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0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0" y="20"/>
                    </a:lnTo>
                    <a:lnTo>
                      <a:pt x="1" y="16"/>
                    </a:lnTo>
                    <a:lnTo>
                      <a:pt x="4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5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39"/>
                    </a:lnTo>
                    <a:lnTo>
                      <a:pt x="42" y="42"/>
                    </a:lnTo>
                    <a:lnTo>
                      <a:pt x="39" y="46"/>
                    </a:lnTo>
                    <a:lnTo>
                      <a:pt x="34" y="49"/>
                    </a:lnTo>
                    <a:lnTo>
                      <a:pt x="29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5" y="49"/>
                    </a:lnTo>
                    <a:lnTo>
                      <a:pt x="11" y="46"/>
                    </a:lnTo>
                    <a:lnTo>
                      <a:pt x="8" y="42"/>
                    </a:lnTo>
                    <a:lnTo>
                      <a:pt x="4" y="39"/>
                    </a:lnTo>
                    <a:lnTo>
                      <a:pt x="1" y="35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15" name="Freeform 148"/>
              <p:cNvSpPr>
                <a:spLocks/>
              </p:cNvSpPr>
              <p:nvPr/>
            </p:nvSpPr>
            <p:spPr bwMode="auto">
              <a:xfrm>
                <a:off x="3864" y="1151"/>
                <a:ext cx="25" cy="26"/>
              </a:xfrm>
              <a:custGeom>
                <a:avLst/>
                <a:gdLst>
                  <a:gd name="T0" fmla="*/ 0 w 50"/>
                  <a:gd name="T1" fmla="*/ 1 h 50"/>
                  <a:gd name="T2" fmla="*/ 0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0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0" y="20"/>
                    </a:lnTo>
                    <a:lnTo>
                      <a:pt x="2" y="16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0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39"/>
                    </a:lnTo>
                    <a:lnTo>
                      <a:pt x="42" y="42"/>
                    </a:lnTo>
                    <a:lnTo>
                      <a:pt x="39" y="46"/>
                    </a:lnTo>
                    <a:lnTo>
                      <a:pt x="34" y="49"/>
                    </a:lnTo>
                    <a:lnTo>
                      <a:pt x="30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6" y="49"/>
                    </a:lnTo>
                    <a:lnTo>
                      <a:pt x="11" y="46"/>
                    </a:lnTo>
                    <a:lnTo>
                      <a:pt x="8" y="42"/>
                    </a:lnTo>
                    <a:lnTo>
                      <a:pt x="5" y="39"/>
                    </a:lnTo>
                    <a:lnTo>
                      <a:pt x="2" y="35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16" name="Rectangle 149"/>
              <p:cNvSpPr>
                <a:spLocks noChangeArrowheads="1"/>
              </p:cNvSpPr>
              <p:nvPr/>
            </p:nvSpPr>
            <p:spPr bwMode="auto">
              <a:xfrm>
                <a:off x="3379" y="1298"/>
                <a:ext cx="111" cy="13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C</a:t>
                </a:r>
                <a:r>
                  <a:rPr lang="en-US" altLang="zh-CN" sz="14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80017" name="Rectangle 150"/>
              <p:cNvSpPr>
                <a:spLocks noChangeArrowheads="1"/>
              </p:cNvSpPr>
              <p:nvPr/>
            </p:nvSpPr>
            <p:spPr bwMode="auto">
              <a:xfrm>
                <a:off x="3379" y="1888"/>
                <a:ext cx="111" cy="13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C</a:t>
                </a:r>
                <a:r>
                  <a:rPr lang="en-US" altLang="zh-CN" sz="14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80018" name="Freeform 151"/>
              <p:cNvSpPr>
                <a:spLocks/>
              </p:cNvSpPr>
              <p:nvPr/>
            </p:nvSpPr>
            <p:spPr bwMode="auto">
              <a:xfrm>
                <a:off x="4793" y="1250"/>
                <a:ext cx="50" cy="14"/>
              </a:xfrm>
              <a:custGeom>
                <a:avLst/>
                <a:gdLst>
                  <a:gd name="T0" fmla="*/ 2 w 99"/>
                  <a:gd name="T1" fmla="*/ 1 h 28"/>
                  <a:gd name="T2" fmla="*/ 0 w 99"/>
                  <a:gd name="T3" fmla="*/ 0 h 28"/>
                  <a:gd name="T4" fmla="*/ 0 w 99"/>
                  <a:gd name="T5" fmla="*/ 1 h 28"/>
                  <a:gd name="T6" fmla="*/ 2 w 99"/>
                  <a:gd name="T7" fmla="*/ 1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28"/>
                  <a:gd name="T14" fmla="*/ 99 w 99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28">
                    <a:moveTo>
                      <a:pt x="99" y="14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99" y="14"/>
                    </a:lnTo>
                    <a:close/>
                  </a:path>
                </a:pathLst>
              </a:custGeom>
              <a:solidFill>
                <a:srgbClr val="1A1A1A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19" name="Freeform 152"/>
              <p:cNvSpPr>
                <a:spLocks/>
              </p:cNvSpPr>
              <p:nvPr/>
            </p:nvSpPr>
            <p:spPr bwMode="auto">
              <a:xfrm>
                <a:off x="4793" y="1250"/>
                <a:ext cx="50" cy="14"/>
              </a:xfrm>
              <a:custGeom>
                <a:avLst/>
                <a:gdLst>
                  <a:gd name="T0" fmla="*/ 2 w 99"/>
                  <a:gd name="T1" fmla="*/ 1 h 28"/>
                  <a:gd name="T2" fmla="*/ 0 w 99"/>
                  <a:gd name="T3" fmla="*/ 0 h 28"/>
                  <a:gd name="T4" fmla="*/ 0 w 99"/>
                  <a:gd name="T5" fmla="*/ 1 h 28"/>
                  <a:gd name="T6" fmla="*/ 2 w 99"/>
                  <a:gd name="T7" fmla="*/ 1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28"/>
                  <a:gd name="T14" fmla="*/ 99 w 99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28">
                    <a:moveTo>
                      <a:pt x="99" y="14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99" y="14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20" name="Line 153"/>
              <p:cNvSpPr>
                <a:spLocks noChangeShapeType="1"/>
              </p:cNvSpPr>
              <p:nvPr/>
            </p:nvSpPr>
            <p:spPr bwMode="auto">
              <a:xfrm flipH="1">
                <a:off x="4730" y="1257"/>
                <a:ext cx="6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21" name="Freeform 154"/>
              <p:cNvSpPr>
                <a:spLocks/>
              </p:cNvSpPr>
              <p:nvPr/>
            </p:nvSpPr>
            <p:spPr bwMode="auto">
              <a:xfrm>
                <a:off x="5036" y="1290"/>
                <a:ext cx="49" cy="14"/>
              </a:xfrm>
              <a:custGeom>
                <a:avLst/>
                <a:gdLst>
                  <a:gd name="T0" fmla="*/ 2 w 98"/>
                  <a:gd name="T1" fmla="*/ 1 h 28"/>
                  <a:gd name="T2" fmla="*/ 0 w 98"/>
                  <a:gd name="T3" fmla="*/ 0 h 28"/>
                  <a:gd name="T4" fmla="*/ 0 w 98"/>
                  <a:gd name="T5" fmla="*/ 1 h 28"/>
                  <a:gd name="T6" fmla="*/ 2 w 98"/>
                  <a:gd name="T7" fmla="*/ 1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8"/>
                  <a:gd name="T13" fmla="*/ 0 h 28"/>
                  <a:gd name="T14" fmla="*/ 98 w 98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8" h="28">
                    <a:moveTo>
                      <a:pt x="98" y="14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98" y="14"/>
                    </a:lnTo>
                    <a:close/>
                  </a:path>
                </a:pathLst>
              </a:custGeom>
              <a:solidFill>
                <a:srgbClr val="1A1A1A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22" name="Freeform 155"/>
              <p:cNvSpPr>
                <a:spLocks/>
              </p:cNvSpPr>
              <p:nvPr/>
            </p:nvSpPr>
            <p:spPr bwMode="auto">
              <a:xfrm>
                <a:off x="5036" y="1290"/>
                <a:ext cx="49" cy="14"/>
              </a:xfrm>
              <a:custGeom>
                <a:avLst/>
                <a:gdLst>
                  <a:gd name="T0" fmla="*/ 2 w 98"/>
                  <a:gd name="T1" fmla="*/ 1 h 28"/>
                  <a:gd name="T2" fmla="*/ 0 w 98"/>
                  <a:gd name="T3" fmla="*/ 0 h 28"/>
                  <a:gd name="T4" fmla="*/ 0 w 98"/>
                  <a:gd name="T5" fmla="*/ 1 h 28"/>
                  <a:gd name="T6" fmla="*/ 2 w 98"/>
                  <a:gd name="T7" fmla="*/ 1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8"/>
                  <a:gd name="T13" fmla="*/ 0 h 28"/>
                  <a:gd name="T14" fmla="*/ 98 w 98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8" h="28">
                    <a:moveTo>
                      <a:pt x="98" y="14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98" y="14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23" name="Line 156"/>
              <p:cNvSpPr>
                <a:spLocks noChangeShapeType="1"/>
              </p:cNvSpPr>
              <p:nvPr/>
            </p:nvSpPr>
            <p:spPr bwMode="auto">
              <a:xfrm flipH="1">
                <a:off x="4973" y="1297"/>
                <a:ext cx="6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24" name="Rectangle 157"/>
              <p:cNvSpPr>
                <a:spLocks noChangeArrowheads="1"/>
              </p:cNvSpPr>
              <p:nvPr/>
            </p:nvSpPr>
            <p:spPr bwMode="auto">
              <a:xfrm>
                <a:off x="4788" y="1177"/>
                <a:ext cx="31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700" i="1">
                    <a:solidFill>
                      <a:srgbClr val="000000"/>
                    </a:solidFill>
                    <a:latin typeface="Times New Roman" pitchFamily="18" charset="0"/>
                  </a:rPr>
                  <a:t>L</a:t>
                </a:r>
                <a:endParaRPr lang="en-US" altLang="zh-CN"/>
              </a:p>
            </p:txBody>
          </p:sp>
          <p:sp>
            <p:nvSpPr>
              <p:cNvPr id="80025" name="Rectangle 158"/>
              <p:cNvSpPr>
                <a:spLocks noChangeArrowheads="1"/>
              </p:cNvSpPr>
              <p:nvPr/>
            </p:nvSpPr>
            <p:spPr bwMode="auto">
              <a:xfrm>
                <a:off x="4770" y="1136"/>
                <a:ext cx="22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 i="1">
                    <a:solidFill>
                      <a:srgbClr val="000000"/>
                    </a:solidFill>
                    <a:latin typeface="Times New Roman" pitchFamily="18" charset="0"/>
                  </a:rPr>
                  <a:t>i</a:t>
                </a:r>
                <a:endParaRPr lang="en-US" altLang="zh-CN"/>
              </a:p>
            </p:txBody>
          </p:sp>
          <p:sp>
            <p:nvSpPr>
              <p:cNvPr id="80026" name="Rectangle 159"/>
              <p:cNvSpPr>
                <a:spLocks noChangeArrowheads="1"/>
              </p:cNvSpPr>
              <p:nvPr/>
            </p:nvSpPr>
            <p:spPr bwMode="auto">
              <a:xfrm>
                <a:off x="5002" y="1205"/>
                <a:ext cx="40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 i="1">
                    <a:solidFill>
                      <a:srgbClr val="000000"/>
                    </a:solidFill>
                    <a:latin typeface="宋体" pitchFamily="2" charset="-122"/>
                  </a:rPr>
                  <a:t>I</a:t>
                </a:r>
                <a:endParaRPr lang="en-US" altLang="zh-CN"/>
              </a:p>
            </p:txBody>
          </p:sp>
          <p:sp>
            <p:nvSpPr>
              <p:cNvPr id="80027" name="Rectangle 160"/>
              <p:cNvSpPr>
                <a:spLocks noChangeArrowheads="1"/>
              </p:cNvSpPr>
              <p:nvPr/>
            </p:nvSpPr>
            <p:spPr bwMode="auto">
              <a:xfrm>
                <a:off x="5038" y="1233"/>
                <a:ext cx="28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700">
                    <a:solidFill>
                      <a:srgbClr val="000000"/>
                    </a:solidFill>
                    <a:latin typeface="宋体" pitchFamily="2" charset="-122"/>
                  </a:rPr>
                  <a:t>o</a:t>
                </a:r>
                <a:endParaRPr lang="en-US" altLang="zh-CN"/>
              </a:p>
            </p:txBody>
          </p:sp>
          <p:sp>
            <p:nvSpPr>
              <p:cNvPr id="80028" name="Rectangle 161"/>
              <p:cNvSpPr>
                <a:spLocks noChangeArrowheads="1"/>
              </p:cNvSpPr>
              <p:nvPr/>
            </p:nvSpPr>
            <p:spPr bwMode="auto">
              <a:xfrm>
                <a:off x="3334" y="1661"/>
                <a:ext cx="191" cy="13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sz="14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/2</a:t>
                </a:r>
                <a:endParaRPr lang="en-US" altLang="zh-CN" sz="1400"/>
              </a:p>
            </p:txBody>
          </p:sp>
          <p:sp>
            <p:nvSpPr>
              <p:cNvPr id="80029" name="Rectangle 162"/>
              <p:cNvSpPr>
                <a:spLocks noChangeArrowheads="1"/>
              </p:cNvSpPr>
              <p:nvPr/>
            </p:nvSpPr>
            <p:spPr bwMode="auto">
              <a:xfrm>
                <a:off x="3742" y="1434"/>
                <a:ext cx="86" cy="40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+</a:t>
                </a:r>
              </a:p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sz="14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-</a:t>
                </a:r>
                <a:endParaRPr lang="en-US" altLang="zh-CN" sz="1400"/>
              </a:p>
            </p:txBody>
          </p:sp>
          <p:sp>
            <p:nvSpPr>
              <p:cNvPr id="80030" name="Freeform 163"/>
              <p:cNvSpPr>
                <a:spLocks/>
              </p:cNvSpPr>
              <p:nvPr/>
            </p:nvSpPr>
            <p:spPr bwMode="auto">
              <a:xfrm>
                <a:off x="3996" y="1883"/>
                <a:ext cx="77" cy="79"/>
              </a:xfrm>
              <a:custGeom>
                <a:avLst/>
                <a:gdLst>
                  <a:gd name="T0" fmla="*/ 0 w 156"/>
                  <a:gd name="T1" fmla="*/ 3 h 158"/>
                  <a:gd name="T2" fmla="*/ 1 w 156"/>
                  <a:gd name="T3" fmla="*/ 0 h 158"/>
                  <a:gd name="T4" fmla="*/ 2 w 156"/>
                  <a:gd name="T5" fmla="*/ 3 h 158"/>
                  <a:gd name="T6" fmla="*/ 0 w 156"/>
                  <a:gd name="T7" fmla="*/ 3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158"/>
                  <a:gd name="T14" fmla="*/ 156 w 156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158">
                    <a:moveTo>
                      <a:pt x="0" y="158"/>
                    </a:moveTo>
                    <a:lnTo>
                      <a:pt x="78" y="0"/>
                    </a:lnTo>
                    <a:lnTo>
                      <a:pt x="156" y="158"/>
                    </a:lnTo>
                    <a:lnTo>
                      <a:pt x="0" y="158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31" name="Line 164"/>
              <p:cNvSpPr>
                <a:spLocks noChangeShapeType="1"/>
              </p:cNvSpPr>
              <p:nvPr/>
            </p:nvSpPr>
            <p:spPr bwMode="auto">
              <a:xfrm flipH="1">
                <a:off x="3996" y="1883"/>
                <a:ext cx="77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32" name="Freeform 165"/>
              <p:cNvSpPr>
                <a:spLocks/>
              </p:cNvSpPr>
              <p:nvPr/>
            </p:nvSpPr>
            <p:spPr bwMode="auto">
              <a:xfrm>
                <a:off x="3996" y="1883"/>
                <a:ext cx="77" cy="79"/>
              </a:xfrm>
              <a:custGeom>
                <a:avLst/>
                <a:gdLst>
                  <a:gd name="T0" fmla="*/ 0 w 156"/>
                  <a:gd name="T1" fmla="*/ 3 h 158"/>
                  <a:gd name="T2" fmla="*/ 1 w 156"/>
                  <a:gd name="T3" fmla="*/ 0 h 158"/>
                  <a:gd name="T4" fmla="*/ 2 w 156"/>
                  <a:gd name="T5" fmla="*/ 3 h 158"/>
                  <a:gd name="T6" fmla="*/ 0 w 156"/>
                  <a:gd name="T7" fmla="*/ 3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158"/>
                  <a:gd name="T14" fmla="*/ 156 w 156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158">
                    <a:moveTo>
                      <a:pt x="0" y="158"/>
                    </a:moveTo>
                    <a:lnTo>
                      <a:pt x="78" y="0"/>
                    </a:lnTo>
                    <a:lnTo>
                      <a:pt x="156" y="158"/>
                    </a:lnTo>
                    <a:lnTo>
                      <a:pt x="0" y="15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33" name="Line 166"/>
              <p:cNvSpPr>
                <a:spLocks noChangeShapeType="1"/>
              </p:cNvSpPr>
              <p:nvPr/>
            </p:nvSpPr>
            <p:spPr bwMode="auto">
              <a:xfrm flipV="1">
                <a:off x="4034" y="1764"/>
                <a:ext cx="1" cy="31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34" name="Freeform 167"/>
              <p:cNvSpPr>
                <a:spLocks/>
              </p:cNvSpPr>
              <p:nvPr/>
            </p:nvSpPr>
            <p:spPr bwMode="auto">
              <a:xfrm>
                <a:off x="3996" y="1883"/>
                <a:ext cx="77" cy="79"/>
              </a:xfrm>
              <a:custGeom>
                <a:avLst/>
                <a:gdLst>
                  <a:gd name="T0" fmla="*/ 1 w 156"/>
                  <a:gd name="T1" fmla="*/ 0 h 158"/>
                  <a:gd name="T2" fmla="*/ 0 w 156"/>
                  <a:gd name="T3" fmla="*/ 3 h 158"/>
                  <a:gd name="T4" fmla="*/ 2 w 156"/>
                  <a:gd name="T5" fmla="*/ 3 h 158"/>
                  <a:gd name="T6" fmla="*/ 1 w 156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158"/>
                  <a:gd name="T14" fmla="*/ 156 w 156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158">
                    <a:moveTo>
                      <a:pt x="78" y="0"/>
                    </a:moveTo>
                    <a:lnTo>
                      <a:pt x="0" y="158"/>
                    </a:lnTo>
                    <a:lnTo>
                      <a:pt x="156" y="158"/>
                    </a:lnTo>
                    <a:lnTo>
                      <a:pt x="78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35" name="Freeform 168"/>
              <p:cNvSpPr>
                <a:spLocks/>
              </p:cNvSpPr>
              <p:nvPr/>
            </p:nvSpPr>
            <p:spPr bwMode="auto">
              <a:xfrm>
                <a:off x="3996" y="1883"/>
                <a:ext cx="77" cy="79"/>
              </a:xfrm>
              <a:custGeom>
                <a:avLst/>
                <a:gdLst>
                  <a:gd name="T0" fmla="*/ 1 w 156"/>
                  <a:gd name="T1" fmla="*/ 0 h 158"/>
                  <a:gd name="T2" fmla="*/ 0 w 156"/>
                  <a:gd name="T3" fmla="*/ 3 h 158"/>
                  <a:gd name="T4" fmla="*/ 2 w 156"/>
                  <a:gd name="T5" fmla="*/ 3 h 158"/>
                  <a:gd name="T6" fmla="*/ 1 w 156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158"/>
                  <a:gd name="T14" fmla="*/ 156 w 156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158">
                    <a:moveTo>
                      <a:pt x="78" y="0"/>
                    </a:moveTo>
                    <a:lnTo>
                      <a:pt x="0" y="158"/>
                    </a:lnTo>
                    <a:lnTo>
                      <a:pt x="156" y="158"/>
                    </a:lnTo>
                    <a:lnTo>
                      <a:pt x="78" y="0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36" name="Line 169"/>
              <p:cNvSpPr>
                <a:spLocks noChangeShapeType="1"/>
              </p:cNvSpPr>
              <p:nvPr/>
            </p:nvSpPr>
            <p:spPr bwMode="auto">
              <a:xfrm flipV="1">
                <a:off x="4034" y="1883"/>
                <a:ext cx="1" cy="7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37" name="Line 170"/>
              <p:cNvSpPr>
                <a:spLocks noChangeShapeType="1"/>
              </p:cNvSpPr>
              <p:nvPr/>
            </p:nvSpPr>
            <p:spPr bwMode="auto">
              <a:xfrm flipH="1">
                <a:off x="3996" y="1883"/>
                <a:ext cx="77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38" name="Freeform 171"/>
              <p:cNvSpPr>
                <a:spLocks/>
              </p:cNvSpPr>
              <p:nvPr/>
            </p:nvSpPr>
            <p:spPr bwMode="auto">
              <a:xfrm>
                <a:off x="3974" y="1283"/>
                <a:ext cx="78" cy="79"/>
              </a:xfrm>
              <a:custGeom>
                <a:avLst/>
                <a:gdLst>
                  <a:gd name="T0" fmla="*/ 0 w 155"/>
                  <a:gd name="T1" fmla="*/ 3 h 157"/>
                  <a:gd name="T2" fmla="*/ 2 w 155"/>
                  <a:gd name="T3" fmla="*/ 0 h 157"/>
                  <a:gd name="T4" fmla="*/ 3 w 155"/>
                  <a:gd name="T5" fmla="*/ 3 h 157"/>
                  <a:gd name="T6" fmla="*/ 0 w 155"/>
                  <a:gd name="T7" fmla="*/ 3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7"/>
                  <a:gd name="T14" fmla="*/ 155 w 155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7">
                    <a:moveTo>
                      <a:pt x="0" y="157"/>
                    </a:moveTo>
                    <a:lnTo>
                      <a:pt x="77" y="0"/>
                    </a:lnTo>
                    <a:lnTo>
                      <a:pt x="155" y="157"/>
                    </a:lnTo>
                    <a:lnTo>
                      <a:pt x="0" y="157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39" name="Line 172"/>
              <p:cNvSpPr>
                <a:spLocks noChangeShapeType="1"/>
              </p:cNvSpPr>
              <p:nvPr/>
            </p:nvSpPr>
            <p:spPr bwMode="auto">
              <a:xfrm flipH="1">
                <a:off x="3974" y="1283"/>
                <a:ext cx="7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40" name="Freeform 173"/>
              <p:cNvSpPr>
                <a:spLocks/>
              </p:cNvSpPr>
              <p:nvPr/>
            </p:nvSpPr>
            <p:spPr bwMode="auto">
              <a:xfrm>
                <a:off x="3974" y="1283"/>
                <a:ext cx="78" cy="79"/>
              </a:xfrm>
              <a:custGeom>
                <a:avLst/>
                <a:gdLst>
                  <a:gd name="T0" fmla="*/ 0 w 155"/>
                  <a:gd name="T1" fmla="*/ 3 h 157"/>
                  <a:gd name="T2" fmla="*/ 2 w 155"/>
                  <a:gd name="T3" fmla="*/ 0 h 157"/>
                  <a:gd name="T4" fmla="*/ 3 w 155"/>
                  <a:gd name="T5" fmla="*/ 3 h 157"/>
                  <a:gd name="T6" fmla="*/ 0 w 155"/>
                  <a:gd name="T7" fmla="*/ 3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7"/>
                  <a:gd name="T14" fmla="*/ 155 w 155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7">
                    <a:moveTo>
                      <a:pt x="0" y="157"/>
                    </a:moveTo>
                    <a:lnTo>
                      <a:pt x="77" y="0"/>
                    </a:lnTo>
                    <a:lnTo>
                      <a:pt x="155" y="157"/>
                    </a:lnTo>
                    <a:lnTo>
                      <a:pt x="0" y="157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41" name="Line 174"/>
              <p:cNvSpPr>
                <a:spLocks noChangeShapeType="1"/>
              </p:cNvSpPr>
              <p:nvPr/>
            </p:nvSpPr>
            <p:spPr bwMode="auto">
              <a:xfrm flipV="1">
                <a:off x="4013" y="1164"/>
                <a:ext cx="1" cy="31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42" name="Freeform 175"/>
              <p:cNvSpPr>
                <a:spLocks/>
              </p:cNvSpPr>
              <p:nvPr/>
            </p:nvSpPr>
            <p:spPr bwMode="auto">
              <a:xfrm>
                <a:off x="3974" y="1283"/>
                <a:ext cx="78" cy="79"/>
              </a:xfrm>
              <a:custGeom>
                <a:avLst/>
                <a:gdLst>
                  <a:gd name="T0" fmla="*/ 2 w 155"/>
                  <a:gd name="T1" fmla="*/ 0 h 159"/>
                  <a:gd name="T2" fmla="*/ 0 w 155"/>
                  <a:gd name="T3" fmla="*/ 2 h 159"/>
                  <a:gd name="T4" fmla="*/ 3 w 155"/>
                  <a:gd name="T5" fmla="*/ 2 h 159"/>
                  <a:gd name="T6" fmla="*/ 2 w 155"/>
                  <a:gd name="T7" fmla="*/ 0 h 15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9"/>
                  <a:gd name="T14" fmla="*/ 155 w 155"/>
                  <a:gd name="T15" fmla="*/ 159 h 15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9">
                    <a:moveTo>
                      <a:pt x="77" y="0"/>
                    </a:moveTo>
                    <a:lnTo>
                      <a:pt x="0" y="159"/>
                    </a:lnTo>
                    <a:lnTo>
                      <a:pt x="155" y="159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43" name="Freeform 176"/>
              <p:cNvSpPr>
                <a:spLocks/>
              </p:cNvSpPr>
              <p:nvPr/>
            </p:nvSpPr>
            <p:spPr bwMode="auto">
              <a:xfrm>
                <a:off x="3974" y="1283"/>
                <a:ext cx="78" cy="79"/>
              </a:xfrm>
              <a:custGeom>
                <a:avLst/>
                <a:gdLst>
                  <a:gd name="T0" fmla="*/ 2 w 155"/>
                  <a:gd name="T1" fmla="*/ 0 h 159"/>
                  <a:gd name="T2" fmla="*/ 0 w 155"/>
                  <a:gd name="T3" fmla="*/ 2 h 159"/>
                  <a:gd name="T4" fmla="*/ 3 w 155"/>
                  <a:gd name="T5" fmla="*/ 2 h 159"/>
                  <a:gd name="T6" fmla="*/ 2 w 155"/>
                  <a:gd name="T7" fmla="*/ 0 h 15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9"/>
                  <a:gd name="T14" fmla="*/ 155 w 155"/>
                  <a:gd name="T15" fmla="*/ 159 h 15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9">
                    <a:moveTo>
                      <a:pt x="77" y="0"/>
                    </a:moveTo>
                    <a:lnTo>
                      <a:pt x="0" y="159"/>
                    </a:lnTo>
                    <a:lnTo>
                      <a:pt x="155" y="159"/>
                    </a:lnTo>
                    <a:lnTo>
                      <a:pt x="77" y="0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44" name="Line 177"/>
              <p:cNvSpPr>
                <a:spLocks noChangeShapeType="1"/>
              </p:cNvSpPr>
              <p:nvPr/>
            </p:nvSpPr>
            <p:spPr bwMode="auto">
              <a:xfrm flipV="1">
                <a:off x="4013" y="1283"/>
                <a:ext cx="1" cy="7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45" name="Line 178"/>
              <p:cNvSpPr>
                <a:spLocks noChangeShapeType="1"/>
              </p:cNvSpPr>
              <p:nvPr/>
            </p:nvSpPr>
            <p:spPr bwMode="auto">
              <a:xfrm flipH="1">
                <a:off x="3974" y="1283"/>
                <a:ext cx="7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46" name="Freeform 179"/>
              <p:cNvSpPr>
                <a:spLocks/>
              </p:cNvSpPr>
              <p:nvPr/>
            </p:nvSpPr>
            <p:spPr bwMode="auto">
              <a:xfrm>
                <a:off x="4348" y="1295"/>
                <a:ext cx="78" cy="78"/>
              </a:xfrm>
              <a:custGeom>
                <a:avLst/>
                <a:gdLst>
                  <a:gd name="T0" fmla="*/ 0 w 155"/>
                  <a:gd name="T1" fmla="*/ 0 h 158"/>
                  <a:gd name="T2" fmla="*/ 3 w 155"/>
                  <a:gd name="T3" fmla="*/ 1 h 158"/>
                  <a:gd name="T4" fmla="*/ 0 w 155"/>
                  <a:gd name="T5" fmla="*/ 2 h 158"/>
                  <a:gd name="T6" fmla="*/ 0 w 155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8"/>
                  <a:gd name="T14" fmla="*/ 155 w 155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8">
                    <a:moveTo>
                      <a:pt x="0" y="0"/>
                    </a:moveTo>
                    <a:lnTo>
                      <a:pt x="155" y="79"/>
                    </a:lnTo>
                    <a:lnTo>
                      <a:pt x="0" y="15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47" name="Line 180"/>
              <p:cNvSpPr>
                <a:spLocks noChangeShapeType="1"/>
              </p:cNvSpPr>
              <p:nvPr/>
            </p:nvSpPr>
            <p:spPr bwMode="auto">
              <a:xfrm flipV="1">
                <a:off x="4426" y="1295"/>
                <a:ext cx="1" cy="7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48" name="Freeform 181"/>
              <p:cNvSpPr>
                <a:spLocks/>
              </p:cNvSpPr>
              <p:nvPr/>
            </p:nvSpPr>
            <p:spPr bwMode="auto">
              <a:xfrm>
                <a:off x="4348" y="1295"/>
                <a:ext cx="78" cy="78"/>
              </a:xfrm>
              <a:custGeom>
                <a:avLst/>
                <a:gdLst>
                  <a:gd name="T0" fmla="*/ 0 w 155"/>
                  <a:gd name="T1" fmla="*/ 0 h 158"/>
                  <a:gd name="T2" fmla="*/ 3 w 155"/>
                  <a:gd name="T3" fmla="*/ 1 h 158"/>
                  <a:gd name="T4" fmla="*/ 0 w 155"/>
                  <a:gd name="T5" fmla="*/ 2 h 158"/>
                  <a:gd name="T6" fmla="*/ 0 w 155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8"/>
                  <a:gd name="T14" fmla="*/ 155 w 155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8">
                    <a:moveTo>
                      <a:pt x="0" y="0"/>
                    </a:moveTo>
                    <a:lnTo>
                      <a:pt x="155" y="79"/>
                    </a:lnTo>
                    <a:lnTo>
                      <a:pt x="0" y="15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49" name="Line 182"/>
              <p:cNvSpPr>
                <a:spLocks noChangeShapeType="1"/>
              </p:cNvSpPr>
              <p:nvPr/>
            </p:nvSpPr>
            <p:spPr bwMode="auto">
              <a:xfrm>
                <a:off x="4230" y="1334"/>
                <a:ext cx="31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50" name="Freeform 183"/>
              <p:cNvSpPr>
                <a:spLocks/>
              </p:cNvSpPr>
              <p:nvPr/>
            </p:nvSpPr>
            <p:spPr bwMode="auto">
              <a:xfrm>
                <a:off x="4347" y="1295"/>
                <a:ext cx="79" cy="78"/>
              </a:xfrm>
              <a:custGeom>
                <a:avLst/>
                <a:gdLst>
                  <a:gd name="T0" fmla="*/ 3 w 157"/>
                  <a:gd name="T1" fmla="*/ 1 h 158"/>
                  <a:gd name="T2" fmla="*/ 0 w 157"/>
                  <a:gd name="T3" fmla="*/ 0 h 158"/>
                  <a:gd name="T4" fmla="*/ 0 w 157"/>
                  <a:gd name="T5" fmla="*/ 2 h 158"/>
                  <a:gd name="T6" fmla="*/ 3 w 157"/>
                  <a:gd name="T7" fmla="*/ 1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7"/>
                  <a:gd name="T13" fmla="*/ 0 h 158"/>
                  <a:gd name="T14" fmla="*/ 157 w 157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7" h="158">
                    <a:moveTo>
                      <a:pt x="157" y="79"/>
                    </a:moveTo>
                    <a:lnTo>
                      <a:pt x="0" y="0"/>
                    </a:lnTo>
                    <a:lnTo>
                      <a:pt x="0" y="158"/>
                    </a:lnTo>
                    <a:lnTo>
                      <a:pt x="157" y="79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51" name="Freeform 184"/>
              <p:cNvSpPr>
                <a:spLocks/>
              </p:cNvSpPr>
              <p:nvPr/>
            </p:nvSpPr>
            <p:spPr bwMode="auto">
              <a:xfrm>
                <a:off x="4347" y="1295"/>
                <a:ext cx="79" cy="78"/>
              </a:xfrm>
              <a:custGeom>
                <a:avLst/>
                <a:gdLst>
                  <a:gd name="T0" fmla="*/ 3 w 157"/>
                  <a:gd name="T1" fmla="*/ 1 h 158"/>
                  <a:gd name="T2" fmla="*/ 0 w 157"/>
                  <a:gd name="T3" fmla="*/ 0 h 158"/>
                  <a:gd name="T4" fmla="*/ 0 w 157"/>
                  <a:gd name="T5" fmla="*/ 2 h 158"/>
                  <a:gd name="T6" fmla="*/ 3 w 157"/>
                  <a:gd name="T7" fmla="*/ 1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7"/>
                  <a:gd name="T13" fmla="*/ 0 h 158"/>
                  <a:gd name="T14" fmla="*/ 157 w 157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7" h="158">
                    <a:moveTo>
                      <a:pt x="157" y="79"/>
                    </a:moveTo>
                    <a:lnTo>
                      <a:pt x="0" y="0"/>
                    </a:lnTo>
                    <a:lnTo>
                      <a:pt x="0" y="158"/>
                    </a:lnTo>
                    <a:lnTo>
                      <a:pt x="157" y="79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52" name="Line 185"/>
              <p:cNvSpPr>
                <a:spLocks noChangeShapeType="1"/>
              </p:cNvSpPr>
              <p:nvPr/>
            </p:nvSpPr>
            <p:spPr bwMode="auto">
              <a:xfrm>
                <a:off x="4347" y="1334"/>
                <a:ext cx="7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53" name="Line 186"/>
              <p:cNvSpPr>
                <a:spLocks noChangeShapeType="1"/>
              </p:cNvSpPr>
              <p:nvPr/>
            </p:nvSpPr>
            <p:spPr bwMode="auto">
              <a:xfrm flipV="1">
                <a:off x="4426" y="1295"/>
                <a:ext cx="1" cy="7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54" name="Freeform 187"/>
              <p:cNvSpPr>
                <a:spLocks/>
              </p:cNvSpPr>
              <p:nvPr/>
            </p:nvSpPr>
            <p:spPr bwMode="auto">
              <a:xfrm>
                <a:off x="4350" y="1855"/>
                <a:ext cx="78" cy="78"/>
              </a:xfrm>
              <a:custGeom>
                <a:avLst/>
                <a:gdLst>
                  <a:gd name="T0" fmla="*/ 0 w 155"/>
                  <a:gd name="T1" fmla="*/ 0 h 157"/>
                  <a:gd name="T2" fmla="*/ 3 w 155"/>
                  <a:gd name="T3" fmla="*/ 1 h 157"/>
                  <a:gd name="T4" fmla="*/ 0 w 155"/>
                  <a:gd name="T5" fmla="*/ 2 h 157"/>
                  <a:gd name="T6" fmla="*/ 0 w 155"/>
                  <a:gd name="T7" fmla="*/ 0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7"/>
                  <a:gd name="T14" fmla="*/ 155 w 155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7">
                    <a:moveTo>
                      <a:pt x="0" y="0"/>
                    </a:moveTo>
                    <a:lnTo>
                      <a:pt x="155" y="78"/>
                    </a:lnTo>
                    <a:lnTo>
                      <a:pt x="0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55" name="Line 188"/>
              <p:cNvSpPr>
                <a:spLocks noChangeShapeType="1"/>
              </p:cNvSpPr>
              <p:nvPr/>
            </p:nvSpPr>
            <p:spPr bwMode="auto">
              <a:xfrm flipV="1">
                <a:off x="4428" y="1855"/>
                <a:ext cx="1" cy="7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56" name="Freeform 189"/>
              <p:cNvSpPr>
                <a:spLocks/>
              </p:cNvSpPr>
              <p:nvPr/>
            </p:nvSpPr>
            <p:spPr bwMode="auto">
              <a:xfrm>
                <a:off x="4350" y="1855"/>
                <a:ext cx="78" cy="78"/>
              </a:xfrm>
              <a:custGeom>
                <a:avLst/>
                <a:gdLst>
                  <a:gd name="T0" fmla="*/ 0 w 155"/>
                  <a:gd name="T1" fmla="*/ 0 h 157"/>
                  <a:gd name="T2" fmla="*/ 3 w 155"/>
                  <a:gd name="T3" fmla="*/ 1 h 157"/>
                  <a:gd name="T4" fmla="*/ 0 w 155"/>
                  <a:gd name="T5" fmla="*/ 2 h 157"/>
                  <a:gd name="T6" fmla="*/ 0 w 155"/>
                  <a:gd name="T7" fmla="*/ 0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7"/>
                  <a:gd name="T14" fmla="*/ 155 w 155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7">
                    <a:moveTo>
                      <a:pt x="0" y="0"/>
                    </a:moveTo>
                    <a:lnTo>
                      <a:pt x="155" y="78"/>
                    </a:lnTo>
                    <a:lnTo>
                      <a:pt x="0" y="157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57" name="Line 190"/>
              <p:cNvSpPr>
                <a:spLocks noChangeShapeType="1"/>
              </p:cNvSpPr>
              <p:nvPr/>
            </p:nvSpPr>
            <p:spPr bwMode="auto">
              <a:xfrm>
                <a:off x="4230" y="1894"/>
                <a:ext cx="31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58" name="Freeform 191"/>
              <p:cNvSpPr>
                <a:spLocks/>
              </p:cNvSpPr>
              <p:nvPr/>
            </p:nvSpPr>
            <p:spPr bwMode="auto">
              <a:xfrm>
                <a:off x="4349" y="1855"/>
                <a:ext cx="80" cy="78"/>
              </a:xfrm>
              <a:custGeom>
                <a:avLst/>
                <a:gdLst>
                  <a:gd name="T0" fmla="*/ 3 w 159"/>
                  <a:gd name="T1" fmla="*/ 1 h 157"/>
                  <a:gd name="T2" fmla="*/ 0 w 159"/>
                  <a:gd name="T3" fmla="*/ 0 h 157"/>
                  <a:gd name="T4" fmla="*/ 0 w 159"/>
                  <a:gd name="T5" fmla="*/ 2 h 157"/>
                  <a:gd name="T6" fmla="*/ 3 w 159"/>
                  <a:gd name="T7" fmla="*/ 1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9"/>
                  <a:gd name="T13" fmla="*/ 0 h 157"/>
                  <a:gd name="T14" fmla="*/ 159 w 159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9" h="157">
                    <a:moveTo>
                      <a:pt x="159" y="78"/>
                    </a:moveTo>
                    <a:lnTo>
                      <a:pt x="0" y="0"/>
                    </a:lnTo>
                    <a:lnTo>
                      <a:pt x="0" y="157"/>
                    </a:lnTo>
                    <a:lnTo>
                      <a:pt x="159" y="78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59" name="Freeform 192"/>
              <p:cNvSpPr>
                <a:spLocks/>
              </p:cNvSpPr>
              <p:nvPr/>
            </p:nvSpPr>
            <p:spPr bwMode="auto">
              <a:xfrm>
                <a:off x="4349" y="1855"/>
                <a:ext cx="80" cy="78"/>
              </a:xfrm>
              <a:custGeom>
                <a:avLst/>
                <a:gdLst>
                  <a:gd name="T0" fmla="*/ 3 w 159"/>
                  <a:gd name="T1" fmla="*/ 1 h 157"/>
                  <a:gd name="T2" fmla="*/ 0 w 159"/>
                  <a:gd name="T3" fmla="*/ 0 h 157"/>
                  <a:gd name="T4" fmla="*/ 0 w 159"/>
                  <a:gd name="T5" fmla="*/ 2 h 157"/>
                  <a:gd name="T6" fmla="*/ 3 w 159"/>
                  <a:gd name="T7" fmla="*/ 1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9"/>
                  <a:gd name="T13" fmla="*/ 0 h 157"/>
                  <a:gd name="T14" fmla="*/ 159 w 159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9" h="157">
                    <a:moveTo>
                      <a:pt x="159" y="78"/>
                    </a:moveTo>
                    <a:lnTo>
                      <a:pt x="0" y="0"/>
                    </a:lnTo>
                    <a:lnTo>
                      <a:pt x="0" y="157"/>
                    </a:lnTo>
                    <a:lnTo>
                      <a:pt x="159" y="78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60" name="Line 193"/>
              <p:cNvSpPr>
                <a:spLocks noChangeShapeType="1"/>
              </p:cNvSpPr>
              <p:nvPr/>
            </p:nvSpPr>
            <p:spPr bwMode="auto">
              <a:xfrm>
                <a:off x="4349" y="1894"/>
                <a:ext cx="80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61" name="Line 194"/>
              <p:cNvSpPr>
                <a:spLocks noChangeShapeType="1"/>
              </p:cNvSpPr>
              <p:nvPr/>
            </p:nvSpPr>
            <p:spPr bwMode="auto">
              <a:xfrm flipV="1">
                <a:off x="4429" y="1855"/>
                <a:ext cx="1" cy="7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62" name="Rectangle 195"/>
              <p:cNvSpPr>
                <a:spLocks noChangeArrowheads="1"/>
              </p:cNvSpPr>
              <p:nvPr/>
            </p:nvSpPr>
            <p:spPr bwMode="auto">
              <a:xfrm>
                <a:off x="4575" y="1378"/>
                <a:ext cx="36" cy="8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900">
                    <a:solidFill>
                      <a:srgbClr val="000000"/>
                    </a:solidFill>
                    <a:latin typeface="宋体" pitchFamily="2" charset="-122"/>
                  </a:rPr>
                  <a:t>+</a:t>
                </a:r>
                <a:endParaRPr lang="en-US" altLang="zh-CN"/>
              </a:p>
            </p:txBody>
          </p:sp>
          <p:sp>
            <p:nvSpPr>
              <p:cNvPr id="80063" name="Rectangle 196"/>
              <p:cNvSpPr>
                <a:spLocks noChangeArrowheads="1"/>
              </p:cNvSpPr>
              <p:nvPr/>
            </p:nvSpPr>
            <p:spPr bwMode="auto">
              <a:xfrm>
                <a:off x="4575" y="1529"/>
                <a:ext cx="36" cy="8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900">
                    <a:solidFill>
                      <a:srgbClr val="000000"/>
                    </a:solidFill>
                    <a:latin typeface="宋体" pitchFamily="2" charset="-122"/>
                  </a:rPr>
                  <a:t>-</a:t>
                </a:r>
                <a:endParaRPr lang="en-US" altLang="zh-CN"/>
              </a:p>
            </p:txBody>
          </p:sp>
          <p:sp>
            <p:nvSpPr>
              <p:cNvPr id="80064" name="Rectangle 197"/>
              <p:cNvSpPr>
                <a:spLocks noChangeArrowheads="1"/>
              </p:cNvSpPr>
              <p:nvPr/>
            </p:nvSpPr>
            <p:spPr bwMode="auto">
              <a:xfrm>
                <a:off x="4633" y="1484"/>
                <a:ext cx="44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700">
                    <a:solidFill>
                      <a:srgbClr val="000000"/>
                    </a:solidFill>
                    <a:latin typeface="Times New Roman" pitchFamily="18" charset="0"/>
                  </a:rPr>
                  <a:t>oi</a:t>
                </a:r>
                <a:endParaRPr lang="en-US" altLang="zh-CN"/>
              </a:p>
            </p:txBody>
          </p:sp>
          <p:sp>
            <p:nvSpPr>
              <p:cNvPr id="80065" name="Rectangle 198"/>
              <p:cNvSpPr>
                <a:spLocks noChangeArrowheads="1"/>
              </p:cNvSpPr>
              <p:nvPr/>
            </p:nvSpPr>
            <p:spPr bwMode="auto">
              <a:xfrm>
                <a:off x="4595" y="1446"/>
                <a:ext cx="40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 i="1">
                    <a:solidFill>
                      <a:srgbClr val="000000"/>
                    </a:solidFill>
                    <a:latin typeface="Times New Roman" pitchFamily="18" charset="0"/>
                  </a:rPr>
                  <a:t>u</a:t>
                </a:r>
                <a:endParaRPr lang="en-US" altLang="zh-CN"/>
              </a:p>
            </p:txBody>
          </p:sp>
          <p:sp>
            <p:nvSpPr>
              <p:cNvPr id="80066" name="Rectangle 199"/>
              <p:cNvSpPr>
                <a:spLocks noChangeArrowheads="1"/>
              </p:cNvSpPr>
              <p:nvPr/>
            </p:nvSpPr>
            <p:spPr bwMode="auto">
              <a:xfrm>
                <a:off x="3198" y="1207"/>
                <a:ext cx="122" cy="77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+</a:t>
                </a:r>
              </a:p>
              <a:p>
                <a:pPr eaLnBrk="1" hangingPunct="1"/>
                <a:endParaRPr lang="en-US" altLang="zh-CN" sz="1600" i="1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</a:p>
              <a:p>
                <a:pPr eaLnBrk="1" hangingPunct="1"/>
                <a:endParaRPr lang="en-US" altLang="zh-CN" sz="1600" i="1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-</a:t>
                </a:r>
                <a:endParaRPr lang="en-US" altLang="zh-CN" sz="1600"/>
              </a:p>
            </p:txBody>
          </p:sp>
          <p:sp>
            <p:nvSpPr>
              <p:cNvPr id="80067" name="Rectangle 200"/>
              <p:cNvSpPr>
                <a:spLocks noChangeArrowheads="1"/>
              </p:cNvSpPr>
              <p:nvPr/>
            </p:nvSpPr>
            <p:spPr bwMode="auto">
              <a:xfrm>
                <a:off x="5239" y="1253"/>
                <a:ext cx="122" cy="46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+</a:t>
                </a:r>
              </a:p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o</a:t>
                </a:r>
              </a:p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-</a:t>
                </a:r>
                <a:endParaRPr lang="en-US" altLang="zh-CN" sz="1600"/>
              </a:p>
            </p:txBody>
          </p:sp>
          <p:sp>
            <p:nvSpPr>
              <p:cNvPr id="80068" name="Rectangle 201"/>
              <p:cNvSpPr>
                <a:spLocks noChangeArrowheads="1"/>
              </p:cNvSpPr>
              <p:nvPr/>
            </p:nvSpPr>
            <p:spPr bwMode="auto">
              <a:xfrm>
                <a:off x="3969" y="1525"/>
                <a:ext cx="96" cy="11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200" i="1">
                    <a:solidFill>
                      <a:srgbClr val="000000"/>
                    </a:solidFill>
                    <a:latin typeface="Times New Roman" pitchFamily="18" charset="0"/>
                  </a:rPr>
                  <a:t>N</a:t>
                </a:r>
                <a:r>
                  <a:rPr lang="en-US" altLang="zh-CN" sz="12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80069" name="Rectangle 202"/>
              <p:cNvSpPr>
                <a:spLocks noChangeArrowheads="1"/>
              </p:cNvSpPr>
              <p:nvPr/>
            </p:nvSpPr>
            <p:spPr bwMode="auto">
              <a:xfrm>
                <a:off x="4241" y="1434"/>
                <a:ext cx="96" cy="11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200" i="1">
                    <a:solidFill>
                      <a:srgbClr val="000000"/>
                    </a:solidFill>
                    <a:latin typeface="Times New Roman" pitchFamily="18" charset="0"/>
                  </a:rPr>
                  <a:t>N</a:t>
                </a:r>
                <a:r>
                  <a:rPr lang="en-US" altLang="zh-CN" sz="12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80070" name="Rectangle 203"/>
              <p:cNvSpPr>
                <a:spLocks noChangeArrowheads="1"/>
              </p:cNvSpPr>
              <p:nvPr/>
            </p:nvSpPr>
            <p:spPr bwMode="auto">
              <a:xfrm>
                <a:off x="3696" y="1253"/>
                <a:ext cx="122" cy="15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600">
                    <a:solidFill>
                      <a:srgbClr val="000000"/>
                    </a:solidFill>
                    <a:latin typeface="Times New Roman" pitchFamily="18" charset="0"/>
                  </a:rPr>
                  <a:t>T</a:t>
                </a:r>
                <a:r>
                  <a:rPr lang="en-US" altLang="zh-CN" sz="1600" baseline="-250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80071" name="Rectangle 204"/>
              <p:cNvSpPr>
                <a:spLocks noChangeArrowheads="1"/>
              </p:cNvSpPr>
              <p:nvPr/>
            </p:nvSpPr>
            <p:spPr bwMode="auto">
              <a:xfrm>
                <a:off x="3696" y="1797"/>
                <a:ext cx="122" cy="15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600">
                    <a:solidFill>
                      <a:srgbClr val="000000"/>
                    </a:solidFill>
                    <a:latin typeface="Times New Roman" pitchFamily="18" charset="0"/>
                  </a:rPr>
                  <a:t>T</a:t>
                </a:r>
                <a:r>
                  <a:rPr lang="en-US" altLang="zh-CN" sz="1600" baseline="-250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80072" name="Rectangle 205"/>
              <p:cNvSpPr>
                <a:spLocks noChangeArrowheads="1"/>
              </p:cNvSpPr>
              <p:nvPr/>
            </p:nvSpPr>
            <p:spPr bwMode="auto">
              <a:xfrm>
                <a:off x="4241" y="1661"/>
                <a:ext cx="96" cy="11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200" i="1">
                    <a:solidFill>
                      <a:srgbClr val="000000"/>
                    </a:solidFill>
                    <a:latin typeface="Times New Roman" pitchFamily="18" charset="0"/>
                  </a:rPr>
                  <a:t>N</a:t>
                </a:r>
                <a:r>
                  <a:rPr lang="en-US" altLang="zh-CN" sz="12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</p:grpSp>
        <p:sp>
          <p:nvSpPr>
            <p:cNvPr id="79938" name="Line 206"/>
            <p:cNvSpPr>
              <a:spLocks noChangeShapeType="1"/>
            </p:cNvSpPr>
            <p:nvPr/>
          </p:nvSpPr>
          <p:spPr bwMode="auto">
            <a:xfrm flipV="1">
              <a:off x="3561" y="2432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9" name="Line 207"/>
            <p:cNvSpPr>
              <a:spLocks noChangeShapeType="1"/>
            </p:cNvSpPr>
            <p:nvPr/>
          </p:nvSpPr>
          <p:spPr bwMode="auto">
            <a:xfrm>
              <a:off x="3561" y="2659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40" name="Line 208"/>
            <p:cNvSpPr>
              <a:spLocks noChangeShapeType="1"/>
            </p:cNvSpPr>
            <p:nvPr/>
          </p:nvSpPr>
          <p:spPr bwMode="auto">
            <a:xfrm flipH="1">
              <a:off x="3652" y="2341"/>
              <a:ext cx="181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8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2775110"/>
              </p:ext>
            </p:extLst>
          </p:nvPr>
        </p:nvGraphicFramePr>
        <p:xfrm>
          <a:off x="170207" y="1007100"/>
          <a:ext cx="2955925" cy="312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5" name="公式" r:id="rId3" imgW="1320800" imgH="1397000" progId="">
                  <p:embed/>
                </p:oleObj>
              </mc:Choice>
              <mc:Fallback>
                <p:oleObj name="公式" r:id="rId3" imgW="1320800" imgH="13970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207" y="1007100"/>
                        <a:ext cx="2955925" cy="3127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683" name="Text Box 203"/>
          <p:cNvSpPr txBox="1">
            <a:spLocks noChangeArrowheads="1"/>
          </p:cNvSpPr>
          <p:nvPr/>
        </p:nvSpPr>
        <p:spPr bwMode="auto">
          <a:xfrm>
            <a:off x="39136" y="4155976"/>
            <a:ext cx="3382963" cy="970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A50021"/>
                </a:solidFill>
              </a:rPr>
              <a:t>What is the role of anti-parallel diode?</a:t>
            </a:r>
          </a:p>
        </p:txBody>
      </p:sp>
      <p:sp>
        <p:nvSpPr>
          <p:cNvPr id="148684" name="Rectangle 204"/>
          <p:cNvSpPr>
            <a:spLocks noChangeArrowheads="1"/>
          </p:cNvSpPr>
          <p:nvPr/>
        </p:nvSpPr>
        <p:spPr bwMode="auto">
          <a:xfrm>
            <a:off x="52174" y="5163276"/>
            <a:ext cx="461327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dirty="0"/>
              <a:t>To provide a path for the current required due to </a:t>
            </a:r>
            <a:r>
              <a:rPr lang="en-US" altLang="zh-CN" sz="2400" b="1" i="1" u="sng" dirty="0">
                <a:solidFill>
                  <a:srgbClr val="A50021"/>
                </a:solidFill>
              </a:rPr>
              <a:t>leakage flux</a:t>
            </a:r>
            <a:r>
              <a:rPr lang="en-US" altLang="zh-CN" sz="2400" b="1" dirty="0"/>
              <a:t> </a:t>
            </a:r>
            <a:r>
              <a:rPr lang="en-US" altLang="zh-CN" sz="2400" dirty="0"/>
              <a:t>of the transformer.</a:t>
            </a:r>
          </a:p>
        </p:txBody>
      </p:sp>
      <p:grpSp>
        <p:nvGrpSpPr>
          <p:cNvPr id="2" name="Group 210"/>
          <p:cNvGrpSpPr>
            <a:grpSpLocks/>
          </p:cNvGrpSpPr>
          <p:nvPr/>
        </p:nvGrpSpPr>
        <p:grpSpPr bwMode="auto">
          <a:xfrm>
            <a:off x="4357688" y="1268413"/>
            <a:ext cx="4664075" cy="5589587"/>
            <a:chOff x="3334" y="1071"/>
            <a:chExt cx="2349" cy="3103"/>
          </a:xfrm>
        </p:grpSpPr>
        <p:sp>
          <p:nvSpPr>
            <p:cNvPr id="80902" name="Rectangle 5"/>
            <p:cNvSpPr>
              <a:spLocks noChangeArrowheads="1"/>
            </p:cNvSpPr>
            <p:nvPr/>
          </p:nvSpPr>
          <p:spPr bwMode="auto">
            <a:xfrm>
              <a:off x="4377" y="2004"/>
              <a:ext cx="192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宋体" pitchFamily="2" charset="-122"/>
                </a:rPr>
                <a:t>(a)</a:t>
              </a:r>
              <a:endParaRPr lang="en-US" altLang="zh-CN" sz="1600"/>
            </a:p>
          </p:txBody>
        </p:sp>
        <p:sp>
          <p:nvSpPr>
            <p:cNvPr id="80903" name="Freeform 6"/>
            <p:cNvSpPr>
              <a:spLocks/>
            </p:cNvSpPr>
            <p:nvPr/>
          </p:nvSpPr>
          <p:spPr bwMode="auto">
            <a:xfrm>
              <a:off x="3470" y="2302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04" name="Freeform 7"/>
            <p:cNvSpPr>
              <a:spLocks/>
            </p:cNvSpPr>
            <p:nvPr/>
          </p:nvSpPr>
          <p:spPr bwMode="auto">
            <a:xfrm>
              <a:off x="3470" y="2302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05" name="Line 8"/>
            <p:cNvSpPr>
              <a:spLocks noChangeShapeType="1"/>
            </p:cNvSpPr>
            <p:nvPr/>
          </p:nvSpPr>
          <p:spPr bwMode="auto">
            <a:xfrm>
              <a:off x="3478" y="2361"/>
              <a:ext cx="1" cy="7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06" name="Freeform 9"/>
            <p:cNvSpPr>
              <a:spLocks/>
            </p:cNvSpPr>
            <p:nvPr/>
          </p:nvSpPr>
          <p:spPr bwMode="auto">
            <a:xfrm>
              <a:off x="5557" y="2884"/>
              <a:ext cx="54" cy="17"/>
            </a:xfrm>
            <a:custGeom>
              <a:avLst/>
              <a:gdLst>
                <a:gd name="T0" fmla="*/ 2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07" name="Freeform 10"/>
            <p:cNvSpPr>
              <a:spLocks/>
            </p:cNvSpPr>
            <p:nvPr/>
          </p:nvSpPr>
          <p:spPr bwMode="auto">
            <a:xfrm>
              <a:off x="5557" y="2884"/>
              <a:ext cx="54" cy="17"/>
            </a:xfrm>
            <a:custGeom>
              <a:avLst/>
              <a:gdLst>
                <a:gd name="T0" fmla="*/ 2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08" name="Line 11"/>
            <p:cNvSpPr>
              <a:spLocks noChangeShapeType="1"/>
            </p:cNvSpPr>
            <p:nvPr/>
          </p:nvSpPr>
          <p:spPr bwMode="auto">
            <a:xfrm flipH="1">
              <a:off x="3478" y="2893"/>
              <a:ext cx="207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09" name="Line 12"/>
            <p:cNvSpPr>
              <a:spLocks noChangeShapeType="1"/>
            </p:cNvSpPr>
            <p:nvPr/>
          </p:nvSpPr>
          <p:spPr bwMode="auto">
            <a:xfrm>
              <a:off x="3478" y="2413"/>
              <a:ext cx="32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0" name="Freeform 13"/>
            <p:cNvSpPr>
              <a:spLocks/>
            </p:cNvSpPr>
            <p:nvPr/>
          </p:nvSpPr>
          <p:spPr bwMode="auto">
            <a:xfrm>
              <a:off x="5554" y="3935"/>
              <a:ext cx="54" cy="17"/>
            </a:xfrm>
            <a:custGeom>
              <a:avLst/>
              <a:gdLst>
                <a:gd name="T0" fmla="*/ 2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1" name="Freeform 14"/>
            <p:cNvSpPr>
              <a:spLocks/>
            </p:cNvSpPr>
            <p:nvPr/>
          </p:nvSpPr>
          <p:spPr bwMode="auto">
            <a:xfrm>
              <a:off x="5554" y="3935"/>
              <a:ext cx="54" cy="17"/>
            </a:xfrm>
            <a:custGeom>
              <a:avLst/>
              <a:gdLst>
                <a:gd name="T0" fmla="*/ 2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2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2" name="Line 15"/>
            <p:cNvSpPr>
              <a:spLocks noChangeShapeType="1"/>
            </p:cNvSpPr>
            <p:nvPr/>
          </p:nvSpPr>
          <p:spPr bwMode="auto">
            <a:xfrm flipH="1">
              <a:off x="3475" y="3944"/>
              <a:ext cx="207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3" name="Rectangle 16"/>
            <p:cNvSpPr>
              <a:spLocks noChangeArrowheads="1"/>
            </p:cNvSpPr>
            <p:nvPr/>
          </p:nvSpPr>
          <p:spPr bwMode="auto">
            <a:xfrm>
              <a:off x="3515" y="2186"/>
              <a:ext cx="124" cy="17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oi</a:t>
              </a:r>
            </a:p>
          </p:txBody>
        </p:sp>
        <p:sp>
          <p:nvSpPr>
            <p:cNvPr id="80914" name="Rectangle 17"/>
            <p:cNvSpPr>
              <a:spLocks noChangeArrowheads="1"/>
            </p:cNvSpPr>
            <p:nvPr/>
          </p:nvSpPr>
          <p:spPr bwMode="auto">
            <a:xfrm>
              <a:off x="3409" y="2824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80915" name="Rectangle 18"/>
            <p:cNvSpPr>
              <a:spLocks noChangeArrowheads="1"/>
            </p:cNvSpPr>
            <p:nvPr/>
          </p:nvSpPr>
          <p:spPr bwMode="auto">
            <a:xfrm>
              <a:off x="3408" y="3873"/>
              <a:ext cx="52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80916" name="Rectangle 19"/>
            <p:cNvSpPr>
              <a:spLocks noChangeArrowheads="1"/>
            </p:cNvSpPr>
            <p:nvPr/>
          </p:nvSpPr>
          <p:spPr bwMode="auto">
            <a:xfrm>
              <a:off x="5643" y="2821"/>
              <a:ext cx="40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80917" name="Rectangle 20"/>
            <p:cNvSpPr>
              <a:spLocks noChangeArrowheads="1"/>
            </p:cNvSpPr>
            <p:nvPr/>
          </p:nvSpPr>
          <p:spPr bwMode="auto">
            <a:xfrm>
              <a:off x="5640" y="3854"/>
              <a:ext cx="40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80918" name="Line 21"/>
            <p:cNvSpPr>
              <a:spLocks noChangeShapeType="1"/>
            </p:cNvSpPr>
            <p:nvPr/>
          </p:nvSpPr>
          <p:spPr bwMode="auto">
            <a:xfrm>
              <a:off x="4331" y="2413"/>
              <a:ext cx="32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9" name="Line 22"/>
            <p:cNvSpPr>
              <a:spLocks noChangeShapeType="1"/>
            </p:cNvSpPr>
            <p:nvPr/>
          </p:nvSpPr>
          <p:spPr bwMode="auto">
            <a:xfrm>
              <a:off x="4651" y="2892"/>
              <a:ext cx="53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0" name="Line 23"/>
            <p:cNvSpPr>
              <a:spLocks noChangeShapeType="1"/>
            </p:cNvSpPr>
            <p:nvPr/>
          </p:nvSpPr>
          <p:spPr bwMode="auto">
            <a:xfrm>
              <a:off x="4651" y="2413"/>
              <a:ext cx="1" cy="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1" name="Line 24"/>
            <p:cNvSpPr>
              <a:spLocks noChangeShapeType="1"/>
            </p:cNvSpPr>
            <p:nvPr/>
          </p:nvSpPr>
          <p:spPr bwMode="auto">
            <a:xfrm>
              <a:off x="5185" y="2413"/>
              <a:ext cx="31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2" name="Line 25"/>
            <p:cNvSpPr>
              <a:spLocks noChangeShapeType="1"/>
            </p:cNvSpPr>
            <p:nvPr/>
          </p:nvSpPr>
          <p:spPr bwMode="auto">
            <a:xfrm>
              <a:off x="5185" y="2413"/>
              <a:ext cx="1" cy="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3" name="Rectangle 32"/>
            <p:cNvSpPr>
              <a:spLocks noChangeArrowheads="1"/>
            </p:cNvSpPr>
            <p:nvPr/>
          </p:nvSpPr>
          <p:spPr bwMode="auto">
            <a:xfrm>
              <a:off x="3788" y="2205"/>
              <a:ext cx="508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N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2</a:t>
              </a:r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V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d</a:t>
              </a:r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/2N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80924" name="Line 36"/>
            <p:cNvSpPr>
              <a:spLocks noChangeShapeType="1"/>
            </p:cNvSpPr>
            <p:nvPr/>
          </p:nvSpPr>
          <p:spPr bwMode="auto">
            <a:xfrm>
              <a:off x="3798" y="2939"/>
              <a:ext cx="1" cy="1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5" name="Line 37"/>
            <p:cNvSpPr>
              <a:spLocks noChangeShapeType="1"/>
            </p:cNvSpPr>
            <p:nvPr/>
          </p:nvSpPr>
          <p:spPr bwMode="auto">
            <a:xfrm>
              <a:off x="4331" y="2939"/>
              <a:ext cx="1" cy="1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6" name="Line 38"/>
            <p:cNvSpPr>
              <a:spLocks noChangeShapeType="1"/>
            </p:cNvSpPr>
            <p:nvPr/>
          </p:nvSpPr>
          <p:spPr bwMode="auto">
            <a:xfrm>
              <a:off x="4331" y="2939"/>
              <a:ext cx="1" cy="2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7" name="Line 39"/>
            <p:cNvSpPr>
              <a:spLocks noChangeShapeType="1"/>
            </p:cNvSpPr>
            <p:nvPr/>
          </p:nvSpPr>
          <p:spPr bwMode="auto">
            <a:xfrm>
              <a:off x="3478" y="3091"/>
              <a:ext cx="1" cy="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8" name="Line 40"/>
            <p:cNvSpPr>
              <a:spLocks noChangeShapeType="1"/>
            </p:cNvSpPr>
            <p:nvPr/>
          </p:nvSpPr>
          <p:spPr bwMode="auto">
            <a:xfrm>
              <a:off x="3530" y="2998"/>
              <a:ext cx="21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9" name="Freeform 41"/>
            <p:cNvSpPr>
              <a:spLocks/>
            </p:cNvSpPr>
            <p:nvPr/>
          </p:nvSpPr>
          <p:spPr bwMode="auto">
            <a:xfrm>
              <a:off x="3478" y="2960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2 w 140"/>
                <a:gd name="T3" fmla="*/ 0 h 76"/>
                <a:gd name="T4" fmla="*/ 2 w 140"/>
                <a:gd name="T5" fmla="*/ 5 h 76"/>
                <a:gd name="T6" fmla="*/ 2 w 140"/>
                <a:gd name="T7" fmla="*/ 9 h 76"/>
                <a:gd name="T8" fmla="*/ 2 w 140"/>
                <a:gd name="T9" fmla="*/ 14 h 76"/>
                <a:gd name="T10" fmla="*/ 1 w 140"/>
                <a:gd name="T11" fmla="*/ 18 h 76"/>
                <a:gd name="T12" fmla="*/ 1 w 140"/>
                <a:gd name="T13" fmla="*/ 23 h 76"/>
                <a:gd name="T14" fmla="*/ 1 w 140"/>
                <a:gd name="T15" fmla="*/ 29 h 76"/>
                <a:gd name="T16" fmla="*/ 1 w 140"/>
                <a:gd name="T17" fmla="*/ 33 h 76"/>
                <a:gd name="T18" fmla="*/ 1 w 140"/>
                <a:gd name="T19" fmla="*/ 38 h 76"/>
                <a:gd name="T20" fmla="*/ 1 w 140"/>
                <a:gd name="T21" fmla="*/ 43 h 76"/>
                <a:gd name="T22" fmla="*/ 1 w 140"/>
                <a:gd name="T23" fmla="*/ 47 h 76"/>
                <a:gd name="T24" fmla="*/ 1 w 140"/>
                <a:gd name="T25" fmla="*/ 52 h 76"/>
                <a:gd name="T26" fmla="*/ 1 w 140"/>
                <a:gd name="T27" fmla="*/ 58 h 76"/>
                <a:gd name="T28" fmla="*/ 2 w 140"/>
                <a:gd name="T29" fmla="*/ 62 h 76"/>
                <a:gd name="T30" fmla="*/ 2 w 140"/>
                <a:gd name="T31" fmla="*/ 67 h 76"/>
                <a:gd name="T32" fmla="*/ 2 w 140"/>
                <a:gd name="T33" fmla="*/ 71 h 76"/>
                <a:gd name="T34" fmla="*/ 2 w 140"/>
                <a:gd name="T35" fmla="*/ 76 h 76"/>
                <a:gd name="T36" fmla="*/ 2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0" name="Freeform 42"/>
            <p:cNvSpPr>
              <a:spLocks/>
            </p:cNvSpPr>
            <p:nvPr/>
          </p:nvSpPr>
          <p:spPr bwMode="auto">
            <a:xfrm>
              <a:off x="3729" y="2960"/>
              <a:ext cx="69" cy="76"/>
            </a:xfrm>
            <a:custGeom>
              <a:avLst/>
              <a:gdLst>
                <a:gd name="T0" fmla="*/ 2 w 140"/>
                <a:gd name="T1" fmla="*/ 38 h 76"/>
                <a:gd name="T2" fmla="*/ 0 w 140"/>
                <a:gd name="T3" fmla="*/ 76 h 76"/>
                <a:gd name="T4" fmla="*/ 0 w 140"/>
                <a:gd name="T5" fmla="*/ 71 h 76"/>
                <a:gd name="T6" fmla="*/ 0 w 140"/>
                <a:gd name="T7" fmla="*/ 67 h 76"/>
                <a:gd name="T8" fmla="*/ 0 w 140"/>
                <a:gd name="T9" fmla="*/ 62 h 76"/>
                <a:gd name="T10" fmla="*/ 0 w 140"/>
                <a:gd name="T11" fmla="*/ 58 h 76"/>
                <a:gd name="T12" fmla="*/ 0 w 140"/>
                <a:gd name="T13" fmla="*/ 52 h 76"/>
                <a:gd name="T14" fmla="*/ 0 w 140"/>
                <a:gd name="T15" fmla="*/ 47 h 76"/>
                <a:gd name="T16" fmla="*/ 0 w 140"/>
                <a:gd name="T17" fmla="*/ 43 h 76"/>
                <a:gd name="T18" fmla="*/ 0 w 140"/>
                <a:gd name="T19" fmla="*/ 38 h 76"/>
                <a:gd name="T20" fmla="*/ 0 w 140"/>
                <a:gd name="T21" fmla="*/ 33 h 76"/>
                <a:gd name="T22" fmla="*/ 0 w 140"/>
                <a:gd name="T23" fmla="*/ 29 h 76"/>
                <a:gd name="T24" fmla="*/ 0 w 140"/>
                <a:gd name="T25" fmla="*/ 23 h 76"/>
                <a:gd name="T26" fmla="*/ 0 w 140"/>
                <a:gd name="T27" fmla="*/ 18 h 76"/>
                <a:gd name="T28" fmla="*/ 0 w 140"/>
                <a:gd name="T29" fmla="*/ 14 h 76"/>
                <a:gd name="T30" fmla="*/ 0 w 140"/>
                <a:gd name="T31" fmla="*/ 9 h 76"/>
                <a:gd name="T32" fmla="*/ 0 w 140"/>
                <a:gd name="T33" fmla="*/ 5 h 76"/>
                <a:gd name="T34" fmla="*/ 0 w 140"/>
                <a:gd name="T35" fmla="*/ 0 h 76"/>
                <a:gd name="T36" fmla="*/ 0 w 140"/>
                <a:gd name="T37" fmla="*/ 0 h 76"/>
                <a:gd name="T38" fmla="*/ 2 w 140"/>
                <a:gd name="T39" fmla="*/ 38 h 76"/>
                <a:gd name="T40" fmla="*/ 2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140" y="38"/>
                  </a:moveTo>
                  <a:lnTo>
                    <a:pt x="0" y="76"/>
                  </a:lnTo>
                  <a:lnTo>
                    <a:pt x="4" y="71"/>
                  </a:lnTo>
                  <a:lnTo>
                    <a:pt x="8" y="67"/>
                  </a:lnTo>
                  <a:lnTo>
                    <a:pt x="11" y="62"/>
                  </a:lnTo>
                  <a:lnTo>
                    <a:pt x="13" y="58"/>
                  </a:lnTo>
                  <a:lnTo>
                    <a:pt x="15" y="52"/>
                  </a:lnTo>
                  <a:lnTo>
                    <a:pt x="17" y="47"/>
                  </a:lnTo>
                  <a:lnTo>
                    <a:pt x="17" y="43"/>
                  </a:lnTo>
                  <a:lnTo>
                    <a:pt x="17" y="38"/>
                  </a:lnTo>
                  <a:lnTo>
                    <a:pt x="17" y="33"/>
                  </a:lnTo>
                  <a:lnTo>
                    <a:pt x="17" y="29"/>
                  </a:lnTo>
                  <a:lnTo>
                    <a:pt x="15" y="23"/>
                  </a:lnTo>
                  <a:lnTo>
                    <a:pt x="13" y="18"/>
                  </a:lnTo>
                  <a:lnTo>
                    <a:pt x="11" y="14"/>
                  </a:lnTo>
                  <a:lnTo>
                    <a:pt x="8" y="9"/>
                  </a:lnTo>
                  <a:lnTo>
                    <a:pt x="4" y="5"/>
                  </a:lnTo>
                  <a:lnTo>
                    <a:pt x="0" y="0"/>
                  </a:lnTo>
                  <a:lnTo>
                    <a:pt x="14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1" name="Line 43"/>
            <p:cNvSpPr>
              <a:spLocks noChangeShapeType="1"/>
            </p:cNvSpPr>
            <p:nvPr/>
          </p:nvSpPr>
          <p:spPr bwMode="auto">
            <a:xfrm>
              <a:off x="3850" y="2998"/>
              <a:ext cx="42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2" name="Freeform 44"/>
            <p:cNvSpPr>
              <a:spLocks/>
            </p:cNvSpPr>
            <p:nvPr/>
          </p:nvSpPr>
          <p:spPr bwMode="auto">
            <a:xfrm>
              <a:off x="3798" y="2960"/>
              <a:ext cx="69" cy="76"/>
            </a:xfrm>
            <a:custGeom>
              <a:avLst/>
              <a:gdLst>
                <a:gd name="T0" fmla="*/ 0 w 137"/>
                <a:gd name="T1" fmla="*/ 38 h 76"/>
                <a:gd name="T2" fmla="*/ 3 w 137"/>
                <a:gd name="T3" fmla="*/ 0 h 76"/>
                <a:gd name="T4" fmla="*/ 3 w 137"/>
                <a:gd name="T5" fmla="*/ 5 h 76"/>
                <a:gd name="T6" fmla="*/ 3 w 137"/>
                <a:gd name="T7" fmla="*/ 9 h 76"/>
                <a:gd name="T8" fmla="*/ 2 w 137"/>
                <a:gd name="T9" fmla="*/ 14 h 76"/>
                <a:gd name="T10" fmla="*/ 2 w 137"/>
                <a:gd name="T11" fmla="*/ 18 h 76"/>
                <a:gd name="T12" fmla="*/ 2 w 137"/>
                <a:gd name="T13" fmla="*/ 23 h 76"/>
                <a:gd name="T14" fmla="*/ 2 w 137"/>
                <a:gd name="T15" fmla="*/ 29 h 76"/>
                <a:gd name="T16" fmla="*/ 2 w 137"/>
                <a:gd name="T17" fmla="*/ 33 h 76"/>
                <a:gd name="T18" fmla="*/ 2 w 137"/>
                <a:gd name="T19" fmla="*/ 38 h 76"/>
                <a:gd name="T20" fmla="*/ 2 w 137"/>
                <a:gd name="T21" fmla="*/ 43 h 76"/>
                <a:gd name="T22" fmla="*/ 2 w 137"/>
                <a:gd name="T23" fmla="*/ 47 h 76"/>
                <a:gd name="T24" fmla="*/ 2 w 137"/>
                <a:gd name="T25" fmla="*/ 52 h 76"/>
                <a:gd name="T26" fmla="*/ 2 w 137"/>
                <a:gd name="T27" fmla="*/ 58 h 76"/>
                <a:gd name="T28" fmla="*/ 2 w 137"/>
                <a:gd name="T29" fmla="*/ 62 h 76"/>
                <a:gd name="T30" fmla="*/ 3 w 137"/>
                <a:gd name="T31" fmla="*/ 67 h 76"/>
                <a:gd name="T32" fmla="*/ 3 w 137"/>
                <a:gd name="T33" fmla="*/ 71 h 76"/>
                <a:gd name="T34" fmla="*/ 3 w 137"/>
                <a:gd name="T35" fmla="*/ 76 h 76"/>
                <a:gd name="T36" fmla="*/ 3 w 137"/>
                <a:gd name="T37" fmla="*/ 76 h 76"/>
                <a:gd name="T38" fmla="*/ 0 w 137"/>
                <a:gd name="T39" fmla="*/ 38 h 76"/>
                <a:gd name="T40" fmla="*/ 0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0" y="38"/>
                  </a:moveTo>
                  <a:lnTo>
                    <a:pt x="137" y="0"/>
                  </a:lnTo>
                  <a:lnTo>
                    <a:pt x="134" y="5"/>
                  </a:lnTo>
                  <a:lnTo>
                    <a:pt x="130" y="9"/>
                  </a:lnTo>
                  <a:lnTo>
                    <a:pt x="128" y="14"/>
                  </a:lnTo>
                  <a:lnTo>
                    <a:pt x="124" y="18"/>
                  </a:lnTo>
                  <a:lnTo>
                    <a:pt x="122" y="23"/>
                  </a:lnTo>
                  <a:lnTo>
                    <a:pt x="122" y="29"/>
                  </a:lnTo>
                  <a:lnTo>
                    <a:pt x="120" y="33"/>
                  </a:lnTo>
                  <a:lnTo>
                    <a:pt x="120" y="38"/>
                  </a:lnTo>
                  <a:lnTo>
                    <a:pt x="120" y="43"/>
                  </a:lnTo>
                  <a:lnTo>
                    <a:pt x="122" y="47"/>
                  </a:lnTo>
                  <a:lnTo>
                    <a:pt x="122" y="52"/>
                  </a:lnTo>
                  <a:lnTo>
                    <a:pt x="124" y="58"/>
                  </a:lnTo>
                  <a:lnTo>
                    <a:pt x="128" y="62"/>
                  </a:lnTo>
                  <a:lnTo>
                    <a:pt x="130" y="67"/>
                  </a:lnTo>
                  <a:lnTo>
                    <a:pt x="134" y="71"/>
                  </a:lnTo>
                  <a:lnTo>
                    <a:pt x="137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3" name="Freeform 45"/>
            <p:cNvSpPr>
              <a:spLocks/>
            </p:cNvSpPr>
            <p:nvPr/>
          </p:nvSpPr>
          <p:spPr bwMode="auto">
            <a:xfrm>
              <a:off x="4262" y="2960"/>
              <a:ext cx="69" cy="76"/>
            </a:xfrm>
            <a:custGeom>
              <a:avLst/>
              <a:gdLst>
                <a:gd name="T0" fmla="*/ 3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3 w 137"/>
                <a:gd name="T39" fmla="*/ 38 h 76"/>
                <a:gd name="T40" fmla="*/ 3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4" name="Line 46"/>
            <p:cNvSpPr>
              <a:spLocks noChangeShapeType="1"/>
            </p:cNvSpPr>
            <p:nvPr/>
          </p:nvSpPr>
          <p:spPr bwMode="auto">
            <a:xfrm>
              <a:off x="3530" y="3115"/>
              <a:ext cx="74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5" name="Freeform 47"/>
            <p:cNvSpPr>
              <a:spLocks/>
            </p:cNvSpPr>
            <p:nvPr/>
          </p:nvSpPr>
          <p:spPr bwMode="auto">
            <a:xfrm>
              <a:off x="3478" y="3077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2 w 140"/>
                <a:gd name="T3" fmla="*/ 0 h 76"/>
                <a:gd name="T4" fmla="*/ 2 w 140"/>
                <a:gd name="T5" fmla="*/ 5 h 76"/>
                <a:gd name="T6" fmla="*/ 2 w 140"/>
                <a:gd name="T7" fmla="*/ 9 h 76"/>
                <a:gd name="T8" fmla="*/ 2 w 140"/>
                <a:gd name="T9" fmla="*/ 14 h 76"/>
                <a:gd name="T10" fmla="*/ 1 w 140"/>
                <a:gd name="T11" fmla="*/ 18 h 76"/>
                <a:gd name="T12" fmla="*/ 1 w 140"/>
                <a:gd name="T13" fmla="*/ 23 h 76"/>
                <a:gd name="T14" fmla="*/ 1 w 140"/>
                <a:gd name="T15" fmla="*/ 29 h 76"/>
                <a:gd name="T16" fmla="*/ 1 w 140"/>
                <a:gd name="T17" fmla="*/ 33 h 76"/>
                <a:gd name="T18" fmla="*/ 1 w 140"/>
                <a:gd name="T19" fmla="*/ 38 h 76"/>
                <a:gd name="T20" fmla="*/ 1 w 140"/>
                <a:gd name="T21" fmla="*/ 43 h 76"/>
                <a:gd name="T22" fmla="*/ 1 w 140"/>
                <a:gd name="T23" fmla="*/ 47 h 76"/>
                <a:gd name="T24" fmla="*/ 1 w 140"/>
                <a:gd name="T25" fmla="*/ 52 h 76"/>
                <a:gd name="T26" fmla="*/ 1 w 140"/>
                <a:gd name="T27" fmla="*/ 58 h 76"/>
                <a:gd name="T28" fmla="*/ 2 w 140"/>
                <a:gd name="T29" fmla="*/ 62 h 76"/>
                <a:gd name="T30" fmla="*/ 2 w 140"/>
                <a:gd name="T31" fmla="*/ 67 h 76"/>
                <a:gd name="T32" fmla="*/ 2 w 140"/>
                <a:gd name="T33" fmla="*/ 71 h 76"/>
                <a:gd name="T34" fmla="*/ 2 w 140"/>
                <a:gd name="T35" fmla="*/ 76 h 76"/>
                <a:gd name="T36" fmla="*/ 2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6" name="Freeform 48"/>
            <p:cNvSpPr>
              <a:spLocks/>
            </p:cNvSpPr>
            <p:nvPr/>
          </p:nvSpPr>
          <p:spPr bwMode="auto">
            <a:xfrm>
              <a:off x="4262" y="3077"/>
              <a:ext cx="69" cy="76"/>
            </a:xfrm>
            <a:custGeom>
              <a:avLst/>
              <a:gdLst>
                <a:gd name="T0" fmla="*/ 3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3 w 137"/>
                <a:gd name="T39" fmla="*/ 38 h 76"/>
                <a:gd name="T40" fmla="*/ 3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7" name="Rectangle 49"/>
            <p:cNvSpPr>
              <a:spLocks noChangeArrowheads="1"/>
            </p:cNvSpPr>
            <p:nvPr/>
          </p:nvSpPr>
          <p:spPr bwMode="auto">
            <a:xfrm>
              <a:off x="3635" y="2919"/>
              <a:ext cx="72" cy="8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on</a:t>
              </a:r>
              <a:endParaRPr lang="en-US" altLang="zh-CN"/>
            </a:p>
          </p:txBody>
        </p:sp>
        <p:sp>
          <p:nvSpPr>
            <p:cNvPr id="80938" name="Rectangle 50"/>
            <p:cNvSpPr>
              <a:spLocks noChangeArrowheads="1"/>
            </p:cNvSpPr>
            <p:nvPr/>
          </p:nvSpPr>
          <p:spPr bwMode="auto">
            <a:xfrm>
              <a:off x="3616" y="2873"/>
              <a:ext cx="29" cy="1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80939" name="Line 51"/>
            <p:cNvSpPr>
              <a:spLocks noChangeShapeType="1"/>
            </p:cNvSpPr>
            <p:nvPr/>
          </p:nvSpPr>
          <p:spPr bwMode="auto">
            <a:xfrm flipV="1">
              <a:off x="3795" y="3893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0" name="Line 52"/>
            <p:cNvSpPr>
              <a:spLocks noChangeShapeType="1"/>
            </p:cNvSpPr>
            <p:nvPr/>
          </p:nvSpPr>
          <p:spPr bwMode="auto">
            <a:xfrm flipV="1">
              <a:off x="4328" y="3893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1" name="Line 53"/>
            <p:cNvSpPr>
              <a:spLocks noChangeShapeType="1"/>
            </p:cNvSpPr>
            <p:nvPr/>
          </p:nvSpPr>
          <p:spPr bwMode="auto">
            <a:xfrm flipV="1">
              <a:off x="4648" y="3893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2" name="Line 54"/>
            <p:cNvSpPr>
              <a:spLocks noChangeShapeType="1"/>
            </p:cNvSpPr>
            <p:nvPr/>
          </p:nvSpPr>
          <p:spPr bwMode="auto">
            <a:xfrm flipV="1">
              <a:off x="5182" y="3893"/>
              <a:ext cx="1" cy="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3" name="Freeform 55"/>
            <p:cNvSpPr>
              <a:spLocks/>
            </p:cNvSpPr>
            <p:nvPr/>
          </p:nvSpPr>
          <p:spPr bwMode="auto">
            <a:xfrm>
              <a:off x="3478" y="3466"/>
              <a:ext cx="1898" cy="234"/>
            </a:xfrm>
            <a:custGeom>
              <a:avLst/>
              <a:gdLst>
                <a:gd name="T0" fmla="*/ 0 w 3797"/>
                <a:gd name="T1" fmla="*/ 234 h 234"/>
                <a:gd name="T2" fmla="*/ 10 w 3797"/>
                <a:gd name="T3" fmla="*/ 0 h 234"/>
                <a:gd name="T4" fmla="*/ 26 w 3797"/>
                <a:gd name="T5" fmla="*/ 234 h 234"/>
                <a:gd name="T6" fmla="*/ 36 w 3797"/>
                <a:gd name="T7" fmla="*/ 0 h 234"/>
                <a:gd name="T8" fmla="*/ 53 w 3797"/>
                <a:gd name="T9" fmla="*/ 234 h 234"/>
                <a:gd name="T10" fmla="*/ 59 w 3797"/>
                <a:gd name="T11" fmla="*/ 117 h 2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797"/>
                <a:gd name="T19" fmla="*/ 0 h 234"/>
                <a:gd name="T20" fmla="*/ 3797 w 3797"/>
                <a:gd name="T21" fmla="*/ 234 h 2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797" h="234">
                  <a:moveTo>
                    <a:pt x="0" y="234"/>
                  </a:moveTo>
                  <a:lnTo>
                    <a:pt x="642" y="0"/>
                  </a:lnTo>
                  <a:lnTo>
                    <a:pt x="1707" y="234"/>
                  </a:lnTo>
                  <a:lnTo>
                    <a:pt x="2347" y="0"/>
                  </a:lnTo>
                  <a:lnTo>
                    <a:pt x="3414" y="234"/>
                  </a:lnTo>
                  <a:lnTo>
                    <a:pt x="3797" y="11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4" name="Freeform 56"/>
            <p:cNvSpPr>
              <a:spLocks/>
            </p:cNvSpPr>
            <p:nvPr/>
          </p:nvSpPr>
          <p:spPr bwMode="auto">
            <a:xfrm>
              <a:off x="3798" y="2413"/>
              <a:ext cx="533" cy="479"/>
            </a:xfrm>
            <a:custGeom>
              <a:avLst/>
              <a:gdLst>
                <a:gd name="T0" fmla="*/ 0 w 1065"/>
                <a:gd name="T1" fmla="*/ 0 h 479"/>
                <a:gd name="T2" fmla="*/ 0 w 1065"/>
                <a:gd name="T3" fmla="*/ 479 h 479"/>
                <a:gd name="T4" fmla="*/ 17 w 1065"/>
                <a:gd name="T5" fmla="*/ 479 h 479"/>
                <a:gd name="T6" fmla="*/ 17 w 1065"/>
                <a:gd name="T7" fmla="*/ 0 h 4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5"/>
                <a:gd name="T13" fmla="*/ 0 h 479"/>
                <a:gd name="T14" fmla="*/ 1065 w 1065"/>
                <a:gd name="T15" fmla="*/ 479 h 4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5" h="479">
                  <a:moveTo>
                    <a:pt x="0" y="0"/>
                  </a:moveTo>
                  <a:lnTo>
                    <a:pt x="0" y="479"/>
                  </a:lnTo>
                  <a:lnTo>
                    <a:pt x="1065" y="479"/>
                  </a:lnTo>
                  <a:lnTo>
                    <a:pt x="106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5" name="Freeform 57"/>
            <p:cNvSpPr>
              <a:spLocks noEditPoints="1"/>
            </p:cNvSpPr>
            <p:nvPr/>
          </p:nvSpPr>
          <p:spPr bwMode="auto">
            <a:xfrm>
              <a:off x="3475" y="2597"/>
              <a:ext cx="2039" cy="13"/>
            </a:xfrm>
            <a:custGeom>
              <a:avLst/>
              <a:gdLst>
                <a:gd name="T0" fmla="*/ 4 w 4078"/>
                <a:gd name="T1" fmla="*/ 5 h 13"/>
                <a:gd name="T2" fmla="*/ 3 w 4078"/>
                <a:gd name="T3" fmla="*/ 13 h 13"/>
                <a:gd name="T4" fmla="*/ 0 w 4078"/>
                <a:gd name="T5" fmla="*/ 6 h 13"/>
                <a:gd name="T6" fmla="*/ 1 w 4078"/>
                <a:gd name="T7" fmla="*/ 0 h 13"/>
                <a:gd name="T8" fmla="*/ 8 w 4078"/>
                <a:gd name="T9" fmla="*/ 5 h 13"/>
                <a:gd name="T10" fmla="*/ 8 w 4078"/>
                <a:gd name="T11" fmla="*/ 13 h 13"/>
                <a:gd name="T12" fmla="*/ 5 w 4078"/>
                <a:gd name="T13" fmla="*/ 6 h 13"/>
                <a:gd name="T14" fmla="*/ 5 w 4078"/>
                <a:gd name="T15" fmla="*/ 0 h 13"/>
                <a:gd name="T16" fmla="*/ 13 w 4078"/>
                <a:gd name="T17" fmla="*/ 5 h 13"/>
                <a:gd name="T18" fmla="*/ 13 w 4078"/>
                <a:gd name="T19" fmla="*/ 13 h 13"/>
                <a:gd name="T20" fmla="*/ 10 w 4078"/>
                <a:gd name="T21" fmla="*/ 6 h 13"/>
                <a:gd name="T22" fmla="*/ 10 w 4078"/>
                <a:gd name="T23" fmla="*/ 0 h 13"/>
                <a:gd name="T24" fmla="*/ 18 w 4078"/>
                <a:gd name="T25" fmla="*/ 5 h 13"/>
                <a:gd name="T26" fmla="*/ 18 w 4078"/>
                <a:gd name="T27" fmla="*/ 13 h 13"/>
                <a:gd name="T28" fmla="*/ 15 w 4078"/>
                <a:gd name="T29" fmla="*/ 6 h 13"/>
                <a:gd name="T30" fmla="*/ 15 w 4078"/>
                <a:gd name="T31" fmla="*/ 0 h 13"/>
                <a:gd name="T32" fmla="*/ 23 w 4078"/>
                <a:gd name="T33" fmla="*/ 5 h 13"/>
                <a:gd name="T34" fmla="*/ 23 w 4078"/>
                <a:gd name="T35" fmla="*/ 13 h 13"/>
                <a:gd name="T36" fmla="*/ 20 w 4078"/>
                <a:gd name="T37" fmla="*/ 6 h 13"/>
                <a:gd name="T38" fmla="*/ 20 w 4078"/>
                <a:gd name="T39" fmla="*/ 0 h 13"/>
                <a:gd name="T40" fmla="*/ 28 w 4078"/>
                <a:gd name="T41" fmla="*/ 5 h 13"/>
                <a:gd name="T42" fmla="*/ 27 w 4078"/>
                <a:gd name="T43" fmla="*/ 13 h 13"/>
                <a:gd name="T44" fmla="*/ 24 w 4078"/>
                <a:gd name="T45" fmla="*/ 6 h 13"/>
                <a:gd name="T46" fmla="*/ 25 w 4078"/>
                <a:gd name="T47" fmla="*/ 0 h 13"/>
                <a:gd name="T48" fmla="*/ 32 w 4078"/>
                <a:gd name="T49" fmla="*/ 5 h 13"/>
                <a:gd name="T50" fmla="*/ 32 w 4078"/>
                <a:gd name="T51" fmla="*/ 13 h 13"/>
                <a:gd name="T52" fmla="*/ 29 w 4078"/>
                <a:gd name="T53" fmla="*/ 6 h 13"/>
                <a:gd name="T54" fmla="*/ 29 w 4078"/>
                <a:gd name="T55" fmla="*/ 0 h 13"/>
                <a:gd name="T56" fmla="*/ 37 w 4078"/>
                <a:gd name="T57" fmla="*/ 5 h 13"/>
                <a:gd name="T58" fmla="*/ 37 w 4078"/>
                <a:gd name="T59" fmla="*/ 13 h 13"/>
                <a:gd name="T60" fmla="*/ 34 w 4078"/>
                <a:gd name="T61" fmla="*/ 6 h 13"/>
                <a:gd name="T62" fmla="*/ 34 w 4078"/>
                <a:gd name="T63" fmla="*/ 0 h 13"/>
                <a:gd name="T64" fmla="*/ 42 w 4078"/>
                <a:gd name="T65" fmla="*/ 5 h 13"/>
                <a:gd name="T66" fmla="*/ 42 w 4078"/>
                <a:gd name="T67" fmla="*/ 13 h 13"/>
                <a:gd name="T68" fmla="*/ 39 w 4078"/>
                <a:gd name="T69" fmla="*/ 6 h 13"/>
                <a:gd name="T70" fmla="*/ 39 w 4078"/>
                <a:gd name="T71" fmla="*/ 0 h 13"/>
                <a:gd name="T72" fmla="*/ 47 w 4078"/>
                <a:gd name="T73" fmla="*/ 5 h 13"/>
                <a:gd name="T74" fmla="*/ 47 w 4078"/>
                <a:gd name="T75" fmla="*/ 13 h 13"/>
                <a:gd name="T76" fmla="*/ 44 w 4078"/>
                <a:gd name="T77" fmla="*/ 6 h 13"/>
                <a:gd name="T78" fmla="*/ 44 w 4078"/>
                <a:gd name="T79" fmla="*/ 0 h 13"/>
                <a:gd name="T80" fmla="*/ 52 w 4078"/>
                <a:gd name="T81" fmla="*/ 5 h 13"/>
                <a:gd name="T82" fmla="*/ 51 w 4078"/>
                <a:gd name="T83" fmla="*/ 13 h 13"/>
                <a:gd name="T84" fmla="*/ 48 w 4078"/>
                <a:gd name="T85" fmla="*/ 6 h 13"/>
                <a:gd name="T86" fmla="*/ 49 w 4078"/>
                <a:gd name="T87" fmla="*/ 0 h 13"/>
                <a:gd name="T88" fmla="*/ 56 w 4078"/>
                <a:gd name="T89" fmla="*/ 5 h 13"/>
                <a:gd name="T90" fmla="*/ 56 w 4078"/>
                <a:gd name="T91" fmla="*/ 13 h 13"/>
                <a:gd name="T92" fmla="*/ 53 w 4078"/>
                <a:gd name="T93" fmla="*/ 6 h 13"/>
                <a:gd name="T94" fmla="*/ 53 w 4078"/>
                <a:gd name="T95" fmla="*/ 0 h 13"/>
                <a:gd name="T96" fmla="*/ 61 w 4078"/>
                <a:gd name="T97" fmla="*/ 5 h 13"/>
                <a:gd name="T98" fmla="*/ 61 w 4078"/>
                <a:gd name="T99" fmla="*/ 13 h 13"/>
                <a:gd name="T100" fmla="*/ 58 w 4078"/>
                <a:gd name="T101" fmla="*/ 6 h 13"/>
                <a:gd name="T102" fmla="*/ 58 w 4078"/>
                <a:gd name="T103" fmla="*/ 0 h 13"/>
                <a:gd name="T104" fmla="*/ 64 w 4078"/>
                <a:gd name="T105" fmla="*/ 5 h 13"/>
                <a:gd name="T106" fmla="*/ 64 w 4078"/>
                <a:gd name="T107" fmla="*/ 13 h 13"/>
                <a:gd name="T108" fmla="*/ 63 w 4078"/>
                <a:gd name="T109" fmla="*/ 6 h 13"/>
                <a:gd name="T110" fmla="*/ 63 w 4078"/>
                <a:gd name="T111" fmla="*/ 0 h 13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4078"/>
                <a:gd name="T169" fmla="*/ 0 h 13"/>
                <a:gd name="T170" fmla="*/ 4078 w 4078"/>
                <a:gd name="T171" fmla="*/ 13 h 13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4078" h="13">
                  <a:moveTo>
                    <a:pt x="11" y="0"/>
                  </a:moveTo>
                  <a:lnTo>
                    <a:pt x="191" y="0"/>
                  </a:lnTo>
                  <a:lnTo>
                    <a:pt x="194" y="0"/>
                  </a:lnTo>
                  <a:lnTo>
                    <a:pt x="196" y="0"/>
                  </a:lnTo>
                  <a:lnTo>
                    <a:pt x="200" y="2"/>
                  </a:lnTo>
                  <a:lnTo>
                    <a:pt x="202" y="4"/>
                  </a:lnTo>
                  <a:lnTo>
                    <a:pt x="204" y="5"/>
                  </a:lnTo>
                  <a:lnTo>
                    <a:pt x="204" y="6"/>
                  </a:lnTo>
                  <a:lnTo>
                    <a:pt x="204" y="8"/>
                  </a:lnTo>
                  <a:lnTo>
                    <a:pt x="202" y="9"/>
                  </a:lnTo>
                  <a:lnTo>
                    <a:pt x="200" y="11"/>
                  </a:lnTo>
                  <a:lnTo>
                    <a:pt x="196" y="13"/>
                  </a:lnTo>
                  <a:lnTo>
                    <a:pt x="194" y="13"/>
                  </a:lnTo>
                  <a:lnTo>
                    <a:pt x="191" y="13"/>
                  </a:lnTo>
                  <a:lnTo>
                    <a:pt x="11" y="13"/>
                  </a:lnTo>
                  <a:lnTo>
                    <a:pt x="9" y="13"/>
                  </a:lnTo>
                  <a:lnTo>
                    <a:pt x="8" y="13"/>
                  </a:lnTo>
                  <a:lnTo>
                    <a:pt x="4" y="11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4" y="2"/>
                  </a:lnTo>
                  <a:lnTo>
                    <a:pt x="8" y="0"/>
                  </a:lnTo>
                  <a:lnTo>
                    <a:pt x="9" y="0"/>
                  </a:lnTo>
                  <a:lnTo>
                    <a:pt x="11" y="0"/>
                  </a:lnTo>
                  <a:close/>
                  <a:moveTo>
                    <a:pt x="319" y="0"/>
                  </a:moveTo>
                  <a:lnTo>
                    <a:pt x="498" y="0"/>
                  </a:lnTo>
                  <a:lnTo>
                    <a:pt x="500" y="0"/>
                  </a:lnTo>
                  <a:lnTo>
                    <a:pt x="502" y="0"/>
                  </a:lnTo>
                  <a:lnTo>
                    <a:pt x="507" y="2"/>
                  </a:lnTo>
                  <a:lnTo>
                    <a:pt x="509" y="4"/>
                  </a:lnTo>
                  <a:lnTo>
                    <a:pt x="509" y="5"/>
                  </a:lnTo>
                  <a:lnTo>
                    <a:pt x="511" y="6"/>
                  </a:lnTo>
                  <a:lnTo>
                    <a:pt x="509" y="8"/>
                  </a:lnTo>
                  <a:lnTo>
                    <a:pt x="509" y="9"/>
                  </a:lnTo>
                  <a:lnTo>
                    <a:pt x="507" y="11"/>
                  </a:lnTo>
                  <a:lnTo>
                    <a:pt x="502" y="13"/>
                  </a:lnTo>
                  <a:lnTo>
                    <a:pt x="500" y="13"/>
                  </a:lnTo>
                  <a:lnTo>
                    <a:pt x="498" y="13"/>
                  </a:lnTo>
                  <a:lnTo>
                    <a:pt x="319" y="13"/>
                  </a:lnTo>
                  <a:lnTo>
                    <a:pt x="317" y="13"/>
                  </a:lnTo>
                  <a:lnTo>
                    <a:pt x="313" y="13"/>
                  </a:lnTo>
                  <a:lnTo>
                    <a:pt x="309" y="11"/>
                  </a:lnTo>
                  <a:lnTo>
                    <a:pt x="307" y="9"/>
                  </a:lnTo>
                  <a:lnTo>
                    <a:pt x="306" y="8"/>
                  </a:lnTo>
                  <a:lnTo>
                    <a:pt x="306" y="6"/>
                  </a:lnTo>
                  <a:lnTo>
                    <a:pt x="306" y="5"/>
                  </a:lnTo>
                  <a:lnTo>
                    <a:pt x="307" y="4"/>
                  </a:lnTo>
                  <a:lnTo>
                    <a:pt x="309" y="2"/>
                  </a:lnTo>
                  <a:lnTo>
                    <a:pt x="313" y="0"/>
                  </a:lnTo>
                  <a:lnTo>
                    <a:pt x="317" y="0"/>
                  </a:lnTo>
                  <a:lnTo>
                    <a:pt x="319" y="0"/>
                  </a:lnTo>
                  <a:close/>
                  <a:moveTo>
                    <a:pt x="626" y="0"/>
                  </a:moveTo>
                  <a:lnTo>
                    <a:pt x="804" y="0"/>
                  </a:lnTo>
                  <a:lnTo>
                    <a:pt x="807" y="0"/>
                  </a:lnTo>
                  <a:lnTo>
                    <a:pt x="809" y="0"/>
                  </a:lnTo>
                  <a:lnTo>
                    <a:pt x="813" y="2"/>
                  </a:lnTo>
                  <a:lnTo>
                    <a:pt x="817" y="4"/>
                  </a:lnTo>
                  <a:lnTo>
                    <a:pt x="817" y="5"/>
                  </a:lnTo>
                  <a:lnTo>
                    <a:pt x="817" y="6"/>
                  </a:lnTo>
                  <a:lnTo>
                    <a:pt x="817" y="8"/>
                  </a:lnTo>
                  <a:lnTo>
                    <a:pt x="817" y="9"/>
                  </a:lnTo>
                  <a:lnTo>
                    <a:pt x="813" y="11"/>
                  </a:lnTo>
                  <a:lnTo>
                    <a:pt x="809" y="13"/>
                  </a:lnTo>
                  <a:lnTo>
                    <a:pt x="807" y="13"/>
                  </a:lnTo>
                  <a:lnTo>
                    <a:pt x="804" y="13"/>
                  </a:lnTo>
                  <a:lnTo>
                    <a:pt x="626" y="13"/>
                  </a:lnTo>
                  <a:lnTo>
                    <a:pt x="622" y="13"/>
                  </a:lnTo>
                  <a:lnTo>
                    <a:pt x="621" y="13"/>
                  </a:lnTo>
                  <a:lnTo>
                    <a:pt x="617" y="11"/>
                  </a:lnTo>
                  <a:lnTo>
                    <a:pt x="613" y="9"/>
                  </a:lnTo>
                  <a:lnTo>
                    <a:pt x="613" y="8"/>
                  </a:lnTo>
                  <a:lnTo>
                    <a:pt x="613" y="6"/>
                  </a:lnTo>
                  <a:lnTo>
                    <a:pt x="613" y="5"/>
                  </a:lnTo>
                  <a:lnTo>
                    <a:pt x="613" y="4"/>
                  </a:lnTo>
                  <a:lnTo>
                    <a:pt x="617" y="2"/>
                  </a:lnTo>
                  <a:lnTo>
                    <a:pt x="621" y="0"/>
                  </a:lnTo>
                  <a:lnTo>
                    <a:pt x="622" y="0"/>
                  </a:lnTo>
                  <a:lnTo>
                    <a:pt x="626" y="0"/>
                  </a:lnTo>
                  <a:close/>
                  <a:moveTo>
                    <a:pt x="932" y="0"/>
                  </a:moveTo>
                  <a:lnTo>
                    <a:pt x="1111" y="0"/>
                  </a:lnTo>
                  <a:lnTo>
                    <a:pt x="1113" y="0"/>
                  </a:lnTo>
                  <a:lnTo>
                    <a:pt x="1117" y="0"/>
                  </a:lnTo>
                  <a:lnTo>
                    <a:pt x="1120" y="2"/>
                  </a:lnTo>
                  <a:lnTo>
                    <a:pt x="1122" y="4"/>
                  </a:lnTo>
                  <a:lnTo>
                    <a:pt x="1124" y="5"/>
                  </a:lnTo>
                  <a:lnTo>
                    <a:pt x="1124" y="6"/>
                  </a:lnTo>
                  <a:lnTo>
                    <a:pt x="1124" y="8"/>
                  </a:lnTo>
                  <a:lnTo>
                    <a:pt x="1122" y="9"/>
                  </a:lnTo>
                  <a:lnTo>
                    <a:pt x="1120" y="11"/>
                  </a:lnTo>
                  <a:lnTo>
                    <a:pt x="1117" y="13"/>
                  </a:lnTo>
                  <a:lnTo>
                    <a:pt x="1113" y="13"/>
                  </a:lnTo>
                  <a:lnTo>
                    <a:pt x="1111" y="13"/>
                  </a:lnTo>
                  <a:lnTo>
                    <a:pt x="932" y="13"/>
                  </a:lnTo>
                  <a:lnTo>
                    <a:pt x="930" y="13"/>
                  </a:lnTo>
                  <a:lnTo>
                    <a:pt x="926" y="13"/>
                  </a:lnTo>
                  <a:lnTo>
                    <a:pt x="922" y="11"/>
                  </a:lnTo>
                  <a:lnTo>
                    <a:pt x="920" y="9"/>
                  </a:lnTo>
                  <a:lnTo>
                    <a:pt x="919" y="8"/>
                  </a:lnTo>
                  <a:lnTo>
                    <a:pt x="919" y="6"/>
                  </a:lnTo>
                  <a:lnTo>
                    <a:pt x="919" y="5"/>
                  </a:lnTo>
                  <a:lnTo>
                    <a:pt x="920" y="4"/>
                  </a:lnTo>
                  <a:lnTo>
                    <a:pt x="922" y="2"/>
                  </a:lnTo>
                  <a:lnTo>
                    <a:pt x="926" y="0"/>
                  </a:lnTo>
                  <a:lnTo>
                    <a:pt x="930" y="0"/>
                  </a:lnTo>
                  <a:lnTo>
                    <a:pt x="932" y="0"/>
                  </a:lnTo>
                  <a:close/>
                  <a:moveTo>
                    <a:pt x="1239" y="0"/>
                  </a:moveTo>
                  <a:lnTo>
                    <a:pt x="1417" y="0"/>
                  </a:lnTo>
                  <a:lnTo>
                    <a:pt x="1420" y="0"/>
                  </a:lnTo>
                  <a:lnTo>
                    <a:pt x="1422" y="0"/>
                  </a:lnTo>
                  <a:lnTo>
                    <a:pt x="1426" y="2"/>
                  </a:lnTo>
                  <a:lnTo>
                    <a:pt x="1430" y="4"/>
                  </a:lnTo>
                  <a:lnTo>
                    <a:pt x="1430" y="5"/>
                  </a:lnTo>
                  <a:lnTo>
                    <a:pt x="1430" y="6"/>
                  </a:lnTo>
                  <a:lnTo>
                    <a:pt x="1430" y="8"/>
                  </a:lnTo>
                  <a:lnTo>
                    <a:pt x="1430" y="9"/>
                  </a:lnTo>
                  <a:lnTo>
                    <a:pt x="1426" y="11"/>
                  </a:lnTo>
                  <a:lnTo>
                    <a:pt x="1422" y="13"/>
                  </a:lnTo>
                  <a:lnTo>
                    <a:pt x="1420" y="13"/>
                  </a:lnTo>
                  <a:lnTo>
                    <a:pt x="1417" y="13"/>
                  </a:lnTo>
                  <a:lnTo>
                    <a:pt x="1239" y="13"/>
                  </a:lnTo>
                  <a:lnTo>
                    <a:pt x="1235" y="13"/>
                  </a:lnTo>
                  <a:lnTo>
                    <a:pt x="1234" y="13"/>
                  </a:lnTo>
                  <a:lnTo>
                    <a:pt x="1230" y="11"/>
                  </a:lnTo>
                  <a:lnTo>
                    <a:pt x="1226" y="9"/>
                  </a:lnTo>
                  <a:lnTo>
                    <a:pt x="1226" y="8"/>
                  </a:lnTo>
                  <a:lnTo>
                    <a:pt x="1226" y="6"/>
                  </a:lnTo>
                  <a:lnTo>
                    <a:pt x="1226" y="5"/>
                  </a:lnTo>
                  <a:lnTo>
                    <a:pt x="1226" y="4"/>
                  </a:lnTo>
                  <a:lnTo>
                    <a:pt x="1230" y="2"/>
                  </a:lnTo>
                  <a:lnTo>
                    <a:pt x="1234" y="0"/>
                  </a:lnTo>
                  <a:lnTo>
                    <a:pt x="1235" y="0"/>
                  </a:lnTo>
                  <a:lnTo>
                    <a:pt x="1239" y="0"/>
                  </a:lnTo>
                  <a:close/>
                  <a:moveTo>
                    <a:pt x="1545" y="0"/>
                  </a:moveTo>
                  <a:lnTo>
                    <a:pt x="1724" y="0"/>
                  </a:lnTo>
                  <a:lnTo>
                    <a:pt x="1726" y="0"/>
                  </a:lnTo>
                  <a:lnTo>
                    <a:pt x="1730" y="0"/>
                  </a:lnTo>
                  <a:lnTo>
                    <a:pt x="1733" y="2"/>
                  </a:lnTo>
                  <a:lnTo>
                    <a:pt x="1735" y="4"/>
                  </a:lnTo>
                  <a:lnTo>
                    <a:pt x="1737" y="5"/>
                  </a:lnTo>
                  <a:lnTo>
                    <a:pt x="1737" y="6"/>
                  </a:lnTo>
                  <a:lnTo>
                    <a:pt x="1737" y="8"/>
                  </a:lnTo>
                  <a:lnTo>
                    <a:pt x="1735" y="9"/>
                  </a:lnTo>
                  <a:lnTo>
                    <a:pt x="1733" y="11"/>
                  </a:lnTo>
                  <a:lnTo>
                    <a:pt x="1730" y="13"/>
                  </a:lnTo>
                  <a:lnTo>
                    <a:pt x="1726" y="13"/>
                  </a:lnTo>
                  <a:lnTo>
                    <a:pt x="1724" y="13"/>
                  </a:lnTo>
                  <a:lnTo>
                    <a:pt x="1545" y="13"/>
                  </a:lnTo>
                  <a:lnTo>
                    <a:pt x="1543" y="13"/>
                  </a:lnTo>
                  <a:lnTo>
                    <a:pt x="1541" y="13"/>
                  </a:lnTo>
                  <a:lnTo>
                    <a:pt x="1535" y="11"/>
                  </a:lnTo>
                  <a:lnTo>
                    <a:pt x="1533" y="9"/>
                  </a:lnTo>
                  <a:lnTo>
                    <a:pt x="1533" y="8"/>
                  </a:lnTo>
                  <a:lnTo>
                    <a:pt x="1532" y="6"/>
                  </a:lnTo>
                  <a:lnTo>
                    <a:pt x="1533" y="5"/>
                  </a:lnTo>
                  <a:lnTo>
                    <a:pt x="1533" y="4"/>
                  </a:lnTo>
                  <a:lnTo>
                    <a:pt x="1535" y="2"/>
                  </a:lnTo>
                  <a:lnTo>
                    <a:pt x="1541" y="0"/>
                  </a:lnTo>
                  <a:lnTo>
                    <a:pt x="1543" y="0"/>
                  </a:lnTo>
                  <a:lnTo>
                    <a:pt x="1545" y="0"/>
                  </a:lnTo>
                  <a:close/>
                  <a:moveTo>
                    <a:pt x="1852" y="0"/>
                  </a:moveTo>
                  <a:lnTo>
                    <a:pt x="2031" y="0"/>
                  </a:lnTo>
                  <a:lnTo>
                    <a:pt x="2033" y="0"/>
                  </a:lnTo>
                  <a:lnTo>
                    <a:pt x="2035" y="0"/>
                  </a:lnTo>
                  <a:lnTo>
                    <a:pt x="2039" y="2"/>
                  </a:lnTo>
                  <a:lnTo>
                    <a:pt x="2043" y="4"/>
                  </a:lnTo>
                  <a:lnTo>
                    <a:pt x="2043" y="5"/>
                  </a:lnTo>
                  <a:lnTo>
                    <a:pt x="2043" y="6"/>
                  </a:lnTo>
                  <a:lnTo>
                    <a:pt x="2043" y="8"/>
                  </a:lnTo>
                  <a:lnTo>
                    <a:pt x="2043" y="9"/>
                  </a:lnTo>
                  <a:lnTo>
                    <a:pt x="2039" y="11"/>
                  </a:lnTo>
                  <a:lnTo>
                    <a:pt x="2035" y="13"/>
                  </a:lnTo>
                  <a:lnTo>
                    <a:pt x="2033" y="13"/>
                  </a:lnTo>
                  <a:lnTo>
                    <a:pt x="2031" y="13"/>
                  </a:lnTo>
                  <a:lnTo>
                    <a:pt x="1852" y="13"/>
                  </a:lnTo>
                  <a:lnTo>
                    <a:pt x="1848" y="13"/>
                  </a:lnTo>
                  <a:lnTo>
                    <a:pt x="1847" y="13"/>
                  </a:lnTo>
                  <a:lnTo>
                    <a:pt x="1843" y="11"/>
                  </a:lnTo>
                  <a:lnTo>
                    <a:pt x="1839" y="9"/>
                  </a:lnTo>
                  <a:lnTo>
                    <a:pt x="1839" y="8"/>
                  </a:lnTo>
                  <a:lnTo>
                    <a:pt x="1839" y="6"/>
                  </a:lnTo>
                  <a:lnTo>
                    <a:pt x="1839" y="5"/>
                  </a:lnTo>
                  <a:lnTo>
                    <a:pt x="1839" y="4"/>
                  </a:lnTo>
                  <a:lnTo>
                    <a:pt x="1843" y="2"/>
                  </a:lnTo>
                  <a:lnTo>
                    <a:pt x="1847" y="0"/>
                  </a:lnTo>
                  <a:lnTo>
                    <a:pt x="1848" y="0"/>
                  </a:lnTo>
                  <a:lnTo>
                    <a:pt x="1852" y="0"/>
                  </a:lnTo>
                  <a:close/>
                  <a:moveTo>
                    <a:pt x="2158" y="0"/>
                  </a:moveTo>
                  <a:lnTo>
                    <a:pt x="2337" y="0"/>
                  </a:lnTo>
                  <a:lnTo>
                    <a:pt x="2341" y="0"/>
                  </a:lnTo>
                  <a:lnTo>
                    <a:pt x="2343" y="0"/>
                  </a:lnTo>
                  <a:lnTo>
                    <a:pt x="2346" y="2"/>
                  </a:lnTo>
                  <a:lnTo>
                    <a:pt x="2348" y="4"/>
                  </a:lnTo>
                  <a:lnTo>
                    <a:pt x="2350" y="5"/>
                  </a:lnTo>
                  <a:lnTo>
                    <a:pt x="2350" y="6"/>
                  </a:lnTo>
                  <a:lnTo>
                    <a:pt x="2350" y="8"/>
                  </a:lnTo>
                  <a:lnTo>
                    <a:pt x="2348" y="9"/>
                  </a:lnTo>
                  <a:lnTo>
                    <a:pt x="2346" y="11"/>
                  </a:lnTo>
                  <a:lnTo>
                    <a:pt x="2343" y="13"/>
                  </a:lnTo>
                  <a:lnTo>
                    <a:pt x="2341" y="13"/>
                  </a:lnTo>
                  <a:lnTo>
                    <a:pt x="2337" y="13"/>
                  </a:lnTo>
                  <a:lnTo>
                    <a:pt x="2158" y="13"/>
                  </a:lnTo>
                  <a:lnTo>
                    <a:pt x="2156" y="13"/>
                  </a:lnTo>
                  <a:lnTo>
                    <a:pt x="2154" y="13"/>
                  </a:lnTo>
                  <a:lnTo>
                    <a:pt x="2148" y="11"/>
                  </a:lnTo>
                  <a:lnTo>
                    <a:pt x="2146" y="9"/>
                  </a:lnTo>
                  <a:lnTo>
                    <a:pt x="2146" y="8"/>
                  </a:lnTo>
                  <a:lnTo>
                    <a:pt x="2146" y="6"/>
                  </a:lnTo>
                  <a:lnTo>
                    <a:pt x="2146" y="5"/>
                  </a:lnTo>
                  <a:lnTo>
                    <a:pt x="2146" y="4"/>
                  </a:lnTo>
                  <a:lnTo>
                    <a:pt x="2148" y="2"/>
                  </a:lnTo>
                  <a:lnTo>
                    <a:pt x="2154" y="0"/>
                  </a:lnTo>
                  <a:lnTo>
                    <a:pt x="2156" y="0"/>
                  </a:lnTo>
                  <a:lnTo>
                    <a:pt x="2158" y="0"/>
                  </a:lnTo>
                  <a:close/>
                  <a:moveTo>
                    <a:pt x="2465" y="0"/>
                  </a:moveTo>
                  <a:lnTo>
                    <a:pt x="2644" y="0"/>
                  </a:lnTo>
                  <a:lnTo>
                    <a:pt x="2646" y="0"/>
                  </a:lnTo>
                  <a:lnTo>
                    <a:pt x="2648" y="0"/>
                  </a:lnTo>
                  <a:lnTo>
                    <a:pt x="2652" y="2"/>
                  </a:lnTo>
                  <a:lnTo>
                    <a:pt x="2656" y="4"/>
                  </a:lnTo>
                  <a:lnTo>
                    <a:pt x="2656" y="5"/>
                  </a:lnTo>
                  <a:lnTo>
                    <a:pt x="2656" y="6"/>
                  </a:lnTo>
                  <a:lnTo>
                    <a:pt x="2656" y="8"/>
                  </a:lnTo>
                  <a:lnTo>
                    <a:pt x="2656" y="9"/>
                  </a:lnTo>
                  <a:lnTo>
                    <a:pt x="2652" y="11"/>
                  </a:lnTo>
                  <a:lnTo>
                    <a:pt x="2648" y="13"/>
                  </a:lnTo>
                  <a:lnTo>
                    <a:pt x="2646" y="13"/>
                  </a:lnTo>
                  <a:lnTo>
                    <a:pt x="2644" y="13"/>
                  </a:lnTo>
                  <a:lnTo>
                    <a:pt x="2465" y="13"/>
                  </a:lnTo>
                  <a:lnTo>
                    <a:pt x="2463" y="13"/>
                  </a:lnTo>
                  <a:lnTo>
                    <a:pt x="2460" y="13"/>
                  </a:lnTo>
                  <a:lnTo>
                    <a:pt x="2456" y="11"/>
                  </a:lnTo>
                  <a:lnTo>
                    <a:pt x="2454" y="9"/>
                  </a:lnTo>
                  <a:lnTo>
                    <a:pt x="2452" y="8"/>
                  </a:lnTo>
                  <a:lnTo>
                    <a:pt x="2452" y="6"/>
                  </a:lnTo>
                  <a:lnTo>
                    <a:pt x="2452" y="5"/>
                  </a:lnTo>
                  <a:lnTo>
                    <a:pt x="2454" y="4"/>
                  </a:lnTo>
                  <a:lnTo>
                    <a:pt x="2456" y="2"/>
                  </a:lnTo>
                  <a:lnTo>
                    <a:pt x="2460" y="0"/>
                  </a:lnTo>
                  <a:lnTo>
                    <a:pt x="2463" y="0"/>
                  </a:lnTo>
                  <a:lnTo>
                    <a:pt x="2465" y="0"/>
                  </a:lnTo>
                  <a:close/>
                  <a:moveTo>
                    <a:pt x="2771" y="0"/>
                  </a:moveTo>
                  <a:lnTo>
                    <a:pt x="2950" y="0"/>
                  </a:lnTo>
                  <a:lnTo>
                    <a:pt x="2954" y="0"/>
                  </a:lnTo>
                  <a:lnTo>
                    <a:pt x="2956" y="0"/>
                  </a:lnTo>
                  <a:lnTo>
                    <a:pt x="2959" y="2"/>
                  </a:lnTo>
                  <a:lnTo>
                    <a:pt x="2961" y="4"/>
                  </a:lnTo>
                  <a:lnTo>
                    <a:pt x="2963" y="5"/>
                  </a:lnTo>
                  <a:lnTo>
                    <a:pt x="2963" y="6"/>
                  </a:lnTo>
                  <a:lnTo>
                    <a:pt x="2963" y="8"/>
                  </a:lnTo>
                  <a:lnTo>
                    <a:pt x="2961" y="9"/>
                  </a:lnTo>
                  <a:lnTo>
                    <a:pt x="2959" y="11"/>
                  </a:lnTo>
                  <a:lnTo>
                    <a:pt x="2956" y="13"/>
                  </a:lnTo>
                  <a:lnTo>
                    <a:pt x="2954" y="13"/>
                  </a:lnTo>
                  <a:lnTo>
                    <a:pt x="2950" y="13"/>
                  </a:lnTo>
                  <a:lnTo>
                    <a:pt x="2771" y="13"/>
                  </a:lnTo>
                  <a:lnTo>
                    <a:pt x="2769" y="13"/>
                  </a:lnTo>
                  <a:lnTo>
                    <a:pt x="2767" y="13"/>
                  </a:lnTo>
                  <a:lnTo>
                    <a:pt x="2763" y="11"/>
                  </a:lnTo>
                  <a:lnTo>
                    <a:pt x="2759" y="9"/>
                  </a:lnTo>
                  <a:lnTo>
                    <a:pt x="2759" y="8"/>
                  </a:lnTo>
                  <a:lnTo>
                    <a:pt x="2759" y="6"/>
                  </a:lnTo>
                  <a:lnTo>
                    <a:pt x="2759" y="5"/>
                  </a:lnTo>
                  <a:lnTo>
                    <a:pt x="2759" y="4"/>
                  </a:lnTo>
                  <a:lnTo>
                    <a:pt x="2763" y="2"/>
                  </a:lnTo>
                  <a:lnTo>
                    <a:pt x="2767" y="0"/>
                  </a:lnTo>
                  <a:lnTo>
                    <a:pt x="2769" y="0"/>
                  </a:lnTo>
                  <a:lnTo>
                    <a:pt x="2771" y="0"/>
                  </a:lnTo>
                  <a:close/>
                  <a:moveTo>
                    <a:pt x="3078" y="0"/>
                  </a:moveTo>
                  <a:lnTo>
                    <a:pt x="3257" y="0"/>
                  </a:lnTo>
                  <a:lnTo>
                    <a:pt x="3259" y="0"/>
                  </a:lnTo>
                  <a:lnTo>
                    <a:pt x="3261" y="0"/>
                  </a:lnTo>
                  <a:lnTo>
                    <a:pt x="3267" y="2"/>
                  </a:lnTo>
                  <a:lnTo>
                    <a:pt x="3269" y="4"/>
                  </a:lnTo>
                  <a:lnTo>
                    <a:pt x="3269" y="5"/>
                  </a:lnTo>
                  <a:lnTo>
                    <a:pt x="3271" y="6"/>
                  </a:lnTo>
                  <a:lnTo>
                    <a:pt x="3269" y="8"/>
                  </a:lnTo>
                  <a:lnTo>
                    <a:pt x="3269" y="9"/>
                  </a:lnTo>
                  <a:lnTo>
                    <a:pt x="3267" y="11"/>
                  </a:lnTo>
                  <a:lnTo>
                    <a:pt x="3261" y="13"/>
                  </a:lnTo>
                  <a:lnTo>
                    <a:pt x="3259" y="13"/>
                  </a:lnTo>
                  <a:lnTo>
                    <a:pt x="3257" y="13"/>
                  </a:lnTo>
                  <a:lnTo>
                    <a:pt x="3078" y="13"/>
                  </a:lnTo>
                  <a:lnTo>
                    <a:pt x="3076" y="13"/>
                  </a:lnTo>
                  <a:lnTo>
                    <a:pt x="3073" y="13"/>
                  </a:lnTo>
                  <a:lnTo>
                    <a:pt x="3069" y="11"/>
                  </a:lnTo>
                  <a:lnTo>
                    <a:pt x="3067" y="9"/>
                  </a:lnTo>
                  <a:lnTo>
                    <a:pt x="3065" y="8"/>
                  </a:lnTo>
                  <a:lnTo>
                    <a:pt x="3065" y="6"/>
                  </a:lnTo>
                  <a:lnTo>
                    <a:pt x="3065" y="5"/>
                  </a:lnTo>
                  <a:lnTo>
                    <a:pt x="3067" y="4"/>
                  </a:lnTo>
                  <a:lnTo>
                    <a:pt x="3069" y="2"/>
                  </a:lnTo>
                  <a:lnTo>
                    <a:pt x="3073" y="0"/>
                  </a:lnTo>
                  <a:lnTo>
                    <a:pt x="3076" y="0"/>
                  </a:lnTo>
                  <a:lnTo>
                    <a:pt x="3078" y="0"/>
                  </a:lnTo>
                  <a:close/>
                  <a:moveTo>
                    <a:pt x="3386" y="0"/>
                  </a:moveTo>
                  <a:lnTo>
                    <a:pt x="3563" y="0"/>
                  </a:lnTo>
                  <a:lnTo>
                    <a:pt x="3567" y="0"/>
                  </a:lnTo>
                  <a:lnTo>
                    <a:pt x="3569" y="0"/>
                  </a:lnTo>
                  <a:lnTo>
                    <a:pt x="3572" y="2"/>
                  </a:lnTo>
                  <a:lnTo>
                    <a:pt x="3576" y="4"/>
                  </a:lnTo>
                  <a:lnTo>
                    <a:pt x="3576" y="5"/>
                  </a:lnTo>
                  <a:lnTo>
                    <a:pt x="3576" y="6"/>
                  </a:lnTo>
                  <a:lnTo>
                    <a:pt x="3576" y="8"/>
                  </a:lnTo>
                  <a:lnTo>
                    <a:pt x="3576" y="9"/>
                  </a:lnTo>
                  <a:lnTo>
                    <a:pt x="3572" y="11"/>
                  </a:lnTo>
                  <a:lnTo>
                    <a:pt x="3569" y="13"/>
                  </a:lnTo>
                  <a:lnTo>
                    <a:pt x="3567" y="13"/>
                  </a:lnTo>
                  <a:lnTo>
                    <a:pt x="3563" y="13"/>
                  </a:lnTo>
                  <a:lnTo>
                    <a:pt x="3386" y="13"/>
                  </a:lnTo>
                  <a:lnTo>
                    <a:pt x="3382" y="13"/>
                  </a:lnTo>
                  <a:lnTo>
                    <a:pt x="3380" y="13"/>
                  </a:lnTo>
                  <a:lnTo>
                    <a:pt x="3376" y="11"/>
                  </a:lnTo>
                  <a:lnTo>
                    <a:pt x="3373" y="9"/>
                  </a:lnTo>
                  <a:lnTo>
                    <a:pt x="3373" y="8"/>
                  </a:lnTo>
                  <a:lnTo>
                    <a:pt x="3373" y="6"/>
                  </a:lnTo>
                  <a:lnTo>
                    <a:pt x="3373" y="5"/>
                  </a:lnTo>
                  <a:lnTo>
                    <a:pt x="3373" y="4"/>
                  </a:lnTo>
                  <a:lnTo>
                    <a:pt x="3376" y="2"/>
                  </a:lnTo>
                  <a:lnTo>
                    <a:pt x="3380" y="0"/>
                  </a:lnTo>
                  <a:lnTo>
                    <a:pt x="3382" y="0"/>
                  </a:lnTo>
                  <a:lnTo>
                    <a:pt x="3386" y="0"/>
                  </a:lnTo>
                  <a:close/>
                  <a:moveTo>
                    <a:pt x="3691" y="0"/>
                  </a:moveTo>
                  <a:lnTo>
                    <a:pt x="3870" y="0"/>
                  </a:lnTo>
                  <a:lnTo>
                    <a:pt x="3872" y="0"/>
                  </a:lnTo>
                  <a:lnTo>
                    <a:pt x="3876" y="0"/>
                  </a:lnTo>
                  <a:lnTo>
                    <a:pt x="3880" y="2"/>
                  </a:lnTo>
                  <a:lnTo>
                    <a:pt x="3882" y="4"/>
                  </a:lnTo>
                  <a:lnTo>
                    <a:pt x="3884" y="5"/>
                  </a:lnTo>
                  <a:lnTo>
                    <a:pt x="3884" y="6"/>
                  </a:lnTo>
                  <a:lnTo>
                    <a:pt x="3884" y="8"/>
                  </a:lnTo>
                  <a:lnTo>
                    <a:pt x="3882" y="9"/>
                  </a:lnTo>
                  <a:lnTo>
                    <a:pt x="3880" y="11"/>
                  </a:lnTo>
                  <a:lnTo>
                    <a:pt x="3876" y="13"/>
                  </a:lnTo>
                  <a:lnTo>
                    <a:pt x="3872" y="13"/>
                  </a:lnTo>
                  <a:lnTo>
                    <a:pt x="3870" y="13"/>
                  </a:lnTo>
                  <a:lnTo>
                    <a:pt x="3691" y="13"/>
                  </a:lnTo>
                  <a:lnTo>
                    <a:pt x="3689" y="13"/>
                  </a:lnTo>
                  <a:lnTo>
                    <a:pt x="3686" y="13"/>
                  </a:lnTo>
                  <a:lnTo>
                    <a:pt x="3682" y="11"/>
                  </a:lnTo>
                  <a:lnTo>
                    <a:pt x="3680" y="9"/>
                  </a:lnTo>
                  <a:lnTo>
                    <a:pt x="3678" y="8"/>
                  </a:lnTo>
                  <a:lnTo>
                    <a:pt x="3678" y="6"/>
                  </a:lnTo>
                  <a:lnTo>
                    <a:pt x="3678" y="5"/>
                  </a:lnTo>
                  <a:lnTo>
                    <a:pt x="3680" y="4"/>
                  </a:lnTo>
                  <a:lnTo>
                    <a:pt x="3682" y="2"/>
                  </a:lnTo>
                  <a:lnTo>
                    <a:pt x="3686" y="0"/>
                  </a:lnTo>
                  <a:lnTo>
                    <a:pt x="3689" y="0"/>
                  </a:lnTo>
                  <a:lnTo>
                    <a:pt x="3691" y="0"/>
                  </a:lnTo>
                  <a:close/>
                  <a:moveTo>
                    <a:pt x="3999" y="0"/>
                  </a:moveTo>
                  <a:lnTo>
                    <a:pt x="4065" y="0"/>
                  </a:lnTo>
                  <a:lnTo>
                    <a:pt x="4067" y="0"/>
                  </a:lnTo>
                  <a:lnTo>
                    <a:pt x="4068" y="0"/>
                  </a:lnTo>
                  <a:lnTo>
                    <a:pt x="4074" y="2"/>
                  </a:lnTo>
                  <a:lnTo>
                    <a:pt x="4076" y="4"/>
                  </a:lnTo>
                  <a:lnTo>
                    <a:pt x="4078" y="5"/>
                  </a:lnTo>
                  <a:lnTo>
                    <a:pt x="4078" y="6"/>
                  </a:lnTo>
                  <a:lnTo>
                    <a:pt x="4078" y="8"/>
                  </a:lnTo>
                  <a:lnTo>
                    <a:pt x="4076" y="9"/>
                  </a:lnTo>
                  <a:lnTo>
                    <a:pt x="4074" y="11"/>
                  </a:lnTo>
                  <a:lnTo>
                    <a:pt x="4068" y="13"/>
                  </a:lnTo>
                  <a:lnTo>
                    <a:pt x="4067" y="13"/>
                  </a:lnTo>
                  <a:lnTo>
                    <a:pt x="4065" y="13"/>
                  </a:lnTo>
                  <a:lnTo>
                    <a:pt x="3999" y="13"/>
                  </a:lnTo>
                  <a:lnTo>
                    <a:pt x="3995" y="13"/>
                  </a:lnTo>
                  <a:lnTo>
                    <a:pt x="3993" y="13"/>
                  </a:lnTo>
                  <a:lnTo>
                    <a:pt x="3989" y="11"/>
                  </a:lnTo>
                  <a:lnTo>
                    <a:pt x="3986" y="9"/>
                  </a:lnTo>
                  <a:lnTo>
                    <a:pt x="3986" y="8"/>
                  </a:lnTo>
                  <a:lnTo>
                    <a:pt x="3986" y="6"/>
                  </a:lnTo>
                  <a:lnTo>
                    <a:pt x="3986" y="5"/>
                  </a:lnTo>
                  <a:lnTo>
                    <a:pt x="3986" y="4"/>
                  </a:lnTo>
                  <a:lnTo>
                    <a:pt x="3989" y="2"/>
                  </a:lnTo>
                  <a:lnTo>
                    <a:pt x="3993" y="0"/>
                  </a:lnTo>
                  <a:lnTo>
                    <a:pt x="3995" y="0"/>
                  </a:lnTo>
                  <a:lnTo>
                    <a:pt x="3999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6" name="Rectangle 58"/>
            <p:cNvSpPr>
              <a:spLocks noChangeArrowheads="1"/>
            </p:cNvSpPr>
            <p:nvPr/>
          </p:nvSpPr>
          <p:spPr bwMode="auto">
            <a:xfrm>
              <a:off x="4005" y="2884"/>
              <a:ext cx="59" cy="11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/>
            </a:p>
          </p:txBody>
        </p:sp>
        <p:sp>
          <p:nvSpPr>
            <p:cNvPr id="80947" name="Rectangle 59"/>
            <p:cNvSpPr>
              <a:spLocks noChangeArrowheads="1"/>
            </p:cNvSpPr>
            <p:nvPr/>
          </p:nvSpPr>
          <p:spPr bwMode="auto">
            <a:xfrm>
              <a:off x="3793" y="3128"/>
              <a:ext cx="194" cy="17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/2</a:t>
              </a:r>
              <a:endParaRPr lang="en-US" altLang="zh-CN" sz="2000"/>
            </a:p>
          </p:txBody>
        </p:sp>
        <p:sp>
          <p:nvSpPr>
            <p:cNvPr id="80948" name="Rectangle 60"/>
            <p:cNvSpPr>
              <a:spLocks noChangeArrowheads="1"/>
            </p:cNvSpPr>
            <p:nvPr/>
          </p:nvSpPr>
          <p:spPr bwMode="auto">
            <a:xfrm>
              <a:off x="3521" y="3264"/>
              <a:ext cx="83" cy="17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</a:p>
          </p:txBody>
        </p:sp>
        <p:sp>
          <p:nvSpPr>
            <p:cNvPr id="80949" name="Freeform 61"/>
            <p:cNvSpPr>
              <a:spLocks noEditPoints="1"/>
            </p:cNvSpPr>
            <p:nvPr/>
          </p:nvSpPr>
          <p:spPr bwMode="auto">
            <a:xfrm>
              <a:off x="3474" y="3591"/>
              <a:ext cx="1980" cy="8"/>
            </a:xfrm>
            <a:custGeom>
              <a:avLst/>
              <a:gdLst>
                <a:gd name="T0" fmla="*/ 1 w 3961"/>
                <a:gd name="T1" fmla="*/ 5 h 8"/>
                <a:gd name="T2" fmla="*/ 0 w 3961"/>
                <a:gd name="T3" fmla="*/ 5 h 8"/>
                <a:gd name="T4" fmla="*/ 3 w 3961"/>
                <a:gd name="T5" fmla="*/ 0 h 8"/>
                <a:gd name="T6" fmla="*/ 4 w 3961"/>
                <a:gd name="T7" fmla="*/ 6 h 8"/>
                <a:gd name="T8" fmla="*/ 2 w 3961"/>
                <a:gd name="T9" fmla="*/ 4 h 8"/>
                <a:gd name="T10" fmla="*/ 7 w 3961"/>
                <a:gd name="T11" fmla="*/ 0 h 8"/>
                <a:gd name="T12" fmla="*/ 7 w 3961"/>
                <a:gd name="T13" fmla="*/ 7 h 8"/>
                <a:gd name="T14" fmla="*/ 5 w 3961"/>
                <a:gd name="T15" fmla="*/ 2 h 8"/>
                <a:gd name="T16" fmla="*/ 10 w 3961"/>
                <a:gd name="T17" fmla="*/ 0 h 8"/>
                <a:gd name="T18" fmla="*/ 10 w 3961"/>
                <a:gd name="T19" fmla="*/ 8 h 8"/>
                <a:gd name="T20" fmla="*/ 8 w 3961"/>
                <a:gd name="T21" fmla="*/ 1 h 8"/>
                <a:gd name="T22" fmla="*/ 13 w 3961"/>
                <a:gd name="T23" fmla="*/ 1 h 8"/>
                <a:gd name="T24" fmla="*/ 11 w 3961"/>
                <a:gd name="T25" fmla="*/ 8 h 8"/>
                <a:gd name="T26" fmla="*/ 11 w 3961"/>
                <a:gd name="T27" fmla="*/ 0 h 8"/>
                <a:gd name="T28" fmla="*/ 16 w 3961"/>
                <a:gd name="T29" fmla="*/ 2 h 8"/>
                <a:gd name="T30" fmla="*/ 14 w 3961"/>
                <a:gd name="T31" fmla="*/ 7 h 8"/>
                <a:gd name="T32" fmla="*/ 14 w 3961"/>
                <a:gd name="T33" fmla="*/ 0 h 8"/>
                <a:gd name="T34" fmla="*/ 19 w 3961"/>
                <a:gd name="T35" fmla="*/ 4 h 8"/>
                <a:gd name="T36" fmla="*/ 17 w 3961"/>
                <a:gd name="T37" fmla="*/ 6 h 8"/>
                <a:gd name="T38" fmla="*/ 17 w 3961"/>
                <a:gd name="T39" fmla="*/ 0 h 8"/>
                <a:gd name="T40" fmla="*/ 22 w 3961"/>
                <a:gd name="T41" fmla="*/ 5 h 8"/>
                <a:gd name="T42" fmla="*/ 20 w 3961"/>
                <a:gd name="T43" fmla="*/ 5 h 8"/>
                <a:gd name="T44" fmla="*/ 23 w 3961"/>
                <a:gd name="T45" fmla="*/ 0 h 8"/>
                <a:gd name="T46" fmla="*/ 24 w 3961"/>
                <a:gd name="T47" fmla="*/ 6 h 8"/>
                <a:gd name="T48" fmla="*/ 23 w 3961"/>
                <a:gd name="T49" fmla="*/ 4 h 8"/>
                <a:gd name="T50" fmla="*/ 27 w 3961"/>
                <a:gd name="T51" fmla="*/ 0 h 8"/>
                <a:gd name="T52" fmla="*/ 27 w 3961"/>
                <a:gd name="T53" fmla="*/ 7 h 8"/>
                <a:gd name="T54" fmla="*/ 25 w 3961"/>
                <a:gd name="T55" fmla="*/ 2 h 8"/>
                <a:gd name="T56" fmla="*/ 30 w 3961"/>
                <a:gd name="T57" fmla="*/ 0 h 8"/>
                <a:gd name="T58" fmla="*/ 30 w 3961"/>
                <a:gd name="T59" fmla="*/ 8 h 8"/>
                <a:gd name="T60" fmla="*/ 28 w 3961"/>
                <a:gd name="T61" fmla="*/ 1 h 8"/>
                <a:gd name="T62" fmla="*/ 33 w 3961"/>
                <a:gd name="T63" fmla="*/ 1 h 8"/>
                <a:gd name="T64" fmla="*/ 31 w 3961"/>
                <a:gd name="T65" fmla="*/ 8 h 8"/>
                <a:gd name="T66" fmla="*/ 31 w 3961"/>
                <a:gd name="T67" fmla="*/ 0 h 8"/>
                <a:gd name="T68" fmla="*/ 36 w 3961"/>
                <a:gd name="T69" fmla="*/ 2 h 8"/>
                <a:gd name="T70" fmla="*/ 34 w 3961"/>
                <a:gd name="T71" fmla="*/ 7 h 8"/>
                <a:gd name="T72" fmla="*/ 34 w 3961"/>
                <a:gd name="T73" fmla="*/ 0 h 8"/>
                <a:gd name="T74" fmla="*/ 39 w 3961"/>
                <a:gd name="T75" fmla="*/ 4 h 8"/>
                <a:gd name="T76" fmla="*/ 37 w 3961"/>
                <a:gd name="T77" fmla="*/ 6 h 8"/>
                <a:gd name="T78" fmla="*/ 37 w 3961"/>
                <a:gd name="T79" fmla="*/ 0 h 8"/>
                <a:gd name="T80" fmla="*/ 42 w 3961"/>
                <a:gd name="T81" fmla="*/ 5 h 8"/>
                <a:gd name="T82" fmla="*/ 40 w 3961"/>
                <a:gd name="T83" fmla="*/ 5 h 8"/>
                <a:gd name="T84" fmla="*/ 43 w 3961"/>
                <a:gd name="T85" fmla="*/ 0 h 8"/>
                <a:gd name="T86" fmla="*/ 45 w 3961"/>
                <a:gd name="T87" fmla="*/ 6 h 8"/>
                <a:gd name="T88" fmla="*/ 43 w 3961"/>
                <a:gd name="T89" fmla="*/ 4 h 8"/>
                <a:gd name="T90" fmla="*/ 47 w 3961"/>
                <a:gd name="T91" fmla="*/ 0 h 8"/>
                <a:gd name="T92" fmla="*/ 47 w 3961"/>
                <a:gd name="T93" fmla="*/ 7 h 8"/>
                <a:gd name="T94" fmla="*/ 46 w 3961"/>
                <a:gd name="T95" fmla="*/ 2 h 8"/>
                <a:gd name="T96" fmla="*/ 50 w 3961"/>
                <a:gd name="T97" fmla="*/ 0 h 8"/>
                <a:gd name="T98" fmla="*/ 50 w 3961"/>
                <a:gd name="T99" fmla="*/ 8 h 8"/>
                <a:gd name="T100" fmla="*/ 48 w 3961"/>
                <a:gd name="T101" fmla="*/ 1 h 8"/>
                <a:gd name="T102" fmla="*/ 53 w 3961"/>
                <a:gd name="T103" fmla="*/ 1 h 8"/>
                <a:gd name="T104" fmla="*/ 51 w 3961"/>
                <a:gd name="T105" fmla="*/ 8 h 8"/>
                <a:gd name="T106" fmla="*/ 51 w 3961"/>
                <a:gd name="T107" fmla="*/ 0 h 8"/>
                <a:gd name="T108" fmla="*/ 56 w 3961"/>
                <a:gd name="T109" fmla="*/ 2 h 8"/>
                <a:gd name="T110" fmla="*/ 54 w 3961"/>
                <a:gd name="T111" fmla="*/ 7 h 8"/>
                <a:gd name="T112" fmla="*/ 54 w 3961"/>
                <a:gd name="T113" fmla="*/ 0 h 8"/>
                <a:gd name="T114" fmla="*/ 59 w 3961"/>
                <a:gd name="T115" fmla="*/ 4 h 8"/>
                <a:gd name="T116" fmla="*/ 57 w 3961"/>
                <a:gd name="T117" fmla="*/ 6 h 8"/>
                <a:gd name="T118" fmla="*/ 57 w 3961"/>
                <a:gd name="T119" fmla="*/ 0 h 8"/>
                <a:gd name="T120" fmla="*/ 61 w 3961"/>
                <a:gd name="T121" fmla="*/ 5 h 8"/>
                <a:gd name="T122" fmla="*/ 60 w 3961"/>
                <a:gd name="T123" fmla="*/ 5 h 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961"/>
                <a:gd name="T187" fmla="*/ 0 h 8"/>
                <a:gd name="T188" fmla="*/ 3961 w 3961"/>
                <a:gd name="T189" fmla="*/ 8 h 8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961" h="8">
                  <a:moveTo>
                    <a:pt x="7" y="0"/>
                  </a:moveTo>
                  <a:lnTo>
                    <a:pt x="115" y="0"/>
                  </a:lnTo>
                  <a:lnTo>
                    <a:pt x="119" y="0"/>
                  </a:lnTo>
                  <a:lnTo>
                    <a:pt x="121" y="1"/>
                  </a:lnTo>
                  <a:lnTo>
                    <a:pt x="122" y="2"/>
                  </a:lnTo>
                  <a:lnTo>
                    <a:pt x="122" y="4"/>
                  </a:lnTo>
                  <a:lnTo>
                    <a:pt x="122" y="5"/>
                  </a:lnTo>
                  <a:lnTo>
                    <a:pt x="121" y="6"/>
                  </a:lnTo>
                  <a:lnTo>
                    <a:pt x="119" y="7"/>
                  </a:lnTo>
                  <a:lnTo>
                    <a:pt x="115" y="8"/>
                  </a:lnTo>
                  <a:lnTo>
                    <a:pt x="7" y="8"/>
                  </a:lnTo>
                  <a:lnTo>
                    <a:pt x="5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1"/>
                  </a:lnTo>
                  <a:lnTo>
                    <a:pt x="5" y="0"/>
                  </a:lnTo>
                  <a:lnTo>
                    <a:pt x="7" y="0"/>
                  </a:lnTo>
                  <a:close/>
                  <a:moveTo>
                    <a:pt x="192" y="0"/>
                  </a:moveTo>
                  <a:lnTo>
                    <a:pt x="300" y="0"/>
                  </a:lnTo>
                  <a:lnTo>
                    <a:pt x="302" y="0"/>
                  </a:lnTo>
                  <a:lnTo>
                    <a:pt x="305" y="1"/>
                  </a:lnTo>
                  <a:lnTo>
                    <a:pt x="307" y="2"/>
                  </a:lnTo>
                  <a:lnTo>
                    <a:pt x="307" y="4"/>
                  </a:lnTo>
                  <a:lnTo>
                    <a:pt x="307" y="5"/>
                  </a:lnTo>
                  <a:lnTo>
                    <a:pt x="305" y="6"/>
                  </a:lnTo>
                  <a:lnTo>
                    <a:pt x="302" y="7"/>
                  </a:lnTo>
                  <a:lnTo>
                    <a:pt x="300" y="8"/>
                  </a:lnTo>
                  <a:lnTo>
                    <a:pt x="192" y="8"/>
                  </a:lnTo>
                  <a:lnTo>
                    <a:pt x="188" y="7"/>
                  </a:lnTo>
                  <a:lnTo>
                    <a:pt x="187" y="6"/>
                  </a:lnTo>
                  <a:lnTo>
                    <a:pt x="185" y="5"/>
                  </a:lnTo>
                  <a:lnTo>
                    <a:pt x="185" y="4"/>
                  </a:lnTo>
                  <a:lnTo>
                    <a:pt x="185" y="2"/>
                  </a:lnTo>
                  <a:lnTo>
                    <a:pt x="187" y="1"/>
                  </a:lnTo>
                  <a:lnTo>
                    <a:pt x="188" y="0"/>
                  </a:lnTo>
                  <a:lnTo>
                    <a:pt x="192" y="0"/>
                  </a:lnTo>
                  <a:close/>
                  <a:moveTo>
                    <a:pt x="375" y="0"/>
                  </a:moveTo>
                  <a:lnTo>
                    <a:pt x="483" y="0"/>
                  </a:lnTo>
                  <a:lnTo>
                    <a:pt x="486" y="0"/>
                  </a:lnTo>
                  <a:lnTo>
                    <a:pt x="488" y="1"/>
                  </a:lnTo>
                  <a:lnTo>
                    <a:pt x="490" y="2"/>
                  </a:lnTo>
                  <a:lnTo>
                    <a:pt x="490" y="4"/>
                  </a:lnTo>
                  <a:lnTo>
                    <a:pt x="490" y="5"/>
                  </a:lnTo>
                  <a:lnTo>
                    <a:pt x="488" y="6"/>
                  </a:lnTo>
                  <a:lnTo>
                    <a:pt x="486" y="7"/>
                  </a:lnTo>
                  <a:lnTo>
                    <a:pt x="483" y="8"/>
                  </a:lnTo>
                  <a:lnTo>
                    <a:pt x="375" y="8"/>
                  </a:lnTo>
                  <a:lnTo>
                    <a:pt x="373" y="7"/>
                  </a:lnTo>
                  <a:lnTo>
                    <a:pt x="371" y="6"/>
                  </a:lnTo>
                  <a:lnTo>
                    <a:pt x="370" y="5"/>
                  </a:lnTo>
                  <a:lnTo>
                    <a:pt x="368" y="4"/>
                  </a:lnTo>
                  <a:lnTo>
                    <a:pt x="370" y="2"/>
                  </a:lnTo>
                  <a:lnTo>
                    <a:pt x="371" y="1"/>
                  </a:lnTo>
                  <a:lnTo>
                    <a:pt x="373" y="0"/>
                  </a:lnTo>
                  <a:lnTo>
                    <a:pt x="375" y="0"/>
                  </a:lnTo>
                  <a:close/>
                  <a:moveTo>
                    <a:pt x="560" y="0"/>
                  </a:moveTo>
                  <a:lnTo>
                    <a:pt x="668" y="0"/>
                  </a:lnTo>
                  <a:lnTo>
                    <a:pt x="669" y="0"/>
                  </a:lnTo>
                  <a:lnTo>
                    <a:pt x="673" y="1"/>
                  </a:lnTo>
                  <a:lnTo>
                    <a:pt x="675" y="2"/>
                  </a:lnTo>
                  <a:lnTo>
                    <a:pt x="675" y="4"/>
                  </a:lnTo>
                  <a:lnTo>
                    <a:pt x="675" y="5"/>
                  </a:lnTo>
                  <a:lnTo>
                    <a:pt x="673" y="6"/>
                  </a:lnTo>
                  <a:lnTo>
                    <a:pt x="669" y="7"/>
                  </a:lnTo>
                  <a:lnTo>
                    <a:pt x="668" y="8"/>
                  </a:lnTo>
                  <a:lnTo>
                    <a:pt x="560" y="8"/>
                  </a:lnTo>
                  <a:lnTo>
                    <a:pt x="556" y="7"/>
                  </a:lnTo>
                  <a:lnTo>
                    <a:pt x="554" y="6"/>
                  </a:lnTo>
                  <a:lnTo>
                    <a:pt x="552" y="5"/>
                  </a:lnTo>
                  <a:lnTo>
                    <a:pt x="552" y="4"/>
                  </a:lnTo>
                  <a:lnTo>
                    <a:pt x="552" y="2"/>
                  </a:lnTo>
                  <a:lnTo>
                    <a:pt x="554" y="1"/>
                  </a:lnTo>
                  <a:lnTo>
                    <a:pt x="556" y="0"/>
                  </a:lnTo>
                  <a:lnTo>
                    <a:pt x="560" y="0"/>
                  </a:lnTo>
                  <a:close/>
                  <a:moveTo>
                    <a:pt x="745" y="0"/>
                  </a:moveTo>
                  <a:lnTo>
                    <a:pt x="850" y="0"/>
                  </a:lnTo>
                  <a:lnTo>
                    <a:pt x="854" y="0"/>
                  </a:lnTo>
                  <a:lnTo>
                    <a:pt x="856" y="1"/>
                  </a:lnTo>
                  <a:lnTo>
                    <a:pt x="858" y="2"/>
                  </a:lnTo>
                  <a:lnTo>
                    <a:pt x="860" y="4"/>
                  </a:lnTo>
                  <a:lnTo>
                    <a:pt x="858" y="5"/>
                  </a:lnTo>
                  <a:lnTo>
                    <a:pt x="856" y="6"/>
                  </a:lnTo>
                  <a:lnTo>
                    <a:pt x="854" y="7"/>
                  </a:lnTo>
                  <a:lnTo>
                    <a:pt x="850" y="8"/>
                  </a:lnTo>
                  <a:lnTo>
                    <a:pt x="745" y="8"/>
                  </a:lnTo>
                  <a:lnTo>
                    <a:pt x="741" y="7"/>
                  </a:lnTo>
                  <a:lnTo>
                    <a:pt x="739" y="6"/>
                  </a:lnTo>
                  <a:lnTo>
                    <a:pt x="737" y="5"/>
                  </a:lnTo>
                  <a:lnTo>
                    <a:pt x="735" y="4"/>
                  </a:lnTo>
                  <a:lnTo>
                    <a:pt x="737" y="2"/>
                  </a:lnTo>
                  <a:lnTo>
                    <a:pt x="739" y="1"/>
                  </a:lnTo>
                  <a:lnTo>
                    <a:pt x="741" y="0"/>
                  </a:lnTo>
                  <a:lnTo>
                    <a:pt x="745" y="0"/>
                  </a:lnTo>
                  <a:close/>
                  <a:moveTo>
                    <a:pt x="928" y="0"/>
                  </a:moveTo>
                  <a:lnTo>
                    <a:pt x="1035" y="0"/>
                  </a:lnTo>
                  <a:lnTo>
                    <a:pt x="1037" y="0"/>
                  </a:lnTo>
                  <a:lnTo>
                    <a:pt x="1041" y="1"/>
                  </a:lnTo>
                  <a:lnTo>
                    <a:pt x="1043" y="2"/>
                  </a:lnTo>
                  <a:lnTo>
                    <a:pt x="1043" y="4"/>
                  </a:lnTo>
                  <a:lnTo>
                    <a:pt x="1043" y="5"/>
                  </a:lnTo>
                  <a:lnTo>
                    <a:pt x="1041" y="6"/>
                  </a:lnTo>
                  <a:lnTo>
                    <a:pt x="1037" y="7"/>
                  </a:lnTo>
                  <a:lnTo>
                    <a:pt x="1035" y="8"/>
                  </a:lnTo>
                  <a:lnTo>
                    <a:pt x="928" y="8"/>
                  </a:lnTo>
                  <a:lnTo>
                    <a:pt x="924" y="7"/>
                  </a:lnTo>
                  <a:lnTo>
                    <a:pt x="922" y="6"/>
                  </a:lnTo>
                  <a:lnTo>
                    <a:pt x="920" y="5"/>
                  </a:lnTo>
                  <a:lnTo>
                    <a:pt x="920" y="4"/>
                  </a:lnTo>
                  <a:lnTo>
                    <a:pt x="920" y="2"/>
                  </a:lnTo>
                  <a:lnTo>
                    <a:pt x="922" y="1"/>
                  </a:lnTo>
                  <a:lnTo>
                    <a:pt x="924" y="0"/>
                  </a:lnTo>
                  <a:lnTo>
                    <a:pt x="928" y="0"/>
                  </a:lnTo>
                  <a:close/>
                  <a:moveTo>
                    <a:pt x="1113" y="0"/>
                  </a:moveTo>
                  <a:lnTo>
                    <a:pt x="1220" y="0"/>
                  </a:lnTo>
                  <a:lnTo>
                    <a:pt x="1222" y="0"/>
                  </a:lnTo>
                  <a:lnTo>
                    <a:pt x="1224" y="1"/>
                  </a:lnTo>
                  <a:lnTo>
                    <a:pt x="1226" y="2"/>
                  </a:lnTo>
                  <a:lnTo>
                    <a:pt x="1228" y="4"/>
                  </a:lnTo>
                  <a:lnTo>
                    <a:pt x="1226" y="5"/>
                  </a:lnTo>
                  <a:lnTo>
                    <a:pt x="1224" y="6"/>
                  </a:lnTo>
                  <a:lnTo>
                    <a:pt x="1222" y="7"/>
                  </a:lnTo>
                  <a:lnTo>
                    <a:pt x="1220" y="8"/>
                  </a:lnTo>
                  <a:lnTo>
                    <a:pt x="1113" y="8"/>
                  </a:lnTo>
                  <a:lnTo>
                    <a:pt x="1109" y="7"/>
                  </a:lnTo>
                  <a:lnTo>
                    <a:pt x="1107" y="6"/>
                  </a:lnTo>
                  <a:lnTo>
                    <a:pt x="1105" y="5"/>
                  </a:lnTo>
                  <a:lnTo>
                    <a:pt x="1105" y="4"/>
                  </a:lnTo>
                  <a:lnTo>
                    <a:pt x="1105" y="2"/>
                  </a:lnTo>
                  <a:lnTo>
                    <a:pt x="1107" y="1"/>
                  </a:lnTo>
                  <a:lnTo>
                    <a:pt x="1109" y="0"/>
                  </a:lnTo>
                  <a:lnTo>
                    <a:pt x="1113" y="0"/>
                  </a:lnTo>
                  <a:close/>
                  <a:moveTo>
                    <a:pt x="1296" y="0"/>
                  </a:moveTo>
                  <a:lnTo>
                    <a:pt x="1403" y="0"/>
                  </a:lnTo>
                  <a:lnTo>
                    <a:pt x="1407" y="0"/>
                  </a:lnTo>
                  <a:lnTo>
                    <a:pt x="1409" y="1"/>
                  </a:lnTo>
                  <a:lnTo>
                    <a:pt x="1411" y="2"/>
                  </a:lnTo>
                  <a:lnTo>
                    <a:pt x="1411" y="4"/>
                  </a:lnTo>
                  <a:lnTo>
                    <a:pt x="1411" y="5"/>
                  </a:lnTo>
                  <a:lnTo>
                    <a:pt x="1409" y="6"/>
                  </a:lnTo>
                  <a:lnTo>
                    <a:pt x="1407" y="7"/>
                  </a:lnTo>
                  <a:lnTo>
                    <a:pt x="1403" y="8"/>
                  </a:lnTo>
                  <a:lnTo>
                    <a:pt x="1296" y="8"/>
                  </a:lnTo>
                  <a:lnTo>
                    <a:pt x="1294" y="7"/>
                  </a:lnTo>
                  <a:lnTo>
                    <a:pt x="1290" y="6"/>
                  </a:lnTo>
                  <a:lnTo>
                    <a:pt x="1288" y="5"/>
                  </a:lnTo>
                  <a:lnTo>
                    <a:pt x="1288" y="4"/>
                  </a:lnTo>
                  <a:lnTo>
                    <a:pt x="1288" y="2"/>
                  </a:lnTo>
                  <a:lnTo>
                    <a:pt x="1290" y="1"/>
                  </a:lnTo>
                  <a:lnTo>
                    <a:pt x="1294" y="0"/>
                  </a:lnTo>
                  <a:lnTo>
                    <a:pt x="1296" y="0"/>
                  </a:lnTo>
                  <a:close/>
                  <a:moveTo>
                    <a:pt x="1480" y="0"/>
                  </a:moveTo>
                  <a:lnTo>
                    <a:pt x="1588" y="0"/>
                  </a:lnTo>
                  <a:lnTo>
                    <a:pt x="1590" y="0"/>
                  </a:lnTo>
                  <a:lnTo>
                    <a:pt x="1592" y="1"/>
                  </a:lnTo>
                  <a:lnTo>
                    <a:pt x="1594" y="2"/>
                  </a:lnTo>
                  <a:lnTo>
                    <a:pt x="1596" y="4"/>
                  </a:lnTo>
                  <a:lnTo>
                    <a:pt x="1594" y="5"/>
                  </a:lnTo>
                  <a:lnTo>
                    <a:pt x="1592" y="6"/>
                  </a:lnTo>
                  <a:lnTo>
                    <a:pt x="1590" y="7"/>
                  </a:lnTo>
                  <a:lnTo>
                    <a:pt x="1588" y="8"/>
                  </a:lnTo>
                  <a:lnTo>
                    <a:pt x="1480" y="8"/>
                  </a:lnTo>
                  <a:lnTo>
                    <a:pt x="1477" y="7"/>
                  </a:lnTo>
                  <a:lnTo>
                    <a:pt x="1475" y="6"/>
                  </a:lnTo>
                  <a:lnTo>
                    <a:pt x="1473" y="5"/>
                  </a:lnTo>
                  <a:lnTo>
                    <a:pt x="1473" y="4"/>
                  </a:lnTo>
                  <a:lnTo>
                    <a:pt x="1473" y="2"/>
                  </a:lnTo>
                  <a:lnTo>
                    <a:pt x="1475" y="1"/>
                  </a:lnTo>
                  <a:lnTo>
                    <a:pt x="1477" y="0"/>
                  </a:lnTo>
                  <a:lnTo>
                    <a:pt x="1480" y="0"/>
                  </a:lnTo>
                  <a:close/>
                  <a:moveTo>
                    <a:pt x="1663" y="0"/>
                  </a:moveTo>
                  <a:lnTo>
                    <a:pt x="1771" y="0"/>
                  </a:lnTo>
                  <a:lnTo>
                    <a:pt x="1775" y="0"/>
                  </a:lnTo>
                  <a:lnTo>
                    <a:pt x="1777" y="1"/>
                  </a:lnTo>
                  <a:lnTo>
                    <a:pt x="1778" y="2"/>
                  </a:lnTo>
                  <a:lnTo>
                    <a:pt x="1778" y="4"/>
                  </a:lnTo>
                  <a:lnTo>
                    <a:pt x="1778" y="5"/>
                  </a:lnTo>
                  <a:lnTo>
                    <a:pt x="1777" y="6"/>
                  </a:lnTo>
                  <a:lnTo>
                    <a:pt x="1775" y="7"/>
                  </a:lnTo>
                  <a:lnTo>
                    <a:pt x="1771" y="8"/>
                  </a:lnTo>
                  <a:lnTo>
                    <a:pt x="1663" y="8"/>
                  </a:lnTo>
                  <a:lnTo>
                    <a:pt x="1662" y="7"/>
                  </a:lnTo>
                  <a:lnTo>
                    <a:pt x="1658" y="6"/>
                  </a:lnTo>
                  <a:lnTo>
                    <a:pt x="1656" y="5"/>
                  </a:lnTo>
                  <a:lnTo>
                    <a:pt x="1656" y="4"/>
                  </a:lnTo>
                  <a:lnTo>
                    <a:pt x="1656" y="2"/>
                  </a:lnTo>
                  <a:lnTo>
                    <a:pt x="1658" y="1"/>
                  </a:lnTo>
                  <a:lnTo>
                    <a:pt x="1662" y="0"/>
                  </a:lnTo>
                  <a:lnTo>
                    <a:pt x="1663" y="0"/>
                  </a:lnTo>
                  <a:close/>
                  <a:moveTo>
                    <a:pt x="1848" y="0"/>
                  </a:moveTo>
                  <a:lnTo>
                    <a:pt x="1956" y="0"/>
                  </a:lnTo>
                  <a:lnTo>
                    <a:pt x="1958" y="0"/>
                  </a:lnTo>
                  <a:lnTo>
                    <a:pt x="1960" y="1"/>
                  </a:lnTo>
                  <a:lnTo>
                    <a:pt x="1961" y="2"/>
                  </a:lnTo>
                  <a:lnTo>
                    <a:pt x="1963" y="4"/>
                  </a:lnTo>
                  <a:lnTo>
                    <a:pt x="1961" y="5"/>
                  </a:lnTo>
                  <a:lnTo>
                    <a:pt x="1960" y="6"/>
                  </a:lnTo>
                  <a:lnTo>
                    <a:pt x="1958" y="7"/>
                  </a:lnTo>
                  <a:lnTo>
                    <a:pt x="1956" y="8"/>
                  </a:lnTo>
                  <a:lnTo>
                    <a:pt x="1848" y="8"/>
                  </a:lnTo>
                  <a:lnTo>
                    <a:pt x="1844" y="7"/>
                  </a:lnTo>
                  <a:lnTo>
                    <a:pt x="1843" y="6"/>
                  </a:lnTo>
                  <a:lnTo>
                    <a:pt x="1841" y="5"/>
                  </a:lnTo>
                  <a:lnTo>
                    <a:pt x="1841" y="4"/>
                  </a:lnTo>
                  <a:lnTo>
                    <a:pt x="1841" y="2"/>
                  </a:lnTo>
                  <a:lnTo>
                    <a:pt x="1843" y="1"/>
                  </a:lnTo>
                  <a:lnTo>
                    <a:pt x="1844" y="0"/>
                  </a:lnTo>
                  <a:lnTo>
                    <a:pt x="1848" y="0"/>
                  </a:lnTo>
                  <a:close/>
                  <a:moveTo>
                    <a:pt x="2031" y="0"/>
                  </a:moveTo>
                  <a:lnTo>
                    <a:pt x="2139" y="0"/>
                  </a:lnTo>
                  <a:lnTo>
                    <a:pt x="2142" y="0"/>
                  </a:lnTo>
                  <a:lnTo>
                    <a:pt x="2144" y="1"/>
                  </a:lnTo>
                  <a:lnTo>
                    <a:pt x="2146" y="2"/>
                  </a:lnTo>
                  <a:lnTo>
                    <a:pt x="2146" y="4"/>
                  </a:lnTo>
                  <a:lnTo>
                    <a:pt x="2146" y="5"/>
                  </a:lnTo>
                  <a:lnTo>
                    <a:pt x="2144" y="6"/>
                  </a:lnTo>
                  <a:lnTo>
                    <a:pt x="2142" y="7"/>
                  </a:lnTo>
                  <a:lnTo>
                    <a:pt x="2139" y="8"/>
                  </a:lnTo>
                  <a:lnTo>
                    <a:pt x="2031" y="8"/>
                  </a:lnTo>
                  <a:lnTo>
                    <a:pt x="2029" y="7"/>
                  </a:lnTo>
                  <a:lnTo>
                    <a:pt x="2026" y="6"/>
                  </a:lnTo>
                  <a:lnTo>
                    <a:pt x="2024" y="5"/>
                  </a:lnTo>
                  <a:lnTo>
                    <a:pt x="2024" y="4"/>
                  </a:lnTo>
                  <a:lnTo>
                    <a:pt x="2024" y="2"/>
                  </a:lnTo>
                  <a:lnTo>
                    <a:pt x="2026" y="1"/>
                  </a:lnTo>
                  <a:lnTo>
                    <a:pt x="2029" y="0"/>
                  </a:lnTo>
                  <a:lnTo>
                    <a:pt x="2031" y="0"/>
                  </a:lnTo>
                  <a:close/>
                  <a:moveTo>
                    <a:pt x="2216" y="0"/>
                  </a:moveTo>
                  <a:lnTo>
                    <a:pt x="2324" y="0"/>
                  </a:lnTo>
                  <a:lnTo>
                    <a:pt x="2325" y="0"/>
                  </a:lnTo>
                  <a:lnTo>
                    <a:pt x="2329" y="1"/>
                  </a:lnTo>
                  <a:lnTo>
                    <a:pt x="2329" y="2"/>
                  </a:lnTo>
                  <a:lnTo>
                    <a:pt x="2331" y="4"/>
                  </a:lnTo>
                  <a:lnTo>
                    <a:pt x="2329" y="5"/>
                  </a:lnTo>
                  <a:lnTo>
                    <a:pt x="2329" y="6"/>
                  </a:lnTo>
                  <a:lnTo>
                    <a:pt x="2325" y="7"/>
                  </a:lnTo>
                  <a:lnTo>
                    <a:pt x="2324" y="8"/>
                  </a:lnTo>
                  <a:lnTo>
                    <a:pt x="2216" y="8"/>
                  </a:lnTo>
                  <a:lnTo>
                    <a:pt x="2212" y="7"/>
                  </a:lnTo>
                  <a:lnTo>
                    <a:pt x="2210" y="6"/>
                  </a:lnTo>
                  <a:lnTo>
                    <a:pt x="2209" y="5"/>
                  </a:lnTo>
                  <a:lnTo>
                    <a:pt x="2209" y="4"/>
                  </a:lnTo>
                  <a:lnTo>
                    <a:pt x="2209" y="2"/>
                  </a:lnTo>
                  <a:lnTo>
                    <a:pt x="2210" y="1"/>
                  </a:lnTo>
                  <a:lnTo>
                    <a:pt x="2212" y="0"/>
                  </a:lnTo>
                  <a:lnTo>
                    <a:pt x="2216" y="0"/>
                  </a:lnTo>
                  <a:close/>
                  <a:moveTo>
                    <a:pt x="2399" y="0"/>
                  </a:moveTo>
                  <a:lnTo>
                    <a:pt x="2507" y="0"/>
                  </a:lnTo>
                  <a:lnTo>
                    <a:pt x="2510" y="0"/>
                  </a:lnTo>
                  <a:lnTo>
                    <a:pt x="2512" y="1"/>
                  </a:lnTo>
                  <a:lnTo>
                    <a:pt x="2514" y="2"/>
                  </a:lnTo>
                  <a:lnTo>
                    <a:pt x="2514" y="4"/>
                  </a:lnTo>
                  <a:lnTo>
                    <a:pt x="2514" y="5"/>
                  </a:lnTo>
                  <a:lnTo>
                    <a:pt x="2512" y="6"/>
                  </a:lnTo>
                  <a:lnTo>
                    <a:pt x="2510" y="7"/>
                  </a:lnTo>
                  <a:lnTo>
                    <a:pt x="2507" y="8"/>
                  </a:lnTo>
                  <a:lnTo>
                    <a:pt x="2399" y="8"/>
                  </a:lnTo>
                  <a:lnTo>
                    <a:pt x="2397" y="7"/>
                  </a:lnTo>
                  <a:lnTo>
                    <a:pt x="2393" y="6"/>
                  </a:lnTo>
                  <a:lnTo>
                    <a:pt x="2393" y="5"/>
                  </a:lnTo>
                  <a:lnTo>
                    <a:pt x="2391" y="4"/>
                  </a:lnTo>
                  <a:lnTo>
                    <a:pt x="2393" y="2"/>
                  </a:lnTo>
                  <a:lnTo>
                    <a:pt x="2393" y="1"/>
                  </a:lnTo>
                  <a:lnTo>
                    <a:pt x="2397" y="0"/>
                  </a:lnTo>
                  <a:lnTo>
                    <a:pt x="2399" y="0"/>
                  </a:lnTo>
                  <a:close/>
                  <a:moveTo>
                    <a:pt x="2584" y="0"/>
                  </a:moveTo>
                  <a:lnTo>
                    <a:pt x="2691" y="0"/>
                  </a:lnTo>
                  <a:lnTo>
                    <a:pt x="2693" y="0"/>
                  </a:lnTo>
                  <a:lnTo>
                    <a:pt x="2697" y="1"/>
                  </a:lnTo>
                  <a:lnTo>
                    <a:pt x="2699" y="2"/>
                  </a:lnTo>
                  <a:lnTo>
                    <a:pt x="2699" y="4"/>
                  </a:lnTo>
                  <a:lnTo>
                    <a:pt x="2699" y="5"/>
                  </a:lnTo>
                  <a:lnTo>
                    <a:pt x="2697" y="6"/>
                  </a:lnTo>
                  <a:lnTo>
                    <a:pt x="2693" y="7"/>
                  </a:lnTo>
                  <a:lnTo>
                    <a:pt x="2691" y="8"/>
                  </a:lnTo>
                  <a:lnTo>
                    <a:pt x="2584" y="8"/>
                  </a:lnTo>
                  <a:lnTo>
                    <a:pt x="2580" y="7"/>
                  </a:lnTo>
                  <a:lnTo>
                    <a:pt x="2578" y="6"/>
                  </a:lnTo>
                  <a:lnTo>
                    <a:pt x="2576" y="5"/>
                  </a:lnTo>
                  <a:lnTo>
                    <a:pt x="2576" y="4"/>
                  </a:lnTo>
                  <a:lnTo>
                    <a:pt x="2576" y="2"/>
                  </a:lnTo>
                  <a:lnTo>
                    <a:pt x="2578" y="1"/>
                  </a:lnTo>
                  <a:lnTo>
                    <a:pt x="2580" y="0"/>
                  </a:lnTo>
                  <a:lnTo>
                    <a:pt x="2584" y="0"/>
                  </a:lnTo>
                  <a:close/>
                  <a:moveTo>
                    <a:pt x="2767" y="0"/>
                  </a:moveTo>
                  <a:lnTo>
                    <a:pt x="2874" y="0"/>
                  </a:lnTo>
                  <a:lnTo>
                    <a:pt x="2878" y="0"/>
                  </a:lnTo>
                  <a:lnTo>
                    <a:pt x="2880" y="1"/>
                  </a:lnTo>
                  <a:lnTo>
                    <a:pt x="2882" y="2"/>
                  </a:lnTo>
                  <a:lnTo>
                    <a:pt x="2882" y="4"/>
                  </a:lnTo>
                  <a:lnTo>
                    <a:pt x="2882" y="5"/>
                  </a:lnTo>
                  <a:lnTo>
                    <a:pt x="2880" y="6"/>
                  </a:lnTo>
                  <a:lnTo>
                    <a:pt x="2878" y="7"/>
                  </a:lnTo>
                  <a:lnTo>
                    <a:pt x="2874" y="8"/>
                  </a:lnTo>
                  <a:lnTo>
                    <a:pt x="2767" y="8"/>
                  </a:lnTo>
                  <a:lnTo>
                    <a:pt x="2765" y="7"/>
                  </a:lnTo>
                  <a:lnTo>
                    <a:pt x="2763" y="6"/>
                  </a:lnTo>
                  <a:lnTo>
                    <a:pt x="2761" y="5"/>
                  </a:lnTo>
                  <a:lnTo>
                    <a:pt x="2759" y="4"/>
                  </a:lnTo>
                  <a:lnTo>
                    <a:pt x="2761" y="2"/>
                  </a:lnTo>
                  <a:lnTo>
                    <a:pt x="2763" y="1"/>
                  </a:lnTo>
                  <a:lnTo>
                    <a:pt x="2765" y="0"/>
                  </a:lnTo>
                  <a:lnTo>
                    <a:pt x="2767" y="0"/>
                  </a:lnTo>
                  <a:close/>
                  <a:moveTo>
                    <a:pt x="2952" y="0"/>
                  </a:moveTo>
                  <a:lnTo>
                    <a:pt x="3059" y="0"/>
                  </a:lnTo>
                  <a:lnTo>
                    <a:pt x="3061" y="0"/>
                  </a:lnTo>
                  <a:lnTo>
                    <a:pt x="3065" y="1"/>
                  </a:lnTo>
                  <a:lnTo>
                    <a:pt x="3067" y="2"/>
                  </a:lnTo>
                  <a:lnTo>
                    <a:pt x="3067" y="4"/>
                  </a:lnTo>
                  <a:lnTo>
                    <a:pt x="3067" y="5"/>
                  </a:lnTo>
                  <a:lnTo>
                    <a:pt x="3065" y="6"/>
                  </a:lnTo>
                  <a:lnTo>
                    <a:pt x="3061" y="7"/>
                  </a:lnTo>
                  <a:lnTo>
                    <a:pt x="3059" y="8"/>
                  </a:lnTo>
                  <a:lnTo>
                    <a:pt x="2952" y="8"/>
                  </a:lnTo>
                  <a:lnTo>
                    <a:pt x="2948" y="7"/>
                  </a:lnTo>
                  <a:lnTo>
                    <a:pt x="2946" y="6"/>
                  </a:lnTo>
                  <a:lnTo>
                    <a:pt x="2944" y="5"/>
                  </a:lnTo>
                  <a:lnTo>
                    <a:pt x="2944" y="4"/>
                  </a:lnTo>
                  <a:lnTo>
                    <a:pt x="2944" y="2"/>
                  </a:lnTo>
                  <a:lnTo>
                    <a:pt x="2946" y="1"/>
                  </a:lnTo>
                  <a:lnTo>
                    <a:pt x="2948" y="0"/>
                  </a:lnTo>
                  <a:lnTo>
                    <a:pt x="2952" y="0"/>
                  </a:lnTo>
                  <a:close/>
                  <a:moveTo>
                    <a:pt x="3137" y="0"/>
                  </a:moveTo>
                  <a:lnTo>
                    <a:pt x="3242" y="0"/>
                  </a:lnTo>
                  <a:lnTo>
                    <a:pt x="3246" y="0"/>
                  </a:lnTo>
                  <a:lnTo>
                    <a:pt x="3248" y="1"/>
                  </a:lnTo>
                  <a:lnTo>
                    <a:pt x="3250" y="2"/>
                  </a:lnTo>
                  <a:lnTo>
                    <a:pt x="3250" y="4"/>
                  </a:lnTo>
                  <a:lnTo>
                    <a:pt x="3250" y="5"/>
                  </a:lnTo>
                  <a:lnTo>
                    <a:pt x="3248" y="6"/>
                  </a:lnTo>
                  <a:lnTo>
                    <a:pt x="3246" y="7"/>
                  </a:lnTo>
                  <a:lnTo>
                    <a:pt x="3242" y="8"/>
                  </a:lnTo>
                  <a:lnTo>
                    <a:pt x="3137" y="8"/>
                  </a:lnTo>
                  <a:lnTo>
                    <a:pt x="3133" y="7"/>
                  </a:lnTo>
                  <a:lnTo>
                    <a:pt x="3131" y="6"/>
                  </a:lnTo>
                  <a:lnTo>
                    <a:pt x="3129" y="5"/>
                  </a:lnTo>
                  <a:lnTo>
                    <a:pt x="3127" y="4"/>
                  </a:lnTo>
                  <a:lnTo>
                    <a:pt x="3129" y="2"/>
                  </a:lnTo>
                  <a:lnTo>
                    <a:pt x="3131" y="1"/>
                  </a:lnTo>
                  <a:lnTo>
                    <a:pt x="3133" y="0"/>
                  </a:lnTo>
                  <a:lnTo>
                    <a:pt x="3137" y="0"/>
                  </a:lnTo>
                  <a:close/>
                  <a:moveTo>
                    <a:pt x="3319" y="0"/>
                  </a:moveTo>
                  <a:lnTo>
                    <a:pt x="3427" y="0"/>
                  </a:lnTo>
                  <a:lnTo>
                    <a:pt x="3429" y="0"/>
                  </a:lnTo>
                  <a:lnTo>
                    <a:pt x="3433" y="1"/>
                  </a:lnTo>
                  <a:lnTo>
                    <a:pt x="3435" y="2"/>
                  </a:lnTo>
                  <a:lnTo>
                    <a:pt x="3435" y="4"/>
                  </a:lnTo>
                  <a:lnTo>
                    <a:pt x="3435" y="5"/>
                  </a:lnTo>
                  <a:lnTo>
                    <a:pt x="3433" y="6"/>
                  </a:lnTo>
                  <a:lnTo>
                    <a:pt x="3429" y="7"/>
                  </a:lnTo>
                  <a:lnTo>
                    <a:pt x="3427" y="8"/>
                  </a:lnTo>
                  <a:lnTo>
                    <a:pt x="3319" y="8"/>
                  </a:lnTo>
                  <a:lnTo>
                    <a:pt x="3316" y="7"/>
                  </a:lnTo>
                  <a:lnTo>
                    <a:pt x="3314" y="6"/>
                  </a:lnTo>
                  <a:lnTo>
                    <a:pt x="3312" y="5"/>
                  </a:lnTo>
                  <a:lnTo>
                    <a:pt x="3312" y="4"/>
                  </a:lnTo>
                  <a:lnTo>
                    <a:pt x="3312" y="2"/>
                  </a:lnTo>
                  <a:lnTo>
                    <a:pt x="3314" y="1"/>
                  </a:lnTo>
                  <a:lnTo>
                    <a:pt x="3316" y="0"/>
                  </a:lnTo>
                  <a:lnTo>
                    <a:pt x="3319" y="0"/>
                  </a:lnTo>
                  <a:close/>
                  <a:moveTo>
                    <a:pt x="3504" y="0"/>
                  </a:moveTo>
                  <a:lnTo>
                    <a:pt x="3610" y="0"/>
                  </a:lnTo>
                  <a:lnTo>
                    <a:pt x="3614" y="0"/>
                  </a:lnTo>
                  <a:lnTo>
                    <a:pt x="3616" y="1"/>
                  </a:lnTo>
                  <a:lnTo>
                    <a:pt x="3617" y="2"/>
                  </a:lnTo>
                  <a:lnTo>
                    <a:pt x="3619" y="4"/>
                  </a:lnTo>
                  <a:lnTo>
                    <a:pt x="3617" y="5"/>
                  </a:lnTo>
                  <a:lnTo>
                    <a:pt x="3616" y="6"/>
                  </a:lnTo>
                  <a:lnTo>
                    <a:pt x="3614" y="7"/>
                  </a:lnTo>
                  <a:lnTo>
                    <a:pt x="3610" y="8"/>
                  </a:lnTo>
                  <a:lnTo>
                    <a:pt x="3504" y="8"/>
                  </a:lnTo>
                  <a:lnTo>
                    <a:pt x="3501" y="7"/>
                  </a:lnTo>
                  <a:lnTo>
                    <a:pt x="3499" y="6"/>
                  </a:lnTo>
                  <a:lnTo>
                    <a:pt x="3497" y="5"/>
                  </a:lnTo>
                  <a:lnTo>
                    <a:pt x="3497" y="4"/>
                  </a:lnTo>
                  <a:lnTo>
                    <a:pt x="3497" y="2"/>
                  </a:lnTo>
                  <a:lnTo>
                    <a:pt x="3499" y="1"/>
                  </a:lnTo>
                  <a:lnTo>
                    <a:pt x="3501" y="0"/>
                  </a:lnTo>
                  <a:lnTo>
                    <a:pt x="3504" y="0"/>
                  </a:lnTo>
                  <a:close/>
                  <a:moveTo>
                    <a:pt x="3687" y="0"/>
                  </a:moveTo>
                  <a:lnTo>
                    <a:pt x="3795" y="0"/>
                  </a:lnTo>
                  <a:lnTo>
                    <a:pt x="3799" y="0"/>
                  </a:lnTo>
                  <a:lnTo>
                    <a:pt x="3800" y="1"/>
                  </a:lnTo>
                  <a:lnTo>
                    <a:pt x="3802" y="2"/>
                  </a:lnTo>
                  <a:lnTo>
                    <a:pt x="3802" y="4"/>
                  </a:lnTo>
                  <a:lnTo>
                    <a:pt x="3802" y="5"/>
                  </a:lnTo>
                  <a:lnTo>
                    <a:pt x="3800" y="6"/>
                  </a:lnTo>
                  <a:lnTo>
                    <a:pt x="3799" y="7"/>
                  </a:lnTo>
                  <a:lnTo>
                    <a:pt x="3795" y="8"/>
                  </a:lnTo>
                  <a:lnTo>
                    <a:pt x="3687" y="8"/>
                  </a:lnTo>
                  <a:lnTo>
                    <a:pt x="3685" y="7"/>
                  </a:lnTo>
                  <a:lnTo>
                    <a:pt x="3682" y="6"/>
                  </a:lnTo>
                  <a:lnTo>
                    <a:pt x="3680" y="5"/>
                  </a:lnTo>
                  <a:lnTo>
                    <a:pt x="3680" y="4"/>
                  </a:lnTo>
                  <a:lnTo>
                    <a:pt x="3680" y="2"/>
                  </a:lnTo>
                  <a:lnTo>
                    <a:pt x="3682" y="1"/>
                  </a:lnTo>
                  <a:lnTo>
                    <a:pt x="3685" y="0"/>
                  </a:lnTo>
                  <a:lnTo>
                    <a:pt x="3687" y="0"/>
                  </a:lnTo>
                  <a:close/>
                  <a:moveTo>
                    <a:pt x="3872" y="0"/>
                  </a:moveTo>
                  <a:lnTo>
                    <a:pt x="3953" y="0"/>
                  </a:lnTo>
                  <a:lnTo>
                    <a:pt x="3957" y="0"/>
                  </a:lnTo>
                  <a:lnTo>
                    <a:pt x="3959" y="1"/>
                  </a:lnTo>
                  <a:lnTo>
                    <a:pt x="3961" y="2"/>
                  </a:lnTo>
                  <a:lnTo>
                    <a:pt x="3961" y="4"/>
                  </a:lnTo>
                  <a:lnTo>
                    <a:pt x="3961" y="5"/>
                  </a:lnTo>
                  <a:lnTo>
                    <a:pt x="3959" y="6"/>
                  </a:lnTo>
                  <a:lnTo>
                    <a:pt x="3957" y="7"/>
                  </a:lnTo>
                  <a:lnTo>
                    <a:pt x="3953" y="8"/>
                  </a:lnTo>
                  <a:lnTo>
                    <a:pt x="3872" y="8"/>
                  </a:lnTo>
                  <a:lnTo>
                    <a:pt x="3868" y="7"/>
                  </a:lnTo>
                  <a:lnTo>
                    <a:pt x="3866" y="6"/>
                  </a:lnTo>
                  <a:lnTo>
                    <a:pt x="3865" y="5"/>
                  </a:lnTo>
                  <a:lnTo>
                    <a:pt x="3865" y="4"/>
                  </a:lnTo>
                  <a:lnTo>
                    <a:pt x="3865" y="2"/>
                  </a:lnTo>
                  <a:lnTo>
                    <a:pt x="3866" y="1"/>
                  </a:lnTo>
                  <a:lnTo>
                    <a:pt x="3868" y="0"/>
                  </a:lnTo>
                  <a:lnTo>
                    <a:pt x="3872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50" name="Rectangle 62"/>
            <p:cNvSpPr>
              <a:spLocks noChangeArrowheads="1"/>
            </p:cNvSpPr>
            <p:nvPr/>
          </p:nvSpPr>
          <p:spPr bwMode="auto">
            <a:xfrm>
              <a:off x="4564" y="3672"/>
              <a:ext cx="107" cy="17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宋体" pitchFamily="2" charset="-122"/>
                </a:rPr>
                <a:t>I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宋体" pitchFamily="2" charset="-122"/>
                </a:rPr>
                <a:t>o</a:t>
              </a:r>
            </a:p>
          </p:txBody>
        </p:sp>
        <p:sp>
          <p:nvSpPr>
            <p:cNvPr id="80951" name="Line 63"/>
            <p:cNvSpPr>
              <a:spLocks noChangeShapeType="1"/>
            </p:cNvSpPr>
            <p:nvPr/>
          </p:nvSpPr>
          <p:spPr bwMode="auto">
            <a:xfrm>
              <a:off x="4651" y="2658"/>
              <a:ext cx="1" cy="2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52" name="Line 64"/>
            <p:cNvSpPr>
              <a:spLocks noChangeShapeType="1"/>
            </p:cNvSpPr>
            <p:nvPr/>
          </p:nvSpPr>
          <p:spPr bwMode="auto">
            <a:xfrm>
              <a:off x="5185" y="2658"/>
              <a:ext cx="1" cy="2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53" name="Line 65"/>
            <p:cNvSpPr>
              <a:spLocks noChangeShapeType="1"/>
            </p:cNvSpPr>
            <p:nvPr/>
          </p:nvSpPr>
          <p:spPr bwMode="auto">
            <a:xfrm flipV="1">
              <a:off x="4011" y="2657"/>
              <a:ext cx="1" cy="1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54" name="Freeform 66"/>
            <p:cNvSpPr>
              <a:spLocks/>
            </p:cNvSpPr>
            <p:nvPr/>
          </p:nvSpPr>
          <p:spPr bwMode="auto">
            <a:xfrm>
              <a:off x="3977" y="2817"/>
              <a:ext cx="68" cy="75"/>
            </a:xfrm>
            <a:custGeom>
              <a:avLst/>
              <a:gdLst>
                <a:gd name="T0" fmla="*/ 1 w 138"/>
                <a:gd name="T1" fmla="*/ 75 h 75"/>
                <a:gd name="T2" fmla="*/ 0 w 138"/>
                <a:gd name="T3" fmla="*/ 0 h 75"/>
                <a:gd name="T4" fmla="*/ 0 w 138"/>
                <a:gd name="T5" fmla="*/ 2 h 75"/>
                <a:gd name="T6" fmla="*/ 0 w 138"/>
                <a:gd name="T7" fmla="*/ 4 h 75"/>
                <a:gd name="T8" fmla="*/ 0 w 138"/>
                <a:gd name="T9" fmla="*/ 5 h 75"/>
                <a:gd name="T10" fmla="*/ 0 w 138"/>
                <a:gd name="T11" fmla="*/ 6 h 75"/>
                <a:gd name="T12" fmla="*/ 0 w 138"/>
                <a:gd name="T13" fmla="*/ 7 h 75"/>
                <a:gd name="T14" fmla="*/ 0 w 138"/>
                <a:gd name="T15" fmla="*/ 8 h 75"/>
                <a:gd name="T16" fmla="*/ 0 w 138"/>
                <a:gd name="T17" fmla="*/ 8 h 75"/>
                <a:gd name="T18" fmla="*/ 1 w 138"/>
                <a:gd name="T19" fmla="*/ 9 h 75"/>
                <a:gd name="T20" fmla="*/ 1 w 138"/>
                <a:gd name="T21" fmla="*/ 8 h 75"/>
                <a:gd name="T22" fmla="*/ 1 w 138"/>
                <a:gd name="T23" fmla="*/ 8 h 75"/>
                <a:gd name="T24" fmla="*/ 1 w 138"/>
                <a:gd name="T25" fmla="*/ 7 h 75"/>
                <a:gd name="T26" fmla="*/ 1 w 138"/>
                <a:gd name="T27" fmla="*/ 6 h 75"/>
                <a:gd name="T28" fmla="*/ 1 w 138"/>
                <a:gd name="T29" fmla="*/ 5 h 75"/>
                <a:gd name="T30" fmla="*/ 1 w 138"/>
                <a:gd name="T31" fmla="*/ 4 h 75"/>
                <a:gd name="T32" fmla="*/ 2 w 138"/>
                <a:gd name="T33" fmla="*/ 2 h 75"/>
                <a:gd name="T34" fmla="*/ 2 w 138"/>
                <a:gd name="T35" fmla="*/ 0 h 75"/>
                <a:gd name="T36" fmla="*/ 1 w 138"/>
                <a:gd name="T37" fmla="*/ 75 h 75"/>
                <a:gd name="T38" fmla="*/ 1 w 138"/>
                <a:gd name="T39" fmla="*/ 75 h 7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38"/>
                <a:gd name="T61" fmla="*/ 0 h 75"/>
                <a:gd name="T62" fmla="*/ 138 w 138"/>
                <a:gd name="T63" fmla="*/ 75 h 7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38" h="75">
                  <a:moveTo>
                    <a:pt x="70" y="75"/>
                  </a:moveTo>
                  <a:lnTo>
                    <a:pt x="0" y="0"/>
                  </a:lnTo>
                  <a:lnTo>
                    <a:pt x="10" y="2"/>
                  </a:lnTo>
                  <a:lnTo>
                    <a:pt x="17" y="4"/>
                  </a:lnTo>
                  <a:lnTo>
                    <a:pt x="25" y="5"/>
                  </a:lnTo>
                  <a:lnTo>
                    <a:pt x="34" y="6"/>
                  </a:lnTo>
                  <a:lnTo>
                    <a:pt x="44" y="7"/>
                  </a:lnTo>
                  <a:lnTo>
                    <a:pt x="51" y="8"/>
                  </a:lnTo>
                  <a:lnTo>
                    <a:pt x="60" y="8"/>
                  </a:lnTo>
                  <a:lnTo>
                    <a:pt x="70" y="9"/>
                  </a:lnTo>
                  <a:lnTo>
                    <a:pt x="77" y="8"/>
                  </a:lnTo>
                  <a:lnTo>
                    <a:pt x="87" y="8"/>
                  </a:lnTo>
                  <a:lnTo>
                    <a:pt x="96" y="7"/>
                  </a:lnTo>
                  <a:lnTo>
                    <a:pt x="104" y="6"/>
                  </a:lnTo>
                  <a:lnTo>
                    <a:pt x="113" y="5"/>
                  </a:lnTo>
                  <a:lnTo>
                    <a:pt x="121" y="4"/>
                  </a:lnTo>
                  <a:lnTo>
                    <a:pt x="130" y="2"/>
                  </a:lnTo>
                  <a:lnTo>
                    <a:pt x="138" y="0"/>
                  </a:lnTo>
                  <a:lnTo>
                    <a:pt x="70" y="75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55" name="Freeform 67"/>
            <p:cNvSpPr>
              <a:spLocks/>
            </p:cNvSpPr>
            <p:nvPr/>
          </p:nvSpPr>
          <p:spPr bwMode="auto">
            <a:xfrm>
              <a:off x="3977" y="2599"/>
              <a:ext cx="68" cy="77"/>
            </a:xfrm>
            <a:custGeom>
              <a:avLst/>
              <a:gdLst>
                <a:gd name="T0" fmla="*/ 1 w 138"/>
                <a:gd name="T1" fmla="*/ 0 h 77"/>
                <a:gd name="T2" fmla="*/ 2 w 138"/>
                <a:gd name="T3" fmla="*/ 77 h 77"/>
                <a:gd name="T4" fmla="*/ 2 w 138"/>
                <a:gd name="T5" fmla="*/ 75 h 77"/>
                <a:gd name="T6" fmla="*/ 1 w 138"/>
                <a:gd name="T7" fmla="*/ 73 h 77"/>
                <a:gd name="T8" fmla="*/ 1 w 138"/>
                <a:gd name="T9" fmla="*/ 71 h 77"/>
                <a:gd name="T10" fmla="*/ 1 w 138"/>
                <a:gd name="T11" fmla="*/ 70 h 77"/>
                <a:gd name="T12" fmla="*/ 1 w 138"/>
                <a:gd name="T13" fmla="*/ 69 h 77"/>
                <a:gd name="T14" fmla="*/ 1 w 138"/>
                <a:gd name="T15" fmla="*/ 69 h 77"/>
                <a:gd name="T16" fmla="*/ 1 w 138"/>
                <a:gd name="T17" fmla="*/ 68 h 77"/>
                <a:gd name="T18" fmla="*/ 1 w 138"/>
                <a:gd name="T19" fmla="*/ 68 h 77"/>
                <a:gd name="T20" fmla="*/ 0 w 138"/>
                <a:gd name="T21" fmla="*/ 68 h 77"/>
                <a:gd name="T22" fmla="*/ 0 w 138"/>
                <a:gd name="T23" fmla="*/ 69 h 77"/>
                <a:gd name="T24" fmla="*/ 0 w 138"/>
                <a:gd name="T25" fmla="*/ 69 h 77"/>
                <a:gd name="T26" fmla="*/ 0 w 138"/>
                <a:gd name="T27" fmla="*/ 70 h 77"/>
                <a:gd name="T28" fmla="*/ 0 w 138"/>
                <a:gd name="T29" fmla="*/ 71 h 77"/>
                <a:gd name="T30" fmla="*/ 0 w 138"/>
                <a:gd name="T31" fmla="*/ 73 h 77"/>
                <a:gd name="T32" fmla="*/ 0 w 138"/>
                <a:gd name="T33" fmla="*/ 75 h 77"/>
                <a:gd name="T34" fmla="*/ 0 w 138"/>
                <a:gd name="T35" fmla="*/ 77 h 77"/>
                <a:gd name="T36" fmla="*/ 0 w 138"/>
                <a:gd name="T37" fmla="*/ 77 h 77"/>
                <a:gd name="T38" fmla="*/ 1 w 138"/>
                <a:gd name="T39" fmla="*/ 0 h 77"/>
                <a:gd name="T40" fmla="*/ 1 w 138"/>
                <a:gd name="T41" fmla="*/ 0 h 7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8"/>
                <a:gd name="T64" fmla="*/ 0 h 77"/>
                <a:gd name="T65" fmla="*/ 138 w 138"/>
                <a:gd name="T66" fmla="*/ 77 h 7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8" h="77">
                  <a:moveTo>
                    <a:pt x="70" y="0"/>
                  </a:moveTo>
                  <a:lnTo>
                    <a:pt x="138" y="77"/>
                  </a:lnTo>
                  <a:lnTo>
                    <a:pt x="130" y="75"/>
                  </a:lnTo>
                  <a:lnTo>
                    <a:pt x="121" y="73"/>
                  </a:lnTo>
                  <a:lnTo>
                    <a:pt x="113" y="71"/>
                  </a:lnTo>
                  <a:lnTo>
                    <a:pt x="104" y="70"/>
                  </a:lnTo>
                  <a:lnTo>
                    <a:pt x="96" y="69"/>
                  </a:lnTo>
                  <a:lnTo>
                    <a:pt x="87" y="69"/>
                  </a:lnTo>
                  <a:lnTo>
                    <a:pt x="77" y="68"/>
                  </a:lnTo>
                  <a:lnTo>
                    <a:pt x="70" y="68"/>
                  </a:lnTo>
                  <a:lnTo>
                    <a:pt x="60" y="68"/>
                  </a:lnTo>
                  <a:lnTo>
                    <a:pt x="51" y="69"/>
                  </a:lnTo>
                  <a:lnTo>
                    <a:pt x="44" y="69"/>
                  </a:lnTo>
                  <a:lnTo>
                    <a:pt x="34" y="70"/>
                  </a:lnTo>
                  <a:lnTo>
                    <a:pt x="25" y="71"/>
                  </a:lnTo>
                  <a:lnTo>
                    <a:pt x="17" y="73"/>
                  </a:lnTo>
                  <a:lnTo>
                    <a:pt x="10" y="75"/>
                  </a:lnTo>
                  <a:lnTo>
                    <a:pt x="0" y="77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56" name="Rectangle 68"/>
            <p:cNvSpPr>
              <a:spLocks noChangeArrowheads="1"/>
            </p:cNvSpPr>
            <p:nvPr/>
          </p:nvSpPr>
          <p:spPr bwMode="auto">
            <a:xfrm>
              <a:off x="4065" y="2674"/>
              <a:ext cx="108" cy="17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</p:txBody>
        </p:sp>
        <p:sp>
          <p:nvSpPr>
            <p:cNvPr id="80957" name="Rectangle 69"/>
            <p:cNvSpPr>
              <a:spLocks noChangeArrowheads="1"/>
            </p:cNvSpPr>
            <p:nvPr/>
          </p:nvSpPr>
          <p:spPr bwMode="auto">
            <a:xfrm>
              <a:off x="4470" y="4020"/>
              <a:ext cx="192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宋体" pitchFamily="2" charset="-122"/>
                </a:rPr>
                <a:t>(b)</a:t>
              </a:r>
              <a:endParaRPr lang="en-US" altLang="zh-CN" sz="1600"/>
            </a:p>
          </p:txBody>
        </p:sp>
        <p:sp>
          <p:nvSpPr>
            <p:cNvPr id="80958" name="Line 70"/>
            <p:cNvSpPr>
              <a:spLocks noChangeShapeType="1"/>
            </p:cNvSpPr>
            <p:nvPr/>
          </p:nvSpPr>
          <p:spPr bwMode="auto">
            <a:xfrm flipV="1">
              <a:off x="4519" y="3581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59" name="Line 71"/>
            <p:cNvSpPr>
              <a:spLocks noChangeShapeType="1"/>
            </p:cNvSpPr>
            <p:nvPr/>
          </p:nvSpPr>
          <p:spPr bwMode="auto">
            <a:xfrm>
              <a:off x="4519" y="3763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60" name="Line 72"/>
            <p:cNvSpPr>
              <a:spLocks noChangeShapeType="1"/>
            </p:cNvSpPr>
            <p:nvPr/>
          </p:nvSpPr>
          <p:spPr bwMode="auto">
            <a:xfrm flipV="1">
              <a:off x="3475" y="3355"/>
              <a:ext cx="0" cy="5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" name="Group 73"/>
            <p:cNvGrpSpPr>
              <a:grpSpLocks/>
            </p:cNvGrpSpPr>
            <p:nvPr/>
          </p:nvGrpSpPr>
          <p:grpSpPr bwMode="auto">
            <a:xfrm>
              <a:off x="3334" y="1071"/>
              <a:ext cx="2163" cy="960"/>
              <a:chOff x="3198" y="1136"/>
              <a:chExt cx="2163" cy="960"/>
            </a:xfrm>
          </p:grpSpPr>
          <p:sp>
            <p:nvSpPr>
              <p:cNvPr id="80965" name="Freeform 74"/>
              <p:cNvSpPr>
                <a:spLocks/>
              </p:cNvSpPr>
              <p:nvPr/>
            </p:nvSpPr>
            <p:spPr bwMode="auto">
              <a:xfrm>
                <a:off x="4117" y="1524"/>
                <a:ext cx="29" cy="200"/>
              </a:xfrm>
              <a:custGeom>
                <a:avLst/>
                <a:gdLst>
                  <a:gd name="T0" fmla="*/ 0 w 59"/>
                  <a:gd name="T1" fmla="*/ 0 h 399"/>
                  <a:gd name="T2" fmla="*/ 0 w 59"/>
                  <a:gd name="T3" fmla="*/ 1 h 399"/>
                  <a:gd name="T4" fmla="*/ 0 w 59"/>
                  <a:gd name="T5" fmla="*/ 1 h 399"/>
                  <a:gd name="T6" fmla="*/ 0 w 59"/>
                  <a:gd name="T7" fmla="*/ 1 h 399"/>
                  <a:gd name="T8" fmla="*/ 0 w 59"/>
                  <a:gd name="T9" fmla="*/ 1 h 399"/>
                  <a:gd name="T10" fmla="*/ 0 w 59"/>
                  <a:gd name="T11" fmla="*/ 1 h 399"/>
                  <a:gd name="T12" fmla="*/ 0 w 59"/>
                  <a:gd name="T13" fmla="*/ 1 h 399"/>
                  <a:gd name="T14" fmla="*/ 0 w 59"/>
                  <a:gd name="T15" fmla="*/ 1 h 399"/>
                  <a:gd name="T16" fmla="*/ 0 w 59"/>
                  <a:gd name="T17" fmla="*/ 1 h 399"/>
                  <a:gd name="T18" fmla="*/ 0 w 59"/>
                  <a:gd name="T19" fmla="*/ 2 h 399"/>
                  <a:gd name="T20" fmla="*/ 0 w 59"/>
                  <a:gd name="T21" fmla="*/ 2 h 399"/>
                  <a:gd name="T22" fmla="*/ 0 w 59"/>
                  <a:gd name="T23" fmla="*/ 2 h 399"/>
                  <a:gd name="T24" fmla="*/ 0 w 59"/>
                  <a:gd name="T25" fmla="*/ 2 h 399"/>
                  <a:gd name="T26" fmla="*/ 0 w 59"/>
                  <a:gd name="T27" fmla="*/ 2 h 399"/>
                  <a:gd name="T28" fmla="*/ 0 w 59"/>
                  <a:gd name="T29" fmla="*/ 2 h 399"/>
                  <a:gd name="T30" fmla="*/ 0 w 59"/>
                  <a:gd name="T31" fmla="*/ 2 h 399"/>
                  <a:gd name="T32" fmla="*/ 0 w 59"/>
                  <a:gd name="T33" fmla="*/ 2 h 399"/>
                  <a:gd name="T34" fmla="*/ 0 w 59"/>
                  <a:gd name="T35" fmla="*/ 2 h 399"/>
                  <a:gd name="T36" fmla="*/ 0 w 59"/>
                  <a:gd name="T37" fmla="*/ 2 h 399"/>
                  <a:gd name="T38" fmla="*/ 0 w 59"/>
                  <a:gd name="T39" fmla="*/ 2 h 399"/>
                  <a:gd name="T40" fmla="*/ 0 w 59"/>
                  <a:gd name="T41" fmla="*/ 2 h 399"/>
                  <a:gd name="T42" fmla="*/ 0 w 59"/>
                  <a:gd name="T43" fmla="*/ 3 h 399"/>
                  <a:gd name="T44" fmla="*/ 0 w 59"/>
                  <a:gd name="T45" fmla="*/ 3 h 399"/>
                  <a:gd name="T46" fmla="*/ 0 w 59"/>
                  <a:gd name="T47" fmla="*/ 3 h 399"/>
                  <a:gd name="T48" fmla="*/ 0 w 59"/>
                  <a:gd name="T49" fmla="*/ 3 h 399"/>
                  <a:gd name="T50" fmla="*/ 0 w 59"/>
                  <a:gd name="T51" fmla="*/ 3 h 399"/>
                  <a:gd name="T52" fmla="*/ 0 w 59"/>
                  <a:gd name="T53" fmla="*/ 3 h 399"/>
                  <a:gd name="T54" fmla="*/ 0 w 59"/>
                  <a:gd name="T55" fmla="*/ 3 h 399"/>
                  <a:gd name="T56" fmla="*/ 0 w 59"/>
                  <a:gd name="T57" fmla="*/ 4 h 399"/>
                  <a:gd name="T58" fmla="*/ 0 w 59"/>
                  <a:gd name="T59" fmla="*/ 4 h 399"/>
                  <a:gd name="T60" fmla="*/ 0 w 59"/>
                  <a:gd name="T61" fmla="*/ 4 h 399"/>
                  <a:gd name="T62" fmla="*/ 0 w 59"/>
                  <a:gd name="T63" fmla="*/ 4 h 399"/>
                  <a:gd name="T64" fmla="*/ 0 w 59"/>
                  <a:gd name="T65" fmla="*/ 4 h 399"/>
                  <a:gd name="T66" fmla="*/ 0 w 59"/>
                  <a:gd name="T67" fmla="*/ 4 h 399"/>
                  <a:gd name="T68" fmla="*/ 0 w 59"/>
                  <a:gd name="T69" fmla="*/ 4 h 399"/>
                  <a:gd name="T70" fmla="*/ 0 w 59"/>
                  <a:gd name="T71" fmla="*/ 4 h 399"/>
                  <a:gd name="T72" fmla="*/ 0 w 59"/>
                  <a:gd name="T73" fmla="*/ 4 h 399"/>
                  <a:gd name="T74" fmla="*/ 0 w 59"/>
                  <a:gd name="T75" fmla="*/ 4 h 399"/>
                  <a:gd name="T76" fmla="*/ 0 w 59"/>
                  <a:gd name="T77" fmla="*/ 4 h 399"/>
                  <a:gd name="T78" fmla="*/ 0 w 59"/>
                  <a:gd name="T79" fmla="*/ 5 h 399"/>
                  <a:gd name="T80" fmla="*/ 0 w 59"/>
                  <a:gd name="T81" fmla="*/ 5 h 399"/>
                  <a:gd name="T82" fmla="*/ 0 w 59"/>
                  <a:gd name="T83" fmla="*/ 5 h 399"/>
                  <a:gd name="T84" fmla="*/ 0 w 59"/>
                  <a:gd name="T85" fmla="*/ 5 h 399"/>
                  <a:gd name="T86" fmla="*/ 0 w 59"/>
                  <a:gd name="T87" fmla="*/ 5 h 399"/>
                  <a:gd name="T88" fmla="*/ 0 w 59"/>
                  <a:gd name="T89" fmla="*/ 5 h 399"/>
                  <a:gd name="T90" fmla="*/ 0 w 59"/>
                  <a:gd name="T91" fmla="*/ 5 h 399"/>
                  <a:gd name="T92" fmla="*/ 0 w 59"/>
                  <a:gd name="T93" fmla="*/ 5 h 399"/>
                  <a:gd name="T94" fmla="*/ 0 w 59"/>
                  <a:gd name="T95" fmla="*/ 5 h 399"/>
                  <a:gd name="T96" fmla="*/ 0 w 59"/>
                  <a:gd name="T97" fmla="*/ 5 h 399"/>
                  <a:gd name="T98" fmla="*/ 0 w 59"/>
                  <a:gd name="T99" fmla="*/ 5 h 399"/>
                  <a:gd name="T100" fmla="*/ 0 w 59"/>
                  <a:gd name="T101" fmla="*/ 5 h 399"/>
                  <a:gd name="T102" fmla="*/ 0 w 59"/>
                  <a:gd name="T103" fmla="*/ 6 h 399"/>
                  <a:gd name="T104" fmla="*/ 0 w 59"/>
                  <a:gd name="T105" fmla="*/ 6 h 399"/>
                  <a:gd name="T106" fmla="*/ 0 w 59"/>
                  <a:gd name="T107" fmla="*/ 6 h 399"/>
                  <a:gd name="T108" fmla="*/ 0 w 59"/>
                  <a:gd name="T109" fmla="*/ 6 h 399"/>
                  <a:gd name="T110" fmla="*/ 0 w 59"/>
                  <a:gd name="T111" fmla="*/ 6 h 399"/>
                  <a:gd name="T112" fmla="*/ 0 w 59"/>
                  <a:gd name="T113" fmla="*/ 6 h 399"/>
                  <a:gd name="T114" fmla="*/ 0 w 59"/>
                  <a:gd name="T115" fmla="*/ 6 h 399"/>
                  <a:gd name="T116" fmla="*/ 0 w 59"/>
                  <a:gd name="T117" fmla="*/ 7 h 399"/>
                  <a:gd name="T118" fmla="*/ 0 w 59"/>
                  <a:gd name="T119" fmla="*/ 7 h 399"/>
                  <a:gd name="T120" fmla="*/ 0 w 59"/>
                  <a:gd name="T121" fmla="*/ 7 h 399"/>
                  <a:gd name="T122" fmla="*/ 0 w 59"/>
                  <a:gd name="T123" fmla="*/ 7 h 399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59"/>
                  <a:gd name="T187" fmla="*/ 0 h 399"/>
                  <a:gd name="T188" fmla="*/ 59 w 59"/>
                  <a:gd name="T189" fmla="*/ 399 h 399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59" h="399">
                    <a:moveTo>
                      <a:pt x="0" y="0"/>
                    </a:moveTo>
                    <a:lnTo>
                      <a:pt x="6" y="0"/>
                    </a:lnTo>
                    <a:lnTo>
                      <a:pt x="11" y="0"/>
                    </a:lnTo>
                    <a:lnTo>
                      <a:pt x="17" y="1"/>
                    </a:lnTo>
                    <a:lnTo>
                      <a:pt x="22" y="3"/>
                    </a:lnTo>
                    <a:lnTo>
                      <a:pt x="26" y="4"/>
                    </a:lnTo>
                    <a:lnTo>
                      <a:pt x="31" y="6"/>
                    </a:lnTo>
                    <a:lnTo>
                      <a:pt x="40" y="12"/>
                    </a:lnTo>
                    <a:lnTo>
                      <a:pt x="45" y="16"/>
                    </a:lnTo>
                    <a:lnTo>
                      <a:pt x="48" y="19"/>
                    </a:lnTo>
                    <a:lnTo>
                      <a:pt x="51" y="23"/>
                    </a:lnTo>
                    <a:lnTo>
                      <a:pt x="53" y="28"/>
                    </a:lnTo>
                    <a:lnTo>
                      <a:pt x="56" y="33"/>
                    </a:lnTo>
                    <a:lnTo>
                      <a:pt x="57" y="38"/>
                    </a:lnTo>
                    <a:lnTo>
                      <a:pt x="59" y="42"/>
                    </a:lnTo>
                    <a:lnTo>
                      <a:pt x="59" y="47"/>
                    </a:lnTo>
                    <a:lnTo>
                      <a:pt x="59" y="52"/>
                    </a:lnTo>
                    <a:lnTo>
                      <a:pt x="57" y="56"/>
                    </a:lnTo>
                    <a:lnTo>
                      <a:pt x="57" y="63"/>
                    </a:lnTo>
                    <a:lnTo>
                      <a:pt x="56" y="67"/>
                    </a:lnTo>
                    <a:lnTo>
                      <a:pt x="53" y="71"/>
                    </a:lnTo>
                    <a:lnTo>
                      <a:pt x="50" y="75"/>
                    </a:lnTo>
                    <a:lnTo>
                      <a:pt x="47" y="80"/>
                    </a:lnTo>
                    <a:lnTo>
                      <a:pt x="43" y="83"/>
                    </a:lnTo>
                    <a:lnTo>
                      <a:pt x="36" y="89"/>
                    </a:lnTo>
                    <a:lnTo>
                      <a:pt x="31" y="93"/>
                    </a:lnTo>
                    <a:lnTo>
                      <a:pt x="26" y="94"/>
                    </a:lnTo>
                    <a:lnTo>
                      <a:pt x="20" y="96"/>
                    </a:lnTo>
                    <a:lnTo>
                      <a:pt x="15" y="97"/>
                    </a:lnTo>
                    <a:lnTo>
                      <a:pt x="9" y="99"/>
                    </a:lnTo>
                    <a:lnTo>
                      <a:pt x="5" y="99"/>
                    </a:lnTo>
                    <a:lnTo>
                      <a:pt x="0" y="99"/>
                    </a:lnTo>
                    <a:lnTo>
                      <a:pt x="6" y="99"/>
                    </a:lnTo>
                    <a:lnTo>
                      <a:pt x="11" y="99"/>
                    </a:lnTo>
                    <a:lnTo>
                      <a:pt x="17" y="100"/>
                    </a:lnTo>
                    <a:lnTo>
                      <a:pt x="22" y="102"/>
                    </a:lnTo>
                    <a:lnTo>
                      <a:pt x="26" y="104"/>
                    </a:lnTo>
                    <a:lnTo>
                      <a:pt x="31" y="107"/>
                    </a:lnTo>
                    <a:lnTo>
                      <a:pt x="40" y="111"/>
                    </a:lnTo>
                    <a:lnTo>
                      <a:pt x="45" y="116"/>
                    </a:lnTo>
                    <a:lnTo>
                      <a:pt x="48" y="119"/>
                    </a:lnTo>
                    <a:lnTo>
                      <a:pt x="51" y="124"/>
                    </a:lnTo>
                    <a:lnTo>
                      <a:pt x="53" y="127"/>
                    </a:lnTo>
                    <a:lnTo>
                      <a:pt x="56" y="132"/>
                    </a:lnTo>
                    <a:lnTo>
                      <a:pt x="57" y="137"/>
                    </a:lnTo>
                    <a:lnTo>
                      <a:pt x="59" y="141"/>
                    </a:lnTo>
                    <a:lnTo>
                      <a:pt x="59" y="148"/>
                    </a:lnTo>
                    <a:lnTo>
                      <a:pt x="59" y="152"/>
                    </a:lnTo>
                    <a:lnTo>
                      <a:pt x="57" y="157"/>
                    </a:lnTo>
                    <a:lnTo>
                      <a:pt x="57" y="162"/>
                    </a:lnTo>
                    <a:lnTo>
                      <a:pt x="56" y="167"/>
                    </a:lnTo>
                    <a:lnTo>
                      <a:pt x="53" y="171"/>
                    </a:lnTo>
                    <a:lnTo>
                      <a:pt x="50" y="176"/>
                    </a:lnTo>
                    <a:lnTo>
                      <a:pt x="47" y="179"/>
                    </a:lnTo>
                    <a:lnTo>
                      <a:pt x="43" y="182"/>
                    </a:lnTo>
                    <a:lnTo>
                      <a:pt x="36" y="189"/>
                    </a:lnTo>
                    <a:lnTo>
                      <a:pt x="31" y="192"/>
                    </a:lnTo>
                    <a:lnTo>
                      <a:pt x="26" y="195"/>
                    </a:lnTo>
                    <a:lnTo>
                      <a:pt x="20" y="196"/>
                    </a:lnTo>
                    <a:lnTo>
                      <a:pt x="15" y="198"/>
                    </a:lnTo>
                    <a:lnTo>
                      <a:pt x="9" y="198"/>
                    </a:lnTo>
                    <a:lnTo>
                      <a:pt x="5" y="200"/>
                    </a:lnTo>
                    <a:lnTo>
                      <a:pt x="0" y="200"/>
                    </a:lnTo>
                    <a:lnTo>
                      <a:pt x="6" y="200"/>
                    </a:lnTo>
                    <a:lnTo>
                      <a:pt x="11" y="200"/>
                    </a:lnTo>
                    <a:lnTo>
                      <a:pt x="17" y="201"/>
                    </a:lnTo>
                    <a:lnTo>
                      <a:pt x="22" y="203"/>
                    </a:lnTo>
                    <a:lnTo>
                      <a:pt x="26" y="204"/>
                    </a:lnTo>
                    <a:lnTo>
                      <a:pt x="31" y="206"/>
                    </a:lnTo>
                    <a:lnTo>
                      <a:pt x="40" y="212"/>
                    </a:lnTo>
                    <a:lnTo>
                      <a:pt x="45" y="215"/>
                    </a:lnTo>
                    <a:lnTo>
                      <a:pt x="48" y="220"/>
                    </a:lnTo>
                    <a:lnTo>
                      <a:pt x="51" y="223"/>
                    </a:lnTo>
                    <a:lnTo>
                      <a:pt x="53" y="228"/>
                    </a:lnTo>
                    <a:lnTo>
                      <a:pt x="56" y="233"/>
                    </a:lnTo>
                    <a:lnTo>
                      <a:pt x="57" y="237"/>
                    </a:lnTo>
                    <a:lnTo>
                      <a:pt x="59" y="242"/>
                    </a:lnTo>
                    <a:lnTo>
                      <a:pt x="59" y="247"/>
                    </a:lnTo>
                    <a:lnTo>
                      <a:pt x="59" y="252"/>
                    </a:lnTo>
                    <a:lnTo>
                      <a:pt x="57" y="258"/>
                    </a:lnTo>
                    <a:lnTo>
                      <a:pt x="57" y="263"/>
                    </a:lnTo>
                    <a:lnTo>
                      <a:pt x="56" y="267"/>
                    </a:lnTo>
                    <a:lnTo>
                      <a:pt x="53" y="270"/>
                    </a:lnTo>
                    <a:lnTo>
                      <a:pt x="50" y="275"/>
                    </a:lnTo>
                    <a:lnTo>
                      <a:pt x="47" y="280"/>
                    </a:lnTo>
                    <a:lnTo>
                      <a:pt x="43" y="283"/>
                    </a:lnTo>
                    <a:lnTo>
                      <a:pt x="36" y="289"/>
                    </a:lnTo>
                    <a:lnTo>
                      <a:pt x="31" y="292"/>
                    </a:lnTo>
                    <a:lnTo>
                      <a:pt x="26" y="294"/>
                    </a:lnTo>
                    <a:lnTo>
                      <a:pt x="20" y="296"/>
                    </a:lnTo>
                    <a:lnTo>
                      <a:pt x="15" y="297"/>
                    </a:lnTo>
                    <a:lnTo>
                      <a:pt x="9" y="299"/>
                    </a:lnTo>
                    <a:lnTo>
                      <a:pt x="5" y="299"/>
                    </a:lnTo>
                    <a:lnTo>
                      <a:pt x="0" y="299"/>
                    </a:lnTo>
                    <a:lnTo>
                      <a:pt x="6" y="299"/>
                    </a:lnTo>
                    <a:lnTo>
                      <a:pt x="11" y="299"/>
                    </a:lnTo>
                    <a:lnTo>
                      <a:pt x="17" y="300"/>
                    </a:lnTo>
                    <a:lnTo>
                      <a:pt x="22" y="302"/>
                    </a:lnTo>
                    <a:lnTo>
                      <a:pt x="26" y="303"/>
                    </a:lnTo>
                    <a:lnTo>
                      <a:pt x="31" y="307"/>
                    </a:lnTo>
                    <a:lnTo>
                      <a:pt x="40" y="311"/>
                    </a:lnTo>
                    <a:lnTo>
                      <a:pt x="45" y="316"/>
                    </a:lnTo>
                    <a:lnTo>
                      <a:pt x="48" y="319"/>
                    </a:lnTo>
                    <a:lnTo>
                      <a:pt x="51" y="324"/>
                    </a:lnTo>
                    <a:lnTo>
                      <a:pt x="53" y="327"/>
                    </a:lnTo>
                    <a:lnTo>
                      <a:pt x="56" y="332"/>
                    </a:lnTo>
                    <a:lnTo>
                      <a:pt x="57" y="336"/>
                    </a:lnTo>
                    <a:lnTo>
                      <a:pt x="59" y="341"/>
                    </a:lnTo>
                    <a:lnTo>
                      <a:pt x="59" y="348"/>
                    </a:lnTo>
                    <a:lnTo>
                      <a:pt x="59" y="352"/>
                    </a:lnTo>
                    <a:lnTo>
                      <a:pt x="57" y="357"/>
                    </a:lnTo>
                    <a:lnTo>
                      <a:pt x="57" y="362"/>
                    </a:lnTo>
                    <a:lnTo>
                      <a:pt x="56" y="366"/>
                    </a:lnTo>
                    <a:lnTo>
                      <a:pt x="53" y="371"/>
                    </a:lnTo>
                    <a:lnTo>
                      <a:pt x="50" y="376"/>
                    </a:lnTo>
                    <a:lnTo>
                      <a:pt x="47" y="379"/>
                    </a:lnTo>
                    <a:lnTo>
                      <a:pt x="43" y="382"/>
                    </a:lnTo>
                    <a:lnTo>
                      <a:pt x="36" y="388"/>
                    </a:lnTo>
                    <a:lnTo>
                      <a:pt x="31" y="392"/>
                    </a:lnTo>
                    <a:lnTo>
                      <a:pt x="26" y="395"/>
                    </a:lnTo>
                    <a:lnTo>
                      <a:pt x="20" y="396"/>
                    </a:lnTo>
                    <a:lnTo>
                      <a:pt x="15" y="398"/>
                    </a:lnTo>
                    <a:lnTo>
                      <a:pt x="9" y="398"/>
                    </a:lnTo>
                    <a:lnTo>
                      <a:pt x="5" y="399"/>
                    </a:lnTo>
                    <a:lnTo>
                      <a:pt x="0" y="39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66" name="Freeform 75"/>
              <p:cNvSpPr>
                <a:spLocks/>
              </p:cNvSpPr>
              <p:nvPr/>
            </p:nvSpPr>
            <p:spPr bwMode="auto">
              <a:xfrm>
                <a:off x="4201" y="1414"/>
                <a:ext cx="29" cy="200"/>
              </a:xfrm>
              <a:custGeom>
                <a:avLst/>
                <a:gdLst>
                  <a:gd name="T0" fmla="*/ 0 w 59"/>
                  <a:gd name="T1" fmla="*/ 0 h 400"/>
                  <a:gd name="T2" fmla="*/ 0 w 59"/>
                  <a:gd name="T3" fmla="*/ 1 h 400"/>
                  <a:gd name="T4" fmla="*/ 0 w 59"/>
                  <a:gd name="T5" fmla="*/ 1 h 400"/>
                  <a:gd name="T6" fmla="*/ 0 w 59"/>
                  <a:gd name="T7" fmla="*/ 1 h 400"/>
                  <a:gd name="T8" fmla="*/ 0 w 59"/>
                  <a:gd name="T9" fmla="*/ 1 h 400"/>
                  <a:gd name="T10" fmla="*/ 0 w 59"/>
                  <a:gd name="T11" fmla="*/ 1 h 400"/>
                  <a:gd name="T12" fmla="*/ 0 w 59"/>
                  <a:gd name="T13" fmla="*/ 1 h 400"/>
                  <a:gd name="T14" fmla="*/ 0 w 59"/>
                  <a:gd name="T15" fmla="*/ 1 h 400"/>
                  <a:gd name="T16" fmla="*/ 0 w 59"/>
                  <a:gd name="T17" fmla="*/ 1 h 400"/>
                  <a:gd name="T18" fmla="*/ 0 w 59"/>
                  <a:gd name="T19" fmla="*/ 2 h 400"/>
                  <a:gd name="T20" fmla="*/ 0 w 59"/>
                  <a:gd name="T21" fmla="*/ 2 h 400"/>
                  <a:gd name="T22" fmla="*/ 0 w 59"/>
                  <a:gd name="T23" fmla="*/ 2 h 400"/>
                  <a:gd name="T24" fmla="*/ 0 w 59"/>
                  <a:gd name="T25" fmla="*/ 2 h 400"/>
                  <a:gd name="T26" fmla="*/ 0 w 59"/>
                  <a:gd name="T27" fmla="*/ 2 h 400"/>
                  <a:gd name="T28" fmla="*/ 0 w 59"/>
                  <a:gd name="T29" fmla="*/ 2 h 400"/>
                  <a:gd name="T30" fmla="*/ 0 w 59"/>
                  <a:gd name="T31" fmla="*/ 2 h 400"/>
                  <a:gd name="T32" fmla="*/ 0 w 59"/>
                  <a:gd name="T33" fmla="*/ 2 h 400"/>
                  <a:gd name="T34" fmla="*/ 0 w 59"/>
                  <a:gd name="T35" fmla="*/ 2 h 400"/>
                  <a:gd name="T36" fmla="*/ 0 w 59"/>
                  <a:gd name="T37" fmla="*/ 2 h 400"/>
                  <a:gd name="T38" fmla="*/ 0 w 59"/>
                  <a:gd name="T39" fmla="*/ 2 h 400"/>
                  <a:gd name="T40" fmla="*/ 0 w 59"/>
                  <a:gd name="T41" fmla="*/ 2 h 400"/>
                  <a:gd name="T42" fmla="*/ 0 w 59"/>
                  <a:gd name="T43" fmla="*/ 3 h 400"/>
                  <a:gd name="T44" fmla="*/ 0 w 59"/>
                  <a:gd name="T45" fmla="*/ 3 h 400"/>
                  <a:gd name="T46" fmla="*/ 0 w 59"/>
                  <a:gd name="T47" fmla="*/ 3 h 400"/>
                  <a:gd name="T48" fmla="*/ 0 w 59"/>
                  <a:gd name="T49" fmla="*/ 3 h 400"/>
                  <a:gd name="T50" fmla="*/ 0 w 59"/>
                  <a:gd name="T51" fmla="*/ 3 h 400"/>
                  <a:gd name="T52" fmla="*/ 0 w 59"/>
                  <a:gd name="T53" fmla="*/ 3 h 400"/>
                  <a:gd name="T54" fmla="*/ 0 w 59"/>
                  <a:gd name="T55" fmla="*/ 3 h 400"/>
                  <a:gd name="T56" fmla="*/ 0 w 59"/>
                  <a:gd name="T57" fmla="*/ 4 h 400"/>
                  <a:gd name="T58" fmla="*/ 0 w 59"/>
                  <a:gd name="T59" fmla="*/ 4 h 400"/>
                  <a:gd name="T60" fmla="*/ 0 w 59"/>
                  <a:gd name="T61" fmla="*/ 4 h 400"/>
                  <a:gd name="T62" fmla="*/ 0 w 59"/>
                  <a:gd name="T63" fmla="*/ 4 h 400"/>
                  <a:gd name="T64" fmla="*/ 0 w 59"/>
                  <a:gd name="T65" fmla="*/ 4 h 400"/>
                  <a:gd name="T66" fmla="*/ 0 w 59"/>
                  <a:gd name="T67" fmla="*/ 4 h 400"/>
                  <a:gd name="T68" fmla="*/ 0 w 59"/>
                  <a:gd name="T69" fmla="*/ 4 h 400"/>
                  <a:gd name="T70" fmla="*/ 0 w 59"/>
                  <a:gd name="T71" fmla="*/ 4 h 400"/>
                  <a:gd name="T72" fmla="*/ 0 w 59"/>
                  <a:gd name="T73" fmla="*/ 4 h 400"/>
                  <a:gd name="T74" fmla="*/ 0 w 59"/>
                  <a:gd name="T75" fmla="*/ 4 h 400"/>
                  <a:gd name="T76" fmla="*/ 0 w 59"/>
                  <a:gd name="T77" fmla="*/ 4 h 400"/>
                  <a:gd name="T78" fmla="*/ 0 w 59"/>
                  <a:gd name="T79" fmla="*/ 5 h 400"/>
                  <a:gd name="T80" fmla="*/ 0 w 59"/>
                  <a:gd name="T81" fmla="*/ 5 h 400"/>
                  <a:gd name="T82" fmla="*/ 0 w 59"/>
                  <a:gd name="T83" fmla="*/ 5 h 400"/>
                  <a:gd name="T84" fmla="*/ 0 w 59"/>
                  <a:gd name="T85" fmla="*/ 5 h 400"/>
                  <a:gd name="T86" fmla="*/ 0 w 59"/>
                  <a:gd name="T87" fmla="*/ 5 h 400"/>
                  <a:gd name="T88" fmla="*/ 0 w 59"/>
                  <a:gd name="T89" fmla="*/ 5 h 400"/>
                  <a:gd name="T90" fmla="*/ 0 w 59"/>
                  <a:gd name="T91" fmla="*/ 5 h 400"/>
                  <a:gd name="T92" fmla="*/ 0 w 59"/>
                  <a:gd name="T93" fmla="*/ 5 h 400"/>
                  <a:gd name="T94" fmla="*/ 0 w 59"/>
                  <a:gd name="T95" fmla="*/ 5 h 400"/>
                  <a:gd name="T96" fmla="*/ 0 w 59"/>
                  <a:gd name="T97" fmla="*/ 5 h 400"/>
                  <a:gd name="T98" fmla="*/ 0 w 59"/>
                  <a:gd name="T99" fmla="*/ 5 h 400"/>
                  <a:gd name="T100" fmla="*/ 0 w 59"/>
                  <a:gd name="T101" fmla="*/ 5 h 400"/>
                  <a:gd name="T102" fmla="*/ 0 w 59"/>
                  <a:gd name="T103" fmla="*/ 6 h 400"/>
                  <a:gd name="T104" fmla="*/ 0 w 59"/>
                  <a:gd name="T105" fmla="*/ 6 h 400"/>
                  <a:gd name="T106" fmla="*/ 0 w 59"/>
                  <a:gd name="T107" fmla="*/ 6 h 400"/>
                  <a:gd name="T108" fmla="*/ 0 w 59"/>
                  <a:gd name="T109" fmla="*/ 6 h 400"/>
                  <a:gd name="T110" fmla="*/ 0 w 59"/>
                  <a:gd name="T111" fmla="*/ 6 h 400"/>
                  <a:gd name="T112" fmla="*/ 0 w 59"/>
                  <a:gd name="T113" fmla="*/ 6 h 400"/>
                  <a:gd name="T114" fmla="*/ 0 w 59"/>
                  <a:gd name="T115" fmla="*/ 6 h 400"/>
                  <a:gd name="T116" fmla="*/ 0 w 59"/>
                  <a:gd name="T117" fmla="*/ 7 h 400"/>
                  <a:gd name="T118" fmla="*/ 0 w 59"/>
                  <a:gd name="T119" fmla="*/ 7 h 400"/>
                  <a:gd name="T120" fmla="*/ 0 w 59"/>
                  <a:gd name="T121" fmla="*/ 7 h 400"/>
                  <a:gd name="T122" fmla="*/ 0 w 59"/>
                  <a:gd name="T123" fmla="*/ 7 h 40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59"/>
                  <a:gd name="T187" fmla="*/ 0 h 400"/>
                  <a:gd name="T188" fmla="*/ 59 w 59"/>
                  <a:gd name="T189" fmla="*/ 400 h 400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59" h="400">
                    <a:moveTo>
                      <a:pt x="59" y="0"/>
                    </a:moveTo>
                    <a:lnTo>
                      <a:pt x="53" y="0"/>
                    </a:lnTo>
                    <a:lnTo>
                      <a:pt x="47" y="0"/>
                    </a:lnTo>
                    <a:lnTo>
                      <a:pt x="42" y="2"/>
                    </a:lnTo>
                    <a:lnTo>
                      <a:pt x="36" y="4"/>
                    </a:lnTo>
                    <a:lnTo>
                      <a:pt x="31" y="5"/>
                    </a:lnTo>
                    <a:lnTo>
                      <a:pt x="26" y="8"/>
                    </a:lnTo>
                    <a:lnTo>
                      <a:pt x="19" y="13"/>
                    </a:lnTo>
                    <a:lnTo>
                      <a:pt x="14" y="16"/>
                    </a:lnTo>
                    <a:lnTo>
                      <a:pt x="11" y="21"/>
                    </a:lnTo>
                    <a:lnTo>
                      <a:pt x="8" y="24"/>
                    </a:lnTo>
                    <a:lnTo>
                      <a:pt x="5" y="29"/>
                    </a:lnTo>
                    <a:lnTo>
                      <a:pt x="3" y="34"/>
                    </a:lnTo>
                    <a:lnTo>
                      <a:pt x="1" y="38"/>
                    </a:lnTo>
                    <a:lnTo>
                      <a:pt x="0" y="43"/>
                    </a:lnTo>
                    <a:lnTo>
                      <a:pt x="0" y="48"/>
                    </a:lnTo>
                    <a:lnTo>
                      <a:pt x="0" y="54"/>
                    </a:lnTo>
                    <a:lnTo>
                      <a:pt x="0" y="59"/>
                    </a:lnTo>
                    <a:lnTo>
                      <a:pt x="1" y="63"/>
                    </a:lnTo>
                    <a:lnTo>
                      <a:pt x="3" y="68"/>
                    </a:lnTo>
                    <a:lnTo>
                      <a:pt x="6" y="73"/>
                    </a:lnTo>
                    <a:lnTo>
                      <a:pt x="8" y="76"/>
                    </a:lnTo>
                    <a:lnTo>
                      <a:pt x="11" y="81"/>
                    </a:lnTo>
                    <a:lnTo>
                      <a:pt x="14" y="84"/>
                    </a:lnTo>
                    <a:lnTo>
                      <a:pt x="23" y="90"/>
                    </a:lnTo>
                    <a:lnTo>
                      <a:pt x="28" y="93"/>
                    </a:lnTo>
                    <a:lnTo>
                      <a:pt x="33" y="95"/>
                    </a:lnTo>
                    <a:lnTo>
                      <a:pt x="37" y="96"/>
                    </a:lnTo>
                    <a:lnTo>
                      <a:pt x="43" y="98"/>
                    </a:lnTo>
                    <a:lnTo>
                      <a:pt x="48" y="100"/>
                    </a:lnTo>
                    <a:lnTo>
                      <a:pt x="54" y="100"/>
                    </a:lnTo>
                    <a:lnTo>
                      <a:pt x="59" y="100"/>
                    </a:lnTo>
                    <a:lnTo>
                      <a:pt x="53" y="100"/>
                    </a:lnTo>
                    <a:lnTo>
                      <a:pt x="47" y="101"/>
                    </a:lnTo>
                    <a:lnTo>
                      <a:pt x="42" y="101"/>
                    </a:lnTo>
                    <a:lnTo>
                      <a:pt x="36" y="103"/>
                    </a:lnTo>
                    <a:lnTo>
                      <a:pt x="31" y="106"/>
                    </a:lnTo>
                    <a:lnTo>
                      <a:pt x="26" y="107"/>
                    </a:lnTo>
                    <a:lnTo>
                      <a:pt x="19" y="114"/>
                    </a:lnTo>
                    <a:lnTo>
                      <a:pt x="14" y="117"/>
                    </a:lnTo>
                    <a:lnTo>
                      <a:pt x="11" y="120"/>
                    </a:lnTo>
                    <a:lnTo>
                      <a:pt x="8" y="125"/>
                    </a:lnTo>
                    <a:lnTo>
                      <a:pt x="5" y="130"/>
                    </a:lnTo>
                    <a:lnTo>
                      <a:pt x="3" y="133"/>
                    </a:lnTo>
                    <a:lnTo>
                      <a:pt x="1" y="137"/>
                    </a:lnTo>
                    <a:lnTo>
                      <a:pt x="0" y="144"/>
                    </a:lnTo>
                    <a:lnTo>
                      <a:pt x="0" y="148"/>
                    </a:lnTo>
                    <a:lnTo>
                      <a:pt x="0" y="153"/>
                    </a:lnTo>
                    <a:lnTo>
                      <a:pt x="0" y="158"/>
                    </a:lnTo>
                    <a:lnTo>
                      <a:pt x="1" y="163"/>
                    </a:lnTo>
                    <a:lnTo>
                      <a:pt x="3" y="167"/>
                    </a:lnTo>
                    <a:lnTo>
                      <a:pt x="6" y="172"/>
                    </a:lnTo>
                    <a:lnTo>
                      <a:pt x="8" y="177"/>
                    </a:lnTo>
                    <a:lnTo>
                      <a:pt x="11" y="180"/>
                    </a:lnTo>
                    <a:lnTo>
                      <a:pt x="14" y="185"/>
                    </a:lnTo>
                    <a:lnTo>
                      <a:pt x="23" y="191"/>
                    </a:lnTo>
                    <a:lnTo>
                      <a:pt x="28" y="192"/>
                    </a:lnTo>
                    <a:lnTo>
                      <a:pt x="33" y="196"/>
                    </a:lnTo>
                    <a:lnTo>
                      <a:pt x="37" y="197"/>
                    </a:lnTo>
                    <a:lnTo>
                      <a:pt x="43" y="199"/>
                    </a:lnTo>
                    <a:lnTo>
                      <a:pt x="48" y="200"/>
                    </a:lnTo>
                    <a:lnTo>
                      <a:pt x="54" y="200"/>
                    </a:lnTo>
                    <a:lnTo>
                      <a:pt x="59" y="200"/>
                    </a:lnTo>
                    <a:lnTo>
                      <a:pt x="53" y="200"/>
                    </a:lnTo>
                    <a:lnTo>
                      <a:pt x="47" y="200"/>
                    </a:lnTo>
                    <a:lnTo>
                      <a:pt x="42" y="202"/>
                    </a:lnTo>
                    <a:lnTo>
                      <a:pt x="36" y="203"/>
                    </a:lnTo>
                    <a:lnTo>
                      <a:pt x="31" y="205"/>
                    </a:lnTo>
                    <a:lnTo>
                      <a:pt x="26" y="208"/>
                    </a:lnTo>
                    <a:lnTo>
                      <a:pt x="19" y="213"/>
                    </a:lnTo>
                    <a:lnTo>
                      <a:pt x="14" y="216"/>
                    </a:lnTo>
                    <a:lnTo>
                      <a:pt x="11" y="221"/>
                    </a:lnTo>
                    <a:lnTo>
                      <a:pt x="8" y="224"/>
                    </a:lnTo>
                    <a:lnTo>
                      <a:pt x="5" y="229"/>
                    </a:lnTo>
                    <a:lnTo>
                      <a:pt x="3" y="233"/>
                    </a:lnTo>
                    <a:lnTo>
                      <a:pt x="1" y="238"/>
                    </a:lnTo>
                    <a:lnTo>
                      <a:pt x="0" y="243"/>
                    </a:lnTo>
                    <a:lnTo>
                      <a:pt x="0" y="248"/>
                    </a:lnTo>
                    <a:lnTo>
                      <a:pt x="0" y="254"/>
                    </a:lnTo>
                    <a:lnTo>
                      <a:pt x="0" y="259"/>
                    </a:lnTo>
                    <a:lnTo>
                      <a:pt x="1" y="263"/>
                    </a:lnTo>
                    <a:lnTo>
                      <a:pt x="3" y="268"/>
                    </a:lnTo>
                    <a:lnTo>
                      <a:pt x="6" y="273"/>
                    </a:lnTo>
                    <a:lnTo>
                      <a:pt x="8" y="276"/>
                    </a:lnTo>
                    <a:lnTo>
                      <a:pt x="11" y="281"/>
                    </a:lnTo>
                    <a:lnTo>
                      <a:pt x="14" y="284"/>
                    </a:lnTo>
                    <a:lnTo>
                      <a:pt x="23" y="290"/>
                    </a:lnTo>
                    <a:lnTo>
                      <a:pt x="28" y="293"/>
                    </a:lnTo>
                    <a:lnTo>
                      <a:pt x="33" y="295"/>
                    </a:lnTo>
                    <a:lnTo>
                      <a:pt x="37" y="298"/>
                    </a:lnTo>
                    <a:lnTo>
                      <a:pt x="43" y="298"/>
                    </a:lnTo>
                    <a:lnTo>
                      <a:pt x="48" y="299"/>
                    </a:lnTo>
                    <a:lnTo>
                      <a:pt x="54" y="299"/>
                    </a:lnTo>
                    <a:lnTo>
                      <a:pt x="59" y="299"/>
                    </a:lnTo>
                    <a:lnTo>
                      <a:pt x="53" y="299"/>
                    </a:lnTo>
                    <a:lnTo>
                      <a:pt x="47" y="301"/>
                    </a:lnTo>
                    <a:lnTo>
                      <a:pt x="42" y="301"/>
                    </a:lnTo>
                    <a:lnTo>
                      <a:pt x="36" y="303"/>
                    </a:lnTo>
                    <a:lnTo>
                      <a:pt x="31" y="306"/>
                    </a:lnTo>
                    <a:lnTo>
                      <a:pt x="26" y="307"/>
                    </a:lnTo>
                    <a:lnTo>
                      <a:pt x="19" y="314"/>
                    </a:lnTo>
                    <a:lnTo>
                      <a:pt x="14" y="317"/>
                    </a:lnTo>
                    <a:lnTo>
                      <a:pt x="11" y="320"/>
                    </a:lnTo>
                    <a:lnTo>
                      <a:pt x="8" y="325"/>
                    </a:lnTo>
                    <a:lnTo>
                      <a:pt x="5" y="329"/>
                    </a:lnTo>
                    <a:lnTo>
                      <a:pt x="3" y="332"/>
                    </a:lnTo>
                    <a:lnTo>
                      <a:pt x="1" y="337"/>
                    </a:lnTo>
                    <a:lnTo>
                      <a:pt x="0" y="344"/>
                    </a:lnTo>
                    <a:lnTo>
                      <a:pt x="0" y="348"/>
                    </a:lnTo>
                    <a:lnTo>
                      <a:pt x="0" y="353"/>
                    </a:lnTo>
                    <a:lnTo>
                      <a:pt x="0" y="358"/>
                    </a:lnTo>
                    <a:lnTo>
                      <a:pt x="1" y="362"/>
                    </a:lnTo>
                    <a:lnTo>
                      <a:pt x="3" y="367"/>
                    </a:lnTo>
                    <a:lnTo>
                      <a:pt x="6" y="372"/>
                    </a:lnTo>
                    <a:lnTo>
                      <a:pt x="8" y="377"/>
                    </a:lnTo>
                    <a:lnTo>
                      <a:pt x="11" y="380"/>
                    </a:lnTo>
                    <a:lnTo>
                      <a:pt x="14" y="384"/>
                    </a:lnTo>
                    <a:lnTo>
                      <a:pt x="23" y="391"/>
                    </a:lnTo>
                    <a:lnTo>
                      <a:pt x="28" y="392"/>
                    </a:lnTo>
                    <a:lnTo>
                      <a:pt x="33" y="395"/>
                    </a:lnTo>
                    <a:lnTo>
                      <a:pt x="37" y="397"/>
                    </a:lnTo>
                    <a:lnTo>
                      <a:pt x="43" y="399"/>
                    </a:lnTo>
                    <a:lnTo>
                      <a:pt x="48" y="400"/>
                    </a:lnTo>
                    <a:lnTo>
                      <a:pt x="54" y="400"/>
                    </a:lnTo>
                    <a:lnTo>
                      <a:pt x="59" y="40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67" name="Line 76"/>
              <p:cNvSpPr>
                <a:spLocks noChangeShapeType="1"/>
              </p:cNvSpPr>
              <p:nvPr/>
            </p:nvSpPr>
            <p:spPr bwMode="auto">
              <a:xfrm>
                <a:off x="4165" y="1419"/>
                <a:ext cx="1" cy="1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68" name="Line 77"/>
              <p:cNvSpPr>
                <a:spLocks noChangeShapeType="1"/>
              </p:cNvSpPr>
              <p:nvPr/>
            </p:nvSpPr>
            <p:spPr bwMode="auto">
              <a:xfrm flipV="1">
                <a:off x="4177" y="1419"/>
                <a:ext cx="1" cy="1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69" name="Rectangle 78"/>
              <p:cNvSpPr>
                <a:spLocks noChangeArrowheads="1"/>
              </p:cNvSpPr>
              <p:nvPr/>
            </p:nvSpPr>
            <p:spPr bwMode="auto">
              <a:xfrm>
                <a:off x="5125" y="1427"/>
                <a:ext cx="40" cy="100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80970" name="Rectangle 79"/>
              <p:cNvSpPr>
                <a:spLocks noChangeArrowheads="1"/>
              </p:cNvSpPr>
              <p:nvPr/>
            </p:nvSpPr>
            <p:spPr bwMode="auto">
              <a:xfrm>
                <a:off x="5125" y="1427"/>
                <a:ext cx="40" cy="100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80971" name="Line 80"/>
              <p:cNvSpPr>
                <a:spLocks noChangeShapeType="1"/>
              </p:cNvSpPr>
              <p:nvPr/>
            </p:nvSpPr>
            <p:spPr bwMode="auto">
              <a:xfrm>
                <a:off x="4948" y="1467"/>
                <a:ext cx="7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72" name="Line 81"/>
              <p:cNvSpPr>
                <a:spLocks noChangeShapeType="1"/>
              </p:cNvSpPr>
              <p:nvPr/>
            </p:nvSpPr>
            <p:spPr bwMode="auto">
              <a:xfrm>
                <a:off x="4948" y="1497"/>
                <a:ext cx="7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73" name="Line 82"/>
              <p:cNvSpPr>
                <a:spLocks noChangeShapeType="1"/>
              </p:cNvSpPr>
              <p:nvPr/>
            </p:nvSpPr>
            <p:spPr bwMode="auto">
              <a:xfrm>
                <a:off x="4987" y="1497"/>
                <a:ext cx="1" cy="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74" name="Line 83"/>
              <p:cNvSpPr>
                <a:spLocks noChangeShapeType="1"/>
              </p:cNvSpPr>
              <p:nvPr/>
            </p:nvSpPr>
            <p:spPr bwMode="auto">
              <a:xfrm flipV="1">
                <a:off x="4987" y="1377"/>
                <a:ext cx="1" cy="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75" name="Line 84"/>
              <p:cNvSpPr>
                <a:spLocks noChangeShapeType="1"/>
              </p:cNvSpPr>
              <p:nvPr/>
            </p:nvSpPr>
            <p:spPr bwMode="auto">
              <a:xfrm flipV="1">
                <a:off x="4987" y="1357"/>
                <a:ext cx="1" cy="2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76" name="Freeform 85"/>
              <p:cNvSpPr>
                <a:spLocks/>
              </p:cNvSpPr>
              <p:nvPr/>
            </p:nvSpPr>
            <p:spPr bwMode="auto">
              <a:xfrm>
                <a:off x="4101" y="1542"/>
                <a:ext cx="25" cy="25"/>
              </a:xfrm>
              <a:custGeom>
                <a:avLst/>
                <a:gdLst>
                  <a:gd name="T0" fmla="*/ 0 w 50"/>
                  <a:gd name="T1" fmla="*/ 0 h 51"/>
                  <a:gd name="T2" fmla="*/ 0 w 50"/>
                  <a:gd name="T3" fmla="*/ 0 h 51"/>
                  <a:gd name="T4" fmla="*/ 1 w 50"/>
                  <a:gd name="T5" fmla="*/ 0 h 51"/>
                  <a:gd name="T6" fmla="*/ 1 w 50"/>
                  <a:gd name="T7" fmla="*/ 0 h 51"/>
                  <a:gd name="T8" fmla="*/ 1 w 50"/>
                  <a:gd name="T9" fmla="*/ 0 h 51"/>
                  <a:gd name="T10" fmla="*/ 1 w 50"/>
                  <a:gd name="T11" fmla="*/ 0 h 51"/>
                  <a:gd name="T12" fmla="*/ 1 w 50"/>
                  <a:gd name="T13" fmla="*/ 0 h 51"/>
                  <a:gd name="T14" fmla="*/ 1 w 50"/>
                  <a:gd name="T15" fmla="*/ 0 h 51"/>
                  <a:gd name="T16" fmla="*/ 1 w 50"/>
                  <a:gd name="T17" fmla="*/ 0 h 51"/>
                  <a:gd name="T18" fmla="*/ 1 w 50"/>
                  <a:gd name="T19" fmla="*/ 0 h 51"/>
                  <a:gd name="T20" fmla="*/ 1 w 50"/>
                  <a:gd name="T21" fmla="*/ 0 h 51"/>
                  <a:gd name="T22" fmla="*/ 1 w 50"/>
                  <a:gd name="T23" fmla="*/ 0 h 51"/>
                  <a:gd name="T24" fmla="*/ 1 w 50"/>
                  <a:gd name="T25" fmla="*/ 0 h 51"/>
                  <a:gd name="T26" fmla="*/ 1 w 50"/>
                  <a:gd name="T27" fmla="*/ 0 h 51"/>
                  <a:gd name="T28" fmla="*/ 1 w 50"/>
                  <a:gd name="T29" fmla="*/ 0 h 51"/>
                  <a:gd name="T30" fmla="*/ 1 w 50"/>
                  <a:gd name="T31" fmla="*/ 0 h 51"/>
                  <a:gd name="T32" fmla="*/ 1 w 50"/>
                  <a:gd name="T33" fmla="*/ 0 h 51"/>
                  <a:gd name="T34" fmla="*/ 1 w 50"/>
                  <a:gd name="T35" fmla="*/ 0 h 51"/>
                  <a:gd name="T36" fmla="*/ 1 w 50"/>
                  <a:gd name="T37" fmla="*/ 0 h 51"/>
                  <a:gd name="T38" fmla="*/ 1 w 50"/>
                  <a:gd name="T39" fmla="*/ 0 h 51"/>
                  <a:gd name="T40" fmla="*/ 1 w 50"/>
                  <a:gd name="T41" fmla="*/ 0 h 51"/>
                  <a:gd name="T42" fmla="*/ 1 w 50"/>
                  <a:gd name="T43" fmla="*/ 0 h 51"/>
                  <a:gd name="T44" fmla="*/ 1 w 50"/>
                  <a:gd name="T45" fmla="*/ 0 h 51"/>
                  <a:gd name="T46" fmla="*/ 1 w 50"/>
                  <a:gd name="T47" fmla="*/ 0 h 51"/>
                  <a:gd name="T48" fmla="*/ 1 w 50"/>
                  <a:gd name="T49" fmla="*/ 0 h 51"/>
                  <a:gd name="T50" fmla="*/ 1 w 50"/>
                  <a:gd name="T51" fmla="*/ 0 h 51"/>
                  <a:gd name="T52" fmla="*/ 1 w 50"/>
                  <a:gd name="T53" fmla="*/ 0 h 51"/>
                  <a:gd name="T54" fmla="*/ 1 w 50"/>
                  <a:gd name="T55" fmla="*/ 0 h 51"/>
                  <a:gd name="T56" fmla="*/ 1 w 50"/>
                  <a:gd name="T57" fmla="*/ 0 h 51"/>
                  <a:gd name="T58" fmla="*/ 1 w 50"/>
                  <a:gd name="T59" fmla="*/ 0 h 51"/>
                  <a:gd name="T60" fmla="*/ 1 w 50"/>
                  <a:gd name="T61" fmla="*/ 0 h 51"/>
                  <a:gd name="T62" fmla="*/ 1 w 50"/>
                  <a:gd name="T63" fmla="*/ 0 h 51"/>
                  <a:gd name="T64" fmla="*/ 0 w 50"/>
                  <a:gd name="T65" fmla="*/ 0 h 51"/>
                  <a:gd name="T66" fmla="*/ 0 w 50"/>
                  <a:gd name="T67" fmla="*/ 0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1"/>
                  <a:gd name="T104" fmla="*/ 50 w 50"/>
                  <a:gd name="T105" fmla="*/ 51 h 5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1">
                    <a:moveTo>
                      <a:pt x="0" y="26"/>
                    </a:moveTo>
                    <a:lnTo>
                      <a:pt x="0" y="19"/>
                    </a:lnTo>
                    <a:lnTo>
                      <a:pt x="1" y="15"/>
                    </a:lnTo>
                    <a:lnTo>
                      <a:pt x="4" y="11"/>
                    </a:lnTo>
                    <a:lnTo>
                      <a:pt x="8" y="7"/>
                    </a:lnTo>
                    <a:lnTo>
                      <a:pt x="11" y="4"/>
                    </a:lnTo>
                    <a:lnTo>
                      <a:pt x="15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2"/>
                    </a:lnTo>
                    <a:lnTo>
                      <a:pt x="39" y="4"/>
                    </a:lnTo>
                    <a:lnTo>
                      <a:pt x="42" y="7"/>
                    </a:lnTo>
                    <a:lnTo>
                      <a:pt x="45" y="11"/>
                    </a:lnTo>
                    <a:lnTo>
                      <a:pt x="48" y="15"/>
                    </a:lnTo>
                    <a:lnTo>
                      <a:pt x="50" y="19"/>
                    </a:lnTo>
                    <a:lnTo>
                      <a:pt x="50" y="26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40"/>
                    </a:lnTo>
                    <a:lnTo>
                      <a:pt x="42" y="43"/>
                    </a:lnTo>
                    <a:lnTo>
                      <a:pt x="39" y="46"/>
                    </a:lnTo>
                    <a:lnTo>
                      <a:pt x="34" y="48"/>
                    </a:lnTo>
                    <a:lnTo>
                      <a:pt x="29" y="49"/>
                    </a:lnTo>
                    <a:lnTo>
                      <a:pt x="25" y="51"/>
                    </a:lnTo>
                    <a:lnTo>
                      <a:pt x="20" y="49"/>
                    </a:lnTo>
                    <a:lnTo>
                      <a:pt x="15" y="48"/>
                    </a:lnTo>
                    <a:lnTo>
                      <a:pt x="11" y="46"/>
                    </a:lnTo>
                    <a:lnTo>
                      <a:pt x="8" y="43"/>
                    </a:lnTo>
                    <a:lnTo>
                      <a:pt x="4" y="40"/>
                    </a:lnTo>
                    <a:lnTo>
                      <a:pt x="1" y="35"/>
                    </a:lnTo>
                    <a:lnTo>
                      <a:pt x="0" y="30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77" name="Freeform 86"/>
              <p:cNvSpPr>
                <a:spLocks/>
              </p:cNvSpPr>
              <p:nvPr/>
            </p:nvSpPr>
            <p:spPr bwMode="auto">
              <a:xfrm>
                <a:off x="4226" y="1416"/>
                <a:ext cx="25" cy="25"/>
              </a:xfrm>
              <a:custGeom>
                <a:avLst/>
                <a:gdLst>
                  <a:gd name="T0" fmla="*/ 0 w 49"/>
                  <a:gd name="T1" fmla="*/ 1 h 50"/>
                  <a:gd name="T2" fmla="*/ 0 w 49"/>
                  <a:gd name="T3" fmla="*/ 1 h 50"/>
                  <a:gd name="T4" fmla="*/ 1 w 49"/>
                  <a:gd name="T5" fmla="*/ 1 h 50"/>
                  <a:gd name="T6" fmla="*/ 1 w 49"/>
                  <a:gd name="T7" fmla="*/ 1 h 50"/>
                  <a:gd name="T8" fmla="*/ 1 w 49"/>
                  <a:gd name="T9" fmla="*/ 1 h 50"/>
                  <a:gd name="T10" fmla="*/ 1 w 49"/>
                  <a:gd name="T11" fmla="*/ 1 h 50"/>
                  <a:gd name="T12" fmla="*/ 1 w 49"/>
                  <a:gd name="T13" fmla="*/ 1 h 50"/>
                  <a:gd name="T14" fmla="*/ 1 w 49"/>
                  <a:gd name="T15" fmla="*/ 0 h 50"/>
                  <a:gd name="T16" fmla="*/ 1 w 49"/>
                  <a:gd name="T17" fmla="*/ 0 h 50"/>
                  <a:gd name="T18" fmla="*/ 1 w 49"/>
                  <a:gd name="T19" fmla="*/ 0 h 50"/>
                  <a:gd name="T20" fmla="*/ 1 w 49"/>
                  <a:gd name="T21" fmla="*/ 1 h 50"/>
                  <a:gd name="T22" fmla="*/ 1 w 49"/>
                  <a:gd name="T23" fmla="*/ 1 h 50"/>
                  <a:gd name="T24" fmla="*/ 1 w 49"/>
                  <a:gd name="T25" fmla="*/ 1 h 50"/>
                  <a:gd name="T26" fmla="*/ 1 w 49"/>
                  <a:gd name="T27" fmla="*/ 1 h 50"/>
                  <a:gd name="T28" fmla="*/ 1 w 49"/>
                  <a:gd name="T29" fmla="*/ 1 h 50"/>
                  <a:gd name="T30" fmla="*/ 1 w 49"/>
                  <a:gd name="T31" fmla="*/ 1 h 50"/>
                  <a:gd name="T32" fmla="*/ 1 w 49"/>
                  <a:gd name="T33" fmla="*/ 1 h 50"/>
                  <a:gd name="T34" fmla="*/ 1 w 49"/>
                  <a:gd name="T35" fmla="*/ 1 h 50"/>
                  <a:gd name="T36" fmla="*/ 1 w 49"/>
                  <a:gd name="T37" fmla="*/ 1 h 50"/>
                  <a:gd name="T38" fmla="*/ 1 w 49"/>
                  <a:gd name="T39" fmla="*/ 1 h 50"/>
                  <a:gd name="T40" fmla="*/ 1 w 49"/>
                  <a:gd name="T41" fmla="*/ 1 h 50"/>
                  <a:gd name="T42" fmla="*/ 1 w 49"/>
                  <a:gd name="T43" fmla="*/ 1 h 50"/>
                  <a:gd name="T44" fmla="*/ 1 w 49"/>
                  <a:gd name="T45" fmla="*/ 1 h 50"/>
                  <a:gd name="T46" fmla="*/ 1 w 49"/>
                  <a:gd name="T47" fmla="*/ 1 h 50"/>
                  <a:gd name="T48" fmla="*/ 1 w 49"/>
                  <a:gd name="T49" fmla="*/ 1 h 50"/>
                  <a:gd name="T50" fmla="*/ 1 w 49"/>
                  <a:gd name="T51" fmla="*/ 1 h 50"/>
                  <a:gd name="T52" fmla="*/ 1 w 49"/>
                  <a:gd name="T53" fmla="*/ 1 h 50"/>
                  <a:gd name="T54" fmla="*/ 1 w 49"/>
                  <a:gd name="T55" fmla="*/ 1 h 50"/>
                  <a:gd name="T56" fmla="*/ 1 w 49"/>
                  <a:gd name="T57" fmla="*/ 1 h 50"/>
                  <a:gd name="T58" fmla="*/ 1 w 49"/>
                  <a:gd name="T59" fmla="*/ 1 h 50"/>
                  <a:gd name="T60" fmla="*/ 1 w 49"/>
                  <a:gd name="T61" fmla="*/ 1 h 50"/>
                  <a:gd name="T62" fmla="*/ 1 w 49"/>
                  <a:gd name="T63" fmla="*/ 1 h 50"/>
                  <a:gd name="T64" fmla="*/ 0 w 49"/>
                  <a:gd name="T65" fmla="*/ 1 h 50"/>
                  <a:gd name="T66" fmla="*/ 0 w 49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49"/>
                  <a:gd name="T103" fmla="*/ 0 h 50"/>
                  <a:gd name="T104" fmla="*/ 49 w 49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49" h="50">
                    <a:moveTo>
                      <a:pt x="0" y="25"/>
                    </a:moveTo>
                    <a:lnTo>
                      <a:pt x="0" y="19"/>
                    </a:lnTo>
                    <a:lnTo>
                      <a:pt x="1" y="14"/>
                    </a:lnTo>
                    <a:lnTo>
                      <a:pt x="3" y="11"/>
                    </a:lnTo>
                    <a:lnTo>
                      <a:pt x="6" y="6"/>
                    </a:lnTo>
                    <a:lnTo>
                      <a:pt x="11" y="3"/>
                    </a:lnTo>
                    <a:lnTo>
                      <a:pt x="14" y="1"/>
                    </a:lnTo>
                    <a:lnTo>
                      <a:pt x="18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1"/>
                    </a:lnTo>
                    <a:lnTo>
                      <a:pt x="37" y="3"/>
                    </a:lnTo>
                    <a:lnTo>
                      <a:pt x="42" y="6"/>
                    </a:lnTo>
                    <a:lnTo>
                      <a:pt x="45" y="11"/>
                    </a:lnTo>
                    <a:lnTo>
                      <a:pt x="46" y="14"/>
                    </a:lnTo>
                    <a:lnTo>
                      <a:pt x="48" y="19"/>
                    </a:lnTo>
                    <a:lnTo>
                      <a:pt x="49" y="25"/>
                    </a:lnTo>
                    <a:lnTo>
                      <a:pt x="48" y="30"/>
                    </a:lnTo>
                    <a:lnTo>
                      <a:pt x="46" y="34"/>
                    </a:lnTo>
                    <a:lnTo>
                      <a:pt x="45" y="39"/>
                    </a:lnTo>
                    <a:lnTo>
                      <a:pt x="42" y="42"/>
                    </a:lnTo>
                    <a:lnTo>
                      <a:pt x="37" y="45"/>
                    </a:lnTo>
                    <a:lnTo>
                      <a:pt x="34" y="47"/>
                    </a:lnTo>
                    <a:lnTo>
                      <a:pt x="29" y="48"/>
                    </a:lnTo>
                    <a:lnTo>
                      <a:pt x="25" y="50"/>
                    </a:lnTo>
                    <a:lnTo>
                      <a:pt x="18" y="48"/>
                    </a:lnTo>
                    <a:lnTo>
                      <a:pt x="14" y="47"/>
                    </a:lnTo>
                    <a:lnTo>
                      <a:pt x="11" y="45"/>
                    </a:lnTo>
                    <a:lnTo>
                      <a:pt x="6" y="42"/>
                    </a:lnTo>
                    <a:lnTo>
                      <a:pt x="3" y="39"/>
                    </a:lnTo>
                    <a:lnTo>
                      <a:pt x="1" y="34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78" name="Rectangle 87"/>
              <p:cNvSpPr>
                <a:spLocks noChangeArrowheads="1"/>
              </p:cNvSpPr>
              <p:nvPr/>
            </p:nvSpPr>
            <p:spPr bwMode="auto">
              <a:xfrm>
                <a:off x="5057" y="1389"/>
                <a:ext cx="49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 i="1">
                    <a:solidFill>
                      <a:srgbClr val="000000"/>
                    </a:solidFill>
                    <a:latin typeface="Times New Roman" pitchFamily="18" charset="0"/>
                  </a:rPr>
                  <a:t>R</a:t>
                </a:r>
                <a:endParaRPr lang="en-US" altLang="zh-CN"/>
              </a:p>
            </p:txBody>
          </p:sp>
          <p:sp>
            <p:nvSpPr>
              <p:cNvPr id="80979" name="Freeform 88"/>
              <p:cNvSpPr>
                <a:spLocks noEditPoints="1"/>
              </p:cNvSpPr>
              <p:nvPr/>
            </p:nvSpPr>
            <p:spPr bwMode="auto">
              <a:xfrm>
                <a:off x="3869" y="1268"/>
                <a:ext cx="12" cy="112"/>
              </a:xfrm>
              <a:custGeom>
                <a:avLst/>
                <a:gdLst>
                  <a:gd name="T0" fmla="*/ 1 w 24"/>
                  <a:gd name="T1" fmla="*/ 3 h 225"/>
                  <a:gd name="T2" fmla="*/ 1 w 24"/>
                  <a:gd name="T3" fmla="*/ 3 h 225"/>
                  <a:gd name="T4" fmla="*/ 1 w 24"/>
                  <a:gd name="T5" fmla="*/ 3 h 225"/>
                  <a:gd name="T6" fmla="*/ 0 w 24"/>
                  <a:gd name="T7" fmla="*/ 3 h 225"/>
                  <a:gd name="T8" fmla="*/ 0 w 24"/>
                  <a:gd name="T9" fmla="*/ 3 h 225"/>
                  <a:gd name="T10" fmla="*/ 1 w 24"/>
                  <a:gd name="T11" fmla="*/ 3 h 225"/>
                  <a:gd name="T12" fmla="*/ 1 w 24"/>
                  <a:gd name="T13" fmla="*/ 3 h 225"/>
                  <a:gd name="T14" fmla="*/ 1 w 24"/>
                  <a:gd name="T15" fmla="*/ 3 h 225"/>
                  <a:gd name="T16" fmla="*/ 1 w 24"/>
                  <a:gd name="T17" fmla="*/ 3 h 225"/>
                  <a:gd name="T18" fmla="*/ 1 w 24"/>
                  <a:gd name="T19" fmla="*/ 3 h 225"/>
                  <a:gd name="T20" fmla="*/ 1 w 24"/>
                  <a:gd name="T21" fmla="*/ 3 h 225"/>
                  <a:gd name="T22" fmla="*/ 1 w 24"/>
                  <a:gd name="T23" fmla="*/ 3 h 225"/>
                  <a:gd name="T24" fmla="*/ 1 w 24"/>
                  <a:gd name="T25" fmla="*/ 3 h 225"/>
                  <a:gd name="T26" fmla="*/ 1 w 24"/>
                  <a:gd name="T27" fmla="*/ 3 h 225"/>
                  <a:gd name="T28" fmla="*/ 1 w 24"/>
                  <a:gd name="T29" fmla="*/ 3 h 225"/>
                  <a:gd name="T30" fmla="*/ 1 w 24"/>
                  <a:gd name="T31" fmla="*/ 3 h 225"/>
                  <a:gd name="T32" fmla="*/ 1 w 24"/>
                  <a:gd name="T33" fmla="*/ 3 h 225"/>
                  <a:gd name="T34" fmla="*/ 1 w 24"/>
                  <a:gd name="T35" fmla="*/ 3 h 225"/>
                  <a:gd name="T36" fmla="*/ 1 w 24"/>
                  <a:gd name="T37" fmla="*/ 0 h 225"/>
                  <a:gd name="T38" fmla="*/ 1 w 24"/>
                  <a:gd name="T39" fmla="*/ 0 h 225"/>
                  <a:gd name="T40" fmla="*/ 1 w 24"/>
                  <a:gd name="T41" fmla="*/ 0 h 225"/>
                  <a:gd name="T42" fmla="*/ 0 w 24"/>
                  <a:gd name="T43" fmla="*/ 0 h 225"/>
                  <a:gd name="T44" fmla="*/ 0 w 24"/>
                  <a:gd name="T45" fmla="*/ 0 h 225"/>
                  <a:gd name="T46" fmla="*/ 1 w 24"/>
                  <a:gd name="T47" fmla="*/ 0 h 225"/>
                  <a:gd name="T48" fmla="*/ 1 w 24"/>
                  <a:gd name="T49" fmla="*/ 0 h 225"/>
                  <a:gd name="T50" fmla="*/ 1 w 24"/>
                  <a:gd name="T51" fmla="*/ 0 h 225"/>
                  <a:gd name="T52" fmla="*/ 1 w 24"/>
                  <a:gd name="T53" fmla="*/ 0 h 225"/>
                  <a:gd name="T54" fmla="*/ 1 w 24"/>
                  <a:gd name="T55" fmla="*/ 0 h 225"/>
                  <a:gd name="T56" fmla="*/ 1 w 24"/>
                  <a:gd name="T57" fmla="*/ 0 h 225"/>
                  <a:gd name="T58" fmla="*/ 1 w 24"/>
                  <a:gd name="T59" fmla="*/ 0 h 225"/>
                  <a:gd name="T60" fmla="*/ 1 w 24"/>
                  <a:gd name="T61" fmla="*/ 0 h 225"/>
                  <a:gd name="T62" fmla="*/ 1 w 24"/>
                  <a:gd name="T63" fmla="*/ 0 h 225"/>
                  <a:gd name="T64" fmla="*/ 1 w 24"/>
                  <a:gd name="T65" fmla="*/ 0 h 225"/>
                  <a:gd name="T66" fmla="*/ 1 w 24"/>
                  <a:gd name="T67" fmla="*/ 0 h 225"/>
                  <a:gd name="T68" fmla="*/ 1 w 24"/>
                  <a:gd name="T69" fmla="*/ 0 h 225"/>
                  <a:gd name="T70" fmla="*/ 1 w 24"/>
                  <a:gd name="T71" fmla="*/ 0 h 225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4"/>
                  <a:gd name="T109" fmla="*/ 0 h 225"/>
                  <a:gd name="T110" fmla="*/ 24 w 24"/>
                  <a:gd name="T111" fmla="*/ 225 h 225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4" h="225">
                    <a:moveTo>
                      <a:pt x="12" y="200"/>
                    </a:moveTo>
                    <a:lnTo>
                      <a:pt x="9" y="200"/>
                    </a:lnTo>
                    <a:lnTo>
                      <a:pt x="7" y="201"/>
                    </a:lnTo>
                    <a:lnTo>
                      <a:pt x="4" y="201"/>
                    </a:lnTo>
                    <a:lnTo>
                      <a:pt x="3" y="203"/>
                    </a:lnTo>
                    <a:lnTo>
                      <a:pt x="1" y="204"/>
                    </a:lnTo>
                    <a:lnTo>
                      <a:pt x="0" y="208"/>
                    </a:lnTo>
                    <a:lnTo>
                      <a:pt x="0" y="209"/>
                    </a:lnTo>
                    <a:lnTo>
                      <a:pt x="0" y="212"/>
                    </a:lnTo>
                    <a:lnTo>
                      <a:pt x="0" y="214"/>
                    </a:lnTo>
                    <a:lnTo>
                      <a:pt x="0" y="217"/>
                    </a:lnTo>
                    <a:lnTo>
                      <a:pt x="1" y="219"/>
                    </a:lnTo>
                    <a:lnTo>
                      <a:pt x="3" y="222"/>
                    </a:lnTo>
                    <a:lnTo>
                      <a:pt x="4" y="222"/>
                    </a:lnTo>
                    <a:lnTo>
                      <a:pt x="7" y="223"/>
                    </a:lnTo>
                    <a:lnTo>
                      <a:pt x="9" y="225"/>
                    </a:lnTo>
                    <a:lnTo>
                      <a:pt x="12" y="225"/>
                    </a:lnTo>
                    <a:lnTo>
                      <a:pt x="14" y="225"/>
                    </a:lnTo>
                    <a:lnTo>
                      <a:pt x="17" y="223"/>
                    </a:lnTo>
                    <a:lnTo>
                      <a:pt x="18" y="222"/>
                    </a:lnTo>
                    <a:lnTo>
                      <a:pt x="20" y="222"/>
                    </a:lnTo>
                    <a:lnTo>
                      <a:pt x="21" y="219"/>
                    </a:lnTo>
                    <a:lnTo>
                      <a:pt x="23" y="217"/>
                    </a:lnTo>
                    <a:lnTo>
                      <a:pt x="23" y="214"/>
                    </a:lnTo>
                    <a:lnTo>
                      <a:pt x="24" y="212"/>
                    </a:lnTo>
                    <a:lnTo>
                      <a:pt x="23" y="209"/>
                    </a:lnTo>
                    <a:lnTo>
                      <a:pt x="23" y="208"/>
                    </a:lnTo>
                    <a:lnTo>
                      <a:pt x="21" y="204"/>
                    </a:lnTo>
                    <a:lnTo>
                      <a:pt x="20" y="203"/>
                    </a:lnTo>
                    <a:lnTo>
                      <a:pt x="18" y="201"/>
                    </a:lnTo>
                    <a:lnTo>
                      <a:pt x="17" y="201"/>
                    </a:lnTo>
                    <a:lnTo>
                      <a:pt x="14" y="200"/>
                    </a:lnTo>
                    <a:lnTo>
                      <a:pt x="12" y="200"/>
                    </a:lnTo>
                    <a:close/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1"/>
                    </a:lnTo>
                    <a:lnTo>
                      <a:pt x="3" y="3"/>
                    </a:lnTo>
                    <a:lnTo>
                      <a:pt x="1" y="5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1" y="19"/>
                    </a:lnTo>
                    <a:lnTo>
                      <a:pt x="3" y="22"/>
                    </a:lnTo>
                    <a:lnTo>
                      <a:pt x="4" y="22"/>
                    </a:lnTo>
                    <a:lnTo>
                      <a:pt x="7" y="23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3"/>
                    </a:lnTo>
                    <a:lnTo>
                      <a:pt x="18" y="23"/>
                    </a:lnTo>
                    <a:lnTo>
                      <a:pt x="20" y="22"/>
                    </a:lnTo>
                    <a:lnTo>
                      <a:pt x="21" y="19"/>
                    </a:lnTo>
                    <a:lnTo>
                      <a:pt x="23" y="17"/>
                    </a:lnTo>
                    <a:lnTo>
                      <a:pt x="23" y="16"/>
                    </a:lnTo>
                    <a:lnTo>
                      <a:pt x="24" y="12"/>
                    </a:lnTo>
                    <a:lnTo>
                      <a:pt x="23" y="9"/>
                    </a:lnTo>
                    <a:lnTo>
                      <a:pt x="23" y="8"/>
                    </a:lnTo>
                    <a:lnTo>
                      <a:pt x="21" y="5"/>
                    </a:lnTo>
                    <a:lnTo>
                      <a:pt x="20" y="3"/>
                    </a:lnTo>
                    <a:lnTo>
                      <a:pt x="18" y="1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80" name="Freeform 89"/>
              <p:cNvSpPr>
                <a:spLocks/>
              </p:cNvSpPr>
              <p:nvPr/>
            </p:nvSpPr>
            <p:spPr bwMode="auto">
              <a:xfrm>
                <a:off x="3869" y="1368"/>
                <a:ext cx="12" cy="12"/>
              </a:xfrm>
              <a:custGeom>
                <a:avLst/>
                <a:gdLst>
                  <a:gd name="T0" fmla="*/ 1 w 24"/>
                  <a:gd name="T1" fmla="*/ 0 h 25"/>
                  <a:gd name="T2" fmla="*/ 1 w 24"/>
                  <a:gd name="T3" fmla="*/ 0 h 25"/>
                  <a:gd name="T4" fmla="*/ 1 w 24"/>
                  <a:gd name="T5" fmla="*/ 0 h 25"/>
                  <a:gd name="T6" fmla="*/ 1 w 24"/>
                  <a:gd name="T7" fmla="*/ 0 h 25"/>
                  <a:gd name="T8" fmla="*/ 1 w 24"/>
                  <a:gd name="T9" fmla="*/ 0 h 25"/>
                  <a:gd name="T10" fmla="*/ 1 w 24"/>
                  <a:gd name="T11" fmla="*/ 0 h 25"/>
                  <a:gd name="T12" fmla="*/ 0 w 24"/>
                  <a:gd name="T13" fmla="*/ 0 h 25"/>
                  <a:gd name="T14" fmla="*/ 0 w 24"/>
                  <a:gd name="T15" fmla="*/ 0 h 25"/>
                  <a:gd name="T16" fmla="*/ 0 w 24"/>
                  <a:gd name="T17" fmla="*/ 0 h 25"/>
                  <a:gd name="T18" fmla="*/ 0 w 24"/>
                  <a:gd name="T19" fmla="*/ 0 h 25"/>
                  <a:gd name="T20" fmla="*/ 0 w 24"/>
                  <a:gd name="T21" fmla="*/ 0 h 25"/>
                  <a:gd name="T22" fmla="*/ 1 w 24"/>
                  <a:gd name="T23" fmla="*/ 0 h 25"/>
                  <a:gd name="T24" fmla="*/ 1 w 24"/>
                  <a:gd name="T25" fmla="*/ 0 h 25"/>
                  <a:gd name="T26" fmla="*/ 1 w 24"/>
                  <a:gd name="T27" fmla="*/ 0 h 25"/>
                  <a:gd name="T28" fmla="*/ 1 w 24"/>
                  <a:gd name="T29" fmla="*/ 0 h 25"/>
                  <a:gd name="T30" fmla="*/ 1 w 24"/>
                  <a:gd name="T31" fmla="*/ 0 h 25"/>
                  <a:gd name="T32" fmla="*/ 1 w 24"/>
                  <a:gd name="T33" fmla="*/ 0 h 25"/>
                  <a:gd name="T34" fmla="*/ 1 w 24"/>
                  <a:gd name="T35" fmla="*/ 0 h 25"/>
                  <a:gd name="T36" fmla="*/ 1 w 24"/>
                  <a:gd name="T37" fmla="*/ 0 h 25"/>
                  <a:gd name="T38" fmla="*/ 1 w 24"/>
                  <a:gd name="T39" fmla="*/ 0 h 25"/>
                  <a:gd name="T40" fmla="*/ 1 w 24"/>
                  <a:gd name="T41" fmla="*/ 0 h 25"/>
                  <a:gd name="T42" fmla="*/ 1 w 24"/>
                  <a:gd name="T43" fmla="*/ 0 h 25"/>
                  <a:gd name="T44" fmla="*/ 1 w 24"/>
                  <a:gd name="T45" fmla="*/ 0 h 25"/>
                  <a:gd name="T46" fmla="*/ 1 w 24"/>
                  <a:gd name="T47" fmla="*/ 0 h 25"/>
                  <a:gd name="T48" fmla="*/ 1 w 24"/>
                  <a:gd name="T49" fmla="*/ 0 h 25"/>
                  <a:gd name="T50" fmla="*/ 1 w 24"/>
                  <a:gd name="T51" fmla="*/ 0 h 25"/>
                  <a:gd name="T52" fmla="*/ 1 w 24"/>
                  <a:gd name="T53" fmla="*/ 0 h 25"/>
                  <a:gd name="T54" fmla="*/ 1 w 24"/>
                  <a:gd name="T55" fmla="*/ 0 h 25"/>
                  <a:gd name="T56" fmla="*/ 1 w 24"/>
                  <a:gd name="T57" fmla="*/ 0 h 25"/>
                  <a:gd name="T58" fmla="*/ 1 w 24"/>
                  <a:gd name="T59" fmla="*/ 0 h 25"/>
                  <a:gd name="T60" fmla="*/ 1 w 24"/>
                  <a:gd name="T61" fmla="*/ 0 h 25"/>
                  <a:gd name="T62" fmla="*/ 1 w 24"/>
                  <a:gd name="T63" fmla="*/ 0 h 25"/>
                  <a:gd name="T64" fmla="*/ 1 w 24"/>
                  <a:gd name="T65" fmla="*/ 0 h 25"/>
                  <a:gd name="T66" fmla="*/ 1 w 24"/>
                  <a:gd name="T67" fmla="*/ 0 h 25"/>
                  <a:gd name="T68" fmla="*/ 1 w 24"/>
                  <a:gd name="T69" fmla="*/ 0 h 2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4"/>
                  <a:gd name="T106" fmla="*/ 0 h 25"/>
                  <a:gd name="T107" fmla="*/ 24 w 24"/>
                  <a:gd name="T108" fmla="*/ 25 h 25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4" h="25"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1"/>
                    </a:lnTo>
                    <a:lnTo>
                      <a:pt x="3" y="3"/>
                    </a:lnTo>
                    <a:lnTo>
                      <a:pt x="1" y="4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1" y="19"/>
                    </a:lnTo>
                    <a:lnTo>
                      <a:pt x="3" y="22"/>
                    </a:lnTo>
                    <a:lnTo>
                      <a:pt x="4" y="22"/>
                    </a:lnTo>
                    <a:lnTo>
                      <a:pt x="7" y="23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3"/>
                    </a:lnTo>
                    <a:lnTo>
                      <a:pt x="18" y="22"/>
                    </a:lnTo>
                    <a:lnTo>
                      <a:pt x="20" y="22"/>
                    </a:lnTo>
                    <a:lnTo>
                      <a:pt x="21" y="19"/>
                    </a:lnTo>
                    <a:lnTo>
                      <a:pt x="23" y="17"/>
                    </a:lnTo>
                    <a:lnTo>
                      <a:pt x="23" y="14"/>
                    </a:lnTo>
                    <a:lnTo>
                      <a:pt x="24" y="12"/>
                    </a:lnTo>
                    <a:lnTo>
                      <a:pt x="23" y="9"/>
                    </a:lnTo>
                    <a:lnTo>
                      <a:pt x="23" y="8"/>
                    </a:lnTo>
                    <a:lnTo>
                      <a:pt x="21" y="4"/>
                    </a:lnTo>
                    <a:lnTo>
                      <a:pt x="20" y="3"/>
                    </a:lnTo>
                    <a:lnTo>
                      <a:pt x="18" y="1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81" name="Freeform 90"/>
              <p:cNvSpPr>
                <a:spLocks/>
              </p:cNvSpPr>
              <p:nvPr/>
            </p:nvSpPr>
            <p:spPr bwMode="auto">
              <a:xfrm>
                <a:off x="3869" y="1268"/>
                <a:ext cx="12" cy="13"/>
              </a:xfrm>
              <a:custGeom>
                <a:avLst/>
                <a:gdLst>
                  <a:gd name="T0" fmla="*/ 1 w 24"/>
                  <a:gd name="T1" fmla="*/ 0 h 25"/>
                  <a:gd name="T2" fmla="*/ 1 w 24"/>
                  <a:gd name="T3" fmla="*/ 0 h 25"/>
                  <a:gd name="T4" fmla="*/ 1 w 24"/>
                  <a:gd name="T5" fmla="*/ 1 h 25"/>
                  <a:gd name="T6" fmla="*/ 1 w 24"/>
                  <a:gd name="T7" fmla="*/ 1 h 25"/>
                  <a:gd name="T8" fmla="*/ 1 w 24"/>
                  <a:gd name="T9" fmla="*/ 1 h 25"/>
                  <a:gd name="T10" fmla="*/ 1 w 24"/>
                  <a:gd name="T11" fmla="*/ 1 h 25"/>
                  <a:gd name="T12" fmla="*/ 0 w 24"/>
                  <a:gd name="T13" fmla="*/ 1 h 25"/>
                  <a:gd name="T14" fmla="*/ 0 w 24"/>
                  <a:gd name="T15" fmla="*/ 1 h 25"/>
                  <a:gd name="T16" fmla="*/ 0 w 24"/>
                  <a:gd name="T17" fmla="*/ 1 h 25"/>
                  <a:gd name="T18" fmla="*/ 0 w 24"/>
                  <a:gd name="T19" fmla="*/ 1 h 25"/>
                  <a:gd name="T20" fmla="*/ 0 w 24"/>
                  <a:gd name="T21" fmla="*/ 1 h 25"/>
                  <a:gd name="T22" fmla="*/ 1 w 24"/>
                  <a:gd name="T23" fmla="*/ 1 h 25"/>
                  <a:gd name="T24" fmla="*/ 1 w 24"/>
                  <a:gd name="T25" fmla="*/ 1 h 25"/>
                  <a:gd name="T26" fmla="*/ 1 w 24"/>
                  <a:gd name="T27" fmla="*/ 1 h 25"/>
                  <a:gd name="T28" fmla="*/ 1 w 24"/>
                  <a:gd name="T29" fmla="*/ 1 h 25"/>
                  <a:gd name="T30" fmla="*/ 1 w 24"/>
                  <a:gd name="T31" fmla="*/ 1 h 25"/>
                  <a:gd name="T32" fmla="*/ 1 w 24"/>
                  <a:gd name="T33" fmla="*/ 1 h 25"/>
                  <a:gd name="T34" fmla="*/ 1 w 24"/>
                  <a:gd name="T35" fmla="*/ 1 h 25"/>
                  <a:gd name="T36" fmla="*/ 1 w 24"/>
                  <a:gd name="T37" fmla="*/ 1 h 25"/>
                  <a:gd name="T38" fmla="*/ 1 w 24"/>
                  <a:gd name="T39" fmla="*/ 1 h 25"/>
                  <a:gd name="T40" fmla="*/ 1 w 24"/>
                  <a:gd name="T41" fmla="*/ 1 h 25"/>
                  <a:gd name="T42" fmla="*/ 1 w 24"/>
                  <a:gd name="T43" fmla="*/ 1 h 25"/>
                  <a:gd name="T44" fmla="*/ 1 w 24"/>
                  <a:gd name="T45" fmla="*/ 1 h 25"/>
                  <a:gd name="T46" fmla="*/ 1 w 24"/>
                  <a:gd name="T47" fmla="*/ 1 h 25"/>
                  <a:gd name="T48" fmla="*/ 1 w 24"/>
                  <a:gd name="T49" fmla="*/ 1 h 25"/>
                  <a:gd name="T50" fmla="*/ 1 w 24"/>
                  <a:gd name="T51" fmla="*/ 1 h 25"/>
                  <a:gd name="T52" fmla="*/ 1 w 24"/>
                  <a:gd name="T53" fmla="*/ 1 h 25"/>
                  <a:gd name="T54" fmla="*/ 1 w 24"/>
                  <a:gd name="T55" fmla="*/ 1 h 25"/>
                  <a:gd name="T56" fmla="*/ 1 w 24"/>
                  <a:gd name="T57" fmla="*/ 1 h 25"/>
                  <a:gd name="T58" fmla="*/ 1 w 24"/>
                  <a:gd name="T59" fmla="*/ 1 h 25"/>
                  <a:gd name="T60" fmla="*/ 1 w 24"/>
                  <a:gd name="T61" fmla="*/ 1 h 25"/>
                  <a:gd name="T62" fmla="*/ 1 w 24"/>
                  <a:gd name="T63" fmla="*/ 1 h 25"/>
                  <a:gd name="T64" fmla="*/ 1 w 24"/>
                  <a:gd name="T65" fmla="*/ 0 h 25"/>
                  <a:gd name="T66" fmla="*/ 1 w 24"/>
                  <a:gd name="T67" fmla="*/ 0 h 25"/>
                  <a:gd name="T68" fmla="*/ 1 w 24"/>
                  <a:gd name="T69" fmla="*/ 0 h 2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4"/>
                  <a:gd name="T106" fmla="*/ 0 h 25"/>
                  <a:gd name="T107" fmla="*/ 24 w 24"/>
                  <a:gd name="T108" fmla="*/ 25 h 25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4" h="25"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1"/>
                    </a:lnTo>
                    <a:lnTo>
                      <a:pt x="3" y="3"/>
                    </a:lnTo>
                    <a:lnTo>
                      <a:pt x="1" y="5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1" y="19"/>
                    </a:lnTo>
                    <a:lnTo>
                      <a:pt x="3" y="22"/>
                    </a:lnTo>
                    <a:lnTo>
                      <a:pt x="4" y="22"/>
                    </a:lnTo>
                    <a:lnTo>
                      <a:pt x="7" y="23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3"/>
                    </a:lnTo>
                    <a:lnTo>
                      <a:pt x="18" y="23"/>
                    </a:lnTo>
                    <a:lnTo>
                      <a:pt x="20" y="22"/>
                    </a:lnTo>
                    <a:lnTo>
                      <a:pt x="21" y="19"/>
                    </a:lnTo>
                    <a:lnTo>
                      <a:pt x="23" y="17"/>
                    </a:lnTo>
                    <a:lnTo>
                      <a:pt x="23" y="16"/>
                    </a:lnTo>
                    <a:lnTo>
                      <a:pt x="24" y="12"/>
                    </a:lnTo>
                    <a:lnTo>
                      <a:pt x="23" y="9"/>
                    </a:lnTo>
                    <a:lnTo>
                      <a:pt x="23" y="8"/>
                    </a:lnTo>
                    <a:lnTo>
                      <a:pt x="21" y="5"/>
                    </a:lnTo>
                    <a:lnTo>
                      <a:pt x="20" y="3"/>
                    </a:lnTo>
                    <a:lnTo>
                      <a:pt x="18" y="1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82" name="Line 91"/>
              <p:cNvSpPr>
                <a:spLocks noChangeShapeType="1"/>
              </p:cNvSpPr>
              <p:nvPr/>
            </p:nvSpPr>
            <p:spPr bwMode="auto">
              <a:xfrm>
                <a:off x="3877" y="1280"/>
                <a:ext cx="29" cy="8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83" name="Freeform 92"/>
              <p:cNvSpPr>
                <a:spLocks/>
              </p:cNvSpPr>
              <p:nvPr/>
            </p:nvSpPr>
            <p:spPr bwMode="auto">
              <a:xfrm>
                <a:off x="4974" y="1321"/>
                <a:ext cx="25" cy="26"/>
              </a:xfrm>
              <a:custGeom>
                <a:avLst/>
                <a:gdLst>
                  <a:gd name="T0" fmla="*/ 0 w 50"/>
                  <a:gd name="T1" fmla="*/ 1 h 50"/>
                  <a:gd name="T2" fmla="*/ 1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1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2" y="20"/>
                    </a:lnTo>
                    <a:lnTo>
                      <a:pt x="3" y="16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1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1" y="0"/>
                    </a:lnTo>
                    <a:lnTo>
                      <a:pt x="36" y="1"/>
                    </a:lnTo>
                    <a:lnTo>
                      <a:pt x="39" y="5"/>
                    </a:lnTo>
                    <a:lnTo>
                      <a:pt x="44" y="8"/>
                    </a:lnTo>
                    <a:lnTo>
                      <a:pt x="47" y="11"/>
                    </a:lnTo>
                    <a:lnTo>
                      <a:pt x="48" y="16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4"/>
                    </a:lnTo>
                    <a:lnTo>
                      <a:pt x="47" y="39"/>
                    </a:lnTo>
                    <a:lnTo>
                      <a:pt x="44" y="42"/>
                    </a:lnTo>
                    <a:lnTo>
                      <a:pt x="39" y="45"/>
                    </a:lnTo>
                    <a:lnTo>
                      <a:pt x="36" y="49"/>
                    </a:lnTo>
                    <a:lnTo>
                      <a:pt x="31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6" y="49"/>
                    </a:lnTo>
                    <a:lnTo>
                      <a:pt x="11" y="45"/>
                    </a:lnTo>
                    <a:lnTo>
                      <a:pt x="8" y="42"/>
                    </a:lnTo>
                    <a:lnTo>
                      <a:pt x="5" y="39"/>
                    </a:lnTo>
                    <a:lnTo>
                      <a:pt x="3" y="34"/>
                    </a:lnTo>
                    <a:lnTo>
                      <a:pt x="2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84" name="Line 93"/>
              <p:cNvSpPr>
                <a:spLocks noChangeShapeType="1"/>
              </p:cNvSpPr>
              <p:nvPr/>
            </p:nvSpPr>
            <p:spPr bwMode="auto">
              <a:xfrm flipH="1" flipV="1">
                <a:off x="4230" y="1334"/>
                <a:ext cx="1" cy="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85" name="Freeform 94"/>
              <p:cNvSpPr>
                <a:spLocks/>
              </p:cNvSpPr>
              <p:nvPr/>
            </p:nvSpPr>
            <p:spPr bwMode="auto">
              <a:xfrm>
                <a:off x="4893" y="1333"/>
                <a:ext cx="253" cy="94"/>
              </a:xfrm>
              <a:custGeom>
                <a:avLst/>
                <a:gdLst>
                  <a:gd name="T0" fmla="*/ 8 w 506"/>
                  <a:gd name="T1" fmla="*/ 3 h 188"/>
                  <a:gd name="T2" fmla="*/ 8 w 506"/>
                  <a:gd name="T3" fmla="*/ 1 h 188"/>
                  <a:gd name="T4" fmla="*/ 0 w 506"/>
                  <a:gd name="T5" fmla="*/ 0 h 188"/>
                  <a:gd name="T6" fmla="*/ 0 60000 65536"/>
                  <a:gd name="T7" fmla="*/ 0 60000 65536"/>
                  <a:gd name="T8" fmla="*/ 0 60000 65536"/>
                  <a:gd name="T9" fmla="*/ 0 w 506"/>
                  <a:gd name="T10" fmla="*/ 0 h 188"/>
                  <a:gd name="T11" fmla="*/ 506 w 506"/>
                  <a:gd name="T12" fmla="*/ 188 h 1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06" h="188">
                    <a:moveTo>
                      <a:pt x="506" y="188"/>
                    </a:moveTo>
                    <a:lnTo>
                      <a:pt x="506" y="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86" name="Line 95"/>
              <p:cNvSpPr>
                <a:spLocks noChangeShapeType="1"/>
              </p:cNvSpPr>
              <p:nvPr/>
            </p:nvSpPr>
            <p:spPr bwMode="auto">
              <a:xfrm flipH="1" flipV="1">
                <a:off x="4986" y="1333"/>
                <a:ext cx="1" cy="2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87" name="Freeform 96"/>
              <p:cNvSpPr>
                <a:spLocks/>
              </p:cNvSpPr>
              <p:nvPr/>
            </p:nvSpPr>
            <p:spPr bwMode="auto">
              <a:xfrm>
                <a:off x="4696" y="1304"/>
                <a:ext cx="197" cy="30"/>
              </a:xfrm>
              <a:custGeom>
                <a:avLst/>
                <a:gdLst>
                  <a:gd name="T0" fmla="*/ 0 w 395"/>
                  <a:gd name="T1" fmla="*/ 1 h 60"/>
                  <a:gd name="T2" fmla="*/ 0 w 395"/>
                  <a:gd name="T3" fmla="*/ 1 h 60"/>
                  <a:gd name="T4" fmla="*/ 0 w 395"/>
                  <a:gd name="T5" fmla="*/ 1 h 60"/>
                  <a:gd name="T6" fmla="*/ 0 w 395"/>
                  <a:gd name="T7" fmla="*/ 1 h 60"/>
                  <a:gd name="T8" fmla="*/ 0 w 395"/>
                  <a:gd name="T9" fmla="*/ 1 h 60"/>
                  <a:gd name="T10" fmla="*/ 0 w 395"/>
                  <a:gd name="T11" fmla="*/ 1 h 60"/>
                  <a:gd name="T12" fmla="*/ 0 w 395"/>
                  <a:gd name="T13" fmla="*/ 1 h 60"/>
                  <a:gd name="T14" fmla="*/ 0 w 395"/>
                  <a:gd name="T15" fmla="*/ 0 h 60"/>
                  <a:gd name="T16" fmla="*/ 0 w 395"/>
                  <a:gd name="T17" fmla="*/ 0 h 60"/>
                  <a:gd name="T18" fmla="*/ 1 w 395"/>
                  <a:gd name="T19" fmla="*/ 1 h 60"/>
                  <a:gd name="T20" fmla="*/ 1 w 395"/>
                  <a:gd name="T21" fmla="*/ 1 h 60"/>
                  <a:gd name="T22" fmla="*/ 1 w 395"/>
                  <a:gd name="T23" fmla="*/ 1 h 60"/>
                  <a:gd name="T24" fmla="*/ 1 w 395"/>
                  <a:gd name="T25" fmla="*/ 1 h 60"/>
                  <a:gd name="T26" fmla="*/ 1 w 395"/>
                  <a:gd name="T27" fmla="*/ 1 h 60"/>
                  <a:gd name="T28" fmla="*/ 1 w 395"/>
                  <a:gd name="T29" fmla="*/ 1 h 60"/>
                  <a:gd name="T30" fmla="*/ 1 w 395"/>
                  <a:gd name="T31" fmla="*/ 1 h 60"/>
                  <a:gd name="T32" fmla="*/ 1 w 395"/>
                  <a:gd name="T33" fmla="*/ 1 h 60"/>
                  <a:gd name="T34" fmla="*/ 1 w 395"/>
                  <a:gd name="T35" fmla="*/ 1 h 60"/>
                  <a:gd name="T36" fmla="*/ 1 w 395"/>
                  <a:gd name="T37" fmla="*/ 1 h 60"/>
                  <a:gd name="T38" fmla="*/ 1 w 395"/>
                  <a:gd name="T39" fmla="*/ 1 h 60"/>
                  <a:gd name="T40" fmla="*/ 1 w 395"/>
                  <a:gd name="T41" fmla="*/ 1 h 60"/>
                  <a:gd name="T42" fmla="*/ 2 w 395"/>
                  <a:gd name="T43" fmla="*/ 1 h 60"/>
                  <a:gd name="T44" fmla="*/ 2 w 395"/>
                  <a:gd name="T45" fmla="*/ 0 h 60"/>
                  <a:gd name="T46" fmla="*/ 2 w 395"/>
                  <a:gd name="T47" fmla="*/ 0 h 60"/>
                  <a:gd name="T48" fmla="*/ 2 w 395"/>
                  <a:gd name="T49" fmla="*/ 1 h 60"/>
                  <a:gd name="T50" fmla="*/ 2 w 395"/>
                  <a:gd name="T51" fmla="*/ 1 h 60"/>
                  <a:gd name="T52" fmla="*/ 2 w 395"/>
                  <a:gd name="T53" fmla="*/ 1 h 60"/>
                  <a:gd name="T54" fmla="*/ 2 w 395"/>
                  <a:gd name="T55" fmla="*/ 1 h 60"/>
                  <a:gd name="T56" fmla="*/ 3 w 395"/>
                  <a:gd name="T57" fmla="*/ 1 h 60"/>
                  <a:gd name="T58" fmla="*/ 3 w 395"/>
                  <a:gd name="T59" fmla="*/ 1 h 60"/>
                  <a:gd name="T60" fmla="*/ 3 w 395"/>
                  <a:gd name="T61" fmla="*/ 1 h 60"/>
                  <a:gd name="T62" fmla="*/ 3 w 395"/>
                  <a:gd name="T63" fmla="*/ 1 h 60"/>
                  <a:gd name="T64" fmla="*/ 3 w 395"/>
                  <a:gd name="T65" fmla="*/ 1 h 60"/>
                  <a:gd name="T66" fmla="*/ 3 w 395"/>
                  <a:gd name="T67" fmla="*/ 1 h 60"/>
                  <a:gd name="T68" fmla="*/ 3 w 395"/>
                  <a:gd name="T69" fmla="*/ 1 h 60"/>
                  <a:gd name="T70" fmla="*/ 3 w 395"/>
                  <a:gd name="T71" fmla="*/ 1 h 60"/>
                  <a:gd name="T72" fmla="*/ 3 w 395"/>
                  <a:gd name="T73" fmla="*/ 1 h 60"/>
                  <a:gd name="T74" fmla="*/ 3 w 395"/>
                  <a:gd name="T75" fmla="*/ 1 h 60"/>
                  <a:gd name="T76" fmla="*/ 3 w 395"/>
                  <a:gd name="T77" fmla="*/ 0 h 60"/>
                  <a:gd name="T78" fmla="*/ 3 w 395"/>
                  <a:gd name="T79" fmla="*/ 0 h 60"/>
                  <a:gd name="T80" fmla="*/ 4 w 395"/>
                  <a:gd name="T81" fmla="*/ 1 h 60"/>
                  <a:gd name="T82" fmla="*/ 4 w 395"/>
                  <a:gd name="T83" fmla="*/ 1 h 60"/>
                  <a:gd name="T84" fmla="*/ 4 w 395"/>
                  <a:gd name="T85" fmla="*/ 1 h 60"/>
                  <a:gd name="T86" fmla="*/ 4 w 395"/>
                  <a:gd name="T87" fmla="*/ 1 h 60"/>
                  <a:gd name="T88" fmla="*/ 4 w 395"/>
                  <a:gd name="T89" fmla="*/ 1 h 60"/>
                  <a:gd name="T90" fmla="*/ 4 w 395"/>
                  <a:gd name="T91" fmla="*/ 1 h 60"/>
                  <a:gd name="T92" fmla="*/ 4 w 395"/>
                  <a:gd name="T93" fmla="*/ 1 h 60"/>
                  <a:gd name="T94" fmla="*/ 4 w 395"/>
                  <a:gd name="T95" fmla="*/ 1 h 60"/>
                  <a:gd name="T96" fmla="*/ 4 w 395"/>
                  <a:gd name="T97" fmla="*/ 1 h 60"/>
                  <a:gd name="T98" fmla="*/ 4 w 395"/>
                  <a:gd name="T99" fmla="*/ 1 h 60"/>
                  <a:gd name="T100" fmla="*/ 4 w 395"/>
                  <a:gd name="T101" fmla="*/ 1 h 60"/>
                  <a:gd name="T102" fmla="*/ 5 w 395"/>
                  <a:gd name="T103" fmla="*/ 1 h 60"/>
                  <a:gd name="T104" fmla="*/ 5 w 395"/>
                  <a:gd name="T105" fmla="*/ 1 h 60"/>
                  <a:gd name="T106" fmla="*/ 5 w 395"/>
                  <a:gd name="T107" fmla="*/ 0 h 60"/>
                  <a:gd name="T108" fmla="*/ 5 w 395"/>
                  <a:gd name="T109" fmla="*/ 0 h 60"/>
                  <a:gd name="T110" fmla="*/ 5 w 395"/>
                  <a:gd name="T111" fmla="*/ 1 h 60"/>
                  <a:gd name="T112" fmla="*/ 5 w 395"/>
                  <a:gd name="T113" fmla="*/ 1 h 60"/>
                  <a:gd name="T114" fmla="*/ 5 w 395"/>
                  <a:gd name="T115" fmla="*/ 1 h 60"/>
                  <a:gd name="T116" fmla="*/ 6 w 395"/>
                  <a:gd name="T117" fmla="*/ 1 h 60"/>
                  <a:gd name="T118" fmla="*/ 6 w 395"/>
                  <a:gd name="T119" fmla="*/ 1 h 60"/>
                  <a:gd name="T120" fmla="*/ 6 w 395"/>
                  <a:gd name="T121" fmla="*/ 1 h 60"/>
                  <a:gd name="T122" fmla="*/ 6 w 395"/>
                  <a:gd name="T123" fmla="*/ 1 h 6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395"/>
                  <a:gd name="T187" fmla="*/ 0 h 60"/>
                  <a:gd name="T188" fmla="*/ 395 w 395"/>
                  <a:gd name="T189" fmla="*/ 60 h 60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395" h="60">
                    <a:moveTo>
                      <a:pt x="0" y="60"/>
                    </a:moveTo>
                    <a:lnTo>
                      <a:pt x="0" y="54"/>
                    </a:lnTo>
                    <a:lnTo>
                      <a:pt x="0" y="49"/>
                    </a:lnTo>
                    <a:lnTo>
                      <a:pt x="2" y="43"/>
                    </a:lnTo>
                    <a:lnTo>
                      <a:pt x="3" y="38"/>
                    </a:lnTo>
                    <a:lnTo>
                      <a:pt x="5" y="33"/>
                    </a:lnTo>
                    <a:lnTo>
                      <a:pt x="6" y="27"/>
                    </a:lnTo>
                    <a:lnTo>
                      <a:pt x="13" y="19"/>
                    </a:lnTo>
                    <a:lnTo>
                      <a:pt x="16" y="14"/>
                    </a:lnTo>
                    <a:lnTo>
                      <a:pt x="20" y="11"/>
                    </a:lnTo>
                    <a:lnTo>
                      <a:pt x="24" y="8"/>
                    </a:lnTo>
                    <a:lnTo>
                      <a:pt x="28" y="5"/>
                    </a:lnTo>
                    <a:lnTo>
                      <a:pt x="33" y="3"/>
                    </a:lnTo>
                    <a:lnTo>
                      <a:pt x="38" y="2"/>
                    </a:lnTo>
                    <a:lnTo>
                      <a:pt x="42" y="0"/>
                    </a:lnTo>
                    <a:lnTo>
                      <a:pt x="47" y="0"/>
                    </a:lnTo>
                    <a:lnTo>
                      <a:pt x="52" y="0"/>
                    </a:lnTo>
                    <a:lnTo>
                      <a:pt x="58" y="0"/>
                    </a:lnTo>
                    <a:lnTo>
                      <a:pt x="62" y="2"/>
                    </a:lnTo>
                    <a:lnTo>
                      <a:pt x="67" y="3"/>
                    </a:lnTo>
                    <a:lnTo>
                      <a:pt x="70" y="7"/>
                    </a:lnTo>
                    <a:lnTo>
                      <a:pt x="75" y="10"/>
                    </a:lnTo>
                    <a:lnTo>
                      <a:pt x="80" y="13"/>
                    </a:lnTo>
                    <a:lnTo>
                      <a:pt x="83" y="16"/>
                    </a:lnTo>
                    <a:lnTo>
                      <a:pt x="89" y="24"/>
                    </a:lnTo>
                    <a:lnTo>
                      <a:pt x="92" y="29"/>
                    </a:lnTo>
                    <a:lnTo>
                      <a:pt x="94" y="33"/>
                    </a:lnTo>
                    <a:lnTo>
                      <a:pt x="95" y="38"/>
                    </a:lnTo>
                    <a:lnTo>
                      <a:pt x="97" y="44"/>
                    </a:lnTo>
                    <a:lnTo>
                      <a:pt x="98" y="51"/>
                    </a:lnTo>
                    <a:lnTo>
                      <a:pt x="98" y="55"/>
                    </a:lnTo>
                    <a:lnTo>
                      <a:pt x="98" y="60"/>
                    </a:lnTo>
                    <a:lnTo>
                      <a:pt x="98" y="54"/>
                    </a:lnTo>
                    <a:lnTo>
                      <a:pt x="100" y="49"/>
                    </a:lnTo>
                    <a:lnTo>
                      <a:pt x="100" y="43"/>
                    </a:lnTo>
                    <a:lnTo>
                      <a:pt x="101" y="38"/>
                    </a:lnTo>
                    <a:lnTo>
                      <a:pt x="103" y="33"/>
                    </a:lnTo>
                    <a:lnTo>
                      <a:pt x="106" y="27"/>
                    </a:lnTo>
                    <a:lnTo>
                      <a:pt x="112" y="19"/>
                    </a:lnTo>
                    <a:lnTo>
                      <a:pt x="115" y="14"/>
                    </a:lnTo>
                    <a:lnTo>
                      <a:pt x="118" y="11"/>
                    </a:lnTo>
                    <a:lnTo>
                      <a:pt x="123" y="8"/>
                    </a:lnTo>
                    <a:lnTo>
                      <a:pt x="126" y="5"/>
                    </a:lnTo>
                    <a:lnTo>
                      <a:pt x="131" y="3"/>
                    </a:lnTo>
                    <a:lnTo>
                      <a:pt x="136" y="2"/>
                    </a:lnTo>
                    <a:lnTo>
                      <a:pt x="140" y="0"/>
                    </a:lnTo>
                    <a:lnTo>
                      <a:pt x="146" y="0"/>
                    </a:lnTo>
                    <a:lnTo>
                      <a:pt x="151" y="0"/>
                    </a:lnTo>
                    <a:lnTo>
                      <a:pt x="156" y="0"/>
                    </a:lnTo>
                    <a:lnTo>
                      <a:pt x="160" y="2"/>
                    </a:lnTo>
                    <a:lnTo>
                      <a:pt x="165" y="3"/>
                    </a:lnTo>
                    <a:lnTo>
                      <a:pt x="170" y="7"/>
                    </a:lnTo>
                    <a:lnTo>
                      <a:pt x="174" y="10"/>
                    </a:lnTo>
                    <a:lnTo>
                      <a:pt x="178" y="13"/>
                    </a:lnTo>
                    <a:lnTo>
                      <a:pt x="181" y="16"/>
                    </a:lnTo>
                    <a:lnTo>
                      <a:pt x="188" y="24"/>
                    </a:lnTo>
                    <a:lnTo>
                      <a:pt x="190" y="29"/>
                    </a:lnTo>
                    <a:lnTo>
                      <a:pt x="193" y="33"/>
                    </a:lnTo>
                    <a:lnTo>
                      <a:pt x="195" y="38"/>
                    </a:lnTo>
                    <a:lnTo>
                      <a:pt x="196" y="44"/>
                    </a:lnTo>
                    <a:lnTo>
                      <a:pt x="196" y="51"/>
                    </a:lnTo>
                    <a:lnTo>
                      <a:pt x="198" y="55"/>
                    </a:lnTo>
                    <a:lnTo>
                      <a:pt x="198" y="60"/>
                    </a:lnTo>
                    <a:lnTo>
                      <a:pt x="198" y="54"/>
                    </a:lnTo>
                    <a:lnTo>
                      <a:pt x="198" y="49"/>
                    </a:lnTo>
                    <a:lnTo>
                      <a:pt x="199" y="43"/>
                    </a:lnTo>
                    <a:lnTo>
                      <a:pt x="201" y="38"/>
                    </a:lnTo>
                    <a:lnTo>
                      <a:pt x="202" y="33"/>
                    </a:lnTo>
                    <a:lnTo>
                      <a:pt x="204" y="27"/>
                    </a:lnTo>
                    <a:lnTo>
                      <a:pt x="210" y="19"/>
                    </a:lnTo>
                    <a:lnTo>
                      <a:pt x="213" y="14"/>
                    </a:lnTo>
                    <a:lnTo>
                      <a:pt x="218" y="11"/>
                    </a:lnTo>
                    <a:lnTo>
                      <a:pt x="221" y="8"/>
                    </a:lnTo>
                    <a:lnTo>
                      <a:pt x="226" y="5"/>
                    </a:lnTo>
                    <a:lnTo>
                      <a:pt x="230" y="3"/>
                    </a:lnTo>
                    <a:lnTo>
                      <a:pt x="235" y="2"/>
                    </a:lnTo>
                    <a:lnTo>
                      <a:pt x="240" y="0"/>
                    </a:lnTo>
                    <a:lnTo>
                      <a:pt x="244" y="0"/>
                    </a:lnTo>
                    <a:lnTo>
                      <a:pt x="249" y="0"/>
                    </a:lnTo>
                    <a:lnTo>
                      <a:pt x="255" y="0"/>
                    </a:lnTo>
                    <a:lnTo>
                      <a:pt x="260" y="2"/>
                    </a:lnTo>
                    <a:lnTo>
                      <a:pt x="265" y="3"/>
                    </a:lnTo>
                    <a:lnTo>
                      <a:pt x="268" y="7"/>
                    </a:lnTo>
                    <a:lnTo>
                      <a:pt x="272" y="10"/>
                    </a:lnTo>
                    <a:lnTo>
                      <a:pt x="277" y="13"/>
                    </a:lnTo>
                    <a:lnTo>
                      <a:pt x="280" y="16"/>
                    </a:lnTo>
                    <a:lnTo>
                      <a:pt x="286" y="24"/>
                    </a:lnTo>
                    <a:lnTo>
                      <a:pt x="290" y="29"/>
                    </a:lnTo>
                    <a:lnTo>
                      <a:pt x="291" y="33"/>
                    </a:lnTo>
                    <a:lnTo>
                      <a:pt x="293" y="38"/>
                    </a:lnTo>
                    <a:lnTo>
                      <a:pt x="294" y="44"/>
                    </a:lnTo>
                    <a:lnTo>
                      <a:pt x="296" y="51"/>
                    </a:lnTo>
                    <a:lnTo>
                      <a:pt x="296" y="55"/>
                    </a:lnTo>
                    <a:lnTo>
                      <a:pt x="296" y="60"/>
                    </a:lnTo>
                    <a:lnTo>
                      <a:pt x="296" y="54"/>
                    </a:lnTo>
                    <a:lnTo>
                      <a:pt x="297" y="49"/>
                    </a:lnTo>
                    <a:lnTo>
                      <a:pt x="297" y="43"/>
                    </a:lnTo>
                    <a:lnTo>
                      <a:pt x="299" y="38"/>
                    </a:lnTo>
                    <a:lnTo>
                      <a:pt x="300" y="33"/>
                    </a:lnTo>
                    <a:lnTo>
                      <a:pt x="304" y="27"/>
                    </a:lnTo>
                    <a:lnTo>
                      <a:pt x="310" y="19"/>
                    </a:lnTo>
                    <a:lnTo>
                      <a:pt x="313" y="14"/>
                    </a:lnTo>
                    <a:lnTo>
                      <a:pt x="316" y="11"/>
                    </a:lnTo>
                    <a:lnTo>
                      <a:pt x="321" y="8"/>
                    </a:lnTo>
                    <a:lnTo>
                      <a:pt x="324" y="5"/>
                    </a:lnTo>
                    <a:lnTo>
                      <a:pt x="328" y="3"/>
                    </a:lnTo>
                    <a:lnTo>
                      <a:pt x="333" y="2"/>
                    </a:lnTo>
                    <a:lnTo>
                      <a:pt x="338" y="0"/>
                    </a:lnTo>
                    <a:lnTo>
                      <a:pt x="344" y="0"/>
                    </a:lnTo>
                    <a:lnTo>
                      <a:pt x="349" y="0"/>
                    </a:lnTo>
                    <a:lnTo>
                      <a:pt x="353" y="0"/>
                    </a:lnTo>
                    <a:lnTo>
                      <a:pt x="358" y="2"/>
                    </a:lnTo>
                    <a:lnTo>
                      <a:pt x="363" y="3"/>
                    </a:lnTo>
                    <a:lnTo>
                      <a:pt x="367" y="7"/>
                    </a:lnTo>
                    <a:lnTo>
                      <a:pt x="372" y="10"/>
                    </a:lnTo>
                    <a:lnTo>
                      <a:pt x="375" y="13"/>
                    </a:lnTo>
                    <a:lnTo>
                      <a:pt x="380" y="16"/>
                    </a:lnTo>
                    <a:lnTo>
                      <a:pt x="386" y="24"/>
                    </a:lnTo>
                    <a:lnTo>
                      <a:pt x="388" y="29"/>
                    </a:lnTo>
                    <a:lnTo>
                      <a:pt x="391" y="33"/>
                    </a:lnTo>
                    <a:lnTo>
                      <a:pt x="392" y="38"/>
                    </a:lnTo>
                    <a:lnTo>
                      <a:pt x="394" y="44"/>
                    </a:lnTo>
                    <a:lnTo>
                      <a:pt x="394" y="51"/>
                    </a:lnTo>
                    <a:lnTo>
                      <a:pt x="395" y="55"/>
                    </a:lnTo>
                    <a:lnTo>
                      <a:pt x="395" y="6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88" name="Rectangle 97"/>
              <p:cNvSpPr>
                <a:spLocks noChangeArrowheads="1"/>
              </p:cNvSpPr>
              <p:nvPr/>
            </p:nvSpPr>
            <p:spPr bwMode="auto">
              <a:xfrm>
                <a:off x="4416" y="1233"/>
                <a:ext cx="28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7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endParaRPr lang="en-US" altLang="zh-CN"/>
              </a:p>
            </p:txBody>
          </p:sp>
          <p:sp>
            <p:nvSpPr>
              <p:cNvPr id="80989" name="Rectangle 98"/>
              <p:cNvSpPr>
                <a:spLocks noChangeArrowheads="1"/>
              </p:cNvSpPr>
              <p:nvPr/>
            </p:nvSpPr>
            <p:spPr bwMode="auto">
              <a:xfrm>
                <a:off x="4367" y="1197"/>
                <a:ext cx="58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  <a:endParaRPr lang="en-US" altLang="zh-CN"/>
              </a:p>
            </p:txBody>
          </p:sp>
          <p:sp>
            <p:nvSpPr>
              <p:cNvPr id="80990" name="Rectangle 99"/>
              <p:cNvSpPr>
                <a:spLocks noChangeArrowheads="1"/>
              </p:cNvSpPr>
              <p:nvPr/>
            </p:nvSpPr>
            <p:spPr bwMode="auto">
              <a:xfrm>
                <a:off x="4416" y="1792"/>
                <a:ext cx="28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7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US" altLang="zh-CN"/>
              </a:p>
            </p:txBody>
          </p:sp>
          <p:sp>
            <p:nvSpPr>
              <p:cNvPr id="80991" name="Rectangle 100"/>
              <p:cNvSpPr>
                <a:spLocks noChangeArrowheads="1"/>
              </p:cNvSpPr>
              <p:nvPr/>
            </p:nvSpPr>
            <p:spPr bwMode="auto">
              <a:xfrm>
                <a:off x="4360" y="1753"/>
                <a:ext cx="58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  <a:endParaRPr lang="en-US" altLang="zh-CN"/>
              </a:p>
            </p:txBody>
          </p:sp>
          <p:sp>
            <p:nvSpPr>
              <p:cNvPr id="80992" name="Rectangle 101"/>
              <p:cNvSpPr>
                <a:spLocks noChangeArrowheads="1"/>
              </p:cNvSpPr>
              <p:nvPr/>
            </p:nvSpPr>
            <p:spPr bwMode="auto">
              <a:xfrm>
                <a:off x="4784" y="1329"/>
                <a:ext cx="48" cy="11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200" i="1">
                    <a:solidFill>
                      <a:srgbClr val="000000"/>
                    </a:solidFill>
                    <a:latin typeface="宋体" pitchFamily="2" charset="-122"/>
                  </a:rPr>
                  <a:t>L</a:t>
                </a:r>
                <a:endParaRPr lang="en-US" altLang="zh-CN" sz="1200"/>
              </a:p>
            </p:txBody>
          </p:sp>
          <p:sp>
            <p:nvSpPr>
              <p:cNvPr id="80993" name="Freeform 102"/>
              <p:cNvSpPr>
                <a:spLocks noEditPoints="1"/>
              </p:cNvSpPr>
              <p:nvPr/>
            </p:nvSpPr>
            <p:spPr bwMode="auto">
              <a:xfrm>
                <a:off x="3870" y="1867"/>
                <a:ext cx="13" cy="113"/>
              </a:xfrm>
              <a:custGeom>
                <a:avLst/>
                <a:gdLst>
                  <a:gd name="T0" fmla="*/ 1 w 25"/>
                  <a:gd name="T1" fmla="*/ 4 h 225"/>
                  <a:gd name="T2" fmla="*/ 1 w 25"/>
                  <a:gd name="T3" fmla="*/ 4 h 225"/>
                  <a:gd name="T4" fmla="*/ 1 w 25"/>
                  <a:gd name="T5" fmla="*/ 4 h 225"/>
                  <a:gd name="T6" fmla="*/ 0 w 25"/>
                  <a:gd name="T7" fmla="*/ 4 h 225"/>
                  <a:gd name="T8" fmla="*/ 0 w 25"/>
                  <a:gd name="T9" fmla="*/ 4 h 225"/>
                  <a:gd name="T10" fmla="*/ 1 w 25"/>
                  <a:gd name="T11" fmla="*/ 4 h 225"/>
                  <a:gd name="T12" fmla="*/ 1 w 25"/>
                  <a:gd name="T13" fmla="*/ 4 h 225"/>
                  <a:gd name="T14" fmla="*/ 1 w 25"/>
                  <a:gd name="T15" fmla="*/ 4 h 225"/>
                  <a:gd name="T16" fmla="*/ 1 w 25"/>
                  <a:gd name="T17" fmla="*/ 4 h 225"/>
                  <a:gd name="T18" fmla="*/ 1 w 25"/>
                  <a:gd name="T19" fmla="*/ 4 h 225"/>
                  <a:gd name="T20" fmla="*/ 1 w 25"/>
                  <a:gd name="T21" fmla="*/ 4 h 225"/>
                  <a:gd name="T22" fmla="*/ 1 w 25"/>
                  <a:gd name="T23" fmla="*/ 4 h 225"/>
                  <a:gd name="T24" fmla="*/ 1 w 25"/>
                  <a:gd name="T25" fmla="*/ 4 h 225"/>
                  <a:gd name="T26" fmla="*/ 1 w 25"/>
                  <a:gd name="T27" fmla="*/ 4 h 225"/>
                  <a:gd name="T28" fmla="*/ 1 w 25"/>
                  <a:gd name="T29" fmla="*/ 4 h 225"/>
                  <a:gd name="T30" fmla="*/ 1 w 25"/>
                  <a:gd name="T31" fmla="*/ 4 h 225"/>
                  <a:gd name="T32" fmla="*/ 1 w 25"/>
                  <a:gd name="T33" fmla="*/ 4 h 225"/>
                  <a:gd name="T34" fmla="*/ 1 w 25"/>
                  <a:gd name="T35" fmla="*/ 4 h 225"/>
                  <a:gd name="T36" fmla="*/ 1 w 25"/>
                  <a:gd name="T37" fmla="*/ 0 h 225"/>
                  <a:gd name="T38" fmla="*/ 1 w 25"/>
                  <a:gd name="T39" fmla="*/ 1 h 225"/>
                  <a:gd name="T40" fmla="*/ 1 w 25"/>
                  <a:gd name="T41" fmla="*/ 1 h 225"/>
                  <a:gd name="T42" fmla="*/ 0 w 25"/>
                  <a:gd name="T43" fmla="*/ 1 h 225"/>
                  <a:gd name="T44" fmla="*/ 0 w 25"/>
                  <a:gd name="T45" fmla="*/ 1 h 225"/>
                  <a:gd name="T46" fmla="*/ 1 w 25"/>
                  <a:gd name="T47" fmla="*/ 1 h 225"/>
                  <a:gd name="T48" fmla="*/ 1 w 25"/>
                  <a:gd name="T49" fmla="*/ 1 h 225"/>
                  <a:gd name="T50" fmla="*/ 1 w 25"/>
                  <a:gd name="T51" fmla="*/ 1 h 225"/>
                  <a:gd name="T52" fmla="*/ 1 w 25"/>
                  <a:gd name="T53" fmla="*/ 1 h 225"/>
                  <a:gd name="T54" fmla="*/ 1 w 25"/>
                  <a:gd name="T55" fmla="*/ 1 h 225"/>
                  <a:gd name="T56" fmla="*/ 1 w 25"/>
                  <a:gd name="T57" fmla="*/ 1 h 225"/>
                  <a:gd name="T58" fmla="*/ 1 w 25"/>
                  <a:gd name="T59" fmla="*/ 1 h 225"/>
                  <a:gd name="T60" fmla="*/ 1 w 25"/>
                  <a:gd name="T61" fmla="*/ 1 h 225"/>
                  <a:gd name="T62" fmla="*/ 1 w 25"/>
                  <a:gd name="T63" fmla="*/ 1 h 225"/>
                  <a:gd name="T64" fmla="*/ 1 w 25"/>
                  <a:gd name="T65" fmla="*/ 1 h 225"/>
                  <a:gd name="T66" fmla="*/ 1 w 25"/>
                  <a:gd name="T67" fmla="*/ 1 h 225"/>
                  <a:gd name="T68" fmla="*/ 1 w 25"/>
                  <a:gd name="T69" fmla="*/ 0 h 225"/>
                  <a:gd name="T70" fmla="*/ 1 w 25"/>
                  <a:gd name="T71" fmla="*/ 0 h 225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5"/>
                  <a:gd name="T109" fmla="*/ 0 h 225"/>
                  <a:gd name="T110" fmla="*/ 25 w 25"/>
                  <a:gd name="T111" fmla="*/ 225 h 225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5" h="225">
                    <a:moveTo>
                      <a:pt x="12" y="200"/>
                    </a:moveTo>
                    <a:lnTo>
                      <a:pt x="9" y="200"/>
                    </a:lnTo>
                    <a:lnTo>
                      <a:pt x="7" y="201"/>
                    </a:lnTo>
                    <a:lnTo>
                      <a:pt x="4" y="203"/>
                    </a:lnTo>
                    <a:lnTo>
                      <a:pt x="3" y="204"/>
                    </a:lnTo>
                    <a:lnTo>
                      <a:pt x="1" y="206"/>
                    </a:lnTo>
                    <a:lnTo>
                      <a:pt x="1" y="207"/>
                    </a:lnTo>
                    <a:lnTo>
                      <a:pt x="0" y="211"/>
                    </a:lnTo>
                    <a:lnTo>
                      <a:pt x="0" y="212"/>
                    </a:lnTo>
                    <a:lnTo>
                      <a:pt x="0" y="215"/>
                    </a:lnTo>
                    <a:lnTo>
                      <a:pt x="1" y="217"/>
                    </a:lnTo>
                    <a:lnTo>
                      <a:pt x="1" y="220"/>
                    </a:lnTo>
                    <a:lnTo>
                      <a:pt x="3" y="222"/>
                    </a:lnTo>
                    <a:lnTo>
                      <a:pt x="4" y="223"/>
                    </a:lnTo>
                    <a:lnTo>
                      <a:pt x="7" y="223"/>
                    </a:lnTo>
                    <a:lnTo>
                      <a:pt x="9" y="225"/>
                    </a:lnTo>
                    <a:lnTo>
                      <a:pt x="12" y="225"/>
                    </a:lnTo>
                    <a:lnTo>
                      <a:pt x="14" y="225"/>
                    </a:lnTo>
                    <a:lnTo>
                      <a:pt x="17" y="223"/>
                    </a:lnTo>
                    <a:lnTo>
                      <a:pt x="18" y="223"/>
                    </a:lnTo>
                    <a:lnTo>
                      <a:pt x="20" y="222"/>
                    </a:lnTo>
                    <a:lnTo>
                      <a:pt x="21" y="220"/>
                    </a:lnTo>
                    <a:lnTo>
                      <a:pt x="23" y="217"/>
                    </a:lnTo>
                    <a:lnTo>
                      <a:pt x="25" y="215"/>
                    </a:lnTo>
                    <a:lnTo>
                      <a:pt x="25" y="212"/>
                    </a:lnTo>
                    <a:lnTo>
                      <a:pt x="25" y="211"/>
                    </a:lnTo>
                    <a:lnTo>
                      <a:pt x="23" y="207"/>
                    </a:lnTo>
                    <a:lnTo>
                      <a:pt x="21" y="206"/>
                    </a:lnTo>
                    <a:lnTo>
                      <a:pt x="21" y="204"/>
                    </a:lnTo>
                    <a:lnTo>
                      <a:pt x="18" y="203"/>
                    </a:lnTo>
                    <a:lnTo>
                      <a:pt x="17" y="201"/>
                    </a:lnTo>
                    <a:lnTo>
                      <a:pt x="14" y="200"/>
                    </a:lnTo>
                    <a:lnTo>
                      <a:pt x="12" y="200"/>
                    </a:lnTo>
                    <a:close/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3"/>
                    </a:lnTo>
                    <a:lnTo>
                      <a:pt x="3" y="5"/>
                    </a:lnTo>
                    <a:lnTo>
                      <a:pt x="1" y="6"/>
                    </a:lnTo>
                    <a:lnTo>
                      <a:pt x="1" y="8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1" y="17"/>
                    </a:lnTo>
                    <a:lnTo>
                      <a:pt x="1" y="20"/>
                    </a:lnTo>
                    <a:lnTo>
                      <a:pt x="3" y="22"/>
                    </a:lnTo>
                    <a:lnTo>
                      <a:pt x="4" y="23"/>
                    </a:lnTo>
                    <a:lnTo>
                      <a:pt x="7" y="25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5"/>
                    </a:lnTo>
                    <a:lnTo>
                      <a:pt x="18" y="23"/>
                    </a:lnTo>
                    <a:lnTo>
                      <a:pt x="20" y="22"/>
                    </a:lnTo>
                    <a:lnTo>
                      <a:pt x="21" y="20"/>
                    </a:lnTo>
                    <a:lnTo>
                      <a:pt x="23" y="17"/>
                    </a:lnTo>
                    <a:lnTo>
                      <a:pt x="25" y="16"/>
                    </a:lnTo>
                    <a:lnTo>
                      <a:pt x="25" y="12"/>
                    </a:lnTo>
                    <a:lnTo>
                      <a:pt x="25" y="11"/>
                    </a:lnTo>
                    <a:lnTo>
                      <a:pt x="23" y="8"/>
                    </a:lnTo>
                    <a:lnTo>
                      <a:pt x="21" y="6"/>
                    </a:lnTo>
                    <a:lnTo>
                      <a:pt x="21" y="5"/>
                    </a:lnTo>
                    <a:lnTo>
                      <a:pt x="18" y="3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94" name="Freeform 103"/>
              <p:cNvSpPr>
                <a:spLocks/>
              </p:cNvSpPr>
              <p:nvPr/>
            </p:nvSpPr>
            <p:spPr bwMode="auto">
              <a:xfrm>
                <a:off x="3870" y="1967"/>
                <a:ext cx="13" cy="13"/>
              </a:xfrm>
              <a:custGeom>
                <a:avLst/>
                <a:gdLst>
                  <a:gd name="T0" fmla="*/ 1 w 25"/>
                  <a:gd name="T1" fmla="*/ 0 h 25"/>
                  <a:gd name="T2" fmla="*/ 1 w 25"/>
                  <a:gd name="T3" fmla="*/ 0 h 25"/>
                  <a:gd name="T4" fmla="*/ 1 w 25"/>
                  <a:gd name="T5" fmla="*/ 1 h 25"/>
                  <a:gd name="T6" fmla="*/ 1 w 25"/>
                  <a:gd name="T7" fmla="*/ 1 h 25"/>
                  <a:gd name="T8" fmla="*/ 1 w 25"/>
                  <a:gd name="T9" fmla="*/ 1 h 25"/>
                  <a:gd name="T10" fmla="*/ 1 w 25"/>
                  <a:gd name="T11" fmla="*/ 1 h 25"/>
                  <a:gd name="T12" fmla="*/ 1 w 25"/>
                  <a:gd name="T13" fmla="*/ 1 h 25"/>
                  <a:gd name="T14" fmla="*/ 0 w 25"/>
                  <a:gd name="T15" fmla="*/ 1 h 25"/>
                  <a:gd name="T16" fmla="*/ 0 w 25"/>
                  <a:gd name="T17" fmla="*/ 1 h 25"/>
                  <a:gd name="T18" fmla="*/ 0 w 25"/>
                  <a:gd name="T19" fmla="*/ 1 h 25"/>
                  <a:gd name="T20" fmla="*/ 1 w 25"/>
                  <a:gd name="T21" fmla="*/ 1 h 25"/>
                  <a:gd name="T22" fmla="*/ 1 w 25"/>
                  <a:gd name="T23" fmla="*/ 1 h 25"/>
                  <a:gd name="T24" fmla="*/ 1 w 25"/>
                  <a:gd name="T25" fmla="*/ 1 h 25"/>
                  <a:gd name="T26" fmla="*/ 1 w 25"/>
                  <a:gd name="T27" fmla="*/ 1 h 25"/>
                  <a:gd name="T28" fmla="*/ 1 w 25"/>
                  <a:gd name="T29" fmla="*/ 1 h 25"/>
                  <a:gd name="T30" fmla="*/ 1 w 25"/>
                  <a:gd name="T31" fmla="*/ 1 h 25"/>
                  <a:gd name="T32" fmla="*/ 1 w 25"/>
                  <a:gd name="T33" fmla="*/ 1 h 25"/>
                  <a:gd name="T34" fmla="*/ 1 w 25"/>
                  <a:gd name="T35" fmla="*/ 1 h 25"/>
                  <a:gd name="T36" fmla="*/ 1 w 25"/>
                  <a:gd name="T37" fmla="*/ 1 h 25"/>
                  <a:gd name="T38" fmla="*/ 1 w 25"/>
                  <a:gd name="T39" fmla="*/ 1 h 25"/>
                  <a:gd name="T40" fmla="*/ 1 w 25"/>
                  <a:gd name="T41" fmla="*/ 1 h 25"/>
                  <a:gd name="T42" fmla="*/ 1 w 25"/>
                  <a:gd name="T43" fmla="*/ 1 h 25"/>
                  <a:gd name="T44" fmla="*/ 1 w 25"/>
                  <a:gd name="T45" fmla="*/ 1 h 25"/>
                  <a:gd name="T46" fmla="*/ 1 w 25"/>
                  <a:gd name="T47" fmla="*/ 1 h 25"/>
                  <a:gd name="T48" fmla="*/ 1 w 25"/>
                  <a:gd name="T49" fmla="*/ 1 h 25"/>
                  <a:gd name="T50" fmla="*/ 1 w 25"/>
                  <a:gd name="T51" fmla="*/ 1 h 25"/>
                  <a:gd name="T52" fmla="*/ 1 w 25"/>
                  <a:gd name="T53" fmla="*/ 1 h 25"/>
                  <a:gd name="T54" fmla="*/ 1 w 25"/>
                  <a:gd name="T55" fmla="*/ 1 h 25"/>
                  <a:gd name="T56" fmla="*/ 1 w 25"/>
                  <a:gd name="T57" fmla="*/ 1 h 25"/>
                  <a:gd name="T58" fmla="*/ 1 w 25"/>
                  <a:gd name="T59" fmla="*/ 1 h 25"/>
                  <a:gd name="T60" fmla="*/ 1 w 25"/>
                  <a:gd name="T61" fmla="*/ 1 h 25"/>
                  <a:gd name="T62" fmla="*/ 1 w 25"/>
                  <a:gd name="T63" fmla="*/ 1 h 25"/>
                  <a:gd name="T64" fmla="*/ 1 w 25"/>
                  <a:gd name="T65" fmla="*/ 0 h 25"/>
                  <a:gd name="T66" fmla="*/ 1 w 25"/>
                  <a:gd name="T67" fmla="*/ 0 h 25"/>
                  <a:gd name="T68" fmla="*/ 1 w 25"/>
                  <a:gd name="T69" fmla="*/ 0 h 2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5"/>
                  <a:gd name="T106" fmla="*/ 0 h 25"/>
                  <a:gd name="T107" fmla="*/ 25 w 25"/>
                  <a:gd name="T108" fmla="*/ 25 h 25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5" h="25"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3"/>
                    </a:lnTo>
                    <a:lnTo>
                      <a:pt x="3" y="4"/>
                    </a:lnTo>
                    <a:lnTo>
                      <a:pt x="1" y="6"/>
                    </a:lnTo>
                    <a:lnTo>
                      <a:pt x="1" y="7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1" y="17"/>
                    </a:lnTo>
                    <a:lnTo>
                      <a:pt x="1" y="20"/>
                    </a:lnTo>
                    <a:lnTo>
                      <a:pt x="3" y="22"/>
                    </a:lnTo>
                    <a:lnTo>
                      <a:pt x="4" y="23"/>
                    </a:lnTo>
                    <a:lnTo>
                      <a:pt x="7" y="23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3"/>
                    </a:lnTo>
                    <a:lnTo>
                      <a:pt x="18" y="23"/>
                    </a:lnTo>
                    <a:lnTo>
                      <a:pt x="20" y="22"/>
                    </a:lnTo>
                    <a:lnTo>
                      <a:pt x="21" y="20"/>
                    </a:lnTo>
                    <a:lnTo>
                      <a:pt x="23" y="17"/>
                    </a:lnTo>
                    <a:lnTo>
                      <a:pt x="25" y="15"/>
                    </a:lnTo>
                    <a:lnTo>
                      <a:pt x="25" y="12"/>
                    </a:lnTo>
                    <a:lnTo>
                      <a:pt x="25" y="11"/>
                    </a:lnTo>
                    <a:lnTo>
                      <a:pt x="23" y="7"/>
                    </a:lnTo>
                    <a:lnTo>
                      <a:pt x="21" y="6"/>
                    </a:lnTo>
                    <a:lnTo>
                      <a:pt x="21" y="4"/>
                    </a:lnTo>
                    <a:lnTo>
                      <a:pt x="18" y="3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95" name="Freeform 104"/>
              <p:cNvSpPr>
                <a:spLocks/>
              </p:cNvSpPr>
              <p:nvPr/>
            </p:nvSpPr>
            <p:spPr bwMode="auto">
              <a:xfrm>
                <a:off x="3870" y="1867"/>
                <a:ext cx="13" cy="13"/>
              </a:xfrm>
              <a:custGeom>
                <a:avLst/>
                <a:gdLst>
                  <a:gd name="T0" fmla="*/ 1 w 25"/>
                  <a:gd name="T1" fmla="*/ 0 h 25"/>
                  <a:gd name="T2" fmla="*/ 1 w 25"/>
                  <a:gd name="T3" fmla="*/ 0 h 25"/>
                  <a:gd name="T4" fmla="*/ 1 w 25"/>
                  <a:gd name="T5" fmla="*/ 1 h 25"/>
                  <a:gd name="T6" fmla="*/ 1 w 25"/>
                  <a:gd name="T7" fmla="*/ 1 h 25"/>
                  <a:gd name="T8" fmla="*/ 1 w 25"/>
                  <a:gd name="T9" fmla="*/ 1 h 25"/>
                  <a:gd name="T10" fmla="*/ 1 w 25"/>
                  <a:gd name="T11" fmla="*/ 1 h 25"/>
                  <a:gd name="T12" fmla="*/ 1 w 25"/>
                  <a:gd name="T13" fmla="*/ 1 h 25"/>
                  <a:gd name="T14" fmla="*/ 0 w 25"/>
                  <a:gd name="T15" fmla="*/ 1 h 25"/>
                  <a:gd name="T16" fmla="*/ 0 w 25"/>
                  <a:gd name="T17" fmla="*/ 1 h 25"/>
                  <a:gd name="T18" fmla="*/ 0 w 25"/>
                  <a:gd name="T19" fmla="*/ 1 h 25"/>
                  <a:gd name="T20" fmla="*/ 1 w 25"/>
                  <a:gd name="T21" fmla="*/ 1 h 25"/>
                  <a:gd name="T22" fmla="*/ 1 w 25"/>
                  <a:gd name="T23" fmla="*/ 1 h 25"/>
                  <a:gd name="T24" fmla="*/ 1 w 25"/>
                  <a:gd name="T25" fmla="*/ 1 h 25"/>
                  <a:gd name="T26" fmla="*/ 1 w 25"/>
                  <a:gd name="T27" fmla="*/ 1 h 25"/>
                  <a:gd name="T28" fmla="*/ 1 w 25"/>
                  <a:gd name="T29" fmla="*/ 1 h 25"/>
                  <a:gd name="T30" fmla="*/ 1 w 25"/>
                  <a:gd name="T31" fmla="*/ 1 h 25"/>
                  <a:gd name="T32" fmla="*/ 1 w 25"/>
                  <a:gd name="T33" fmla="*/ 1 h 25"/>
                  <a:gd name="T34" fmla="*/ 1 w 25"/>
                  <a:gd name="T35" fmla="*/ 1 h 25"/>
                  <a:gd name="T36" fmla="*/ 1 w 25"/>
                  <a:gd name="T37" fmla="*/ 1 h 25"/>
                  <a:gd name="T38" fmla="*/ 1 w 25"/>
                  <a:gd name="T39" fmla="*/ 1 h 25"/>
                  <a:gd name="T40" fmla="*/ 1 w 25"/>
                  <a:gd name="T41" fmla="*/ 1 h 25"/>
                  <a:gd name="T42" fmla="*/ 1 w 25"/>
                  <a:gd name="T43" fmla="*/ 1 h 25"/>
                  <a:gd name="T44" fmla="*/ 1 w 25"/>
                  <a:gd name="T45" fmla="*/ 1 h 25"/>
                  <a:gd name="T46" fmla="*/ 1 w 25"/>
                  <a:gd name="T47" fmla="*/ 1 h 25"/>
                  <a:gd name="T48" fmla="*/ 1 w 25"/>
                  <a:gd name="T49" fmla="*/ 1 h 25"/>
                  <a:gd name="T50" fmla="*/ 1 w 25"/>
                  <a:gd name="T51" fmla="*/ 1 h 25"/>
                  <a:gd name="T52" fmla="*/ 1 w 25"/>
                  <a:gd name="T53" fmla="*/ 1 h 25"/>
                  <a:gd name="T54" fmla="*/ 1 w 25"/>
                  <a:gd name="T55" fmla="*/ 1 h 25"/>
                  <a:gd name="T56" fmla="*/ 1 w 25"/>
                  <a:gd name="T57" fmla="*/ 1 h 25"/>
                  <a:gd name="T58" fmla="*/ 1 w 25"/>
                  <a:gd name="T59" fmla="*/ 1 h 25"/>
                  <a:gd name="T60" fmla="*/ 1 w 25"/>
                  <a:gd name="T61" fmla="*/ 1 h 25"/>
                  <a:gd name="T62" fmla="*/ 1 w 25"/>
                  <a:gd name="T63" fmla="*/ 1 h 25"/>
                  <a:gd name="T64" fmla="*/ 1 w 25"/>
                  <a:gd name="T65" fmla="*/ 0 h 25"/>
                  <a:gd name="T66" fmla="*/ 1 w 25"/>
                  <a:gd name="T67" fmla="*/ 0 h 25"/>
                  <a:gd name="T68" fmla="*/ 1 w 25"/>
                  <a:gd name="T69" fmla="*/ 0 h 2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5"/>
                  <a:gd name="T106" fmla="*/ 0 h 25"/>
                  <a:gd name="T107" fmla="*/ 25 w 25"/>
                  <a:gd name="T108" fmla="*/ 25 h 25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5" h="25">
                    <a:moveTo>
                      <a:pt x="12" y="0"/>
                    </a:moveTo>
                    <a:lnTo>
                      <a:pt x="9" y="0"/>
                    </a:lnTo>
                    <a:lnTo>
                      <a:pt x="7" y="1"/>
                    </a:lnTo>
                    <a:lnTo>
                      <a:pt x="4" y="3"/>
                    </a:lnTo>
                    <a:lnTo>
                      <a:pt x="3" y="5"/>
                    </a:lnTo>
                    <a:lnTo>
                      <a:pt x="1" y="6"/>
                    </a:lnTo>
                    <a:lnTo>
                      <a:pt x="1" y="8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1" y="17"/>
                    </a:lnTo>
                    <a:lnTo>
                      <a:pt x="1" y="20"/>
                    </a:lnTo>
                    <a:lnTo>
                      <a:pt x="3" y="22"/>
                    </a:lnTo>
                    <a:lnTo>
                      <a:pt x="4" y="23"/>
                    </a:lnTo>
                    <a:lnTo>
                      <a:pt x="7" y="25"/>
                    </a:lnTo>
                    <a:lnTo>
                      <a:pt x="9" y="25"/>
                    </a:lnTo>
                    <a:lnTo>
                      <a:pt x="12" y="25"/>
                    </a:lnTo>
                    <a:lnTo>
                      <a:pt x="14" y="25"/>
                    </a:lnTo>
                    <a:lnTo>
                      <a:pt x="17" y="25"/>
                    </a:lnTo>
                    <a:lnTo>
                      <a:pt x="18" y="23"/>
                    </a:lnTo>
                    <a:lnTo>
                      <a:pt x="20" y="22"/>
                    </a:lnTo>
                    <a:lnTo>
                      <a:pt x="21" y="20"/>
                    </a:lnTo>
                    <a:lnTo>
                      <a:pt x="23" y="17"/>
                    </a:lnTo>
                    <a:lnTo>
                      <a:pt x="25" y="16"/>
                    </a:lnTo>
                    <a:lnTo>
                      <a:pt x="25" y="12"/>
                    </a:lnTo>
                    <a:lnTo>
                      <a:pt x="25" y="11"/>
                    </a:lnTo>
                    <a:lnTo>
                      <a:pt x="23" y="8"/>
                    </a:lnTo>
                    <a:lnTo>
                      <a:pt x="21" y="6"/>
                    </a:lnTo>
                    <a:lnTo>
                      <a:pt x="21" y="5"/>
                    </a:lnTo>
                    <a:lnTo>
                      <a:pt x="18" y="3"/>
                    </a:lnTo>
                    <a:lnTo>
                      <a:pt x="17" y="1"/>
                    </a:lnTo>
                    <a:lnTo>
                      <a:pt x="14" y="0"/>
                    </a:lnTo>
                    <a:lnTo>
                      <a:pt x="1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96" name="Line 105"/>
              <p:cNvSpPr>
                <a:spLocks noChangeShapeType="1"/>
              </p:cNvSpPr>
              <p:nvPr/>
            </p:nvSpPr>
            <p:spPr bwMode="auto">
              <a:xfrm>
                <a:off x="3879" y="1880"/>
                <a:ext cx="29" cy="8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97" name="Freeform 106"/>
              <p:cNvSpPr>
                <a:spLocks/>
              </p:cNvSpPr>
              <p:nvPr/>
            </p:nvSpPr>
            <p:spPr bwMode="auto">
              <a:xfrm>
                <a:off x="4200" y="1614"/>
                <a:ext cx="30" cy="200"/>
              </a:xfrm>
              <a:custGeom>
                <a:avLst/>
                <a:gdLst>
                  <a:gd name="T0" fmla="*/ 1 w 59"/>
                  <a:gd name="T1" fmla="*/ 0 h 400"/>
                  <a:gd name="T2" fmla="*/ 1 w 59"/>
                  <a:gd name="T3" fmla="*/ 1 h 400"/>
                  <a:gd name="T4" fmla="*/ 1 w 59"/>
                  <a:gd name="T5" fmla="*/ 1 h 400"/>
                  <a:gd name="T6" fmla="*/ 1 w 59"/>
                  <a:gd name="T7" fmla="*/ 1 h 400"/>
                  <a:gd name="T8" fmla="*/ 1 w 59"/>
                  <a:gd name="T9" fmla="*/ 1 h 400"/>
                  <a:gd name="T10" fmla="*/ 1 w 59"/>
                  <a:gd name="T11" fmla="*/ 1 h 400"/>
                  <a:gd name="T12" fmla="*/ 1 w 59"/>
                  <a:gd name="T13" fmla="*/ 1 h 400"/>
                  <a:gd name="T14" fmla="*/ 0 w 59"/>
                  <a:gd name="T15" fmla="*/ 1 h 400"/>
                  <a:gd name="T16" fmla="*/ 1 w 59"/>
                  <a:gd name="T17" fmla="*/ 1 h 400"/>
                  <a:gd name="T18" fmla="*/ 1 w 59"/>
                  <a:gd name="T19" fmla="*/ 2 h 400"/>
                  <a:gd name="T20" fmla="*/ 1 w 59"/>
                  <a:gd name="T21" fmla="*/ 2 h 400"/>
                  <a:gd name="T22" fmla="*/ 1 w 59"/>
                  <a:gd name="T23" fmla="*/ 2 h 400"/>
                  <a:gd name="T24" fmla="*/ 1 w 59"/>
                  <a:gd name="T25" fmla="*/ 2 h 400"/>
                  <a:gd name="T26" fmla="*/ 1 w 59"/>
                  <a:gd name="T27" fmla="*/ 2 h 400"/>
                  <a:gd name="T28" fmla="*/ 1 w 59"/>
                  <a:gd name="T29" fmla="*/ 2 h 400"/>
                  <a:gd name="T30" fmla="*/ 1 w 59"/>
                  <a:gd name="T31" fmla="*/ 2 h 400"/>
                  <a:gd name="T32" fmla="*/ 1 w 59"/>
                  <a:gd name="T33" fmla="*/ 2 h 400"/>
                  <a:gd name="T34" fmla="*/ 1 w 59"/>
                  <a:gd name="T35" fmla="*/ 2 h 400"/>
                  <a:gd name="T36" fmla="*/ 1 w 59"/>
                  <a:gd name="T37" fmla="*/ 2 h 400"/>
                  <a:gd name="T38" fmla="*/ 1 w 59"/>
                  <a:gd name="T39" fmla="*/ 2 h 400"/>
                  <a:gd name="T40" fmla="*/ 1 w 59"/>
                  <a:gd name="T41" fmla="*/ 2 h 400"/>
                  <a:gd name="T42" fmla="*/ 1 w 59"/>
                  <a:gd name="T43" fmla="*/ 3 h 400"/>
                  <a:gd name="T44" fmla="*/ 0 w 59"/>
                  <a:gd name="T45" fmla="*/ 3 h 400"/>
                  <a:gd name="T46" fmla="*/ 0 w 59"/>
                  <a:gd name="T47" fmla="*/ 3 h 400"/>
                  <a:gd name="T48" fmla="*/ 1 w 59"/>
                  <a:gd name="T49" fmla="*/ 3 h 400"/>
                  <a:gd name="T50" fmla="*/ 1 w 59"/>
                  <a:gd name="T51" fmla="*/ 3 h 400"/>
                  <a:gd name="T52" fmla="*/ 1 w 59"/>
                  <a:gd name="T53" fmla="*/ 3 h 400"/>
                  <a:gd name="T54" fmla="*/ 1 w 59"/>
                  <a:gd name="T55" fmla="*/ 3 h 400"/>
                  <a:gd name="T56" fmla="*/ 1 w 59"/>
                  <a:gd name="T57" fmla="*/ 4 h 400"/>
                  <a:gd name="T58" fmla="*/ 1 w 59"/>
                  <a:gd name="T59" fmla="*/ 4 h 400"/>
                  <a:gd name="T60" fmla="*/ 1 w 59"/>
                  <a:gd name="T61" fmla="*/ 4 h 400"/>
                  <a:gd name="T62" fmla="*/ 1 w 59"/>
                  <a:gd name="T63" fmla="*/ 4 h 400"/>
                  <a:gd name="T64" fmla="*/ 1 w 59"/>
                  <a:gd name="T65" fmla="*/ 4 h 400"/>
                  <a:gd name="T66" fmla="*/ 1 w 59"/>
                  <a:gd name="T67" fmla="*/ 4 h 400"/>
                  <a:gd name="T68" fmla="*/ 1 w 59"/>
                  <a:gd name="T69" fmla="*/ 4 h 400"/>
                  <a:gd name="T70" fmla="*/ 1 w 59"/>
                  <a:gd name="T71" fmla="*/ 4 h 400"/>
                  <a:gd name="T72" fmla="*/ 1 w 59"/>
                  <a:gd name="T73" fmla="*/ 4 h 400"/>
                  <a:gd name="T74" fmla="*/ 1 w 59"/>
                  <a:gd name="T75" fmla="*/ 4 h 400"/>
                  <a:gd name="T76" fmla="*/ 0 w 59"/>
                  <a:gd name="T77" fmla="*/ 4 h 400"/>
                  <a:gd name="T78" fmla="*/ 1 w 59"/>
                  <a:gd name="T79" fmla="*/ 5 h 400"/>
                  <a:gd name="T80" fmla="*/ 1 w 59"/>
                  <a:gd name="T81" fmla="*/ 5 h 400"/>
                  <a:gd name="T82" fmla="*/ 1 w 59"/>
                  <a:gd name="T83" fmla="*/ 5 h 400"/>
                  <a:gd name="T84" fmla="*/ 1 w 59"/>
                  <a:gd name="T85" fmla="*/ 5 h 400"/>
                  <a:gd name="T86" fmla="*/ 1 w 59"/>
                  <a:gd name="T87" fmla="*/ 5 h 400"/>
                  <a:gd name="T88" fmla="*/ 1 w 59"/>
                  <a:gd name="T89" fmla="*/ 5 h 400"/>
                  <a:gd name="T90" fmla="*/ 1 w 59"/>
                  <a:gd name="T91" fmla="*/ 5 h 400"/>
                  <a:gd name="T92" fmla="*/ 1 w 59"/>
                  <a:gd name="T93" fmla="*/ 5 h 400"/>
                  <a:gd name="T94" fmla="*/ 1 w 59"/>
                  <a:gd name="T95" fmla="*/ 5 h 400"/>
                  <a:gd name="T96" fmla="*/ 1 w 59"/>
                  <a:gd name="T97" fmla="*/ 5 h 400"/>
                  <a:gd name="T98" fmla="*/ 1 w 59"/>
                  <a:gd name="T99" fmla="*/ 5 h 400"/>
                  <a:gd name="T100" fmla="*/ 1 w 59"/>
                  <a:gd name="T101" fmla="*/ 5 h 400"/>
                  <a:gd name="T102" fmla="*/ 1 w 59"/>
                  <a:gd name="T103" fmla="*/ 6 h 400"/>
                  <a:gd name="T104" fmla="*/ 1 w 59"/>
                  <a:gd name="T105" fmla="*/ 6 h 400"/>
                  <a:gd name="T106" fmla="*/ 0 w 59"/>
                  <a:gd name="T107" fmla="*/ 6 h 400"/>
                  <a:gd name="T108" fmla="*/ 0 w 59"/>
                  <a:gd name="T109" fmla="*/ 6 h 400"/>
                  <a:gd name="T110" fmla="*/ 1 w 59"/>
                  <a:gd name="T111" fmla="*/ 6 h 400"/>
                  <a:gd name="T112" fmla="*/ 1 w 59"/>
                  <a:gd name="T113" fmla="*/ 6 h 400"/>
                  <a:gd name="T114" fmla="*/ 1 w 59"/>
                  <a:gd name="T115" fmla="*/ 6 h 400"/>
                  <a:gd name="T116" fmla="*/ 1 w 59"/>
                  <a:gd name="T117" fmla="*/ 7 h 400"/>
                  <a:gd name="T118" fmla="*/ 1 w 59"/>
                  <a:gd name="T119" fmla="*/ 7 h 400"/>
                  <a:gd name="T120" fmla="*/ 1 w 59"/>
                  <a:gd name="T121" fmla="*/ 7 h 400"/>
                  <a:gd name="T122" fmla="*/ 1 w 59"/>
                  <a:gd name="T123" fmla="*/ 7 h 40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59"/>
                  <a:gd name="T187" fmla="*/ 0 h 400"/>
                  <a:gd name="T188" fmla="*/ 59 w 59"/>
                  <a:gd name="T189" fmla="*/ 400 h 400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59" h="400">
                    <a:moveTo>
                      <a:pt x="59" y="0"/>
                    </a:moveTo>
                    <a:lnTo>
                      <a:pt x="53" y="0"/>
                    </a:lnTo>
                    <a:lnTo>
                      <a:pt x="49" y="0"/>
                    </a:lnTo>
                    <a:lnTo>
                      <a:pt x="42" y="2"/>
                    </a:lnTo>
                    <a:lnTo>
                      <a:pt x="38" y="3"/>
                    </a:lnTo>
                    <a:lnTo>
                      <a:pt x="33" y="5"/>
                    </a:lnTo>
                    <a:lnTo>
                      <a:pt x="28" y="8"/>
                    </a:lnTo>
                    <a:lnTo>
                      <a:pt x="19" y="13"/>
                    </a:lnTo>
                    <a:lnTo>
                      <a:pt x="14" y="16"/>
                    </a:lnTo>
                    <a:lnTo>
                      <a:pt x="11" y="21"/>
                    </a:lnTo>
                    <a:lnTo>
                      <a:pt x="8" y="24"/>
                    </a:lnTo>
                    <a:lnTo>
                      <a:pt x="7" y="28"/>
                    </a:lnTo>
                    <a:lnTo>
                      <a:pt x="3" y="33"/>
                    </a:lnTo>
                    <a:lnTo>
                      <a:pt x="2" y="38"/>
                    </a:lnTo>
                    <a:lnTo>
                      <a:pt x="0" y="43"/>
                    </a:lnTo>
                    <a:lnTo>
                      <a:pt x="0" y="47"/>
                    </a:lnTo>
                    <a:lnTo>
                      <a:pt x="0" y="54"/>
                    </a:lnTo>
                    <a:lnTo>
                      <a:pt x="2" y="58"/>
                    </a:lnTo>
                    <a:lnTo>
                      <a:pt x="2" y="63"/>
                    </a:lnTo>
                    <a:lnTo>
                      <a:pt x="3" y="68"/>
                    </a:lnTo>
                    <a:lnTo>
                      <a:pt x="7" y="73"/>
                    </a:lnTo>
                    <a:lnTo>
                      <a:pt x="10" y="76"/>
                    </a:lnTo>
                    <a:lnTo>
                      <a:pt x="13" y="80"/>
                    </a:lnTo>
                    <a:lnTo>
                      <a:pt x="16" y="84"/>
                    </a:lnTo>
                    <a:lnTo>
                      <a:pt x="24" y="90"/>
                    </a:lnTo>
                    <a:lnTo>
                      <a:pt x="28" y="93"/>
                    </a:lnTo>
                    <a:lnTo>
                      <a:pt x="33" y="95"/>
                    </a:lnTo>
                    <a:lnTo>
                      <a:pt x="38" y="98"/>
                    </a:lnTo>
                    <a:lnTo>
                      <a:pt x="44" y="99"/>
                    </a:lnTo>
                    <a:lnTo>
                      <a:pt x="50" y="99"/>
                    </a:lnTo>
                    <a:lnTo>
                      <a:pt x="55" y="99"/>
                    </a:lnTo>
                    <a:lnTo>
                      <a:pt x="59" y="99"/>
                    </a:lnTo>
                    <a:lnTo>
                      <a:pt x="53" y="99"/>
                    </a:lnTo>
                    <a:lnTo>
                      <a:pt x="49" y="101"/>
                    </a:lnTo>
                    <a:lnTo>
                      <a:pt x="42" y="101"/>
                    </a:lnTo>
                    <a:lnTo>
                      <a:pt x="38" y="102"/>
                    </a:lnTo>
                    <a:lnTo>
                      <a:pt x="33" y="106"/>
                    </a:lnTo>
                    <a:lnTo>
                      <a:pt x="28" y="107"/>
                    </a:lnTo>
                    <a:lnTo>
                      <a:pt x="19" y="113"/>
                    </a:lnTo>
                    <a:lnTo>
                      <a:pt x="14" y="117"/>
                    </a:lnTo>
                    <a:lnTo>
                      <a:pt x="11" y="120"/>
                    </a:lnTo>
                    <a:lnTo>
                      <a:pt x="8" y="124"/>
                    </a:lnTo>
                    <a:lnTo>
                      <a:pt x="7" y="129"/>
                    </a:lnTo>
                    <a:lnTo>
                      <a:pt x="3" y="134"/>
                    </a:lnTo>
                    <a:lnTo>
                      <a:pt x="2" y="139"/>
                    </a:lnTo>
                    <a:lnTo>
                      <a:pt x="0" y="143"/>
                    </a:lnTo>
                    <a:lnTo>
                      <a:pt x="0" y="148"/>
                    </a:lnTo>
                    <a:lnTo>
                      <a:pt x="0" y="153"/>
                    </a:lnTo>
                    <a:lnTo>
                      <a:pt x="2" y="157"/>
                    </a:lnTo>
                    <a:lnTo>
                      <a:pt x="2" y="162"/>
                    </a:lnTo>
                    <a:lnTo>
                      <a:pt x="3" y="167"/>
                    </a:lnTo>
                    <a:lnTo>
                      <a:pt x="7" y="172"/>
                    </a:lnTo>
                    <a:lnTo>
                      <a:pt x="10" y="176"/>
                    </a:lnTo>
                    <a:lnTo>
                      <a:pt x="13" y="180"/>
                    </a:lnTo>
                    <a:lnTo>
                      <a:pt x="16" y="184"/>
                    </a:lnTo>
                    <a:lnTo>
                      <a:pt x="24" y="191"/>
                    </a:lnTo>
                    <a:lnTo>
                      <a:pt x="28" y="192"/>
                    </a:lnTo>
                    <a:lnTo>
                      <a:pt x="33" y="195"/>
                    </a:lnTo>
                    <a:lnTo>
                      <a:pt x="38" y="197"/>
                    </a:lnTo>
                    <a:lnTo>
                      <a:pt x="44" y="198"/>
                    </a:lnTo>
                    <a:lnTo>
                      <a:pt x="50" y="200"/>
                    </a:lnTo>
                    <a:lnTo>
                      <a:pt x="55" y="200"/>
                    </a:lnTo>
                    <a:lnTo>
                      <a:pt x="59" y="200"/>
                    </a:lnTo>
                    <a:lnTo>
                      <a:pt x="53" y="200"/>
                    </a:lnTo>
                    <a:lnTo>
                      <a:pt x="49" y="200"/>
                    </a:lnTo>
                    <a:lnTo>
                      <a:pt x="42" y="202"/>
                    </a:lnTo>
                    <a:lnTo>
                      <a:pt x="38" y="203"/>
                    </a:lnTo>
                    <a:lnTo>
                      <a:pt x="33" y="205"/>
                    </a:lnTo>
                    <a:lnTo>
                      <a:pt x="28" y="208"/>
                    </a:lnTo>
                    <a:lnTo>
                      <a:pt x="19" y="213"/>
                    </a:lnTo>
                    <a:lnTo>
                      <a:pt x="14" y="216"/>
                    </a:lnTo>
                    <a:lnTo>
                      <a:pt x="11" y="220"/>
                    </a:lnTo>
                    <a:lnTo>
                      <a:pt x="8" y="224"/>
                    </a:lnTo>
                    <a:lnTo>
                      <a:pt x="7" y="228"/>
                    </a:lnTo>
                    <a:lnTo>
                      <a:pt x="3" y="233"/>
                    </a:lnTo>
                    <a:lnTo>
                      <a:pt x="2" y="238"/>
                    </a:lnTo>
                    <a:lnTo>
                      <a:pt x="0" y="242"/>
                    </a:lnTo>
                    <a:lnTo>
                      <a:pt x="0" y="247"/>
                    </a:lnTo>
                    <a:lnTo>
                      <a:pt x="0" y="253"/>
                    </a:lnTo>
                    <a:lnTo>
                      <a:pt x="2" y="258"/>
                    </a:lnTo>
                    <a:lnTo>
                      <a:pt x="2" y="263"/>
                    </a:lnTo>
                    <a:lnTo>
                      <a:pt x="3" y="268"/>
                    </a:lnTo>
                    <a:lnTo>
                      <a:pt x="7" y="272"/>
                    </a:lnTo>
                    <a:lnTo>
                      <a:pt x="10" y="276"/>
                    </a:lnTo>
                    <a:lnTo>
                      <a:pt x="13" y="280"/>
                    </a:lnTo>
                    <a:lnTo>
                      <a:pt x="16" y="283"/>
                    </a:lnTo>
                    <a:lnTo>
                      <a:pt x="24" y="290"/>
                    </a:lnTo>
                    <a:lnTo>
                      <a:pt x="28" y="293"/>
                    </a:lnTo>
                    <a:lnTo>
                      <a:pt x="33" y="294"/>
                    </a:lnTo>
                    <a:lnTo>
                      <a:pt x="38" y="298"/>
                    </a:lnTo>
                    <a:lnTo>
                      <a:pt x="44" y="299"/>
                    </a:lnTo>
                    <a:lnTo>
                      <a:pt x="50" y="299"/>
                    </a:lnTo>
                    <a:lnTo>
                      <a:pt x="55" y="299"/>
                    </a:lnTo>
                    <a:lnTo>
                      <a:pt x="59" y="299"/>
                    </a:lnTo>
                    <a:lnTo>
                      <a:pt x="53" y="301"/>
                    </a:lnTo>
                    <a:lnTo>
                      <a:pt x="49" y="301"/>
                    </a:lnTo>
                    <a:lnTo>
                      <a:pt x="42" y="302"/>
                    </a:lnTo>
                    <a:lnTo>
                      <a:pt x="38" y="302"/>
                    </a:lnTo>
                    <a:lnTo>
                      <a:pt x="33" y="305"/>
                    </a:lnTo>
                    <a:lnTo>
                      <a:pt x="28" y="307"/>
                    </a:lnTo>
                    <a:lnTo>
                      <a:pt x="19" y="313"/>
                    </a:lnTo>
                    <a:lnTo>
                      <a:pt x="14" y="316"/>
                    </a:lnTo>
                    <a:lnTo>
                      <a:pt x="11" y="320"/>
                    </a:lnTo>
                    <a:lnTo>
                      <a:pt x="8" y="324"/>
                    </a:lnTo>
                    <a:lnTo>
                      <a:pt x="7" y="329"/>
                    </a:lnTo>
                    <a:lnTo>
                      <a:pt x="3" y="334"/>
                    </a:lnTo>
                    <a:lnTo>
                      <a:pt x="2" y="338"/>
                    </a:lnTo>
                    <a:lnTo>
                      <a:pt x="0" y="343"/>
                    </a:lnTo>
                    <a:lnTo>
                      <a:pt x="0" y="348"/>
                    </a:lnTo>
                    <a:lnTo>
                      <a:pt x="0" y="353"/>
                    </a:lnTo>
                    <a:lnTo>
                      <a:pt x="2" y="357"/>
                    </a:lnTo>
                    <a:lnTo>
                      <a:pt x="2" y="362"/>
                    </a:lnTo>
                    <a:lnTo>
                      <a:pt x="3" y="367"/>
                    </a:lnTo>
                    <a:lnTo>
                      <a:pt x="7" y="371"/>
                    </a:lnTo>
                    <a:lnTo>
                      <a:pt x="10" y="376"/>
                    </a:lnTo>
                    <a:lnTo>
                      <a:pt x="13" y="379"/>
                    </a:lnTo>
                    <a:lnTo>
                      <a:pt x="16" y="384"/>
                    </a:lnTo>
                    <a:lnTo>
                      <a:pt x="24" y="390"/>
                    </a:lnTo>
                    <a:lnTo>
                      <a:pt x="28" y="394"/>
                    </a:lnTo>
                    <a:lnTo>
                      <a:pt x="33" y="395"/>
                    </a:lnTo>
                    <a:lnTo>
                      <a:pt x="38" y="397"/>
                    </a:lnTo>
                    <a:lnTo>
                      <a:pt x="44" y="398"/>
                    </a:lnTo>
                    <a:lnTo>
                      <a:pt x="50" y="400"/>
                    </a:lnTo>
                    <a:lnTo>
                      <a:pt x="55" y="400"/>
                    </a:lnTo>
                    <a:lnTo>
                      <a:pt x="59" y="40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98" name="Line 107"/>
              <p:cNvSpPr>
                <a:spLocks noChangeShapeType="1"/>
              </p:cNvSpPr>
              <p:nvPr/>
            </p:nvSpPr>
            <p:spPr bwMode="auto">
              <a:xfrm>
                <a:off x="4164" y="1619"/>
                <a:ext cx="1" cy="1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99" name="Line 108"/>
              <p:cNvSpPr>
                <a:spLocks noChangeShapeType="1"/>
              </p:cNvSpPr>
              <p:nvPr/>
            </p:nvSpPr>
            <p:spPr bwMode="auto">
              <a:xfrm flipV="1">
                <a:off x="4177" y="1619"/>
                <a:ext cx="1" cy="1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00" name="Freeform 109"/>
              <p:cNvSpPr>
                <a:spLocks/>
              </p:cNvSpPr>
              <p:nvPr/>
            </p:nvSpPr>
            <p:spPr bwMode="auto">
              <a:xfrm>
                <a:off x="4220" y="1621"/>
                <a:ext cx="24" cy="25"/>
              </a:xfrm>
              <a:custGeom>
                <a:avLst/>
                <a:gdLst>
                  <a:gd name="T0" fmla="*/ 0 w 50"/>
                  <a:gd name="T1" fmla="*/ 0 h 51"/>
                  <a:gd name="T2" fmla="*/ 0 w 50"/>
                  <a:gd name="T3" fmla="*/ 0 h 51"/>
                  <a:gd name="T4" fmla="*/ 0 w 50"/>
                  <a:gd name="T5" fmla="*/ 0 h 51"/>
                  <a:gd name="T6" fmla="*/ 0 w 50"/>
                  <a:gd name="T7" fmla="*/ 0 h 51"/>
                  <a:gd name="T8" fmla="*/ 0 w 50"/>
                  <a:gd name="T9" fmla="*/ 0 h 51"/>
                  <a:gd name="T10" fmla="*/ 0 w 50"/>
                  <a:gd name="T11" fmla="*/ 0 h 51"/>
                  <a:gd name="T12" fmla="*/ 0 w 50"/>
                  <a:gd name="T13" fmla="*/ 0 h 51"/>
                  <a:gd name="T14" fmla="*/ 0 w 50"/>
                  <a:gd name="T15" fmla="*/ 0 h 51"/>
                  <a:gd name="T16" fmla="*/ 0 w 50"/>
                  <a:gd name="T17" fmla="*/ 0 h 51"/>
                  <a:gd name="T18" fmla="*/ 0 w 50"/>
                  <a:gd name="T19" fmla="*/ 0 h 51"/>
                  <a:gd name="T20" fmla="*/ 0 w 50"/>
                  <a:gd name="T21" fmla="*/ 0 h 51"/>
                  <a:gd name="T22" fmla="*/ 0 w 50"/>
                  <a:gd name="T23" fmla="*/ 0 h 51"/>
                  <a:gd name="T24" fmla="*/ 0 w 50"/>
                  <a:gd name="T25" fmla="*/ 0 h 51"/>
                  <a:gd name="T26" fmla="*/ 0 w 50"/>
                  <a:gd name="T27" fmla="*/ 0 h 51"/>
                  <a:gd name="T28" fmla="*/ 0 w 50"/>
                  <a:gd name="T29" fmla="*/ 0 h 51"/>
                  <a:gd name="T30" fmla="*/ 0 w 50"/>
                  <a:gd name="T31" fmla="*/ 0 h 51"/>
                  <a:gd name="T32" fmla="*/ 0 w 50"/>
                  <a:gd name="T33" fmla="*/ 0 h 51"/>
                  <a:gd name="T34" fmla="*/ 0 w 50"/>
                  <a:gd name="T35" fmla="*/ 0 h 51"/>
                  <a:gd name="T36" fmla="*/ 0 w 50"/>
                  <a:gd name="T37" fmla="*/ 0 h 51"/>
                  <a:gd name="T38" fmla="*/ 0 w 50"/>
                  <a:gd name="T39" fmla="*/ 0 h 51"/>
                  <a:gd name="T40" fmla="*/ 0 w 50"/>
                  <a:gd name="T41" fmla="*/ 0 h 51"/>
                  <a:gd name="T42" fmla="*/ 0 w 50"/>
                  <a:gd name="T43" fmla="*/ 0 h 51"/>
                  <a:gd name="T44" fmla="*/ 0 w 50"/>
                  <a:gd name="T45" fmla="*/ 0 h 51"/>
                  <a:gd name="T46" fmla="*/ 0 w 50"/>
                  <a:gd name="T47" fmla="*/ 0 h 51"/>
                  <a:gd name="T48" fmla="*/ 0 w 50"/>
                  <a:gd name="T49" fmla="*/ 0 h 51"/>
                  <a:gd name="T50" fmla="*/ 0 w 50"/>
                  <a:gd name="T51" fmla="*/ 0 h 51"/>
                  <a:gd name="T52" fmla="*/ 0 w 50"/>
                  <a:gd name="T53" fmla="*/ 0 h 51"/>
                  <a:gd name="T54" fmla="*/ 0 w 50"/>
                  <a:gd name="T55" fmla="*/ 0 h 51"/>
                  <a:gd name="T56" fmla="*/ 0 w 50"/>
                  <a:gd name="T57" fmla="*/ 0 h 51"/>
                  <a:gd name="T58" fmla="*/ 0 w 50"/>
                  <a:gd name="T59" fmla="*/ 0 h 51"/>
                  <a:gd name="T60" fmla="*/ 0 w 50"/>
                  <a:gd name="T61" fmla="*/ 0 h 51"/>
                  <a:gd name="T62" fmla="*/ 0 w 50"/>
                  <a:gd name="T63" fmla="*/ 0 h 51"/>
                  <a:gd name="T64" fmla="*/ 0 w 50"/>
                  <a:gd name="T65" fmla="*/ 0 h 51"/>
                  <a:gd name="T66" fmla="*/ 0 w 50"/>
                  <a:gd name="T67" fmla="*/ 0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1"/>
                  <a:gd name="T104" fmla="*/ 50 w 50"/>
                  <a:gd name="T105" fmla="*/ 51 h 5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1">
                    <a:moveTo>
                      <a:pt x="0" y="25"/>
                    </a:moveTo>
                    <a:lnTo>
                      <a:pt x="2" y="21"/>
                    </a:lnTo>
                    <a:lnTo>
                      <a:pt x="3" y="16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3"/>
                    </a:lnTo>
                    <a:lnTo>
                      <a:pt x="20" y="2"/>
                    </a:lnTo>
                    <a:lnTo>
                      <a:pt x="25" y="0"/>
                    </a:lnTo>
                    <a:lnTo>
                      <a:pt x="31" y="2"/>
                    </a:lnTo>
                    <a:lnTo>
                      <a:pt x="36" y="3"/>
                    </a:lnTo>
                    <a:lnTo>
                      <a:pt x="39" y="5"/>
                    </a:lnTo>
                    <a:lnTo>
                      <a:pt x="44" y="8"/>
                    </a:lnTo>
                    <a:lnTo>
                      <a:pt x="47" y="11"/>
                    </a:lnTo>
                    <a:lnTo>
                      <a:pt x="48" y="16"/>
                    </a:lnTo>
                    <a:lnTo>
                      <a:pt x="50" y="21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7" y="40"/>
                    </a:lnTo>
                    <a:lnTo>
                      <a:pt x="44" y="44"/>
                    </a:lnTo>
                    <a:lnTo>
                      <a:pt x="39" y="48"/>
                    </a:lnTo>
                    <a:lnTo>
                      <a:pt x="36" y="49"/>
                    </a:lnTo>
                    <a:lnTo>
                      <a:pt x="31" y="51"/>
                    </a:lnTo>
                    <a:lnTo>
                      <a:pt x="25" y="51"/>
                    </a:lnTo>
                    <a:lnTo>
                      <a:pt x="20" y="51"/>
                    </a:lnTo>
                    <a:lnTo>
                      <a:pt x="16" y="49"/>
                    </a:lnTo>
                    <a:lnTo>
                      <a:pt x="11" y="48"/>
                    </a:lnTo>
                    <a:lnTo>
                      <a:pt x="8" y="44"/>
                    </a:lnTo>
                    <a:lnTo>
                      <a:pt x="5" y="40"/>
                    </a:lnTo>
                    <a:lnTo>
                      <a:pt x="3" y="35"/>
                    </a:lnTo>
                    <a:lnTo>
                      <a:pt x="2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01" name="Line 110"/>
              <p:cNvSpPr>
                <a:spLocks noChangeShapeType="1"/>
              </p:cNvSpPr>
              <p:nvPr/>
            </p:nvSpPr>
            <p:spPr bwMode="auto">
              <a:xfrm flipH="1">
                <a:off x="3875" y="1164"/>
                <a:ext cx="13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02" name="Freeform 111"/>
              <p:cNvSpPr>
                <a:spLocks/>
              </p:cNvSpPr>
              <p:nvPr/>
            </p:nvSpPr>
            <p:spPr bwMode="auto">
              <a:xfrm>
                <a:off x="3877" y="1974"/>
                <a:ext cx="157" cy="110"/>
              </a:xfrm>
              <a:custGeom>
                <a:avLst/>
                <a:gdLst>
                  <a:gd name="T0" fmla="*/ 4 w 316"/>
                  <a:gd name="T1" fmla="*/ 4 h 220"/>
                  <a:gd name="T2" fmla="*/ 0 w 316"/>
                  <a:gd name="T3" fmla="*/ 4 h 220"/>
                  <a:gd name="T4" fmla="*/ 0 w 316"/>
                  <a:gd name="T5" fmla="*/ 0 h 220"/>
                  <a:gd name="T6" fmla="*/ 0 60000 65536"/>
                  <a:gd name="T7" fmla="*/ 0 60000 65536"/>
                  <a:gd name="T8" fmla="*/ 0 60000 65536"/>
                  <a:gd name="T9" fmla="*/ 0 w 316"/>
                  <a:gd name="T10" fmla="*/ 0 h 220"/>
                  <a:gd name="T11" fmla="*/ 316 w 316"/>
                  <a:gd name="T12" fmla="*/ 220 h 2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6" h="220">
                    <a:moveTo>
                      <a:pt x="316" y="220"/>
                    </a:moveTo>
                    <a:lnTo>
                      <a:pt x="0" y="22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03" name="Line 112"/>
              <p:cNvSpPr>
                <a:spLocks noChangeShapeType="1"/>
              </p:cNvSpPr>
              <p:nvPr/>
            </p:nvSpPr>
            <p:spPr bwMode="auto">
              <a:xfrm flipH="1">
                <a:off x="3877" y="1764"/>
                <a:ext cx="157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04" name="Freeform 113"/>
              <p:cNvSpPr>
                <a:spLocks/>
              </p:cNvSpPr>
              <p:nvPr/>
            </p:nvSpPr>
            <p:spPr bwMode="auto">
              <a:xfrm>
                <a:off x="3864" y="1751"/>
                <a:ext cx="25" cy="25"/>
              </a:xfrm>
              <a:custGeom>
                <a:avLst/>
                <a:gdLst>
                  <a:gd name="T0" fmla="*/ 0 w 50"/>
                  <a:gd name="T1" fmla="*/ 1 h 50"/>
                  <a:gd name="T2" fmla="*/ 0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1 h 50"/>
                  <a:gd name="T16" fmla="*/ 1 w 50"/>
                  <a:gd name="T17" fmla="*/ 0 h 50"/>
                  <a:gd name="T18" fmla="*/ 1 w 50"/>
                  <a:gd name="T19" fmla="*/ 1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0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0" y="20"/>
                    </a:lnTo>
                    <a:lnTo>
                      <a:pt x="2" y="16"/>
                    </a:lnTo>
                    <a:lnTo>
                      <a:pt x="5" y="13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3"/>
                    </a:lnTo>
                    <a:lnTo>
                      <a:pt x="20" y="2"/>
                    </a:lnTo>
                    <a:lnTo>
                      <a:pt x="25" y="0"/>
                    </a:lnTo>
                    <a:lnTo>
                      <a:pt x="30" y="2"/>
                    </a:lnTo>
                    <a:lnTo>
                      <a:pt x="34" y="3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3"/>
                    </a:lnTo>
                    <a:lnTo>
                      <a:pt x="48" y="16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1"/>
                    </a:lnTo>
                    <a:lnTo>
                      <a:pt x="48" y="36"/>
                    </a:lnTo>
                    <a:lnTo>
                      <a:pt x="45" y="39"/>
                    </a:lnTo>
                    <a:lnTo>
                      <a:pt x="42" y="44"/>
                    </a:lnTo>
                    <a:lnTo>
                      <a:pt x="39" y="47"/>
                    </a:lnTo>
                    <a:lnTo>
                      <a:pt x="34" y="49"/>
                    </a:lnTo>
                    <a:lnTo>
                      <a:pt x="30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6" y="49"/>
                    </a:lnTo>
                    <a:lnTo>
                      <a:pt x="11" y="47"/>
                    </a:lnTo>
                    <a:lnTo>
                      <a:pt x="8" y="44"/>
                    </a:lnTo>
                    <a:lnTo>
                      <a:pt x="5" y="39"/>
                    </a:lnTo>
                    <a:lnTo>
                      <a:pt x="2" y="36"/>
                    </a:lnTo>
                    <a:lnTo>
                      <a:pt x="0" y="31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05" name="Freeform 114"/>
              <p:cNvSpPr>
                <a:spLocks/>
              </p:cNvSpPr>
              <p:nvPr/>
            </p:nvSpPr>
            <p:spPr bwMode="auto">
              <a:xfrm>
                <a:off x="3864" y="2071"/>
                <a:ext cx="25" cy="25"/>
              </a:xfrm>
              <a:custGeom>
                <a:avLst/>
                <a:gdLst>
                  <a:gd name="T0" fmla="*/ 0 w 50"/>
                  <a:gd name="T1" fmla="*/ 0 h 51"/>
                  <a:gd name="T2" fmla="*/ 0 w 50"/>
                  <a:gd name="T3" fmla="*/ 0 h 51"/>
                  <a:gd name="T4" fmla="*/ 1 w 50"/>
                  <a:gd name="T5" fmla="*/ 0 h 51"/>
                  <a:gd name="T6" fmla="*/ 1 w 50"/>
                  <a:gd name="T7" fmla="*/ 0 h 51"/>
                  <a:gd name="T8" fmla="*/ 1 w 50"/>
                  <a:gd name="T9" fmla="*/ 0 h 51"/>
                  <a:gd name="T10" fmla="*/ 1 w 50"/>
                  <a:gd name="T11" fmla="*/ 0 h 51"/>
                  <a:gd name="T12" fmla="*/ 1 w 50"/>
                  <a:gd name="T13" fmla="*/ 0 h 51"/>
                  <a:gd name="T14" fmla="*/ 1 w 50"/>
                  <a:gd name="T15" fmla="*/ 0 h 51"/>
                  <a:gd name="T16" fmla="*/ 1 w 50"/>
                  <a:gd name="T17" fmla="*/ 0 h 51"/>
                  <a:gd name="T18" fmla="*/ 1 w 50"/>
                  <a:gd name="T19" fmla="*/ 0 h 51"/>
                  <a:gd name="T20" fmla="*/ 1 w 50"/>
                  <a:gd name="T21" fmla="*/ 0 h 51"/>
                  <a:gd name="T22" fmla="*/ 1 w 50"/>
                  <a:gd name="T23" fmla="*/ 0 h 51"/>
                  <a:gd name="T24" fmla="*/ 1 w 50"/>
                  <a:gd name="T25" fmla="*/ 0 h 51"/>
                  <a:gd name="T26" fmla="*/ 1 w 50"/>
                  <a:gd name="T27" fmla="*/ 0 h 51"/>
                  <a:gd name="T28" fmla="*/ 1 w 50"/>
                  <a:gd name="T29" fmla="*/ 0 h 51"/>
                  <a:gd name="T30" fmla="*/ 1 w 50"/>
                  <a:gd name="T31" fmla="*/ 0 h 51"/>
                  <a:gd name="T32" fmla="*/ 1 w 50"/>
                  <a:gd name="T33" fmla="*/ 0 h 51"/>
                  <a:gd name="T34" fmla="*/ 1 w 50"/>
                  <a:gd name="T35" fmla="*/ 0 h 51"/>
                  <a:gd name="T36" fmla="*/ 1 w 50"/>
                  <a:gd name="T37" fmla="*/ 0 h 51"/>
                  <a:gd name="T38" fmla="*/ 1 w 50"/>
                  <a:gd name="T39" fmla="*/ 0 h 51"/>
                  <a:gd name="T40" fmla="*/ 1 w 50"/>
                  <a:gd name="T41" fmla="*/ 0 h 51"/>
                  <a:gd name="T42" fmla="*/ 1 w 50"/>
                  <a:gd name="T43" fmla="*/ 0 h 51"/>
                  <a:gd name="T44" fmla="*/ 1 w 50"/>
                  <a:gd name="T45" fmla="*/ 0 h 51"/>
                  <a:gd name="T46" fmla="*/ 1 w 50"/>
                  <a:gd name="T47" fmla="*/ 0 h 51"/>
                  <a:gd name="T48" fmla="*/ 1 w 50"/>
                  <a:gd name="T49" fmla="*/ 0 h 51"/>
                  <a:gd name="T50" fmla="*/ 1 w 50"/>
                  <a:gd name="T51" fmla="*/ 0 h 51"/>
                  <a:gd name="T52" fmla="*/ 1 w 50"/>
                  <a:gd name="T53" fmla="*/ 0 h 51"/>
                  <a:gd name="T54" fmla="*/ 1 w 50"/>
                  <a:gd name="T55" fmla="*/ 0 h 51"/>
                  <a:gd name="T56" fmla="*/ 1 w 50"/>
                  <a:gd name="T57" fmla="*/ 0 h 51"/>
                  <a:gd name="T58" fmla="*/ 1 w 50"/>
                  <a:gd name="T59" fmla="*/ 0 h 51"/>
                  <a:gd name="T60" fmla="*/ 1 w 50"/>
                  <a:gd name="T61" fmla="*/ 0 h 51"/>
                  <a:gd name="T62" fmla="*/ 1 w 50"/>
                  <a:gd name="T63" fmla="*/ 0 h 51"/>
                  <a:gd name="T64" fmla="*/ 0 w 50"/>
                  <a:gd name="T65" fmla="*/ 0 h 51"/>
                  <a:gd name="T66" fmla="*/ 0 w 50"/>
                  <a:gd name="T67" fmla="*/ 0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1"/>
                  <a:gd name="T104" fmla="*/ 50 w 50"/>
                  <a:gd name="T105" fmla="*/ 51 h 5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1">
                    <a:moveTo>
                      <a:pt x="0" y="25"/>
                    </a:moveTo>
                    <a:lnTo>
                      <a:pt x="0" y="21"/>
                    </a:lnTo>
                    <a:lnTo>
                      <a:pt x="2" y="16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0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1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40"/>
                    </a:lnTo>
                    <a:lnTo>
                      <a:pt x="42" y="43"/>
                    </a:lnTo>
                    <a:lnTo>
                      <a:pt x="39" y="46"/>
                    </a:lnTo>
                    <a:lnTo>
                      <a:pt x="34" y="49"/>
                    </a:lnTo>
                    <a:lnTo>
                      <a:pt x="30" y="51"/>
                    </a:lnTo>
                    <a:lnTo>
                      <a:pt x="25" y="51"/>
                    </a:lnTo>
                    <a:lnTo>
                      <a:pt x="20" y="51"/>
                    </a:lnTo>
                    <a:lnTo>
                      <a:pt x="16" y="49"/>
                    </a:lnTo>
                    <a:lnTo>
                      <a:pt x="11" y="46"/>
                    </a:lnTo>
                    <a:lnTo>
                      <a:pt x="8" y="43"/>
                    </a:lnTo>
                    <a:lnTo>
                      <a:pt x="5" y="40"/>
                    </a:lnTo>
                    <a:lnTo>
                      <a:pt x="2" y="35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06" name="Line 115"/>
              <p:cNvSpPr>
                <a:spLocks noChangeShapeType="1"/>
              </p:cNvSpPr>
              <p:nvPr/>
            </p:nvSpPr>
            <p:spPr bwMode="auto">
              <a:xfrm flipV="1">
                <a:off x="4230" y="1814"/>
                <a:ext cx="1" cy="8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07" name="Line 116"/>
              <p:cNvSpPr>
                <a:spLocks noChangeShapeType="1"/>
              </p:cNvSpPr>
              <p:nvPr/>
            </p:nvSpPr>
            <p:spPr bwMode="auto">
              <a:xfrm flipH="1" flipV="1">
                <a:off x="4546" y="1334"/>
                <a:ext cx="3" cy="56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08" name="Line 117"/>
              <p:cNvSpPr>
                <a:spLocks noChangeShapeType="1"/>
              </p:cNvSpPr>
              <p:nvPr/>
            </p:nvSpPr>
            <p:spPr bwMode="auto">
              <a:xfrm>
                <a:off x="4546" y="1334"/>
                <a:ext cx="150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09" name="Line 118"/>
              <p:cNvSpPr>
                <a:spLocks noChangeShapeType="1"/>
              </p:cNvSpPr>
              <p:nvPr/>
            </p:nvSpPr>
            <p:spPr bwMode="auto">
              <a:xfrm>
                <a:off x="5145" y="1527"/>
                <a:ext cx="1" cy="4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10" name="Freeform 119"/>
              <p:cNvSpPr>
                <a:spLocks/>
              </p:cNvSpPr>
              <p:nvPr/>
            </p:nvSpPr>
            <p:spPr bwMode="auto">
              <a:xfrm>
                <a:off x="4230" y="1614"/>
                <a:ext cx="911" cy="1"/>
              </a:xfrm>
              <a:custGeom>
                <a:avLst/>
                <a:gdLst>
                  <a:gd name="T0" fmla="*/ 0 w 1824"/>
                  <a:gd name="T1" fmla="*/ 0 h 1"/>
                  <a:gd name="T2" fmla="*/ 28 w 1824"/>
                  <a:gd name="T3" fmla="*/ 0 h 1"/>
                  <a:gd name="T4" fmla="*/ 28 w 182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824"/>
                  <a:gd name="T10" fmla="*/ 0 h 1"/>
                  <a:gd name="T11" fmla="*/ 1824 w 182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24" h="1">
                    <a:moveTo>
                      <a:pt x="0" y="0"/>
                    </a:moveTo>
                    <a:lnTo>
                      <a:pt x="1824" y="0"/>
                    </a:lnTo>
                    <a:lnTo>
                      <a:pt x="181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11" name="Line 120"/>
              <p:cNvSpPr>
                <a:spLocks noChangeShapeType="1"/>
              </p:cNvSpPr>
              <p:nvPr/>
            </p:nvSpPr>
            <p:spPr bwMode="auto">
              <a:xfrm>
                <a:off x="5145" y="1574"/>
                <a:ext cx="1" cy="4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12" name="Line 121"/>
              <p:cNvSpPr>
                <a:spLocks noChangeShapeType="1"/>
              </p:cNvSpPr>
              <p:nvPr/>
            </p:nvSpPr>
            <p:spPr bwMode="auto">
              <a:xfrm>
                <a:off x="4987" y="1574"/>
                <a:ext cx="1" cy="4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13" name="Freeform 122"/>
              <p:cNvSpPr>
                <a:spLocks/>
              </p:cNvSpPr>
              <p:nvPr/>
            </p:nvSpPr>
            <p:spPr bwMode="auto">
              <a:xfrm>
                <a:off x="4974" y="1601"/>
                <a:ext cx="25" cy="26"/>
              </a:xfrm>
              <a:custGeom>
                <a:avLst/>
                <a:gdLst>
                  <a:gd name="T0" fmla="*/ 0 w 50"/>
                  <a:gd name="T1" fmla="*/ 1 h 50"/>
                  <a:gd name="T2" fmla="*/ 1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1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2" y="20"/>
                    </a:lnTo>
                    <a:lnTo>
                      <a:pt x="3" y="16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1" y="0"/>
                    </a:lnTo>
                    <a:lnTo>
                      <a:pt x="36" y="2"/>
                    </a:lnTo>
                    <a:lnTo>
                      <a:pt x="39" y="5"/>
                    </a:lnTo>
                    <a:lnTo>
                      <a:pt x="44" y="8"/>
                    </a:lnTo>
                    <a:lnTo>
                      <a:pt x="47" y="11"/>
                    </a:lnTo>
                    <a:lnTo>
                      <a:pt x="48" y="16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7" y="39"/>
                    </a:lnTo>
                    <a:lnTo>
                      <a:pt x="44" y="42"/>
                    </a:lnTo>
                    <a:lnTo>
                      <a:pt x="39" y="46"/>
                    </a:lnTo>
                    <a:lnTo>
                      <a:pt x="36" y="49"/>
                    </a:lnTo>
                    <a:lnTo>
                      <a:pt x="31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6" y="49"/>
                    </a:lnTo>
                    <a:lnTo>
                      <a:pt x="11" y="46"/>
                    </a:lnTo>
                    <a:lnTo>
                      <a:pt x="8" y="42"/>
                    </a:lnTo>
                    <a:lnTo>
                      <a:pt x="5" y="39"/>
                    </a:lnTo>
                    <a:lnTo>
                      <a:pt x="3" y="35"/>
                    </a:lnTo>
                    <a:lnTo>
                      <a:pt x="2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14" name="Freeform 123"/>
              <p:cNvSpPr>
                <a:spLocks/>
              </p:cNvSpPr>
              <p:nvPr/>
            </p:nvSpPr>
            <p:spPr bwMode="auto">
              <a:xfrm>
                <a:off x="4534" y="1321"/>
                <a:ext cx="25" cy="26"/>
              </a:xfrm>
              <a:custGeom>
                <a:avLst/>
                <a:gdLst>
                  <a:gd name="T0" fmla="*/ 0 w 49"/>
                  <a:gd name="T1" fmla="*/ 1 h 50"/>
                  <a:gd name="T2" fmla="*/ 0 w 49"/>
                  <a:gd name="T3" fmla="*/ 1 h 50"/>
                  <a:gd name="T4" fmla="*/ 1 w 49"/>
                  <a:gd name="T5" fmla="*/ 1 h 50"/>
                  <a:gd name="T6" fmla="*/ 1 w 49"/>
                  <a:gd name="T7" fmla="*/ 1 h 50"/>
                  <a:gd name="T8" fmla="*/ 1 w 49"/>
                  <a:gd name="T9" fmla="*/ 1 h 50"/>
                  <a:gd name="T10" fmla="*/ 1 w 49"/>
                  <a:gd name="T11" fmla="*/ 1 h 50"/>
                  <a:gd name="T12" fmla="*/ 1 w 49"/>
                  <a:gd name="T13" fmla="*/ 1 h 50"/>
                  <a:gd name="T14" fmla="*/ 1 w 49"/>
                  <a:gd name="T15" fmla="*/ 0 h 50"/>
                  <a:gd name="T16" fmla="*/ 1 w 49"/>
                  <a:gd name="T17" fmla="*/ 0 h 50"/>
                  <a:gd name="T18" fmla="*/ 1 w 49"/>
                  <a:gd name="T19" fmla="*/ 0 h 50"/>
                  <a:gd name="T20" fmla="*/ 1 w 49"/>
                  <a:gd name="T21" fmla="*/ 1 h 50"/>
                  <a:gd name="T22" fmla="*/ 1 w 49"/>
                  <a:gd name="T23" fmla="*/ 1 h 50"/>
                  <a:gd name="T24" fmla="*/ 1 w 49"/>
                  <a:gd name="T25" fmla="*/ 1 h 50"/>
                  <a:gd name="T26" fmla="*/ 1 w 49"/>
                  <a:gd name="T27" fmla="*/ 1 h 50"/>
                  <a:gd name="T28" fmla="*/ 1 w 49"/>
                  <a:gd name="T29" fmla="*/ 1 h 50"/>
                  <a:gd name="T30" fmla="*/ 1 w 49"/>
                  <a:gd name="T31" fmla="*/ 1 h 50"/>
                  <a:gd name="T32" fmla="*/ 1 w 49"/>
                  <a:gd name="T33" fmla="*/ 1 h 50"/>
                  <a:gd name="T34" fmla="*/ 1 w 49"/>
                  <a:gd name="T35" fmla="*/ 1 h 50"/>
                  <a:gd name="T36" fmla="*/ 1 w 49"/>
                  <a:gd name="T37" fmla="*/ 1 h 50"/>
                  <a:gd name="T38" fmla="*/ 1 w 49"/>
                  <a:gd name="T39" fmla="*/ 1 h 50"/>
                  <a:gd name="T40" fmla="*/ 1 w 49"/>
                  <a:gd name="T41" fmla="*/ 1 h 50"/>
                  <a:gd name="T42" fmla="*/ 1 w 49"/>
                  <a:gd name="T43" fmla="*/ 1 h 50"/>
                  <a:gd name="T44" fmla="*/ 1 w 49"/>
                  <a:gd name="T45" fmla="*/ 1 h 50"/>
                  <a:gd name="T46" fmla="*/ 1 w 49"/>
                  <a:gd name="T47" fmla="*/ 1 h 50"/>
                  <a:gd name="T48" fmla="*/ 1 w 49"/>
                  <a:gd name="T49" fmla="*/ 1 h 50"/>
                  <a:gd name="T50" fmla="*/ 1 w 49"/>
                  <a:gd name="T51" fmla="*/ 1 h 50"/>
                  <a:gd name="T52" fmla="*/ 1 w 49"/>
                  <a:gd name="T53" fmla="*/ 1 h 50"/>
                  <a:gd name="T54" fmla="*/ 1 w 49"/>
                  <a:gd name="T55" fmla="*/ 1 h 50"/>
                  <a:gd name="T56" fmla="*/ 1 w 49"/>
                  <a:gd name="T57" fmla="*/ 1 h 50"/>
                  <a:gd name="T58" fmla="*/ 1 w 49"/>
                  <a:gd name="T59" fmla="*/ 1 h 50"/>
                  <a:gd name="T60" fmla="*/ 1 w 49"/>
                  <a:gd name="T61" fmla="*/ 1 h 50"/>
                  <a:gd name="T62" fmla="*/ 1 w 49"/>
                  <a:gd name="T63" fmla="*/ 1 h 50"/>
                  <a:gd name="T64" fmla="*/ 0 w 49"/>
                  <a:gd name="T65" fmla="*/ 1 h 50"/>
                  <a:gd name="T66" fmla="*/ 0 w 49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49"/>
                  <a:gd name="T103" fmla="*/ 0 h 50"/>
                  <a:gd name="T104" fmla="*/ 49 w 49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49" h="50">
                    <a:moveTo>
                      <a:pt x="0" y="25"/>
                    </a:moveTo>
                    <a:lnTo>
                      <a:pt x="0" y="20"/>
                    </a:lnTo>
                    <a:lnTo>
                      <a:pt x="1" y="16"/>
                    </a:lnTo>
                    <a:lnTo>
                      <a:pt x="4" y="11"/>
                    </a:lnTo>
                    <a:lnTo>
                      <a:pt x="7" y="8"/>
                    </a:lnTo>
                    <a:lnTo>
                      <a:pt x="11" y="5"/>
                    </a:lnTo>
                    <a:lnTo>
                      <a:pt x="15" y="1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1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49" y="20"/>
                    </a:lnTo>
                    <a:lnTo>
                      <a:pt x="49" y="25"/>
                    </a:lnTo>
                    <a:lnTo>
                      <a:pt x="49" y="30"/>
                    </a:lnTo>
                    <a:lnTo>
                      <a:pt x="48" y="34"/>
                    </a:lnTo>
                    <a:lnTo>
                      <a:pt x="45" y="39"/>
                    </a:lnTo>
                    <a:lnTo>
                      <a:pt x="42" y="42"/>
                    </a:lnTo>
                    <a:lnTo>
                      <a:pt x="39" y="45"/>
                    </a:lnTo>
                    <a:lnTo>
                      <a:pt x="34" y="49"/>
                    </a:lnTo>
                    <a:lnTo>
                      <a:pt x="29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5" y="49"/>
                    </a:lnTo>
                    <a:lnTo>
                      <a:pt x="11" y="45"/>
                    </a:lnTo>
                    <a:lnTo>
                      <a:pt x="7" y="42"/>
                    </a:lnTo>
                    <a:lnTo>
                      <a:pt x="4" y="39"/>
                    </a:lnTo>
                    <a:lnTo>
                      <a:pt x="1" y="34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15" name="Line 124"/>
              <p:cNvSpPr>
                <a:spLocks noChangeShapeType="1"/>
              </p:cNvSpPr>
              <p:nvPr/>
            </p:nvSpPr>
            <p:spPr bwMode="auto">
              <a:xfrm>
                <a:off x="3537" y="1334"/>
                <a:ext cx="7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16" name="Line 125"/>
              <p:cNvSpPr>
                <a:spLocks noChangeShapeType="1"/>
              </p:cNvSpPr>
              <p:nvPr/>
            </p:nvSpPr>
            <p:spPr bwMode="auto">
              <a:xfrm>
                <a:off x="3537" y="1364"/>
                <a:ext cx="7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17" name="Line 126"/>
              <p:cNvSpPr>
                <a:spLocks noChangeShapeType="1"/>
              </p:cNvSpPr>
              <p:nvPr/>
            </p:nvSpPr>
            <p:spPr bwMode="auto">
              <a:xfrm>
                <a:off x="3576" y="1364"/>
                <a:ext cx="1" cy="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18" name="Line 127"/>
              <p:cNvSpPr>
                <a:spLocks noChangeShapeType="1"/>
              </p:cNvSpPr>
              <p:nvPr/>
            </p:nvSpPr>
            <p:spPr bwMode="auto">
              <a:xfrm flipV="1">
                <a:off x="3576" y="1244"/>
                <a:ext cx="1" cy="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19" name="Line 128"/>
              <p:cNvSpPr>
                <a:spLocks noChangeShapeType="1"/>
              </p:cNvSpPr>
              <p:nvPr/>
            </p:nvSpPr>
            <p:spPr bwMode="auto">
              <a:xfrm>
                <a:off x="3537" y="1933"/>
                <a:ext cx="7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20" name="Line 129"/>
              <p:cNvSpPr>
                <a:spLocks noChangeShapeType="1"/>
              </p:cNvSpPr>
              <p:nvPr/>
            </p:nvSpPr>
            <p:spPr bwMode="auto">
              <a:xfrm>
                <a:off x="3537" y="1964"/>
                <a:ext cx="7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21" name="Line 130"/>
              <p:cNvSpPr>
                <a:spLocks noChangeShapeType="1"/>
              </p:cNvSpPr>
              <p:nvPr/>
            </p:nvSpPr>
            <p:spPr bwMode="auto">
              <a:xfrm>
                <a:off x="3576" y="1964"/>
                <a:ext cx="1" cy="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22" name="Line 131"/>
              <p:cNvSpPr>
                <a:spLocks noChangeShapeType="1"/>
              </p:cNvSpPr>
              <p:nvPr/>
            </p:nvSpPr>
            <p:spPr bwMode="auto">
              <a:xfrm flipV="1">
                <a:off x="3576" y="1844"/>
                <a:ext cx="1" cy="8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23" name="Line 132"/>
              <p:cNvSpPr>
                <a:spLocks noChangeShapeType="1"/>
              </p:cNvSpPr>
              <p:nvPr/>
            </p:nvSpPr>
            <p:spPr bwMode="auto">
              <a:xfrm flipH="1">
                <a:off x="3306" y="2084"/>
                <a:ext cx="69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24" name="Line 133"/>
              <p:cNvSpPr>
                <a:spLocks noChangeShapeType="1"/>
              </p:cNvSpPr>
              <p:nvPr/>
            </p:nvSpPr>
            <p:spPr bwMode="auto">
              <a:xfrm flipH="1">
                <a:off x="3306" y="1164"/>
                <a:ext cx="63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25" name="Line 134"/>
              <p:cNvSpPr>
                <a:spLocks noChangeShapeType="1"/>
              </p:cNvSpPr>
              <p:nvPr/>
            </p:nvSpPr>
            <p:spPr bwMode="auto">
              <a:xfrm flipV="1">
                <a:off x="3875" y="1164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26" name="Line 135"/>
              <p:cNvSpPr>
                <a:spLocks noChangeShapeType="1"/>
              </p:cNvSpPr>
              <p:nvPr/>
            </p:nvSpPr>
            <p:spPr bwMode="auto">
              <a:xfrm>
                <a:off x="3875" y="1374"/>
                <a:ext cx="2" cy="3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27" name="Line 136"/>
              <p:cNvSpPr>
                <a:spLocks noChangeShapeType="1"/>
              </p:cNvSpPr>
              <p:nvPr/>
            </p:nvSpPr>
            <p:spPr bwMode="auto">
              <a:xfrm>
                <a:off x="3877" y="1764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28" name="Line 137"/>
              <p:cNvSpPr>
                <a:spLocks noChangeShapeType="1"/>
              </p:cNvSpPr>
              <p:nvPr/>
            </p:nvSpPr>
            <p:spPr bwMode="auto">
              <a:xfrm flipH="1">
                <a:off x="3875" y="1484"/>
                <a:ext cx="13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29" name="Line 138"/>
              <p:cNvSpPr>
                <a:spLocks noChangeShapeType="1"/>
              </p:cNvSpPr>
              <p:nvPr/>
            </p:nvSpPr>
            <p:spPr bwMode="auto">
              <a:xfrm flipV="1">
                <a:off x="3576" y="1164"/>
                <a:ext cx="1" cy="9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30" name="Line 139"/>
              <p:cNvSpPr>
                <a:spLocks noChangeShapeType="1"/>
              </p:cNvSpPr>
              <p:nvPr/>
            </p:nvSpPr>
            <p:spPr bwMode="auto">
              <a:xfrm>
                <a:off x="3576" y="1434"/>
                <a:ext cx="1" cy="4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31" name="Line 140"/>
              <p:cNvSpPr>
                <a:spLocks noChangeShapeType="1"/>
              </p:cNvSpPr>
              <p:nvPr/>
            </p:nvSpPr>
            <p:spPr bwMode="auto">
              <a:xfrm>
                <a:off x="3576" y="2014"/>
                <a:ext cx="1" cy="7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32" name="Line 141"/>
              <p:cNvSpPr>
                <a:spLocks noChangeShapeType="1"/>
              </p:cNvSpPr>
              <p:nvPr/>
            </p:nvSpPr>
            <p:spPr bwMode="auto">
              <a:xfrm flipH="1">
                <a:off x="3877" y="1524"/>
                <a:ext cx="240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33" name="Line 142"/>
              <p:cNvSpPr>
                <a:spLocks noChangeShapeType="1"/>
              </p:cNvSpPr>
              <p:nvPr/>
            </p:nvSpPr>
            <p:spPr bwMode="auto">
              <a:xfrm flipH="1">
                <a:off x="3576" y="1724"/>
                <a:ext cx="541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34" name="Freeform 143"/>
              <p:cNvSpPr>
                <a:spLocks/>
              </p:cNvSpPr>
              <p:nvPr/>
            </p:nvSpPr>
            <p:spPr bwMode="auto">
              <a:xfrm>
                <a:off x="3864" y="1513"/>
                <a:ext cx="25" cy="26"/>
              </a:xfrm>
              <a:custGeom>
                <a:avLst/>
                <a:gdLst>
                  <a:gd name="T0" fmla="*/ 0 w 50"/>
                  <a:gd name="T1" fmla="*/ 1 h 50"/>
                  <a:gd name="T2" fmla="*/ 0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0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0" y="20"/>
                    </a:lnTo>
                    <a:lnTo>
                      <a:pt x="2" y="15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4"/>
                    </a:lnTo>
                    <a:lnTo>
                      <a:pt x="16" y="1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0" y="0"/>
                    </a:lnTo>
                    <a:lnTo>
                      <a:pt x="34" y="1"/>
                    </a:lnTo>
                    <a:lnTo>
                      <a:pt x="39" y="4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5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4"/>
                    </a:lnTo>
                    <a:lnTo>
                      <a:pt x="45" y="39"/>
                    </a:lnTo>
                    <a:lnTo>
                      <a:pt x="42" y="42"/>
                    </a:lnTo>
                    <a:lnTo>
                      <a:pt x="39" y="45"/>
                    </a:lnTo>
                    <a:lnTo>
                      <a:pt x="34" y="49"/>
                    </a:lnTo>
                    <a:lnTo>
                      <a:pt x="30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6" y="49"/>
                    </a:lnTo>
                    <a:lnTo>
                      <a:pt x="11" y="45"/>
                    </a:lnTo>
                    <a:lnTo>
                      <a:pt x="8" y="42"/>
                    </a:lnTo>
                    <a:lnTo>
                      <a:pt x="5" y="39"/>
                    </a:lnTo>
                    <a:lnTo>
                      <a:pt x="2" y="34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35" name="Freeform 144"/>
              <p:cNvSpPr>
                <a:spLocks/>
              </p:cNvSpPr>
              <p:nvPr/>
            </p:nvSpPr>
            <p:spPr bwMode="auto">
              <a:xfrm>
                <a:off x="3864" y="1472"/>
                <a:ext cx="25" cy="25"/>
              </a:xfrm>
              <a:custGeom>
                <a:avLst/>
                <a:gdLst>
                  <a:gd name="T0" fmla="*/ 0 w 50"/>
                  <a:gd name="T1" fmla="*/ 0 h 51"/>
                  <a:gd name="T2" fmla="*/ 0 w 50"/>
                  <a:gd name="T3" fmla="*/ 0 h 51"/>
                  <a:gd name="T4" fmla="*/ 1 w 50"/>
                  <a:gd name="T5" fmla="*/ 0 h 51"/>
                  <a:gd name="T6" fmla="*/ 1 w 50"/>
                  <a:gd name="T7" fmla="*/ 0 h 51"/>
                  <a:gd name="T8" fmla="*/ 1 w 50"/>
                  <a:gd name="T9" fmla="*/ 0 h 51"/>
                  <a:gd name="T10" fmla="*/ 1 w 50"/>
                  <a:gd name="T11" fmla="*/ 0 h 51"/>
                  <a:gd name="T12" fmla="*/ 1 w 50"/>
                  <a:gd name="T13" fmla="*/ 0 h 51"/>
                  <a:gd name="T14" fmla="*/ 1 w 50"/>
                  <a:gd name="T15" fmla="*/ 0 h 51"/>
                  <a:gd name="T16" fmla="*/ 1 w 50"/>
                  <a:gd name="T17" fmla="*/ 0 h 51"/>
                  <a:gd name="T18" fmla="*/ 1 w 50"/>
                  <a:gd name="T19" fmla="*/ 0 h 51"/>
                  <a:gd name="T20" fmla="*/ 1 w 50"/>
                  <a:gd name="T21" fmla="*/ 0 h 51"/>
                  <a:gd name="T22" fmla="*/ 1 w 50"/>
                  <a:gd name="T23" fmla="*/ 0 h 51"/>
                  <a:gd name="T24" fmla="*/ 1 w 50"/>
                  <a:gd name="T25" fmla="*/ 0 h 51"/>
                  <a:gd name="T26" fmla="*/ 1 w 50"/>
                  <a:gd name="T27" fmla="*/ 0 h 51"/>
                  <a:gd name="T28" fmla="*/ 1 w 50"/>
                  <a:gd name="T29" fmla="*/ 0 h 51"/>
                  <a:gd name="T30" fmla="*/ 1 w 50"/>
                  <a:gd name="T31" fmla="*/ 0 h 51"/>
                  <a:gd name="T32" fmla="*/ 1 w 50"/>
                  <a:gd name="T33" fmla="*/ 0 h 51"/>
                  <a:gd name="T34" fmla="*/ 1 w 50"/>
                  <a:gd name="T35" fmla="*/ 0 h 51"/>
                  <a:gd name="T36" fmla="*/ 1 w 50"/>
                  <a:gd name="T37" fmla="*/ 0 h 51"/>
                  <a:gd name="T38" fmla="*/ 1 w 50"/>
                  <a:gd name="T39" fmla="*/ 0 h 51"/>
                  <a:gd name="T40" fmla="*/ 1 w 50"/>
                  <a:gd name="T41" fmla="*/ 0 h 51"/>
                  <a:gd name="T42" fmla="*/ 1 w 50"/>
                  <a:gd name="T43" fmla="*/ 0 h 51"/>
                  <a:gd name="T44" fmla="*/ 1 w 50"/>
                  <a:gd name="T45" fmla="*/ 0 h 51"/>
                  <a:gd name="T46" fmla="*/ 1 w 50"/>
                  <a:gd name="T47" fmla="*/ 0 h 51"/>
                  <a:gd name="T48" fmla="*/ 1 w 50"/>
                  <a:gd name="T49" fmla="*/ 0 h 51"/>
                  <a:gd name="T50" fmla="*/ 1 w 50"/>
                  <a:gd name="T51" fmla="*/ 0 h 51"/>
                  <a:gd name="T52" fmla="*/ 1 w 50"/>
                  <a:gd name="T53" fmla="*/ 0 h 51"/>
                  <a:gd name="T54" fmla="*/ 1 w 50"/>
                  <a:gd name="T55" fmla="*/ 0 h 51"/>
                  <a:gd name="T56" fmla="*/ 1 w 50"/>
                  <a:gd name="T57" fmla="*/ 0 h 51"/>
                  <a:gd name="T58" fmla="*/ 1 w 50"/>
                  <a:gd name="T59" fmla="*/ 0 h 51"/>
                  <a:gd name="T60" fmla="*/ 1 w 50"/>
                  <a:gd name="T61" fmla="*/ 0 h 51"/>
                  <a:gd name="T62" fmla="*/ 1 w 50"/>
                  <a:gd name="T63" fmla="*/ 0 h 51"/>
                  <a:gd name="T64" fmla="*/ 0 w 50"/>
                  <a:gd name="T65" fmla="*/ 0 h 51"/>
                  <a:gd name="T66" fmla="*/ 0 w 50"/>
                  <a:gd name="T67" fmla="*/ 0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1"/>
                  <a:gd name="T104" fmla="*/ 50 w 50"/>
                  <a:gd name="T105" fmla="*/ 51 h 5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1">
                    <a:moveTo>
                      <a:pt x="0" y="26"/>
                    </a:moveTo>
                    <a:lnTo>
                      <a:pt x="0" y="21"/>
                    </a:lnTo>
                    <a:lnTo>
                      <a:pt x="2" y="16"/>
                    </a:lnTo>
                    <a:lnTo>
                      <a:pt x="5" y="11"/>
                    </a:lnTo>
                    <a:lnTo>
                      <a:pt x="8" y="7"/>
                    </a:lnTo>
                    <a:lnTo>
                      <a:pt x="11" y="4"/>
                    </a:lnTo>
                    <a:lnTo>
                      <a:pt x="16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0" y="0"/>
                    </a:lnTo>
                    <a:lnTo>
                      <a:pt x="34" y="2"/>
                    </a:lnTo>
                    <a:lnTo>
                      <a:pt x="39" y="4"/>
                    </a:lnTo>
                    <a:lnTo>
                      <a:pt x="42" y="7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1"/>
                    </a:lnTo>
                    <a:lnTo>
                      <a:pt x="50" y="26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40"/>
                    </a:lnTo>
                    <a:lnTo>
                      <a:pt x="42" y="43"/>
                    </a:lnTo>
                    <a:lnTo>
                      <a:pt x="39" y="46"/>
                    </a:lnTo>
                    <a:lnTo>
                      <a:pt x="34" y="48"/>
                    </a:lnTo>
                    <a:lnTo>
                      <a:pt x="30" y="49"/>
                    </a:lnTo>
                    <a:lnTo>
                      <a:pt x="25" y="51"/>
                    </a:lnTo>
                    <a:lnTo>
                      <a:pt x="20" y="49"/>
                    </a:lnTo>
                    <a:lnTo>
                      <a:pt x="16" y="48"/>
                    </a:lnTo>
                    <a:lnTo>
                      <a:pt x="11" y="46"/>
                    </a:lnTo>
                    <a:lnTo>
                      <a:pt x="8" y="43"/>
                    </a:lnTo>
                    <a:lnTo>
                      <a:pt x="5" y="40"/>
                    </a:lnTo>
                    <a:lnTo>
                      <a:pt x="2" y="35"/>
                    </a:lnTo>
                    <a:lnTo>
                      <a:pt x="0" y="30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36" name="Freeform 145"/>
              <p:cNvSpPr>
                <a:spLocks/>
              </p:cNvSpPr>
              <p:nvPr/>
            </p:nvSpPr>
            <p:spPr bwMode="auto">
              <a:xfrm>
                <a:off x="3564" y="1710"/>
                <a:ext cx="25" cy="25"/>
              </a:xfrm>
              <a:custGeom>
                <a:avLst/>
                <a:gdLst>
                  <a:gd name="T0" fmla="*/ 0 w 50"/>
                  <a:gd name="T1" fmla="*/ 1 h 50"/>
                  <a:gd name="T2" fmla="*/ 0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0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0" y="21"/>
                    </a:lnTo>
                    <a:lnTo>
                      <a:pt x="1" y="16"/>
                    </a:lnTo>
                    <a:lnTo>
                      <a:pt x="4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5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1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39"/>
                    </a:lnTo>
                    <a:lnTo>
                      <a:pt x="42" y="43"/>
                    </a:lnTo>
                    <a:lnTo>
                      <a:pt x="39" y="46"/>
                    </a:lnTo>
                    <a:lnTo>
                      <a:pt x="34" y="49"/>
                    </a:lnTo>
                    <a:lnTo>
                      <a:pt x="29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5" y="49"/>
                    </a:lnTo>
                    <a:lnTo>
                      <a:pt x="11" y="46"/>
                    </a:lnTo>
                    <a:lnTo>
                      <a:pt x="8" y="43"/>
                    </a:lnTo>
                    <a:lnTo>
                      <a:pt x="4" y="39"/>
                    </a:lnTo>
                    <a:lnTo>
                      <a:pt x="1" y="35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37" name="Freeform 146"/>
              <p:cNvSpPr>
                <a:spLocks/>
              </p:cNvSpPr>
              <p:nvPr/>
            </p:nvSpPr>
            <p:spPr bwMode="auto">
              <a:xfrm>
                <a:off x="3564" y="2071"/>
                <a:ext cx="25" cy="25"/>
              </a:xfrm>
              <a:custGeom>
                <a:avLst/>
                <a:gdLst>
                  <a:gd name="T0" fmla="*/ 0 w 50"/>
                  <a:gd name="T1" fmla="*/ 0 h 51"/>
                  <a:gd name="T2" fmla="*/ 0 w 50"/>
                  <a:gd name="T3" fmla="*/ 0 h 51"/>
                  <a:gd name="T4" fmla="*/ 1 w 50"/>
                  <a:gd name="T5" fmla="*/ 0 h 51"/>
                  <a:gd name="T6" fmla="*/ 1 w 50"/>
                  <a:gd name="T7" fmla="*/ 0 h 51"/>
                  <a:gd name="T8" fmla="*/ 1 w 50"/>
                  <a:gd name="T9" fmla="*/ 0 h 51"/>
                  <a:gd name="T10" fmla="*/ 1 w 50"/>
                  <a:gd name="T11" fmla="*/ 0 h 51"/>
                  <a:gd name="T12" fmla="*/ 1 w 50"/>
                  <a:gd name="T13" fmla="*/ 0 h 51"/>
                  <a:gd name="T14" fmla="*/ 1 w 50"/>
                  <a:gd name="T15" fmla="*/ 0 h 51"/>
                  <a:gd name="T16" fmla="*/ 1 w 50"/>
                  <a:gd name="T17" fmla="*/ 0 h 51"/>
                  <a:gd name="T18" fmla="*/ 1 w 50"/>
                  <a:gd name="T19" fmla="*/ 0 h 51"/>
                  <a:gd name="T20" fmla="*/ 1 w 50"/>
                  <a:gd name="T21" fmla="*/ 0 h 51"/>
                  <a:gd name="T22" fmla="*/ 1 w 50"/>
                  <a:gd name="T23" fmla="*/ 0 h 51"/>
                  <a:gd name="T24" fmla="*/ 1 w 50"/>
                  <a:gd name="T25" fmla="*/ 0 h 51"/>
                  <a:gd name="T26" fmla="*/ 1 w 50"/>
                  <a:gd name="T27" fmla="*/ 0 h 51"/>
                  <a:gd name="T28" fmla="*/ 1 w 50"/>
                  <a:gd name="T29" fmla="*/ 0 h 51"/>
                  <a:gd name="T30" fmla="*/ 1 w 50"/>
                  <a:gd name="T31" fmla="*/ 0 h 51"/>
                  <a:gd name="T32" fmla="*/ 1 w 50"/>
                  <a:gd name="T33" fmla="*/ 0 h 51"/>
                  <a:gd name="T34" fmla="*/ 1 w 50"/>
                  <a:gd name="T35" fmla="*/ 0 h 51"/>
                  <a:gd name="T36" fmla="*/ 1 w 50"/>
                  <a:gd name="T37" fmla="*/ 0 h 51"/>
                  <a:gd name="T38" fmla="*/ 1 w 50"/>
                  <a:gd name="T39" fmla="*/ 0 h 51"/>
                  <a:gd name="T40" fmla="*/ 1 w 50"/>
                  <a:gd name="T41" fmla="*/ 0 h 51"/>
                  <a:gd name="T42" fmla="*/ 1 w 50"/>
                  <a:gd name="T43" fmla="*/ 0 h 51"/>
                  <a:gd name="T44" fmla="*/ 1 w 50"/>
                  <a:gd name="T45" fmla="*/ 0 h 51"/>
                  <a:gd name="T46" fmla="*/ 1 w 50"/>
                  <a:gd name="T47" fmla="*/ 0 h 51"/>
                  <a:gd name="T48" fmla="*/ 1 w 50"/>
                  <a:gd name="T49" fmla="*/ 0 h 51"/>
                  <a:gd name="T50" fmla="*/ 1 w 50"/>
                  <a:gd name="T51" fmla="*/ 0 h 51"/>
                  <a:gd name="T52" fmla="*/ 1 w 50"/>
                  <a:gd name="T53" fmla="*/ 0 h 51"/>
                  <a:gd name="T54" fmla="*/ 1 w 50"/>
                  <a:gd name="T55" fmla="*/ 0 h 51"/>
                  <a:gd name="T56" fmla="*/ 1 w 50"/>
                  <a:gd name="T57" fmla="*/ 0 h 51"/>
                  <a:gd name="T58" fmla="*/ 1 w 50"/>
                  <a:gd name="T59" fmla="*/ 0 h 51"/>
                  <a:gd name="T60" fmla="*/ 1 w 50"/>
                  <a:gd name="T61" fmla="*/ 0 h 51"/>
                  <a:gd name="T62" fmla="*/ 1 w 50"/>
                  <a:gd name="T63" fmla="*/ 0 h 51"/>
                  <a:gd name="T64" fmla="*/ 0 w 50"/>
                  <a:gd name="T65" fmla="*/ 0 h 51"/>
                  <a:gd name="T66" fmla="*/ 0 w 50"/>
                  <a:gd name="T67" fmla="*/ 0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1"/>
                  <a:gd name="T104" fmla="*/ 50 w 50"/>
                  <a:gd name="T105" fmla="*/ 51 h 5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1">
                    <a:moveTo>
                      <a:pt x="0" y="25"/>
                    </a:moveTo>
                    <a:lnTo>
                      <a:pt x="0" y="21"/>
                    </a:lnTo>
                    <a:lnTo>
                      <a:pt x="1" y="16"/>
                    </a:lnTo>
                    <a:lnTo>
                      <a:pt x="4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5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1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40"/>
                    </a:lnTo>
                    <a:lnTo>
                      <a:pt x="42" y="43"/>
                    </a:lnTo>
                    <a:lnTo>
                      <a:pt x="39" y="46"/>
                    </a:lnTo>
                    <a:lnTo>
                      <a:pt x="34" y="49"/>
                    </a:lnTo>
                    <a:lnTo>
                      <a:pt x="29" y="51"/>
                    </a:lnTo>
                    <a:lnTo>
                      <a:pt x="25" y="51"/>
                    </a:lnTo>
                    <a:lnTo>
                      <a:pt x="20" y="51"/>
                    </a:lnTo>
                    <a:lnTo>
                      <a:pt x="15" y="49"/>
                    </a:lnTo>
                    <a:lnTo>
                      <a:pt x="11" y="46"/>
                    </a:lnTo>
                    <a:lnTo>
                      <a:pt x="8" y="43"/>
                    </a:lnTo>
                    <a:lnTo>
                      <a:pt x="4" y="40"/>
                    </a:lnTo>
                    <a:lnTo>
                      <a:pt x="1" y="35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38" name="Freeform 147"/>
              <p:cNvSpPr>
                <a:spLocks/>
              </p:cNvSpPr>
              <p:nvPr/>
            </p:nvSpPr>
            <p:spPr bwMode="auto">
              <a:xfrm>
                <a:off x="3564" y="1151"/>
                <a:ext cx="25" cy="26"/>
              </a:xfrm>
              <a:custGeom>
                <a:avLst/>
                <a:gdLst>
                  <a:gd name="T0" fmla="*/ 0 w 50"/>
                  <a:gd name="T1" fmla="*/ 1 h 50"/>
                  <a:gd name="T2" fmla="*/ 0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0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0" y="20"/>
                    </a:lnTo>
                    <a:lnTo>
                      <a:pt x="1" y="16"/>
                    </a:lnTo>
                    <a:lnTo>
                      <a:pt x="4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5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39"/>
                    </a:lnTo>
                    <a:lnTo>
                      <a:pt x="42" y="42"/>
                    </a:lnTo>
                    <a:lnTo>
                      <a:pt x="39" y="46"/>
                    </a:lnTo>
                    <a:lnTo>
                      <a:pt x="34" y="49"/>
                    </a:lnTo>
                    <a:lnTo>
                      <a:pt x="29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5" y="49"/>
                    </a:lnTo>
                    <a:lnTo>
                      <a:pt x="11" y="46"/>
                    </a:lnTo>
                    <a:lnTo>
                      <a:pt x="8" y="42"/>
                    </a:lnTo>
                    <a:lnTo>
                      <a:pt x="4" y="39"/>
                    </a:lnTo>
                    <a:lnTo>
                      <a:pt x="1" y="35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39" name="Freeform 148"/>
              <p:cNvSpPr>
                <a:spLocks/>
              </p:cNvSpPr>
              <p:nvPr/>
            </p:nvSpPr>
            <p:spPr bwMode="auto">
              <a:xfrm>
                <a:off x="3864" y="1151"/>
                <a:ext cx="25" cy="26"/>
              </a:xfrm>
              <a:custGeom>
                <a:avLst/>
                <a:gdLst>
                  <a:gd name="T0" fmla="*/ 0 w 50"/>
                  <a:gd name="T1" fmla="*/ 1 h 50"/>
                  <a:gd name="T2" fmla="*/ 0 w 50"/>
                  <a:gd name="T3" fmla="*/ 1 h 50"/>
                  <a:gd name="T4" fmla="*/ 1 w 50"/>
                  <a:gd name="T5" fmla="*/ 1 h 50"/>
                  <a:gd name="T6" fmla="*/ 1 w 50"/>
                  <a:gd name="T7" fmla="*/ 1 h 50"/>
                  <a:gd name="T8" fmla="*/ 1 w 50"/>
                  <a:gd name="T9" fmla="*/ 1 h 50"/>
                  <a:gd name="T10" fmla="*/ 1 w 50"/>
                  <a:gd name="T11" fmla="*/ 1 h 50"/>
                  <a:gd name="T12" fmla="*/ 1 w 50"/>
                  <a:gd name="T13" fmla="*/ 1 h 50"/>
                  <a:gd name="T14" fmla="*/ 1 w 50"/>
                  <a:gd name="T15" fmla="*/ 0 h 50"/>
                  <a:gd name="T16" fmla="*/ 1 w 50"/>
                  <a:gd name="T17" fmla="*/ 0 h 50"/>
                  <a:gd name="T18" fmla="*/ 1 w 50"/>
                  <a:gd name="T19" fmla="*/ 0 h 50"/>
                  <a:gd name="T20" fmla="*/ 1 w 50"/>
                  <a:gd name="T21" fmla="*/ 1 h 50"/>
                  <a:gd name="T22" fmla="*/ 1 w 50"/>
                  <a:gd name="T23" fmla="*/ 1 h 50"/>
                  <a:gd name="T24" fmla="*/ 1 w 50"/>
                  <a:gd name="T25" fmla="*/ 1 h 50"/>
                  <a:gd name="T26" fmla="*/ 1 w 50"/>
                  <a:gd name="T27" fmla="*/ 1 h 50"/>
                  <a:gd name="T28" fmla="*/ 1 w 50"/>
                  <a:gd name="T29" fmla="*/ 1 h 50"/>
                  <a:gd name="T30" fmla="*/ 1 w 50"/>
                  <a:gd name="T31" fmla="*/ 1 h 50"/>
                  <a:gd name="T32" fmla="*/ 1 w 50"/>
                  <a:gd name="T33" fmla="*/ 1 h 50"/>
                  <a:gd name="T34" fmla="*/ 1 w 50"/>
                  <a:gd name="T35" fmla="*/ 1 h 50"/>
                  <a:gd name="T36" fmla="*/ 1 w 50"/>
                  <a:gd name="T37" fmla="*/ 1 h 50"/>
                  <a:gd name="T38" fmla="*/ 1 w 50"/>
                  <a:gd name="T39" fmla="*/ 1 h 50"/>
                  <a:gd name="T40" fmla="*/ 1 w 50"/>
                  <a:gd name="T41" fmla="*/ 1 h 50"/>
                  <a:gd name="T42" fmla="*/ 1 w 50"/>
                  <a:gd name="T43" fmla="*/ 1 h 50"/>
                  <a:gd name="T44" fmla="*/ 1 w 50"/>
                  <a:gd name="T45" fmla="*/ 1 h 50"/>
                  <a:gd name="T46" fmla="*/ 1 w 50"/>
                  <a:gd name="T47" fmla="*/ 1 h 50"/>
                  <a:gd name="T48" fmla="*/ 1 w 50"/>
                  <a:gd name="T49" fmla="*/ 1 h 50"/>
                  <a:gd name="T50" fmla="*/ 1 w 50"/>
                  <a:gd name="T51" fmla="*/ 1 h 50"/>
                  <a:gd name="T52" fmla="*/ 1 w 50"/>
                  <a:gd name="T53" fmla="*/ 1 h 50"/>
                  <a:gd name="T54" fmla="*/ 1 w 50"/>
                  <a:gd name="T55" fmla="*/ 1 h 50"/>
                  <a:gd name="T56" fmla="*/ 1 w 50"/>
                  <a:gd name="T57" fmla="*/ 1 h 50"/>
                  <a:gd name="T58" fmla="*/ 1 w 50"/>
                  <a:gd name="T59" fmla="*/ 1 h 50"/>
                  <a:gd name="T60" fmla="*/ 1 w 50"/>
                  <a:gd name="T61" fmla="*/ 1 h 50"/>
                  <a:gd name="T62" fmla="*/ 1 w 50"/>
                  <a:gd name="T63" fmla="*/ 1 h 50"/>
                  <a:gd name="T64" fmla="*/ 0 w 50"/>
                  <a:gd name="T65" fmla="*/ 1 h 50"/>
                  <a:gd name="T66" fmla="*/ 0 w 50"/>
                  <a:gd name="T67" fmla="*/ 1 h 5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0"/>
                  <a:gd name="T103" fmla="*/ 0 h 50"/>
                  <a:gd name="T104" fmla="*/ 50 w 50"/>
                  <a:gd name="T105" fmla="*/ 50 h 5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0" h="50">
                    <a:moveTo>
                      <a:pt x="0" y="25"/>
                    </a:moveTo>
                    <a:lnTo>
                      <a:pt x="0" y="20"/>
                    </a:lnTo>
                    <a:lnTo>
                      <a:pt x="2" y="16"/>
                    </a:lnTo>
                    <a:lnTo>
                      <a:pt x="5" y="11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2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0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2" y="8"/>
                    </a:lnTo>
                    <a:lnTo>
                      <a:pt x="45" y="11"/>
                    </a:lnTo>
                    <a:lnTo>
                      <a:pt x="48" y="16"/>
                    </a:lnTo>
                    <a:lnTo>
                      <a:pt x="50" y="20"/>
                    </a:lnTo>
                    <a:lnTo>
                      <a:pt x="50" y="25"/>
                    </a:lnTo>
                    <a:lnTo>
                      <a:pt x="50" y="30"/>
                    </a:lnTo>
                    <a:lnTo>
                      <a:pt x="48" y="35"/>
                    </a:lnTo>
                    <a:lnTo>
                      <a:pt x="45" y="39"/>
                    </a:lnTo>
                    <a:lnTo>
                      <a:pt x="42" y="42"/>
                    </a:lnTo>
                    <a:lnTo>
                      <a:pt x="39" y="46"/>
                    </a:lnTo>
                    <a:lnTo>
                      <a:pt x="34" y="49"/>
                    </a:lnTo>
                    <a:lnTo>
                      <a:pt x="30" y="50"/>
                    </a:lnTo>
                    <a:lnTo>
                      <a:pt x="25" y="50"/>
                    </a:lnTo>
                    <a:lnTo>
                      <a:pt x="20" y="50"/>
                    </a:lnTo>
                    <a:lnTo>
                      <a:pt x="16" y="49"/>
                    </a:lnTo>
                    <a:lnTo>
                      <a:pt x="11" y="46"/>
                    </a:lnTo>
                    <a:lnTo>
                      <a:pt x="8" y="42"/>
                    </a:lnTo>
                    <a:lnTo>
                      <a:pt x="5" y="39"/>
                    </a:lnTo>
                    <a:lnTo>
                      <a:pt x="2" y="35"/>
                    </a:lnTo>
                    <a:lnTo>
                      <a:pt x="0" y="3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40" name="Rectangle 149"/>
              <p:cNvSpPr>
                <a:spLocks noChangeArrowheads="1"/>
              </p:cNvSpPr>
              <p:nvPr/>
            </p:nvSpPr>
            <p:spPr bwMode="auto">
              <a:xfrm>
                <a:off x="3379" y="1298"/>
                <a:ext cx="111" cy="13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C</a:t>
                </a:r>
                <a:r>
                  <a:rPr lang="en-US" altLang="zh-CN" sz="14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81041" name="Rectangle 150"/>
              <p:cNvSpPr>
                <a:spLocks noChangeArrowheads="1"/>
              </p:cNvSpPr>
              <p:nvPr/>
            </p:nvSpPr>
            <p:spPr bwMode="auto">
              <a:xfrm>
                <a:off x="3379" y="1888"/>
                <a:ext cx="111" cy="13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C</a:t>
                </a:r>
                <a:r>
                  <a:rPr lang="en-US" altLang="zh-CN" sz="14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81042" name="Freeform 151"/>
              <p:cNvSpPr>
                <a:spLocks/>
              </p:cNvSpPr>
              <p:nvPr/>
            </p:nvSpPr>
            <p:spPr bwMode="auto">
              <a:xfrm>
                <a:off x="4793" y="1250"/>
                <a:ext cx="50" cy="14"/>
              </a:xfrm>
              <a:custGeom>
                <a:avLst/>
                <a:gdLst>
                  <a:gd name="T0" fmla="*/ 2 w 99"/>
                  <a:gd name="T1" fmla="*/ 1 h 28"/>
                  <a:gd name="T2" fmla="*/ 0 w 99"/>
                  <a:gd name="T3" fmla="*/ 0 h 28"/>
                  <a:gd name="T4" fmla="*/ 0 w 99"/>
                  <a:gd name="T5" fmla="*/ 1 h 28"/>
                  <a:gd name="T6" fmla="*/ 2 w 99"/>
                  <a:gd name="T7" fmla="*/ 1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28"/>
                  <a:gd name="T14" fmla="*/ 99 w 99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28">
                    <a:moveTo>
                      <a:pt x="99" y="14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99" y="14"/>
                    </a:lnTo>
                    <a:close/>
                  </a:path>
                </a:pathLst>
              </a:custGeom>
              <a:solidFill>
                <a:srgbClr val="1A1A1A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43" name="Freeform 152"/>
              <p:cNvSpPr>
                <a:spLocks/>
              </p:cNvSpPr>
              <p:nvPr/>
            </p:nvSpPr>
            <p:spPr bwMode="auto">
              <a:xfrm>
                <a:off x="4793" y="1250"/>
                <a:ext cx="50" cy="14"/>
              </a:xfrm>
              <a:custGeom>
                <a:avLst/>
                <a:gdLst>
                  <a:gd name="T0" fmla="*/ 2 w 99"/>
                  <a:gd name="T1" fmla="*/ 1 h 28"/>
                  <a:gd name="T2" fmla="*/ 0 w 99"/>
                  <a:gd name="T3" fmla="*/ 0 h 28"/>
                  <a:gd name="T4" fmla="*/ 0 w 99"/>
                  <a:gd name="T5" fmla="*/ 1 h 28"/>
                  <a:gd name="T6" fmla="*/ 2 w 99"/>
                  <a:gd name="T7" fmla="*/ 1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28"/>
                  <a:gd name="T14" fmla="*/ 99 w 99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28">
                    <a:moveTo>
                      <a:pt x="99" y="14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99" y="14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44" name="Line 153"/>
              <p:cNvSpPr>
                <a:spLocks noChangeShapeType="1"/>
              </p:cNvSpPr>
              <p:nvPr/>
            </p:nvSpPr>
            <p:spPr bwMode="auto">
              <a:xfrm flipH="1">
                <a:off x="4730" y="1257"/>
                <a:ext cx="6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45" name="Freeform 154"/>
              <p:cNvSpPr>
                <a:spLocks/>
              </p:cNvSpPr>
              <p:nvPr/>
            </p:nvSpPr>
            <p:spPr bwMode="auto">
              <a:xfrm>
                <a:off x="5036" y="1290"/>
                <a:ext cx="49" cy="14"/>
              </a:xfrm>
              <a:custGeom>
                <a:avLst/>
                <a:gdLst>
                  <a:gd name="T0" fmla="*/ 2 w 98"/>
                  <a:gd name="T1" fmla="*/ 1 h 28"/>
                  <a:gd name="T2" fmla="*/ 0 w 98"/>
                  <a:gd name="T3" fmla="*/ 0 h 28"/>
                  <a:gd name="T4" fmla="*/ 0 w 98"/>
                  <a:gd name="T5" fmla="*/ 1 h 28"/>
                  <a:gd name="T6" fmla="*/ 2 w 98"/>
                  <a:gd name="T7" fmla="*/ 1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8"/>
                  <a:gd name="T13" fmla="*/ 0 h 28"/>
                  <a:gd name="T14" fmla="*/ 98 w 98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8" h="28">
                    <a:moveTo>
                      <a:pt x="98" y="14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98" y="14"/>
                    </a:lnTo>
                    <a:close/>
                  </a:path>
                </a:pathLst>
              </a:custGeom>
              <a:solidFill>
                <a:srgbClr val="1A1A1A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46" name="Freeform 155"/>
              <p:cNvSpPr>
                <a:spLocks/>
              </p:cNvSpPr>
              <p:nvPr/>
            </p:nvSpPr>
            <p:spPr bwMode="auto">
              <a:xfrm>
                <a:off x="5036" y="1290"/>
                <a:ext cx="49" cy="14"/>
              </a:xfrm>
              <a:custGeom>
                <a:avLst/>
                <a:gdLst>
                  <a:gd name="T0" fmla="*/ 2 w 98"/>
                  <a:gd name="T1" fmla="*/ 1 h 28"/>
                  <a:gd name="T2" fmla="*/ 0 w 98"/>
                  <a:gd name="T3" fmla="*/ 0 h 28"/>
                  <a:gd name="T4" fmla="*/ 0 w 98"/>
                  <a:gd name="T5" fmla="*/ 1 h 28"/>
                  <a:gd name="T6" fmla="*/ 2 w 98"/>
                  <a:gd name="T7" fmla="*/ 1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8"/>
                  <a:gd name="T13" fmla="*/ 0 h 28"/>
                  <a:gd name="T14" fmla="*/ 98 w 98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8" h="28">
                    <a:moveTo>
                      <a:pt x="98" y="14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98" y="14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47" name="Line 156"/>
              <p:cNvSpPr>
                <a:spLocks noChangeShapeType="1"/>
              </p:cNvSpPr>
              <p:nvPr/>
            </p:nvSpPr>
            <p:spPr bwMode="auto">
              <a:xfrm flipH="1">
                <a:off x="4973" y="1297"/>
                <a:ext cx="6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48" name="Rectangle 157"/>
              <p:cNvSpPr>
                <a:spLocks noChangeArrowheads="1"/>
              </p:cNvSpPr>
              <p:nvPr/>
            </p:nvSpPr>
            <p:spPr bwMode="auto">
              <a:xfrm>
                <a:off x="4788" y="1177"/>
                <a:ext cx="31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700" i="1">
                    <a:solidFill>
                      <a:srgbClr val="000000"/>
                    </a:solidFill>
                    <a:latin typeface="Times New Roman" pitchFamily="18" charset="0"/>
                  </a:rPr>
                  <a:t>L</a:t>
                </a:r>
                <a:endParaRPr lang="en-US" altLang="zh-CN"/>
              </a:p>
            </p:txBody>
          </p:sp>
          <p:sp>
            <p:nvSpPr>
              <p:cNvPr id="81049" name="Rectangle 158"/>
              <p:cNvSpPr>
                <a:spLocks noChangeArrowheads="1"/>
              </p:cNvSpPr>
              <p:nvPr/>
            </p:nvSpPr>
            <p:spPr bwMode="auto">
              <a:xfrm>
                <a:off x="4770" y="1136"/>
                <a:ext cx="22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 i="1">
                    <a:solidFill>
                      <a:srgbClr val="000000"/>
                    </a:solidFill>
                    <a:latin typeface="Times New Roman" pitchFamily="18" charset="0"/>
                  </a:rPr>
                  <a:t>i</a:t>
                </a:r>
                <a:endParaRPr lang="en-US" altLang="zh-CN"/>
              </a:p>
            </p:txBody>
          </p:sp>
          <p:sp>
            <p:nvSpPr>
              <p:cNvPr id="81050" name="Rectangle 159"/>
              <p:cNvSpPr>
                <a:spLocks noChangeArrowheads="1"/>
              </p:cNvSpPr>
              <p:nvPr/>
            </p:nvSpPr>
            <p:spPr bwMode="auto">
              <a:xfrm>
                <a:off x="5002" y="1205"/>
                <a:ext cx="40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 i="1">
                    <a:solidFill>
                      <a:srgbClr val="000000"/>
                    </a:solidFill>
                    <a:latin typeface="宋体" pitchFamily="2" charset="-122"/>
                  </a:rPr>
                  <a:t>I</a:t>
                </a:r>
                <a:endParaRPr lang="en-US" altLang="zh-CN"/>
              </a:p>
            </p:txBody>
          </p:sp>
          <p:sp>
            <p:nvSpPr>
              <p:cNvPr id="81051" name="Rectangle 160"/>
              <p:cNvSpPr>
                <a:spLocks noChangeArrowheads="1"/>
              </p:cNvSpPr>
              <p:nvPr/>
            </p:nvSpPr>
            <p:spPr bwMode="auto">
              <a:xfrm>
                <a:off x="5038" y="1233"/>
                <a:ext cx="28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700">
                    <a:solidFill>
                      <a:srgbClr val="000000"/>
                    </a:solidFill>
                    <a:latin typeface="宋体" pitchFamily="2" charset="-122"/>
                  </a:rPr>
                  <a:t>o</a:t>
                </a:r>
                <a:endParaRPr lang="en-US" altLang="zh-CN"/>
              </a:p>
            </p:txBody>
          </p:sp>
          <p:sp>
            <p:nvSpPr>
              <p:cNvPr id="81052" name="Rectangle 161"/>
              <p:cNvSpPr>
                <a:spLocks noChangeArrowheads="1"/>
              </p:cNvSpPr>
              <p:nvPr/>
            </p:nvSpPr>
            <p:spPr bwMode="auto">
              <a:xfrm>
                <a:off x="3334" y="1661"/>
                <a:ext cx="191" cy="13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sz="14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/2</a:t>
                </a:r>
                <a:endParaRPr lang="en-US" altLang="zh-CN" sz="1400"/>
              </a:p>
            </p:txBody>
          </p:sp>
          <p:sp>
            <p:nvSpPr>
              <p:cNvPr id="81053" name="Rectangle 162"/>
              <p:cNvSpPr>
                <a:spLocks noChangeArrowheads="1"/>
              </p:cNvSpPr>
              <p:nvPr/>
            </p:nvSpPr>
            <p:spPr bwMode="auto">
              <a:xfrm>
                <a:off x="3742" y="1434"/>
                <a:ext cx="86" cy="40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+</a:t>
                </a:r>
              </a:p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sz="14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  <a:p>
                <a:pPr eaLnBrk="1" hangingPunct="1"/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</a:rPr>
                  <a:t>-</a:t>
                </a:r>
                <a:endParaRPr lang="en-US" altLang="zh-CN" sz="1400"/>
              </a:p>
            </p:txBody>
          </p:sp>
          <p:sp>
            <p:nvSpPr>
              <p:cNvPr id="81054" name="Freeform 163"/>
              <p:cNvSpPr>
                <a:spLocks/>
              </p:cNvSpPr>
              <p:nvPr/>
            </p:nvSpPr>
            <p:spPr bwMode="auto">
              <a:xfrm>
                <a:off x="3996" y="1883"/>
                <a:ext cx="77" cy="79"/>
              </a:xfrm>
              <a:custGeom>
                <a:avLst/>
                <a:gdLst>
                  <a:gd name="T0" fmla="*/ 0 w 156"/>
                  <a:gd name="T1" fmla="*/ 3 h 158"/>
                  <a:gd name="T2" fmla="*/ 1 w 156"/>
                  <a:gd name="T3" fmla="*/ 0 h 158"/>
                  <a:gd name="T4" fmla="*/ 2 w 156"/>
                  <a:gd name="T5" fmla="*/ 3 h 158"/>
                  <a:gd name="T6" fmla="*/ 0 w 156"/>
                  <a:gd name="T7" fmla="*/ 3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158"/>
                  <a:gd name="T14" fmla="*/ 156 w 156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158">
                    <a:moveTo>
                      <a:pt x="0" y="158"/>
                    </a:moveTo>
                    <a:lnTo>
                      <a:pt x="78" y="0"/>
                    </a:lnTo>
                    <a:lnTo>
                      <a:pt x="156" y="158"/>
                    </a:lnTo>
                    <a:lnTo>
                      <a:pt x="0" y="158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55" name="Line 164"/>
              <p:cNvSpPr>
                <a:spLocks noChangeShapeType="1"/>
              </p:cNvSpPr>
              <p:nvPr/>
            </p:nvSpPr>
            <p:spPr bwMode="auto">
              <a:xfrm flipH="1">
                <a:off x="3996" y="1883"/>
                <a:ext cx="77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56" name="Freeform 165"/>
              <p:cNvSpPr>
                <a:spLocks/>
              </p:cNvSpPr>
              <p:nvPr/>
            </p:nvSpPr>
            <p:spPr bwMode="auto">
              <a:xfrm>
                <a:off x="3996" y="1883"/>
                <a:ext cx="77" cy="79"/>
              </a:xfrm>
              <a:custGeom>
                <a:avLst/>
                <a:gdLst>
                  <a:gd name="T0" fmla="*/ 0 w 156"/>
                  <a:gd name="T1" fmla="*/ 3 h 158"/>
                  <a:gd name="T2" fmla="*/ 1 w 156"/>
                  <a:gd name="T3" fmla="*/ 0 h 158"/>
                  <a:gd name="T4" fmla="*/ 2 w 156"/>
                  <a:gd name="T5" fmla="*/ 3 h 158"/>
                  <a:gd name="T6" fmla="*/ 0 w 156"/>
                  <a:gd name="T7" fmla="*/ 3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158"/>
                  <a:gd name="T14" fmla="*/ 156 w 156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158">
                    <a:moveTo>
                      <a:pt x="0" y="158"/>
                    </a:moveTo>
                    <a:lnTo>
                      <a:pt x="78" y="0"/>
                    </a:lnTo>
                    <a:lnTo>
                      <a:pt x="156" y="158"/>
                    </a:lnTo>
                    <a:lnTo>
                      <a:pt x="0" y="15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57" name="Line 166"/>
              <p:cNvSpPr>
                <a:spLocks noChangeShapeType="1"/>
              </p:cNvSpPr>
              <p:nvPr/>
            </p:nvSpPr>
            <p:spPr bwMode="auto">
              <a:xfrm flipV="1">
                <a:off x="4034" y="1764"/>
                <a:ext cx="1" cy="31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58" name="Freeform 167"/>
              <p:cNvSpPr>
                <a:spLocks/>
              </p:cNvSpPr>
              <p:nvPr/>
            </p:nvSpPr>
            <p:spPr bwMode="auto">
              <a:xfrm>
                <a:off x="3996" y="1883"/>
                <a:ext cx="77" cy="79"/>
              </a:xfrm>
              <a:custGeom>
                <a:avLst/>
                <a:gdLst>
                  <a:gd name="T0" fmla="*/ 1 w 156"/>
                  <a:gd name="T1" fmla="*/ 0 h 158"/>
                  <a:gd name="T2" fmla="*/ 0 w 156"/>
                  <a:gd name="T3" fmla="*/ 3 h 158"/>
                  <a:gd name="T4" fmla="*/ 2 w 156"/>
                  <a:gd name="T5" fmla="*/ 3 h 158"/>
                  <a:gd name="T6" fmla="*/ 1 w 156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158"/>
                  <a:gd name="T14" fmla="*/ 156 w 156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158">
                    <a:moveTo>
                      <a:pt x="78" y="0"/>
                    </a:moveTo>
                    <a:lnTo>
                      <a:pt x="0" y="158"/>
                    </a:lnTo>
                    <a:lnTo>
                      <a:pt x="156" y="158"/>
                    </a:lnTo>
                    <a:lnTo>
                      <a:pt x="78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59" name="Freeform 168"/>
              <p:cNvSpPr>
                <a:spLocks/>
              </p:cNvSpPr>
              <p:nvPr/>
            </p:nvSpPr>
            <p:spPr bwMode="auto">
              <a:xfrm>
                <a:off x="3996" y="1883"/>
                <a:ext cx="77" cy="79"/>
              </a:xfrm>
              <a:custGeom>
                <a:avLst/>
                <a:gdLst>
                  <a:gd name="T0" fmla="*/ 1 w 156"/>
                  <a:gd name="T1" fmla="*/ 0 h 158"/>
                  <a:gd name="T2" fmla="*/ 0 w 156"/>
                  <a:gd name="T3" fmla="*/ 3 h 158"/>
                  <a:gd name="T4" fmla="*/ 2 w 156"/>
                  <a:gd name="T5" fmla="*/ 3 h 158"/>
                  <a:gd name="T6" fmla="*/ 1 w 156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158"/>
                  <a:gd name="T14" fmla="*/ 156 w 156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158">
                    <a:moveTo>
                      <a:pt x="78" y="0"/>
                    </a:moveTo>
                    <a:lnTo>
                      <a:pt x="0" y="158"/>
                    </a:lnTo>
                    <a:lnTo>
                      <a:pt x="156" y="158"/>
                    </a:lnTo>
                    <a:lnTo>
                      <a:pt x="78" y="0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60" name="Line 169"/>
              <p:cNvSpPr>
                <a:spLocks noChangeShapeType="1"/>
              </p:cNvSpPr>
              <p:nvPr/>
            </p:nvSpPr>
            <p:spPr bwMode="auto">
              <a:xfrm flipV="1">
                <a:off x="4034" y="1883"/>
                <a:ext cx="1" cy="7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61" name="Line 170"/>
              <p:cNvSpPr>
                <a:spLocks noChangeShapeType="1"/>
              </p:cNvSpPr>
              <p:nvPr/>
            </p:nvSpPr>
            <p:spPr bwMode="auto">
              <a:xfrm flipH="1">
                <a:off x="3996" y="1883"/>
                <a:ext cx="77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62" name="Freeform 171"/>
              <p:cNvSpPr>
                <a:spLocks/>
              </p:cNvSpPr>
              <p:nvPr/>
            </p:nvSpPr>
            <p:spPr bwMode="auto">
              <a:xfrm>
                <a:off x="3974" y="1283"/>
                <a:ext cx="78" cy="79"/>
              </a:xfrm>
              <a:custGeom>
                <a:avLst/>
                <a:gdLst>
                  <a:gd name="T0" fmla="*/ 0 w 155"/>
                  <a:gd name="T1" fmla="*/ 3 h 157"/>
                  <a:gd name="T2" fmla="*/ 2 w 155"/>
                  <a:gd name="T3" fmla="*/ 0 h 157"/>
                  <a:gd name="T4" fmla="*/ 3 w 155"/>
                  <a:gd name="T5" fmla="*/ 3 h 157"/>
                  <a:gd name="T6" fmla="*/ 0 w 155"/>
                  <a:gd name="T7" fmla="*/ 3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7"/>
                  <a:gd name="T14" fmla="*/ 155 w 155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7">
                    <a:moveTo>
                      <a:pt x="0" y="157"/>
                    </a:moveTo>
                    <a:lnTo>
                      <a:pt x="77" y="0"/>
                    </a:lnTo>
                    <a:lnTo>
                      <a:pt x="155" y="157"/>
                    </a:lnTo>
                    <a:lnTo>
                      <a:pt x="0" y="157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63" name="Line 172"/>
              <p:cNvSpPr>
                <a:spLocks noChangeShapeType="1"/>
              </p:cNvSpPr>
              <p:nvPr/>
            </p:nvSpPr>
            <p:spPr bwMode="auto">
              <a:xfrm flipH="1">
                <a:off x="3974" y="1283"/>
                <a:ext cx="7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64" name="Freeform 173"/>
              <p:cNvSpPr>
                <a:spLocks/>
              </p:cNvSpPr>
              <p:nvPr/>
            </p:nvSpPr>
            <p:spPr bwMode="auto">
              <a:xfrm>
                <a:off x="3974" y="1283"/>
                <a:ext cx="78" cy="79"/>
              </a:xfrm>
              <a:custGeom>
                <a:avLst/>
                <a:gdLst>
                  <a:gd name="T0" fmla="*/ 0 w 155"/>
                  <a:gd name="T1" fmla="*/ 3 h 157"/>
                  <a:gd name="T2" fmla="*/ 2 w 155"/>
                  <a:gd name="T3" fmla="*/ 0 h 157"/>
                  <a:gd name="T4" fmla="*/ 3 w 155"/>
                  <a:gd name="T5" fmla="*/ 3 h 157"/>
                  <a:gd name="T6" fmla="*/ 0 w 155"/>
                  <a:gd name="T7" fmla="*/ 3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7"/>
                  <a:gd name="T14" fmla="*/ 155 w 155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7">
                    <a:moveTo>
                      <a:pt x="0" y="157"/>
                    </a:moveTo>
                    <a:lnTo>
                      <a:pt x="77" y="0"/>
                    </a:lnTo>
                    <a:lnTo>
                      <a:pt x="155" y="157"/>
                    </a:lnTo>
                    <a:lnTo>
                      <a:pt x="0" y="157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65" name="Line 174"/>
              <p:cNvSpPr>
                <a:spLocks noChangeShapeType="1"/>
              </p:cNvSpPr>
              <p:nvPr/>
            </p:nvSpPr>
            <p:spPr bwMode="auto">
              <a:xfrm flipV="1">
                <a:off x="4013" y="1164"/>
                <a:ext cx="1" cy="31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66" name="Freeform 175"/>
              <p:cNvSpPr>
                <a:spLocks/>
              </p:cNvSpPr>
              <p:nvPr/>
            </p:nvSpPr>
            <p:spPr bwMode="auto">
              <a:xfrm>
                <a:off x="3974" y="1283"/>
                <a:ext cx="78" cy="79"/>
              </a:xfrm>
              <a:custGeom>
                <a:avLst/>
                <a:gdLst>
                  <a:gd name="T0" fmla="*/ 2 w 155"/>
                  <a:gd name="T1" fmla="*/ 0 h 159"/>
                  <a:gd name="T2" fmla="*/ 0 w 155"/>
                  <a:gd name="T3" fmla="*/ 2 h 159"/>
                  <a:gd name="T4" fmla="*/ 3 w 155"/>
                  <a:gd name="T5" fmla="*/ 2 h 159"/>
                  <a:gd name="T6" fmla="*/ 2 w 155"/>
                  <a:gd name="T7" fmla="*/ 0 h 15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9"/>
                  <a:gd name="T14" fmla="*/ 155 w 155"/>
                  <a:gd name="T15" fmla="*/ 159 h 15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9">
                    <a:moveTo>
                      <a:pt x="77" y="0"/>
                    </a:moveTo>
                    <a:lnTo>
                      <a:pt x="0" y="159"/>
                    </a:lnTo>
                    <a:lnTo>
                      <a:pt x="155" y="159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67" name="Freeform 176"/>
              <p:cNvSpPr>
                <a:spLocks/>
              </p:cNvSpPr>
              <p:nvPr/>
            </p:nvSpPr>
            <p:spPr bwMode="auto">
              <a:xfrm>
                <a:off x="3974" y="1283"/>
                <a:ext cx="78" cy="79"/>
              </a:xfrm>
              <a:custGeom>
                <a:avLst/>
                <a:gdLst>
                  <a:gd name="T0" fmla="*/ 2 w 155"/>
                  <a:gd name="T1" fmla="*/ 0 h 159"/>
                  <a:gd name="T2" fmla="*/ 0 w 155"/>
                  <a:gd name="T3" fmla="*/ 2 h 159"/>
                  <a:gd name="T4" fmla="*/ 3 w 155"/>
                  <a:gd name="T5" fmla="*/ 2 h 159"/>
                  <a:gd name="T6" fmla="*/ 2 w 155"/>
                  <a:gd name="T7" fmla="*/ 0 h 15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9"/>
                  <a:gd name="T14" fmla="*/ 155 w 155"/>
                  <a:gd name="T15" fmla="*/ 159 h 15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9">
                    <a:moveTo>
                      <a:pt x="77" y="0"/>
                    </a:moveTo>
                    <a:lnTo>
                      <a:pt x="0" y="159"/>
                    </a:lnTo>
                    <a:lnTo>
                      <a:pt x="155" y="159"/>
                    </a:lnTo>
                    <a:lnTo>
                      <a:pt x="77" y="0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68" name="Line 177"/>
              <p:cNvSpPr>
                <a:spLocks noChangeShapeType="1"/>
              </p:cNvSpPr>
              <p:nvPr/>
            </p:nvSpPr>
            <p:spPr bwMode="auto">
              <a:xfrm flipV="1">
                <a:off x="4013" y="1283"/>
                <a:ext cx="1" cy="7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69" name="Line 178"/>
              <p:cNvSpPr>
                <a:spLocks noChangeShapeType="1"/>
              </p:cNvSpPr>
              <p:nvPr/>
            </p:nvSpPr>
            <p:spPr bwMode="auto">
              <a:xfrm flipH="1">
                <a:off x="3974" y="1283"/>
                <a:ext cx="7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70" name="Freeform 179"/>
              <p:cNvSpPr>
                <a:spLocks/>
              </p:cNvSpPr>
              <p:nvPr/>
            </p:nvSpPr>
            <p:spPr bwMode="auto">
              <a:xfrm>
                <a:off x="4348" y="1295"/>
                <a:ext cx="78" cy="78"/>
              </a:xfrm>
              <a:custGeom>
                <a:avLst/>
                <a:gdLst>
                  <a:gd name="T0" fmla="*/ 0 w 155"/>
                  <a:gd name="T1" fmla="*/ 0 h 158"/>
                  <a:gd name="T2" fmla="*/ 3 w 155"/>
                  <a:gd name="T3" fmla="*/ 1 h 158"/>
                  <a:gd name="T4" fmla="*/ 0 w 155"/>
                  <a:gd name="T5" fmla="*/ 2 h 158"/>
                  <a:gd name="T6" fmla="*/ 0 w 155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8"/>
                  <a:gd name="T14" fmla="*/ 155 w 155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8">
                    <a:moveTo>
                      <a:pt x="0" y="0"/>
                    </a:moveTo>
                    <a:lnTo>
                      <a:pt x="155" y="79"/>
                    </a:lnTo>
                    <a:lnTo>
                      <a:pt x="0" y="15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71" name="Line 180"/>
              <p:cNvSpPr>
                <a:spLocks noChangeShapeType="1"/>
              </p:cNvSpPr>
              <p:nvPr/>
            </p:nvSpPr>
            <p:spPr bwMode="auto">
              <a:xfrm flipV="1">
                <a:off x="4426" y="1295"/>
                <a:ext cx="1" cy="7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72" name="Freeform 181"/>
              <p:cNvSpPr>
                <a:spLocks/>
              </p:cNvSpPr>
              <p:nvPr/>
            </p:nvSpPr>
            <p:spPr bwMode="auto">
              <a:xfrm>
                <a:off x="4348" y="1295"/>
                <a:ext cx="78" cy="78"/>
              </a:xfrm>
              <a:custGeom>
                <a:avLst/>
                <a:gdLst>
                  <a:gd name="T0" fmla="*/ 0 w 155"/>
                  <a:gd name="T1" fmla="*/ 0 h 158"/>
                  <a:gd name="T2" fmla="*/ 3 w 155"/>
                  <a:gd name="T3" fmla="*/ 1 h 158"/>
                  <a:gd name="T4" fmla="*/ 0 w 155"/>
                  <a:gd name="T5" fmla="*/ 2 h 158"/>
                  <a:gd name="T6" fmla="*/ 0 w 155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8"/>
                  <a:gd name="T14" fmla="*/ 155 w 155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8">
                    <a:moveTo>
                      <a:pt x="0" y="0"/>
                    </a:moveTo>
                    <a:lnTo>
                      <a:pt x="155" y="79"/>
                    </a:lnTo>
                    <a:lnTo>
                      <a:pt x="0" y="15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73" name="Line 182"/>
              <p:cNvSpPr>
                <a:spLocks noChangeShapeType="1"/>
              </p:cNvSpPr>
              <p:nvPr/>
            </p:nvSpPr>
            <p:spPr bwMode="auto">
              <a:xfrm>
                <a:off x="4230" y="1334"/>
                <a:ext cx="31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74" name="Freeform 183"/>
              <p:cNvSpPr>
                <a:spLocks/>
              </p:cNvSpPr>
              <p:nvPr/>
            </p:nvSpPr>
            <p:spPr bwMode="auto">
              <a:xfrm>
                <a:off x="4347" y="1295"/>
                <a:ext cx="79" cy="78"/>
              </a:xfrm>
              <a:custGeom>
                <a:avLst/>
                <a:gdLst>
                  <a:gd name="T0" fmla="*/ 3 w 157"/>
                  <a:gd name="T1" fmla="*/ 1 h 158"/>
                  <a:gd name="T2" fmla="*/ 0 w 157"/>
                  <a:gd name="T3" fmla="*/ 0 h 158"/>
                  <a:gd name="T4" fmla="*/ 0 w 157"/>
                  <a:gd name="T5" fmla="*/ 2 h 158"/>
                  <a:gd name="T6" fmla="*/ 3 w 157"/>
                  <a:gd name="T7" fmla="*/ 1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7"/>
                  <a:gd name="T13" fmla="*/ 0 h 158"/>
                  <a:gd name="T14" fmla="*/ 157 w 157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7" h="158">
                    <a:moveTo>
                      <a:pt x="157" y="79"/>
                    </a:moveTo>
                    <a:lnTo>
                      <a:pt x="0" y="0"/>
                    </a:lnTo>
                    <a:lnTo>
                      <a:pt x="0" y="158"/>
                    </a:lnTo>
                    <a:lnTo>
                      <a:pt x="157" y="79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75" name="Freeform 184"/>
              <p:cNvSpPr>
                <a:spLocks/>
              </p:cNvSpPr>
              <p:nvPr/>
            </p:nvSpPr>
            <p:spPr bwMode="auto">
              <a:xfrm>
                <a:off x="4347" y="1295"/>
                <a:ext cx="79" cy="78"/>
              </a:xfrm>
              <a:custGeom>
                <a:avLst/>
                <a:gdLst>
                  <a:gd name="T0" fmla="*/ 3 w 157"/>
                  <a:gd name="T1" fmla="*/ 1 h 158"/>
                  <a:gd name="T2" fmla="*/ 0 w 157"/>
                  <a:gd name="T3" fmla="*/ 0 h 158"/>
                  <a:gd name="T4" fmla="*/ 0 w 157"/>
                  <a:gd name="T5" fmla="*/ 2 h 158"/>
                  <a:gd name="T6" fmla="*/ 3 w 157"/>
                  <a:gd name="T7" fmla="*/ 1 h 1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7"/>
                  <a:gd name="T13" fmla="*/ 0 h 158"/>
                  <a:gd name="T14" fmla="*/ 157 w 157"/>
                  <a:gd name="T15" fmla="*/ 158 h 1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7" h="158">
                    <a:moveTo>
                      <a:pt x="157" y="79"/>
                    </a:moveTo>
                    <a:lnTo>
                      <a:pt x="0" y="0"/>
                    </a:lnTo>
                    <a:lnTo>
                      <a:pt x="0" y="158"/>
                    </a:lnTo>
                    <a:lnTo>
                      <a:pt x="157" y="79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76" name="Line 185"/>
              <p:cNvSpPr>
                <a:spLocks noChangeShapeType="1"/>
              </p:cNvSpPr>
              <p:nvPr/>
            </p:nvSpPr>
            <p:spPr bwMode="auto">
              <a:xfrm>
                <a:off x="4347" y="1334"/>
                <a:ext cx="7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77" name="Line 186"/>
              <p:cNvSpPr>
                <a:spLocks noChangeShapeType="1"/>
              </p:cNvSpPr>
              <p:nvPr/>
            </p:nvSpPr>
            <p:spPr bwMode="auto">
              <a:xfrm flipV="1">
                <a:off x="4426" y="1295"/>
                <a:ext cx="1" cy="7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78" name="Freeform 187"/>
              <p:cNvSpPr>
                <a:spLocks/>
              </p:cNvSpPr>
              <p:nvPr/>
            </p:nvSpPr>
            <p:spPr bwMode="auto">
              <a:xfrm>
                <a:off x="4350" y="1855"/>
                <a:ext cx="78" cy="78"/>
              </a:xfrm>
              <a:custGeom>
                <a:avLst/>
                <a:gdLst>
                  <a:gd name="T0" fmla="*/ 0 w 155"/>
                  <a:gd name="T1" fmla="*/ 0 h 157"/>
                  <a:gd name="T2" fmla="*/ 3 w 155"/>
                  <a:gd name="T3" fmla="*/ 1 h 157"/>
                  <a:gd name="T4" fmla="*/ 0 w 155"/>
                  <a:gd name="T5" fmla="*/ 2 h 157"/>
                  <a:gd name="T6" fmla="*/ 0 w 155"/>
                  <a:gd name="T7" fmla="*/ 0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7"/>
                  <a:gd name="T14" fmla="*/ 155 w 155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7">
                    <a:moveTo>
                      <a:pt x="0" y="0"/>
                    </a:moveTo>
                    <a:lnTo>
                      <a:pt x="155" y="78"/>
                    </a:lnTo>
                    <a:lnTo>
                      <a:pt x="0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79" name="Line 188"/>
              <p:cNvSpPr>
                <a:spLocks noChangeShapeType="1"/>
              </p:cNvSpPr>
              <p:nvPr/>
            </p:nvSpPr>
            <p:spPr bwMode="auto">
              <a:xfrm flipV="1">
                <a:off x="4428" y="1855"/>
                <a:ext cx="1" cy="7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80" name="Freeform 189"/>
              <p:cNvSpPr>
                <a:spLocks/>
              </p:cNvSpPr>
              <p:nvPr/>
            </p:nvSpPr>
            <p:spPr bwMode="auto">
              <a:xfrm>
                <a:off x="4350" y="1855"/>
                <a:ext cx="78" cy="78"/>
              </a:xfrm>
              <a:custGeom>
                <a:avLst/>
                <a:gdLst>
                  <a:gd name="T0" fmla="*/ 0 w 155"/>
                  <a:gd name="T1" fmla="*/ 0 h 157"/>
                  <a:gd name="T2" fmla="*/ 3 w 155"/>
                  <a:gd name="T3" fmla="*/ 1 h 157"/>
                  <a:gd name="T4" fmla="*/ 0 w 155"/>
                  <a:gd name="T5" fmla="*/ 2 h 157"/>
                  <a:gd name="T6" fmla="*/ 0 w 155"/>
                  <a:gd name="T7" fmla="*/ 0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157"/>
                  <a:gd name="T14" fmla="*/ 155 w 155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157">
                    <a:moveTo>
                      <a:pt x="0" y="0"/>
                    </a:moveTo>
                    <a:lnTo>
                      <a:pt x="155" y="78"/>
                    </a:lnTo>
                    <a:lnTo>
                      <a:pt x="0" y="157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81" name="Line 190"/>
              <p:cNvSpPr>
                <a:spLocks noChangeShapeType="1"/>
              </p:cNvSpPr>
              <p:nvPr/>
            </p:nvSpPr>
            <p:spPr bwMode="auto">
              <a:xfrm>
                <a:off x="4230" y="1894"/>
                <a:ext cx="31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82" name="Freeform 191"/>
              <p:cNvSpPr>
                <a:spLocks/>
              </p:cNvSpPr>
              <p:nvPr/>
            </p:nvSpPr>
            <p:spPr bwMode="auto">
              <a:xfrm>
                <a:off x="4349" y="1855"/>
                <a:ext cx="80" cy="78"/>
              </a:xfrm>
              <a:custGeom>
                <a:avLst/>
                <a:gdLst>
                  <a:gd name="T0" fmla="*/ 3 w 159"/>
                  <a:gd name="T1" fmla="*/ 1 h 157"/>
                  <a:gd name="T2" fmla="*/ 0 w 159"/>
                  <a:gd name="T3" fmla="*/ 0 h 157"/>
                  <a:gd name="T4" fmla="*/ 0 w 159"/>
                  <a:gd name="T5" fmla="*/ 2 h 157"/>
                  <a:gd name="T6" fmla="*/ 3 w 159"/>
                  <a:gd name="T7" fmla="*/ 1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9"/>
                  <a:gd name="T13" fmla="*/ 0 h 157"/>
                  <a:gd name="T14" fmla="*/ 159 w 159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9" h="157">
                    <a:moveTo>
                      <a:pt x="159" y="78"/>
                    </a:moveTo>
                    <a:lnTo>
                      <a:pt x="0" y="0"/>
                    </a:lnTo>
                    <a:lnTo>
                      <a:pt x="0" y="157"/>
                    </a:lnTo>
                    <a:lnTo>
                      <a:pt x="159" y="78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83" name="Freeform 192"/>
              <p:cNvSpPr>
                <a:spLocks/>
              </p:cNvSpPr>
              <p:nvPr/>
            </p:nvSpPr>
            <p:spPr bwMode="auto">
              <a:xfrm>
                <a:off x="4349" y="1855"/>
                <a:ext cx="80" cy="78"/>
              </a:xfrm>
              <a:custGeom>
                <a:avLst/>
                <a:gdLst>
                  <a:gd name="T0" fmla="*/ 3 w 159"/>
                  <a:gd name="T1" fmla="*/ 1 h 157"/>
                  <a:gd name="T2" fmla="*/ 0 w 159"/>
                  <a:gd name="T3" fmla="*/ 0 h 157"/>
                  <a:gd name="T4" fmla="*/ 0 w 159"/>
                  <a:gd name="T5" fmla="*/ 2 h 157"/>
                  <a:gd name="T6" fmla="*/ 3 w 159"/>
                  <a:gd name="T7" fmla="*/ 1 h 1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9"/>
                  <a:gd name="T13" fmla="*/ 0 h 157"/>
                  <a:gd name="T14" fmla="*/ 159 w 159"/>
                  <a:gd name="T15" fmla="*/ 157 h 1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9" h="157">
                    <a:moveTo>
                      <a:pt x="159" y="78"/>
                    </a:moveTo>
                    <a:lnTo>
                      <a:pt x="0" y="0"/>
                    </a:lnTo>
                    <a:lnTo>
                      <a:pt x="0" y="157"/>
                    </a:lnTo>
                    <a:lnTo>
                      <a:pt x="159" y="78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84" name="Line 193"/>
              <p:cNvSpPr>
                <a:spLocks noChangeShapeType="1"/>
              </p:cNvSpPr>
              <p:nvPr/>
            </p:nvSpPr>
            <p:spPr bwMode="auto">
              <a:xfrm>
                <a:off x="4349" y="1894"/>
                <a:ext cx="80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85" name="Line 194"/>
              <p:cNvSpPr>
                <a:spLocks noChangeShapeType="1"/>
              </p:cNvSpPr>
              <p:nvPr/>
            </p:nvSpPr>
            <p:spPr bwMode="auto">
              <a:xfrm flipV="1">
                <a:off x="4429" y="1855"/>
                <a:ext cx="1" cy="7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86" name="Rectangle 195"/>
              <p:cNvSpPr>
                <a:spLocks noChangeArrowheads="1"/>
              </p:cNvSpPr>
              <p:nvPr/>
            </p:nvSpPr>
            <p:spPr bwMode="auto">
              <a:xfrm>
                <a:off x="4575" y="1378"/>
                <a:ext cx="36" cy="8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900">
                    <a:solidFill>
                      <a:srgbClr val="000000"/>
                    </a:solidFill>
                    <a:latin typeface="宋体" pitchFamily="2" charset="-122"/>
                  </a:rPr>
                  <a:t>+</a:t>
                </a:r>
                <a:endParaRPr lang="en-US" altLang="zh-CN"/>
              </a:p>
            </p:txBody>
          </p:sp>
          <p:sp>
            <p:nvSpPr>
              <p:cNvPr id="81087" name="Rectangle 196"/>
              <p:cNvSpPr>
                <a:spLocks noChangeArrowheads="1"/>
              </p:cNvSpPr>
              <p:nvPr/>
            </p:nvSpPr>
            <p:spPr bwMode="auto">
              <a:xfrm>
                <a:off x="4575" y="1529"/>
                <a:ext cx="36" cy="8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900">
                    <a:solidFill>
                      <a:srgbClr val="000000"/>
                    </a:solidFill>
                    <a:latin typeface="宋体" pitchFamily="2" charset="-122"/>
                  </a:rPr>
                  <a:t>-</a:t>
                </a:r>
                <a:endParaRPr lang="en-US" altLang="zh-CN"/>
              </a:p>
            </p:txBody>
          </p:sp>
          <p:sp>
            <p:nvSpPr>
              <p:cNvPr id="81088" name="Rectangle 197"/>
              <p:cNvSpPr>
                <a:spLocks noChangeArrowheads="1"/>
              </p:cNvSpPr>
              <p:nvPr/>
            </p:nvSpPr>
            <p:spPr bwMode="auto">
              <a:xfrm>
                <a:off x="4633" y="1484"/>
                <a:ext cx="44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700">
                    <a:solidFill>
                      <a:srgbClr val="000000"/>
                    </a:solidFill>
                    <a:latin typeface="Times New Roman" pitchFamily="18" charset="0"/>
                  </a:rPr>
                  <a:t>oi</a:t>
                </a:r>
                <a:endParaRPr lang="en-US" altLang="zh-CN"/>
              </a:p>
            </p:txBody>
          </p:sp>
          <p:sp>
            <p:nvSpPr>
              <p:cNvPr id="81089" name="Rectangle 198"/>
              <p:cNvSpPr>
                <a:spLocks noChangeArrowheads="1"/>
              </p:cNvSpPr>
              <p:nvPr/>
            </p:nvSpPr>
            <p:spPr bwMode="auto">
              <a:xfrm>
                <a:off x="4595" y="1446"/>
                <a:ext cx="40" cy="9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000" i="1">
                    <a:solidFill>
                      <a:srgbClr val="000000"/>
                    </a:solidFill>
                    <a:latin typeface="Times New Roman" pitchFamily="18" charset="0"/>
                  </a:rPr>
                  <a:t>u</a:t>
                </a:r>
                <a:endParaRPr lang="en-US" altLang="zh-CN"/>
              </a:p>
            </p:txBody>
          </p:sp>
          <p:sp>
            <p:nvSpPr>
              <p:cNvPr id="81090" name="Rectangle 199"/>
              <p:cNvSpPr>
                <a:spLocks noChangeArrowheads="1"/>
              </p:cNvSpPr>
              <p:nvPr/>
            </p:nvSpPr>
            <p:spPr bwMode="auto">
              <a:xfrm>
                <a:off x="3198" y="1207"/>
                <a:ext cx="122" cy="77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+</a:t>
                </a:r>
              </a:p>
              <a:p>
                <a:pPr eaLnBrk="1" hangingPunct="1"/>
                <a:endParaRPr lang="en-US" altLang="zh-CN" sz="1600" i="1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</a:p>
              <a:p>
                <a:pPr eaLnBrk="1" hangingPunct="1"/>
                <a:endParaRPr lang="en-US" altLang="zh-CN" sz="1600" i="1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-</a:t>
                </a:r>
                <a:endParaRPr lang="en-US" altLang="zh-CN" sz="1600"/>
              </a:p>
            </p:txBody>
          </p:sp>
          <p:sp>
            <p:nvSpPr>
              <p:cNvPr id="81091" name="Rectangle 200"/>
              <p:cNvSpPr>
                <a:spLocks noChangeArrowheads="1"/>
              </p:cNvSpPr>
              <p:nvPr/>
            </p:nvSpPr>
            <p:spPr bwMode="auto">
              <a:xfrm>
                <a:off x="5239" y="1253"/>
                <a:ext cx="122" cy="46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+</a:t>
                </a:r>
              </a:p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o</a:t>
                </a:r>
              </a:p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latin typeface="Times New Roman" pitchFamily="18" charset="0"/>
                  </a:rPr>
                  <a:t>-</a:t>
                </a:r>
                <a:endParaRPr lang="en-US" altLang="zh-CN" sz="1600"/>
              </a:p>
            </p:txBody>
          </p:sp>
          <p:sp>
            <p:nvSpPr>
              <p:cNvPr id="81092" name="Rectangle 201"/>
              <p:cNvSpPr>
                <a:spLocks noChangeArrowheads="1"/>
              </p:cNvSpPr>
              <p:nvPr/>
            </p:nvSpPr>
            <p:spPr bwMode="auto">
              <a:xfrm>
                <a:off x="3969" y="1525"/>
                <a:ext cx="96" cy="11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200" i="1">
                    <a:solidFill>
                      <a:srgbClr val="000000"/>
                    </a:solidFill>
                    <a:latin typeface="Times New Roman" pitchFamily="18" charset="0"/>
                  </a:rPr>
                  <a:t>N</a:t>
                </a:r>
                <a:r>
                  <a:rPr lang="en-US" altLang="zh-CN" sz="12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81093" name="Rectangle 202"/>
              <p:cNvSpPr>
                <a:spLocks noChangeArrowheads="1"/>
              </p:cNvSpPr>
              <p:nvPr/>
            </p:nvSpPr>
            <p:spPr bwMode="auto">
              <a:xfrm>
                <a:off x="4241" y="1434"/>
                <a:ext cx="96" cy="11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200" i="1">
                    <a:solidFill>
                      <a:srgbClr val="000000"/>
                    </a:solidFill>
                    <a:latin typeface="Times New Roman" pitchFamily="18" charset="0"/>
                  </a:rPr>
                  <a:t>N</a:t>
                </a:r>
                <a:r>
                  <a:rPr lang="en-US" altLang="zh-CN" sz="12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81094" name="Rectangle 203"/>
              <p:cNvSpPr>
                <a:spLocks noChangeArrowheads="1"/>
              </p:cNvSpPr>
              <p:nvPr/>
            </p:nvSpPr>
            <p:spPr bwMode="auto">
              <a:xfrm>
                <a:off x="3696" y="1253"/>
                <a:ext cx="122" cy="15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600">
                    <a:solidFill>
                      <a:srgbClr val="000000"/>
                    </a:solidFill>
                    <a:latin typeface="Times New Roman" pitchFamily="18" charset="0"/>
                  </a:rPr>
                  <a:t>T</a:t>
                </a:r>
                <a:r>
                  <a:rPr lang="en-US" altLang="zh-CN" sz="1600" baseline="-250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81095" name="Rectangle 204"/>
              <p:cNvSpPr>
                <a:spLocks noChangeArrowheads="1"/>
              </p:cNvSpPr>
              <p:nvPr/>
            </p:nvSpPr>
            <p:spPr bwMode="auto">
              <a:xfrm>
                <a:off x="3696" y="1797"/>
                <a:ext cx="122" cy="15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600">
                    <a:solidFill>
                      <a:srgbClr val="000000"/>
                    </a:solidFill>
                    <a:latin typeface="Times New Roman" pitchFamily="18" charset="0"/>
                  </a:rPr>
                  <a:t>T</a:t>
                </a:r>
                <a:r>
                  <a:rPr lang="en-US" altLang="zh-CN" sz="1600" baseline="-250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81096" name="Rectangle 205"/>
              <p:cNvSpPr>
                <a:spLocks noChangeArrowheads="1"/>
              </p:cNvSpPr>
              <p:nvPr/>
            </p:nvSpPr>
            <p:spPr bwMode="auto">
              <a:xfrm>
                <a:off x="4241" y="1661"/>
                <a:ext cx="96" cy="11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200" i="1">
                    <a:solidFill>
                      <a:srgbClr val="000000"/>
                    </a:solidFill>
                    <a:latin typeface="Times New Roman" pitchFamily="18" charset="0"/>
                  </a:rPr>
                  <a:t>N</a:t>
                </a:r>
                <a:r>
                  <a:rPr lang="en-US" altLang="zh-CN" sz="12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</p:grpSp>
        <p:sp>
          <p:nvSpPr>
            <p:cNvPr id="80962" name="Line 206"/>
            <p:cNvSpPr>
              <a:spLocks noChangeShapeType="1"/>
            </p:cNvSpPr>
            <p:nvPr/>
          </p:nvSpPr>
          <p:spPr bwMode="auto">
            <a:xfrm flipV="1">
              <a:off x="3561" y="2432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63" name="Line 207"/>
            <p:cNvSpPr>
              <a:spLocks noChangeShapeType="1"/>
            </p:cNvSpPr>
            <p:nvPr/>
          </p:nvSpPr>
          <p:spPr bwMode="auto">
            <a:xfrm>
              <a:off x="3561" y="2659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64" name="Line 208"/>
            <p:cNvSpPr>
              <a:spLocks noChangeShapeType="1"/>
            </p:cNvSpPr>
            <p:nvPr/>
          </p:nvSpPr>
          <p:spPr bwMode="auto">
            <a:xfrm flipH="1">
              <a:off x="3652" y="2341"/>
              <a:ext cx="181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14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14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683" grpId="0"/>
      <p:bldP spid="14868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ChangeArrowheads="1"/>
          </p:cNvSpPr>
          <p:nvPr/>
        </p:nvSpPr>
        <p:spPr bwMode="auto">
          <a:xfrm>
            <a:off x="1259632" y="1105580"/>
            <a:ext cx="668433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An practical Half-Bridge dc-dc supply</a:t>
            </a:r>
          </a:p>
        </p:txBody>
      </p:sp>
      <p:sp>
        <p:nvSpPr>
          <p:cNvPr id="45061" name="Text Box 5"/>
          <p:cNvSpPr txBox="1">
            <a:spLocks noChangeArrowheads="1"/>
          </p:cNvSpPr>
          <p:nvPr/>
        </p:nvSpPr>
        <p:spPr bwMode="auto">
          <a:xfrm>
            <a:off x="611188" y="6237288"/>
            <a:ext cx="5759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A50021"/>
                </a:solidFill>
              </a:rPr>
              <a:t>What is the role of capacitor C</a:t>
            </a:r>
            <a:r>
              <a:rPr lang="en-US" altLang="zh-CN" sz="2400" baseline="-25000">
                <a:solidFill>
                  <a:srgbClr val="A50021"/>
                </a:solidFill>
              </a:rPr>
              <a:t>b</a:t>
            </a:r>
            <a:r>
              <a:rPr lang="en-US" altLang="zh-CN" sz="2400">
                <a:solidFill>
                  <a:srgbClr val="A50021"/>
                </a:solidFill>
              </a:rPr>
              <a:t>?</a:t>
            </a:r>
          </a:p>
        </p:txBody>
      </p:sp>
      <p:cxnSp>
        <p:nvCxnSpPr>
          <p:cNvPr id="3" name="直接箭头连接符 2"/>
          <p:cNvCxnSpPr/>
          <p:nvPr/>
        </p:nvCxnSpPr>
        <p:spPr>
          <a:xfrm flipH="1" flipV="1">
            <a:off x="4211960" y="3658619"/>
            <a:ext cx="176213" cy="23034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82" y="1930031"/>
            <a:ext cx="8928214" cy="2579089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6" name="Picture 10"/>
          <p:cNvPicPr>
            <a:picLocks noChangeAspect="1" noChangeArrowheads="1"/>
          </p:cNvPicPr>
          <p:nvPr/>
        </p:nvPicPr>
        <p:blipFill rotWithShape="1">
          <a:blip r:embed="rId2" cstate="print"/>
          <a:srcRect t="-1" b="29929"/>
          <a:stretch/>
        </p:blipFill>
        <p:spPr bwMode="auto">
          <a:xfrm>
            <a:off x="539750" y="3668001"/>
            <a:ext cx="8388424" cy="2416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02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59788" y="6256067"/>
            <a:ext cx="611088" cy="476250"/>
          </a:xfrm>
          <a:noFill/>
        </p:spPr>
        <p:txBody>
          <a:bodyPr/>
          <a:lstStyle/>
          <a:p>
            <a:fld id="{CAD70F02-F89E-4855-A792-6E84B11A9FCD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102403" name="TextBox 5"/>
          <p:cNvSpPr txBox="1">
            <a:spLocks noChangeArrowheads="1"/>
          </p:cNvSpPr>
          <p:nvPr/>
        </p:nvSpPr>
        <p:spPr bwMode="auto">
          <a:xfrm>
            <a:off x="0" y="1772816"/>
            <a:ext cx="9144000" cy="189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en-US" altLang="zh-CN" sz="2400" dirty="0"/>
              <a:t>  </a:t>
            </a:r>
            <a:r>
              <a:rPr lang="en-US" altLang="zh-CN" sz="2400" dirty="0">
                <a:solidFill>
                  <a:srgbClr val="A50021"/>
                </a:solidFill>
              </a:rPr>
              <a:t>Push-Pull converter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/>
              <a:t>has the advantage of having both transistors gates referenced to the low-side of the input voltage, and has the disadvantage of during the power transfer interval, only one half of the primary windings are utilized.      </a:t>
            </a:r>
            <a:endParaRPr lang="zh-CN" altLang="en-US" sz="2400" dirty="0"/>
          </a:p>
        </p:txBody>
      </p:sp>
      <p:sp>
        <p:nvSpPr>
          <p:cNvPr id="102404" name="Rectangle 7"/>
          <p:cNvSpPr>
            <a:spLocks noChangeArrowheads="1"/>
          </p:cNvSpPr>
          <p:nvPr/>
        </p:nvSpPr>
        <p:spPr bwMode="auto">
          <a:xfrm>
            <a:off x="539750" y="826666"/>
            <a:ext cx="7920038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2800" b="1" dirty="0">
                <a:solidFill>
                  <a:srgbClr val="A50021"/>
                </a:solidFill>
              </a:rPr>
              <a:t>Comparison of the push-pull converter with the half-bridge converter </a:t>
            </a:r>
            <a:r>
              <a:rPr kumimoji="1" lang="zh-CN" altLang="en-US" sz="2800" b="1" dirty="0">
                <a:solidFill>
                  <a:schemeClr val="tx2"/>
                </a:solidFill>
              </a:rPr>
              <a:t>☆</a:t>
            </a:r>
            <a:endParaRPr kumimoji="1" lang="en-US" altLang="zh-CN" sz="2800" b="1" dirty="0">
              <a:solidFill>
                <a:schemeClr val="tx2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59632" y="6219633"/>
            <a:ext cx="33473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A50021"/>
                </a:solidFill>
              </a:rPr>
              <a:t>half-bridge converter 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5436096" y="6202239"/>
            <a:ext cx="31406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A50021"/>
                </a:solidFill>
              </a:rPr>
              <a:t>push-pull converter </a:t>
            </a:r>
            <a:endParaRPr lang="zh-CN" altLang="en-US" sz="2400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245225"/>
            <a:ext cx="2133600" cy="476250"/>
          </a:xfrm>
          <a:noFill/>
        </p:spPr>
        <p:txBody>
          <a:bodyPr/>
          <a:lstStyle/>
          <a:p>
            <a:fld id="{5B396DEA-94C3-4DDA-86AC-F5228260845E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82948" name="Text Box 140"/>
          <p:cNvSpPr txBox="1">
            <a:spLocks noChangeArrowheads="1"/>
          </p:cNvSpPr>
          <p:nvPr/>
        </p:nvSpPr>
        <p:spPr bwMode="auto">
          <a:xfrm>
            <a:off x="0" y="1143000"/>
            <a:ext cx="33845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</a:rPr>
              <a:t>1 converter circuit</a:t>
            </a:r>
          </a:p>
        </p:txBody>
      </p:sp>
      <p:sp>
        <p:nvSpPr>
          <p:cNvPr id="82949" name="Rectangle 821"/>
          <p:cNvSpPr>
            <a:spLocks noChangeArrowheads="1"/>
          </p:cNvSpPr>
          <p:nvPr/>
        </p:nvSpPr>
        <p:spPr bwMode="auto">
          <a:xfrm>
            <a:off x="2268538" y="5300663"/>
            <a:ext cx="4848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dirty="0"/>
              <a:t>Full-bridge isolated buck converter</a:t>
            </a:r>
            <a:endParaRPr lang="zh-CN" altLang="en-US" sz="2400" dirty="0"/>
          </a:p>
        </p:txBody>
      </p:sp>
      <p:graphicFrame>
        <p:nvGraphicFramePr>
          <p:cNvPr id="82950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3963916"/>
              </p:ext>
            </p:extLst>
          </p:nvPr>
        </p:nvGraphicFramePr>
        <p:xfrm>
          <a:off x="14288" y="1957388"/>
          <a:ext cx="9129712" cy="2388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3" name="Visio" r:id="rId3" imgW="10115494" imgH="2838352" progId="Visio.Drawing.11">
                  <p:embed/>
                </p:oleObj>
              </mc:Choice>
              <mc:Fallback>
                <p:oleObj name="Visio" r:id="rId3" imgW="10115494" imgH="2838352" progId="Visio.Drawing.11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8" y="1957388"/>
                        <a:ext cx="9129712" cy="23889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3851920" y="188640"/>
            <a:ext cx="49736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A50021"/>
                </a:solidFill>
              </a:rPr>
              <a:t>10-4-6 Full-Bridge Converter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404"/>
          <p:cNvSpPr txBox="1">
            <a:spLocks noChangeArrowheads="1"/>
          </p:cNvSpPr>
          <p:nvPr/>
        </p:nvSpPr>
        <p:spPr bwMode="auto">
          <a:xfrm>
            <a:off x="122598" y="1021807"/>
            <a:ext cx="4032250" cy="1554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en-US" altLang="zh-CN" sz="2800" b="1" dirty="0">
                <a:solidFill>
                  <a:srgbClr val="FF0000"/>
                </a:solidFill>
              </a:rPr>
              <a:t>2 Operation principle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400" b="1" dirty="0"/>
              <a:t>(Similar to that of push-pull converter)</a:t>
            </a:r>
          </a:p>
        </p:txBody>
      </p:sp>
      <p:sp>
        <p:nvSpPr>
          <p:cNvPr id="83971" name="Text Box 405"/>
          <p:cNvSpPr txBox="1">
            <a:spLocks noChangeArrowheads="1"/>
          </p:cNvSpPr>
          <p:nvPr/>
        </p:nvSpPr>
        <p:spPr bwMode="auto">
          <a:xfrm>
            <a:off x="254712" y="2568752"/>
            <a:ext cx="4608513" cy="189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A50021"/>
                </a:solidFill>
              </a:rPr>
              <a:t>(1)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A50021"/>
                </a:solidFill>
              </a:rPr>
              <a:t>When 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3</a:t>
            </a:r>
            <a:r>
              <a:rPr lang="en-US" altLang="zh-CN" sz="2400" dirty="0">
                <a:solidFill>
                  <a:srgbClr val="A50021"/>
                </a:solidFill>
              </a:rPr>
              <a:t>, 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4</a:t>
            </a:r>
            <a:r>
              <a:rPr lang="en-US" altLang="zh-CN" sz="2400" baseline="-25000" dirty="0"/>
              <a:t> </a:t>
            </a:r>
            <a:r>
              <a:rPr lang="en-US" altLang="zh-CN" sz="2400" dirty="0">
                <a:solidFill>
                  <a:srgbClr val="A50021"/>
                </a:solidFill>
              </a:rPr>
              <a:t>are</a:t>
            </a:r>
            <a:r>
              <a:rPr lang="en-US" altLang="zh-CN" sz="2400" baseline="-25000" dirty="0"/>
              <a:t> </a:t>
            </a:r>
            <a:r>
              <a:rPr lang="en-US" altLang="zh-CN" sz="2400" dirty="0">
                <a:solidFill>
                  <a:srgbClr val="A50021"/>
                </a:solidFill>
              </a:rPr>
              <a:t>on and 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1</a:t>
            </a:r>
            <a:r>
              <a:rPr lang="en-US" altLang="zh-CN" sz="2400" dirty="0">
                <a:solidFill>
                  <a:srgbClr val="A50021"/>
                </a:solidFill>
              </a:rPr>
              <a:t>, 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2</a:t>
            </a:r>
            <a:r>
              <a:rPr lang="en-US" altLang="zh-CN" sz="2400" dirty="0">
                <a:solidFill>
                  <a:srgbClr val="A50021"/>
                </a:solidFill>
              </a:rPr>
              <a:t> are off (0&lt;t&lt;t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on</a:t>
            </a:r>
            <a:r>
              <a:rPr lang="en-US" altLang="zh-CN" sz="2400" dirty="0">
                <a:solidFill>
                  <a:srgbClr val="A50021"/>
                </a:solidFill>
              </a:rPr>
              <a:t>)</a:t>
            </a:r>
            <a:r>
              <a:rPr lang="en-US" altLang="zh-CN" sz="2400" dirty="0"/>
              <a:t>:  D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conducts and D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gets reverse biased. </a:t>
            </a:r>
            <a:r>
              <a:rPr lang="en-US" altLang="zh-CN" sz="2400" dirty="0" err="1"/>
              <a:t>i</a:t>
            </a:r>
            <a:r>
              <a:rPr lang="en-US" altLang="zh-CN" sz="2400" baseline="-25000" dirty="0" err="1"/>
              <a:t>L</a:t>
            </a:r>
            <a:r>
              <a:rPr lang="en-US" altLang="zh-CN" sz="2400" dirty="0"/>
              <a:t> through D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increase linearly.</a:t>
            </a:r>
          </a:p>
        </p:txBody>
      </p:sp>
      <p:grpSp>
        <p:nvGrpSpPr>
          <p:cNvPr id="2" name="Group 409"/>
          <p:cNvGrpSpPr>
            <a:grpSpLocks/>
          </p:cNvGrpSpPr>
          <p:nvPr/>
        </p:nvGrpSpPr>
        <p:grpSpPr bwMode="auto">
          <a:xfrm>
            <a:off x="4716016" y="980728"/>
            <a:ext cx="4323780" cy="5760640"/>
            <a:chOff x="3334" y="890"/>
            <a:chExt cx="2315" cy="3258"/>
          </a:xfrm>
        </p:grpSpPr>
        <p:sp>
          <p:nvSpPr>
            <p:cNvPr id="83974" name="Freeform 175"/>
            <p:cNvSpPr>
              <a:spLocks/>
            </p:cNvSpPr>
            <p:nvPr/>
          </p:nvSpPr>
          <p:spPr bwMode="auto">
            <a:xfrm>
              <a:off x="3396" y="2276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75" name="Freeform 176"/>
            <p:cNvSpPr>
              <a:spLocks/>
            </p:cNvSpPr>
            <p:nvPr/>
          </p:nvSpPr>
          <p:spPr bwMode="auto">
            <a:xfrm>
              <a:off x="3396" y="2276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76" name="Line 177"/>
            <p:cNvSpPr>
              <a:spLocks noChangeShapeType="1"/>
            </p:cNvSpPr>
            <p:nvPr/>
          </p:nvSpPr>
          <p:spPr bwMode="auto">
            <a:xfrm>
              <a:off x="3404" y="2335"/>
              <a:ext cx="1" cy="7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77" name="Freeform 178"/>
            <p:cNvSpPr>
              <a:spLocks/>
            </p:cNvSpPr>
            <p:nvPr/>
          </p:nvSpPr>
          <p:spPr bwMode="auto">
            <a:xfrm>
              <a:off x="5483" y="2858"/>
              <a:ext cx="54" cy="17"/>
            </a:xfrm>
            <a:custGeom>
              <a:avLst/>
              <a:gdLst>
                <a:gd name="T0" fmla="*/ 1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1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78" name="Freeform 179"/>
            <p:cNvSpPr>
              <a:spLocks/>
            </p:cNvSpPr>
            <p:nvPr/>
          </p:nvSpPr>
          <p:spPr bwMode="auto">
            <a:xfrm>
              <a:off x="5483" y="2858"/>
              <a:ext cx="54" cy="17"/>
            </a:xfrm>
            <a:custGeom>
              <a:avLst/>
              <a:gdLst>
                <a:gd name="T0" fmla="*/ 1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1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79" name="Line 180"/>
            <p:cNvSpPr>
              <a:spLocks noChangeShapeType="1"/>
            </p:cNvSpPr>
            <p:nvPr/>
          </p:nvSpPr>
          <p:spPr bwMode="auto">
            <a:xfrm flipH="1">
              <a:off x="3404" y="2867"/>
              <a:ext cx="207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0" name="Line 181"/>
            <p:cNvSpPr>
              <a:spLocks noChangeShapeType="1"/>
            </p:cNvSpPr>
            <p:nvPr/>
          </p:nvSpPr>
          <p:spPr bwMode="auto">
            <a:xfrm>
              <a:off x="3404" y="2387"/>
              <a:ext cx="320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1" name="Freeform 182"/>
            <p:cNvSpPr>
              <a:spLocks/>
            </p:cNvSpPr>
            <p:nvPr/>
          </p:nvSpPr>
          <p:spPr bwMode="auto">
            <a:xfrm>
              <a:off x="5480" y="3909"/>
              <a:ext cx="54" cy="17"/>
            </a:xfrm>
            <a:custGeom>
              <a:avLst/>
              <a:gdLst>
                <a:gd name="T0" fmla="*/ 1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1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2" name="Freeform 183"/>
            <p:cNvSpPr>
              <a:spLocks/>
            </p:cNvSpPr>
            <p:nvPr/>
          </p:nvSpPr>
          <p:spPr bwMode="auto">
            <a:xfrm>
              <a:off x="5480" y="3909"/>
              <a:ext cx="54" cy="17"/>
            </a:xfrm>
            <a:custGeom>
              <a:avLst/>
              <a:gdLst>
                <a:gd name="T0" fmla="*/ 1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1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3" name="Line 184"/>
            <p:cNvSpPr>
              <a:spLocks noChangeShapeType="1"/>
            </p:cNvSpPr>
            <p:nvPr/>
          </p:nvSpPr>
          <p:spPr bwMode="auto">
            <a:xfrm flipH="1">
              <a:off x="3401" y="3918"/>
              <a:ext cx="207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4" name="Rectangle 185"/>
            <p:cNvSpPr>
              <a:spLocks noChangeArrowheads="1"/>
            </p:cNvSpPr>
            <p:nvPr/>
          </p:nvSpPr>
          <p:spPr bwMode="auto">
            <a:xfrm>
              <a:off x="3441" y="2160"/>
              <a:ext cx="1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</a:rPr>
                <a:t>oi</a:t>
              </a:r>
            </a:p>
          </p:txBody>
        </p:sp>
        <p:sp>
          <p:nvSpPr>
            <p:cNvPr id="83985" name="Rectangle 186"/>
            <p:cNvSpPr>
              <a:spLocks noChangeArrowheads="1"/>
            </p:cNvSpPr>
            <p:nvPr/>
          </p:nvSpPr>
          <p:spPr bwMode="auto">
            <a:xfrm>
              <a:off x="3335" y="2798"/>
              <a:ext cx="5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83986" name="Rectangle 187"/>
            <p:cNvSpPr>
              <a:spLocks noChangeArrowheads="1"/>
            </p:cNvSpPr>
            <p:nvPr/>
          </p:nvSpPr>
          <p:spPr bwMode="auto">
            <a:xfrm>
              <a:off x="3334" y="3847"/>
              <a:ext cx="5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83987" name="Rectangle 188"/>
            <p:cNvSpPr>
              <a:spLocks noChangeArrowheads="1"/>
            </p:cNvSpPr>
            <p:nvPr/>
          </p:nvSpPr>
          <p:spPr bwMode="auto">
            <a:xfrm>
              <a:off x="5569" y="2795"/>
              <a:ext cx="5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 sz="2400"/>
            </a:p>
          </p:txBody>
        </p:sp>
        <p:sp>
          <p:nvSpPr>
            <p:cNvPr id="83988" name="Rectangle 189"/>
            <p:cNvSpPr>
              <a:spLocks noChangeArrowheads="1"/>
            </p:cNvSpPr>
            <p:nvPr/>
          </p:nvSpPr>
          <p:spPr bwMode="auto">
            <a:xfrm>
              <a:off x="5566" y="3828"/>
              <a:ext cx="5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 sz="2400"/>
            </a:p>
          </p:txBody>
        </p:sp>
        <p:sp>
          <p:nvSpPr>
            <p:cNvPr id="83989" name="Line 190"/>
            <p:cNvSpPr>
              <a:spLocks noChangeShapeType="1"/>
            </p:cNvSpPr>
            <p:nvPr/>
          </p:nvSpPr>
          <p:spPr bwMode="auto">
            <a:xfrm>
              <a:off x="4257" y="2387"/>
              <a:ext cx="320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0" name="Line 191"/>
            <p:cNvSpPr>
              <a:spLocks noChangeShapeType="1"/>
            </p:cNvSpPr>
            <p:nvPr/>
          </p:nvSpPr>
          <p:spPr bwMode="auto">
            <a:xfrm>
              <a:off x="4577" y="2866"/>
              <a:ext cx="53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1" name="Line 192"/>
            <p:cNvSpPr>
              <a:spLocks noChangeShapeType="1"/>
            </p:cNvSpPr>
            <p:nvPr/>
          </p:nvSpPr>
          <p:spPr bwMode="auto">
            <a:xfrm>
              <a:off x="4577" y="2387"/>
              <a:ext cx="1" cy="29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2" name="Line 193"/>
            <p:cNvSpPr>
              <a:spLocks noChangeShapeType="1"/>
            </p:cNvSpPr>
            <p:nvPr/>
          </p:nvSpPr>
          <p:spPr bwMode="auto">
            <a:xfrm>
              <a:off x="5111" y="2387"/>
              <a:ext cx="319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3" name="Line 194"/>
            <p:cNvSpPr>
              <a:spLocks noChangeShapeType="1"/>
            </p:cNvSpPr>
            <p:nvPr/>
          </p:nvSpPr>
          <p:spPr bwMode="auto">
            <a:xfrm>
              <a:off x="5111" y="2387"/>
              <a:ext cx="1" cy="29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4" name="Rectangle 195"/>
            <p:cNvSpPr>
              <a:spLocks noChangeArrowheads="1"/>
            </p:cNvSpPr>
            <p:nvPr/>
          </p:nvSpPr>
          <p:spPr bwMode="auto">
            <a:xfrm>
              <a:off x="3714" y="2179"/>
              <a:ext cx="4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N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2</a:t>
              </a:r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V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d</a:t>
              </a:r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/N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83995" name="Line 196"/>
            <p:cNvSpPr>
              <a:spLocks noChangeShapeType="1"/>
            </p:cNvSpPr>
            <p:nvPr/>
          </p:nvSpPr>
          <p:spPr bwMode="auto">
            <a:xfrm>
              <a:off x="3724" y="2913"/>
              <a:ext cx="1" cy="1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6" name="Line 197"/>
            <p:cNvSpPr>
              <a:spLocks noChangeShapeType="1"/>
            </p:cNvSpPr>
            <p:nvPr/>
          </p:nvSpPr>
          <p:spPr bwMode="auto">
            <a:xfrm>
              <a:off x="4257" y="2913"/>
              <a:ext cx="1" cy="1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7" name="Line 198"/>
            <p:cNvSpPr>
              <a:spLocks noChangeShapeType="1"/>
            </p:cNvSpPr>
            <p:nvPr/>
          </p:nvSpPr>
          <p:spPr bwMode="auto">
            <a:xfrm>
              <a:off x="4257" y="2913"/>
              <a:ext cx="1" cy="2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8" name="Line 199"/>
            <p:cNvSpPr>
              <a:spLocks noChangeShapeType="1"/>
            </p:cNvSpPr>
            <p:nvPr/>
          </p:nvSpPr>
          <p:spPr bwMode="auto">
            <a:xfrm>
              <a:off x="3404" y="3065"/>
              <a:ext cx="1" cy="8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9" name="Line 200"/>
            <p:cNvSpPr>
              <a:spLocks noChangeShapeType="1"/>
            </p:cNvSpPr>
            <p:nvPr/>
          </p:nvSpPr>
          <p:spPr bwMode="auto">
            <a:xfrm>
              <a:off x="3456" y="2972"/>
              <a:ext cx="2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0" name="Freeform 201"/>
            <p:cNvSpPr>
              <a:spLocks/>
            </p:cNvSpPr>
            <p:nvPr/>
          </p:nvSpPr>
          <p:spPr bwMode="auto">
            <a:xfrm>
              <a:off x="3404" y="2934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0 w 140"/>
                <a:gd name="T3" fmla="*/ 0 h 76"/>
                <a:gd name="T4" fmla="*/ 0 w 140"/>
                <a:gd name="T5" fmla="*/ 5 h 76"/>
                <a:gd name="T6" fmla="*/ 0 w 140"/>
                <a:gd name="T7" fmla="*/ 9 h 76"/>
                <a:gd name="T8" fmla="*/ 0 w 140"/>
                <a:gd name="T9" fmla="*/ 14 h 76"/>
                <a:gd name="T10" fmla="*/ 0 w 140"/>
                <a:gd name="T11" fmla="*/ 18 h 76"/>
                <a:gd name="T12" fmla="*/ 0 w 140"/>
                <a:gd name="T13" fmla="*/ 23 h 76"/>
                <a:gd name="T14" fmla="*/ 0 w 140"/>
                <a:gd name="T15" fmla="*/ 29 h 76"/>
                <a:gd name="T16" fmla="*/ 0 w 140"/>
                <a:gd name="T17" fmla="*/ 33 h 76"/>
                <a:gd name="T18" fmla="*/ 0 w 140"/>
                <a:gd name="T19" fmla="*/ 38 h 76"/>
                <a:gd name="T20" fmla="*/ 0 w 140"/>
                <a:gd name="T21" fmla="*/ 43 h 76"/>
                <a:gd name="T22" fmla="*/ 0 w 140"/>
                <a:gd name="T23" fmla="*/ 47 h 76"/>
                <a:gd name="T24" fmla="*/ 0 w 140"/>
                <a:gd name="T25" fmla="*/ 52 h 76"/>
                <a:gd name="T26" fmla="*/ 0 w 140"/>
                <a:gd name="T27" fmla="*/ 58 h 76"/>
                <a:gd name="T28" fmla="*/ 0 w 140"/>
                <a:gd name="T29" fmla="*/ 62 h 76"/>
                <a:gd name="T30" fmla="*/ 0 w 140"/>
                <a:gd name="T31" fmla="*/ 67 h 76"/>
                <a:gd name="T32" fmla="*/ 0 w 140"/>
                <a:gd name="T33" fmla="*/ 71 h 76"/>
                <a:gd name="T34" fmla="*/ 0 w 140"/>
                <a:gd name="T35" fmla="*/ 76 h 76"/>
                <a:gd name="T36" fmla="*/ 0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1" name="Freeform 202"/>
            <p:cNvSpPr>
              <a:spLocks/>
            </p:cNvSpPr>
            <p:nvPr/>
          </p:nvSpPr>
          <p:spPr bwMode="auto">
            <a:xfrm>
              <a:off x="3655" y="2934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0 w 140"/>
                <a:gd name="T3" fmla="*/ 76 h 76"/>
                <a:gd name="T4" fmla="*/ 0 w 140"/>
                <a:gd name="T5" fmla="*/ 71 h 76"/>
                <a:gd name="T6" fmla="*/ 0 w 140"/>
                <a:gd name="T7" fmla="*/ 67 h 76"/>
                <a:gd name="T8" fmla="*/ 0 w 140"/>
                <a:gd name="T9" fmla="*/ 62 h 76"/>
                <a:gd name="T10" fmla="*/ 0 w 140"/>
                <a:gd name="T11" fmla="*/ 58 h 76"/>
                <a:gd name="T12" fmla="*/ 0 w 140"/>
                <a:gd name="T13" fmla="*/ 52 h 76"/>
                <a:gd name="T14" fmla="*/ 0 w 140"/>
                <a:gd name="T15" fmla="*/ 47 h 76"/>
                <a:gd name="T16" fmla="*/ 0 w 140"/>
                <a:gd name="T17" fmla="*/ 43 h 76"/>
                <a:gd name="T18" fmla="*/ 0 w 140"/>
                <a:gd name="T19" fmla="*/ 38 h 76"/>
                <a:gd name="T20" fmla="*/ 0 w 140"/>
                <a:gd name="T21" fmla="*/ 33 h 76"/>
                <a:gd name="T22" fmla="*/ 0 w 140"/>
                <a:gd name="T23" fmla="*/ 29 h 76"/>
                <a:gd name="T24" fmla="*/ 0 w 140"/>
                <a:gd name="T25" fmla="*/ 23 h 76"/>
                <a:gd name="T26" fmla="*/ 0 w 140"/>
                <a:gd name="T27" fmla="*/ 18 h 76"/>
                <a:gd name="T28" fmla="*/ 0 w 140"/>
                <a:gd name="T29" fmla="*/ 14 h 76"/>
                <a:gd name="T30" fmla="*/ 0 w 140"/>
                <a:gd name="T31" fmla="*/ 9 h 76"/>
                <a:gd name="T32" fmla="*/ 0 w 140"/>
                <a:gd name="T33" fmla="*/ 5 h 76"/>
                <a:gd name="T34" fmla="*/ 0 w 140"/>
                <a:gd name="T35" fmla="*/ 0 h 76"/>
                <a:gd name="T36" fmla="*/ 0 w 140"/>
                <a:gd name="T37" fmla="*/ 0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140" y="38"/>
                  </a:moveTo>
                  <a:lnTo>
                    <a:pt x="0" y="76"/>
                  </a:lnTo>
                  <a:lnTo>
                    <a:pt x="4" y="71"/>
                  </a:lnTo>
                  <a:lnTo>
                    <a:pt x="8" y="67"/>
                  </a:lnTo>
                  <a:lnTo>
                    <a:pt x="11" y="62"/>
                  </a:lnTo>
                  <a:lnTo>
                    <a:pt x="13" y="58"/>
                  </a:lnTo>
                  <a:lnTo>
                    <a:pt x="15" y="52"/>
                  </a:lnTo>
                  <a:lnTo>
                    <a:pt x="17" y="47"/>
                  </a:lnTo>
                  <a:lnTo>
                    <a:pt x="17" y="43"/>
                  </a:lnTo>
                  <a:lnTo>
                    <a:pt x="17" y="38"/>
                  </a:lnTo>
                  <a:lnTo>
                    <a:pt x="17" y="33"/>
                  </a:lnTo>
                  <a:lnTo>
                    <a:pt x="17" y="29"/>
                  </a:lnTo>
                  <a:lnTo>
                    <a:pt x="15" y="23"/>
                  </a:lnTo>
                  <a:lnTo>
                    <a:pt x="13" y="18"/>
                  </a:lnTo>
                  <a:lnTo>
                    <a:pt x="11" y="14"/>
                  </a:lnTo>
                  <a:lnTo>
                    <a:pt x="8" y="9"/>
                  </a:lnTo>
                  <a:lnTo>
                    <a:pt x="4" y="5"/>
                  </a:lnTo>
                  <a:lnTo>
                    <a:pt x="0" y="0"/>
                  </a:lnTo>
                  <a:lnTo>
                    <a:pt x="140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2" name="Line 203"/>
            <p:cNvSpPr>
              <a:spLocks noChangeShapeType="1"/>
            </p:cNvSpPr>
            <p:nvPr/>
          </p:nvSpPr>
          <p:spPr bwMode="auto">
            <a:xfrm>
              <a:off x="3776" y="2972"/>
              <a:ext cx="42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3" name="Freeform 204"/>
            <p:cNvSpPr>
              <a:spLocks/>
            </p:cNvSpPr>
            <p:nvPr/>
          </p:nvSpPr>
          <p:spPr bwMode="auto">
            <a:xfrm>
              <a:off x="3724" y="2934"/>
              <a:ext cx="69" cy="76"/>
            </a:xfrm>
            <a:custGeom>
              <a:avLst/>
              <a:gdLst>
                <a:gd name="T0" fmla="*/ 0 w 137"/>
                <a:gd name="T1" fmla="*/ 38 h 76"/>
                <a:gd name="T2" fmla="*/ 1 w 137"/>
                <a:gd name="T3" fmla="*/ 0 h 76"/>
                <a:gd name="T4" fmla="*/ 1 w 137"/>
                <a:gd name="T5" fmla="*/ 5 h 76"/>
                <a:gd name="T6" fmla="*/ 1 w 137"/>
                <a:gd name="T7" fmla="*/ 9 h 76"/>
                <a:gd name="T8" fmla="*/ 1 w 137"/>
                <a:gd name="T9" fmla="*/ 14 h 76"/>
                <a:gd name="T10" fmla="*/ 1 w 137"/>
                <a:gd name="T11" fmla="*/ 18 h 76"/>
                <a:gd name="T12" fmla="*/ 1 w 137"/>
                <a:gd name="T13" fmla="*/ 23 h 76"/>
                <a:gd name="T14" fmla="*/ 1 w 137"/>
                <a:gd name="T15" fmla="*/ 29 h 76"/>
                <a:gd name="T16" fmla="*/ 1 w 137"/>
                <a:gd name="T17" fmla="*/ 33 h 76"/>
                <a:gd name="T18" fmla="*/ 1 w 137"/>
                <a:gd name="T19" fmla="*/ 38 h 76"/>
                <a:gd name="T20" fmla="*/ 1 w 137"/>
                <a:gd name="T21" fmla="*/ 43 h 76"/>
                <a:gd name="T22" fmla="*/ 1 w 137"/>
                <a:gd name="T23" fmla="*/ 47 h 76"/>
                <a:gd name="T24" fmla="*/ 1 w 137"/>
                <a:gd name="T25" fmla="*/ 52 h 76"/>
                <a:gd name="T26" fmla="*/ 1 w 137"/>
                <a:gd name="T27" fmla="*/ 58 h 76"/>
                <a:gd name="T28" fmla="*/ 1 w 137"/>
                <a:gd name="T29" fmla="*/ 62 h 76"/>
                <a:gd name="T30" fmla="*/ 1 w 137"/>
                <a:gd name="T31" fmla="*/ 67 h 76"/>
                <a:gd name="T32" fmla="*/ 1 w 137"/>
                <a:gd name="T33" fmla="*/ 71 h 76"/>
                <a:gd name="T34" fmla="*/ 1 w 137"/>
                <a:gd name="T35" fmla="*/ 76 h 76"/>
                <a:gd name="T36" fmla="*/ 1 w 137"/>
                <a:gd name="T37" fmla="*/ 76 h 76"/>
                <a:gd name="T38" fmla="*/ 0 w 137"/>
                <a:gd name="T39" fmla="*/ 38 h 76"/>
                <a:gd name="T40" fmla="*/ 0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0" y="38"/>
                  </a:moveTo>
                  <a:lnTo>
                    <a:pt x="137" y="0"/>
                  </a:lnTo>
                  <a:lnTo>
                    <a:pt x="134" y="5"/>
                  </a:lnTo>
                  <a:lnTo>
                    <a:pt x="130" y="9"/>
                  </a:lnTo>
                  <a:lnTo>
                    <a:pt x="128" y="14"/>
                  </a:lnTo>
                  <a:lnTo>
                    <a:pt x="124" y="18"/>
                  </a:lnTo>
                  <a:lnTo>
                    <a:pt x="122" y="23"/>
                  </a:lnTo>
                  <a:lnTo>
                    <a:pt x="122" y="29"/>
                  </a:lnTo>
                  <a:lnTo>
                    <a:pt x="120" y="33"/>
                  </a:lnTo>
                  <a:lnTo>
                    <a:pt x="120" y="38"/>
                  </a:lnTo>
                  <a:lnTo>
                    <a:pt x="120" y="43"/>
                  </a:lnTo>
                  <a:lnTo>
                    <a:pt x="122" y="47"/>
                  </a:lnTo>
                  <a:lnTo>
                    <a:pt x="122" y="52"/>
                  </a:lnTo>
                  <a:lnTo>
                    <a:pt x="124" y="58"/>
                  </a:lnTo>
                  <a:lnTo>
                    <a:pt x="128" y="62"/>
                  </a:lnTo>
                  <a:lnTo>
                    <a:pt x="130" y="67"/>
                  </a:lnTo>
                  <a:lnTo>
                    <a:pt x="134" y="71"/>
                  </a:lnTo>
                  <a:lnTo>
                    <a:pt x="137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4" name="Freeform 205"/>
            <p:cNvSpPr>
              <a:spLocks/>
            </p:cNvSpPr>
            <p:nvPr/>
          </p:nvSpPr>
          <p:spPr bwMode="auto">
            <a:xfrm>
              <a:off x="4188" y="2934"/>
              <a:ext cx="69" cy="76"/>
            </a:xfrm>
            <a:custGeom>
              <a:avLst/>
              <a:gdLst>
                <a:gd name="T0" fmla="*/ 1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1 w 137"/>
                <a:gd name="T39" fmla="*/ 38 h 76"/>
                <a:gd name="T40" fmla="*/ 1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5" name="Line 206"/>
            <p:cNvSpPr>
              <a:spLocks noChangeShapeType="1"/>
            </p:cNvSpPr>
            <p:nvPr/>
          </p:nvSpPr>
          <p:spPr bwMode="auto">
            <a:xfrm>
              <a:off x="3456" y="3089"/>
              <a:ext cx="74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6" name="Freeform 207"/>
            <p:cNvSpPr>
              <a:spLocks/>
            </p:cNvSpPr>
            <p:nvPr/>
          </p:nvSpPr>
          <p:spPr bwMode="auto">
            <a:xfrm>
              <a:off x="3404" y="3051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0 w 140"/>
                <a:gd name="T3" fmla="*/ 0 h 76"/>
                <a:gd name="T4" fmla="*/ 0 w 140"/>
                <a:gd name="T5" fmla="*/ 5 h 76"/>
                <a:gd name="T6" fmla="*/ 0 w 140"/>
                <a:gd name="T7" fmla="*/ 9 h 76"/>
                <a:gd name="T8" fmla="*/ 0 w 140"/>
                <a:gd name="T9" fmla="*/ 14 h 76"/>
                <a:gd name="T10" fmla="*/ 0 w 140"/>
                <a:gd name="T11" fmla="*/ 18 h 76"/>
                <a:gd name="T12" fmla="*/ 0 w 140"/>
                <a:gd name="T13" fmla="*/ 23 h 76"/>
                <a:gd name="T14" fmla="*/ 0 w 140"/>
                <a:gd name="T15" fmla="*/ 29 h 76"/>
                <a:gd name="T16" fmla="*/ 0 w 140"/>
                <a:gd name="T17" fmla="*/ 33 h 76"/>
                <a:gd name="T18" fmla="*/ 0 w 140"/>
                <a:gd name="T19" fmla="*/ 38 h 76"/>
                <a:gd name="T20" fmla="*/ 0 w 140"/>
                <a:gd name="T21" fmla="*/ 43 h 76"/>
                <a:gd name="T22" fmla="*/ 0 w 140"/>
                <a:gd name="T23" fmla="*/ 47 h 76"/>
                <a:gd name="T24" fmla="*/ 0 w 140"/>
                <a:gd name="T25" fmla="*/ 52 h 76"/>
                <a:gd name="T26" fmla="*/ 0 w 140"/>
                <a:gd name="T27" fmla="*/ 58 h 76"/>
                <a:gd name="T28" fmla="*/ 0 w 140"/>
                <a:gd name="T29" fmla="*/ 62 h 76"/>
                <a:gd name="T30" fmla="*/ 0 w 140"/>
                <a:gd name="T31" fmla="*/ 67 h 76"/>
                <a:gd name="T32" fmla="*/ 0 w 140"/>
                <a:gd name="T33" fmla="*/ 71 h 76"/>
                <a:gd name="T34" fmla="*/ 0 w 140"/>
                <a:gd name="T35" fmla="*/ 76 h 76"/>
                <a:gd name="T36" fmla="*/ 0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7" name="Freeform 208"/>
            <p:cNvSpPr>
              <a:spLocks/>
            </p:cNvSpPr>
            <p:nvPr/>
          </p:nvSpPr>
          <p:spPr bwMode="auto">
            <a:xfrm>
              <a:off x="4188" y="3051"/>
              <a:ext cx="69" cy="76"/>
            </a:xfrm>
            <a:custGeom>
              <a:avLst/>
              <a:gdLst>
                <a:gd name="T0" fmla="*/ 1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1 w 137"/>
                <a:gd name="T39" fmla="*/ 38 h 76"/>
                <a:gd name="T40" fmla="*/ 1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8" name="Rectangle 209"/>
            <p:cNvSpPr>
              <a:spLocks noChangeArrowheads="1"/>
            </p:cNvSpPr>
            <p:nvPr/>
          </p:nvSpPr>
          <p:spPr bwMode="auto">
            <a:xfrm>
              <a:off x="3561" y="2893"/>
              <a:ext cx="72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on</a:t>
              </a:r>
              <a:endParaRPr lang="en-US" altLang="zh-CN"/>
            </a:p>
          </p:txBody>
        </p:sp>
        <p:sp>
          <p:nvSpPr>
            <p:cNvPr id="84009" name="Rectangle 210"/>
            <p:cNvSpPr>
              <a:spLocks noChangeArrowheads="1"/>
            </p:cNvSpPr>
            <p:nvPr/>
          </p:nvSpPr>
          <p:spPr bwMode="auto">
            <a:xfrm>
              <a:off x="3542" y="2847"/>
              <a:ext cx="29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84010" name="Line 211"/>
            <p:cNvSpPr>
              <a:spLocks noChangeShapeType="1"/>
            </p:cNvSpPr>
            <p:nvPr/>
          </p:nvSpPr>
          <p:spPr bwMode="auto">
            <a:xfrm flipV="1">
              <a:off x="3721" y="3867"/>
              <a:ext cx="1" cy="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1" name="Line 212"/>
            <p:cNvSpPr>
              <a:spLocks noChangeShapeType="1"/>
            </p:cNvSpPr>
            <p:nvPr/>
          </p:nvSpPr>
          <p:spPr bwMode="auto">
            <a:xfrm flipV="1">
              <a:off x="4254" y="3867"/>
              <a:ext cx="1" cy="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2" name="Line 213"/>
            <p:cNvSpPr>
              <a:spLocks noChangeShapeType="1"/>
            </p:cNvSpPr>
            <p:nvPr/>
          </p:nvSpPr>
          <p:spPr bwMode="auto">
            <a:xfrm flipV="1">
              <a:off x="4574" y="3867"/>
              <a:ext cx="1" cy="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3" name="Line 214"/>
            <p:cNvSpPr>
              <a:spLocks noChangeShapeType="1"/>
            </p:cNvSpPr>
            <p:nvPr/>
          </p:nvSpPr>
          <p:spPr bwMode="auto">
            <a:xfrm flipV="1">
              <a:off x="5108" y="3867"/>
              <a:ext cx="1" cy="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4" name="Freeform 215"/>
            <p:cNvSpPr>
              <a:spLocks/>
            </p:cNvSpPr>
            <p:nvPr/>
          </p:nvSpPr>
          <p:spPr bwMode="auto">
            <a:xfrm>
              <a:off x="3404" y="3440"/>
              <a:ext cx="1898" cy="234"/>
            </a:xfrm>
            <a:custGeom>
              <a:avLst/>
              <a:gdLst>
                <a:gd name="T0" fmla="*/ 0 w 3797"/>
                <a:gd name="T1" fmla="*/ 234 h 234"/>
                <a:gd name="T2" fmla="*/ 2 w 3797"/>
                <a:gd name="T3" fmla="*/ 0 h 234"/>
                <a:gd name="T4" fmla="*/ 6 w 3797"/>
                <a:gd name="T5" fmla="*/ 234 h 234"/>
                <a:gd name="T6" fmla="*/ 9 w 3797"/>
                <a:gd name="T7" fmla="*/ 0 h 234"/>
                <a:gd name="T8" fmla="*/ 13 w 3797"/>
                <a:gd name="T9" fmla="*/ 234 h 234"/>
                <a:gd name="T10" fmla="*/ 14 w 3797"/>
                <a:gd name="T11" fmla="*/ 117 h 2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797"/>
                <a:gd name="T19" fmla="*/ 0 h 234"/>
                <a:gd name="T20" fmla="*/ 3797 w 3797"/>
                <a:gd name="T21" fmla="*/ 234 h 2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797" h="234">
                  <a:moveTo>
                    <a:pt x="0" y="234"/>
                  </a:moveTo>
                  <a:lnTo>
                    <a:pt x="642" y="0"/>
                  </a:lnTo>
                  <a:lnTo>
                    <a:pt x="1707" y="234"/>
                  </a:lnTo>
                  <a:lnTo>
                    <a:pt x="2347" y="0"/>
                  </a:lnTo>
                  <a:lnTo>
                    <a:pt x="3414" y="234"/>
                  </a:lnTo>
                  <a:lnTo>
                    <a:pt x="3797" y="117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5" name="Freeform 216"/>
            <p:cNvSpPr>
              <a:spLocks/>
            </p:cNvSpPr>
            <p:nvPr/>
          </p:nvSpPr>
          <p:spPr bwMode="auto">
            <a:xfrm>
              <a:off x="3724" y="2387"/>
              <a:ext cx="533" cy="479"/>
            </a:xfrm>
            <a:custGeom>
              <a:avLst/>
              <a:gdLst>
                <a:gd name="T0" fmla="*/ 0 w 1065"/>
                <a:gd name="T1" fmla="*/ 0 h 479"/>
                <a:gd name="T2" fmla="*/ 0 w 1065"/>
                <a:gd name="T3" fmla="*/ 479 h 479"/>
                <a:gd name="T4" fmla="*/ 5 w 1065"/>
                <a:gd name="T5" fmla="*/ 479 h 479"/>
                <a:gd name="T6" fmla="*/ 5 w 1065"/>
                <a:gd name="T7" fmla="*/ 0 h 4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5"/>
                <a:gd name="T13" fmla="*/ 0 h 479"/>
                <a:gd name="T14" fmla="*/ 1065 w 1065"/>
                <a:gd name="T15" fmla="*/ 479 h 4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5" h="479">
                  <a:moveTo>
                    <a:pt x="0" y="0"/>
                  </a:moveTo>
                  <a:lnTo>
                    <a:pt x="0" y="479"/>
                  </a:lnTo>
                  <a:lnTo>
                    <a:pt x="1065" y="479"/>
                  </a:lnTo>
                  <a:lnTo>
                    <a:pt x="106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6" name="Freeform 217"/>
            <p:cNvSpPr>
              <a:spLocks noEditPoints="1"/>
            </p:cNvSpPr>
            <p:nvPr/>
          </p:nvSpPr>
          <p:spPr bwMode="auto">
            <a:xfrm>
              <a:off x="3401" y="2571"/>
              <a:ext cx="2039" cy="13"/>
            </a:xfrm>
            <a:custGeom>
              <a:avLst/>
              <a:gdLst>
                <a:gd name="T0" fmla="*/ 1 w 4078"/>
                <a:gd name="T1" fmla="*/ 5 h 13"/>
                <a:gd name="T2" fmla="*/ 1 w 4078"/>
                <a:gd name="T3" fmla="*/ 13 h 13"/>
                <a:gd name="T4" fmla="*/ 0 w 4078"/>
                <a:gd name="T5" fmla="*/ 6 h 13"/>
                <a:gd name="T6" fmla="*/ 1 w 4078"/>
                <a:gd name="T7" fmla="*/ 0 h 13"/>
                <a:gd name="T8" fmla="*/ 2 w 4078"/>
                <a:gd name="T9" fmla="*/ 5 h 13"/>
                <a:gd name="T10" fmla="*/ 2 w 4078"/>
                <a:gd name="T11" fmla="*/ 13 h 13"/>
                <a:gd name="T12" fmla="*/ 2 w 4078"/>
                <a:gd name="T13" fmla="*/ 6 h 13"/>
                <a:gd name="T14" fmla="*/ 2 w 4078"/>
                <a:gd name="T15" fmla="*/ 0 h 13"/>
                <a:gd name="T16" fmla="*/ 4 w 4078"/>
                <a:gd name="T17" fmla="*/ 5 h 13"/>
                <a:gd name="T18" fmla="*/ 4 w 4078"/>
                <a:gd name="T19" fmla="*/ 13 h 13"/>
                <a:gd name="T20" fmla="*/ 3 w 4078"/>
                <a:gd name="T21" fmla="*/ 6 h 13"/>
                <a:gd name="T22" fmla="*/ 3 w 4078"/>
                <a:gd name="T23" fmla="*/ 0 h 13"/>
                <a:gd name="T24" fmla="*/ 5 w 4078"/>
                <a:gd name="T25" fmla="*/ 5 h 13"/>
                <a:gd name="T26" fmla="*/ 5 w 4078"/>
                <a:gd name="T27" fmla="*/ 13 h 13"/>
                <a:gd name="T28" fmla="*/ 4 w 4078"/>
                <a:gd name="T29" fmla="*/ 6 h 13"/>
                <a:gd name="T30" fmla="*/ 4 w 4078"/>
                <a:gd name="T31" fmla="*/ 0 h 13"/>
                <a:gd name="T32" fmla="*/ 6 w 4078"/>
                <a:gd name="T33" fmla="*/ 5 h 13"/>
                <a:gd name="T34" fmla="*/ 6 w 4078"/>
                <a:gd name="T35" fmla="*/ 13 h 13"/>
                <a:gd name="T36" fmla="*/ 5 w 4078"/>
                <a:gd name="T37" fmla="*/ 6 h 13"/>
                <a:gd name="T38" fmla="*/ 5 w 4078"/>
                <a:gd name="T39" fmla="*/ 0 h 13"/>
                <a:gd name="T40" fmla="*/ 7 w 4078"/>
                <a:gd name="T41" fmla="*/ 5 h 13"/>
                <a:gd name="T42" fmla="*/ 7 w 4078"/>
                <a:gd name="T43" fmla="*/ 13 h 13"/>
                <a:gd name="T44" fmla="*/ 6 w 4078"/>
                <a:gd name="T45" fmla="*/ 6 h 13"/>
                <a:gd name="T46" fmla="*/ 7 w 4078"/>
                <a:gd name="T47" fmla="*/ 0 h 13"/>
                <a:gd name="T48" fmla="*/ 8 w 4078"/>
                <a:gd name="T49" fmla="*/ 5 h 13"/>
                <a:gd name="T50" fmla="*/ 8 w 4078"/>
                <a:gd name="T51" fmla="*/ 13 h 13"/>
                <a:gd name="T52" fmla="*/ 8 w 4078"/>
                <a:gd name="T53" fmla="*/ 6 h 13"/>
                <a:gd name="T54" fmla="*/ 8 w 4078"/>
                <a:gd name="T55" fmla="*/ 0 h 13"/>
                <a:gd name="T56" fmla="*/ 10 w 4078"/>
                <a:gd name="T57" fmla="*/ 5 h 13"/>
                <a:gd name="T58" fmla="*/ 10 w 4078"/>
                <a:gd name="T59" fmla="*/ 13 h 13"/>
                <a:gd name="T60" fmla="*/ 9 w 4078"/>
                <a:gd name="T61" fmla="*/ 6 h 13"/>
                <a:gd name="T62" fmla="*/ 9 w 4078"/>
                <a:gd name="T63" fmla="*/ 0 h 13"/>
                <a:gd name="T64" fmla="*/ 11 w 4078"/>
                <a:gd name="T65" fmla="*/ 5 h 13"/>
                <a:gd name="T66" fmla="*/ 11 w 4078"/>
                <a:gd name="T67" fmla="*/ 13 h 13"/>
                <a:gd name="T68" fmla="*/ 10 w 4078"/>
                <a:gd name="T69" fmla="*/ 6 h 13"/>
                <a:gd name="T70" fmla="*/ 10 w 4078"/>
                <a:gd name="T71" fmla="*/ 0 h 13"/>
                <a:gd name="T72" fmla="*/ 12 w 4078"/>
                <a:gd name="T73" fmla="*/ 5 h 13"/>
                <a:gd name="T74" fmla="*/ 12 w 4078"/>
                <a:gd name="T75" fmla="*/ 13 h 13"/>
                <a:gd name="T76" fmla="*/ 11 w 4078"/>
                <a:gd name="T77" fmla="*/ 6 h 13"/>
                <a:gd name="T78" fmla="*/ 11 w 4078"/>
                <a:gd name="T79" fmla="*/ 0 h 13"/>
                <a:gd name="T80" fmla="*/ 13 w 4078"/>
                <a:gd name="T81" fmla="*/ 5 h 13"/>
                <a:gd name="T82" fmla="*/ 13 w 4078"/>
                <a:gd name="T83" fmla="*/ 13 h 13"/>
                <a:gd name="T84" fmla="*/ 12 w 4078"/>
                <a:gd name="T85" fmla="*/ 6 h 13"/>
                <a:gd name="T86" fmla="*/ 13 w 4078"/>
                <a:gd name="T87" fmla="*/ 0 h 13"/>
                <a:gd name="T88" fmla="*/ 14 w 4078"/>
                <a:gd name="T89" fmla="*/ 5 h 13"/>
                <a:gd name="T90" fmla="*/ 14 w 4078"/>
                <a:gd name="T91" fmla="*/ 13 h 13"/>
                <a:gd name="T92" fmla="*/ 14 w 4078"/>
                <a:gd name="T93" fmla="*/ 6 h 13"/>
                <a:gd name="T94" fmla="*/ 14 w 4078"/>
                <a:gd name="T95" fmla="*/ 0 h 13"/>
                <a:gd name="T96" fmla="*/ 16 w 4078"/>
                <a:gd name="T97" fmla="*/ 5 h 13"/>
                <a:gd name="T98" fmla="*/ 16 w 4078"/>
                <a:gd name="T99" fmla="*/ 13 h 13"/>
                <a:gd name="T100" fmla="*/ 15 w 4078"/>
                <a:gd name="T101" fmla="*/ 6 h 13"/>
                <a:gd name="T102" fmla="*/ 15 w 4078"/>
                <a:gd name="T103" fmla="*/ 0 h 13"/>
                <a:gd name="T104" fmla="*/ 16 w 4078"/>
                <a:gd name="T105" fmla="*/ 5 h 13"/>
                <a:gd name="T106" fmla="*/ 16 w 4078"/>
                <a:gd name="T107" fmla="*/ 13 h 13"/>
                <a:gd name="T108" fmla="*/ 16 w 4078"/>
                <a:gd name="T109" fmla="*/ 6 h 13"/>
                <a:gd name="T110" fmla="*/ 16 w 4078"/>
                <a:gd name="T111" fmla="*/ 0 h 13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4078"/>
                <a:gd name="T169" fmla="*/ 0 h 13"/>
                <a:gd name="T170" fmla="*/ 4078 w 4078"/>
                <a:gd name="T171" fmla="*/ 13 h 13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4078" h="13">
                  <a:moveTo>
                    <a:pt x="11" y="0"/>
                  </a:moveTo>
                  <a:lnTo>
                    <a:pt x="191" y="0"/>
                  </a:lnTo>
                  <a:lnTo>
                    <a:pt x="194" y="0"/>
                  </a:lnTo>
                  <a:lnTo>
                    <a:pt x="196" y="0"/>
                  </a:lnTo>
                  <a:lnTo>
                    <a:pt x="200" y="2"/>
                  </a:lnTo>
                  <a:lnTo>
                    <a:pt x="202" y="4"/>
                  </a:lnTo>
                  <a:lnTo>
                    <a:pt x="204" y="5"/>
                  </a:lnTo>
                  <a:lnTo>
                    <a:pt x="204" y="6"/>
                  </a:lnTo>
                  <a:lnTo>
                    <a:pt x="204" y="8"/>
                  </a:lnTo>
                  <a:lnTo>
                    <a:pt x="202" y="9"/>
                  </a:lnTo>
                  <a:lnTo>
                    <a:pt x="200" y="11"/>
                  </a:lnTo>
                  <a:lnTo>
                    <a:pt x="196" y="13"/>
                  </a:lnTo>
                  <a:lnTo>
                    <a:pt x="194" y="13"/>
                  </a:lnTo>
                  <a:lnTo>
                    <a:pt x="191" y="13"/>
                  </a:lnTo>
                  <a:lnTo>
                    <a:pt x="11" y="13"/>
                  </a:lnTo>
                  <a:lnTo>
                    <a:pt x="9" y="13"/>
                  </a:lnTo>
                  <a:lnTo>
                    <a:pt x="8" y="13"/>
                  </a:lnTo>
                  <a:lnTo>
                    <a:pt x="4" y="11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4" y="2"/>
                  </a:lnTo>
                  <a:lnTo>
                    <a:pt x="8" y="0"/>
                  </a:lnTo>
                  <a:lnTo>
                    <a:pt x="9" y="0"/>
                  </a:lnTo>
                  <a:lnTo>
                    <a:pt x="11" y="0"/>
                  </a:lnTo>
                  <a:close/>
                  <a:moveTo>
                    <a:pt x="319" y="0"/>
                  </a:moveTo>
                  <a:lnTo>
                    <a:pt x="498" y="0"/>
                  </a:lnTo>
                  <a:lnTo>
                    <a:pt x="500" y="0"/>
                  </a:lnTo>
                  <a:lnTo>
                    <a:pt x="502" y="0"/>
                  </a:lnTo>
                  <a:lnTo>
                    <a:pt x="507" y="2"/>
                  </a:lnTo>
                  <a:lnTo>
                    <a:pt x="509" y="4"/>
                  </a:lnTo>
                  <a:lnTo>
                    <a:pt x="509" y="5"/>
                  </a:lnTo>
                  <a:lnTo>
                    <a:pt x="511" y="6"/>
                  </a:lnTo>
                  <a:lnTo>
                    <a:pt x="509" y="8"/>
                  </a:lnTo>
                  <a:lnTo>
                    <a:pt x="509" y="9"/>
                  </a:lnTo>
                  <a:lnTo>
                    <a:pt x="507" y="11"/>
                  </a:lnTo>
                  <a:lnTo>
                    <a:pt x="502" y="13"/>
                  </a:lnTo>
                  <a:lnTo>
                    <a:pt x="500" y="13"/>
                  </a:lnTo>
                  <a:lnTo>
                    <a:pt x="498" y="13"/>
                  </a:lnTo>
                  <a:lnTo>
                    <a:pt x="319" y="13"/>
                  </a:lnTo>
                  <a:lnTo>
                    <a:pt x="317" y="13"/>
                  </a:lnTo>
                  <a:lnTo>
                    <a:pt x="313" y="13"/>
                  </a:lnTo>
                  <a:lnTo>
                    <a:pt x="309" y="11"/>
                  </a:lnTo>
                  <a:lnTo>
                    <a:pt x="307" y="9"/>
                  </a:lnTo>
                  <a:lnTo>
                    <a:pt x="306" y="8"/>
                  </a:lnTo>
                  <a:lnTo>
                    <a:pt x="306" y="6"/>
                  </a:lnTo>
                  <a:lnTo>
                    <a:pt x="306" y="5"/>
                  </a:lnTo>
                  <a:lnTo>
                    <a:pt x="307" y="4"/>
                  </a:lnTo>
                  <a:lnTo>
                    <a:pt x="309" y="2"/>
                  </a:lnTo>
                  <a:lnTo>
                    <a:pt x="313" y="0"/>
                  </a:lnTo>
                  <a:lnTo>
                    <a:pt x="317" y="0"/>
                  </a:lnTo>
                  <a:lnTo>
                    <a:pt x="319" y="0"/>
                  </a:lnTo>
                  <a:close/>
                  <a:moveTo>
                    <a:pt x="626" y="0"/>
                  </a:moveTo>
                  <a:lnTo>
                    <a:pt x="804" y="0"/>
                  </a:lnTo>
                  <a:lnTo>
                    <a:pt x="807" y="0"/>
                  </a:lnTo>
                  <a:lnTo>
                    <a:pt x="809" y="0"/>
                  </a:lnTo>
                  <a:lnTo>
                    <a:pt x="813" y="2"/>
                  </a:lnTo>
                  <a:lnTo>
                    <a:pt x="817" y="4"/>
                  </a:lnTo>
                  <a:lnTo>
                    <a:pt x="817" y="5"/>
                  </a:lnTo>
                  <a:lnTo>
                    <a:pt x="817" y="6"/>
                  </a:lnTo>
                  <a:lnTo>
                    <a:pt x="817" y="8"/>
                  </a:lnTo>
                  <a:lnTo>
                    <a:pt x="817" y="9"/>
                  </a:lnTo>
                  <a:lnTo>
                    <a:pt x="813" y="11"/>
                  </a:lnTo>
                  <a:lnTo>
                    <a:pt x="809" y="13"/>
                  </a:lnTo>
                  <a:lnTo>
                    <a:pt x="807" y="13"/>
                  </a:lnTo>
                  <a:lnTo>
                    <a:pt x="804" y="13"/>
                  </a:lnTo>
                  <a:lnTo>
                    <a:pt x="626" y="13"/>
                  </a:lnTo>
                  <a:lnTo>
                    <a:pt x="622" y="13"/>
                  </a:lnTo>
                  <a:lnTo>
                    <a:pt x="621" y="13"/>
                  </a:lnTo>
                  <a:lnTo>
                    <a:pt x="617" y="11"/>
                  </a:lnTo>
                  <a:lnTo>
                    <a:pt x="613" y="9"/>
                  </a:lnTo>
                  <a:lnTo>
                    <a:pt x="613" y="8"/>
                  </a:lnTo>
                  <a:lnTo>
                    <a:pt x="613" y="6"/>
                  </a:lnTo>
                  <a:lnTo>
                    <a:pt x="613" y="5"/>
                  </a:lnTo>
                  <a:lnTo>
                    <a:pt x="613" y="4"/>
                  </a:lnTo>
                  <a:lnTo>
                    <a:pt x="617" y="2"/>
                  </a:lnTo>
                  <a:lnTo>
                    <a:pt x="621" y="0"/>
                  </a:lnTo>
                  <a:lnTo>
                    <a:pt x="622" y="0"/>
                  </a:lnTo>
                  <a:lnTo>
                    <a:pt x="626" y="0"/>
                  </a:lnTo>
                  <a:close/>
                  <a:moveTo>
                    <a:pt x="932" y="0"/>
                  </a:moveTo>
                  <a:lnTo>
                    <a:pt x="1111" y="0"/>
                  </a:lnTo>
                  <a:lnTo>
                    <a:pt x="1113" y="0"/>
                  </a:lnTo>
                  <a:lnTo>
                    <a:pt x="1117" y="0"/>
                  </a:lnTo>
                  <a:lnTo>
                    <a:pt x="1120" y="2"/>
                  </a:lnTo>
                  <a:lnTo>
                    <a:pt x="1122" y="4"/>
                  </a:lnTo>
                  <a:lnTo>
                    <a:pt x="1124" y="5"/>
                  </a:lnTo>
                  <a:lnTo>
                    <a:pt x="1124" y="6"/>
                  </a:lnTo>
                  <a:lnTo>
                    <a:pt x="1124" y="8"/>
                  </a:lnTo>
                  <a:lnTo>
                    <a:pt x="1122" y="9"/>
                  </a:lnTo>
                  <a:lnTo>
                    <a:pt x="1120" y="11"/>
                  </a:lnTo>
                  <a:lnTo>
                    <a:pt x="1117" y="13"/>
                  </a:lnTo>
                  <a:lnTo>
                    <a:pt x="1113" y="13"/>
                  </a:lnTo>
                  <a:lnTo>
                    <a:pt x="1111" y="13"/>
                  </a:lnTo>
                  <a:lnTo>
                    <a:pt x="932" y="13"/>
                  </a:lnTo>
                  <a:lnTo>
                    <a:pt x="930" y="13"/>
                  </a:lnTo>
                  <a:lnTo>
                    <a:pt x="926" y="13"/>
                  </a:lnTo>
                  <a:lnTo>
                    <a:pt x="922" y="11"/>
                  </a:lnTo>
                  <a:lnTo>
                    <a:pt x="920" y="9"/>
                  </a:lnTo>
                  <a:lnTo>
                    <a:pt x="919" y="8"/>
                  </a:lnTo>
                  <a:lnTo>
                    <a:pt x="919" y="6"/>
                  </a:lnTo>
                  <a:lnTo>
                    <a:pt x="919" y="5"/>
                  </a:lnTo>
                  <a:lnTo>
                    <a:pt x="920" y="4"/>
                  </a:lnTo>
                  <a:lnTo>
                    <a:pt x="922" y="2"/>
                  </a:lnTo>
                  <a:lnTo>
                    <a:pt x="926" y="0"/>
                  </a:lnTo>
                  <a:lnTo>
                    <a:pt x="930" y="0"/>
                  </a:lnTo>
                  <a:lnTo>
                    <a:pt x="932" y="0"/>
                  </a:lnTo>
                  <a:close/>
                  <a:moveTo>
                    <a:pt x="1239" y="0"/>
                  </a:moveTo>
                  <a:lnTo>
                    <a:pt x="1417" y="0"/>
                  </a:lnTo>
                  <a:lnTo>
                    <a:pt x="1420" y="0"/>
                  </a:lnTo>
                  <a:lnTo>
                    <a:pt x="1422" y="0"/>
                  </a:lnTo>
                  <a:lnTo>
                    <a:pt x="1426" y="2"/>
                  </a:lnTo>
                  <a:lnTo>
                    <a:pt x="1430" y="4"/>
                  </a:lnTo>
                  <a:lnTo>
                    <a:pt x="1430" y="5"/>
                  </a:lnTo>
                  <a:lnTo>
                    <a:pt x="1430" y="6"/>
                  </a:lnTo>
                  <a:lnTo>
                    <a:pt x="1430" y="8"/>
                  </a:lnTo>
                  <a:lnTo>
                    <a:pt x="1430" y="9"/>
                  </a:lnTo>
                  <a:lnTo>
                    <a:pt x="1426" y="11"/>
                  </a:lnTo>
                  <a:lnTo>
                    <a:pt x="1422" y="13"/>
                  </a:lnTo>
                  <a:lnTo>
                    <a:pt x="1420" y="13"/>
                  </a:lnTo>
                  <a:lnTo>
                    <a:pt x="1417" y="13"/>
                  </a:lnTo>
                  <a:lnTo>
                    <a:pt x="1239" y="13"/>
                  </a:lnTo>
                  <a:lnTo>
                    <a:pt x="1235" y="13"/>
                  </a:lnTo>
                  <a:lnTo>
                    <a:pt x="1234" y="13"/>
                  </a:lnTo>
                  <a:lnTo>
                    <a:pt x="1230" y="11"/>
                  </a:lnTo>
                  <a:lnTo>
                    <a:pt x="1226" y="9"/>
                  </a:lnTo>
                  <a:lnTo>
                    <a:pt x="1226" y="8"/>
                  </a:lnTo>
                  <a:lnTo>
                    <a:pt x="1226" y="6"/>
                  </a:lnTo>
                  <a:lnTo>
                    <a:pt x="1226" y="5"/>
                  </a:lnTo>
                  <a:lnTo>
                    <a:pt x="1226" y="4"/>
                  </a:lnTo>
                  <a:lnTo>
                    <a:pt x="1230" y="2"/>
                  </a:lnTo>
                  <a:lnTo>
                    <a:pt x="1234" y="0"/>
                  </a:lnTo>
                  <a:lnTo>
                    <a:pt x="1235" y="0"/>
                  </a:lnTo>
                  <a:lnTo>
                    <a:pt x="1239" y="0"/>
                  </a:lnTo>
                  <a:close/>
                  <a:moveTo>
                    <a:pt x="1545" y="0"/>
                  </a:moveTo>
                  <a:lnTo>
                    <a:pt x="1724" y="0"/>
                  </a:lnTo>
                  <a:lnTo>
                    <a:pt x="1726" y="0"/>
                  </a:lnTo>
                  <a:lnTo>
                    <a:pt x="1730" y="0"/>
                  </a:lnTo>
                  <a:lnTo>
                    <a:pt x="1733" y="2"/>
                  </a:lnTo>
                  <a:lnTo>
                    <a:pt x="1735" y="4"/>
                  </a:lnTo>
                  <a:lnTo>
                    <a:pt x="1737" y="5"/>
                  </a:lnTo>
                  <a:lnTo>
                    <a:pt x="1737" y="6"/>
                  </a:lnTo>
                  <a:lnTo>
                    <a:pt x="1737" y="8"/>
                  </a:lnTo>
                  <a:lnTo>
                    <a:pt x="1735" y="9"/>
                  </a:lnTo>
                  <a:lnTo>
                    <a:pt x="1733" y="11"/>
                  </a:lnTo>
                  <a:lnTo>
                    <a:pt x="1730" y="13"/>
                  </a:lnTo>
                  <a:lnTo>
                    <a:pt x="1726" y="13"/>
                  </a:lnTo>
                  <a:lnTo>
                    <a:pt x="1724" y="13"/>
                  </a:lnTo>
                  <a:lnTo>
                    <a:pt x="1545" y="13"/>
                  </a:lnTo>
                  <a:lnTo>
                    <a:pt x="1543" y="13"/>
                  </a:lnTo>
                  <a:lnTo>
                    <a:pt x="1541" y="13"/>
                  </a:lnTo>
                  <a:lnTo>
                    <a:pt x="1535" y="11"/>
                  </a:lnTo>
                  <a:lnTo>
                    <a:pt x="1533" y="9"/>
                  </a:lnTo>
                  <a:lnTo>
                    <a:pt x="1533" y="8"/>
                  </a:lnTo>
                  <a:lnTo>
                    <a:pt x="1532" y="6"/>
                  </a:lnTo>
                  <a:lnTo>
                    <a:pt x="1533" y="5"/>
                  </a:lnTo>
                  <a:lnTo>
                    <a:pt x="1533" y="4"/>
                  </a:lnTo>
                  <a:lnTo>
                    <a:pt x="1535" y="2"/>
                  </a:lnTo>
                  <a:lnTo>
                    <a:pt x="1541" y="0"/>
                  </a:lnTo>
                  <a:lnTo>
                    <a:pt x="1543" y="0"/>
                  </a:lnTo>
                  <a:lnTo>
                    <a:pt x="1545" y="0"/>
                  </a:lnTo>
                  <a:close/>
                  <a:moveTo>
                    <a:pt x="1852" y="0"/>
                  </a:moveTo>
                  <a:lnTo>
                    <a:pt x="2031" y="0"/>
                  </a:lnTo>
                  <a:lnTo>
                    <a:pt x="2033" y="0"/>
                  </a:lnTo>
                  <a:lnTo>
                    <a:pt x="2035" y="0"/>
                  </a:lnTo>
                  <a:lnTo>
                    <a:pt x="2039" y="2"/>
                  </a:lnTo>
                  <a:lnTo>
                    <a:pt x="2043" y="4"/>
                  </a:lnTo>
                  <a:lnTo>
                    <a:pt x="2043" y="5"/>
                  </a:lnTo>
                  <a:lnTo>
                    <a:pt x="2043" y="6"/>
                  </a:lnTo>
                  <a:lnTo>
                    <a:pt x="2043" y="8"/>
                  </a:lnTo>
                  <a:lnTo>
                    <a:pt x="2043" y="9"/>
                  </a:lnTo>
                  <a:lnTo>
                    <a:pt x="2039" y="11"/>
                  </a:lnTo>
                  <a:lnTo>
                    <a:pt x="2035" y="13"/>
                  </a:lnTo>
                  <a:lnTo>
                    <a:pt x="2033" y="13"/>
                  </a:lnTo>
                  <a:lnTo>
                    <a:pt x="2031" y="13"/>
                  </a:lnTo>
                  <a:lnTo>
                    <a:pt x="1852" y="13"/>
                  </a:lnTo>
                  <a:lnTo>
                    <a:pt x="1848" y="13"/>
                  </a:lnTo>
                  <a:lnTo>
                    <a:pt x="1847" y="13"/>
                  </a:lnTo>
                  <a:lnTo>
                    <a:pt x="1843" y="11"/>
                  </a:lnTo>
                  <a:lnTo>
                    <a:pt x="1839" y="9"/>
                  </a:lnTo>
                  <a:lnTo>
                    <a:pt x="1839" y="8"/>
                  </a:lnTo>
                  <a:lnTo>
                    <a:pt x="1839" y="6"/>
                  </a:lnTo>
                  <a:lnTo>
                    <a:pt x="1839" y="5"/>
                  </a:lnTo>
                  <a:lnTo>
                    <a:pt x="1839" y="4"/>
                  </a:lnTo>
                  <a:lnTo>
                    <a:pt x="1843" y="2"/>
                  </a:lnTo>
                  <a:lnTo>
                    <a:pt x="1847" y="0"/>
                  </a:lnTo>
                  <a:lnTo>
                    <a:pt x="1848" y="0"/>
                  </a:lnTo>
                  <a:lnTo>
                    <a:pt x="1852" y="0"/>
                  </a:lnTo>
                  <a:close/>
                  <a:moveTo>
                    <a:pt x="2158" y="0"/>
                  </a:moveTo>
                  <a:lnTo>
                    <a:pt x="2337" y="0"/>
                  </a:lnTo>
                  <a:lnTo>
                    <a:pt x="2341" y="0"/>
                  </a:lnTo>
                  <a:lnTo>
                    <a:pt x="2343" y="0"/>
                  </a:lnTo>
                  <a:lnTo>
                    <a:pt x="2346" y="2"/>
                  </a:lnTo>
                  <a:lnTo>
                    <a:pt x="2348" y="4"/>
                  </a:lnTo>
                  <a:lnTo>
                    <a:pt x="2350" y="5"/>
                  </a:lnTo>
                  <a:lnTo>
                    <a:pt x="2350" y="6"/>
                  </a:lnTo>
                  <a:lnTo>
                    <a:pt x="2350" y="8"/>
                  </a:lnTo>
                  <a:lnTo>
                    <a:pt x="2348" y="9"/>
                  </a:lnTo>
                  <a:lnTo>
                    <a:pt x="2346" y="11"/>
                  </a:lnTo>
                  <a:lnTo>
                    <a:pt x="2343" y="13"/>
                  </a:lnTo>
                  <a:lnTo>
                    <a:pt x="2341" y="13"/>
                  </a:lnTo>
                  <a:lnTo>
                    <a:pt x="2337" y="13"/>
                  </a:lnTo>
                  <a:lnTo>
                    <a:pt x="2158" y="13"/>
                  </a:lnTo>
                  <a:lnTo>
                    <a:pt x="2156" y="13"/>
                  </a:lnTo>
                  <a:lnTo>
                    <a:pt x="2154" y="13"/>
                  </a:lnTo>
                  <a:lnTo>
                    <a:pt x="2148" y="11"/>
                  </a:lnTo>
                  <a:lnTo>
                    <a:pt x="2146" y="9"/>
                  </a:lnTo>
                  <a:lnTo>
                    <a:pt x="2146" y="8"/>
                  </a:lnTo>
                  <a:lnTo>
                    <a:pt x="2146" y="6"/>
                  </a:lnTo>
                  <a:lnTo>
                    <a:pt x="2146" y="5"/>
                  </a:lnTo>
                  <a:lnTo>
                    <a:pt x="2146" y="4"/>
                  </a:lnTo>
                  <a:lnTo>
                    <a:pt x="2148" y="2"/>
                  </a:lnTo>
                  <a:lnTo>
                    <a:pt x="2154" y="0"/>
                  </a:lnTo>
                  <a:lnTo>
                    <a:pt x="2156" y="0"/>
                  </a:lnTo>
                  <a:lnTo>
                    <a:pt x="2158" y="0"/>
                  </a:lnTo>
                  <a:close/>
                  <a:moveTo>
                    <a:pt x="2465" y="0"/>
                  </a:moveTo>
                  <a:lnTo>
                    <a:pt x="2644" y="0"/>
                  </a:lnTo>
                  <a:lnTo>
                    <a:pt x="2646" y="0"/>
                  </a:lnTo>
                  <a:lnTo>
                    <a:pt x="2648" y="0"/>
                  </a:lnTo>
                  <a:lnTo>
                    <a:pt x="2652" y="2"/>
                  </a:lnTo>
                  <a:lnTo>
                    <a:pt x="2656" y="4"/>
                  </a:lnTo>
                  <a:lnTo>
                    <a:pt x="2656" y="5"/>
                  </a:lnTo>
                  <a:lnTo>
                    <a:pt x="2656" y="6"/>
                  </a:lnTo>
                  <a:lnTo>
                    <a:pt x="2656" y="8"/>
                  </a:lnTo>
                  <a:lnTo>
                    <a:pt x="2656" y="9"/>
                  </a:lnTo>
                  <a:lnTo>
                    <a:pt x="2652" y="11"/>
                  </a:lnTo>
                  <a:lnTo>
                    <a:pt x="2648" y="13"/>
                  </a:lnTo>
                  <a:lnTo>
                    <a:pt x="2646" y="13"/>
                  </a:lnTo>
                  <a:lnTo>
                    <a:pt x="2644" y="13"/>
                  </a:lnTo>
                  <a:lnTo>
                    <a:pt x="2465" y="13"/>
                  </a:lnTo>
                  <a:lnTo>
                    <a:pt x="2463" y="13"/>
                  </a:lnTo>
                  <a:lnTo>
                    <a:pt x="2460" y="13"/>
                  </a:lnTo>
                  <a:lnTo>
                    <a:pt x="2456" y="11"/>
                  </a:lnTo>
                  <a:lnTo>
                    <a:pt x="2454" y="9"/>
                  </a:lnTo>
                  <a:lnTo>
                    <a:pt x="2452" y="8"/>
                  </a:lnTo>
                  <a:lnTo>
                    <a:pt x="2452" y="6"/>
                  </a:lnTo>
                  <a:lnTo>
                    <a:pt x="2452" y="5"/>
                  </a:lnTo>
                  <a:lnTo>
                    <a:pt x="2454" y="4"/>
                  </a:lnTo>
                  <a:lnTo>
                    <a:pt x="2456" y="2"/>
                  </a:lnTo>
                  <a:lnTo>
                    <a:pt x="2460" y="0"/>
                  </a:lnTo>
                  <a:lnTo>
                    <a:pt x="2463" y="0"/>
                  </a:lnTo>
                  <a:lnTo>
                    <a:pt x="2465" y="0"/>
                  </a:lnTo>
                  <a:close/>
                  <a:moveTo>
                    <a:pt x="2771" y="0"/>
                  </a:moveTo>
                  <a:lnTo>
                    <a:pt x="2950" y="0"/>
                  </a:lnTo>
                  <a:lnTo>
                    <a:pt x="2954" y="0"/>
                  </a:lnTo>
                  <a:lnTo>
                    <a:pt x="2956" y="0"/>
                  </a:lnTo>
                  <a:lnTo>
                    <a:pt x="2959" y="2"/>
                  </a:lnTo>
                  <a:lnTo>
                    <a:pt x="2961" y="4"/>
                  </a:lnTo>
                  <a:lnTo>
                    <a:pt x="2963" y="5"/>
                  </a:lnTo>
                  <a:lnTo>
                    <a:pt x="2963" y="6"/>
                  </a:lnTo>
                  <a:lnTo>
                    <a:pt x="2963" y="8"/>
                  </a:lnTo>
                  <a:lnTo>
                    <a:pt x="2961" y="9"/>
                  </a:lnTo>
                  <a:lnTo>
                    <a:pt x="2959" y="11"/>
                  </a:lnTo>
                  <a:lnTo>
                    <a:pt x="2956" y="13"/>
                  </a:lnTo>
                  <a:lnTo>
                    <a:pt x="2954" y="13"/>
                  </a:lnTo>
                  <a:lnTo>
                    <a:pt x="2950" y="13"/>
                  </a:lnTo>
                  <a:lnTo>
                    <a:pt x="2771" y="13"/>
                  </a:lnTo>
                  <a:lnTo>
                    <a:pt x="2769" y="13"/>
                  </a:lnTo>
                  <a:lnTo>
                    <a:pt x="2767" y="13"/>
                  </a:lnTo>
                  <a:lnTo>
                    <a:pt x="2763" y="11"/>
                  </a:lnTo>
                  <a:lnTo>
                    <a:pt x="2759" y="9"/>
                  </a:lnTo>
                  <a:lnTo>
                    <a:pt x="2759" y="8"/>
                  </a:lnTo>
                  <a:lnTo>
                    <a:pt x="2759" y="6"/>
                  </a:lnTo>
                  <a:lnTo>
                    <a:pt x="2759" y="5"/>
                  </a:lnTo>
                  <a:lnTo>
                    <a:pt x="2759" y="4"/>
                  </a:lnTo>
                  <a:lnTo>
                    <a:pt x="2763" y="2"/>
                  </a:lnTo>
                  <a:lnTo>
                    <a:pt x="2767" y="0"/>
                  </a:lnTo>
                  <a:lnTo>
                    <a:pt x="2769" y="0"/>
                  </a:lnTo>
                  <a:lnTo>
                    <a:pt x="2771" y="0"/>
                  </a:lnTo>
                  <a:close/>
                  <a:moveTo>
                    <a:pt x="3078" y="0"/>
                  </a:moveTo>
                  <a:lnTo>
                    <a:pt x="3257" y="0"/>
                  </a:lnTo>
                  <a:lnTo>
                    <a:pt x="3259" y="0"/>
                  </a:lnTo>
                  <a:lnTo>
                    <a:pt x="3261" y="0"/>
                  </a:lnTo>
                  <a:lnTo>
                    <a:pt x="3267" y="2"/>
                  </a:lnTo>
                  <a:lnTo>
                    <a:pt x="3269" y="4"/>
                  </a:lnTo>
                  <a:lnTo>
                    <a:pt x="3269" y="5"/>
                  </a:lnTo>
                  <a:lnTo>
                    <a:pt x="3271" y="6"/>
                  </a:lnTo>
                  <a:lnTo>
                    <a:pt x="3269" y="8"/>
                  </a:lnTo>
                  <a:lnTo>
                    <a:pt x="3269" y="9"/>
                  </a:lnTo>
                  <a:lnTo>
                    <a:pt x="3267" y="11"/>
                  </a:lnTo>
                  <a:lnTo>
                    <a:pt x="3261" y="13"/>
                  </a:lnTo>
                  <a:lnTo>
                    <a:pt x="3259" y="13"/>
                  </a:lnTo>
                  <a:lnTo>
                    <a:pt x="3257" y="13"/>
                  </a:lnTo>
                  <a:lnTo>
                    <a:pt x="3078" y="13"/>
                  </a:lnTo>
                  <a:lnTo>
                    <a:pt x="3076" y="13"/>
                  </a:lnTo>
                  <a:lnTo>
                    <a:pt x="3073" y="13"/>
                  </a:lnTo>
                  <a:lnTo>
                    <a:pt x="3069" y="11"/>
                  </a:lnTo>
                  <a:lnTo>
                    <a:pt x="3067" y="9"/>
                  </a:lnTo>
                  <a:lnTo>
                    <a:pt x="3065" y="8"/>
                  </a:lnTo>
                  <a:lnTo>
                    <a:pt x="3065" y="6"/>
                  </a:lnTo>
                  <a:lnTo>
                    <a:pt x="3065" y="5"/>
                  </a:lnTo>
                  <a:lnTo>
                    <a:pt x="3067" y="4"/>
                  </a:lnTo>
                  <a:lnTo>
                    <a:pt x="3069" y="2"/>
                  </a:lnTo>
                  <a:lnTo>
                    <a:pt x="3073" y="0"/>
                  </a:lnTo>
                  <a:lnTo>
                    <a:pt x="3076" y="0"/>
                  </a:lnTo>
                  <a:lnTo>
                    <a:pt x="3078" y="0"/>
                  </a:lnTo>
                  <a:close/>
                  <a:moveTo>
                    <a:pt x="3386" y="0"/>
                  </a:moveTo>
                  <a:lnTo>
                    <a:pt x="3563" y="0"/>
                  </a:lnTo>
                  <a:lnTo>
                    <a:pt x="3567" y="0"/>
                  </a:lnTo>
                  <a:lnTo>
                    <a:pt x="3569" y="0"/>
                  </a:lnTo>
                  <a:lnTo>
                    <a:pt x="3572" y="2"/>
                  </a:lnTo>
                  <a:lnTo>
                    <a:pt x="3576" y="4"/>
                  </a:lnTo>
                  <a:lnTo>
                    <a:pt x="3576" y="5"/>
                  </a:lnTo>
                  <a:lnTo>
                    <a:pt x="3576" y="6"/>
                  </a:lnTo>
                  <a:lnTo>
                    <a:pt x="3576" y="8"/>
                  </a:lnTo>
                  <a:lnTo>
                    <a:pt x="3576" y="9"/>
                  </a:lnTo>
                  <a:lnTo>
                    <a:pt x="3572" y="11"/>
                  </a:lnTo>
                  <a:lnTo>
                    <a:pt x="3569" y="13"/>
                  </a:lnTo>
                  <a:lnTo>
                    <a:pt x="3567" y="13"/>
                  </a:lnTo>
                  <a:lnTo>
                    <a:pt x="3563" y="13"/>
                  </a:lnTo>
                  <a:lnTo>
                    <a:pt x="3386" y="13"/>
                  </a:lnTo>
                  <a:lnTo>
                    <a:pt x="3382" y="13"/>
                  </a:lnTo>
                  <a:lnTo>
                    <a:pt x="3380" y="13"/>
                  </a:lnTo>
                  <a:lnTo>
                    <a:pt x="3376" y="11"/>
                  </a:lnTo>
                  <a:lnTo>
                    <a:pt x="3373" y="9"/>
                  </a:lnTo>
                  <a:lnTo>
                    <a:pt x="3373" y="8"/>
                  </a:lnTo>
                  <a:lnTo>
                    <a:pt x="3373" y="6"/>
                  </a:lnTo>
                  <a:lnTo>
                    <a:pt x="3373" y="5"/>
                  </a:lnTo>
                  <a:lnTo>
                    <a:pt x="3373" y="4"/>
                  </a:lnTo>
                  <a:lnTo>
                    <a:pt x="3376" y="2"/>
                  </a:lnTo>
                  <a:lnTo>
                    <a:pt x="3380" y="0"/>
                  </a:lnTo>
                  <a:lnTo>
                    <a:pt x="3382" y="0"/>
                  </a:lnTo>
                  <a:lnTo>
                    <a:pt x="3386" y="0"/>
                  </a:lnTo>
                  <a:close/>
                  <a:moveTo>
                    <a:pt x="3691" y="0"/>
                  </a:moveTo>
                  <a:lnTo>
                    <a:pt x="3870" y="0"/>
                  </a:lnTo>
                  <a:lnTo>
                    <a:pt x="3872" y="0"/>
                  </a:lnTo>
                  <a:lnTo>
                    <a:pt x="3876" y="0"/>
                  </a:lnTo>
                  <a:lnTo>
                    <a:pt x="3880" y="2"/>
                  </a:lnTo>
                  <a:lnTo>
                    <a:pt x="3882" y="4"/>
                  </a:lnTo>
                  <a:lnTo>
                    <a:pt x="3884" y="5"/>
                  </a:lnTo>
                  <a:lnTo>
                    <a:pt x="3884" y="6"/>
                  </a:lnTo>
                  <a:lnTo>
                    <a:pt x="3884" y="8"/>
                  </a:lnTo>
                  <a:lnTo>
                    <a:pt x="3882" y="9"/>
                  </a:lnTo>
                  <a:lnTo>
                    <a:pt x="3880" y="11"/>
                  </a:lnTo>
                  <a:lnTo>
                    <a:pt x="3876" y="13"/>
                  </a:lnTo>
                  <a:lnTo>
                    <a:pt x="3872" y="13"/>
                  </a:lnTo>
                  <a:lnTo>
                    <a:pt x="3870" y="13"/>
                  </a:lnTo>
                  <a:lnTo>
                    <a:pt x="3691" y="13"/>
                  </a:lnTo>
                  <a:lnTo>
                    <a:pt x="3689" y="13"/>
                  </a:lnTo>
                  <a:lnTo>
                    <a:pt x="3686" y="13"/>
                  </a:lnTo>
                  <a:lnTo>
                    <a:pt x="3682" y="11"/>
                  </a:lnTo>
                  <a:lnTo>
                    <a:pt x="3680" y="9"/>
                  </a:lnTo>
                  <a:lnTo>
                    <a:pt x="3678" y="8"/>
                  </a:lnTo>
                  <a:lnTo>
                    <a:pt x="3678" y="6"/>
                  </a:lnTo>
                  <a:lnTo>
                    <a:pt x="3678" y="5"/>
                  </a:lnTo>
                  <a:lnTo>
                    <a:pt x="3680" y="4"/>
                  </a:lnTo>
                  <a:lnTo>
                    <a:pt x="3682" y="2"/>
                  </a:lnTo>
                  <a:lnTo>
                    <a:pt x="3686" y="0"/>
                  </a:lnTo>
                  <a:lnTo>
                    <a:pt x="3689" y="0"/>
                  </a:lnTo>
                  <a:lnTo>
                    <a:pt x="3691" y="0"/>
                  </a:lnTo>
                  <a:close/>
                  <a:moveTo>
                    <a:pt x="3999" y="0"/>
                  </a:moveTo>
                  <a:lnTo>
                    <a:pt x="4065" y="0"/>
                  </a:lnTo>
                  <a:lnTo>
                    <a:pt x="4067" y="0"/>
                  </a:lnTo>
                  <a:lnTo>
                    <a:pt x="4068" y="0"/>
                  </a:lnTo>
                  <a:lnTo>
                    <a:pt x="4074" y="2"/>
                  </a:lnTo>
                  <a:lnTo>
                    <a:pt x="4076" y="4"/>
                  </a:lnTo>
                  <a:lnTo>
                    <a:pt x="4078" y="5"/>
                  </a:lnTo>
                  <a:lnTo>
                    <a:pt x="4078" y="6"/>
                  </a:lnTo>
                  <a:lnTo>
                    <a:pt x="4078" y="8"/>
                  </a:lnTo>
                  <a:lnTo>
                    <a:pt x="4076" y="9"/>
                  </a:lnTo>
                  <a:lnTo>
                    <a:pt x="4074" y="11"/>
                  </a:lnTo>
                  <a:lnTo>
                    <a:pt x="4068" y="13"/>
                  </a:lnTo>
                  <a:lnTo>
                    <a:pt x="4067" y="13"/>
                  </a:lnTo>
                  <a:lnTo>
                    <a:pt x="4065" y="13"/>
                  </a:lnTo>
                  <a:lnTo>
                    <a:pt x="3999" y="13"/>
                  </a:lnTo>
                  <a:lnTo>
                    <a:pt x="3995" y="13"/>
                  </a:lnTo>
                  <a:lnTo>
                    <a:pt x="3993" y="13"/>
                  </a:lnTo>
                  <a:lnTo>
                    <a:pt x="3989" y="11"/>
                  </a:lnTo>
                  <a:lnTo>
                    <a:pt x="3986" y="9"/>
                  </a:lnTo>
                  <a:lnTo>
                    <a:pt x="3986" y="8"/>
                  </a:lnTo>
                  <a:lnTo>
                    <a:pt x="3986" y="6"/>
                  </a:lnTo>
                  <a:lnTo>
                    <a:pt x="3986" y="5"/>
                  </a:lnTo>
                  <a:lnTo>
                    <a:pt x="3986" y="4"/>
                  </a:lnTo>
                  <a:lnTo>
                    <a:pt x="3989" y="2"/>
                  </a:lnTo>
                  <a:lnTo>
                    <a:pt x="3993" y="0"/>
                  </a:lnTo>
                  <a:lnTo>
                    <a:pt x="3995" y="0"/>
                  </a:lnTo>
                  <a:lnTo>
                    <a:pt x="3999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7" name="Rectangle 218"/>
            <p:cNvSpPr>
              <a:spLocks noChangeArrowheads="1"/>
            </p:cNvSpPr>
            <p:nvPr/>
          </p:nvSpPr>
          <p:spPr bwMode="auto">
            <a:xfrm>
              <a:off x="3931" y="2858"/>
              <a:ext cx="59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/>
            </a:p>
          </p:txBody>
        </p:sp>
        <p:sp>
          <p:nvSpPr>
            <p:cNvPr id="84018" name="Rectangle 219"/>
            <p:cNvSpPr>
              <a:spLocks noChangeArrowheads="1"/>
            </p:cNvSpPr>
            <p:nvPr/>
          </p:nvSpPr>
          <p:spPr bwMode="auto">
            <a:xfrm>
              <a:off x="3719" y="3102"/>
              <a:ext cx="24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/2</a:t>
              </a:r>
              <a:endParaRPr lang="en-US" altLang="zh-CN" sz="2000"/>
            </a:p>
          </p:txBody>
        </p:sp>
        <p:sp>
          <p:nvSpPr>
            <p:cNvPr id="84019" name="Rectangle 220"/>
            <p:cNvSpPr>
              <a:spLocks noChangeArrowheads="1"/>
            </p:cNvSpPr>
            <p:nvPr/>
          </p:nvSpPr>
          <p:spPr bwMode="auto">
            <a:xfrm>
              <a:off x="3447" y="3238"/>
              <a:ext cx="12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</a:p>
          </p:txBody>
        </p:sp>
        <p:sp>
          <p:nvSpPr>
            <p:cNvPr id="84020" name="Freeform 221"/>
            <p:cNvSpPr>
              <a:spLocks noEditPoints="1"/>
            </p:cNvSpPr>
            <p:nvPr/>
          </p:nvSpPr>
          <p:spPr bwMode="auto">
            <a:xfrm>
              <a:off x="3400" y="3565"/>
              <a:ext cx="1980" cy="8"/>
            </a:xfrm>
            <a:custGeom>
              <a:avLst/>
              <a:gdLst>
                <a:gd name="T0" fmla="*/ 0 w 3961"/>
                <a:gd name="T1" fmla="*/ 5 h 8"/>
                <a:gd name="T2" fmla="*/ 0 w 3961"/>
                <a:gd name="T3" fmla="*/ 5 h 8"/>
                <a:gd name="T4" fmla="*/ 0 w 3961"/>
                <a:gd name="T5" fmla="*/ 0 h 8"/>
                <a:gd name="T6" fmla="*/ 1 w 3961"/>
                <a:gd name="T7" fmla="*/ 6 h 8"/>
                <a:gd name="T8" fmla="*/ 0 w 3961"/>
                <a:gd name="T9" fmla="*/ 4 h 8"/>
                <a:gd name="T10" fmla="*/ 1 w 3961"/>
                <a:gd name="T11" fmla="*/ 0 h 8"/>
                <a:gd name="T12" fmla="*/ 1 w 3961"/>
                <a:gd name="T13" fmla="*/ 7 h 8"/>
                <a:gd name="T14" fmla="*/ 1 w 3961"/>
                <a:gd name="T15" fmla="*/ 2 h 8"/>
                <a:gd name="T16" fmla="*/ 2 w 3961"/>
                <a:gd name="T17" fmla="*/ 0 h 8"/>
                <a:gd name="T18" fmla="*/ 2 w 3961"/>
                <a:gd name="T19" fmla="*/ 8 h 8"/>
                <a:gd name="T20" fmla="*/ 2 w 3961"/>
                <a:gd name="T21" fmla="*/ 1 h 8"/>
                <a:gd name="T22" fmla="*/ 3 w 3961"/>
                <a:gd name="T23" fmla="*/ 1 h 8"/>
                <a:gd name="T24" fmla="*/ 2 w 3961"/>
                <a:gd name="T25" fmla="*/ 8 h 8"/>
                <a:gd name="T26" fmla="*/ 2 w 3961"/>
                <a:gd name="T27" fmla="*/ 0 h 8"/>
                <a:gd name="T28" fmla="*/ 4 w 3961"/>
                <a:gd name="T29" fmla="*/ 2 h 8"/>
                <a:gd name="T30" fmla="*/ 3 w 3961"/>
                <a:gd name="T31" fmla="*/ 7 h 8"/>
                <a:gd name="T32" fmla="*/ 3 w 3961"/>
                <a:gd name="T33" fmla="*/ 0 h 8"/>
                <a:gd name="T34" fmla="*/ 4 w 3961"/>
                <a:gd name="T35" fmla="*/ 4 h 8"/>
                <a:gd name="T36" fmla="*/ 4 w 3961"/>
                <a:gd name="T37" fmla="*/ 6 h 8"/>
                <a:gd name="T38" fmla="*/ 4 w 3961"/>
                <a:gd name="T39" fmla="*/ 0 h 8"/>
                <a:gd name="T40" fmla="*/ 5 w 3961"/>
                <a:gd name="T41" fmla="*/ 5 h 8"/>
                <a:gd name="T42" fmla="*/ 5 w 3961"/>
                <a:gd name="T43" fmla="*/ 5 h 8"/>
                <a:gd name="T44" fmla="*/ 5 w 3961"/>
                <a:gd name="T45" fmla="*/ 0 h 8"/>
                <a:gd name="T46" fmla="*/ 6 w 3961"/>
                <a:gd name="T47" fmla="*/ 6 h 8"/>
                <a:gd name="T48" fmla="*/ 5 w 3961"/>
                <a:gd name="T49" fmla="*/ 4 h 8"/>
                <a:gd name="T50" fmla="*/ 6 w 3961"/>
                <a:gd name="T51" fmla="*/ 0 h 8"/>
                <a:gd name="T52" fmla="*/ 6 w 3961"/>
                <a:gd name="T53" fmla="*/ 7 h 8"/>
                <a:gd name="T54" fmla="*/ 6 w 3961"/>
                <a:gd name="T55" fmla="*/ 2 h 8"/>
                <a:gd name="T56" fmla="*/ 7 w 3961"/>
                <a:gd name="T57" fmla="*/ 0 h 8"/>
                <a:gd name="T58" fmla="*/ 7 w 3961"/>
                <a:gd name="T59" fmla="*/ 8 h 8"/>
                <a:gd name="T60" fmla="*/ 7 w 3961"/>
                <a:gd name="T61" fmla="*/ 1 h 8"/>
                <a:gd name="T62" fmla="*/ 8 w 3961"/>
                <a:gd name="T63" fmla="*/ 1 h 8"/>
                <a:gd name="T64" fmla="*/ 7 w 3961"/>
                <a:gd name="T65" fmla="*/ 8 h 8"/>
                <a:gd name="T66" fmla="*/ 7 w 3961"/>
                <a:gd name="T67" fmla="*/ 0 h 8"/>
                <a:gd name="T68" fmla="*/ 9 w 3961"/>
                <a:gd name="T69" fmla="*/ 2 h 8"/>
                <a:gd name="T70" fmla="*/ 8 w 3961"/>
                <a:gd name="T71" fmla="*/ 7 h 8"/>
                <a:gd name="T72" fmla="*/ 8 w 3961"/>
                <a:gd name="T73" fmla="*/ 0 h 8"/>
                <a:gd name="T74" fmla="*/ 9 w 3961"/>
                <a:gd name="T75" fmla="*/ 4 h 8"/>
                <a:gd name="T76" fmla="*/ 9 w 3961"/>
                <a:gd name="T77" fmla="*/ 6 h 8"/>
                <a:gd name="T78" fmla="*/ 9 w 3961"/>
                <a:gd name="T79" fmla="*/ 0 h 8"/>
                <a:gd name="T80" fmla="*/ 10 w 3961"/>
                <a:gd name="T81" fmla="*/ 5 h 8"/>
                <a:gd name="T82" fmla="*/ 10 w 3961"/>
                <a:gd name="T83" fmla="*/ 5 h 8"/>
                <a:gd name="T84" fmla="*/ 10 w 3961"/>
                <a:gd name="T85" fmla="*/ 0 h 8"/>
                <a:gd name="T86" fmla="*/ 11 w 3961"/>
                <a:gd name="T87" fmla="*/ 6 h 8"/>
                <a:gd name="T88" fmla="*/ 10 w 3961"/>
                <a:gd name="T89" fmla="*/ 4 h 8"/>
                <a:gd name="T90" fmla="*/ 11 w 3961"/>
                <a:gd name="T91" fmla="*/ 0 h 8"/>
                <a:gd name="T92" fmla="*/ 11 w 3961"/>
                <a:gd name="T93" fmla="*/ 7 h 8"/>
                <a:gd name="T94" fmla="*/ 11 w 3961"/>
                <a:gd name="T95" fmla="*/ 2 h 8"/>
                <a:gd name="T96" fmla="*/ 12 w 3961"/>
                <a:gd name="T97" fmla="*/ 0 h 8"/>
                <a:gd name="T98" fmla="*/ 12 w 3961"/>
                <a:gd name="T99" fmla="*/ 8 h 8"/>
                <a:gd name="T100" fmla="*/ 12 w 3961"/>
                <a:gd name="T101" fmla="*/ 1 h 8"/>
                <a:gd name="T102" fmla="*/ 13 w 3961"/>
                <a:gd name="T103" fmla="*/ 1 h 8"/>
                <a:gd name="T104" fmla="*/ 12 w 3961"/>
                <a:gd name="T105" fmla="*/ 8 h 8"/>
                <a:gd name="T106" fmla="*/ 12 w 3961"/>
                <a:gd name="T107" fmla="*/ 0 h 8"/>
                <a:gd name="T108" fmla="*/ 14 w 3961"/>
                <a:gd name="T109" fmla="*/ 2 h 8"/>
                <a:gd name="T110" fmla="*/ 13 w 3961"/>
                <a:gd name="T111" fmla="*/ 7 h 8"/>
                <a:gd name="T112" fmla="*/ 13 w 3961"/>
                <a:gd name="T113" fmla="*/ 0 h 8"/>
                <a:gd name="T114" fmla="*/ 14 w 3961"/>
                <a:gd name="T115" fmla="*/ 4 h 8"/>
                <a:gd name="T116" fmla="*/ 14 w 3961"/>
                <a:gd name="T117" fmla="*/ 6 h 8"/>
                <a:gd name="T118" fmla="*/ 14 w 3961"/>
                <a:gd name="T119" fmla="*/ 0 h 8"/>
                <a:gd name="T120" fmla="*/ 15 w 3961"/>
                <a:gd name="T121" fmla="*/ 5 h 8"/>
                <a:gd name="T122" fmla="*/ 15 w 3961"/>
                <a:gd name="T123" fmla="*/ 5 h 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961"/>
                <a:gd name="T187" fmla="*/ 0 h 8"/>
                <a:gd name="T188" fmla="*/ 3961 w 3961"/>
                <a:gd name="T189" fmla="*/ 8 h 8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961" h="8">
                  <a:moveTo>
                    <a:pt x="7" y="0"/>
                  </a:moveTo>
                  <a:lnTo>
                    <a:pt x="115" y="0"/>
                  </a:lnTo>
                  <a:lnTo>
                    <a:pt x="119" y="0"/>
                  </a:lnTo>
                  <a:lnTo>
                    <a:pt x="121" y="1"/>
                  </a:lnTo>
                  <a:lnTo>
                    <a:pt x="122" y="2"/>
                  </a:lnTo>
                  <a:lnTo>
                    <a:pt x="122" y="4"/>
                  </a:lnTo>
                  <a:lnTo>
                    <a:pt x="122" y="5"/>
                  </a:lnTo>
                  <a:lnTo>
                    <a:pt x="121" y="6"/>
                  </a:lnTo>
                  <a:lnTo>
                    <a:pt x="119" y="7"/>
                  </a:lnTo>
                  <a:lnTo>
                    <a:pt x="115" y="8"/>
                  </a:lnTo>
                  <a:lnTo>
                    <a:pt x="7" y="8"/>
                  </a:lnTo>
                  <a:lnTo>
                    <a:pt x="5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1"/>
                  </a:lnTo>
                  <a:lnTo>
                    <a:pt x="5" y="0"/>
                  </a:lnTo>
                  <a:lnTo>
                    <a:pt x="7" y="0"/>
                  </a:lnTo>
                  <a:close/>
                  <a:moveTo>
                    <a:pt x="192" y="0"/>
                  </a:moveTo>
                  <a:lnTo>
                    <a:pt x="300" y="0"/>
                  </a:lnTo>
                  <a:lnTo>
                    <a:pt x="302" y="0"/>
                  </a:lnTo>
                  <a:lnTo>
                    <a:pt x="305" y="1"/>
                  </a:lnTo>
                  <a:lnTo>
                    <a:pt x="307" y="2"/>
                  </a:lnTo>
                  <a:lnTo>
                    <a:pt x="307" y="4"/>
                  </a:lnTo>
                  <a:lnTo>
                    <a:pt x="307" y="5"/>
                  </a:lnTo>
                  <a:lnTo>
                    <a:pt x="305" y="6"/>
                  </a:lnTo>
                  <a:lnTo>
                    <a:pt x="302" y="7"/>
                  </a:lnTo>
                  <a:lnTo>
                    <a:pt x="300" y="8"/>
                  </a:lnTo>
                  <a:lnTo>
                    <a:pt x="192" y="8"/>
                  </a:lnTo>
                  <a:lnTo>
                    <a:pt x="188" y="7"/>
                  </a:lnTo>
                  <a:lnTo>
                    <a:pt x="187" y="6"/>
                  </a:lnTo>
                  <a:lnTo>
                    <a:pt x="185" y="5"/>
                  </a:lnTo>
                  <a:lnTo>
                    <a:pt x="185" y="4"/>
                  </a:lnTo>
                  <a:lnTo>
                    <a:pt x="185" y="2"/>
                  </a:lnTo>
                  <a:lnTo>
                    <a:pt x="187" y="1"/>
                  </a:lnTo>
                  <a:lnTo>
                    <a:pt x="188" y="0"/>
                  </a:lnTo>
                  <a:lnTo>
                    <a:pt x="192" y="0"/>
                  </a:lnTo>
                  <a:close/>
                  <a:moveTo>
                    <a:pt x="375" y="0"/>
                  </a:moveTo>
                  <a:lnTo>
                    <a:pt x="483" y="0"/>
                  </a:lnTo>
                  <a:lnTo>
                    <a:pt x="486" y="0"/>
                  </a:lnTo>
                  <a:lnTo>
                    <a:pt x="488" y="1"/>
                  </a:lnTo>
                  <a:lnTo>
                    <a:pt x="490" y="2"/>
                  </a:lnTo>
                  <a:lnTo>
                    <a:pt x="490" y="4"/>
                  </a:lnTo>
                  <a:lnTo>
                    <a:pt x="490" y="5"/>
                  </a:lnTo>
                  <a:lnTo>
                    <a:pt x="488" y="6"/>
                  </a:lnTo>
                  <a:lnTo>
                    <a:pt x="486" y="7"/>
                  </a:lnTo>
                  <a:lnTo>
                    <a:pt x="483" y="8"/>
                  </a:lnTo>
                  <a:lnTo>
                    <a:pt x="375" y="8"/>
                  </a:lnTo>
                  <a:lnTo>
                    <a:pt x="373" y="7"/>
                  </a:lnTo>
                  <a:lnTo>
                    <a:pt x="371" y="6"/>
                  </a:lnTo>
                  <a:lnTo>
                    <a:pt x="370" y="5"/>
                  </a:lnTo>
                  <a:lnTo>
                    <a:pt x="368" y="4"/>
                  </a:lnTo>
                  <a:lnTo>
                    <a:pt x="370" y="2"/>
                  </a:lnTo>
                  <a:lnTo>
                    <a:pt x="371" y="1"/>
                  </a:lnTo>
                  <a:lnTo>
                    <a:pt x="373" y="0"/>
                  </a:lnTo>
                  <a:lnTo>
                    <a:pt x="375" y="0"/>
                  </a:lnTo>
                  <a:close/>
                  <a:moveTo>
                    <a:pt x="560" y="0"/>
                  </a:moveTo>
                  <a:lnTo>
                    <a:pt x="668" y="0"/>
                  </a:lnTo>
                  <a:lnTo>
                    <a:pt x="669" y="0"/>
                  </a:lnTo>
                  <a:lnTo>
                    <a:pt x="673" y="1"/>
                  </a:lnTo>
                  <a:lnTo>
                    <a:pt x="675" y="2"/>
                  </a:lnTo>
                  <a:lnTo>
                    <a:pt x="675" y="4"/>
                  </a:lnTo>
                  <a:lnTo>
                    <a:pt x="675" y="5"/>
                  </a:lnTo>
                  <a:lnTo>
                    <a:pt x="673" y="6"/>
                  </a:lnTo>
                  <a:lnTo>
                    <a:pt x="669" y="7"/>
                  </a:lnTo>
                  <a:lnTo>
                    <a:pt x="668" y="8"/>
                  </a:lnTo>
                  <a:lnTo>
                    <a:pt x="560" y="8"/>
                  </a:lnTo>
                  <a:lnTo>
                    <a:pt x="556" y="7"/>
                  </a:lnTo>
                  <a:lnTo>
                    <a:pt x="554" y="6"/>
                  </a:lnTo>
                  <a:lnTo>
                    <a:pt x="552" y="5"/>
                  </a:lnTo>
                  <a:lnTo>
                    <a:pt x="552" y="4"/>
                  </a:lnTo>
                  <a:lnTo>
                    <a:pt x="552" y="2"/>
                  </a:lnTo>
                  <a:lnTo>
                    <a:pt x="554" y="1"/>
                  </a:lnTo>
                  <a:lnTo>
                    <a:pt x="556" y="0"/>
                  </a:lnTo>
                  <a:lnTo>
                    <a:pt x="560" y="0"/>
                  </a:lnTo>
                  <a:close/>
                  <a:moveTo>
                    <a:pt x="745" y="0"/>
                  </a:moveTo>
                  <a:lnTo>
                    <a:pt x="850" y="0"/>
                  </a:lnTo>
                  <a:lnTo>
                    <a:pt x="854" y="0"/>
                  </a:lnTo>
                  <a:lnTo>
                    <a:pt x="856" y="1"/>
                  </a:lnTo>
                  <a:lnTo>
                    <a:pt x="858" y="2"/>
                  </a:lnTo>
                  <a:lnTo>
                    <a:pt x="860" y="4"/>
                  </a:lnTo>
                  <a:lnTo>
                    <a:pt x="858" y="5"/>
                  </a:lnTo>
                  <a:lnTo>
                    <a:pt x="856" y="6"/>
                  </a:lnTo>
                  <a:lnTo>
                    <a:pt x="854" y="7"/>
                  </a:lnTo>
                  <a:lnTo>
                    <a:pt x="850" y="8"/>
                  </a:lnTo>
                  <a:lnTo>
                    <a:pt x="745" y="8"/>
                  </a:lnTo>
                  <a:lnTo>
                    <a:pt x="741" y="7"/>
                  </a:lnTo>
                  <a:lnTo>
                    <a:pt x="739" y="6"/>
                  </a:lnTo>
                  <a:lnTo>
                    <a:pt x="737" y="5"/>
                  </a:lnTo>
                  <a:lnTo>
                    <a:pt x="735" y="4"/>
                  </a:lnTo>
                  <a:lnTo>
                    <a:pt x="737" y="2"/>
                  </a:lnTo>
                  <a:lnTo>
                    <a:pt x="739" y="1"/>
                  </a:lnTo>
                  <a:lnTo>
                    <a:pt x="741" y="0"/>
                  </a:lnTo>
                  <a:lnTo>
                    <a:pt x="745" y="0"/>
                  </a:lnTo>
                  <a:close/>
                  <a:moveTo>
                    <a:pt x="928" y="0"/>
                  </a:moveTo>
                  <a:lnTo>
                    <a:pt x="1035" y="0"/>
                  </a:lnTo>
                  <a:lnTo>
                    <a:pt x="1037" y="0"/>
                  </a:lnTo>
                  <a:lnTo>
                    <a:pt x="1041" y="1"/>
                  </a:lnTo>
                  <a:lnTo>
                    <a:pt x="1043" y="2"/>
                  </a:lnTo>
                  <a:lnTo>
                    <a:pt x="1043" y="4"/>
                  </a:lnTo>
                  <a:lnTo>
                    <a:pt x="1043" y="5"/>
                  </a:lnTo>
                  <a:lnTo>
                    <a:pt x="1041" y="6"/>
                  </a:lnTo>
                  <a:lnTo>
                    <a:pt x="1037" y="7"/>
                  </a:lnTo>
                  <a:lnTo>
                    <a:pt x="1035" y="8"/>
                  </a:lnTo>
                  <a:lnTo>
                    <a:pt x="928" y="8"/>
                  </a:lnTo>
                  <a:lnTo>
                    <a:pt x="924" y="7"/>
                  </a:lnTo>
                  <a:lnTo>
                    <a:pt x="922" y="6"/>
                  </a:lnTo>
                  <a:lnTo>
                    <a:pt x="920" y="5"/>
                  </a:lnTo>
                  <a:lnTo>
                    <a:pt x="920" y="4"/>
                  </a:lnTo>
                  <a:lnTo>
                    <a:pt x="920" y="2"/>
                  </a:lnTo>
                  <a:lnTo>
                    <a:pt x="922" y="1"/>
                  </a:lnTo>
                  <a:lnTo>
                    <a:pt x="924" y="0"/>
                  </a:lnTo>
                  <a:lnTo>
                    <a:pt x="928" y="0"/>
                  </a:lnTo>
                  <a:close/>
                  <a:moveTo>
                    <a:pt x="1113" y="0"/>
                  </a:moveTo>
                  <a:lnTo>
                    <a:pt x="1220" y="0"/>
                  </a:lnTo>
                  <a:lnTo>
                    <a:pt x="1222" y="0"/>
                  </a:lnTo>
                  <a:lnTo>
                    <a:pt x="1224" y="1"/>
                  </a:lnTo>
                  <a:lnTo>
                    <a:pt x="1226" y="2"/>
                  </a:lnTo>
                  <a:lnTo>
                    <a:pt x="1228" y="4"/>
                  </a:lnTo>
                  <a:lnTo>
                    <a:pt x="1226" y="5"/>
                  </a:lnTo>
                  <a:lnTo>
                    <a:pt x="1224" y="6"/>
                  </a:lnTo>
                  <a:lnTo>
                    <a:pt x="1222" y="7"/>
                  </a:lnTo>
                  <a:lnTo>
                    <a:pt x="1220" y="8"/>
                  </a:lnTo>
                  <a:lnTo>
                    <a:pt x="1113" y="8"/>
                  </a:lnTo>
                  <a:lnTo>
                    <a:pt x="1109" y="7"/>
                  </a:lnTo>
                  <a:lnTo>
                    <a:pt x="1107" y="6"/>
                  </a:lnTo>
                  <a:lnTo>
                    <a:pt x="1105" y="5"/>
                  </a:lnTo>
                  <a:lnTo>
                    <a:pt x="1105" y="4"/>
                  </a:lnTo>
                  <a:lnTo>
                    <a:pt x="1105" y="2"/>
                  </a:lnTo>
                  <a:lnTo>
                    <a:pt x="1107" y="1"/>
                  </a:lnTo>
                  <a:lnTo>
                    <a:pt x="1109" y="0"/>
                  </a:lnTo>
                  <a:lnTo>
                    <a:pt x="1113" y="0"/>
                  </a:lnTo>
                  <a:close/>
                  <a:moveTo>
                    <a:pt x="1296" y="0"/>
                  </a:moveTo>
                  <a:lnTo>
                    <a:pt x="1403" y="0"/>
                  </a:lnTo>
                  <a:lnTo>
                    <a:pt x="1407" y="0"/>
                  </a:lnTo>
                  <a:lnTo>
                    <a:pt x="1409" y="1"/>
                  </a:lnTo>
                  <a:lnTo>
                    <a:pt x="1411" y="2"/>
                  </a:lnTo>
                  <a:lnTo>
                    <a:pt x="1411" y="4"/>
                  </a:lnTo>
                  <a:lnTo>
                    <a:pt x="1411" y="5"/>
                  </a:lnTo>
                  <a:lnTo>
                    <a:pt x="1409" y="6"/>
                  </a:lnTo>
                  <a:lnTo>
                    <a:pt x="1407" y="7"/>
                  </a:lnTo>
                  <a:lnTo>
                    <a:pt x="1403" y="8"/>
                  </a:lnTo>
                  <a:lnTo>
                    <a:pt x="1296" y="8"/>
                  </a:lnTo>
                  <a:lnTo>
                    <a:pt x="1294" y="7"/>
                  </a:lnTo>
                  <a:lnTo>
                    <a:pt x="1290" y="6"/>
                  </a:lnTo>
                  <a:lnTo>
                    <a:pt x="1288" y="5"/>
                  </a:lnTo>
                  <a:lnTo>
                    <a:pt x="1288" y="4"/>
                  </a:lnTo>
                  <a:lnTo>
                    <a:pt x="1288" y="2"/>
                  </a:lnTo>
                  <a:lnTo>
                    <a:pt x="1290" y="1"/>
                  </a:lnTo>
                  <a:lnTo>
                    <a:pt x="1294" y="0"/>
                  </a:lnTo>
                  <a:lnTo>
                    <a:pt x="1296" y="0"/>
                  </a:lnTo>
                  <a:close/>
                  <a:moveTo>
                    <a:pt x="1480" y="0"/>
                  </a:moveTo>
                  <a:lnTo>
                    <a:pt x="1588" y="0"/>
                  </a:lnTo>
                  <a:lnTo>
                    <a:pt x="1590" y="0"/>
                  </a:lnTo>
                  <a:lnTo>
                    <a:pt x="1592" y="1"/>
                  </a:lnTo>
                  <a:lnTo>
                    <a:pt x="1594" y="2"/>
                  </a:lnTo>
                  <a:lnTo>
                    <a:pt x="1596" y="4"/>
                  </a:lnTo>
                  <a:lnTo>
                    <a:pt x="1594" y="5"/>
                  </a:lnTo>
                  <a:lnTo>
                    <a:pt x="1592" y="6"/>
                  </a:lnTo>
                  <a:lnTo>
                    <a:pt x="1590" y="7"/>
                  </a:lnTo>
                  <a:lnTo>
                    <a:pt x="1588" y="8"/>
                  </a:lnTo>
                  <a:lnTo>
                    <a:pt x="1480" y="8"/>
                  </a:lnTo>
                  <a:lnTo>
                    <a:pt x="1477" y="7"/>
                  </a:lnTo>
                  <a:lnTo>
                    <a:pt x="1475" y="6"/>
                  </a:lnTo>
                  <a:lnTo>
                    <a:pt x="1473" y="5"/>
                  </a:lnTo>
                  <a:lnTo>
                    <a:pt x="1473" y="4"/>
                  </a:lnTo>
                  <a:lnTo>
                    <a:pt x="1473" y="2"/>
                  </a:lnTo>
                  <a:lnTo>
                    <a:pt x="1475" y="1"/>
                  </a:lnTo>
                  <a:lnTo>
                    <a:pt x="1477" y="0"/>
                  </a:lnTo>
                  <a:lnTo>
                    <a:pt x="1480" y="0"/>
                  </a:lnTo>
                  <a:close/>
                  <a:moveTo>
                    <a:pt x="1663" y="0"/>
                  </a:moveTo>
                  <a:lnTo>
                    <a:pt x="1771" y="0"/>
                  </a:lnTo>
                  <a:lnTo>
                    <a:pt x="1775" y="0"/>
                  </a:lnTo>
                  <a:lnTo>
                    <a:pt x="1777" y="1"/>
                  </a:lnTo>
                  <a:lnTo>
                    <a:pt x="1778" y="2"/>
                  </a:lnTo>
                  <a:lnTo>
                    <a:pt x="1778" y="4"/>
                  </a:lnTo>
                  <a:lnTo>
                    <a:pt x="1778" y="5"/>
                  </a:lnTo>
                  <a:lnTo>
                    <a:pt x="1777" y="6"/>
                  </a:lnTo>
                  <a:lnTo>
                    <a:pt x="1775" y="7"/>
                  </a:lnTo>
                  <a:lnTo>
                    <a:pt x="1771" y="8"/>
                  </a:lnTo>
                  <a:lnTo>
                    <a:pt x="1663" y="8"/>
                  </a:lnTo>
                  <a:lnTo>
                    <a:pt x="1662" y="7"/>
                  </a:lnTo>
                  <a:lnTo>
                    <a:pt x="1658" y="6"/>
                  </a:lnTo>
                  <a:lnTo>
                    <a:pt x="1656" y="5"/>
                  </a:lnTo>
                  <a:lnTo>
                    <a:pt x="1656" y="4"/>
                  </a:lnTo>
                  <a:lnTo>
                    <a:pt x="1656" y="2"/>
                  </a:lnTo>
                  <a:lnTo>
                    <a:pt x="1658" y="1"/>
                  </a:lnTo>
                  <a:lnTo>
                    <a:pt x="1662" y="0"/>
                  </a:lnTo>
                  <a:lnTo>
                    <a:pt x="1663" y="0"/>
                  </a:lnTo>
                  <a:close/>
                  <a:moveTo>
                    <a:pt x="1848" y="0"/>
                  </a:moveTo>
                  <a:lnTo>
                    <a:pt x="1956" y="0"/>
                  </a:lnTo>
                  <a:lnTo>
                    <a:pt x="1958" y="0"/>
                  </a:lnTo>
                  <a:lnTo>
                    <a:pt x="1960" y="1"/>
                  </a:lnTo>
                  <a:lnTo>
                    <a:pt x="1961" y="2"/>
                  </a:lnTo>
                  <a:lnTo>
                    <a:pt x="1963" y="4"/>
                  </a:lnTo>
                  <a:lnTo>
                    <a:pt x="1961" y="5"/>
                  </a:lnTo>
                  <a:lnTo>
                    <a:pt x="1960" y="6"/>
                  </a:lnTo>
                  <a:lnTo>
                    <a:pt x="1958" y="7"/>
                  </a:lnTo>
                  <a:lnTo>
                    <a:pt x="1956" y="8"/>
                  </a:lnTo>
                  <a:lnTo>
                    <a:pt x="1848" y="8"/>
                  </a:lnTo>
                  <a:lnTo>
                    <a:pt x="1844" y="7"/>
                  </a:lnTo>
                  <a:lnTo>
                    <a:pt x="1843" y="6"/>
                  </a:lnTo>
                  <a:lnTo>
                    <a:pt x="1841" y="5"/>
                  </a:lnTo>
                  <a:lnTo>
                    <a:pt x="1841" y="4"/>
                  </a:lnTo>
                  <a:lnTo>
                    <a:pt x="1841" y="2"/>
                  </a:lnTo>
                  <a:lnTo>
                    <a:pt x="1843" y="1"/>
                  </a:lnTo>
                  <a:lnTo>
                    <a:pt x="1844" y="0"/>
                  </a:lnTo>
                  <a:lnTo>
                    <a:pt x="1848" y="0"/>
                  </a:lnTo>
                  <a:close/>
                  <a:moveTo>
                    <a:pt x="2031" y="0"/>
                  </a:moveTo>
                  <a:lnTo>
                    <a:pt x="2139" y="0"/>
                  </a:lnTo>
                  <a:lnTo>
                    <a:pt x="2142" y="0"/>
                  </a:lnTo>
                  <a:lnTo>
                    <a:pt x="2144" y="1"/>
                  </a:lnTo>
                  <a:lnTo>
                    <a:pt x="2146" y="2"/>
                  </a:lnTo>
                  <a:lnTo>
                    <a:pt x="2146" y="4"/>
                  </a:lnTo>
                  <a:lnTo>
                    <a:pt x="2146" y="5"/>
                  </a:lnTo>
                  <a:lnTo>
                    <a:pt x="2144" y="6"/>
                  </a:lnTo>
                  <a:lnTo>
                    <a:pt x="2142" y="7"/>
                  </a:lnTo>
                  <a:lnTo>
                    <a:pt x="2139" y="8"/>
                  </a:lnTo>
                  <a:lnTo>
                    <a:pt x="2031" y="8"/>
                  </a:lnTo>
                  <a:lnTo>
                    <a:pt x="2029" y="7"/>
                  </a:lnTo>
                  <a:lnTo>
                    <a:pt x="2026" y="6"/>
                  </a:lnTo>
                  <a:lnTo>
                    <a:pt x="2024" y="5"/>
                  </a:lnTo>
                  <a:lnTo>
                    <a:pt x="2024" y="4"/>
                  </a:lnTo>
                  <a:lnTo>
                    <a:pt x="2024" y="2"/>
                  </a:lnTo>
                  <a:lnTo>
                    <a:pt x="2026" y="1"/>
                  </a:lnTo>
                  <a:lnTo>
                    <a:pt x="2029" y="0"/>
                  </a:lnTo>
                  <a:lnTo>
                    <a:pt x="2031" y="0"/>
                  </a:lnTo>
                  <a:close/>
                  <a:moveTo>
                    <a:pt x="2216" y="0"/>
                  </a:moveTo>
                  <a:lnTo>
                    <a:pt x="2324" y="0"/>
                  </a:lnTo>
                  <a:lnTo>
                    <a:pt x="2325" y="0"/>
                  </a:lnTo>
                  <a:lnTo>
                    <a:pt x="2329" y="1"/>
                  </a:lnTo>
                  <a:lnTo>
                    <a:pt x="2329" y="2"/>
                  </a:lnTo>
                  <a:lnTo>
                    <a:pt x="2331" y="4"/>
                  </a:lnTo>
                  <a:lnTo>
                    <a:pt x="2329" y="5"/>
                  </a:lnTo>
                  <a:lnTo>
                    <a:pt x="2329" y="6"/>
                  </a:lnTo>
                  <a:lnTo>
                    <a:pt x="2325" y="7"/>
                  </a:lnTo>
                  <a:lnTo>
                    <a:pt x="2324" y="8"/>
                  </a:lnTo>
                  <a:lnTo>
                    <a:pt x="2216" y="8"/>
                  </a:lnTo>
                  <a:lnTo>
                    <a:pt x="2212" y="7"/>
                  </a:lnTo>
                  <a:lnTo>
                    <a:pt x="2210" y="6"/>
                  </a:lnTo>
                  <a:lnTo>
                    <a:pt x="2209" y="5"/>
                  </a:lnTo>
                  <a:lnTo>
                    <a:pt x="2209" y="4"/>
                  </a:lnTo>
                  <a:lnTo>
                    <a:pt x="2209" y="2"/>
                  </a:lnTo>
                  <a:lnTo>
                    <a:pt x="2210" y="1"/>
                  </a:lnTo>
                  <a:lnTo>
                    <a:pt x="2212" y="0"/>
                  </a:lnTo>
                  <a:lnTo>
                    <a:pt x="2216" y="0"/>
                  </a:lnTo>
                  <a:close/>
                  <a:moveTo>
                    <a:pt x="2399" y="0"/>
                  </a:moveTo>
                  <a:lnTo>
                    <a:pt x="2507" y="0"/>
                  </a:lnTo>
                  <a:lnTo>
                    <a:pt x="2510" y="0"/>
                  </a:lnTo>
                  <a:lnTo>
                    <a:pt x="2512" y="1"/>
                  </a:lnTo>
                  <a:lnTo>
                    <a:pt x="2514" y="2"/>
                  </a:lnTo>
                  <a:lnTo>
                    <a:pt x="2514" y="4"/>
                  </a:lnTo>
                  <a:lnTo>
                    <a:pt x="2514" y="5"/>
                  </a:lnTo>
                  <a:lnTo>
                    <a:pt x="2512" y="6"/>
                  </a:lnTo>
                  <a:lnTo>
                    <a:pt x="2510" y="7"/>
                  </a:lnTo>
                  <a:lnTo>
                    <a:pt x="2507" y="8"/>
                  </a:lnTo>
                  <a:lnTo>
                    <a:pt x="2399" y="8"/>
                  </a:lnTo>
                  <a:lnTo>
                    <a:pt x="2397" y="7"/>
                  </a:lnTo>
                  <a:lnTo>
                    <a:pt x="2393" y="6"/>
                  </a:lnTo>
                  <a:lnTo>
                    <a:pt x="2393" y="5"/>
                  </a:lnTo>
                  <a:lnTo>
                    <a:pt x="2391" y="4"/>
                  </a:lnTo>
                  <a:lnTo>
                    <a:pt x="2393" y="2"/>
                  </a:lnTo>
                  <a:lnTo>
                    <a:pt x="2393" y="1"/>
                  </a:lnTo>
                  <a:lnTo>
                    <a:pt x="2397" y="0"/>
                  </a:lnTo>
                  <a:lnTo>
                    <a:pt x="2399" y="0"/>
                  </a:lnTo>
                  <a:close/>
                  <a:moveTo>
                    <a:pt x="2584" y="0"/>
                  </a:moveTo>
                  <a:lnTo>
                    <a:pt x="2691" y="0"/>
                  </a:lnTo>
                  <a:lnTo>
                    <a:pt x="2693" y="0"/>
                  </a:lnTo>
                  <a:lnTo>
                    <a:pt x="2697" y="1"/>
                  </a:lnTo>
                  <a:lnTo>
                    <a:pt x="2699" y="2"/>
                  </a:lnTo>
                  <a:lnTo>
                    <a:pt x="2699" y="4"/>
                  </a:lnTo>
                  <a:lnTo>
                    <a:pt x="2699" y="5"/>
                  </a:lnTo>
                  <a:lnTo>
                    <a:pt x="2697" y="6"/>
                  </a:lnTo>
                  <a:lnTo>
                    <a:pt x="2693" y="7"/>
                  </a:lnTo>
                  <a:lnTo>
                    <a:pt x="2691" y="8"/>
                  </a:lnTo>
                  <a:lnTo>
                    <a:pt x="2584" y="8"/>
                  </a:lnTo>
                  <a:lnTo>
                    <a:pt x="2580" y="7"/>
                  </a:lnTo>
                  <a:lnTo>
                    <a:pt x="2578" y="6"/>
                  </a:lnTo>
                  <a:lnTo>
                    <a:pt x="2576" y="5"/>
                  </a:lnTo>
                  <a:lnTo>
                    <a:pt x="2576" y="4"/>
                  </a:lnTo>
                  <a:lnTo>
                    <a:pt x="2576" y="2"/>
                  </a:lnTo>
                  <a:lnTo>
                    <a:pt x="2578" y="1"/>
                  </a:lnTo>
                  <a:lnTo>
                    <a:pt x="2580" y="0"/>
                  </a:lnTo>
                  <a:lnTo>
                    <a:pt x="2584" y="0"/>
                  </a:lnTo>
                  <a:close/>
                  <a:moveTo>
                    <a:pt x="2767" y="0"/>
                  </a:moveTo>
                  <a:lnTo>
                    <a:pt x="2874" y="0"/>
                  </a:lnTo>
                  <a:lnTo>
                    <a:pt x="2878" y="0"/>
                  </a:lnTo>
                  <a:lnTo>
                    <a:pt x="2880" y="1"/>
                  </a:lnTo>
                  <a:lnTo>
                    <a:pt x="2882" y="2"/>
                  </a:lnTo>
                  <a:lnTo>
                    <a:pt x="2882" y="4"/>
                  </a:lnTo>
                  <a:lnTo>
                    <a:pt x="2882" y="5"/>
                  </a:lnTo>
                  <a:lnTo>
                    <a:pt x="2880" y="6"/>
                  </a:lnTo>
                  <a:lnTo>
                    <a:pt x="2878" y="7"/>
                  </a:lnTo>
                  <a:lnTo>
                    <a:pt x="2874" y="8"/>
                  </a:lnTo>
                  <a:lnTo>
                    <a:pt x="2767" y="8"/>
                  </a:lnTo>
                  <a:lnTo>
                    <a:pt x="2765" y="7"/>
                  </a:lnTo>
                  <a:lnTo>
                    <a:pt x="2763" y="6"/>
                  </a:lnTo>
                  <a:lnTo>
                    <a:pt x="2761" y="5"/>
                  </a:lnTo>
                  <a:lnTo>
                    <a:pt x="2759" y="4"/>
                  </a:lnTo>
                  <a:lnTo>
                    <a:pt x="2761" y="2"/>
                  </a:lnTo>
                  <a:lnTo>
                    <a:pt x="2763" y="1"/>
                  </a:lnTo>
                  <a:lnTo>
                    <a:pt x="2765" y="0"/>
                  </a:lnTo>
                  <a:lnTo>
                    <a:pt x="2767" y="0"/>
                  </a:lnTo>
                  <a:close/>
                  <a:moveTo>
                    <a:pt x="2952" y="0"/>
                  </a:moveTo>
                  <a:lnTo>
                    <a:pt x="3059" y="0"/>
                  </a:lnTo>
                  <a:lnTo>
                    <a:pt x="3061" y="0"/>
                  </a:lnTo>
                  <a:lnTo>
                    <a:pt x="3065" y="1"/>
                  </a:lnTo>
                  <a:lnTo>
                    <a:pt x="3067" y="2"/>
                  </a:lnTo>
                  <a:lnTo>
                    <a:pt x="3067" y="4"/>
                  </a:lnTo>
                  <a:lnTo>
                    <a:pt x="3067" y="5"/>
                  </a:lnTo>
                  <a:lnTo>
                    <a:pt x="3065" y="6"/>
                  </a:lnTo>
                  <a:lnTo>
                    <a:pt x="3061" y="7"/>
                  </a:lnTo>
                  <a:lnTo>
                    <a:pt x="3059" y="8"/>
                  </a:lnTo>
                  <a:lnTo>
                    <a:pt x="2952" y="8"/>
                  </a:lnTo>
                  <a:lnTo>
                    <a:pt x="2948" y="7"/>
                  </a:lnTo>
                  <a:lnTo>
                    <a:pt x="2946" y="6"/>
                  </a:lnTo>
                  <a:lnTo>
                    <a:pt x="2944" y="5"/>
                  </a:lnTo>
                  <a:lnTo>
                    <a:pt x="2944" y="4"/>
                  </a:lnTo>
                  <a:lnTo>
                    <a:pt x="2944" y="2"/>
                  </a:lnTo>
                  <a:lnTo>
                    <a:pt x="2946" y="1"/>
                  </a:lnTo>
                  <a:lnTo>
                    <a:pt x="2948" y="0"/>
                  </a:lnTo>
                  <a:lnTo>
                    <a:pt x="2952" y="0"/>
                  </a:lnTo>
                  <a:close/>
                  <a:moveTo>
                    <a:pt x="3137" y="0"/>
                  </a:moveTo>
                  <a:lnTo>
                    <a:pt x="3242" y="0"/>
                  </a:lnTo>
                  <a:lnTo>
                    <a:pt x="3246" y="0"/>
                  </a:lnTo>
                  <a:lnTo>
                    <a:pt x="3248" y="1"/>
                  </a:lnTo>
                  <a:lnTo>
                    <a:pt x="3250" y="2"/>
                  </a:lnTo>
                  <a:lnTo>
                    <a:pt x="3250" y="4"/>
                  </a:lnTo>
                  <a:lnTo>
                    <a:pt x="3250" y="5"/>
                  </a:lnTo>
                  <a:lnTo>
                    <a:pt x="3248" y="6"/>
                  </a:lnTo>
                  <a:lnTo>
                    <a:pt x="3246" y="7"/>
                  </a:lnTo>
                  <a:lnTo>
                    <a:pt x="3242" y="8"/>
                  </a:lnTo>
                  <a:lnTo>
                    <a:pt x="3137" y="8"/>
                  </a:lnTo>
                  <a:lnTo>
                    <a:pt x="3133" y="7"/>
                  </a:lnTo>
                  <a:lnTo>
                    <a:pt x="3131" y="6"/>
                  </a:lnTo>
                  <a:lnTo>
                    <a:pt x="3129" y="5"/>
                  </a:lnTo>
                  <a:lnTo>
                    <a:pt x="3127" y="4"/>
                  </a:lnTo>
                  <a:lnTo>
                    <a:pt x="3129" y="2"/>
                  </a:lnTo>
                  <a:lnTo>
                    <a:pt x="3131" y="1"/>
                  </a:lnTo>
                  <a:lnTo>
                    <a:pt x="3133" y="0"/>
                  </a:lnTo>
                  <a:lnTo>
                    <a:pt x="3137" y="0"/>
                  </a:lnTo>
                  <a:close/>
                  <a:moveTo>
                    <a:pt x="3319" y="0"/>
                  </a:moveTo>
                  <a:lnTo>
                    <a:pt x="3427" y="0"/>
                  </a:lnTo>
                  <a:lnTo>
                    <a:pt x="3429" y="0"/>
                  </a:lnTo>
                  <a:lnTo>
                    <a:pt x="3433" y="1"/>
                  </a:lnTo>
                  <a:lnTo>
                    <a:pt x="3435" y="2"/>
                  </a:lnTo>
                  <a:lnTo>
                    <a:pt x="3435" y="4"/>
                  </a:lnTo>
                  <a:lnTo>
                    <a:pt x="3435" y="5"/>
                  </a:lnTo>
                  <a:lnTo>
                    <a:pt x="3433" y="6"/>
                  </a:lnTo>
                  <a:lnTo>
                    <a:pt x="3429" y="7"/>
                  </a:lnTo>
                  <a:lnTo>
                    <a:pt x="3427" y="8"/>
                  </a:lnTo>
                  <a:lnTo>
                    <a:pt x="3319" y="8"/>
                  </a:lnTo>
                  <a:lnTo>
                    <a:pt x="3316" y="7"/>
                  </a:lnTo>
                  <a:lnTo>
                    <a:pt x="3314" y="6"/>
                  </a:lnTo>
                  <a:lnTo>
                    <a:pt x="3312" y="5"/>
                  </a:lnTo>
                  <a:lnTo>
                    <a:pt x="3312" y="4"/>
                  </a:lnTo>
                  <a:lnTo>
                    <a:pt x="3312" y="2"/>
                  </a:lnTo>
                  <a:lnTo>
                    <a:pt x="3314" y="1"/>
                  </a:lnTo>
                  <a:lnTo>
                    <a:pt x="3316" y="0"/>
                  </a:lnTo>
                  <a:lnTo>
                    <a:pt x="3319" y="0"/>
                  </a:lnTo>
                  <a:close/>
                  <a:moveTo>
                    <a:pt x="3504" y="0"/>
                  </a:moveTo>
                  <a:lnTo>
                    <a:pt x="3610" y="0"/>
                  </a:lnTo>
                  <a:lnTo>
                    <a:pt x="3614" y="0"/>
                  </a:lnTo>
                  <a:lnTo>
                    <a:pt x="3616" y="1"/>
                  </a:lnTo>
                  <a:lnTo>
                    <a:pt x="3617" y="2"/>
                  </a:lnTo>
                  <a:lnTo>
                    <a:pt x="3619" y="4"/>
                  </a:lnTo>
                  <a:lnTo>
                    <a:pt x="3617" y="5"/>
                  </a:lnTo>
                  <a:lnTo>
                    <a:pt x="3616" y="6"/>
                  </a:lnTo>
                  <a:lnTo>
                    <a:pt x="3614" y="7"/>
                  </a:lnTo>
                  <a:lnTo>
                    <a:pt x="3610" y="8"/>
                  </a:lnTo>
                  <a:lnTo>
                    <a:pt x="3504" y="8"/>
                  </a:lnTo>
                  <a:lnTo>
                    <a:pt x="3501" y="7"/>
                  </a:lnTo>
                  <a:lnTo>
                    <a:pt x="3499" y="6"/>
                  </a:lnTo>
                  <a:lnTo>
                    <a:pt x="3497" y="5"/>
                  </a:lnTo>
                  <a:lnTo>
                    <a:pt x="3497" y="4"/>
                  </a:lnTo>
                  <a:lnTo>
                    <a:pt x="3497" y="2"/>
                  </a:lnTo>
                  <a:lnTo>
                    <a:pt x="3499" y="1"/>
                  </a:lnTo>
                  <a:lnTo>
                    <a:pt x="3501" y="0"/>
                  </a:lnTo>
                  <a:lnTo>
                    <a:pt x="3504" y="0"/>
                  </a:lnTo>
                  <a:close/>
                  <a:moveTo>
                    <a:pt x="3687" y="0"/>
                  </a:moveTo>
                  <a:lnTo>
                    <a:pt x="3795" y="0"/>
                  </a:lnTo>
                  <a:lnTo>
                    <a:pt x="3799" y="0"/>
                  </a:lnTo>
                  <a:lnTo>
                    <a:pt x="3800" y="1"/>
                  </a:lnTo>
                  <a:lnTo>
                    <a:pt x="3802" y="2"/>
                  </a:lnTo>
                  <a:lnTo>
                    <a:pt x="3802" y="4"/>
                  </a:lnTo>
                  <a:lnTo>
                    <a:pt x="3802" y="5"/>
                  </a:lnTo>
                  <a:lnTo>
                    <a:pt x="3800" y="6"/>
                  </a:lnTo>
                  <a:lnTo>
                    <a:pt x="3799" y="7"/>
                  </a:lnTo>
                  <a:lnTo>
                    <a:pt x="3795" y="8"/>
                  </a:lnTo>
                  <a:lnTo>
                    <a:pt x="3687" y="8"/>
                  </a:lnTo>
                  <a:lnTo>
                    <a:pt x="3685" y="7"/>
                  </a:lnTo>
                  <a:lnTo>
                    <a:pt x="3682" y="6"/>
                  </a:lnTo>
                  <a:lnTo>
                    <a:pt x="3680" y="5"/>
                  </a:lnTo>
                  <a:lnTo>
                    <a:pt x="3680" y="4"/>
                  </a:lnTo>
                  <a:lnTo>
                    <a:pt x="3680" y="2"/>
                  </a:lnTo>
                  <a:lnTo>
                    <a:pt x="3682" y="1"/>
                  </a:lnTo>
                  <a:lnTo>
                    <a:pt x="3685" y="0"/>
                  </a:lnTo>
                  <a:lnTo>
                    <a:pt x="3687" y="0"/>
                  </a:lnTo>
                  <a:close/>
                  <a:moveTo>
                    <a:pt x="3872" y="0"/>
                  </a:moveTo>
                  <a:lnTo>
                    <a:pt x="3953" y="0"/>
                  </a:lnTo>
                  <a:lnTo>
                    <a:pt x="3957" y="0"/>
                  </a:lnTo>
                  <a:lnTo>
                    <a:pt x="3959" y="1"/>
                  </a:lnTo>
                  <a:lnTo>
                    <a:pt x="3961" y="2"/>
                  </a:lnTo>
                  <a:lnTo>
                    <a:pt x="3961" y="4"/>
                  </a:lnTo>
                  <a:lnTo>
                    <a:pt x="3961" y="5"/>
                  </a:lnTo>
                  <a:lnTo>
                    <a:pt x="3959" y="6"/>
                  </a:lnTo>
                  <a:lnTo>
                    <a:pt x="3957" y="7"/>
                  </a:lnTo>
                  <a:lnTo>
                    <a:pt x="3953" y="8"/>
                  </a:lnTo>
                  <a:lnTo>
                    <a:pt x="3872" y="8"/>
                  </a:lnTo>
                  <a:lnTo>
                    <a:pt x="3868" y="7"/>
                  </a:lnTo>
                  <a:lnTo>
                    <a:pt x="3866" y="6"/>
                  </a:lnTo>
                  <a:lnTo>
                    <a:pt x="3865" y="5"/>
                  </a:lnTo>
                  <a:lnTo>
                    <a:pt x="3865" y="4"/>
                  </a:lnTo>
                  <a:lnTo>
                    <a:pt x="3865" y="2"/>
                  </a:lnTo>
                  <a:lnTo>
                    <a:pt x="3866" y="1"/>
                  </a:lnTo>
                  <a:lnTo>
                    <a:pt x="3868" y="0"/>
                  </a:lnTo>
                  <a:lnTo>
                    <a:pt x="3872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1" name="Rectangle 222"/>
            <p:cNvSpPr>
              <a:spLocks noChangeArrowheads="1"/>
            </p:cNvSpPr>
            <p:nvPr/>
          </p:nvSpPr>
          <p:spPr bwMode="auto">
            <a:xfrm>
              <a:off x="4490" y="3646"/>
              <a:ext cx="13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宋体" pitchFamily="2" charset="-122"/>
                </a:rPr>
                <a:t>I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宋体" pitchFamily="2" charset="-122"/>
                </a:rPr>
                <a:t>o</a:t>
              </a:r>
            </a:p>
          </p:txBody>
        </p:sp>
        <p:sp>
          <p:nvSpPr>
            <p:cNvPr id="84022" name="Line 223"/>
            <p:cNvSpPr>
              <a:spLocks noChangeShapeType="1"/>
            </p:cNvSpPr>
            <p:nvPr/>
          </p:nvSpPr>
          <p:spPr bwMode="auto">
            <a:xfrm>
              <a:off x="4577" y="2632"/>
              <a:ext cx="1" cy="23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3" name="Line 224"/>
            <p:cNvSpPr>
              <a:spLocks noChangeShapeType="1"/>
            </p:cNvSpPr>
            <p:nvPr/>
          </p:nvSpPr>
          <p:spPr bwMode="auto">
            <a:xfrm>
              <a:off x="5111" y="2632"/>
              <a:ext cx="1" cy="23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4" name="Line 225"/>
            <p:cNvSpPr>
              <a:spLocks noChangeShapeType="1"/>
            </p:cNvSpPr>
            <p:nvPr/>
          </p:nvSpPr>
          <p:spPr bwMode="auto">
            <a:xfrm flipV="1">
              <a:off x="3937" y="2631"/>
              <a:ext cx="1" cy="17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5" name="Freeform 226"/>
            <p:cNvSpPr>
              <a:spLocks/>
            </p:cNvSpPr>
            <p:nvPr/>
          </p:nvSpPr>
          <p:spPr bwMode="auto">
            <a:xfrm>
              <a:off x="3903" y="2791"/>
              <a:ext cx="68" cy="75"/>
            </a:xfrm>
            <a:custGeom>
              <a:avLst/>
              <a:gdLst>
                <a:gd name="T0" fmla="*/ 0 w 138"/>
                <a:gd name="T1" fmla="*/ 75 h 75"/>
                <a:gd name="T2" fmla="*/ 0 w 138"/>
                <a:gd name="T3" fmla="*/ 0 h 75"/>
                <a:gd name="T4" fmla="*/ 0 w 138"/>
                <a:gd name="T5" fmla="*/ 2 h 75"/>
                <a:gd name="T6" fmla="*/ 0 w 138"/>
                <a:gd name="T7" fmla="*/ 4 h 75"/>
                <a:gd name="T8" fmla="*/ 0 w 138"/>
                <a:gd name="T9" fmla="*/ 5 h 75"/>
                <a:gd name="T10" fmla="*/ 0 w 138"/>
                <a:gd name="T11" fmla="*/ 6 h 75"/>
                <a:gd name="T12" fmla="*/ 0 w 138"/>
                <a:gd name="T13" fmla="*/ 7 h 75"/>
                <a:gd name="T14" fmla="*/ 0 w 138"/>
                <a:gd name="T15" fmla="*/ 8 h 75"/>
                <a:gd name="T16" fmla="*/ 0 w 138"/>
                <a:gd name="T17" fmla="*/ 8 h 75"/>
                <a:gd name="T18" fmla="*/ 0 w 138"/>
                <a:gd name="T19" fmla="*/ 9 h 75"/>
                <a:gd name="T20" fmla="*/ 0 w 138"/>
                <a:gd name="T21" fmla="*/ 8 h 75"/>
                <a:gd name="T22" fmla="*/ 0 w 138"/>
                <a:gd name="T23" fmla="*/ 8 h 75"/>
                <a:gd name="T24" fmla="*/ 0 w 138"/>
                <a:gd name="T25" fmla="*/ 7 h 75"/>
                <a:gd name="T26" fmla="*/ 0 w 138"/>
                <a:gd name="T27" fmla="*/ 6 h 75"/>
                <a:gd name="T28" fmla="*/ 0 w 138"/>
                <a:gd name="T29" fmla="*/ 5 h 75"/>
                <a:gd name="T30" fmla="*/ 0 w 138"/>
                <a:gd name="T31" fmla="*/ 4 h 75"/>
                <a:gd name="T32" fmla="*/ 0 w 138"/>
                <a:gd name="T33" fmla="*/ 2 h 75"/>
                <a:gd name="T34" fmla="*/ 0 w 138"/>
                <a:gd name="T35" fmla="*/ 0 h 75"/>
                <a:gd name="T36" fmla="*/ 0 w 138"/>
                <a:gd name="T37" fmla="*/ 75 h 75"/>
                <a:gd name="T38" fmla="*/ 0 w 138"/>
                <a:gd name="T39" fmla="*/ 75 h 7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38"/>
                <a:gd name="T61" fmla="*/ 0 h 75"/>
                <a:gd name="T62" fmla="*/ 138 w 138"/>
                <a:gd name="T63" fmla="*/ 75 h 7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38" h="75">
                  <a:moveTo>
                    <a:pt x="70" y="75"/>
                  </a:moveTo>
                  <a:lnTo>
                    <a:pt x="0" y="0"/>
                  </a:lnTo>
                  <a:lnTo>
                    <a:pt x="10" y="2"/>
                  </a:lnTo>
                  <a:lnTo>
                    <a:pt x="17" y="4"/>
                  </a:lnTo>
                  <a:lnTo>
                    <a:pt x="25" y="5"/>
                  </a:lnTo>
                  <a:lnTo>
                    <a:pt x="34" y="6"/>
                  </a:lnTo>
                  <a:lnTo>
                    <a:pt x="44" y="7"/>
                  </a:lnTo>
                  <a:lnTo>
                    <a:pt x="51" y="8"/>
                  </a:lnTo>
                  <a:lnTo>
                    <a:pt x="60" y="8"/>
                  </a:lnTo>
                  <a:lnTo>
                    <a:pt x="70" y="9"/>
                  </a:lnTo>
                  <a:lnTo>
                    <a:pt x="77" y="8"/>
                  </a:lnTo>
                  <a:lnTo>
                    <a:pt x="87" y="8"/>
                  </a:lnTo>
                  <a:lnTo>
                    <a:pt x="96" y="7"/>
                  </a:lnTo>
                  <a:lnTo>
                    <a:pt x="104" y="6"/>
                  </a:lnTo>
                  <a:lnTo>
                    <a:pt x="113" y="5"/>
                  </a:lnTo>
                  <a:lnTo>
                    <a:pt x="121" y="4"/>
                  </a:lnTo>
                  <a:lnTo>
                    <a:pt x="130" y="2"/>
                  </a:lnTo>
                  <a:lnTo>
                    <a:pt x="138" y="0"/>
                  </a:lnTo>
                  <a:lnTo>
                    <a:pt x="70" y="7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6" name="Freeform 227"/>
            <p:cNvSpPr>
              <a:spLocks/>
            </p:cNvSpPr>
            <p:nvPr/>
          </p:nvSpPr>
          <p:spPr bwMode="auto">
            <a:xfrm>
              <a:off x="3903" y="2573"/>
              <a:ext cx="68" cy="77"/>
            </a:xfrm>
            <a:custGeom>
              <a:avLst/>
              <a:gdLst>
                <a:gd name="T0" fmla="*/ 0 w 138"/>
                <a:gd name="T1" fmla="*/ 0 h 77"/>
                <a:gd name="T2" fmla="*/ 0 w 138"/>
                <a:gd name="T3" fmla="*/ 77 h 77"/>
                <a:gd name="T4" fmla="*/ 0 w 138"/>
                <a:gd name="T5" fmla="*/ 75 h 77"/>
                <a:gd name="T6" fmla="*/ 0 w 138"/>
                <a:gd name="T7" fmla="*/ 73 h 77"/>
                <a:gd name="T8" fmla="*/ 0 w 138"/>
                <a:gd name="T9" fmla="*/ 71 h 77"/>
                <a:gd name="T10" fmla="*/ 0 w 138"/>
                <a:gd name="T11" fmla="*/ 70 h 77"/>
                <a:gd name="T12" fmla="*/ 0 w 138"/>
                <a:gd name="T13" fmla="*/ 69 h 77"/>
                <a:gd name="T14" fmla="*/ 0 w 138"/>
                <a:gd name="T15" fmla="*/ 69 h 77"/>
                <a:gd name="T16" fmla="*/ 0 w 138"/>
                <a:gd name="T17" fmla="*/ 68 h 77"/>
                <a:gd name="T18" fmla="*/ 0 w 138"/>
                <a:gd name="T19" fmla="*/ 68 h 77"/>
                <a:gd name="T20" fmla="*/ 0 w 138"/>
                <a:gd name="T21" fmla="*/ 68 h 77"/>
                <a:gd name="T22" fmla="*/ 0 w 138"/>
                <a:gd name="T23" fmla="*/ 69 h 77"/>
                <a:gd name="T24" fmla="*/ 0 w 138"/>
                <a:gd name="T25" fmla="*/ 69 h 77"/>
                <a:gd name="T26" fmla="*/ 0 w 138"/>
                <a:gd name="T27" fmla="*/ 70 h 77"/>
                <a:gd name="T28" fmla="*/ 0 w 138"/>
                <a:gd name="T29" fmla="*/ 71 h 77"/>
                <a:gd name="T30" fmla="*/ 0 w 138"/>
                <a:gd name="T31" fmla="*/ 73 h 77"/>
                <a:gd name="T32" fmla="*/ 0 w 138"/>
                <a:gd name="T33" fmla="*/ 75 h 77"/>
                <a:gd name="T34" fmla="*/ 0 w 138"/>
                <a:gd name="T35" fmla="*/ 77 h 77"/>
                <a:gd name="T36" fmla="*/ 0 w 138"/>
                <a:gd name="T37" fmla="*/ 77 h 77"/>
                <a:gd name="T38" fmla="*/ 0 w 138"/>
                <a:gd name="T39" fmla="*/ 0 h 77"/>
                <a:gd name="T40" fmla="*/ 0 w 138"/>
                <a:gd name="T41" fmla="*/ 0 h 7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8"/>
                <a:gd name="T64" fmla="*/ 0 h 77"/>
                <a:gd name="T65" fmla="*/ 138 w 138"/>
                <a:gd name="T66" fmla="*/ 77 h 7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8" h="77">
                  <a:moveTo>
                    <a:pt x="70" y="0"/>
                  </a:moveTo>
                  <a:lnTo>
                    <a:pt x="138" y="77"/>
                  </a:lnTo>
                  <a:lnTo>
                    <a:pt x="130" y="75"/>
                  </a:lnTo>
                  <a:lnTo>
                    <a:pt x="121" y="73"/>
                  </a:lnTo>
                  <a:lnTo>
                    <a:pt x="113" y="71"/>
                  </a:lnTo>
                  <a:lnTo>
                    <a:pt x="104" y="70"/>
                  </a:lnTo>
                  <a:lnTo>
                    <a:pt x="96" y="69"/>
                  </a:lnTo>
                  <a:lnTo>
                    <a:pt x="87" y="69"/>
                  </a:lnTo>
                  <a:lnTo>
                    <a:pt x="77" y="68"/>
                  </a:lnTo>
                  <a:lnTo>
                    <a:pt x="70" y="68"/>
                  </a:lnTo>
                  <a:lnTo>
                    <a:pt x="60" y="68"/>
                  </a:lnTo>
                  <a:lnTo>
                    <a:pt x="51" y="69"/>
                  </a:lnTo>
                  <a:lnTo>
                    <a:pt x="44" y="69"/>
                  </a:lnTo>
                  <a:lnTo>
                    <a:pt x="34" y="70"/>
                  </a:lnTo>
                  <a:lnTo>
                    <a:pt x="25" y="71"/>
                  </a:lnTo>
                  <a:lnTo>
                    <a:pt x="17" y="73"/>
                  </a:lnTo>
                  <a:lnTo>
                    <a:pt x="10" y="75"/>
                  </a:lnTo>
                  <a:lnTo>
                    <a:pt x="0" y="77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7" name="Rectangle 228"/>
            <p:cNvSpPr>
              <a:spLocks noChangeArrowheads="1"/>
            </p:cNvSpPr>
            <p:nvPr/>
          </p:nvSpPr>
          <p:spPr bwMode="auto">
            <a:xfrm>
              <a:off x="3991" y="2648"/>
              <a:ext cx="135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</p:txBody>
        </p:sp>
        <p:sp>
          <p:nvSpPr>
            <p:cNvPr id="84028" name="Rectangle 229"/>
            <p:cNvSpPr>
              <a:spLocks noChangeArrowheads="1"/>
            </p:cNvSpPr>
            <p:nvPr/>
          </p:nvSpPr>
          <p:spPr bwMode="auto">
            <a:xfrm>
              <a:off x="4396" y="3994"/>
              <a:ext cx="19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宋体" pitchFamily="2" charset="-122"/>
                </a:rPr>
                <a:t>(b)</a:t>
              </a:r>
              <a:endParaRPr lang="en-US" altLang="zh-CN" sz="1600"/>
            </a:p>
          </p:txBody>
        </p:sp>
        <p:sp>
          <p:nvSpPr>
            <p:cNvPr id="84029" name="Line 230"/>
            <p:cNvSpPr>
              <a:spLocks noChangeShapeType="1"/>
            </p:cNvSpPr>
            <p:nvPr/>
          </p:nvSpPr>
          <p:spPr bwMode="auto">
            <a:xfrm flipV="1">
              <a:off x="4445" y="3555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0" name="Line 231"/>
            <p:cNvSpPr>
              <a:spLocks noChangeShapeType="1"/>
            </p:cNvSpPr>
            <p:nvPr/>
          </p:nvSpPr>
          <p:spPr bwMode="auto">
            <a:xfrm>
              <a:off x="4445" y="3737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1" name="Line 232"/>
            <p:cNvSpPr>
              <a:spLocks noChangeShapeType="1"/>
            </p:cNvSpPr>
            <p:nvPr/>
          </p:nvSpPr>
          <p:spPr bwMode="auto">
            <a:xfrm flipV="1">
              <a:off x="3401" y="3329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2" name="Line 233"/>
            <p:cNvSpPr>
              <a:spLocks noChangeShapeType="1"/>
            </p:cNvSpPr>
            <p:nvPr/>
          </p:nvSpPr>
          <p:spPr bwMode="auto">
            <a:xfrm flipV="1">
              <a:off x="3487" y="2406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3" name="Line 234"/>
            <p:cNvSpPr>
              <a:spLocks noChangeShapeType="1"/>
            </p:cNvSpPr>
            <p:nvPr/>
          </p:nvSpPr>
          <p:spPr bwMode="auto">
            <a:xfrm>
              <a:off x="3487" y="263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4" name="Line 235"/>
            <p:cNvSpPr>
              <a:spLocks noChangeShapeType="1"/>
            </p:cNvSpPr>
            <p:nvPr/>
          </p:nvSpPr>
          <p:spPr bwMode="auto">
            <a:xfrm flipH="1">
              <a:off x="3578" y="2315"/>
              <a:ext cx="181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5" name="Freeform 236"/>
            <p:cNvSpPr>
              <a:spLocks/>
            </p:cNvSpPr>
            <p:nvPr/>
          </p:nvSpPr>
          <p:spPr bwMode="auto">
            <a:xfrm>
              <a:off x="4306" y="1298"/>
              <a:ext cx="33" cy="210"/>
            </a:xfrm>
            <a:custGeom>
              <a:avLst/>
              <a:gdLst>
                <a:gd name="T0" fmla="*/ 1 w 65"/>
                <a:gd name="T1" fmla="*/ 0 h 420"/>
                <a:gd name="T2" fmla="*/ 1 w 65"/>
                <a:gd name="T3" fmla="*/ 1 h 420"/>
                <a:gd name="T4" fmla="*/ 1 w 65"/>
                <a:gd name="T5" fmla="*/ 1 h 420"/>
                <a:gd name="T6" fmla="*/ 1 w 65"/>
                <a:gd name="T7" fmla="*/ 1 h 420"/>
                <a:gd name="T8" fmla="*/ 1 w 65"/>
                <a:gd name="T9" fmla="*/ 1 h 420"/>
                <a:gd name="T10" fmla="*/ 1 w 65"/>
                <a:gd name="T11" fmla="*/ 1 h 420"/>
                <a:gd name="T12" fmla="*/ 1 w 65"/>
                <a:gd name="T13" fmla="*/ 1 h 420"/>
                <a:gd name="T14" fmla="*/ 1 w 65"/>
                <a:gd name="T15" fmla="*/ 1 h 420"/>
                <a:gd name="T16" fmla="*/ 1 w 65"/>
                <a:gd name="T17" fmla="*/ 1 h 420"/>
                <a:gd name="T18" fmla="*/ 1 w 65"/>
                <a:gd name="T19" fmla="*/ 1 h 420"/>
                <a:gd name="T20" fmla="*/ 1 w 65"/>
                <a:gd name="T21" fmla="*/ 1 h 420"/>
                <a:gd name="T22" fmla="*/ 1 w 65"/>
                <a:gd name="T23" fmla="*/ 1 h 420"/>
                <a:gd name="T24" fmla="*/ 1 w 65"/>
                <a:gd name="T25" fmla="*/ 1 h 420"/>
                <a:gd name="T26" fmla="*/ 1 w 65"/>
                <a:gd name="T27" fmla="*/ 1 h 420"/>
                <a:gd name="T28" fmla="*/ 1 w 65"/>
                <a:gd name="T29" fmla="*/ 1 h 420"/>
                <a:gd name="T30" fmla="*/ 0 w 65"/>
                <a:gd name="T31" fmla="*/ 1 h 420"/>
                <a:gd name="T32" fmla="*/ 1 w 65"/>
                <a:gd name="T33" fmla="*/ 1 h 420"/>
                <a:gd name="T34" fmla="*/ 1 w 65"/>
                <a:gd name="T35" fmla="*/ 1 h 420"/>
                <a:gd name="T36" fmla="*/ 1 w 65"/>
                <a:gd name="T37" fmla="*/ 1 h 420"/>
                <a:gd name="T38" fmla="*/ 1 w 65"/>
                <a:gd name="T39" fmla="*/ 1 h 420"/>
                <a:gd name="T40" fmla="*/ 1 w 65"/>
                <a:gd name="T41" fmla="*/ 1 h 420"/>
                <a:gd name="T42" fmla="*/ 1 w 65"/>
                <a:gd name="T43" fmla="*/ 1 h 420"/>
                <a:gd name="T44" fmla="*/ 1 w 65"/>
                <a:gd name="T45" fmla="*/ 1 h 420"/>
                <a:gd name="T46" fmla="*/ 1 w 65"/>
                <a:gd name="T47" fmla="*/ 1 h 420"/>
                <a:gd name="T48" fmla="*/ 1 w 65"/>
                <a:gd name="T49" fmla="*/ 1 h 420"/>
                <a:gd name="T50" fmla="*/ 1 w 65"/>
                <a:gd name="T51" fmla="*/ 1 h 420"/>
                <a:gd name="T52" fmla="*/ 1 w 65"/>
                <a:gd name="T53" fmla="*/ 1 h 420"/>
                <a:gd name="T54" fmla="*/ 1 w 65"/>
                <a:gd name="T55" fmla="*/ 1 h 420"/>
                <a:gd name="T56" fmla="*/ 1 w 65"/>
                <a:gd name="T57" fmla="*/ 1 h 420"/>
                <a:gd name="T58" fmla="*/ 1 w 65"/>
                <a:gd name="T59" fmla="*/ 1 h 420"/>
                <a:gd name="T60" fmla="*/ 1 w 65"/>
                <a:gd name="T61" fmla="*/ 1 h 420"/>
                <a:gd name="T62" fmla="*/ 1 w 65"/>
                <a:gd name="T63" fmla="*/ 1 h 420"/>
                <a:gd name="T64" fmla="*/ 1 w 65"/>
                <a:gd name="T65" fmla="*/ 1 h 420"/>
                <a:gd name="T66" fmla="*/ 1 w 65"/>
                <a:gd name="T67" fmla="*/ 1 h 420"/>
                <a:gd name="T68" fmla="*/ 1 w 65"/>
                <a:gd name="T69" fmla="*/ 1 h 420"/>
                <a:gd name="T70" fmla="*/ 1 w 65"/>
                <a:gd name="T71" fmla="*/ 1 h 420"/>
                <a:gd name="T72" fmla="*/ 1 w 65"/>
                <a:gd name="T73" fmla="*/ 1 h 420"/>
                <a:gd name="T74" fmla="*/ 1 w 65"/>
                <a:gd name="T75" fmla="*/ 1 h 420"/>
                <a:gd name="T76" fmla="*/ 1 w 65"/>
                <a:gd name="T77" fmla="*/ 2 h 420"/>
                <a:gd name="T78" fmla="*/ 1 w 65"/>
                <a:gd name="T79" fmla="*/ 2 h 420"/>
                <a:gd name="T80" fmla="*/ 1 w 65"/>
                <a:gd name="T81" fmla="*/ 2 h 420"/>
                <a:gd name="T82" fmla="*/ 1 w 65"/>
                <a:gd name="T83" fmla="*/ 2 h 420"/>
                <a:gd name="T84" fmla="*/ 1 w 65"/>
                <a:gd name="T85" fmla="*/ 2 h 420"/>
                <a:gd name="T86" fmla="*/ 1 w 65"/>
                <a:gd name="T87" fmla="*/ 2 h 420"/>
                <a:gd name="T88" fmla="*/ 1 w 65"/>
                <a:gd name="T89" fmla="*/ 2 h 420"/>
                <a:gd name="T90" fmla="*/ 1 w 65"/>
                <a:gd name="T91" fmla="*/ 2 h 420"/>
                <a:gd name="T92" fmla="*/ 0 w 65"/>
                <a:gd name="T93" fmla="*/ 2 h 420"/>
                <a:gd name="T94" fmla="*/ 1 w 65"/>
                <a:gd name="T95" fmla="*/ 2 h 420"/>
                <a:gd name="T96" fmla="*/ 1 w 65"/>
                <a:gd name="T97" fmla="*/ 2 h 420"/>
                <a:gd name="T98" fmla="*/ 1 w 65"/>
                <a:gd name="T99" fmla="*/ 2 h 420"/>
                <a:gd name="T100" fmla="*/ 1 w 65"/>
                <a:gd name="T101" fmla="*/ 2 h 420"/>
                <a:gd name="T102" fmla="*/ 1 w 65"/>
                <a:gd name="T103" fmla="*/ 2 h 420"/>
                <a:gd name="T104" fmla="*/ 1 w 65"/>
                <a:gd name="T105" fmla="*/ 2 h 420"/>
                <a:gd name="T106" fmla="*/ 1 w 65"/>
                <a:gd name="T107" fmla="*/ 2 h 420"/>
                <a:gd name="T108" fmla="*/ 1 w 65"/>
                <a:gd name="T109" fmla="*/ 2 h 420"/>
                <a:gd name="T110" fmla="*/ 1 w 65"/>
                <a:gd name="T111" fmla="*/ 2 h 420"/>
                <a:gd name="T112" fmla="*/ 1 w 65"/>
                <a:gd name="T113" fmla="*/ 2 h 420"/>
                <a:gd name="T114" fmla="*/ 1 w 65"/>
                <a:gd name="T115" fmla="*/ 2 h 420"/>
                <a:gd name="T116" fmla="*/ 1 w 65"/>
                <a:gd name="T117" fmla="*/ 2 h 420"/>
                <a:gd name="T118" fmla="*/ 1 w 65"/>
                <a:gd name="T119" fmla="*/ 2 h 420"/>
                <a:gd name="T120" fmla="*/ 1 w 65"/>
                <a:gd name="T121" fmla="*/ 2 h 420"/>
                <a:gd name="T122" fmla="*/ 1 w 65"/>
                <a:gd name="T123" fmla="*/ 2 h 42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65"/>
                <a:gd name="T187" fmla="*/ 0 h 420"/>
                <a:gd name="T188" fmla="*/ 65 w 65"/>
                <a:gd name="T189" fmla="*/ 420 h 42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65" h="420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18" y="2"/>
                  </a:lnTo>
                  <a:lnTo>
                    <a:pt x="25" y="4"/>
                  </a:lnTo>
                  <a:lnTo>
                    <a:pt x="30" y="5"/>
                  </a:lnTo>
                  <a:lnTo>
                    <a:pt x="35" y="9"/>
                  </a:lnTo>
                  <a:lnTo>
                    <a:pt x="46" y="14"/>
                  </a:lnTo>
                  <a:lnTo>
                    <a:pt x="49" y="17"/>
                  </a:lnTo>
                  <a:lnTo>
                    <a:pt x="53" y="22"/>
                  </a:lnTo>
                  <a:lnTo>
                    <a:pt x="56" y="25"/>
                  </a:lnTo>
                  <a:lnTo>
                    <a:pt x="60" y="31"/>
                  </a:lnTo>
                  <a:lnTo>
                    <a:pt x="62" y="36"/>
                  </a:lnTo>
                  <a:lnTo>
                    <a:pt x="63" y="41"/>
                  </a:lnTo>
                  <a:lnTo>
                    <a:pt x="65" y="46"/>
                  </a:lnTo>
                  <a:lnTo>
                    <a:pt x="65" y="51"/>
                  </a:lnTo>
                  <a:lnTo>
                    <a:pt x="65" y="56"/>
                  </a:lnTo>
                  <a:lnTo>
                    <a:pt x="65" y="61"/>
                  </a:lnTo>
                  <a:lnTo>
                    <a:pt x="63" y="66"/>
                  </a:lnTo>
                  <a:lnTo>
                    <a:pt x="62" y="71"/>
                  </a:lnTo>
                  <a:lnTo>
                    <a:pt x="60" y="76"/>
                  </a:lnTo>
                  <a:lnTo>
                    <a:pt x="56" y="81"/>
                  </a:lnTo>
                  <a:lnTo>
                    <a:pt x="53" y="84"/>
                  </a:lnTo>
                  <a:lnTo>
                    <a:pt x="49" y="87"/>
                  </a:lnTo>
                  <a:lnTo>
                    <a:pt x="41" y="94"/>
                  </a:lnTo>
                  <a:lnTo>
                    <a:pt x="35" y="97"/>
                  </a:lnTo>
                  <a:lnTo>
                    <a:pt x="28" y="101"/>
                  </a:lnTo>
                  <a:lnTo>
                    <a:pt x="23" y="102"/>
                  </a:lnTo>
                  <a:lnTo>
                    <a:pt x="18" y="104"/>
                  </a:lnTo>
                  <a:lnTo>
                    <a:pt x="11" y="104"/>
                  </a:lnTo>
                  <a:lnTo>
                    <a:pt x="6" y="106"/>
                  </a:lnTo>
                  <a:lnTo>
                    <a:pt x="0" y="106"/>
                  </a:lnTo>
                  <a:lnTo>
                    <a:pt x="6" y="106"/>
                  </a:lnTo>
                  <a:lnTo>
                    <a:pt x="13" y="106"/>
                  </a:lnTo>
                  <a:lnTo>
                    <a:pt x="18" y="107"/>
                  </a:lnTo>
                  <a:lnTo>
                    <a:pt x="25" y="109"/>
                  </a:lnTo>
                  <a:lnTo>
                    <a:pt x="30" y="111"/>
                  </a:lnTo>
                  <a:lnTo>
                    <a:pt x="35" y="112"/>
                  </a:lnTo>
                  <a:lnTo>
                    <a:pt x="46" y="119"/>
                  </a:lnTo>
                  <a:lnTo>
                    <a:pt x="49" y="123"/>
                  </a:lnTo>
                  <a:lnTo>
                    <a:pt x="53" y="126"/>
                  </a:lnTo>
                  <a:lnTo>
                    <a:pt x="56" y="131"/>
                  </a:lnTo>
                  <a:lnTo>
                    <a:pt x="60" y="136"/>
                  </a:lnTo>
                  <a:lnTo>
                    <a:pt x="62" y="139"/>
                  </a:lnTo>
                  <a:lnTo>
                    <a:pt x="63" y="144"/>
                  </a:lnTo>
                  <a:lnTo>
                    <a:pt x="65" y="149"/>
                  </a:lnTo>
                  <a:lnTo>
                    <a:pt x="65" y="156"/>
                  </a:lnTo>
                  <a:lnTo>
                    <a:pt x="65" y="161"/>
                  </a:lnTo>
                  <a:lnTo>
                    <a:pt x="65" y="166"/>
                  </a:lnTo>
                  <a:lnTo>
                    <a:pt x="63" y="171"/>
                  </a:lnTo>
                  <a:lnTo>
                    <a:pt x="62" y="176"/>
                  </a:lnTo>
                  <a:lnTo>
                    <a:pt x="60" y="181"/>
                  </a:lnTo>
                  <a:lnTo>
                    <a:pt x="56" y="184"/>
                  </a:lnTo>
                  <a:lnTo>
                    <a:pt x="53" y="189"/>
                  </a:lnTo>
                  <a:lnTo>
                    <a:pt x="49" y="193"/>
                  </a:lnTo>
                  <a:lnTo>
                    <a:pt x="41" y="199"/>
                  </a:lnTo>
                  <a:lnTo>
                    <a:pt x="35" y="203"/>
                  </a:lnTo>
                  <a:lnTo>
                    <a:pt x="28" y="205"/>
                  </a:lnTo>
                  <a:lnTo>
                    <a:pt x="23" y="206"/>
                  </a:lnTo>
                  <a:lnTo>
                    <a:pt x="18" y="208"/>
                  </a:lnTo>
                  <a:lnTo>
                    <a:pt x="11" y="210"/>
                  </a:lnTo>
                  <a:lnTo>
                    <a:pt x="6" y="210"/>
                  </a:lnTo>
                  <a:lnTo>
                    <a:pt x="0" y="210"/>
                  </a:lnTo>
                  <a:lnTo>
                    <a:pt x="6" y="210"/>
                  </a:lnTo>
                  <a:lnTo>
                    <a:pt x="13" y="211"/>
                  </a:lnTo>
                  <a:lnTo>
                    <a:pt x="18" y="211"/>
                  </a:lnTo>
                  <a:lnTo>
                    <a:pt x="25" y="213"/>
                  </a:lnTo>
                  <a:lnTo>
                    <a:pt x="30" y="215"/>
                  </a:lnTo>
                  <a:lnTo>
                    <a:pt x="35" y="218"/>
                  </a:lnTo>
                  <a:lnTo>
                    <a:pt x="46" y="225"/>
                  </a:lnTo>
                  <a:lnTo>
                    <a:pt x="49" y="228"/>
                  </a:lnTo>
                  <a:lnTo>
                    <a:pt x="53" y="231"/>
                  </a:lnTo>
                  <a:lnTo>
                    <a:pt x="56" y="236"/>
                  </a:lnTo>
                  <a:lnTo>
                    <a:pt x="60" y="240"/>
                  </a:lnTo>
                  <a:lnTo>
                    <a:pt x="62" y="245"/>
                  </a:lnTo>
                  <a:lnTo>
                    <a:pt x="63" y="250"/>
                  </a:lnTo>
                  <a:lnTo>
                    <a:pt x="65" y="255"/>
                  </a:lnTo>
                  <a:lnTo>
                    <a:pt x="65" y="260"/>
                  </a:lnTo>
                  <a:lnTo>
                    <a:pt x="65" y="266"/>
                  </a:lnTo>
                  <a:lnTo>
                    <a:pt x="65" y="271"/>
                  </a:lnTo>
                  <a:lnTo>
                    <a:pt x="63" y="276"/>
                  </a:lnTo>
                  <a:lnTo>
                    <a:pt x="62" y="281"/>
                  </a:lnTo>
                  <a:lnTo>
                    <a:pt x="60" y="285"/>
                  </a:lnTo>
                  <a:lnTo>
                    <a:pt x="56" y="290"/>
                  </a:lnTo>
                  <a:lnTo>
                    <a:pt x="53" y="295"/>
                  </a:lnTo>
                  <a:lnTo>
                    <a:pt x="49" y="298"/>
                  </a:lnTo>
                  <a:lnTo>
                    <a:pt x="41" y="305"/>
                  </a:lnTo>
                  <a:lnTo>
                    <a:pt x="35" y="308"/>
                  </a:lnTo>
                  <a:lnTo>
                    <a:pt x="28" y="310"/>
                  </a:lnTo>
                  <a:lnTo>
                    <a:pt x="23" y="312"/>
                  </a:lnTo>
                  <a:lnTo>
                    <a:pt x="18" y="313"/>
                  </a:lnTo>
                  <a:lnTo>
                    <a:pt x="11" y="315"/>
                  </a:lnTo>
                  <a:lnTo>
                    <a:pt x="6" y="315"/>
                  </a:lnTo>
                  <a:lnTo>
                    <a:pt x="0" y="315"/>
                  </a:lnTo>
                  <a:lnTo>
                    <a:pt x="6" y="315"/>
                  </a:lnTo>
                  <a:lnTo>
                    <a:pt x="13" y="315"/>
                  </a:lnTo>
                  <a:lnTo>
                    <a:pt x="18" y="317"/>
                  </a:lnTo>
                  <a:lnTo>
                    <a:pt x="25" y="318"/>
                  </a:lnTo>
                  <a:lnTo>
                    <a:pt x="30" y="320"/>
                  </a:lnTo>
                  <a:lnTo>
                    <a:pt x="35" y="323"/>
                  </a:lnTo>
                  <a:lnTo>
                    <a:pt x="46" y="328"/>
                  </a:lnTo>
                  <a:lnTo>
                    <a:pt x="49" y="332"/>
                  </a:lnTo>
                  <a:lnTo>
                    <a:pt x="53" y="337"/>
                  </a:lnTo>
                  <a:lnTo>
                    <a:pt x="56" y="340"/>
                  </a:lnTo>
                  <a:lnTo>
                    <a:pt x="60" y="345"/>
                  </a:lnTo>
                  <a:lnTo>
                    <a:pt x="62" y="350"/>
                  </a:lnTo>
                  <a:lnTo>
                    <a:pt x="63" y="355"/>
                  </a:lnTo>
                  <a:lnTo>
                    <a:pt x="65" y="360"/>
                  </a:lnTo>
                  <a:lnTo>
                    <a:pt x="65" y="365"/>
                  </a:lnTo>
                  <a:lnTo>
                    <a:pt x="65" y="370"/>
                  </a:lnTo>
                  <a:lnTo>
                    <a:pt x="65" y="375"/>
                  </a:lnTo>
                  <a:lnTo>
                    <a:pt x="63" y="380"/>
                  </a:lnTo>
                  <a:lnTo>
                    <a:pt x="62" y="385"/>
                  </a:lnTo>
                  <a:lnTo>
                    <a:pt x="60" y="390"/>
                  </a:lnTo>
                  <a:lnTo>
                    <a:pt x="56" y="395"/>
                  </a:lnTo>
                  <a:lnTo>
                    <a:pt x="53" y="399"/>
                  </a:lnTo>
                  <a:lnTo>
                    <a:pt x="49" y="404"/>
                  </a:lnTo>
                  <a:lnTo>
                    <a:pt x="41" y="410"/>
                  </a:lnTo>
                  <a:lnTo>
                    <a:pt x="35" y="412"/>
                  </a:lnTo>
                  <a:lnTo>
                    <a:pt x="28" y="415"/>
                  </a:lnTo>
                  <a:lnTo>
                    <a:pt x="23" y="417"/>
                  </a:lnTo>
                  <a:lnTo>
                    <a:pt x="18" y="419"/>
                  </a:lnTo>
                  <a:lnTo>
                    <a:pt x="11" y="419"/>
                  </a:lnTo>
                  <a:lnTo>
                    <a:pt x="6" y="420"/>
                  </a:lnTo>
                  <a:lnTo>
                    <a:pt x="0" y="42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6" name="Freeform 237"/>
            <p:cNvSpPr>
              <a:spLocks/>
            </p:cNvSpPr>
            <p:nvPr/>
          </p:nvSpPr>
          <p:spPr bwMode="auto">
            <a:xfrm>
              <a:off x="4399" y="1182"/>
              <a:ext cx="33" cy="210"/>
            </a:xfrm>
            <a:custGeom>
              <a:avLst/>
              <a:gdLst>
                <a:gd name="T0" fmla="*/ 1 w 66"/>
                <a:gd name="T1" fmla="*/ 0 h 420"/>
                <a:gd name="T2" fmla="*/ 1 w 66"/>
                <a:gd name="T3" fmla="*/ 1 h 420"/>
                <a:gd name="T4" fmla="*/ 1 w 66"/>
                <a:gd name="T5" fmla="*/ 1 h 420"/>
                <a:gd name="T6" fmla="*/ 1 w 66"/>
                <a:gd name="T7" fmla="*/ 1 h 420"/>
                <a:gd name="T8" fmla="*/ 1 w 66"/>
                <a:gd name="T9" fmla="*/ 1 h 420"/>
                <a:gd name="T10" fmla="*/ 1 w 66"/>
                <a:gd name="T11" fmla="*/ 1 h 420"/>
                <a:gd name="T12" fmla="*/ 1 w 66"/>
                <a:gd name="T13" fmla="*/ 1 h 420"/>
                <a:gd name="T14" fmla="*/ 0 w 66"/>
                <a:gd name="T15" fmla="*/ 1 h 420"/>
                <a:gd name="T16" fmla="*/ 1 w 66"/>
                <a:gd name="T17" fmla="*/ 1 h 420"/>
                <a:gd name="T18" fmla="*/ 1 w 66"/>
                <a:gd name="T19" fmla="*/ 1 h 420"/>
                <a:gd name="T20" fmla="*/ 1 w 66"/>
                <a:gd name="T21" fmla="*/ 1 h 420"/>
                <a:gd name="T22" fmla="*/ 1 w 66"/>
                <a:gd name="T23" fmla="*/ 1 h 420"/>
                <a:gd name="T24" fmla="*/ 1 w 66"/>
                <a:gd name="T25" fmla="*/ 1 h 420"/>
                <a:gd name="T26" fmla="*/ 1 w 66"/>
                <a:gd name="T27" fmla="*/ 1 h 420"/>
                <a:gd name="T28" fmla="*/ 1 w 66"/>
                <a:gd name="T29" fmla="*/ 1 h 420"/>
                <a:gd name="T30" fmla="*/ 1 w 66"/>
                <a:gd name="T31" fmla="*/ 1 h 420"/>
                <a:gd name="T32" fmla="*/ 1 w 66"/>
                <a:gd name="T33" fmla="*/ 1 h 420"/>
                <a:gd name="T34" fmla="*/ 1 w 66"/>
                <a:gd name="T35" fmla="*/ 1 h 420"/>
                <a:gd name="T36" fmla="*/ 1 w 66"/>
                <a:gd name="T37" fmla="*/ 1 h 420"/>
                <a:gd name="T38" fmla="*/ 1 w 66"/>
                <a:gd name="T39" fmla="*/ 1 h 420"/>
                <a:gd name="T40" fmla="*/ 1 w 66"/>
                <a:gd name="T41" fmla="*/ 1 h 420"/>
                <a:gd name="T42" fmla="*/ 1 w 66"/>
                <a:gd name="T43" fmla="*/ 1 h 420"/>
                <a:gd name="T44" fmla="*/ 1 w 66"/>
                <a:gd name="T45" fmla="*/ 1 h 420"/>
                <a:gd name="T46" fmla="*/ 0 w 66"/>
                <a:gd name="T47" fmla="*/ 1 h 420"/>
                <a:gd name="T48" fmla="*/ 1 w 66"/>
                <a:gd name="T49" fmla="*/ 1 h 420"/>
                <a:gd name="T50" fmla="*/ 1 w 66"/>
                <a:gd name="T51" fmla="*/ 1 h 420"/>
                <a:gd name="T52" fmla="*/ 1 w 66"/>
                <a:gd name="T53" fmla="*/ 1 h 420"/>
                <a:gd name="T54" fmla="*/ 1 w 66"/>
                <a:gd name="T55" fmla="*/ 1 h 420"/>
                <a:gd name="T56" fmla="*/ 1 w 66"/>
                <a:gd name="T57" fmla="*/ 1 h 420"/>
                <a:gd name="T58" fmla="*/ 1 w 66"/>
                <a:gd name="T59" fmla="*/ 1 h 420"/>
                <a:gd name="T60" fmla="*/ 1 w 66"/>
                <a:gd name="T61" fmla="*/ 1 h 420"/>
                <a:gd name="T62" fmla="*/ 1 w 66"/>
                <a:gd name="T63" fmla="*/ 1 h 420"/>
                <a:gd name="T64" fmla="*/ 1 w 66"/>
                <a:gd name="T65" fmla="*/ 1 h 420"/>
                <a:gd name="T66" fmla="*/ 1 w 66"/>
                <a:gd name="T67" fmla="*/ 1 h 420"/>
                <a:gd name="T68" fmla="*/ 1 w 66"/>
                <a:gd name="T69" fmla="*/ 1 h 420"/>
                <a:gd name="T70" fmla="*/ 1 w 66"/>
                <a:gd name="T71" fmla="*/ 1 h 420"/>
                <a:gd name="T72" fmla="*/ 1 w 66"/>
                <a:gd name="T73" fmla="*/ 1 h 420"/>
                <a:gd name="T74" fmla="*/ 1 w 66"/>
                <a:gd name="T75" fmla="*/ 1 h 420"/>
                <a:gd name="T76" fmla="*/ 0 w 66"/>
                <a:gd name="T77" fmla="*/ 2 h 420"/>
                <a:gd name="T78" fmla="*/ 1 w 66"/>
                <a:gd name="T79" fmla="*/ 2 h 420"/>
                <a:gd name="T80" fmla="*/ 1 w 66"/>
                <a:gd name="T81" fmla="*/ 2 h 420"/>
                <a:gd name="T82" fmla="*/ 1 w 66"/>
                <a:gd name="T83" fmla="*/ 2 h 420"/>
                <a:gd name="T84" fmla="*/ 1 w 66"/>
                <a:gd name="T85" fmla="*/ 2 h 420"/>
                <a:gd name="T86" fmla="*/ 1 w 66"/>
                <a:gd name="T87" fmla="*/ 2 h 420"/>
                <a:gd name="T88" fmla="*/ 1 w 66"/>
                <a:gd name="T89" fmla="*/ 2 h 420"/>
                <a:gd name="T90" fmla="*/ 1 w 66"/>
                <a:gd name="T91" fmla="*/ 2 h 420"/>
                <a:gd name="T92" fmla="*/ 1 w 66"/>
                <a:gd name="T93" fmla="*/ 2 h 420"/>
                <a:gd name="T94" fmla="*/ 1 w 66"/>
                <a:gd name="T95" fmla="*/ 2 h 420"/>
                <a:gd name="T96" fmla="*/ 1 w 66"/>
                <a:gd name="T97" fmla="*/ 2 h 420"/>
                <a:gd name="T98" fmla="*/ 1 w 66"/>
                <a:gd name="T99" fmla="*/ 2 h 420"/>
                <a:gd name="T100" fmla="*/ 1 w 66"/>
                <a:gd name="T101" fmla="*/ 2 h 420"/>
                <a:gd name="T102" fmla="*/ 1 w 66"/>
                <a:gd name="T103" fmla="*/ 2 h 420"/>
                <a:gd name="T104" fmla="*/ 1 w 66"/>
                <a:gd name="T105" fmla="*/ 2 h 420"/>
                <a:gd name="T106" fmla="*/ 1 w 66"/>
                <a:gd name="T107" fmla="*/ 2 h 420"/>
                <a:gd name="T108" fmla="*/ 0 w 66"/>
                <a:gd name="T109" fmla="*/ 2 h 420"/>
                <a:gd name="T110" fmla="*/ 1 w 66"/>
                <a:gd name="T111" fmla="*/ 2 h 420"/>
                <a:gd name="T112" fmla="*/ 1 w 66"/>
                <a:gd name="T113" fmla="*/ 2 h 420"/>
                <a:gd name="T114" fmla="*/ 1 w 66"/>
                <a:gd name="T115" fmla="*/ 2 h 420"/>
                <a:gd name="T116" fmla="*/ 1 w 66"/>
                <a:gd name="T117" fmla="*/ 2 h 420"/>
                <a:gd name="T118" fmla="*/ 1 w 66"/>
                <a:gd name="T119" fmla="*/ 2 h 420"/>
                <a:gd name="T120" fmla="*/ 1 w 66"/>
                <a:gd name="T121" fmla="*/ 2 h 420"/>
                <a:gd name="T122" fmla="*/ 1 w 66"/>
                <a:gd name="T123" fmla="*/ 2 h 42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66"/>
                <a:gd name="T187" fmla="*/ 0 h 420"/>
                <a:gd name="T188" fmla="*/ 66 w 66"/>
                <a:gd name="T189" fmla="*/ 420 h 42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66" h="420">
                  <a:moveTo>
                    <a:pt x="66" y="0"/>
                  </a:moveTo>
                  <a:lnTo>
                    <a:pt x="59" y="0"/>
                  </a:lnTo>
                  <a:lnTo>
                    <a:pt x="54" y="0"/>
                  </a:lnTo>
                  <a:lnTo>
                    <a:pt x="47" y="2"/>
                  </a:lnTo>
                  <a:lnTo>
                    <a:pt x="42" y="4"/>
                  </a:lnTo>
                  <a:lnTo>
                    <a:pt x="35" y="6"/>
                  </a:lnTo>
                  <a:lnTo>
                    <a:pt x="29" y="9"/>
                  </a:lnTo>
                  <a:lnTo>
                    <a:pt x="21" y="14"/>
                  </a:lnTo>
                  <a:lnTo>
                    <a:pt x="15" y="17"/>
                  </a:lnTo>
                  <a:lnTo>
                    <a:pt x="12" y="22"/>
                  </a:lnTo>
                  <a:lnTo>
                    <a:pt x="8" y="26"/>
                  </a:lnTo>
                  <a:lnTo>
                    <a:pt x="7" y="31"/>
                  </a:lnTo>
                  <a:lnTo>
                    <a:pt x="3" y="36"/>
                  </a:lnTo>
                  <a:lnTo>
                    <a:pt x="1" y="41"/>
                  </a:lnTo>
                  <a:lnTo>
                    <a:pt x="1" y="46"/>
                  </a:lnTo>
                  <a:lnTo>
                    <a:pt x="0" y="51"/>
                  </a:lnTo>
                  <a:lnTo>
                    <a:pt x="0" y="56"/>
                  </a:lnTo>
                  <a:lnTo>
                    <a:pt x="1" y="61"/>
                  </a:lnTo>
                  <a:lnTo>
                    <a:pt x="1" y="66"/>
                  </a:lnTo>
                  <a:lnTo>
                    <a:pt x="5" y="71"/>
                  </a:lnTo>
                  <a:lnTo>
                    <a:pt x="7" y="76"/>
                  </a:lnTo>
                  <a:lnTo>
                    <a:pt x="10" y="81"/>
                  </a:lnTo>
                  <a:lnTo>
                    <a:pt x="14" y="84"/>
                  </a:lnTo>
                  <a:lnTo>
                    <a:pt x="17" y="89"/>
                  </a:lnTo>
                  <a:lnTo>
                    <a:pt x="26" y="96"/>
                  </a:lnTo>
                  <a:lnTo>
                    <a:pt x="31" y="98"/>
                  </a:lnTo>
                  <a:lnTo>
                    <a:pt x="36" y="101"/>
                  </a:lnTo>
                  <a:lnTo>
                    <a:pt x="42" y="103"/>
                  </a:lnTo>
                  <a:lnTo>
                    <a:pt x="49" y="104"/>
                  </a:lnTo>
                  <a:lnTo>
                    <a:pt x="54" y="104"/>
                  </a:lnTo>
                  <a:lnTo>
                    <a:pt x="61" y="106"/>
                  </a:lnTo>
                  <a:lnTo>
                    <a:pt x="66" y="106"/>
                  </a:lnTo>
                  <a:lnTo>
                    <a:pt x="59" y="106"/>
                  </a:lnTo>
                  <a:lnTo>
                    <a:pt x="54" y="106"/>
                  </a:lnTo>
                  <a:lnTo>
                    <a:pt x="47" y="108"/>
                  </a:lnTo>
                  <a:lnTo>
                    <a:pt x="42" y="109"/>
                  </a:lnTo>
                  <a:lnTo>
                    <a:pt x="35" y="111"/>
                  </a:lnTo>
                  <a:lnTo>
                    <a:pt x="29" y="113"/>
                  </a:lnTo>
                  <a:lnTo>
                    <a:pt x="21" y="119"/>
                  </a:lnTo>
                  <a:lnTo>
                    <a:pt x="15" y="123"/>
                  </a:lnTo>
                  <a:lnTo>
                    <a:pt x="12" y="126"/>
                  </a:lnTo>
                  <a:lnTo>
                    <a:pt x="8" y="131"/>
                  </a:lnTo>
                  <a:lnTo>
                    <a:pt x="7" y="136"/>
                  </a:lnTo>
                  <a:lnTo>
                    <a:pt x="3" y="139"/>
                  </a:lnTo>
                  <a:lnTo>
                    <a:pt x="1" y="144"/>
                  </a:lnTo>
                  <a:lnTo>
                    <a:pt x="1" y="151"/>
                  </a:lnTo>
                  <a:lnTo>
                    <a:pt x="0" y="156"/>
                  </a:lnTo>
                  <a:lnTo>
                    <a:pt x="0" y="161"/>
                  </a:lnTo>
                  <a:lnTo>
                    <a:pt x="1" y="166"/>
                  </a:lnTo>
                  <a:lnTo>
                    <a:pt x="1" y="171"/>
                  </a:lnTo>
                  <a:lnTo>
                    <a:pt x="5" y="176"/>
                  </a:lnTo>
                  <a:lnTo>
                    <a:pt x="7" y="181"/>
                  </a:lnTo>
                  <a:lnTo>
                    <a:pt x="10" y="185"/>
                  </a:lnTo>
                  <a:lnTo>
                    <a:pt x="14" y="190"/>
                  </a:lnTo>
                  <a:lnTo>
                    <a:pt x="17" y="193"/>
                  </a:lnTo>
                  <a:lnTo>
                    <a:pt x="26" y="200"/>
                  </a:lnTo>
                  <a:lnTo>
                    <a:pt x="31" y="203"/>
                  </a:lnTo>
                  <a:lnTo>
                    <a:pt x="36" y="205"/>
                  </a:lnTo>
                  <a:lnTo>
                    <a:pt x="42" y="208"/>
                  </a:lnTo>
                  <a:lnTo>
                    <a:pt x="49" y="208"/>
                  </a:lnTo>
                  <a:lnTo>
                    <a:pt x="54" y="210"/>
                  </a:lnTo>
                  <a:lnTo>
                    <a:pt x="61" y="210"/>
                  </a:lnTo>
                  <a:lnTo>
                    <a:pt x="66" y="210"/>
                  </a:lnTo>
                  <a:lnTo>
                    <a:pt x="59" y="210"/>
                  </a:lnTo>
                  <a:lnTo>
                    <a:pt x="54" y="211"/>
                  </a:lnTo>
                  <a:lnTo>
                    <a:pt x="47" y="211"/>
                  </a:lnTo>
                  <a:lnTo>
                    <a:pt x="42" y="213"/>
                  </a:lnTo>
                  <a:lnTo>
                    <a:pt x="35" y="216"/>
                  </a:lnTo>
                  <a:lnTo>
                    <a:pt x="29" y="218"/>
                  </a:lnTo>
                  <a:lnTo>
                    <a:pt x="21" y="225"/>
                  </a:lnTo>
                  <a:lnTo>
                    <a:pt x="15" y="228"/>
                  </a:lnTo>
                  <a:lnTo>
                    <a:pt x="12" y="231"/>
                  </a:lnTo>
                  <a:lnTo>
                    <a:pt x="8" y="236"/>
                  </a:lnTo>
                  <a:lnTo>
                    <a:pt x="7" y="240"/>
                  </a:lnTo>
                  <a:lnTo>
                    <a:pt x="3" y="245"/>
                  </a:lnTo>
                  <a:lnTo>
                    <a:pt x="1" y="250"/>
                  </a:lnTo>
                  <a:lnTo>
                    <a:pt x="1" y="255"/>
                  </a:lnTo>
                  <a:lnTo>
                    <a:pt x="0" y="260"/>
                  </a:lnTo>
                  <a:lnTo>
                    <a:pt x="0" y="267"/>
                  </a:lnTo>
                  <a:lnTo>
                    <a:pt x="1" y="272"/>
                  </a:lnTo>
                  <a:lnTo>
                    <a:pt x="1" y="277"/>
                  </a:lnTo>
                  <a:lnTo>
                    <a:pt x="5" y="282"/>
                  </a:lnTo>
                  <a:lnTo>
                    <a:pt x="7" y="287"/>
                  </a:lnTo>
                  <a:lnTo>
                    <a:pt x="10" y="290"/>
                  </a:lnTo>
                  <a:lnTo>
                    <a:pt x="14" y="295"/>
                  </a:lnTo>
                  <a:lnTo>
                    <a:pt x="17" y="298"/>
                  </a:lnTo>
                  <a:lnTo>
                    <a:pt x="26" y="305"/>
                  </a:lnTo>
                  <a:lnTo>
                    <a:pt x="31" y="308"/>
                  </a:lnTo>
                  <a:lnTo>
                    <a:pt x="36" y="310"/>
                  </a:lnTo>
                  <a:lnTo>
                    <a:pt x="42" y="312"/>
                  </a:lnTo>
                  <a:lnTo>
                    <a:pt x="49" y="313"/>
                  </a:lnTo>
                  <a:lnTo>
                    <a:pt x="54" y="315"/>
                  </a:lnTo>
                  <a:lnTo>
                    <a:pt x="61" y="315"/>
                  </a:lnTo>
                  <a:lnTo>
                    <a:pt x="66" y="315"/>
                  </a:lnTo>
                  <a:lnTo>
                    <a:pt x="59" y="315"/>
                  </a:lnTo>
                  <a:lnTo>
                    <a:pt x="54" y="315"/>
                  </a:lnTo>
                  <a:lnTo>
                    <a:pt x="47" y="317"/>
                  </a:lnTo>
                  <a:lnTo>
                    <a:pt x="42" y="318"/>
                  </a:lnTo>
                  <a:lnTo>
                    <a:pt x="35" y="320"/>
                  </a:lnTo>
                  <a:lnTo>
                    <a:pt x="29" y="323"/>
                  </a:lnTo>
                  <a:lnTo>
                    <a:pt x="21" y="328"/>
                  </a:lnTo>
                  <a:lnTo>
                    <a:pt x="15" y="332"/>
                  </a:lnTo>
                  <a:lnTo>
                    <a:pt x="12" y="337"/>
                  </a:lnTo>
                  <a:lnTo>
                    <a:pt x="8" y="340"/>
                  </a:lnTo>
                  <a:lnTo>
                    <a:pt x="7" y="345"/>
                  </a:lnTo>
                  <a:lnTo>
                    <a:pt x="3" y="350"/>
                  </a:lnTo>
                  <a:lnTo>
                    <a:pt x="1" y="355"/>
                  </a:lnTo>
                  <a:lnTo>
                    <a:pt x="1" y="360"/>
                  </a:lnTo>
                  <a:lnTo>
                    <a:pt x="0" y="365"/>
                  </a:lnTo>
                  <a:lnTo>
                    <a:pt x="0" y="370"/>
                  </a:lnTo>
                  <a:lnTo>
                    <a:pt x="1" y="375"/>
                  </a:lnTo>
                  <a:lnTo>
                    <a:pt x="1" y="380"/>
                  </a:lnTo>
                  <a:lnTo>
                    <a:pt x="5" y="385"/>
                  </a:lnTo>
                  <a:lnTo>
                    <a:pt x="7" y="390"/>
                  </a:lnTo>
                  <a:lnTo>
                    <a:pt x="10" y="395"/>
                  </a:lnTo>
                  <a:lnTo>
                    <a:pt x="14" y="399"/>
                  </a:lnTo>
                  <a:lnTo>
                    <a:pt x="17" y="404"/>
                  </a:lnTo>
                  <a:lnTo>
                    <a:pt x="26" y="410"/>
                  </a:lnTo>
                  <a:lnTo>
                    <a:pt x="31" y="412"/>
                  </a:lnTo>
                  <a:lnTo>
                    <a:pt x="36" y="415"/>
                  </a:lnTo>
                  <a:lnTo>
                    <a:pt x="42" y="417"/>
                  </a:lnTo>
                  <a:lnTo>
                    <a:pt x="49" y="419"/>
                  </a:lnTo>
                  <a:lnTo>
                    <a:pt x="54" y="419"/>
                  </a:lnTo>
                  <a:lnTo>
                    <a:pt x="61" y="420"/>
                  </a:lnTo>
                  <a:lnTo>
                    <a:pt x="66" y="42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7" name="Line 238"/>
            <p:cNvSpPr>
              <a:spLocks noChangeShapeType="1"/>
            </p:cNvSpPr>
            <p:nvPr/>
          </p:nvSpPr>
          <p:spPr bwMode="auto">
            <a:xfrm>
              <a:off x="4359" y="1187"/>
              <a:ext cx="1" cy="19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8" name="Line 239"/>
            <p:cNvSpPr>
              <a:spLocks noChangeShapeType="1"/>
            </p:cNvSpPr>
            <p:nvPr/>
          </p:nvSpPr>
          <p:spPr bwMode="auto">
            <a:xfrm flipV="1">
              <a:off x="4373" y="1187"/>
              <a:ext cx="1" cy="19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9" name="Rectangle 240"/>
            <p:cNvSpPr>
              <a:spLocks noChangeArrowheads="1"/>
            </p:cNvSpPr>
            <p:nvPr/>
          </p:nvSpPr>
          <p:spPr bwMode="auto">
            <a:xfrm>
              <a:off x="5424" y="1196"/>
              <a:ext cx="44" cy="10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/>
            </a:p>
          </p:txBody>
        </p:sp>
        <p:sp>
          <p:nvSpPr>
            <p:cNvPr id="84040" name="Rectangle 241"/>
            <p:cNvSpPr>
              <a:spLocks noChangeArrowheads="1"/>
            </p:cNvSpPr>
            <p:nvPr/>
          </p:nvSpPr>
          <p:spPr bwMode="auto">
            <a:xfrm>
              <a:off x="5424" y="1196"/>
              <a:ext cx="44" cy="105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/>
            </a:p>
          </p:txBody>
        </p:sp>
        <p:sp>
          <p:nvSpPr>
            <p:cNvPr id="84041" name="Line 242"/>
            <p:cNvSpPr>
              <a:spLocks noChangeShapeType="1"/>
            </p:cNvSpPr>
            <p:nvPr/>
          </p:nvSpPr>
          <p:spPr bwMode="auto">
            <a:xfrm>
              <a:off x="5227" y="1237"/>
              <a:ext cx="8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2" name="Line 243"/>
            <p:cNvSpPr>
              <a:spLocks noChangeShapeType="1"/>
            </p:cNvSpPr>
            <p:nvPr/>
          </p:nvSpPr>
          <p:spPr bwMode="auto">
            <a:xfrm>
              <a:off x="5227" y="1269"/>
              <a:ext cx="8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3" name="Line 244"/>
            <p:cNvSpPr>
              <a:spLocks noChangeShapeType="1"/>
            </p:cNvSpPr>
            <p:nvPr/>
          </p:nvSpPr>
          <p:spPr bwMode="auto">
            <a:xfrm>
              <a:off x="5271" y="1269"/>
              <a:ext cx="1" cy="8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4" name="Line 245"/>
            <p:cNvSpPr>
              <a:spLocks noChangeShapeType="1"/>
            </p:cNvSpPr>
            <p:nvPr/>
          </p:nvSpPr>
          <p:spPr bwMode="auto">
            <a:xfrm flipV="1">
              <a:off x="5271" y="1143"/>
              <a:ext cx="1" cy="9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5" name="Line 246"/>
            <p:cNvSpPr>
              <a:spLocks noChangeShapeType="1"/>
            </p:cNvSpPr>
            <p:nvPr/>
          </p:nvSpPr>
          <p:spPr bwMode="auto">
            <a:xfrm flipV="1">
              <a:off x="5271" y="1122"/>
              <a:ext cx="1" cy="2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6" name="Freeform 247"/>
            <p:cNvSpPr>
              <a:spLocks/>
            </p:cNvSpPr>
            <p:nvPr/>
          </p:nvSpPr>
          <p:spPr bwMode="auto">
            <a:xfrm>
              <a:off x="4289" y="1315"/>
              <a:ext cx="28" cy="27"/>
            </a:xfrm>
            <a:custGeom>
              <a:avLst/>
              <a:gdLst>
                <a:gd name="T0" fmla="*/ 0 w 56"/>
                <a:gd name="T1" fmla="*/ 1 h 53"/>
                <a:gd name="T2" fmla="*/ 0 w 56"/>
                <a:gd name="T3" fmla="*/ 1 h 53"/>
                <a:gd name="T4" fmla="*/ 1 w 56"/>
                <a:gd name="T5" fmla="*/ 1 h 53"/>
                <a:gd name="T6" fmla="*/ 1 w 56"/>
                <a:gd name="T7" fmla="*/ 1 h 53"/>
                <a:gd name="T8" fmla="*/ 1 w 56"/>
                <a:gd name="T9" fmla="*/ 1 h 53"/>
                <a:gd name="T10" fmla="*/ 1 w 56"/>
                <a:gd name="T11" fmla="*/ 1 h 53"/>
                <a:gd name="T12" fmla="*/ 1 w 56"/>
                <a:gd name="T13" fmla="*/ 1 h 53"/>
                <a:gd name="T14" fmla="*/ 1 w 56"/>
                <a:gd name="T15" fmla="*/ 1 h 53"/>
                <a:gd name="T16" fmla="*/ 1 w 56"/>
                <a:gd name="T17" fmla="*/ 0 h 53"/>
                <a:gd name="T18" fmla="*/ 1 w 56"/>
                <a:gd name="T19" fmla="*/ 1 h 53"/>
                <a:gd name="T20" fmla="*/ 1 w 56"/>
                <a:gd name="T21" fmla="*/ 1 h 53"/>
                <a:gd name="T22" fmla="*/ 1 w 56"/>
                <a:gd name="T23" fmla="*/ 1 h 53"/>
                <a:gd name="T24" fmla="*/ 1 w 56"/>
                <a:gd name="T25" fmla="*/ 1 h 53"/>
                <a:gd name="T26" fmla="*/ 1 w 56"/>
                <a:gd name="T27" fmla="*/ 1 h 53"/>
                <a:gd name="T28" fmla="*/ 1 w 56"/>
                <a:gd name="T29" fmla="*/ 1 h 53"/>
                <a:gd name="T30" fmla="*/ 1 w 56"/>
                <a:gd name="T31" fmla="*/ 1 h 53"/>
                <a:gd name="T32" fmla="*/ 1 w 56"/>
                <a:gd name="T33" fmla="*/ 1 h 53"/>
                <a:gd name="T34" fmla="*/ 1 w 56"/>
                <a:gd name="T35" fmla="*/ 1 h 53"/>
                <a:gd name="T36" fmla="*/ 1 w 56"/>
                <a:gd name="T37" fmla="*/ 1 h 53"/>
                <a:gd name="T38" fmla="*/ 1 w 56"/>
                <a:gd name="T39" fmla="*/ 1 h 53"/>
                <a:gd name="T40" fmla="*/ 1 w 56"/>
                <a:gd name="T41" fmla="*/ 1 h 53"/>
                <a:gd name="T42" fmla="*/ 1 w 56"/>
                <a:gd name="T43" fmla="*/ 1 h 53"/>
                <a:gd name="T44" fmla="*/ 1 w 56"/>
                <a:gd name="T45" fmla="*/ 1 h 53"/>
                <a:gd name="T46" fmla="*/ 1 w 56"/>
                <a:gd name="T47" fmla="*/ 1 h 53"/>
                <a:gd name="T48" fmla="*/ 1 w 56"/>
                <a:gd name="T49" fmla="*/ 1 h 53"/>
                <a:gd name="T50" fmla="*/ 1 w 56"/>
                <a:gd name="T51" fmla="*/ 1 h 53"/>
                <a:gd name="T52" fmla="*/ 1 w 56"/>
                <a:gd name="T53" fmla="*/ 1 h 53"/>
                <a:gd name="T54" fmla="*/ 1 w 56"/>
                <a:gd name="T55" fmla="*/ 1 h 53"/>
                <a:gd name="T56" fmla="*/ 1 w 56"/>
                <a:gd name="T57" fmla="*/ 1 h 53"/>
                <a:gd name="T58" fmla="*/ 1 w 56"/>
                <a:gd name="T59" fmla="*/ 1 h 53"/>
                <a:gd name="T60" fmla="*/ 1 w 56"/>
                <a:gd name="T61" fmla="*/ 1 h 53"/>
                <a:gd name="T62" fmla="*/ 1 w 56"/>
                <a:gd name="T63" fmla="*/ 1 h 53"/>
                <a:gd name="T64" fmla="*/ 0 w 56"/>
                <a:gd name="T65" fmla="*/ 1 h 53"/>
                <a:gd name="T66" fmla="*/ 0 w 56"/>
                <a:gd name="T67" fmla="*/ 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3"/>
                <a:gd name="T104" fmla="*/ 56 w 56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3">
                  <a:moveTo>
                    <a:pt x="0" y="26"/>
                  </a:moveTo>
                  <a:lnTo>
                    <a:pt x="0" y="21"/>
                  </a:lnTo>
                  <a:lnTo>
                    <a:pt x="2" y="16"/>
                  </a:lnTo>
                  <a:lnTo>
                    <a:pt x="6" y="13"/>
                  </a:lnTo>
                  <a:lnTo>
                    <a:pt x="9" y="8"/>
                  </a:lnTo>
                  <a:lnTo>
                    <a:pt x="13" y="5"/>
                  </a:lnTo>
                  <a:lnTo>
                    <a:pt x="18" y="3"/>
                  </a:lnTo>
                  <a:lnTo>
                    <a:pt x="23" y="1"/>
                  </a:lnTo>
                  <a:lnTo>
                    <a:pt x="28" y="0"/>
                  </a:lnTo>
                  <a:lnTo>
                    <a:pt x="34" y="1"/>
                  </a:lnTo>
                  <a:lnTo>
                    <a:pt x="39" y="3"/>
                  </a:lnTo>
                  <a:lnTo>
                    <a:pt x="44" y="5"/>
                  </a:lnTo>
                  <a:lnTo>
                    <a:pt x="48" y="8"/>
                  </a:lnTo>
                  <a:lnTo>
                    <a:pt x="51" y="13"/>
                  </a:lnTo>
                  <a:lnTo>
                    <a:pt x="55" y="16"/>
                  </a:lnTo>
                  <a:lnTo>
                    <a:pt x="56" y="21"/>
                  </a:lnTo>
                  <a:lnTo>
                    <a:pt x="56" y="26"/>
                  </a:lnTo>
                  <a:lnTo>
                    <a:pt x="56" y="33"/>
                  </a:lnTo>
                  <a:lnTo>
                    <a:pt x="55" y="38"/>
                  </a:lnTo>
                  <a:lnTo>
                    <a:pt x="51" y="41"/>
                  </a:lnTo>
                  <a:lnTo>
                    <a:pt x="48" y="46"/>
                  </a:lnTo>
                  <a:lnTo>
                    <a:pt x="44" y="50"/>
                  </a:lnTo>
                  <a:lnTo>
                    <a:pt x="39" y="51"/>
                  </a:lnTo>
                  <a:lnTo>
                    <a:pt x="34" y="53"/>
                  </a:lnTo>
                  <a:lnTo>
                    <a:pt x="28" y="53"/>
                  </a:lnTo>
                  <a:lnTo>
                    <a:pt x="23" y="53"/>
                  </a:lnTo>
                  <a:lnTo>
                    <a:pt x="18" y="51"/>
                  </a:lnTo>
                  <a:lnTo>
                    <a:pt x="13" y="50"/>
                  </a:lnTo>
                  <a:lnTo>
                    <a:pt x="9" y="46"/>
                  </a:lnTo>
                  <a:lnTo>
                    <a:pt x="6" y="41"/>
                  </a:lnTo>
                  <a:lnTo>
                    <a:pt x="2" y="38"/>
                  </a:lnTo>
                  <a:lnTo>
                    <a:pt x="0" y="33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7" name="Freeform 248"/>
            <p:cNvSpPr>
              <a:spLocks/>
            </p:cNvSpPr>
            <p:nvPr/>
          </p:nvSpPr>
          <p:spPr bwMode="auto">
            <a:xfrm>
              <a:off x="4426" y="1189"/>
              <a:ext cx="28" cy="27"/>
            </a:xfrm>
            <a:custGeom>
              <a:avLst/>
              <a:gdLst>
                <a:gd name="T0" fmla="*/ 0 w 56"/>
                <a:gd name="T1" fmla="*/ 1 h 53"/>
                <a:gd name="T2" fmla="*/ 1 w 56"/>
                <a:gd name="T3" fmla="*/ 1 h 53"/>
                <a:gd name="T4" fmla="*/ 1 w 56"/>
                <a:gd name="T5" fmla="*/ 1 h 53"/>
                <a:gd name="T6" fmla="*/ 1 w 56"/>
                <a:gd name="T7" fmla="*/ 1 h 53"/>
                <a:gd name="T8" fmla="*/ 1 w 56"/>
                <a:gd name="T9" fmla="*/ 1 h 53"/>
                <a:gd name="T10" fmla="*/ 1 w 56"/>
                <a:gd name="T11" fmla="*/ 1 h 53"/>
                <a:gd name="T12" fmla="*/ 1 w 56"/>
                <a:gd name="T13" fmla="*/ 1 h 53"/>
                <a:gd name="T14" fmla="*/ 1 w 56"/>
                <a:gd name="T15" fmla="*/ 0 h 53"/>
                <a:gd name="T16" fmla="*/ 1 w 56"/>
                <a:gd name="T17" fmla="*/ 0 h 53"/>
                <a:gd name="T18" fmla="*/ 1 w 56"/>
                <a:gd name="T19" fmla="*/ 0 h 53"/>
                <a:gd name="T20" fmla="*/ 1 w 56"/>
                <a:gd name="T21" fmla="*/ 1 h 53"/>
                <a:gd name="T22" fmla="*/ 1 w 56"/>
                <a:gd name="T23" fmla="*/ 1 h 53"/>
                <a:gd name="T24" fmla="*/ 1 w 56"/>
                <a:gd name="T25" fmla="*/ 1 h 53"/>
                <a:gd name="T26" fmla="*/ 1 w 56"/>
                <a:gd name="T27" fmla="*/ 1 h 53"/>
                <a:gd name="T28" fmla="*/ 1 w 56"/>
                <a:gd name="T29" fmla="*/ 1 h 53"/>
                <a:gd name="T30" fmla="*/ 1 w 56"/>
                <a:gd name="T31" fmla="*/ 1 h 53"/>
                <a:gd name="T32" fmla="*/ 1 w 56"/>
                <a:gd name="T33" fmla="*/ 1 h 53"/>
                <a:gd name="T34" fmla="*/ 1 w 56"/>
                <a:gd name="T35" fmla="*/ 1 h 53"/>
                <a:gd name="T36" fmla="*/ 1 w 56"/>
                <a:gd name="T37" fmla="*/ 1 h 53"/>
                <a:gd name="T38" fmla="*/ 1 w 56"/>
                <a:gd name="T39" fmla="*/ 1 h 53"/>
                <a:gd name="T40" fmla="*/ 1 w 56"/>
                <a:gd name="T41" fmla="*/ 1 h 53"/>
                <a:gd name="T42" fmla="*/ 1 w 56"/>
                <a:gd name="T43" fmla="*/ 1 h 53"/>
                <a:gd name="T44" fmla="*/ 1 w 56"/>
                <a:gd name="T45" fmla="*/ 1 h 53"/>
                <a:gd name="T46" fmla="*/ 1 w 56"/>
                <a:gd name="T47" fmla="*/ 1 h 53"/>
                <a:gd name="T48" fmla="*/ 1 w 56"/>
                <a:gd name="T49" fmla="*/ 1 h 53"/>
                <a:gd name="T50" fmla="*/ 1 w 56"/>
                <a:gd name="T51" fmla="*/ 1 h 53"/>
                <a:gd name="T52" fmla="*/ 1 w 56"/>
                <a:gd name="T53" fmla="*/ 1 h 53"/>
                <a:gd name="T54" fmla="*/ 1 w 56"/>
                <a:gd name="T55" fmla="*/ 1 h 53"/>
                <a:gd name="T56" fmla="*/ 1 w 56"/>
                <a:gd name="T57" fmla="*/ 1 h 53"/>
                <a:gd name="T58" fmla="*/ 1 w 56"/>
                <a:gd name="T59" fmla="*/ 1 h 53"/>
                <a:gd name="T60" fmla="*/ 1 w 56"/>
                <a:gd name="T61" fmla="*/ 1 h 53"/>
                <a:gd name="T62" fmla="*/ 1 w 56"/>
                <a:gd name="T63" fmla="*/ 1 h 53"/>
                <a:gd name="T64" fmla="*/ 1 w 56"/>
                <a:gd name="T65" fmla="*/ 1 h 53"/>
                <a:gd name="T66" fmla="*/ 0 w 56"/>
                <a:gd name="T67" fmla="*/ 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3"/>
                <a:gd name="T104" fmla="*/ 56 w 56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3">
                  <a:moveTo>
                    <a:pt x="0" y="27"/>
                  </a:moveTo>
                  <a:lnTo>
                    <a:pt x="2" y="20"/>
                  </a:lnTo>
                  <a:lnTo>
                    <a:pt x="3" y="15"/>
                  </a:lnTo>
                  <a:lnTo>
                    <a:pt x="5" y="12"/>
                  </a:lnTo>
                  <a:lnTo>
                    <a:pt x="9" y="7"/>
                  </a:lnTo>
                  <a:lnTo>
                    <a:pt x="12" y="3"/>
                  </a:lnTo>
                  <a:lnTo>
                    <a:pt x="17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40" y="2"/>
                  </a:lnTo>
                  <a:lnTo>
                    <a:pt x="43" y="3"/>
                  </a:lnTo>
                  <a:lnTo>
                    <a:pt x="49" y="7"/>
                  </a:lnTo>
                  <a:lnTo>
                    <a:pt x="52" y="12"/>
                  </a:lnTo>
                  <a:lnTo>
                    <a:pt x="54" y="15"/>
                  </a:lnTo>
                  <a:lnTo>
                    <a:pt x="56" y="20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2" y="42"/>
                  </a:lnTo>
                  <a:lnTo>
                    <a:pt x="49" y="45"/>
                  </a:lnTo>
                  <a:lnTo>
                    <a:pt x="43" y="48"/>
                  </a:lnTo>
                  <a:lnTo>
                    <a:pt x="40" y="50"/>
                  </a:lnTo>
                  <a:lnTo>
                    <a:pt x="35" y="52"/>
                  </a:lnTo>
                  <a:lnTo>
                    <a:pt x="28" y="53"/>
                  </a:lnTo>
                  <a:lnTo>
                    <a:pt x="23" y="52"/>
                  </a:lnTo>
                  <a:lnTo>
                    <a:pt x="17" y="50"/>
                  </a:lnTo>
                  <a:lnTo>
                    <a:pt x="12" y="48"/>
                  </a:lnTo>
                  <a:lnTo>
                    <a:pt x="9" y="45"/>
                  </a:lnTo>
                  <a:lnTo>
                    <a:pt x="5" y="42"/>
                  </a:lnTo>
                  <a:lnTo>
                    <a:pt x="3" y="37"/>
                  </a:lnTo>
                  <a:lnTo>
                    <a:pt x="2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8" name="Rectangle 249"/>
            <p:cNvSpPr>
              <a:spLocks noChangeArrowheads="1"/>
            </p:cNvSpPr>
            <p:nvPr/>
          </p:nvSpPr>
          <p:spPr bwMode="auto">
            <a:xfrm>
              <a:off x="5346" y="1138"/>
              <a:ext cx="5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R</a:t>
              </a:r>
              <a:endParaRPr lang="en-US" altLang="zh-CN"/>
            </a:p>
          </p:txBody>
        </p:sp>
        <p:sp>
          <p:nvSpPr>
            <p:cNvPr id="84049" name="Freeform 250"/>
            <p:cNvSpPr>
              <a:spLocks noEditPoints="1"/>
            </p:cNvSpPr>
            <p:nvPr/>
          </p:nvSpPr>
          <p:spPr bwMode="auto">
            <a:xfrm>
              <a:off x="4031" y="1029"/>
              <a:ext cx="14" cy="118"/>
            </a:xfrm>
            <a:custGeom>
              <a:avLst/>
              <a:gdLst>
                <a:gd name="T0" fmla="*/ 1 w 28"/>
                <a:gd name="T1" fmla="*/ 1 h 236"/>
                <a:gd name="T2" fmla="*/ 1 w 28"/>
                <a:gd name="T3" fmla="*/ 1 h 236"/>
                <a:gd name="T4" fmla="*/ 1 w 28"/>
                <a:gd name="T5" fmla="*/ 1 h 236"/>
                <a:gd name="T6" fmla="*/ 0 w 28"/>
                <a:gd name="T7" fmla="*/ 1 h 236"/>
                <a:gd name="T8" fmla="*/ 0 w 28"/>
                <a:gd name="T9" fmla="*/ 1 h 236"/>
                <a:gd name="T10" fmla="*/ 1 w 28"/>
                <a:gd name="T11" fmla="*/ 1 h 236"/>
                <a:gd name="T12" fmla="*/ 1 w 28"/>
                <a:gd name="T13" fmla="*/ 1 h 236"/>
                <a:gd name="T14" fmla="*/ 1 w 28"/>
                <a:gd name="T15" fmla="*/ 1 h 236"/>
                <a:gd name="T16" fmla="*/ 1 w 28"/>
                <a:gd name="T17" fmla="*/ 1 h 236"/>
                <a:gd name="T18" fmla="*/ 1 w 28"/>
                <a:gd name="T19" fmla="*/ 1 h 236"/>
                <a:gd name="T20" fmla="*/ 1 w 28"/>
                <a:gd name="T21" fmla="*/ 1 h 236"/>
                <a:gd name="T22" fmla="*/ 1 w 28"/>
                <a:gd name="T23" fmla="*/ 1 h 236"/>
                <a:gd name="T24" fmla="*/ 1 w 28"/>
                <a:gd name="T25" fmla="*/ 1 h 236"/>
                <a:gd name="T26" fmla="*/ 1 w 28"/>
                <a:gd name="T27" fmla="*/ 1 h 236"/>
                <a:gd name="T28" fmla="*/ 1 w 28"/>
                <a:gd name="T29" fmla="*/ 1 h 236"/>
                <a:gd name="T30" fmla="*/ 1 w 28"/>
                <a:gd name="T31" fmla="*/ 1 h 236"/>
                <a:gd name="T32" fmla="*/ 1 w 28"/>
                <a:gd name="T33" fmla="*/ 1 h 236"/>
                <a:gd name="T34" fmla="*/ 1 w 28"/>
                <a:gd name="T35" fmla="*/ 1 h 236"/>
                <a:gd name="T36" fmla="*/ 1 w 28"/>
                <a:gd name="T37" fmla="*/ 0 h 236"/>
                <a:gd name="T38" fmla="*/ 1 w 28"/>
                <a:gd name="T39" fmla="*/ 1 h 236"/>
                <a:gd name="T40" fmla="*/ 1 w 28"/>
                <a:gd name="T41" fmla="*/ 1 h 236"/>
                <a:gd name="T42" fmla="*/ 0 w 28"/>
                <a:gd name="T43" fmla="*/ 1 h 236"/>
                <a:gd name="T44" fmla="*/ 0 w 28"/>
                <a:gd name="T45" fmla="*/ 1 h 236"/>
                <a:gd name="T46" fmla="*/ 1 w 28"/>
                <a:gd name="T47" fmla="*/ 1 h 236"/>
                <a:gd name="T48" fmla="*/ 1 w 28"/>
                <a:gd name="T49" fmla="*/ 1 h 236"/>
                <a:gd name="T50" fmla="*/ 1 w 28"/>
                <a:gd name="T51" fmla="*/ 1 h 236"/>
                <a:gd name="T52" fmla="*/ 1 w 28"/>
                <a:gd name="T53" fmla="*/ 1 h 236"/>
                <a:gd name="T54" fmla="*/ 1 w 28"/>
                <a:gd name="T55" fmla="*/ 1 h 236"/>
                <a:gd name="T56" fmla="*/ 1 w 28"/>
                <a:gd name="T57" fmla="*/ 1 h 236"/>
                <a:gd name="T58" fmla="*/ 1 w 28"/>
                <a:gd name="T59" fmla="*/ 1 h 236"/>
                <a:gd name="T60" fmla="*/ 1 w 28"/>
                <a:gd name="T61" fmla="*/ 1 h 236"/>
                <a:gd name="T62" fmla="*/ 1 w 28"/>
                <a:gd name="T63" fmla="*/ 1 h 236"/>
                <a:gd name="T64" fmla="*/ 1 w 28"/>
                <a:gd name="T65" fmla="*/ 1 h 236"/>
                <a:gd name="T66" fmla="*/ 1 w 28"/>
                <a:gd name="T67" fmla="*/ 0 h 236"/>
                <a:gd name="T68" fmla="*/ 1 w 28"/>
                <a:gd name="T69" fmla="*/ 0 h 236"/>
                <a:gd name="T70" fmla="*/ 1 w 28"/>
                <a:gd name="T71" fmla="*/ 0 h 2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8"/>
                <a:gd name="T109" fmla="*/ 0 h 236"/>
                <a:gd name="T110" fmla="*/ 28 w 28"/>
                <a:gd name="T111" fmla="*/ 236 h 2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8" h="236">
                  <a:moveTo>
                    <a:pt x="14" y="209"/>
                  </a:moveTo>
                  <a:lnTo>
                    <a:pt x="10" y="209"/>
                  </a:lnTo>
                  <a:lnTo>
                    <a:pt x="9" y="209"/>
                  </a:lnTo>
                  <a:lnTo>
                    <a:pt x="5" y="211"/>
                  </a:lnTo>
                  <a:lnTo>
                    <a:pt x="3" y="213"/>
                  </a:lnTo>
                  <a:lnTo>
                    <a:pt x="2" y="214"/>
                  </a:lnTo>
                  <a:lnTo>
                    <a:pt x="0" y="218"/>
                  </a:lnTo>
                  <a:lnTo>
                    <a:pt x="0" y="219"/>
                  </a:lnTo>
                  <a:lnTo>
                    <a:pt x="0" y="223"/>
                  </a:lnTo>
                  <a:lnTo>
                    <a:pt x="0" y="225"/>
                  </a:lnTo>
                  <a:lnTo>
                    <a:pt x="0" y="228"/>
                  </a:lnTo>
                  <a:lnTo>
                    <a:pt x="2" y="230"/>
                  </a:lnTo>
                  <a:lnTo>
                    <a:pt x="3" y="231"/>
                  </a:lnTo>
                  <a:lnTo>
                    <a:pt x="5" y="233"/>
                  </a:lnTo>
                  <a:lnTo>
                    <a:pt x="9" y="235"/>
                  </a:lnTo>
                  <a:lnTo>
                    <a:pt x="10" y="235"/>
                  </a:lnTo>
                  <a:lnTo>
                    <a:pt x="14" y="236"/>
                  </a:lnTo>
                  <a:lnTo>
                    <a:pt x="16" y="235"/>
                  </a:lnTo>
                  <a:lnTo>
                    <a:pt x="19" y="235"/>
                  </a:lnTo>
                  <a:lnTo>
                    <a:pt x="21" y="233"/>
                  </a:lnTo>
                  <a:lnTo>
                    <a:pt x="23" y="231"/>
                  </a:lnTo>
                  <a:lnTo>
                    <a:pt x="24" y="230"/>
                  </a:lnTo>
                  <a:lnTo>
                    <a:pt x="26" y="228"/>
                  </a:lnTo>
                  <a:lnTo>
                    <a:pt x="26" y="225"/>
                  </a:lnTo>
                  <a:lnTo>
                    <a:pt x="28" y="223"/>
                  </a:lnTo>
                  <a:lnTo>
                    <a:pt x="26" y="219"/>
                  </a:lnTo>
                  <a:lnTo>
                    <a:pt x="26" y="218"/>
                  </a:lnTo>
                  <a:lnTo>
                    <a:pt x="24" y="214"/>
                  </a:lnTo>
                  <a:lnTo>
                    <a:pt x="23" y="213"/>
                  </a:lnTo>
                  <a:lnTo>
                    <a:pt x="21" y="211"/>
                  </a:lnTo>
                  <a:lnTo>
                    <a:pt x="19" y="209"/>
                  </a:lnTo>
                  <a:lnTo>
                    <a:pt x="16" y="209"/>
                  </a:lnTo>
                  <a:lnTo>
                    <a:pt x="14" y="209"/>
                  </a:lnTo>
                  <a:close/>
                  <a:moveTo>
                    <a:pt x="14" y="0"/>
                  </a:moveTo>
                  <a:lnTo>
                    <a:pt x="10" y="0"/>
                  </a:lnTo>
                  <a:lnTo>
                    <a:pt x="9" y="0"/>
                  </a:lnTo>
                  <a:lnTo>
                    <a:pt x="5" y="2"/>
                  </a:lnTo>
                  <a:lnTo>
                    <a:pt x="3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20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9" y="25"/>
                  </a:lnTo>
                  <a:lnTo>
                    <a:pt x="10" y="25"/>
                  </a:lnTo>
                  <a:lnTo>
                    <a:pt x="14" y="25"/>
                  </a:lnTo>
                  <a:lnTo>
                    <a:pt x="16" y="25"/>
                  </a:lnTo>
                  <a:lnTo>
                    <a:pt x="19" y="25"/>
                  </a:lnTo>
                  <a:lnTo>
                    <a:pt x="21" y="24"/>
                  </a:lnTo>
                  <a:lnTo>
                    <a:pt x="23" y="22"/>
                  </a:lnTo>
                  <a:lnTo>
                    <a:pt x="24" y="20"/>
                  </a:lnTo>
                  <a:lnTo>
                    <a:pt x="26" y="17"/>
                  </a:lnTo>
                  <a:lnTo>
                    <a:pt x="26" y="15"/>
                  </a:lnTo>
                  <a:lnTo>
                    <a:pt x="28" y="12"/>
                  </a:lnTo>
                  <a:lnTo>
                    <a:pt x="26" y="10"/>
                  </a:lnTo>
                  <a:lnTo>
                    <a:pt x="26" y="7"/>
                  </a:lnTo>
                  <a:lnTo>
                    <a:pt x="24" y="5"/>
                  </a:lnTo>
                  <a:lnTo>
                    <a:pt x="23" y="4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50" name="Freeform 251"/>
            <p:cNvSpPr>
              <a:spLocks/>
            </p:cNvSpPr>
            <p:nvPr/>
          </p:nvSpPr>
          <p:spPr bwMode="auto">
            <a:xfrm>
              <a:off x="4031" y="1134"/>
              <a:ext cx="14" cy="13"/>
            </a:xfrm>
            <a:custGeom>
              <a:avLst/>
              <a:gdLst>
                <a:gd name="T0" fmla="*/ 1 w 28"/>
                <a:gd name="T1" fmla="*/ 0 h 27"/>
                <a:gd name="T2" fmla="*/ 1 w 28"/>
                <a:gd name="T3" fmla="*/ 0 h 27"/>
                <a:gd name="T4" fmla="*/ 1 w 28"/>
                <a:gd name="T5" fmla="*/ 0 h 27"/>
                <a:gd name="T6" fmla="*/ 1 w 28"/>
                <a:gd name="T7" fmla="*/ 0 h 27"/>
                <a:gd name="T8" fmla="*/ 1 w 28"/>
                <a:gd name="T9" fmla="*/ 0 h 27"/>
                <a:gd name="T10" fmla="*/ 1 w 28"/>
                <a:gd name="T11" fmla="*/ 0 h 27"/>
                <a:gd name="T12" fmla="*/ 0 w 28"/>
                <a:gd name="T13" fmla="*/ 0 h 27"/>
                <a:gd name="T14" fmla="*/ 0 w 28"/>
                <a:gd name="T15" fmla="*/ 0 h 27"/>
                <a:gd name="T16" fmla="*/ 0 w 28"/>
                <a:gd name="T17" fmla="*/ 0 h 27"/>
                <a:gd name="T18" fmla="*/ 0 w 28"/>
                <a:gd name="T19" fmla="*/ 0 h 27"/>
                <a:gd name="T20" fmla="*/ 0 w 28"/>
                <a:gd name="T21" fmla="*/ 0 h 27"/>
                <a:gd name="T22" fmla="*/ 1 w 28"/>
                <a:gd name="T23" fmla="*/ 0 h 27"/>
                <a:gd name="T24" fmla="*/ 1 w 28"/>
                <a:gd name="T25" fmla="*/ 0 h 27"/>
                <a:gd name="T26" fmla="*/ 1 w 28"/>
                <a:gd name="T27" fmla="*/ 0 h 27"/>
                <a:gd name="T28" fmla="*/ 1 w 28"/>
                <a:gd name="T29" fmla="*/ 0 h 27"/>
                <a:gd name="T30" fmla="*/ 1 w 28"/>
                <a:gd name="T31" fmla="*/ 0 h 27"/>
                <a:gd name="T32" fmla="*/ 1 w 28"/>
                <a:gd name="T33" fmla="*/ 0 h 27"/>
                <a:gd name="T34" fmla="*/ 1 w 28"/>
                <a:gd name="T35" fmla="*/ 0 h 27"/>
                <a:gd name="T36" fmla="*/ 1 w 28"/>
                <a:gd name="T37" fmla="*/ 0 h 27"/>
                <a:gd name="T38" fmla="*/ 1 w 28"/>
                <a:gd name="T39" fmla="*/ 0 h 27"/>
                <a:gd name="T40" fmla="*/ 1 w 28"/>
                <a:gd name="T41" fmla="*/ 0 h 27"/>
                <a:gd name="T42" fmla="*/ 1 w 28"/>
                <a:gd name="T43" fmla="*/ 0 h 27"/>
                <a:gd name="T44" fmla="*/ 1 w 28"/>
                <a:gd name="T45" fmla="*/ 0 h 27"/>
                <a:gd name="T46" fmla="*/ 1 w 28"/>
                <a:gd name="T47" fmla="*/ 0 h 27"/>
                <a:gd name="T48" fmla="*/ 1 w 28"/>
                <a:gd name="T49" fmla="*/ 0 h 27"/>
                <a:gd name="T50" fmla="*/ 1 w 28"/>
                <a:gd name="T51" fmla="*/ 0 h 27"/>
                <a:gd name="T52" fmla="*/ 1 w 28"/>
                <a:gd name="T53" fmla="*/ 0 h 27"/>
                <a:gd name="T54" fmla="*/ 1 w 28"/>
                <a:gd name="T55" fmla="*/ 0 h 27"/>
                <a:gd name="T56" fmla="*/ 1 w 28"/>
                <a:gd name="T57" fmla="*/ 0 h 27"/>
                <a:gd name="T58" fmla="*/ 1 w 28"/>
                <a:gd name="T59" fmla="*/ 0 h 27"/>
                <a:gd name="T60" fmla="*/ 1 w 28"/>
                <a:gd name="T61" fmla="*/ 0 h 27"/>
                <a:gd name="T62" fmla="*/ 1 w 28"/>
                <a:gd name="T63" fmla="*/ 0 h 27"/>
                <a:gd name="T64" fmla="*/ 1 w 28"/>
                <a:gd name="T65" fmla="*/ 0 h 27"/>
                <a:gd name="T66" fmla="*/ 1 w 28"/>
                <a:gd name="T67" fmla="*/ 0 h 27"/>
                <a:gd name="T68" fmla="*/ 1 w 28"/>
                <a:gd name="T69" fmla="*/ 0 h 2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7"/>
                <a:gd name="T107" fmla="*/ 28 w 28"/>
                <a:gd name="T108" fmla="*/ 27 h 2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7">
                  <a:moveTo>
                    <a:pt x="14" y="0"/>
                  </a:moveTo>
                  <a:lnTo>
                    <a:pt x="10" y="0"/>
                  </a:lnTo>
                  <a:lnTo>
                    <a:pt x="9" y="0"/>
                  </a:lnTo>
                  <a:lnTo>
                    <a:pt x="5" y="2"/>
                  </a:lnTo>
                  <a:lnTo>
                    <a:pt x="3" y="4"/>
                  </a:lnTo>
                  <a:lnTo>
                    <a:pt x="2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2" y="21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9" y="26"/>
                  </a:lnTo>
                  <a:lnTo>
                    <a:pt x="10" y="26"/>
                  </a:lnTo>
                  <a:lnTo>
                    <a:pt x="14" y="27"/>
                  </a:lnTo>
                  <a:lnTo>
                    <a:pt x="16" y="26"/>
                  </a:lnTo>
                  <a:lnTo>
                    <a:pt x="19" y="26"/>
                  </a:lnTo>
                  <a:lnTo>
                    <a:pt x="21" y="24"/>
                  </a:lnTo>
                  <a:lnTo>
                    <a:pt x="23" y="22"/>
                  </a:lnTo>
                  <a:lnTo>
                    <a:pt x="24" y="21"/>
                  </a:lnTo>
                  <a:lnTo>
                    <a:pt x="26" y="19"/>
                  </a:lnTo>
                  <a:lnTo>
                    <a:pt x="26" y="16"/>
                  </a:lnTo>
                  <a:lnTo>
                    <a:pt x="28" y="14"/>
                  </a:lnTo>
                  <a:lnTo>
                    <a:pt x="26" y="10"/>
                  </a:lnTo>
                  <a:lnTo>
                    <a:pt x="26" y="9"/>
                  </a:lnTo>
                  <a:lnTo>
                    <a:pt x="24" y="5"/>
                  </a:lnTo>
                  <a:lnTo>
                    <a:pt x="23" y="4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51" name="Freeform 252"/>
            <p:cNvSpPr>
              <a:spLocks/>
            </p:cNvSpPr>
            <p:nvPr/>
          </p:nvSpPr>
          <p:spPr bwMode="auto">
            <a:xfrm>
              <a:off x="4031" y="1029"/>
              <a:ext cx="14" cy="13"/>
            </a:xfrm>
            <a:custGeom>
              <a:avLst/>
              <a:gdLst>
                <a:gd name="T0" fmla="*/ 1 w 28"/>
                <a:gd name="T1" fmla="*/ 0 h 25"/>
                <a:gd name="T2" fmla="*/ 1 w 28"/>
                <a:gd name="T3" fmla="*/ 0 h 25"/>
                <a:gd name="T4" fmla="*/ 1 w 28"/>
                <a:gd name="T5" fmla="*/ 0 h 25"/>
                <a:gd name="T6" fmla="*/ 1 w 28"/>
                <a:gd name="T7" fmla="*/ 1 h 25"/>
                <a:gd name="T8" fmla="*/ 1 w 28"/>
                <a:gd name="T9" fmla="*/ 1 h 25"/>
                <a:gd name="T10" fmla="*/ 1 w 28"/>
                <a:gd name="T11" fmla="*/ 1 h 25"/>
                <a:gd name="T12" fmla="*/ 0 w 28"/>
                <a:gd name="T13" fmla="*/ 1 h 25"/>
                <a:gd name="T14" fmla="*/ 0 w 28"/>
                <a:gd name="T15" fmla="*/ 1 h 25"/>
                <a:gd name="T16" fmla="*/ 0 w 28"/>
                <a:gd name="T17" fmla="*/ 1 h 25"/>
                <a:gd name="T18" fmla="*/ 0 w 28"/>
                <a:gd name="T19" fmla="*/ 1 h 25"/>
                <a:gd name="T20" fmla="*/ 0 w 28"/>
                <a:gd name="T21" fmla="*/ 1 h 25"/>
                <a:gd name="T22" fmla="*/ 1 w 28"/>
                <a:gd name="T23" fmla="*/ 1 h 25"/>
                <a:gd name="T24" fmla="*/ 1 w 28"/>
                <a:gd name="T25" fmla="*/ 1 h 25"/>
                <a:gd name="T26" fmla="*/ 1 w 28"/>
                <a:gd name="T27" fmla="*/ 1 h 25"/>
                <a:gd name="T28" fmla="*/ 1 w 28"/>
                <a:gd name="T29" fmla="*/ 1 h 25"/>
                <a:gd name="T30" fmla="*/ 1 w 28"/>
                <a:gd name="T31" fmla="*/ 1 h 25"/>
                <a:gd name="T32" fmla="*/ 1 w 28"/>
                <a:gd name="T33" fmla="*/ 1 h 25"/>
                <a:gd name="T34" fmla="*/ 1 w 28"/>
                <a:gd name="T35" fmla="*/ 1 h 25"/>
                <a:gd name="T36" fmla="*/ 1 w 28"/>
                <a:gd name="T37" fmla="*/ 1 h 25"/>
                <a:gd name="T38" fmla="*/ 1 w 28"/>
                <a:gd name="T39" fmla="*/ 1 h 25"/>
                <a:gd name="T40" fmla="*/ 1 w 28"/>
                <a:gd name="T41" fmla="*/ 1 h 25"/>
                <a:gd name="T42" fmla="*/ 1 w 28"/>
                <a:gd name="T43" fmla="*/ 1 h 25"/>
                <a:gd name="T44" fmla="*/ 1 w 28"/>
                <a:gd name="T45" fmla="*/ 1 h 25"/>
                <a:gd name="T46" fmla="*/ 1 w 28"/>
                <a:gd name="T47" fmla="*/ 1 h 25"/>
                <a:gd name="T48" fmla="*/ 1 w 28"/>
                <a:gd name="T49" fmla="*/ 1 h 25"/>
                <a:gd name="T50" fmla="*/ 1 w 28"/>
                <a:gd name="T51" fmla="*/ 1 h 25"/>
                <a:gd name="T52" fmla="*/ 1 w 28"/>
                <a:gd name="T53" fmla="*/ 1 h 25"/>
                <a:gd name="T54" fmla="*/ 1 w 28"/>
                <a:gd name="T55" fmla="*/ 1 h 25"/>
                <a:gd name="T56" fmla="*/ 1 w 28"/>
                <a:gd name="T57" fmla="*/ 1 h 25"/>
                <a:gd name="T58" fmla="*/ 1 w 28"/>
                <a:gd name="T59" fmla="*/ 1 h 25"/>
                <a:gd name="T60" fmla="*/ 1 w 28"/>
                <a:gd name="T61" fmla="*/ 1 h 25"/>
                <a:gd name="T62" fmla="*/ 1 w 28"/>
                <a:gd name="T63" fmla="*/ 0 h 25"/>
                <a:gd name="T64" fmla="*/ 1 w 28"/>
                <a:gd name="T65" fmla="*/ 0 h 25"/>
                <a:gd name="T66" fmla="*/ 1 w 28"/>
                <a:gd name="T67" fmla="*/ 0 h 25"/>
                <a:gd name="T68" fmla="*/ 1 w 28"/>
                <a:gd name="T69" fmla="*/ 0 h 2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5"/>
                <a:gd name="T107" fmla="*/ 28 w 28"/>
                <a:gd name="T108" fmla="*/ 25 h 25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5">
                  <a:moveTo>
                    <a:pt x="14" y="0"/>
                  </a:moveTo>
                  <a:lnTo>
                    <a:pt x="10" y="0"/>
                  </a:lnTo>
                  <a:lnTo>
                    <a:pt x="9" y="0"/>
                  </a:lnTo>
                  <a:lnTo>
                    <a:pt x="5" y="2"/>
                  </a:lnTo>
                  <a:lnTo>
                    <a:pt x="3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20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9" y="25"/>
                  </a:lnTo>
                  <a:lnTo>
                    <a:pt x="10" y="25"/>
                  </a:lnTo>
                  <a:lnTo>
                    <a:pt x="14" y="25"/>
                  </a:lnTo>
                  <a:lnTo>
                    <a:pt x="16" y="25"/>
                  </a:lnTo>
                  <a:lnTo>
                    <a:pt x="19" y="25"/>
                  </a:lnTo>
                  <a:lnTo>
                    <a:pt x="21" y="24"/>
                  </a:lnTo>
                  <a:lnTo>
                    <a:pt x="23" y="22"/>
                  </a:lnTo>
                  <a:lnTo>
                    <a:pt x="24" y="20"/>
                  </a:lnTo>
                  <a:lnTo>
                    <a:pt x="26" y="17"/>
                  </a:lnTo>
                  <a:lnTo>
                    <a:pt x="26" y="15"/>
                  </a:lnTo>
                  <a:lnTo>
                    <a:pt x="28" y="12"/>
                  </a:lnTo>
                  <a:lnTo>
                    <a:pt x="26" y="10"/>
                  </a:lnTo>
                  <a:lnTo>
                    <a:pt x="26" y="7"/>
                  </a:lnTo>
                  <a:lnTo>
                    <a:pt x="24" y="5"/>
                  </a:lnTo>
                  <a:lnTo>
                    <a:pt x="23" y="4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52" name="Line 253"/>
            <p:cNvSpPr>
              <a:spLocks noChangeShapeType="1"/>
            </p:cNvSpPr>
            <p:nvPr/>
          </p:nvSpPr>
          <p:spPr bwMode="auto">
            <a:xfrm>
              <a:off x="4041" y="1042"/>
              <a:ext cx="31" cy="8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53" name="Freeform 254"/>
            <p:cNvSpPr>
              <a:spLocks/>
            </p:cNvSpPr>
            <p:nvPr/>
          </p:nvSpPr>
          <p:spPr bwMode="auto">
            <a:xfrm>
              <a:off x="5257" y="1085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0"/>
                  </a:lnTo>
                  <a:lnTo>
                    <a:pt x="2" y="15"/>
                  </a:lnTo>
                  <a:lnTo>
                    <a:pt x="5" y="12"/>
                  </a:lnTo>
                  <a:lnTo>
                    <a:pt x="7" y="7"/>
                  </a:lnTo>
                  <a:lnTo>
                    <a:pt x="12" y="4"/>
                  </a:lnTo>
                  <a:lnTo>
                    <a:pt x="17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38" y="2"/>
                  </a:lnTo>
                  <a:lnTo>
                    <a:pt x="44" y="4"/>
                  </a:lnTo>
                  <a:lnTo>
                    <a:pt x="47" y="7"/>
                  </a:lnTo>
                  <a:lnTo>
                    <a:pt x="51" y="12"/>
                  </a:lnTo>
                  <a:lnTo>
                    <a:pt x="54" y="15"/>
                  </a:lnTo>
                  <a:lnTo>
                    <a:pt x="54" y="20"/>
                  </a:lnTo>
                  <a:lnTo>
                    <a:pt x="56" y="27"/>
                  </a:lnTo>
                  <a:lnTo>
                    <a:pt x="54" y="32"/>
                  </a:lnTo>
                  <a:lnTo>
                    <a:pt x="54" y="37"/>
                  </a:lnTo>
                  <a:lnTo>
                    <a:pt x="51" y="42"/>
                  </a:lnTo>
                  <a:lnTo>
                    <a:pt x="47" y="46"/>
                  </a:lnTo>
                  <a:lnTo>
                    <a:pt x="44" y="49"/>
                  </a:lnTo>
                  <a:lnTo>
                    <a:pt x="38" y="51"/>
                  </a:lnTo>
                  <a:lnTo>
                    <a:pt x="33" y="52"/>
                  </a:lnTo>
                  <a:lnTo>
                    <a:pt x="28" y="54"/>
                  </a:lnTo>
                  <a:lnTo>
                    <a:pt x="23" y="52"/>
                  </a:lnTo>
                  <a:lnTo>
                    <a:pt x="17" y="51"/>
                  </a:lnTo>
                  <a:lnTo>
                    <a:pt x="12" y="49"/>
                  </a:lnTo>
                  <a:lnTo>
                    <a:pt x="7" y="46"/>
                  </a:lnTo>
                  <a:lnTo>
                    <a:pt x="5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54" name="Line 255"/>
            <p:cNvSpPr>
              <a:spLocks noChangeShapeType="1"/>
            </p:cNvSpPr>
            <p:nvPr/>
          </p:nvSpPr>
          <p:spPr bwMode="auto">
            <a:xfrm flipH="1" flipV="1">
              <a:off x="4431" y="1099"/>
              <a:ext cx="1" cy="8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55" name="Freeform 256"/>
            <p:cNvSpPr>
              <a:spLocks/>
            </p:cNvSpPr>
            <p:nvPr/>
          </p:nvSpPr>
          <p:spPr bwMode="auto">
            <a:xfrm>
              <a:off x="5167" y="1097"/>
              <a:ext cx="280" cy="99"/>
            </a:xfrm>
            <a:custGeom>
              <a:avLst/>
              <a:gdLst>
                <a:gd name="T0" fmla="*/ 2 w 561"/>
                <a:gd name="T1" fmla="*/ 1 h 197"/>
                <a:gd name="T2" fmla="*/ 2 w 561"/>
                <a:gd name="T3" fmla="*/ 1 h 197"/>
                <a:gd name="T4" fmla="*/ 0 w 561"/>
                <a:gd name="T5" fmla="*/ 0 h 197"/>
                <a:gd name="T6" fmla="*/ 0 60000 65536"/>
                <a:gd name="T7" fmla="*/ 0 60000 65536"/>
                <a:gd name="T8" fmla="*/ 0 60000 65536"/>
                <a:gd name="T9" fmla="*/ 0 w 561"/>
                <a:gd name="T10" fmla="*/ 0 h 197"/>
                <a:gd name="T11" fmla="*/ 561 w 561"/>
                <a:gd name="T12" fmla="*/ 197 h 1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1" h="197">
                  <a:moveTo>
                    <a:pt x="561" y="197"/>
                  </a:moveTo>
                  <a:lnTo>
                    <a:pt x="561" y="3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56" name="Line 257"/>
            <p:cNvSpPr>
              <a:spLocks noChangeShapeType="1"/>
            </p:cNvSpPr>
            <p:nvPr/>
          </p:nvSpPr>
          <p:spPr bwMode="auto">
            <a:xfrm flipH="1" flipV="1">
              <a:off x="5270" y="1098"/>
              <a:ext cx="1" cy="2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57" name="Freeform 258"/>
            <p:cNvSpPr>
              <a:spLocks/>
            </p:cNvSpPr>
            <p:nvPr/>
          </p:nvSpPr>
          <p:spPr bwMode="auto">
            <a:xfrm>
              <a:off x="4948" y="1067"/>
              <a:ext cx="219" cy="32"/>
            </a:xfrm>
            <a:custGeom>
              <a:avLst/>
              <a:gdLst>
                <a:gd name="T0" fmla="*/ 0 w 439"/>
                <a:gd name="T1" fmla="*/ 1 h 63"/>
                <a:gd name="T2" fmla="*/ 0 w 439"/>
                <a:gd name="T3" fmla="*/ 1 h 63"/>
                <a:gd name="T4" fmla="*/ 0 w 439"/>
                <a:gd name="T5" fmla="*/ 1 h 63"/>
                <a:gd name="T6" fmla="*/ 0 w 439"/>
                <a:gd name="T7" fmla="*/ 1 h 63"/>
                <a:gd name="T8" fmla="*/ 0 w 439"/>
                <a:gd name="T9" fmla="*/ 1 h 63"/>
                <a:gd name="T10" fmla="*/ 0 w 439"/>
                <a:gd name="T11" fmla="*/ 1 h 63"/>
                <a:gd name="T12" fmla="*/ 0 w 439"/>
                <a:gd name="T13" fmla="*/ 1 h 63"/>
                <a:gd name="T14" fmla="*/ 0 w 439"/>
                <a:gd name="T15" fmla="*/ 0 h 63"/>
                <a:gd name="T16" fmla="*/ 0 w 439"/>
                <a:gd name="T17" fmla="*/ 0 h 63"/>
                <a:gd name="T18" fmla="*/ 0 w 439"/>
                <a:gd name="T19" fmla="*/ 1 h 63"/>
                <a:gd name="T20" fmla="*/ 0 w 439"/>
                <a:gd name="T21" fmla="*/ 1 h 63"/>
                <a:gd name="T22" fmla="*/ 0 w 439"/>
                <a:gd name="T23" fmla="*/ 1 h 63"/>
                <a:gd name="T24" fmla="*/ 0 w 439"/>
                <a:gd name="T25" fmla="*/ 1 h 63"/>
                <a:gd name="T26" fmla="*/ 0 w 439"/>
                <a:gd name="T27" fmla="*/ 1 h 63"/>
                <a:gd name="T28" fmla="*/ 0 w 439"/>
                <a:gd name="T29" fmla="*/ 1 h 63"/>
                <a:gd name="T30" fmla="*/ 0 w 439"/>
                <a:gd name="T31" fmla="*/ 1 h 63"/>
                <a:gd name="T32" fmla="*/ 0 w 439"/>
                <a:gd name="T33" fmla="*/ 1 h 63"/>
                <a:gd name="T34" fmla="*/ 0 w 439"/>
                <a:gd name="T35" fmla="*/ 1 h 63"/>
                <a:gd name="T36" fmla="*/ 0 w 439"/>
                <a:gd name="T37" fmla="*/ 1 h 63"/>
                <a:gd name="T38" fmla="*/ 0 w 439"/>
                <a:gd name="T39" fmla="*/ 1 h 63"/>
                <a:gd name="T40" fmla="*/ 0 w 439"/>
                <a:gd name="T41" fmla="*/ 1 h 63"/>
                <a:gd name="T42" fmla="*/ 0 w 439"/>
                <a:gd name="T43" fmla="*/ 1 h 63"/>
                <a:gd name="T44" fmla="*/ 0 w 439"/>
                <a:gd name="T45" fmla="*/ 0 h 63"/>
                <a:gd name="T46" fmla="*/ 0 w 439"/>
                <a:gd name="T47" fmla="*/ 0 h 63"/>
                <a:gd name="T48" fmla="*/ 0 w 439"/>
                <a:gd name="T49" fmla="*/ 1 h 63"/>
                <a:gd name="T50" fmla="*/ 0 w 439"/>
                <a:gd name="T51" fmla="*/ 1 h 63"/>
                <a:gd name="T52" fmla="*/ 0 w 439"/>
                <a:gd name="T53" fmla="*/ 1 h 63"/>
                <a:gd name="T54" fmla="*/ 0 w 439"/>
                <a:gd name="T55" fmla="*/ 1 h 63"/>
                <a:gd name="T56" fmla="*/ 0 w 439"/>
                <a:gd name="T57" fmla="*/ 1 h 63"/>
                <a:gd name="T58" fmla="*/ 0 w 439"/>
                <a:gd name="T59" fmla="*/ 1 h 63"/>
                <a:gd name="T60" fmla="*/ 0 w 439"/>
                <a:gd name="T61" fmla="*/ 1 h 63"/>
                <a:gd name="T62" fmla="*/ 0 w 439"/>
                <a:gd name="T63" fmla="*/ 1 h 63"/>
                <a:gd name="T64" fmla="*/ 0 w 439"/>
                <a:gd name="T65" fmla="*/ 1 h 63"/>
                <a:gd name="T66" fmla="*/ 0 w 439"/>
                <a:gd name="T67" fmla="*/ 1 h 63"/>
                <a:gd name="T68" fmla="*/ 0 w 439"/>
                <a:gd name="T69" fmla="*/ 1 h 63"/>
                <a:gd name="T70" fmla="*/ 0 w 439"/>
                <a:gd name="T71" fmla="*/ 1 h 63"/>
                <a:gd name="T72" fmla="*/ 0 w 439"/>
                <a:gd name="T73" fmla="*/ 1 h 63"/>
                <a:gd name="T74" fmla="*/ 1 w 439"/>
                <a:gd name="T75" fmla="*/ 1 h 63"/>
                <a:gd name="T76" fmla="*/ 1 w 439"/>
                <a:gd name="T77" fmla="*/ 0 h 63"/>
                <a:gd name="T78" fmla="*/ 1 w 439"/>
                <a:gd name="T79" fmla="*/ 0 h 63"/>
                <a:gd name="T80" fmla="*/ 1 w 439"/>
                <a:gd name="T81" fmla="*/ 1 h 63"/>
                <a:gd name="T82" fmla="*/ 1 w 439"/>
                <a:gd name="T83" fmla="*/ 1 h 63"/>
                <a:gd name="T84" fmla="*/ 1 w 439"/>
                <a:gd name="T85" fmla="*/ 1 h 63"/>
                <a:gd name="T86" fmla="*/ 1 w 439"/>
                <a:gd name="T87" fmla="*/ 1 h 63"/>
                <a:gd name="T88" fmla="*/ 1 w 439"/>
                <a:gd name="T89" fmla="*/ 1 h 63"/>
                <a:gd name="T90" fmla="*/ 1 w 439"/>
                <a:gd name="T91" fmla="*/ 1 h 63"/>
                <a:gd name="T92" fmla="*/ 1 w 439"/>
                <a:gd name="T93" fmla="*/ 1 h 63"/>
                <a:gd name="T94" fmla="*/ 1 w 439"/>
                <a:gd name="T95" fmla="*/ 1 h 63"/>
                <a:gd name="T96" fmla="*/ 1 w 439"/>
                <a:gd name="T97" fmla="*/ 1 h 63"/>
                <a:gd name="T98" fmla="*/ 1 w 439"/>
                <a:gd name="T99" fmla="*/ 1 h 63"/>
                <a:gd name="T100" fmla="*/ 1 w 439"/>
                <a:gd name="T101" fmla="*/ 1 h 63"/>
                <a:gd name="T102" fmla="*/ 1 w 439"/>
                <a:gd name="T103" fmla="*/ 1 h 63"/>
                <a:gd name="T104" fmla="*/ 1 w 439"/>
                <a:gd name="T105" fmla="*/ 1 h 63"/>
                <a:gd name="T106" fmla="*/ 1 w 439"/>
                <a:gd name="T107" fmla="*/ 0 h 63"/>
                <a:gd name="T108" fmla="*/ 1 w 439"/>
                <a:gd name="T109" fmla="*/ 0 h 63"/>
                <a:gd name="T110" fmla="*/ 1 w 439"/>
                <a:gd name="T111" fmla="*/ 1 h 63"/>
                <a:gd name="T112" fmla="*/ 1 w 439"/>
                <a:gd name="T113" fmla="*/ 1 h 63"/>
                <a:gd name="T114" fmla="*/ 1 w 439"/>
                <a:gd name="T115" fmla="*/ 1 h 63"/>
                <a:gd name="T116" fmla="*/ 1 w 439"/>
                <a:gd name="T117" fmla="*/ 1 h 63"/>
                <a:gd name="T118" fmla="*/ 1 w 439"/>
                <a:gd name="T119" fmla="*/ 1 h 63"/>
                <a:gd name="T120" fmla="*/ 1 w 439"/>
                <a:gd name="T121" fmla="*/ 1 h 63"/>
                <a:gd name="T122" fmla="*/ 1 w 439"/>
                <a:gd name="T123" fmla="*/ 1 h 63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439"/>
                <a:gd name="T187" fmla="*/ 0 h 63"/>
                <a:gd name="T188" fmla="*/ 439 w 439"/>
                <a:gd name="T189" fmla="*/ 63 h 63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439" h="63">
                  <a:moveTo>
                    <a:pt x="0" y="63"/>
                  </a:moveTo>
                  <a:lnTo>
                    <a:pt x="0" y="56"/>
                  </a:lnTo>
                  <a:lnTo>
                    <a:pt x="0" y="50"/>
                  </a:lnTo>
                  <a:lnTo>
                    <a:pt x="2" y="45"/>
                  </a:lnTo>
                  <a:lnTo>
                    <a:pt x="4" y="38"/>
                  </a:lnTo>
                  <a:lnTo>
                    <a:pt x="5" y="33"/>
                  </a:lnTo>
                  <a:lnTo>
                    <a:pt x="9" y="28"/>
                  </a:lnTo>
                  <a:lnTo>
                    <a:pt x="14" y="20"/>
                  </a:lnTo>
                  <a:lnTo>
                    <a:pt x="18" y="15"/>
                  </a:lnTo>
                  <a:lnTo>
                    <a:pt x="23" y="11"/>
                  </a:lnTo>
                  <a:lnTo>
                    <a:pt x="26" y="8"/>
                  </a:lnTo>
                  <a:lnTo>
                    <a:pt x="32" y="5"/>
                  </a:lnTo>
                  <a:lnTo>
                    <a:pt x="37" y="3"/>
                  </a:lnTo>
                  <a:lnTo>
                    <a:pt x="42" y="1"/>
                  </a:lnTo>
                  <a:lnTo>
                    <a:pt x="47" y="0"/>
                  </a:lnTo>
                  <a:lnTo>
                    <a:pt x="53" y="0"/>
                  </a:lnTo>
                  <a:lnTo>
                    <a:pt x="58" y="0"/>
                  </a:lnTo>
                  <a:lnTo>
                    <a:pt x="63" y="0"/>
                  </a:lnTo>
                  <a:lnTo>
                    <a:pt x="68" y="1"/>
                  </a:lnTo>
                  <a:lnTo>
                    <a:pt x="74" y="3"/>
                  </a:lnTo>
                  <a:lnTo>
                    <a:pt x="79" y="6"/>
                  </a:lnTo>
                  <a:lnTo>
                    <a:pt x="84" y="8"/>
                  </a:lnTo>
                  <a:lnTo>
                    <a:pt x="88" y="11"/>
                  </a:lnTo>
                  <a:lnTo>
                    <a:pt x="93" y="16"/>
                  </a:lnTo>
                  <a:lnTo>
                    <a:pt x="100" y="25"/>
                  </a:lnTo>
                  <a:lnTo>
                    <a:pt x="102" y="30"/>
                  </a:lnTo>
                  <a:lnTo>
                    <a:pt x="105" y="35"/>
                  </a:lnTo>
                  <a:lnTo>
                    <a:pt x="107" y="40"/>
                  </a:lnTo>
                  <a:lnTo>
                    <a:pt x="109" y="46"/>
                  </a:lnTo>
                  <a:lnTo>
                    <a:pt x="109" y="51"/>
                  </a:lnTo>
                  <a:lnTo>
                    <a:pt x="110" y="58"/>
                  </a:lnTo>
                  <a:lnTo>
                    <a:pt x="110" y="63"/>
                  </a:lnTo>
                  <a:lnTo>
                    <a:pt x="110" y="56"/>
                  </a:lnTo>
                  <a:lnTo>
                    <a:pt x="110" y="50"/>
                  </a:lnTo>
                  <a:lnTo>
                    <a:pt x="112" y="45"/>
                  </a:lnTo>
                  <a:lnTo>
                    <a:pt x="114" y="38"/>
                  </a:lnTo>
                  <a:lnTo>
                    <a:pt x="116" y="33"/>
                  </a:lnTo>
                  <a:lnTo>
                    <a:pt x="117" y="28"/>
                  </a:lnTo>
                  <a:lnTo>
                    <a:pt x="124" y="20"/>
                  </a:lnTo>
                  <a:lnTo>
                    <a:pt x="128" y="15"/>
                  </a:lnTo>
                  <a:lnTo>
                    <a:pt x="131" y="11"/>
                  </a:lnTo>
                  <a:lnTo>
                    <a:pt x="137" y="8"/>
                  </a:lnTo>
                  <a:lnTo>
                    <a:pt x="142" y="5"/>
                  </a:lnTo>
                  <a:lnTo>
                    <a:pt x="145" y="3"/>
                  </a:lnTo>
                  <a:lnTo>
                    <a:pt x="151" y="1"/>
                  </a:lnTo>
                  <a:lnTo>
                    <a:pt x="156" y="0"/>
                  </a:lnTo>
                  <a:lnTo>
                    <a:pt x="163" y="0"/>
                  </a:lnTo>
                  <a:lnTo>
                    <a:pt x="168" y="0"/>
                  </a:lnTo>
                  <a:lnTo>
                    <a:pt x="173" y="0"/>
                  </a:lnTo>
                  <a:lnTo>
                    <a:pt x="179" y="1"/>
                  </a:lnTo>
                  <a:lnTo>
                    <a:pt x="184" y="3"/>
                  </a:lnTo>
                  <a:lnTo>
                    <a:pt x="189" y="6"/>
                  </a:lnTo>
                  <a:lnTo>
                    <a:pt x="192" y="8"/>
                  </a:lnTo>
                  <a:lnTo>
                    <a:pt x="198" y="11"/>
                  </a:lnTo>
                  <a:lnTo>
                    <a:pt x="201" y="16"/>
                  </a:lnTo>
                  <a:lnTo>
                    <a:pt x="208" y="25"/>
                  </a:lnTo>
                  <a:lnTo>
                    <a:pt x="212" y="30"/>
                  </a:lnTo>
                  <a:lnTo>
                    <a:pt x="213" y="35"/>
                  </a:lnTo>
                  <a:lnTo>
                    <a:pt x="217" y="40"/>
                  </a:lnTo>
                  <a:lnTo>
                    <a:pt x="217" y="46"/>
                  </a:lnTo>
                  <a:lnTo>
                    <a:pt x="219" y="51"/>
                  </a:lnTo>
                  <a:lnTo>
                    <a:pt x="219" y="58"/>
                  </a:lnTo>
                  <a:lnTo>
                    <a:pt x="219" y="63"/>
                  </a:lnTo>
                  <a:lnTo>
                    <a:pt x="219" y="56"/>
                  </a:lnTo>
                  <a:lnTo>
                    <a:pt x="220" y="50"/>
                  </a:lnTo>
                  <a:lnTo>
                    <a:pt x="220" y="45"/>
                  </a:lnTo>
                  <a:lnTo>
                    <a:pt x="222" y="38"/>
                  </a:lnTo>
                  <a:lnTo>
                    <a:pt x="226" y="33"/>
                  </a:lnTo>
                  <a:lnTo>
                    <a:pt x="227" y="28"/>
                  </a:lnTo>
                  <a:lnTo>
                    <a:pt x="234" y="20"/>
                  </a:lnTo>
                  <a:lnTo>
                    <a:pt x="238" y="15"/>
                  </a:lnTo>
                  <a:lnTo>
                    <a:pt x="241" y="11"/>
                  </a:lnTo>
                  <a:lnTo>
                    <a:pt x="247" y="8"/>
                  </a:lnTo>
                  <a:lnTo>
                    <a:pt x="250" y="5"/>
                  </a:lnTo>
                  <a:lnTo>
                    <a:pt x="255" y="3"/>
                  </a:lnTo>
                  <a:lnTo>
                    <a:pt x="261" y="1"/>
                  </a:lnTo>
                  <a:lnTo>
                    <a:pt x="266" y="0"/>
                  </a:lnTo>
                  <a:lnTo>
                    <a:pt x="271" y="0"/>
                  </a:lnTo>
                  <a:lnTo>
                    <a:pt x="278" y="0"/>
                  </a:lnTo>
                  <a:lnTo>
                    <a:pt x="283" y="0"/>
                  </a:lnTo>
                  <a:lnTo>
                    <a:pt x="289" y="1"/>
                  </a:lnTo>
                  <a:lnTo>
                    <a:pt x="294" y="3"/>
                  </a:lnTo>
                  <a:lnTo>
                    <a:pt x="299" y="6"/>
                  </a:lnTo>
                  <a:lnTo>
                    <a:pt x="303" y="8"/>
                  </a:lnTo>
                  <a:lnTo>
                    <a:pt x="308" y="11"/>
                  </a:lnTo>
                  <a:lnTo>
                    <a:pt x="311" y="16"/>
                  </a:lnTo>
                  <a:lnTo>
                    <a:pt x="318" y="25"/>
                  </a:lnTo>
                  <a:lnTo>
                    <a:pt x="322" y="30"/>
                  </a:lnTo>
                  <a:lnTo>
                    <a:pt x="324" y="35"/>
                  </a:lnTo>
                  <a:lnTo>
                    <a:pt x="325" y="40"/>
                  </a:lnTo>
                  <a:lnTo>
                    <a:pt x="327" y="46"/>
                  </a:lnTo>
                  <a:lnTo>
                    <a:pt x="329" y="51"/>
                  </a:lnTo>
                  <a:lnTo>
                    <a:pt x="329" y="58"/>
                  </a:lnTo>
                  <a:lnTo>
                    <a:pt x="329" y="63"/>
                  </a:lnTo>
                  <a:lnTo>
                    <a:pt x="329" y="56"/>
                  </a:lnTo>
                  <a:lnTo>
                    <a:pt x="329" y="50"/>
                  </a:lnTo>
                  <a:lnTo>
                    <a:pt x="331" y="45"/>
                  </a:lnTo>
                  <a:lnTo>
                    <a:pt x="332" y="38"/>
                  </a:lnTo>
                  <a:lnTo>
                    <a:pt x="334" y="33"/>
                  </a:lnTo>
                  <a:lnTo>
                    <a:pt x="338" y="28"/>
                  </a:lnTo>
                  <a:lnTo>
                    <a:pt x="343" y="20"/>
                  </a:lnTo>
                  <a:lnTo>
                    <a:pt x="346" y="15"/>
                  </a:lnTo>
                  <a:lnTo>
                    <a:pt x="352" y="11"/>
                  </a:lnTo>
                  <a:lnTo>
                    <a:pt x="355" y="8"/>
                  </a:lnTo>
                  <a:lnTo>
                    <a:pt x="360" y="5"/>
                  </a:lnTo>
                  <a:lnTo>
                    <a:pt x="366" y="3"/>
                  </a:lnTo>
                  <a:lnTo>
                    <a:pt x="371" y="1"/>
                  </a:lnTo>
                  <a:lnTo>
                    <a:pt x="376" y="0"/>
                  </a:lnTo>
                  <a:lnTo>
                    <a:pt x="381" y="0"/>
                  </a:lnTo>
                  <a:lnTo>
                    <a:pt x="386" y="0"/>
                  </a:lnTo>
                  <a:lnTo>
                    <a:pt x="392" y="0"/>
                  </a:lnTo>
                  <a:lnTo>
                    <a:pt x="397" y="1"/>
                  </a:lnTo>
                  <a:lnTo>
                    <a:pt x="402" y="3"/>
                  </a:lnTo>
                  <a:lnTo>
                    <a:pt x="407" y="6"/>
                  </a:lnTo>
                  <a:lnTo>
                    <a:pt x="413" y="8"/>
                  </a:lnTo>
                  <a:lnTo>
                    <a:pt x="416" y="11"/>
                  </a:lnTo>
                  <a:lnTo>
                    <a:pt x="421" y="16"/>
                  </a:lnTo>
                  <a:lnTo>
                    <a:pt x="428" y="25"/>
                  </a:lnTo>
                  <a:lnTo>
                    <a:pt x="430" y="30"/>
                  </a:lnTo>
                  <a:lnTo>
                    <a:pt x="434" y="35"/>
                  </a:lnTo>
                  <a:lnTo>
                    <a:pt x="435" y="40"/>
                  </a:lnTo>
                  <a:lnTo>
                    <a:pt x="437" y="46"/>
                  </a:lnTo>
                  <a:lnTo>
                    <a:pt x="437" y="51"/>
                  </a:lnTo>
                  <a:lnTo>
                    <a:pt x="439" y="58"/>
                  </a:lnTo>
                  <a:lnTo>
                    <a:pt x="439" y="6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58" name="Rectangle 259"/>
            <p:cNvSpPr>
              <a:spLocks noChangeArrowheads="1"/>
            </p:cNvSpPr>
            <p:nvPr/>
          </p:nvSpPr>
          <p:spPr bwMode="auto">
            <a:xfrm>
              <a:off x="4632" y="993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84059" name="Rectangle 260"/>
            <p:cNvSpPr>
              <a:spLocks noChangeArrowheads="1"/>
            </p:cNvSpPr>
            <p:nvPr/>
          </p:nvSpPr>
          <p:spPr bwMode="auto">
            <a:xfrm>
              <a:off x="4575" y="956"/>
              <a:ext cx="6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84060" name="Rectangle 261"/>
            <p:cNvSpPr>
              <a:spLocks noChangeArrowheads="1"/>
            </p:cNvSpPr>
            <p:nvPr/>
          </p:nvSpPr>
          <p:spPr bwMode="auto">
            <a:xfrm>
              <a:off x="4633" y="1578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84061" name="Rectangle 262"/>
            <p:cNvSpPr>
              <a:spLocks noChangeArrowheads="1"/>
            </p:cNvSpPr>
            <p:nvPr/>
          </p:nvSpPr>
          <p:spPr bwMode="auto">
            <a:xfrm>
              <a:off x="4576" y="1538"/>
              <a:ext cx="6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84062" name="Rectangle 263"/>
            <p:cNvSpPr>
              <a:spLocks noChangeArrowheads="1"/>
            </p:cNvSpPr>
            <p:nvPr/>
          </p:nvSpPr>
          <p:spPr bwMode="auto">
            <a:xfrm>
              <a:off x="4300" y="1235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84063" name="Rectangle 264"/>
            <p:cNvSpPr>
              <a:spLocks noChangeArrowheads="1"/>
            </p:cNvSpPr>
            <p:nvPr/>
          </p:nvSpPr>
          <p:spPr bwMode="auto">
            <a:xfrm>
              <a:off x="4250" y="1197"/>
              <a:ext cx="59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84064" name="Rectangle 265"/>
            <p:cNvSpPr>
              <a:spLocks noChangeArrowheads="1"/>
            </p:cNvSpPr>
            <p:nvPr/>
          </p:nvSpPr>
          <p:spPr bwMode="auto">
            <a:xfrm>
              <a:off x="4510" y="1277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84065" name="Rectangle 266"/>
            <p:cNvSpPr>
              <a:spLocks noChangeArrowheads="1"/>
            </p:cNvSpPr>
            <p:nvPr/>
          </p:nvSpPr>
          <p:spPr bwMode="auto">
            <a:xfrm>
              <a:off x="4453" y="1236"/>
              <a:ext cx="59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84066" name="Freeform 267"/>
            <p:cNvSpPr>
              <a:spLocks noEditPoints="1"/>
            </p:cNvSpPr>
            <p:nvPr/>
          </p:nvSpPr>
          <p:spPr bwMode="auto">
            <a:xfrm>
              <a:off x="4033" y="1658"/>
              <a:ext cx="14" cy="118"/>
            </a:xfrm>
            <a:custGeom>
              <a:avLst/>
              <a:gdLst>
                <a:gd name="T0" fmla="*/ 1 w 28"/>
                <a:gd name="T1" fmla="*/ 1 h 235"/>
                <a:gd name="T2" fmla="*/ 1 w 28"/>
                <a:gd name="T3" fmla="*/ 1 h 235"/>
                <a:gd name="T4" fmla="*/ 1 w 28"/>
                <a:gd name="T5" fmla="*/ 1 h 235"/>
                <a:gd name="T6" fmla="*/ 0 w 28"/>
                <a:gd name="T7" fmla="*/ 1 h 235"/>
                <a:gd name="T8" fmla="*/ 0 w 28"/>
                <a:gd name="T9" fmla="*/ 1 h 235"/>
                <a:gd name="T10" fmla="*/ 1 w 28"/>
                <a:gd name="T11" fmla="*/ 1 h 235"/>
                <a:gd name="T12" fmla="*/ 1 w 28"/>
                <a:gd name="T13" fmla="*/ 1 h 235"/>
                <a:gd name="T14" fmla="*/ 1 w 28"/>
                <a:gd name="T15" fmla="*/ 1 h 235"/>
                <a:gd name="T16" fmla="*/ 1 w 28"/>
                <a:gd name="T17" fmla="*/ 1 h 235"/>
                <a:gd name="T18" fmla="*/ 1 w 28"/>
                <a:gd name="T19" fmla="*/ 1 h 235"/>
                <a:gd name="T20" fmla="*/ 1 w 28"/>
                <a:gd name="T21" fmla="*/ 1 h 235"/>
                <a:gd name="T22" fmla="*/ 1 w 28"/>
                <a:gd name="T23" fmla="*/ 1 h 235"/>
                <a:gd name="T24" fmla="*/ 1 w 28"/>
                <a:gd name="T25" fmla="*/ 1 h 235"/>
                <a:gd name="T26" fmla="*/ 1 w 28"/>
                <a:gd name="T27" fmla="*/ 1 h 235"/>
                <a:gd name="T28" fmla="*/ 1 w 28"/>
                <a:gd name="T29" fmla="*/ 1 h 235"/>
                <a:gd name="T30" fmla="*/ 1 w 28"/>
                <a:gd name="T31" fmla="*/ 1 h 235"/>
                <a:gd name="T32" fmla="*/ 1 w 28"/>
                <a:gd name="T33" fmla="*/ 1 h 235"/>
                <a:gd name="T34" fmla="*/ 1 w 28"/>
                <a:gd name="T35" fmla="*/ 1 h 235"/>
                <a:gd name="T36" fmla="*/ 1 w 28"/>
                <a:gd name="T37" fmla="*/ 0 h 235"/>
                <a:gd name="T38" fmla="*/ 1 w 28"/>
                <a:gd name="T39" fmla="*/ 1 h 235"/>
                <a:gd name="T40" fmla="*/ 1 w 28"/>
                <a:gd name="T41" fmla="*/ 1 h 235"/>
                <a:gd name="T42" fmla="*/ 0 w 28"/>
                <a:gd name="T43" fmla="*/ 1 h 235"/>
                <a:gd name="T44" fmla="*/ 0 w 28"/>
                <a:gd name="T45" fmla="*/ 1 h 235"/>
                <a:gd name="T46" fmla="*/ 1 w 28"/>
                <a:gd name="T47" fmla="*/ 1 h 235"/>
                <a:gd name="T48" fmla="*/ 1 w 28"/>
                <a:gd name="T49" fmla="*/ 1 h 235"/>
                <a:gd name="T50" fmla="*/ 1 w 28"/>
                <a:gd name="T51" fmla="*/ 1 h 235"/>
                <a:gd name="T52" fmla="*/ 1 w 28"/>
                <a:gd name="T53" fmla="*/ 1 h 235"/>
                <a:gd name="T54" fmla="*/ 1 w 28"/>
                <a:gd name="T55" fmla="*/ 1 h 235"/>
                <a:gd name="T56" fmla="*/ 1 w 28"/>
                <a:gd name="T57" fmla="*/ 1 h 235"/>
                <a:gd name="T58" fmla="*/ 1 w 28"/>
                <a:gd name="T59" fmla="*/ 1 h 235"/>
                <a:gd name="T60" fmla="*/ 1 w 28"/>
                <a:gd name="T61" fmla="*/ 1 h 235"/>
                <a:gd name="T62" fmla="*/ 1 w 28"/>
                <a:gd name="T63" fmla="*/ 1 h 235"/>
                <a:gd name="T64" fmla="*/ 1 w 28"/>
                <a:gd name="T65" fmla="*/ 1 h 235"/>
                <a:gd name="T66" fmla="*/ 1 w 28"/>
                <a:gd name="T67" fmla="*/ 1 h 235"/>
                <a:gd name="T68" fmla="*/ 1 w 28"/>
                <a:gd name="T69" fmla="*/ 0 h 235"/>
                <a:gd name="T70" fmla="*/ 1 w 28"/>
                <a:gd name="T71" fmla="*/ 0 h 23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8"/>
                <a:gd name="T109" fmla="*/ 0 h 235"/>
                <a:gd name="T110" fmla="*/ 28 w 28"/>
                <a:gd name="T111" fmla="*/ 235 h 23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8" h="235">
                  <a:moveTo>
                    <a:pt x="14" y="209"/>
                  </a:moveTo>
                  <a:lnTo>
                    <a:pt x="11" y="209"/>
                  </a:lnTo>
                  <a:lnTo>
                    <a:pt x="9" y="210"/>
                  </a:lnTo>
                  <a:lnTo>
                    <a:pt x="6" y="212"/>
                  </a:lnTo>
                  <a:lnTo>
                    <a:pt x="4" y="214"/>
                  </a:lnTo>
                  <a:lnTo>
                    <a:pt x="2" y="215"/>
                  </a:lnTo>
                  <a:lnTo>
                    <a:pt x="2" y="217"/>
                  </a:lnTo>
                  <a:lnTo>
                    <a:pt x="0" y="220"/>
                  </a:lnTo>
                  <a:lnTo>
                    <a:pt x="0" y="222"/>
                  </a:lnTo>
                  <a:lnTo>
                    <a:pt x="0" y="225"/>
                  </a:lnTo>
                  <a:lnTo>
                    <a:pt x="2" y="227"/>
                  </a:lnTo>
                  <a:lnTo>
                    <a:pt x="2" y="229"/>
                  </a:lnTo>
                  <a:lnTo>
                    <a:pt x="4" y="232"/>
                  </a:lnTo>
                  <a:lnTo>
                    <a:pt x="6" y="234"/>
                  </a:lnTo>
                  <a:lnTo>
                    <a:pt x="9" y="234"/>
                  </a:lnTo>
                  <a:lnTo>
                    <a:pt x="11" y="235"/>
                  </a:lnTo>
                  <a:lnTo>
                    <a:pt x="14" y="235"/>
                  </a:lnTo>
                  <a:lnTo>
                    <a:pt x="16" y="235"/>
                  </a:lnTo>
                  <a:lnTo>
                    <a:pt x="20" y="234"/>
                  </a:lnTo>
                  <a:lnTo>
                    <a:pt x="21" y="234"/>
                  </a:lnTo>
                  <a:lnTo>
                    <a:pt x="23" y="232"/>
                  </a:lnTo>
                  <a:lnTo>
                    <a:pt x="25" y="229"/>
                  </a:lnTo>
                  <a:lnTo>
                    <a:pt x="26" y="227"/>
                  </a:lnTo>
                  <a:lnTo>
                    <a:pt x="26" y="225"/>
                  </a:lnTo>
                  <a:lnTo>
                    <a:pt x="28" y="222"/>
                  </a:lnTo>
                  <a:lnTo>
                    <a:pt x="26" y="220"/>
                  </a:lnTo>
                  <a:lnTo>
                    <a:pt x="26" y="217"/>
                  </a:lnTo>
                  <a:lnTo>
                    <a:pt x="25" y="215"/>
                  </a:lnTo>
                  <a:lnTo>
                    <a:pt x="23" y="214"/>
                  </a:lnTo>
                  <a:lnTo>
                    <a:pt x="21" y="212"/>
                  </a:lnTo>
                  <a:lnTo>
                    <a:pt x="20" y="210"/>
                  </a:lnTo>
                  <a:lnTo>
                    <a:pt x="16" y="209"/>
                  </a:lnTo>
                  <a:lnTo>
                    <a:pt x="14" y="209"/>
                  </a:lnTo>
                  <a:close/>
                  <a:moveTo>
                    <a:pt x="14" y="0"/>
                  </a:moveTo>
                  <a:lnTo>
                    <a:pt x="11" y="0"/>
                  </a:lnTo>
                  <a:lnTo>
                    <a:pt x="9" y="1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5"/>
                  </a:lnTo>
                  <a:lnTo>
                    <a:pt x="2" y="8"/>
                  </a:lnTo>
                  <a:lnTo>
                    <a:pt x="0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9" y="25"/>
                  </a:lnTo>
                  <a:lnTo>
                    <a:pt x="11" y="25"/>
                  </a:lnTo>
                  <a:lnTo>
                    <a:pt x="14" y="26"/>
                  </a:lnTo>
                  <a:lnTo>
                    <a:pt x="16" y="25"/>
                  </a:lnTo>
                  <a:lnTo>
                    <a:pt x="20" y="25"/>
                  </a:lnTo>
                  <a:lnTo>
                    <a:pt x="21" y="23"/>
                  </a:lnTo>
                  <a:lnTo>
                    <a:pt x="23" y="21"/>
                  </a:lnTo>
                  <a:lnTo>
                    <a:pt x="25" y="20"/>
                  </a:lnTo>
                  <a:lnTo>
                    <a:pt x="26" y="18"/>
                  </a:lnTo>
                  <a:lnTo>
                    <a:pt x="26" y="15"/>
                  </a:lnTo>
                  <a:lnTo>
                    <a:pt x="28" y="13"/>
                  </a:lnTo>
                  <a:lnTo>
                    <a:pt x="26" y="10"/>
                  </a:lnTo>
                  <a:lnTo>
                    <a:pt x="26" y="8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6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67" name="Freeform 268"/>
            <p:cNvSpPr>
              <a:spLocks/>
            </p:cNvSpPr>
            <p:nvPr/>
          </p:nvSpPr>
          <p:spPr bwMode="auto">
            <a:xfrm>
              <a:off x="4033" y="1763"/>
              <a:ext cx="14" cy="13"/>
            </a:xfrm>
            <a:custGeom>
              <a:avLst/>
              <a:gdLst>
                <a:gd name="T0" fmla="*/ 1 w 28"/>
                <a:gd name="T1" fmla="*/ 0 h 26"/>
                <a:gd name="T2" fmla="*/ 1 w 28"/>
                <a:gd name="T3" fmla="*/ 0 h 26"/>
                <a:gd name="T4" fmla="*/ 1 w 28"/>
                <a:gd name="T5" fmla="*/ 1 h 26"/>
                <a:gd name="T6" fmla="*/ 1 w 28"/>
                <a:gd name="T7" fmla="*/ 1 h 26"/>
                <a:gd name="T8" fmla="*/ 1 w 28"/>
                <a:gd name="T9" fmla="*/ 1 h 26"/>
                <a:gd name="T10" fmla="*/ 1 w 28"/>
                <a:gd name="T11" fmla="*/ 1 h 26"/>
                <a:gd name="T12" fmla="*/ 1 w 28"/>
                <a:gd name="T13" fmla="*/ 1 h 26"/>
                <a:gd name="T14" fmla="*/ 0 w 28"/>
                <a:gd name="T15" fmla="*/ 1 h 26"/>
                <a:gd name="T16" fmla="*/ 0 w 28"/>
                <a:gd name="T17" fmla="*/ 1 h 26"/>
                <a:gd name="T18" fmla="*/ 0 w 28"/>
                <a:gd name="T19" fmla="*/ 1 h 26"/>
                <a:gd name="T20" fmla="*/ 1 w 28"/>
                <a:gd name="T21" fmla="*/ 1 h 26"/>
                <a:gd name="T22" fmla="*/ 1 w 28"/>
                <a:gd name="T23" fmla="*/ 1 h 26"/>
                <a:gd name="T24" fmla="*/ 1 w 28"/>
                <a:gd name="T25" fmla="*/ 1 h 26"/>
                <a:gd name="T26" fmla="*/ 1 w 28"/>
                <a:gd name="T27" fmla="*/ 1 h 26"/>
                <a:gd name="T28" fmla="*/ 1 w 28"/>
                <a:gd name="T29" fmla="*/ 1 h 26"/>
                <a:gd name="T30" fmla="*/ 1 w 28"/>
                <a:gd name="T31" fmla="*/ 1 h 26"/>
                <a:gd name="T32" fmla="*/ 1 w 28"/>
                <a:gd name="T33" fmla="*/ 1 h 26"/>
                <a:gd name="T34" fmla="*/ 1 w 28"/>
                <a:gd name="T35" fmla="*/ 1 h 26"/>
                <a:gd name="T36" fmla="*/ 1 w 28"/>
                <a:gd name="T37" fmla="*/ 1 h 26"/>
                <a:gd name="T38" fmla="*/ 1 w 28"/>
                <a:gd name="T39" fmla="*/ 1 h 26"/>
                <a:gd name="T40" fmla="*/ 1 w 28"/>
                <a:gd name="T41" fmla="*/ 1 h 26"/>
                <a:gd name="T42" fmla="*/ 1 w 28"/>
                <a:gd name="T43" fmla="*/ 1 h 26"/>
                <a:gd name="T44" fmla="*/ 1 w 28"/>
                <a:gd name="T45" fmla="*/ 1 h 26"/>
                <a:gd name="T46" fmla="*/ 1 w 28"/>
                <a:gd name="T47" fmla="*/ 1 h 26"/>
                <a:gd name="T48" fmla="*/ 1 w 28"/>
                <a:gd name="T49" fmla="*/ 1 h 26"/>
                <a:gd name="T50" fmla="*/ 1 w 28"/>
                <a:gd name="T51" fmla="*/ 1 h 26"/>
                <a:gd name="T52" fmla="*/ 1 w 28"/>
                <a:gd name="T53" fmla="*/ 1 h 26"/>
                <a:gd name="T54" fmla="*/ 1 w 28"/>
                <a:gd name="T55" fmla="*/ 1 h 26"/>
                <a:gd name="T56" fmla="*/ 1 w 28"/>
                <a:gd name="T57" fmla="*/ 1 h 26"/>
                <a:gd name="T58" fmla="*/ 1 w 28"/>
                <a:gd name="T59" fmla="*/ 1 h 26"/>
                <a:gd name="T60" fmla="*/ 1 w 28"/>
                <a:gd name="T61" fmla="*/ 1 h 26"/>
                <a:gd name="T62" fmla="*/ 1 w 28"/>
                <a:gd name="T63" fmla="*/ 1 h 26"/>
                <a:gd name="T64" fmla="*/ 1 w 28"/>
                <a:gd name="T65" fmla="*/ 0 h 26"/>
                <a:gd name="T66" fmla="*/ 1 w 28"/>
                <a:gd name="T67" fmla="*/ 0 h 26"/>
                <a:gd name="T68" fmla="*/ 1 w 28"/>
                <a:gd name="T69" fmla="*/ 0 h 2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6"/>
                <a:gd name="T107" fmla="*/ 28 w 28"/>
                <a:gd name="T108" fmla="*/ 26 h 2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6">
                  <a:moveTo>
                    <a:pt x="14" y="0"/>
                  </a:moveTo>
                  <a:lnTo>
                    <a:pt x="11" y="0"/>
                  </a:lnTo>
                  <a:lnTo>
                    <a:pt x="9" y="1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6"/>
                  </a:lnTo>
                  <a:lnTo>
                    <a:pt x="2" y="8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6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4" y="23"/>
                  </a:lnTo>
                  <a:lnTo>
                    <a:pt x="6" y="25"/>
                  </a:lnTo>
                  <a:lnTo>
                    <a:pt x="9" y="25"/>
                  </a:lnTo>
                  <a:lnTo>
                    <a:pt x="11" y="26"/>
                  </a:lnTo>
                  <a:lnTo>
                    <a:pt x="14" y="26"/>
                  </a:lnTo>
                  <a:lnTo>
                    <a:pt x="16" y="26"/>
                  </a:lnTo>
                  <a:lnTo>
                    <a:pt x="20" y="25"/>
                  </a:lnTo>
                  <a:lnTo>
                    <a:pt x="21" y="25"/>
                  </a:lnTo>
                  <a:lnTo>
                    <a:pt x="23" y="23"/>
                  </a:lnTo>
                  <a:lnTo>
                    <a:pt x="25" y="20"/>
                  </a:lnTo>
                  <a:lnTo>
                    <a:pt x="26" y="18"/>
                  </a:lnTo>
                  <a:lnTo>
                    <a:pt x="26" y="16"/>
                  </a:lnTo>
                  <a:lnTo>
                    <a:pt x="28" y="13"/>
                  </a:lnTo>
                  <a:lnTo>
                    <a:pt x="26" y="11"/>
                  </a:lnTo>
                  <a:lnTo>
                    <a:pt x="26" y="8"/>
                  </a:lnTo>
                  <a:lnTo>
                    <a:pt x="25" y="6"/>
                  </a:lnTo>
                  <a:lnTo>
                    <a:pt x="23" y="5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6" y="0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68" name="Freeform 269"/>
            <p:cNvSpPr>
              <a:spLocks/>
            </p:cNvSpPr>
            <p:nvPr/>
          </p:nvSpPr>
          <p:spPr bwMode="auto">
            <a:xfrm>
              <a:off x="4033" y="1658"/>
              <a:ext cx="14" cy="14"/>
            </a:xfrm>
            <a:custGeom>
              <a:avLst/>
              <a:gdLst>
                <a:gd name="T0" fmla="*/ 1 w 28"/>
                <a:gd name="T1" fmla="*/ 0 h 26"/>
                <a:gd name="T2" fmla="*/ 1 w 28"/>
                <a:gd name="T3" fmla="*/ 0 h 26"/>
                <a:gd name="T4" fmla="*/ 1 w 28"/>
                <a:gd name="T5" fmla="*/ 1 h 26"/>
                <a:gd name="T6" fmla="*/ 1 w 28"/>
                <a:gd name="T7" fmla="*/ 1 h 26"/>
                <a:gd name="T8" fmla="*/ 1 w 28"/>
                <a:gd name="T9" fmla="*/ 1 h 26"/>
                <a:gd name="T10" fmla="*/ 1 w 28"/>
                <a:gd name="T11" fmla="*/ 1 h 26"/>
                <a:gd name="T12" fmla="*/ 1 w 28"/>
                <a:gd name="T13" fmla="*/ 1 h 26"/>
                <a:gd name="T14" fmla="*/ 0 w 28"/>
                <a:gd name="T15" fmla="*/ 1 h 26"/>
                <a:gd name="T16" fmla="*/ 0 w 28"/>
                <a:gd name="T17" fmla="*/ 1 h 26"/>
                <a:gd name="T18" fmla="*/ 0 w 28"/>
                <a:gd name="T19" fmla="*/ 1 h 26"/>
                <a:gd name="T20" fmla="*/ 1 w 28"/>
                <a:gd name="T21" fmla="*/ 1 h 26"/>
                <a:gd name="T22" fmla="*/ 1 w 28"/>
                <a:gd name="T23" fmla="*/ 1 h 26"/>
                <a:gd name="T24" fmla="*/ 1 w 28"/>
                <a:gd name="T25" fmla="*/ 1 h 26"/>
                <a:gd name="T26" fmla="*/ 1 w 28"/>
                <a:gd name="T27" fmla="*/ 1 h 26"/>
                <a:gd name="T28" fmla="*/ 1 w 28"/>
                <a:gd name="T29" fmla="*/ 1 h 26"/>
                <a:gd name="T30" fmla="*/ 1 w 28"/>
                <a:gd name="T31" fmla="*/ 1 h 26"/>
                <a:gd name="T32" fmla="*/ 1 w 28"/>
                <a:gd name="T33" fmla="*/ 1 h 26"/>
                <a:gd name="T34" fmla="*/ 1 w 28"/>
                <a:gd name="T35" fmla="*/ 1 h 26"/>
                <a:gd name="T36" fmla="*/ 1 w 28"/>
                <a:gd name="T37" fmla="*/ 1 h 26"/>
                <a:gd name="T38" fmla="*/ 1 w 28"/>
                <a:gd name="T39" fmla="*/ 1 h 26"/>
                <a:gd name="T40" fmla="*/ 1 w 28"/>
                <a:gd name="T41" fmla="*/ 1 h 26"/>
                <a:gd name="T42" fmla="*/ 1 w 28"/>
                <a:gd name="T43" fmla="*/ 1 h 26"/>
                <a:gd name="T44" fmla="*/ 1 w 28"/>
                <a:gd name="T45" fmla="*/ 1 h 26"/>
                <a:gd name="T46" fmla="*/ 1 w 28"/>
                <a:gd name="T47" fmla="*/ 1 h 26"/>
                <a:gd name="T48" fmla="*/ 1 w 28"/>
                <a:gd name="T49" fmla="*/ 1 h 26"/>
                <a:gd name="T50" fmla="*/ 1 w 28"/>
                <a:gd name="T51" fmla="*/ 1 h 26"/>
                <a:gd name="T52" fmla="*/ 1 w 28"/>
                <a:gd name="T53" fmla="*/ 1 h 26"/>
                <a:gd name="T54" fmla="*/ 1 w 28"/>
                <a:gd name="T55" fmla="*/ 1 h 26"/>
                <a:gd name="T56" fmla="*/ 1 w 28"/>
                <a:gd name="T57" fmla="*/ 1 h 26"/>
                <a:gd name="T58" fmla="*/ 1 w 28"/>
                <a:gd name="T59" fmla="*/ 1 h 26"/>
                <a:gd name="T60" fmla="*/ 1 w 28"/>
                <a:gd name="T61" fmla="*/ 1 h 26"/>
                <a:gd name="T62" fmla="*/ 1 w 28"/>
                <a:gd name="T63" fmla="*/ 1 h 26"/>
                <a:gd name="T64" fmla="*/ 1 w 28"/>
                <a:gd name="T65" fmla="*/ 0 h 26"/>
                <a:gd name="T66" fmla="*/ 1 w 28"/>
                <a:gd name="T67" fmla="*/ 0 h 26"/>
                <a:gd name="T68" fmla="*/ 1 w 28"/>
                <a:gd name="T69" fmla="*/ 0 h 2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6"/>
                <a:gd name="T107" fmla="*/ 28 w 28"/>
                <a:gd name="T108" fmla="*/ 26 h 2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6">
                  <a:moveTo>
                    <a:pt x="14" y="0"/>
                  </a:moveTo>
                  <a:lnTo>
                    <a:pt x="11" y="0"/>
                  </a:lnTo>
                  <a:lnTo>
                    <a:pt x="9" y="1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5"/>
                  </a:lnTo>
                  <a:lnTo>
                    <a:pt x="2" y="8"/>
                  </a:lnTo>
                  <a:lnTo>
                    <a:pt x="0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9" y="25"/>
                  </a:lnTo>
                  <a:lnTo>
                    <a:pt x="11" y="25"/>
                  </a:lnTo>
                  <a:lnTo>
                    <a:pt x="14" y="26"/>
                  </a:lnTo>
                  <a:lnTo>
                    <a:pt x="16" y="25"/>
                  </a:lnTo>
                  <a:lnTo>
                    <a:pt x="20" y="25"/>
                  </a:lnTo>
                  <a:lnTo>
                    <a:pt x="21" y="23"/>
                  </a:lnTo>
                  <a:lnTo>
                    <a:pt x="23" y="21"/>
                  </a:lnTo>
                  <a:lnTo>
                    <a:pt x="25" y="20"/>
                  </a:lnTo>
                  <a:lnTo>
                    <a:pt x="26" y="18"/>
                  </a:lnTo>
                  <a:lnTo>
                    <a:pt x="26" y="15"/>
                  </a:lnTo>
                  <a:lnTo>
                    <a:pt x="28" y="13"/>
                  </a:lnTo>
                  <a:lnTo>
                    <a:pt x="26" y="10"/>
                  </a:lnTo>
                  <a:lnTo>
                    <a:pt x="26" y="8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6" y="0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69" name="Line 270"/>
            <p:cNvSpPr>
              <a:spLocks noChangeShapeType="1"/>
            </p:cNvSpPr>
            <p:nvPr/>
          </p:nvSpPr>
          <p:spPr bwMode="auto">
            <a:xfrm>
              <a:off x="4042" y="1671"/>
              <a:ext cx="32" cy="8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70" name="Freeform 271"/>
            <p:cNvSpPr>
              <a:spLocks/>
            </p:cNvSpPr>
            <p:nvPr/>
          </p:nvSpPr>
          <p:spPr bwMode="auto">
            <a:xfrm>
              <a:off x="4399" y="1392"/>
              <a:ext cx="32" cy="210"/>
            </a:xfrm>
            <a:custGeom>
              <a:avLst/>
              <a:gdLst>
                <a:gd name="T0" fmla="*/ 1 w 64"/>
                <a:gd name="T1" fmla="*/ 0 h 420"/>
                <a:gd name="T2" fmla="*/ 1 w 64"/>
                <a:gd name="T3" fmla="*/ 1 h 420"/>
                <a:gd name="T4" fmla="*/ 1 w 64"/>
                <a:gd name="T5" fmla="*/ 1 h 420"/>
                <a:gd name="T6" fmla="*/ 1 w 64"/>
                <a:gd name="T7" fmla="*/ 1 h 420"/>
                <a:gd name="T8" fmla="*/ 1 w 64"/>
                <a:gd name="T9" fmla="*/ 1 h 420"/>
                <a:gd name="T10" fmla="*/ 1 w 64"/>
                <a:gd name="T11" fmla="*/ 1 h 420"/>
                <a:gd name="T12" fmla="*/ 1 w 64"/>
                <a:gd name="T13" fmla="*/ 1 h 420"/>
                <a:gd name="T14" fmla="*/ 0 w 64"/>
                <a:gd name="T15" fmla="*/ 1 h 420"/>
                <a:gd name="T16" fmla="*/ 0 w 64"/>
                <a:gd name="T17" fmla="*/ 1 h 420"/>
                <a:gd name="T18" fmla="*/ 1 w 64"/>
                <a:gd name="T19" fmla="*/ 1 h 420"/>
                <a:gd name="T20" fmla="*/ 1 w 64"/>
                <a:gd name="T21" fmla="*/ 1 h 420"/>
                <a:gd name="T22" fmla="*/ 1 w 64"/>
                <a:gd name="T23" fmla="*/ 1 h 420"/>
                <a:gd name="T24" fmla="*/ 1 w 64"/>
                <a:gd name="T25" fmla="*/ 1 h 420"/>
                <a:gd name="T26" fmla="*/ 1 w 64"/>
                <a:gd name="T27" fmla="*/ 1 h 420"/>
                <a:gd name="T28" fmla="*/ 1 w 64"/>
                <a:gd name="T29" fmla="*/ 1 h 420"/>
                <a:gd name="T30" fmla="*/ 1 w 64"/>
                <a:gd name="T31" fmla="*/ 1 h 420"/>
                <a:gd name="T32" fmla="*/ 1 w 64"/>
                <a:gd name="T33" fmla="*/ 1 h 420"/>
                <a:gd name="T34" fmla="*/ 1 w 64"/>
                <a:gd name="T35" fmla="*/ 1 h 420"/>
                <a:gd name="T36" fmla="*/ 1 w 64"/>
                <a:gd name="T37" fmla="*/ 1 h 420"/>
                <a:gd name="T38" fmla="*/ 1 w 64"/>
                <a:gd name="T39" fmla="*/ 1 h 420"/>
                <a:gd name="T40" fmla="*/ 1 w 64"/>
                <a:gd name="T41" fmla="*/ 1 h 420"/>
                <a:gd name="T42" fmla="*/ 1 w 64"/>
                <a:gd name="T43" fmla="*/ 1 h 420"/>
                <a:gd name="T44" fmla="*/ 0 w 64"/>
                <a:gd name="T45" fmla="*/ 1 h 420"/>
                <a:gd name="T46" fmla="*/ 0 w 64"/>
                <a:gd name="T47" fmla="*/ 1 h 420"/>
                <a:gd name="T48" fmla="*/ 1 w 64"/>
                <a:gd name="T49" fmla="*/ 1 h 420"/>
                <a:gd name="T50" fmla="*/ 1 w 64"/>
                <a:gd name="T51" fmla="*/ 1 h 420"/>
                <a:gd name="T52" fmla="*/ 1 w 64"/>
                <a:gd name="T53" fmla="*/ 1 h 420"/>
                <a:gd name="T54" fmla="*/ 1 w 64"/>
                <a:gd name="T55" fmla="*/ 1 h 420"/>
                <a:gd name="T56" fmla="*/ 1 w 64"/>
                <a:gd name="T57" fmla="*/ 1 h 420"/>
                <a:gd name="T58" fmla="*/ 1 w 64"/>
                <a:gd name="T59" fmla="*/ 1 h 420"/>
                <a:gd name="T60" fmla="*/ 1 w 64"/>
                <a:gd name="T61" fmla="*/ 1 h 420"/>
                <a:gd name="T62" fmla="*/ 1 w 64"/>
                <a:gd name="T63" fmla="*/ 1 h 420"/>
                <a:gd name="T64" fmla="*/ 1 w 64"/>
                <a:gd name="T65" fmla="*/ 1 h 420"/>
                <a:gd name="T66" fmla="*/ 1 w 64"/>
                <a:gd name="T67" fmla="*/ 1 h 420"/>
                <a:gd name="T68" fmla="*/ 1 w 64"/>
                <a:gd name="T69" fmla="*/ 1 h 420"/>
                <a:gd name="T70" fmla="*/ 1 w 64"/>
                <a:gd name="T71" fmla="*/ 1 h 420"/>
                <a:gd name="T72" fmla="*/ 1 w 64"/>
                <a:gd name="T73" fmla="*/ 1 h 420"/>
                <a:gd name="T74" fmla="*/ 1 w 64"/>
                <a:gd name="T75" fmla="*/ 1 h 420"/>
                <a:gd name="T76" fmla="*/ 0 w 64"/>
                <a:gd name="T77" fmla="*/ 2 h 420"/>
                <a:gd name="T78" fmla="*/ 0 w 64"/>
                <a:gd name="T79" fmla="*/ 2 h 420"/>
                <a:gd name="T80" fmla="*/ 1 w 64"/>
                <a:gd name="T81" fmla="*/ 2 h 420"/>
                <a:gd name="T82" fmla="*/ 1 w 64"/>
                <a:gd name="T83" fmla="*/ 2 h 420"/>
                <a:gd name="T84" fmla="*/ 1 w 64"/>
                <a:gd name="T85" fmla="*/ 2 h 420"/>
                <a:gd name="T86" fmla="*/ 1 w 64"/>
                <a:gd name="T87" fmla="*/ 2 h 420"/>
                <a:gd name="T88" fmla="*/ 1 w 64"/>
                <a:gd name="T89" fmla="*/ 2 h 420"/>
                <a:gd name="T90" fmla="*/ 1 w 64"/>
                <a:gd name="T91" fmla="*/ 2 h 420"/>
                <a:gd name="T92" fmla="*/ 1 w 64"/>
                <a:gd name="T93" fmla="*/ 2 h 420"/>
                <a:gd name="T94" fmla="*/ 1 w 64"/>
                <a:gd name="T95" fmla="*/ 2 h 420"/>
                <a:gd name="T96" fmla="*/ 1 w 64"/>
                <a:gd name="T97" fmla="*/ 2 h 420"/>
                <a:gd name="T98" fmla="*/ 1 w 64"/>
                <a:gd name="T99" fmla="*/ 2 h 420"/>
                <a:gd name="T100" fmla="*/ 1 w 64"/>
                <a:gd name="T101" fmla="*/ 2 h 420"/>
                <a:gd name="T102" fmla="*/ 1 w 64"/>
                <a:gd name="T103" fmla="*/ 2 h 420"/>
                <a:gd name="T104" fmla="*/ 1 w 64"/>
                <a:gd name="T105" fmla="*/ 2 h 420"/>
                <a:gd name="T106" fmla="*/ 0 w 64"/>
                <a:gd name="T107" fmla="*/ 2 h 420"/>
                <a:gd name="T108" fmla="*/ 0 w 64"/>
                <a:gd name="T109" fmla="*/ 2 h 420"/>
                <a:gd name="T110" fmla="*/ 1 w 64"/>
                <a:gd name="T111" fmla="*/ 2 h 420"/>
                <a:gd name="T112" fmla="*/ 1 w 64"/>
                <a:gd name="T113" fmla="*/ 2 h 420"/>
                <a:gd name="T114" fmla="*/ 1 w 64"/>
                <a:gd name="T115" fmla="*/ 2 h 420"/>
                <a:gd name="T116" fmla="*/ 1 w 64"/>
                <a:gd name="T117" fmla="*/ 2 h 420"/>
                <a:gd name="T118" fmla="*/ 1 w 64"/>
                <a:gd name="T119" fmla="*/ 2 h 420"/>
                <a:gd name="T120" fmla="*/ 1 w 64"/>
                <a:gd name="T121" fmla="*/ 2 h 420"/>
                <a:gd name="T122" fmla="*/ 1 w 64"/>
                <a:gd name="T123" fmla="*/ 2 h 42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64"/>
                <a:gd name="T187" fmla="*/ 0 h 420"/>
                <a:gd name="T188" fmla="*/ 64 w 64"/>
                <a:gd name="T189" fmla="*/ 420 h 42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64" h="420">
                  <a:moveTo>
                    <a:pt x="64" y="0"/>
                  </a:moveTo>
                  <a:lnTo>
                    <a:pt x="59" y="0"/>
                  </a:lnTo>
                  <a:lnTo>
                    <a:pt x="52" y="0"/>
                  </a:lnTo>
                  <a:lnTo>
                    <a:pt x="45" y="2"/>
                  </a:lnTo>
                  <a:lnTo>
                    <a:pt x="40" y="4"/>
                  </a:lnTo>
                  <a:lnTo>
                    <a:pt x="35" y="5"/>
                  </a:lnTo>
                  <a:lnTo>
                    <a:pt x="29" y="7"/>
                  </a:lnTo>
                  <a:lnTo>
                    <a:pt x="19" y="14"/>
                  </a:lnTo>
                  <a:lnTo>
                    <a:pt x="15" y="17"/>
                  </a:lnTo>
                  <a:lnTo>
                    <a:pt x="12" y="21"/>
                  </a:lnTo>
                  <a:lnTo>
                    <a:pt x="8" y="26"/>
                  </a:lnTo>
                  <a:lnTo>
                    <a:pt x="5" y="31"/>
                  </a:lnTo>
                  <a:lnTo>
                    <a:pt x="3" y="36"/>
                  </a:lnTo>
                  <a:lnTo>
                    <a:pt x="1" y="41"/>
                  </a:lnTo>
                  <a:lnTo>
                    <a:pt x="0" y="46"/>
                  </a:lnTo>
                  <a:lnTo>
                    <a:pt x="0" y="51"/>
                  </a:lnTo>
                  <a:lnTo>
                    <a:pt x="0" y="56"/>
                  </a:lnTo>
                  <a:lnTo>
                    <a:pt x="0" y="61"/>
                  </a:lnTo>
                  <a:lnTo>
                    <a:pt x="1" y="66"/>
                  </a:lnTo>
                  <a:lnTo>
                    <a:pt x="3" y="71"/>
                  </a:lnTo>
                  <a:lnTo>
                    <a:pt x="5" y="76"/>
                  </a:lnTo>
                  <a:lnTo>
                    <a:pt x="8" y="81"/>
                  </a:lnTo>
                  <a:lnTo>
                    <a:pt x="12" y="84"/>
                  </a:lnTo>
                  <a:lnTo>
                    <a:pt x="15" y="87"/>
                  </a:lnTo>
                  <a:lnTo>
                    <a:pt x="24" y="94"/>
                  </a:lnTo>
                  <a:lnTo>
                    <a:pt x="29" y="97"/>
                  </a:lnTo>
                  <a:lnTo>
                    <a:pt x="35" y="99"/>
                  </a:lnTo>
                  <a:lnTo>
                    <a:pt x="42" y="103"/>
                  </a:lnTo>
                  <a:lnTo>
                    <a:pt x="47" y="104"/>
                  </a:lnTo>
                  <a:lnTo>
                    <a:pt x="54" y="104"/>
                  </a:lnTo>
                  <a:lnTo>
                    <a:pt x="59" y="104"/>
                  </a:lnTo>
                  <a:lnTo>
                    <a:pt x="64" y="104"/>
                  </a:lnTo>
                  <a:lnTo>
                    <a:pt x="59" y="104"/>
                  </a:lnTo>
                  <a:lnTo>
                    <a:pt x="52" y="106"/>
                  </a:lnTo>
                  <a:lnTo>
                    <a:pt x="45" y="106"/>
                  </a:lnTo>
                  <a:lnTo>
                    <a:pt x="40" y="108"/>
                  </a:lnTo>
                  <a:lnTo>
                    <a:pt x="35" y="111"/>
                  </a:lnTo>
                  <a:lnTo>
                    <a:pt x="29" y="113"/>
                  </a:lnTo>
                  <a:lnTo>
                    <a:pt x="19" y="119"/>
                  </a:lnTo>
                  <a:lnTo>
                    <a:pt x="15" y="123"/>
                  </a:lnTo>
                  <a:lnTo>
                    <a:pt x="12" y="126"/>
                  </a:lnTo>
                  <a:lnTo>
                    <a:pt x="8" y="131"/>
                  </a:lnTo>
                  <a:lnTo>
                    <a:pt x="5" y="134"/>
                  </a:lnTo>
                  <a:lnTo>
                    <a:pt x="3" y="139"/>
                  </a:lnTo>
                  <a:lnTo>
                    <a:pt x="1" y="144"/>
                  </a:lnTo>
                  <a:lnTo>
                    <a:pt x="0" y="149"/>
                  </a:lnTo>
                  <a:lnTo>
                    <a:pt x="0" y="156"/>
                  </a:lnTo>
                  <a:lnTo>
                    <a:pt x="0" y="161"/>
                  </a:lnTo>
                  <a:lnTo>
                    <a:pt x="0" y="166"/>
                  </a:lnTo>
                  <a:lnTo>
                    <a:pt x="1" y="171"/>
                  </a:lnTo>
                  <a:lnTo>
                    <a:pt x="3" y="176"/>
                  </a:lnTo>
                  <a:lnTo>
                    <a:pt x="5" y="181"/>
                  </a:lnTo>
                  <a:lnTo>
                    <a:pt x="8" y="185"/>
                  </a:lnTo>
                  <a:lnTo>
                    <a:pt x="12" y="190"/>
                  </a:lnTo>
                  <a:lnTo>
                    <a:pt x="15" y="193"/>
                  </a:lnTo>
                  <a:lnTo>
                    <a:pt x="24" y="200"/>
                  </a:lnTo>
                  <a:lnTo>
                    <a:pt x="29" y="203"/>
                  </a:lnTo>
                  <a:lnTo>
                    <a:pt x="35" y="205"/>
                  </a:lnTo>
                  <a:lnTo>
                    <a:pt x="42" y="206"/>
                  </a:lnTo>
                  <a:lnTo>
                    <a:pt x="47" y="208"/>
                  </a:lnTo>
                  <a:lnTo>
                    <a:pt x="54" y="210"/>
                  </a:lnTo>
                  <a:lnTo>
                    <a:pt x="59" y="210"/>
                  </a:lnTo>
                  <a:lnTo>
                    <a:pt x="64" y="210"/>
                  </a:lnTo>
                  <a:lnTo>
                    <a:pt x="59" y="210"/>
                  </a:lnTo>
                  <a:lnTo>
                    <a:pt x="52" y="210"/>
                  </a:lnTo>
                  <a:lnTo>
                    <a:pt x="45" y="211"/>
                  </a:lnTo>
                  <a:lnTo>
                    <a:pt x="40" y="213"/>
                  </a:lnTo>
                  <a:lnTo>
                    <a:pt x="35" y="215"/>
                  </a:lnTo>
                  <a:lnTo>
                    <a:pt x="29" y="218"/>
                  </a:lnTo>
                  <a:lnTo>
                    <a:pt x="19" y="223"/>
                  </a:lnTo>
                  <a:lnTo>
                    <a:pt x="15" y="228"/>
                  </a:lnTo>
                  <a:lnTo>
                    <a:pt x="12" y="231"/>
                  </a:lnTo>
                  <a:lnTo>
                    <a:pt x="8" y="235"/>
                  </a:lnTo>
                  <a:lnTo>
                    <a:pt x="5" y="240"/>
                  </a:lnTo>
                  <a:lnTo>
                    <a:pt x="3" y="245"/>
                  </a:lnTo>
                  <a:lnTo>
                    <a:pt x="1" y="250"/>
                  </a:lnTo>
                  <a:lnTo>
                    <a:pt x="0" y="255"/>
                  </a:lnTo>
                  <a:lnTo>
                    <a:pt x="0" y="260"/>
                  </a:lnTo>
                  <a:lnTo>
                    <a:pt x="0" y="265"/>
                  </a:lnTo>
                  <a:lnTo>
                    <a:pt x="0" y="272"/>
                  </a:lnTo>
                  <a:lnTo>
                    <a:pt x="1" y="277"/>
                  </a:lnTo>
                  <a:lnTo>
                    <a:pt x="3" y="282"/>
                  </a:lnTo>
                  <a:lnTo>
                    <a:pt x="5" y="285"/>
                  </a:lnTo>
                  <a:lnTo>
                    <a:pt x="8" y="290"/>
                  </a:lnTo>
                  <a:lnTo>
                    <a:pt x="12" y="293"/>
                  </a:lnTo>
                  <a:lnTo>
                    <a:pt x="15" y="298"/>
                  </a:lnTo>
                  <a:lnTo>
                    <a:pt x="24" y="305"/>
                  </a:lnTo>
                  <a:lnTo>
                    <a:pt x="29" y="307"/>
                  </a:lnTo>
                  <a:lnTo>
                    <a:pt x="35" y="310"/>
                  </a:lnTo>
                  <a:lnTo>
                    <a:pt x="42" y="312"/>
                  </a:lnTo>
                  <a:lnTo>
                    <a:pt x="47" y="313"/>
                  </a:lnTo>
                  <a:lnTo>
                    <a:pt x="54" y="315"/>
                  </a:lnTo>
                  <a:lnTo>
                    <a:pt x="59" y="315"/>
                  </a:lnTo>
                  <a:lnTo>
                    <a:pt x="64" y="315"/>
                  </a:lnTo>
                  <a:lnTo>
                    <a:pt x="59" y="315"/>
                  </a:lnTo>
                  <a:lnTo>
                    <a:pt x="52" y="315"/>
                  </a:lnTo>
                  <a:lnTo>
                    <a:pt x="45" y="317"/>
                  </a:lnTo>
                  <a:lnTo>
                    <a:pt x="40" y="318"/>
                  </a:lnTo>
                  <a:lnTo>
                    <a:pt x="35" y="320"/>
                  </a:lnTo>
                  <a:lnTo>
                    <a:pt x="29" y="322"/>
                  </a:lnTo>
                  <a:lnTo>
                    <a:pt x="19" y="328"/>
                  </a:lnTo>
                  <a:lnTo>
                    <a:pt x="15" y="332"/>
                  </a:lnTo>
                  <a:lnTo>
                    <a:pt x="12" y="337"/>
                  </a:lnTo>
                  <a:lnTo>
                    <a:pt x="8" y="340"/>
                  </a:lnTo>
                  <a:lnTo>
                    <a:pt x="5" y="345"/>
                  </a:lnTo>
                  <a:lnTo>
                    <a:pt x="3" y="350"/>
                  </a:lnTo>
                  <a:lnTo>
                    <a:pt x="1" y="355"/>
                  </a:lnTo>
                  <a:lnTo>
                    <a:pt x="0" y="360"/>
                  </a:lnTo>
                  <a:lnTo>
                    <a:pt x="0" y="365"/>
                  </a:lnTo>
                  <a:lnTo>
                    <a:pt x="0" y="370"/>
                  </a:lnTo>
                  <a:lnTo>
                    <a:pt x="0" y="375"/>
                  </a:lnTo>
                  <a:lnTo>
                    <a:pt x="1" y="380"/>
                  </a:lnTo>
                  <a:lnTo>
                    <a:pt x="3" y="385"/>
                  </a:lnTo>
                  <a:lnTo>
                    <a:pt x="5" y="390"/>
                  </a:lnTo>
                  <a:lnTo>
                    <a:pt x="8" y="395"/>
                  </a:lnTo>
                  <a:lnTo>
                    <a:pt x="12" y="399"/>
                  </a:lnTo>
                  <a:lnTo>
                    <a:pt x="15" y="402"/>
                  </a:lnTo>
                  <a:lnTo>
                    <a:pt x="24" y="409"/>
                  </a:lnTo>
                  <a:lnTo>
                    <a:pt x="29" y="412"/>
                  </a:lnTo>
                  <a:lnTo>
                    <a:pt x="35" y="415"/>
                  </a:lnTo>
                  <a:lnTo>
                    <a:pt x="42" y="417"/>
                  </a:lnTo>
                  <a:lnTo>
                    <a:pt x="47" y="419"/>
                  </a:lnTo>
                  <a:lnTo>
                    <a:pt x="54" y="419"/>
                  </a:lnTo>
                  <a:lnTo>
                    <a:pt x="59" y="420"/>
                  </a:lnTo>
                  <a:lnTo>
                    <a:pt x="64" y="42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71" name="Line 272"/>
            <p:cNvSpPr>
              <a:spLocks noChangeShapeType="1"/>
            </p:cNvSpPr>
            <p:nvPr/>
          </p:nvSpPr>
          <p:spPr bwMode="auto">
            <a:xfrm>
              <a:off x="4359" y="1397"/>
              <a:ext cx="1" cy="19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72" name="Line 273"/>
            <p:cNvSpPr>
              <a:spLocks noChangeShapeType="1"/>
            </p:cNvSpPr>
            <p:nvPr/>
          </p:nvSpPr>
          <p:spPr bwMode="auto">
            <a:xfrm flipV="1">
              <a:off x="4372" y="1397"/>
              <a:ext cx="1" cy="19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73" name="Freeform 274"/>
            <p:cNvSpPr>
              <a:spLocks/>
            </p:cNvSpPr>
            <p:nvPr/>
          </p:nvSpPr>
          <p:spPr bwMode="auto">
            <a:xfrm>
              <a:off x="4420" y="1400"/>
              <a:ext cx="28" cy="27"/>
            </a:xfrm>
            <a:custGeom>
              <a:avLst/>
              <a:gdLst>
                <a:gd name="T0" fmla="*/ 0 w 55"/>
                <a:gd name="T1" fmla="*/ 1 h 53"/>
                <a:gd name="T2" fmla="*/ 1 w 55"/>
                <a:gd name="T3" fmla="*/ 1 h 53"/>
                <a:gd name="T4" fmla="*/ 1 w 55"/>
                <a:gd name="T5" fmla="*/ 1 h 53"/>
                <a:gd name="T6" fmla="*/ 1 w 55"/>
                <a:gd name="T7" fmla="*/ 1 h 53"/>
                <a:gd name="T8" fmla="*/ 1 w 55"/>
                <a:gd name="T9" fmla="*/ 1 h 53"/>
                <a:gd name="T10" fmla="*/ 1 w 55"/>
                <a:gd name="T11" fmla="*/ 1 h 53"/>
                <a:gd name="T12" fmla="*/ 1 w 55"/>
                <a:gd name="T13" fmla="*/ 1 h 53"/>
                <a:gd name="T14" fmla="*/ 1 w 55"/>
                <a:gd name="T15" fmla="*/ 0 h 53"/>
                <a:gd name="T16" fmla="*/ 1 w 55"/>
                <a:gd name="T17" fmla="*/ 0 h 53"/>
                <a:gd name="T18" fmla="*/ 1 w 55"/>
                <a:gd name="T19" fmla="*/ 0 h 53"/>
                <a:gd name="T20" fmla="*/ 1 w 55"/>
                <a:gd name="T21" fmla="*/ 1 h 53"/>
                <a:gd name="T22" fmla="*/ 1 w 55"/>
                <a:gd name="T23" fmla="*/ 1 h 53"/>
                <a:gd name="T24" fmla="*/ 1 w 55"/>
                <a:gd name="T25" fmla="*/ 1 h 53"/>
                <a:gd name="T26" fmla="*/ 1 w 55"/>
                <a:gd name="T27" fmla="*/ 1 h 53"/>
                <a:gd name="T28" fmla="*/ 1 w 55"/>
                <a:gd name="T29" fmla="*/ 1 h 53"/>
                <a:gd name="T30" fmla="*/ 1 w 55"/>
                <a:gd name="T31" fmla="*/ 1 h 53"/>
                <a:gd name="T32" fmla="*/ 1 w 55"/>
                <a:gd name="T33" fmla="*/ 1 h 53"/>
                <a:gd name="T34" fmla="*/ 1 w 55"/>
                <a:gd name="T35" fmla="*/ 1 h 53"/>
                <a:gd name="T36" fmla="*/ 1 w 55"/>
                <a:gd name="T37" fmla="*/ 1 h 53"/>
                <a:gd name="T38" fmla="*/ 1 w 55"/>
                <a:gd name="T39" fmla="*/ 1 h 53"/>
                <a:gd name="T40" fmla="*/ 1 w 55"/>
                <a:gd name="T41" fmla="*/ 1 h 53"/>
                <a:gd name="T42" fmla="*/ 1 w 55"/>
                <a:gd name="T43" fmla="*/ 1 h 53"/>
                <a:gd name="T44" fmla="*/ 1 w 55"/>
                <a:gd name="T45" fmla="*/ 1 h 53"/>
                <a:gd name="T46" fmla="*/ 1 w 55"/>
                <a:gd name="T47" fmla="*/ 1 h 53"/>
                <a:gd name="T48" fmla="*/ 1 w 55"/>
                <a:gd name="T49" fmla="*/ 1 h 53"/>
                <a:gd name="T50" fmla="*/ 1 w 55"/>
                <a:gd name="T51" fmla="*/ 1 h 53"/>
                <a:gd name="T52" fmla="*/ 1 w 55"/>
                <a:gd name="T53" fmla="*/ 1 h 53"/>
                <a:gd name="T54" fmla="*/ 1 w 55"/>
                <a:gd name="T55" fmla="*/ 1 h 53"/>
                <a:gd name="T56" fmla="*/ 1 w 55"/>
                <a:gd name="T57" fmla="*/ 1 h 53"/>
                <a:gd name="T58" fmla="*/ 1 w 55"/>
                <a:gd name="T59" fmla="*/ 1 h 53"/>
                <a:gd name="T60" fmla="*/ 1 w 55"/>
                <a:gd name="T61" fmla="*/ 1 h 53"/>
                <a:gd name="T62" fmla="*/ 1 w 55"/>
                <a:gd name="T63" fmla="*/ 1 h 53"/>
                <a:gd name="T64" fmla="*/ 1 w 55"/>
                <a:gd name="T65" fmla="*/ 1 h 53"/>
                <a:gd name="T66" fmla="*/ 0 w 55"/>
                <a:gd name="T67" fmla="*/ 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5"/>
                <a:gd name="T103" fmla="*/ 0 h 53"/>
                <a:gd name="T104" fmla="*/ 55 w 55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5" h="53">
                  <a:moveTo>
                    <a:pt x="0" y="26"/>
                  </a:moveTo>
                  <a:lnTo>
                    <a:pt x="1" y="21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8" y="6"/>
                  </a:lnTo>
                  <a:lnTo>
                    <a:pt x="12" y="5"/>
                  </a:lnTo>
                  <a:lnTo>
                    <a:pt x="17" y="1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40" y="1"/>
                  </a:lnTo>
                  <a:lnTo>
                    <a:pt x="43" y="5"/>
                  </a:lnTo>
                  <a:lnTo>
                    <a:pt x="48" y="6"/>
                  </a:lnTo>
                  <a:lnTo>
                    <a:pt x="52" y="11"/>
                  </a:lnTo>
                  <a:lnTo>
                    <a:pt x="54" y="16"/>
                  </a:lnTo>
                  <a:lnTo>
                    <a:pt x="55" y="21"/>
                  </a:lnTo>
                  <a:lnTo>
                    <a:pt x="55" y="26"/>
                  </a:lnTo>
                  <a:lnTo>
                    <a:pt x="55" y="31"/>
                  </a:lnTo>
                  <a:lnTo>
                    <a:pt x="54" y="36"/>
                  </a:lnTo>
                  <a:lnTo>
                    <a:pt x="52" y="41"/>
                  </a:lnTo>
                  <a:lnTo>
                    <a:pt x="48" y="45"/>
                  </a:lnTo>
                  <a:lnTo>
                    <a:pt x="43" y="48"/>
                  </a:lnTo>
                  <a:lnTo>
                    <a:pt x="40" y="51"/>
                  </a:lnTo>
                  <a:lnTo>
                    <a:pt x="35" y="51"/>
                  </a:lnTo>
                  <a:lnTo>
                    <a:pt x="28" y="53"/>
                  </a:lnTo>
                  <a:lnTo>
                    <a:pt x="22" y="51"/>
                  </a:lnTo>
                  <a:lnTo>
                    <a:pt x="17" y="51"/>
                  </a:lnTo>
                  <a:lnTo>
                    <a:pt x="12" y="48"/>
                  </a:lnTo>
                  <a:lnTo>
                    <a:pt x="8" y="45"/>
                  </a:lnTo>
                  <a:lnTo>
                    <a:pt x="5" y="41"/>
                  </a:lnTo>
                  <a:lnTo>
                    <a:pt x="3" y="36"/>
                  </a:lnTo>
                  <a:lnTo>
                    <a:pt x="1" y="31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74" name="Line 275"/>
            <p:cNvSpPr>
              <a:spLocks noChangeShapeType="1"/>
            </p:cNvSpPr>
            <p:nvPr/>
          </p:nvSpPr>
          <p:spPr bwMode="auto">
            <a:xfrm flipH="1">
              <a:off x="4038" y="920"/>
              <a:ext cx="153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75" name="Freeform 276"/>
            <p:cNvSpPr>
              <a:spLocks/>
            </p:cNvSpPr>
            <p:nvPr/>
          </p:nvSpPr>
          <p:spPr bwMode="auto">
            <a:xfrm>
              <a:off x="4040" y="1770"/>
              <a:ext cx="175" cy="115"/>
            </a:xfrm>
            <a:custGeom>
              <a:avLst/>
              <a:gdLst>
                <a:gd name="T0" fmla="*/ 1 w 352"/>
                <a:gd name="T1" fmla="*/ 0 h 231"/>
                <a:gd name="T2" fmla="*/ 0 w 352"/>
                <a:gd name="T3" fmla="*/ 0 h 231"/>
                <a:gd name="T4" fmla="*/ 0 w 352"/>
                <a:gd name="T5" fmla="*/ 0 h 231"/>
                <a:gd name="T6" fmla="*/ 0 60000 65536"/>
                <a:gd name="T7" fmla="*/ 0 60000 65536"/>
                <a:gd name="T8" fmla="*/ 0 60000 65536"/>
                <a:gd name="T9" fmla="*/ 0 w 352"/>
                <a:gd name="T10" fmla="*/ 0 h 231"/>
                <a:gd name="T11" fmla="*/ 352 w 352"/>
                <a:gd name="T12" fmla="*/ 231 h 2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2" h="231">
                  <a:moveTo>
                    <a:pt x="352" y="231"/>
                  </a:moveTo>
                  <a:lnTo>
                    <a:pt x="0" y="231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76" name="Line 277"/>
            <p:cNvSpPr>
              <a:spLocks noChangeShapeType="1"/>
            </p:cNvSpPr>
            <p:nvPr/>
          </p:nvSpPr>
          <p:spPr bwMode="auto">
            <a:xfrm flipH="1">
              <a:off x="4040" y="1550"/>
              <a:ext cx="175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77" name="Freeform 278"/>
            <p:cNvSpPr>
              <a:spLocks/>
            </p:cNvSpPr>
            <p:nvPr/>
          </p:nvSpPr>
          <p:spPr bwMode="auto">
            <a:xfrm>
              <a:off x="4026" y="1536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6" y="12"/>
                  </a:lnTo>
                  <a:lnTo>
                    <a:pt x="9" y="9"/>
                  </a:lnTo>
                  <a:lnTo>
                    <a:pt x="13" y="5"/>
                  </a:lnTo>
                  <a:lnTo>
                    <a:pt x="18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9" y="2"/>
                  </a:lnTo>
                  <a:lnTo>
                    <a:pt x="44" y="5"/>
                  </a:lnTo>
                  <a:lnTo>
                    <a:pt x="47" y="9"/>
                  </a:lnTo>
                  <a:lnTo>
                    <a:pt x="51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1" y="42"/>
                  </a:lnTo>
                  <a:lnTo>
                    <a:pt x="47" y="45"/>
                  </a:lnTo>
                  <a:lnTo>
                    <a:pt x="44" y="49"/>
                  </a:lnTo>
                  <a:lnTo>
                    <a:pt x="39" y="52"/>
                  </a:lnTo>
                  <a:lnTo>
                    <a:pt x="34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8" y="52"/>
                  </a:lnTo>
                  <a:lnTo>
                    <a:pt x="13" y="49"/>
                  </a:lnTo>
                  <a:lnTo>
                    <a:pt x="9" y="45"/>
                  </a:lnTo>
                  <a:lnTo>
                    <a:pt x="6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78" name="Freeform 279"/>
            <p:cNvSpPr>
              <a:spLocks/>
            </p:cNvSpPr>
            <p:nvPr/>
          </p:nvSpPr>
          <p:spPr bwMode="auto">
            <a:xfrm>
              <a:off x="4026" y="1872"/>
              <a:ext cx="28" cy="26"/>
            </a:xfrm>
            <a:custGeom>
              <a:avLst/>
              <a:gdLst>
                <a:gd name="T0" fmla="*/ 0 w 56"/>
                <a:gd name="T1" fmla="*/ 0 h 54"/>
                <a:gd name="T2" fmla="*/ 0 w 56"/>
                <a:gd name="T3" fmla="*/ 0 h 54"/>
                <a:gd name="T4" fmla="*/ 1 w 56"/>
                <a:gd name="T5" fmla="*/ 0 h 54"/>
                <a:gd name="T6" fmla="*/ 1 w 56"/>
                <a:gd name="T7" fmla="*/ 0 h 54"/>
                <a:gd name="T8" fmla="*/ 1 w 56"/>
                <a:gd name="T9" fmla="*/ 0 h 54"/>
                <a:gd name="T10" fmla="*/ 1 w 56"/>
                <a:gd name="T11" fmla="*/ 0 h 54"/>
                <a:gd name="T12" fmla="*/ 1 w 56"/>
                <a:gd name="T13" fmla="*/ 0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0 h 54"/>
                <a:gd name="T22" fmla="*/ 1 w 56"/>
                <a:gd name="T23" fmla="*/ 0 h 54"/>
                <a:gd name="T24" fmla="*/ 1 w 56"/>
                <a:gd name="T25" fmla="*/ 0 h 54"/>
                <a:gd name="T26" fmla="*/ 1 w 56"/>
                <a:gd name="T27" fmla="*/ 0 h 54"/>
                <a:gd name="T28" fmla="*/ 1 w 56"/>
                <a:gd name="T29" fmla="*/ 0 h 54"/>
                <a:gd name="T30" fmla="*/ 1 w 56"/>
                <a:gd name="T31" fmla="*/ 0 h 54"/>
                <a:gd name="T32" fmla="*/ 1 w 56"/>
                <a:gd name="T33" fmla="*/ 0 h 54"/>
                <a:gd name="T34" fmla="*/ 1 w 56"/>
                <a:gd name="T35" fmla="*/ 0 h 54"/>
                <a:gd name="T36" fmla="*/ 1 w 56"/>
                <a:gd name="T37" fmla="*/ 0 h 54"/>
                <a:gd name="T38" fmla="*/ 1 w 56"/>
                <a:gd name="T39" fmla="*/ 0 h 54"/>
                <a:gd name="T40" fmla="*/ 1 w 56"/>
                <a:gd name="T41" fmla="*/ 0 h 54"/>
                <a:gd name="T42" fmla="*/ 1 w 56"/>
                <a:gd name="T43" fmla="*/ 0 h 54"/>
                <a:gd name="T44" fmla="*/ 1 w 56"/>
                <a:gd name="T45" fmla="*/ 0 h 54"/>
                <a:gd name="T46" fmla="*/ 1 w 56"/>
                <a:gd name="T47" fmla="*/ 0 h 54"/>
                <a:gd name="T48" fmla="*/ 1 w 56"/>
                <a:gd name="T49" fmla="*/ 0 h 54"/>
                <a:gd name="T50" fmla="*/ 1 w 56"/>
                <a:gd name="T51" fmla="*/ 0 h 54"/>
                <a:gd name="T52" fmla="*/ 1 w 56"/>
                <a:gd name="T53" fmla="*/ 0 h 54"/>
                <a:gd name="T54" fmla="*/ 1 w 56"/>
                <a:gd name="T55" fmla="*/ 0 h 54"/>
                <a:gd name="T56" fmla="*/ 1 w 56"/>
                <a:gd name="T57" fmla="*/ 0 h 54"/>
                <a:gd name="T58" fmla="*/ 1 w 56"/>
                <a:gd name="T59" fmla="*/ 0 h 54"/>
                <a:gd name="T60" fmla="*/ 1 w 56"/>
                <a:gd name="T61" fmla="*/ 0 h 54"/>
                <a:gd name="T62" fmla="*/ 1 w 56"/>
                <a:gd name="T63" fmla="*/ 0 h 54"/>
                <a:gd name="T64" fmla="*/ 0 w 56"/>
                <a:gd name="T65" fmla="*/ 0 h 54"/>
                <a:gd name="T66" fmla="*/ 0 w 56"/>
                <a:gd name="T67" fmla="*/ 0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6" y="12"/>
                  </a:lnTo>
                  <a:lnTo>
                    <a:pt x="9" y="9"/>
                  </a:lnTo>
                  <a:lnTo>
                    <a:pt x="13" y="5"/>
                  </a:lnTo>
                  <a:lnTo>
                    <a:pt x="18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9" y="2"/>
                  </a:lnTo>
                  <a:lnTo>
                    <a:pt x="44" y="5"/>
                  </a:lnTo>
                  <a:lnTo>
                    <a:pt x="47" y="9"/>
                  </a:lnTo>
                  <a:lnTo>
                    <a:pt x="51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1" y="42"/>
                  </a:lnTo>
                  <a:lnTo>
                    <a:pt x="47" y="45"/>
                  </a:lnTo>
                  <a:lnTo>
                    <a:pt x="44" y="49"/>
                  </a:lnTo>
                  <a:lnTo>
                    <a:pt x="39" y="52"/>
                  </a:lnTo>
                  <a:lnTo>
                    <a:pt x="34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8" y="52"/>
                  </a:lnTo>
                  <a:lnTo>
                    <a:pt x="13" y="49"/>
                  </a:lnTo>
                  <a:lnTo>
                    <a:pt x="9" y="45"/>
                  </a:lnTo>
                  <a:lnTo>
                    <a:pt x="6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79" name="Line 280"/>
            <p:cNvSpPr>
              <a:spLocks noChangeShapeType="1"/>
            </p:cNvSpPr>
            <p:nvPr/>
          </p:nvSpPr>
          <p:spPr bwMode="auto">
            <a:xfrm flipV="1">
              <a:off x="4431" y="1602"/>
              <a:ext cx="1" cy="8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80" name="Line 281"/>
            <p:cNvSpPr>
              <a:spLocks noChangeShapeType="1"/>
            </p:cNvSpPr>
            <p:nvPr/>
          </p:nvSpPr>
          <p:spPr bwMode="auto">
            <a:xfrm flipH="1" flipV="1">
              <a:off x="4782" y="1099"/>
              <a:ext cx="3" cy="5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81" name="Line 282"/>
            <p:cNvSpPr>
              <a:spLocks noChangeShapeType="1"/>
            </p:cNvSpPr>
            <p:nvPr/>
          </p:nvSpPr>
          <p:spPr bwMode="auto">
            <a:xfrm>
              <a:off x="4782" y="1099"/>
              <a:ext cx="166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82" name="Line 283"/>
            <p:cNvSpPr>
              <a:spLocks noChangeShapeType="1"/>
            </p:cNvSpPr>
            <p:nvPr/>
          </p:nvSpPr>
          <p:spPr bwMode="auto">
            <a:xfrm>
              <a:off x="5447" y="1301"/>
              <a:ext cx="1" cy="4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83" name="Freeform 284"/>
            <p:cNvSpPr>
              <a:spLocks/>
            </p:cNvSpPr>
            <p:nvPr/>
          </p:nvSpPr>
          <p:spPr bwMode="auto">
            <a:xfrm>
              <a:off x="4431" y="1392"/>
              <a:ext cx="1011" cy="1"/>
            </a:xfrm>
            <a:custGeom>
              <a:avLst/>
              <a:gdLst>
                <a:gd name="T0" fmla="*/ 0 w 2022"/>
                <a:gd name="T1" fmla="*/ 0 h 1"/>
                <a:gd name="T2" fmla="*/ 8 w 2022"/>
                <a:gd name="T3" fmla="*/ 0 h 1"/>
                <a:gd name="T4" fmla="*/ 8 w 2022"/>
                <a:gd name="T5" fmla="*/ 0 h 1"/>
                <a:gd name="T6" fmla="*/ 0 60000 65536"/>
                <a:gd name="T7" fmla="*/ 0 60000 65536"/>
                <a:gd name="T8" fmla="*/ 0 60000 65536"/>
                <a:gd name="T9" fmla="*/ 0 w 2022"/>
                <a:gd name="T10" fmla="*/ 0 h 1"/>
                <a:gd name="T11" fmla="*/ 2022 w 20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22" h="1">
                  <a:moveTo>
                    <a:pt x="0" y="0"/>
                  </a:moveTo>
                  <a:lnTo>
                    <a:pt x="2022" y="0"/>
                  </a:lnTo>
                  <a:lnTo>
                    <a:pt x="2014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84" name="Line 285"/>
            <p:cNvSpPr>
              <a:spLocks noChangeShapeType="1"/>
            </p:cNvSpPr>
            <p:nvPr/>
          </p:nvSpPr>
          <p:spPr bwMode="auto">
            <a:xfrm>
              <a:off x="5447" y="1350"/>
              <a:ext cx="1" cy="4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85" name="Line 286"/>
            <p:cNvSpPr>
              <a:spLocks noChangeShapeType="1"/>
            </p:cNvSpPr>
            <p:nvPr/>
          </p:nvSpPr>
          <p:spPr bwMode="auto">
            <a:xfrm>
              <a:off x="5271" y="1350"/>
              <a:ext cx="1" cy="4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86" name="Freeform 287"/>
            <p:cNvSpPr>
              <a:spLocks/>
            </p:cNvSpPr>
            <p:nvPr/>
          </p:nvSpPr>
          <p:spPr bwMode="auto">
            <a:xfrm>
              <a:off x="5257" y="1379"/>
              <a:ext cx="28" cy="27"/>
            </a:xfrm>
            <a:custGeom>
              <a:avLst/>
              <a:gdLst>
                <a:gd name="T0" fmla="*/ 0 w 56"/>
                <a:gd name="T1" fmla="*/ 1 h 53"/>
                <a:gd name="T2" fmla="*/ 0 w 56"/>
                <a:gd name="T3" fmla="*/ 1 h 53"/>
                <a:gd name="T4" fmla="*/ 1 w 56"/>
                <a:gd name="T5" fmla="*/ 1 h 53"/>
                <a:gd name="T6" fmla="*/ 1 w 56"/>
                <a:gd name="T7" fmla="*/ 1 h 53"/>
                <a:gd name="T8" fmla="*/ 1 w 56"/>
                <a:gd name="T9" fmla="*/ 1 h 53"/>
                <a:gd name="T10" fmla="*/ 1 w 56"/>
                <a:gd name="T11" fmla="*/ 1 h 53"/>
                <a:gd name="T12" fmla="*/ 1 w 56"/>
                <a:gd name="T13" fmla="*/ 1 h 53"/>
                <a:gd name="T14" fmla="*/ 1 w 56"/>
                <a:gd name="T15" fmla="*/ 0 h 53"/>
                <a:gd name="T16" fmla="*/ 1 w 56"/>
                <a:gd name="T17" fmla="*/ 0 h 53"/>
                <a:gd name="T18" fmla="*/ 1 w 56"/>
                <a:gd name="T19" fmla="*/ 0 h 53"/>
                <a:gd name="T20" fmla="*/ 1 w 56"/>
                <a:gd name="T21" fmla="*/ 1 h 53"/>
                <a:gd name="T22" fmla="*/ 1 w 56"/>
                <a:gd name="T23" fmla="*/ 1 h 53"/>
                <a:gd name="T24" fmla="*/ 1 w 56"/>
                <a:gd name="T25" fmla="*/ 1 h 53"/>
                <a:gd name="T26" fmla="*/ 1 w 56"/>
                <a:gd name="T27" fmla="*/ 1 h 53"/>
                <a:gd name="T28" fmla="*/ 1 w 56"/>
                <a:gd name="T29" fmla="*/ 1 h 53"/>
                <a:gd name="T30" fmla="*/ 1 w 56"/>
                <a:gd name="T31" fmla="*/ 1 h 53"/>
                <a:gd name="T32" fmla="*/ 1 w 56"/>
                <a:gd name="T33" fmla="*/ 1 h 53"/>
                <a:gd name="T34" fmla="*/ 1 w 56"/>
                <a:gd name="T35" fmla="*/ 1 h 53"/>
                <a:gd name="T36" fmla="*/ 1 w 56"/>
                <a:gd name="T37" fmla="*/ 1 h 53"/>
                <a:gd name="T38" fmla="*/ 1 w 56"/>
                <a:gd name="T39" fmla="*/ 1 h 53"/>
                <a:gd name="T40" fmla="*/ 1 w 56"/>
                <a:gd name="T41" fmla="*/ 1 h 53"/>
                <a:gd name="T42" fmla="*/ 1 w 56"/>
                <a:gd name="T43" fmla="*/ 1 h 53"/>
                <a:gd name="T44" fmla="*/ 1 w 56"/>
                <a:gd name="T45" fmla="*/ 1 h 53"/>
                <a:gd name="T46" fmla="*/ 1 w 56"/>
                <a:gd name="T47" fmla="*/ 1 h 53"/>
                <a:gd name="T48" fmla="*/ 1 w 56"/>
                <a:gd name="T49" fmla="*/ 1 h 53"/>
                <a:gd name="T50" fmla="*/ 1 w 56"/>
                <a:gd name="T51" fmla="*/ 1 h 53"/>
                <a:gd name="T52" fmla="*/ 1 w 56"/>
                <a:gd name="T53" fmla="*/ 1 h 53"/>
                <a:gd name="T54" fmla="*/ 1 w 56"/>
                <a:gd name="T55" fmla="*/ 1 h 53"/>
                <a:gd name="T56" fmla="*/ 1 w 56"/>
                <a:gd name="T57" fmla="*/ 1 h 53"/>
                <a:gd name="T58" fmla="*/ 1 w 56"/>
                <a:gd name="T59" fmla="*/ 1 h 53"/>
                <a:gd name="T60" fmla="*/ 1 w 56"/>
                <a:gd name="T61" fmla="*/ 1 h 53"/>
                <a:gd name="T62" fmla="*/ 1 w 56"/>
                <a:gd name="T63" fmla="*/ 1 h 53"/>
                <a:gd name="T64" fmla="*/ 0 w 56"/>
                <a:gd name="T65" fmla="*/ 1 h 53"/>
                <a:gd name="T66" fmla="*/ 0 w 56"/>
                <a:gd name="T67" fmla="*/ 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3"/>
                <a:gd name="T104" fmla="*/ 56 w 56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3">
                  <a:moveTo>
                    <a:pt x="0" y="26"/>
                  </a:moveTo>
                  <a:lnTo>
                    <a:pt x="0" y="21"/>
                  </a:lnTo>
                  <a:lnTo>
                    <a:pt x="2" y="16"/>
                  </a:lnTo>
                  <a:lnTo>
                    <a:pt x="5" y="11"/>
                  </a:lnTo>
                  <a:lnTo>
                    <a:pt x="7" y="6"/>
                  </a:lnTo>
                  <a:lnTo>
                    <a:pt x="12" y="3"/>
                  </a:lnTo>
                  <a:lnTo>
                    <a:pt x="17" y="1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38" y="1"/>
                  </a:lnTo>
                  <a:lnTo>
                    <a:pt x="44" y="3"/>
                  </a:lnTo>
                  <a:lnTo>
                    <a:pt x="47" y="6"/>
                  </a:lnTo>
                  <a:lnTo>
                    <a:pt x="51" y="11"/>
                  </a:lnTo>
                  <a:lnTo>
                    <a:pt x="54" y="16"/>
                  </a:lnTo>
                  <a:lnTo>
                    <a:pt x="54" y="21"/>
                  </a:lnTo>
                  <a:lnTo>
                    <a:pt x="56" y="26"/>
                  </a:lnTo>
                  <a:lnTo>
                    <a:pt x="54" y="31"/>
                  </a:lnTo>
                  <a:lnTo>
                    <a:pt x="54" y="36"/>
                  </a:lnTo>
                  <a:lnTo>
                    <a:pt x="51" y="42"/>
                  </a:lnTo>
                  <a:lnTo>
                    <a:pt x="47" y="45"/>
                  </a:lnTo>
                  <a:lnTo>
                    <a:pt x="44" y="48"/>
                  </a:lnTo>
                  <a:lnTo>
                    <a:pt x="38" y="52"/>
                  </a:lnTo>
                  <a:lnTo>
                    <a:pt x="33" y="52"/>
                  </a:lnTo>
                  <a:lnTo>
                    <a:pt x="28" y="53"/>
                  </a:lnTo>
                  <a:lnTo>
                    <a:pt x="23" y="52"/>
                  </a:lnTo>
                  <a:lnTo>
                    <a:pt x="17" y="52"/>
                  </a:lnTo>
                  <a:lnTo>
                    <a:pt x="12" y="48"/>
                  </a:lnTo>
                  <a:lnTo>
                    <a:pt x="7" y="45"/>
                  </a:lnTo>
                  <a:lnTo>
                    <a:pt x="5" y="42"/>
                  </a:lnTo>
                  <a:lnTo>
                    <a:pt x="2" y="36"/>
                  </a:lnTo>
                  <a:lnTo>
                    <a:pt x="0" y="31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87" name="Freeform 288"/>
            <p:cNvSpPr>
              <a:spLocks/>
            </p:cNvSpPr>
            <p:nvPr/>
          </p:nvSpPr>
          <p:spPr bwMode="auto">
            <a:xfrm>
              <a:off x="4768" y="1085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0"/>
                  </a:lnTo>
                  <a:lnTo>
                    <a:pt x="2" y="15"/>
                  </a:lnTo>
                  <a:lnTo>
                    <a:pt x="5" y="12"/>
                  </a:lnTo>
                  <a:lnTo>
                    <a:pt x="7" y="7"/>
                  </a:lnTo>
                  <a:lnTo>
                    <a:pt x="12" y="4"/>
                  </a:lnTo>
                  <a:lnTo>
                    <a:pt x="17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38" y="2"/>
                  </a:lnTo>
                  <a:lnTo>
                    <a:pt x="44" y="4"/>
                  </a:lnTo>
                  <a:lnTo>
                    <a:pt x="47" y="7"/>
                  </a:lnTo>
                  <a:lnTo>
                    <a:pt x="51" y="12"/>
                  </a:lnTo>
                  <a:lnTo>
                    <a:pt x="54" y="15"/>
                  </a:lnTo>
                  <a:lnTo>
                    <a:pt x="54" y="20"/>
                  </a:lnTo>
                  <a:lnTo>
                    <a:pt x="56" y="27"/>
                  </a:lnTo>
                  <a:lnTo>
                    <a:pt x="54" y="32"/>
                  </a:lnTo>
                  <a:lnTo>
                    <a:pt x="54" y="37"/>
                  </a:lnTo>
                  <a:lnTo>
                    <a:pt x="51" y="42"/>
                  </a:lnTo>
                  <a:lnTo>
                    <a:pt x="47" y="46"/>
                  </a:lnTo>
                  <a:lnTo>
                    <a:pt x="44" y="49"/>
                  </a:lnTo>
                  <a:lnTo>
                    <a:pt x="38" y="51"/>
                  </a:lnTo>
                  <a:lnTo>
                    <a:pt x="33" y="52"/>
                  </a:lnTo>
                  <a:lnTo>
                    <a:pt x="28" y="54"/>
                  </a:lnTo>
                  <a:lnTo>
                    <a:pt x="23" y="52"/>
                  </a:lnTo>
                  <a:lnTo>
                    <a:pt x="17" y="51"/>
                  </a:lnTo>
                  <a:lnTo>
                    <a:pt x="12" y="49"/>
                  </a:lnTo>
                  <a:lnTo>
                    <a:pt x="7" y="46"/>
                  </a:lnTo>
                  <a:lnTo>
                    <a:pt x="5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88" name="Rectangle 293"/>
            <p:cNvSpPr>
              <a:spLocks noChangeArrowheads="1"/>
            </p:cNvSpPr>
            <p:nvPr/>
          </p:nvSpPr>
          <p:spPr bwMode="auto">
            <a:xfrm>
              <a:off x="4505" y="1504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84089" name="Rectangle 294"/>
            <p:cNvSpPr>
              <a:spLocks noChangeArrowheads="1"/>
            </p:cNvSpPr>
            <p:nvPr/>
          </p:nvSpPr>
          <p:spPr bwMode="auto">
            <a:xfrm>
              <a:off x="4449" y="1464"/>
              <a:ext cx="59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84090" name="Line 295"/>
            <p:cNvSpPr>
              <a:spLocks noChangeShapeType="1"/>
            </p:cNvSpPr>
            <p:nvPr/>
          </p:nvSpPr>
          <p:spPr bwMode="auto">
            <a:xfrm flipH="1">
              <a:off x="3408" y="1885"/>
              <a:ext cx="767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91" name="Line 296"/>
            <p:cNvSpPr>
              <a:spLocks noChangeShapeType="1"/>
            </p:cNvSpPr>
            <p:nvPr/>
          </p:nvSpPr>
          <p:spPr bwMode="auto">
            <a:xfrm flipH="1">
              <a:off x="3408" y="920"/>
              <a:ext cx="70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92" name="Line 297"/>
            <p:cNvSpPr>
              <a:spLocks noChangeShapeType="1"/>
            </p:cNvSpPr>
            <p:nvPr/>
          </p:nvSpPr>
          <p:spPr bwMode="auto">
            <a:xfrm flipV="1">
              <a:off x="4038" y="920"/>
              <a:ext cx="1" cy="11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93" name="Line 298"/>
            <p:cNvSpPr>
              <a:spLocks noChangeShapeType="1"/>
            </p:cNvSpPr>
            <p:nvPr/>
          </p:nvSpPr>
          <p:spPr bwMode="auto">
            <a:xfrm>
              <a:off x="4038" y="1140"/>
              <a:ext cx="2" cy="41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94" name="Line 299"/>
            <p:cNvSpPr>
              <a:spLocks noChangeShapeType="1"/>
            </p:cNvSpPr>
            <p:nvPr/>
          </p:nvSpPr>
          <p:spPr bwMode="auto">
            <a:xfrm>
              <a:off x="4040" y="1550"/>
              <a:ext cx="1" cy="11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95" name="Line 300"/>
            <p:cNvSpPr>
              <a:spLocks noChangeShapeType="1"/>
            </p:cNvSpPr>
            <p:nvPr/>
          </p:nvSpPr>
          <p:spPr bwMode="auto">
            <a:xfrm flipH="1">
              <a:off x="4038" y="1256"/>
              <a:ext cx="153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96" name="Line 301"/>
            <p:cNvSpPr>
              <a:spLocks noChangeShapeType="1"/>
            </p:cNvSpPr>
            <p:nvPr/>
          </p:nvSpPr>
          <p:spPr bwMode="auto">
            <a:xfrm flipH="1">
              <a:off x="4040" y="1298"/>
              <a:ext cx="266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97" name="Line 302"/>
            <p:cNvSpPr>
              <a:spLocks noChangeShapeType="1"/>
            </p:cNvSpPr>
            <p:nvPr/>
          </p:nvSpPr>
          <p:spPr bwMode="auto">
            <a:xfrm flipH="1">
              <a:off x="3707" y="1508"/>
              <a:ext cx="599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98" name="Freeform 303"/>
            <p:cNvSpPr>
              <a:spLocks/>
            </p:cNvSpPr>
            <p:nvPr/>
          </p:nvSpPr>
          <p:spPr bwMode="auto">
            <a:xfrm>
              <a:off x="4026" y="1286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1 h 54"/>
                <a:gd name="T16" fmla="*/ 1 w 56"/>
                <a:gd name="T17" fmla="*/ 0 h 54"/>
                <a:gd name="T18" fmla="*/ 1 w 56"/>
                <a:gd name="T19" fmla="*/ 1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6" y="12"/>
                  </a:lnTo>
                  <a:lnTo>
                    <a:pt x="9" y="8"/>
                  </a:lnTo>
                  <a:lnTo>
                    <a:pt x="13" y="5"/>
                  </a:lnTo>
                  <a:lnTo>
                    <a:pt x="18" y="3"/>
                  </a:lnTo>
                  <a:lnTo>
                    <a:pt x="23" y="2"/>
                  </a:lnTo>
                  <a:lnTo>
                    <a:pt x="28" y="0"/>
                  </a:lnTo>
                  <a:lnTo>
                    <a:pt x="34" y="2"/>
                  </a:lnTo>
                  <a:lnTo>
                    <a:pt x="39" y="3"/>
                  </a:lnTo>
                  <a:lnTo>
                    <a:pt x="44" y="5"/>
                  </a:lnTo>
                  <a:lnTo>
                    <a:pt x="47" y="8"/>
                  </a:lnTo>
                  <a:lnTo>
                    <a:pt x="51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3"/>
                  </a:lnTo>
                  <a:lnTo>
                    <a:pt x="54" y="38"/>
                  </a:lnTo>
                  <a:lnTo>
                    <a:pt x="51" y="42"/>
                  </a:lnTo>
                  <a:lnTo>
                    <a:pt x="47" y="47"/>
                  </a:lnTo>
                  <a:lnTo>
                    <a:pt x="44" y="50"/>
                  </a:lnTo>
                  <a:lnTo>
                    <a:pt x="39" y="52"/>
                  </a:lnTo>
                  <a:lnTo>
                    <a:pt x="34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8" y="52"/>
                  </a:lnTo>
                  <a:lnTo>
                    <a:pt x="13" y="50"/>
                  </a:lnTo>
                  <a:lnTo>
                    <a:pt x="9" y="47"/>
                  </a:lnTo>
                  <a:lnTo>
                    <a:pt x="6" y="42"/>
                  </a:lnTo>
                  <a:lnTo>
                    <a:pt x="2" y="38"/>
                  </a:lnTo>
                  <a:lnTo>
                    <a:pt x="0" y="33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99" name="Freeform 304"/>
            <p:cNvSpPr>
              <a:spLocks/>
            </p:cNvSpPr>
            <p:nvPr/>
          </p:nvSpPr>
          <p:spPr bwMode="auto">
            <a:xfrm>
              <a:off x="4026" y="1242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0"/>
                  </a:lnTo>
                  <a:lnTo>
                    <a:pt x="2" y="15"/>
                  </a:lnTo>
                  <a:lnTo>
                    <a:pt x="6" y="12"/>
                  </a:lnTo>
                  <a:lnTo>
                    <a:pt x="9" y="7"/>
                  </a:lnTo>
                  <a:lnTo>
                    <a:pt x="13" y="3"/>
                  </a:lnTo>
                  <a:lnTo>
                    <a:pt x="18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9" y="2"/>
                  </a:lnTo>
                  <a:lnTo>
                    <a:pt x="44" y="3"/>
                  </a:lnTo>
                  <a:lnTo>
                    <a:pt x="47" y="7"/>
                  </a:lnTo>
                  <a:lnTo>
                    <a:pt x="51" y="12"/>
                  </a:lnTo>
                  <a:lnTo>
                    <a:pt x="54" y="15"/>
                  </a:lnTo>
                  <a:lnTo>
                    <a:pt x="56" y="20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1" y="42"/>
                  </a:lnTo>
                  <a:lnTo>
                    <a:pt x="47" y="45"/>
                  </a:lnTo>
                  <a:lnTo>
                    <a:pt x="44" y="48"/>
                  </a:lnTo>
                  <a:lnTo>
                    <a:pt x="39" y="50"/>
                  </a:lnTo>
                  <a:lnTo>
                    <a:pt x="34" y="52"/>
                  </a:lnTo>
                  <a:lnTo>
                    <a:pt x="28" y="54"/>
                  </a:lnTo>
                  <a:lnTo>
                    <a:pt x="23" y="52"/>
                  </a:lnTo>
                  <a:lnTo>
                    <a:pt x="18" y="50"/>
                  </a:lnTo>
                  <a:lnTo>
                    <a:pt x="13" y="48"/>
                  </a:lnTo>
                  <a:lnTo>
                    <a:pt x="9" y="45"/>
                  </a:lnTo>
                  <a:lnTo>
                    <a:pt x="6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00" name="Freeform 305"/>
            <p:cNvSpPr>
              <a:spLocks/>
            </p:cNvSpPr>
            <p:nvPr/>
          </p:nvSpPr>
          <p:spPr bwMode="auto">
            <a:xfrm>
              <a:off x="3691" y="1872"/>
              <a:ext cx="28" cy="26"/>
            </a:xfrm>
            <a:custGeom>
              <a:avLst/>
              <a:gdLst>
                <a:gd name="T0" fmla="*/ 0 w 56"/>
                <a:gd name="T1" fmla="*/ 0 h 54"/>
                <a:gd name="T2" fmla="*/ 0 w 56"/>
                <a:gd name="T3" fmla="*/ 0 h 54"/>
                <a:gd name="T4" fmla="*/ 1 w 56"/>
                <a:gd name="T5" fmla="*/ 0 h 54"/>
                <a:gd name="T6" fmla="*/ 1 w 56"/>
                <a:gd name="T7" fmla="*/ 0 h 54"/>
                <a:gd name="T8" fmla="*/ 1 w 56"/>
                <a:gd name="T9" fmla="*/ 0 h 54"/>
                <a:gd name="T10" fmla="*/ 1 w 56"/>
                <a:gd name="T11" fmla="*/ 0 h 54"/>
                <a:gd name="T12" fmla="*/ 1 w 56"/>
                <a:gd name="T13" fmla="*/ 0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0 h 54"/>
                <a:gd name="T22" fmla="*/ 1 w 56"/>
                <a:gd name="T23" fmla="*/ 0 h 54"/>
                <a:gd name="T24" fmla="*/ 1 w 56"/>
                <a:gd name="T25" fmla="*/ 0 h 54"/>
                <a:gd name="T26" fmla="*/ 1 w 56"/>
                <a:gd name="T27" fmla="*/ 0 h 54"/>
                <a:gd name="T28" fmla="*/ 1 w 56"/>
                <a:gd name="T29" fmla="*/ 0 h 54"/>
                <a:gd name="T30" fmla="*/ 1 w 56"/>
                <a:gd name="T31" fmla="*/ 0 h 54"/>
                <a:gd name="T32" fmla="*/ 1 w 56"/>
                <a:gd name="T33" fmla="*/ 0 h 54"/>
                <a:gd name="T34" fmla="*/ 1 w 56"/>
                <a:gd name="T35" fmla="*/ 0 h 54"/>
                <a:gd name="T36" fmla="*/ 1 w 56"/>
                <a:gd name="T37" fmla="*/ 0 h 54"/>
                <a:gd name="T38" fmla="*/ 1 w 56"/>
                <a:gd name="T39" fmla="*/ 0 h 54"/>
                <a:gd name="T40" fmla="*/ 1 w 56"/>
                <a:gd name="T41" fmla="*/ 0 h 54"/>
                <a:gd name="T42" fmla="*/ 1 w 56"/>
                <a:gd name="T43" fmla="*/ 0 h 54"/>
                <a:gd name="T44" fmla="*/ 1 w 56"/>
                <a:gd name="T45" fmla="*/ 0 h 54"/>
                <a:gd name="T46" fmla="*/ 1 w 56"/>
                <a:gd name="T47" fmla="*/ 0 h 54"/>
                <a:gd name="T48" fmla="*/ 1 w 56"/>
                <a:gd name="T49" fmla="*/ 0 h 54"/>
                <a:gd name="T50" fmla="*/ 1 w 56"/>
                <a:gd name="T51" fmla="*/ 0 h 54"/>
                <a:gd name="T52" fmla="*/ 1 w 56"/>
                <a:gd name="T53" fmla="*/ 0 h 54"/>
                <a:gd name="T54" fmla="*/ 1 w 56"/>
                <a:gd name="T55" fmla="*/ 0 h 54"/>
                <a:gd name="T56" fmla="*/ 1 w 56"/>
                <a:gd name="T57" fmla="*/ 0 h 54"/>
                <a:gd name="T58" fmla="*/ 1 w 56"/>
                <a:gd name="T59" fmla="*/ 0 h 54"/>
                <a:gd name="T60" fmla="*/ 1 w 56"/>
                <a:gd name="T61" fmla="*/ 0 h 54"/>
                <a:gd name="T62" fmla="*/ 1 w 56"/>
                <a:gd name="T63" fmla="*/ 0 h 54"/>
                <a:gd name="T64" fmla="*/ 0 w 56"/>
                <a:gd name="T65" fmla="*/ 0 h 54"/>
                <a:gd name="T66" fmla="*/ 0 w 56"/>
                <a:gd name="T67" fmla="*/ 0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3" y="12"/>
                  </a:lnTo>
                  <a:lnTo>
                    <a:pt x="7" y="9"/>
                  </a:lnTo>
                  <a:lnTo>
                    <a:pt x="12" y="5"/>
                  </a:lnTo>
                  <a:lnTo>
                    <a:pt x="16" y="2"/>
                  </a:lnTo>
                  <a:lnTo>
                    <a:pt x="21" y="0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38" y="2"/>
                  </a:lnTo>
                  <a:lnTo>
                    <a:pt x="44" y="5"/>
                  </a:lnTo>
                  <a:lnTo>
                    <a:pt x="47" y="9"/>
                  </a:lnTo>
                  <a:lnTo>
                    <a:pt x="51" y="12"/>
                  </a:lnTo>
                  <a:lnTo>
                    <a:pt x="52" y="17"/>
                  </a:lnTo>
                  <a:lnTo>
                    <a:pt x="54" y="22"/>
                  </a:lnTo>
                  <a:lnTo>
                    <a:pt x="56" y="27"/>
                  </a:lnTo>
                  <a:lnTo>
                    <a:pt x="54" y="32"/>
                  </a:lnTo>
                  <a:lnTo>
                    <a:pt x="52" y="37"/>
                  </a:lnTo>
                  <a:lnTo>
                    <a:pt x="51" y="42"/>
                  </a:lnTo>
                  <a:lnTo>
                    <a:pt x="47" y="45"/>
                  </a:lnTo>
                  <a:lnTo>
                    <a:pt x="44" y="49"/>
                  </a:lnTo>
                  <a:lnTo>
                    <a:pt x="38" y="52"/>
                  </a:lnTo>
                  <a:lnTo>
                    <a:pt x="33" y="54"/>
                  </a:lnTo>
                  <a:lnTo>
                    <a:pt x="28" y="54"/>
                  </a:lnTo>
                  <a:lnTo>
                    <a:pt x="21" y="54"/>
                  </a:lnTo>
                  <a:lnTo>
                    <a:pt x="16" y="52"/>
                  </a:lnTo>
                  <a:lnTo>
                    <a:pt x="12" y="49"/>
                  </a:lnTo>
                  <a:lnTo>
                    <a:pt x="7" y="45"/>
                  </a:lnTo>
                  <a:lnTo>
                    <a:pt x="3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01" name="Freeform 306"/>
            <p:cNvSpPr>
              <a:spLocks/>
            </p:cNvSpPr>
            <p:nvPr/>
          </p:nvSpPr>
          <p:spPr bwMode="auto">
            <a:xfrm>
              <a:off x="3693" y="906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1 h 54"/>
                <a:gd name="T16" fmla="*/ 1 w 56"/>
                <a:gd name="T17" fmla="*/ 0 h 54"/>
                <a:gd name="T18" fmla="*/ 1 w 56"/>
                <a:gd name="T19" fmla="*/ 1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4" y="12"/>
                  </a:lnTo>
                  <a:lnTo>
                    <a:pt x="7" y="9"/>
                  </a:lnTo>
                  <a:lnTo>
                    <a:pt x="13" y="5"/>
                  </a:lnTo>
                  <a:lnTo>
                    <a:pt x="18" y="4"/>
                  </a:lnTo>
                  <a:lnTo>
                    <a:pt x="23" y="2"/>
                  </a:lnTo>
                  <a:lnTo>
                    <a:pt x="28" y="0"/>
                  </a:lnTo>
                  <a:lnTo>
                    <a:pt x="34" y="2"/>
                  </a:lnTo>
                  <a:lnTo>
                    <a:pt x="39" y="4"/>
                  </a:lnTo>
                  <a:lnTo>
                    <a:pt x="44" y="5"/>
                  </a:lnTo>
                  <a:lnTo>
                    <a:pt x="48" y="9"/>
                  </a:lnTo>
                  <a:lnTo>
                    <a:pt x="51" y="12"/>
                  </a:lnTo>
                  <a:lnTo>
                    <a:pt x="55" y="17"/>
                  </a:lnTo>
                  <a:lnTo>
                    <a:pt x="55" y="22"/>
                  </a:lnTo>
                  <a:lnTo>
                    <a:pt x="56" y="27"/>
                  </a:lnTo>
                  <a:lnTo>
                    <a:pt x="55" y="34"/>
                  </a:lnTo>
                  <a:lnTo>
                    <a:pt x="55" y="39"/>
                  </a:lnTo>
                  <a:lnTo>
                    <a:pt x="51" y="42"/>
                  </a:lnTo>
                  <a:lnTo>
                    <a:pt x="48" y="47"/>
                  </a:lnTo>
                  <a:lnTo>
                    <a:pt x="44" y="51"/>
                  </a:lnTo>
                  <a:lnTo>
                    <a:pt x="39" y="52"/>
                  </a:lnTo>
                  <a:lnTo>
                    <a:pt x="34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8" y="52"/>
                  </a:lnTo>
                  <a:lnTo>
                    <a:pt x="13" y="51"/>
                  </a:lnTo>
                  <a:lnTo>
                    <a:pt x="7" y="47"/>
                  </a:lnTo>
                  <a:lnTo>
                    <a:pt x="4" y="42"/>
                  </a:lnTo>
                  <a:lnTo>
                    <a:pt x="2" y="39"/>
                  </a:lnTo>
                  <a:lnTo>
                    <a:pt x="0" y="34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02" name="Freeform 307"/>
            <p:cNvSpPr>
              <a:spLocks/>
            </p:cNvSpPr>
            <p:nvPr/>
          </p:nvSpPr>
          <p:spPr bwMode="auto">
            <a:xfrm>
              <a:off x="4026" y="906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1 h 54"/>
                <a:gd name="T16" fmla="*/ 1 w 56"/>
                <a:gd name="T17" fmla="*/ 0 h 54"/>
                <a:gd name="T18" fmla="*/ 1 w 56"/>
                <a:gd name="T19" fmla="*/ 1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6" y="12"/>
                  </a:lnTo>
                  <a:lnTo>
                    <a:pt x="9" y="9"/>
                  </a:lnTo>
                  <a:lnTo>
                    <a:pt x="13" y="5"/>
                  </a:lnTo>
                  <a:lnTo>
                    <a:pt x="18" y="4"/>
                  </a:lnTo>
                  <a:lnTo>
                    <a:pt x="23" y="2"/>
                  </a:lnTo>
                  <a:lnTo>
                    <a:pt x="28" y="0"/>
                  </a:lnTo>
                  <a:lnTo>
                    <a:pt x="34" y="2"/>
                  </a:lnTo>
                  <a:lnTo>
                    <a:pt x="39" y="4"/>
                  </a:lnTo>
                  <a:lnTo>
                    <a:pt x="44" y="5"/>
                  </a:lnTo>
                  <a:lnTo>
                    <a:pt x="47" y="9"/>
                  </a:lnTo>
                  <a:lnTo>
                    <a:pt x="51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4"/>
                  </a:lnTo>
                  <a:lnTo>
                    <a:pt x="54" y="39"/>
                  </a:lnTo>
                  <a:lnTo>
                    <a:pt x="51" y="42"/>
                  </a:lnTo>
                  <a:lnTo>
                    <a:pt x="47" y="47"/>
                  </a:lnTo>
                  <a:lnTo>
                    <a:pt x="44" y="51"/>
                  </a:lnTo>
                  <a:lnTo>
                    <a:pt x="39" y="52"/>
                  </a:lnTo>
                  <a:lnTo>
                    <a:pt x="34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8" y="52"/>
                  </a:lnTo>
                  <a:lnTo>
                    <a:pt x="13" y="51"/>
                  </a:lnTo>
                  <a:lnTo>
                    <a:pt x="9" y="47"/>
                  </a:lnTo>
                  <a:lnTo>
                    <a:pt x="6" y="42"/>
                  </a:lnTo>
                  <a:lnTo>
                    <a:pt x="2" y="39"/>
                  </a:lnTo>
                  <a:lnTo>
                    <a:pt x="0" y="34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03" name="Freeform 308"/>
            <p:cNvSpPr>
              <a:spLocks/>
            </p:cNvSpPr>
            <p:nvPr/>
          </p:nvSpPr>
          <p:spPr bwMode="auto">
            <a:xfrm>
              <a:off x="5056" y="1010"/>
              <a:ext cx="54" cy="15"/>
            </a:xfrm>
            <a:custGeom>
              <a:avLst/>
              <a:gdLst>
                <a:gd name="T0" fmla="*/ 1 w 108"/>
                <a:gd name="T1" fmla="*/ 1 h 30"/>
                <a:gd name="T2" fmla="*/ 0 w 108"/>
                <a:gd name="T3" fmla="*/ 0 h 30"/>
                <a:gd name="T4" fmla="*/ 0 w 108"/>
                <a:gd name="T5" fmla="*/ 1 h 30"/>
                <a:gd name="T6" fmla="*/ 1 w 108"/>
                <a:gd name="T7" fmla="*/ 1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30"/>
                <a:gd name="T14" fmla="*/ 108 w 108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30">
                  <a:moveTo>
                    <a:pt x="108" y="15"/>
                  </a:moveTo>
                  <a:lnTo>
                    <a:pt x="0" y="0"/>
                  </a:lnTo>
                  <a:lnTo>
                    <a:pt x="0" y="30"/>
                  </a:lnTo>
                  <a:lnTo>
                    <a:pt x="108" y="15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04" name="Freeform 309"/>
            <p:cNvSpPr>
              <a:spLocks/>
            </p:cNvSpPr>
            <p:nvPr/>
          </p:nvSpPr>
          <p:spPr bwMode="auto">
            <a:xfrm>
              <a:off x="5056" y="1010"/>
              <a:ext cx="54" cy="15"/>
            </a:xfrm>
            <a:custGeom>
              <a:avLst/>
              <a:gdLst>
                <a:gd name="T0" fmla="*/ 1 w 108"/>
                <a:gd name="T1" fmla="*/ 1 h 30"/>
                <a:gd name="T2" fmla="*/ 0 w 108"/>
                <a:gd name="T3" fmla="*/ 0 h 30"/>
                <a:gd name="T4" fmla="*/ 0 w 108"/>
                <a:gd name="T5" fmla="*/ 1 h 30"/>
                <a:gd name="T6" fmla="*/ 1 w 108"/>
                <a:gd name="T7" fmla="*/ 1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30"/>
                <a:gd name="T14" fmla="*/ 108 w 108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30">
                  <a:moveTo>
                    <a:pt x="108" y="15"/>
                  </a:moveTo>
                  <a:lnTo>
                    <a:pt x="0" y="0"/>
                  </a:lnTo>
                  <a:lnTo>
                    <a:pt x="0" y="30"/>
                  </a:lnTo>
                  <a:lnTo>
                    <a:pt x="108" y="15"/>
                  </a:lnTo>
                  <a:close/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05" name="Line 310"/>
            <p:cNvSpPr>
              <a:spLocks noChangeShapeType="1"/>
            </p:cNvSpPr>
            <p:nvPr/>
          </p:nvSpPr>
          <p:spPr bwMode="auto">
            <a:xfrm flipH="1">
              <a:off x="4986" y="1017"/>
              <a:ext cx="70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06" name="Freeform 311"/>
            <p:cNvSpPr>
              <a:spLocks/>
            </p:cNvSpPr>
            <p:nvPr/>
          </p:nvSpPr>
          <p:spPr bwMode="auto">
            <a:xfrm>
              <a:off x="5325" y="1052"/>
              <a:ext cx="55" cy="15"/>
            </a:xfrm>
            <a:custGeom>
              <a:avLst/>
              <a:gdLst>
                <a:gd name="T0" fmla="*/ 1 w 110"/>
                <a:gd name="T1" fmla="*/ 0 h 31"/>
                <a:gd name="T2" fmla="*/ 0 w 110"/>
                <a:gd name="T3" fmla="*/ 0 h 31"/>
                <a:gd name="T4" fmla="*/ 0 w 110"/>
                <a:gd name="T5" fmla="*/ 0 h 31"/>
                <a:gd name="T6" fmla="*/ 1 w 110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0"/>
                <a:gd name="T13" fmla="*/ 0 h 31"/>
                <a:gd name="T14" fmla="*/ 110 w 110"/>
                <a:gd name="T15" fmla="*/ 31 h 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0" h="31">
                  <a:moveTo>
                    <a:pt x="110" y="16"/>
                  </a:moveTo>
                  <a:lnTo>
                    <a:pt x="0" y="0"/>
                  </a:lnTo>
                  <a:lnTo>
                    <a:pt x="0" y="31"/>
                  </a:lnTo>
                  <a:lnTo>
                    <a:pt x="110" y="16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07" name="Freeform 312"/>
            <p:cNvSpPr>
              <a:spLocks/>
            </p:cNvSpPr>
            <p:nvPr/>
          </p:nvSpPr>
          <p:spPr bwMode="auto">
            <a:xfrm>
              <a:off x="5325" y="1052"/>
              <a:ext cx="55" cy="15"/>
            </a:xfrm>
            <a:custGeom>
              <a:avLst/>
              <a:gdLst>
                <a:gd name="T0" fmla="*/ 1 w 110"/>
                <a:gd name="T1" fmla="*/ 0 h 31"/>
                <a:gd name="T2" fmla="*/ 0 w 110"/>
                <a:gd name="T3" fmla="*/ 0 h 31"/>
                <a:gd name="T4" fmla="*/ 0 w 110"/>
                <a:gd name="T5" fmla="*/ 0 h 31"/>
                <a:gd name="T6" fmla="*/ 1 w 110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0"/>
                <a:gd name="T13" fmla="*/ 0 h 31"/>
                <a:gd name="T14" fmla="*/ 110 w 110"/>
                <a:gd name="T15" fmla="*/ 31 h 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0" h="31">
                  <a:moveTo>
                    <a:pt x="110" y="16"/>
                  </a:moveTo>
                  <a:lnTo>
                    <a:pt x="0" y="0"/>
                  </a:lnTo>
                  <a:lnTo>
                    <a:pt x="0" y="31"/>
                  </a:lnTo>
                  <a:lnTo>
                    <a:pt x="110" y="16"/>
                  </a:lnTo>
                  <a:close/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08" name="Line 313"/>
            <p:cNvSpPr>
              <a:spLocks noChangeShapeType="1"/>
            </p:cNvSpPr>
            <p:nvPr/>
          </p:nvSpPr>
          <p:spPr bwMode="auto">
            <a:xfrm flipH="1">
              <a:off x="5255" y="1059"/>
              <a:ext cx="70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09" name="Rectangle 314"/>
            <p:cNvSpPr>
              <a:spLocks noChangeArrowheads="1"/>
            </p:cNvSpPr>
            <p:nvPr/>
          </p:nvSpPr>
          <p:spPr bwMode="auto">
            <a:xfrm>
              <a:off x="5051" y="932"/>
              <a:ext cx="31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 i="1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  <a:endParaRPr lang="en-US" altLang="zh-CN"/>
            </a:p>
          </p:txBody>
        </p:sp>
        <p:sp>
          <p:nvSpPr>
            <p:cNvPr id="84110" name="Rectangle 315"/>
            <p:cNvSpPr>
              <a:spLocks noChangeArrowheads="1"/>
            </p:cNvSpPr>
            <p:nvPr/>
          </p:nvSpPr>
          <p:spPr bwMode="auto">
            <a:xfrm>
              <a:off x="5030" y="890"/>
              <a:ext cx="2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endParaRPr lang="en-US" altLang="zh-CN"/>
            </a:p>
          </p:txBody>
        </p:sp>
        <p:sp>
          <p:nvSpPr>
            <p:cNvPr id="84111" name="Rectangle 316"/>
            <p:cNvSpPr>
              <a:spLocks noChangeArrowheads="1"/>
            </p:cNvSpPr>
            <p:nvPr/>
          </p:nvSpPr>
          <p:spPr bwMode="auto">
            <a:xfrm>
              <a:off x="5288" y="962"/>
              <a:ext cx="4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宋体" pitchFamily="2" charset="-122"/>
                </a:rPr>
                <a:t>I</a:t>
              </a:r>
              <a:endParaRPr lang="en-US" altLang="zh-CN"/>
            </a:p>
          </p:txBody>
        </p:sp>
        <p:sp>
          <p:nvSpPr>
            <p:cNvPr id="84112" name="Rectangle 317"/>
            <p:cNvSpPr>
              <a:spLocks noChangeArrowheads="1"/>
            </p:cNvSpPr>
            <p:nvPr/>
          </p:nvSpPr>
          <p:spPr bwMode="auto">
            <a:xfrm>
              <a:off x="5328" y="992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宋体" pitchFamily="2" charset="-122"/>
                </a:rPr>
                <a:t>o</a:t>
              </a:r>
              <a:endParaRPr lang="en-US" altLang="zh-CN"/>
            </a:p>
          </p:txBody>
        </p:sp>
        <p:sp>
          <p:nvSpPr>
            <p:cNvPr id="84113" name="Rectangle 318"/>
            <p:cNvSpPr>
              <a:spLocks noChangeArrowheads="1"/>
            </p:cNvSpPr>
            <p:nvPr/>
          </p:nvSpPr>
          <p:spPr bwMode="auto">
            <a:xfrm>
              <a:off x="4450" y="1940"/>
              <a:ext cx="19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宋体" pitchFamily="2" charset="-122"/>
                </a:rPr>
                <a:t>(a)</a:t>
              </a:r>
              <a:endParaRPr lang="en-US" altLang="zh-CN" sz="1600"/>
            </a:p>
          </p:txBody>
        </p:sp>
        <p:sp>
          <p:nvSpPr>
            <p:cNvPr id="84114" name="Freeform 319"/>
            <p:cNvSpPr>
              <a:spLocks noEditPoints="1"/>
            </p:cNvSpPr>
            <p:nvPr/>
          </p:nvSpPr>
          <p:spPr bwMode="auto">
            <a:xfrm>
              <a:off x="3696" y="1028"/>
              <a:ext cx="14" cy="118"/>
            </a:xfrm>
            <a:custGeom>
              <a:avLst/>
              <a:gdLst>
                <a:gd name="T0" fmla="*/ 1 w 28"/>
                <a:gd name="T1" fmla="*/ 1 h 236"/>
                <a:gd name="T2" fmla="*/ 1 w 28"/>
                <a:gd name="T3" fmla="*/ 1 h 236"/>
                <a:gd name="T4" fmla="*/ 1 w 28"/>
                <a:gd name="T5" fmla="*/ 1 h 236"/>
                <a:gd name="T6" fmla="*/ 1 w 28"/>
                <a:gd name="T7" fmla="*/ 1 h 236"/>
                <a:gd name="T8" fmla="*/ 1 w 28"/>
                <a:gd name="T9" fmla="*/ 1 h 236"/>
                <a:gd name="T10" fmla="*/ 1 w 28"/>
                <a:gd name="T11" fmla="*/ 1 h 236"/>
                <a:gd name="T12" fmla="*/ 1 w 28"/>
                <a:gd name="T13" fmla="*/ 1 h 236"/>
                <a:gd name="T14" fmla="*/ 1 w 28"/>
                <a:gd name="T15" fmla="*/ 1 h 236"/>
                <a:gd name="T16" fmla="*/ 1 w 28"/>
                <a:gd name="T17" fmla="*/ 1 h 236"/>
                <a:gd name="T18" fmla="*/ 1 w 28"/>
                <a:gd name="T19" fmla="*/ 1 h 236"/>
                <a:gd name="T20" fmla="*/ 1 w 28"/>
                <a:gd name="T21" fmla="*/ 1 h 236"/>
                <a:gd name="T22" fmla="*/ 1 w 28"/>
                <a:gd name="T23" fmla="*/ 1 h 236"/>
                <a:gd name="T24" fmla="*/ 1 w 28"/>
                <a:gd name="T25" fmla="*/ 1 h 236"/>
                <a:gd name="T26" fmla="*/ 1 w 28"/>
                <a:gd name="T27" fmla="*/ 1 h 236"/>
                <a:gd name="T28" fmla="*/ 1 w 28"/>
                <a:gd name="T29" fmla="*/ 1 h 236"/>
                <a:gd name="T30" fmla="*/ 1 w 28"/>
                <a:gd name="T31" fmla="*/ 1 h 236"/>
                <a:gd name="T32" fmla="*/ 1 w 28"/>
                <a:gd name="T33" fmla="*/ 1 h 236"/>
                <a:gd name="T34" fmla="*/ 1 w 28"/>
                <a:gd name="T35" fmla="*/ 1 h 236"/>
                <a:gd name="T36" fmla="*/ 1 w 28"/>
                <a:gd name="T37" fmla="*/ 0 h 236"/>
                <a:gd name="T38" fmla="*/ 1 w 28"/>
                <a:gd name="T39" fmla="*/ 1 h 236"/>
                <a:gd name="T40" fmla="*/ 1 w 28"/>
                <a:gd name="T41" fmla="*/ 1 h 236"/>
                <a:gd name="T42" fmla="*/ 1 w 28"/>
                <a:gd name="T43" fmla="*/ 1 h 236"/>
                <a:gd name="T44" fmla="*/ 1 w 28"/>
                <a:gd name="T45" fmla="*/ 1 h 236"/>
                <a:gd name="T46" fmla="*/ 1 w 28"/>
                <a:gd name="T47" fmla="*/ 1 h 236"/>
                <a:gd name="T48" fmla="*/ 1 w 28"/>
                <a:gd name="T49" fmla="*/ 1 h 236"/>
                <a:gd name="T50" fmla="*/ 1 w 28"/>
                <a:gd name="T51" fmla="*/ 1 h 236"/>
                <a:gd name="T52" fmla="*/ 1 w 28"/>
                <a:gd name="T53" fmla="*/ 1 h 236"/>
                <a:gd name="T54" fmla="*/ 1 w 28"/>
                <a:gd name="T55" fmla="*/ 1 h 236"/>
                <a:gd name="T56" fmla="*/ 1 w 28"/>
                <a:gd name="T57" fmla="*/ 1 h 236"/>
                <a:gd name="T58" fmla="*/ 1 w 28"/>
                <a:gd name="T59" fmla="*/ 1 h 236"/>
                <a:gd name="T60" fmla="*/ 1 w 28"/>
                <a:gd name="T61" fmla="*/ 1 h 236"/>
                <a:gd name="T62" fmla="*/ 1 w 28"/>
                <a:gd name="T63" fmla="*/ 1 h 236"/>
                <a:gd name="T64" fmla="*/ 1 w 28"/>
                <a:gd name="T65" fmla="*/ 1 h 236"/>
                <a:gd name="T66" fmla="*/ 1 w 28"/>
                <a:gd name="T67" fmla="*/ 1 h 236"/>
                <a:gd name="T68" fmla="*/ 1 w 28"/>
                <a:gd name="T69" fmla="*/ 0 h 236"/>
                <a:gd name="T70" fmla="*/ 1 w 28"/>
                <a:gd name="T71" fmla="*/ 0 h 2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8"/>
                <a:gd name="T109" fmla="*/ 0 h 236"/>
                <a:gd name="T110" fmla="*/ 28 w 28"/>
                <a:gd name="T111" fmla="*/ 236 h 2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8" h="236">
                  <a:moveTo>
                    <a:pt x="14" y="209"/>
                  </a:moveTo>
                  <a:lnTo>
                    <a:pt x="13" y="210"/>
                  </a:lnTo>
                  <a:lnTo>
                    <a:pt x="9" y="210"/>
                  </a:lnTo>
                  <a:lnTo>
                    <a:pt x="7" y="212"/>
                  </a:lnTo>
                  <a:lnTo>
                    <a:pt x="6" y="214"/>
                  </a:lnTo>
                  <a:lnTo>
                    <a:pt x="4" y="215"/>
                  </a:lnTo>
                  <a:lnTo>
                    <a:pt x="2" y="217"/>
                  </a:lnTo>
                  <a:lnTo>
                    <a:pt x="2" y="220"/>
                  </a:lnTo>
                  <a:lnTo>
                    <a:pt x="0" y="222"/>
                  </a:lnTo>
                  <a:lnTo>
                    <a:pt x="2" y="226"/>
                  </a:lnTo>
                  <a:lnTo>
                    <a:pt x="2" y="227"/>
                  </a:lnTo>
                  <a:lnTo>
                    <a:pt x="4" y="231"/>
                  </a:lnTo>
                  <a:lnTo>
                    <a:pt x="6" y="232"/>
                  </a:lnTo>
                  <a:lnTo>
                    <a:pt x="7" y="234"/>
                  </a:lnTo>
                  <a:lnTo>
                    <a:pt x="9" y="234"/>
                  </a:lnTo>
                  <a:lnTo>
                    <a:pt x="13" y="236"/>
                  </a:lnTo>
                  <a:lnTo>
                    <a:pt x="14" y="236"/>
                  </a:lnTo>
                  <a:lnTo>
                    <a:pt x="18" y="236"/>
                  </a:lnTo>
                  <a:lnTo>
                    <a:pt x="20" y="234"/>
                  </a:lnTo>
                  <a:lnTo>
                    <a:pt x="23" y="234"/>
                  </a:lnTo>
                  <a:lnTo>
                    <a:pt x="25" y="232"/>
                  </a:lnTo>
                  <a:lnTo>
                    <a:pt x="27" y="231"/>
                  </a:lnTo>
                  <a:lnTo>
                    <a:pt x="27" y="227"/>
                  </a:lnTo>
                  <a:lnTo>
                    <a:pt x="28" y="226"/>
                  </a:lnTo>
                  <a:lnTo>
                    <a:pt x="28" y="222"/>
                  </a:lnTo>
                  <a:lnTo>
                    <a:pt x="28" y="220"/>
                  </a:lnTo>
                  <a:lnTo>
                    <a:pt x="27" y="217"/>
                  </a:lnTo>
                  <a:lnTo>
                    <a:pt x="27" y="215"/>
                  </a:lnTo>
                  <a:lnTo>
                    <a:pt x="25" y="214"/>
                  </a:lnTo>
                  <a:lnTo>
                    <a:pt x="23" y="212"/>
                  </a:lnTo>
                  <a:lnTo>
                    <a:pt x="20" y="210"/>
                  </a:lnTo>
                  <a:lnTo>
                    <a:pt x="18" y="210"/>
                  </a:lnTo>
                  <a:lnTo>
                    <a:pt x="14" y="209"/>
                  </a:lnTo>
                  <a:close/>
                  <a:moveTo>
                    <a:pt x="14" y="0"/>
                  </a:moveTo>
                  <a:lnTo>
                    <a:pt x="13" y="0"/>
                  </a:lnTo>
                  <a:lnTo>
                    <a:pt x="9" y="1"/>
                  </a:lnTo>
                  <a:lnTo>
                    <a:pt x="7" y="1"/>
                  </a:lnTo>
                  <a:lnTo>
                    <a:pt x="6" y="3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2" y="15"/>
                  </a:lnTo>
                  <a:lnTo>
                    <a:pt x="2" y="18"/>
                  </a:lnTo>
                  <a:lnTo>
                    <a:pt x="4" y="20"/>
                  </a:lnTo>
                  <a:lnTo>
                    <a:pt x="6" y="21"/>
                  </a:lnTo>
                  <a:lnTo>
                    <a:pt x="7" y="23"/>
                  </a:lnTo>
                  <a:lnTo>
                    <a:pt x="9" y="25"/>
                  </a:lnTo>
                  <a:lnTo>
                    <a:pt x="13" y="26"/>
                  </a:lnTo>
                  <a:lnTo>
                    <a:pt x="14" y="26"/>
                  </a:lnTo>
                  <a:lnTo>
                    <a:pt x="18" y="26"/>
                  </a:lnTo>
                  <a:lnTo>
                    <a:pt x="20" y="25"/>
                  </a:lnTo>
                  <a:lnTo>
                    <a:pt x="23" y="23"/>
                  </a:lnTo>
                  <a:lnTo>
                    <a:pt x="25" y="21"/>
                  </a:lnTo>
                  <a:lnTo>
                    <a:pt x="27" y="20"/>
                  </a:lnTo>
                  <a:lnTo>
                    <a:pt x="27" y="18"/>
                  </a:lnTo>
                  <a:lnTo>
                    <a:pt x="28" y="15"/>
                  </a:lnTo>
                  <a:lnTo>
                    <a:pt x="28" y="13"/>
                  </a:lnTo>
                  <a:lnTo>
                    <a:pt x="28" y="10"/>
                  </a:lnTo>
                  <a:lnTo>
                    <a:pt x="27" y="8"/>
                  </a:lnTo>
                  <a:lnTo>
                    <a:pt x="27" y="6"/>
                  </a:lnTo>
                  <a:lnTo>
                    <a:pt x="25" y="3"/>
                  </a:lnTo>
                  <a:lnTo>
                    <a:pt x="23" y="1"/>
                  </a:lnTo>
                  <a:lnTo>
                    <a:pt x="20" y="1"/>
                  </a:lnTo>
                  <a:lnTo>
                    <a:pt x="18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15" name="Freeform 320"/>
            <p:cNvSpPr>
              <a:spLocks/>
            </p:cNvSpPr>
            <p:nvPr/>
          </p:nvSpPr>
          <p:spPr bwMode="auto">
            <a:xfrm>
              <a:off x="3696" y="1133"/>
              <a:ext cx="14" cy="13"/>
            </a:xfrm>
            <a:custGeom>
              <a:avLst/>
              <a:gdLst>
                <a:gd name="T0" fmla="*/ 1 w 28"/>
                <a:gd name="T1" fmla="*/ 0 h 27"/>
                <a:gd name="T2" fmla="*/ 1 w 28"/>
                <a:gd name="T3" fmla="*/ 0 h 27"/>
                <a:gd name="T4" fmla="*/ 1 w 28"/>
                <a:gd name="T5" fmla="*/ 0 h 27"/>
                <a:gd name="T6" fmla="*/ 1 w 28"/>
                <a:gd name="T7" fmla="*/ 0 h 27"/>
                <a:gd name="T8" fmla="*/ 1 w 28"/>
                <a:gd name="T9" fmla="*/ 0 h 27"/>
                <a:gd name="T10" fmla="*/ 1 w 28"/>
                <a:gd name="T11" fmla="*/ 0 h 27"/>
                <a:gd name="T12" fmla="*/ 1 w 28"/>
                <a:gd name="T13" fmla="*/ 0 h 27"/>
                <a:gd name="T14" fmla="*/ 1 w 28"/>
                <a:gd name="T15" fmla="*/ 0 h 27"/>
                <a:gd name="T16" fmla="*/ 0 w 28"/>
                <a:gd name="T17" fmla="*/ 0 h 27"/>
                <a:gd name="T18" fmla="*/ 1 w 28"/>
                <a:gd name="T19" fmla="*/ 0 h 27"/>
                <a:gd name="T20" fmla="*/ 1 w 28"/>
                <a:gd name="T21" fmla="*/ 0 h 27"/>
                <a:gd name="T22" fmla="*/ 1 w 28"/>
                <a:gd name="T23" fmla="*/ 0 h 27"/>
                <a:gd name="T24" fmla="*/ 1 w 28"/>
                <a:gd name="T25" fmla="*/ 0 h 27"/>
                <a:gd name="T26" fmla="*/ 1 w 28"/>
                <a:gd name="T27" fmla="*/ 0 h 27"/>
                <a:gd name="T28" fmla="*/ 1 w 28"/>
                <a:gd name="T29" fmla="*/ 0 h 27"/>
                <a:gd name="T30" fmla="*/ 1 w 28"/>
                <a:gd name="T31" fmla="*/ 0 h 27"/>
                <a:gd name="T32" fmla="*/ 1 w 28"/>
                <a:gd name="T33" fmla="*/ 0 h 27"/>
                <a:gd name="T34" fmla="*/ 1 w 28"/>
                <a:gd name="T35" fmla="*/ 0 h 27"/>
                <a:gd name="T36" fmla="*/ 1 w 28"/>
                <a:gd name="T37" fmla="*/ 0 h 27"/>
                <a:gd name="T38" fmla="*/ 1 w 28"/>
                <a:gd name="T39" fmla="*/ 0 h 27"/>
                <a:gd name="T40" fmla="*/ 1 w 28"/>
                <a:gd name="T41" fmla="*/ 0 h 27"/>
                <a:gd name="T42" fmla="*/ 1 w 28"/>
                <a:gd name="T43" fmla="*/ 0 h 27"/>
                <a:gd name="T44" fmla="*/ 1 w 28"/>
                <a:gd name="T45" fmla="*/ 0 h 27"/>
                <a:gd name="T46" fmla="*/ 1 w 28"/>
                <a:gd name="T47" fmla="*/ 0 h 27"/>
                <a:gd name="T48" fmla="*/ 1 w 28"/>
                <a:gd name="T49" fmla="*/ 0 h 27"/>
                <a:gd name="T50" fmla="*/ 1 w 28"/>
                <a:gd name="T51" fmla="*/ 0 h 27"/>
                <a:gd name="T52" fmla="*/ 1 w 28"/>
                <a:gd name="T53" fmla="*/ 0 h 27"/>
                <a:gd name="T54" fmla="*/ 1 w 28"/>
                <a:gd name="T55" fmla="*/ 0 h 27"/>
                <a:gd name="T56" fmla="*/ 1 w 28"/>
                <a:gd name="T57" fmla="*/ 0 h 27"/>
                <a:gd name="T58" fmla="*/ 1 w 28"/>
                <a:gd name="T59" fmla="*/ 0 h 27"/>
                <a:gd name="T60" fmla="*/ 1 w 28"/>
                <a:gd name="T61" fmla="*/ 0 h 27"/>
                <a:gd name="T62" fmla="*/ 1 w 28"/>
                <a:gd name="T63" fmla="*/ 0 h 27"/>
                <a:gd name="T64" fmla="*/ 1 w 28"/>
                <a:gd name="T65" fmla="*/ 0 h 27"/>
                <a:gd name="T66" fmla="*/ 1 w 28"/>
                <a:gd name="T67" fmla="*/ 0 h 27"/>
                <a:gd name="T68" fmla="*/ 1 w 28"/>
                <a:gd name="T69" fmla="*/ 0 h 2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7"/>
                <a:gd name="T107" fmla="*/ 28 w 28"/>
                <a:gd name="T108" fmla="*/ 27 h 2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7">
                  <a:moveTo>
                    <a:pt x="14" y="0"/>
                  </a:moveTo>
                  <a:lnTo>
                    <a:pt x="13" y="1"/>
                  </a:lnTo>
                  <a:lnTo>
                    <a:pt x="9" y="1"/>
                  </a:lnTo>
                  <a:lnTo>
                    <a:pt x="7" y="3"/>
                  </a:lnTo>
                  <a:lnTo>
                    <a:pt x="6" y="5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2" y="18"/>
                  </a:lnTo>
                  <a:lnTo>
                    <a:pt x="4" y="22"/>
                  </a:lnTo>
                  <a:lnTo>
                    <a:pt x="6" y="23"/>
                  </a:lnTo>
                  <a:lnTo>
                    <a:pt x="7" y="25"/>
                  </a:lnTo>
                  <a:lnTo>
                    <a:pt x="9" y="25"/>
                  </a:lnTo>
                  <a:lnTo>
                    <a:pt x="13" y="27"/>
                  </a:lnTo>
                  <a:lnTo>
                    <a:pt x="14" y="27"/>
                  </a:lnTo>
                  <a:lnTo>
                    <a:pt x="18" y="27"/>
                  </a:lnTo>
                  <a:lnTo>
                    <a:pt x="20" y="25"/>
                  </a:lnTo>
                  <a:lnTo>
                    <a:pt x="23" y="25"/>
                  </a:lnTo>
                  <a:lnTo>
                    <a:pt x="25" y="23"/>
                  </a:lnTo>
                  <a:lnTo>
                    <a:pt x="27" y="22"/>
                  </a:lnTo>
                  <a:lnTo>
                    <a:pt x="27" y="18"/>
                  </a:lnTo>
                  <a:lnTo>
                    <a:pt x="28" y="17"/>
                  </a:lnTo>
                  <a:lnTo>
                    <a:pt x="28" y="13"/>
                  </a:lnTo>
                  <a:lnTo>
                    <a:pt x="28" y="11"/>
                  </a:lnTo>
                  <a:lnTo>
                    <a:pt x="27" y="8"/>
                  </a:lnTo>
                  <a:lnTo>
                    <a:pt x="27" y="6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16" name="Freeform 321"/>
            <p:cNvSpPr>
              <a:spLocks/>
            </p:cNvSpPr>
            <p:nvPr/>
          </p:nvSpPr>
          <p:spPr bwMode="auto">
            <a:xfrm>
              <a:off x="3696" y="1028"/>
              <a:ext cx="14" cy="14"/>
            </a:xfrm>
            <a:custGeom>
              <a:avLst/>
              <a:gdLst>
                <a:gd name="T0" fmla="*/ 1 w 28"/>
                <a:gd name="T1" fmla="*/ 0 h 26"/>
                <a:gd name="T2" fmla="*/ 1 w 28"/>
                <a:gd name="T3" fmla="*/ 0 h 26"/>
                <a:gd name="T4" fmla="*/ 1 w 28"/>
                <a:gd name="T5" fmla="*/ 1 h 26"/>
                <a:gd name="T6" fmla="*/ 1 w 28"/>
                <a:gd name="T7" fmla="*/ 1 h 26"/>
                <a:gd name="T8" fmla="*/ 1 w 28"/>
                <a:gd name="T9" fmla="*/ 1 h 26"/>
                <a:gd name="T10" fmla="*/ 1 w 28"/>
                <a:gd name="T11" fmla="*/ 1 h 26"/>
                <a:gd name="T12" fmla="*/ 1 w 28"/>
                <a:gd name="T13" fmla="*/ 1 h 26"/>
                <a:gd name="T14" fmla="*/ 1 w 28"/>
                <a:gd name="T15" fmla="*/ 1 h 26"/>
                <a:gd name="T16" fmla="*/ 0 w 28"/>
                <a:gd name="T17" fmla="*/ 1 h 26"/>
                <a:gd name="T18" fmla="*/ 1 w 28"/>
                <a:gd name="T19" fmla="*/ 1 h 26"/>
                <a:gd name="T20" fmla="*/ 1 w 28"/>
                <a:gd name="T21" fmla="*/ 1 h 26"/>
                <a:gd name="T22" fmla="*/ 1 w 28"/>
                <a:gd name="T23" fmla="*/ 1 h 26"/>
                <a:gd name="T24" fmla="*/ 1 w 28"/>
                <a:gd name="T25" fmla="*/ 1 h 26"/>
                <a:gd name="T26" fmla="*/ 1 w 28"/>
                <a:gd name="T27" fmla="*/ 1 h 26"/>
                <a:gd name="T28" fmla="*/ 1 w 28"/>
                <a:gd name="T29" fmla="*/ 1 h 26"/>
                <a:gd name="T30" fmla="*/ 1 w 28"/>
                <a:gd name="T31" fmla="*/ 1 h 26"/>
                <a:gd name="T32" fmla="*/ 1 w 28"/>
                <a:gd name="T33" fmla="*/ 1 h 26"/>
                <a:gd name="T34" fmla="*/ 1 w 28"/>
                <a:gd name="T35" fmla="*/ 1 h 26"/>
                <a:gd name="T36" fmla="*/ 1 w 28"/>
                <a:gd name="T37" fmla="*/ 1 h 26"/>
                <a:gd name="T38" fmla="*/ 1 w 28"/>
                <a:gd name="T39" fmla="*/ 1 h 26"/>
                <a:gd name="T40" fmla="*/ 1 w 28"/>
                <a:gd name="T41" fmla="*/ 1 h 26"/>
                <a:gd name="T42" fmla="*/ 1 w 28"/>
                <a:gd name="T43" fmla="*/ 1 h 26"/>
                <a:gd name="T44" fmla="*/ 1 w 28"/>
                <a:gd name="T45" fmla="*/ 1 h 26"/>
                <a:gd name="T46" fmla="*/ 1 w 28"/>
                <a:gd name="T47" fmla="*/ 1 h 26"/>
                <a:gd name="T48" fmla="*/ 1 w 28"/>
                <a:gd name="T49" fmla="*/ 1 h 26"/>
                <a:gd name="T50" fmla="*/ 1 w 28"/>
                <a:gd name="T51" fmla="*/ 1 h 26"/>
                <a:gd name="T52" fmla="*/ 1 w 28"/>
                <a:gd name="T53" fmla="*/ 1 h 26"/>
                <a:gd name="T54" fmla="*/ 1 w 28"/>
                <a:gd name="T55" fmla="*/ 1 h 26"/>
                <a:gd name="T56" fmla="*/ 1 w 28"/>
                <a:gd name="T57" fmla="*/ 1 h 26"/>
                <a:gd name="T58" fmla="*/ 1 w 28"/>
                <a:gd name="T59" fmla="*/ 1 h 26"/>
                <a:gd name="T60" fmla="*/ 1 w 28"/>
                <a:gd name="T61" fmla="*/ 1 h 26"/>
                <a:gd name="T62" fmla="*/ 1 w 28"/>
                <a:gd name="T63" fmla="*/ 1 h 26"/>
                <a:gd name="T64" fmla="*/ 1 w 28"/>
                <a:gd name="T65" fmla="*/ 0 h 26"/>
                <a:gd name="T66" fmla="*/ 1 w 28"/>
                <a:gd name="T67" fmla="*/ 0 h 26"/>
                <a:gd name="T68" fmla="*/ 1 w 28"/>
                <a:gd name="T69" fmla="*/ 0 h 2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6"/>
                <a:gd name="T107" fmla="*/ 28 w 28"/>
                <a:gd name="T108" fmla="*/ 26 h 2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6">
                  <a:moveTo>
                    <a:pt x="14" y="0"/>
                  </a:moveTo>
                  <a:lnTo>
                    <a:pt x="13" y="0"/>
                  </a:lnTo>
                  <a:lnTo>
                    <a:pt x="9" y="1"/>
                  </a:lnTo>
                  <a:lnTo>
                    <a:pt x="7" y="1"/>
                  </a:lnTo>
                  <a:lnTo>
                    <a:pt x="6" y="3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2" y="15"/>
                  </a:lnTo>
                  <a:lnTo>
                    <a:pt x="2" y="18"/>
                  </a:lnTo>
                  <a:lnTo>
                    <a:pt x="4" y="20"/>
                  </a:lnTo>
                  <a:lnTo>
                    <a:pt x="6" y="21"/>
                  </a:lnTo>
                  <a:lnTo>
                    <a:pt x="7" y="23"/>
                  </a:lnTo>
                  <a:lnTo>
                    <a:pt x="9" y="25"/>
                  </a:lnTo>
                  <a:lnTo>
                    <a:pt x="13" y="26"/>
                  </a:lnTo>
                  <a:lnTo>
                    <a:pt x="14" y="26"/>
                  </a:lnTo>
                  <a:lnTo>
                    <a:pt x="18" y="26"/>
                  </a:lnTo>
                  <a:lnTo>
                    <a:pt x="20" y="25"/>
                  </a:lnTo>
                  <a:lnTo>
                    <a:pt x="23" y="23"/>
                  </a:lnTo>
                  <a:lnTo>
                    <a:pt x="25" y="21"/>
                  </a:lnTo>
                  <a:lnTo>
                    <a:pt x="27" y="20"/>
                  </a:lnTo>
                  <a:lnTo>
                    <a:pt x="27" y="18"/>
                  </a:lnTo>
                  <a:lnTo>
                    <a:pt x="28" y="15"/>
                  </a:lnTo>
                  <a:lnTo>
                    <a:pt x="28" y="13"/>
                  </a:lnTo>
                  <a:lnTo>
                    <a:pt x="28" y="10"/>
                  </a:lnTo>
                  <a:lnTo>
                    <a:pt x="27" y="8"/>
                  </a:lnTo>
                  <a:lnTo>
                    <a:pt x="27" y="6"/>
                  </a:lnTo>
                  <a:lnTo>
                    <a:pt x="25" y="3"/>
                  </a:lnTo>
                  <a:lnTo>
                    <a:pt x="23" y="1"/>
                  </a:lnTo>
                  <a:lnTo>
                    <a:pt x="20" y="1"/>
                  </a:lnTo>
                  <a:lnTo>
                    <a:pt x="18" y="0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17" name="Line 322"/>
            <p:cNvSpPr>
              <a:spLocks noChangeShapeType="1"/>
            </p:cNvSpPr>
            <p:nvPr/>
          </p:nvSpPr>
          <p:spPr bwMode="auto">
            <a:xfrm>
              <a:off x="3706" y="1041"/>
              <a:ext cx="32" cy="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18" name="Line 323"/>
            <p:cNvSpPr>
              <a:spLocks noChangeShapeType="1"/>
            </p:cNvSpPr>
            <p:nvPr/>
          </p:nvSpPr>
          <p:spPr bwMode="auto">
            <a:xfrm flipH="1">
              <a:off x="3703" y="920"/>
              <a:ext cx="155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19" name="Rectangle 325"/>
            <p:cNvSpPr>
              <a:spLocks noChangeArrowheads="1"/>
            </p:cNvSpPr>
            <p:nvPr/>
          </p:nvSpPr>
          <p:spPr bwMode="auto">
            <a:xfrm>
              <a:off x="3560" y="1026"/>
              <a:ext cx="104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1400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84120" name="Line 326"/>
            <p:cNvSpPr>
              <a:spLocks noChangeShapeType="1"/>
            </p:cNvSpPr>
            <p:nvPr/>
          </p:nvSpPr>
          <p:spPr bwMode="auto">
            <a:xfrm flipV="1">
              <a:off x="3703" y="920"/>
              <a:ext cx="1" cy="11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21" name="Line 327"/>
            <p:cNvSpPr>
              <a:spLocks noChangeShapeType="1"/>
            </p:cNvSpPr>
            <p:nvPr/>
          </p:nvSpPr>
          <p:spPr bwMode="auto">
            <a:xfrm flipH="1">
              <a:off x="3704" y="1255"/>
              <a:ext cx="153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22" name="Freeform 328"/>
            <p:cNvSpPr>
              <a:spLocks/>
            </p:cNvSpPr>
            <p:nvPr/>
          </p:nvSpPr>
          <p:spPr bwMode="auto">
            <a:xfrm>
              <a:off x="3691" y="1242"/>
              <a:ext cx="28" cy="26"/>
            </a:xfrm>
            <a:custGeom>
              <a:avLst/>
              <a:gdLst>
                <a:gd name="T0" fmla="*/ 0 w 56"/>
                <a:gd name="T1" fmla="*/ 0 h 54"/>
                <a:gd name="T2" fmla="*/ 1 w 56"/>
                <a:gd name="T3" fmla="*/ 0 h 54"/>
                <a:gd name="T4" fmla="*/ 1 w 56"/>
                <a:gd name="T5" fmla="*/ 0 h 54"/>
                <a:gd name="T6" fmla="*/ 1 w 56"/>
                <a:gd name="T7" fmla="*/ 0 h 54"/>
                <a:gd name="T8" fmla="*/ 1 w 56"/>
                <a:gd name="T9" fmla="*/ 0 h 54"/>
                <a:gd name="T10" fmla="*/ 1 w 56"/>
                <a:gd name="T11" fmla="*/ 0 h 54"/>
                <a:gd name="T12" fmla="*/ 1 w 56"/>
                <a:gd name="T13" fmla="*/ 0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0 h 54"/>
                <a:gd name="T22" fmla="*/ 1 w 56"/>
                <a:gd name="T23" fmla="*/ 0 h 54"/>
                <a:gd name="T24" fmla="*/ 1 w 56"/>
                <a:gd name="T25" fmla="*/ 0 h 54"/>
                <a:gd name="T26" fmla="*/ 1 w 56"/>
                <a:gd name="T27" fmla="*/ 0 h 54"/>
                <a:gd name="T28" fmla="*/ 1 w 56"/>
                <a:gd name="T29" fmla="*/ 0 h 54"/>
                <a:gd name="T30" fmla="*/ 1 w 56"/>
                <a:gd name="T31" fmla="*/ 0 h 54"/>
                <a:gd name="T32" fmla="*/ 1 w 56"/>
                <a:gd name="T33" fmla="*/ 0 h 54"/>
                <a:gd name="T34" fmla="*/ 1 w 56"/>
                <a:gd name="T35" fmla="*/ 0 h 54"/>
                <a:gd name="T36" fmla="*/ 1 w 56"/>
                <a:gd name="T37" fmla="*/ 0 h 54"/>
                <a:gd name="T38" fmla="*/ 1 w 56"/>
                <a:gd name="T39" fmla="*/ 0 h 54"/>
                <a:gd name="T40" fmla="*/ 1 w 56"/>
                <a:gd name="T41" fmla="*/ 0 h 54"/>
                <a:gd name="T42" fmla="*/ 1 w 56"/>
                <a:gd name="T43" fmla="*/ 0 h 54"/>
                <a:gd name="T44" fmla="*/ 1 w 56"/>
                <a:gd name="T45" fmla="*/ 0 h 54"/>
                <a:gd name="T46" fmla="*/ 1 w 56"/>
                <a:gd name="T47" fmla="*/ 0 h 54"/>
                <a:gd name="T48" fmla="*/ 1 w 56"/>
                <a:gd name="T49" fmla="*/ 0 h 54"/>
                <a:gd name="T50" fmla="*/ 1 w 56"/>
                <a:gd name="T51" fmla="*/ 0 h 54"/>
                <a:gd name="T52" fmla="*/ 1 w 56"/>
                <a:gd name="T53" fmla="*/ 0 h 54"/>
                <a:gd name="T54" fmla="*/ 1 w 56"/>
                <a:gd name="T55" fmla="*/ 0 h 54"/>
                <a:gd name="T56" fmla="*/ 1 w 56"/>
                <a:gd name="T57" fmla="*/ 0 h 54"/>
                <a:gd name="T58" fmla="*/ 1 w 56"/>
                <a:gd name="T59" fmla="*/ 0 h 54"/>
                <a:gd name="T60" fmla="*/ 1 w 56"/>
                <a:gd name="T61" fmla="*/ 0 h 54"/>
                <a:gd name="T62" fmla="*/ 1 w 56"/>
                <a:gd name="T63" fmla="*/ 0 h 54"/>
                <a:gd name="T64" fmla="*/ 1 w 56"/>
                <a:gd name="T65" fmla="*/ 0 h 54"/>
                <a:gd name="T66" fmla="*/ 0 w 56"/>
                <a:gd name="T67" fmla="*/ 0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2" y="22"/>
                  </a:lnTo>
                  <a:lnTo>
                    <a:pt x="3" y="17"/>
                  </a:lnTo>
                  <a:lnTo>
                    <a:pt x="5" y="12"/>
                  </a:lnTo>
                  <a:lnTo>
                    <a:pt x="9" y="9"/>
                  </a:lnTo>
                  <a:lnTo>
                    <a:pt x="14" y="5"/>
                  </a:lnTo>
                  <a:lnTo>
                    <a:pt x="17" y="2"/>
                  </a:lnTo>
                  <a:lnTo>
                    <a:pt x="23" y="2"/>
                  </a:lnTo>
                  <a:lnTo>
                    <a:pt x="28" y="0"/>
                  </a:lnTo>
                  <a:lnTo>
                    <a:pt x="35" y="2"/>
                  </a:lnTo>
                  <a:lnTo>
                    <a:pt x="40" y="2"/>
                  </a:lnTo>
                  <a:lnTo>
                    <a:pt x="44" y="5"/>
                  </a:lnTo>
                  <a:lnTo>
                    <a:pt x="49" y="9"/>
                  </a:lnTo>
                  <a:lnTo>
                    <a:pt x="52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2" y="42"/>
                  </a:lnTo>
                  <a:lnTo>
                    <a:pt x="49" y="47"/>
                  </a:lnTo>
                  <a:lnTo>
                    <a:pt x="44" y="50"/>
                  </a:lnTo>
                  <a:lnTo>
                    <a:pt x="40" y="52"/>
                  </a:lnTo>
                  <a:lnTo>
                    <a:pt x="35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7" y="52"/>
                  </a:lnTo>
                  <a:lnTo>
                    <a:pt x="14" y="50"/>
                  </a:lnTo>
                  <a:lnTo>
                    <a:pt x="9" y="47"/>
                  </a:lnTo>
                  <a:lnTo>
                    <a:pt x="5" y="42"/>
                  </a:lnTo>
                  <a:lnTo>
                    <a:pt x="3" y="37"/>
                  </a:lnTo>
                  <a:lnTo>
                    <a:pt x="2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23" name="Freeform 329"/>
            <p:cNvSpPr>
              <a:spLocks/>
            </p:cNvSpPr>
            <p:nvPr/>
          </p:nvSpPr>
          <p:spPr bwMode="auto">
            <a:xfrm>
              <a:off x="3691" y="906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1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1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2" y="22"/>
                  </a:lnTo>
                  <a:lnTo>
                    <a:pt x="3" y="17"/>
                  </a:lnTo>
                  <a:lnTo>
                    <a:pt x="5" y="12"/>
                  </a:lnTo>
                  <a:lnTo>
                    <a:pt x="9" y="9"/>
                  </a:lnTo>
                  <a:lnTo>
                    <a:pt x="14" y="5"/>
                  </a:lnTo>
                  <a:lnTo>
                    <a:pt x="17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40" y="2"/>
                  </a:lnTo>
                  <a:lnTo>
                    <a:pt x="44" y="5"/>
                  </a:lnTo>
                  <a:lnTo>
                    <a:pt x="49" y="9"/>
                  </a:lnTo>
                  <a:lnTo>
                    <a:pt x="52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2" y="42"/>
                  </a:lnTo>
                  <a:lnTo>
                    <a:pt x="49" y="46"/>
                  </a:lnTo>
                  <a:lnTo>
                    <a:pt x="44" y="49"/>
                  </a:lnTo>
                  <a:lnTo>
                    <a:pt x="40" y="52"/>
                  </a:lnTo>
                  <a:lnTo>
                    <a:pt x="35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7" y="52"/>
                  </a:lnTo>
                  <a:lnTo>
                    <a:pt x="14" y="49"/>
                  </a:lnTo>
                  <a:lnTo>
                    <a:pt x="9" y="46"/>
                  </a:lnTo>
                  <a:lnTo>
                    <a:pt x="5" y="42"/>
                  </a:lnTo>
                  <a:lnTo>
                    <a:pt x="3" y="37"/>
                  </a:lnTo>
                  <a:lnTo>
                    <a:pt x="2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24" name="Freeform 330"/>
            <p:cNvSpPr>
              <a:spLocks noEditPoints="1"/>
            </p:cNvSpPr>
            <p:nvPr/>
          </p:nvSpPr>
          <p:spPr bwMode="auto">
            <a:xfrm>
              <a:off x="3698" y="1657"/>
              <a:ext cx="13" cy="118"/>
            </a:xfrm>
            <a:custGeom>
              <a:avLst/>
              <a:gdLst>
                <a:gd name="T0" fmla="*/ 1 w 26"/>
                <a:gd name="T1" fmla="*/ 1 h 236"/>
                <a:gd name="T2" fmla="*/ 1 w 26"/>
                <a:gd name="T3" fmla="*/ 1 h 236"/>
                <a:gd name="T4" fmla="*/ 1 w 26"/>
                <a:gd name="T5" fmla="*/ 1 h 236"/>
                <a:gd name="T6" fmla="*/ 0 w 26"/>
                <a:gd name="T7" fmla="*/ 1 h 236"/>
                <a:gd name="T8" fmla="*/ 0 w 26"/>
                <a:gd name="T9" fmla="*/ 1 h 236"/>
                <a:gd name="T10" fmla="*/ 1 w 26"/>
                <a:gd name="T11" fmla="*/ 1 h 236"/>
                <a:gd name="T12" fmla="*/ 1 w 26"/>
                <a:gd name="T13" fmla="*/ 1 h 236"/>
                <a:gd name="T14" fmla="*/ 1 w 26"/>
                <a:gd name="T15" fmla="*/ 1 h 236"/>
                <a:gd name="T16" fmla="*/ 1 w 26"/>
                <a:gd name="T17" fmla="*/ 1 h 236"/>
                <a:gd name="T18" fmla="*/ 1 w 26"/>
                <a:gd name="T19" fmla="*/ 1 h 236"/>
                <a:gd name="T20" fmla="*/ 1 w 26"/>
                <a:gd name="T21" fmla="*/ 1 h 236"/>
                <a:gd name="T22" fmla="*/ 1 w 26"/>
                <a:gd name="T23" fmla="*/ 1 h 236"/>
                <a:gd name="T24" fmla="*/ 1 w 26"/>
                <a:gd name="T25" fmla="*/ 1 h 236"/>
                <a:gd name="T26" fmla="*/ 1 w 26"/>
                <a:gd name="T27" fmla="*/ 1 h 236"/>
                <a:gd name="T28" fmla="*/ 1 w 26"/>
                <a:gd name="T29" fmla="*/ 1 h 236"/>
                <a:gd name="T30" fmla="*/ 1 w 26"/>
                <a:gd name="T31" fmla="*/ 1 h 236"/>
                <a:gd name="T32" fmla="*/ 1 w 26"/>
                <a:gd name="T33" fmla="*/ 1 h 236"/>
                <a:gd name="T34" fmla="*/ 1 w 26"/>
                <a:gd name="T35" fmla="*/ 1 h 236"/>
                <a:gd name="T36" fmla="*/ 1 w 26"/>
                <a:gd name="T37" fmla="*/ 1 h 236"/>
                <a:gd name="T38" fmla="*/ 1 w 26"/>
                <a:gd name="T39" fmla="*/ 1 h 236"/>
                <a:gd name="T40" fmla="*/ 1 w 26"/>
                <a:gd name="T41" fmla="*/ 1 h 236"/>
                <a:gd name="T42" fmla="*/ 0 w 26"/>
                <a:gd name="T43" fmla="*/ 1 h 236"/>
                <a:gd name="T44" fmla="*/ 0 w 26"/>
                <a:gd name="T45" fmla="*/ 1 h 236"/>
                <a:gd name="T46" fmla="*/ 1 w 26"/>
                <a:gd name="T47" fmla="*/ 1 h 236"/>
                <a:gd name="T48" fmla="*/ 1 w 26"/>
                <a:gd name="T49" fmla="*/ 1 h 236"/>
                <a:gd name="T50" fmla="*/ 1 w 26"/>
                <a:gd name="T51" fmla="*/ 1 h 236"/>
                <a:gd name="T52" fmla="*/ 1 w 26"/>
                <a:gd name="T53" fmla="*/ 1 h 236"/>
                <a:gd name="T54" fmla="*/ 1 w 26"/>
                <a:gd name="T55" fmla="*/ 1 h 236"/>
                <a:gd name="T56" fmla="*/ 1 w 26"/>
                <a:gd name="T57" fmla="*/ 1 h 236"/>
                <a:gd name="T58" fmla="*/ 1 w 26"/>
                <a:gd name="T59" fmla="*/ 1 h 236"/>
                <a:gd name="T60" fmla="*/ 1 w 26"/>
                <a:gd name="T61" fmla="*/ 1 h 236"/>
                <a:gd name="T62" fmla="*/ 1 w 26"/>
                <a:gd name="T63" fmla="*/ 1 h 236"/>
                <a:gd name="T64" fmla="*/ 1 w 26"/>
                <a:gd name="T65" fmla="*/ 1 h 236"/>
                <a:gd name="T66" fmla="*/ 1 w 26"/>
                <a:gd name="T67" fmla="*/ 1 h 236"/>
                <a:gd name="T68" fmla="*/ 1 w 26"/>
                <a:gd name="T69" fmla="*/ 0 h 236"/>
                <a:gd name="T70" fmla="*/ 1 w 26"/>
                <a:gd name="T71" fmla="*/ 0 h 2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6"/>
                <a:gd name="T109" fmla="*/ 0 h 236"/>
                <a:gd name="T110" fmla="*/ 26 w 26"/>
                <a:gd name="T111" fmla="*/ 236 h 2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6" h="236">
                  <a:moveTo>
                    <a:pt x="12" y="211"/>
                  </a:moveTo>
                  <a:lnTo>
                    <a:pt x="10" y="211"/>
                  </a:lnTo>
                  <a:lnTo>
                    <a:pt x="7" y="211"/>
                  </a:lnTo>
                  <a:lnTo>
                    <a:pt x="5" y="212"/>
                  </a:lnTo>
                  <a:lnTo>
                    <a:pt x="3" y="214"/>
                  </a:lnTo>
                  <a:lnTo>
                    <a:pt x="2" y="216"/>
                  </a:lnTo>
                  <a:lnTo>
                    <a:pt x="0" y="219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0" y="226"/>
                  </a:lnTo>
                  <a:lnTo>
                    <a:pt x="0" y="229"/>
                  </a:lnTo>
                  <a:lnTo>
                    <a:pt x="2" y="231"/>
                  </a:lnTo>
                  <a:lnTo>
                    <a:pt x="3" y="232"/>
                  </a:lnTo>
                  <a:lnTo>
                    <a:pt x="5" y="234"/>
                  </a:lnTo>
                  <a:lnTo>
                    <a:pt x="7" y="236"/>
                  </a:lnTo>
                  <a:lnTo>
                    <a:pt x="10" y="236"/>
                  </a:lnTo>
                  <a:lnTo>
                    <a:pt x="12" y="236"/>
                  </a:lnTo>
                  <a:lnTo>
                    <a:pt x="16" y="236"/>
                  </a:lnTo>
                  <a:lnTo>
                    <a:pt x="19" y="236"/>
                  </a:lnTo>
                  <a:lnTo>
                    <a:pt x="21" y="234"/>
                  </a:lnTo>
                  <a:lnTo>
                    <a:pt x="23" y="232"/>
                  </a:lnTo>
                  <a:lnTo>
                    <a:pt x="24" y="231"/>
                  </a:lnTo>
                  <a:lnTo>
                    <a:pt x="26" y="229"/>
                  </a:lnTo>
                  <a:lnTo>
                    <a:pt x="26" y="226"/>
                  </a:lnTo>
                  <a:lnTo>
                    <a:pt x="26" y="224"/>
                  </a:lnTo>
                  <a:lnTo>
                    <a:pt x="26" y="221"/>
                  </a:lnTo>
                  <a:lnTo>
                    <a:pt x="26" y="219"/>
                  </a:lnTo>
                  <a:lnTo>
                    <a:pt x="24" y="216"/>
                  </a:lnTo>
                  <a:lnTo>
                    <a:pt x="23" y="214"/>
                  </a:lnTo>
                  <a:lnTo>
                    <a:pt x="21" y="212"/>
                  </a:lnTo>
                  <a:lnTo>
                    <a:pt x="19" y="211"/>
                  </a:lnTo>
                  <a:lnTo>
                    <a:pt x="16" y="211"/>
                  </a:lnTo>
                  <a:lnTo>
                    <a:pt x="12" y="211"/>
                  </a:lnTo>
                  <a:close/>
                  <a:moveTo>
                    <a:pt x="12" y="0"/>
                  </a:moveTo>
                  <a:lnTo>
                    <a:pt x="10" y="2"/>
                  </a:lnTo>
                  <a:lnTo>
                    <a:pt x="7" y="2"/>
                  </a:lnTo>
                  <a:lnTo>
                    <a:pt x="5" y="3"/>
                  </a:lnTo>
                  <a:lnTo>
                    <a:pt x="3" y="5"/>
                  </a:lnTo>
                  <a:lnTo>
                    <a:pt x="2" y="7"/>
                  </a:lnTo>
                  <a:lnTo>
                    <a:pt x="0" y="8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10" y="27"/>
                  </a:lnTo>
                  <a:lnTo>
                    <a:pt x="12" y="27"/>
                  </a:lnTo>
                  <a:lnTo>
                    <a:pt x="16" y="27"/>
                  </a:lnTo>
                  <a:lnTo>
                    <a:pt x="19" y="27"/>
                  </a:lnTo>
                  <a:lnTo>
                    <a:pt x="21" y="25"/>
                  </a:lnTo>
                  <a:lnTo>
                    <a:pt x="23" y="23"/>
                  </a:lnTo>
                  <a:lnTo>
                    <a:pt x="24" y="22"/>
                  </a:lnTo>
                  <a:lnTo>
                    <a:pt x="26" y="18"/>
                  </a:lnTo>
                  <a:lnTo>
                    <a:pt x="26" y="17"/>
                  </a:lnTo>
                  <a:lnTo>
                    <a:pt x="26" y="13"/>
                  </a:lnTo>
                  <a:lnTo>
                    <a:pt x="26" y="12"/>
                  </a:lnTo>
                  <a:lnTo>
                    <a:pt x="26" y="8"/>
                  </a:lnTo>
                  <a:lnTo>
                    <a:pt x="24" y="7"/>
                  </a:lnTo>
                  <a:lnTo>
                    <a:pt x="23" y="5"/>
                  </a:lnTo>
                  <a:lnTo>
                    <a:pt x="21" y="3"/>
                  </a:lnTo>
                  <a:lnTo>
                    <a:pt x="19" y="2"/>
                  </a:lnTo>
                  <a:lnTo>
                    <a:pt x="16" y="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25" name="Freeform 331"/>
            <p:cNvSpPr>
              <a:spLocks/>
            </p:cNvSpPr>
            <p:nvPr/>
          </p:nvSpPr>
          <p:spPr bwMode="auto">
            <a:xfrm>
              <a:off x="3698" y="1763"/>
              <a:ext cx="13" cy="12"/>
            </a:xfrm>
            <a:custGeom>
              <a:avLst/>
              <a:gdLst>
                <a:gd name="T0" fmla="*/ 1 w 26"/>
                <a:gd name="T1" fmla="*/ 0 h 25"/>
                <a:gd name="T2" fmla="*/ 1 w 26"/>
                <a:gd name="T3" fmla="*/ 0 h 25"/>
                <a:gd name="T4" fmla="*/ 1 w 26"/>
                <a:gd name="T5" fmla="*/ 0 h 25"/>
                <a:gd name="T6" fmla="*/ 1 w 26"/>
                <a:gd name="T7" fmla="*/ 0 h 25"/>
                <a:gd name="T8" fmla="*/ 1 w 26"/>
                <a:gd name="T9" fmla="*/ 0 h 25"/>
                <a:gd name="T10" fmla="*/ 1 w 26"/>
                <a:gd name="T11" fmla="*/ 0 h 25"/>
                <a:gd name="T12" fmla="*/ 0 w 26"/>
                <a:gd name="T13" fmla="*/ 0 h 25"/>
                <a:gd name="T14" fmla="*/ 0 w 26"/>
                <a:gd name="T15" fmla="*/ 0 h 25"/>
                <a:gd name="T16" fmla="*/ 0 w 26"/>
                <a:gd name="T17" fmla="*/ 0 h 25"/>
                <a:gd name="T18" fmla="*/ 0 w 26"/>
                <a:gd name="T19" fmla="*/ 0 h 25"/>
                <a:gd name="T20" fmla="*/ 0 w 26"/>
                <a:gd name="T21" fmla="*/ 0 h 25"/>
                <a:gd name="T22" fmla="*/ 1 w 26"/>
                <a:gd name="T23" fmla="*/ 0 h 25"/>
                <a:gd name="T24" fmla="*/ 1 w 26"/>
                <a:gd name="T25" fmla="*/ 0 h 25"/>
                <a:gd name="T26" fmla="*/ 1 w 26"/>
                <a:gd name="T27" fmla="*/ 0 h 25"/>
                <a:gd name="T28" fmla="*/ 1 w 26"/>
                <a:gd name="T29" fmla="*/ 0 h 25"/>
                <a:gd name="T30" fmla="*/ 1 w 26"/>
                <a:gd name="T31" fmla="*/ 0 h 25"/>
                <a:gd name="T32" fmla="*/ 1 w 26"/>
                <a:gd name="T33" fmla="*/ 0 h 25"/>
                <a:gd name="T34" fmla="*/ 1 w 26"/>
                <a:gd name="T35" fmla="*/ 0 h 25"/>
                <a:gd name="T36" fmla="*/ 1 w 26"/>
                <a:gd name="T37" fmla="*/ 0 h 25"/>
                <a:gd name="T38" fmla="*/ 1 w 26"/>
                <a:gd name="T39" fmla="*/ 0 h 25"/>
                <a:gd name="T40" fmla="*/ 1 w 26"/>
                <a:gd name="T41" fmla="*/ 0 h 25"/>
                <a:gd name="T42" fmla="*/ 1 w 26"/>
                <a:gd name="T43" fmla="*/ 0 h 25"/>
                <a:gd name="T44" fmla="*/ 1 w 26"/>
                <a:gd name="T45" fmla="*/ 0 h 25"/>
                <a:gd name="T46" fmla="*/ 1 w 26"/>
                <a:gd name="T47" fmla="*/ 0 h 25"/>
                <a:gd name="T48" fmla="*/ 1 w 26"/>
                <a:gd name="T49" fmla="*/ 0 h 25"/>
                <a:gd name="T50" fmla="*/ 1 w 26"/>
                <a:gd name="T51" fmla="*/ 0 h 25"/>
                <a:gd name="T52" fmla="*/ 1 w 26"/>
                <a:gd name="T53" fmla="*/ 0 h 25"/>
                <a:gd name="T54" fmla="*/ 1 w 26"/>
                <a:gd name="T55" fmla="*/ 0 h 25"/>
                <a:gd name="T56" fmla="*/ 1 w 26"/>
                <a:gd name="T57" fmla="*/ 0 h 25"/>
                <a:gd name="T58" fmla="*/ 1 w 26"/>
                <a:gd name="T59" fmla="*/ 0 h 25"/>
                <a:gd name="T60" fmla="*/ 1 w 26"/>
                <a:gd name="T61" fmla="*/ 0 h 25"/>
                <a:gd name="T62" fmla="*/ 1 w 26"/>
                <a:gd name="T63" fmla="*/ 0 h 25"/>
                <a:gd name="T64" fmla="*/ 1 w 26"/>
                <a:gd name="T65" fmla="*/ 0 h 25"/>
                <a:gd name="T66" fmla="*/ 1 w 26"/>
                <a:gd name="T67" fmla="*/ 0 h 25"/>
                <a:gd name="T68" fmla="*/ 1 w 26"/>
                <a:gd name="T69" fmla="*/ 0 h 2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6"/>
                <a:gd name="T106" fmla="*/ 0 h 25"/>
                <a:gd name="T107" fmla="*/ 26 w 26"/>
                <a:gd name="T108" fmla="*/ 25 h 25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6" h="25">
                  <a:moveTo>
                    <a:pt x="12" y="0"/>
                  </a:moveTo>
                  <a:lnTo>
                    <a:pt x="10" y="0"/>
                  </a:lnTo>
                  <a:lnTo>
                    <a:pt x="7" y="0"/>
                  </a:lnTo>
                  <a:lnTo>
                    <a:pt x="5" y="1"/>
                  </a:lnTo>
                  <a:lnTo>
                    <a:pt x="3" y="3"/>
                  </a:lnTo>
                  <a:lnTo>
                    <a:pt x="2" y="5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2" y="20"/>
                  </a:lnTo>
                  <a:lnTo>
                    <a:pt x="3" y="21"/>
                  </a:lnTo>
                  <a:lnTo>
                    <a:pt x="5" y="23"/>
                  </a:lnTo>
                  <a:lnTo>
                    <a:pt x="7" y="25"/>
                  </a:lnTo>
                  <a:lnTo>
                    <a:pt x="10" y="25"/>
                  </a:lnTo>
                  <a:lnTo>
                    <a:pt x="12" y="25"/>
                  </a:lnTo>
                  <a:lnTo>
                    <a:pt x="16" y="25"/>
                  </a:lnTo>
                  <a:lnTo>
                    <a:pt x="19" y="25"/>
                  </a:lnTo>
                  <a:lnTo>
                    <a:pt x="21" y="23"/>
                  </a:lnTo>
                  <a:lnTo>
                    <a:pt x="23" y="21"/>
                  </a:lnTo>
                  <a:lnTo>
                    <a:pt x="24" y="20"/>
                  </a:lnTo>
                  <a:lnTo>
                    <a:pt x="26" y="18"/>
                  </a:lnTo>
                  <a:lnTo>
                    <a:pt x="26" y="15"/>
                  </a:lnTo>
                  <a:lnTo>
                    <a:pt x="26" y="13"/>
                  </a:lnTo>
                  <a:lnTo>
                    <a:pt x="26" y="10"/>
                  </a:lnTo>
                  <a:lnTo>
                    <a:pt x="26" y="8"/>
                  </a:lnTo>
                  <a:lnTo>
                    <a:pt x="24" y="5"/>
                  </a:lnTo>
                  <a:lnTo>
                    <a:pt x="23" y="3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26" name="Freeform 332"/>
            <p:cNvSpPr>
              <a:spLocks/>
            </p:cNvSpPr>
            <p:nvPr/>
          </p:nvSpPr>
          <p:spPr bwMode="auto">
            <a:xfrm>
              <a:off x="3698" y="1657"/>
              <a:ext cx="13" cy="14"/>
            </a:xfrm>
            <a:custGeom>
              <a:avLst/>
              <a:gdLst>
                <a:gd name="T0" fmla="*/ 1 w 26"/>
                <a:gd name="T1" fmla="*/ 0 h 27"/>
                <a:gd name="T2" fmla="*/ 1 w 26"/>
                <a:gd name="T3" fmla="*/ 1 h 27"/>
                <a:gd name="T4" fmla="*/ 1 w 26"/>
                <a:gd name="T5" fmla="*/ 1 h 27"/>
                <a:gd name="T6" fmla="*/ 1 w 26"/>
                <a:gd name="T7" fmla="*/ 1 h 27"/>
                <a:gd name="T8" fmla="*/ 1 w 26"/>
                <a:gd name="T9" fmla="*/ 1 h 27"/>
                <a:gd name="T10" fmla="*/ 1 w 26"/>
                <a:gd name="T11" fmla="*/ 1 h 27"/>
                <a:gd name="T12" fmla="*/ 0 w 26"/>
                <a:gd name="T13" fmla="*/ 1 h 27"/>
                <a:gd name="T14" fmla="*/ 0 w 26"/>
                <a:gd name="T15" fmla="*/ 1 h 27"/>
                <a:gd name="T16" fmla="*/ 0 w 26"/>
                <a:gd name="T17" fmla="*/ 1 h 27"/>
                <a:gd name="T18" fmla="*/ 0 w 26"/>
                <a:gd name="T19" fmla="*/ 1 h 27"/>
                <a:gd name="T20" fmla="*/ 0 w 26"/>
                <a:gd name="T21" fmla="*/ 1 h 27"/>
                <a:gd name="T22" fmla="*/ 1 w 26"/>
                <a:gd name="T23" fmla="*/ 1 h 27"/>
                <a:gd name="T24" fmla="*/ 1 w 26"/>
                <a:gd name="T25" fmla="*/ 1 h 27"/>
                <a:gd name="T26" fmla="*/ 1 w 26"/>
                <a:gd name="T27" fmla="*/ 1 h 27"/>
                <a:gd name="T28" fmla="*/ 1 w 26"/>
                <a:gd name="T29" fmla="*/ 1 h 27"/>
                <a:gd name="T30" fmla="*/ 1 w 26"/>
                <a:gd name="T31" fmla="*/ 1 h 27"/>
                <a:gd name="T32" fmla="*/ 1 w 26"/>
                <a:gd name="T33" fmla="*/ 1 h 27"/>
                <a:gd name="T34" fmla="*/ 1 w 26"/>
                <a:gd name="T35" fmla="*/ 1 h 27"/>
                <a:gd name="T36" fmla="*/ 1 w 26"/>
                <a:gd name="T37" fmla="*/ 1 h 27"/>
                <a:gd name="T38" fmla="*/ 1 w 26"/>
                <a:gd name="T39" fmla="*/ 1 h 27"/>
                <a:gd name="T40" fmla="*/ 1 w 26"/>
                <a:gd name="T41" fmla="*/ 1 h 27"/>
                <a:gd name="T42" fmla="*/ 1 w 26"/>
                <a:gd name="T43" fmla="*/ 1 h 27"/>
                <a:gd name="T44" fmla="*/ 1 w 26"/>
                <a:gd name="T45" fmla="*/ 1 h 27"/>
                <a:gd name="T46" fmla="*/ 1 w 26"/>
                <a:gd name="T47" fmla="*/ 1 h 27"/>
                <a:gd name="T48" fmla="*/ 1 w 26"/>
                <a:gd name="T49" fmla="*/ 1 h 27"/>
                <a:gd name="T50" fmla="*/ 1 w 26"/>
                <a:gd name="T51" fmla="*/ 1 h 27"/>
                <a:gd name="T52" fmla="*/ 1 w 26"/>
                <a:gd name="T53" fmla="*/ 1 h 27"/>
                <a:gd name="T54" fmla="*/ 1 w 26"/>
                <a:gd name="T55" fmla="*/ 1 h 27"/>
                <a:gd name="T56" fmla="*/ 1 w 26"/>
                <a:gd name="T57" fmla="*/ 1 h 27"/>
                <a:gd name="T58" fmla="*/ 1 w 26"/>
                <a:gd name="T59" fmla="*/ 1 h 27"/>
                <a:gd name="T60" fmla="*/ 1 w 26"/>
                <a:gd name="T61" fmla="*/ 1 h 27"/>
                <a:gd name="T62" fmla="*/ 1 w 26"/>
                <a:gd name="T63" fmla="*/ 1 h 27"/>
                <a:gd name="T64" fmla="*/ 1 w 26"/>
                <a:gd name="T65" fmla="*/ 1 h 27"/>
                <a:gd name="T66" fmla="*/ 1 w 26"/>
                <a:gd name="T67" fmla="*/ 0 h 27"/>
                <a:gd name="T68" fmla="*/ 1 w 26"/>
                <a:gd name="T69" fmla="*/ 0 h 2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6"/>
                <a:gd name="T106" fmla="*/ 0 h 27"/>
                <a:gd name="T107" fmla="*/ 26 w 26"/>
                <a:gd name="T108" fmla="*/ 27 h 2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6" h="27">
                  <a:moveTo>
                    <a:pt x="12" y="0"/>
                  </a:moveTo>
                  <a:lnTo>
                    <a:pt x="10" y="2"/>
                  </a:lnTo>
                  <a:lnTo>
                    <a:pt x="7" y="2"/>
                  </a:lnTo>
                  <a:lnTo>
                    <a:pt x="5" y="3"/>
                  </a:lnTo>
                  <a:lnTo>
                    <a:pt x="3" y="5"/>
                  </a:lnTo>
                  <a:lnTo>
                    <a:pt x="2" y="7"/>
                  </a:lnTo>
                  <a:lnTo>
                    <a:pt x="0" y="8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10" y="27"/>
                  </a:lnTo>
                  <a:lnTo>
                    <a:pt x="12" y="27"/>
                  </a:lnTo>
                  <a:lnTo>
                    <a:pt x="16" y="27"/>
                  </a:lnTo>
                  <a:lnTo>
                    <a:pt x="19" y="27"/>
                  </a:lnTo>
                  <a:lnTo>
                    <a:pt x="21" y="25"/>
                  </a:lnTo>
                  <a:lnTo>
                    <a:pt x="23" y="23"/>
                  </a:lnTo>
                  <a:lnTo>
                    <a:pt x="24" y="22"/>
                  </a:lnTo>
                  <a:lnTo>
                    <a:pt x="26" y="18"/>
                  </a:lnTo>
                  <a:lnTo>
                    <a:pt x="26" y="17"/>
                  </a:lnTo>
                  <a:lnTo>
                    <a:pt x="26" y="13"/>
                  </a:lnTo>
                  <a:lnTo>
                    <a:pt x="26" y="12"/>
                  </a:lnTo>
                  <a:lnTo>
                    <a:pt x="26" y="8"/>
                  </a:lnTo>
                  <a:lnTo>
                    <a:pt x="24" y="7"/>
                  </a:lnTo>
                  <a:lnTo>
                    <a:pt x="23" y="5"/>
                  </a:lnTo>
                  <a:lnTo>
                    <a:pt x="21" y="3"/>
                  </a:lnTo>
                  <a:lnTo>
                    <a:pt x="19" y="2"/>
                  </a:lnTo>
                  <a:lnTo>
                    <a:pt x="16" y="2"/>
                  </a:lnTo>
                  <a:lnTo>
                    <a:pt x="1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27" name="Line 333"/>
            <p:cNvSpPr>
              <a:spLocks noChangeShapeType="1"/>
            </p:cNvSpPr>
            <p:nvPr/>
          </p:nvSpPr>
          <p:spPr bwMode="auto">
            <a:xfrm>
              <a:off x="3708" y="1671"/>
              <a:ext cx="31" cy="8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28" name="Line 334"/>
            <p:cNvSpPr>
              <a:spLocks noChangeShapeType="1"/>
            </p:cNvSpPr>
            <p:nvPr/>
          </p:nvSpPr>
          <p:spPr bwMode="auto">
            <a:xfrm flipH="1">
              <a:off x="3705" y="1548"/>
              <a:ext cx="153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29" name="Line 337"/>
            <p:cNvSpPr>
              <a:spLocks noChangeShapeType="1"/>
            </p:cNvSpPr>
            <p:nvPr/>
          </p:nvSpPr>
          <p:spPr bwMode="auto">
            <a:xfrm flipV="1">
              <a:off x="3705" y="1549"/>
              <a:ext cx="1" cy="11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30" name="Line 338"/>
            <p:cNvSpPr>
              <a:spLocks noChangeShapeType="1"/>
            </p:cNvSpPr>
            <p:nvPr/>
          </p:nvSpPr>
          <p:spPr bwMode="auto">
            <a:xfrm flipH="1">
              <a:off x="3705" y="1884"/>
              <a:ext cx="153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31" name="Freeform 339"/>
            <p:cNvSpPr>
              <a:spLocks/>
            </p:cNvSpPr>
            <p:nvPr/>
          </p:nvSpPr>
          <p:spPr bwMode="auto">
            <a:xfrm>
              <a:off x="3693" y="1535"/>
              <a:ext cx="28" cy="27"/>
            </a:xfrm>
            <a:custGeom>
              <a:avLst/>
              <a:gdLst>
                <a:gd name="T0" fmla="*/ 0 w 56"/>
                <a:gd name="T1" fmla="*/ 1 h 53"/>
                <a:gd name="T2" fmla="*/ 0 w 56"/>
                <a:gd name="T3" fmla="*/ 1 h 53"/>
                <a:gd name="T4" fmla="*/ 1 w 56"/>
                <a:gd name="T5" fmla="*/ 1 h 53"/>
                <a:gd name="T6" fmla="*/ 1 w 56"/>
                <a:gd name="T7" fmla="*/ 1 h 53"/>
                <a:gd name="T8" fmla="*/ 1 w 56"/>
                <a:gd name="T9" fmla="*/ 1 h 53"/>
                <a:gd name="T10" fmla="*/ 1 w 56"/>
                <a:gd name="T11" fmla="*/ 1 h 53"/>
                <a:gd name="T12" fmla="*/ 1 w 56"/>
                <a:gd name="T13" fmla="*/ 1 h 53"/>
                <a:gd name="T14" fmla="*/ 1 w 56"/>
                <a:gd name="T15" fmla="*/ 1 h 53"/>
                <a:gd name="T16" fmla="*/ 1 w 56"/>
                <a:gd name="T17" fmla="*/ 0 h 53"/>
                <a:gd name="T18" fmla="*/ 1 w 56"/>
                <a:gd name="T19" fmla="*/ 1 h 53"/>
                <a:gd name="T20" fmla="*/ 1 w 56"/>
                <a:gd name="T21" fmla="*/ 1 h 53"/>
                <a:gd name="T22" fmla="*/ 1 w 56"/>
                <a:gd name="T23" fmla="*/ 1 h 53"/>
                <a:gd name="T24" fmla="*/ 1 w 56"/>
                <a:gd name="T25" fmla="*/ 1 h 53"/>
                <a:gd name="T26" fmla="*/ 1 w 56"/>
                <a:gd name="T27" fmla="*/ 1 h 53"/>
                <a:gd name="T28" fmla="*/ 1 w 56"/>
                <a:gd name="T29" fmla="*/ 1 h 53"/>
                <a:gd name="T30" fmla="*/ 1 w 56"/>
                <a:gd name="T31" fmla="*/ 1 h 53"/>
                <a:gd name="T32" fmla="*/ 1 w 56"/>
                <a:gd name="T33" fmla="*/ 1 h 53"/>
                <a:gd name="T34" fmla="*/ 1 w 56"/>
                <a:gd name="T35" fmla="*/ 1 h 53"/>
                <a:gd name="T36" fmla="*/ 1 w 56"/>
                <a:gd name="T37" fmla="*/ 1 h 53"/>
                <a:gd name="T38" fmla="*/ 1 w 56"/>
                <a:gd name="T39" fmla="*/ 1 h 53"/>
                <a:gd name="T40" fmla="*/ 1 w 56"/>
                <a:gd name="T41" fmla="*/ 1 h 53"/>
                <a:gd name="T42" fmla="*/ 1 w 56"/>
                <a:gd name="T43" fmla="*/ 1 h 53"/>
                <a:gd name="T44" fmla="*/ 1 w 56"/>
                <a:gd name="T45" fmla="*/ 1 h 53"/>
                <a:gd name="T46" fmla="*/ 1 w 56"/>
                <a:gd name="T47" fmla="*/ 1 h 53"/>
                <a:gd name="T48" fmla="*/ 1 w 56"/>
                <a:gd name="T49" fmla="*/ 1 h 53"/>
                <a:gd name="T50" fmla="*/ 1 w 56"/>
                <a:gd name="T51" fmla="*/ 1 h 53"/>
                <a:gd name="T52" fmla="*/ 1 w 56"/>
                <a:gd name="T53" fmla="*/ 1 h 53"/>
                <a:gd name="T54" fmla="*/ 1 w 56"/>
                <a:gd name="T55" fmla="*/ 1 h 53"/>
                <a:gd name="T56" fmla="*/ 1 w 56"/>
                <a:gd name="T57" fmla="*/ 1 h 53"/>
                <a:gd name="T58" fmla="*/ 1 w 56"/>
                <a:gd name="T59" fmla="*/ 1 h 53"/>
                <a:gd name="T60" fmla="*/ 1 w 56"/>
                <a:gd name="T61" fmla="*/ 1 h 53"/>
                <a:gd name="T62" fmla="*/ 1 w 56"/>
                <a:gd name="T63" fmla="*/ 1 h 53"/>
                <a:gd name="T64" fmla="*/ 0 w 56"/>
                <a:gd name="T65" fmla="*/ 1 h 53"/>
                <a:gd name="T66" fmla="*/ 0 w 56"/>
                <a:gd name="T67" fmla="*/ 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3"/>
                <a:gd name="T104" fmla="*/ 56 w 56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3">
                  <a:moveTo>
                    <a:pt x="0" y="26"/>
                  </a:moveTo>
                  <a:lnTo>
                    <a:pt x="0" y="21"/>
                  </a:lnTo>
                  <a:lnTo>
                    <a:pt x="2" y="16"/>
                  </a:lnTo>
                  <a:lnTo>
                    <a:pt x="4" y="11"/>
                  </a:lnTo>
                  <a:lnTo>
                    <a:pt x="7" y="8"/>
                  </a:lnTo>
                  <a:lnTo>
                    <a:pt x="13" y="5"/>
                  </a:lnTo>
                  <a:lnTo>
                    <a:pt x="18" y="3"/>
                  </a:lnTo>
                  <a:lnTo>
                    <a:pt x="23" y="1"/>
                  </a:lnTo>
                  <a:lnTo>
                    <a:pt x="28" y="0"/>
                  </a:lnTo>
                  <a:lnTo>
                    <a:pt x="34" y="1"/>
                  </a:lnTo>
                  <a:lnTo>
                    <a:pt x="39" y="3"/>
                  </a:lnTo>
                  <a:lnTo>
                    <a:pt x="44" y="5"/>
                  </a:lnTo>
                  <a:lnTo>
                    <a:pt x="48" y="8"/>
                  </a:lnTo>
                  <a:lnTo>
                    <a:pt x="51" y="11"/>
                  </a:lnTo>
                  <a:lnTo>
                    <a:pt x="55" y="16"/>
                  </a:lnTo>
                  <a:lnTo>
                    <a:pt x="55" y="21"/>
                  </a:lnTo>
                  <a:lnTo>
                    <a:pt x="56" y="26"/>
                  </a:lnTo>
                  <a:lnTo>
                    <a:pt x="55" y="33"/>
                  </a:lnTo>
                  <a:lnTo>
                    <a:pt x="55" y="38"/>
                  </a:lnTo>
                  <a:lnTo>
                    <a:pt x="51" y="41"/>
                  </a:lnTo>
                  <a:lnTo>
                    <a:pt x="48" y="46"/>
                  </a:lnTo>
                  <a:lnTo>
                    <a:pt x="44" y="50"/>
                  </a:lnTo>
                  <a:lnTo>
                    <a:pt x="39" y="51"/>
                  </a:lnTo>
                  <a:lnTo>
                    <a:pt x="34" y="53"/>
                  </a:lnTo>
                  <a:lnTo>
                    <a:pt x="28" y="53"/>
                  </a:lnTo>
                  <a:lnTo>
                    <a:pt x="23" y="53"/>
                  </a:lnTo>
                  <a:lnTo>
                    <a:pt x="18" y="51"/>
                  </a:lnTo>
                  <a:lnTo>
                    <a:pt x="13" y="50"/>
                  </a:lnTo>
                  <a:lnTo>
                    <a:pt x="7" y="46"/>
                  </a:lnTo>
                  <a:lnTo>
                    <a:pt x="4" y="41"/>
                  </a:lnTo>
                  <a:lnTo>
                    <a:pt x="2" y="38"/>
                  </a:lnTo>
                  <a:lnTo>
                    <a:pt x="0" y="33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32" name="Line 340"/>
            <p:cNvSpPr>
              <a:spLocks noChangeShapeType="1"/>
            </p:cNvSpPr>
            <p:nvPr/>
          </p:nvSpPr>
          <p:spPr bwMode="auto">
            <a:xfrm>
              <a:off x="3703" y="1140"/>
              <a:ext cx="2" cy="42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33" name="Line 341"/>
            <p:cNvSpPr>
              <a:spLocks noChangeShapeType="1"/>
            </p:cNvSpPr>
            <p:nvPr/>
          </p:nvSpPr>
          <p:spPr bwMode="auto">
            <a:xfrm>
              <a:off x="3705" y="1770"/>
              <a:ext cx="1" cy="11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34" name="Freeform 342"/>
            <p:cNvSpPr>
              <a:spLocks/>
            </p:cNvSpPr>
            <p:nvPr/>
          </p:nvSpPr>
          <p:spPr bwMode="auto">
            <a:xfrm>
              <a:off x="3844" y="1871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1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1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2" y="22"/>
                  </a:lnTo>
                  <a:lnTo>
                    <a:pt x="2" y="17"/>
                  </a:lnTo>
                  <a:lnTo>
                    <a:pt x="5" y="12"/>
                  </a:lnTo>
                  <a:lnTo>
                    <a:pt x="8" y="7"/>
                  </a:lnTo>
                  <a:lnTo>
                    <a:pt x="12" y="4"/>
                  </a:lnTo>
                  <a:lnTo>
                    <a:pt x="17" y="2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38" y="2"/>
                  </a:lnTo>
                  <a:lnTo>
                    <a:pt x="43" y="4"/>
                  </a:lnTo>
                  <a:lnTo>
                    <a:pt x="49" y="7"/>
                  </a:lnTo>
                  <a:lnTo>
                    <a:pt x="50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0" y="42"/>
                  </a:lnTo>
                  <a:lnTo>
                    <a:pt x="49" y="46"/>
                  </a:lnTo>
                  <a:lnTo>
                    <a:pt x="43" y="49"/>
                  </a:lnTo>
                  <a:lnTo>
                    <a:pt x="38" y="51"/>
                  </a:lnTo>
                  <a:lnTo>
                    <a:pt x="33" y="52"/>
                  </a:lnTo>
                  <a:lnTo>
                    <a:pt x="28" y="54"/>
                  </a:lnTo>
                  <a:lnTo>
                    <a:pt x="22" y="52"/>
                  </a:lnTo>
                  <a:lnTo>
                    <a:pt x="17" y="51"/>
                  </a:lnTo>
                  <a:lnTo>
                    <a:pt x="12" y="49"/>
                  </a:lnTo>
                  <a:lnTo>
                    <a:pt x="8" y="46"/>
                  </a:lnTo>
                  <a:lnTo>
                    <a:pt x="5" y="42"/>
                  </a:lnTo>
                  <a:lnTo>
                    <a:pt x="2" y="37"/>
                  </a:lnTo>
                  <a:lnTo>
                    <a:pt x="2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35" name="Freeform 343"/>
            <p:cNvSpPr>
              <a:spLocks/>
            </p:cNvSpPr>
            <p:nvPr/>
          </p:nvSpPr>
          <p:spPr bwMode="auto">
            <a:xfrm>
              <a:off x="3693" y="1494"/>
              <a:ext cx="28" cy="27"/>
            </a:xfrm>
            <a:custGeom>
              <a:avLst/>
              <a:gdLst>
                <a:gd name="T0" fmla="*/ 0 w 56"/>
                <a:gd name="T1" fmla="*/ 1 h 53"/>
                <a:gd name="T2" fmla="*/ 0 w 56"/>
                <a:gd name="T3" fmla="*/ 1 h 53"/>
                <a:gd name="T4" fmla="*/ 1 w 56"/>
                <a:gd name="T5" fmla="*/ 1 h 53"/>
                <a:gd name="T6" fmla="*/ 1 w 56"/>
                <a:gd name="T7" fmla="*/ 1 h 53"/>
                <a:gd name="T8" fmla="*/ 1 w 56"/>
                <a:gd name="T9" fmla="*/ 1 h 53"/>
                <a:gd name="T10" fmla="*/ 1 w 56"/>
                <a:gd name="T11" fmla="*/ 1 h 53"/>
                <a:gd name="T12" fmla="*/ 1 w 56"/>
                <a:gd name="T13" fmla="*/ 1 h 53"/>
                <a:gd name="T14" fmla="*/ 1 w 56"/>
                <a:gd name="T15" fmla="*/ 0 h 53"/>
                <a:gd name="T16" fmla="*/ 1 w 56"/>
                <a:gd name="T17" fmla="*/ 0 h 53"/>
                <a:gd name="T18" fmla="*/ 1 w 56"/>
                <a:gd name="T19" fmla="*/ 0 h 53"/>
                <a:gd name="T20" fmla="*/ 1 w 56"/>
                <a:gd name="T21" fmla="*/ 1 h 53"/>
                <a:gd name="T22" fmla="*/ 1 w 56"/>
                <a:gd name="T23" fmla="*/ 1 h 53"/>
                <a:gd name="T24" fmla="*/ 1 w 56"/>
                <a:gd name="T25" fmla="*/ 1 h 53"/>
                <a:gd name="T26" fmla="*/ 1 w 56"/>
                <a:gd name="T27" fmla="*/ 1 h 53"/>
                <a:gd name="T28" fmla="*/ 1 w 56"/>
                <a:gd name="T29" fmla="*/ 1 h 53"/>
                <a:gd name="T30" fmla="*/ 1 w 56"/>
                <a:gd name="T31" fmla="*/ 1 h 53"/>
                <a:gd name="T32" fmla="*/ 1 w 56"/>
                <a:gd name="T33" fmla="*/ 1 h 53"/>
                <a:gd name="T34" fmla="*/ 1 w 56"/>
                <a:gd name="T35" fmla="*/ 1 h 53"/>
                <a:gd name="T36" fmla="*/ 1 w 56"/>
                <a:gd name="T37" fmla="*/ 1 h 53"/>
                <a:gd name="T38" fmla="*/ 1 w 56"/>
                <a:gd name="T39" fmla="*/ 1 h 53"/>
                <a:gd name="T40" fmla="*/ 1 w 56"/>
                <a:gd name="T41" fmla="*/ 1 h 53"/>
                <a:gd name="T42" fmla="*/ 1 w 56"/>
                <a:gd name="T43" fmla="*/ 1 h 53"/>
                <a:gd name="T44" fmla="*/ 1 w 56"/>
                <a:gd name="T45" fmla="*/ 1 h 53"/>
                <a:gd name="T46" fmla="*/ 1 w 56"/>
                <a:gd name="T47" fmla="*/ 1 h 53"/>
                <a:gd name="T48" fmla="*/ 1 w 56"/>
                <a:gd name="T49" fmla="*/ 1 h 53"/>
                <a:gd name="T50" fmla="*/ 1 w 56"/>
                <a:gd name="T51" fmla="*/ 1 h 53"/>
                <a:gd name="T52" fmla="*/ 1 w 56"/>
                <a:gd name="T53" fmla="*/ 1 h 53"/>
                <a:gd name="T54" fmla="*/ 1 w 56"/>
                <a:gd name="T55" fmla="*/ 1 h 53"/>
                <a:gd name="T56" fmla="*/ 1 w 56"/>
                <a:gd name="T57" fmla="*/ 1 h 53"/>
                <a:gd name="T58" fmla="*/ 1 w 56"/>
                <a:gd name="T59" fmla="*/ 1 h 53"/>
                <a:gd name="T60" fmla="*/ 1 w 56"/>
                <a:gd name="T61" fmla="*/ 1 h 53"/>
                <a:gd name="T62" fmla="*/ 1 w 56"/>
                <a:gd name="T63" fmla="*/ 1 h 53"/>
                <a:gd name="T64" fmla="*/ 0 w 56"/>
                <a:gd name="T65" fmla="*/ 1 h 53"/>
                <a:gd name="T66" fmla="*/ 0 w 56"/>
                <a:gd name="T67" fmla="*/ 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3"/>
                <a:gd name="T104" fmla="*/ 56 w 56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3">
                  <a:moveTo>
                    <a:pt x="0" y="26"/>
                  </a:moveTo>
                  <a:lnTo>
                    <a:pt x="0" y="20"/>
                  </a:lnTo>
                  <a:lnTo>
                    <a:pt x="2" y="15"/>
                  </a:lnTo>
                  <a:lnTo>
                    <a:pt x="4" y="11"/>
                  </a:lnTo>
                  <a:lnTo>
                    <a:pt x="7" y="6"/>
                  </a:lnTo>
                  <a:lnTo>
                    <a:pt x="13" y="3"/>
                  </a:lnTo>
                  <a:lnTo>
                    <a:pt x="18" y="1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9" y="1"/>
                  </a:lnTo>
                  <a:lnTo>
                    <a:pt x="44" y="3"/>
                  </a:lnTo>
                  <a:lnTo>
                    <a:pt x="48" y="6"/>
                  </a:lnTo>
                  <a:lnTo>
                    <a:pt x="51" y="11"/>
                  </a:lnTo>
                  <a:lnTo>
                    <a:pt x="55" y="15"/>
                  </a:lnTo>
                  <a:lnTo>
                    <a:pt x="55" y="20"/>
                  </a:lnTo>
                  <a:lnTo>
                    <a:pt x="56" y="26"/>
                  </a:lnTo>
                  <a:lnTo>
                    <a:pt x="55" y="31"/>
                  </a:lnTo>
                  <a:lnTo>
                    <a:pt x="55" y="36"/>
                  </a:lnTo>
                  <a:lnTo>
                    <a:pt x="51" y="41"/>
                  </a:lnTo>
                  <a:lnTo>
                    <a:pt x="48" y="45"/>
                  </a:lnTo>
                  <a:lnTo>
                    <a:pt x="44" y="48"/>
                  </a:lnTo>
                  <a:lnTo>
                    <a:pt x="39" y="50"/>
                  </a:lnTo>
                  <a:lnTo>
                    <a:pt x="34" y="51"/>
                  </a:lnTo>
                  <a:lnTo>
                    <a:pt x="28" y="53"/>
                  </a:lnTo>
                  <a:lnTo>
                    <a:pt x="23" y="51"/>
                  </a:lnTo>
                  <a:lnTo>
                    <a:pt x="18" y="50"/>
                  </a:lnTo>
                  <a:lnTo>
                    <a:pt x="13" y="48"/>
                  </a:lnTo>
                  <a:lnTo>
                    <a:pt x="7" y="45"/>
                  </a:lnTo>
                  <a:lnTo>
                    <a:pt x="4" y="41"/>
                  </a:lnTo>
                  <a:lnTo>
                    <a:pt x="2" y="36"/>
                  </a:lnTo>
                  <a:lnTo>
                    <a:pt x="0" y="31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36" name="Freeform 344"/>
            <p:cNvSpPr>
              <a:spLocks/>
            </p:cNvSpPr>
            <p:nvPr/>
          </p:nvSpPr>
          <p:spPr bwMode="auto">
            <a:xfrm>
              <a:off x="3844" y="906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1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1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2" y="22"/>
                  </a:lnTo>
                  <a:lnTo>
                    <a:pt x="3" y="17"/>
                  </a:lnTo>
                  <a:lnTo>
                    <a:pt x="5" y="12"/>
                  </a:lnTo>
                  <a:lnTo>
                    <a:pt x="8" y="9"/>
                  </a:lnTo>
                  <a:lnTo>
                    <a:pt x="12" y="5"/>
                  </a:lnTo>
                  <a:lnTo>
                    <a:pt x="17" y="2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40" y="2"/>
                  </a:lnTo>
                  <a:lnTo>
                    <a:pt x="43" y="5"/>
                  </a:lnTo>
                  <a:lnTo>
                    <a:pt x="49" y="9"/>
                  </a:lnTo>
                  <a:lnTo>
                    <a:pt x="52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2" y="42"/>
                  </a:lnTo>
                  <a:lnTo>
                    <a:pt x="49" y="46"/>
                  </a:lnTo>
                  <a:lnTo>
                    <a:pt x="43" y="49"/>
                  </a:lnTo>
                  <a:lnTo>
                    <a:pt x="40" y="52"/>
                  </a:lnTo>
                  <a:lnTo>
                    <a:pt x="35" y="54"/>
                  </a:lnTo>
                  <a:lnTo>
                    <a:pt x="28" y="54"/>
                  </a:lnTo>
                  <a:lnTo>
                    <a:pt x="22" y="54"/>
                  </a:lnTo>
                  <a:lnTo>
                    <a:pt x="17" y="52"/>
                  </a:lnTo>
                  <a:lnTo>
                    <a:pt x="12" y="49"/>
                  </a:lnTo>
                  <a:lnTo>
                    <a:pt x="8" y="46"/>
                  </a:lnTo>
                  <a:lnTo>
                    <a:pt x="5" y="42"/>
                  </a:lnTo>
                  <a:lnTo>
                    <a:pt x="3" y="37"/>
                  </a:lnTo>
                  <a:lnTo>
                    <a:pt x="2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37" name="Rectangle 345"/>
            <p:cNvSpPr>
              <a:spLocks noChangeArrowheads="1"/>
            </p:cNvSpPr>
            <p:nvPr/>
          </p:nvSpPr>
          <p:spPr bwMode="auto">
            <a:xfrm>
              <a:off x="4521" y="1136"/>
              <a:ext cx="36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宋体" pitchFamily="2" charset="-122"/>
                </a:rPr>
                <a:t>+</a:t>
              </a:r>
              <a:endParaRPr lang="en-US" altLang="zh-CN"/>
            </a:p>
          </p:txBody>
        </p:sp>
        <p:sp>
          <p:nvSpPr>
            <p:cNvPr id="84138" name="Rectangle 346"/>
            <p:cNvSpPr>
              <a:spLocks noChangeArrowheads="1"/>
            </p:cNvSpPr>
            <p:nvPr/>
          </p:nvSpPr>
          <p:spPr bwMode="auto">
            <a:xfrm>
              <a:off x="4521" y="1336"/>
              <a:ext cx="36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宋体" pitchFamily="2" charset="-122"/>
                </a:rPr>
                <a:t>-</a:t>
              </a:r>
              <a:endParaRPr lang="en-US" altLang="zh-CN"/>
            </a:p>
          </p:txBody>
        </p:sp>
        <p:sp>
          <p:nvSpPr>
            <p:cNvPr id="84139" name="Rectangle 347"/>
            <p:cNvSpPr>
              <a:spLocks noChangeArrowheads="1"/>
            </p:cNvSpPr>
            <p:nvPr/>
          </p:nvSpPr>
          <p:spPr bwMode="auto">
            <a:xfrm>
              <a:off x="4587" y="1268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84140" name="Rectangle 348"/>
            <p:cNvSpPr>
              <a:spLocks noChangeArrowheads="1"/>
            </p:cNvSpPr>
            <p:nvPr/>
          </p:nvSpPr>
          <p:spPr bwMode="auto">
            <a:xfrm>
              <a:off x="4551" y="1222"/>
              <a:ext cx="4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u</a:t>
              </a:r>
              <a:endParaRPr lang="en-US" altLang="zh-CN"/>
            </a:p>
          </p:txBody>
        </p:sp>
        <p:sp>
          <p:nvSpPr>
            <p:cNvPr id="84141" name="Line 349"/>
            <p:cNvSpPr>
              <a:spLocks noChangeShapeType="1"/>
            </p:cNvSpPr>
            <p:nvPr/>
          </p:nvSpPr>
          <p:spPr bwMode="auto">
            <a:xfrm flipV="1">
              <a:off x="4359" y="1380"/>
              <a:ext cx="1" cy="2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42" name="Line 350"/>
            <p:cNvSpPr>
              <a:spLocks noChangeShapeType="1"/>
            </p:cNvSpPr>
            <p:nvPr/>
          </p:nvSpPr>
          <p:spPr bwMode="auto">
            <a:xfrm flipV="1">
              <a:off x="4372" y="1380"/>
              <a:ext cx="1" cy="2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43" name="Freeform 351"/>
            <p:cNvSpPr>
              <a:spLocks/>
            </p:cNvSpPr>
            <p:nvPr/>
          </p:nvSpPr>
          <p:spPr bwMode="auto">
            <a:xfrm>
              <a:off x="3815" y="1046"/>
              <a:ext cx="87" cy="83"/>
            </a:xfrm>
            <a:custGeom>
              <a:avLst/>
              <a:gdLst>
                <a:gd name="T0" fmla="*/ 0 w 173"/>
                <a:gd name="T1" fmla="*/ 1 h 165"/>
                <a:gd name="T2" fmla="*/ 1 w 173"/>
                <a:gd name="T3" fmla="*/ 0 h 165"/>
                <a:gd name="T4" fmla="*/ 1 w 173"/>
                <a:gd name="T5" fmla="*/ 1 h 165"/>
                <a:gd name="T6" fmla="*/ 0 w 173"/>
                <a:gd name="T7" fmla="*/ 1 h 1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5"/>
                <a:gd name="T14" fmla="*/ 173 w 173"/>
                <a:gd name="T15" fmla="*/ 165 h 1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5">
                  <a:moveTo>
                    <a:pt x="0" y="165"/>
                  </a:moveTo>
                  <a:lnTo>
                    <a:pt x="86" y="0"/>
                  </a:lnTo>
                  <a:lnTo>
                    <a:pt x="173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44" name="Line 352"/>
            <p:cNvSpPr>
              <a:spLocks noChangeShapeType="1"/>
            </p:cNvSpPr>
            <p:nvPr/>
          </p:nvSpPr>
          <p:spPr bwMode="auto">
            <a:xfrm flipH="1">
              <a:off x="3815" y="1046"/>
              <a:ext cx="87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45" name="Freeform 353"/>
            <p:cNvSpPr>
              <a:spLocks/>
            </p:cNvSpPr>
            <p:nvPr/>
          </p:nvSpPr>
          <p:spPr bwMode="auto">
            <a:xfrm>
              <a:off x="3815" y="1046"/>
              <a:ext cx="87" cy="83"/>
            </a:xfrm>
            <a:custGeom>
              <a:avLst/>
              <a:gdLst>
                <a:gd name="T0" fmla="*/ 0 w 173"/>
                <a:gd name="T1" fmla="*/ 1 h 165"/>
                <a:gd name="T2" fmla="*/ 1 w 173"/>
                <a:gd name="T3" fmla="*/ 0 h 165"/>
                <a:gd name="T4" fmla="*/ 1 w 173"/>
                <a:gd name="T5" fmla="*/ 1 h 165"/>
                <a:gd name="T6" fmla="*/ 0 w 173"/>
                <a:gd name="T7" fmla="*/ 1 h 1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5"/>
                <a:gd name="T14" fmla="*/ 173 w 173"/>
                <a:gd name="T15" fmla="*/ 165 h 1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5">
                  <a:moveTo>
                    <a:pt x="0" y="165"/>
                  </a:moveTo>
                  <a:lnTo>
                    <a:pt x="86" y="0"/>
                  </a:lnTo>
                  <a:lnTo>
                    <a:pt x="173" y="165"/>
                  </a:lnTo>
                  <a:lnTo>
                    <a:pt x="0" y="165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46" name="Line 354"/>
            <p:cNvSpPr>
              <a:spLocks noChangeShapeType="1"/>
            </p:cNvSpPr>
            <p:nvPr/>
          </p:nvSpPr>
          <p:spPr bwMode="auto">
            <a:xfrm flipV="1">
              <a:off x="3858" y="920"/>
              <a:ext cx="1" cy="33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47" name="Freeform 355"/>
            <p:cNvSpPr>
              <a:spLocks/>
            </p:cNvSpPr>
            <p:nvPr/>
          </p:nvSpPr>
          <p:spPr bwMode="auto">
            <a:xfrm>
              <a:off x="3815" y="1046"/>
              <a:ext cx="87" cy="84"/>
            </a:xfrm>
            <a:custGeom>
              <a:avLst/>
              <a:gdLst>
                <a:gd name="T0" fmla="*/ 1 w 173"/>
                <a:gd name="T1" fmla="*/ 0 h 167"/>
                <a:gd name="T2" fmla="*/ 0 w 173"/>
                <a:gd name="T3" fmla="*/ 1 h 167"/>
                <a:gd name="T4" fmla="*/ 1 w 173"/>
                <a:gd name="T5" fmla="*/ 1 h 167"/>
                <a:gd name="T6" fmla="*/ 1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6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48" name="Freeform 356"/>
            <p:cNvSpPr>
              <a:spLocks/>
            </p:cNvSpPr>
            <p:nvPr/>
          </p:nvSpPr>
          <p:spPr bwMode="auto">
            <a:xfrm>
              <a:off x="3815" y="1046"/>
              <a:ext cx="87" cy="84"/>
            </a:xfrm>
            <a:custGeom>
              <a:avLst/>
              <a:gdLst>
                <a:gd name="T0" fmla="*/ 1 w 173"/>
                <a:gd name="T1" fmla="*/ 0 h 167"/>
                <a:gd name="T2" fmla="*/ 0 w 173"/>
                <a:gd name="T3" fmla="*/ 1 h 167"/>
                <a:gd name="T4" fmla="*/ 1 w 173"/>
                <a:gd name="T5" fmla="*/ 1 h 167"/>
                <a:gd name="T6" fmla="*/ 1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6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49" name="Line 357"/>
            <p:cNvSpPr>
              <a:spLocks noChangeShapeType="1"/>
            </p:cNvSpPr>
            <p:nvPr/>
          </p:nvSpPr>
          <p:spPr bwMode="auto">
            <a:xfrm flipV="1">
              <a:off x="3858" y="1046"/>
              <a:ext cx="1" cy="8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50" name="Line 358"/>
            <p:cNvSpPr>
              <a:spLocks noChangeShapeType="1"/>
            </p:cNvSpPr>
            <p:nvPr/>
          </p:nvSpPr>
          <p:spPr bwMode="auto">
            <a:xfrm flipH="1">
              <a:off x="3815" y="1046"/>
              <a:ext cx="87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51" name="Freeform 359"/>
            <p:cNvSpPr>
              <a:spLocks/>
            </p:cNvSpPr>
            <p:nvPr/>
          </p:nvSpPr>
          <p:spPr bwMode="auto">
            <a:xfrm>
              <a:off x="4148" y="1047"/>
              <a:ext cx="86" cy="82"/>
            </a:xfrm>
            <a:custGeom>
              <a:avLst/>
              <a:gdLst>
                <a:gd name="T0" fmla="*/ 0 w 171"/>
                <a:gd name="T1" fmla="*/ 1 h 164"/>
                <a:gd name="T2" fmla="*/ 1 w 171"/>
                <a:gd name="T3" fmla="*/ 0 h 164"/>
                <a:gd name="T4" fmla="*/ 1 w 171"/>
                <a:gd name="T5" fmla="*/ 1 h 164"/>
                <a:gd name="T6" fmla="*/ 0 w 171"/>
                <a:gd name="T7" fmla="*/ 1 h 1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4"/>
                <a:gd name="T14" fmla="*/ 171 w 171"/>
                <a:gd name="T15" fmla="*/ 164 h 1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4">
                  <a:moveTo>
                    <a:pt x="0" y="164"/>
                  </a:moveTo>
                  <a:lnTo>
                    <a:pt x="86" y="0"/>
                  </a:lnTo>
                  <a:lnTo>
                    <a:pt x="171" y="164"/>
                  </a:lnTo>
                  <a:lnTo>
                    <a:pt x="0" y="16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52" name="Line 360"/>
            <p:cNvSpPr>
              <a:spLocks noChangeShapeType="1"/>
            </p:cNvSpPr>
            <p:nvPr/>
          </p:nvSpPr>
          <p:spPr bwMode="auto">
            <a:xfrm flipH="1">
              <a:off x="4148" y="1047"/>
              <a:ext cx="86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53" name="Freeform 361"/>
            <p:cNvSpPr>
              <a:spLocks/>
            </p:cNvSpPr>
            <p:nvPr/>
          </p:nvSpPr>
          <p:spPr bwMode="auto">
            <a:xfrm>
              <a:off x="4148" y="1047"/>
              <a:ext cx="86" cy="82"/>
            </a:xfrm>
            <a:custGeom>
              <a:avLst/>
              <a:gdLst>
                <a:gd name="T0" fmla="*/ 0 w 171"/>
                <a:gd name="T1" fmla="*/ 1 h 164"/>
                <a:gd name="T2" fmla="*/ 1 w 171"/>
                <a:gd name="T3" fmla="*/ 0 h 164"/>
                <a:gd name="T4" fmla="*/ 1 w 171"/>
                <a:gd name="T5" fmla="*/ 1 h 164"/>
                <a:gd name="T6" fmla="*/ 0 w 171"/>
                <a:gd name="T7" fmla="*/ 1 h 1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4"/>
                <a:gd name="T14" fmla="*/ 171 w 171"/>
                <a:gd name="T15" fmla="*/ 164 h 1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4">
                  <a:moveTo>
                    <a:pt x="0" y="164"/>
                  </a:moveTo>
                  <a:lnTo>
                    <a:pt x="86" y="0"/>
                  </a:lnTo>
                  <a:lnTo>
                    <a:pt x="171" y="164"/>
                  </a:lnTo>
                  <a:lnTo>
                    <a:pt x="0" y="164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54" name="Line 362"/>
            <p:cNvSpPr>
              <a:spLocks noChangeShapeType="1"/>
            </p:cNvSpPr>
            <p:nvPr/>
          </p:nvSpPr>
          <p:spPr bwMode="auto">
            <a:xfrm flipV="1">
              <a:off x="4191" y="920"/>
              <a:ext cx="1" cy="33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55" name="Freeform 363"/>
            <p:cNvSpPr>
              <a:spLocks/>
            </p:cNvSpPr>
            <p:nvPr/>
          </p:nvSpPr>
          <p:spPr bwMode="auto">
            <a:xfrm>
              <a:off x="4148" y="1046"/>
              <a:ext cx="86" cy="84"/>
            </a:xfrm>
            <a:custGeom>
              <a:avLst/>
              <a:gdLst>
                <a:gd name="T0" fmla="*/ 1 w 171"/>
                <a:gd name="T1" fmla="*/ 0 h 167"/>
                <a:gd name="T2" fmla="*/ 0 w 171"/>
                <a:gd name="T3" fmla="*/ 1 h 167"/>
                <a:gd name="T4" fmla="*/ 1 w 171"/>
                <a:gd name="T5" fmla="*/ 1 h 167"/>
                <a:gd name="T6" fmla="*/ 1 w 171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7"/>
                <a:gd name="T14" fmla="*/ 171 w 171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7">
                  <a:moveTo>
                    <a:pt x="86" y="0"/>
                  </a:moveTo>
                  <a:lnTo>
                    <a:pt x="0" y="167"/>
                  </a:lnTo>
                  <a:lnTo>
                    <a:pt x="171" y="167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56" name="Freeform 364"/>
            <p:cNvSpPr>
              <a:spLocks/>
            </p:cNvSpPr>
            <p:nvPr/>
          </p:nvSpPr>
          <p:spPr bwMode="auto">
            <a:xfrm>
              <a:off x="4148" y="1046"/>
              <a:ext cx="86" cy="84"/>
            </a:xfrm>
            <a:custGeom>
              <a:avLst/>
              <a:gdLst>
                <a:gd name="T0" fmla="*/ 1 w 171"/>
                <a:gd name="T1" fmla="*/ 0 h 167"/>
                <a:gd name="T2" fmla="*/ 0 w 171"/>
                <a:gd name="T3" fmla="*/ 1 h 167"/>
                <a:gd name="T4" fmla="*/ 1 w 171"/>
                <a:gd name="T5" fmla="*/ 1 h 167"/>
                <a:gd name="T6" fmla="*/ 1 w 171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7"/>
                <a:gd name="T14" fmla="*/ 171 w 171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7">
                  <a:moveTo>
                    <a:pt x="86" y="0"/>
                  </a:moveTo>
                  <a:lnTo>
                    <a:pt x="0" y="167"/>
                  </a:lnTo>
                  <a:lnTo>
                    <a:pt x="171" y="167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57" name="Line 365"/>
            <p:cNvSpPr>
              <a:spLocks noChangeShapeType="1"/>
            </p:cNvSpPr>
            <p:nvPr/>
          </p:nvSpPr>
          <p:spPr bwMode="auto">
            <a:xfrm flipV="1">
              <a:off x="4191" y="1046"/>
              <a:ext cx="1" cy="8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58" name="Line 366"/>
            <p:cNvSpPr>
              <a:spLocks noChangeShapeType="1"/>
            </p:cNvSpPr>
            <p:nvPr/>
          </p:nvSpPr>
          <p:spPr bwMode="auto">
            <a:xfrm flipH="1">
              <a:off x="4148" y="1046"/>
              <a:ext cx="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59" name="Freeform 367"/>
            <p:cNvSpPr>
              <a:spLocks/>
            </p:cNvSpPr>
            <p:nvPr/>
          </p:nvSpPr>
          <p:spPr bwMode="auto">
            <a:xfrm>
              <a:off x="4564" y="1058"/>
              <a:ext cx="86" cy="82"/>
            </a:xfrm>
            <a:custGeom>
              <a:avLst/>
              <a:gdLst>
                <a:gd name="T0" fmla="*/ 0 w 173"/>
                <a:gd name="T1" fmla="*/ 0 h 166"/>
                <a:gd name="T2" fmla="*/ 0 w 173"/>
                <a:gd name="T3" fmla="*/ 0 h 166"/>
                <a:gd name="T4" fmla="*/ 0 w 173"/>
                <a:gd name="T5" fmla="*/ 0 h 166"/>
                <a:gd name="T6" fmla="*/ 0 w 173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6"/>
                <a:gd name="T14" fmla="*/ 173 w 173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6">
                  <a:moveTo>
                    <a:pt x="0" y="0"/>
                  </a:moveTo>
                  <a:lnTo>
                    <a:pt x="173" y="82"/>
                  </a:lnTo>
                  <a:lnTo>
                    <a:pt x="0" y="1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60" name="Line 368"/>
            <p:cNvSpPr>
              <a:spLocks noChangeShapeType="1"/>
            </p:cNvSpPr>
            <p:nvPr/>
          </p:nvSpPr>
          <p:spPr bwMode="auto">
            <a:xfrm flipV="1">
              <a:off x="4650" y="1058"/>
              <a:ext cx="1" cy="8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61" name="Freeform 369"/>
            <p:cNvSpPr>
              <a:spLocks/>
            </p:cNvSpPr>
            <p:nvPr/>
          </p:nvSpPr>
          <p:spPr bwMode="auto">
            <a:xfrm>
              <a:off x="4564" y="1058"/>
              <a:ext cx="86" cy="82"/>
            </a:xfrm>
            <a:custGeom>
              <a:avLst/>
              <a:gdLst>
                <a:gd name="T0" fmla="*/ 0 w 173"/>
                <a:gd name="T1" fmla="*/ 0 h 166"/>
                <a:gd name="T2" fmla="*/ 0 w 173"/>
                <a:gd name="T3" fmla="*/ 0 h 166"/>
                <a:gd name="T4" fmla="*/ 0 w 173"/>
                <a:gd name="T5" fmla="*/ 0 h 166"/>
                <a:gd name="T6" fmla="*/ 0 w 173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6"/>
                <a:gd name="T14" fmla="*/ 173 w 173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6">
                  <a:moveTo>
                    <a:pt x="0" y="0"/>
                  </a:moveTo>
                  <a:lnTo>
                    <a:pt x="173" y="82"/>
                  </a:lnTo>
                  <a:lnTo>
                    <a:pt x="0" y="166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62" name="Line 370"/>
            <p:cNvSpPr>
              <a:spLocks noChangeShapeType="1"/>
            </p:cNvSpPr>
            <p:nvPr/>
          </p:nvSpPr>
          <p:spPr bwMode="auto">
            <a:xfrm>
              <a:off x="4431" y="1099"/>
              <a:ext cx="35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63" name="Freeform 371"/>
            <p:cNvSpPr>
              <a:spLocks/>
            </p:cNvSpPr>
            <p:nvPr/>
          </p:nvSpPr>
          <p:spPr bwMode="auto">
            <a:xfrm>
              <a:off x="4563" y="1058"/>
              <a:ext cx="88" cy="82"/>
            </a:xfrm>
            <a:custGeom>
              <a:avLst/>
              <a:gdLst>
                <a:gd name="T0" fmla="*/ 0 w 177"/>
                <a:gd name="T1" fmla="*/ 0 h 166"/>
                <a:gd name="T2" fmla="*/ 0 w 177"/>
                <a:gd name="T3" fmla="*/ 0 h 166"/>
                <a:gd name="T4" fmla="*/ 0 w 177"/>
                <a:gd name="T5" fmla="*/ 0 h 166"/>
                <a:gd name="T6" fmla="*/ 0 w 177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7"/>
                <a:gd name="T13" fmla="*/ 0 h 166"/>
                <a:gd name="T14" fmla="*/ 177 w 177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7" h="166">
                  <a:moveTo>
                    <a:pt x="177" y="82"/>
                  </a:moveTo>
                  <a:lnTo>
                    <a:pt x="0" y="0"/>
                  </a:lnTo>
                  <a:lnTo>
                    <a:pt x="0" y="166"/>
                  </a:lnTo>
                  <a:lnTo>
                    <a:pt x="177" y="8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64" name="Freeform 372"/>
            <p:cNvSpPr>
              <a:spLocks/>
            </p:cNvSpPr>
            <p:nvPr/>
          </p:nvSpPr>
          <p:spPr bwMode="auto">
            <a:xfrm>
              <a:off x="4563" y="1058"/>
              <a:ext cx="88" cy="82"/>
            </a:xfrm>
            <a:custGeom>
              <a:avLst/>
              <a:gdLst>
                <a:gd name="T0" fmla="*/ 0 w 177"/>
                <a:gd name="T1" fmla="*/ 0 h 166"/>
                <a:gd name="T2" fmla="*/ 0 w 177"/>
                <a:gd name="T3" fmla="*/ 0 h 166"/>
                <a:gd name="T4" fmla="*/ 0 w 177"/>
                <a:gd name="T5" fmla="*/ 0 h 166"/>
                <a:gd name="T6" fmla="*/ 0 w 177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7"/>
                <a:gd name="T13" fmla="*/ 0 h 166"/>
                <a:gd name="T14" fmla="*/ 177 w 177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7" h="166">
                  <a:moveTo>
                    <a:pt x="177" y="82"/>
                  </a:moveTo>
                  <a:lnTo>
                    <a:pt x="0" y="0"/>
                  </a:lnTo>
                  <a:lnTo>
                    <a:pt x="0" y="166"/>
                  </a:lnTo>
                  <a:lnTo>
                    <a:pt x="177" y="82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65" name="Line 373"/>
            <p:cNvSpPr>
              <a:spLocks noChangeShapeType="1"/>
            </p:cNvSpPr>
            <p:nvPr/>
          </p:nvSpPr>
          <p:spPr bwMode="auto">
            <a:xfrm>
              <a:off x="4563" y="1099"/>
              <a:ext cx="88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66" name="Line 374"/>
            <p:cNvSpPr>
              <a:spLocks noChangeShapeType="1"/>
            </p:cNvSpPr>
            <p:nvPr/>
          </p:nvSpPr>
          <p:spPr bwMode="auto">
            <a:xfrm flipV="1">
              <a:off x="4651" y="1058"/>
              <a:ext cx="1" cy="8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67" name="Freeform 375"/>
            <p:cNvSpPr>
              <a:spLocks/>
            </p:cNvSpPr>
            <p:nvPr/>
          </p:nvSpPr>
          <p:spPr bwMode="auto">
            <a:xfrm>
              <a:off x="3815" y="1676"/>
              <a:ext cx="87" cy="82"/>
            </a:xfrm>
            <a:custGeom>
              <a:avLst/>
              <a:gdLst>
                <a:gd name="T0" fmla="*/ 0 w 173"/>
                <a:gd name="T1" fmla="*/ 1 h 164"/>
                <a:gd name="T2" fmla="*/ 1 w 173"/>
                <a:gd name="T3" fmla="*/ 0 h 164"/>
                <a:gd name="T4" fmla="*/ 1 w 173"/>
                <a:gd name="T5" fmla="*/ 1 h 164"/>
                <a:gd name="T6" fmla="*/ 0 w 173"/>
                <a:gd name="T7" fmla="*/ 1 h 1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4"/>
                <a:gd name="T14" fmla="*/ 173 w 173"/>
                <a:gd name="T15" fmla="*/ 164 h 1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4">
                  <a:moveTo>
                    <a:pt x="0" y="164"/>
                  </a:moveTo>
                  <a:lnTo>
                    <a:pt x="86" y="0"/>
                  </a:lnTo>
                  <a:lnTo>
                    <a:pt x="173" y="164"/>
                  </a:lnTo>
                  <a:lnTo>
                    <a:pt x="0" y="16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68" name="Line 376"/>
            <p:cNvSpPr>
              <a:spLocks noChangeShapeType="1"/>
            </p:cNvSpPr>
            <p:nvPr/>
          </p:nvSpPr>
          <p:spPr bwMode="auto">
            <a:xfrm flipH="1">
              <a:off x="3815" y="1676"/>
              <a:ext cx="87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69" name="Freeform 377"/>
            <p:cNvSpPr>
              <a:spLocks/>
            </p:cNvSpPr>
            <p:nvPr/>
          </p:nvSpPr>
          <p:spPr bwMode="auto">
            <a:xfrm>
              <a:off x="3815" y="1676"/>
              <a:ext cx="87" cy="82"/>
            </a:xfrm>
            <a:custGeom>
              <a:avLst/>
              <a:gdLst>
                <a:gd name="T0" fmla="*/ 0 w 173"/>
                <a:gd name="T1" fmla="*/ 1 h 164"/>
                <a:gd name="T2" fmla="*/ 1 w 173"/>
                <a:gd name="T3" fmla="*/ 0 h 164"/>
                <a:gd name="T4" fmla="*/ 1 w 173"/>
                <a:gd name="T5" fmla="*/ 1 h 164"/>
                <a:gd name="T6" fmla="*/ 0 w 173"/>
                <a:gd name="T7" fmla="*/ 1 h 1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4"/>
                <a:gd name="T14" fmla="*/ 173 w 173"/>
                <a:gd name="T15" fmla="*/ 164 h 1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4">
                  <a:moveTo>
                    <a:pt x="0" y="164"/>
                  </a:moveTo>
                  <a:lnTo>
                    <a:pt x="86" y="0"/>
                  </a:lnTo>
                  <a:lnTo>
                    <a:pt x="173" y="164"/>
                  </a:lnTo>
                  <a:lnTo>
                    <a:pt x="0" y="164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70" name="Line 378"/>
            <p:cNvSpPr>
              <a:spLocks noChangeShapeType="1"/>
            </p:cNvSpPr>
            <p:nvPr/>
          </p:nvSpPr>
          <p:spPr bwMode="auto">
            <a:xfrm flipV="1">
              <a:off x="3858" y="1549"/>
              <a:ext cx="1" cy="33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71" name="Freeform 379"/>
            <p:cNvSpPr>
              <a:spLocks/>
            </p:cNvSpPr>
            <p:nvPr/>
          </p:nvSpPr>
          <p:spPr bwMode="auto">
            <a:xfrm>
              <a:off x="3815" y="1675"/>
              <a:ext cx="87" cy="84"/>
            </a:xfrm>
            <a:custGeom>
              <a:avLst/>
              <a:gdLst>
                <a:gd name="T0" fmla="*/ 1 w 173"/>
                <a:gd name="T1" fmla="*/ 0 h 167"/>
                <a:gd name="T2" fmla="*/ 0 w 173"/>
                <a:gd name="T3" fmla="*/ 1 h 167"/>
                <a:gd name="T4" fmla="*/ 1 w 173"/>
                <a:gd name="T5" fmla="*/ 1 h 167"/>
                <a:gd name="T6" fmla="*/ 1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6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72" name="Freeform 380"/>
            <p:cNvSpPr>
              <a:spLocks/>
            </p:cNvSpPr>
            <p:nvPr/>
          </p:nvSpPr>
          <p:spPr bwMode="auto">
            <a:xfrm>
              <a:off x="3815" y="1675"/>
              <a:ext cx="87" cy="84"/>
            </a:xfrm>
            <a:custGeom>
              <a:avLst/>
              <a:gdLst>
                <a:gd name="T0" fmla="*/ 1 w 173"/>
                <a:gd name="T1" fmla="*/ 0 h 167"/>
                <a:gd name="T2" fmla="*/ 0 w 173"/>
                <a:gd name="T3" fmla="*/ 1 h 167"/>
                <a:gd name="T4" fmla="*/ 1 w 173"/>
                <a:gd name="T5" fmla="*/ 1 h 167"/>
                <a:gd name="T6" fmla="*/ 1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6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73" name="Line 381"/>
            <p:cNvSpPr>
              <a:spLocks noChangeShapeType="1"/>
            </p:cNvSpPr>
            <p:nvPr/>
          </p:nvSpPr>
          <p:spPr bwMode="auto">
            <a:xfrm flipV="1">
              <a:off x="3858" y="1675"/>
              <a:ext cx="1" cy="8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74" name="Line 382"/>
            <p:cNvSpPr>
              <a:spLocks noChangeShapeType="1"/>
            </p:cNvSpPr>
            <p:nvPr/>
          </p:nvSpPr>
          <p:spPr bwMode="auto">
            <a:xfrm flipH="1">
              <a:off x="3815" y="1675"/>
              <a:ext cx="87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75" name="Freeform 383"/>
            <p:cNvSpPr>
              <a:spLocks/>
            </p:cNvSpPr>
            <p:nvPr/>
          </p:nvSpPr>
          <p:spPr bwMode="auto">
            <a:xfrm>
              <a:off x="4171" y="1677"/>
              <a:ext cx="86" cy="82"/>
            </a:xfrm>
            <a:custGeom>
              <a:avLst/>
              <a:gdLst>
                <a:gd name="T0" fmla="*/ 0 w 173"/>
                <a:gd name="T1" fmla="*/ 0 h 166"/>
                <a:gd name="T2" fmla="*/ 0 w 173"/>
                <a:gd name="T3" fmla="*/ 0 h 166"/>
                <a:gd name="T4" fmla="*/ 0 w 173"/>
                <a:gd name="T5" fmla="*/ 0 h 166"/>
                <a:gd name="T6" fmla="*/ 0 w 173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6"/>
                <a:gd name="T14" fmla="*/ 173 w 173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6">
                  <a:moveTo>
                    <a:pt x="0" y="166"/>
                  </a:moveTo>
                  <a:lnTo>
                    <a:pt x="88" y="0"/>
                  </a:lnTo>
                  <a:lnTo>
                    <a:pt x="173" y="166"/>
                  </a:lnTo>
                  <a:lnTo>
                    <a:pt x="0" y="16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76" name="Line 384"/>
            <p:cNvSpPr>
              <a:spLocks noChangeShapeType="1"/>
            </p:cNvSpPr>
            <p:nvPr/>
          </p:nvSpPr>
          <p:spPr bwMode="auto">
            <a:xfrm flipH="1">
              <a:off x="4171" y="1677"/>
              <a:ext cx="86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77" name="Freeform 385"/>
            <p:cNvSpPr>
              <a:spLocks/>
            </p:cNvSpPr>
            <p:nvPr/>
          </p:nvSpPr>
          <p:spPr bwMode="auto">
            <a:xfrm>
              <a:off x="4171" y="1677"/>
              <a:ext cx="86" cy="82"/>
            </a:xfrm>
            <a:custGeom>
              <a:avLst/>
              <a:gdLst>
                <a:gd name="T0" fmla="*/ 0 w 173"/>
                <a:gd name="T1" fmla="*/ 0 h 166"/>
                <a:gd name="T2" fmla="*/ 0 w 173"/>
                <a:gd name="T3" fmla="*/ 0 h 166"/>
                <a:gd name="T4" fmla="*/ 0 w 173"/>
                <a:gd name="T5" fmla="*/ 0 h 166"/>
                <a:gd name="T6" fmla="*/ 0 w 173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6"/>
                <a:gd name="T14" fmla="*/ 173 w 173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6">
                  <a:moveTo>
                    <a:pt x="0" y="166"/>
                  </a:moveTo>
                  <a:lnTo>
                    <a:pt x="88" y="0"/>
                  </a:lnTo>
                  <a:lnTo>
                    <a:pt x="173" y="166"/>
                  </a:lnTo>
                  <a:lnTo>
                    <a:pt x="0" y="166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78" name="Line 386"/>
            <p:cNvSpPr>
              <a:spLocks noChangeShapeType="1"/>
            </p:cNvSpPr>
            <p:nvPr/>
          </p:nvSpPr>
          <p:spPr bwMode="auto">
            <a:xfrm flipV="1">
              <a:off x="4214" y="1550"/>
              <a:ext cx="1" cy="33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79" name="Freeform 387"/>
            <p:cNvSpPr>
              <a:spLocks/>
            </p:cNvSpPr>
            <p:nvPr/>
          </p:nvSpPr>
          <p:spPr bwMode="auto">
            <a:xfrm>
              <a:off x="4171" y="1676"/>
              <a:ext cx="86" cy="83"/>
            </a:xfrm>
            <a:custGeom>
              <a:avLst/>
              <a:gdLst>
                <a:gd name="T0" fmla="*/ 0 w 173"/>
                <a:gd name="T1" fmla="*/ 0 h 167"/>
                <a:gd name="T2" fmla="*/ 0 w 173"/>
                <a:gd name="T3" fmla="*/ 0 h 167"/>
                <a:gd name="T4" fmla="*/ 0 w 173"/>
                <a:gd name="T5" fmla="*/ 0 h 167"/>
                <a:gd name="T6" fmla="*/ 0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8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80" name="Freeform 388"/>
            <p:cNvSpPr>
              <a:spLocks/>
            </p:cNvSpPr>
            <p:nvPr/>
          </p:nvSpPr>
          <p:spPr bwMode="auto">
            <a:xfrm>
              <a:off x="4171" y="1676"/>
              <a:ext cx="86" cy="83"/>
            </a:xfrm>
            <a:custGeom>
              <a:avLst/>
              <a:gdLst>
                <a:gd name="T0" fmla="*/ 0 w 173"/>
                <a:gd name="T1" fmla="*/ 0 h 167"/>
                <a:gd name="T2" fmla="*/ 0 w 173"/>
                <a:gd name="T3" fmla="*/ 0 h 167"/>
                <a:gd name="T4" fmla="*/ 0 w 173"/>
                <a:gd name="T5" fmla="*/ 0 h 167"/>
                <a:gd name="T6" fmla="*/ 0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8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8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81" name="Line 389"/>
            <p:cNvSpPr>
              <a:spLocks noChangeShapeType="1"/>
            </p:cNvSpPr>
            <p:nvPr/>
          </p:nvSpPr>
          <p:spPr bwMode="auto">
            <a:xfrm flipV="1">
              <a:off x="4214" y="1676"/>
              <a:ext cx="1" cy="8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82" name="Line 390"/>
            <p:cNvSpPr>
              <a:spLocks noChangeShapeType="1"/>
            </p:cNvSpPr>
            <p:nvPr/>
          </p:nvSpPr>
          <p:spPr bwMode="auto">
            <a:xfrm flipH="1">
              <a:off x="4171" y="1676"/>
              <a:ext cx="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83" name="Freeform 391"/>
            <p:cNvSpPr>
              <a:spLocks/>
            </p:cNvSpPr>
            <p:nvPr/>
          </p:nvSpPr>
          <p:spPr bwMode="auto">
            <a:xfrm>
              <a:off x="4567" y="1644"/>
              <a:ext cx="86" cy="83"/>
            </a:xfrm>
            <a:custGeom>
              <a:avLst/>
              <a:gdLst>
                <a:gd name="T0" fmla="*/ 0 w 171"/>
                <a:gd name="T1" fmla="*/ 0 h 166"/>
                <a:gd name="T2" fmla="*/ 1 w 171"/>
                <a:gd name="T3" fmla="*/ 1 h 166"/>
                <a:gd name="T4" fmla="*/ 0 w 171"/>
                <a:gd name="T5" fmla="*/ 1 h 166"/>
                <a:gd name="T6" fmla="*/ 0 w 171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6"/>
                <a:gd name="T14" fmla="*/ 171 w 171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6">
                  <a:moveTo>
                    <a:pt x="0" y="0"/>
                  </a:moveTo>
                  <a:lnTo>
                    <a:pt x="171" y="84"/>
                  </a:lnTo>
                  <a:lnTo>
                    <a:pt x="0" y="1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84" name="Line 392"/>
            <p:cNvSpPr>
              <a:spLocks noChangeShapeType="1"/>
            </p:cNvSpPr>
            <p:nvPr/>
          </p:nvSpPr>
          <p:spPr bwMode="auto">
            <a:xfrm flipV="1">
              <a:off x="4653" y="1644"/>
              <a:ext cx="1" cy="8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85" name="Freeform 393"/>
            <p:cNvSpPr>
              <a:spLocks/>
            </p:cNvSpPr>
            <p:nvPr/>
          </p:nvSpPr>
          <p:spPr bwMode="auto">
            <a:xfrm>
              <a:off x="4567" y="1644"/>
              <a:ext cx="86" cy="83"/>
            </a:xfrm>
            <a:custGeom>
              <a:avLst/>
              <a:gdLst>
                <a:gd name="T0" fmla="*/ 0 w 171"/>
                <a:gd name="T1" fmla="*/ 0 h 166"/>
                <a:gd name="T2" fmla="*/ 1 w 171"/>
                <a:gd name="T3" fmla="*/ 1 h 166"/>
                <a:gd name="T4" fmla="*/ 0 w 171"/>
                <a:gd name="T5" fmla="*/ 1 h 166"/>
                <a:gd name="T6" fmla="*/ 0 w 171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6"/>
                <a:gd name="T14" fmla="*/ 171 w 171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6">
                  <a:moveTo>
                    <a:pt x="0" y="0"/>
                  </a:moveTo>
                  <a:lnTo>
                    <a:pt x="171" y="84"/>
                  </a:lnTo>
                  <a:lnTo>
                    <a:pt x="0" y="166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86" name="Line 394"/>
            <p:cNvSpPr>
              <a:spLocks noChangeShapeType="1"/>
            </p:cNvSpPr>
            <p:nvPr/>
          </p:nvSpPr>
          <p:spPr bwMode="auto">
            <a:xfrm>
              <a:off x="4435" y="1686"/>
              <a:ext cx="35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87" name="Freeform 395"/>
            <p:cNvSpPr>
              <a:spLocks/>
            </p:cNvSpPr>
            <p:nvPr/>
          </p:nvSpPr>
          <p:spPr bwMode="auto">
            <a:xfrm>
              <a:off x="4567" y="1644"/>
              <a:ext cx="87" cy="83"/>
            </a:xfrm>
            <a:custGeom>
              <a:avLst/>
              <a:gdLst>
                <a:gd name="T0" fmla="*/ 0 w 175"/>
                <a:gd name="T1" fmla="*/ 1 h 166"/>
                <a:gd name="T2" fmla="*/ 0 w 175"/>
                <a:gd name="T3" fmla="*/ 0 h 166"/>
                <a:gd name="T4" fmla="*/ 0 w 175"/>
                <a:gd name="T5" fmla="*/ 1 h 166"/>
                <a:gd name="T6" fmla="*/ 0 w 175"/>
                <a:gd name="T7" fmla="*/ 1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5"/>
                <a:gd name="T13" fmla="*/ 0 h 166"/>
                <a:gd name="T14" fmla="*/ 175 w 175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5" h="166">
                  <a:moveTo>
                    <a:pt x="175" y="84"/>
                  </a:moveTo>
                  <a:lnTo>
                    <a:pt x="0" y="0"/>
                  </a:lnTo>
                  <a:lnTo>
                    <a:pt x="0" y="166"/>
                  </a:lnTo>
                  <a:lnTo>
                    <a:pt x="175" y="8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88" name="Freeform 396"/>
            <p:cNvSpPr>
              <a:spLocks/>
            </p:cNvSpPr>
            <p:nvPr/>
          </p:nvSpPr>
          <p:spPr bwMode="auto">
            <a:xfrm>
              <a:off x="4567" y="1644"/>
              <a:ext cx="87" cy="83"/>
            </a:xfrm>
            <a:custGeom>
              <a:avLst/>
              <a:gdLst>
                <a:gd name="T0" fmla="*/ 0 w 175"/>
                <a:gd name="T1" fmla="*/ 1 h 166"/>
                <a:gd name="T2" fmla="*/ 0 w 175"/>
                <a:gd name="T3" fmla="*/ 0 h 166"/>
                <a:gd name="T4" fmla="*/ 0 w 175"/>
                <a:gd name="T5" fmla="*/ 1 h 166"/>
                <a:gd name="T6" fmla="*/ 0 w 175"/>
                <a:gd name="T7" fmla="*/ 1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5"/>
                <a:gd name="T13" fmla="*/ 0 h 166"/>
                <a:gd name="T14" fmla="*/ 175 w 175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5" h="166">
                  <a:moveTo>
                    <a:pt x="175" y="84"/>
                  </a:moveTo>
                  <a:lnTo>
                    <a:pt x="0" y="0"/>
                  </a:lnTo>
                  <a:lnTo>
                    <a:pt x="0" y="166"/>
                  </a:lnTo>
                  <a:lnTo>
                    <a:pt x="175" y="84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89" name="Line 397"/>
            <p:cNvSpPr>
              <a:spLocks noChangeShapeType="1"/>
            </p:cNvSpPr>
            <p:nvPr/>
          </p:nvSpPr>
          <p:spPr bwMode="auto">
            <a:xfrm>
              <a:off x="4567" y="1686"/>
              <a:ext cx="87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90" name="Line 398"/>
            <p:cNvSpPr>
              <a:spLocks noChangeShapeType="1"/>
            </p:cNvSpPr>
            <p:nvPr/>
          </p:nvSpPr>
          <p:spPr bwMode="auto">
            <a:xfrm flipV="1">
              <a:off x="4654" y="1644"/>
              <a:ext cx="1" cy="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91" name="Rectangle 399"/>
            <p:cNvSpPr>
              <a:spLocks noChangeArrowheads="1"/>
            </p:cNvSpPr>
            <p:nvPr/>
          </p:nvSpPr>
          <p:spPr bwMode="auto">
            <a:xfrm>
              <a:off x="5028" y="1138"/>
              <a:ext cx="48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宋体" pitchFamily="2" charset="-122"/>
                </a:rPr>
                <a:t>L</a:t>
              </a:r>
              <a:endParaRPr lang="en-US" altLang="zh-CN" sz="1200"/>
            </a:p>
          </p:txBody>
        </p:sp>
        <p:sp>
          <p:nvSpPr>
            <p:cNvPr id="84192" name="Rectangle 400"/>
            <p:cNvSpPr>
              <a:spLocks noChangeArrowheads="1"/>
            </p:cNvSpPr>
            <p:nvPr/>
          </p:nvSpPr>
          <p:spPr bwMode="auto">
            <a:xfrm>
              <a:off x="4801" y="1047"/>
              <a:ext cx="93" cy="3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1200" i="1" baseline="-25000">
                  <a:solidFill>
                    <a:srgbClr val="000000"/>
                  </a:solidFill>
                  <a:latin typeface="Times New Roman" pitchFamily="18" charset="0"/>
                </a:rPr>
                <a:t>oi</a:t>
              </a:r>
            </a:p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1200"/>
            </a:p>
          </p:txBody>
        </p:sp>
        <p:sp>
          <p:nvSpPr>
            <p:cNvPr id="84193" name="Rectangle 401"/>
            <p:cNvSpPr>
              <a:spLocks noChangeArrowheads="1"/>
            </p:cNvSpPr>
            <p:nvPr/>
          </p:nvSpPr>
          <p:spPr bwMode="auto">
            <a:xfrm>
              <a:off x="3395" y="1001"/>
              <a:ext cx="122" cy="7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endParaRPr lang="en-US" altLang="zh-CN" sz="16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eaLnBrk="1" hangingPunct="1"/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1600" i="1" baseline="-250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</a:p>
            <a:p>
              <a:pPr eaLnBrk="1" hangingPunct="1"/>
              <a:endParaRPr lang="en-US" altLang="zh-CN" sz="16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eaLnBrk="1" hangingPunct="1"/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1600"/>
            </a:p>
          </p:txBody>
        </p:sp>
        <p:sp>
          <p:nvSpPr>
            <p:cNvPr id="84194" name="Rectangle 402"/>
            <p:cNvSpPr>
              <a:spLocks noChangeArrowheads="1"/>
            </p:cNvSpPr>
            <p:nvPr/>
          </p:nvSpPr>
          <p:spPr bwMode="auto">
            <a:xfrm>
              <a:off x="5527" y="1001"/>
              <a:ext cx="122" cy="4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16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  <a:p>
              <a:pPr eaLnBrk="1" hangingPunct="1"/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1600"/>
            </a:p>
          </p:txBody>
        </p:sp>
        <p:sp>
          <p:nvSpPr>
            <p:cNvPr id="84195" name="Rectangle 403"/>
            <p:cNvSpPr>
              <a:spLocks noChangeArrowheads="1"/>
            </p:cNvSpPr>
            <p:nvPr/>
          </p:nvSpPr>
          <p:spPr bwMode="auto">
            <a:xfrm>
              <a:off x="4121" y="1228"/>
              <a:ext cx="75" cy="3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1200" i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1200"/>
            </a:p>
          </p:txBody>
        </p:sp>
        <p:sp>
          <p:nvSpPr>
            <p:cNvPr id="84196" name="Rectangle 406"/>
            <p:cNvSpPr>
              <a:spLocks noChangeArrowheads="1"/>
            </p:cNvSpPr>
            <p:nvPr/>
          </p:nvSpPr>
          <p:spPr bwMode="auto">
            <a:xfrm>
              <a:off x="3923" y="1616"/>
              <a:ext cx="104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1400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84197" name="Rectangle 407"/>
            <p:cNvSpPr>
              <a:spLocks noChangeArrowheads="1"/>
            </p:cNvSpPr>
            <p:nvPr/>
          </p:nvSpPr>
          <p:spPr bwMode="auto">
            <a:xfrm>
              <a:off x="3923" y="981"/>
              <a:ext cx="104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1400" baseline="-250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84198" name="Rectangle 408"/>
            <p:cNvSpPr>
              <a:spLocks noChangeArrowheads="1"/>
            </p:cNvSpPr>
            <p:nvPr/>
          </p:nvSpPr>
          <p:spPr bwMode="auto">
            <a:xfrm>
              <a:off x="3560" y="1616"/>
              <a:ext cx="104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1400" baseline="-250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</a:p>
          </p:txBody>
        </p:sp>
      </p:grpSp>
      <p:graphicFrame>
        <p:nvGraphicFramePr>
          <p:cNvPr id="8397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8936360"/>
              </p:ext>
            </p:extLst>
          </p:nvPr>
        </p:nvGraphicFramePr>
        <p:xfrm>
          <a:off x="657776" y="4546679"/>
          <a:ext cx="3743325" cy="229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6" name="公式" r:id="rId3" imgW="1803400" imgH="1104900" progId="">
                  <p:embed/>
                </p:oleObj>
              </mc:Choice>
              <mc:Fallback>
                <p:oleObj name="公式" r:id="rId3" imgW="1803400" imgH="11049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776" y="4546679"/>
                        <a:ext cx="3743325" cy="2292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4"/>
          <p:cNvSpPr txBox="1">
            <a:spLocks noChangeArrowheads="1"/>
          </p:cNvSpPr>
          <p:nvPr/>
        </p:nvSpPr>
        <p:spPr bwMode="auto">
          <a:xfrm>
            <a:off x="251395" y="1214438"/>
            <a:ext cx="4392613" cy="2355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spcBef>
                <a:spcPct val="10000"/>
              </a:spcBef>
            </a:pPr>
            <a:r>
              <a:rPr lang="en-US" altLang="zh-CN" sz="2400" dirty="0">
                <a:solidFill>
                  <a:srgbClr val="A50021"/>
                </a:solidFill>
              </a:rPr>
              <a:t>(2)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A50021"/>
                </a:solidFill>
              </a:rPr>
              <a:t>When 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1</a:t>
            </a:r>
            <a:r>
              <a:rPr lang="en-US" altLang="zh-CN" sz="2400" dirty="0">
                <a:solidFill>
                  <a:srgbClr val="A50021"/>
                </a:solidFill>
              </a:rPr>
              <a:t>, 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2</a:t>
            </a:r>
            <a:r>
              <a:rPr lang="en-US" altLang="zh-CN" sz="2400" dirty="0">
                <a:solidFill>
                  <a:srgbClr val="A50021"/>
                </a:solidFill>
              </a:rPr>
              <a:t> are on and 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3</a:t>
            </a:r>
            <a:r>
              <a:rPr lang="en-US" altLang="zh-CN" sz="2400" dirty="0">
                <a:solidFill>
                  <a:srgbClr val="A50021"/>
                </a:solidFill>
              </a:rPr>
              <a:t>, 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4</a:t>
            </a:r>
            <a:r>
              <a:rPr lang="en-US" altLang="zh-CN" sz="2400" baseline="-25000" dirty="0"/>
              <a:t> </a:t>
            </a:r>
            <a:r>
              <a:rPr lang="en-US" altLang="zh-CN" sz="2400" dirty="0">
                <a:solidFill>
                  <a:srgbClr val="A50021"/>
                </a:solidFill>
              </a:rPr>
              <a:t>are off (0&lt;t&lt;t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on</a:t>
            </a:r>
            <a:r>
              <a:rPr lang="en-US" altLang="zh-CN" sz="2400" dirty="0">
                <a:solidFill>
                  <a:srgbClr val="A50021"/>
                </a:solidFill>
              </a:rPr>
              <a:t>)</a:t>
            </a:r>
            <a:r>
              <a:rPr lang="en-US" altLang="zh-CN" sz="2400" dirty="0"/>
              <a:t>:  D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gets reverse biased and D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conducts. </a:t>
            </a:r>
            <a:r>
              <a:rPr lang="en-US" altLang="zh-CN" sz="2400" dirty="0" err="1"/>
              <a:t>i</a:t>
            </a:r>
            <a:r>
              <a:rPr lang="en-US" altLang="zh-CN" sz="2400" baseline="-25000" dirty="0" err="1"/>
              <a:t>L</a:t>
            </a:r>
            <a:r>
              <a:rPr lang="en-US" altLang="zh-CN" sz="2400" dirty="0"/>
              <a:t> through D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increase linearly.</a:t>
            </a:r>
          </a:p>
        </p:txBody>
      </p:sp>
      <p:graphicFrame>
        <p:nvGraphicFramePr>
          <p:cNvPr id="8499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105266"/>
              </p:ext>
            </p:extLst>
          </p:nvPr>
        </p:nvGraphicFramePr>
        <p:xfrm>
          <a:off x="295994" y="3661247"/>
          <a:ext cx="4189413" cy="238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0" name="公式" r:id="rId3" imgW="1943100" imgH="1104900" progId="">
                  <p:embed/>
                </p:oleObj>
              </mc:Choice>
              <mc:Fallback>
                <p:oleObj name="公式" r:id="rId3" imgW="1943100" imgH="11049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94" y="3661247"/>
                        <a:ext cx="4189413" cy="2382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0" name="Group 409"/>
          <p:cNvGrpSpPr>
            <a:grpSpLocks/>
          </p:cNvGrpSpPr>
          <p:nvPr/>
        </p:nvGrpSpPr>
        <p:grpSpPr bwMode="auto">
          <a:xfrm>
            <a:off x="4716016" y="980728"/>
            <a:ext cx="4323780" cy="5760640"/>
            <a:chOff x="3334" y="890"/>
            <a:chExt cx="2315" cy="3258"/>
          </a:xfrm>
        </p:grpSpPr>
        <p:sp>
          <p:nvSpPr>
            <p:cNvPr id="231" name="Freeform 175"/>
            <p:cNvSpPr>
              <a:spLocks/>
            </p:cNvSpPr>
            <p:nvPr/>
          </p:nvSpPr>
          <p:spPr bwMode="auto">
            <a:xfrm>
              <a:off x="3396" y="2276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Freeform 176"/>
            <p:cNvSpPr>
              <a:spLocks/>
            </p:cNvSpPr>
            <p:nvPr/>
          </p:nvSpPr>
          <p:spPr bwMode="auto">
            <a:xfrm>
              <a:off x="3396" y="2276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Line 177"/>
            <p:cNvSpPr>
              <a:spLocks noChangeShapeType="1"/>
            </p:cNvSpPr>
            <p:nvPr/>
          </p:nvSpPr>
          <p:spPr bwMode="auto">
            <a:xfrm>
              <a:off x="3404" y="2335"/>
              <a:ext cx="1" cy="7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Freeform 178"/>
            <p:cNvSpPr>
              <a:spLocks/>
            </p:cNvSpPr>
            <p:nvPr/>
          </p:nvSpPr>
          <p:spPr bwMode="auto">
            <a:xfrm>
              <a:off x="5483" y="2858"/>
              <a:ext cx="54" cy="17"/>
            </a:xfrm>
            <a:custGeom>
              <a:avLst/>
              <a:gdLst>
                <a:gd name="T0" fmla="*/ 1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1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Freeform 179"/>
            <p:cNvSpPr>
              <a:spLocks/>
            </p:cNvSpPr>
            <p:nvPr/>
          </p:nvSpPr>
          <p:spPr bwMode="auto">
            <a:xfrm>
              <a:off x="5483" y="2858"/>
              <a:ext cx="54" cy="17"/>
            </a:xfrm>
            <a:custGeom>
              <a:avLst/>
              <a:gdLst>
                <a:gd name="T0" fmla="*/ 1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1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Line 180"/>
            <p:cNvSpPr>
              <a:spLocks noChangeShapeType="1"/>
            </p:cNvSpPr>
            <p:nvPr/>
          </p:nvSpPr>
          <p:spPr bwMode="auto">
            <a:xfrm flipH="1">
              <a:off x="3404" y="2867"/>
              <a:ext cx="207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Line 181"/>
            <p:cNvSpPr>
              <a:spLocks noChangeShapeType="1"/>
            </p:cNvSpPr>
            <p:nvPr/>
          </p:nvSpPr>
          <p:spPr bwMode="auto">
            <a:xfrm>
              <a:off x="3404" y="2387"/>
              <a:ext cx="320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Freeform 182"/>
            <p:cNvSpPr>
              <a:spLocks/>
            </p:cNvSpPr>
            <p:nvPr/>
          </p:nvSpPr>
          <p:spPr bwMode="auto">
            <a:xfrm>
              <a:off x="5480" y="3909"/>
              <a:ext cx="54" cy="17"/>
            </a:xfrm>
            <a:custGeom>
              <a:avLst/>
              <a:gdLst>
                <a:gd name="T0" fmla="*/ 1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1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" name="Freeform 183"/>
            <p:cNvSpPr>
              <a:spLocks/>
            </p:cNvSpPr>
            <p:nvPr/>
          </p:nvSpPr>
          <p:spPr bwMode="auto">
            <a:xfrm>
              <a:off x="5480" y="3909"/>
              <a:ext cx="54" cy="17"/>
            </a:xfrm>
            <a:custGeom>
              <a:avLst/>
              <a:gdLst>
                <a:gd name="T0" fmla="*/ 1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1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" name="Line 184"/>
            <p:cNvSpPr>
              <a:spLocks noChangeShapeType="1"/>
            </p:cNvSpPr>
            <p:nvPr/>
          </p:nvSpPr>
          <p:spPr bwMode="auto">
            <a:xfrm flipH="1">
              <a:off x="3401" y="3918"/>
              <a:ext cx="207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Rectangle 185"/>
            <p:cNvSpPr>
              <a:spLocks noChangeArrowheads="1"/>
            </p:cNvSpPr>
            <p:nvPr/>
          </p:nvSpPr>
          <p:spPr bwMode="auto">
            <a:xfrm>
              <a:off x="3441" y="2160"/>
              <a:ext cx="1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</a:rPr>
                <a:t>oi</a:t>
              </a:r>
            </a:p>
          </p:txBody>
        </p:sp>
        <p:sp>
          <p:nvSpPr>
            <p:cNvPr id="242" name="Rectangle 186"/>
            <p:cNvSpPr>
              <a:spLocks noChangeArrowheads="1"/>
            </p:cNvSpPr>
            <p:nvPr/>
          </p:nvSpPr>
          <p:spPr bwMode="auto">
            <a:xfrm>
              <a:off x="3335" y="2798"/>
              <a:ext cx="5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243" name="Rectangle 187"/>
            <p:cNvSpPr>
              <a:spLocks noChangeArrowheads="1"/>
            </p:cNvSpPr>
            <p:nvPr/>
          </p:nvSpPr>
          <p:spPr bwMode="auto">
            <a:xfrm>
              <a:off x="3334" y="3847"/>
              <a:ext cx="5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244" name="Rectangle 188"/>
            <p:cNvSpPr>
              <a:spLocks noChangeArrowheads="1"/>
            </p:cNvSpPr>
            <p:nvPr/>
          </p:nvSpPr>
          <p:spPr bwMode="auto">
            <a:xfrm>
              <a:off x="5569" y="2795"/>
              <a:ext cx="5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 sz="2400"/>
            </a:p>
          </p:txBody>
        </p:sp>
        <p:sp>
          <p:nvSpPr>
            <p:cNvPr id="245" name="Rectangle 189"/>
            <p:cNvSpPr>
              <a:spLocks noChangeArrowheads="1"/>
            </p:cNvSpPr>
            <p:nvPr/>
          </p:nvSpPr>
          <p:spPr bwMode="auto">
            <a:xfrm>
              <a:off x="5566" y="3828"/>
              <a:ext cx="5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 sz="2400"/>
            </a:p>
          </p:txBody>
        </p:sp>
        <p:sp>
          <p:nvSpPr>
            <p:cNvPr id="246" name="Line 190"/>
            <p:cNvSpPr>
              <a:spLocks noChangeShapeType="1"/>
            </p:cNvSpPr>
            <p:nvPr/>
          </p:nvSpPr>
          <p:spPr bwMode="auto">
            <a:xfrm>
              <a:off x="4257" y="2387"/>
              <a:ext cx="320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" name="Line 191"/>
            <p:cNvSpPr>
              <a:spLocks noChangeShapeType="1"/>
            </p:cNvSpPr>
            <p:nvPr/>
          </p:nvSpPr>
          <p:spPr bwMode="auto">
            <a:xfrm>
              <a:off x="4577" y="2866"/>
              <a:ext cx="53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Line 192"/>
            <p:cNvSpPr>
              <a:spLocks noChangeShapeType="1"/>
            </p:cNvSpPr>
            <p:nvPr/>
          </p:nvSpPr>
          <p:spPr bwMode="auto">
            <a:xfrm>
              <a:off x="4577" y="2387"/>
              <a:ext cx="1" cy="29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Line 193"/>
            <p:cNvSpPr>
              <a:spLocks noChangeShapeType="1"/>
            </p:cNvSpPr>
            <p:nvPr/>
          </p:nvSpPr>
          <p:spPr bwMode="auto">
            <a:xfrm>
              <a:off x="5111" y="2387"/>
              <a:ext cx="319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" name="Line 194"/>
            <p:cNvSpPr>
              <a:spLocks noChangeShapeType="1"/>
            </p:cNvSpPr>
            <p:nvPr/>
          </p:nvSpPr>
          <p:spPr bwMode="auto">
            <a:xfrm>
              <a:off x="5111" y="2387"/>
              <a:ext cx="1" cy="29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Rectangle 195"/>
            <p:cNvSpPr>
              <a:spLocks noChangeArrowheads="1"/>
            </p:cNvSpPr>
            <p:nvPr/>
          </p:nvSpPr>
          <p:spPr bwMode="auto">
            <a:xfrm>
              <a:off x="3714" y="2179"/>
              <a:ext cx="4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N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2</a:t>
              </a:r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V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d</a:t>
              </a:r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/N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52" name="Line 196"/>
            <p:cNvSpPr>
              <a:spLocks noChangeShapeType="1"/>
            </p:cNvSpPr>
            <p:nvPr/>
          </p:nvSpPr>
          <p:spPr bwMode="auto">
            <a:xfrm>
              <a:off x="3724" y="2913"/>
              <a:ext cx="1" cy="1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" name="Line 197"/>
            <p:cNvSpPr>
              <a:spLocks noChangeShapeType="1"/>
            </p:cNvSpPr>
            <p:nvPr/>
          </p:nvSpPr>
          <p:spPr bwMode="auto">
            <a:xfrm>
              <a:off x="4257" y="2913"/>
              <a:ext cx="1" cy="1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4" name="Line 198"/>
            <p:cNvSpPr>
              <a:spLocks noChangeShapeType="1"/>
            </p:cNvSpPr>
            <p:nvPr/>
          </p:nvSpPr>
          <p:spPr bwMode="auto">
            <a:xfrm>
              <a:off x="4257" y="2913"/>
              <a:ext cx="1" cy="2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5" name="Line 199"/>
            <p:cNvSpPr>
              <a:spLocks noChangeShapeType="1"/>
            </p:cNvSpPr>
            <p:nvPr/>
          </p:nvSpPr>
          <p:spPr bwMode="auto">
            <a:xfrm>
              <a:off x="3404" y="3065"/>
              <a:ext cx="1" cy="8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" name="Line 200"/>
            <p:cNvSpPr>
              <a:spLocks noChangeShapeType="1"/>
            </p:cNvSpPr>
            <p:nvPr/>
          </p:nvSpPr>
          <p:spPr bwMode="auto">
            <a:xfrm>
              <a:off x="3456" y="2972"/>
              <a:ext cx="2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Freeform 201"/>
            <p:cNvSpPr>
              <a:spLocks/>
            </p:cNvSpPr>
            <p:nvPr/>
          </p:nvSpPr>
          <p:spPr bwMode="auto">
            <a:xfrm>
              <a:off x="3404" y="2934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0 w 140"/>
                <a:gd name="T3" fmla="*/ 0 h 76"/>
                <a:gd name="T4" fmla="*/ 0 w 140"/>
                <a:gd name="T5" fmla="*/ 5 h 76"/>
                <a:gd name="T6" fmla="*/ 0 w 140"/>
                <a:gd name="T7" fmla="*/ 9 h 76"/>
                <a:gd name="T8" fmla="*/ 0 w 140"/>
                <a:gd name="T9" fmla="*/ 14 h 76"/>
                <a:gd name="T10" fmla="*/ 0 w 140"/>
                <a:gd name="T11" fmla="*/ 18 h 76"/>
                <a:gd name="T12" fmla="*/ 0 w 140"/>
                <a:gd name="T13" fmla="*/ 23 h 76"/>
                <a:gd name="T14" fmla="*/ 0 w 140"/>
                <a:gd name="T15" fmla="*/ 29 h 76"/>
                <a:gd name="T16" fmla="*/ 0 w 140"/>
                <a:gd name="T17" fmla="*/ 33 h 76"/>
                <a:gd name="T18" fmla="*/ 0 w 140"/>
                <a:gd name="T19" fmla="*/ 38 h 76"/>
                <a:gd name="T20" fmla="*/ 0 w 140"/>
                <a:gd name="T21" fmla="*/ 43 h 76"/>
                <a:gd name="T22" fmla="*/ 0 w 140"/>
                <a:gd name="T23" fmla="*/ 47 h 76"/>
                <a:gd name="T24" fmla="*/ 0 w 140"/>
                <a:gd name="T25" fmla="*/ 52 h 76"/>
                <a:gd name="T26" fmla="*/ 0 w 140"/>
                <a:gd name="T27" fmla="*/ 58 h 76"/>
                <a:gd name="T28" fmla="*/ 0 w 140"/>
                <a:gd name="T29" fmla="*/ 62 h 76"/>
                <a:gd name="T30" fmla="*/ 0 w 140"/>
                <a:gd name="T31" fmla="*/ 67 h 76"/>
                <a:gd name="T32" fmla="*/ 0 w 140"/>
                <a:gd name="T33" fmla="*/ 71 h 76"/>
                <a:gd name="T34" fmla="*/ 0 w 140"/>
                <a:gd name="T35" fmla="*/ 76 h 76"/>
                <a:gd name="T36" fmla="*/ 0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Freeform 202"/>
            <p:cNvSpPr>
              <a:spLocks/>
            </p:cNvSpPr>
            <p:nvPr/>
          </p:nvSpPr>
          <p:spPr bwMode="auto">
            <a:xfrm>
              <a:off x="3655" y="2934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0 w 140"/>
                <a:gd name="T3" fmla="*/ 76 h 76"/>
                <a:gd name="T4" fmla="*/ 0 w 140"/>
                <a:gd name="T5" fmla="*/ 71 h 76"/>
                <a:gd name="T6" fmla="*/ 0 w 140"/>
                <a:gd name="T7" fmla="*/ 67 h 76"/>
                <a:gd name="T8" fmla="*/ 0 w 140"/>
                <a:gd name="T9" fmla="*/ 62 h 76"/>
                <a:gd name="T10" fmla="*/ 0 w 140"/>
                <a:gd name="T11" fmla="*/ 58 h 76"/>
                <a:gd name="T12" fmla="*/ 0 w 140"/>
                <a:gd name="T13" fmla="*/ 52 h 76"/>
                <a:gd name="T14" fmla="*/ 0 w 140"/>
                <a:gd name="T15" fmla="*/ 47 h 76"/>
                <a:gd name="T16" fmla="*/ 0 w 140"/>
                <a:gd name="T17" fmla="*/ 43 h 76"/>
                <a:gd name="T18" fmla="*/ 0 w 140"/>
                <a:gd name="T19" fmla="*/ 38 h 76"/>
                <a:gd name="T20" fmla="*/ 0 w 140"/>
                <a:gd name="T21" fmla="*/ 33 h 76"/>
                <a:gd name="T22" fmla="*/ 0 w 140"/>
                <a:gd name="T23" fmla="*/ 29 h 76"/>
                <a:gd name="T24" fmla="*/ 0 w 140"/>
                <a:gd name="T25" fmla="*/ 23 h 76"/>
                <a:gd name="T26" fmla="*/ 0 w 140"/>
                <a:gd name="T27" fmla="*/ 18 h 76"/>
                <a:gd name="T28" fmla="*/ 0 w 140"/>
                <a:gd name="T29" fmla="*/ 14 h 76"/>
                <a:gd name="T30" fmla="*/ 0 w 140"/>
                <a:gd name="T31" fmla="*/ 9 h 76"/>
                <a:gd name="T32" fmla="*/ 0 w 140"/>
                <a:gd name="T33" fmla="*/ 5 h 76"/>
                <a:gd name="T34" fmla="*/ 0 w 140"/>
                <a:gd name="T35" fmla="*/ 0 h 76"/>
                <a:gd name="T36" fmla="*/ 0 w 140"/>
                <a:gd name="T37" fmla="*/ 0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140" y="38"/>
                  </a:moveTo>
                  <a:lnTo>
                    <a:pt x="0" y="76"/>
                  </a:lnTo>
                  <a:lnTo>
                    <a:pt x="4" y="71"/>
                  </a:lnTo>
                  <a:lnTo>
                    <a:pt x="8" y="67"/>
                  </a:lnTo>
                  <a:lnTo>
                    <a:pt x="11" y="62"/>
                  </a:lnTo>
                  <a:lnTo>
                    <a:pt x="13" y="58"/>
                  </a:lnTo>
                  <a:lnTo>
                    <a:pt x="15" y="52"/>
                  </a:lnTo>
                  <a:lnTo>
                    <a:pt x="17" y="47"/>
                  </a:lnTo>
                  <a:lnTo>
                    <a:pt x="17" y="43"/>
                  </a:lnTo>
                  <a:lnTo>
                    <a:pt x="17" y="38"/>
                  </a:lnTo>
                  <a:lnTo>
                    <a:pt x="17" y="33"/>
                  </a:lnTo>
                  <a:lnTo>
                    <a:pt x="17" y="29"/>
                  </a:lnTo>
                  <a:lnTo>
                    <a:pt x="15" y="23"/>
                  </a:lnTo>
                  <a:lnTo>
                    <a:pt x="13" y="18"/>
                  </a:lnTo>
                  <a:lnTo>
                    <a:pt x="11" y="14"/>
                  </a:lnTo>
                  <a:lnTo>
                    <a:pt x="8" y="9"/>
                  </a:lnTo>
                  <a:lnTo>
                    <a:pt x="4" y="5"/>
                  </a:lnTo>
                  <a:lnTo>
                    <a:pt x="0" y="0"/>
                  </a:lnTo>
                  <a:lnTo>
                    <a:pt x="140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Line 203"/>
            <p:cNvSpPr>
              <a:spLocks noChangeShapeType="1"/>
            </p:cNvSpPr>
            <p:nvPr/>
          </p:nvSpPr>
          <p:spPr bwMode="auto">
            <a:xfrm>
              <a:off x="3776" y="2972"/>
              <a:ext cx="42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0" name="Freeform 204"/>
            <p:cNvSpPr>
              <a:spLocks/>
            </p:cNvSpPr>
            <p:nvPr/>
          </p:nvSpPr>
          <p:spPr bwMode="auto">
            <a:xfrm>
              <a:off x="3724" y="2934"/>
              <a:ext cx="69" cy="76"/>
            </a:xfrm>
            <a:custGeom>
              <a:avLst/>
              <a:gdLst>
                <a:gd name="T0" fmla="*/ 0 w 137"/>
                <a:gd name="T1" fmla="*/ 38 h 76"/>
                <a:gd name="T2" fmla="*/ 1 w 137"/>
                <a:gd name="T3" fmla="*/ 0 h 76"/>
                <a:gd name="T4" fmla="*/ 1 w 137"/>
                <a:gd name="T5" fmla="*/ 5 h 76"/>
                <a:gd name="T6" fmla="*/ 1 w 137"/>
                <a:gd name="T7" fmla="*/ 9 h 76"/>
                <a:gd name="T8" fmla="*/ 1 w 137"/>
                <a:gd name="T9" fmla="*/ 14 h 76"/>
                <a:gd name="T10" fmla="*/ 1 w 137"/>
                <a:gd name="T11" fmla="*/ 18 h 76"/>
                <a:gd name="T12" fmla="*/ 1 w 137"/>
                <a:gd name="T13" fmla="*/ 23 h 76"/>
                <a:gd name="T14" fmla="*/ 1 w 137"/>
                <a:gd name="T15" fmla="*/ 29 h 76"/>
                <a:gd name="T16" fmla="*/ 1 w 137"/>
                <a:gd name="T17" fmla="*/ 33 h 76"/>
                <a:gd name="T18" fmla="*/ 1 w 137"/>
                <a:gd name="T19" fmla="*/ 38 h 76"/>
                <a:gd name="T20" fmla="*/ 1 w 137"/>
                <a:gd name="T21" fmla="*/ 43 h 76"/>
                <a:gd name="T22" fmla="*/ 1 w 137"/>
                <a:gd name="T23" fmla="*/ 47 h 76"/>
                <a:gd name="T24" fmla="*/ 1 w 137"/>
                <a:gd name="T25" fmla="*/ 52 h 76"/>
                <a:gd name="T26" fmla="*/ 1 w 137"/>
                <a:gd name="T27" fmla="*/ 58 h 76"/>
                <a:gd name="T28" fmla="*/ 1 w 137"/>
                <a:gd name="T29" fmla="*/ 62 h 76"/>
                <a:gd name="T30" fmla="*/ 1 w 137"/>
                <a:gd name="T31" fmla="*/ 67 h 76"/>
                <a:gd name="T32" fmla="*/ 1 w 137"/>
                <a:gd name="T33" fmla="*/ 71 h 76"/>
                <a:gd name="T34" fmla="*/ 1 w 137"/>
                <a:gd name="T35" fmla="*/ 76 h 76"/>
                <a:gd name="T36" fmla="*/ 1 w 137"/>
                <a:gd name="T37" fmla="*/ 76 h 76"/>
                <a:gd name="T38" fmla="*/ 0 w 137"/>
                <a:gd name="T39" fmla="*/ 38 h 76"/>
                <a:gd name="T40" fmla="*/ 0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0" y="38"/>
                  </a:moveTo>
                  <a:lnTo>
                    <a:pt x="137" y="0"/>
                  </a:lnTo>
                  <a:lnTo>
                    <a:pt x="134" y="5"/>
                  </a:lnTo>
                  <a:lnTo>
                    <a:pt x="130" y="9"/>
                  </a:lnTo>
                  <a:lnTo>
                    <a:pt x="128" y="14"/>
                  </a:lnTo>
                  <a:lnTo>
                    <a:pt x="124" y="18"/>
                  </a:lnTo>
                  <a:lnTo>
                    <a:pt x="122" y="23"/>
                  </a:lnTo>
                  <a:lnTo>
                    <a:pt x="122" y="29"/>
                  </a:lnTo>
                  <a:lnTo>
                    <a:pt x="120" y="33"/>
                  </a:lnTo>
                  <a:lnTo>
                    <a:pt x="120" y="38"/>
                  </a:lnTo>
                  <a:lnTo>
                    <a:pt x="120" y="43"/>
                  </a:lnTo>
                  <a:lnTo>
                    <a:pt x="122" y="47"/>
                  </a:lnTo>
                  <a:lnTo>
                    <a:pt x="122" y="52"/>
                  </a:lnTo>
                  <a:lnTo>
                    <a:pt x="124" y="58"/>
                  </a:lnTo>
                  <a:lnTo>
                    <a:pt x="128" y="62"/>
                  </a:lnTo>
                  <a:lnTo>
                    <a:pt x="130" y="67"/>
                  </a:lnTo>
                  <a:lnTo>
                    <a:pt x="134" y="71"/>
                  </a:lnTo>
                  <a:lnTo>
                    <a:pt x="137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Freeform 205"/>
            <p:cNvSpPr>
              <a:spLocks/>
            </p:cNvSpPr>
            <p:nvPr/>
          </p:nvSpPr>
          <p:spPr bwMode="auto">
            <a:xfrm>
              <a:off x="4188" y="2934"/>
              <a:ext cx="69" cy="76"/>
            </a:xfrm>
            <a:custGeom>
              <a:avLst/>
              <a:gdLst>
                <a:gd name="T0" fmla="*/ 1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1 w 137"/>
                <a:gd name="T39" fmla="*/ 38 h 76"/>
                <a:gd name="T40" fmla="*/ 1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" name="Line 206"/>
            <p:cNvSpPr>
              <a:spLocks noChangeShapeType="1"/>
            </p:cNvSpPr>
            <p:nvPr/>
          </p:nvSpPr>
          <p:spPr bwMode="auto">
            <a:xfrm>
              <a:off x="3456" y="3089"/>
              <a:ext cx="74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" name="Freeform 207"/>
            <p:cNvSpPr>
              <a:spLocks/>
            </p:cNvSpPr>
            <p:nvPr/>
          </p:nvSpPr>
          <p:spPr bwMode="auto">
            <a:xfrm>
              <a:off x="3404" y="3051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0 w 140"/>
                <a:gd name="T3" fmla="*/ 0 h 76"/>
                <a:gd name="T4" fmla="*/ 0 w 140"/>
                <a:gd name="T5" fmla="*/ 5 h 76"/>
                <a:gd name="T6" fmla="*/ 0 w 140"/>
                <a:gd name="T7" fmla="*/ 9 h 76"/>
                <a:gd name="T8" fmla="*/ 0 w 140"/>
                <a:gd name="T9" fmla="*/ 14 h 76"/>
                <a:gd name="T10" fmla="*/ 0 w 140"/>
                <a:gd name="T11" fmla="*/ 18 h 76"/>
                <a:gd name="T12" fmla="*/ 0 w 140"/>
                <a:gd name="T13" fmla="*/ 23 h 76"/>
                <a:gd name="T14" fmla="*/ 0 w 140"/>
                <a:gd name="T15" fmla="*/ 29 h 76"/>
                <a:gd name="T16" fmla="*/ 0 w 140"/>
                <a:gd name="T17" fmla="*/ 33 h 76"/>
                <a:gd name="T18" fmla="*/ 0 w 140"/>
                <a:gd name="T19" fmla="*/ 38 h 76"/>
                <a:gd name="T20" fmla="*/ 0 w 140"/>
                <a:gd name="T21" fmla="*/ 43 h 76"/>
                <a:gd name="T22" fmla="*/ 0 w 140"/>
                <a:gd name="T23" fmla="*/ 47 h 76"/>
                <a:gd name="T24" fmla="*/ 0 w 140"/>
                <a:gd name="T25" fmla="*/ 52 h 76"/>
                <a:gd name="T26" fmla="*/ 0 w 140"/>
                <a:gd name="T27" fmla="*/ 58 h 76"/>
                <a:gd name="T28" fmla="*/ 0 w 140"/>
                <a:gd name="T29" fmla="*/ 62 h 76"/>
                <a:gd name="T30" fmla="*/ 0 w 140"/>
                <a:gd name="T31" fmla="*/ 67 h 76"/>
                <a:gd name="T32" fmla="*/ 0 w 140"/>
                <a:gd name="T33" fmla="*/ 71 h 76"/>
                <a:gd name="T34" fmla="*/ 0 w 140"/>
                <a:gd name="T35" fmla="*/ 76 h 76"/>
                <a:gd name="T36" fmla="*/ 0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Freeform 208"/>
            <p:cNvSpPr>
              <a:spLocks/>
            </p:cNvSpPr>
            <p:nvPr/>
          </p:nvSpPr>
          <p:spPr bwMode="auto">
            <a:xfrm>
              <a:off x="4188" y="3051"/>
              <a:ext cx="69" cy="76"/>
            </a:xfrm>
            <a:custGeom>
              <a:avLst/>
              <a:gdLst>
                <a:gd name="T0" fmla="*/ 1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1 w 137"/>
                <a:gd name="T39" fmla="*/ 38 h 76"/>
                <a:gd name="T40" fmla="*/ 1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" name="Rectangle 209"/>
            <p:cNvSpPr>
              <a:spLocks noChangeArrowheads="1"/>
            </p:cNvSpPr>
            <p:nvPr/>
          </p:nvSpPr>
          <p:spPr bwMode="auto">
            <a:xfrm>
              <a:off x="3561" y="2893"/>
              <a:ext cx="72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on</a:t>
              </a:r>
              <a:endParaRPr lang="en-US" altLang="zh-CN"/>
            </a:p>
          </p:txBody>
        </p:sp>
        <p:sp>
          <p:nvSpPr>
            <p:cNvPr id="266" name="Rectangle 210"/>
            <p:cNvSpPr>
              <a:spLocks noChangeArrowheads="1"/>
            </p:cNvSpPr>
            <p:nvPr/>
          </p:nvSpPr>
          <p:spPr bwMode="auto">
            <a:xfrm>
              <a:off x="3542" y="2847"/>
              <a:ext cx="29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267" name="Line 211"/>
            <p:cNvSpPr>
              <a:spLocks noChangeShapeType="1"/>
            </p:cNvSpPr>
            <p:nvPr/>
          </p:nvSpPr>
          <p:spPr bwMode="auto">
            <a:xfrm flipV="1">
              <a:off x="3721" y="3867"/>
              <a:ext cx="1" cy="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8" name="Line 212"/>
            <p:cNvSpPr>
              <a:spLocks noChangeShapeType="1"/>
            </p:cNvSpPr>
            <p:nvPr/>
          </p:nvSpPr>
          <p:spPr bwMode="auto">
            <a:xfrm flipV="1">
              <a:off x="4254" y="3867"/>
              <a:ext cx="1" cy="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" name="Line 213"/>
            <p:cNvSpPr>
              <a:spLocks noChangeShapeType="1"/>
            </p:cNvSpPr>
            <p:nvPr/>
          </p:nvSpPr>
          <p:spPr bwMode="auto">
            <a:xfrm flipV="1">
              <a:off x="4574" y="3867"/>
              <a:ext cx="1" cy="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0" name="Line 214"/>
            <p:cNvSpPr>
              <a:spLocks noChangeShapeType="1"/>
            </p:cNvSpPr>
            <p:nvPr/>
          </p:nvSpPr>
          <p:spPr bwMode="auto">
            <a:xfrm flipV="1">
              <a:off x="5108" y="3867"/>
              <a:ext cx="1" cy="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1" name="Freeform 215"/>
            <p:cNvSpPr>
              <a:spLocks/>
            </p:cNvSpPr>
            <p:nvPr/>
          </p:nvSpPr>
          <p:spPr bwMode="auto">
            <a:xfrm>
              <a:off x="3404" y="3440"/>
              <a:ext cx="1898" cy="234"/>
            </a:xfrm>
            <a:custGeom>
              <a:avLst/>
              <a:gdLst>
                <a:gd name="T0" fmla="*/ 0 w 3797"/>
                <a:gd name="T1" fmla="*/ 234 h 234"/>
                <a:gd name="T2" fmla="*/ 2 w 3797"/>
                <a:gd name="T3" fmla="*/ 0 h 234"/>
                <a:gd name="T4" fmla="*/ 6 w 3797"/>
                <a:gd name="T5" fmla="*/ 234 h 234"/>
                <a:gd name="T6" fmla="*/ 9 w 3797"/>
                <a:gd name="T7" fmla="*/ 0 h 234"/>
                <a:gd name="T8" fmla="*/ 13 w 3797"/>
                <a:gd name="T9" fmla="*/ 234 h 234"/>
                <a:gd name="T10" fmla="*/ 14 w 3797"/>
                <a:gd name="T11" fmla="*/ 117 h 2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797"/>
                <a:gd name="T19" fmla="*/ 0 h 234"/>
                <a:gd name="T20" fmla="*/ 3797 w 3797"/>
                <a:gd name="T21" fmla="*/ 234 h 2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797" h="234">
                  <a:moveTo>
                    <a:pt x="0" y="234"/>
                  </a:moveTo>
                  <a:lnTo>
                    <a:pt x="642" y="0"/>
                  </a:lnTo>
                  <a:lnTo>
                    <a:pt x="1707" y="234"/>
                  </a:lnTo>
                  <a:lnTo>
                    <a:pt x="2347" y="0"/>
                  </a:lnTo>
                  <a:lnTo>
                    <a:pt x="3414" y="234"/>
                  </a:lnTo>
                  <a:lnTo>
                    <a:pt x="3797" y="117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2" name="Freeform 216"/>
            <p:cNvSpPr>
              <a:spLocks/>
            </p:cNvSpPr>
            <p:nvPr/>
          </p:nvSpPr>
          <p:spPr bwMode="auto">
            <a:xfrm>
              <a:off x="3724" y="2387"/>
              <a:ext cx="533" cy="479"/>
            </a:xfrm>
            <a:custGeom>
              <a:avLst/>
              <a:gdLst>
                <a:gd name="T0" fmla="*/ 0 w 1065"/>
                <a:gd name="T1" fmla="*/ 0 h 479"/>
                <a:gd name="T2" fmla="*/ 0 w 1065"/>
                <a:gd name="T3" fmla="*/ 479 h 479"/>
                <a:gd name="T4" fmla="*/ 5 w 1065"/>
                <a:gd name="T5" fmla="*/ 479 h 479"/>
                <a:gd name="T6" fmla="*/ 5 w 1065"/>
                <a:gd name="T7" fmla="*/ 0 h 4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5"/>
                <a:gd name="T13" fmla="*/ 0 h 479"/>
                <a:gd name="T14" fmla="*/ 1065 w 1065"/>
                <a:gd name="T15" fmla="*/ 479 h 4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5" h="479">
                  <a:moveTo>
                    <a:pt x="0" y="0"/>
                  </a:moveTo>
                  <a:lnTo>
                    <a:pt x="0" y="479"/>
                  </a:lnTo>
                  <a:lnTo>
                    <a:pt x="1065" y="479"/>
                  </a:lnTo>
                  <a:lnTo>
                    <a:pt x="106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" name="Freeform 217"/>
            <p:cNvSpPr>
              <a:spLocks noEditPoints="1"/>
            </p:cNvSpPr>
            <p:nvPr/>
          </p:nvSpPr>
          <p:spPr bwMode="auto">
            <a:xfrm>
              <a:off x="3401" y="2571"/>
              <a:ext cx="2039" cy="13"/>
            </a:xfrm>
            <a:custGeom>
              <a:avLst/>
              <a:gdLst>
                <a:gd name="T0" fmla="*/ 1 w 4078"/>
                <a:gd name="T1" fmla="*/ 5 h 13"/>
                <a:gd name="T2" fmla="*/ 1 w 4078"/>
                <a:gd name="T3" fmla="*/ 13 h 13"/>
                <a:gd name="T4" fmla="*/ 0 w 4078"/>
                <a:gd name="T5" fmla="*/ 6 h 13"/>
                <a:gd name="T6" fmla="*/ 1 w 4078"/>
                <a:gd name="T7" fmla="*/ 0 h 13"/>
                <a:gd name="T8" fmla="*/ 2 w 4078"/>
                <a:gd name="T9" fmla="*/ 5 h 13"/>
                <a:gd name="T10" fmla="*/ 2 w 4078"/>
                <a:gd name="T11" fmla="*/ 13 h 13"/>
                <a:gd name="T12" fmla="*/ 2 w 4078"/>
                <a:gd name="T13" fmla="*/ 6 h 13"/>
                <a:gd name="T14" fmla="*/ 2 w 4078"/>
                <a:gd name="T15" fmla="*/ 0 h 13"/>
                <a:gd name="T16" fmla="*/ 4 w 4078"/>
                <a:gd name="T17" fmla="*/ 5 h 13"/>
                <a:gd name="T18" fmla="*/ 4 w 4078"/>
                <a:gd name="T19" fmla="*/ 13 h 13"/>
                <a:gd name="T20" fmla="*/ 3 w 4078"/>
                <a:gd name="T21" fmla="*/ 6 h 13"/>
                <a:gd name="T22" fmla="*/ 3 w 4078"/>
                <a:gd name="T23" fmla="*/ 0 h 13"/>
                <a:gd name="T24" fmla="*/ 5 w 4078"/>
                <a:gd name="T25" fmla="*/ 5 h 13"/>
                <a:gd name="T26" fmla="*/ 5 w 4078"/>
                <a:gd name="T27" fmla="*/ 13 h 13"/>
                <a:gd name="T28" fmla="*/ 4 w 4078"/>
                <a:gd name="T29" fmla="*/ 6 h 13"/>
                <a:gd name="T30" fmla="*/ 4 w 4078"/>
                <a:gd name="T31" fmla="*/ 0 h 13"/>
                <a:gd name="T32" fmla="*/ 6 w 4078"/>
                <a:gd name="T33" fmla="*/ 5 h 13"/>
                <a:gd name="T34" fmla="*/ 6 w 4078"/>
                <a:gd name="T35" fmla="*/ 13 h 13"/>
                <a:gd name="T36" fmla="*/ 5 w 4078"/>
                <a:gd name="T37" fmla="*/ 6 h 13"/>
                <a:gd name="T38" fmla="*/ 5 w 4078"/>
                <a:gd name="T39" fmla="*/ 0 h 13"/>
                <a:gd name="T40" fmla="*/ 7 w 4078"/>
                <a:gd name="T41" fmla="*/ 5 h 13"/>
                <a:gd name="T42" fmla="*/ 7 w 4078"/>
                <a:gd name="T43" fmla="*/ 13 h 13"/>
                <a:gd name="T44" fmla="*/ 6 w 4078"/>
                <a:gd name="T45" fmla="*/ 6 h 13"/>
                <a:gd name="T46" fmla="*/ 7 w 4078"/>
                <a:gd name="T47" fmla="*/ 0 h 13"/>
                <a:gd name="T48" fmla="*/ 8 w 4078"/>
                <a:gd name="T49" fmla="*/ 5 h 13"/>
                <a:gd name="T50" fmla="*/ 8 w 4078"/>
                <a:gd name="T51" fmla="*/ 13 h 13"/>
                <a:gd name="T52" fmla="*/ 8 w 4078"/>
                <a:gd name="T53" fmla="*/ 6 h 13"/>
                <a:gd name="T54" fmla="*/ 8 w 4078"/>
                <a:gd name="T55" fmla="*/ 0 h 13"/>
                <a:gd name="T56" fmla="*/ 10 w 4078"/>
                <a:gd name="T57" fmla="*/ 5 h 13"/>
                <a:gd name="T58" fmla="*/ 10 w 4078"/>
                <a:gd name="T59" fmla="*/ 13 h 13"/>
                <a:gd name="T60" fmla="*/ 9 w 4078"/>
                <a:gd name="T61" fmla="*/ 6 h 13"/>
                <a:gd name="T62" fmla="*/ 9 w 4078"/>
                <a:gd name="T63" fmla="*/ 0 h 13"/>
                <a:gd name="T64" fmla="*/ 11 w 4078"/>
                <a:gd name="T65" fmla="*/ 5 h 13"/>
                <a:gd name="T66" fmla="*/ 11 w 4078"/>
                <a:gd name="T67" fmla="*/ 13 h 13"/>
                <a:gd name="T68" fmla="*/ 10 w 4078"/>
                <a:gd name="T69" fmla="*/ 6 h 13"/>
                <a:gd name="T70" fmla="*/ 10 w 4078"/>
                <a:gd name="T71" fmla="*/ 0 h 13"/>
                <a:gd name="T72" fmla="*/ 12 w 4078"/>
                <a:gd name="T73" fmla="*/ 5 h 13"/>
                <a:gd name="T74" fmla="*/ 12 w 4078"/>
                <a:gd name="T75" fmla="*/ 13 h 13"/>
                <a:gd name="T76" fmla="*/ 11 w 4078"/>
                <a:gd name="T77" fmla="*/ 6 h 13"/>
                <a:gd name="T78" fmla="*/ 11 w 4078"/>
                <a:gd name="T79" fmla="*/ 0 h 13"/>
                <a:gd name="T80" fmla="*/ 13 w 4078"/>
                <a:gd name="T81" fmla="*/ 5 h 13"/>
                <a:gd name="T82" fmla="*/ 13 w 4078"/>
                <a:gd name="T83" fmla="*/ 13 h 13"/>
                <a:gd name="T84" fmla="*/ 12 w 4078"/>
                <a:gd name="T85" fmla="*/ 6 h 13"/>
                <a:gd name="T86" fmla="*/ 13 w 4078"/>
                <a:gd name="T87" fmla="*/ 0 h 13"/>
                <a:gd name="T88" fmla="*/ 14 w 4078"/>
                <a:gd name="T89" fmla="*/ 5 h 13"/>
                <a:gd name="T90" fmla="*/ 14 w 4078"/>
                <a:gd name="T91" fmla="*/ 13 h 13"/>
                <a:gd name="T92" fmla="*/ 14 w 4078"/>
                <a:gd name="T93" fmla="*/ 6 h 13"/>
                <a:gd name="T94" fmla="*/ 14 w 4078"/>
                <a:gd name="T95" fmla="*/ 0 h 13"/>
                <a:gd name="T96" fmla="*/ 16 w 4078"/>
                <a:gd name="T97" fmla="*/ 5 h 13"/>
                <a:gd name="T98" fmla="*/ 16 w 4078"/>
                <a:gd name="T99" fmla="*/ 13 h 13"/>
                <a:gd name="T100" fmla="*/ 15 w 4078"/>
                <a:gd name="T101" fmla="*/ 6 h 13"/>
                <a:gd name="T102" fmla="*/ 15 w 4078"/>
                <a:gd name="T103" fmla="*/ 0 h 13"/>
                <a:gd name="T104" fmla="*/ 16 w 4078"/>
                <a:gd name="T105" fmla="*/ 5 h 13"/>
                <a:gd name="T106" fmla="*/ 16 w 4078"/>
                <a:gd name="T107" fmla="*/ 13 h 13"/>
                <a:gd name="T108" fmla="*/ 16 w 4078"/>
                <a:gd name="T109" fmla="*/ 6 h 13"/>
                <a:gd name="T110" fmla="*/ 16 w 4078"/>
                <a:gd name="T111" fmla="*/ 0 h 13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4078"/>
                <a:gd name="T169" fmla="*/ 0 h 13"/>
                <a:gd name="T170" fmla="*/ 4078 w 4078"/>
                <a:gd name="T171" fmla="*/ 13 h 13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4078" h="13">
                  <a:moveTo>
                    <a:pt x="11" y="0"/>
                  </a:moveTo>
                  <a:lnTo>
                    <a:pt x="191" y="0"/>
                  </a:lnTo>
                  <a:lnTo>
                    <a:pt x="194" y="0"/>
                  </a:lnTo>
                  <a:lnTo>
                    <a:pt x="196" y="0"/>
                  </a:lnTo>
                  <a:lnTo>
                    <a:pt x="200" y="2"/>
                  </a:lnTo>
                  <a:lnTo>
                    <a:pt x="202" y="4"/>
                  </a:lnTo>
                  <a:lnTo>
                    <a:pt x="204" y="5"/>
                  </a:lnTo>
                  <a:lnTo>
                    <a:pt x="204" y="6"/>
                  </a:lnTo>
                  <a:lnTo>
                    <a:pt x="204" y="8"/>
                  </a:lnTo>
                  <a:lnTo>
                    <a:pt x="202" y="9"/>
                  </a:lnTo>
                  <a:lnTo>
                    <a:pt x="200" y="11"/>
                  </a:lnTo>
                  <a:lnTo>
                    <a:pt x="196" y="13"/>
                  </a:lnTo>
                  <a:lnTo>
                    <a:pt x="194" y="13"/>
                  </a:lnTo>
                  <a:lnTo>
                    <a:pt x="191" y="13"/>
                  </a:lnTo>
                  <a:lnTo>
                    <a:pt x="11" y="13"/>
                  </a:lnTo>
                  <a:lnTo>
                    <a:pt x="9" y="13"/>
                  </a:lnTo>
                  <a:lnTo>
                    <a:pt x="8" y="13"/>
                  </a:lnTo>
                  <a:lnTo>
                    <a:pt x="4" y="11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4" y="2"/>
                  </a:lnTo>
                  <a:lnTo>
                    <a:pt x="8" y="0"/>
                  </a:lnTo>
                  <a:lnTo>
                    <a:pt x="9" y="0"/>
                  </a:lnTo>
                  <a:lnTo>
                    <a:pt x="11" y="0"/>
                  </a:lnTo>
                  <a:close/>
                  <a:moveTo>
                    <a:pt x="319" y="0"/>
                  </a:moveTo>
                  <a:lnTo>
                    <a:pt x="498" y="0"/>
                  </a:lnTo>
                  <a:lnTo>
                    <a:pt x="500" y="0"/>
                  </a:lnTo>
                  <a:lnTo>
                    <a:pt x="502" y="0"/>
                  </a:lnTo>
                  <a:lnTo>
                    <a:pt x="507" y="2"/>
                  </a:lnTo>
                  <a:lnTo>
                    <a:pt x="509" y="4"/>
                  </a:lnTo>
                  <a:lnTo>
                    <a:pt x="509" y="5"/>
                  </a:lnTo>
                  <a:lnTo>
                    <a:pt x="511" y="6"/>
                  </a:lnTo>
                  <a:lnTo>
                    <a:pt x="509" y="8"/>
                  </a:lnTo>
                  <a:lnTo>
                    <a:pt x="509" y="9"/>
                  </a:lnTo>
                  <a:lnTo>
                    <a:pt x="507" y="11"/>
                  </a:lnTo>
                  <a:lnTo>
                    <a:pt x="502" y="13"/>
                  </a:lnTo>
                  <a:lnTo>
                    <a:pt x="500" y="13"/>
                  </a:lnTo>
                  <a:lnTo>
                    <a:pt x="498" y="13"/>
                  </a:lnTo>
                  <a:lnTo>
                    <a:pt x="319" y="13"/>
                  </a:lnTo>
                  <a:lnTo>
                    <a:pt x="317" y="13"/>
                  </a:lnTo>
                  <a:lnTo>
                    <a:pt x="313" y="13"/>
                  </a:lnTo>
                  <a:lnTo>
                    <a:pt x="309" y="11"/>
                  </a:lnTo>
                  <a:lnTo>
                    <a:pt x="307" y="9"/>
                  </a:lnTo>
                  <a:lnTo>
                    <a:pt x="306" y="8"/>
                  </a:lnTo>
                  <a:lnTo>
                    <a:pt x="306" y="6"/>
                  </a:lnTo>
                  <a:lnTo>
                    <a:pt x="306" y="5"/>
                  </a:lnTo>
                  <a:lnTo>
                    <a:pt x="307" y="4"/>
                  </a:lnTo>
                  <a:lnTo>
                    <a:pt x="309" y="2"/>
                  </a:lnTo>
                  <a:lnTo>
                    <a:pt x="313" y="0"/>
                  </a:lnTo>
                  <a:lnTo>
                    <a:pt x="317" y="0"/>
                  </a:lnTo>
                  <a:lnTo>
                    <a:pt x="319" y="0"/>
                  </a:lnTo>
                  <a:close/>
                  <a:moveTo>
                    <a:pt x="626" y="0"/>
                  </a:moveTo>
                  <a:lnTo>
                    <a:pt x="804" y="0"/>
                  </a:lnTo>
                  <a:lnTo>
                    <a:pt x="807" y="0"/>
                  </a:lnTo>
                  <a:lnTo>
                    <a:pt x="809" y="0"/>
                  </a:lnTo>
                  <a:lnTo>
                    <a:pt x="813" y="2"/>
                  </a:lnTo>
                  <a:lnTo>
                    <a:pt x="817" y="4"/>
                  </a:lnTo>
                  <a:lnTo>
                    <a:pt x="817" y="5"/>
                  </a:lnTo>
                  <a:lnTo>
                    <a:pt x="817" y="6"/>
                  </a:lnTo>
                  <a:lnTo>
                    <a:pt x="817" y="8"/>
                  </a:lnTo>
                  <a:lnTo>
                    <a:pt x="817" y="9"/>
                  </a:lnTo>
                  <a:lnTo>
                    <a:pt x="813" y="11"/>
                  </a:lnTo>
                  <a:lnTo>
                    <a:pt x="809" y="13"/>
                  </a:lnTo>
                  <a:lnTo>
                    <a:pt x="807" y="13"/>
                  </a:lnTo>
                  <a:lnTo>
                    <a:pt x="804" y="13"/>
                  </a:lnTo>
                  <a:lnTo>
                    <a:pt x="626" y="13"/>
                  </a:lnTo>
                  <a:lnTo>
                    <a:pt x="622" y="13"/>
                  </a:lnTo>
                  <a:lnTo>
                    <a:pt x="621" y="13"/>
                  </a:lnTo>
                  <a:lnTo>
                    <a:pt x="617" y="11"/>
                  </a:lnTo>
                  <a:lnTo>
                    <a:pt x="613" y="9"/>
                  </a:lnTo>
                  <a:lnTo>
                    <a:pt x="613" y="8"/>
                  </a:lnTo>
                  <a:lnTo>
                    <a:pt x="613" y="6"/>
                  </a:lnTo>
                  <a:lnTo>
                    <a:pt x="613" y="5"/>
                  </a:lnTo>
                  <a:lnTo>
                    <a:pt x="613" y="4"/>
                  </a:lnTo>
                  <a:lnTo>
                    <a:pt x="617" y="2"/>
                  </a:lnTo>
                  <a:lnTo>
                    <a:pt x="621" y="0"/>
                  </a:lnTo>
                  <a:lnTo>
                    <a:pt x="622" y="0"/>
                  </a:lnTo>
                  <a:lnTo>
                    <a:pt x="626" y="0"/>
                  </a:lnTo>
                  <a:close/>
                  <a:moveTo>
                    <a:pt x="932" y="0"/>
                  </a:moveTo>
                  <a:lnTo>
                    <a:pt x="1111" y="0"/>
                  </a:lnTo>
                  <a:lnTo>
                    <a:pt x="1113" y="0"/>
                  </a:lnTo>
                  <a:lnTo>
                    <a:pt x="1117" y="0"/>
                  </a:lnTo>
                  <a:lnTo>
                    <a:pt x="1120" y="2"/>
                  </a:lnTo>
                  <a:lnTo>
                    <a:pt x="1122" y="4"/>
                  </a:lnTo>
                  <a:lnTo>
                    <a:pt x="1124" y="5"/>
                  </a:lnTo>
                  <a:lnTo>
                    <a:pt x="1124" y="6"/>
                  </a:lnTo>
                  <a:lnTo>
                    <a:pt x="1124" y="8"/>
                  </a:lnTo>
                  <a:lnTo>
                    <a:pt x="1122" y="9"/>
                  </a:lnTo>
                  <a:lnTo>
                    <a:pt x="1120" y="11"/>
                  </a:lnTo>
                  <a:lnTo>
                    <a:pt x="1117" y="13"/>
                  </a:lnTo>
                  <a:lnTo>
                    <a:pt x="1113" y="13"/>
                  </a:lnTo>
                  <a:lnTo>
                    <a:pt x="1111" y="13"/>
                  </a:lnTo>
                  <a:lnTo>
                    <a:pt x="932" y="13"/>
                  </a:lnTo>
                  <a:lnTo>
                    <a:pt x="930" y="13"/>
                  </a:lnTo>
                  <a:lnTo>
                    <a:pt x="926" y="13"/>
                  </a:lnTo>
                  <a:lnTo>
                    <a:pt x="922" y="11"/>
                  </a:lnTo>
                  <a:lnTo>
                    <a:pt x="920" y="9"/>
                  </a:lnTo>
                  <a:lnTo>
                    <a:pt x="919" y="8"/>
                  </a:lnTo>
                  <a:lnTo>
                    <a:pt x="919" y="6"/>
                  </a:lnTo>
                  <a:lnTo>
                    <a:pt x="919" y="5"/>
                  </a:lnTo>
                  <a:lnTo>
                    <a:pt x="920" y="4"/>
                  </a:lnTo>
                  <a:lnTo>
                    <a:pt x="922" y="2"/>
                  </a:lnTo>
                  <a:lnTo>
                    <a:pt x="926" y="0"/>
                  </a:lnTo>
                  <a:lnTo>
                    <a:pt x="930" y="0"/>
                  </a:lnTo>
                  <a:lnTo>
                    <a:pt x="932" y="0"/>
                  </a:lnTo>
                  <a:close/>
                  <a:moveTo>
                    <a:pt x="1239" y="0"/>
                  </a:moveTo>
                  <a:lnTo>
                    <a:pt x="1417" y="0"/>
                  </a:lnTo>
                  <a:lnTo>
                    <a:pt x="1420" y="0"/>
                  </a:lnTo>
                  <a:lnTo>
                    <a:pt x="1422" y="0"/>
                  </a:lnTo>
                  <a:lnTo>
                    <a:pt x="1426" y="2"/>
                  </a:lnTo>
                  <a:lnTo>
                    <a:pt x="1430" y="4"/>
                  </a:lnTo>
                  <a:lnTo>
                    <a:pt x="1430" y="5"/>
                  </a:lnTo>
                  <a:lnTo>
                    <a:pt x="1430" y="6"/>
                  </a:lnTo>
                  <a:lnTo>
                    <a:pt x="1430" y="8"/>
                  </a:lnTo>
                  <a:lnTo>
                    <a:pt x="1430" y="9"/>
                  </a:lnTo>
                  <a:lnTo>
                    <a:pt x="1426" y="11"/>
                  </a:lnTo>
                  <a:lnTo>
                    <a:pt x="1422" y="13"/>
                  </a:lnTo>
                  <a:lnTo>
                    <a:pt x="1420" y="13"/>
                  </a:lnTo>
                  <a:lnTo>
                    <a:pt x="1417" y="13"/>
                  </a:lnTo>
                  <a:lnTo>
                    <a:pt x="1239" y="13"/>
                  </a:lnTo>
                  <a:lnTo>
                    <a:pt x="1235" y="13"/>
                  </a:lnTo>
                  <a:lnTo>
                    <a:pt x="1234" y="13"/>
                  </a:lnTo>
                  <a:lnTo>
                    <a:pt x="1230" y="11"/>
                  </a:lnTo>
                  <a:lnTo>
                    <a:pt x="1226" y="9"/>
                  </a:lnTo>
                  <a:lnTo>
                    <a:pt x="1226" y="8"/>
                  </a:lnTo>
                  <a:lnTo>
                    <a:pt x="1226" y="6"/>
                  </a:lnTo>
                  <a:lnTo>
                    <a:pt x="1226" y="5"/>
                  </a:lnTo>
                  <a:lnTo>
                    <a:pt x="1226" y="4"/>
                  </a:lnTo>
                  <a:lnTo>
                    <a:pt x="1230" y="2"/>
                  </a:lnTo>
                  <a:lnTo>
                    <a:pt x="1234" y="0"/>
                  </a:lnTo>
                  <a:lnTo>
                    <a:pt x="1235" y="0"/>
                  </a:lnTo>
                  <a:lnTo>
                    <a:pt x="1239" y="0"/>
                  </a:lnTo>
                  <a:close/>
                  <a:moveTo>
                    <a:pt x="1545" y="0"/>
                  </a:moveTo>
                  <a:lnTo>
                    <a:pt x="1724" y="0"/>
                  </a:lnTo>
                  <a:lnTo>
                    <a:pt x="1726" y="0"/>
                  </a:lnTo>
                  <a:lnTo>
                    <a:pt x="1730" y="0"/>
                  </a:lnTo>
                  <a:lnTo>
                    <a:pt x="1733" y="2"/>
                  </a:lnTo>
                  <a:lnTo>
                    <a:pt x="1735" y="4"/>
                  </a:lnTo>
                  <a:lnTo>
                    <a:pt x="1737" y="5"/>
                  </a:lnTo>
                  <a:lnTo>
                    <a:pt x="1737" y="6"/>
                  </a:lnTo>
                  <a:lnTo>
                    <a:pt x="1737" y="8"/>
                  </a:lnTo>
                  <a:lnTo>
                    <a:pt x="1735" y="9"/>
                  </a:lnTo>
                  <a:lnTo>
                    <a:pt x="1733" y="11"/>
                  </a:lnTo>
                  <a:lnTo>
                    <a:pt x="1730" y="13"/>
                  </a:lnTo>
                  <a:lnTo>
                    <a:pt x="1726" y="13"/>
                  </a:lnTo>
                  <a:lnTo>
                    <a:pt x="1724" y="13"/>
                  </a:lnTo>
                  <a:lnTo>
                    <a:pt x="1545" y="13"/>
                  </a:lnTo>
                  <a:lnTo>
                    <a:pt x="1543" y="13"/>
                  </a:lnTo>
                  <a:lnTo>
                    <a:pt x="1541" y="13"/>
                  </a:lnTo>
                  <a:lnTo>
                    <a:pt x="1535" y="11"/>
                  </a:lnTo>
                  <a:lnTo>
                    <a:pt x="1533" y="9"/>
                  </a:lnTo>
                  <a:lnTo>
                    <a:pt x="1533" y="8"/>
                  </a:lnTo>
                  <a:lnTo>
                    <a:pt x="1532" y="6"/>
                  </a:lnTo>
                  <a:lnTo>
                    <a:pt x="1533" y="5"/>
                  </a:lnTo>
                  <a:lnTo>
                    <a:pt x="1533" y="4"/>
                  </a:lnTo>
                  <a:lnTo>
                    <a:pt x="1535" y="2"/>
                  </a:lnTo>
                  <a:lnTo>
                    <a:pt x="1541" y="0"/>
                  </a:lnTo>
                  <a:lnTo>
                    <a:pt x="1543" y="0"/>
                  </a:lnTo>
                  <a:lnTo>
                    <a:pt x="1545" y="0"/>
                  </a:lnTo>
                  <a:close/>
                  <a:moveTo>
                    <a:pt x="1852" y="0"/>
                  </a:moveTo>
                  <a:lnTo>
                    <a:pt x="2031" y="0"/>
                  </a:lnTo>
                  <a:lnTo>
                    <a:pt x="2033" y="0"/>
                  </a:lnTo>
                  <a:lnTo>
                    <a:pt x="2035" y="0"/>
                  </a:lnTo>
                  <a:lnTo>
                    <a:pt x="2039" y="2"/>
                  </a:lnTo>
                  <a:lnTo>
                    <a:pt x="2043" y="4"/>
                  </a:lnTo>
                  <a:lnTo>
                    <a:pt x="2043" y="5"/>
                  </a:lnTo>
                  <a:lnTo>
                    <a:pt x="2043" y="6"/>
                  </a:lnTo>
                  <a:lnTo>
                    <a:pt x="2043" y="8"/>
                  </a:lnTo>
                  <a:lnTo>
                    <a:pt x="2043" y="9"/>
                  </a:lnTo>
                  <a:lnTo>
                    <a:pt x="2039" y="11"/>
                  </a:lnTo>
                  <a:lnTo>
                    <a:pt x="2035" y="13"/>
                  </a:lnTo>
                  <a:lnTo>
                    <a:pt x="2033" y="13"/>
                  </a:lnTo>
                  <a:lnTo>
                    <a:pt x="2031" y="13"/>
                  </a:lnTo>
                  <a:lnTo>
                    <a:pt x="1852" y="13"/>
                  </a:lnTo>
                  <a:lnTo>
                    <a:pt x="1848" y="13"/>
                  </a:lnTo>
                  <a:lnTo>
                    <a:pt x="1847" y="13"/>
                  </a:lnTo>
                  <a:lnTo>
                    <a:pt x="1843" y="11"/>
                  </a:lnTo>
                  <a:lnTo>
                    <a:pt x="1839" y="9"/>
                  </a:lnTo>
                  <a:lnTo>
                    <a:pt x="1839" y="8"/>
                  </a:lnTo>
                  <a:lnTo>
                    <a:pt x="1839" y="6"/>
                  </a:lnTo>
                  <a:lnTo>
                    <a:pt x="1839" y="5"/>
                  </a:lnTo>
                  <a:lnTo>
                    <a:pt x="1839" y="4"/>
                  </a:lnTo>
                  <a:lnTo>
                    <a:pt x="1843" y="2"/>
                  </a:lnTo>
                  <a:lnTo>
                    <a:pt x="1847" y="0"/>
                  </a:lnTo>
                  <a:lnTo>
                    <a:pt x="1848" y="0"/>
                  </a:lnTo>
                  <a:lnTo>
                    <a:pt x="1852" y="0"/>
                  </a:lnTo>
                  <a:close/>
                  <a:moveTo>
                    <a:pt x="2158" y="0"/>
                  </a:moveTo>
                  <a:lnTo>
                    <a:pt x="2337" y="0"/>
                  </a:lnTo>
                  <a:lnTo>
                    <a:pt x="2341" y="0"/>
                  </a:lnTo>
                  <a:lnTo>
                    <a:pt x="2343" y="0"/>
                  </a:lnTo>
                  <a:lnTo>
                    <a:pt x="2346" y="2"/>
                  </a:lnTo>
                  <a:lnTo>
                    <a:pt x="2348" y="4"/>
                  </a:lnTo>
                  <a:lnTo>
                    <a:pt x="2350" y="5"/>
                  </a:lnTo>
                  <a:lnTo>
                    <a:pt x="2350" y="6"/>
                  </a:lnTo>
                  <a:lnTo>
                    <a:pt x="2350" y="8"/>
                  </a:lnTo>
                  <a:lnTo>
                    <a:pt x="2348" y="9"/>
                  </a:lnTo>
                  <a:lnTo>
                    <a:pt x="2346" y="11"/>
                  </a:lnTo>
                  <a:lnTo>
                    <a:pt x="2343" y="13"/>
                  </a:lnTo>
                  <a:lnTo>
                    <a:pt x="2341" y="13"/>
                  </a:lnTo>
                  <a:lnTo>
                    <a:pt x="2337" y="13"/>
                  </a:lnTo>
                  <a:lnTo>
                    <a:pt x="2158" y="13"/>
                  </a:lnTo>
                  <a:lnTo>
                    <a:pt x="2156" y="13"/>
                  </a:lnTo>
                  <a:lnTo>
                    <a:pt x="2154" y="13"/>
                  </a:lnTo>
                  <a:lnTo>
                    <a:pt x="2148" y="11"/>
                  </a:lnTo>
                  <a:lnTo>
                    <a:pt x="2146" y="9"/>
                  </a:lnTo>
                  <a:lnTo>
                    <a:pt x="2146" y="8"/>
                  </a:lnTo>
                  <a:lnTo>
                    <a:pt x="2146" y="6"/>
                  </a:lnTo>
                  <a:lnTo>
                    <a:pt x="2146" y="5"/>
                  </a:lnTo>
                  <a:lnTo>
                    <a:pt x="2146" y="4"/>
                  </a:lnTo>
                  <a:lnTo>
                    <a:pt x="2148" y="2"/>
                  </a:lnTo>
                  <a:lnTo>
                    <a:pt x="2154" y="0"/>
                  </a:lnTo>
                  <a:lnTo>
                    <a:pt x="2156" y="0"/>
                  </a:lnTo>
                  <a:lnTo>
                    <a:pt x="2158" y="0"/>
                  </a:lnTo>
                  <a:close/>
                  <a:moveTo>
                    <a:pt x="2465" y="0"/>
                  </a:moveTo>
                  <a:lnTo>
                    <a:pt x="2644" y="0"/>
                  </a:lnTo>
                  <a:lnTo>
                    <a:pt x="2646" y="0"/>
                  </a:lnTo>
                  <a:lnTo>
                    <a:pt x="2648" y="0"/>
                  </a:lnTo>
                  <a:lnTo>
                    <a:pt x="2652" y="2"/>
                  </a:lnTo>
                  <a:lnTo>
                    <a:pt x="2656" y="4"/>
                  </a:lnTo>
                  <a:lnTo>
                    <a:pt x="2656" y="5"/>
                  </a:lnTo>
                  <a:lnTo>
                    <a:pt x="2656" y="6"/>
                  </a:lnTo>
                  <a:lnTo>
                    <a:pt x="2656" y="8"/>
                  </a:lnTo>
                  <a:lnTo>
                    <a:pt x="2656" y="9"/>
                  </a:lnTo>
                  <a:lnTo>
                    <a:pt x="2652" y="11"/>
                  </a:lnTo>
                  <a:lnTo>
                    <a:pt x="2648" y="13"/>
                  </a:lnTo>
                  <a:lnTo>
                    <a:pt x="2646" y="13"/>
                  </a:lnTo>
                  <a:lnTo>
                    <a:pt x="2644" y="13"/>
                  </a:lnTo>
                  <a:lnTo>
                    <a:pt x="2465" y="13"/>
                  </a:lnTo>
                  <a:lnTo>
                    <a:pt x="2463" y="13"/>
                  </a:lnTo>
                  <a:lnTo>
                    <a:pt x="2460" y="13"/>
                  </a:lnTo>
                  <a:lnTo>
                    <a:pt x="2456" y="11"/>
                  </a:lnTo>
                  <a:lnTo>
                    <a:pt x="2454" y="9"/>
                  </a:lnTo>
                  <a:lnTo>
                    <a:pt x="2452" y="8"/>
                  </a:lnTo>
                  <a:lnTo>
                    <a:pt x="2452" y="6"/>
                  </a:lnTo>
                  <a:lnTo>
                    <a:pt x="2452" y="5"/>
                  </a:lnTo>
                  <a:lnTo>
                    <a:pt x="2454" y="4"/>
                  </a:lnTo>
                  <a:lnTo>
                    <a:pt x="2456" y="2"/>
                  </a:lnTo>
                  <a:lnTo>
                    <a:pt x="2460" y="0"/>
                  </a:lnTo>
                  <a:lnTo>
                    <a:pt x="2463" y="0"/>
                  </a:lnTo>
                  <a:lnTo>
                    <a:pt x="2465" y="0"/>
                  </a:lnTo>
                  <a:close/>
                  <a:moveTo>
                    <a:pt x="2771" y="0"/>
                  </a:moveTo>
                  <a:lnTo>
                    <a:pt x="2950" y="0"/>
                  </a:lnTo>
                  <a:lnTo>
                    <a:pt x="2954" y="0"/>
                  </a:lnTo>
                  <a:lnTo>
                    <a:pt x="2956" y="0"/>
                  </a:lnTo>
                  <a:lnTo>
                    <a:pt x="2959" y="2"/>
                  </a:lnTo>
                  <a:lnTo>
                    <a:pt x="2961" y="4"/>
                  </a:lnTo>
                  <a:lnTo>
                    <a:pt x="2963" y="5"/>
                  </a:lnTo>
                  <a:lnTo>
                    <a:pt x="2963" y="6"/>
                  </a:lnTo>
                  <a:lnTo>
                    <a:pt x="2963" y="8"/>
                  </a:lnTo>
                  <a:lnTo>
                    <a:pt x="2961" y="9"/>
                  </a:lnTo>
                  <a:lnTo>
                    <a:pt x="2959" y="11"/>
                  </a:lnTo>
                  <a:lnTo>
                    <a:pt x="2956" y="13"/>
                  </a:lnTo>
                  <a:lnTo>
                    <a:pt x="2954" y="13"/>
                  </a:lnTo>
                  <a:lnTo>
                    <a:pt x="2950" y="13"/>
                  </a:lnTo>
                  <a:lnTo>
                    <a:pt x="2771" y="13"/>
                  </a:lnTo>
                  <a:lnTo>
                    <a:pt x="2769" y="13"/>
                  </a:lnTo>
                  <a:lnTo>
                    <a:pt x="2767" y="13"/>
                  </a:lnTo>
                  <a:lnTo>
                    <a:pt x="2763" y="11"/>
                  </a:lnTo>
                  <a:lnTo>
                    <a:pt x="2759" y="9"/>
                  </a:lnTo>
                  <a:lnTo>
                    <a:pt x="2759" y="8"/>
                  </a:lnTo>
                  <a:lnTo>
                    <a:pt x="2759" y="6"/>
                  </a:lnTo>
                  <a:lnTo>
                    <a:pt x="2759" y="5"/>
                  </a:lnTo>
                  <a:lnTo>
                    <a:pt x="2759" y="4"/>
                  </a:lnTo>
                  <a:lnTo>
                    <a:pt x="2763" y="2"/>
                  </a:lnTo>
                  <a:lnTo>
                    <a:pt x="2767" y="0"/>
                  </a:lnTo>
                  <a:lnTo>
                    <a:pt x="2769" y="0"/>
                  </a:lnTo>
                  <a:lnTo>
                    <a:pt x="2771" y="0"/>
                  </a:lnTo>
                  <a:close/>
                  <a:moveTo>
                    <a:pt x="3078" y="0"/>
                  </a:moveTo>
                  <a:lnTo>
                    <a:pt x="3257" y="0"/>
                  </a:lnTo>
                  <a:lnTo>
                    <a:pt x="3259" y="0"/>
                  </a:lnTo>
                  <a:lnTo>
                    <a:pt x="3261" y="0"/>
                  </a:lnTo>
                  <a:lnTo>
                    <a:pt x="3267" y="2"/>
                  </a:lnTo>
                  <a:lnTo>
                    <a:pt x="3269" y="4"/>
                  </a:lnTo>
                  <a:lnTo>
                    <a:pt x="3269" y="5"/>
                  </a:lnTo>
                  <a:lnTo>
                    <a:pt x="3271" y="6"/>
                  </a:lnTo>
                  <a:lnTo>
                    <a:pt x="3269" y="8"/>
                  </a:lnTo>
                  <a:lnTo>
                    <a:pt x="3269" y="9"/>
                  </a:lnTo>
                  <a:lnTo>
                    <a:pt x="3267" y="11"/>
                  </a:lnTo>
                  <a:lnTo>
                    <a:pt x="3261" y="13"/>
                  </a:lnTo>
                  <a:lnTo>
                    <a:pt x="3259" y="13"/>
                  </a:lnTo>
                  <a:lnTo>
                    <a:pt x="3257" y="13"/>
                  </a:lnTo>
                  <a:lnTo>
                    <a:pt x="3078" y="13"/>
                  </a:lnTo>
                  <a:lnTo>
                    <a:pt x="3076" y="13"/>
                  </a:lnTo>
                  <a:lnTo>
                    <a:pt x="3073" y="13"/>
                  </a:lnTo>
                  <a:lnTo>
                    <a:pt x="3069" y="11"/>
                  </a:lnTo>
                  <a:lnTo>
                    <a:pt x="3067" y="9"/>
                  </a:lnTo>
                  <a:lnTo>
                    <a:pt x="3065" y="8"/>
                  </a:lnTo>
                  <a:lnTo>
                    <a:pt x="3065" y="6"/>
                  </a:lnTo>
                  <a:lnTo>
                    <a:pt x="3065" y="5"/>
                  </a:lnTo>
                  <a:lnTo>
                    <a:pt x="3067" y="4"/>
                  </a:lnTo>
                  <a:lnTo>
                    <a:pt x="3069" y="2"/>
                  </a:lnTo>
                  <a:lnTo>
                    <a:pt x="3073" y="0"/>
                  </a:lnTo>
                  <a:lnTo>
                    <a:pt x="3076" y="0"/>
                  </a:lnTo>
                  <a:lnTo>
                    <a:pt x="3078" y="0"/>
                  </a:lnTo>
                  <a:close/>
                  <a:moveTo>
                    <a:pt x="3386" y="0"/>
                  </a:moveTo>
                  <a:lnTo>
                    <a:pt x="3563" y="0"/>
                  </a:lnTo>
                  <a:lnTo>
                    <a:pt x="3567" y="0"/>
                  </a:lnTo>
                  <a:lnTo>
                    <a:pt x="3569" y="0"/>
                  </a:lnTo>
                  <a:lnTo>
                    <a:pt x="3572" y="2"/>
                  </a:lnTo>
                  <a:lnTo>
                    <a:pt x="3576" y="4"/>
                  </a:lnTo>
                  <a:lnTo>
                    <a:pt x="3576" y="5"/>
                  </a:lnTo>
                  <a:lnTo>
                    <a:pt x="3576" y="6"/>
                  </a:lnTo>
                  <a:lnTo>
                    <a:pt x="3576" y="8"/>
                  </a:lnTo>
                  <a:lnTo>
                    <a:pt x="3576" y="9"/>
                  </a:lnTo>
                  <a:lnTo>
                    <a:pt x="3572" y="11"/>
                  </a:lnTo>
                  <a:lnTo>
                    <a:pt x="3569" y="13"/>
                  </a:lnTo>
                  <a:lnTo>
                    <a:pt x="3567" y="13"/>
                  </a:lnTo>
                  <a:lnTo>
                    <a:pt x="3563" y="13"/>
                  </a:lnTo>
                  <a:lnTo>
                    <a:pt x="3386" y="13"/>
                  </a:lnTo>
                  <a:lnTo>
                    <a:pt x="3382" y="13"/>
                  </a:lnTo>
                  <a:lnTo>
                    <a:pt x="3380" y="13"/>
                  </a:lnTo>
                  <a:lnTo>
                    <a:pt x="3376" y="11"/>
                  </a:lnTo>
                  <a:lnTo>
                    <a:pt x="3373" y="9"/>
                  </a:lnTo>
                  <a:lnTo>
                    <a:pt x="3373" y="8"/>
                  </a:lnTo>
                  <a:lnTo>
                    <a:pt x="3373" y="6"/>
                  </a:lnTo>
                  <a:lnTo>
                    <a:pt x="3373" y="5"/>
                  </a:lnTo>
                  <a:lnTo>
                    <a:pt x="3373" y="4"/>
                  </a:lnTo>
                  <a:lnTo>
                    <a:pt x="3376" y="2"/>
                  </a:lnTo>
                  <a:lnTo>
                    <a:pt x="3380" y="0"/>
                  </a:lnTo>
                  <a:lnTo>
                    <a:pt x="3382" y="0"/>
                  </a:lnTo>
                  <a:lnTo>
                    <a:pt x="3386" y="0"/>
                  </a:lnTo>
                  <a:close/>
                  <a:moveTo>
                    <a:pt x="3691" y="0"/>
                  </a:moveTo>
                  <a:lnTo>
                    <a:pt x="3870" y="0"/>
                  </a:lnTo>
                  <a:lnTo>
                    <a:pt x="3872" y="0"/>
                  </a:lnTo>
                  <a:lnTo>
                    <a:pt x="3876" y="0"/>
                  </a:lnTo>
                  <a:lnTo>
                    <a:pt x="3880" y="2"/>
                  </a:lnTo>
                  <a:lnTo>
                    <a:pt x="3882" y="4"/>
                  </a:lnTo>
                  <a:lnTo>
                    <a:pt x="3884" y="5"/>
                  </a:lnTo>
                  <a:lnTo>
                    <a:pt x="3884" y="6"/>
                  </a:lnTo>
                  <a:lnTo>
                    <a:pt x="3884" y="8"/>
                  </a:lnTo>
                  <a:lnTo>
                    <a:pt x="3882" y="9"/>
                  </a:lnTo>
                  <a:lnTo>
                    <a:pt x="3880" y="11"/>
                  </a:lnTo>
                  <a:lnTo>
                    <a:pt x="3876" y="13"/>
                  </a:lnTo>
                  <a:lnTo>
                    <a:pt x="3872" y="13"/>
                  </a:lnTo>
                  <a:lnTo>
                    <a:pt x="3870" y="13"/>
                  </a:lnTo>
                  <a:lnTo>
                    <a:pt x="3691" y="13"/>
                  </a:lnTo>
                  <a:lnTo>
                    <a:pt x="3689" y="13"/>
                  </a:lnTo>
                  <a:lnTo>
                    <a:pt x="3686" y="13"/>
                  </a:lnTo>
                  <a:lnTo>
                    <a:pt x="3682" y="11"/>
                  </a:lnTo>
                  <a:lnTo>
                    <a:pt x="3680" y="9"/>
                  </a:lnTo>
                  <a:lnTo>
                    <a:pt x="3678" y="8"/>
                  </a:lnTo>
                  <a:lnTo>
                    <a:pt x="3678" y="6"/>
                  </a:lnTo>
                  <a:lnTo>
                    <a:pt x="3678" y="5"/>
                  </a:lnTo>
                  <a:lnTo>
                    <a:pt x="3680" y="4"/>
                  </a:lnTo>
                  <a:lnTo>
                    <a:pt x="3682" y="2"/>
                  </a:lnTo>
                  <a:lnTo>
                    <a:pt x="3686" y="0"/>
                  </a:lnTo>
                  <a:lnTo>
                    <a:pt x="3689" y="0"/>
                  </a:lnTo>
                  <a:lnTo>
                    <a:pt x="3691" y="0"/>
                  </a:lnTo>
                  <a:close/>
                  <a:moveTo>
                    <a:pt x="3999" y="0"/>
                  </a:moveTo>
                  <a:lnTo>
                    <a:pt x="4065" y="0"/>
                  </a:lnTo>
                  <a:lnTo>
                    <a:pt x="4067" y="0"/>
                  </a:lnTo>
                  <a:lnTo>
                    <a:pt x="4068" y="0"/>
                  </a:lnTo>
                  <a:lnTo>
                    <a:pt x="4074" y="2"/>
                  </a:lnTo>
                  <a:lnTo>
                    <a:pt x="4076" y="4"/>
                  </a:lnTo>
                  <a:lnTo>
                    <a:pt x="4078" y="5"/>
                  </a:lnTo>
                  <a:lnTo>
                    <a:pt x="4078" y="6"/>
                  </a:lnTo>
                  <a:lnTo>
                    <a:pt x="4078" y="8"/>
                  </a:lnTo>
                  <a:lnTo>
                    <a:pt x="4076" y="9"/>
                  </a:lnTo>
                  <a:lnTo>
                    <a:pt x="4074" y="11"/>
                  </a:lnTo>
                  <a:lnTo>
                    <a:pt x="4068" y="13"/>
                  </a:lnTo>
                  <a:lnTo>
                    <a:pt x="4067" y="13"/>
                  </a:lnTo>
                  <a:lnTo>
                    <a:pt x="4065" y="13"/>
                  </a:lnTo>
                  <a:lnTo>
                    <a:pt x="3999" y="13"/>
                  </a:lnTo>
                  <a:lnTo>
                    <a:pt x="3995" y="13"/>
                  </a:lnTo>
                  <a:lnTo>
                    <a:pt x="3993" y="13"/>
                  </a:lnTo>
                  <a:lnTo>
                    <a:pt x="3989" y="11"/>
                  </a:lnTo>
                  <a:lnTo>
                    <a:pt x="3986" y="9"/>
                  </a:lnTo>
                  <a:lnTo>
                    <a:pt x="3986" y="8"/>
                  </a:lnTo>
                  <a:lnTo>
                    <a:pt x="3986" y="6"/>
                  </a:lnTo>
                  <a:lnTo>
                    <a:pt x="3986" y="5"/>
                  </a:lnTo>
                  <a:lnTo>
                    <a:pt x="3986" y="4"/>
                  </a:lnTo>
                  <a:lnTo>
                    <a:pt x="3989" y="2"/>
                  </a:lnTo>
                  <a:lnTo>
                    <a:pt x="3993" y="0"/>
                  </a:lnTo>
                  <a:lnTo>
                    <a:pt x="3995" y="0"/>
                  </a:lnTo>
                  <a:lnTo>
                    <a:pt x="3999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" name="Rectangle 218"/>
            <p:cNvSpPr>
              <a:spLocks noChangeArrowheads="1"/>
            </p:cNvSpPr>
            <p:nvPr/>
          </p:nvSpPr>
          <p:spPr bwMode="auto">
            <a:xfrm>
              <a:off x="3931" y="2858"/>
              <a:ext cx="59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/>
            </a:p>
          </p:txBody>
        </p:sp>
        <p:sp>
          <p:nvSpPr>
            <p:cNvPr id="275" name="Rectangle 219"/>
            <p:cNvSpPr>
              <a:spLocks noChangeArrowheads="1"/>
            </p:cNvSpPr>
            <p:nvPr/>
          </p:nvSpPr>
          <p:spPr bwMode="auto">
            <a:xfrm>
              <a:off x="3719" y="3102"/>
              <a:ext cx="24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/2</a:t>
              </a:r>
              <a:endParaRPr lang="en-US" altLang="zh-CN" sz="2000"/>
            </a:p>
          </p:txBody>
        </p:sp>
        <p:sp>
          <p:nvSpPr>
            <p:cNvPr id="276" name="Rectangle 220"/>
            <p:cNvSpPr>
              <a:spLocks noChangeArrowheads="1"/>
            </p:cNvSpPr>
            <p:nvPr/>
          </p:nvSpPr>
          <p:spPr bwMode="auto">
            <a:xfrm>
              <a:off x="3447" y="3238"/>
              <a:ext cx="12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</a:p>
          </p:txBody>
        </p:sp>
        <p:sp>
          <p:nvSpPr>
            <p:cNvPr id="277" name="Freeform 221"/>
            <p:cNvSpPr>
              <a:spLocks noEditPoints="1"/>
            </p:cNvSpPr>
            <p:nvPr/>
          </p:nvSpPr>
          <p:spPr bwMode="auto">
            <a:xfrm>
              <a:off x="3400" y="3565"/>
              <a:ext cx="1980" cy="8"/>
            </a:xfrm>
            <a:custGeom>
              <a:avLst/>
              <a:gdLst>
                <a:gd name="T0" fmla="*/ 0 w 3961"/>
                <a:gd name="T1" fmla="*/ 5 h 8"/>
                <a:gd name="T2" fmla="*/ 0 w 3961"/>
                <a:gd name="T3" fmla="*/ 5 h 8"/>
                <a:gd name="T4" fmla="*/ 0 w 3961"/>
                <a:gd name="T5" fmla="*/ 0 h 8"/>
                <a:gd name="T6" fmla="*/ 1 w 3961"/>
                <a:gd name="T7" fmla="*/ 6 h 8"/>
                <a:gd name="T8" fmla="*/ 0 w 3961"/>
                <a:gd name="T9" fmla="*/ 4 h 8"/>
                <a:gd name="T10" fmla="*/ 1 w 3961"/>
                <a:gd name="T11" fmla="*/ 0 h 8"/>
                <a:gd name="T12" fmla="*/ 1 w 3961"/>
                <a:gd name="T13" fmla="*/ 7 h 8"/>
                <a:gd name="T14" fmla="*/ 1 w 3961"/>
                <a:gd name="T15" fmla="*/ 2 h 8"/>
                <a:gd name="T16" fmla="*/ 2 w 3961"/>
                <a:gd name="T17" fmla="*/ 0 h 8"/>
                <a:gd name="T18" fmla="*/ 2 w 3961"/>
                <a:gd name="T19" fmla="*/ 8 h 8"/>
                <a:gd name="T20" fmla="*/ 2 w 3961"/>
                <a:gd name="T21" fmla="*/ 1 h 8"/>
                <a:gd name="T22" fmla="*/ 3 w 3961"/>
                <a:gd name="T23" fmla="*/ 1 h 8"/>
                <a:gd name="T24" fmla="*/ 2 w 3961"/>
                <a:gd name="T25" fmla="*/ 8 h 8"/>
                <a:gd name="T26" fmla="*/ 2 w 3961"/>
                <a:gd name="T27" fmla="*/ 0 h 8"/>
                <a:gd name="T28" fmla="*/ 4 w 3961"/>
                <a:gd name="T29" fmla="*/ 2 h 8"/>
                <a:gd name="T30" fmla="*/ 3 w 3961"/>
                <a:gd name="T31" fmla="*/ 7 h 8"/>
                <a:gd name="T32" fmla="*/ 3 w 3961"/>
                <a:gd name="T33" fmla="*/ 0 h 8"/>
                <a:gd name="T34" fmla="*/ 4 w 3961"/>
                <a:gd name="T35" fmla="*/ 4 h 8"/>
                <a:gd name="T36" fmla="*/ 4 w 3961"/>
                <a:gd name="T37" fmla="*/ 6 h 8"/>
                <a:gd name="T38" fmla="*/ 4 w 3961"/>
                <a:gd name="T39" fmla="*/ 0 h 8"/>
                <a:gd name="T40" fmla="*/ 5 w 3961"/>
                <a:gd name="T41" fmla="*/ 5 h 8"/>
                <a:gd name="T42" fmla="*/ 5 w 3961"/>
                <a:gd name="T43" fmla="*/ 5 h 8"/>
                <a:gd name="T44" fmla="*/ 5 w 3961"/>
                <a:gd name="T45" fmla="*/ 0 h 8"/>
                <a:gd name="T46" fmla="*/ 6 w 3961"/>
                <a:gd name="T47" fmla="*/ 6 h 8"/>
                <a:gd name="T48" fmla="*/ 5 w 3961"/>
                <a:gd name="T49" fmla="*/ 4 h 8"/>
                <a:gd name="T50" fmla="*/ 6 w 3961"/>
                <a:gd name="T51" fmla="*/ 0 h 8"/>
                <a:gd name="T52" fmla="*/ 6 w 3961"/>
                <a:gd name="T53" fmla="*/ 7 h 8"/>
                <a:gd name="T54" fmla="*/ 6 w 3961"/>
                <a:gd name="T55" fmla="*/ 2 h 8"/>
                <a:gd name="T56" fmla="*/ 7 w 3961"/>
                <a:gd name="T57" fmla="*/ 0 h 8"/>
                <a:gd name="T58" fmla="*/ 7 w 3961"/>
                <a:gd name="T59" fmla="*/ 8 h 8"/>
                <a:gd name="T60" fmla="*/ 7 w 3961"/>
                <a:gd name="T61" fmla="*/ 1 h 8"/>
                <a:gd name="T62" fmla="*/ 8 w 3961"/>
                <a:gd name="T63" fmla="*/ 1 h 8"/>
                <a:gd name="T64" fmla="*/ 7 w 3961"/>
                <a:gd name="T65" fmla="*/ 8 h 8"/>
                <a:gd name="T66" fmla="*/ 7 w 3961"/>
                <a:gd name="T67" fmla="*/ 0 h 8"/>
                <a:gd name="T68" fmla="*/ 9 w 3961"/>
                <a:gd name="T69" fmla="*/ 2 h 8"/>
                <a:gd name="T70" fmla="*/ 8 w 3961"/>
                <a:gd name="T71" fmla="*/ 7 h 8"/>
                <a:gd name="T72" fmla="*/ 8 w 3961"/>
                <a:gd name="T73" fmla="*/ 0 h 8"/>
                <a:gd name="T74" fmla="*/ 9 w 3961"/>
                <a:gd name="T75" fmla="*/ 4 h 8"/>
                <a:gd name="T76" fmla="*/ 9 w 3961"/>
                <a:gd name="T77" fmla="*/ 6 h 8"/>
                <a:gd name="T78" fmla="*/ 9 w 3961"/>
                <a:gd name="T79" fmla="*/ 0 h 8"/>
                <a:gd name="T80" fmla="*/ 10 w 3961"/>
                <a:gd name="T81" fmla="*/ 5 h 8"/>
                <a:gd name="T82" fmla="*/ 10 w 3961"/>
                <a:gd name="T83" fmla="*/ 5 h 8"/>
                <a:gd name="T84" fmla="*/ 10 w 3961"/>
                <a:gd name="T85" fmla="*/ 0 h 8"/>
                <a:gd name="T86" fmla="*/ 11 w 3961"/>
                <a:gd name="T87" fmla="*/ 6 h 8"/>
                <a:gd name="T88" fmla="*/ 10 w 3961"/>
                <a:gd name="T89" fmla="*/ 4 h 8"/>
                <a:gd name="T90" fmla="*/ 11 w 3961"/>
                <a:gd name="T91" fmla="*/ 0 h 8"/>
                <a:gd name="T92" fmla="*/ 11 w 3961"/>
                <a:gd name="T93" fmla="*/ 7 h 8"/>
                <a:gd name="T94" fmla="*/ 11 w 3961"/>
                <a:gd name="T95" fmla="*/ 2 h 8"/>
                <a:gd name="T96" fmla="*/ 12 w 3961"/>
                <a:gd name="T97" fmla="*/ 0 h 8"/>
                <a:gd name="T98" fmla="*/ 12 w 3961"/>
                <a:gd name="T99" fmla="*/ 8 h 8"/>
                <a:gd name="T100" fmla="*/ 12 w 3961"/>
                <a:gd name="T101" fmla="*/ 1 h 8"/>
                <a:gd name="T102" fmla="*/ 13 w 3961"/>
                <a:gd name="T103" fmla="*/ 1 h 8"/>
                <a:gd name="T104" fmla="*/ 12 w 3961"/>
                <a:gd name="T105" fmla="*/ 8 h 8"/>
                <a:gd name="T106" fmla="*/ 12 w 3961"/>
                <a:gd name="T107" fmla="*/ 0 h 8"/>
                <a:gd name="T108" fmla="*/ 14 w 3961"/>
                <a:gd name="T109" fmla="*/ 2 h 8"/>
                <a:gd name="T110" fmla="*/ 13 w 3961"/>
                <a:gd name="T111" fmla="*/ 7 h 8"/>
                <a:gd name="T112" fmla="*/ 13 w 3961"/>
                <a:gd name="T113" fmla="*/ 0 h 8"/>
                <a:gd name="T114" fmla="*/ 14 w 3961"/>
                <a:gd name="T115" fmla="*/ 4 h 8"/>
                <a:gd name="T116" fmla="*/ 14 w 3961"/>
                <a:gd name="T117" fmla="*/ 6 h 8"/>
                <a:gd name="T118" fmla="*/ 14 w 3961"/>
                <a:gd name="T119" fmla="*/ 0 h 8"/>
                <a:gd name="T120" fmla="*/ 15 w 3961"/>
                <a:gd name="T121" fmla="*/ 5 h 8"/>
                <a:gd name="T122" fmla="*/ 15 w 3961"/>
                <a:gd name="T123" fmla="*/ 5 h 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961"/>
                <a:gd name="T187" fmla="*/ 0 h 8"/>
                <a:gd name="T188" fmla="*/ 3961 w 3961"/>
                <a:gd name="T189" fmla="*/ 8 h 8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961" h="8">
                  <a:moveTo>
                    <a:pt x="7" y="0"/>
                  </a:moveTo>
                  <a:lnTo>
                    <a:pt x="115" y="0"/>
                  </a:lnTo>
                  <a:lnTo>
                    <a:pt x="119" y="0"/>
                  </a:lnTo>
                  <a:lnTo>
                    <a:pt x="121" y="1"/>
                  </a:lnTo>
                  <a:lnTo>
                    <a:pt x="122" y="2"/>
                  </a:lnTo>
                  <a:lnTo>
                    <a:pt x="122" y="4"/>
                  </a:lnTo>
                  <a:lnTo>
                    <a:pt x="122" y="5"/>
                  </a:lnTo>
                  <a:lnTo>
                    <a:pt x="121" y="6"/>
                  </a:lnTo>
                  <a:lnTo>
                    <a:pt x="119" y="7"/>
                  </a:lnTo>
                  <a:lnTo>
                    <a:pt x="115" y="8"/>
                  </a:lnTo>
                  <a:lnTo>
                    <a:pt x="7" y="8"/>
                  </a:lnTo>
                  <a:lnTo>
                    <a:pt x="5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1"/>
                  </a:lnTo>
                  <a:lnTo>
                    <a:pt x="5" y="0"/>
                  </a:lnTo>
                  <a:lnTo>
                    <a:pt x="7" y="0"/>
                  </a:lnTo>
                  <a:close/>
                  <a:moveTo>
                    <a:pt x="192" y="0"/>
                  </a:moveTo>
                  <a:lnTo>
                    <a:pt x="300" y="0"/>
                  </a:lnTo>
                  <a:lnTo>
                    <a:pt x="302" y="0"/>
                  </a:lnTo>
                  <a:lnTo>
                    <a:pt x="305" y="1"/>
                  </a:lnTo>
                  <a:lnTo>
                    <a:pt x="307" y="2"/>
                  </a:lnTo>
                  <a:lnTo>
                    <a:pt x="307" y="4"/>
                  </a:lnTo>
                  <a:lnTo>
                    <a:pt x="307" y="5"/>
                  </a:lnTo>
                  <a:lnTo>
                    <a:pt x="305" y="6"/>
                  </a:lnTo>
                  <a:lnTo>
                    <a:pt x="302" y="7"/>
                  </a:lnTo>
                  <a:lnTo>
                    <a:pt x="300" y="8"/>
                  </a:lnTo>
                  <a:lnTo>
                    <a:pt x="192" y="8"/>
                  </a:lnTo>
                  <a:lnTo>
                    <a:pt x="188" y="7"/>
                  </a:lnTo>
                  <a:lnTo>
                    <a:pt x="187" y="6"/>
                  </a:lnTo>
                  <a:lnTo>
                    <a:pt x="185" y="5"/>
                  </a:lnTo>
                  <a:lnTo>
                    <a:pt x="185" y="4"/>
                  </a:lnTo>
                  <a:lnTo>
                    <a:pt x="185" y="2"/>
                  </a:lnTo>
                  <a:lnTo>
                    <a:pt x="187" y="1"/>
                  </a:lnTo>
                  <a:lnTo>
                    <a:pt x="188" y="0"/>
                  </a:lnTo>
                  <a:lnTo>
                    <a:pt x="192" y="0"/>
                  </a:lnTo>
                  <a:close/>
                  <a:moveTo>
                    <a:pt x="375" y="0"/>
                  </a:moveTo>
                  <a:lnTo>
                    <a:pt x="483" y="0"/>
                  </a:lnTo>
                  <a:lnTo>
                    <a:pt x="486" y="0"/>
                  </a:lnTo>
                  <a:lnTo>
                    <a:pt x="488" y="1"/>
                  </a:lnTo>
                  <a:lnTo>
                    <a:pt x="490" y="2"/>
                  </a:lnTo>
                  <a:lnTo>
                    <a:pt x="490" y="4"/>
                  </a:lnTo>
                  <a:lnTo>
                    <a:pt x="490" y="5"/>
                  </a:lnTo>
                  <a:lnTo>
                    <a:pt x="488" y="6"/>
                  </a:lnTo>
                  <a:lnTo>
                    <a:pt x="486" y="7"/>
                  </a:lnTo>
                  <a:lnTo>
                    <a:pt x="483" y="8"/>
                  </a:lnTo>
                  <a:lnTo>
                    <a:pt x="375" y="8"/>
                  </a:lnTo>
                  <a:lnTo>
                    <a:pt x="373" y="7"/>
                  </a:lnTo>
                  <a:lnTo>
                    <a:pt x="371" y="6"/>
                  </a:lnTo>
                  <a:lnTo>
                    <a:pt x="370" y="5"/>
                  </a:lnTo>
                  <a:lnTo>
                    <a:pt x="368" y="4"/>
                  </a:lnTo>
                  <a:lnTo>
                    <a:pt x="370" y="2"/>
                  </a:lnTo>
                  <a:lnTo>
                    <a:pt x="371" y="1"/>
                  </a:lnTo>
                  <a:lnTo>
                    <a:pt x="373" y="0"/>
                  </a:lnTo>
                  <a:lnTo>
                    <a:pt x="375" y="0"/>
                  </a:lnTo>
                  <a:close/>
                  <a:moveTo>
                    <a:pt x="560" y="0"/>
                  </a:moveTo>
                  <a:lnTo>
                    <a:pt x="668" y="0"/>
                  </a:lnTo>
                  <a:lnTo>
                    <a:pt x="669" y="0"/>
                  </a:lnTo>
                  <a:lnTo>
                    <a:pt x="673" y="1"/>
                  </a:lnTo>
                  <a:lnTo>
                    <a:pt x="675" y="2"/>
                  </a:lnTo>
                  <a:lnTo>
                    <a:pt x="675" y="4"/>
                  </a:lnTo>
                  <a:lnTo>
                    <a:pt x="675" y="5"/>
                  </a:lnTo>
                  <a:lnTo>
                    <a:pt x="673" y="6"/>
                  </a:lnTo>
                  <a:lnTo>
                    <a:pt x="669" y="7"/>
                  </a:lnTo>
                  <a:lnTo>
                    <a:pt x="668" y="8"/>
                  </a:lnTo>
                  <a:lnTo>
                    <a:pt x="560" y="8"/>
                  </a:lnTo>
                  <a:lnTo>
                    <a:pt x="556" y="7"/>
                  </a:lnTo>
                  <a:lnTo>
                    <a:pt x="554" y="6"/>
                  </a:lnTo>
                  <a:lnTo>
                    <a:pt x="552" y="5"/>
                  </a:lnTo>
                  <a:lnTo>
                    <a:pt x="552" y="4"/>
                  </a:lnTo>
                  <a:lnTo>
                    <a:pt x="552" y="2"/>
                  </a:lnTo>
                  <a:lnTo>
                    <a:pt x="554" y="1"/>
                  </a:lnTo>
                  <a:lnTo>
                    <a:pt x="556" y="0"/>
                  </a:lnTo>
                  <a:lnTo>
                    <a:pt x="560" y="0"/>
                  </a:lnTo>
                  <a:close/>
                  <a:moveTo>
                    <a:pt x="745" y="0"/>
                  </a:moveTo>
                  <a:lnTo>
                    <a:pt x="850" y="0"/>
                  </a:lnTo>
                  <a:lnTo>
                    <a:pt x="854" y="0"/>
                  </a:lnTo>
                  <a:lnTo>
                    <a:pt x="856" y="1"/>
                  </a:lnTo>
                  <a:lnTo>
                    <a:pt x="858" y="2"/>
                  </a:lnTo>
                  <a:lnTo>
                    <a:pt x="860" y="4"/>
                  </a:lnTo>
                  <a:lnTo>
                    <a:pt x="858" y="5"/>
                  </a:lnTo>
                  <a:lnTo>
                    <a:pt x="856" y="6"/>
                  </a:lnTo>
                  <a:lnTo>
                    <a:pt x="854" y="7"/>
                  </a:lnTo>
                  <a:lnTo>
                    <a:pt x="850" y="8"/>
                  </a:lnTo>
                  <a:lnTo>
                    <a:pt x="745" y="8"/>
                  </a:lnTo>
                  <a:lnTo>
                    <a:pt x="741" y="7"/>
                  </a:lnTo>
                  <a:lnTo>
                    <a:pt x="739" y="6"/>
                  </a:lnTo>
                  <a:lnTo>
                    <a:pt x="737" y="5"/>
                  </a:lnTo>
                  <a:lnTo>
                    <a:pt x="735" y="4"/>
                  </a:lnTo>
                  <a:lnTo>
                    <a:pt x="737" y="2"/>
                  </a:lnTo>
                  <a:lnTo>
                    <a:pt x="739" y="1"/>
                  </a:lnTo>
                  <a:lnTo>
                    <a:pt x="741" y="0"/>
                  </a:lnTo>
                  <a:lnTo>
                    <a:pt x="745" y="0"/>
                  </a:lnTo>
                  <a:close/>
                  <a:moveTo>
                    <a:pt x="928" y="0"/>
                  </a:moveTo>
                  <a:lnTo>
                    <a:pt x="1035" y="0"/>
                  </a:lnTo>
                  <a:lnTo>
                    <a:pt x="1037" y="0"/>
                  </a:lnTo>
                  <a:lnTo>
                    <a:pt x="1041" y="1"/>
                  </a:lnTo>
                  <a:lnTo>
                    <a:pt x="1043" y="2"/>
                  </a:lnTo>
                  <a:lnTo>
                    <a:pt x="1043" y="4"/>
                  </a:lnTo>
                  <a:lnTo>
                    <a:pt x="1043" y="5"/>
                  </a:lnTo>
                  <a:lnTo>
                    <a:pt x="1041" y="6"/>
                  </a:lnTo>
                  <a:lnTo>
                    <a:pt x="1037" y="7"/>
                  </a:lnTo>
                  <a:lnTo>
                    <a:pt x="1035" y="8"/>
                  </a:lnTo>
                  <a:lnTo>
                    <a:pt x="928" y="8"/>
                  </a:lnTo>
                  <a:lnTo>
                    <a:pt x="924" y="7"/>
                  </a:lnTo>
                  <a:lnTo>
                    <a:pt x="922" y="6"/>
                  </a:lnTo>
                  <a:lnTo>
                    <a:pt x="920" y="5"/>
                  </a:lnTo>
                  <a:lnTo>
                    <a:pt x="920" y="4"/>
                  </a:lnTo>
                  <a:lnTo>
                    <a:pt x="920" y="2"/>
                  </a:lnTo>
                  <a:lnTo>
                    <a:pt x="922" y="1"/>
                  </a:lnTo>
                  <a:lnTo>
                    <a:pt x="924" y="0"/>
                  </a:lnTo>
                  <a:lnTo>
                    <a:pt x="928" y="0"/>
                  </a:lnTo>
                  <a:close/>
                  <a:moveTo>
                    <a:pt x="1113" y="0"/>
                  </a:moveTo>
                  <a:lnTo>
                    <a:pt x="1220" y="0"/>
                  </a:lnTo>
                  <a:lnTo>
                    <a:pt x="1222" y="0"/>
                  </a:lnTo>
                  <a:lnTo>
                    <a:pt x="1224" y="1"/>
                  </a:lnTo>
                  <a:lnTo>
                    <a:pt x="1226" y="2"/>
                  </a:lnTo>
                  <a:lnTo>
                    <a:pt x="1228" y="4"/>
                  </a:lnTo>
                  <a:lnTo>
                    <a:pt x="1226" y="5"/>
                  </a:lnTo>
                  <a:lnTo>
                    <a:pt x="1224" y="6"/>
                  </a:lnTo>
                  <a:lnTo>
                    <a:pt x="1222" y="7"/>
                  </a:lnTo>
                  <a:lnTo>
                    <a:pt x="1220" y="8"/>
                  </a:lnTo>
                  <a:lnTo>
                    <a:pt x="1113" y="8"/>
                  </a:lnTo>
                  <a:lnTo>
                    <a:pt x="1109" y="7"/>
                  </a:lnTo>
                  <a:lnTo>
                    <a:pt x="1107" y="6"/>
                  </a:lnTo>
                  <a:lnTo>
                    <a:pt x="1105" y="5"/>
                  </a:lnTo>
                  <a:lnTo>
                    <a:pt x="1105" y="4"/>
                  </a:lnTo>
                  <a:lnTo>
                    <a:pt x="1105" y="2"/>
                  </a:lnTo>
                  <a:lnTo>
                    <a:pt x="1107" y="1"/>
                  </a:lnTo>
                  <a:lnTo>
                    <a:pt x="1109" y="0"/>
                  </a:lnTo>
                  <a:lnTo>
                    <a:pt x="1113" y="0"/>
                  </a:lnTo>
                  <a:close/>
                  <a:moveTo>
                    <a:pt x="1296" y="0"/>
                  </a:moveTo>
                  <a:lnTo>
                    <a:pt x="1403" y="0"/>
                  </a:lnTo>
                  <a:lnTo>
                    <a:pt x="1407" y="0"/>
                  </a:lnTo>
                  <a:lnTo>
                    <a:pt x="1409" y="1"/>
                  </a:lnTo>
                  <a:lnTo>
                    <a:pt x="1411" y="2"/>
                  </a:lnTo>
                  <a:lnTo>
                    <a:pt x="1411" y="4"/>
                  </a:lnTo>
                  <a:lnTo>
                    <a:pt x="1411" y="5"/>
                  </a:lnTo>
                  <a:lnTo>
                    <a:pt x="1409" y="6"/>
                  </a:lnTo>
                  <a:lnTo>
                    <a:pt x="1407" y="7"/>
                  </a:lnTo>
                  <a:lnTo>
                    <a:pt x="1403" y="8"/>
                  </a:lnTo>
                  <a:lnTo>
                    <a:pt x="1296" y="8"/>
                  </a:lnTo>
                  <a:lnTo>
                    <a:pt x="1294" y="7"/>
                  </a:lnTo>
                  <a:lnTo>
                    <a:pt x="1290" y="6"/>
                  </a:lnTo>
                  <a:lnTo>
                    <a:pt x="1288" y="5"/>
                  </a:lnTo>
                  <a:lnTo>
                    <a:pt x="1288" y="4"/>
                  </a:lnTo>
                  <a:lnTo>
                    <a:pt x="1288" y="2"/>
                  </a:lnTo>
                  <a:lnTo>
                    <a:pt x="1290" y="1"/>
                  </a:lnTo>
                  <a:lnTo>
                    <a:pt x="1294" y="0"/>
                  </a:lnTo>
                  <a:lnTo>
                    <a:pt x="1296" y="0"/>
                  </a:lnTo>
                  <a:close/>
                  <a:moveTo>
                    <a:pt x="1480" y="0"/>
                  </a:moveTo>
                  <a:lnTo>
                    <a:pt x="1588" y="0"/>
                  </a:lnTo>
                  <a:lnTo>
                    <a:pt x="1590" y="0"/>
                  </a:lnTo>
                  <a:lnTo>
                    <a:pt x="1592" y="1"/>
                  </a:lnTo>
                  <a:lnTo>
                    <a:pt x="1594" y="2"/>
                  </a:lnTo>
                  <a:lnTo>
                    <a:pt x="1596" y="4"/>
                  </a:lnTo>
                  <a:lnTo>
                    <a:pt x="1594" y="5"/>
                  </a:lnTo>
                  <a:lnTo>
                    <a:pt x="1592" y="6"/>
                  </a:lnTo>
                  <a:lnTo>
                    <a:pt x="1590" y="7"/>
                  </a:lnTo>
                  <a:lnTo>
                    <a:pt x="1588" y="8"/>
                  </a:lnTo>
                  <a:lnTo>
                    <a:pt x="1480" y="8"/>
                  </a:lnTo>
                  <a:lnTo>
                    <a:pt x="1477" y="7"/>
                  </a:lnTo>
                  <a:lnTo>
                    <a:pt x="1475" y="6"/>
                  </a:lnTo>
                  <a:lnTo>
                    <a:pt x="1473" y="5"/>
                  </a:lnTo>
                  <a:lnTo>
                    <a:pt x="1473" y="4"/>
                  </a:lnTo>
                  <a:lnTo>
                    <a:pt x="1473" y="2"/>
                  </a:lnTo>
                  <a:lnTo>
                    <a:pt x="1475" y="1"/>
                  </a:lnTo>
                  <a:lnTo>
                    <a:pt x="1477" y="0"/>
                  </a:lnTo>
                  <a:lnTo>
                    <a:pt x="1480" y="0"/>
                  </a:lnTo>
                  <a:close/>
                  <a:moveTo>
                    <a:pt x="1663" y="0"/>
                  </a:moveTo>
                  <a:lnTo>
                    <a:pt x="1771" y="0"/>
                  </a:lnTo>
                  <a:lnTo>
                    <a:pt x="1775" y="0"/>
                  </a:lnTo>
                  <a:lnTo>
                    <a:pt x="1777" y="1"/>
                  </a:lnTo>
                  <a:lnTo>
                    <a:pt x="1778" y="2"/>
                  </a:lnTo>
                  <a:lnTo>
                    <a:pt x="1778" y="4"/>
                  </a:lnTo>
                  <a:lnTo>
                    <a:pt x="1778" y="5"/>
                  </a:lnTo>
                  <a:lnTo>
                    <a:pt x="1777" y="6"/>
                  </a:lnTo>
                  <a:lnTo>
                    <a:pt x="1775" y="7"/>
                  </a:lnTo>
                  <a:lnTo>
                    <a:pt x="1771" y="8"/>
                  </a:lnTo>
                  <a:lnTo>
                    <a:pt x="1663" y="8"/>
                  </a:lnTo>
                  <a:lnTo>
                    <a:pt x="1662" y="7"/>
                  </a:lnTo>
                  <a:lnTo>
                    <a:pt x="1658" y="6"/>
                  </a:lnTo>
                  <a:lnTo>
                    <a:pt x="1656" y="5"/>
                  </a:lnTo>
                  <a:lnTo>
                    <a:pt x="1656" y="4"/>
                  </a:lnTo>
                  <a:lnTo>
                    <a:pt x="1656" y="2"/>
                  </a:lnTo>
                  <a:lnTo>
                    <a:pt x="1658" y="1"/>
                  </a:lnTo>
                  <a:lnTo>
                    <a:pt x="1662" y="0"/>
                  </a:lnTo>
                  <a:lnTo>
                    <a:pt x="1663" y="0"/>
                  </a:lnTo>
                  <a:close/>
                  <a:moveTo>
                    <a:pt x="1848" y="0"/>
                  </a:moveTo>
                  <a:lnTo>
                    <a:pt x="1956" y="0"/>
                  </a:lnTo>
                  <a:lnTo>
                    <a:pt x="1958" y="0"/>
                  </a:lnTo>
                  <a:lnTo>
                    <a:pt x="1960" y="1"/>
                  </a:lnTo>
                  <a:lnTo>
                    <a:pt x="1961" y="2"/>
                  </a:lnTo>
                  <a:lnTo>
                    <a:pt x="1963" y="4"/>
                  </a:lnTo>
                  <a:lnTo>
                    <a:pt x="1961" y="5"/>
                  </a:lnTo>
                  <a:lnTo>
                    <a:pt x="1960" y="6"/>
                  </a:lnTo>
                  <a:lnTo>
                    <a:pt x="1958" y="7"/>
                  </a:lnTo>
                  <a:lnTo>
                    <a:pt x="1956" y="8"/>
                  </a:lnTo>
                  <a:lnTo>
                    <a:pt x="1848" y="8"/>
                  </a:lnTo>
                  <a:lnTo>
                    <a:pt x="1844" y="7"/>
                  </a:lnTo>
                  <a:lnTo>
                    <a:pt x="1843" y="6"/>
                  </a:lnTo>
                  <a:lnTo>
                    <a:pt x="1841" y="5"/>
                  </a:lnTo>
                  <a:lnTo>
                    <a:pt x="1841" y="4"/>
                  </a:lnTo>
                  <a:lnTo>
                    <a:pt x="1841" y="2"/>
                  </a:lnTo>
                  <a:lnTo>
                    <a:pt x="1843" y="1"/>
                  </a:lnTo>
                  <a:lnTo>
                    <a:pt x="1844" y="0"/>
                  </a:lnTo>
                  <a:lnTo>
                    <a:pt x="1848" y="0"/>
                  </a:lnTo>
                  <a:close/>
                  <a:moveTo>
                    <a:pt x="2031" y="0"/>
                  </a:moveTo>
                  <a:lnTo>
                    <a:pt x="2139" y="0"/>
                  </a:lnTo>
                  <a:lnTo>
                    <a:pt x="2142" y="0"/>
                  </a:lnTo>
                  <a:lnTo>
                    <a:pt x="2144" y="1"/>
                  </a:lnTo>
                  <a:lnTo>
                    <a:pt x="2146" y="2"/>
                  </a:lnTo>
                  <a:lnTo>
                    <a:pt x="2146" y="4"/>
                  </a:lnTo>
                  <a:lnTo>
                    <a:pt x="2146" y="5"/>
                  </a:lnTo>
                  <a:lnTo>
                    <a:pt x="2144" y="6"/>
                  </a:lnTo>
                  <a:lnTo>
                    <a:pt x="2142" y="7"/>
                  </a:lnTo>
                  <a:lnTo>
                    <a:pt x="2139" y="8"/>
                  </a:lnTo>
                  <a:lnTo>
                    <a:pt x="2031" y="8"/>
                  </a:lnTo>
                  <a:lnTo>
                    <a:pt x="2029" y="7"/>
                  </a:lnTo>
                  <a:lnTo>
                    <a:pt x="2026" y="6"/>
                  </a:lnTo>
                  <a:lnTo>
                    <a:pt x="2024" y="5"/>
                  </a:lnTo>
                  <a:lnTo>
                    <a:pt x="2024" y="4"/>
                  </a:lnTo>
                  <a:lnTo>
                    <a:pt x="2024" y="2"/>
                  </a:lnTo>
                  <a:lnTo>
                    <a:pt x="2026" y="1"/>
                  </a:lnTo>
                  <a:lnTo>
                    <a:pt x="2029" y="0"/>
                  </a:lnTo>
                  <a:lnTo>
                    <a:pt x="2031" y="0"/>
                  </a:lnTo>
                  <a:close/>
                  <a:moveTo>
                    <a:pt x="2216" y="0"/>
                  </a:moveTo>
                  <a:lnTo>
                    <a:pt x="2324" y="0"/>
                  </a:lnTo>
                  <a:lnTo>
                    <a:pt x="2325" y="0"/>
                  </a:lnTo>
                  <a:lnTo>
                    <a:pt x="2329" y="1"/>
                  </a:lnTo>
                  <a:lnTo>
                    <a:pt x="2329" y="2"/>
                  </a:lnTo>
                  <a:lnTo>
                    <a:pt x="2331" y="4"/>
                  </a:lnTo>
                  <a:lnTo>
                    <a:pt x="2329" y="5"/>
                  </a:lnTo>
                  <a:lnTo>
                    <a:pt x="2329" y="6"/>
                  </a:lnTo>
                  <a:lnTo>
                    <a:pt x="2325" y="7"/>
                  </a:lnTo>
                  <a:lnTo>
                    <a:pt x="2324" y="8"/>
                  </a:lnTo>
                  <a:lnTo>
                    <a:pt x="2216" y="8"/>
                  </a:lnTo>
                  <a:lnTo>
                    <a:pt x="2212" y="7"/>
                  </a:lnTo>
                  <a:lnTo>
                    <a:pt x="2210" y="6"/>
                  </a:lnTo>
                  <a:lnTo>
                    <a:pt x="2209" y="5"/>
                  </a:lnTo>
                  <a:lnTo>
                    <a:pt x="2209" y="4"/>
                  </a:lnTo>
                  <a:lnTo>
                    <a:pt x="2209" y="2"/>
                  </a:lnTo>
                  <a:lnTo>
                    <a:pt x="2210" y="1"/>
                  </a:lnTo>
                  <a:lnTo>
                    <a:pt x="2212" y="0"/>
                  </a:lnTo>
                  <a:lnTo>
                    <a:pt x="2216" y="0"/>
                  </a:lnTo>
                  <a:close/>
                  <a:moveTo>
                    <a:pt x="2399" y="0"/>
                  </a:moveTo>
                  <a:lnTo>
                    <a:pt x="2507" y="0"/>
                  </a:lnTo>
                  <a:lnTo>
                    <a:pt x="2510" y="0"/>
                  </a:lnTo>
                  <a:lnTo>
                    <a:pt x="2512" y="1"/>
                  </a:lnTo>
                  <a:lnTo>
                    <a:pt x="2514" y="2"/>
                  </a:lnTo>
                  <a:lnTo>
                    <a:pt x="2514" y="4"/>
                  </a:lnTo>
                  <a:lnTo>
                    <a:pt x="2514" y="5"/>
                  </a:lnTo>
                  <a:lnTo>
                    <a:pt x="2512" y="6"/>
                  </a:lnTo>
                  <a:lnTo>
                    <a:pt x="2510" y="7"/>
                  </a:lnTo>
                  <a:lnTo>
                    <a:pt x="2507" y="8"/>
                  </a:lnTo>
                  <a:lnTo>
                    <a:pt x="2399" y="8"/>
                  </a:lnTo>
                  <a:lnTo>
                    <a:pt x="2397" y="7"/>
                  </a:lnTo>
                  <a:lnTo>
                    <a:pt x="2393" y="6"/>
                  </a:lnTo>
                  <a:lnTo>
                    <a:pt x="2393" y="5"/>
                  </a:lnTo>
                  <a:lnTo>
                    <a:pt x="2391" y="4"/>
                  </a:lnTo>
                  <a:lnTo>
                    <a:pt x="2393" y="2"/>
                  </a:lnTo>
                  <a:lnTo>
                    <a:pt x="2393" y="1"/>
                  </a:lnTo>
                  <a:lnTo>
                    <a:pt x="2397" y="0"/>
                  </a:lnTo>
                  <a:lnTo>
                    <a:pt x="2399" y="0"/>
                  </a:lnTo>
                  <a:close/>
                  <a:moveTo>
                    <a:pt x="2584" y="0"/>
                  </a:moveTo>
                  <a:lnTo>
                    <a:pt x="2691" y="0"/>
                  </a:lnTo>
                  <a:lnTo>
                    <a:pt x="2693" y="0"/>
                  </a:lnTo>
                  <a:lnTo>
                    <a:pt x="2697" y="1"/>
                  </a:lnTo>
                  <a:lnTo>
                    <a:pt x="2699" y="2"/>
                  </a:lnTo>
                  <a:lnTo>
                    <a:pt x="2699" y="4"/>
                  </a:lnTo>
                  <a:lnTo>
                    <a:pt x="2699" y="5"/>
                  </a:lnTo>
                  <a:lnTo>
                    <a:pt x="2697" y="6"/>
                  </a:lnTo>
                  <a:lnTo>
                    <a:pt x="2693" y="7"/>
                  </a:lnTo>
                  <a:lnTo>
                    <a:pt x="2691" y="8"/>
                  </a:lnTo>
                  <a:lnTo>
                    <a:pt x="2584" y="8"/>
                  </a:lnTo>
                  <a:lnTo>
                    <a:pt x="2580" y="7"/>
                  </a:lnTo>
                  <a:lnTo>
                    <a:pt x="2578" y="6"/>
                  </a:lnTo>
                  <a:lnTo>
                    <a:pt x="2576" y="5"/>
                  </a:lnTo>
                  <a:lnTo>
                    <a:pt x="2576" y="4"/>
                  </a:lnTo>
                  <a:lnTo>
                    <a:pt x="2576" y="2"/>
                  </a:lnTo>
                  <a:lnTo>
                    <a:pt x="2578" y="1"/>
                  </a:lnTo>
                  <a:lnTo>
                    <a:pt x="2580" y="0"/>
                  </a:lnTo>
                  <a:lnTo>
                    <a:pt x="2584" y="0"/>
                  </a:lnTo>
                  <a:close/>
                  <a:moveTo>
                    <a:pt x="2767" y="0"/>
                  </a:moveTo>
                  <a:lnTo>
                    <a:pt x="2874" y="0"/>
                  </a:lnTo>
                  <a:lnTo>
                    <a:pt x="2878" y="0"/>
                  </a:lnTo>
                  <a:lnTo>
                    <a:pt x="2880" y="1"/>
                  </a:lnTo>
                  <a:lnTo>
                    <a:pt x="2882" y="2"/>
                  </a:lnTo>
                  <a:lnTo>
                    <a:pt x="2882" y="4"/>
                  </a:lnTo>
                  <a:lnTo>
                    <a:pt x="2882" y="5"/>
                  </a:lnTo>
                  <a:lnTo>
                    <a:pt x="2880" y="6"/>
                  </a:lnTo>
                  <a:lnTo>
                    <a:pt x="2878" y="7"/>
                  </a:lnTo>
                  <a:lnTo>
                    <a:pt x="2874" y="8"/>
                  </a:lnTo>
                  <a:lnTo>
                    <a:pt x="2767" y="8"/>
                  </a:lnTo>
                  <a:lnTo>
                    <a:pt x="2765" y="7"/>
                  </a:lnTo>
                  <a:lnTo>
                    <a:pt x="2763" y="6"/>
                  </a:lnTo>
                  <a:lnTo>
                    <a:pt x="2761" y="5"/>
                  </a:lnTo>
                  <a:lnTo>
                    <a:pt x="2759" y="4"/>
                  </a:lnTo>
                  <a:lnTo>
                    <a:pt x="2761" y="2"/>
                  </a:lnTo>
                  <a:lnTo>
                    <a:pt x="2763" y="1"/>
                  </a:lnTo>
                  <a:lnTo>
                    <a:pt x="2765" y="0"/>
                  </a:lnTo>
                  <a:lnTo>
                    <a:pt x="2767" y="0"/>
                  </a:lnTo>
                  <a:close/>
                  <a:moveTo>
                    <a:pt x="2952" y="0"/>
                  </a:moveTo>
                  <a:lnTo>
                    <a:pt x="3059" y="0"/>
                  </a:lnTo>
                  <a:lnTo>
                    <a:pt x="3061" y="0"/>
                  </a:lnTo>
                  <a:lnTo>
                    <a:pt x="3065" y="1"/>
                  </a:lnTo>
                  <a:lnTo>
                    <a:pt x="3067" y="2"/>
                  </a:lnTo>
                  <a:lnTo>
                    <a:pt x="3067" y="4"/>
                  </a:lnTo>
                  <a:lnTo>
                    <a:pt x="3067" y="5"/>
                  </a:lnTo>
                  <a:lnTo>
                    <a:pt x="3065" y="6"/>
                  </a:lnTo>
                  <a:lnTo>
                    <a:pt x="3061" y="7"/>
                  </a:lnTo>
                  <a:lnTo>
                    <a:pt x="3059" y="8"/>
                  </a:lnTo>
                  <a:lnTo>
                    <a:pt x="2952" y="8"/>
                  </a:lnTo>
                  <a:lnTo>
                    <a:pt x="2948" y="7"/>
                  </a:lnTo>
                  <a:lnTo>
                    <a:pt x="2946" y="6"/>
                  </a:lnTo>
                  <a:lnTo>
                    <a:pt x="2944" y="5"/>
                  </a:lnTo>
                  <a:lnTo>
                    <a:pt x="2944" y="4"/>
                  </a:lnTo>
                  <a:lnTo>
                    <a:pt x="2944" y="2"/>
                  </a:lnTo>
                  <a:lnTo>
                    <a:pt x="2946" y="1"/>
                  </a:lnTo>
                  <a:lnTo>
                    <a:pt x="2948" y="0"/>
                  </a:lnTo>
                  <a:lnTo>
                    <a:pt x="2952" y="0"/>
                  </a:lnTo>
                  <a:close/>
                  <a:moveTo>
                    <a:pt x="3137" y="0"/>
                  </a:moveTo>
                  <a:lnTo>
                    <a:pt x="3242" y="0"/>
                  </a:lnTo>
                  <a:lnTo>
                    <a:pt x="3246" y="0"/>
                  </a:lnTo>
                  <a:lnTo>
                    <a:pt x="3248" y="1"/>
                  </a:lnTo>
                  <a:lnTo>
                    <a:pt x="3250" y="2"/>
                  </a:lnTo>
                  <a:lnTo>
                    <a:pt x="3250" y="4"/>
                  </a:lnTo>
                  <a:lnTo>
                    <a:pt x="3250" y="5"/>
                  </a:lnTo>
                  <a:lnTo>
                    <a:pt x="3248" y="6"/>
                  </a:lnTo>
                  <a:lnTo>
                    <a:pt x="3246" y="7"/>
                  </a:lnTo>
                  <a:lnTo>
                    <a:pt x="3242" y="8"/>
                  </a:lnTo>
                  <a:lnTo>
                    <a:pt x="3137" y="8"/>
                  </a:lnTo>
                  <a:lnTo>
                    <a:pt x="3133" y="7"/>
                  </a:lnTo>
                  <a:lnTo>
                    <a:pt x="3131" y="6"/>
                  </a:lnTo>
                  <a:lnTo>
                    <a:pt x="3129" y="5"/>
                  </a:lnTo>
                  <a:lnTo>
                    <a:pt x="3127" y="4"/>
                  </a:lnTo>
                  <a:lnTo>
                    <a:pt x="3129" y="2"/>
                  </a:lnTo>
                  <a:lnTo>
                    <a:pt x="3131" y="1"/>
                  </a:lnTo>
                  <a:lnTo>
                    <a:pt x="3133" y="0"/>
                  </a:lnTo>
                  <a:lnTo>
                    <a:pt x="3137" y="0"/>
                  </a:lnTo>
                  <a:close/>
                  <a:moveTo>
                    <a:pt x="3319" y="0"/>
                  </a:moveTo>
                  <a:lnTo>
                    <a:pt x="3427" y="0"/>
                  </a:lnTo>
                  <a:lnTo>
                    <a:pt x="3429" y="0"/>
                  </a:lnTo>
                  <a:lnTo>
                    <a:pt x="3433" y="1"/>
                  </a:lnTo>
                  <a:lnTo>
                    <a:pt x="3435" y="2"/>
                  </a:lnTo>
                  <a:lnTo>
                    <a:pt x="3435" y="4"/>
                  </a:lnTo>
                  <a:lnTo>
                    <a:pt x="3435" y="5"/>
                  </a:lnTo>
                  <a:lnTo>
                    <a:pt x="3433" y="6"/>
                  </a:lnTo>
                  <a:lnTo>
                    <a:pt x="3429" y="7"/>
                  </a:lnTo>
                  <a:lnTo>
                    <a:pt x="3427" y="8"/>
                  </a:lnTo>
                  <a:lnTo>
                    <a:pt x="3319" y="8"/>
                  </a:lnTo>
                  <a:lnTo>
                    <a:pt x="3316" y="7"/>
                  </a:lnTo>
                  <a:lnTo>
                    <a:pt x="3314" y="6"/>
                  </a:lnTo>
                  <a:lnTo>
                    <a:pt x="3312" y="5"/>
                  </a:lnTo>
                  <a:lnTo>
                    <a:pt x="3312" y="4"/>
                  </a:lnTo>
                  <a:lnTo>
                    <a:pt x="3312" y="2"/>
                  </a:lnTo>
                  <a:lnTo>
                    <a:pt x="3314" y="1"/>
                  </a:lnTo>
                  <a:lnTo>
                    <a:pt x="3316" y="0"/>
                  </a:lnTo>
                  <a:lnTo>
                    <a:pt x="3319" y="0"/>
                  </a:lnTo>
                  <a:close/>
                  <a:moveTo>
                    <a:pt x="3504" y="0"/>
                  </a:moveTo>
                  <a:lnTo>
                    <a:pt x="3610" y="0"/>
                  </a:lnTo>
                  <a:lnTo>
                    <a:pt x="3614" y="0"/>
                  </a:lnTo>
                  <a:lnTo>
                    <a:pt x="3616" y="1"/>
                  </a:lnTo>
                  <a:lnTo>
                    <a:pt x="3617" y="2"/>
                  </a:lnTo>
                  <a:lnTo>
                    <a:pt x="3619" y="4"/>
                  </a:lnTo>
                  <a:lnTo>
                    <a:pt x="3617" y="5"/>
                  </a:lnTo>
                  <a:lnTo>
                    <a:pt x="3616" y="6"/>
                  </a:lnTo>
                  <a:lnTo>
                    <a:pt x="3614" y="7"/>
                  </a:lnTo>
                  <a:lnTo>
                    <a:pt x="3610" y="8"/>
                  </a:lnTo>
                  <a:lnTo>
                    <a:pt x="3504" y="8"/>
                  </a:lnTo>
                  <a:lnTo>
                    <a:pt x="3501" y="7"/>
                  </a:lnTo>
                  <a:lnTo>
                    <a:pt x="3499" y="6"/>
                  </a:lnTo>
                  <a:lnTo>
                    <a:pt x="3497" y="5"/>
                  </a:lnTo>
                  <a:lnTo>
                    <a:pt x="3497" y="4"/>
                  </a:lnTo>
                  <a:lnTo>
                    <a:pt x="3497" y="2"/>
                  </a:lnTo>
                  <a:lnTo>
                    <a:pt x="3499" y="1"/>
                  </a:lnTo>
                  <a:lnTo>
                    <a:pt x="3501" y="0"/>
                  </a:lnTo>
                  <a:lnTo>
                    <a:pt x="3504" y="0"/>
                  </a:lnTo>
                  <a:close/>
                  <a:moveTo>
                    <a:pt x="3687" y="0"/>
                  </a:moveTo>
                  <a:lnTo>
                    <a:pt x="3795" y="0"/>
                  </a:lnTo>
                  <a:lnTo>
                    <a:pt x="3799" y="0"/>
                  </a:lnTo>
                  <a:lnTo>
                    <a:pt x="3800" y="1"/>
                  </a:lnTo>
                  <a:lnTo>
                    <a:pt x="3802" y="2"/>
                  </a:lnTo>
                  <a:lnTo>
                    <a:pt x="3802" y="4"/>
                  </a:lnTo>
                  <a:lnTo>
                    <a:pt x="3802" y="5"/>
                  </a:lnTo>
                  <a:lnTo>
                    <a:pt x="3800" y="6"/>
                  </a:lnTo>
                  <a:lnTo>
                    <a:pt x="3799" y="7"/>
                  </a:lnTo>
                  <a:lnTo>
                    <a:pt x="3795" y="8"/>
                  </a:lnTo>
                  <a:lnTo>
                    <a:pt x="3687" y="8"/>
                  </a:lnTo>
                  <a:lnTo>
                    <a:pt x="3685" y="7"/>
                  </a:lnTo>
                  <a:lnTo>
                    <a:pt x="3682" y="6"/>
                  </a:lnTo>
                  <a:lnTo>
                    <a:pt x="3680" y="5"/>
                  </a:lnTo>
                  <a:lnTo>
                    <a:pt x="3680" y="4"/>
                  </a:lnTo>
                  <a:lnTo>
                    <a:pt x="3680" y="2"/>
                  </a:lnTo>
                  <a:lnTo>
                    <a:pt x="3682" y="1"/>
                  </a:lnTo>
                  <a:lnTo>
                    <a:pt x="3685" y="0"/>
                  </a:lnTo>
                  <a:lnTo>
                    <a:pt x="3687" y="0"/>
                  </a:lnTo>
                  <a:close/>
                  <a:moveTo>
                    <a:pt x="3872" y="0"/>
                  </a:moveTo>
                  <a:lnTo>
                    <a:pt x="3953" y="0"/>
                  </a:lnTo>
                  <a:lnTo>
                    <a:pt x="3957" y="0"/>
                  </a:lnTo>
                  <a:lnTo>
                    <a:pt x="3959" y="1"/>
                  </a:lnTo>
                  <a:lnTo>
                    <a:pt x="3961" y="2"/>
                  </a:lnTo>
                  <a:lnTo>
                    <a:pt x="3961" y="4"/>
                  </a:lnTo>
                  <a:lnTo>
                    <a:pt x="3961" y="5"/>
                  </a:lnTo>
                  <a:lnTo>
                    <a:pt x="3959" y="6"/>
                  </a:lnTo>
                  <a:lnTo>
                    <a:pt x="3957" y="7"/>
                  </a:lnTo>
                  <a:lnTo>
                    <a:pt x="3953" y="8"/>
                  </a:lnTo>
                  <a:lnTo>
                    <a:pt x="3872" y="8"/>
                  </a:lnTo>
                  <a:lnTo>
                    <a:pt x="3868" y="7"/>
                  </a:lnTo>
                  <a:lnTo>
                    <a:pt x="3866" y="6"/>
                  </a:lnTo>
                  <a:lnTo>
                    <a:pt x="3865" y="5"/>
                  </a:lnTo>
                  <a:lnTo>
                    <a:pt x="3865" y="4"/>
                  </a:lnTo>
                  <a:lnTo>
                    <a:pt x="3865" y="2"/>
                  </a:lnTo>
                  <a:lnTo>
                    <a:pt x="3866" y="1"/>
                  </a:lnTo>
                  <a:lnTo>
                    <a:pt x="3868" y="0"/>
                  </a:lnTo>
                  <a:lnTo>
                    <a:pt x="3872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" name="Rectangle 222"/>
            <p:cNvSpPr>
              <a:spLocks noChangeArrowheads="1"/>
            </p:cNvSpPr>
            <p:nvPr/>
          </p:nvSpPr>
          <p:spPr bwMode="auto">
            <a:xfrm>
              <a:off x="4490" y="3646"/>
              <a:ext cx="13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宋体" pitchFamily="2" charset="-122"/>
                </a:rPr>
                <a:t>I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宋体" pitchFamily="2" charset="-122"/>
                </a:rPr>
                <a:t>o</a:t>
              </a:r>
            </a:p>
          </p:txBody>
        </p:sp>
        <p:sp>
          <p:nvSpPr>
            <p:cNvPr id="279" name="Line 223"/>
            <p:cNvSpPr>
              <a:spLocks noChangeShapeType="1"/>
            </p:cNvSpPr>
            <p:nvPr/>
          </p:nvSpPr>
          <p:spPr bwMode="auto">
            <a:xfrm>
              <a:off x="4577" y="2632"/>
              <a:ext cx="1" cy="23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" name="Line 224"/>
            <p:cNvSpPr>
              <a:spLocks noChangeShapeType="1"/>
            </p:cNvSpPr>
            <p:nvPr/>
          </p:nvSpPr>
          <p:spPr bwMode="auto">
            <a:xfrm>
              <a:off x="5111" y="2632"/>
              <a:ext cx="1" cy="23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1" name="Line 225"/>
            <p:cNvSpPr>
              <a:spLocks noChangeShapeType="1"/>
            </p:cNvSpPr>
            <p:nvPr/>
          </p:nvSpPr>
          <p:spPr bwMode="auto">
            <a:xfrm flipV="1">
              <a:off x="3937" y="2631"/>
              <a:ext cx="1" cy="17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Freeform 226"/>
            <p:cNvSpPr>
              <a:spLocks/>
            </p:cNvSpPr>
            <p:nvPr/>
          </p:nvSpPr>
          <p:spPr bwMode="auto">
            <a:xfrm>
              <a:off x="3903" y="2791"/>
              <a:ext cx="68" cy="75"/>
            </a:xfrm>
            <a:custGeom>
              <a:avLst/>
              <a:gdLst>
                <a:gd name="T0" fmla="*/ 0 w 138"/>
                <a:gd name="T1" fmla="*/ 75 h 75"/>
                <a:gd name="T2" fmla="*/ 0 w 138"/>
                <a:gd name="T3" fmla="*/ 0 h 75"/>
                <a:gd name="T4" fmla="*/ 0 w 138"/>
                <a:gd name="T5" fmla="*/ 2 h 75"/>
                <a:gd name="T6" fmla="*/ 0 w 138"/>
                <a:gd name="T7" fmla="*/ 4 h 75"/>
                <a:gd name="T8" fmla="*/ 0 w 138"/>
                <a:gd name="T9" fmla="*/ 5 h 75"/>
                <a:gd name="T10" fmla="*/ 0 w 138"/>
                <a:gd name="T11" fmla="*/ 6 h 75"/>
                <a:gd name="T12" fmla="*/ 0 w 138"/>
                <a:gd name="T13" fmla="*/ 7 h 75"/>
                <a:gd name="T14" fmla="*/ 0 w 138"/>
                <a:gd name="T15" fmla="*/ 8 h 75"/>
                <a:gd name="T16" fmla="*/ 0 w 138"/>
                <a:gd name="T17" fmla="*/ 8 h 75"/>
                <a:gd name="T18" fmla="*/ 0 w 138"/>
                <a:gd name="T19" fmla="*/ 9 h 75"/>
                <a:gd name="T20" fmla="*/ 0 w 138"/>
                <a:gd name="T21" fmla="*/ 8 h 75"/>
                <a:gd name="T22" fmla="*/ 0 w 138"/>
                <a:gd name="T23" fmla="*/ 8 h 75"/>
                <a:gd name="T24" fmla="*/ 0 w 138"/>
                <a:gd name="T25" fmla="*/ 7 h 75"/>
                <a:gd name="T26" fmla="*/ 0 w 138"/>
                <a:gd name="T27" fmla="*/ 6 h 75"/>
                <a:gd name="T28" fmla="*/ 0 w 138"/>
                <a:gd name="T29" fmla="*/ 5 h 75"/>
                <a:gd name="T30" fmla="*/ 0 w 138"/>
                <a:gd name="T31" fmla="*/ 4 h 75"/>
                <a:gd name="T32" fmla="*/ 0 w 138"/>
                <a:gd name="T33" fmla="*/ 2 h 75"/>
                <a:gd name="T34" fmla="*/ 0 w 138"/>
                <a:gd name="T35" fmla="*/ 0 h 75"/>
                <a:gd name="T36" fmla="*/ 0 w 138"/>
                <a:gd name="T37" fmla="*/ 75 h 75"/>
                <a:gd name="T38" fmla="*/ 0 w 138"/>
                <a:gd name="T39" fmla="*/ 75 h 7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38"/>
                <a:gd name="T61" fmla="*/ 0 h 75"/>
                <a:gd name="T62" fmla="*/ 138 w 138"/>
                <a:gd name="T63" fmla="*/ 75 h 7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38" h="75">
                  <a:moveTo>
                    <a:pt x="70" y="75"/>
                  </a:moveTo>
                  <a:lnTo>
                    <a:pt x="0" y="0"/>
                  </a:lnTo>
                  <a:lnTo>
                    <a:pt x="10" y="2"/>
                  </a:lnTo>
                  <a:lnTo>
                    <a:pt x="17" y="4"/>
                  </a:lnTo>
                  <a:lnTo>
                    <a:pt x="25" y="5"/>
                  </a:lnTo>
                  <a:lnTo>
                    <a:pt x="34" y="6"/>
                  </a:lnTo>
                  <a:lnTo>
                    <a:pt x="44" y="7"/>
                  </a:lnTo>
                  <a:lnTo>
                    <a:pt x="51" y="8"/>
                  </a:lnTo>
                  <a:lnTo>
                    <a:pt x="60" y="8"/>
                  </a:lnTo>
                  <a:lnTo>
                    <a:pt x="70" y="9"/>
                  </a:lnTo>
                  <a:lnTo>
                    <a:pt x="77" y="8"/>
                  </a:lnTo>
                  <a:lnTo>
                    <a:pt x="87" y="8"/>
                  </a:lnTo>
                  <a:lnTo>
                    <a:pt x="96" y="7"/>
                  </a:lnTo>
                  <a:lnTo>
                    <a:pt x="104" y="6"/>
                  </a:lnTo>
                  <a:lnTo>
                    <a:pt x="113" y="5"/>
                  </a:lnTo>
                  <a:lnTo>
                    <a:pt x="121" y="4"/>
                  </a:lnTo>
                  <a:lnTo>
                    <a:pt x="130" y="2"/>
                  </a:lnTo>
                  <a:lnTo>
                    <a:pt x="138" y="0"/>
                  </a:lnTo>
                  <a:lnTo>
                    <a:pt x="70" y="7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" name="Freeform 227"/>
            <p:cNvSpPr>
              <a:spLocks/>
            </p:cNvSpPr>
            <p:nvPr/>
          </p:nvSpPr>
          <p:spPr bwMode="auto">
            <a:xfrm>
              <a:off x="3903" y="2573"/>
              <a:ext cx="68" cy="77"/>
            </a:xfrm>
            <a:custGeom>
              <a:avLst/>
              <a:gdLst>
                <a:gd name="T0" fmla="*/ 0 w 138"/>
                <a:gd name="T1" fmla="*/ 0 h 77"/>
                <a:gd name="T2" fmla="*/ 0 w 138"/>
                <a:gd name="T3" fmla="*/ 77 h 77"/>
                <a:gd name="T4" fmla="*/ 0 w 138"/>
                <a:gd name="T5" fmla="*/ 75 h 77"/>
                <a:gd name="T6" fmla="*/ 0 w 138"/>
                <a:gd name="T7" fmla="*/ 73 h 77"/>
                <a:gd name="T8" fmla="*/ 0 w 138"/>
                <a:gd name="T9" fmla="*/ 71 h 77"/>
                <a:gd name="T10" fmla="*/ 0 w 138"/>
                <a:gd name="T11" fmla="*/ 70 h 77"/>
                <a:gd name="T12" fmla="*/ 0 w 138"/>
                <a:gd name="T13" fmla="*/ 69 h 77"/>
                <a:gd name="T14" fmla="*/ 0 w 138"/>
                <a:gd name="T15" fmla="*/ 69 h 77"/>
                <a:gd name="T16" fmla="*/ 0 w 138"/>
                <a:gd name="T17" fmla="*/ 68 h 77"/>
                <a:gd name="T18" fmla="*/ 0 w 138"/>
                <a:gd name="T19" fmla="*/ 68 h 77"/>
                <a:gd name="T20" fmla="*/ 0 w 138"/>
                <a:gd name="T21" fmla="*/ 68 h 77"/>
                <a:gd name="T22" fmla="*/ 0 w 138"/>
                <a:gd name="T23" fmla="*/ 69 h 77"/>
                <a:gd name="T24" fmla="*/ 0 w 138"/>
                <a:gd name="T25" fmla="*/ 69 h 77"/>
                <a:gd name="T26" fmla="*/ 0 w 138"/>
                <a:gd name="T27" fmla="*/ 70 h 77"/>
                <a:gd name="T28" fmla="*/ 0 w 138"/>
                <a:gd name="T29" fmla="*/ 71 h 77"/>
                <a:gd name="T30" fmla="*/ 0 w 138"/>
                <a:gd name="T31" fmla="*/ 73 h 77"/>
                <a:gd name="T32" fmla="*/ 0 w 138"/>
                <a:gd name="T33" fmla="*/ 75 h 77"/>
                <a:gd name="T34" fmla="*/ 0 w 138"/>
                <a:gd name="T35" fmla="*/ 77 h 77"/>
                <a:gd name="T36" fmla="*/ 0 w 138"/>
                <a:gd name="T37" fmla="*/ 77 h 77"/>
                <a:gd name="T38" fmla="*/ 0 w 138"/>
                <a:gd name="T39" fmla="*/ 0 h 77"/>
                <a:gd name="T40" fmla="*/ 0 w 138"/>
                <a:gd name="T41" fmla="*/ 0 h 7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8"/>
                <a:gd name="T64" fmla="*/ 0 h 77"/>
                <a:gd name="T65" fmla="*/ 138 w 138"/>
                <a:gd name="T66" fmla="*/ 77 h 7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8" h="77">
                  <a:moveTo>
                    <a:pt x="70" y="0"/>
                  </a:moveTo>
                  <a:lnTo>
                    <a:pt x="138" y="77"/>
                  </a:lnTo>
                  <a:lnTo>
                    <a:pt x="130" y="75"/>
                  </a:lnTo>
                  <a:lnTo>
                    <a:pt x="121" y="73"/>
                  </a:lnTo>
                  <a:lnTo>
                    <a:pt x="113" y="71"/>
                  </a:lnTo>
                  <a:lnTo>
                    <a:pt x="104" y="70"/>
                  </a:lnTo>
                  <a:lnTo>
                    <a:pt x="96" y="69"/>
                  </a:lnTo>
                  <a:lnTo>
                    <a:pt x="87" y="69"/>
                  </a:lnTo>
                  <a:lnTo>
                    <a:pt x="77" y="68"/>
                  </a:lnTo>
                  <a:lnTo>
                    <a:pt x="70" y="68"/>
                  </a:lnTo>
                  <a:lnTo>
                    <a:pt x="60" y="68"/>
                  </a:lnTo>
                  <a:lnTo>
                    <a:pt x="51" y="69"/>
                  </a:lnTo>
                  <a:lnTo>
                    <a:pt x="44" y="69"/>
                  </a:lnTo>
                  <a:lnTo>
                    <a:pt x="34" y="70"/>
                  </a:lnTo>
                  <a:lnTo>
                    <a:pt x="25" y="71"/>
                  </a:lnTo>
                  <a:lnTo>
                    <a:pt x="17" y="73"/>
                  </a:lnTo>
                  <a:lnTo>
                    <a:pt x="10" y="75"/>
                  </a:lnTo>
                  <a:lnTo>
                    <a:pt x="0" y="77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4" name="Rectangle 228"/>
            <p:cNvSpPr>
              <a:spLocks noChangeArrowheads="1"/>
            </p:cNvSpPr>
            <p:nvPr/>
          </p:nvSpPr>
          <p:spPr bwMode="auto">
            <a:xfrm>
              <a:off x="3991" y="2648"/>
              <a:ext cx="135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</p:txBody>
        </p:sp>
        <p:sp>
          <p:nvSpPr>
            <p:cNvPr id="285" name="Rectangle 229"/>
            <p:cNvSpPr>
              <a:spLocks noChangeArrowheads="1"/>
            </p:cNvSpPr>
            <p:nvPr/>
          </p:nvSpPr>
          <p:spPr bwMode="auto">
            <a:xfrm>
              <a:off x="4396" y="3994"/>
              <a:ext cx="19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宋体" pitchFamily="2" charset="-122"/>
                </a:rPr>
                <a:t>(b)</a:t>
              </a:r>
              <a:endParaRPr lang="en-US" altLang="zh-CN" sz="1600"/>
            </a:p>
          </p:txBody>
        </p:sp>
        <p:sp>
          <p:nvSpPr>
            <p:cNvPr id="286" name="Line 230"/>
            <p:cNvSpPr>
              <a:spLocks noChangeShapeType="1"/>
            </p:cNvSpPr>
            <p:nvPr/>
          </p:nvSpPr>
          <p:spPr bwMode="auto">
            <a:xfrm flipV="1">
              <a:off x="4445" y="3555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" name="Line 231"/>
            <p:cNvSpPr>
              <a:spLocks noChangeShapeType="1"/>
            </p:cNvSpPr>
            <p:nvPr/>
          </p:nvSpPr>
          <p:spPr bwMode="auto">
            <a:xfrm>
              <a:off x="4445" y="3737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Line 232"/>
            <p:cNvSpPr>
              <a:spLocks noChangeShapeType="1"/>
            </p:cNvSpPr>
            <p:nvPr/>
          </p:nvSpPr>
          <p:spPr bwMode="auto">
            <a:xfrm flipV="1">
              <a:off x="3401" y="3329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Line 233"/>
            <p:cNvSpPr>
              <a:spLocks noChangeShapeType="1"/>
            </p:cNvSpPr>
            <p:nvPr/>
          </p:nvSpPr>
          <p:spPr bwMode="auto">
            <a:xfrm flipV="1">
              <a:off x="3487" y="2406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0" name="Line 234"/>
            <p:cNvSpPr>
              <a:spLocks noChangeShapeType="1"/>
            </p:cNvSpPr>
            <p:nvPr/>
          </p:nvSpPr>
          <p:spPr bwMode="auto">
            <a:xfrm>
              <a:off x="3487" y="263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Line 235"/>
            <p:cNvSpPr>
              <a:spLocks noChangeShapeType="1"/>
            </p:cNvSpPr>
            <p:nvPr/>
          </p:nvSpPr>
          <p:spPr bwMode="auto">
            <a:xfrm flipH="1">
              <a:off x="3578" y="2315"/>
              <a:ext cx="181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2" name="Freeform 236"/>
            <p:cNvSpPr>
              <a:spLocks/>
            </p:cNvSpPr>
            <p:nvPr/>
          </p:nvSpPr>
          <p:spPr bwMode="auto">
            <a:xfrm>
              <a:off x="4306" y="1298"/>
              <a:ext cx="33" cy="210"/>
            </a:xfrm>
            <a:custGeom>
              <a:avLst/>
              <a:gdLst>
                <a:gd name="T0" fmla="*/ 1 w 65"/>
                <a:gd name="T1" fmla="*/ 0 h 420"/>
                <a:gd name="T2" fmla="*/ 1 w 65"/>
                <a:gd name="T3" fmla="*/ 1 h 420"/>
                <a:gd name="T4" fmla="*/ 1 w 65"/>
                <a:gd name="T5" fmla="*/ 1 h 420"/>
                <a:gd name="T6" fmla="*/ 1 w 65"/>
                <a:gd name="T7" fmla="*/ 1 h 420"/>
                <a:gd name="T8" fmla="*/ 1 w 65"/>
                <a:gd name="T9" fmla="*/ 1 h 420"/>
                <a:gd name="T10" fmla="*/ 1 w 65"/>
                <a:gd name="T11" fmla="*/ 1 h 420"/>
                <a:gd name="T12" fmla="*/ 1 w 65"/>
                <a:gd name="T13" fmla="*/ 1 h 420"/>
                <a:gd name="T14" fmla="*/ 1 w 65"/>
                <a:gd name="T15" fmla="*/ 1 h 420"/>
                <a:gd name="T16" fmla="*/ 1 w 65"/>
                <a:gd name="T17" fmla="*/ 1 h 420"/>
                <a:gd name="T18" fmla="*/ 1 w 65"/>
                <a:gd name="T19" fmla="*/ 1 h 420"/>
                <a:gd name="T20" fmla="*/ 1 w 65"/>
                <a:gd name="T21" fmla="*/ 1 h 420"/>
                <a:gd name="T22" fmla="*/ 1 w 65"/>
                <a:gd name="T23" fmla="*/ 1 h 420"/>
                <a:gd name="T24" fmla="*/ 1 w 65"/>
                <a:gd name="T25" fmla="*/ 1 h 420"/>
                <a:gd name="T26" fmla="*/ 1 w 65"/>
                <a:gd name="T27" fmla="*/ 1 h 420"/>
                <a:gd name="T28" fmla="*/ 1 w 65"/>
                <a:gd name="T29" fmla="*/ 1 h 420"/>
                <a:gd name="T30" fmla="*/ 0 w 65"/>
                <a:gd name="T31" fmla="*/ 1 h 420"/>
                <a:gd name="T32" fmla="*/ 1 w 65"/>
                <a:gd name="T33" fmla="*/ 1 h 420"/>
                <a:gd name="T34" fmla="*/ 1 w 65"/>
                <a:gd name="T35" fmla="*/ 1 h 420"/>
                <a:gd name="T36" fmla="*/ 1 w 65"/>
                <a:gd name="T37" fmla="*/ 1 h 420"/>
                <a:gd name="T38" fmla="*/ 1 w 65"/>
                <a:gd name="T39" fmla="*/ 1 h 420"/>
                <a:gd name="T40" fmla="*/ 1 w 65"/>
                <a:gd name="T41" fmla="*/ 1 h 420"/>
                <a:gd name="T42" fmla="*/ 1 w 65"/>
                <a:gd name="T43" fmla="*/ 1 h 420"/>
                <a:gd name="T44" fmla="*/ 1 w 65"/>
                <a:gd name="T45" fmla="*/ 1 h 420"/>
                <a:gd name="T46" fmla="*/ 1 w 65"/>
                <a:gd name="T47" fmla="*/ 1 h 420"/>
                <a:gd name="T48" fmla="*/ 1 w 65"/>
                <a:gd name="T49" fmla="*/ 1 h 420"/>
                <a:gd name="T50" fmla="*/ 1 w 65"/>
                <a:gd name="T51" fmla="*/ 1 h 420"/>
                <a:gd name="T52" fmla="*/ 1 w 65"/>
                <a:gd name="T53" fmla="*/ 1 h 420"/>
                <a:gd name="T54" fmla="*/ 1 w 65"/>
                <a:gd name="T55" fmla="*/ 1 h 420"/>
                <a:gd name="T56" fmla="*/ 1 w 65"/>
                <a:gd name="T57" fmla="*/ 1 h 420"/>
                <a:gd name="T58" fmla="*/ 1 w 65"/>
                <a:gd name="T59" fmla="*/ 1 h 420"/>
                <a:gd name="T60" fmla="*/ 1 w 65"/>
                <a:gd name="T61" fmla="*/ 1 h 420"/>
                <a:gd name="T62" fmla="*/ 1 w 65"/>
                <a:gd name="T63" fmla="*/ 1 h 420"/>
                <a:gd name="T64" fmla="*/ 1 w 65"/>
                <a:gd name="T65" fmla="*/ 1 h 420"/>
                <a:gd name="T66" fmla="*/ 1 w 65"/>
                <a:gd name="T67" fmla="*/ 1 h 420"/>
                <a:gd name="T68" fmla="*/ 1 w 65"/>
                <a:gd name="T69" fmla="*/ 1 h 420"/>
                <a:gd name="T70" fmla="*/ 1 w 65"/>
                <a:gd name="T71" fmla="*/ 1 h 420"/>
                <a:gd name="T72" fmla="*/ 1 w 65"/>
                <a:gd name="T73" fmla="*/ 1 h 420"/>
                <a:gd name="T74" fmla="*/ 1 w 65"/>
                <a:gd name="T75" fmla="*/ 1 h 420"/>
                <a:gd name="T76" fmla="*/ 1 w 65"/>
                <a:gd name="T77" fmla="*/ 2 h 420"/>
                <a:gd name="T78" fmla="*/ 1 w 65"/>
                <a:gd name="T79" fmla="*/ 2 h 420"/>
                <a:gd name="T80" fmla="*/ 1 w 65"/>
                <a:gd name="T81" fmla="*/ 2 h 420"/>
                <a:gd name="T82" fmla="*/ 1 w 65"/>
                <a:gd name="T83" fmla="*/ 2 h 420"/>
                <a:gd name="T84" fmla="*/ 1 w 65"/>
                <a:gd name="T85" fmla="*/ 2 h 420"/>
                <a:gd name="T86" fmla="*/ 1 w 65"/>
                <a:gd name="T87" fmla="*/ 2 h 420"/>
                <a:gd name="T88" fmla="*/ 1 w 65"/>
                <a:gd name="T89" fmla="*/ 2 h 420"/>
                <a:gd name="T90" fmla="*/ 1 w 65"/>
                <a:gd name="T91" fmla="*/ 2 h 420"/>
                <a:gd name="T92" fmla="*/ 0 w 65"/>
                <a:gd name="T93" fmla="*/ 2 h 420"/>
                <a:gd name="T94" fmla="*/ 1 w 65"/>
                <a:gd name="T95" fmla="*/ 2 h 420"/>
                <a:gd name="T96" fmla="*/ 1 w 65"/>
                <a:gd name="T97" fmla="*/ 2 h 420"/>
                <a:gd name="T98" fmla="*/ 1 w 65"/>
                <a:gd name="T99" fmla="*/ 2 h 420"/>
                <a:gd name="T100" fmla="*/ 1 w 65"/>
                <a:gd name="T101" fmla="*/ 2 h 420"/>
                <a:gd name="T102" fmla="*/ 1 w 65"/>
                <a:gd name="T103" fmla="*/ 2 h 420"/>
                <a:gd name="T104" fmla="*/ 1 w 65"/>
                <a:gd name="T105" fmla="*/ 2 h 420"/>
                <a:gd name="T106" fmla="*/ 1 w 65"/>
                <a:gd name="T107" fmla="*/ 2 h 420"/>
                <a:gd name="T108" fmla="*/ 1 w 65"/>
                <a:gd name="T109" fmla="*/ 2 h 420"/>
                <a:gd name="T110" fmla="*/ 1 w 65"/>
                <a:gd name="T111" fmla="*/ 2 h 420"/>
                <a:gd name="T112" fmla="*/ 1 w 65"/>
                <a:gd name="T113" fmla="*/ 2 h 420"/>
                <a:gd name="T114" fmla="*/ 1 w 65"/>
                <a:gd name="T115" fmla="*/ 2 h 420"/>
                <a:gd name="T116" fmla="*/ 1 w 65"/>
                <a:gd name="T117" fmla="*/ 2 h 420"/>
                <a:gd name="T118" fmla="*/ 1 w 65"/>
                <a:gd name="T119" fmla="*/ 2 h 420"/>
                <a:gd name="T120" fmla="*/ 1 w 65"/>
                <a:gd name="T121" fmla="*/ 2 h 420"/>
                <a:gd name="T122" fmla="*/ 1 w 65"/>
                <a:gd name="T123" fmla="*/ 2 h 42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65"/>
                <a:gd name="T187" fmla="*/ 0 h 420"/>
                <a:gd name="T188" fmla="*/ 65 w 65"/>
                <a:gd name="T189" fmla="*/ 420 h 42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65" h="420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18" y="2"/>
                  </a:lnTo>
                  <a:lnTo>
                    <a:pt x="25" y="4"/>
                  </a:lnTo>
                  <a:lnTo>
                    <a:pt x="30" y="5"/>
                  </a:lnTo>
                  <a:lnTo>
                    <a:pt x="35" y="9"/>
                  </a:lnTo>
                  <a:lnTo>
                    <a:pt x="46" y="14"/>
                  </a:lnTo>
                  <a:lnTo>
                    <a:pt x="49" y="17"/>
                  </a:lnTo>
                  <a:lnTo>
                    <a:pt x="53" y="22"/>
                  </a:lnTo>
                  <a:lnTo>
                    <a:pt x="56" y="25"/>
                  </a:lnTo>
                  <a:lnTo>
                    <a:pt x="60" y="31"/>
                  </a:lnTo>
                  <a:lnTo>
                    <a:pt x="62" y="36"/>
                  </a:lnTo>
                  <a:lnTo>
                    <a:pt x="63" y="41"/>
                  </a:lnTo>
                  <a:lnTo>
                    <a:pt x="65" y="46"/>
                  </a:lnTo>
                  <a:lnTo>
                    <a:pt x="65" y="51"/>
                  </a:lnTo>
                  <a:lnTo>
                    <a:pt x="65" y="56"/>
                  </a:lnTo>
                  <a:lnTo>
                    <a:pt x="65" y="61"/>
                  </a:lnTo>
                  <a:lnTo>
                    <a:pt x="63" y="66"/>
                  </a:lnTo>
                  <a:lnTo>
                    <a:pt x="62" y="71"/>
                  </a:lnTo>
                  <a:lnTo>
                    <a:pt x="60" y="76"/>
                  </a:lnTo>
                  <a:lnTo>
                    <a:pt x="56" y="81"/>
                  </a:lnTo>
                  <a:lnTo>
                    <a:pt x="53" y="84"/>
                  </a:lnTo>
                  <a:lnTo>
                    <a:pt x="49" y="87"/>
                  </a:lnTo>
                  <a:lnTo>
                    <a:pt x="41" y="94"/>
                  </a:lnTo>
                  <a:lnTo>
                    <a:pt x="35" y="97"/>
                  </a:lnTo>
                  <a:lnTo>
                    <a:pt x="28" y="101"/>
                  </a:lnTo>
                  <a:lnTo>
                    <a:pt x="23" y="102"/>
                  </a:lnTo>
                  <a:lnTo>
                    <a:pt x="18" y="104"/>
                  </a:lnTo>
                  <a:lnTo>
                    <a:pt x="11" y="104"/>
                  </a:lnTo>
                  <a:lnTo>
                    <a:pt x="6" y="106"/>
                  </a:lnTo>
                  <a:lnTo>
                    <a:pt x="0" y="106"/>
                  </a:lnTo>
                  <a:lnTo>
                    <a:pt x="6" y="106"/>
                  </a:lnTo>
                  <a:lnTo>
                    <a:pt x="13" y="106"/>
                  </a:lnTo>
                  <a:lnTo>
                    <a:pt x="18" y="107"/>
                  </a:lnTo>
                  <a:lnTo>
                    <a:pt x="25" y="109"/>
                  </a:lnTo>
                  <a:lnTo>
                    <a:pt x="30" y="111"/>
                  </a:lnTo>
                  <a:lnTo>
                    <a:pt x="35" y="112"/>
                  </a:lnTo>
                  <a:lnTo>
                    <a:pt x="46" y="119"/>
                  </a:lnTo>
                  <a:lnTo>
                    <a:pt x="49" y="123"/>
                  </a:lnTo>
                  <a:lnTo>
                    <a:pt x="53" y="126"/>
                  </a:lnTo>
                  <a:lnTo>
                    <a:pt x="56" y="131"/>
                  </a:lnTo>
                  <a:lnTo>
                    <a:pt x="60" y="136"/>
                  </a:lnTo>
                  <a:lnTo>
                    <a:pt x="62" y="139"/>
                  </a:lnTo>
                  <a:lnTo>
                    <a:pt x="63" y="144"/>
                  </a:lnTo>
                  <a:lnTo>
                    <a:pt x="65" y="149"/>
                  </a:lnTo>
                  <a:lnTo>
                    <a:pt x="65" y="156"/>
                  </a:lnTo>
                  <a:lnTo>
                    <a:pt x="65" y="161"/>
                  </a:lnTo>
                  <a:lnTo>
                    <a:pt x="65" y="166"/>
                  </a:lnTo>
                  <a:lnTo>
                    <a:pt x="63" y="171"/>
                  </a:lnTo>
                  <a:lnTo>
                    <a:pt x="62" y="176"/>
                  </a:lnTo>
                  <a:lnTo>
                    <a:pt x="60" y="181"/>
                  </a:lnTo>
                  <a:lnTo>
                    <a:pt x="56" y="184"/>
                  </a:lnTo>
                  <a:lnTo>
                    <a:pt x="53" y="189"/>
                  </a:lnTo>
                  <a:lnTo>
                    <a:pt x="49" y="193"/>
                  </a:lnTo>
                  <a:lnTo>
                    <a:pt x="41" y="199"/>
                  </a:lnTo>
                  <a:lnTo>
                    <a:pt x="35" y="203"/>
                  </a:lnTo>
                  <a:lnTo>
                    <a:pt x="28" y="205"/>
                  </a:lnTo>
                  <a:lnTo>
                    <a:pt x="23" y="206"/>
                  </a:lnTo>
                  <a:lnTo>
                    <a:pt x="18" y="208"/>
                  </a:lnTo>
                  <a:lnTo>
                    <a:pt x="11" y="210"/>
                  </a:lnTo>
                  <a:lnTo>
                    <a:pt x="6" y="210"/>
                  </a:lnTo>
                  <a:lnTo>
                    <a:pt x="0" y="210"/>
                  </a:lnTo>
                  <a:lnTo>
                    <a:pt x="6" y="210"/>
                  </a:lnTo>
                  <a:lnTo>
                    <a:pt x="13" y="211"/>
                  </a:lnTo>
                  <a:lnTo>
                    <a:pt x="18" y="211"/>
                  </a:lnTo>
                  <a:lnTo>
                    <a:pt x="25" y="213"/>
                  </a:lnTo>
                  <a:lnTo>
                    <a:pt x="30" y="215"/>
                  </a:lnTo>
                  <a:lnTo>
                    <a:pt x="35" y="218"/>
                  </a:lnTo>
                  <a:lnTo>
                    <a:pt x="46" y="225"/>
                  </a:lnTo>
                  <a:lnTo>
                    <a:pt x="49" y="228"/>
                  </a:lnTo>
                  <a:lnTo>
                    <a:pt x="53" y="231"/>
                  </a:lnTo>
                  <a:lnTo>
                    <a:pt x="56" y="236"/>
                  </a:lnTo>
                  <a:lnTo>
                    <a:pt x="60" y="240"/>
                  </a:lnTo>
                  <a:lnTo>
                    <a:pt x="62" y="245"/>
                  </a:lnTo>
                  <a:lnTo>
                    <a:pt x="63" y="250"/>
                  </a:lnTo>
                  <a:lnTo>
                    <a:pt x="65" y="255"/>
                  </a:lnTo>
                  <a:lnTo>
                    <a:pt x="65" y="260"/>
                  </a:lnTo>
                  <a:lnTo>
                    <a:pt x="65" y="266"/>
                  </a:lnTo>
                  <a:lnTo>
                    <a:pt x="65" y="271"/>
                  </a:lnTo>
                  <a:lnTo>
                    <a:pt x="63" y="276"/>
                  </a:lnTo>
                  <a:lnTo>
                    <a:pt x="62" y="281"/>
                  </a:lnTo>
                  <a:lnTo>
                    <a:pt x="60" y="285"/>
                  </a:lnTo>
                  <a:lnTo>
                    <a:pt x="56" y="290"/>
                  </a:lnTo>
                  <a:lnTo>
                    <a:pt x="53" y="295"/>
                  </a:lnTo>
                  <a:lnTo>
                    <a:pt x="49" y="298"/>
                  </a:lnTo>
                  <a:lnTo>
                    <a:pt x="41" y="305"/>
                  </a:lnTo>
                  <a:lnTo>
                    <a:pt x="35" y="308"/>
                  </a:lnTo>
                  <a:lnTo>
                    <a:pt x="28" y="310"/>
                  </a:lnTo>
                  <a:lnTo>
                    <a:pt x="23" y="312"/>
                  </a:lnTo>
                  <a:lnTo>
                    <a:pt x="18" y="313"/>
                  </a:lnTo>
                  <a:lnTo>
                    <a:pt x="11" y="315"/>
                  </a:lnTo>
                  <a:lnTo>
                    <a:pt x="6" y="315"/>
                  </a:lnTo>
                  <a:lnTo>
                    <a:pt x="0" y="315"/>
                  </a:lnTo>
                  <a:lnTo>
                    <a:pt x="6" y="315"/>
                  </a:lnTo>
                  <a:lnTo>
                    <a:pt x="13" y="315"/>
                  </a:lnTo>
                  <a:lnTo>
                    <a:pt x="18" y="317"/>
                  </a:lnTo>
                  <a:lnTo>
                    <a:pt x="25" y="318"/>
                  </a:lnTo>
                  <a:lnTo>
                    <a:pt x="30" y="320"/>
                  </a:lnTo>
                  <a:lnTo>
                    <a:pt x="35" y="323"/>
                  </a:lnTo>
                  <a:lnTo>
                    <a:pt x="46" y="328"/>
                  </a:lnTo>
                  <a:lnTo>
                    <a:pt x="49" y="332"/>
                  </a:lnTo>
                  <a:lnTo>
                    <a:pt x="53" y="337"/>
                  </a:lnTo>
                  <a:lnTo>
                    <a:pt x="56" y="340"/>
                  </a:lnTo>
                  <a:lnTo>
                    <a:pt x="60" y="345"/>
                  </a:lnTo>
                  <a:lnTo>
                    <a:pt x="62" y="350"/>
                  </a:lnTo>
                  <a:lnTo>
                    <a:pt x="63" y="355"/>
                  </a:lnTo>
                  <a:lnTo>
                    <a:pt x="65" y="360"/>
                  </a:lnTo>
                  <a:lnTo>
                    <a:pt x="65" y="365"/>
                  </a:lnTo>
                  <a:lnTo>
                    <a:pt x="65" y="370"/>
                  </a:lnTo>
                  <a:lnTo>
                    <a:pt x="65" y="375"/>
                  </a:lnTo>
                  <a:lnTo>
                    <a:pt x="63" y="380"/>
                  </a:lnTo>
                  <a:lnTo>
                    <a:pt x="62" y="385"/>
                  </a:lnTo>
                  <a:lnTo>
                    <a:pt x="60" y="390"/>
                  </a:lnTo>
                  <a:lnTo>
                    <a:pt x="56" y="395"/>
                  </a:lnTo>
                  <a:lnTo>
                    <a:pt x="53" y="399"/>
                  </a:lnTo>
                  <a:lnTo>
                    <a:pt x="49" y="404"/>
                  </a:lnTo>
                  <a:lnTo>
                    <a:pt x="41" y="410"/>
                  </a:lnTo>
                  <a:lnTo>
                    <a:pt x="35" y="412"/>
                  </a:lnTo>
                  <a:lnTo>
                    <a:pt x="28" y="415"/>
                  </a:lnTo>
                  <a:lnTo>
                    <a:pt x="23" y="417"/>
                  </a:lnTo>
                  <a:lnTo>
                    <a:pt x="18" y="419"/>
                  </a:lnTo>
                  <a:lnTo>
                    <a:pt x="11" y="419"/>
                  </a:lnTo>
                  <a:lnTo>
                    <a:pt x="6" y="420"/>
                  </a:lnTo>
                  <a:lnTo>
                    <a:pt x="0" y="42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3" name="Freeform 237"/>
            <p:cNvSpPr>
              <a:spLocks/>
            </p:cNvSpPr>
            <p:nvPr/>
          </p:nvSpPr>
          <p:spPr bwMode="auto">
            <a:xfrm>
              <a:off x="4399" y="1182"/>
              <a:ext cx="33" cy="210"/>
            </a:xfrm>
            <a:custGeom>
              <a:avLst/>
              <a:gdLst>
                <a:gd name="T0" fmla="*/ 1 w 66"/>
                <a:gd name="T1" fmla="*/ 0 h 420"/>
                <a:gd name="T2" fmla="*/ 1 w 66"/>
                <a:gd name="T3" fmla="*/ 1 h 420"/>
                <a:gd name="T4" fmla="*/ 1 w 66"/>
                <a:gd name="T5" fmla="*/ 1 h 420"/>
                <a:gd name="T6" fmla="*/ 1 w 66"/>
                <a:gd name="T7" fmla="*/ 1 h 420"/>
                <a:gd name="T8" fmla="*/ 1 w 66"/>
                <a:gd name="T9" fmla="*/ 1 h 420"/>
                <a:gd name="T10" fmla="*/ 1 w 66"/>
                <a:gd name="T11" fmla="*/ 1 h 420"/>
                <a:gd name="T12" fmla="*/ 1 w 66"/>
                <a:gd name="T13" fmla="*/ 1 h 420"/>
                <a:gd name="T14" fmla="*/ 0 w 66"/>
                <a:gd name="T15" fmla="*/ 1 h 420"/>
                <a:gd name="T16" fmla="*/ 1 w 66"/>
                <a:gd name="T17" fmla="*/ 1 h 420"/>
                <a:gd name="T18" fmla="*/ 1 w 66"/>
                <a:gd name="T19" fmla="*/ 1 h 420"/>
                <a:gd name="T20" fmla="*/ 1 w 66"/>
                <a:gd name="T21" fmla="*/ 1 h 420"/>
                <a:gd name="T22" fmla="*/ 1 w 66"/>
                <a:gd name="T23" fmla="*/ 1 h 420"/>
                <a:gd name="T24" fmla="*/ 1 w 66"/>
                <a:gd name="T25" fmla="*/ 1 h 420"/>
                <a:gd name="T26" fmla="*/ 1 w 66"/>
                <a:gd name="T27" fmla="*/ 1 h 420"/>
                <a:gd name="T28" fmla="*/ 1 w 66"/>
                <a:gd name="T29" fmla="*/ 1 h 420"/>
                <a:gd name="T30" fmla="*/ 1 w 66"/>
                <a:gd name="T31" fmla="*/ 1 h 420"/>
                <a:gd name="T32" fmla="*/ 1 w 66"/>
                <a:gd name="T33" fmla="*/ 1 h 420"/>
                <a:gd name="T34" fmla="*/ 1 w 66"/>
                <a:gd name="T35" fmla="*/ 1 h 420"/>
                <a:gd name="T36" fmla="*/ 1 w 66"/>
                <a:gd name="T37" fmla="*/ 1 h 420"/>
                <a:gd name="T38" fmla="*/ 1 w 66"/>
                <a:gd name="T39" fmla="*/ 1 h 420"/>
                <a:gd name="T40" fmla="*/ 1 w 66"/>
                <a:gd name="T41" fmla="*/ 1 h 420"/>
                <a:gd name="T42" fmla="*/ 1 w 66"/>
                <a:gd name="T43" fmla="*/ 1 h 420"/>
                <a:gd name="T44" fmla="*/ 1 w 66"/>
                <a:gd name="T45" fmla="*/ 1 h 420"/>
                <a:gd name="T46" fmla="*/ 0 w 66"/>
                <a:gd name="T47" fmla="*/ 1 h 420"/>
                <a:gd name="T48" fmla="*/ 1 w 66"/>
                <a:gd name="T49" fmla="*/ 1 h 420"/>
                <a:gd name="T50" fmla="*/ 1 w 66"/>
                <a:gd name="T51" fmla="*/ 1 h 420"/>
                <a:gd name="T52" fmla="*/ 1 w 66"/>
                <a:gd name="T53" fmla="*/ 1 h 420"/>
                <a:gd name="T54" fmla="*/ 1 w 66"/>
                <a:gd name="T55" fmla="*/ 1 h 420"/>
                <a:gd name="T56" fmla="*/ 1 w 66"/>
                <a:gd name="T57" fmla="*/ 1 h 420"/>
                <a:gd name="T58" fmla="*/ 1 w 66"/>
                <a:gd name="T59" fmla="*/ 1 h 420"/>
                <a:gd name="T60" fmla="*/ 1 w 66"/>
                <a:gd name="T61" fmla="*/ 1 h 420"/>
                <a:gd name="T62" fmla="*/ 1 w 66"/>
                <a:gd name="T63" fmla="*/ 1 h 420"/>
                <a:gd name="T64" fmla="*/ 1 w 66"/>
                <a:gd name="T65" fmla="*/ 1 h 420"/>
                <a:gd name="T66" fmla="*/ 1 w 66"/>
                <a:gd name="T67" fmla="*/ 1 h 420"/>
                <a:gd name="T68" fmla="*/ 1 w 66"/>
                <a:gd name="T69" fmla="*/ 1 h 420"/>
                <a:gd name="T70" fmla="*/ 1 w 66"/>
                <a:gd name="T71" fmla="*/ 1 h 420"/>
                <a:gd name="T72" fmla="*/ 1 w 66"/>
                <a:gd name="T73" fmla="*/ 1 h 420"/>
                <a:gd name="T74" fmla="*/ 1 w 66"/>
                <a:gd name="T75" fmla="*/ 1 h 420"/>
                <a:gd name="T76" fmla="*/ 0 w 66"/>
                <a:gd name="T77" fmla="*/ 2 h 420"/>
                <a:gd name="T78" fmla="*/ 1 w 66"/>
                <a:gd name="T79" fmla="*/ 2 h 420"/>
                <a:gd name="T80" fmla="*/ 1 w 66"/>
                <a:gd name="T81" fmla="*/ 2 h 420"/>
                <a:gd name="T82" fmla="*/ 1 w 66"/>
                <a:gd name="T83" fmla="*/ 2 h 420"/>
                <a:gd name="T84" fmla="*/ 1 w 66"/>
                <a:gd name="T85" fmla="*/ 2 h 420"/>
                <a:gd name="T86" fmla="*/ 1 w 66"/>
                <a:gd name="T87" fmla="*/ 2 h 420"/>
                <a:gd name="T88" fmla="*/ 1 w 66"/>
                <a:gd name="T89" fmla="*/ 2 h 420"/>
                <a:gd name="T90" fmla="*/ 1 w 66"/>
                <a:gd name="T91" fmla="*/ 2 h 420"/>
                <a:gd name="T92" fmla="*/ 1 w 66"/>
                <a:gd name="T93" fmla="*/ 2 h 420"/>
                <a:gd name="T94" fmla="*/ 1 w 66"/>
                <a:gd name="T95" fmla="*/ 2 h 420"/>
                <a:gd name="T96" fmla="*/ 1 w 66"/>
                <a:gd name="T97" fmla="*/ 2 h 420"/>
                <a:gd name="T98" fmla="*/ 1 w 66"/>
                <a:gd name="T99" fmla="*/ 2 h 420"/>
                <a:gd name="T100" fmla="*/ 1 w 66"/>
                <a:gd name="T101" fmla="*/ 2 h 420"/>
                <a:gd name="T102" fmla="*/ 1 w 66"/>
                <a:gd name="T103" fmla="*/ 2 h 420"/>
                <a:gd name="T104" fmla="*/ 1 w 66"/>
                <a:gd name="T105" fmla="*/ 2 h 420"/>
                <a:gd name="T106" fmla="*/ 1 w 66"/>
                <a:gd name="T107" fmla="*/ 2 h 420"/>
                <a:gd name="T108" fmla="*/ 0 w 66"/>
                <a:gd name="T109" fmla="*/ 2 h 420"/>
                <a:gd name="T110" fmla="*/ 1 w 66"/>
                <a:gd name="T111" fmla="*/ 2 h 420"/>
                <a:gd name="T112" fmla="*/ 1 w 66"/>
                <a:gd name="T113" fmla="*/ 2 h 420"/>
                <a:gd name="T114" fmla="*/ 1 w 66"/>
                <a:gd name="T115" fmla="*/ 2 h 420"/>
                <a:gd name="T116" fmla="*/ 1 w 66"/>
                <a:gd name="T117" fmla="*/ 2 h 420"/>
                <a:gd name="T118" fmla="*/ 1 w 66"/>
                <a:gd name="T119" fmla="*/ 2 h 420"/>
                <a:gd name="T120" fmla="*/ 1 w 66"/>
                <a:gd name="T121" fmla="*/ 2 h 420"/>
                <a:gd name="T122" fmla="*/ 1 w 66"/>
                <a:gd name="T123" fmla="*/ 2 h 42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66"/>
                <a:gd name="T187" fmla="*/ 0 h 420"/>
                <a:gd name="T188" fmla="*/ 66 w 66"/>
                <a:gd name="T189" fmla="*/ 420 h 42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66" h="420">
                  <a:moveTo>
                    <a:pt x="66" y="0"/>
                  </a:moveTo>
                  <a:lnTo>
                    <a:pt x="59" y="0"/>
                  </a:lnTo>
                  <a:lnTo>
                    <a:pt x="54" y="0"/>
                  </a:lnTo>
                  <a:lnTo>
                    <a:pt x="47" y="2"/>
                  </a:lnTo>
                  <a:lnTo>
                    <a:pt x="42" y="4"/>
                  </a:lnTo>
                  <a:lnTo>
                    <a:pt x="35" y="6"/>
                  </a:lnTo>
                  <a:lnTo>
                    <a:pt x="29" y="9"/>
                  </a:lnTo>
                  <a:lnTo>
                    <a:pt x="21" y="14"/>
                  </a:lnTo>
                  <a:lnTo>
                    <a:pt x="15" y="17"/>
                  </a:lnTo>
                  <a:lnTo>
                    <a:pt x="12" y="22"/>
                  </a:lnTo>
                  <a:lnTo>
                    <a:pt x="8" y="26"/>
                  </a:lnTo>
                  <a:lnTo>
                    <a:pt x="7" y="31"/>
                  </a:lnTo>
                  <a:lnTo>
                    <a:pt x="3" y="36"/>
                  </a:lnTo>
                  <a:lnTo>
                    <a:pt x="1" y="41"/>
                  </a:lnTo>
                  <a:lnTo>
                    <a:pt x="1" y="46"/>
                  </a:lnTo>
                  <a:lnTo>
                    <a:pt x="0" y="51"/>
                  </a:lnTo>
                  <a:lnTo>
                    <a:pt x="0" y="56"/>
                  </a:lnTo>
                  <a:lnTo>
                    <a:pt x="1" y="61"/>
                  </a:lnTo>
                  <a:lnTo>
                    <a:pt x="1" y="66"/>
                  </a:lnTo>
                  <a:lnTo>
                    <a:pt x="5" y="71"/>
                  </a:lnTo>
                  <a:lnTo>
                    <a:pt x="7" y="76"/>
                  </a:lnTo>
                  <a:lnTo>
                    <a:pt x="10" y="81"/>
                  </a:lnTo>
                  <a:lnTo>
                    <a:pt x="14" y="84"/>
                  </a:lnTo>
                  <a:lnTo>
                    <a:pt x="17" y="89"/>
                  </a:lnTo>
                  <a:lnTo>
                    <a:pt x="26" y="96"/>
                  </a:lnTo>
                  <a:lnTo>
                    <a:pt x="31" y="98"/>
                  </a:lnTo>
                  <a:lnTo>
                    <a:pt x="36" y="101"/>
                  </a:lnTo>
                  <a:lnTo>
                    <a:pt x="42" y="103"/>
                  </a:lnTo>
                  <a:lnTo>
                    <a:pt x="49" y="104"/>
                  </a:lnTo>
                  <a:lnTo>
                    <a:pt x="54" y="104"/>
                  </a:lnTo>
                  <a:lnTo>
                    <a:pt x="61" y="106"/>
                  </a:lnTo>
                  <a:lnTo>
                    <a:pt x="66" y="106"/>
                  </a:lnTo>
                  <a:lnTo>
                    <a:pt x="59" y="106"/>
                  </a:lnTo>
                  <a:lnTo>
                    <a:pt x="54" y="106"/>
                  </a:lnTo>
                  <a:lnTo>
                    <a:pt x="47" y="108"/>
                  </a:lnTo>
                  <a:lnTo>
                    <a:pt x="42" y="109"/>
                  </a:lnTo>
                  <a:lnTo>
                    <a:pt x="35" y="111"/>
                  </a:lnTo>
                  <a:lnTo>
                    <a:pt x="29" y="113"/>
                  </a:lnTo>
                  <a:lnTo>
                    <a:pt x="21" y="119"/>
                  </a:lnTo>
                  <a:lnTo>
                    <a:pt x="15" y="123"/>
                  </a:lnTo>
                  <a:lnTo>
                    <a:pt x="12" y="126"/>
                  </a:lnTo>
                  <a:lnTo>
                    <a:pt x="8" y="131"/>
                  </a:lnTo>
                  <a:lnTo>
                    <a:pt x="7" y="136"/>
                  </a:lnTo>
                  <a:lnTo>
                    <a:pt x="3" y="139"/>
                  </a:lnTo>
                  <a:lnTo>
                    <a:pt x="1" y="144"/>
                  </a:lnTo>
                  <a:lnTo>
                    <a:pt x="1" y="151"/>
                  </a:lnTo>
                  <a:lnTo>
                    <a:pt x="0" y="156"/>
                  </a:lnTo>
                  <a:lnTo>
                    <a:pt x="0" y="161"/>
                  </a:lnTo>
                  <a:lnTo>
                    <a:pt x="1" y="166"/>
                  </a:lnTo>
                  <a:lnTo>
                    <a:pt x="1" y="171"/>
                  </a:lnTo>
                  <a:lnTo>
                    <a:pt x="5" y="176"/>
                  </a:lnTo>
                  <a:lnTo>
                    <a:pt x="7" y="181"/>
                  </a:lnTo>
                  <a:lnTo>
                    <a:pt x="10" y="185"/>
                  </a:lnTo>
                  <a:lnTo>
                    <a:pt x="14" y="190"/>
                  </a:lnTo>
                  <a:lnTo>
                    <a:pt x="17" y="193"/>
                  </a:lnTo>
                  <a:lnTo>
                    <a:pt x="26" y="200"/>
                  </a:lnTo>
                  <a:lnTo>
                    <a:pt x="31" y="203"/>
                  </a:lnTo>
                  <a:lnTo>
                    <a:pt x="36" y="205"/>
                  </a:lnTo>
                  <a:lnTo>
                    <a:pt x="42" y="208"/>
                  </a:lnTo>
                  <a:lnTo>
                    <a:pt x="49" y="208"/>
                  </a:lnTo>
                  <a:lnTo>
                    <a:pt x="54" y="210"/>
                  </a:lnTo>
                  <a:lnTo>
                    <a:pt x="61" y="210"/>
                  </a:lnTo>
                  <a:lnTo>
                    <a:pt x="66" y="210"/>
                  </a:lnTo>
                  <a:lnTo>
                    <a:pt x="59" y="210"/>
                  </a:lnTo>
                  <a:lnTo>
                    <a:pt x="54" y="211"/>
                  </a:lnTo>
                  <a:lnTo>
                    <a:pt x="47" y="211"/>
                  </a:lnTo>
                  <a:lnTo>
                    <a:pt x="42" y="213"/>
                  </a:lnTo>
                  <a:lnTo>
                    <a:pt x="35" y="216"/>
                  </a:lnTo>
                  <a:lnTo>
                    <a:pt x="29" y="218"/>
                  </a:lnTo>
                  <a:lnTo>
                    <a:pt x="21" y="225"/>
                  </a:lnTo>
                  <a:lnTo>
                    <a:pt x="15" y="228"/>
                  </a:lnTo>
                  <a:lnTo>
                    <a:pt x="12" y="231"/>
                  </a:lnTo>
                  <a:lnTo>
                    <a:pt x="8" y="236"/>
                  </a:lnTo>
                  <a:lnTo>
                    <a:pt x="7" y="240"/>
                  </a:lnTo>
                  <a:lnTo>
                    <a:pt x="3" y="245"/>
                  </a:lnTo>
                  <a:lnTo>
                    <a:pt x="1" y="250"/>
                  </a:lnTo>
                  <a:lnTo>
                    <a:pt x="1" y="255"/>
                  </a:lnTo>
                  <a:lnTo>
                    <a:pt x="0" y="260"/>
                  </a:lnTo>
                  <a:lnTo>
                    <a:pt x="0" y="267"/>
                  </a:lnTo>
                  <a:lnTo>
                    <a:pt x="1" y="272"/>
                  </a:lnTo>
                  <a:lnTo>
                    <a:pt x="1" y="277"/>
                  </a:lnTo>
                  <a:lnTo>
                    <a:pt x="5" y="282"/>
                  </a:lnTo>
                  <a:lnTo>
                    <a:pt x="7" y="287"/>
                  </a:lnTo>
                  <a:lnTo>
                    <a:pt x="10" y="290"/>
                  </a:lnTo>
                  <a:lnTo>
                    <a:pt x="14" y="295"/>
                  </a:lnTo>
                  <a:lnTo>
                    <a:pt x="17" y="298"/>
                  </a:lnTo>
                  <a:lnTo>
                    <a:pt x="26" y="305"/>
                  </a:lnTo>
                  <a:lnTo>
                    <a:pt x="31" y="308"/>
                  </a:lnTo>
                  <a:lnTo>
                    <a:pt x="36" y="310"/>
                  </a:lnTo>
                  <a:lnTo>
                    <a:pt x="42" y="312"/>
                  </a:lnTo>
                  <a:lnTo>
                    <a:pt x="49" y="313"/>
                  </a:lnTo>
                  <a:lnTo>
                    <a:pt x="54" y="315"/>
                  </a:lnTo>
                  <a:lnTo>
                    <a:pt x="61" y="315"/>
                  </a:lnTo>
                  <a:lnTo>
                    <a:pt x="66" y="315"/>
                  </a:lnTo>
                  <a:lnTo>
                    <a:pt x="59" y="315"/>
                  </a:lnTo>
                  <a:lnTo>
                    <a:pt x="54" y="315"/>
                  </a:lnTo>
                  <a:lnTo>
                    <a:pt x="47" y="317"/>
                  </a:lnTo>
                  <a:lnTo>
                    <a:pt x="42" y="318"/>
                  </a:lnTo>
                  <a:lnTo>
                    <a:pt x="35" y="320"/>
                  </a:lnTo>
                  <a:lnTo>
                    <a:pt x="29" y="323"/>
                  </a:lnTo>
                  <a:lnTo>
                    <a:pt x="21" y="328"/>
                  </a:lnTo>
                  <a:lnTo>
                    <a:pt x="15" y="332"/>
                  </a:lnTo>
                  <a:lnTo>
                    <a:pt x="12" y="337"/>
                  </a:lnTo>
                  <a:lnTo>
                    <a:pt x="8" y="340"/>
                  </a:lnTo>
                  <a:lnTo>
                    <a:pt x="7" y="345"/>
                  </a:lnTo>
                  <a:lnTo>
                    <a:pt x="3" y="350"/>
                  </a:lnTo>
                  <a:lnTo>
                    <a:pt x="1" y="355"/>
                  </a:lnTo>
                  <a:lnTo>
                    <a:pt x="1" y="360"/>
                  </a:lnTo>
                  <a:lnTo>
                    <a:pt x="0" y="365"/>
                  </a:lnTo>
                  <a:lnTo>
                    <a:pt x="0" y="370"/>
                  </a:lnTo>
                  <a:lnTo>
                    <a:pt x="1" y="375"/>
                  </a:lnTo>
                  <a:lnTo>
                    <a:pt x="1" y="380"/>
                  </a:lnTo>
                  <a:lnTo>
                    <a:pt x="5" y="385"/>
                  </a:lnTo>
                  <a:lnTo>
                    <a:pt x="7" y="390"/>
                  </a:lnTo>
                  <a:lnTo>
                    <a:pt x="10" y="395"/>
                  </a:lnTo>
                  <a:lnTo>
                    <a:pt x="14" y="399"/>
                  </a:lnTo>
                  <a:lnTo>
                    <a:pt x="17" y="404"/>
                  </a:lnTo>
                  <a:lnTo>
                    <a:pt x="26" y="410"/>
                  </a:lnTo>
                  <a:lnTo>
                    <a:pt x="31" y="412"/>
                  </a:lnTo>
                  <a:lnTo>
                    <a:pt x="36" y="415"/>
                  </a:lnTo>
                  <a:lnTo>
                    <a:pt x="42" y="417"/>
                  </a:lnTo>
                  <a:lnTo>
                    <a:pt x="49" y="419"/>
                  </a:lnTo>
                  <a:lnTo>
                    <a:pt x="54" y="419"/>
                  </a:lnTo>
                  <a:lnTo>
                    <a:pt x="61" y="420"/>
                  </a:lnTo>
                  <a:lnTo>
                    <a:pt x="66" y="42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4" name="Line 238"/>
            <p:cNvSpPr>
              <a:spLocks noChangeShapeType="1"/>
            </p:cNvSpPr>
            <p:nvPr/>
          </p:nvSpPr>
          <p:spPr bwMode="auto">
            <a:xfrm>
              <a:off x="4359" y="1187"/>
              <a:ext cx="1" cy="19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" name="Line 239"/>
            <p:cNvSpPr>
              <a:spLocks noChangeShapeType="1"/>
            </p:cNvSpPr>
            <p:nvPr/>
          </p:nvSpPr>
          <p:spPr bwMode="auto">
            <a:xfrm flipV="1">
              <a:off x="4373" y="1187"/>
              <a:ext cx="1" cy="19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6" name="Rectangle 240"/>
            <p:cNvSpPr>
              <a:spLocks noChangeArrowheads="1"/>
            </p:cNvSpPr>
            <p:nvPr/>
          </p:nvSpPr>
          <p:spPr bwMode="auto">
            <a:xfrm>
              <a:off x="5424" y="1196"/>
              <a:ext cx="44" cy="10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/>
            </a:p>
          </p:txBody>
        </p:sp>
        <p:sp>
          <p:nvSpPr>
            <p:cNvPr id="297" name="Rectangle 241"/>
            <p:cNvSpPr>
              <a:spLocks noChangeArrowheads="1"/>
            </p:cNvSpPr>
            <p:nvPr/>
          </p:nvSpPr>
          <p:spPr bwMode="auto">
            <a:xfrm>
              <a:off x="5424" y="1196"/>
              <a:ext cx="44" cy="105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/>
            </a:p>
          </p:txBody>
        </p:sp>
        <p:sp>
          <p:nvSpPr>
            <p:cNvPr id="298" name="Line 242"/>
            <p:cNvSpPr>
              <a:spLocks noChangeShapeType="1"/>
            </p:cNvSpPr>
            <p:nvPr/>
          </p:nvSpPr>
          <p:spPr bwMode="auto">
            <a:xfrm>
              <a:off x="5227" y="1237"/>
              <a:ext cx="8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" name="Line 243"/>
            <p:cNvSpPr>
              <a:spLocks noChangeShapeType="1"/>
            </p:cNvSpPr>
            <p:nvPr/>
          </p:nvSpPr>
          <p:spPr bwMode="auto">
            <a:xfrm>
              <a:off x="5227" y="1269"/>
              <a:ext cx="8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" name="Line 244"/>
            <p:cNvSpPr>
              <a:spLocks noChangeShapeType="1"/>
            </p:cNvSpPr>
            <p:nvPr/>
          </p:nvSpPr>
          <p:spPr bwMode="auto">
            <a:xfrm>
              <a:off x="5271" y="1269"/>
              <a:ext cx="1" cy="8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" name="Line 245"/>
            <p:cNvSpPr>
              <a:spLocks noChangeShapeType="1"/>
            </p:cNvSpPr>
            <p:nvPr/>
          </p:nvSpPr>
          <p:spPr bwMode="auto">
            <a:xfrm flipV="1">
              <a:off x="5271" y="1143"/>
              <a:ext cx="1" cy="9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2" name="Line 246"/>
            <p:cNvSpPr>
              <a:spLocks noChangeShapeType="1"/>
            </p:cNvSpPr>
            <p:nvPr/>
          </p:nvSpPr>
          <p:spPr bwMode="auto">
            <a:xfrm flipV="1">
              <a:off x="5271" y="1122"/>
              <a:ext cx="1" cy="2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3" name="Freeform 247"/>
            <p:cNvSpPr>
              <a:spLocks/>
            </p:cNvSpPr>
            <p:nvPr/>
          </p:nvSpPr>
          <p:spPr bwMode="auto">
            <a:xfrm>
              <a:off x="4289" y="1315"/>
              <a:ext cx="28" cy="27"/>
            </a:xfrm>
            <a:custGeom>
              <a:avLst/>
              <a:gdLst>
                <a:gd name="T0" fmla="*/ 0 w 56"/>
                <a:gd name="T1" fmla="*/ 1 h 53"/>
                <a:gd name="T2" fmla="*/ 0 w 56"/>
                <a:gd name="T3" fmla="*/ 1 h 53"/>
                <a:gd name="T4" fmla="*/ 1 w 56"/>
                <a:gd name="T5" fmla="*/ 1 h 53"/>
                <a:gd name="T6" fmla="*/ 1 w 56"/>
                <a:gd name="T7" fmla="*/ 1 h 53"/>
                <a:gd name="T8" fmla="*/ 1 w 56"/>
                <a:gd name="T9" fmla="*/ 1 h 53"/>
                <a:gd name="T10" fmla="*/ 1 w 56"/>
                <a:gd name="T11" fmla="*/ 1 h 53"/>
                <a:gd name="T12" fmla="*/ 1 w 56"/>
                <a:gd name="T13" fmla="*/ 1 h 53"/>
                <a:gd name="T14" fmla="*/ 1 w 56"/>
                <a:gd name="T15" fmla="*/ 1 h 53"/>
                <a:gd name="T16" fmla="*/ 1 w 56"/>
                <a:gd name="T17" fmla="*/ 0 h 53"/>
                <a:gd name="T18" fmla="*/ 1 w 56"/>
                <a:gd name="T19" fmla="*/ 1 h 53"/>
                <a:gd name="T20" fmla="*/ 1 w 56"/>
                <a:gd name="T21" fmla="*/ 1 h 53"/>
                <a:gd name="T22" fmla="*/ 1 w 56"/>
                <a:gd name="T23" fmla="*/ 1 h 53"/>
                <a:gd name="T24" fmla="*/ 1 w 56"/>
                <a:gd name="T25" fmla="*/ 1 h 53"/>
                <a:gd name="T26" fmla="*/ 1 w 56"/>
                <a:gd name="T27" fmla="*/ 1 h 53"/>
                <a:gd name="T28" fmla="*/ 1 w 56"/>
                <a:gd name="T29" fmla="*/ 1 h 53"/>
                <a:gd name="T30" fmla="*/ 1 w 56"/>
                <a:gd name="T31" fmla="*/ 1 h 53"/>
                <a:gd name="T32" fmla="*/ 1 w 56"/>
                <a:gd name="T33" fmla="*/ 1 h 53"/>
                <a:gd name="T34" fmla="*/ 1 w 56"/>
                <a:gd name="T35" fmla="*/ 1 h 53"/>
                <a:gd name="T36" fmla="*/ 1 w 56"/>
                <a:gd name="T37" fmla="*/ 1 h 53"/>
                <a:gd name="T38" fmla="*/ 1 w 56"/>
                <a:gd name="T39" fmla="*/ 1 h 53"/>
                <a:gd name="T40" fmla="*/ 1 w 56"/>
                <a:gd name="T41" fmla="*/ 1 h 53"/>
                <a:gd name="T42" fmla="*/ 1 w 56"/>
                <a:gd name="T43" fmla="*/ 1 h 53"/>
                <a:gd name="T44" fmla="*/ 1 w 56"/>
                <a:gd name="T45" fmla="*/ 1 h 53"/>
                <a:gd name="T46" fmla="*/ 1 w 56"/>
                <a:gd name="T47" fmla="*/ 1 h 53"/>
                <a:gd name="T48" fmla="*/ 1 w 56"/>
                <a:gd name="T49" fmla="*/ 1 h 53"/>
                <a:gd name="T50" fmla="*/ 1 w 56"/>
                <a:gd name="T51" fmla="*/ 1 h 53"/>
                <a:gd name="T52" fmla="*/ 1 w 56"/>
                <a:gd name="T53" fmla="*/ 1 h 53"/>
                <a:gd name="T54" fmla="*/ 1 w 56"/>
                <a:gd name="T55" fmla="*/ 1 h 53"/>
                <a:gd name="T56" fmla="*/ 1 w 56"/>
                <a:gd name="T57" fmla="*/ 1 h 53"/>
                <a:gd name="T58" fmla="*/ 1 w 56"/>
                <a:gd name="T59" fmla="*/ 1 h 53"/>
                <a:gd name="T60" fmla="*/ 1 w 56"/>
                <a:gd name="T61" fmla="*/ 1 h 53"/>
                <a:gd name="T62" fmla="*/ 1 w 56"/>
                <a:gd name="T63" fmla="*/ 1 h 53"/>
                <a:gd name="T64" fmla="*/ 0 w 56"/>
                <a:gd name="T65" fmla="*/ 1 h 53"/>
                <a:gd name="T66" fmla="*/ 0 w 56"/>
                <a:gd name="T67" fmla="*/ 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3"/>
                <a:gd name="T104" fmla="*/ 56 w 56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3">
                  <a:moveTo>
                    <a:pt x="0" y="26"/>
                  </a:moveTo>
                  <a:lnTo>
                    <a:pt x="0" y="21"/>
                  </a:lnTo>
                  <a:lnTo>
                    <a:pt x="2" y="16"/>
                  </a:lnTo>
                  <a:lnTo>
                    <a:pt x="6" y="13"/>
                  </a:lnTo>
                  <a:lnTo>
                    <a:pt x="9" y="8"/>
                  </a:lnTo>
                  <a:lnTo>
                    <a:pt x="13" y="5"/>
                  </a:lnTo>
                  <a:lnTo>
                    <a:pt x="18" y="3"/>
                  </a:lnTo>
                  <a:lnTo>
                    <a:pt x="23" y="1"/>
                  </a:lnTo>
                  <a:lnTo>
                    <a:pt x="28" y="0"/>
                  </a:lnTo>
                  <a:lnTo>
                    <a:pt x="34" y="1"/>
                  </a:lnTo>
                  <a:lnTo>
                    <a:pt x="39" y="3"/>
                  </a:lnTo>
                  <a:lnTo>
                    <a:pt x="44" y="5"/>
                  </a:lnTo>
                  <a:lnTo>
                    <a:pt x="48" y="8"/>
                  </a:lnTo>
                  <a:lnTo>
                    <a:pt x="51" y="13"/>
                  </a:lnTo>
                  <a:lnTo>
                    <a:pt x="55" y="16"/>
                  </a:lnTo>
                  <a:lnTo>
                    <a:pt x="56" y="21"/>
                  </a:lnTo>
                  <a:lnTo>
                    <a:pt x="56" y="26"/>
                  </a:lnTo>
                  <a:lnTo>
                    <a:pt x="56" y="33"/>
                  </a:lnTo>
                  <a:lnTo>
                    <a:pt x="55" y="38"/>
                  </a:lnTo>
                  <a:lnTo>
                    <a:pt x="51" y="41"/>
                  </a:lnTo>
                  <a:lnTo>
                    <a:pt x="48" y="46"/>
                  </a:lnTo>
                  <a:lnTo>
                    <a:pt x="44" y="50"/>
                  </a:lnTo>
                  <a:lnTo>
                    <a:pt x="39" y="51"/>
                  </a:lnTo>
                  <a:lnTo>
                    <a:pt x="34" y="53"/>
                  </a:lnTo>
                  <a:lnTo>
                    <a:pt x="28" y="53"/>
                  </a:lnTo>
                  <a:lnTo>
                    <a:pt x="23" y="53"/>
                  </a:lnTo>
                  <a:lnTo>
                    <a:pt x="18" y="51"/>
                  </a:lnTo>
                  <a:lnTo>
                    <a:pt x="13" y="50"/>
                  </a:lnTo>
                  <a:lnTo>
                    <a:pt x="9" y="46"/>
                  </a:lnTo>
                  <a:lnTo>
                    <a:pt x="6" y="41"/>
                  </a:lnTo>
                  <a:lnTo>
                    <a:pt x="2" y="38"/>
                  </a:lnTo>
                  <a:lnTo>
                    <a:pt x="0" y="33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4" name="Freeform 248"/>
            <p:cNvSpPr>
              <a:spLocks/>
            </p:cNvSpPr>
            <p:nvPr/>
          </p:nvSpPr>
          <p:spPr bwMode="auto">
            <a:xfrm>
              <a:off x="4426" y="1189"/>
              <a:ext cx="28" cy="27"/>
            </a:xfrm>
            <a:custGeom>
              <a:avLst/>
              <a:gdLst>
                <a:gd name="T0" fmla="*/ 0 w 56"/>
                <a:gd name="T1" fmla="*/ 1 h 53"/>
                <a:gd name="T2" fmla="*/ 1 w 56"/>
                <a:gd name="T3" fmla="*/ 1 h 53"/>
                <a:gd name="T4" fmla="*/ 1 w 56"/>
                <a:gd name="T5" fmla="*/ 1 h 53"/>
                <a:gd name="T6" fmla="*/ 1 w 56"/>
                <a:gd name="T7" fmla="*/ 1 h 53"/>
                <a:gd name="T8" fmla="*/ 1 w 56"/>
                <a:gd name="T9" fmla="*/ 1 h 53"/>
                <a:gd name="T10" fmla="*/ 1 w 56"/>
                <a:gd name="T11" fmla="*/ 1 h 53"/>
                <a:gd name="T12" fmla="*/ 1 w 56"/>
                <a:gd name="T13" fmla="*/ 1 h 53"/>
                <a:gd name="T14" fmla="*/ 1 w 56"/>
                <a:gd name="T15" fmla="*/ 0 h 53"/>
                <a:gd name="T16" fmla="*/ 1 w 56"/>
                <a:gd name="T17" fmla="*/ 0 h 53"/>
                <a:gd name="T18" fmla="*/ 1 w 56"/>
                <a:gd name="T19" fmla="*/ 0 h 53"/>
                <a:gd name="T20" fmla="*/ 1 w 56"/>
                <a:gd name="T21" fmla="*/ 1 h 53"/>
                <a:gd name="T22" fmla="*/ 1 w 56"/>
                <a:gd name="T23" fmla="*/ 1 h 53"/>
                <a:gd name="T24" fmla="*/ 1 w 56"/>
                <a:gd name="T25" fmla="*/ 1 h 53"/>
                <a:gd name="T26" fmla="*/ 1 w 56"/>
                <a:gd name="T27" fmla="*/ 1 h 53"/>
                <a:gd name="T28" fmla="*/ 1 w 56"/>
                <a:gd name="T29" fmla="*/ 1 h 53"/>
                <a:gd name="T30" fmla="*/ 1 w 56"/>
                <a:gd name="T31" fmla="*/ 1 h 53"/>
                <a:gd name="T32" fmla="*/ 1 w 56"/>
                <a:gd name="T33" fmla="*/ 1 h 53"/>
                <a:gd name="T34" fmla="*/ 1 w 56"/>
                <a:gd name="T35" fmla="*/ 1 h 53"/>
                <a:gd name="T36" fmla="*/ 1 w 56"/>
                <a:gd name="T37" fmla="*/ 1 h 53"/>
                <a:gd name="T38" fmla="*/ 1 w 56"/>
                <a:gd name="T39" fmla="*/ 1 h 53"/>
                <a:gd name="T40" fmla="*/ 1 w 56"/>
                <a:gd name="T41" fmla="*/ 1 h 53"/>
                <a:gd name="T42" fmla="*/ 1 w 56"/>
                <a:gd name="T43" fmla="*/ 1 h 53"/>
                <a:gd name="T44" fmla="*/ 1 w 56"/>
                <a:gd name="T45" fmla="*/ 1 h 53"/>
                <a:gd name="T46" fmla="*/ 1 w 56"/>
                <a:gd name="T47" fmla="*/ 1 h 53"/>
                <a:gd name="T48" fmla="*/ 1 w 56"/>
                <a:gd name="T49" fmla="*/ 1 h 53"/>
                <a:gd name="T50" fmla="*/ 1 w 56"/>
                <a:gd name="T51" fmla="*/ 1 h 53"/>
                <a:gd name="T52" fmla="*/ 1 w 56"/>
                <a:gd name="T53" fmla="*/ 1 h 53"/>
                <a:gd name="T54" fmla="*/ 1 w 56"/>
                <a:gd name="T55" fmla="*/ 1 h 53"/>
                <a:gd name="T56" fmla="*/ 1 w 56"/>
                <a:gd name="T57" fmla="*/ 1 h 53"/>
                <a:gd name="T58" fmla="*/ 1 w 56"/>
                <a:gd name="T59" fmla="*/ 1 h 53"/>
                <a:gd name="T60" fmla="*/ 1 w 56"/>
                <a:gd name="T61" fmla="*/ 1 h 53"/>
                <a:gd name="T62" fmla="*/ 1 w 56"/>
                <a:gd name="T63" fmla="*/ 1 h 53"/>
                <a:gd name="T64" fmla="*/ 1 w 56"/>
                <a:gd name="T65" fmla="*/ 1 h 53"/>
                <a:gd name="T66" fmla="*/ 0 w 56"/>
                <a:gd name="T67" fmla="*/ 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3"/>
                <a:gd name="T104" fmla="*/ 56 w 56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3">
                  <a:moveTo>
                    <a:pt x="0" y="27"/>
                  </a:moveTo>
                  <a:lnTo>
                    <a:pt x="2" y="20"/>
                  </a:lnTo>
                  <a:lnTo>
                    <a:pt x="3" y="15"/>
                  </a:lnTo>
                  <a:lnTo>
                    <a:pt x="5" y="12"/>
                  </a:lnTo>
                  <a:lnTo>
                    <a:pt x="9" y="7"/>
                  </a:lnTo>
                  <a:lnTo>
                    <a:pt x="12" y="3"/>
                  </a:lnTo>
                  <a:lnTo>
                    <a:pt x="17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40" y="2"/>
                  </a:lnTo>
                  <a:lnTo>
                    <a:pt x="43" y="3"/>
                  </a:lnTo>
                  <a:lnTo>
                    <a:pt x="49" y="7"/>
                  </a:lnTo>
                  <a:lnTo>
                    <a:pt x="52" y="12"/>
                  </a:lnTo>
                  <a:lnTo>
                    <a:pt x="54" y="15"/>
                  </a:lnTo>
                  <a:lnTo>
                    <a:pt x="56" y="20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2" y="42"/>
                  </a:lnTo>
                  <a:lnTo>
                    <a:pt x="49" y="45"/>
                  </a:lnTo>
                  <a:lnTo>
                    <a:pt x="43" y="48"/>
                  </a:lnTo>
                  <a:lnTo>
                    <a:pt x="40" y="50"/>
                  </a:lnTo>
                  <a:lnTo>
                    <a:pt x="35" y="52"/>
                  </a:lnTo>
                  <a:lnTo>
                    <a:pt x="28" y="53"/>
                  </a:lnTo>
                  <a:lnTo>
                    <a:pt x="23" y="52"/>
                  </a:lnTo>
                  <a:lnTo>
                    <a:pt x="17" y="50"/>
                  </a:lnTo>
                  <a:lnTo>
                    <a:pt x="12" y="48"/>
                  </a:lnTo>
                  <a:lnTo>
                    <a:pt x="9" y="45"/>
                  </a:lnTo>
                  <a:lnTo>
                    <a:pt x="5" y="42"/>
                  </a:lnTo>
                  <a:lnTo>
                    <a:pt x="3" y="37"/>
                  </a:lnTo>
                  <a:lnTo>
                    <a:pt x="2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5" name="Rectangle 249"/>
            <p:cNvSpPr>
              <a:spLocks noChangeArrowheads="1"/>
            </p:cNvSpPr>
            <p:nvPr/>
          </p:nvSpPr>
          <p:spPr bwMode="auto">
            <a:xfrm>
              <a:off x="5346" y="1138"/>
              <a:ext cx="5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R</a:t>
              </a:r>
              <a:endParaRPr lang="en-US" altLang="zh-CN"/>
            </a:p>
          </p:txBody>
        </p:sp>
        <p:sp>
          <p:nvSpPr>
            <p:cNvPr id="306" name="Freeform 250"/>
            <p:cNvSpPr>
              <a:spLocks noEditPoints="1"/>
            </p:cNvSpPr>
            <p:nvPr/>
          </p:nvSpPr>
          <p:spPr bwMode="auto">
            <a:xfrm>
              <a:off x="4031" y="1029"/>
              <a:ext cx="14" cy="118"/>
            </a:xfrm>
            <a:custGeom>
              <a:avLst/>
              <a:gdLst>
                <a:gd name="T0" fmla="*/ 1 w 28"/>
                <a:gd name="T1" fmla="*/ 1 h 236"/>
                <a:gd name="T2" fmla="*/ 1 w 28"/>
                <a:gd name="T3" fmla="*/ 1 h 236"/>
                <a:gd name="T4" fmla="*/ 1 w 28"/>
                <a:gd name="T5" fmla="*/ 1 h 236"/>
                <a:gd name="T6" fmla="*/ 0 w 28"/>
                <a:gd name="T7" fmla="*/ 1 h 236"/>
                <a:gd name="T8" fmla="*/ 0 w 28"/>
                <a:gd name="T9" fmla="*/ 1 h 236"/>
                <a:gd name="T10" fmla="*/ 1 w 28"/>
                <a:gd name="T11" fmla="*/ 1 h 236"/>
                <a:gd name="T12" fmla="*/ 1 w 28"/>
                <a:gd name="T13" fmla="*/ 1 h 236"/>
                <a:gd name="T14" fmla="*/ 1 w 28"/>
                <a:gd name="T15" fmla="*/ 1 h 236"/>
                <a:gd name="T16" fmla="*/ 1 w 28"/>
                <a:gd name="T17" fmla="*/ 1 h 236"/>
                <a:gd name="T18" fmla="*/ 1 w 28"/>
                <a:gd name="T19" fmla="*/ 1 h 236"/>
                <a:gd name="T20" fmla="*/ 1 w 28"/>
                <a:gd name="T21" fmla="*/ 1 h 236"/>
                <a:gd name="T22" fmla="*/ 1 w 28"/>
                <a:gd name="T23" fmla="*/ 1 h 236"/>
                <a:gd name="T24" fmla="*/ 1 w 28"/>
                <a:gd name="T25" fmla="*/ 1 h 236"/>
                <a:gd name="T26" fmla="*/ 1 w 28"/>
                <a:gd name="T27" fmla="*/ 1 h 236"/>
                <a:gd name="T28" fmla="*/ 1 w 28"/>
                <a:gd name="T29" fmla="*/ 1 h 236"/>
                <a:gd name="T30" fmla="*/ 1 w 28"/>
                <a:gd name="T31" fmla="*/ 1 h 236"/>
                <a:gd name="T32" fmla="*/ 1 w 28"/>
                <a:gd name="T33" fmla="*/ 1 h 236"/>
                <a:gd name="T34" fmla="*/ 1 w 28"/>
                <a:gd name="T35" fmla="*/ 1 h 236"/>
                <a:gd name="T36" fmla="*/ 1 w 28"/>
                <a:gd name="T37" fmla="*/ 0 h 236"/>
                <a:gd name="T38" fmla="*/ 1 w 28"/>
                <a:gd name="T39" fmla="*/ 1 h 236"/>
                <a:gd name="T40" fmla="*/ 1 w 28"/>
                <a:gd name="T41" fmla="*/ 1 h 236"/>
                <a:gd name="T42" fmla="*/ 0 w 28"/>
                <a:gd name="T43" fmla="*/ 1 h 236"/>
                <a:gd name="T44" fmla="*/ 0 w 28"/>
                <a:gd name="T45" fmla="*/ 1 h 236"/>
                <a:gd name="T46" fmla="*/ 1 w 28"/>
                <a:gd name="T47" fmla="*/ 1 h 236"/>
                <a:gd name="T48" fmla="*/ 1 w 28"/>
                <a:gd name="T49" fmla="*/ 1 h 236"/>
                <a:gd name="T50" fmla="*/ 1 w 28"/>
                <a:gd name="T51" fmla="*/ 1 h 236"/>
                <a:gd name="T52" fmla="*/ 1 w 28"/>
                <a:gd name="T53" fmla="*/ 1 h 236"/>
                <a:gd name="T54" fmla="*/ 1 w 28"/>
                <a:gd name="T55" fmla="*/ 1 h 236"/>
                <a:gd name="T56" fmla="*/ 1 w 28"/>
                <a:gd name="T57" fmla="*/ 1 h 236"/>
                <a:gd name="T58" fmla="*/ 1 w 28"/>
                <a:gd name="T59" fmla="*/ 1 h 236"/>
                <a:gd name="T60" fmla="*/ 1 w 28"/>
                <a:gd name="T61" fmla="*/ 1 h 236"/>
                <a:gd name="T62" fmla="*/ 1 w 28"/>
                <a:gd name="T63" fmla="*/ 1 h 236"/>
                <a:gd name="T64" fmla="*/ 1 w 28"/>
                <a:gd name="T65" fmla="*/ 1 h 236"/>
                <a:gd name="T66" fmla="*/ 1 w 28"/>
                <a:gd name="T67" fmla="*/ 0 h 236"/>
                <a:gd name="T68" fmla="*/ 1 w 28"/>
                <a:gd name="T69" fmla="*/ 0 h 236"/>
                <a:gd name="T70" fmla="*/ 1 w 28"/>
                <a:gd name="T71" fmla="*/ 0 h 2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8"/>
                <a:gd name="T109" fmla="*/ 0 h 236"/>
                <a:gd name="T110" fmla="*/ 28 w 28"/>
                <a:gd name="T111" fmla="*/ 236 h 2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8" h="236">
                  <a:moveTo>
                    <a:pt x="14" y="209"/>
                  </a:moveTo>
                  <a:lnTo>
                    <a:pt x="10" y="209"/>
                  </a:lnTo>
                  <a:lnTo>
                    <a:pt x="9" y="209"/>
                  </a:lnTo>
                  <a:lnTo>
                    <a:pt x="5" y="211"/>
                  </a:lnTo>
                  <a:lnTo>
                    <a:pt x="3" y="213"/>
                  </a:lnTo>
                  <a:lnTo>
                    <a:pt x="2" y="214"/>
                  </a:lnTo>
                  <a:lnTo>
                    <a:pt x="0" y="218"/>
                  </a:lnTo>
                  <a:lnTo>
                    <a:pt x="0" y="219"/>
                  </a:lnTo>
                  <a:lnTo>
                    <a:pt x="0" y="223"/>
                  </a:lnTo>
                  <a:lnTo>
                    <a:pt x="0" y="225"/>
                  </a:lnTo>
                  <a:lnTo>
                    <a:pt x="0" y="228"/>
                  </a:lnTo>
                  <a:lnTo>
                    <a:pt x="2" y="230"/>
                  </a:lnTo>
                  <a:lnTo>
                    <a:pt x="3" y="231"/>
                  </a:lnTo>
                  <a:lnTo>
                    <a:pt x="5" y="233"/>
                  </a:lnTo>
                  <a:lnTo>
                    <a:pt x="9" y="235"/>
                  </a:lnTo>
                  <a:lnTo>
                    <a:pt x="10" y="235"/>
                  </a:lnTo>
                  <a:lnTo>
                    <a:pt x="14" y="236"/>
                  </a:lnTo>
                  <a:lnTo>
                    <a:pt x="16" y="235"/>
                  </a:lnTo>
                  <a:lnTo>
                    <a:pt x="19" y="235"/>
                  </a:lnTo>
                  <a:lnTo>
                    <a:pt x="21" y="233"/>
                  </a:lnTo>
                  <a:lnTo>
                    <a:pt x="23" y="231"/>
                  </a:lnTo>
                  <a:lnTo>
                    <a:pt x="24" y="230"/>
                  </a:lnTo>
                  <a:lnTo>
                    <a:pt x="26" y="228"/>
                  </a:lnTo>
                  <a:lnTo>
                    <a:pt x="26" y="225"/>
                  </a:lnTo>
                  <a:lnTo>
                    <a:pt x="28" y="223"/>
                  </a:lnTo>
                  <a:lnTo>
                    <a:pt x="26" y="219"/>
                  </a:lnTo>
                  <a:lnTo>
                    <a:pt x="26" y="218"/>
                  </a:lnTo>
                  <a:lnTo>
                    <a:pt x="24" y="214"/>
                  </a:lnTo>
                  <a:lnTo>
                    <a:pt x="23" y="213"/>
                  </a:lnTo>
                  <a:lnTo>
                    <a:pt x="21" y="211"/>
                  </a:lnTo>
                  <a:lnTo>
                    <a:pt x="19" y="209"/>
                  </a:lnTo>
                  <a:lnTo>
                    <a:pt x="16" y="209"/>
                  </a:lnTo>
                  <a:lnTo>
                    <a:pt x="14" y="209"/>
                  </a:lnTo>
                  <a:close/>
                  <a:moveTo>
                    <a:pt x="14" y="0"/>
                  </a:moveTo>
                  <a:lnTo>
                    <a:pt x="10" y="0"/>
                  </a:lnTo>
                  <a:lnTo>
                    <a:pt x="9" y="0"/>
                  </a:lnTo>
                  <a:lnTo>
                    <a:pt x="5" y="2"/>
                  </a:lnTo>
                  <a:lnTo>
                    <a:pt x="3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20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9" y="25"/>
                  </a:lnTo>
                  <a:lnTo>
                    <a:pt x="10" y="25"/>
                  </a:lnTo>
                  <a:lnTo>
                    <a:pt x="14" y="25"/>
                  </a:lnTo>
                  <a:lnTo>
                    <a:pt x="16" y="25"/>
                  </a:lnTo>
                  <a:lnTo>
                    <a:pt x="19" y="25"/>
                  </a:lnTo>
                  <a:lnTo>
                    <a:pt x="21" y="24"/>
                  </a:lnTo>
                  <a:lnTo>
                    <a:pt x="23" y="22"/>
                  </a:lnTo>
                  <a:lnTo>
                    <a:pt x="24" y="20"/>
                  </a:lnTo>
                  <a:lnTo>
                    <a:pt x="26" y="17"/>
                  </a:lnTo>
                  <a:lnTo>
                    <a:pt x="26" y="15"/>
                  </a:lnTo>
                  <a:lnTo>
                    <a:pt x="28" y="12"/>
                  </a:lnTo>
                  <a:lnTo>
                    <a:pt x="26" y="10"/>
                  </a:lnTo>
                  <a:lnTo>
                    <a:pt x="26" y="7"/>
                  </a:lnTo>
                  <a:lnTo>
                    <a:pt x="24" y="5"/>
                  </a:lnTo>
                  <a:lnTo>
                    <a:pt x="23" y="4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" name="Freeform 251"/>
            <p:cNvSpPr>
              <a:spLocks/>
            </p:cNvSpPr>
            <p:nvPr/>
          </p:nvSpPr>
          <p:spPr bwMode="auto">
            <a:xfrm>
              <a:off x="4031" y="1134"/>
              <a:ext cx="14" cy="13"/>
            </a:xfrm>
            <a:custGeom>
              <a:avLst/>
              <a:gdLst>
                <a:gd name="T0" fmla="*/ 1 w 28"/>
                <a:gd name="T1" fmla="*/ 0 h 27"/>
                <a:gd name="T2" fmla="*/ 1 w 28"/>
                <a:gd name="T3" fmla="*/ 0 h 27"/>
                <a:gd name="T4" fmla="*/ 1 w 28"/>
                <a:gd name="T5" fmla="*/ 0 h 27"/>
                <a:gd name="T6" fmla="*/ 1 w 28"/>
                <a:gd name="T7" fmla="*/ 0 h 27"/>
                <a:gd name="T8" fmla="*/ 1 w 28"/>
                <a:gd name="T9" fmla="*/ 0 h 27"/>
                <a:gd name="T10" fmla="*/ 1 w 28"/>
                <a:gd name="T11" fmla="*/ 0 h 27"/>
                <a:gd name="T12" fmla="*/ 0 w 28"/>
                <a:gd name="T13" fmla="*/ 0 h 27"/>
                <a:gd name="T14" fmla="*/ 0 w 28"/>
                <a:gd name="T15" fmla="*/ 0 h 27"/>
                <a:gd name="T16" fmla="*/ 0 w 28"/>
                <a:gd name="T17" fmla="*/ 0 h 27"/>
                <a:gd name="T18" fmla="*/ 0 w 28"/>
                <a:gd name="T19" fmla="*/ 0 h 27"/>
                <a:gd name="T20" fmla="*/ 0 w 28"/>
                <a:gd name="T21" fmla="*/ 0 h 27"/>
                <a:gd name="T22" fmla="*/ 1 w 28"/>
                <a:gd name="T23" fmla="*/ 0 h 27"/>
                <a:gd name="T24" fmla="*/ 1 w 28"/>
                <a:gd name="T25" fmla="*/ 0 h 27"/>
                <a:gd name="T26" fmla="*/ 1 w 28"/>
                <a:gd name="T27" fmla="*/ 0 h 27"/>
                <a:gd name="T28" fmla="*/ 1 w 28"/>
                <a:gd name="T29" fmla="*/ 0 h 27"/>
                <a:gd name="T30" fmla="*/ 1 w 28"/>
                <a:gd name="T31" fmla="*/ 0 h 27"/>
                <a:gd name="T32" fmla="*/ 1 w 28"/>
                <a:gd name="T33" fmla="*/ 0 h 27"/>
                <a:gd name="T34" fmla="*/ 1 w 28"/>
                <a:gd name="T35" fmla="*/ 0 h 27"/>
                <a:gd name="T36" fmla="*/ 1 w 28"/>
                <a:gd name="T37" fmla="*/ 0 h 27"/>
                <a:gd name="T38" fmla="*/ 1 w 28"/>
                <a:gd name="T39" fmla="*/ 0 h 27"/>
                <a:gd name="T40" fmla="*/ 1 w 28"/>
                <a:gd name="T41" fmla="*/ 0 h 27"/>
                <a:gd name="T42" fmla="*/ 1 w 28"/>
                <a:gd name="T43" fmla="*/ 0 h 27"/>
                <a:gd name="T44" fmla="*/ 1 w 28"/>
                <a:gd name="T45" fmla="*/ 0 h 27"/>
                <a:gd name="T46" fmla="*/ 1 w 28"/>
                <a:gd name="T47" fmla="*/ 0 h 27"/>
                <a:gd name="T48" fmla="*/ 1 w 28"/>
                <a:gd name="T49" fmla="*/ 0 h 27"/>
                <a:gd name="T50" fmla="*/ 1 w 28"/>
                <a:gd name="T51" fmla="*/ 0 h 27"/>
                <a:gd name="T52" fmla="*/ 1 w 28"/>
                <a:gd name="T53" fmla="*/ 0 h 27"/>
                <a:gd name="T54" fmla="*/ 1 w 28"/>
                <a:gd name="T55" fmla="*/ 0 h 27"/>
                <a:gd name="T56" fmla="*/ 1 w 28"/>
                <a:gd name="T57" fmla="*/ 0 h 27"/>
                <a:gd name="T58" fmla="*/ 1 w 28"/>
                <a:gd name="T59" fmla="*/ 0 h 27"/>
                <a:gd name="T60" fmla="*/ 1 w 28"/>
                <a:gd name="T61" fmla="*/ 0 h 27"/>
                <a:gd name="T62" fmla="*/ 1 w 28"/>
                <a:gd name="T63" fmla="*/ 0 h 27"/>
                <a:gd name="T64" fmla="*/ 1 w 28"/>
                <a:gd name="T65" fmla="*/ 0 h 27"/>
                <a:gd name="T66" fmla="*/ 1 w 28"/>
                <a:gd name="T67" fmla="*/ 0 h 27"/>
                <a:gd name="T68" fmla="*/ 1 w 28"/>
                <a:gd name="T69" fmla="*/ 0 h 2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7"/>
                <a:gd name="T107" fmla="*/ 28 w 28"/>
                <a:gd name="T108" fmla="*/ 27 h 2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7">
                  <a:moveTo>
                    <a:pt x="14" y="0"/>
                  </a:moveTo>
                  <a:lnTo>
                    <a:pt x="10" y="0"/>
                  </a:lnTo>
                  <a:lnTo>
                    <a:pt x="9" y="0"/>
                  </a:lnTo>
                  <a:lnTo>
                    <a:pt x="5" y="2"/>
                  </a:lnTo>
                  <a:lnTo>
                    <a:pt x="3" y="4"/>
                  </a:lnTo>
                  <a:lnTo>
                    <a:pt x="2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2" y="21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9" y="26"/>
                  </a:lnTo>
                  <a:lnTo>
                    <a:pt x="10" y="26"/>
                  </a:lnTo>
                  <a:lnTo>
                    <a:pt x="14" y="27"/>
                  </a:lnTo>
                  <a:lnTo>
                    <a:pt x="16" y="26"/>
                  </a:lnTo>
                  <a:lnTo>
                    <a:pt x="19" y="26"/>
                  </a:lnTo>
                  <a:lnTo>
                    <a:pt x="21" y="24"/>
                  </a:lnTo>
                  <a:lnTo>
                    <a:pt x="23" y="22"/>
                  </a:lnTo>
                  <a:lnTo>
                    <a:pt x="24" y="21"/>
                  </a:lnTo>
                  <a:lnTo>
                    <a:pt x="26" y="19"/>
                  </a:lnTo>
                  <a:lnTo>
                    <a:pt x="26" y="16"/>
                  </a:lnTo>
                  <a:lnTo>
                    <a:pt x="28" y="14"/>
                  </a:lnTo>
                  <a:lnTo>
                    <a:pt x="26" y="10"/>
                  </a:lnTo>
                  <a:lnTo>
                    <a:pt x="26" y="9"/>
                  </a:lnTo>
                  <a:lnTo>
                    <a:pt x="24" y="5"/>
                  </a:lnTo>
                  <a:lnTo>
                    <a:pt x="23" y="4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" name="Freeform 252"/>
            <p:cNvSpPr>
              <a:spLocks/>
            </p:cNvSpPr>
            <p:nvPr/>
          </p:nvSpPr>
          <p:spPr bwMode="auto">
            <a:xfrm>
              <a:off x="4031" y="1029"/>
              <a:ext cx="14" cy="13"/>
            </a:xfrm>
            <a:custGeom>
              <a:avLst/>
              <a:gdLst>
                <a:gd name="T0" fmla="*/ 1 w 28"/>
                <a:gd name="T1" fmla="*/ 0 h 25"/>
                <a:gd name="T2" fmla="*/ 1 w 28"/>
                <a:gd name="T3" fmla="*/ 0 h 25"/>
                <a:gd name="T4" fmla="*/ 1 w 28"/>
                <a:gd name="T5" fmla="*/ 0 h 25"/>
                <a:gd name="T6" fmla="*/ 1 w 28"/>
                <a:gd name="T7" fmla="*/ 1 h 25"/>
                <a:gd name="T8" fmla="*/ 1 w 28"/>
                <a:gd name="T9" fmla="*/ 1 h 25"/>
                <a:gd name="T10" fmla="*/ 1 w 28"/>
                <a:gd name="T11" fmla="*/ 1 h 25"/>
                <a:gd name="T12" fmla="*/ 0 w 28"/>
                <a:gd name="T13" fmla="*/ 1 h 25"/>
                <a:gd name="T14" fmla="*/ 0 w 28"/>
                <a:gd name="T15" fmla="*/ 1 h 25"/>
                <a:gd name="T16" fmla="*/ 0 w 28"/>
                <a:gd name="T17" fmla="*/ 1 h 25"/>
                <a:gd name="T18" fmla="*/ 0 w 28"/>
                <a:gd name="T19" fmla="*/ 1 h 25"/>
                <a:gd name="T20" fmla="*/ 0 w 28"/>
                <a:gd name="T21" fmla="*/ 1 h 25"/>
                <a:gd name="T22" fmla="*/ 1 w 28"/>
                <a:gd name="T23" fmla="*/ 1 h 25"/>
                <a:gd name="T24" fmla="*/ 1 w 28"/>
                <a:gd name="T25" fmla="*/ 1 h 25"/>
                <a:gd name="T26" fmla="*/ 1 w 28"/>
                <a:gd name="T27" fmla="*/ 1 h 25"/>
                <a:gd name="T28" fmla="*/ 1 w 28"/>
                <a:gd name="T29" fmla="*/ 1 h 25"/>
                <a:gd name="T30" fmla="*/ 1 w 28"/>
                <a:gd name="T31" fmla="*/ 1 h 25"/>
                <a:gd name="T32" fmla="*/ 1 w 28"/>
                <a:gd name="T33" fmla="*/ 1 h 25"/>
                <a:gd name="T34" fmla="*/ 1 w 28"/>
                <a:gd name="T35" fmla="*/ 1 h 25"/>
                <a:gd name="T36" fmla="*/ 1 w 28"/>
                <a:gd name="T37" fmla="*/ 1 h 25"/>
                <a:gd name="T38" fmla="*/ 1 w 28"/>
                <a:gd name="T39" fmla="*/ 1 h 25"/>
                <a:gd name="T40" fmla="*/ 1 w 28"/>
                <a:gd name="T41" fmla="*/ 1 h 25"/>
                <a:gd name="T42" fmla="*/ 1 w 28"/>
                <a:gd name="T43" fmla="*/ 1 h 25"/>
                <a:gd name="T44" fmla="*/ 1 w 28"/>
                <a:gd name="T45" fmla="*/ 1 h 25"/>
                <a:gd name="T46" fmla="*/ 1 w 28"/>
                <a:gd name="T47" fmla="*/ 1 h 25"/>
                <a:gd name="T48" fmla="*/ 1 w 28"/>
                <a:gd name="T49" fmla="*/ 1 h 25"/>
                <a:gd name="T50" fmla="*/ 1 w 28"/>
                <a:gd name="T51" fmla="*/ 1 h 25"/>
                <a:gd name="T52" fmla="*/ 1 w 28"/>
                <a:gd name="T53" fmla="*/ 1 h 25"/>
                <a:gd name="T54" fmla="*/ 1 w 28"/>
                <a:gd name="T55" fmla="*/ 1 h 25"/>
                <a:gd name="T56" fmla="*/ 1 w 28"/>
                <a:gd name="T57" fmla="*/ 1 h 25"/>
                <a:gd name="T58" fmla="*/ 1 w 28"/>
                <a:gd name="T59" fmla="*/ 1 h 25"/>
                <a:gd name="T60" fmla="*/ 1 w 28"/>
                <a:gd name="T61" fmla="*/ 1 h 25"/>
                <a:gd name="T62" fmla="*/ 1 w 28"/>
                <a:gd name="T63" fmla="*/ 0 h 25"/>
                <a:gd name="T64" fmla="*/ 1 w 28"/>
                <a:gd name="T65" fmla="*/ 0 h 25"/>
                <a:gd name="T66" fmla="*/ 1 w 28"/>
                <a:gd name="T67" fmla="*/ 0 h 25"/>
                <a:gd name="T68" fmla="*/ 1 w 28"/>
                <a:gd name="T69" fmla="*/ 0 h 2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5"/>
                <a:gd name="T107" fmla="*/ 28 w 28"/>
                <a:gd name="T108" fmla="*/ 25 h 25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5">
                  <a:moveTo>
                    <a:pt x="14" y="0"/>
                  </a:moveTo>
                  <a:lnTo>
                    <a:pt x="10" y="0"/>
                  </a:lnTo>
                  <a:lnTo>
                    <a:pt x="9" y="0"/>
                  </a:lnTo>
                  <a:lnTo>
                    <a:pt x="5" y="2"/>
                  </a:lnTo>
                  <a:lnTo>
                    <a:pt x="3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20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9" y="25"/>
                  </a:lnTo>
                  <a:lnTo>
                    <a:pt x="10" y="25"/>
                  </a:lnTo>
                  <a:lnTo>
                    <a:pt x="14" y="25"/>
                  </a:lnTo>
                  <a:lnTo>
                    <a:pt x="16" y="25"/>
                  </a:lnTo>
                  <a:lnTo>
                    <a:pt x="19" y="25"/>
                  </a:lnTo>
                  <a:lnTo>
                    <a:pt x="21" y="24"/>
                  </a:lnTo>
                  <a:lnTo>
                    <a:pt x="23" y="22"/>
                  </a:lnTo>
                  <a:lnTo>
                    <a:pt x="24" y="20"/>
                  </a:lnTo>
                  <a:lnTo>
                    <a:pt x="26" y="17"/>
                  </a:lnTo>
                  <a:lnTo>
                    <a:pt x="26" y="15"/>
                  </a:lnTo>
                  <a:lnTo>
                    <a:pt x="28" y="12"/>
                  </a:lnTo>
                  <a:lnTo>
                    <a:pt x="26" y="10"/>
                  </a:lnTo>
                  <a:lnTo>
                    <a:pt x="26" y="7"/>
                  </a:lnTo>
                  <a:lnTo>
                    <a:pt x="24" y="5"/>
                  </a:lnTo>
                  <a:lnTo>
                    <a:pt x="23" y="4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" name="Line 253"/>
            <p:cNvSpPr>
              <a:spLocks noChangeShapeType="1"/>
            </p:cNvSpPr>
            <p:nvPr/>
          </p:nvSpPr>
          <p:spPr bwMode="auto">
            <a:xfrm>
              <a:off x="4041" y="1042"/>
              <a:ext cx="31" cy="8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" name="Freeform 254"/>
            <p:cNvSpPr>
              <a:spLocks/>
            </p:cNvSpPr>
            <p:nvPr/>
          </p:nvSpPr>
          <p:spPr bwMode="auto">
            <a:xfrm>
              <a:off x="5257" y="1085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0"/>
                  </a:lnTo>
                  <a:lnTo>
                    <a:pt x="2" y="15"/>
                  </a:lnTo>
                  <a:lnTo>
                    <a:pt x="5" y="12"/>
                  </a:lnTo>
                  <a:lnTo>
                    <a:pt x="7" y="7"/>
                  </a:lnTo>
                  <a:lnTo>
                    <a:pt x="12" y="4"/>
                  </a:lnTo>
                  <a:lnTo>
                    <a:pt x="17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38" y="2"/>
                  </a:lnTo>
                  <a:lnTo>
                    <a:pt x="44" y="4"/>
                  </a:lnTo>
                  <a:lnTo>
                    <a:pt x="47" y="7"/>
                  </a:lnTo>
                  <a:lnTo>
                    <a:pt x="51" y="12"/>
                  </a:lnTo>
                  <a:lnTo>
                    <a:pt x="54" y="15"/>
                  </a:lnTo>
                  <a:lnTo>
                    <a:pt x="54" y="20"/>
                  </a:lnTo>
                  <a:lnTo>
                    <a:pt x="56" y="27"/>
                  </a:lnTo>
                  <a:lnTo>
                    <a:pt x="54" y="32"/>
                  </a:lnTo>
                  <a:lnTo>
                    <a:pt x="54" y="37"/>
                  </a:lnTo>
                  <a:lnTo>
                    <a:pt x="51" y="42"/>
                  </a:lnTo>
                  <a:lnTo>
                    <a:pt x="47" y="46"/>
                  </a:lnTo>
                  <a:lnTo>
                    <a:pt x="44" y="49"/>
                  </a:lnTo>
                  <a:lnTo>
                    <a:pt x="38" y="51"/>
                  </a:lnTo>
                  <a:lnTo>
                    <a:pt x="33" y="52"/>
                  </a:lnTo>
                  <a:lnTo>
                    <a:pt x="28" y="54"/>
                  </a:lnTo>
                  <a:lnTo>
                    <a:pt x="23" y="52"/>
                  </a:lnTo>
                  <a:lnTo>
                    <a:pt x="17" y="51"/>
                  </a:lnTo>
                  <a:lnTo>
                    <a:pt x="12" y="49"/>
                  </a:lnTo>
                  <a:lnTo>
                    <a:pt x="7" y="46"/>
                  </a:lnTo>
                  <a:lnTo>
                    <a:pt x="5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" name="Line 255"/>
            <p:cNvSpPr>
              <a:spLocks noChangeShapeType="1"/>
            </p:cNvSpPr>
            <p:nvPr/>
          </p:nvSpPr>
          <p:spPr bwMode="auto">
            <a:xfrm flipH="1" flipV="1">
              <a:off x="4431" y="1099"/>
              <a:ext cx="1" cy="8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" name="Freeform 256"/>
            <p:cNvSpPr>
              <a:spLocks/>
            </p:cNvSpPr>
            <p:nvPr/>
          </p:nvSpPr>
          <p:spPr bwMode="auto">
            <a:xfrm>
              <a:off x="5167" y="1097"/>
              <a:ext cx="280" cy="99"/>
            </a:xfrm>
            <a:custGeom>
              <a:avLst/>
              <a:gdLst>
                <a:gd name="T0" fmla="*/ 2 w 561"/>
                <a:gd name="T1" fmla="*/ 1 h 197"/>
                <a:gd name="T2" fmla="*/ 2 w 561"/>
                <a:gd name="T3" fmla="*/ 1 h 197"/>
                <a:gd name="T4" fmla="*/ 0 w 561"/>
                <a:gd name="T5" fmla="*/ 0 h 197"/>
                <a:gd name="T6" fmla="*/ 0 60000 65536"/>
                <a:gd name="T7" fmla="*/ 0 60000 65536"/>
                <a:gd name="T8" fmla="*/ 0 60000 65536"/>
                <a:gd name="T9" fmla="*/ 0 w 561"/>
                <a:gd name="T10" fmla="*/ 0 h 197"/>
                <a:gd name="T11" fmla="*/ 561 w 561"/>
                <a:gd name="T12" fmla="*/ 197 h 1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1" h="197">
                  <a:moveTo>
                    <a:pt x="561" y="197"/>
                  </a:moveTo>
                  <a:lnTo>
                    <a:pt x="561" y="3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" name="Line 257"/>
            <p:cNvSpPr>
              <a:spLocks noChangeShapeType="1"/>
            </p:cNvSpPr>
            <p:nvPr/>
          </p:nvSpPr>
          <p:spPr bwMode="auto">
            <a:xfrm flipH="1" flipV="1">
              <a:off x="5270" y="1098"/>
              <a:ext cx="1" cy="2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" name="Freeform 258"/>
            <p:cNvSpPr>
              <a:spLocks/>
            </p:cNvSpPr>
            <p:nvPr/>
          </p:nvSpPr>
          <p:spPr bwMode="auto">
            <a:xfrm>
              <a:off x="4948" y="1067"/>
              <a:ext cx="219" cy="32"/>
            </a:xfrm>
            <a:custGeom>
              <a:avLst/>
              <a:gdLst>
                <a:gd name="T0" fmla="*/ 0 w 439"/>
                <a:gd name="T1" fmla="*/ 1 h 63"/>
                <a:gd name="T2" fmla="*/ 0 w 439"/>
                <a:gd name="T3" fmla="*/ 1 h 63"/>
                <a:gd name="T4" fmla="*/ 0 w 439"/>
                <a:gd name="T5" fmla="*/ 1 h 63"/>
                <a:gd name="T6" fmla="*/ 0 w 439"/>
                <a:gd name="T7" fmla="*/ 1 h 63"/>
                <a:gd name="T8" fmla="*/ 0 w 439"/>
                <a:gd name="T9" fmla="*/ 1 h 63"/>
                <a:gd name="T10" fmla="*/ 0 w 439"/>
                <a:gd name="T11" fmla="*/ 1 h 63"/>
                <a:gd name="T12" fmla="*/ 0 w 439"/>
                <a:gd name="T13" fmla="*/ 1 h 63"/>
                <a:gd name="T14" fmla="*/ 0 w 439"/>
                <a:gd name="T15" fmla="*/ 0 h 63"/>
                <a:gd name="T16" fmla="*/ 0 w 439"/>
                <a:gd name="T17" fmla="*/ 0 h 63"/>
                <a:gd name="T18" fmla="*/ 0 w 439"/>
                <a:gd name="T19" fmla="*/ 1 h 63"/>
                <a:gd name="T20" fmla="*/ 0 w 439"/>
                <a:gd name="T21" fmla="*/ 1 h 63"/>
                <a:gd name="T22" fmla="*/ 0 w 439"/>
                <a:gd name="T23" fmla="*/ 1 h 63"/>
                <a:gd name="T24" fmla="*/ 0 w 439"/>
                <a:gd name="T25" fmla="*/ 1 h 63"/>
                <a:gd name="T26" fmla="*/ 0 w 439"/>
                <a:gd name="T27" fmla="*/ 1 h 63"/>
                <a:gd name="T28" fmla="*/ 0 w 439"/>
                <a:gd name="T29" fmla="*/ 1 h 63"/>
                <a:gd name="T30" fmla="*/ 0 w 439"/>
                <a:gd name="T31" fmla="*/ 1 h 63"/>
                <a:gd name="T32" fmla="*/ 0 w 439"/>
                <a:gd name="T33" fmla="*/ 1 h 63"/>
                <a:gd name="T34" fmla="*/ 0 w 439"/>
                <a:gd name="T35" fmla="*/ 1 h 63"/>
                <a:gd name="T36" fmla="*/ 0 w 439"/>
                <a:gd name="T37" fmla="*/ 1 h 63"/>
                <a:gd name="T38" fmla="*/ 0 w 439"/>
                <a:gd name="T39" fmla="*/ 1 h 63"/>
                <a:gd name="T40" fmla="*/ 0 w 439"/>
                <a:gd name="T41" fmla="*/ 1 h 63"/>
                <a:gd name="T42" fmla="*/ 0 w 439"/>
                <a:gd name="T43" fmla="*/ 1 h 63"/>
                <a:gd name="T44" fmla="*/ 0 w 439"/>
                <a:gd name="T45" fmla="*/ 0 h 63"/>
                <a:gd name="T46" fmla="*/ 0 w 439"/>
                <a:gd name="T47" fmla="*/ 0 h 63"/>
                <a:gd name="T48" fmla="*/ 0 w 439"/>
                <a:gd name="T49" fmla="*/ 1 h 63"/>
                <a:gd name="T50" fmla="*/ 0 w 439"/>
                <a:gd name="T51" fmla="*/ 1 h 63"/>
                <a:gd name="T52" fmla="*/ 0 w 439"/>
                <a:gd name="T53" fmla="*/ 1 h 63"/>
                <a:gd name="T54" fmla="*/ 0 w 439"/>
                <a:gd name="T55" fmla="*/ 1 h 63"/>
                <a:gd name="T56" fmla="*/ 0 w 439"/>
                <a:gd name="T57" fmla="*/ 1 h 63"/>
                <a:gd name="T58" fmla="*/ 0 w 439"/>
                <a:gd name="T59" fmla="*/ 1 h 63"/>
                <a:gd name="T60" fmla="*/ 0 w 439"/>
                <a:gd name="T61" fmla="*/ 1 h 63"/>
                <a:gd name="T62" fmla="*/ 0 w 439"/>
                <a:gd name="T63" fmla="*/ 1 h 63"/>
                <a:gd name="T64" fmla="*/ 0 w 439"/>
                <a:gd name="T65" fmla="*/ 1 h 63"/>
                <a:gd name="T66" fmla="*/ 0 w 439"/>
                <a:gd name="T67" fmla="*/ 1 h 63"/>
                <a:gd name="T68" fmla="*/ 0 w 439"/>
                <a:gd name="T69" fmla="*/ 1 h 63"/>
                <a:gd name="T70" fmla="*/ 0 w 439"/>
                <a:gd name="T71" fmla="*/ 1 h 63"/>
                <a:gd name="T72" fmla="*/ 0 w 439"/>
                <a:gd name="T73" fmla="*/ 1 h 63"/>
                <a:gd name="T74" fmla="*/ 1 w 439"/>
                <a:gd name="T75" fmla="*/ 1 h 63"/>
                <a:gd name="T76" fmla="*/ 1 w 439"/>
                <a:gd name="T77" fmla="*/ 0 h 63"/>
                <a:gd name="T78" fmla="*/ 1 w 439"/>
                <a:gd name="T79" fmla="*/ 0 h 63"/>
                <a:gd name="T80" fmla="*/ 1 w 439"/>
                <a:gd name="T81" fmla="*/ 1 h 63"/>
                <a:gd name="T82" fmla="*/ 1 w 439"/>
                <a:gd name="T83" fmla="*/ 1 h 63"/>
                <a:gd name="T84" fmla="*/ 1 w 439"/>
                <a:gd name="T85" fmla="*/ 1 h 63"/>
                <a:gd name="T86" fmla="*/ 1 w 439"/>
                <a:gd name="T87" fmla="*/ 1 h 63"/>
                <a:gd name="T88" fmla="*/ 1 w 439"/>
                <a:gd name="T89" fmla="*/ 1 h 63"/>
                <a:gd name="T90" fmla="*/ 1 w 439"/>
                <a:gd name="T91" fmla="*/ 1 h 63"/>
                <a:gd name="T92" fmla="*/ 1 w 439"/>
                <a:gd name="T93" fmla="*/ 1 h 63"/>
                <a:gd name="T94" fmla="*/ 1 w 439"/>
                <a:gd name="T95" fmla="*/ 1 h 63"/>
                <a:gd name="T96" fmla="*/ 1 w 439"/>
                <a:gd name="T97" fmla="*/ 1 h 63"/>
                <a:gd name="T98" fmla="*/ 1 w 439"/>
                <a:gd name="T99" fmla="*/ 1 h 63"/>
                <a:gd name="T100" fmla="*/ 1 w 439"/>
                <a:gd name="T101" fmla="*/ 1 h 63"/>
                <a:gd name="T102" fmla="*/ 1 w 439"/>
                <a:gd name="T103" fmla="*/ 1 h 63"/>
                <a:gd name="T104" fmla="*/ 1 w 439"/>
                <a:gd name="T105" fmla="*/ 1 h 63"/>
                <a:gd name="T106" fmla="*/ 1 w 439"/>
                <a:gd name="T107" fmla="*/ 0 h 63"/>
                <a:gd name="T108" fmla="*/ 1 w 439"/>
                <a:gd name="T109" fmla="*/ 0 h 63"/>
                <a:gd name="T110" fmla="*/ 1 w 439"/>
                <a:gd name="T111" fmla="*/ 1 h 63"/>
                <a:gd name="T112" fmla="*/ 1 w 439"/>
                <a:gd name="T113" fmla="*/ 1 h 63"/>
                <a:gd name="T114" fmla="*/ 1 w 439"/>
                <a:gd name="T115" fmla="*/ 1 h 63"/>
                <a:gd name="T116" fmla="*/ 1 w 439"/>
                <a:gd name="T117" fmla="*/ 1 h 63"/>
                <a:gd name="T118" fmla="*/ 1 w 439"/>
                <a:gd name="T119" fmla="*/ 1 h 63"/>
                <a:gd name="T120" fmla="*/ 1 w 439"/>
                <a:gd name="T121" fmla="*/ 1 h 63"/>
                <a:gd name="T122" fmla="*/ 1 w 439"/>
                <a:gd name="T123" fmla="*/ 1 h 63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439"/>
                <a:gd name="T187" fmla="*/ 0 h 63"/>
                <a:gd name="T188" fmla="*/ 439 w 439"/>
                <a:gd name="T189" fmla="*/ 63 h 63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439" h="63">
                  <a:moveTo>
                    <a:pt x="0" y="63"/>
                  </a:moveTo>
                  <a:lnTo>
                    <a:pt x="0" y="56"/>
                  </a:lnTo>
                  <a:lnTo>
                    <a:pt x="0" y="50"/>
                  </a:lnTo>
                  <a:lnTo>
                    <a:pt x="2" y="45"/>
                  </a:lnTo>
                  <a:lnTo>
                    <a:pt x="4" y="38"/>
                  </a:lnTo>
                  <a:lnTo>
                    <a:pt x="5" y="33"/>
                  </a:lnTo>
                  <a:lnTo>
                    <a:pt x="9" y="28"/>
                  </a:lnTo>
                  <a:lnTo>
                    <a:pt x="14" y="20"/>
                  </a:lnTo>
                  <a:lnTo>
                    <a:pt x="18" y="15"/>
                  </a:lnTo>
                  <a:lnTo>
                    <a:pt x="23" y="11"/>
                  </a:lnTo>
                  <a:lnTo>
                    <a:pt x="26" y="8"/>
                  </a:lnTo>
                  <a:lnTo>
                    <a:pt x="32" y="5"/>
                  </a:lnTo>
                  <a:lnTo>
                    <a:pt x="37" y="3"/>
                  </a:lnTo>
                  <a:lnTo>
                    <a:pt x="42" y="1"/>
                  </a:lnTo>
                  <a:lnTo>
                    <a:pt x="47" y="0"/>
                  </a:lnTo>
                  <a:lnTo>
                    <a:pt x="53" y="0"/>
                  </a:lnTo>
                  <a:lnTo>
                    <a:pt x="58" y="0"/>
                  </a:lnTo>
                  <a:lnTo>
                    <a:pt x="63" y="0"/>
                  </a:lnTo>
                  <a:lnTo>
                    <a:pt x="68" y="1"/>
                  </a:lnTo>
                  <a:lnTo>
                    <a:pt x="74" y="3"/>
                  </a:lnTo>
                  <a:lnTo>
                    <a:pt x="79" y="6"/>
                  </a:lnTo>
                  <a:lnTo>
                    <a:pt x="84" y="8"/>
                  </a:lnTo>
                  <a:lnTo>
                    <a:pt x="88" y="11"/>
                  </a:lnTo>
                  <a:lnTo>
                    <a:pt x="93" y="16"/>
                  </a:lnTo>
                  <a:lnTo>
                    <a:pt x="100" y="25"/>
                  </a:lnTo>
                  <a:lnTo>
                    <a:pt x="102" y="30"/>
                  </a:lnTo>
                  <a:lnTo>
                    <a:pt x="105" y="35"/>
                  </a:lnTo>
                  <a:lnTo>
                    <a:pt x="107" y="40"/>
                  </a:lnTo>
                  <a:lnTo>
                    <a:pt x="109" y="46"/>
                  </a:lnTo>
                  <a:lnTo>
                    <a:pt x="109" y="51"/>
                  </a:lnTo>
                  <a:lnTo>
                    <a:pt x="110" y="58"/>
                  </a:lnTo>
                  <a:lnTo>
                    <a:pt x="110" y="63"/>
                  </a:lnTo>
                  <a:lnTo>
                    <a:pt x="110" y="56"/>
                  </a:lnTo>
                  <a:lnTo>
                    <a:pt x="110" y="50"/>
                  </a:lnTo>
                  <a:lnTo>
                    <a:pt x="112" y="45"/>
                  </a:lnTo>
                  <a:lnTo>
                    <a:pt x="114" y="38"/>
                  </a:lnTo>
                  <a:lnTo>
                    <a:pt x="116" y="33"/>
                  </a:lnTo>
                  <a:lnTo>
                    <a:pt x="117" y="28"/>
                  </a:lnTo>
                  <a:lnTo>
                    <a:pt x="124" y="20"/>
                  </a:lnTo>
                  <a:lnTo>
                    <a:pt x="128" y="15"/>
                  </a:lnTo>
                  <a:lnTo>
                    <a:pt x="131" y="11"/>
                  </a:lnTo>
                  <a:lnTo>
                    <a:pt x="137" y="8"/>
                  </a:lnTo>
                  <a:lnTo>
                    <a:pt x="142" y="5"/>
                  </a:lnTo>
                  <a:lnTo>
                    <a:pt x="145" y="3"/>
                  </a:lnTo>
                  <a:lnTo>
                    <a:pt x="151" y="1"/>
                  </a:lnTo>
                  <a:lnTo>
                    <a:pt x="156" y="0"/>
                  </a:lnTo>
                  <a:lnTo>
                    <a:pt x="163" y="0"/>
                  </a:lnTo>
                  <a:lnTo>
                    <a:pt x="168" y="0"/>
                  </a:lnTo>
                  <a:lnTo>
                    <a:pt x="173" y="0"/>
                  </a:lnTo>
                  <a:lnTo>
                    <a:pt x="179" y="1"/>
                  </a:lnTo>
                  <a:lnTo>
                    <a:pt x="184" y="3"/>
                  </a:lnTo>
                  <a:lnTo>
                    <a:pt x="189" y="6"/>
                  </a:lnTo>
                  <a:lnTo>
                    <a:pt x="192" y="8"/>
                  </a:lnTo>
                  <a:lnTo>
                    <a:pt x="198" y="11"/>
                  </a:lnTo>
                  <a:lnTo>
                    <a:pt x="201" y="16"/>
                  </a:lnTo>
                  <a:lnTo>
                    <a:pt x="208" y="25"/>
                  </a:lnTo>
                  <a:lnTo>
                    <a:pt x="212" y="30"/>
                  </a:lnTo>
                  <a:lnTo>
                    <a:pt x="213" y="35"/>
                  </a:lnTo>
                  <a:lnTo>
                    <a:pt x="217" y="40"/>
                  </a:lnTo>
                  <a:lnTo>
                    <a:pt x="217" y="46"/>
                  </a:lnTo>
                  <a:lnTo>
                    <a:pt x="219" y="51"/>
                  </a:lnTo>
                  <a:lnTo>
                    <a:pt x="219" y="58"/>
                  </a:lnTo>
                  <a:lnTo>
                    <a:pt x="219" y="63"/>
                  </a:lnTo>
                  <a:lnTo>
                    <a:pt x="219" y="56"/>
                  </a:lnTo>
                  <a:lnTo>
                    <a:pt x="220" y="50"/>
                  </a:lnTo>
                  <a:lnTo>
                    <a:pt x="220" y="45"/>
                  </a:lnTo>
                  <a:lnTo>
                    <a:pt x="222" y="38"/>
                  </a:lnTo>
                  <a:lnTo>
                    <a:pt x="226" y="33"/>
                  </a:lnTo>
                  <a:lnTo>
                    <a:pt x="227" y="28"/>
                  </a:lnTo>
                  <a:lnTo>
                    <a:pt x="234" y="20"/>
                  </a:lnTo>
                  <a:lnTo>
                    <a:pt x="238" y="15"/>
                  </a:lnTo>
                  <a:lnTo>
                    <a:pt x="241" y="11"/>
                  </a:lnTo>
                  <a:lnTo>
                    <a:pt x="247" y="8"/>
                  </a:lnTo>
                  <a:lnTo>
                    <a:pt x="250" y="5"/>
                  </a:lnTo>
                  <a:lnTo>
                    <a:pt x="255" y="3"/>
                  </a:lnTo>
                  <a:lnTo>
                    <a:pt x="261" y="1"/>
                  </a:lnTo>
                  <a:lnTo>
                    <a:pt x="266" y="0"/>
                  </a:lnTo>
                  <a:lnTo>
                    <a:pt x="271" y="0"/>
                  </a:lnTo>
                  <a:lnTo>
                    <a:pt x="278" y="0"/>
                  </a:lnTo>
                  <a:lnTo>
                    <a:pt x="283" y="0"/>
                  </a:lnTo>
                  <a:lnTo>
                    <a:pt x="289" y="1"/>
                  </a:lnTo>
                  <a:lnTo>
                    <a:pt x="294" y="3"/>
                  </a:lnTo>
                  <a:lnTo>
                    <a:pt x="299" y="6"/>
                  </a:lnTo>
                  <a:lnTo>
                    <a:pt x="303" y="8"/>
                  </a:lnTo>
                  <a:lnTo>
                    <a:pt x="308" y="11"/>
                  </a:lnTo>
                  <a:lnTo>
                    <a:pt x="311" y="16"/>
                  </a:lnTo>
                  <a:lnTo>
                    <a:pt x="318" y="25"/>
                  </a:lnTo>
                  <a:lnTo>
                    <a:pt x="322" y="30"/>
                  </a:lnTo>
                  <a:lnTo>
                    <a:pt x="324" y="35"/>
                  </a:lnTo>
                  <a:lnTo>
                    <a:pt x="325" y="40"/>
                  </a:lnTo>
                  <a:lnTo>
                    <a:pt x="327" y="46"/>
                  </a:lnTo>
                  <a:lnTo>
                    <a:pt x="329" y="51"/>
                  </a:lnTo>
                  <a:lnTo>
                    <a:pt x="329" y="58"/>
                  </a:lnTo>
                  <a:lnTo>
                    <a:pt x="329" y="63"/>
                  </a:lnTo>
                  <a:lnTo>
                    <a:pt x="329" y="56"/>
                  </a:lnTo>
                  <a:lnTo>
                    <a:pt x="329" y="50"/>
                  </a:lnTo>
                  <a:lnTo>
                    <a:pt x="331" y="45"/>
                  </a:lnTo>
                  <a:lnTo>
                    <a:pt x="332" y="38"/>
                  </a:lnTo>
                  <a:lnTo>
                    <a:pt x="334" y="33"/>
                  </a:lnTo>
                  <a:lnTo>
                    <a:pt x="338" y="28"/>
                  </a:lnTo>
                  <a:lnTo>
                    <a:pt x="343" y="20"/>
                  </a:lnTo>
                  <a:lnTo>
                    <a:pt x="346" y="15"/>
                  </a:lnTo>
                  <a:lnTo>
                    <a:pt x="352" y="11"/>
                  </a:lnTo>
                  <a:lnTo>
                    <a:pt x="355" y="8"/>
                  </a:lnTo>
                  <a:lnTo>
                    <a:pt x="360" y="5"/>
                  </a:lnTo>
                  <a:lnTo>
                    <a:pt x="366" y="3"/>
                  </a:lnTo>
                  <a:lnTo>
                    <a:pt x="371" y="1"/>
                  </a:lnTo>
                  <a:lnTo>
                    <a:pt x="376" y="0"/>
                  </a:lnTo>
                  <a:lnTo>
                    <a:pt x="381" y="0"/>
                  </a:lnTo>
                  <a:lnTo>
                    <a:pt x="386" y="0"/>
                  </a:lnTo>
                  <a:lnTo>
                    <a:pt x="392" y="0"/>
                  </a:lnTo>
                  <a:lnTo>
                    <a:pt x="397" y="1"/>
                  </a:lnTo>
                  <a:lnTo>
                    <a:pt x="402" y="3"/>
                  </a:lnTo>
                  <a:lnTo>
                    <a:pt x="407" y="6"/>
                  </a:lnTo>
                  <a:lnTo>
                    <a:pt x="413" y="8"/>
                  </a:lnTo>
                  <a:lnTo>
                    <a:pt x="416" y="11"/>
                  </a:lnTo>
                  <a:lnTo>
                    <a:pt x="421" y="16"/>
                  </a:lnTo>
                  <a:lnTo>
                    <a:pt x="428" y="25"/>
                  </a:lnTo>
                  <a:lnTo>
                    <a:pt x="430" y="30"/>
                  </a:lnTo>
                  <a:lnTo>
                    <a:pt x="434" y="35"/>
                  </a:lnTo>
                  <a:lnTo>
                    <a:pt x="435" y="40"/>
                  </a:lnTo>
                  <a:lnTo>
                    <a:pt x="437" y="46"/>
                  </a:lnTo>
                  <a:lnTo>
                    <a:pt x="437" y="51"/>
                  </a:lnTo>
                  <a:lnTo>
                    <a:pt x="439" y="58"/>
                  </a:lnTo>
                  <a:lnTo>
                    <a:pt x="439" y="6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" name="Rectangle 259"/>
            <p:cNvSpPr>
              <a:spLocks noChangeArrowheads="1"/>
            </p:cNvSpPr>
            <p:nvPr/>
          </p:nvSpPr>
          <p:spPr bwMode="auto">
            <a:xfrm>
              <a:off x="4632" y="993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316" name="Rectangle 260"/>
            <p:cNvSpPr>
              <a:spLocks noChangeArrowheads="1"/>
            </p:cNvSpPr>
            <p:nvPr/>
          </p:nvSpPr>
          <p:spPr bwMode="auto">
            <a:xfrm>
              <a:off x="4575" y="956"/>
              <a:ext cx="6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317" name="Rectangle 261"/>
            <p:cNvSpPr>
              <a:spLocks noChangeArrowheads="1"/>
            </p:cNvSpPr>
            <p:nvPr/>
          </p:nvSpPr>
          <p:spPr bwMode="auto">
            <a:xfrm>
              <a:off x="4633" y="1578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318" name="Rectangle 262"/>
            <p:cNvSpPr>
              <a:spLocks noChangeArrowheads="1"/>
            </p:cNvSpPr>
            <p:nvPr/>
          </p:nvSpPr>
          <p:spPr bwMode="auto">
            <a:xfrm>
              <a:off x="4576" y="1538"/>
              <a:ext cx="6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319" name="Rectangle 263"/>
            <p:cNvSpPr>
              <a:spLocks noChangeArrowheads="1"/>
            </p:cNvSpPr>
            <p:nvPr/>
          </p:nvSpPr>
          <p:spPr bwMode="auto">
            <a:xfrm>
              <a:off x="4300" y="1235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320" name="Rectangle 264"/>
            <p:cNvSpPr>
              <a:spLocks noChangeArrowheads="1"/>
            </p:cNvSpPr>
            <p:nvPr/>
          </p:nvSpPr>
          <p:spPr bwMode="auto">
            <a:xfrm>
              <a:off x="4250" y="1197"/>
              <a:ext cx="59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321" name="Rectangle 265"/>
            <p:cNvSpPr>
              <a:spLocks noChangeArrowheads="1"/>
            </p:cNvSpPr>
            <p:nvPr/>
          </p:nvSpPr>
          <p:spPr bwMode="auto">
            <a:xfrm>
              <a:off x="4510" y="1277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322" name="Rectangle 266"/>
            <p:cNvSpPr>
              <a:spLocks noChangeArrowheads="1"/>
            </p:cNvSpPr>
            <p:nvPr/>
          </p:nvSpPr>
          <p:spPr bwMode="auto">
            <a:xfrm>
              <a:off x="4453" y="1236"/>
              <a:ext cx="59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323" name="Freeform 267"/>
            <p:cNvSpPr>
              <a:spLocks noEditPoints="1"/>
            </p:cNvSpPr>
            <p:nvPr/>
          </p:nvSpPr>
          <p:spPr bwMode="auto">
            <a:xfrm>
              <a:off x="4033" y="1658"/>
              <a:ext cx="14" cy="118"/>
            </a:xfrm>
            <a:custGeom>
              <a:avLst/>
              <a:gdLst>
                <a:gd name="T0" fmla="*/ 1 w 28"/>
                <a:gd name="T1" fmla="*/ 1 h 235"/>
                <a:gd name="T2" fmla="*/ 1 w 28"/>
                <a:gd name="T3" fmla="*/ 1 h 235"/>
                <a:gd name="T4" fmla="*/ 1 w 28"/>
                <a:gd name="T5" fmla="*/ 1 h 235"/>
                <a:gd name="T6" fmla="*/ 0 w 28"/>
                <a:gd name="T7" fmla="*/ 1 h 235"/>
                <a:gd name="T8" fmla="*/ 0 w 28"/>
                <a:gd name="T9" fmla="*/ 1 h 235"/>
                <a:gd name="T10" fmla="*/ 1 w 28"/>
                <a:gd name="T11" fmla="*/ 1 h 235"/>
                <a:gd name="T12" fmla="*/ 1 w 28"/>
                <a:gd name="T13" fmla="*/ 1 h 235"/>
                <a:gd name="T14" fmla="*/ 1 w 28"/>
                <a:gd name="T15" fmla="*/ 1 h 235"/>
                <a:gd name="T16" fmla="*/ 1 w 28"/>
                <a:gd name="T17" fmla="*/ 1 h 235"/>
                <a:gd name="T18" fmla="*/ 1 w 28"/>
                <a:gd name="T19" fmla="*/ 1 h 235"/>
                <a:gd name="T20" fmla="*/ 1 w 28"/>
                <a:gd name="T21" fmla="*/ 1 h 235"/>
                <a:gd name="T22" fmla="*/ 1 w 28"/>
                <a:gd name="T23" fmla="*/ 1 h 235"/>
                <a:gd name="T24" fmla="*/ 1 w 28"/>
                <a:gd name="T25" fmla="*/ 1 h 235"/>
                <a:gd name="T26" fmla="*/ 1 w 28"/>
                <a:gd name="T27" fmla="*/ 1 h 235"/>
                <a:gd name="T28" fmla="*/ 1 w 28"/>
                <a:gd name="T29" fmla="*/ 1 h 235"/>
                <a:gd name="T30" fmla="*/ 1 w 28"/>
                <a:gd name="T31" fmla="*/ 1 h 235"/>
                <a:gd name="T32" fmla="*/ 1 w 28"/>
                <a:gd name="T33" fmla="*/ 1 h 235"/>
                <a:gd name="T34" fmla="*/ 1 w 28"/>
                <a:gd name="T35" fmla="*/ 1 h 235"/>
                <a:gd name="T36" fmla="*/ 1 w 28"/>
                <a:gd name="T37" fmla="*/ 0 h 235"/>
                <a:gd name="T38" fmla="*/ 1 w 28"/>
                <a:gd name="T39" fmla="*/ 1 h 235"/>
                <a:gd name="T40" fmla="*/ 1 w 28"/>
                <a:gd name="T41" fmla="*/ 1 h 235"/>
                <a:gd name="T42" fmla="*/ 0 w 28"/>
                <a:gd name="T43" fmla="*/ 1 h 235"/>
                <a:gd name="T44" fmla="*/ 0 w 28"/>
                <a:gd name="T45" fmla="*/ 1 h 235"/>
                <a:gd name="T46" fmla="*/ 1 w 28"/>
                <a:gd name="T47" fmla="*/ 1 h 235"/>
                <a:gd name="T48" fmla="*/ 1 w 28"/>
                <a:gd name="T49" fmla="*/ 1 h 235"/>
                <a:gd name="T50" fmla="*/ 1 w 28"/>
                <a:gd name="T51" fmla="*/ 1 h 235"/>
                <a:gd name="T52" fmla="*/ 1 w 28"/>
                <a:gd name="T53" fmla="*/ 1 h 235"/>
                <a:gd name="T54" fmla="*/ 1 w 28"/>
                <a:gd name="T55" fmla="*/ 1 h 235"/>
                <a:gd name="T56" fmla="*/ 1 w 28"/>
                <a:gd name="T57" fmla="*/ 1 h 235"/>
                <a:gd name="T58" fmla="*/ 1 w 28"/>
                <a:gd name="T59" fmla="*/ 1 h 235"/>
                <a:gd name="T60" fmla="*/ 1 w 28"/>
                <a:gd name="T61" fmla="*/ 1 h 235"/>
                <a:gd name="T62" fmla="*/ 1 w 28"/>
                <a:gd name="T63" fmla="*/ 1 h 235"/>
                <a:gd name="T64" fmla="*/ 1 w 28"/>
                <a:gd name="T65" fmla="*/ 1 h 235"/>
                <a:gd name="T66" fmla="*/ 1 w 28"/>
                <a:gd name="T67" fmla="*/ 1 h 235"/>
                <a:gd name="T68" fmla="*/ 1 w 28"/>
                <a:gd name="T69" fmla="*/ 0 h 235"/>
                <a:gd name="T70" fmla="*/ 1 w 28"/>
                <a:gd name="T71" fmla="*/ 0 h 23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8"/>
                <a:gd name="T109" fmla="*/ 0 h 235"/>
                <a:gd name="T110" fmla="*/ 28 w 28"/>
                <a:gd name="T111" fmla="*/ 235 h 23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8" h="235">
                  <a:moveTo>
                    <a:pt x="14" y="209"/>
                  </a:moveTo>
                  <a:lnTo>
                    <a:pt x="11" y="209"/>
                  </a:lnTo>
                  <a:lnTo>
                    <a:pt x="9" y="210"/>
                  </a:lnTo>
                  <a:lnTo>
                    <a:pt x="6" y="212"/>
                  </a:lnTo>
                  <a:lnTo>
                    <a:pt x="4" y="214"/>
                  </a:lnTo>
                  <a:lnTo>
                    <a:pt x="2" y="215"/>
                  </a:lnTo>
                  <a:lnTo>
                    <a:pt x="2" y="217"/>
                  </a:lnTo>
                  <a:lnTo>
                    <a:pt x="0" y="220"/>
                  </a:lnTo>
                  <a:lnTo>
                    <a:pt x="0" y="222"/>
                  </a:lnTo>
                  <a:lnTo>
                    <a:pt x="0" y="225"/>
                  </a:lnTo>
                  <a:lnTo>
                    <a:pt x="2" y="227"/>
                  </a:lnTo>
                  <a:lnTo>
                    <a:pt x="2" y="229"/>
                  </a:lnTo>
                  <a:lnTo>
                    <a:pt x="4" y="232"/>
                  </a:lnTo>
                  <a:lnTo>
                    <a:pt x="6" y="234"/>
                  </a:lnTo>
                  <a:lnTo>
                    <a:pt x="9" y="234"/>
                  </a:lnTo>
                  <a:lnTo>
                    <a:pt x="11" y="235"/>
                  </a:lnTo>
                  <a:lnTo>
                    <a:pt x="14" y="235"/>
                  </a:lnTo>
                  <a:lnTo>
                    <a:pt x="16" y="235"/>
                  </a:lnTo>
                  <a:lnTo>
                    <a:pt x="20" y="234"/>
                  </a:lnTo>
                  <a:lnTo>
                    <a:pt x="21" y="234"/>
                  </a:lnTo>
                  <a:lnTo>
                    <a:pt x="23" y="232"/>
                  </a:lnTo>
                  <a:lnTo>
                    <a:pt x="25" y="229"/>
                  </a:lnTo>
                  <a:lnTo>
                    <a:pt x="26" y="227"/>
                  </a:lnTo>
                  <a:lnTo>
                    <a:pt x="26" y="225"/>
                  </a:lnTo>
                  <a:lnTo>
                    <a:pt x="28" y="222"/>
                  </a:lnTo>
                  <a:lnTo>
                    <a:pt x="26" y="220"/>
                  </a:lnTo>
                  <a:lnTo>
                    <a:pt x="26" y="217"/>
                  </a:lnTo>
                  <a:lnTo>
                    <a:pt x="25" y="215"/>
                  </a:lnTo>
                  <a:lnTo>
                    <a:pt x="23" y="214"/>
                  </a:lnTo>
                  <a:lnTo>
                    <a:pt x="21" y="212"/>
                  </a:lnTo>
                  <a:lnTo>
                    <a:pt x="20" y="210"/>
                  </a:lnTo>
                  <a:lnTo>
                    <a:pt x="16" y="209"/>
                  </a:lnTo>
                  <a:lnTo>
                    <a:pt x="14" y="209"/>
                  </a:lnTo>
                  <a:close/>
                  <a:moveTo>
                    <a:pt x="14" y="0"/>
                  </a:moveTo>
                  <a:lnTo>
                    <a:pt x="11" y="0"/>
                  </a:lnTo>
                  <a:lnTo>
                    <a:pt x="9" y="1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5"/>
                  </a:lnTo>
                  <a:lnTo>
                    <a:pt x="2" y="8"/>
                  </a:lnTo>
                  <a:lnTo>
                    <a:pt x="0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9" y="25"/>
                  </a:lnTo>
                  <a:lnTo>
                    <a:pt x="11" y="25"/>
                  </a:lnTo>
                  <a:lnTo>
                    <a:pt x="14" y="26"/>
                  </a:lnTo>
                  <a:lnTo>
                    <a:pt x="16" y="25"/>
                  </a:lnTo>
                  <a:lnTo>
                    <a:pt x="20" y="25"/>
                  </a:lnTo>
                  <a:lnTo>
                    <a:pt x="21" y="23"/>
                  </a:lnTo>
                  <a:lnTo>
                    <a:pt x="23" y="21"/>
                  </a:lnTo>
                  <a:lnTo>
                    <a:pt x="25" y="20"/>
                  </a:lnTo>
                  <a:lnTo>
                    <a:pt x="26" y="18"/>
                  </a:lnTo>
                  <a:lnTo>
                    <a:pt x="26" y="15"/>
                  </a:lnTo>
                  <a:lnTo>
                    <a:pt x="28" y="13"/>
                  </a:lnTo>
                  <a:lnTo>
                    <a:pt x="26" y="10"/>
                  </a:lnTo>
                  <a:lnTo>
                    <a:pt x="26" y="8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6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4" name="Freeform 268"/>
            <p:cNvSpPr>
              <a:spLocks/>
            </p:cNvSpPr>
            <p:nvPr/>
          </p:nvSpPr>
          <p:spPr bwMode="auto">
            <a:xfrm>
              <a:off x="4033" y="1763"/>
              <a:ext cx="14" cy="13"/>
            </a:xfrm>
            <a:custGeom>
              <a:avLst/>
              <a:gdLst>
                <a:gd name="T0" fmla="*/ 1 w 28"/>
                <a:gd name="T1" fmla="*/ 0 h 26"/>
                <a:gd name="T2" fmla="*/ 1 w 28"/>
                <a:gd name="T3" fmla="*/ 0 h 26"/>
                <a:gd name="T4" fmla="*/ 1 w 28"/>
                <a:gd name="T5" fmla="*/ 1 h 26"/>
                <a:gd name="T6" fmla="*/ 1 w 28"/>
                <a:gd name="T7" fmla="*/ 1 h 26"/>
                <a:gd name="T8" fmla="*/ 1 w 28"/>
                <a:gd name="T9" fmla="*/ 1 h 26"/>
                <a:gd name="T10" fmla="*/ 1 w 28"/>
                <a:gd name="T11" fmla="*/ 1 h 26"/>
                <a:gd name="T12" fmla="*/ 1 w 28"/>
                <a:gd name="T13" fmla="*/ 1 h 26"/>
                <a:gd name="T14" fmla="*/ 0 w 28"/>
                <a:gd name="T15" fmla="*/ 1 h 26"/>
                <a:gd name="T16" fmla="*/ 0 w 28"/>
                <a:gd name="T17" fmla="*/ 1 h 26"/>
                <a:gd name="T18" fmla="*/ 0 w 28"/>
                <a:gd name="T19" fmla="*/ 1 h 26"/>
                <a:gd name="T20" fmla="*/ 1 w 28"/>
                <a:gd name="T21" fmla="*/ 1 h 26"/>
                <a:gd name="T22" fmla="*/ 1 w 28"/>
                <a:gd name="T23" fmla="*/ 1 h 26"/>
                <a:gd name="T24" fmla="*/ 1 w 28"/>
                <a:gd name="T25" fmla="*/ 1 h 26"/>
                <a:gd name="T26" fmla="*/ 1 w 28"/>
                <a:gd name="T27" fmla="*/ 1 h 26"/>
                <a:gd name="T28" fmla="*/ 1 w 28"/>
                <a:gd name="T29" fmla="*/ 1 h 26"/>
                <a:gd name="T30" fmla="*/ 1 w 28"/>
                <a:gd name="T31" fmla="*/ 1 h 26"/>
                <a:gd name="T32" fmla="*/ 1 w 28"/>
                <a:gd name="T33" fmla="*/ 1 h 26"/>
                <a:gd name="T34" fmla="*/ 1 w 28"/>
                <a:gd name="T35" fmla="*/ 1 h 26"/>
                <a:gd name="T36" fmla="*/ 1 w 28"/>
                <a:gd name="T37" fmla="*/ 1 h 26"/>
                <a:gd name="T38" fmla="*/ 1 w 28"/>
                <a:gd name="T39" fmla="*/ 1 h 26"/>
                <a:gd name="T40" fmla="*/ 1 w 28"/>
                <a:gd name="T41" fmla="*/ 1 h 26"/>
                <a:gd name="T42" fmla="*/ 1 w 28"/>
                <a:gd name="T43" fmla="*/ 1 h 26"/>
                <a:gd name="T44" fmla="*/ 1 w 28"/>
                <a:gd name="T45" fmla="*/ 1 h 26"/>
                <a:gd name="T46" fmla="*/ 1 w 28"/>
                <a:gd name="T47" fmla="*/ 1 h 26"/>
                <a:gd name="T48" fmla="*/ 1 w 28"/>
                <a:gd name="T49" fmla="*/ 1 h 26"/>
                <a:gd name="T50" fmla="*/ 1 w 28"/>
                <a:gd name="T51" fmla="*/ 1 h 26"/>
                <a:gd name="T52" fmla="*/ 1 w 28"/>
                <a:gd name="T53" fmla="*/ 1 h 26"/>
                <a:gd name="T54" fmla="*/ 1 w 28"/>
                <a:gd name="T55" fmla="*/ 1 h 26"/>
                <a:gd name="T56" fmla="*/ 1 w 28"/>
                <a:gd name="T57" fmla="*/ 1 h 26"/>
                <a:gd name="T58" fmla="*/ 1 w 28"/>
                <a:gd name="T59" fmla="*/ 1 h 26"/>
                <a:gd name="T60" fmla="*/ 1 w 28"/>
                <a:gd name="T61" fmla="*/ 1 h 26"/>
                <a:gd name="T62" fmla="*/ 1 w 28"/>
                <a:gd name="T63" fmla="*/ 1 h 26"/>
                <a:gd name="T64" fmla="*/ 1 w 28"/>
                <a:gd name="T65" fmla="*/ 0 h 26"/>
                <a:gd name="T66" fmla="*/ 1 w 28"/>
                <a:gd name="T67" fmla="*/ 0 h 26"/>
                <a:gd name="T68" fmla="*/ 1 w 28"/>
                <a:gd name="T69" fmla="*/ 0 h 2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6"/>
                <a:gd name="T107" fmla="*/ 28 w 28"/>
                <a:gd name="T108" fmla="*/ 26 h 2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6">
                  <a:moveTo>
                    <a:pt x="14" y="0"/>
                  </a:moveTo>
                  <a:lnTo>
                    <a:pt x="11" y="0"/>
                  </a:lnTo>
                  <a:lnTo>
                    <a:pt x="9" y="1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6"/>
                  </a:lnTo>
                  <a:lnTo>
                    <a:pt x="2" y="8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6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4" y="23"/>
                  </a:lnTo>
                  <a:lnTo>
                    <a:pt x="6" y="25"/>
                  </a:lnTo>
                  <a:lnTo>
                    <a:pt x="9" y="25"/>
                  </a:lnTo>
                  <a:lnTo>
                    <a:pt x="11" y="26"/>
                  </a:lnTo>
                  <a:lnTo>
                    <a:pt x="14" y="26"/>
                  </a:lnTo>
                  <a:lnTo>
                    <a:pt x="16" y="26"/>
                  </a:lnTo>
                  <a:lnTo>
                    <a:pt x="20" y="25"/>
                  </a:lnTo>
                  <a:lnTo>
                    <a:pt x="21" y="25"/>
                  </a:lnTo>
                  <a:lnTo>
                    <a:pt x="23" y="23"/>
                  </a:lnTo>
                  <a:lnTo>
                    <a:pt x="25" y="20"/>
                  </a:lnTo>
                  <a:lnTo>
                    <a:pt x="26" y="18"/>
                  </a:lnTo>
                  <a:lnTo>
                    <a:pt x="26" y="16"/>
                  </a:lnTo>
                  <a:lnTo>
                    <a:pt x="28" y="13"/>
                  </a:lnTo>
                  <a:lnTo>
                    <a:pt x="26" y="11"/>
                  </a:lnTo>
                  <a:lnTo>
                    <a:pt x="26" y="8"/>
                  </a:lnTo>
                  <a:lnTo>
                    <a:pt x="25" y="6"/>
                  </a:lnTo>
                  <a:lnTo>
                    <a:pt x="23" y="5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6" y="0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5" name="Freeform 269"/>
            <p:cNvSpPr>
              <a:spLocks/>
            </p:cNvSpPr>
            <p:nvPr/>
          </p:nvSpPr>
          <p:spPr bwMode="auto">
            <a:xfrm>
              <a:off x="4033" y="1658"/>
              <a:ext cx="14" cy="14"/>
            </a:xfrm>
            <a:custGeom>
              <a:avLst/>
              <a:gdLst>
                <a:gd name="T0" fmla="*/ 1 w 28"/>
                <a:gd name="T1" fmla="*/ 0 h 26"/>
                <a:gd name="T2" fmla="*/ 1 w 28"/>
                <a:gd name="T3" fmla="*/ 0 h 26"/>
                <a:gd name="T4" fmla="*/ 1 w 28"/>
                <a:gd name="T5" fmla="*/ 1 h 26"/>
                <a:gd name="T6" fmla="*/ 1 w 28"/>
                <a:gd name="T7" fmla="*/ 1 h 26"/>
                <a:gd name="T8" fmla="*/ 1 w 28"/>
                <a:gd name="T9" fmla="*/ 1 h 26"/>
                <a:gd name="T10" fmla="*/ 1 w 28"/>
                <a:gd name="T11" fmla="*/ 1 h 26"/>
                <a:gd name="T12" fmla="*/ 1 w 28"/>
                <a:gd name="T13" fmla="*/ 1 h 26"/>
                <a:gd name="T14" fmla="*/ 0 w 28"/>
                <a:gd name="T15" fmla="*/ 1 h 26"/>
                <a:gd name="T16" fmla="*/ 0 w 28"/>
                <a:gd name="T17" fmla="*/ 1 h 26"/>
                <a:gd name="T18" fmla="*/ 0 w 28"/>
                <a:gd name="T19" fmla="*/ 1 h 26"/>
                <a:gd name="T20" fmla="*/ 1 w 28"/>
                <a:gd name="T21" fmla="*/ 1 h 26"/>
                <a:gd name="T22" fmla="*/ 1 w 28"/>
                <a:gd name="T23" fmla="*/ 1 h 26"/>
                <a:gd name="T24" fmla="*/ 1 w 28"/>
                <a:gd name="T25" fmla="*/ 1 h 26"/>
                <a:gd name="T26" fmla="*/ 1 w 28"/>
                <a:gd name="T27" fmla="*/ 1 h 26"/>
                <a:gd name="T28" fmla="*/ 1 w 28"/>
                <a:gd name="T29" fmla="*/ 1 h 26"/>
                <a:gd name="T30" fmla="*/ 1 w 28"/>
                <a:gd name="T31" fmla="*/ 1 h 26"/>
                <a:gd name="T32" fmla="*/ 1 w 28"/>
                <a:gd name="T33" fmla="*/ 1 h 26"/>
                <a:gd name="T34" fmla="*/ 1 w 28"/>
                <a:gd name="T35" fmla="*/ 1 h 26"/>
                <a:gd name="T36" fmla="*/ 1 w 28"/>
                <a:gd name="T37" fmla="*/ 1 h 26"/>
                <a:gd name="T38" fmla="*/ 1 w 28"/>
                <a:gd name="T39" fmla="*/ 1 h 26"/>
                <a:gd name="T40" fmla="*/ 1 w 28"/>
                <a:gd name="T41" fmla="*/ 1 h 26"/>
                <a:gd name="T42" fmla="*/ 1 w 28"/>
                <a:gd name="T43" fmla="*/ 1 h 26"/>
                <a:gd name="T44" fmla="*/ 1 w 28"/>
                <a:gd name="T45" fmla="*/ 1 h 26"/>
                <a:gd name="T46" fmla="*/ 1 w 28"/>
                <a:gd name="T47" fmla="*/ 1 h 26"/>
                <a:gd name="T48" fmla="*/ 1 w 28"/>
                <a:gd name="T49" fmla="*/ 1 h 26"/>
                <a:gd name="T50" fmla="*/ 1 w 28"/>
                <a:gd name="T51" fmla="*/ 1 h 26"/>
                <a:gd name="T52" fmla="*/ 1 w 28"/>
                <a:gd name="T53" fmla="*/ 1 h 26"/>
                <a:gd name="T54" fmla="*/ 1 w 28"/>
                <a:gd name="T55" fmla="*/ 1 h 26"/>
                <a:gd name="T56" fmla="*/ 1 w 28"/>
                <a:gd name="T57" fmla="*/ 1 h 26"/>
                <a:gd name="T58" fmla="*/ 1 w 28"/>
                <a:gd name="T59" fmla="*/ 1 h 26"/>
                <a:gd name="T60" fmla="*/ 1 w 28"/>
                <a:gd name="T61" fmla="*/ 1 h 26"/>
                <a:gd name="T62" fmla="*/ 1 w 28"/>
                <a:gd name="T63" fmla="*/ 1 h 26"/>
                <a:gd name="T64" fmla="*/ 1 w 28"/>
                <a:gd name="T65" fmla="*/ 0 h 26"/>
                <a:gd name="T66" fmla="*/ 1 w 28"/>
                <a:gd name="T67" fmla="*/ 0 h 26"/>
                <a:gd name="T68" fmla="*/ 1 w 28"/>
                <a:gd name="T69" fmla="*/ 0 h 2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6"/>
                <a:gd name="T107" fmla="*/ 28 w 28"/>
                <a:gd name="T108" fmla="*/ 26 h 2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6">
                  <a:moveTo>
                    <a:pt x="14" y="0"/>
                  </a:moveTo>
                  <a:lnTo>
                    <a:pt x="11" y="0"/>
                  </a:lnTo>
                  <a:lnTo>
                    <a:pt x="9" y="1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5"/>
                  </a:lnTo>
                  <a:lnTo>
                    <a:pt x="2" y="8"/>
                  </a:lnTo>
                  <a:lnTo>
                    <a:pt x="0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9" y="25"/>
                  </a:lnTo>
                  <a:lnTo>
                    <a:pt x="11" y="25"/>
                  </a:lnTo>
                  <a:lnTo>
                    <a:pt x="14" y="26"/>
                  </a:lnTo>
                  <a:lnTo>
                    <a:pt x="16" y="25"/>
                  </a:lnTo>
                  <a:lnTo>
                    <a:pt x="20" y="25"/>
                  </a:lnTo>
                  <a:lnTo>
                    <a:pt x="21" y="23"/>
                  </a:lnTo>
                  <a:lnTo>
                    <a:pt x="23" y="21"/>
                  </a:lnTo>
                  <a:lnTo>
                    <a:pt x="25" y="20"/>
                  </a:lnTo>
                  <a:lnTo>
                    <a:pt x="26" y="18"/>
                  </a:lnTo>
                  <a:lnTo>
                    <a:pt x="26" y="15"/>
                  </a:lnTo>
                  <a:lnTo>
                    <a:pt x="28" y="13"/>
                  </a:lnTo>
                  <a:lnTo>
                    <a:pt x="26" y="10"/>
                  </a:lnTo>
                  <a:lnTo>
                    <a:pt x="26" y="8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6" y="0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" name="Line 270"/>
            <p:cNvSpPr>
              <a:spLocks noChangeShapeType="1"/>
            </p:cNvSpPr>
            <p:nvPr/>
          </p:nvSpPr>
          <p:spPr bwMode="auto">
            <a:xfrm>
              <a:off x="4042" y="1671"/>
              <a:ext cx="32" cy="8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" name="Freeform 271"/>
            <p:cNvSpPr>
              <a:spLocks/>
            </p:cNvSpPr>
            <p:nvPr/>
          </p:nvSpPr>
          <p:spPr bwMode="auto">
            <a:xfrm>
              <a:off x="4399" y="1392"/>
              <a:ext cx="32" cy="210"/>
            </a:xfrm>
            <a:custGeom>
              <a:avLst/>
              <a:gdLst>
                <a:gd name="T0" fmla="*/ 1 w 64"/>
                <a:gd name="T1" fmla="*/ 0 h 420"/>
                <a:gd name="T2" fmla="*/ 1 w 64"/>
                <a:gd name="T3" fmla="*/ 1 h 420"/>
                <a:gd name="T4" fmla="*/ 1 w 64"/>
                <a:gd name="T5" fmla="*/ 1 h 420"/>
                <a:gd name="T6" fmla="*/ 1 w 64"/>
                <a:gd name="T7" fmla="*/ 1 h 420"/>
                <a:gd name="T8" fmla="*/ 1 w 64"/>
                <a:gd name="T9" fmla="*/ 1 h 420"/>
                <a:gd name="T10" fmla="*/ 1 w 64"/>
                <a:gd name="T11" fmla="*/ 1 h 420"/>
                <a:gd name="T12" fmla="*/ 1 w 64"/>
                <a:gd name="T13" fmla="*/ 1 h 420"/>
                <a:gd name="T14" fmla="*/ 0 w 64"/>
                <a:gd name="T15" fmla="*/ 1 h 420"/>
                <a:gd name="T16" fmla="*/ 0 w 64"/>
                <a:gd name="T17" fmla="*/ 1 h 420"/>
                <a:gd name="T18" fmla="*/ 1 w 64"/>
                <a:gd name="T19" fmla="*/ 1 h 420"/>
                <a:gd name="T20" fmla="*/ 1 w 64"/>
                <a:gd name="T21" fmla="*/ 1 h 420"/>
                <a:gd name="T22" fmla="*/ 1 w 64"/>
                <a:gd name="T23" fmla="*/ 1 h 420"/>
                <a:gd name="T24" fmla="*/ 1 w 64"/>
                <a:gd name="T25" fmla="*/ 1 h 420"/>
                <a:gd name="T26" fmla="*/ 1 w 64"/>
                <a:gd name="T27" fmla="*/ 1 h 420"/>
                <a:gd name="T28" fmla="*/ 1 w 64"/>
                <a:gd name="T29" fmla="*/ 1 h 420"/>
                <a:gd name="T30" fmla="*/ 1 w 64"/>
                <a:gd name="T31" fmla="*/ 1 h 420"/>
                <a:gd name="T32" fmla="*/ 1 w 64"/>
                <a:gd name="T33" fmla="*/ 1 h 420"/>
                <a:gd name="T34" fmla="*/ 1 w 64"/>
                <a:gd name="T35" fmla="*/ 1 h 420"/>
                <a:gd name="T36" fmla="*/ 1 w 64"/>
                <a:gd name="T37" fmla="*/ 1 h 420"/>
                <a:gd name="T38" fmla="*/ 1 w 64"/>
                <a:gd name="T39" fmla="*/ 1 h 420"/>
                <a:gd name="T40" fmla="*/ 1 w 64"/>
                <a:gd name="T41" fmla="*/ 1 h 420"/>
                <a:gd name="T42" fmla="*/ 1 w 64"/>
                <a:gd name="T43" fmla="*/ 1 h 420"/>
                <a:gd name="T44" fmla="*/ 0 w 64"/>
                <a:gd name="T45" fmla="*/ 1 h 420"/>
                <a:gd name="T46" fmla="*/ 0 w 64"/>
                <a:gd name="T47" fmla="*/ 1 h 420"/>
                <a:gd name="T48" fmla="*/ 1 w 64"/>
                <a:gd name="T49" fmla="*/ 1 h 420"/>
                <a:gd name="T50" fmla="*/ 1 w 64"/>
                <a:gd name="T51" fmla="*/ 1 h 420"/>
                <a:gd name="T52" fmla="*/ 1 w 64"/>
                <a:gd name="T53" fmla="*/ 1 h 420"/>
                <a:gd name="T54" fmla="*/ 1 w 64"/>
                <a:gd name="T55" fmla="*/ 1 h 420"/>
                <a:gd name="T56" fmla="*/ 1 w 64"/>
                <a:gd name="T57" fmla="*/ 1 h 420"/>
                <a:gd name="T58" fmla="*/ 1 w 64"/>
                <a:gd name="T59" fmla="*/ 1 h 420"/>
                <a:gd name="T60" fmla="*/ 1 w 64"/>
                <a:gd name="T61" fmla="*/ 1 h 420"/>
                <a:gd name="T62" fmla="*/ 1 w 64"/>
                <a:gd name="T63" fmla="*/ 1 h 420"/>
                <a:gd name="T64" fmla="*/ 1 w 64"/>
                <a:gd name="T65" fmla="*/ 1 h 420"/>
                <a:gd name="T66" fmla="*/ 1 w 64"/>
                <a:gd name="T67" fmla="*/ 1 h 420"/>
                <a:gd name="T68" fmla="*/ 1 w 64"/>
                <a:gd name="T69" fmla="*/ 1 h 420"/>
                <a:gd name="T70" fmla="*/ 1 w 64"/>
                <a:gd name="T71" fmla="*/ 1 h 420"/>
                <a:gd name="T72" fmla="*/ 1 w 64"/>
                <a:gd name="T73" fmla="*/ 1 h 420"/>
                <a:gd name="T74" fmla="*/ 1 w 64"/>
                <a:gd name="T75" fmla="*/ 1 h 420"/>
                <a:gd name="T76" fmla="*/ 0 w 64"/>
                <a:gd name="T77" fmla="*/ 2 h 420"/>
                <a:gd name="T78" fmla="*/ 0 w 64"/>
                <a:gd name="T79" fmla="*/ 2 h 420"/>
                <a:gd name="T80" fmla="*/ 1 w 64"/>
                <a:gd name="T81" fmla="*/ 2 h 420"/>
                <a:gd name="T82" fmla="*/ 1 w 64"/>
                <a:gd name="T83" fmla="*/ 2 h 420"/>
                <a:gd name="T84" fmla="*/ 1 w 64"/>
                <a:gd name="T85" fmla="*/ 2 h 420"/>
                <a:gd name="T86" fmla="*/ 1 w 64"/>
                <a:gd name="T87" fmla="*/ 2 h 420"/>
                <a:gd name="T88" fmla="*/ 1 w 64"/>
                <a:gd name="T89" fmla="*/ 2 h 420"/>
                <a:gd name="T90" fmla="*/ 1 w 64"/>
                <a:gd name="T91" fmla="*/ 2 h 420"/>
                <a:gd name="T92" fmla="*/ 1 w 64"/>
                <a:gd name="T93" fmla="*/ 2 h 420"/>
                <a:gd name="T94" fmla="*/ 1 w 64"/>
                <a:gd name="T95" fmla="*/ 2 h 420"/>
                <a:gd name="T96" fmla="*/ 1 w 64"/>
                <a:gd name="T97" fmla="*/ 2 h 420"/>
                <a:gd name="T98" fmla="*/ 1 w 64"/>
                <a:gd name="T99" fmla="*/ 2 h 420"/>
                <a:gd name="T100" fmla="*/ 1 w 64"/>
                <a:gd name="T101" fmla="*/ 2 h 420"/>
                <a:gd name="T102" fmla="*/ 1 w 64"/>
                <a:gd name="T103" fmla="*/ 2 h 420"/>
                <a:gd name="T104" fmla="*/ 1 w 64"/>
                <a:gd name="T105" fmla="*/ 2 h 420"/>
                <a:gd name="T106" fmla="*/ 0 w 64"/>
                <a:gd name="T107" fmla="*/ 2 h 420"/>
                <a:gd name="T108" fmla="*/ 0 w 64"/>
                <a:gd name="T109" fmla="*/ 2 h 420"/>
                <a:gd name="T110" fmla="*/ 1 w 64"/>
                <a:gd name="T111" fmla="*/ 2 h 420"/>
                <a:gd name="T112" fmla="*/ 1 w 64"/>
                <a:gd name="T113" fmla="*/ 2 h 420"/>
                <a:gd name="T114" fmla="*/ 1 w 64"/>
                <a:gd name="T115" fmla="*/ 2 h 420"/>
                <a:gd name="T116" fmla="*/ 1 w 64"/>
                <a:gd name="T117" fmla="*/ 2 h 420"/>
                <a:gd name="T118" fmla="*/ 1 w 64"/>
                <a:gd name="T119" fmla="*/ 2 h 420"/>
                <a:gd name="T120" fmla="*/ 1 w 64"/>
                <a:gd name="T121" fmla="*/ 2 h 420"/>
                <a:gd name="T122" fmla="*/ 1 w 64"/>
                <a:gd name="T123" fmla="*/ 2 h 42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64"/>
                <a:gd name="T187" fmla="*/ 0 h 420"/>
                <a:gd name="T188" fmla="*/ 64 w 64"/>
                <a:gd name="T189" fmla="*/ 420 h 42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64" h="420">
                  <a:moveTo>
                    <a:pt x="64" y="0"/>
                  </a:moveTo>
                  <a:lnTo>
                    <a:pt x="59" y="0"/>
                  </a:lnTo>
                  <a:lnTo>
                    <a:pt x="52" y="0"/>
                  </a:lnTo>
                  <a:lnTo>
                    <a:pt x="45" y="2"/>
                  </a:lnTo>
                  <a:lnTo>
                    <a:pt x="40" y="4"/>
                  </a:lnTo>
                  <a:lnTo>
                    <a:pt x="35" y="5"/>
                  </a:lnTo>
                  <a:lnTo>
                    <a:pt x="29" y="7"/>
                  </a:lnTo>
                  <a:lnTo>
                    <a:pt x="19" y="14"/>
                  </a:lnTo>
                  <a:lnTo>
                    <a:pt x="15" y="17"/>
                  </a:lnTo>
                  <a:lnTo>
                    <a:pt x="12" y="21"/>
                  </a:lnTo>
                  <a:lnTo>
                    <a:pt x="8" y="26"/>
                  </a:lnTo>
                  <a:lnTo>
                    <a:pt x="5" y="31"/>
                  </a:lnTo>
                  <a:lnTo>
                    <a:pt x="3" y="36"/>
                  </a:lnTo>
                  <a:lnTo>
                    <a:pt x="1" y="41"/>
                  </a:lnTo>
                  <a:lnTo>
                    <a:pt x="0" y="46"/>
                  </a:lnTo>
                  <a:lnTo>
                    <a:pt x="0" y="51"/>
                  </a:lnTo>
                  <a:lnTo>
                    <a:pt x="0" y="56"/>
                  </a:lnTo>
                  <a:lnTo>
                    <a:pt x="0" y="61"/>
                  </a:lnTo>
                  <a:lnTo>
                    <a:pt x="1" y="66"/>
                  </a:lnTo>
                  <a:lnTo>
                    <a:pt x="3" y="71"/>
                  </a:lnTo>
                  <a:lnTo>
                    <a:pt x="5" y="76"/>
                  </a:lnTo>
                  <a:lnTo>
                    <a:pt x="8" y="81"/>
                  </a:lnTo>
                  <a:lnTo>
                    <a:pt x="12" y="84"/>
                  </a:lnTo>
                  <a:lnTo>
                    <a:pt x="15" y="87"/>
                  </a:lnTo>
                  <a:lnTo>
                    <a:pt x="24" y="94"/>
                  </a:lnTo>
                  <a:lnTo>
                    <a:pt x="29" y="97"/>
                  </a:lnTo>
                  <a:lnTo>
                    <a:pt x="35" y="99"/>
                  </a:lnTo>
                  <a:lnTo>
                    <a:pt x="42" y="103"/>
                  </a:lnTo>
                  <a:lnTo>
                    <a:pt x="47" y="104"/>
                  </a:lnTo>
                  <a:lnTo>
                    <a:pt x="54" y="104"/>
                  </a:lnTo>
                  <a:lnTo>
                    <a:pt x="59" y="104"/>
                  </a:lnTo>
                  <a:lnTo>
                    <a:pt x="64" y="104"/>
                  </a:lnTo>
                  <a:lnTo>
                    <a:pt x="59" y="104"/>
                  </a:lnTo>
                  <a:lnTo>
                    <a:pt x="52" y="106"/>
                  </a:lnTo>
                  <a:lnTo>
                    <a:pt x="45" y="106"/>
                  </a:lnTo>
                  <a:lnTo>
                    <a:pt x="40" y="108"/>
                  </a:lnTo>
                  <a:lnTo>
                    <a:pt x="35" y="111"/>
                  </a:lnTo>
                  <a:lnTo>
                    <a:pt x="29" y="113"/>
                  </a:lnTo>
                  <a:lnTo>
                    <a:pt x="19" y="119"/>
                  </a:lnTo>
                  <a:lnTo>
                    <a:pt x="15" y="123"/>
                  </a:lnTo>
                  <a:lnTo>
                    <a:pt x="12" y="126"/>
                  </a:lnTo>
                  <a:lnTo>
                    <a:pt x="8" y="131"/>
                  </a:lnTo>
                  <a:lnTo>
                    <a:pt x="5" y="134"/>
                  </a:lnTo>
                  <a:lnTo>
                    <a:pt x="3" y="139"/>
                  </a:lnTo>
                  <a:lnTo>
                    <a:pt x="1" y="144"/>
                  </a:lnTo>
                  <a:lnTo>
                    <a:pt x="0" y="149"/>
                  </a:lnTo>
                  <a:lnTo>
                    <a:pt x="0" y="156"/>
                  </a:lnTo>
                  <a:lnTo>
                    <a:pt x="0" y="161"/>
                  </a:lnTo>
                  <a:lnTo>
                    <a:pt x="0" y="166"/>
                  </a:lnTo>
                  <a:lnTo>
                    <a:pt x="1" y="171"/>
                  </a:lnTo>
                  <a:lnTo>
                    <a:pt x="3" y="176"/>
                  </a:lnTo>
                  <a:lnTo>
                    <a:pt x="5" y="181"/>
                  </a:lnTo>
                  <a:lnTo>
                    <a:pt x="8" y="185"/>
                  </a:lnTo>
                  <a:lnTo>
                    <a:pt x="12" y="190"/>
                  </a:lnTo>
                  <a:lnTo>
                    <a:pt x="15" y="193"/>
                  </a:lnTo>
                  <a:lnTo>
                    <a:pt x="24" y="200"/>
                  </a:lnTo>
                  <a:lnTo>
                    <a:pt x="29" y="203"/>
                  </a:lnTo>
                  <a:lnTo>
                    <a:pt x="35" y="205"/>
                  </a:lnTo>
                  <a:lnTo>
                    <a:pt x="42" y="206"/>
                  </a:lnTo>
                  <a:lnTo>
                    <a:pt x="47" y="208"/>
                  </a:lnTo>
                  <a:lnTo>
                    <a:pt x="54" y="210"/>
                  </a:lnTo>
                  <a:lnTo>
                    <a:pt x="59" y="210"/>
                  </a:lnTo>
                  <a:lnTo>
                    <a:pt x="64" y="210"/>
                  </a:lnTo>
                  <a:lnTo>
                    <a:pt x="59" y="210"/>
                  </a:lnTo>
                  <a:lnTo>
                    <a:pt x="52" y="210"/>
                  </a:lnTo>
                  <a:lnTo>
                    <a:pt x="45" y="211"/>
                  </a:lnTo>
                  <a:lnTo>
                    <a:pt x="40" y="213"/>
                  </a:lnTo>
                  <a:lnTo>
                    <a:pt x="35" y="215"/>
                  </a:lnTo>
                  <a:lnTo>
                    <a:pt x="29" y="218"/>
                  </a:lnTo>
                  <a:lnTo>
                    <a:pt x="19" y="223"/>
                  </a:lnTo>
                  <a:lnTo>
                    <a:pt x="15" y="228"/>
                  </a:lnTo>
                  <a:lnTo>
                    <a:pt x="12" y="231"/>
                  </a:lnTo>
                  <a:lnTo>
                    <a:pt x="8" y="235"/>
                  </a:lnTo>
                  <a:lnTo>
                    <a:pt x="5" y="240"/>
                  </a:lnTo>
                  <a:lnTo>
                    <a:pt x="3" y="245"/>
                  </a:lnTo>
                  <a:lnTo>
                    <a:pt x="1" y="250"/>
                  </a:lnTo>
                  <a:lnTo>
                    <a:pt x="0" y="255"/>
                  </a:lnTo>
                  <a:lnTo>
                    <a:pt x="0" y="260"/>
                  </a:lnTo>
                  <a:lnTo>
                    <a:pt x="0" y="265"/>
                  </a:lnTo>
                  <a:lnTo>
                    <a:pt x="0" y="272"/>
                  </a:lnTo>
                  <a:lnTo>
                    <a:pt x="1" y="277"/>
                  </a:lnTo>
                  <a:lnTo>
                    <a:pt x="3" y="282"/>
                  </a:lnTo>
                  <a:lnTo>
                    <a:pt x="5" y="285"/>
                  </a:lnTo>
                  <a:lnTo>
                    <a:pt x="8" y="290"/>
                  </a:lnTo>
                  <a:lnTo>
                    <a:pt x="12" y="293"/>
                  </a:lnTo>
                  <a:lnTo>
                    <a:pt x="15" y="298"/>
                  </a:lnTo>
                  <a:lnTo>
                    <a:pt x="24" y="305"/>
                  </a:lnTo>
                  <a:lnTo>
                    <a:pt x="29" y="307"/>
                  </a:lnTo>
                  <a:lnTo>
                    <a:pt x="35" y="310"/>
                  </a:lnTo>
                  <a:lnTo>
                    <a:pt x="42" y="312"/>
                  </a:lnTo>
                  <a:lnTo>
                    <a:pt x="47" y="313"/>
                  </a:lnTo>
                  <a:lnTo>
                    <a:pt x="54" y="315"/>
                  </a:lnTo>
                  <a:lnTo>
                    <a:pt x="59" y="315"/>
                  </a:lnTo>
                  <a:lnTo>
                    <a:pt x="64" y="315"/>
                  </a:lnTo>
                  <a:lnTo>
                    <a:pt x="59" y="315"/>
                  </a:lnTo>
                  <a:lnTo>
                    <a:pt x="52" y="315"/>
                  </a:lnTo>
                  <a:lnTo>
                    <a:pt x="45" y="317"/>
                  </a:lnTo>
                  <a:lnTo>
                    <a:pt x="40" y="318"/>
                  </a:lnTo>
                  <a:lnTo>
                    <a:pt x="35" y="320"/>
                  </a:lnTo>
                  <a:lnTo>
                    <a:pt x="29" y="322"/>
                  </a:lnTo>
                  <a:lnTo>
                    <a:pt x="19" y="328"/>
                  </a:lnTo>
                  <a:lnTo>
                    <a:pt x="15" y="332"/>
                  </a:lnTo>
                  <a:lnTo>
                    <a:pt x="12" y="337"/>
                  </a:lnTo>
                  <a:lnTo>
                    <a:pt x="8" y="340"/>
                  </a:lnTo>
                  <a:lnTo>
                    <a:pt x="5" y="345"/>
                  </a:lnTo>
                  <a:lnTo>
                    <a:pt x="3" y="350"/>
                  </a:lnTo>
                  <a:lnTo>
                    <a:pt x="1" y="355"/>
                  </a:lnTo>
                  <a:lnTo>
                    <a:pt x="0" y="360"/>
                  </a:lnTo>
                  <a:lnTo>
                    <a:pt x="0" y="365"/>
                  </a:lnTo>
                  <a:lnTo>
                    <a:pt x="0" y="370"/>
                  </a:lnTo>
                  <a:lnTo>
                    <a:pt x="0" y="375"/>
                  </a:lnTo>
                  <a:lnTo>
                    <a:pt x="1" y="380"/>
                  </a:lnTo>
                  <a:lnTo>
                    <a:pt x="3" y="385"/>
                  </a:lnTo>
                  <a:lnTo>
                    <a:pt x="5" y="390"/>
                  </a:lnTo>
                  <a:lnTo>
                    <a:pt x="8" y="395"/>
                  </a:lnTo>
                  <a:lnTo>
                    <a:pt x="12" y="399"/>
                  </a:lnTo>
                  <a:lnTo>
                    <a:pt x="15" y="402"/>
                  </a:lnTo>
                  <a:lnTo>
                    <a:pt x="24" y="409"/>
                  </a:lnTo>
                  <a:lnTo>
                    <a:pt x="29" y="412"/>
                  </a:lnTo>
                  <a:lnTo>
                    <a:pt x="35" y="415"/>
                  </a:lnTo>
                  <a:lnTo>
                    <a:pt x="42" y="417"/>
                  </a:lnTo>
                  <a:lnTo>
                    <a:pt x="47" y="419"/>
                  </a:lnTo>
                  <a:lnTo>
                    <a:pt x="54" y="419"/>
                  </a:lnTo>
                  <a:lnTo>
                    <a:pt x="59" y="420"/>
                  </a:lnTo>
                  <a:lnTo>
                    <a:pt x="64" y="42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" name="Line 272"/>
            <p:cNvSpPr>
              <a:spLocks noChangeShapeType="1"/>
            </p:cNvSpPr>
            <p:nvPr/>
          </p:nvSpPr>
          <p:spPr bwMode="auto">
            <a:xfrm>
              <a:off x="4359" y="1397"/>
              <a:ext cx="1" cy="19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" name="Line 273"/>
            <p:cNvSpPr>
              <a:spLocks noChangeShapeType="1"/>
            </p:cNvSpPr>
            <p:nvPr/>
          </p:nvSpPr>
          <p:spPr bwMode="auto">
            <a:xfrm flipV="1">
              <a:off x="4372" y="1397"/>
              <a:ext cx="1" cy="19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0" name="Freeform 274"/>
            <p:cNvSpPr>
              <a:spLocks/>
            </p:cNvSpPr>
            <p:nvPr/>
          </p:nvSpPr>
          <p:spPr bwMode="auto">
            <a:xfrm>
              <a:off x="4420" y="1400"/>
              <a:ext cx="28" cy="27"/>
            </a:xfrm>
            <a:custGeom>
              <a:avLst/>
              <a:gdLst>
                <a:gd name="T0" fmla="*/ 0 w 55"/>
                <a:gd name="T1" fmla="*/ 1 h 53"/>
                <a:gd name="T2" fmla="*/ 1 w 55"/>
                <a:gd name="T3" fmla="*/ 1 h 53"/>
                <a:gd name="T4" fmla="*/ 1 w 55"/>
                <a:gd name="T5" fmla="*/ 1 h 53"/>
                <a:gd name="T6" fmla="*/ 1 w 55"/>
                <a:gd name="T7" fmla="*/ 1 h 53"/>
                <a:gd name="T8" fmla="*/ 1 w 55"/>
                <a:gd name="T9" fmla="*/ 1 h 53"/>
                <a:gd name="T10" fmla="*/ 1 w 55"/>
                <a:gd name="T11" fmla="*/ 1 h 53"/>
                <a:gd name="T12" fmla="*/ 1 w 55"/>
                <a:gd name="T13" fmla="*/ 1 h 53"/>
                <a:gd name="T14" fmla="*/ 1 w 55"/>
                <a:gd name="T15" fmla="*/ 0 h 53"/>
                <a:gd name="T16" fmla="*/ 1 w 55"/>
                <a:gd name="T17" fmla="*/ 0 h 53"/>
                <a:gd name="T18" fmla="*/ 1 w 55"/>
                <a:gd name="T19" fmla="*/ 0 h 53"/>
                <a:gd name="T20" fmla="*/ 1 w 55"/>
                <a:gd name="T21" fmla="*/ 1 h 53"/>
                <a:gd name="T22" fmla="*/ 1 w 55"/>
                <a:gd name="T23" fmla="*/ 1 h 53"/>
                <a:gd name="T24" fmla="*/ 1 w 55"/>
                <a:gd name="T25" fmla="*/ 1 h 53"/>
                <a:gd name="T26" fmla="*/ 1 w 55"/>
                <a:gd name="T27" fmla="*/ 1 h 53"/>
                <a:gd name="T28" fmla="*/ 1 w 55"/>
                <a:gd name="T29" fmla="*/ 1 h 53"/>
                <a:gd name="T30" fmla="*/ 1 w 55"/>
                <a:gd name="T31" fmla="*/ 1 h 53"/>
                <a:gd name="T32" fmla="*/ 1 w 55"/>
                <a:gd name="T33" fmla="*/ 1 h 53"/>
                <a:gd name="T34" fmla="*/ 1 w 55"/>
                <a:gd name="T35" fmla="*/ 1 h 53"/>
                <a:gd name="T36" fmla="*/ 1 w 55"/>
                <a:gd name="T37" fmla="*/ 1 h 53"/>
                <a:gd name="T38" fmla="*/ 1 w 55"/>
                <a:gd name="T39" fmla="*/ 1 h 53"/>
                <a:gd name="T40" fmla="*/ 1 w 55"/>
                <a:gd name="T41" fmla="*/ 1 h 53"/>
                <a:gd name="T42" fmla="*/ 1 w 55"/>
                <a:gd name="T43" fmla="*/ 1 h 53"/>
                <a:gd name="T44" fmla="*/ 1 w 55"/>
                <a:gd name="T45" fmla="*/ 1 h 53"/>
                <a:gd name="T46" fmla="*/ 1 w 55"/>
                <a:gd name="T47" fmla="*/ 1 h 53"/>
                <a:gd name="T48" fmla="*/ 1 w 55"/>
                <a:gd name="T49" fmla="*/ 1 h 53"/>
                <a:gd name="T50" fmla="*/ 1 w 55"/>
                <a:gd name="T51" fmla="*/ 1 h 53"/>
                <a:gd name="T52" fmla="*/ 1 w 55"/>
                <a:gd name="T53" fmla="*/ 1 h 53"/>
                <a:gd name="T54" fmla="*/ 1 w 55"/>
                <a:gd name="T55" fmla="*/ 1 h 53"/>
                <a:gd name="T56" fmla="*/ 1 w 55"/>
                <a:gd name="T57" fmla="*/ 1 h 53"/>
                <a:gd name="T58" fmla="*/ 1 w 55"/>
                <a:gd name="T59" fmla="*/ 1 h 53"/>
                <a:gd name="T60" fmla="*/ 1 w 55"/>
                <a:gd name="T61" fmla="*/ 1 h 53"/>
                <a:gd name="T62" fmla="*/ 1 w 55"/>
                <a:gd name="T63" fmla="*/ 1 h 53"/>
                <a:gd name="T64" fmla="*/ 1 w 55"/>
                <a:gd name="T65" fmla="*/ 1 h 53"/>
                <a:gd name="T66" fmla="*/ 0 w 55"/>
                <a:gd name="T67" fmla="*/ 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5"/>
                <a:gd name="T103" fmla="*/ 0 h 53"/>
                <a:gd name="T104" fmla="*/ 55 w 55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5" h="53">
                  <a:moveTo>
                    <a:pt x="0" y="26"/>
                  </a:moveTo>
                  <a:lnTo>
                    <a:pt x="1" y="21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8" y="6"/>
                  </a:lnTo>
                  <a:lnTo>
                    <a:pt x="12" y="5"/>
                  </a:lnTo>
                  <a:lnTo>
                    <a:pt x="17" y="1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40" y="1"/>
                  </a:lnTo>
                  <a:lnTo>
                    <a:pt x="43" y="5"/>
                  </a:lnTo>
                  <a:lnTo>
                    <a:pt x="48" y="6"/>
                  </a:lnTo>
                  <a:lnTo>
                    <a:pt x="52" y="11"/>
                  </a:lnTo>
                  <a:lnTo>
                    <a:pt x="54" y="16"/>
                  </a:lnTo>
                  <a:lnTo>
                    <a:pt x="55" y="21"/>
                  </a:lnTo>
                  <a:lnTo>
                    <a:pt x="55" y="26"/>
                  </a:lnTo>
                  <a:lnTo>
                    <a:pt x="55" y="31"/>
                  </a:lnTo>
                  <a:lnTo>
                    <a:pt x="54" y="36"/>
                  </a:lnTo>
                  <a:lnTo>
                    <a:pt x="52" y="41"/>
                  </a:lnTo>
                  <a:lnTo>
                    <a:pt x="48" y="45"/>
                  </a:lnTo>
                  <a:lnTo>
                    <a:pt x="43" y="48"/>
                  </a:lnTo>
                  <a:lnTo>
                    <a:pt x="40" y="51"/>
                  </a:lnTo>
                  <a:lnTo>
                    <a:pt x="35" y="51"/>
                  </a:lnTo>
                  <a:lnTo>
                    <a:pt x="28" y="53"/>
                  </a:lnTo>
                  <a:lnTo>
                    <a:pt x="22" y="51"/>
                  </a:lnTo>
                  <a:lnTo>
                    <a:pt x="17" y="51"/>
                  </a:lnTo>
                  <a:lnTo>
                    <a:pt x="12" y="48"/>
                  </a:lnTo>
                  <a:lnTo>
                    <a:pt x="8" y="45"/>
                  </a:lnTo>
                  <a:lnTo>
                    <a:pt x="5" y="41"/>
                  </a:lnTo>
                  <a:lnTo>
                    <a:pt x="3" y="36"/>
                  </a:lnTo>
                  <a:lnTo>
                    <a:pt x="1" y="31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1" name="Line 275"/>
            <p:cNvSpPr>
              <a:spLocks noChangeShapeType="1"/>
            </p:cNvSpPr>
            <p:nvPr/>
          </p:nvSpPr>
          <p:spPr bwMode="auto">
            <a:xfrm flipH="1">
              <a:off x="4038" y="920"/>
              <a:ext cx="153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2" name="Freeform 276"/>
            <p:cNvSpPr>
              <a:spLocks/>
            </p:cNvSpPr>
            <p:nvPr/>
          </p:nvSpPr>
          <p:spPr bwMode="auto">
            <a:xfrm>
              <a:off x="4040" y="1770"/>
              <a:ext cx="175" cy="115"/>
            </a:xfrm>
            <a:custGeom>
              <a:avLst/>
              <a:gdLst>
                <a:gd name="T0" fmla="*/ 1 w 352"/>
                <a:gd name="T1" fmla="*/ 0 h 231"/>
                <a:gd name="T2" fmla="*/ 0 w 352"/>
                <a:gd name="T3" fmla="*/ 0 h 231"/>
                <a:gd name="T4" fmla="*/ 0 w 352"/>
                <a:gd name="T5" fmla="*/ 0 h 231"/>
                <a:gd name="T6" fmla="*/ 0 60000 65536"/>
                <a:gd name="T7" fmla="*/ 0 60000 65536"/>
                <a:gd name="T8" fmla="*/ 0 60000 65536"/>
                <a:gd name="T9" fmla="*/ 0 w 352"/>
                <a:gd name="T10" fmla="*/ 0 h 231"/>
                <a:gd name="T11" fmla="*/ 352 w 352"/>
                <a:gd name="T12" fmla="*/ 231 h 2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2" h="231">
                  <a:moveTo>
                    <a:pt x="352" y="231"/>
                  </a:moveTo>
                  <a:lnTo>
                    <a:pt x="0" y="231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" name="Line 277"/>
            <p:cNvSpPr>
              <a:spLocks noChangeShapeType="1"/>
            </p:cNvSpPr>
            <p:nvPr/>
          </p:nvSpPr>
          <p:spPr bwMode="auto">
            <a:xfrm flipH="1">
              <a:off x="4040" y="1550"/>
              <a:ext cx="175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" name="Freeform 278"/>
            <p:cNvSpPr>
              <a:spLocks/>
            </p:cNvSpPr>
            <p:nvPr/>
          </p:nvSpPr>
          <p:spPr bwMode="auto">
            <a:xfrm>
              <a:off x="4026" y="1536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6" y="12"/>
                  </a:lnTo>
                  <a:lnTo>
                    <a:pt x="9" y="9"/>
                  </a:lnTo>
                  <a:lnTo>
                    <a:pt x="13" y="5"/>
                  </a:lnTo>
                  <a:lnTo>
                    <a:pt x="18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9" y="2"/>
                  </a:lnTo>
                  <a:lnTo>
                    <a:pt x="44" y="5"/>
                  </a:lnTo>
                  <a:lnTo>
                    <a:pt x="47" y="9"/>
                  </a:lnTo>
                  <a:lnTo>
                    <a:pt x="51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1" y="42"/>
                  </a:lnTo>
                  <a:lnTo>
                    <a:pt x="47" y="45"/>
                  </a:lnTo>
                  <a:lnTo>
                    <a:pt x="44" y="49"/>
                  </a:lnTo>
                  <a:lnTo>
                    <a:pt x="39" y="52"/>
                  </a:lnTo>
                  <a:lnTo>
                    <a:pt x="34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8" y="52"/>
                  </a:lnTo>
                  <a:lnTo>
                    <a:pt x="13" y="49"/>
                  </a:lnTo>
                  <a:lnTo>
                    <a:pt x="9" y="45"/>
                  </a:lnTo>
                  <a:lnTo>
                    <a:pt x="6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" name="Freeform 279"/>
            <p:cNvSpPr>
              <a:spLocks/>
            </p:cNvSpPr>
            <p:nvPr/>
          </p:nvSpPr>
          <p:spPr bwMode="auto">
            <a:xfrm>
              <a:off x="4026" y="1872"/>
              <a:ext cx="28" cy="26"/>
            </a:xfrm>
            <a:custGeom>
              <a:avLst/>
              <a:gdLst>
                <a:gd name="T0" fmla="*/ 0 w 56"/>
                <a:gd name="T1" fmla="*/ 0 h 54"/>
                <a:gd name="T2" fmla="*/ 0 w 56"/>
                <a:gd name="T3" fmla="*/ 0 h 54"/>
                <a:gd name="T4" fmla="*/ 1 w 56"/>
                <a:gd name="T5" fmla="*/ 0 h 54"/>
                <a:gd name="T6" fmla="*/ 1 w 56"/>
                <a:gd name="T7" fmla="*/ 0 h 54"/>
                <a:gd name="T8" fmla="*/ 1 w 56"/>
                <a:gd name="T9" fmla="*/ 0 h 54"/>
                <a:gd name="T10" fmla="*/ 1 w 56"/>
                <a:gd name="T11" fmla="*/ 0 h 54"/>
                <a:gd name="T12" fmla="*/ 1 w 56"/>
                <a:gd name="T13" fmla="*/ 0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0 h 54"/>
                <a:gd name="T22" fmla="*/ 1 w 56"/>
                <a:gd name="T23" fmla="*/ 0 h 54"/>
                <a:gd name="T24" fmla="*/ 1 w 56"/>
                <a:gd name="T25" fmla="*/ 0 h 54"/>
                <a:gd name="T26" fmla="*/ 1 w 56"/>
                <a:gd name="T27" fmla="*/ 0 h 54"/>
                <a:gd name="T28" fmla="*/ 1 w 56"/>
                <a:gd name="T29" fmla="*/ 0 h 54"/>
                <a:gd name="T30" fmla="*/ 1 w 56"/>
                <a:gd name="T31" fmla="*/ 0 h 54"/>
                <a:gd name="T32" fmla="*/ 1 w 56"/>
                <a:gd name="T33" fmla="*/ 0 h 54"/>
                <a:gd name="T34" fmla="*/ 1 w 56"/>
                <a:gd name="T35" fmla="*/ 0 h 54"/>
                <a:gd name="T36" fmla="*/ 1 w 56"/>
                <a:gd name="T37" fmla="*/ 0 h 54"/>
                <a:gd name="T38" fmla="*/ 1 w 56"/>
                <a:gd name="T39" fmla="*/ 0 h 54"/>
                <a:gd name="T40" fmla="*/ 1 w 56"/>
                <a:gd name="T41" fmla="*/ 0 h 54"/>
                <a:gd name="T42" fmla="*/ 1 w 56"/>
                <a:gd name="T43" fmla="*/ 0 h 54"/>
                <a:gd name="T44" fmla="*/ 1 w 56"/>
                <a:gd name="T45" fmla="*/ 0 h 54"/>
                <a:gd name="T46" fmla="*/ 1 w 56"/>
                <a:gd name="T47" fmla="*/ 0 h 54"/>
                <a:gd name="T48" fmla="*/ 1 w 56"/>
                <a:gd name="T49" fmla="*/ 0 h 54"/>
                <a:gd name="T50" fmla="*/ 1 w 56"/>
                <a:gd name="T51" fmla="*/ 0 h 54"/>
                <a:gd name="T52" fmla="*/ 1 w 56"/>
                <a:gd name="T53" fmla="*/ 0 h 54"/>
                <a:gd name="T54" fmla="*/ 1 w 56"/>
                <a:gd name="T55" fmla="*/ 0 h 54"/>
                <a:gd name="T56" fmla="*/ 1 w 56"/>
                <a:gd name="T57" fmla="*/ 0 h 54"/>
                <a:gd name="T58" fmla="*/ 1 w 56"/>
                <a:gd name="T59" fmla="*/ 0 h 54"/>
                <a:gd name="T60" fmla="*/ 1 w 56"/>
                <a:gd name="T61" fmla="*/ 0 h 54"/>
                <a:gd name="T62" fmla="*/ 1 w 56"/>
                <a:gd name="T63" fmla="*/ 0 h 54"/>
                <a:gd name="T64" fmla="*/ 0 w 56"/>
                <a:gd name="T65" fmla="*/ 0 h 54"/>
                <a:gd name="T66" fmla="*/ 0 w 56"/>
                <a:gd name="T67" fmla="*/ 0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6" y="12"/>
                  </a:lnTo>
                  <a:lnTo>
                    <a:pt x="9" y="9"/>
                  </a:lnTo>
                  <a:lnTo>
                    <a:pt x="13" y="5"/>
                  </a:lnTo>
                  <a:lnTo>
                    <a:pt x="18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9" y="2"/>
                  </a:lnTo>
                  <a:lnTo>
                    <a:pt x="44" y="5"/>
                  </a:lnTo>
                  <a:lnTo>
                    <a:pt x="47" y="9"/>
                  </a:lnTo>
                  <a:lnTo>
                    <a:pt x="51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1" y="42"/>
                  </a:lnTo>
                  <a:lnTo>
                    <a:pt x="47" y="45"/>
                  </a:lnTo>
                  <a:lnTo>
                    <a:pt x="44" y="49"/>
                  </a:lnTo>
                  <a:lnTo>
                    <a:pt x="39" y="52"/>
                  </a:lnTo>
                  <a:lnTo>
                    <a:pt x="34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8" y="52"/>
                  </a:lnTo>
                  <a:lnTo>
                    <a:pt x="13" y="49"/>
                  </a:lnTo>
                  <a:lnTo>
                    <a:pt x="9" y="45"/>
                  </a:lnTo>
                  <a:lnTo>
                    <a:pt x="6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" name="Line 280"/>
            <p:cNvSpPr>
              <a:spLocks noChangeShapeType="1"/>
            </p:cNvSpPr>
            <p:nvPr/>
          </p:nvSpPr>
          <p:spPr bwMode="auto">
            <a:xfrm flipV="1">
              <a:off x="4431" y="1602"/>
              <a:ext cx="1" cy="8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" name="Line 281"/>
            <p:cNvSpPr>
              <a:spLocks noChangeShapeType="1"/>
            </p:cNvSpPr>
            <p:nvPr/>
          </p:nvSpPr>
          <p:spPr bwMode="auto">
            <a:xfrm flipH="1" flipV="1">
              <a:off x="4782" y="1099"/>
              <a:ext cx="3" cy="5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" name="Line 282"/>
            <p:cNvSpPr>
              <a:spLocks noChangeShapeType="1"/>
            </p:cNvSpPr>
            <p:nvPr/>
          </p:nvSpPr>
          <p:spPr bwMode="auto">
            <a:xfrm>
              <a:off x="4782" y="1099"/>
              <a:ext cx="166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" name="Line 283"/>
            <p:cNvSpPr>
              <a:spLocks noChangeShapeType="1"/>
            </p:cNvSpPr>
            <p:nvPr/>
          </p:nvSpPr>
          <p:spPr bwMode="auto">
            <a:xfrm>
              <a:off x="5447" y="1301"/>
              <a:ext cx="1" cy="4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" name="Freeform 284"/>
            <p:cNvSpPr>
              <a:spLocks/>
            </p:cNvSpPr>
            <p:nvPr/>
          </p:nvSpPr>
          <p:spPr bwMode="auto">
            <a:xfrm>
              <a:off x="4431" y="1392"/>
              <a:ext cx="1011" cy="1"/>
            </a:xfrm>
            <a:custGeom>
              <a:avLst/>
              <a:gdLst>
                <a:gd name="T0" fmla="*/ 0 w 2022"/>
                <a:gd name="T1" fmla="*/ 0 h 1"/>
                <a:gd name="T2" fmla="*/ 8 w 2022"/>
                <a:gd name="T3" fmla="*/ 0 h 1"/>
                <a:gd name="T4" fmla="*/ 8 w 2022"/>
                <a:gd name="T5" fmla="*/ 0 h 1"/>
                <a:gd name="T6" fmla="*/ 0 60000 65536"/>
                <a:gd name="T7" fmla="*/ 0 60000 65536"/>
                <a:gd name="T8" fmla="*/ 0 60000 65536"/>
                <a:gd name="T9" fmla="*/ 0 w 2022"/>
                <a:gd name="T10" fmla="*/ 0 h 1"/>
                <a:gd name="T11" fmla="*/ 2022 w 20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22" h="1">
                  <a:moveTo>
                    <a:pt x="0" y="0"/>
                  </a:moveTo>
                  <a:lnTo>
                    <a:pt x="2022" y="0"/>
                  </a:lnTo>
                  <a:lnTo>
                    <a:pt x="2014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" name="Line 285"/>
            <p:cNvSpPr>
              <a:spLocks noChangeShapeType="1"/>
            </p:cNvSpPr>
            <p:nvPr/>
          </p:nvSpPr>
          <p:spPr bwMode="auto">
            <a:xfrm>
              <a:off x="5447" y="1350"/>
              <a:ext cx="1" cy="4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" name="Line 286"/>
            <p:cNvSpPr>
              <a:spLocks noChangeShapeType="1"/>
            </p:cNvSpPr>
            <p:nvPr/>
          </p:nvSpPr>
          <p:spPr bwMode="auto">
            <a:xfrm>
              <a:off x="5271" y="1350"/>
              <a:ext cx="1" cy="4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" name="Freeform 287"/>
            <p:cNvSpPr>
              <a:spLocks/>
            </p:cNvSpPr>
            <p:nvPr/>
          </p:nvSpPr>
          <p:spPr bwMode="auto">
            <a:xfrm>
              <a:off x="5257" y="1379"/>
              <a:ext cx="28" cy="27"/>
            </a:xfrm>
            <a:custGeom>
              <a:avLst/>
              <a:gdLst>
                <a:gd name="T0" fmla="*/ 0 w 56"/>
                <a:gd name="T1" fmla="*/ 1 h 53"/>
                <a:gd name="T2" fmla="*/ 0 w 56"/>
                <a:gd name="T3" fmla="*/ 1 h 53"/>
                <a:gd name="T4" fmla="*/ 1 w 56"/>
                <a:gd name="T5" fmla="*/ 1 h 53"/>
                <a:gd name="T6" fmla="*/ 1 w 56"/>
                <a:gd name="T7" fmla="*/ 1 h 53"/>
                <a:gd name="T8" fmla="*/ 1 w 56"/>
                <a:gd name="T9" fmla="*/ 1 h 53"/>
                <a:gd name="T10" fmla="*/ 1 w 56"/>
                <a:gd name="T11" fmla="*/ 1 h 53"/>
                <a:gd name="T12" fmla="*/ 1 w 56"/>
                <a:gd name="T13" fmla="*/ 1 h 53"/>
                <a:gd name="T14" fmla="*/ 1 w 56"/>
                <a:gd name="T15" fmla="*/ 0 h 53"/>
                <a:gd name="T16" fmla="*/ 1 w 56"/>
                <a:gd name="T17" fmla="*/ 0 h 53"/>
                <a:gd name="T18" fmla="*/ 1 w 56"/>
                <a:gd name="T19" fmla="*/ 0 h 53"/>
                <a:gd name="T20" fmla="*/ 1 w 56"/>
                <a:gd name="T21" fmla="*/ 1 h 53"/>
                <a:gd name="T22" fmla="*/ 1 w 56"/>
                <a:gd name="T23" fmla="*/ 1 h 53"/>
                <a:gd name="T24" fmla="*/ 1 w 56"/>
                <a:gd name="T25" fmla="*/ 1 h 53"/>
                <a:gd name="T26" fmla="*/ 1 w 56"/>
                <a:gd name="T27" fmla="*/ 1 h 53"/>
                <a:gd name="T28" fmla="*/ 1 w 56"/>
                <a:gd name="T29" fmla="*/ 1 h 53"/>
                <a:gd name="T30" fmla="*/ 1 w 56"/>
                <a:gd name="T31" fmla="*/ 1 h 53"/>
                <a:gd name="T32" fmla="*/ 1 w 56"/>
                <a:gd name="T33" fmla="*/ 1 h 53"/>
                <a:gd name="T34" fmla="*/ 1 w 56"/>
                <a:gd name="T35" fmla="*/ 1 h 53"/>
                <a:gd name="T36" fmla="*/ 1 w 56"/>
                <a:gd name="T37" fmla="*/ 1 h 53"/>
                <a:gd name="T38" fmla="*/ 1 w 56"/>
                <a:gd name="T39" fmla="*/ 1 h 53"/>
                <a:gd name="T40" fmla="*/ 1 w 56"/>
                <a:gd name="T41" fmla="*/ 1 h 53"/>
                <a:gd name="T42" fmla="*/ 1 w 56"/>
                <a:gd name="T43" fmla="*/ 1 h 53"/>
                <a:gd name="T44" fmla="*/ 1 w 56"/>
                <a:gd name="T45" fmla="*/ 1 h 53"/>
                <a:gd name="T46" fmla="*/ 1 w 56"/>
                <a:gd name="T47" fmla="*/ 1 h 53"/>
                <a:gd name="T48" fmla="*/ 1 w 56"/>
                <a:gd name="T49" fmla="*/ 1 h 53"/>
                <a:gd name="T50" fmla="*/ 1 w 56"/>
                <a:gd name="T51" fmla="*/ 1 h 53"/>
                <a:gd name="T52" fmla="*/ 1 w 56"/>
                <a:gd name="T53" fmla="*/ 1 h 53"/>
                <a:gd name="T54" fmla="*/ 1 w 56"/>
                <a:gd name="T55" fmla="*/ 1 h 53"/>
                <a:gd name="T56" fmla="*/ 1 w 56"/>
                <a:gd name="T57" fmla="*/ 1 h 53"/>
                <a:gd name="T58" fmla="*/ 1 w 56"/>
                <a:gd name="T59" fmla="*/ 1 h 53"/>
                <a:gd name="T60" fmla="*/ 1 w 56"/>
                <a:gd name="T61" fmla="*/ 1 h 53"/>
                <a:gd name="T62" fmla="*/ 1 w 56"/>
                <a:gd name="T63" fmla="*/ 1 h 53"/>
                <a:gd name="T64" fmla="*/ 0 w 56"/>
                <a:gd name="T65" fmla="*/ 1 h 53"/>
                <a:gd name="T66" fmla="*/ 0 w 56"/>
                <a:gd name="T67" fmla="*/ 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3"/>
                <a:gd name="T104" fmla="*/ 56 w 56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3">
                  <a:moveTo>
                    <a:pt x="0" y="26"/>
                  </a:moveTo>
                  <a:lnTo>
                    <a:pt x="0" y="21"/>
                  </a:lnTo>
                  <a:lnTo>
                    <a:pt x="2" y="16"/>
                  </a:lnTo>
                  <a:lnTo>
                    <a:pt x="5" y="11"/>
                  </a:lnTo>
                  <a:lnTo>
                    <a:pt x="7" y="6"/>
                  </a:lnTo>
                  <a:lnTo>
                    <a:pt x="12" y="3"/>
                  </a:lnTo>
                  <a:lnTo>
                    <a:pt x="17" y="1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38" y="1"/>
                  </a:lnTo>
                  <a:lnTo>
                    <a:pt x="44" y="3"/>
                  </a:lnTo>
                  <a:lnTo>
                    <a:pt x="47" y="6"/>
                  </a:lnTo>
                  <a:lnTo>
                    <a:pt x="51" y="11"/>
                  </a:lnTo>
                  <a:lnTo>
                    <a:pt x="54" y="16"/>
                  </a:lnTo>
                  <a:lnTo>
                    <a:pt x="54" y="21"/>
                  </a:lnTo>
                  <a:lnTo>
                    <a:pt x="56" y="26"/>
                  </a:lnTo>
                  <a:lnTo>
                    <a:pt x="54" y="31"/>
                  </a:lnTo>
                  <a:lnTo>
                    <a:pt x="54" y="36"/>
                  </a:lnTo>
                  <a:lnTo>
                    <a:pt x="51" y="42"/>
                  </a:lnTo>
                  <a:lnTo>
                    <a:pt x="47" y="45"/>
                  </a:lnTo>
                  <a:lnTo>
                    <a:pt x="44" y="48"/>
                  </a:lnTo>
                  <a:lnTo>
                    <a:pt x="38" y="52"/>
                  </a:lnTo>
                  <a:lnTo>
                    <a:pt x="33" y="52"/>
                  </a:lnTo>
                  <a:lnTo>
                    <a:pt x="28" y="53"/>
                  </a:lnTo>
                  <a:lnTo>
                    <a:pt x="23" y="52"/>
                  </a:lnTo>
                  <a:lnTo>
                    <a:pt x="17" y="52"/>
                  </a:lnTo>
                  <a:lnTo>
                    <a:pt x="12" y="48"/>
                  </a:lnTo>
                  <a:lnTo>
                    <a:pt x="7" y="45"/>
                  </a:lnTo>
                  <a:lnTo>
                    <a:pt x="5" y="42"/>
                  </a:lnTo>
                  <a:lnTo>
                    <a:pt x="2" y="36"/>
                  </a:lnTo>
                  <a:lnTo>
                    <a:pt x="0" y="31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4" name="Freeform 288"/>
            <p:cNvSpPr>
              <a:spLocks/>
            </p:cNvSpPr>
            <p:nvPr/>
          </p:nvSpPr>
          <p:spPr bwMode="auto">
            <a:xfrm>
              <a:off x="4768" y="1085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0"/>
                  </a:lnTo>
                  <a:lnTo>
                    <a:pt x="2" y="15"/>
                  </a:lnTo>
                  <a:lnTo>
                    <a:pt x="5" y="12"/>
                  </a:lnTo>
                  <a:lnTo>
                    <a:pt x="7" y="7"/>
                  </a:lnTo>
                  <a:lnTo>
                    <a:pt x="12" y="4"/>
                  </a:lnTo>
                  <a:lnTo>
                    <a:pt x="17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38" y="2"/>
                  </a:lnTo>
                  <a:lnTo>
                    <a:pt x="44" y="4"/>
                  </a:lnTo>
                  <a:lnTo>
                    <a:pt x="47" y="7"/>
                  </a:lnTo>
                  <a:lnTo>
                    <a:pt x="51" y="12"/>
                  </a:lnTo>
                  <a:lnTo>
                    <a:pt x="54" y="15"/>
                  </a:lnTo>
                  <a:lnTo>
                    <a:pt x="54" y="20"/>
                  </a:lnTo>
                  <a:lnTo>
                    <a:pt x="56" y="27"/>
                  </a:lnTo>
                  <a:lnTo>
                    <a:pt x="54" y="32"/>
                  </a:lnTo>
                  <a:lnTo>
                    <a:pt x="54" y="37"/>
                  </a:lnTo>
                  <a:lnTo>
                    <a:pt x="51" y="42"/>
                  </a:lnTo>
                  <a:lnTo>
                    <a:pt x="47" y="46"/>
                  </a:lnTo>
                  <a:lnTo>
                    <a:pt x="44" y="49"/>
                  </a:lnTo>
                  <a:lnTo>
                    <a:pt x="38" y="51"/>
                  </a:lnTo>
                  <a:lnTo>
                    <a:pt x="33" y="52"/>
                  </a:lnTo>
                  <a:lnTo>
                    <a:pt x="28" y="54"/>
                  </a:lnTo>
                  <a:lnTo>
                    <a:pt x="23" y="52"/>
                  </a:lnTo>
                  <a:lnTo>
                    <a:pt x="17" y="51"/>
                  </a:lnTo>
                  <a:lnTo>
                    <a:pt x="12" y="49"/>
                  </a:lnTo>
                  <a:lnTo>
                    <a:pt x="7" y="46"/>
                  </a:lnTo>
                  <a:lnTo>
                    <a:pt x="5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" name="Rectangle 293"/>
            <p:cNvSpPr>
              <a:spLocks noChangeArrowheads="1"/>
            </p:cNvSpPr>
            <p:nvPr/>
          </p:nvSpPr>
          <p:spPr bwMode="auto">
            <a:xfrm>
              <a:off x="4505" y="1504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346" name="Rectangle 294"/>
            <p:cNvSpPr>
              <a:spLocks noChangeArrowheads="1"/>
            </p:cNvSpPr>
            <p:nvPr/>
          </p:nvSpPr>
          <p:spPr bwMode="auto">
            <a:xfrm>
              <a:off x="4449" y="1464"/>
              <a:ext cx="59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347" name="Line 295"/>
            <p:cNvSpPr>
              <a:spLocks noChangeShapeType="1"/>
            </p:cNvSpPr>
            <p:nvPr/>
          </p:nvSpPr>
          <p:spPr bwMode="auto">
            <a:xfrm flipH="1">
              <a:off x="3408" y="1885"/>
              <a:ext cx="767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" name="Line 296"/>
            <p:cNvSpPr>
              <a:spLocks noChangeShapeType="1"/>
            </p:cNvSpPr>
            <p:nvPr/>
          </p:nvSpPr>
          <p:spPr bwMode="auto">
            <a:xfrm flipH="1">
              <a:off x="3408" y="920"/>
              <a:ext cx="70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" name="Line 297"/>
            <p:cNvSpPr>
              <a:spLocks noChangeShapeType="1"/>
            </p:cNvSpPr>
            <p:nvPr/>
          </p:nvSpPr>
          <p:spPr bwMode="auto">
            <a:xfrm flipV="1">
              <a:off x="4038" y="920"/>
              <a:ext cx="1" cy="11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" name="Line 298"/>
            <p:cNvSpPr>
              <a:spLocks noChangeShapeType="1"/>
            </p:cNvSpPr>
            <p:nvPr/>
          </p:nvSpPr>
          <p:spPr bwMode="auto">
            <a:xfrm>
              <a:off x="4038" y="1140"/>
              <a:ext cx="2" cy="41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" name="Line 299"/>
            <p:cNvSpPr>
              <a:spLocks noChangeShapeType="1"/>
            </p:cNvSpPr>
            <p:nvPr/>
          </p:nvSpPr>
          <p:spPr bwMode="auto">
            <a:xfrm>
              <a:off x="4040" y="1550"/>
              <a:ext cx="1" cy="11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" name="Line 300"/>
            <p:cNvSpPr>
              <a:spLocks noChangeShapeType="1"/>
            </p:cNvSpPr>
            <p:nvPr/>
          </p:nvSpPr>
          <p:spPr bwMode="auto">
            <a:xfrm flipH="1">
              <a:off x="4038" y="1256"/>
              <a:ext cx="153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" name="Line 301"/>
            <p:cNvSpPr>
              <a:spLocks noChangeShapeType="1"/>
            </p:cNvSpPr>
            <p:nvPr/>
          </p:nvSpPr>
          <p:spPr bwMode="auto">
            <a:xfrm flipH="1">
              <a:off x="4040" y="1298"/>
              <a:ext cx="266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4" name="Line 302"/>
            <p:cNvSpPr>
              <a:spLocks noChangeShapeType="1"/>
            </p:cNvSpPr>
            <p:nvPr/>
          </p:nvSpPr>
          <p:spPr bwMode="auto">
            <a:xfrm flipH="1">
              <a:off x="3707" y="1508"/>
              <a:ext cx="599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5" name="Freeform 303"/>
            <p:cNvSpPr>
              <a:spLocks/>
            </p:cNvSpPr>
            <p:nvPr/>
          </p:nvSpPr>
          <p:spPr bwMode="auto">
            <a:xfrm>
              <a:off x="4026" y="1286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1 h 54"/>
                <a:gd name="T16" fmla="*/ 1 w 56"/>
                <a:gd name="T17" fmla="*/ 0 h 54"/>
                <a:gd name="T18" fmla="*/ 1 w 56"/>
                <a:gd name="T19" fmla="*/ 1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6" y="12"/>
                  </a:lnTo>
                  <a:lnTo>
                    <a:pt x="9" y="8"/>
                  </a:lnTo>
                  <a:lnTo>
                    <a:pt x="13" y="5"/>
                  </a:lnTo>
                  <a:lnTo>
                    <a:pt x="18" y="3"/>
                  </a:lnTo>
                  <a:lnTo>
                    <a:pt x="23" y="2"/>
                  </a:lnTo>
                  <a:lnTo>
                    <a:pt x="28" y="0"/>
                  </a:lnTo>
                  <a:lnTo>
                    <a:pt x="34" y="2"/>
                  </a:lnTo>
                  <a:lnTo>
                    <a:pt x="39" y="3"/>
                  </a:lnTo>
                  <a:lnTo>
                    <a:pt x="44" y="5"/>
                  </a:lnTo>
                  <a:lnTo>
                    <a:pt x="47" y="8"/>
                  </a:lnTo>
                  <a:lnTo>
                    <a:pt x="51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3"/>
                  </a:lnTo>
                  <a:lnTo>
                    <a:pt x="54" y="38"/>
                  </a:lnTo>
                  <a:lnTo>
                    <a:pt x="51" y="42"/>
                  </a:lnTo>
                  <a:lnTo>
                    <a:pt x="47" y="47"/>
                  </a:lnTo>
                  <a:lnTo>
                    <a:pt x="44" y="50"/>
                  </a:lnTo>
                  <a:lnTo>
                    <a:pt x="39" y="52"/>
                  </a:lnTo>
                  <a:lnTo>
                    <a:pt x="34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8" y="52"/>
                  </a:lnTo>
                  <a:lnTo>
                    <a:pt x="13" y="50"/>
                  </a:lnTo>
                  <a:lnTo>
                    <a:pt x="9" y="47"/>
                  </a:lnTo>
                  <a:lnTo>
                    <a:pt x="6" y="42"/>
                  </a:lnTo>
                  <a:lnTo>
                    <a:pt x="2" y="38"/>
                  </a:lnTo>
                  <a:lnTo>
                    <a:pt x="0" y="33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6" name="Freeform 304"/>
            <p:cNvSpPr>
              <a:spLocks/>
            </p:cNvSpPr>
            <p:nvPr/>
          </p:nvSpPr>
          <p:spPr bwMode="auto">
            <a:xfrm>
              <a:off x="4026" y="1242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0"/>
                  </a:lnTo>
                  <a:lnTo>
                    <a:pt x="2" y="15"/>
                  </a:lnTo>
                  <a:lnTo>
                    <a:pt x="6" y="12"/>
                  </a:lnTo>
                  <a:lnTo>
                    <a:pt x="9" y="7"/>
                  </a:lnTo>
                  <a:lnTo>
                    <a:pt x="13" y="3"/>
                  </a:lnTo>
                  <a:lnTo>
                    <a:pt x="18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9" y="2"/>
                  </a:lnTo>
                  <a:lnTo>
                    <a:pt x="44" y="3"/>
                  </a:lnTo>
                  <a:lnTo>
                    <a:pt x="47" y="7"/>
                  </a:lnTo>
                  <a:lnTo>
                    <a:pt x="51" y="12"/>
                  </a:lnTo>
                  <a:lnTo>
                    <a:pt x="54" y="15"/>
                  </a:lnTo>
                  <a:lnTo>
                    <a:pt x="56" y="20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1" y="42"/>
                  </a:lnTo>
                  <a:lnTo>
                    <a:pt x="47" y="45"/>
                  </a:lnTo>
                  <a:lnTo>
                    <a:pt x="44" y="48"/>
                  </a:lnTo>
                  <a:lnTo>
                    <a:pt x="39" y="50"/>
                  </a:lnTo>
                  <a:lnTo>
                    <a:pt x="34" y="52"/>
                  </a:lnTo>
                  <a:lnTo>
                    <a:pt x="28" y="54"/>
                  </a:lnTo>
                  <a:lnTo>
                    <a:pt x="23" y="52"/>
                  </a:lnTo>
                  <a:lnTo>
                    <a:pt x="18" y="50"/>
                  </a:lnTo>
                  <a:lnTo>
                    <a:pt x="13" y="48"/>
                  </a:lnTo>
                  <a:lnTo>
                    <a:pt x="9" y="45"/>
                  </a:lnTo>
                  <a:lnTo>
                    <a:pt x="6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7" name="Freeform 305"/>
            <p:cNvSpPr>
              <a:spLocks/>
            </p:cNvSpPr>
            <p:nvPr/>
          </p:nvSpPr>
          <p:spPr bwMode="auto">
            <a:xfrm>
              <a:off x="3691" y="1872"/>
              <a:ext cx="28" cy="26"/>
            </a:xfrm>
            <a:custGeom>
              <a:avLst/>
              <a:gdLst>
                <a:gd name="T0" fmla="*/ 0 w 56"/>
                <a:gd name="T1" fmla="*/ 0 h 54"/>
                <a:gd name="T2" fmla="*/ 0 w 56"/>
                <a:gd name="T3" fmla="*/ 0 h 54"/>
                <a:gd name="T4" fmla="*/ 1 w 56"/>
                <a:gd name="T5" fmla="*/ 0 h 54"/>
                <a:gd name="T6" fmla="*/ 1 w 56"/>
                <a:gd name="T7" fmla="*/ 0 h 54"/>
                <a:gd name="T8" fmla="*/ 1 w 56"/>
                <a:gd name="T9" fmla="*/ 0 h 54"/>
                <a:gd name="T10" fmla="*/ 1 w 56"/>
                <a:gd name="T11" fmla="*/ 0 h 54"/>
                <a:gd name="T12" fmla="*/ 1 w 56"/>
                <a:gd name="T13" fmla="*/ 0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0 h 54"/>
                <a:gd name="T22" fmla="*/ 1 w 56"/>
                <a:gd name="T23" fmla="*/ 0 h 54"/>
                <a:gd name="T24" fmla="*/ 1 w 56"/>
                <a:gd name="T25" fmla="*/ 0 h 54"/>
                <a:gd name="T26" fmla="*/ 1 w 56"/>
                <a:gd name="T27" fmla="*/ 0 h 54"/>
                <a:gd name="T28" fmla="*/ 1 w 56"/>
                <a:gd name="T29" fmla="*/ 0 h 54"/>
                <a:gd name="T30" fmla="*/ 1 w 56"/>
                <a:gd name="T31" fmla="*/ 0 h 54"/>
                <a:gd name="T32" fmla="*/ 1 w 56"/>
                <a:gd name="T33" fmla="*/ 0 h 54"/>
                <a:gd name="T34" fmla="*/ 1 w 56"/>
                <a:gd name="T35" fmla="*/ 0 h 54"/>
                <a:gd name="T36" fmla="*/ 1 w 56"/>
                <a:gd name="T37" fmla="*/ 0 h 54"/>
                <a:gd name="T38" fmla="*/ 1 w 56"/>
                <a:gd name="T39" fmla="*/ 0 h 54"/>
                <a:gd name="T40" fmla="*/ 1 w 56"/>
                <a:gd name="T41" fmla="*/ 0 h 54"/>
                <a:gd name="T42" fmla="*/ 1 w 56"/>
                <a:gd name="T43" fmla="*/ 0 h 54"/>
                <a:gd name="T44" fmla="*/ 1 w 56"/>
                <a:gd name="T45" fmla="*/ 0 h 54"/>
                <a:gd name="T46" fmla="*/ 1 w 56"/>
                <a:gd name="T47" fmla="*/ 0 h 54"/>
                <a:gd name="T48" fmla="*/ 1 w 56"/>
                <a:gd name="T49" fmla="*/ 0 h 54"/>
                <a:gd name="T50" fmla="*/ 1 w 56"/>
                <a:gd name="T51" fmla="*/ 0 h 54"/>
                <a:gd name="T52" fmla="*/ 1 w 56"/>
                <a:gd name="T53" fmla="*/ 0 h 54"/>
                <a:gd name="T54" fmla="*/ 1 w 56"/>
                <a:gd name="T55" fmla="*/ 0 h 54"/>
                <a:gd name="T56" fmla="*/ 1 w 56"/>
                <a:gd name="T57" fmla="*/ 0 h 54"/>
                <a:gd name="T58" fmla="*/ 1 w 56"/>
                <a:gd name="T59" fmla="*/ 0 h 54"/>
                <a:gd name="T60" fmla="*/ 1 w 56"/>
                <a:gd name="T61" fmla="*/ 0 h 54"/>
                <a:gd name="T62" fmla="*/ 1 w 56"/>
                <a:gd name="T63" fmla="*/ 0 h 54"/>
                <a:gd name="T64" fmla="*/ 0 w 56"/>
                <a:gd name="T65" fmla="*/ 0 h 54"/>
                <a:gd name="T66" fmla="*/ 0 w 56"/>
                <a:gd name="T67" fmla="*/ 0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3" y="12"/>
                  </a:lnTo>
                  <a:lnTo>
                    <a:pt x="7" y="9"/>
                  </a:lnTo>
                  <a:lnTo>
                    <a:pt x="12" y="5"/>
                  </a:lnTo>
                  <a:lnTo>
                    <a:pt x="16" y="2"/>
                  </a:lnTo>
                  <a:lnTo>
                    <a:pt x="21" y="0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38" y="2"/>
                  </a:lnTo>
                  <a:lnTo>
                    <a:pt x="44" y="5"/>
                  </a:lnTo>
                  <a:lnTo>
                    <a:pt x="47" y="9"/>
                  </a:lnTo>
                  <a:lnTo>
                    <a:pt x="51" y="12"/>
                  </a:lnTo>
                  <a:lnTo>
                    <a:pt x="52" y="17"/>
                  </a:lnTo>
                  <a:lnTo>
                    <a:pt x="54" y="22"/>
                  </a:lnTo>
                  <a:lnTo>
                    <a:pt x="56" y="27"/>
                  </a:lnTo>
                  <a:lnTo>
                    <a:pt x="54" y="32"/>
                  </a:lnTo>
                  <a:lnTo>
                    <a:pt x="52" y="37"/>
                  </a:lnTo>
                  <a:lnTo>
                    <a:pt x="51" y="42"/>
                  </a:lnTo>
                  <a:lnTo>
                    <a:pt x="47" y="45"/>
                  </a:lnTo>
                  <a:lnTo>
                    <a:pt x="44" y="49"/>
                  </a:lnTo>
                  <a:lnTo>
                    <a:pt x="38" y="52"/>
                  </a:lnTo>
                  <a:lnTo>
                    <a:pt x="33" y="54"/>
                  </a:lnTo>
                  <a:lnTo>
                    <a:pt x="28" y="54"/>
                  </a:lnTo>
                  <a:lnTo>
                    <a:pt x="21" y="54"/>
                  </a:lnTo>
                  <a:lnTo>
                    <a:pt x="16" y="52"/>
                  </a:lnTo>
                  <a:lnTo>
                    <a:pt x="12" y="49"/>
                  </a:lnTo>
                  <a:lnTo>
                    <a:pt x="7" y="45"/>
                  </a:lnTo>
                  <a:lnTo>
                    <a:pt x="3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" name="Freeform 306"/>
            <p:cNvSpPr>
              <a:spLocks/>
            </p:cNvSpPr>
            <p:nvPr/>
          </p:nvSpPr>
          <p:spPr bwMode="auto">
            <a:xfrm>
              <a:off x="3693" y="906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1 h 54"/>
                <a:gd name="T16" fmla="*/ 1 w 56"/>
                <a:gd name="T17" fmla="*/ 0 h 54"/>
                <a:gd name="T18" fmla="*/ 1 w 56"/>
                <a:gd name="T19" fmla="*/ 1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4" y="12"/>
                  </a:lnTo>
                  <a:lnTo>
                    <a:pt x="7" y="9"/>
                  </a:lnTo>
                  <a:lnTo>
                    <a:pt x="13" y="5"/>
                  </a:lnTo>
                  <a:lnTo>
                    <a:pt x="18" y="4"/>
                  </a:lnTo>
                  <a:lnTo>
                    <a:pt x="23" y="2"/>
                  </a:lnTo>
                  <a:lnTo>
                    <a:pt x="28" y="0"/>
                  </a:lnTo>
                  <a:lnTo>
                    <a:pt x="34" y="2"/>
                  </a:lnTo>
                  <a:lnTo>
                    <a:pt x="39" y="4"/>
                  </a:lnTo>
                  <a:lnTo>
                    <a:pt x="44" y="5"/>
                  </a:lnTo>
                  <a:lnTo>
                    <a:pt x="48" y="9"/>
                  </a:lnTo>
                  <a:lnTo>
                    <a:pt x="51" y="12"/>
                  </a:lnTo>
                  <a:lnTo>
                    <a:pt x="55" y="17"/>
                  </a:lnTo>
                  <a:lnTo>
                    <a:pt x="55" y="22"/>
                  </a:lnTo>
                  <a:lnTo>
                    <a:pt x="56" y="27"/>
                  </a:lnTo>
                  <a:lnTo>
                    <a:pt x="55" y="34"/>
                  </a:lnTo>
                  <a:lnTo>
                    <a:pt x="55" y="39"/>
                  </a:lnTo>
                  <a:lnTo>
                    <a:pt x="51" y="42"/>
                  </a:lnTo>
                  <a:lnTo>
                    <a:pt x="48" y="47"/>
                  </a:lnTo>
                  <a:lnTo>
                    <a:pt x="44" y="51"/>
                  </a:lnTo>
                  <a:lnTo>
                    <a:pt x="39" y="52"/>
                  </a:lnTo>
                  <a:lnTo>
                    <a:pt x="34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8" y="52"/>
                  </a:lnTo>
                  <a:lnTo>
                    <a:pt x="13" y="51"/>
                  </a:lnTo>
                  <a:lnTo>
                    <a:pt x="7" y="47"/>
                  </a:lnTo>
                  <a:lnTo>
                    <a:pt x="4" y="42"/>
                  </a:lnTo>
                  <a:lnTo>
                    <a:pt x="2" y="39"/>
                  </a:lnTo>
                  <a:lnTo>
                    <a:pt x="0" y="34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" name="Freeform 307"/>
            <p:cNvSpPr>
              <a:spLocks/>
            </p:cNvSpPr>
            <p:nvPr/>
          </p:nvSpPr>
          <p:spPr bwMode="auto">
            <a:xfrm>
              <a:off x="4026" y="906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1 h 54"/>
                <a:gd name="T16" fmla="*/ 1 w 56"/>
                <a:gd name="T17" fmla="*/ 0 h 54"/>
                <a:gd name="T18" fmla="*/ 1 w 56"/>
                <a:gd name="T19" fmla="*/ 1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6" y="12"/>
                  </a:lnTo>
                  <a:lnTo>
                    <a:pt x="9" y="9"/>
                  </a:lnTo>
                  <a:lnTo>
                    <a:pt x="13" y="5"/>
                  </a:lnTo>
                  <a:lnTo>
                    <a:pt x="18" y="4"/>
                  </a:lnTo>
                  <a:lnTo>
                    <a:pt x="23" y="2"/>
                  </a:lnTo>
                  <a:lnTo>
                    <a:pt x="28" y="0"/>
                  </a:lnTo>
                  <a:lnTo>
                    <a:pt x="34" y="2"/>
                  </a:lnTo>
                  <a:lnTo>
                    <a:pt x="39" y="4"/>
                  </a:lnTo>
                  <a:lnTo>
                    <a:pt x="44" y="5"/>
                  </a:lnTo>
                  <a:lnTo>
                    <a:pt x="47" y="9"/>
                  </a:lnTo>
                  <a:lnTo>
                    <a:pt x="51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4"/>
                  </a:lnTo>
                  <a:lnTo>
                    <a:pt x="54" y="39"/>
                  </a:lnTo>
                  <a:lnTo>
                    <a:pt x="51" y="42"/>
                  </a:lnTo>
                  <a:lnTo>
                    <a:pt x="47" y="47"/>
                  </a:lnTo>
                  <a:lnTo>
                    <a:pt x="44" y="51"/>
                  </a:lnTo>
                  <a:lnTo>
                    <a:pt x="39" y="52"/>
                  </a:lnTo>
                  <a:lnTo>
                    <a:pt x="34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8" y="52"/>
                  </a:lnTo>
                  <a:lnTo>
                    <a:pt x="13" y="51"/>
                  </a:lnTo>
                  <a:lnTo>
                    <a:pt x="9" y="47"/>
                  </a:lnTo>
                  <a:lnTo>
                    <a:pt x="6" y="42"/>
                  </a:lnTo>
                  <a:lnTo>
                    <a:pt x="2" y="39"/>
                  </a:lnTo>
                  <a:lnTo>
                    <a:pt x="0" y="34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0" name="Freeform 308"/>
            <p:cNvSpPr>
              <a:spLocks/>
            </p:cNvSpPr>
            <p:nvPr/>
          </p:nvSpPr>
          <p:spPr bwMode="auto">
            <a:xfrm>
              <a:off x="5056" y="1010"/>
              <a:ext cx="54" cy="15"/>
            </a:xfrm>
            <a:custGeom>
              <a:avLst/>
              <a:gdLst>
                <a:gd name="T0" fmla="*/ 1 w 108"/>
                <a:gd name="T1" fmla="*/ 1 h 30"/>
                <a:gd name="T2" fmla="*/ 0 w 108"/>
                <a:gd name="T3" fmla="*/ 0 h 30"/>
                <a:gd name="T4" fmla="*/ 0 w 108"/>
                <a:gd name="T5" fmla="*/ 1 h 30"/>
                <a:gd name="T6" fmla="*/ 1 w 108"/>
                <a:gd name="T7" fmla="*/ 1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30"/>
                <a:gd name="T14" fmla="*/ 108 w 108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30">
                  <a:moveTo>
                    <a:pt x="108" y="15"/>
                  </a:moveTo>
                  <a:lnTo>
                    <a:pt x="0" y="0"/>
                  </a:lnTo>
                  <a:lnTo>
                    <a:pt x="0" y="30"/>
                  </a:lnTo>
                  <a:lnTo>
                    <a:pt x="108" y="15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" name="Freeform 309"/>
            <p:cNvSpPr>
              <a:spLocks/>
            </p:cNvSpPr>
            <p:nvPr/>
          </p:nvSpPr>
          <p:spPr bwMode="auto">
            <a:xfrm>
              <a:off x="5056" y="1010"/>
              <a:ext cx="54" cy="15"/>
            </a:xfrm>
            <a:custGeom>
              <a:avLst/>
              <a:gdLst>
                <a:gd name="T0" fmla="*/ 1 w 108"/>
                <a:gd name="T1" fmla="*/ 1 h 30"/>
                <a:gd name="T2" fmla="*/ 0 w 108"/>
                <a:gd name="T3" fmla="*/ 0 h 30"/>
                <a:gd name="T4" fmla="*/ 0 w 108"/>
                <a:gd name="T5" fmla="*/ 1 h 30"/>
                <a:gd name="T6" fmla="*/ 1 w 108"/>
                <a:gd name="T7" fmla="*/ 1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30"/>
                <a:gd name="T14" fmla="*/ 108 w 108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30">
                  <a:moveTo>
                    <a:pt x="108" y="15"/>
                  </a:moveTo>
                  <a:lnTo>
                    <a:pt x="0" y="0"/>
                  </a:lnTo>
                  <a:lnTo>
                    <a:pt x="0" y="30"/>
                  </a:lnTo>
                  <a:lnTo>
                    <a:pt x="108" y="15"/>
                  </a:lnTo>
                  <a:close/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2" name="Line 310"/>
            <p:cNvSpPr>
              <a:spLocks noChangeShapeType="1"/>
            </p:cNvSpPr>
            <p:nvPr/>
          </p:nvSpPr>
          <p:spPr bwMode="auto">
            <a:xfrm flipH="1">
              <a:off x="4986" y="1017"/>
              <a:ext cx="70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3" name="Freeform 311"/>
            <p:cNvSpPr>
              <a:spLocks/>
            </p:cNvSpPr>
            <p:nvPr/>
          </p:nvSpPr>
          <p:spPr bwMode="auto">
            <a:xfrm>
              <a:off x="5325" y="1052"/>
              <a:ext cx="55" cy="15"/>
            </a:xfrm>
            <a:custGeom>
              <a:avLst/>
              <a:gdLst>
                <a:gd name="T0" fmla="*/ 1 w 110"/>
                <a:gd name="T1" fmla="*/ 0 h 31"/>
                <a:gd name="T2" fmla="*/ 0 w 110"/>
                <a:gd name="T3" fmla="*/ 0 h 31"/>
                <a:gd name="T4" fmla="*/ 0 w 110"/>
                <a:gd name="T5" fmla="*/ 0 h 31"/>
                <a:gd name="T6" fmla="*/ 1 w 110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0"/>
                <a:gd name="T13" fmla="*/ 0 h 31"/>
                <a:gd name="T14" fmla="*/ 110 w 110"/>
                <a:gd name="T15" fmla="*/ 31 h 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0" h="31">
                  <a:moveTo>
                    <a:pt x="110" y="16"/>
                  </a:moveTo>
                  <a:lnTo>
                    <a:pt x="0" y="0"/>
                  </a:lnTo>
                  <a:lnTo>
                    <a:pt x="0" y="31"/>
                  </a:lnTo>
                  <a:lnTo>
                    <a:pt x="110" y="16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" name="Freeform 312"/>
            <p:cNvSpPr>
              <a:spLocks/>
            </p:cNvSpPr>
            <p:nvPr/>
          </p:nvSpPr>
          <p:spPr bwMode="auto">
            <a:xfrm>
              <a:off x="5325" y="1052"/>
              <a:ext cx="55" cy="15"/>
            </a:xfrm>
            <a:custGeom>
              <a:avLst/>
              <a:gdLst>
                <a:gd name="T0" fmla="*/ 1 w 110"/>
                <a:gd name="T1" fmla="*/ 0 h 31"/>
                <a:gd name="T2" fmla="*/ 0 w 110"/>
                <a:gd name="T3" fmla="*/ 0 h 31"/>
                <a:gd name="T4" fmla="*/ 0 w 110"/>
                <a:gd name="T5" fmla="*/ 0 h 31"/>
                <a:gd name="T6" fmla="*/ 1 w 110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0"/>
                <a:gd name="T13" fmla="*/ 0 h 31"/>
                <a:gd name="T14" fmla="*/ 110 w 110"/>
                <a:gd name="T15" fmla="*/ 31 h 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0" h="31">
                  <a:moveTo>
                    <a:pt x="110" y="16"/>
                  </a:moveTo>
                  <a:lnTo>
                    <a:pt x="0" y="0"/>
                  </a:lnTo>
                  <a:lnTo>
                    <a:pt x="0" y="31"/>
                  </a:lnTo>
                  <a:lnTo>
                    <a:pt x="110" y="16"/>
                  </a:lnTo>
                  <a:close/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5" name="Line 313"/>
            <p:cNvSpPr>
              <a:spLocks noChangeShapeType="1"/>
            </p:cNvSpPr>
            <p:nvPr/>
          </p:nvSpPr>
          <p:spPr bwMode="auto">
            <a:xfrm flipH="1">
              <a:off x="5255" y="1059"/>
              <a:ext cx="70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" name="Rectangle 314"/>
            <p:cNvSpPr>
              <a:spLocks noChangeArrowheads="1"/>
            </p:cNvSpPr>
            <p:nvPr/>
          </p:nvSpPr>
          <p:spPr bwMode="auto">
            <a:xfrm>
              <a:off x="5051" y="932"/>
              <a:ext cx="31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 i="1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  <a:endParaRPr lang="en-US" altLang="zh-CN"/>
            </a:p>
          </p:txBody>
        </p:sp>
        <p:sp>
          <p:nvSpPr>
            <p:cNvPr id="367" name="Rectangle 315"/>
            <p:cNvSpPr>
              <a:spLocks noChangeArrowheads="1"/>
            </p:cNvSpPr>
            <p:nvPr/>
          </p:nvSpPr>
          <p:spPr bwMode="auto">
            <a:xfrm>
              <a:off x="5030" y="890"/>
              <a:ext cx="2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endParaRPr lang="en-US" altLang="zh-CN"/>
            </a:p>
          </p:txBody>
        </p:sp>
        <p:sp>
          <p:nvSpPr>
            <p:cNvPr id="368" name="Rectangle 316"/>
            <p:cNvSpPr>
              <a:spLocks noChangeArrowheads="1"/>
            </p:cNvSpPr>
            <p:nvPr/>
          </p:nvSpPr>
          <p:spPr bwMode="auto">
            <a:xfrm>
              <a:off x="5288" y="962"/>
              <a:ext cx="4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宋体" pitchFamily="2" charset="-122"/>
                </a:rPr>
                <a:t>I</a:t>
              </a:r>
              <a:endParaRPr lang="en-US" altLang="zh-CN"/>
            </a:p>
          </p:txBody>
        </p:sp>
        <p:sp>
          <p:nvSpPr>
            <p:cNvPr id="369" name="Rectangle 317"/>
            <p:cNvSpPr>
              <a:spLocks noChangeArrowheads="1"/>
            </p:cNvSpPr>
            <p:nvPr/>
          </p:nvSpPr>
          <p:spPr bwMode="auto">
            <a:xfrm>
              <a:off x="5328" y="992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宋体" pitchFamily="2" charset="-122"/>
                </a:rPr>
                <a:t>o</a:t>
              </a:r>
              <a:endParaRPr lang="en-US" altLang="zh-CN"/>
            </a:p>
          </p:txBody>
        </p:sp>
        <p:sp>
          <p:nvSpPr>
            <p:cNvPr id="370" name="Rectangle 318"/>
            <p:cNvSpPr>
              <a:spLocks noChangeArrowheads="1"/>
            </p:cNvSpPr>
            <p:nvPr/>
          </p:nvSpPr>
          <p:spPr bwMode="auto">
            <a:xfrm>
              <a:off x="4450" y="1940"/>
              <a:ext cx="19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宋体" pitchFamily="2" charset="-122"/>
                </a:rPr>
                <a:t>(a)</a:t>
              </a:r>
              <a:endParaRPr lang="en-US" altLang="zh-CN" sz="1600"/>
            </a:p>
          </p:txBody>
        </p:sp>
        <p:sp>
          <p:nvSpPr>
            <p:cNvPr id="371" name="Freeform 319"/>
            <p:cNvSpPr>
              <a:spLocks noEditPoints="1"/>
            </p:cNvSpPr>
            <p:nvPr/>
          </p:nvSpPr>
          <p:spPr bwMode="auto">
            <a:xfrm>
              <a:off x="3696" y="1028"/>
              <a:ext cx="14" cy="118"/>
            </a:xfrm>
            <a:custGeom>
              <a:avLst/>
              <a:gdLst>
                <a:gd name="T0" fmla="*/ 1 w 28"/>
                <a:gd name="T1" fmla="*/ 1 h 236"/>
                <a:gd name="T2" fmla="*/ 1 w 28"/>
                <a:gd name="T3" fmla="*/ 1 h 236"/>
                <a:gd name="T4" fmla="*/ 1 w 28"/>
                <a:gd name="T5" fmla="*/ 1 h 236"/>
                <a:gd name="T6" fmla="*/ 1 w 28"/>
                <a:gd name="T7" fmla="*/ 1 h 236"/>
                <a:gd name="T8" fmla="*/ 1 w 28"/>
                <a:gd name="T9" fmla="*/ 1 h 236"/>
                <a:gd name="T10" fmla="*/ 1 w 28"/>
                <a:gd name="T11" fmla="*/ 1 h 236"/>
                <a:gd name="T12" fmla="*/ 1 w 28"/>
                <a:gd name="T13" fmla="*/ 1 h 236"/>
                <a:gd name="T14" fmla="*/ 1 w 28"/>
                <a:gd name="T15" fmla="*/ 1 h 236"/>
                <a:gd name="T16" fmla="*/ 1 w 28"/>
                <a:gd name="T17" fmla="*/ 1 h 236"/>
                <a:gd name="T18" fmla="*/ 1 w 28"/>
                <a:gd name="T19" fmla="*/ 1 h 236"/>
                <a:gd name="T20" fmla="*/ 1 w 28"/>
                <a:gd name="T21" fmla="*/ 1 h 236"/>
                <a:gd name="T22" fmla="*/ 1 w 28"/>
                <a:gd name="T23" fmla="*/ 1 h 236"/>
                <a:gd name="T24" fmla="*/ 1 w 28"/>
                <a:gd name="T25" fmla="*/ 1 h 236"/>
                <a:gd name="T26" fmla="*/ 1 w 28"/>
                <a:gd name="T27" fmla="*/ 1 h 236"/>
                <a:gd name="T28" fmla="*/ 1 w 28"/>
                <a:gd name="T29" fmla="*/ 1 h 236"/>
                <a:gd name="T30" fmla="*/ 1 w 28"/>
                <a:gd name="T31" fmla="*/ 1 h 236"/>
                <a:gd name="T32" fmla="*/ 1 w 28"/>
                <a:gd name="T33" fmla="*/ 1 h 236"/>
                <a:gd name="T34" fmla="*/ 1 w 28"/>
                <a:gd name="T35" fmla="*/ 1 h 236"/>
                <a:gd name="T36" fmla="*/ 1 w 28"/>
                <a:gd name="T37" fmla="*/ 0 h 236"/>
                <a:gd name="T38" fmla="*/ 1 w 28"/>
                <a:gd name="T39" fmla="*/ 1 h 236"/>
                <a:gd name="T40" fmla="*/ 1 w 28"/>
                <a:gd name="T41" fmla="*/ 1 h 236"/>
                <a:gd name="T42" fmla="*/ 1 w 28"/>
                <a:gd name="T43" fmla="*/ 1 h 236"/>
                <a:gd name="T44" fmla="*/ 1 w 28"/>
                <a:gd name="T45" fmla="*/ 1 h 236"/>
                <a:gd name="T46" fmla="*/ 1 w 28"/>
                <a:gd name="T47" fmla="*/ 1 h 236"/>
                <a:gd name="T48" fmla="*/ 1 w 28"/>
                <a:gd name="T49" fmla="*/ 1 h 236"/>
                <a:gd name="T50" fmla="*/ 1 w 28"/>
                <a:gd name="T51" fmla="*/ 1 h 236"/>
                <a:gd name="T52" fmla="*/ 1 w 28"/>
                <a:gd name="T53" fmla="*/ 1 h 236"/>
                <a:gd name="T54" fmla="*/ 1 w 28"/>
                <a:gd name="T55" fmla="*/ 1 h 236"/>
                <a:gd name="T56" fmla="*/ 1 w 28"/>
                <a:gd name="T57" fmla="*/ 1 h 236"/>
                <a:gd name="T58" fmla="*/ 1 w 28"/>
                <a:gd name="T59" fmla="*/ 1 h 236"/>
                <a:gd name="T60" fmla="*/ 1 w 28"/>
                <a:gd name="T61" fmla="*/ 1 h 236"/>
                <a:gd name="T62" fmla="*/ 1 w 28"/>
                <a:gd name="T63" fmla="*/ 1 h 236"/>
                <a:gd name="T64" fmla="*/ 1 w 28"/>
                <a:gd name="T65" fmla="*/ 1 h 236"/>
                <a:gd name="T66" fmla="*/ 1 w 28"/>
                <a:gd name="T67" fmla="*/ 1 h 236"/>
                <a:gd name="T68" fmla="*/ 1 w 28"/>
                <a:gd name="T69" fmla="*/ 0 h 236"/>
                <a:gd name="T70" fmla="*/ 1 w 28"/>
                <a:gd name="T71" fmla="*/ 0 h 2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8"/>
                <a:gd name="T109" fmla="*/ 0 h 236"/>
                <a:gd name="T110" fmla="*/ 28 w 28"/>
                <a:gd name="T111" fmla="*/ 236 h 2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8" h="236">
                  <a:moveTo>
                    <a:pt x="14" y="209"/>
                  </a:moveTo>
                  <a:lnTo>
                    <a:pt x="13" y="210"/>
                  </a:lnTo>
                  <a:lnTo>
                    <a:pt x="9" y="210"/>
                  </a:lnTo>
                  <a:lnTo>
                    <a:pt x="7" y="212"/>
                  </a:lnTo>
                  <a:lnTo>
                    <a:pt x="6" y="214"/>
                  </a:lnTo>
                  <a:lnTo>
                    <a:pt x="4" y="215"/>
                  </a:lnTo>
                  <a:lnTo>
                    <a:pt x="2" y="217"/>
                  </a:lnTo>
                  <a:lnTo>
                    <a:pt x="2" y="220"/>
                  </a:lnTo>
                  <a:lnTo>
                    <a:pt x="0" y="222"/>
                  </a:lnTo>
                  <a:lnTo>
                    <a:pt x="2" y="226"/>
                  </a:lnTo>
                  <a:lnTo>
                    <a:pt x="2" y="227"/>
                  </a:lnTo>
                  <a:lnTo>
                    <a:pt x="4" y="231"/>
                  </a:lnTo>
                  <a:lnTo>
                    <a:pt x="6" y="232"/>
                  </a:lnTo>
                  <a:lnTo>
                    <a:pt x="7" y="234"/>
                  </a:lnTo>
                  <a:lnTo>
                    <a:pt x="9" y="234"/>
                  </a:lnTo>
                  <a:lnTo>
                    <a:pt x="13" y="236"/>
                  </a:lnTo>
                  <a:lnTo>
                    <a:pt x="14" y="236"/>
                  </a:lnTo>
                  <a:lnTo>
                    <a:pt x="18" y="236"/>
                  </a:lnTo>
                  <a:lnTo>
                    <a:pt x="20" y="234"/>
                  </a:lnTo>
                  <a:lnTo>
                    <a:pt x="23" y="234"/>
                  </a:lnTo>
                  <a:lnTo>
                    <a:pt x="25" y="232"/>
                  </a:lnTo>
                  <a:lnTo>
                    <a:pt x="27" y="231"/>
                  </a:lnTo>
                  <a:lnTo>
                    <a:pt x="27" y="227"/>
                  </a:lnTo>
                  <a:lnTo>
                    <a:pt x="28" y="226"/>
                  </a:lnTo>
                  <a:lnTo>
                    <a:pt x="28" y="222"/>
                  </a:lnTo>
                  <a:lnTo>
                    <a:pt x="28" y="220"/>
                  </a:lnTo>
                  <a:lnTo>
                    <a:pt x="27" y="217"/>
                  </a:lnTo>
                  <a:lnTo>
                    <a:pt x="27" y="215"/>
                  </a:lnTo>
                  <a:lnTo>
                    <a:pt x="25" y="214"/>
                  </a:lnTo>
                  <a:lnTo>
                    <a:pt x="23" y="212"/>
                  </a:lnTo>
                  <a:lnTo>
                    <a:pt x="20" y="210"/>
                  </a:lnTo>
                  <a:lnTo>
                    <a:pt x="18" y="210"/>
                  </a:lnTo>
                  <a:lnTo>
                    <a:pt x="14" y="209"/>
                  </a:lnTo>
                  <a:close/>
                  <a:moveTo>
                    <a:pt x="14" y="0"/>
                  </a:moveTo>
                  <a:lnTo>
                    <a:pt x="13" y="0"/>
                  </a:lnTo>
                  <a:lnTo>
                    <a:pt x="9" y="1"/>
                  </a:lnTo>
                  <a:lnTo>
                    <a:pt x="7" y="1"/>
                  </a:lnTo>
                  <a:lnTo>
                    <a:pt x="6" y="3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2" y="15"/>
                  </a:lnTo>
                  <a:lnTo>
                    <a:pt x="2" y="18"/>
                  </a:lnTo>
                  <a:lnTo>
                    <a:pt x="4" y="20"/>
                  </a:lnTo>
                  <a:lnTo>
                    <a:pt x="6" y="21"/>
                  </a:lnTo>
                  <a:lnTo>
                    <a:pt x="7" y="23"/>
                  </a:lnTo>
                  <a:lnTo>
                    <a:pt x="9" y="25"/>
                  </a:lnTo>
                  <a:lnTo>
                    <a:pt x="13" y="26"/>
                  </a:lnTo>
                  <a:lnTo>
                    <a:pt x="14" y="26"/>
                  </a:lnTo>
                  <a:lnTo>
                    <a:pt x="18" y="26"/>
                  </a:lnTo>
                  <a:lnTo>
                    <a:pt x="20" y="25"/>
                  </a:lnTo>
                  <a:lnTo>
                    <a:pt x="23" y="23"/>
                  </a:lnTo>
                  <a:lnTo>
                    <a:pt x="25" y="21"/>
                  </a:lnTo>
                  <a:lnTo>
                    <a:pt x="27" y="20"/>
                  </a:lnTo>
                  <a:lnTo>
                    <a:pt x="27" y="18"/>
                  </a:lnTo>
                  <a:lnTo>
                    <a:pt x="28" y="15"/>
                  </a:lnTo>
                  <a:lnTo>
                    <a:pt x="28" y="13"/>
                  </a:lnTo>
                  <a:lnTo>
                    <a:pt x="28" y="10"/>
                  </a:lnTo>
                  <a:lnTo>
                    <a:pt x="27" y="8"/>
                  </a:lnTo>
                  <a:lnTo>
                    <a:pt x="27" y="6"/>
                  </a:lnTo>
                  <a:lnTo>
                    <a:pt x="25" y="3"/>
                  </a:lnTo>
                  <a:lnTo>
                    <a:pt x="23" y="1"/>
                  </a:lnTo>
                  <a:lnTo>
                    <a:pt x="20" y="1"/>
                  </a:lnTo>
                  <a:lnTo>
                    <a:pt x="18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2" name="Freeform 320"/>
            <p:cNvSpPr>
              <a:spLocks/>
            </p:cNvSpPr>
            <p:nvPr/>
          </p:nvSpPr>
          <p:spPr bwMode="auto">
            <a:xfrm>
              <a:off x="3696" y="1133"/>
              <a:ext cx="14" cy="13"/>
            </a:xfrm>
            <a:custGeom>
              <a:avLst/>
              <a:gdLst>
                <a:gd name="T0" fmla="*/ 1 w 28"/>
                <a:gd name="T1" fmla="*/ 0 h 27"/>
                <a:gd name="T2" fmla="*/ 1 w 28"/>
                <a:gd name="T3" fmla="*/ 0 h 27"/>
                <a:gd name="T4" fmla="*/ 1 w 28"/>
                <a:gd name="T5" fmla="*/ 0 h 27"/>
                <a:gd name="T6" fmla="*/ 1 w 28"/>
                <a:gd name="T7" fmla="*/ 0 h 27"/>
                <a:gd name="T8" fmla="*/ 1 w 28"/>
                <a:gd name="T9" fmla="*/ 0 h 27"/>
                <a:gd name="T10" fmla="*/ 1 w 28"/>
                <a:gd name="T11" fmla="*/ 0 h 27"/>
                <a:gd name="T12" fmla="*/ 1 w 28"/>
                <a:gd name="T13" fmla="*/ 0 h 27"/>
                <a:gd name="T14" fmla="*/ 1 w 28"/>
                <a:gd name="T15" fmla="*/ 0 h 27"/>
                <a:gd name="T16" fmla="*/ 0 w 28"/>
                <a:gd name="T17" fmla="*/ 0 h 27"/>
                <a:gd name="T18" fmla="*/ 1 w 28"/>
                <a:gd name="T19" fmla="*/ 0 h 27"/>
                <a:gd name="T20" fmla="*/ 1 w 28"/>
                <a:gd name="T21" fmla="*/ 0 h 27"/>
                <a:gd name="T22" fmla="*/ 1 w 28"/>
                <a:gd name="T23" fmla="*/ 0 h 27"/>
                <a:gd name="T24" fmla="*/ 1 w 28"/>
                <a:gd name="T25" fmla="*/ 0 h 27"/>
                <a:gd name="T26" fmla="*/ 1 w 28"/>
                <a:gd name="T27" fmla="*/ 0 h 27"/>
                <a:gd name="T28" fmla="*/ 1 w 28"/>
                <a:gd name="T29" fmla="*/ 0 h 27"/>
                <a:gd name="T30" fmla="*/ 1 w 28"/>
                <a:gd name="T31" fmla="*/ 0 h 27"/>
                <a:gd name="T32" fmla="*/ 1 w 28"/>
                <a:gd name="T33" fmla="*/ 0 h 27"/>
                <a:gd name="T34" fmla="*/ 1 w 28"/>
                <a:gd name="T35" fmla="*/ 0 h 27"/>
                <a:gd name="T36" fmla="*/ 1 w 28"/>
                <a:gd name="T37" fmla="*/ 0 h 27"/>
                <a:gd name="T38" fmla="*/ 1 w 28"/>
                <a:gd name="T39" fmla="*/ 0 h 27"/>
                <a:gd name="T40" fmla="*/ 1 w 28"/>
                <a:gd name="T41" fmla="*/ 0 h 27"/>
                <a:gd name="T42" fmla="*/ 1 w 28"/>
                <a:gd name="T43" fmla="*/ 0 h 27"/>
                <a:gd name="T44" fmla="*/ 1 w 28"/>
                <a:gd name="T45" fmla="*/ 0 h 27"/>
                <a:gd name="T46" fmla="*/ 1 w 28"/>
                <a:gd name="T47" fmla="*/ 0 h 27"/>
                <a:gd name="T48" fmla="*/ 1 w 28"/>
                <a:gd name="T49" fmla="*/ 0 h 27"/>
                <a:gd name="T50" fmla="*/ 1 w 28"/>
                <a:gd name="T51" fmla="*/ 0 h 27"/>
                <a:gd name="T52" fmla="*/ 1 w 28"/>
                <a:gd name="T53" fmla="*/ 0 h 27"/>
                <a:gd name="T54" fmla="*/ 1 w 28"/>
                <a:gd name="T55" fmla="*/ 0 h 27"/>
                <a:gd name="T56" fmla="*/ 1 w 28"/>
                <a:gd name="T57" fmla="*/ 0 h 27"/>
                <a:gd name="T58" fmla="*/ 1 w 28"/>
                <a:gd name="T59" fmla="*/ 0 h 27"/>
                <a:gd name="T60" fmla="*/ 1 w 28"/>
                <a:gd name="T61" fmla="*/ 0 h 27"/>
                <a:gd name="T62" fmla="*/ 1 w 28"/>
                <a:gd name="T63" fmla="*/ 0 h 27"/>
                <a:gd name="T64" fmla="*/ 1 w 28"/>
                <a:gd name="T65" fmla="*/ 0 h 27"/>
                <a:gd name="T66" fmla="*/ 1 w 28"/>
                <a:gd name="T67" fmla="*/ 0 h 27"/>
                <a:gd name="T68" fmla="*/ 1 w 28"/>
                <a:gd name="T69" fmla="*/ 0 h 2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7"/>
                <a:gd name="T107" fmla="*/ 28 w 28"/>
                <a:gd name="T108" fmla="*/ 27 h 2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7">
                  <a:moveTo>
                    <a:pt x="14" y="0"/>
                  </a:moveTo>
                  <a:lnTo>
                    <a:pt x="13" y="1"/>
                  </a:lnTo>
                  <a:lnTo>
                    <a:pt x="9" y="1"/>
                  </a:lnTo>
                  <a:lnTo>
                    <a:pt x="7" y="3"/>
                  </a:lnTo>
                  <a:lnTo>
                    <a:pt x="6" y="5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2" y="18"/>
                  </a:lnTo>
                  <a:lnTo>
                    <a:pt x="4" y="22"/>
                  </a:lnTo>
                  <a:lnTo>
                    <a:pt x="6" y="23"/>
                  </a:lnTo>
                  <a:lnTo>
                    <a:pt x="7" y="25"/>
                  </a:lnTo>
                  <a:lnTo>
                    <a:pt x="9" y="25"/>
                  </a:lnTo>
                  <a:lnTo>
                    <a:pt x="13" y="27"/>
                  </a:lnTo>
                  <a:lnTo>
                    <a:pt x="14" y="27"/>
                  </a:lnTo>
                  <a:lnTo>
                    <a:pt x="18" y="27"/>
                  </a:lnTo>
                  <a:lnTo>
                    <a:pt x="20" y="25"/>
                  </a:lnTo>
                  <a:lnTo>
                    <a:pt x="23" y="25"/>
                  </a:lnTo>
                  <a:lnTo>
                    <a:pt x="25" y="23"/>
                  </a:lnTo>
                  <a:lnTo>
                    <a:pt x="27" y="22"/>
                  </a:lnTo>
                  <a:lnTo>
                    <a:pt x="27" y="18"/>
                  </a:lnTo>
                  <a:lnTo>
                    <a:pt x="28" y="17"/>
                  </a:lnTo>
                  <a:lnTo>
                    <a:pt x="28" y="13"/>
                  </a:lnTo>
                  <a:lnTo>
                    <a:pt x="28" y="11"/>
                  </a:lnTo>
                  <a:lnTo>
                    <a:pt x="27" y="8"/>
                  </a:lnTo>
                  <a:lnTo>
                    <a:pt x="27" y="6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3" name="Freeform 321"/>
            <p:cNvSpPr>
              <a:spLocks/>
            </p:cNvSpPr>
            <p:nvPr/>
          </p:nvSpPr>
          <p:spPr bwMode="auto">
            <a:xfrm>
              <a:off x="3696" y="1028"/>
              <a:ext cx="14" cy="14"/>
            </a:xfrm>
            <a:custGeom>
              <a:avLst/>
              <a:gdLst>
                <a:gd name="T0" fmla="*/ 1 w 28"/>
                <a:gd name="T1" fmla="*/ 0 h 26"/>
                <a:gd name="T2" fmla="*/ 1 w 28"/>
                <a:gd name="T3" fmla="*/ 0 h 26"/>
                <a:gd name="T4" fmla="*/ 1 w 28"/>
                <a:gd name="T5" fmla="*/ 1 h 26"/>
                <a:gd name="T6" fmla="*/ 1 w 28"/>
                <a:gd name="T7" fmla="*/ 1 h 26"/>
                <a:gd name="T8" fmla="*/ 1 w 28"/>
                <a:gd name="T9" fmla="*/ 1 h 26"/>
                <a:gd name="T10" fmla="*/ 1 w 28"/>
                <a:gd name="T11" fmla="*/ 1 h 26"/>
                <a:gd name="T12" fmla="*/ 1 w 28"/>
                <a:gd name="T13" fmla="*/ 1 h 26"/>
                <a:gd name="T14" fmla="*/ 1 w 28"/>
                <a:gd name="T15" fmla="*/ 1 h 26"/>
                <a:gd name="T16" fmla="*/ 0 w 28"/>
                <a:gd name="T17" fmla="*/ 1 h 26"/>
                <a:gd name="T18" fmla="*/ 1 w 28"/>
                <a:gd name="T19" fmla="*/ 1 h 26"/>
                <a:gd name="T20" fmla="*/ 1 w 28"/>
                <a:gd name="T21" fmla="*/ 1 h 26"/>
                <a:gd name="T22" fmla="*/ 1 w 28"/>
                <a:gd name="T23" fmla="*/ 1 h 26"/>
                <a:gd name="T24" fmla="*/ 1 w 28"/>
                <a:gd name="T25" fmla="*/ 1 h 26"/>
                <a:gd name="T26" fmla="*/ 1 w 28"/>
                <a:gd name="T27" fmla="*/ 1 h 26"/>
                <a:gd name="T28" fmla="*/ 1 w 28"/>
                <a:gd name="T29" fmla="*/ 1 h 26"/>
                <a:gd name="T30" fmla="*/ 1 w 28"/>
                <a:gd name="T31" fmla="*/ 1 h 26"/>
                <a:gd name="T32" fmla="*/ 1 w 28"/>
                <a:gd name="T33" fmla="*/ 1 h 26"/>
                <a:gd name="T34" fmla="*/ 1 w 28"/>
                <a:gd name="T35" fmla="*/ 1 h 26"/>
                <a:gd name="T36" fmla="*/ 1 w 28"/>
                <a:gd name="T37" fmla="*/ 1 h 26"/>
                <a:gd name="T38" fmla="*/ 1 w 28"/>
                <a:gd name="T39" fmla="*/ 1 h 26"/>
                <a:gd name="T40" fmla="*/ 1 w 28"/>
                <a:gd name="T41" fmla="*/ 1 h 26"/>
                <a:gd name="T42" fmla="*/ 1 w 28"/>
                <a:gd name="T43" fmla="*/ 1 h 26"/>
                <a:gd name="T44" fmla="*/ 1 w 28"/>
                <a:gd name="T45" fmla="*/ 1 h 26"/>
                <a:gd name="T46" fmla="*/ 1 w 28"/>
                <a:gd name="T47" fmla="*/ 1 h 26"/>
                <a:gd name="T48" fmla="*/ 1 w 28"/>
                <a:gd name="T49" fmla="*/ 1 h 26"/>
                <a:gd name="T50" fmla="*/ 1 w 28"/>
                <a:gd name="T51" fmla="*/ 1 h 26"/>
                <a:gd name="T52" fmla="*/ 1 w 28"/>
                <a:gd name="T53" fmla="*/ 1 h 26"/>
                <a:gd name="T54" fmla="*/ 1 w 28"/>
                <a:gd name="T55" fmla="*/ 1 h 26"/>
                <a:gd name="T56" fmla="*/ 1 w 28"/>
                <a:gd name="T57" fmla="*/ 1 h 26"/>
                <a:gd name="T58" fmla="*/ 1 w 28"/>
                <a:gd name="T59" fmla="*/ 1 h 26"/>
                <a:gd name="T60" fmla="*/ 1 w 28"/>
                <a:gd name="T61" fmla="*/ 1 h 26"/>
                <a:gd name="T62" fmla="*/ 1 w 28"/>
                <a:gd name="T63" fmla="*/ 1 h 26"/>
                <a:gd name="T64" fmla="*/ 1 w 28"/>
                <a:gd name="T65" fmla="*/ 0 h 26"/>
                <a:gd name="T66" fmla="*/ 1 w 28"/>
                <a:gd name="T67" fmla="*/ 0 h 26"/>
                <a:gd name="T68" fmla="*/ 1 w 28"/>
                <a:gd name="T69" fmla="*/ 0 h 2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6"/>
                <a:gd name="T107" fmla="*/ 28 w 28"/>
                <a:gd name="T108" fmla="*/ 26 h 2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6">
                  <a:moveTo>
                    <a:pt x="14" y="0"/>
                  </a:moveTo>
                  <a:lnTo>
                    <a:pt x="13" y="0"/>
                  </a:lnTo>
                  <a:lnTo>
                    <a:pt x="9" y="1"/>
                  </a:lnTo>
                  <a:lnTo>
                    <a:pt x="7" y="1"/>
                  </a:lnTo>
                  <a:lnTo>
                    <a:pt x="6" y="3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2" y="15"/>
                  </a:lnTo>
                  <a:lnTo>
                    <a:pt x="2" y="18"/>
                  </a:lnTo>
                  <a:lnTo>
                    <a:pt x="4" y="20"/>
                  </a:lnTo>
                  <a:lnTo>
                    <a:pt x="6" y="21"/>
                  </a:lnTo>
                  <a:lnTo>
                    <a:pt x="7" y="23"/>
                  </a:lnTo>
                  <a:lnTo>
                    <a:pt x="9" y="25"/>
                  </a:lnTo>
                  <a:lnTo>
                    <a:pt x="13" y="26"/>
                  </a:lnTo>
                  <a:lnTo>
                    <a:pt x="14" y="26"/>
                  </a:lnTo>
                  <a:lnTo>
                    <a:pt x="18" y="26"/>
                  </a:lnTo>
                  <a:lnTo>
                    <a:pt x="20" y="25"/>
                  </a:lnTo>
                  <a:lnTo>
                    <a:pt x="23" y="23"/>
                  </a:lnTo>
                  <a:lnTo>
                    <a:pt x="25" y="21"/>
                  </a:lnTo>
                  <a:lnTo>
                    <a:pt x="27" y="20"/>
                  </a:lnTo>
                  <a:lnTo>
                    <a:pt x="27" y="18"/>
                  </a:lnTo>
                  <a:lnTo>
                    <a:pt x="28" y="15"/>
                  </a:lnTo>
                  <a:lnTo>
                    <a:pt x="28" y="13"/>
                  </a:lnTo>
                  <a:lnTo>
                    <a:pt x="28" y="10"/>
                  </a:lnTo>
                  <a:lnTo>
                    <a:pt x="27" y="8"/>
                  </a:lnTo>
                  <a:lnTo>
                    <a:pt x="27" y="6"/>
                  </a:lnTo>
                  <a:lnTo>
                    <a:pt x="25" y="3"/>
                  </a:lnTo>
                  <a:lnTo>
                    <a:pt x="23" y="1"/>
                  </a:lnTo>
                  <a:lnTo>
                    <a:pt x="20" y="1"/>
                  </a:lnTo>
                  <a:lnTo>
                    <a:pt x="18" y="0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4" name="Line 322"/>
            <p:cNvSpPr>
              <a:spLocks noChangeShapeType="1"/>
            </p:cNvSpPr>
            <p:nvPr/>
          </p:nvSpPr>
          <p:spPr bwMode="auto">
            <a:xfrm>
              <a:off x="3706" y="1041"/>
              <a:ext cx="32" cy="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" name="Line 323"/>
            <p:cNvSpPr>
              <a:spLocks noChangeShapeType="1"/>
            </p:cNvSpPr>
            <p:nvPr/>
          </p:nvSpPr>
          <p:spPr bwMode="auto">
            <a:xfrm flipH="1">
              <a:off x="3703" y="920"/>
              <a:ext cx="155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6" name="Rectangle 325"/>
            <p:cNvSpPr>
              <a:spLocks noChangeArrowheads="1"/>
            </p:cNvSpPr>
            <p:nvPr/>
          </p:nvSpPr>
          <p:spPr bwMode="auto">
            <a:xfrm>
              <a:off x="3560" y="1026"/>
              <a:ext cx="104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1400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77" name="Line 326"/>
            <p:cNvSpPr>
              <a:spLocks noChangeShapeType="1"/>
            </p:cNvSpPr>
            <p:nvPr/>
          </p:nvSpPr>
          <p:spPr bwMode="auto">
            <a:xfrm flipV="1">
              <a:off x="3703" y="920"/>
              <a:ext cx="1" cy="11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" name="Line 327"/>
            <p:cNvSpPr>
              <a:spLocks noChangeShapeType="1"/>
            </p:cNvSpPr>
            <p:nvPr/>
          </p:nvSpPr>
          <p:spPr bwMode="auto">
            <a:xfrm flipH="1">
              <a:off x="3704" y="1255"/>
              <a:ext cx="153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" name="Freeform 328"/>
            <p:cNvSpPr>
              <a:spLocks/>
            </p:cNvSpPr>
            <p:nvPr/>
          </p:nvSpPr>
          <p:spPr bwMode="auto">
            <a:xfrm>
              <a:off x="3691" y="1242"/>
              <a:ext cx="28" cy="26"/>
            </a:xfrm>
            <a:custGeom>
              <a:avLst/>
              <a:gdLst>
                <a:gd name="T0" fmla="*/ 0 w 56"/>
                <a:gd name="T1" fmla="*/ 0 h 54"/>
                <a:gd name="T2" fmla="*/ 1 w 56"/>
                <a:gd name="T3" fmla="*/ 0 h 54"/>
                <a:gd name="T4" fmla="*/ 1 w 56"/>
                <a:gd name="T5" fmla="*/ 0 h 54"/>
                <a:gd name="T6" fmla="*/ 1 w 56"/>
                <a:gd name="T7" fmla="*/ 0 h 54"/>
                <a:gd name="T8" fmla="*/ 1 w 56"/>
                <a:gd name="T9" fmla="*/ 0 h 54"/>
                <a:gd name="T10" fmla="*/ 1 w 56"/>
                <a:gd name="T11" fmla="*/ 0 h 54"/>
                <a:gd name="T12" fmla="*/ 1 w 56"/>
                <a:gd name="T13" fmla="*/ 0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0 h 54"/>
                <a:gd name="T22" fmla="*/ 1 w 56"/>
                <a:gd name="T23" fmla="*/ 0 h 54"/>
                <a:gd name="T24" fmla="*/ 1 w 56"/>
                <a:gd name="T25" fmla="*/ 0 h 54"/>
                <a:gd name="T26" fmla="*/ 1 w 56"/>
                <a:gd name="T27" fmla="*/ 0 h 54"/>
                <a:gd name="T28" fmla="*/ 1 w 56"/>
                <a:gd name="T29" fmla="*/ 0 h 54"/>
                <a:gd name="T30" fmla="*/ 1 w 56"/>
                <a:gd name="T31" fmla="*/ 0 h 54"/>
                <a:gd name="T32" fmla="*/ 1 w 56"/>
                <a:gd name="T33" fmla="*/ 0 h 54"/>
                <a:gd name="T34" fmla="*/ 1 w 56"/>
                <a:gd name="T35" fmla="*/ 0 h 54"/>
                <a:gd name="T36" fmla="*/ 1 w 56"/>
                <a:gd name="T37" fmla="*/ 0 h 54"/>
                <a:gd name="T38" fmla="*/ 1 w 56"/>
                <a:gd name="T39" fmla="*/ 0 h 54"/>
                <a:gd name="T40" fmla="*/ 1 w 56"/>
                <a:gd name="T41" fmla="*/ 0 h 54"/>
                <a:gd name="T42" fmla="*/ 1 w 56"/>
                <a:gd name="T43" fmla="*/ 0 h 54"/>
                <a:gd name="T44" fmla="*/ 1 w 56"/>
                <a:gd name="T45" fmla="*/ 0 h 54"/>
                <a:gd name="T46" fmla="*/ 1 w 56"/>
                <a:gd name="T47" fmla="*/ 0 h 54"/>
                <a:gd name="T48" fmla="*/ 1 w 56"/>
                <a:gd name="T49" fmla="*/ 0 h 54"/>
                <a:gd name="T50" fmla="*/ 1 w 56"/>
                <a:gd name="T51" fmla="*/ 0 h 54"/>
                <a:gd name="T52" fmla="*/ 1 w 56"/>
                <a:gd name="T53" fmla="*/ 0 h 54"/>
                <a:gd name="T54" fmla="*/ 1 w 56"/>
                <a:gd name="T55" fmla="*/ 0 h 54"/>
                <a:gd name="T56" fmla="*/ 1 w 56"/>
                <a:gd name="T57" fmla="*/ 0 h 54"/>
                <a:gd name="T58" fmla="*/ 1 w 56"/>
                <a:gd name="T59" fmla="*/ 0 h 54"/>
                <a:gd name="T60" fmla="*/ 1 w 56"/>
                <a:gd name="T61" fmla="*/ 0 h 54"/>
                <a:gd name="T62" fmla="*/ 1 w 56"/>
                <a:gd name="T63" fmla="*/ 0 h 54"/>
                <a:gd name="T64" fmla="*/ 1 w 56"/>
                <a:gd name="T65" fmla="*/ 0 h 54"/>
                <a:gd name="T66" fmla="*/ 0 w 56"/>
                <a:gd name="T67" fmla="*/ 0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2" y="22"/>
                  </a:lnTo>
                  <a:lnTo>
                    <a:pt x="3" y="17"/>
                  </a:lnTo>
                  <a:lnTo>
                    <a:pt x="5" y="12"/>
                  </a:lnTo>
                  <a:lnTo>
                    <a:pt x="9" y="9"/>
                  </a:lnTo>
                  <a:lnTo>
                    <a:pt x="14" y="5"/>
                  </a:lnTo>
                  <a:lnTo>
                    <a:pt x="17" y="2"/>
                  </a:lnTo>
                  <a:lnTo>
                    <a:pt x="23" y="2"/>
                  </a:lnTo>
                  <a:lnTo>
                    <a:pt x="28" y="0"/>
                  </a:lnTo>
                  <a:lnTo>
                    <a:pt x="35" y="2"/>
                  </a:lnTo>
                  <a:lnTo>
                    <a:pt x="40" y="2"/>
                  </a:lnTo>
                  <a:lnTo>
                    <a:pt x="44" y="5"/>
                  </a:lnTo>
                  <a:lnTo>
                    <a:pt x="49" y="9"/>
                  </a:lnTo>
                  <a:lnTo>
                    <a:pt x="52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2" y="42"/>
                  </a:lnTo>
                  <a:lnTo>
                    <a:pt x="49" y="47"/>
                  </a:lnTo>
                  <a:lnTo>
                    <a:pt x="44" y="50"/>
                  </a:lnTo>
                  <a:lnTo>
                    <a:pt x="40" y="52"/>
                  </a:lnTo>
                  <a:lnTo>
                    <a:pt x="35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7" y="52"/>
                  </a:lnTo>
                  <a:lnTo>
                    <a:pt x="14" y="50"/>
                  </a:lnTo>
                  <a:lnTo>
                    <a:pt x="9" y="47"/>
                  </a:lnTo>
                  <a:lnTo>
                    <a:pt x="5" y="42"/>
                  </a:lnTo>
                  <a:lnTo>
                    <a:pt x="3" y="37"/>
                  </a:lnTo>
                  <a:lnTo>
                    <a:pt x="2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" name="Freeform 329"/>
            <p:cNvSpPr>
              <a:spLocks/>
            </p:cNvSpPr>
            <p:nvPr/>
          </p:nvSpPr>
          <p:spPr bwMode="auto">
            <a:xfrm>
              <a:off x="3691" y="906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1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1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2" y="22"/>
                  </a:lnTo>
                  <a:lnTo>
                    <a:pt x="3" y="17"/>
                  </a:lnTo>
                  <a:lnTo>
                    <a:pt x="5" y="12"/>
                  </a:lnTo>
                  <a:lnTo>
                    <a:pt x="9" y="9"/>
                  </a:lnTo>
                  <a:lnTo>
                    <a:pt x="14" y="5"/>
                  </a:lnTo>
                  <a:lnTo>
                    <a:pt x="17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40" y="2"/>
                  </a:lnTo>
                  <a:lnTo>
                    <a:pt x="44" y="5"/>
                  </a:lnTo>
                  <a:lnTo>
                    <a:pt x="49" y="9"/>
                  </a:lnTo>
                  <a:lnTo>
                    <a:pt x="52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2" y="42"/>
                  </a:lnTo>
                  <a:lnTo>
                    <a:pt x="49" y="46"/>
                  </a:lnTo>
                  <a:lnTo>
                    <a:pt x="44" y="49"/>
                  </a:lnTo>
                  <a:lnTo>
                    <a:pt x="40" y="52"/>
                  </a:lnTo>
                  <a:lnTo>
                    <a:pt x="35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7" y="52"/>
                  </a:lnTo>
                  <a:lnTo>
                    <a:pt x="14" y="49"/>
                  </a:lnTo>
                  <a:lnTo>
                    <a:pt x="9" y="46"/>
                  </a:lnTo>
                  <a:lnTo>
                    <a:pt x="5" y="42"/>
                  </a:lnTo>
                  <a:lnTo>
                    <a:pt x="3" y="37"/>
                  </a:lnTo>
                  <a:lnTo>
                    <a:pt x="2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1" name="Freeform 330"/>
            <p:cNvSpPr>
              <a:spLocks noEditPoints="1"/>
            </p:cNvSpPr>
            <p:nvPr/>
          </p:nvSpPr>
          <p:spPr bwMode="auto">
            <a:xfrm>
              <a:off x="3698" y="1657"/>
              <a:ext cx="13" cy="118"/>
            </a:xfrm>
            <a:custGeom>
              <a:avLst/>
              <a:gdLst>
                <a:gd name="T0" fmla="*/ 1 w 26"/>
                <a:gd name="T1" fmla="*/ 1 h 236"/>
                <a:gd name="T2" fmla="*/ 1 w 26"/>
                <a:gd name="T3" fmla="*/ 1 h 236"/>
                <a:gd name="T4" fmla="*/ 1 w 26"/>
                <a:gd name="T5" fmla="*/ 1 h 236"/>
                <a:gd name="T6" fmla="*/ 0 w 26"/>
                <a:gd name="T7" fmla="*/ 1 h 236"/>
                <a:gd name="T8" fmla="*/ 0 w 26"/>
                <a:gd name="T9" fmla="*/ 1 h 236"/>
                <a:gd name="T10" fmla="*/ 1 w 26"/>
                <a:gd name="T11" fmla="*/ 1 h 236"/>
                <a:gd name="T12" fmla="*/ 1 w 26"/>
                <a:gd name="T13" fmla="*/ 1 h 236"/>
                <a:gd name="T14" fmla="*/ 1 w 26"/>
                <a:gd name="T15" fmla="*/ 1 h 236"/>
                <a:gd name="T16" fmla="*/ 1 w 26"/>
                <a:gd name="T17" fmla="*/ 1 h 236"/>
                <a:gd name="T18" fmla="*/ 1 w 26"/>
                <a:gd name="T19" fmla="*/ 1 h 236"/>
                <a:gd name="T20" fmla="*/ 1 w 26"/>
                <a:gd name="T21" fmla="*/ 1 h 236"/>
                <a:gd name="T22" fmla="*/ 1 w 26"/>
                <a:gd name="T23" fmla="*/ 1 h 236"/>
                <a:gd name="T24" fmla="*/ 1 w 26"/>
                <a:gd name="T25" fmla="*/ 1 h 236"/>
                <a:gd name="T26" fmla="*/ 1 w 26"/>
                <a:gd name="T27" fmla="*/ 1 h 236"/>
                <a:gd name="T28" fmla="*/ 1 w 26"/>
                <a:gd name="T29" fmla="*/ 1 h 236"/>
                <a:gd name="T30" fmla="*/ 1 w 26"/>
                <a:gd name="T31" fmla="*/ 1 h 236"/>
                <a:gd name="T32" fmla="*/ 1 w 26"/>
                <a:gd name="T33" fmla="*/ 1 h 236"/>
                <a:gd name="T34" fmla="*/ 1 w 26"/>
                <a:gd name="T35" fmla="*/ 1 h 236"/>
                <a:gd name="T36" fmla="*/ 1 w 26"/>
                <a:gd name="T37" fmla="*/ 1 h 236"/>
                <a:gd name="T38" fmla="*/ 1 w 26"/>
                <a:gd name="T39" fmla="*/ 1 h 236"/>
                <a:gd name="T40" fmla="*/ 1 w 26"/>
                <a:gd name="T41" fmla="*/ 1 h 236"/>
                <a:gd name="T42" fmla="*/ 0 w 26"/>
                <a:gd name="T43" fmla="*/ 1 h 236"/>
                <a:gd name="T44" fmla="*/ 0 w 26"/>
                <a:gd name="T45" fmla="*/ 1 h 236"/>
                <a:gd name="T46" fmla="*/ 1 w 26"/>
                <a:gd name="T47" fmla="*/ 1 h 236"/>
                <a:gd name="T48" fmla="*/ 1 w 26"/>
                <a:gd name="T49" fmla="*/ 1 h 236"/>
                <a:gd name="T50" fmla="*/ 1 w 26"/>
                <a:gd name="T51" fmla="*/ 1 h 236"/>
                <a:gd name="T52" fmla="*/ 1 w 26"/>
                <a:gd name="T53" fmla="*/ 1 h 236"/>
                <a:gd name="T54" fmla="*/ 1 w 26"/>
                <a:gd name="T55" fmla="*/ 1 h 236"/>
                <a:gd name="T56" fmla="*/ 1 w 26"/>
                <a:gd name="T57" fmla="*/ 1 h 236"/>
                <a:gd name="T58" fmla="*/ 1 w 26"/>
                <a:gd name="T59" fmla="*/ 1 h 236"/>
                <a:gd name="T60" fmla="*/ 1 w 26"/>
                <a:gd name="T61" fmla="*/ 1 h 236"/>
                <a:gd name="T62" fmla="*/ 1 w 26"/>
                <a:gd name="T63" fmla="*/ 1 h 236"/>
                <a:gd name="T64" fmla="*/ 1 w 26"/>
                <a:gd name="T65" fmla="*/ 1 h 236"/>
                <a:gd name="T66" fmla="*/ 1 w 26"/>
                <a:gd name="T67" fmla="*/ 1 h 236"/>
                <a:gd name="T68" fmla="*/ 1 w 26"/>
                <a:gd name="T69" fmla="*/ 0 h 236"/>
                <a:gd name="T70" fmla="*/ 1 w 26"/>
                <a:gd name="T71" fmla="*/ 0 h 2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6"/>
                <a:gd name="T109" fmla="*/ 0 h 236"/>
                <a:gd name="T110" fmla="*/ 26 w 26"/>
                <a:gd name="T111" fmla="*/ 236 h 2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6" h="236">
                  <a:moveTo>
                    <a:pt x="12" y="211"/>
                  </a:moveTo>
                  <a:lnTo>
                    <a:pt x="10" y="211"/>
                  </a:lnTo>
                  <a:lnTo>
                    <a:pt x="7" y="211"/>
                  </a:lnTo>
                  <a:lnTo>
                    <a:pt x="5" y="212"/>
                  </a:lnTo>
                  <a:lnTo>
                    <a:pt x="3" y="214"/>
                  </a:lnTo>
                  <a:lnTo>
                    <a:pt x="2" y="216"/>
                  </a:lnTo>
                  <a:lnTo>
                    <a:pt x="0" y="219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0" y="226"/>
                  </a:lnTo>
                  <a:lnTo>
                    <a:pt x="0" y="229"/>
                  </a:lnTo>
                  <a:lnTo>
                    <a:pt x="2" y="231"/>
                  </a:lnTo>
                  <a:lnTo>
                    <a:pt x="3" y="232"/>
                  </a:lnTo>
                  <a:lnTo>
                    <a:pt x="5" y="234"/>
                  </a:lnTo>
                  <a:lnTo>
                    <a:pt x="7" y="236"/>
                  </a:lnTo>
                  <a:lnTo>
                    <a:pt x="10" y="236"/>
                  </a:lnTo>
                  <a:lnTo>
                    <a:pt x="12" y="236"/>
                  </a:lnTo>
                  <a:lnTo>
                    <a:pt x="16" y="236"/>
                  </a:lnTo>
                  <a:lnTo>
                    <a:pt x="19" y="236"/>
                  </a:lnTo>
                  <a:lnTo>
                    <a:pt x="21" y="234"/>
                  </a:lnTo>
                  <a:lnTo>
                    <a:pt x="23" y="232"/>
                  </a:lnTo>
                  <a:lnTo>
                    <a:pt x="24" y="231"/>
                  </a:lnTo>
                  <a:lnTo>
                    <a:pt x="26" y="229"/>
                  </a:lnTo>
                  <a:lnTo>
                    <a:pt x="26" y="226"/>
                  </a:lnTo>
                  <a:lnTo>
                    <a:pt x="26" y="224"/>
                  </a:lnTo>
                  <a:lnTo>
                    <a:pt x="26" y="221"/>
                  </a:lnTo>
                  <a:lnTo>
                    <a:pt x="26" y="219"/>
                  </a:lnTo>
                  <a:lnTo>
                    <a:pt x="24" y="216"/>
                  </a:lnTo>
                  <a:lnTo>
                    <a:pt x="23" y="214"/>
                  </a:lnTo>
                  <a:lnTo>
                    <a:pt x="21" y="212"/>
                  </a:lnTo>
                  <a:lnTo>
                    <a:pt x="19" y="211"/>
                  </a:lnTo>
                  <a:lnTo>
                    <a:pt x="16" y="211"/>
                  </a:lnTo>
                  <a:lnTo>
                    <a:pt x="12" y="211"/>
                  </a:lnTo>
                  <a:close/>
                  <a:moveTo>
                    <a:pt x="12" y="0"/>
                  </a:moveTo>
                  <a:lnTo>
                    <a:pt x="10" y="2"/>
                  </a:lnTo>
                  <a:lnTo>
                    <a:pt x="7" y="2"/>
                  </a:lnTo>
                  <a:lnTo>
                    <a:pt x="5" y="3"/>
                  </a:lnTo>
                  <a:lnTo>
                    <a:pt x="3" y="5"/>
                  </a:lnTo>
                  <a:lnTo>
                    <a:pt x="2" y="7"/>
                  </a:lnTo>
                  <a:lnTo>
                    <a:pt x="0" y="8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10" y="27"/>
                  </a:lnTo>
                  <a:lnTo>
                    <a:pt x="12" y="27"/>
                  </a:lnTo>
                  <a:lnTo>
                    <a:pt x="16" y="27"/>
                  </a:lnTo>
                  <a:lnTo>
                    <a:pt x="19" y="27"/>
                  </a:lnTo>
                  <a:lnTo>
                    <a:pt x="21" y="25"/>
                  </a:lnTo>
                  <a:lnTo>
                    <a:pt x="23" y="23"/>
                  </a:lnTo>
                  <a:lnTo>
                    <a:pt x="24" y="22"/>
                  </a:lnTo>
                  <a:lnTo>
                    <a:pt x="26" y="18"/>
                  </a:lnTo>
                  <a:lnTo>
                    <a:pt x="26" y="17"/>
                  </a:lnTo>
                  <a:lnTo>
                    <a:pt x="26" y="13"/>
                  </a:lnTo>
                  <a:lnTo>
                    <a:pt x="26" y="12"/>
                  </a:lnTo>
                  <a:lnTo>
                    <a:pt x="26" y="8"/>
                  </a:lnTo>
                  <a:lnTo>
                    <a:pt x="24" y="7"/>
                  </a:lnTo>
                  <a:lnTo>
                    <a:pt x="23" y="5"/>
                  </a:lnTo>
                  <a:lnTo>
                    <a:pt x="21" y="3"/>
                  </a:lnTo>
                  <a:lnTo>
                    <a:pt x="19" y="2"/>
                  </a:lnTo>
                  <a:lnTo>
                    <a:pt x="16" y="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2" name="Freeform 331"/>
            <p:cNvSpPr>
              <a:spLocks/>
            </p:cNvSpPr>
            <p:nvPr/>
          </p:nvSpPr>
          <p:spPr bwMode="auto">
            <a:xfrm>
              <a:off x="3698" y="1763"/>
              <a:ext cx="13" cy="12"/>
            </a:xfrm>
            <a:custGeom>
              <a:avLst/>
              <a:gdLst>
                <a:gd name="T0" fmla="*/ 1 w 26"/>
                <a:gd name="T1" fmla="*/ 0 h 25"/>
                <a:gd name="T2" fmla="*/ 1 w 26"/>
                <a:gd name="T3" fmla="*/ 0 h 25"/>
                <a:gd name="T4" fmla="*/ 1 w 26"/>
                <a:gd name="T5" fmla="*/ 0 h 25"/>
                <a:gd name="T6" fmla="*/ 1 w 26"/>
                <a:gd name="T7" fmla="*/ 0 h 25"/>
                <a:gd name="T8" fmla="*/ 1 w 26"/>
                <a:gd name="T9" fmla="*/ 0 h 25"/>
                <a:gd name="T10" fmla="*/ 1 w 26"/>
                <a:gd name="T11" fmla="*/ 0 h 25"/>
                <a:gd name="T12" fmla="*/ 0 w 26"/>
                <a:gd name="T13" fmla="*/ 0 h 25"/>
                <a:gd name="T14" fmla="*/ 0 w 26"/>
                <a:gd name="T15" fmla="*/ 0 h 25"/>
                <a:gd name="T16" fmla="*/ 0 w 26"/>
                <a:gd name="T17" fmla="*/ 0 h 25"/>
                <a:gd name="T18" fmla="*/ 0 w 26"/>
                <a:gd name="T19" fmla="*/ 0 h 25"/>
                <a:gd name="T20" fmla="*/ 0 w 26"/>
                <a:gd name="T21" fmla="*/ 0 h 25"/>
                <a:gd name="T22" fmla="*/ 1 w 26"/>
                <a:gd name="T23" fmla="*/ 0 h 25"/>
                <a:gd name="T24" fmla="*/ 1 w 26"/>
                <a:gd name="T25" fmla="*/ 0 h 25"/>
                <a:gd name="T26" fmla="*/ 1 w 26"/>
                <a:gd name="T27" fmla="*/ 0 h 25"/>
                <a:gd name="T28" fmla="*/ 1 w 26"/>
                <a:gd name="T29" fmla="*/ 0 h 25"/>
                <a:gd name="T30" fmla="*/ 1 w 26"/>
                <a:gd name="T31" fmla="*/ 0 h 25"/>
                <a:gd name="T32" fmla="*/ 1 w 26"/>
                <a:gd name="T33" fmla="*/ 0 h 25"/>
                <a:gd name="T34" fmla="*/ 1 w 26"/>
                <a:gd name="T35" fmla="*/ 0 h 25"/>
                <a:gd name="T36" fmla="*/ 1 w 26"/>
                <a:gd name="T37" fmla="*/ 0 h 25"/>
                <a:gd name="T38" fmla="*/ 1 w 26"/>
                <a:gd name="T39" fmla="*/ 0 h 25"/>
                <a:gd name="T40" fmla="*/ 1 w 26"/>
                <a:gd name="T41" fmla="*/ 0 h 25"/>
                <a:gd name="T42" fmla="*/ 1 w 26"/>
                <a:gd name="T43" fmla="*/ 0 h 25"/>
                <a:gd name="T44" fmla="*/ 1 w 26"/>
                <a:gd name="T45" fmla="*/ 0 h 25"/>
                <a:gd name="T46" fmla="*/ 1 w 26"/>
                <a:gd name="T47" fmla="*/ 0 h 25"/>
                <a:gd name="T48" fmla="*/ 1 w 26"/>
                <a:gd name="T49" fmla="*/ 0 h 25"/>
                <a:gd name="T50" fmla="*/ 1 w 26"/>
                <a:gd name="T51" fmla="*/ 0 h 25"/>
                <a:gd name="T52" fmla="*/ 1 w 26"/>
                <a:gd name="T53" fmla="*/ 0 h 25"/>
                <a:gd name="T54" fmla="*/ 1 w 26"/>
                <a:gd name="T55" fmla="*/ 0 h 25"/>
                <a:gd name="T56" fmla="*/ 1 w 26"/>
                <a:gd name="T57" fmla="*/ 0 h 25"/>
                <a:gd name="T58" fmla="*/ 1 w 26"/>
                <a:gd name="T59" fmla="*/ 0 h 25"/>
                <a:gd name="T60" fmla="*/ 1 w 26"/>
                <a:gd name="T61" fmla="*/ 0 h 25"/>
                <a:gd name="T62" fmla="*/ 1 w 26"/>
                <a:gd name="T63" fmla="*/ 0 h 25"/>
                <a:gd name="T64" fmla="*/ 1 w 26"/>
                <a:gd name="T65" fmla="*/ 0 h 25"/>
                <a:gd name="T66" fmla="*/ 1 w 26"/>
                <a:gd name="T67" fmla="*/ 0 h 25"/>
                <a:gd name="T68" fmla="*/ 1 w 26"/>
                <a:gd name="T69" fmla="*/ 0 h 2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6"/>
                <a:gd name="T106" fmla="*/ 0 h 25"/>
                <a:gd name="T107" fmla="*/ 26 w 26"/>
                <a:gd name="T108" fmla="*/ 25 h 25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6" h="25">
                  <a:moveTo>
                    <a:pt x="12" y="0"/>
                  </a:moveTo>
                  <a:lnTo>
                    <a:pt x="10" y="0"/>
                  </a:lnTo>
                  <a:lnTo>
                    <a:pt x="7" y="0"/>
                  </a:lnTo>
                  <a:lnTo>
                    <a:pt x="5" y="1"/>
                  </a:lnTo>
                  <a:lnTo>
                    <a:pt x="3" y="3"/>
                  </a:lnTo>
                  <a:lnTo>
                    <a:pt x="2" y="5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2" y="20"/>
                  </a:lnTo>
                  <a:lnTo>
                    <a:pt x="3" y="21"/>
                  </a:lnTo>
                  <a:lnTo>
                    <a:pt x="5" y="23"/>
                  </a:lnTo>
                  <a:lnTo>
                    <a:pt x="7" y="25"/>
                  </a:lnTo>
                  <a:lnTo>
                    <a:pt x="10" y="25"/>
                  </a:lnTo>
                  <a:lnTo>
                    <a:pt x="12" y="25"/>
                  </a:lnTo>
                  <a:lnTo>
                    <a:pt x="16" y="25"/>
                  </a:lnTo>
                  <a:lnTo>
                    <a:pt x="19" y="25"/>
                  </a:lnTo>
                  <a:lnTo>
                    <a:pt x="21" y="23"/>
                  </a:lnTo>
                  <a:lnTo>
                    <a:pt x="23" y="21"/>
                  </a:lnTo>
                  <a:lnTo>
                    <a:pt x="24" y="20"/>
                  </a:lnTo>
                  <a:lnTo>
                    <a:pt x="26" y="18"/>
                  </a:lnTo>
                  <a:lnTo>
                    <a:pt x="26" y="15"/>
                  </a:lnTo>
                  <a:lnTo>
                    <a:pt x="26" y="13"/>
                  </a:lnTo>
                  <a:lnTo>
                    <a:pt x="26" y="10"/>
                  </a:lnTo>
                  <a:lnTo>
                    <a:pt x="26" y="8"/>
                  </a:lnTo>
                  <a:lnTo>
                    <a:pt x="24" y="5"/>
                  </a:lnTo>
                  <a:lnTo>
                    <a:pt x="23" y="3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3" name="Freeform 332"/>
            <p:cNvSpPr>
              <a:spLocks/>
            </p:cNvSpPr>
            <p:nvPr/>
          </p:nvSpPr>
          <p:spPr bwMode="auto">
            <a:xfrm>
              <a:off x="3698" y="1657"/>
              <a:ext cx="13" cy="14"/>
            </a:xfrm>
            <a:custGeom>
              <a:avLst/>
              <a:gdLst>
                <a:gd name="T0" fmla="*/ 1 w 26"/>
                <a:gd name="T1" fmla="*/ 0 h 27"/>
                <a:gd name="T2" fmla="*/ 1 w 26"/>
                <a:gd name="T3" fmla="*/ 1 h 27"/>
                <a:gd name="T4" fmla="*/ 1 w 26"/>
                <a:gd name="T5" fmla="*/ 1 h 27"/>
                <a:gd name="T6" fmla="*/ 1 w 26"/>
                <a:gd name="T7" fmla="*/ 1 h 27"/>
                <a:gd name="T8" fmla="*/ 1 w 26"/>
                <a:gd name="T9" fmla="*/ 1 h 27"/>
                <a:gd name="T10" fmla="*/ 1 w 26"/>
                <a:gd name="T11" fmla="*/ 1 h 27"/>
                <a:gd name="T12" fmla="*/ 0 w 26"/>
                <a:gd name="T13" fmla="*/ 1 h 27"/>
                <a:gd name="T14" fmla="*/ 0 w 26"/>
                <a:gd name="T15" fmla="*/ 1 h 27"/>
                <a:gd name="T16" fmla="*/ 0 w 26"/>
                <a:gd name="T17" fmla="*/ 1 h 27"/>
                <a:gd name="T18" fmla="*/ 0 w 26"/>
                <a:gd name="T19" fmla="*/ 1 h 27"/>
                <a:gd name="T20" fmla="*/ 0 w 26"/>
                <a:gd name="T21" fmla="*/ 1 h 27"/>
                <a:gd name="T22" fmla="*/ 1 w 26"/>
                <a:gd name="T23" fmla="*/ 1 h 27"/>
                <a:gd name="T24" fmla="*/ 1 w 26"/>
                <a:gd name="T25" fmla="*/ 1 h 27"/>
                <a:gd name="T26" fmla="*/ 1 w 26"/>
                <a:gd name="T27" fmla="*/ 1 h 27"/>
                <a:gd name="T28" fmla="*/ 1 w 26"/>
                <a:gd name="T29" fmla="*/ 1 h 27"/>
                <a:gd name="T30" fmla="*/ 1 w 26"/>
                <a:gd name="T31" fmla="*/ 1 h 27"/>
                <a:gd name="T32" fmla="*/ 1 w 26"/>
                <a:gd name="T33" fmla="*/ 1 h 27"/>
                <a:gd name="T34" fmla="*/ 1 w 26"/>
                <a:gd name="T35" fmla="*/ 1 h 27"/>
                <a:gd name="T36" fmla="*/ 1 w 26"/>
                <a:gd name="T37" fmla="*/ 1 h 27"/>
                <a:gd name="T38" fmla="*/ 1 w 26"/>
                <a:gd name="T39" fmla="*/ 1 h 27"/>
                <a:gd name="T40" fmla="*/ 1 w 26"/>
                <a:gd name="T41" fmla="*/ 1 h 27"/>
                <a:gd name="T42" fmla="*/ 1 w 26"/>
                <a:gd name="T43" fmla="*/ 1 h 27"/>
                <a:gd name="T44" fmla="*/ 1 w 26"/>
                <a:gd name="T45" fmla="*/ 1 h 27"/>
                <a:gd name="T46" fmla="*/ 1 w 26"/>
                <a:gd name="T47" fmla="*/ 1 h 27"/>
                <a:gd name="T48" fmla="*/ 1 w 26"/>
                <a:gd name="T49" fmla="*/ 1 h 27"/>
                <a:gd name="T50" fmla="*/ 1 w 26"/>
                <a:gd name="T51" fmla="*/ 1 h 27"/>
                <a:gd name="T52" fmla="*/ 1 w 26"/>
                <a:gd name="T53" fmla="*/ 1 h 27"/>
                <a:gd name="T54" fmla="*/ 1 w 26"/>
                <a:gd name="T55" fmla="*/ 1 h 27"/>
                <a:gd name="T56" fmla="*/ 1 w 26"/>
                <a:gd name="T57" fmla="*/ 1 h 27"/>
                <a:gd name="T58" fmla="*/ 1 w 26"/>
                <a:gd name="T59" fmla="*/ 1 h 27"/>
                <a:gd name="T60" fmla="*/ 1 w 26"/>
                <a:gd name="T61" fmla="*/ 1 h 27"/>
                <a:gd name="T62" fmla="*/ 1 w 26"/>
                <a:gd name="T63" fmla="*/ 1 h 27"/>
                <a:gd name="T64" fmla="*/ 1 w 26"/>
                <a:gd name="T65" fmla="*/ 1 h 27"/>
                <a:gd name="T66" fmla="*/ 1 w 26"/>
                <a:gd name="T67" fmla="*/ 0 h 27"/>
                <a:gd name="T68" fmla="*/ 1 w 26"/>
                <a:gd name="T69" fmla="*/ 0 h 2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6"/>
                <a:gd name="T106" fmla="*/ 0 h 27"/>
                <a:gd name="T107" fmla="*/ 26 w 26"/>
                <a:gd name="T108" fmla="*/ 27 h 2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6" h="27">
                  <a:moveTo>
                    <a:pt x="12" y="0"/>
                  </a:moveTo>
                  <a:lnTo>
                    <a:pt x="10" y="2"/>
                  </a:lnTo>
                  <a:lnTo>
                    <a:pt x="7" y="2"/>
                  </a:lnTo>
                  <a:lnTo>
                    <a:pt x="5" y="3"/>
                  </a:lnTo>
                  <a:lnTo>
                    <a:pt x="3" y="5"/>
                  </a:lnTo>
                  <a:lnTo>
                    <a:pt x="2" y="7"/>
                  </a:lnTo>
                  <a:lnTo>
                    <a:pt x="0" y="8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10" y="27"/>
                  </a:lnTo>
                  <a:lnTo>
                    <a:pt x="12" y="27"/>
                  </a:lnTo>
                  <a:lnTo>
                    <a:pt x="16" y="27"/>
                  </a:lnTo>
                  <a:lnTo>
                    <a:pt x="19" y="27"/>
                  </a:lnTo>
                  <a:lnTo>
                    <a:pt x="21" y="25"/>
                  </a:lnTo>
                  <a:lnTo>
                    <a:pt x="23" y="23"/>
                  </a:lnTo>
                  <a:lnTo>
                    <a:pt x="24" y="22"/>
                  </a:lnTo>
                  <a:lnTo>
                    <a:pt x="26" y="18"/>
                  </a:lnTo>
                  <a:lnTo>
                    <a:pt x="26" y="17"/>
                  </a:lnTo>
                  <a:lnTo>
                    <a:pt x="26" y="13"/>
                  </a:lnTo>
                  <a:lnTo>
                    <a:pt x="26" y="12"/>
                  </a:lnTo>
                  <a:lnTo>
                    <a:pt x="26" y="8"/>
                  </a:lnTo>
                  <a:lnTo>
                    <a:pt x="24" y="7"/>
                  </a:lnTo>
                  <a:lnTo>
                    <a:pt x="23" y="5"/>
                  </a:lnTo>
                  <a:lnTo>
                    <a:pt x="21" y="3"/>
                  </a:lnTo>
                  <a:lnTo>
                    <a:pt x="19" y="2"/>
                  </a:lnTo>
                  <a:lnTo>
                    <a:pt x="16" y="2"/>
                  </a:lnTo>
                  <a:lnTo>
                    <a:pt x="1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4" name="Line 333"/>
            <p:cNvSpPr>
              <a:spLocks noChangeShapeType="1"/>
            </p:cNvSpPr>
            <p:nvPr/>
          </p:nvSpPr>
          <p:spPr bwMode="auto">
            <a:xfrm>
              <a:off x="3708" y="1671"/>
              <a:ext cx="31" cy="8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" name="Line 334"/>
            <p:cNvSpPr>
              <a:spLocks noChangeShapeType="1"/>
            </p:cNvSpPr>
            <p:nvPr/>
          </p:nvSpPr>
          <p:spPr bwMode="auto">
            <a:xfrm flipH="1">
              <a:off x="3705" y="1548"/>
              <a:ext cx="153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" name="Line 337"/>
            <p:cNvSpPr>
              <a:spLocks noChangeShapeType="1"/>
            </p:cNvSpPr>
            <p:nvPr/>
          </p:nvSpPr>
          <p:spPr bwMode="auto">
            <a:xfrm flipV="1">
              <a:off x="3705" y="1549"/>
              <a:ext cx="1" cy="11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7" name="Line 338"/>
            <p:cNvSpPr>
              <a:spLocks noChangeShapeType="1"/>
            </p:cNvSpPr>
            <p:nvPr/>
          </p:nvSpPr>
          <p:spPr bwMode="auto">
            <a:xfrm flipH="1">
              <a:off x="3705" y="1884"/>
              <a:ext cx="153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" name="Freeform 339"/>
            <p:cNvSpPr>
              <a:spLocks/>
            </p:cNvSpPr>
            <p:nvPr/>
          </p:nvSpPr>
          <p:spPr bwMode="auto">
            <a:xfrm>
              <a:off x="3693" y="1535"/>
              <a:ext cx="28" cy="27"/>
            </a:xfrm>
            <a:custGeom>
              <a:avLst/>
              <a:gdLst>
                <a:gd name="T0" fmla="*/ 0 w 56"/>
                <a:gd name="T1" fmla="*/ 1 h 53"/>
                <a:gd name="T2" fmla="*/ 0 w 56"/>
                <a:gd name="T3" fmla="*/ 1 h 53"/>
                <a:gd name="T4" fmla="*/ 1 w 56"/>
                <a:gd name="T5" fmla="*/ 1 h 53"/>
                <a:gd name="T6" fmla="*/ 1 w 56"/>
                <a:gd name="T7" fmla="*/ 1 h 53"/>
                <a:gd name="T8" fmla="*/ 1 w 56"/>
                <a:gd name="T9" fmla="*/ 1 h 53"/>
                <a:gd name="T10" fmla="*/ 1 w 56"/>
                <a:gd name="T11" fmla="*/ 1 h 53"/>
                <a:gd name="T12" fmla="*/ 1 w 56"/>
                <a:gd name="T13" fmla="*/ 1 h 53"/>
                <a:gd name="T14" fmla="*/ 1 w 56"/>
                <a:gd name="T15" fmla="*/ 1 h 53"/>
                <a:gd name="T16" fmla="*/ 1 w 56"/>
                <a:gd name="T17" fmla="*/ 0 h 53"/>
                <a:gd name="T18" fmla="*/ 1 w 56"/>
                <a:gd name="T19" fmla="*/ 1 h 53"/>
                <a:gd name="T20" fmla="*/ 1 w 56"/>
                <a:gd name="T21" fmla="*/ 1 h 53"/>
                <a:gd name="T22" fmla="*/ 1 w 56"/>
                <a:gd name="T23" fmla="*/ 1 h 53"/>
                <a:gd name="T24" fmla="*/ 1 w 56"/>
                <a:gd name="T25" fmla="*/ 1 h 53"/>
                <a:gd name="T26" fmla="*/ 1 w 56"/>
                <a:gd name="T27" fmla="*/ 1 h 53"/>
                <a:gd name="T28" fmla="*/ 1 w 56"/>
                <a:gd name="T29" fmla="*/ 1 h 53"/>
                <a:gd name="T30" fmla="*/ 1 w 56"/>
                <a:gd name="T31" fmla="*/ 1 h 53"/>
                <a:gd name="T32" fmla="*/ 1 w 56"/>
                <a:gd name="T33" fmla="*/ 1 h 53"/>
                <a:gd name="T34" fmla="*/ 1 w 56"/>
                <a:gd name="T35" fmla="*/ 1 h 53"/>
                <a:gd name="T36" fmla="*/ 1 w 56"/>
                <a:gd name="T37" fmla="*/ 1 h 53"/>
                <a:gd name="T38" fmla="*/ 1 w 56"/>
                <a:gd name="T39" fmla="*/ 1 h 53"/>
                <a:gd name="T40" fmla="*/ 1 w 56"/>
                <a:gd name="T41" fmla="*/ 1 h 53"/>
                <a:gd name="T42" fmla="*/ 1 w 56"/>
                <a:gd name="T43" fmla="*/ 1 h 53"/>
                <a:gd name="T44" fmla="*/ 1 w 56"/>
                <a:gd name="T45" fmla="*/ 1 h 53"/>
                <a:gd name="T46" fmla="*/ 1 w 56"/>
                <a:gd name="T47" fmla="*/ 1 h 53"/>
                <a:gd name="T48" fmla="*/ 1 w 56"/>
                <a:gd name="T49" fmla="*/ 1 h 53"/>
                <a:gd name="T50" fmla="*/ 1 w 56"/>
                <a:gd name="T51" fmla="*/ 1 h 53"/>
                <a:gd name="T52" fmla="*/ 1 w 56"/>
                <a:gd name="T53" fmla="*/ 1 h 53"/>
                <a:gd name="T54" fmla="*/ 1 w 56"/>
                <a:gd name="T55" fmla="*/ 1 h 53"/>
                <a:gd name="T56" fmla="*/ 1 w 56"/>
                <a:gd name="T57" fmla="*/ 1 h 53"/>
                <a:gd name="T58" fmla="*/ 1 w 56"/>
                <a:gd name="T59" fmla="*/ 1 h 53"/>
                <a:gd name="T60" fmla="*/ 1 w 56"/>
                <a:gd name="T61" fmla="*/ 1 h 53"/>
                <a:gd name="T62" fmla="*/ 1 w 56"/>
                <a:gd name="T63" fmla="*/ 1 h 53"/>
                <a:gd name="T64" fmla="*/ 0 w 56"/>
                <a:gd name="T65" fmla="*/ 1 h 53"/>
                <a:gd name="T66" fmla="*/ 0 w 56"/>
                <a:gd name="T67" fmla="*/ 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3"/>
                <a:gd name="T104" fmla="*/ 56 w 56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3">
                  <a:moveTo>
                    <a:pt x="0" y="26"/>
                  </a:moveTo>
                  <a:lnTo>
                    <a:pt x="0" y="21"/>
                  </a:lnTo>
                  <a:lnTo>
                    <a:pt x="2" y="16"/>
                  </a:lnTo>
                  <a:lnTo>
                    <a:pt x="4" y="11"/>
                  </a:lnTo>
                  <a:lnTo>
                    <a:pt x="7" y="8"/>
                  </a:lnTo>
                  <a:lnTo>
                    <a:pt x="13" y="5"/>
                  </a:lnTo>
                  <a:lnTo>
                    <a:pt x="18" y="3"/>
                  </a:lnTo>
                  <a:lnTo>
                    <a:pt x="23" y="1"/>
                  </a:lnTo>
                  <a:lnTo>
                    <a:pt x="28" y="0"/>
                  </a:lnTo>
                  <a:lnTo>
                    <a:pt x="34" y="1"/>
                  </a:lnTo>
                  <a:lnTo>
                    <a:pt x="39" y="3"/>
                  </a:lnTo>
                  <a:lnTo>
                    <a:pt x="44" y="5"/>
                  </a:lnTo>
                  <a:lnTo>
                    <a:pt x="48" y="8"/>
                  </a:lnTo>
                  <a:lnTo>
                    <a:pt x="51" y="11"/>
                  </a:lnTo>
                  <a:lnTo>
                    <a:pt x="55" y="16"/>
                  </a:lnTo>
                  <a:lnTo>
                    <a:pt x="55" y="21"/>
                  </a:lnTo>
                  <a:lnTo>
                    <a:pt x="56" y="26"/>
                  </a:lnTo>
                  <a:lnTo>
                    <a:pt x="55" y="33"/>
                  </a:lnTo>
                  <a:lnTo>
                    <a:pt x="55" y="38"/>
                  </a:lnTo>
                  <a:lnTo>
                    <a:pt x="51" y="41"/>
                  </a:lnTo>
                  <a:lnTo>
                    <a:pt x="48" y="46"/>
                  </a:lnTo>
                  <a:lnTo>
                    <a:pt x="44" y="50"/>
                  </a:lnTo>
                  <a:lnTo>
                    <a:pt x="39" y="51"/>
                  </a:lnTo>
                  <a:lnTo>
                    <a:pt x="34" y="53"/>
                  </a:lnTo>
                  <a:lnTo>
                    <a:pt x="28" y="53"/>
                  </a:lnTo>
                  <a:lnTo>
                    <a:pt x="23" y="53"/>
                  </a:lnTo>
                  <a:lnTo>
                    <a:pt x="18" y="51"/>
                  </a:lnTo>
                  <a:lnTo>
                    <a:pt x="13" y="50"/>
                  </a:lnTo>
                  <a:lnTo>
                    <a:pt x="7" y="46"/>
                  </a:lnTo>
                  <a:lnTo>
                    <a:pt x="4" y="41"/>
                  </a:lnTo>
                  <a:lnTo>
                    <a:pt x="2" y="38"/>
                  </a:lnTo>
                  <a:lnTo>
                    <a:pt x="0" y="33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" name="Line 340"/>
            <p:cNvSpPr>
              <a:spLocks noChangeShapeType="1"/>
            </p:cNvSpPr>
            <p:nvPr/>
          </p:nvSpPr>
          <p:spPr bwMode="auto">
            <a:xfrm>
              <a:off x="3703" y="1140"/>
              <a:ext cx="2" cy="42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" name="Line 341"/>
            <p:cNvSpPr>
              <a:spLocks noChangeShapeType="1"/>
            </p:cNvSpPr>
            <p:nvPr/>
          </p:nvSpPr>
          <p:spPr bwMode="auto">
            <a:xfrm>
              <a:off x="3705" y="1770"/>
              <a:ext cx="1" cy="11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1" name="Freeform 342"/>
            <p:cNvSpPr>
              <a:spLocks/>
            </p:cNvSpPr>
            <p:nvPr/>
          </p:nvSpPr>
          <p:spPr bwMode="auto">
            <a:xfrm>
              <a:off x="3844" y="1871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1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1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2" y="22"/>
                  </a:lnTo>
                  <a:lnTo>
                    <a:pt x="2" y="17"/>
                  </a:lnTo>
                  <a:lnTo>
                    <a:pt x="5" y="12"/>
                  </a:lnTo>
                  <a:lnTo>
                    <a:pt x="8" y="7"/>
                  </a:lnTo>
                  <a:lnTo>
                    <a:pt x="12" y="4"/>
                  </a:lnTo>
                  <a:lnTo>
                    <a:pt x="17" y="2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38" y="2"/>
                  </a:lnTo>
                  <a:lnTo>
                    <a:pt x="43" y="4"/>
                  </a:lnTo>
                  <a:lnTo>
                    <a:pt x="49" y="7"/>
                  </a:lnTo>
                  <a:lnTo>
                    <a:pt x="50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0" y="42"/>
                  </a:lnTo>
                  <a:lnTo>
                    <a:pt x="49" y="46"/>
                  </a:lnTo>
                  <a:lnTo>
                    <a:pt x="43" y="49"/>
                  </a:lnTo>
                  <a:lnTo>
                    <a:pt x="38" y="51"/>
                  </a:lnTo>
                  <a:lnTo>
                    <a:pt x="33" y="52"/>
                  </a:lnTo>
                  <a:lnTo>
                    <a:pt x="28" y="54"/>
                  </a:lnTo>
                  <a:lnTo>
                    <a:pt x="22" y="52"/>
                  </a:lnTo>
                  <a:lnTo>
                    <a:pt x="17" y="51"/>
                  </a:lnTo>
                  <a:lnTo>
                    <a:pt x="12" y="49"/>
                  </a:lnTo>
                  <a:lnTo>
                    <a:pt x="8" y="46"/>
                  </a:lnTo>
                  <a:lnTo>
                    <a:pt x="5" y="42"/>
                  </a:lnTo>
                  <a:lnTo>
                    <a:pt x="2" y="37"/>
                  </a:lnTo>
                  <a:lnTo>
                    <a:pt x="2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" name="Freeform 343"/>
            <p:cNvSpPr>
              <a:spLocks/>
            </p:cNvSpPr>
            <p:nvPr/>
          </p:nvSpPr>
          <p:spPr bwMode="auto">
            <a:xfrm>
              <a:off x="3693" y="1494"/>
              <a:ext cx="28" cy="27"/>
            </a:xfrm>
            <a:custGeom>
              <a:avLst/>
              <a:gdLst>
                <a:gd name="T0" fmla="*/ 0 w 56"/>
                <a:gd name="T1" fmla="*/ 1 h 53"/>
                <a:gd name="T2" fmla="*/ 0 w 56"/>
                <a:gd name="T3" fmla="*/ 1 h 53"/>
                <a:gd name="T4" fmla="*/ 1 w 56"/>
                <a:gd name="T5" fmla="*/ 1 h 53"/>
                <a:gd name="T6" fmla="*/ 1 w 56"/>
                <a:gd name="T7" fmla="*/ 1 h 53"/>
                <a:gd name="T8" fmla="*/ 1 w 56"/>
                <a:gd name="T9" fmla="*/ 1 h 53"/>
                <a:gd name="T10" fmla="*/ 1 w 56"/>
                <a:gd name="T11" fmla="*/ 1 h 53"/>
                <a:gd name="T12" fmla="*/ 1 w 56"/>
                <a:gd name="T13" fmla="*/ 1 h 53"/>
                <a:gd name="T14" fmla="*/ 1 w 56"/>
                <a:gd name="T15" fmla="*/ 0 h 53"/>
                <a:gd name="T16" fmla="*/ 1 w 56"/>
                <a:gd name="T17" fmla="*/ 0 h 53"/>
                <a:gd name="T18" fmla="*/ 1 w 56"/>
                <a:gd name="T19" fmla="*/ 0 h 53"/>
                <a:gd name="T20" fmla="*/ 1 w 56"/>
                <a:gd name="T21" fmla="*/ 1 h 53"/>
                <a:gd name="T22" fmla="*/ 1 w 56"/>
                <a:gd name="T23" fmla="*/ 1 h 53"/>
                <a:gd name="T24" fmla="*/ 1 w 56"/>
                <a:gd name="T25" fmla="*/ 1 h 53"/>
                <a:gd name="T26" fmla="*/ 1 w 56"/>
                <a:gd name="T27" fmla="*/ 1 h 53"/>
                <a:gd name="T28" fmla="*/ 1 w 56"/>
                <a:gd name="T29" fmla="*/ 1 h 53"/>
                <a:gd name="T30" fmla="*/ 1 w 56"/>
                <a:gd name="T31" fmla="*/ 1 h 53"/>
                <a:gd name="T32" fmla="*/ 1 w 56"/>
                <a:gd name="T33" fmla="*/ 1 h 53"/>
                <a:gd name="T34" fmla="*/ 1 w 56"/>
                <a:gd name="T35" fmla="*/ 1 h 53"/>
                <a:gd name="T36" fmla="*/ 1 w 56"/>
                <a:gd name="T37" fmla="*/ 1 h 53"/>
                <a:gd name="T38" fmla="*/ 1 w 56"/>
                <a:gd name="T39" fmla="*/ 1 h 53"/>
                <a:gd name="T40" fmla="*/ 1 w 56"/>
                <a:gd name="T41" fmla="*/ 1 h 53"/>
                <a:gd name="T42" fmla="*/ 1 w 56"/>
                <a:gd name="T43" fmla="*/ 1 h 53"/>
                <a:gd name="T44" fmla="*/ 1 w 56"/>
                <a:gd name="T45" fmla="*/ 1 h 53"/>
                <a:gd name="T46" fmla="*/ 1 w 56"/>
                <a:gd name="T47" fmla="*/ 1 h 53"/>
                <a:gd name="T48" fmla="*/ 1 w 56"/>
                <a:gd name="T49" fmla="*/ 1 h 53"/>
                <a:gd name="T50" fmla="*/ 1 w 56"/>
                <a:gd name="T51" fmla="*/ 1 h 53"/>
                <a:gd name="T52" fmla="*/ 1 w 56"/>
                <a:gd name="T53" fmla="*/ 1 h 53"/>
                <a:gd name="T54" fmla="*/ 1 w 56"/>
                <a:gd name="T55" fmla="*/ 1 h 53"/>
                <a:gd name="T56" fmla="*/ 1 w 56"/>
                <a:gd name="T57" fmla="*/ 1 h 53"/>
                <a:gd name="T58" fmla="*/ 1 w 56"/>
                <a:gd name="T59" fmla="*/ 1 h 53"/>
                <a:gd name="T60" fmla="*/ 1 w 56"/>
                <a:gd name="T61" fmla="*/ 1 h 53"/>
                <a:gd name="T62" fmla="*/ 1 w 56"/>
                <a:gd name="T63" fmla="*/ 1 h 53"/>
                <a:gd name="T64" fmla="*/ 0 w 56"/>
                <a:gd name="T65" fmla="*/ 1 h 53"/>
                <a:gd name="T66" fmla="*/ 0 w 56"/>
                <a:gd name="T67" fmla="*/ 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3"/>
                <a:gd name="T104" fmla="*/ 56 w 56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3">
                  <a:moveTo>
                    <a:pt x="0" y="26"/>
                  </a:moveTo>
                  <a:lnTo>
                    <a:pt x="0" y="20"/>
                  </a:lnTo>
                  <a:lnTo>
                    <a:pt x="2" y="15"/>
                  </a:lnTo>
                  <a:lnTo>
                    <a:pt x="4" y="11"/>
                  </a:lnTo>
                  <a:lnTo>
                    <a:pt x="7" y="6"/>
                  </a:lnTo>
                  <a:lnTo>
                    <a:pt x="13" y="3"/>
                  </a:lnTo>
                  <a:lnTo>
                    <a:pt x="18" y="1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9" y="1"/>
                  </a:lnTo>
                  <a:lnTo>
                    <a:pt x="44" y="3"/>
                  </a:lnTo>
                  <a:lnTo>
                    <a:pt x="48" y="6"/>
                  </a:lnTo>
                  <a:lnTo>
                    <a:pt x="51" y="11"/>
                  </a:lnTo>
                  <a:lnTo>
                    <a:pt x="55" y="15"/>
                  </a:lnTo>
                  <a:lnTo>
                    <a:pt x="55" y="20"/>
                  </a:lnTo>
                  <a:lnTo>
                    <a:pt x="56" y="26"/>
                  </a:lnTo>
                  <a:lnTo>
                    <a:pt x="55" y="31"/>
                  </a:lnTo>
                  <a:lnTo>
                    <a:pt x="55" y="36"/>
                  </a:lnTo>
                  <a:lnTo>
                    <a:pt x="51" y="41"/>
                  </a:lnTo>
                  <a:lnTo>
                    <a:pt x="48" y="45"/>
                  </a:lnTo>
                  <a:lnTo>
                    <a:pt x="44" y="48"/>
                  </a:lnTo>
                  <a:lnTo>
                    <a:pt x="39" y="50"/>
                  </a:lnTo>
                  <a:lnTo>
                    <a:pt x="34" y="51"/>
                  </a:lnTo>
                  <a:lnTo>
                    <a:pt x="28" y="53"/>
                  </a:lnTo>
                  <a:lnTo>
                    <a:pt x="23" y="51"/>
                  </a:lnTo>
                  <a:lnTo>
                    <a:pt x="18" y="50"/>
                  </a:lnTo>
                  <a:lnTo>
                    <a:pt x="13" y="48"/>
                  </a:lnTo>
                  <a:lnTo>
                    <a:pt x="7" y="45"/>
                  </a:lnTo>
                  <a:lnTo>
                    <a:pt x="4" y="41"/>
                  </a:lnTo>
                  <a:lnTo>
                    <a:pt x="2" y="36"/>
                  </a:lnTo>
                  <a:lnTo>
                    <a:pt x="0" y="31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3" name="Freeform 344"/>
            <p:cNvSpPr>
              <a:spLocks/>
            </p:cNvSpPr>
            <p:nvPr/>
          </p:nvSpPr>
          <p:spPr bwMode="auto">
            <a:xfrm>
              <a:off x="3844" y="906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1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1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2" y="22"/>
                  </a:lnTo>
                  <a:lnTo>
                    <a:pt x="3" y="17"/>
                  </a:lnTo>
                  <a:lnTo>
                    <a:pt x="5" y="12"/>
                  </a:lnTo>
                  <a:lnTo>
                    <a:pt x="8" y="9"/>
                  </a:lnTo>
                  <a:lnTo>
                    <a:pt x="12" y="5"/>
                  </a:lnTo>
                  <a:lnTo>
                    <a:pt x="17" y="2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40" y="2"/>
                  </a:lnTo>
                  <a:lnTo>
                    <a:pt x="43" y="5"/>
                  </a:lnTo>
                  <a:lnTo>
                    <a:pt x="49" y="9"/>
                  </a:lnTo>
                  <a:lnTo>
                    <a:pt x="52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2" y="42"/>
                  </a:lnTo>
                  <a:lnTo>
                    <a:pt x="49" y="46"/>
                  </a:lnTo>
                  <a:lnTo>
                    <a:pt x="43" y="49"/>
                  </a:lnTo>
                  <a:lnTo>
                    <a:pt x="40" y="52"/>
                  </a:lnTo>
                  <a:lnTo>
                    <a:pt x="35" y="54"/>
                  </a:lnTo>
                  <a:lnTo>
                    <a:pt x="28" y="54"/>
                  </a:lnTo>
                  <a:lnTo>
                    <a:pt x="22" y="54"/>
                  </a:lnTo>
                  <a:lnTo>
                    <a:pt x="17" y="52"/>
                  </a:lnTo>
                  <a:lnTo>
                    <a:pt x="12" y="49"/>
                  </a:lnTo>
                  <a:lnTo>
                    <a:pt x="8" y="46"/>
                  </a:lnTo>
                  <a:lnTo>
                    <a:pt x="5" y="42"/>
                  </a:lnTo>
                  <a:lnTo>
                    <a:pt x="3" y="37"/>
                  </a:lnTo>
                  <a:lnTo>
                    <a:pt x="2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4" name="Rectangle 345"/>
            <p:cNvSpPr>
              <a:spLocks noChangeArrowheads="1"/>
            </p:cNvSpPr>
            <p:nvPr/>
          </p:nvSpPr>
          <p:spPr bwMode="auto">
            <a:xfrm>
              <a:off x="4521" y="1136"/>
              <a:ext cx="36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宋体" pitchFamily="2" charset="-122"/>
                </a:rPr>
                <a:t>+</a:t>
              </a:r>
              <a:endParaRPr lang="en-US" altLang="zh-CN"/>
            </a:p>
          </p:txBody>
        </p:sp>
        <p:sp>
          <p:nvSpPr>
            <p:cNvPr id="395" name="Rectangle 346"/>
            <p:cNvSpPr>
              <a:spLocks noChangeArrowheads="1"/>
            </p:cNvSpPr>
            <p:nvPr/>
          </p:nvSpPr>
          <p:spPr bwMode="auto">
            <a:xfrm>
              <a:off x="4521" y="1336"/>
              <a:ext cx="36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宋体" pitchFamily="2" charset="-122"/>
                </a:rPr>
                <a:t>-</a:t>
              </a:r>
              <a:endParaRPr lang="en-US" altLang="zh-CN"/>
            </a:p>
          </p:txBody>
        </p:sp>
        <p:sp>
          <p:nvSpPr>
            <p:cNvPr id="396" name="Rectangle 347"/>
            <p:cNvSpPr>
              <a:spLocks noChangeArrowheads="1"/>
            </p:cNvSpPr>
            <p:nvPr/>
          </p:nvSpPr>
          <p:spPr bwMode="auto">
            <a:xfrm>
              <a:off x="4587" y="1268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397" name="Rectangle 348"/>
            <p:cNvSpPr>
              <a:spLocks noChangeArrowheads="1"/>
            </p:cNvSpPr>
            <p:nvPr/>
          </p:nvSpPr>
          <p:spPr bwMode="auto">
            <a:xfrm>
              <a:off x="4551" y="1222"/>
              <a:ext cx="4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u</a:t>
              </a:r>
              <a:endParaRPr lang="en-US" altLang="zh-CN"/>
            </a:p>
          </p:txBody>
        </p:sp>
        <p:sp>
          <p:nvSpPr>
            <p:cNvPr id="398" name="Line 349"/>
            <p:cNvSpPr>
              <a:spLocks noChangeShapeType="1"/>
            </p:cNvSpPr>
            <p:nvPr/>
          </p:nvSpPr>
          <p:spPr bwMode="auto">
            <a:xfrm flipV="1">
              <a:off x="4359" y="1380"/>
              <a:ext cx="1" cy="2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" name="Line 350"/>
            <p:cNvSpPr>
              <a:spLocks noChangeShapeType="1"/>
            </p:cNvSpPr>
            <p:nvPr/>
          </p:nvSpPr>
          <p:spPr bwMode="auto">
            <a:xfrm flipV="1">
              <a:off x="4372" y="1380"/>
              <a:ext cx="1" cy="2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" name="Freeform 351"/>
            <p:cNvSpPr>
              <a:spLocks/>
            </p:cNvSpPr>
            <p:nvPr/>
          </p:nvSpPr>
          <p:spPr bwMode="auto">
            <a:xfrm>
              <a:off x="3815" y="1046"/>
              <a:ext cx="87" cy="83"/>
            </a:xfrm>
            <a:custGeom>
              <a:avLst/>
              <a:gdLst>
                <a:gd name="T0" fmla="*/ 0 w 173"/>
                <a:gd name="T1" fmla="*/ 1 h 165"/>
                <a:gd name="T2" fmla="*/ 1 w 173"/>
                <a:gd name="T3" fmla="*/ 0 h 165"/>
                <a:gd name="T4" fmla="*/ 1 w 173"/>
                <a:gd name="T5" fmla="*/ 1 h 165"/>
                <a:gd name="T6" fmla="*/ 0 w 173"/>
                <a:gd name="T7" fmla="*/ 1 h 1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5"/>
                <a:gd name="T14" fmla="*/ 173 w 173"/>
                <a:gd name="T15" fmla="*/ 165 h 1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5">
                  <a:moveTo>
                    <a:pt x="0" y="165"/>
                  </a:moveTo>
                  <a:lnTo>
                    <a:pt x="86" y="0"/>
                  </a:lnTo>
                  <a:lnTo>
                    <a:pt x="173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1" name="Line 352"/>
            <p:cNvSpPr>
              <a:spLocks noChangeShapeType="1"/>
            </p:cNvSpPr>
            <p:nvPr/>
          </p:nvSpPr>
          <p:spPr bwMode="auto">
            <a:xfrm flipH="1">
              <a:off x="3815" y="1046"/>
              <a:ext cx="87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2" name="Freeform 353"/>
            <p:cNvSpPr>
              <a:spLocks/>
            </p:cNvSpPr>
            <p:nvPr/>
          </p:nvSpPr>
          <p:spPr bwMode="auto">
            <a:xfrm>
              <a:off x="3815" y="1046"/>
              <a:ext cx="87" cy="83"/>
            </a:xfrm>
            <a:custGeom>
              <a:avLst/>
              <a:gdLst>
                <a:gd name="T0" fmla="*/ 0 w 173"/>
                <a:gd name="T1" fmla="*/ 1 h 165"/>
                <a:gd name="T2" fmla="*/ 1 w 173"/>
                <a:gd name="T3" fmla="*/ 0 h 165"/>
                <a:gd name="T4" fmla="*/ 1 w 173"/>
                <a:gd name="T5" fmla="*/ 1 h 165"/>
                <a:gd name="T6" fmla="*/ 0 w 173"/>
                <a:gd name="T7" fmla="*/ 1 h 1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5"/>
                <a:gd name="T14" fmla="*/ 173 w 173"/>
                <a:gd name="T15" fmla="*/ 165 h 1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5">
                  <a:moveTo>
                    <a:pt x="0" y="165"/>
                  </a:moveTo>
                  <a:lnTo>
                    <a:pt x="86" y="0"/>
                  </a:lnTo>
                  <a:lnTo>
                    <a:pt x="173" y="165"/>
                  </a:lnTo>
                  <a:lnTo>
                    <a:pt x="0" y="165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3" name="Line 354"/>
            <p:cNvSpPr>
              <a:spLocks noChangeShapeType="1"/>
            </p:cNvSpPr>
            <p:nvPr/>
          </p:nvSpPr>
          <p:spPr bwMode="auto">
            <a:xfrm flipV="1">
              <a:off x="3858" y="920"/>
              <a:ext cx="1" cy="33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4" name="Freeform 355"/>
            <p:cNvSpPr>
              <a:spLocks/>
            </p:cNvSpPr>
            <p:nvPr/>
          </p:nvSpPr>
          <p:spPr bwMode="auto">
            <a:xfrm>
              <a:off x="3815" y="1046"/>
              <a:ext cx="87" cy="84"/>
            </a:xfrm>
            <a:custGeom>
              <a:avLst/>
              <a:gdLst>
                <a:gd name="T0" fmla="*/ 1 w 173"/>
                <a:gd name="T1" fmla="*/ 0 h 167"/>
                <a:gd name="T2" fmla="*/ 0 w 173"/>
                <a:gd name="T3" fmla="*/ 1 h 167"/>
                <a:gd name="T4" fmla="*/ 1 w 173"/>
                <a:gd name="T5" fmla="*/ 1 h 167"/>
                <a:gd name="T6" fmla="*/ 1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6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" name="Freeform 356"/>
            <p:cNvSpPr>
              <a:spLocks/>
            </p:cNvSpPr>
            <p:nvPr/>
          </p:nvSpPr>
          <p:spPr bwMode="auto">
            <a:xfrm>
              <a:off x="3815" y="1046"/>
              <a:ext cx="87" cy="84"/>
            </a:xfrm>
            <a:custGeom>
              <a:avLst/>
              <a:gdLst>
                <a:gd name="T0" fmla="*/ 1 w 173"/>
                <a:gd name="T1" fmla="*/ 0 h 167"/>
                <a:gd name="T2" fmla="*/ 0 w 173"/>
                <a:gd name="T3" fmla="*/ 1 h 167"/>
                <a:gd name="T4" fmla="*/ 1 w 173"/>
                <a:gd name="T5" fmla="*/ 1 h 167"/>
                <a:gd name="T6" fmla="*/ 1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6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6" name="Line 357"/>
            <p:cNvSpPr>
              <a:spLocks noChangeShapeType="1"/>
            </p:cNvSpPr>
            <p:nvPr/>
          </p:nvSpPr>
          <p:spPr bwMode="auto">
            <a:xfrm flipV="1">
              <a:off x="3858" y="1046"/>
              <a:ext cx="1" cy="8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7" name="Line 358"/>
            <p:cNvSpPr>
              <a:spLocks noChangeShapeType="1"/>
            </p:cNvSpPr>
            <p:nvPr/>
          </p:nvSpPr>
          <p:spPr bwMode="auto">
            <a:xfrm flipH="1">
              <a:off x="3815" y="1046"/>
              <a:ext cx="87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8" name="Freeform 359"/>
            <p:cNvSpPr>
              <a:spLocks/>
            </p:cNvSpPr>
            <p:nvPr/>
          </p:nvSpPr>
          <p:spPr bwMode="auto">
            <a:xfrm>
              <a:off x="4148" y="1047"/>
              <a:ext cx="86" cy="82"/>
            </a:xfrm>
            <a:custGeom>
              <a:avLst/>
              <a:gdLst>
                <a:gd name="T0" fmla="*/ 0 w 171"/>
                <a:gd name="T1" fmla="*/ 1 h 164"/>
                <a:gd name="T2" fmla="*/ 1 w 171"/>
                <a:gd name="T3" fmla="*/ 0 h 164"/>
                <a:gd name="T4" fmla="*/ 1 w 171"/>
                <a:gd name="T5" fmla="*/ 1 h 164"/>
                <a:gd name="T6" fmla="*/ 0 w 171"/>
                <a:gd name="T7" fmla="*/ 1 h 1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4"/>
                <a:gd name="T14" fmla="*/ 171 w 171"/>
                <a:gd name="T15" fmla="*/ 164 h 1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4">
                  <a:moveTo>
                    <a:pt x="0" y="164"/>
                  </a:moveTo>
                  <a:lnTo>
                    <a:pt x="86" y="0"/>
                  </a:lnTo>
                  <a:lnTo>
                    <a:pt x="171" y="164"/>
                  </a:lnTo>
                  <a:lnTo>
                    <a:pt x="0" y="16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" name="Line 360"/>
            <p:cNvSpPr>
              <a:spLocks noChangeShapeType="1"/>
            </p:cNvSpPr>
            <p:nvPr/>
          </p:nvSpPr>
          <p:spPr bwMode="auto">
            <a:xfrm flipH="1">
              <a:off x="4148" y="1047"/>
              <a:ext cx="86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" name="Freeform 361"/>
            <p:cNvSpPr>
              <a:spLocks/>
            </p:cNvSpPr>
            <p:nvPr/>
          </p:nvSpPr>
          <p:spPr bwMode="auto">
            <a:xfrm>
              <a:off x="4148" y="1047"/>
              <a:ext cx="86" cy="82"/>
            </a:xfrm>
            <a:custGeom>
              <a:avLst/>
              <a:gdLst>
                <a:gd name="T0" fmla="*/ 0 w 171"/>
                <a:gd name="T1" fmla="*/ 1 h 164"/>
                <a:gd name="T2" fmla="*/ 1 w 171"/>
                <a:gd name="T3" fmla="*/ 0 h 164"/>
                <a:gd name="T4" fmla="*/ 1 w 171"/>
                <a:gd name="T5" fmla="*/ 1 h 164"/>
                <a:gd name="T6" fmla="*/ 0 w 171"/>
                <a:gd name="T7" fmla="*/ 1 h 1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4"/>
                <a:gd name="T14" fmla="*/ 171 w 171"/>
                <a:gd name="T15" fmla="*/ 164 h 1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4">
                  <a:moveTo>
                    <a:pt x="0" y="164"/>
                  </a:moveTo>
                  <a:lnTo>
                    <a:pt x="86" y="0"/>
                  </a:lnTo>
                  <a:lnTo>
                    <a:pt x="171" y="164"/>
                  </a:lnTo>
                  <a:lnTo>
                    <a:pt x="0" y="164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" name="Line 362"/>
            <p:cNvSpPr>
              <a:spLocks noChangeShapeType="1"/>
            </p:cNvSpPr>
            <p:nvPr/>
          </p:nvSpPr>
          <p:spPr bwMode="auto">
            <a:xfrm flipV="1">
              <a:off x="4191" y="920"/>
              <a:ext cx="1" cy="33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" name="Freeform 363"/>
            <p:cNvSpPr>
              <a:spLocks/>
            </p:cNvSpPr>
            <p:nvPr/>
          </p:nvSpPr>
          <p:spPr bwMode="auto">
            <a:xfrm>
              <a:off x="4148" y="1046"/>
              <a:ext cx="86" cy="84"/>
            </a:xfrm>
            <a:custGeom>
              <a:avLst/>
              <a:gdLst>
                <a:gd name="T0" fmla="*/ 1 w 171"/>
                <a:gd name="T1" fmla="*/ 0 h 167"/>
                <a:gd name="T2" fmla="*/ 0 w 171"/>
                <a:gd name="T3" fmla="*/ 1 h 167"/>
                <a:gd name="T4" fmla="*/ 1 w 171"/>
                <a:gd name="T5" fmla="*/ 1 h 167"/>
                <a:gd name="T6" fmla="*/ 1 w 171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7"/>
                <a:gd name="T14" fmla="*/ 171 w 171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7">
                  <a:moveTo>
                    <a:pt x="86" y="0"/>
                  </a:moveTo>
                  <a:lnTo>
                    <a:pt x="0" y="167"/>
                  </a:lnTo>
                  <a:lnTo>
                    <a:pt x="171" y="167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" name="Freeform 364"/>
            <p:cNvSpPr>
              <a:spLocks/>
            </p:cNvSpPr>
            <p:nvPr/>
          </p:nvSpPr>
          <p:spPr bwMode="auto">
            <a:xfrm>
              <a:off x="4148" y="1046"/>
              <a:ext cx="86" cy="84"/>
            </a:xfrm>
            <a:custGeom>
              <a:avLst/>
              <a:gdLst>
                <a:gd name="T0" fmla="*/ 1 w 171"/>
                <a:gd name="T1" fmla="*/ 0 h 167"/>
                <a:gd name="T2" fmla="*/ 0 w 171"/>
                <a:gd name="T3" fmla="*/ 1 h 167"/>
                <a:gd name="T4" fmla="*/ 1 w 171"/>
                <a:gd name="T5" fmla="*/ 1 h 167"/>
                <a:gd name="T6" fmla="*/ 1 w 171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7"/>
                <a:gd name="T14" fmla="*/ 171 w 171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7">
                  <a:moveTo>
                    <a:pt x="86" y="0"/>
                  </a:moveTo>
                  <a:lnTo>
                    <a:pt x="0" y="167"/>
                  </a:lnTo>
                  <a:lnTo>
                    <a:pt x="171" y="167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4" name="Line 365"/>
            <p:cNvSpPr>
              <a:spLocks noChangeShapeType="1"/>
            </p:cNvSpPr>
            <p:nvPr/>
          </p:nvSpPr>
          <p:spPr bwMode="auto">
            <a:xfrm flipV="1">
              <a:off x="4191" y="1046"/>
              <a:ext cx="1" cy="8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5" name="Line 366"/>
            <p:cNvSpPr>
              <a:spLocks noChangeShapeType="1"/>
            </p:cNvSpPr>
            <p:nvPr/>
          </p:nvSpPr>
          <p:spPr bwMode="auto">
            <a:xfrm flipH="1">
              <a:off x="4148" y="1046"/>
              <a:ext cx="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6" name="Freeform 367"/>
            <p:cNvSpPr>
              <a:spLocks/>
            </p:cNvSpPr>
            <p:nvPr/>
          </p:nvSpPr>
          <p:spPr bwMode="auto">
            <a:xfrm>
              <a:off x="4564" y="1058"/>
              <a:ext cx="86" cy="82"/>
            </a:xfrm>
            <a:custGeom>
              <a:avLst/>
              <a:gdLst>
                <a:gd name="T0" fmla="*/ 0 w 173"/>
                <a:gd name="T1" fmla="*/ 0 h 166"/>
                <a:gd name="T2" fmla="*/ 0 w 173"/>
                <a:gd name="T3" fmla="*/ 0 h 166"/>
                <a:gd name="T4" fmla="*/ 0 w 173"/>
                <a:gd name="T5" fmla="*/ 0 h 166"/>
                <a:gd name="T6" fmla="*/ 0 w 173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6"/>
                <a:gd name="T14" fmla="*/ 173 w 173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6">
                  <a:moveTo>
                    <a:pt x="0" y="0"/>
                  </a:moveTo>
                  <a:lnTo>
                    <a:pt x="173" y="82"/>
                  </a:lnTo>
                  <a:lnTo>
                    <a:pt x="0" y="1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7" name="Line 368"/>
            <p:cNvSpPr>
              <a:spLocks noChangeShapeType="1"/>
            </p:cNvSpPr>
            <p:nvPr/>
          </p:nvSpPr>
          <p:spPr bwMode="auto">
            <a:xfrm flipV="1">
              <a:off x="4650" y="1058"/>
              <a:ext cx="1" cy="8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8" name="Freeform 369"/>
            <p:cNvSpPr>
              <a:spLocks/>
            </p:cNvSpPr>
            <p:nvPr/>
          </p:nvSpPr>
          <p:spPr bwMode="auto">
            <a:xfrm>
              <a:off x="4564" y="1058"/>
              <a:ext cx="86" cy="82"/>
            </a:xfrm>
            <a:custGeom>
              <a:avLst/>
              <a:gdLst>
                <a:gd name="T0" fmla="*/ 0 w 173"/>
                <a:gd name="T1" fmla="*/ 0 h 166"/>
                <a:gd name="T2" fmla="*/ 0 w 173"/>
                <a:gd name="T3" fmla="*/ 0 h 166"/>
                <a:gd name="T4" fmla="*/ 0 w 173"/>
                <a:gd name="T5" fmla="*/ 0 h 166"/>
                <a:gd name="T6" fmla="*/ 0 w 173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6"/>
                <a:gd name="T14" fmla="*/ 173 w 173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6">
                  <a:moveTo>
                    <a:pt x="0" y="0"/>
                  </a:moveTo>
                  <a:lnTo>
                    <a:pt x="173" y="82"/>
                  </a:lnTo>
                  <a:lnTo>
                    <a:pt x="0" y="166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" name="Line 370"/>
            <p:cNvSpPr>
              <a:spLocks noChangeShapeType="1"/>
            </p:cNvSpPr>
            <p:nvPr/>
          </p:nvSpPr>
          <p:spPr bwMode="auto">
            <a:xfrm>
              <a:off x="4431" y="1099"/>
              <a:ext cx="35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" name="Freeform 371"/>
            <p:cNvSpPr>
              <a:spLocks/>
            </p:cNvSpPr>
            <p:nvPr/>
          </p:nvSpPr>
          <p:spPr bwMode="auto">
            <a:xfrm>
              <a:off x="4563" y="1058"/>
              <a:ext cx="88" cy="82"/>
            </a:xfrm>
            <a:custGeom>
              <a:avLst/>
              <a:gdLst>
                <a:gd name="T0" fmla="*/ 0 w 177"/>
                <a:gd name="T1" fmla="*/ 0 h 166"/>
                <a:gd name="T2" fmla="*/ 0 w 177"/>
                <a:gd name="T3" fmla="*/ 0 h 166"/>
                <a:gd name="T4" fmla="*/ 0 w 177"/>
                <a:gd name="T5" fmla="*/ 0 h 166"/>
                <a:gd name="T6" fmla="*/ 0 w 177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7"/>
                <a:gd name="T13" fmla="*/ 0 h 166"/>
                <a:gd name="T14" fmla="*/ 177 w 177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7" h="166">
                  <a:moveTo>
                    <a:pt x="177" y="82"/>
                  </a:moveTo>
                  <a:lnTo>
                    <a:pt x="0" y="0"/>
                  </a:lnTo>
                  <a:lnTo>
                    <a:pt x="0" y="166"/>
                  </a:lnTo>
                  <a:lnTo>
                    <a:pt x="177" y="8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" name="Freeform 372"/>
            <p:cNvSpPr>
              <a:spLocks/>
            </p:cNvSpPr>
            <p:nvPr/>
          </p:nvSpPr>
          <p:spPr bwMode="auto">
            <a:xfrm>
              <a:off x="4563" y="1058"/>
              <a:ext cx="88" cy="82"/>
            </a:xfrm>
            <a:custGeom>
              <a:avLst/>
              <a:gdLst>
                <a:gd name="T0" fmla="*/ 0 w 177"/>
                <a:gd name="T1" fmla="*/ 0 h 166"/>
                <a:gd name="T2" fmla="*/ 0 w 177"/>
                <a:gd name="T3" fmla="*/ 0 h 166"/>
                <a:gd name="T4" fmla="*/ 0 w 177"/>
                <a:gd name="T5" fmla="*/ 0 h 166"/>
                <a:gd name="T6" fmla="*/ 0 w 177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7"/>
                <a:gd name="T13" fmla="*/ 0 h 166"/>
                <a:gd name="T14" fmla="*/ 177 w 177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7" h="166">
                  <a:moveTo>
                    <a:pt x="177" y="82"/>
                  </a:moveTo>
                  <a:lnTo>
                    <a:pt x="0" y="0"/>
                  </a:lnTo>
                  <a:lnTo>
                    <a:pt x="0" y="166"/>
                  </a:lnTo>
                  <a:lnTo>
                    <a:pt x="177" y="82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" name="Line 373"/>
            <p:cNvSpPr>
              <a:spLocks noChangeShapeType="1"/>
            </p:cNvSpPr>
            <p:nvPr/>
          </p:nvSpPr>
          <p:spPr bwMode="auto">
            <a:xfrm>
              <a:off x="4563" y="1099"/>
              <a:ext cx="88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3" name="Line 374"/>
            <p:cNvSpPr>
              <a:spLocks noChangeShapeType="1"/>
            </p:cNvSpPr>
            <p:nvPr/>
          </p:nvSpPr>
          <p:spPr bwMode="auto">
            <a:xfrm flipV="1">
              <a:off x="4651" y="1058"/>
              <a:ext cx="1" cy="8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4" name="Freeform 375"/>
            <p:cNvSpPr>
              <a:spLocks/>
            </p:cNvSpPr>
            <p:nvPr/>
          </p:nvSpPr>
          <p:spPr bwMode="auto">
            <a:xfrm>
              <a:off x="3815" y="1676"/>
              <a:ext cx="87" cy="82"/>
            </a:xfrm>
            <a:custGeom>
              <a:avLst/>
              <a:gdLst>
                <a:gd name="T0" fmla="*/ 0 w 173"/>
                <a:gd name="T1" fmla="*/ 1 h 164"/>
                <a:gd name="T2" fmla="*/ 1 w 173"/>
                <a:gd name="T3" fmla="*/ 0 h 164"/>
                <a:gd name="T4" fmla="*/ 1 w 173"/>
                <a:gd name="T5" fmla="*/ 1 h 164"/>
                <a:gd name="T6" fmla="*/ 0 w 173"/>
                <a:gd name="T7" fmla="*/ 1 h 1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4"/>
                <a:gd name="T14" fmla="*/ 173 w 173"/>
                <a:gd name="T15" fmla="*/ 164 h 1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4">
                  <a:moveTo>
                    <a:pt x="0" y="164"/>
                  </a:moveTo>
                  <a:lnTo>
                    <a:pt x="86" y="0"/>
                  </a:lnTo>
                  <a:lnTo>
                    <a:pt x="173" y="164"/>
                  </a:lnTo>
                  <a:lnTo>
                    <a:pt x="0" y="16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" name="Line 376"/>
            <p:cNvSpPr>
              <a:spLocks noChangeShapeType="1"/>
            </p:cNvSpPr>
            <p:nvPr/>
          </p:nvSpPr>
          <p:spPr bwMode="auto">
            <a:xfrm flipH="1">
              <a:off x="3815" y="1676"/>
              <a:ext cx="87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6" name="Freeform 377"/>
            <p:cNvSpPr>
              <a:spLocks/>
            </p:cNvSpPr>
            <p:nvPr/>
          </p:nvSpPr>
          <p:spPr bwMode="auto">
            <a:xfrm>
              <a:off x="3815" y="1676"/>
              <a:ext cx="87" cy="82"/>
            </a:xfrm>
            <a:custGeom>
              <a:avLst/>
              <a:gdLst>
                <a:gd name="T0" fmla="*/ 0 w 173"/>
                <a:gd name="T1" fmla="*/ 1 h 164"/>
                <a:gd name="T2" fmla="*/ 1 w 173"/>
                <a:gd name="T3" fmla="*/ 0 h 164"/>
                <a:gd name="T4" fmla="*/ 1 w 173"/>
                <a:gd name="T5" fmla="*/ 1 h 164"/>
                <a:gd name="T6" fmla="*/ 0 w 173"/>
                <a:gd name="T7" fmla="*/ 1 h 1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4"/>
                <a:gd name="T14" fmla="*/ 173 w 173"/>
                <a:gd name="T15" fmla="*/ 164 h 1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4">
                  <a:moveTo>
                    <a:pt x="0" y="164"/>
                  </a:moveTo>
                  <a:lnTo>
                    <a:pt x="86" y="0"/>
                  </a:lnTo>
                  <a:lnTo>
                    <a:pt x="173" y="164"/>
                  </a:lnTo>
                  <a:lnTo>
                    <a:pt x="0" y="164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7" name="Line 378"/>
            <p:cNvSpPr>
              <a:spLocks noChangeShapeType="1"/>
            </p:cNvSpPr>
            <p:nvPr/>
          </p:nvSpPr>
          <p:spPr bwMode="auto">
            <a:xfrm flipV="1">
              <a:off x="3858" y="1549"/>
              <a:ext cx="1" cy="33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" name="Freeform 379"/>
            <p:cNvSpPr>
              <a:spLocks/>
            </p:cNvSpPr>
            <p:nvPr/>
          </p:nvSpPr>
          <p:spPr bwMode="auto">
            <a:xfrm>
              <a:off x="3815" y="1675"/>
              <a:ext cx="87" cy="84"/>
            </a:xfrm>
            <a:custGeom>
              <a:avLst/>
              <a:gdLst>
                <a:gd name="T0" fmla="*/ 1 w 173"/>
                <a:gd name="T1" fmla="*/ 0 h 167"/>
                <a:gd name="T2" fmla="*/ 0 w 173"/>
                <a:gd name="T3" fmla="*/ 1 h 167"/>
                <a:gd name="T4" fmla="*/ 1 w 173"/>
                <a:gd name="T5" fmla="*/ 1 h 167"/>
                <a:gd name="T6" fmla="*/ 1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6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9" name="Freeform 380"/>
            <p:cNvSpPr>
              <a:spLocks/>
            </p:cNvSpPr>
            <p:nvPr/>
          </p:nvSpPr>
          <p:spPr bwMode="auto">
            <a:xfrm>
              <a:off x="3815" y="1675"/>
              <a:ext cx="87" cy="84"/>
            </a:xfrm>
            <a:custGeom>
              <a:avLst/>
              <a:gdLst>
                <a:gd name="T0" fmla="*/ 1 w 173"/>
                <a:gd name="T1" fmla="*/ 0 h 167"/>
                <a:gd name="T2" fmla="*/ 0 w 173"/>
                <a:gd name="T3" fmla="*/ 1 h 167"/>
                <a:gd name="T4" fmla="*/ 1 w 173"/>
                <a:gd name="T5" fmla="*/ 1 h 167"/>
                <a:gd name="T6" fmla="*/ 1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6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" name="Line 381"/>
            <p:cNvSpPr>
              <a:spLocks noChangeShapeType="1"/>
            </p:cNvSpPr>
            <p:nvPr/>
          </p:nvSpPr>
          <p:spPr bwMode="auto">
            <a:xfrm flipV="1">
              <a:off x="3858" y="1675"/>
              <a:ext cx="1" cy="8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" name="Line 382"/>
            <p:cNvSpPr>
              <a:spLocks noChangeShapeType="1"/>
            </p:cNvSpPr>
            <p:nvPr/>
          </p:nvSpPr>
          <p:spPr bwMode="auto">
            <a:xfrm flipH="1">
              <a:off x="3815" y="1675"/>
              <a:ext cx="87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2" name="Freeform 383"/>
            <p:cNvSpPr>
              <a:spLocks/>
            </p:cNvSpPr>
            <p:nvPr/>
          </p:nvSpPr>
          <p:spPr bwMode="auto">
            <a:xfrm>
              <a:off x="4171" y="1677"/>
              <a:ext cx="86" cy="82"/>
            </a:xfrm>
            <a:custGeom>
              <a:avLst/>
              <a:gdLst>
                <a:gd name="T0" fmla="*/ 0 w 173"/>
                <a:gd name="T1" fmla="*/ 0 h 166"/>
                <a:gd name="T2" fmla="*/ 0 w 173"/>
                <a:gd name="T3" fmla="*/ 0 h 166"/>
                <a:gd name="T4" fmla="*/ 0 w 173"/>
                <a:gd name="T5" fmla="*/ 0 h 166"/>
                <a:gd name="T6" fmla="*/ 0 w 173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6"/>
                <a:gd name="T14" fmla="*/ 173 w 173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6">
                  <a:moveTo>
                    <a:pt x="0" y="166"/>
                  </a:moveTo>
                  <a:lnTo>
                    <a:pt x="88" y="0"/>
                  </a:lnTo>
                  <a:lnTo>
                    <a:pt x="173" y="166"/>
                  </a:lnTo>
                  <a:lnTo>
                    <a:pt x="0" y="16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3" name="Line 384"/>
            <p:cNvSpPr>
              <a:spLocks noChangeShapeType="1"/>
            </p:cNvSpPr>
            <p:nvPr/>
          </p:nvSpPr>
          <p:spPr bwMode="auto">
            <a:xfrm flipH="1">
              <a:off x="4171" y="1677"/>
              <a:ext cx="86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4" name="Freeform 385"/>
            <p:cNvSpPr>
              <a:spLocks/>
            </p:cNvSpPr>
            <p:nvPr/>
          </p:nvSpPr>
          <p:spPr bwMode="auto">
            <a:xfrm>
              <a:off x="4171" y="1677"/>
              <a:ext cx="86" cy="82"/>
            </a:xfrm>
            <a:custGeom>
              <a:avLst/>
              <a:gdLst>
                <a:gd name="T0" fmla="*/ 0 w 173"/>
                <a:gd name="T1" fmla="*/ 0 h 166"/>
                <a:gd name="T2" fmla="*/ 0 w 173"/>
                <a:gd name="T3" fmla="*/ 0 h 166"/>
                <a:gd name="T4" fmla="*/ 0 w 173"/>
                <a:gd name="T5" fmla="*/ 0 h 166"/>
                <a:gd name="T6" fmla="*/ 0 w 173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6"/>
                <a:gd name="T14" fmla="*/ 173 w 173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6">
                  <a:moveTo>
                    <a:pt x="0" y="166"/>
                  </a:moveTo>
                  <a:lnTo>
                    <a:pt x="88" y="0"/>
                  </a:lnTo>
                  <a:lnTo>
                    <a:pt x="173" y="166"/>
                  </a:lnTo>
                  <a:lnTo>
                    <a:pt x="0" y="166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5" name="Line 386"/>
            <p:cNvSpPr>
              <a:spLocks noChangeShapeType="1"/>
            </p:cNvSpPr>
            <p:nvPr/>
          </p:nvSpPr>
          <p:spPr bwMode="auto">
            <a:xfrm flipV="1">
              <a:off x="4214" y="1550"/>
              <a:ext cx="1" cy="33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6" name="Freeform 387"/>
            <p:cNvSpPr>
              <a:spLocks/>
            </p:cNvSpPr>
            <p:nvPr/>
          </p:nvSpPr>
          <p:spPr bwMode="auto">
            <a:xfrm>
              <a:off x="4171" y="1676"/>
              <a:ext cx="86" cy="83"/>
            </a:xfrm>
            <a:custGeom>
              <a:avLst/>
              <a:gdLst>
                <a:gd name="T0" fmla="*/ 0 w 173"/>
                <a:gd name="T1" fmla="*/ 0 h 167"/>
                <a:gd name="T2" fmla="*/ 0 w 173"/>
                <a:gd name="T3" fmla="*/ 0 h 167"/>
                <a:gd name="T4" fmla="*/ 0 w 173"/>
                <a:gd name="T5" fmla="*/ 0 h 167"/>
                <a:gd name="T6" fmla="*/ 0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8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7" name="Freeform 388"/>
            <p:cNvSpPr>
              <a:spLocks/>
            </p:cNvSpPr>
            <p:nvPr/>
          </p:nvSpPr>
          <p:spPr bwMode="auto">
            <a:xfrm>
              <a:off x="4171" y="1676"/>
              <a:ext cx="86" cy="83"/>
            </a:xfrm>
            <a:custGeom>
              <a:avLst/>
              <a:gdLst>
                <a:gd name="T0" fmla="*/ 0 w 173"/>
                <a:gd name="T1" fmla="*/ 0 h 167"/>
                <a:gd name="T2" fmla="*/ 0 w 173"/>
                <a:gd name="T3" fmla="*/ 0 h 167"/>
                <a:gd name="T4" fmla="*/ 0 w 173"/>
                <a:gd name="T5" fmla="*/ 0 h 167"/>
                <a:gd name="T6" fmla="*/ 0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8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8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8" name="Line 389"/>
            <p:cNvSpPr>
              <a:spLocks noChangeShapeType="1"/>
            </p:cNvSpPr>
            <p:nvPr/>
          </p:nvSpPr>
          <p:spPr bwMode="auto">
            <a:xfrm flipV="1">
              <a:off x="4214" y="1676"/>
              <a:ext cx="1" cy="8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9" name="Line 390"/>
            <p:cNvSpPr>
              <a:spLocks noChangeShapeType="1"/>
            </p:cNvSpPr>
            <p:nvPr/>
          </p:nvSpPr>
          <p:spPr bwMode="auto">
            <a:xfrm flipH="1">
              <a:off x="4171" y="1676"/>
              <a:ext cx="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" name="Freeform 391"/>
            <p:cNvSpPr>
              <a:spLocks/>
            </p:cNvSpPr>
            <p:nvPr/>
          </p:nvSpPr>
          <p:spPr bwMode="auto">
            <a:xfrm>
              <a:off x="4567" y="1644"/>
              <a:ext cx="86" cy="83"/>
            </a:xfrm>
            <a:custGeom>
              <a:avLst/>
              <a:gdLst>
                <a:gd name="T0" fmla="*/ 0 w 171"/>
                <a:gd name="T1" fmla="*/ 0 h 166"/>
                <a:gd name="T2" fmla="*/ 1 w 171"/>
                <a:gd name="T3" fmla="*/ 1 h 166"/>
                <a:gd name="T4" fmla="*/ 0 w 171"/>
                <a:gd name="T5" fmla="*/ 1 h 166"/>
                <a:gd name="T6" fmla="*/ 0 w 171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6"/>
                <a:gd name="T14" fmla="*/ 171 w 171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6">
                  <a:moveTo>
                    <a:pt x="0" y="0"/>
                  </a:moveTo>
                  <a:lnTo>
                    <a:pt x="171" y="84"/>
                  </a:lnTo>
                  <a:lnTo>
                    <a:pt x="0" y="1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" name="Line 392"/>
            <p:cNvSpPr>
              <a:spLocks noChangeShapeType="1"/>
            </p:cNvSpPr>
            <p:nvPr/>
          </p:nvSpPr>
          <p:spPr bwMode="auto">
            <a:xfrm flipV="1">
              <a:off x="4653" y="1644"/>
              <a:ext cx="1" cy="8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" name="Freeform 393"/>
            <p:cNvSpPr>
              <a:spLocks/>
            </p:cNvSpPr>
            <p:nvPr/>
          </p:nvSpPr>
          <p:spPr bwMode="auto">
            <a:xfrm>
              <a:off x="4567" y="1644"/>
              <a:ext cx="86" cy="83"/>
            </a:xfrm>
            <a:custGeom>
              <a:avLst/>
              <a:gdLst>
                <a:gd name="T0" fmla="*/ 0 w 171"/>
                <a:gd name="T1" fmla="*/ 0 h 166"/>
                <a:gd name="T2" fmla="*/ 1 w 171"/>
                <a:gd name="T3" fmla="*/ 1 h 166"/>
                <a:gd name="T4" fmla="*/ 0 w 171"/>
                <a:gd name="T5" fmla="*/ 1 h 166"/>
                <a:gd name="T6" fmla="*/ 0 w 171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6"/>
                <a:gd name="T14" fmla="*/ 171 w 171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6">
                  <a:moveTo>
                    <a:pt x="0" y="0"/>
                  </a:moveTo>
                  <a:lnTo>
                    <a:pt x="171" y="84"/>
                  </a:lnTo>
                  <a:lnTo>
                    <a:pt x="0" y="166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3" name="Line 394"/>
            <p:cNvSpPr>
              <a:spLocks noChangeShapeType="1"/>
            </p:cNvSpPr>
            <p:nvPr/>
          </p:nvSpPr>
          <p:spPr bwMode="auto">
            <a:xfrm>
              <a:off x="4435" y="1686"/>
              <a:ext cx="35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4" name="Freeform 395"/>
            <p:cNvSpPr>
              <a:spLocks/>
            </p:cNvSpPr>
            <p:nvPr/>
          </p:nvSpPr>
          <p:spPr bwMode="auto">
            <a:xfrm>
              <a:off x="4567" y="1644"/>
              <a:ext cx="87" cy="83"/>
            </a:xfrm>
            <a:custGeom>
              <a:avLst/>
              <a:gdLst>
                <a:gd name="T0" fmla="*/ 0 w 175"/>
                <a:gd name="T1" fmla="*/ 1 h 166"/>
                <a:gd name="T2" fmla="*/ 0 w 175"/>
                <a:gd name="T3" fmla="*/ 0 h 166"/>
                <a:gd name="T4" fmla="*/ 0 w 175"/>
                <a:gd name="T5" fmla="*/ 1 h 166"/>
                <a:gd name="T6" fmla="*/ 0 w 175"/>
                <a:gd name="T7" fmla="*/ 1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5"/>
                <a:gd name="T13" fmla="*/ 0 h 166"/>
                <a:gd name="T14" fmla="*/ 175 w 175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5" h="166">
                  <a:moveTo>
                    <a:pt x="175" y="84"/>
                  </a:moveTo>
                  <a:lnTo>
                    <a:pt x="0" y="0"/>
                  </a:lnTo>
                  <a:lnTo>
                    <a:pt x="0" y="166"/>
                  </a:lnTo>
                  <a:lnTo>
                    <a:pt x="175" y="8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5" name="Freeform 396"/>
            <p:cNvSpPr>
              <a:spLocks/>
            </p:cNvSpPr>
            <p:nvPr/>
          </p:nvSpPr>
          <p:spPr bwMode="auto">
            <a:xfrm>
              <a:off x="4567" y="1644"/>
              <a:ext cx="87" cy="83"/>
            </a:xfrm>
            <a:custGeom>
              <a:avLst/>
              <a:gdLst>
                <a:gd name="T0" fmla="*/ 0 w 175"/>
                <a:gd name="T1" fmla="*/ 1 h 166"/>
                <a:gd name="T2" fmla="*/ 0 w 175"/>
                <a:gd name="T3" fmla="*/ 0 h 166"/>
                <a:gd name="T4" fmla="*/ 0 w 175"/>
                <a:gd name="T5" fmla="*/ 1 h 166"/>
                <a:gd name="T6" fmla="*/ 0 w 175"/>
                <a:gd name="T7" fmla="*/ 1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5"/>
                <a:gd name="T13" fmla="*/ 0 h 166"/>
                <a:gd name="T14" fmla="*/ 175 w 175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5" h="166">
                  <a:moveTo>
                    <a:pt x="175" y="84"/>
                  </a:moveTo>
                  <a:lnTo>
                    <a:pt x="0" y="0"/>
                  </a:lnTo>
                  <a:lnTo>
                    <a:pt x="0" y="166"/>
                  </a:lnTo>
                  <a:lnTo>
                    <a:pt x="175" y="84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6" name="Line 397"/>
            <p:cNvSpPr>
              <a:spLocks noChangeShapeType="1"/>
            </p:cNvSpPr>
            <p:nvPr/>
          </p:nvSpPr>
          <p:spPr bwMode="auto">
            <a:xfrm>
              <a:off x="4567" y="1686"/>
              <a:ext cx="87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" name="Line 398"/>
            <p:cNvSpPr>
              <a:spLocks noChangeShapeType="1"/>
            </p:cNvSpPr>
            <p:nvPr/>
          </p:nvSpPr>
          <p:spPr bwMode="auto">
            <a:xfrm flipV="1">
              <a:off x="4654" y="1644"/>
              <a:ext cx="1" cy="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8" name="Rectangle 399"/>
            <p:cNvSpPr>
              <a:spLocks noChangeArrowheads="1"/>
            </p:cNvSpPr>
            <p:nvPr/>
          </p:nvSpPr>
          <p:spPr bwMode="auto">
            <a:xfrm>
              <a:off x="5028" y="1138"/>
              <a:ext cx="48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宋体" pitchFamily="2" charset="-122"/>
                </a:rPr>
                <a:t>L</a:t>
              </a:r>
              <a:endParaRPr lang="en-US" altLang="zh-CN" sz="1200"/>
            </a:p>
          </p:txBody>
        </p:sp>
        <p:sp>
          <p:nvSpPr>
            <p:cNvPr id="449" name="Rectangle 400"/>
            <p:cNvSpPr>
              <a:spLocks noChangeArrowheads="1"/>
            </p:cNvSpPr>
            <p:nvPr/>
          </p:nvSpPr>
          <p:spPr bwMode="auto">
            <a:xfrm>
              <a:off x="4801" y="1047"/>
              <a:ext cx="93" cy="3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1200" i="1" baseline="-25000">
                  <a:solidFill>
                    <a:srgbClr val="000000"/>
                  </a:solidFill>
                  <a:latin typeface="Times New Roman" pitchFamily="18" charset="0"/>
                </a:rPr>
                <a:t>oi</a:t>
              </a:r>
            </a:p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1200"/>
            </a:p>
          </p:txBody>
        </p:sp>
        <p:sp>
          <p:nvSpPr>
            <p:cNvPr id="450" name="Rectangle 401"/>
            <p:cNvSpPr>
              <a:spLocks noChangeArrowheads="1"/>
            </p:cNvSpPr>
            <p:nvPr/>
          </p:nvSpPr>
          <p:spPr bwMode="auto">
            <a:xfrm>
              <a:off x="3395" y="1001"/>
              <a:ext cx="122" cy="7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endParaRPr lang="en-US" altLang="zh-CN" sz="16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eaLnBrk="1" hangingPunct="1"/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1600" i="1" baseline="-250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</a:p>
            <a:p>
              <a:pPr eaLnBrk="1" hangingPunct="1"/>
              <a:endParaRPr lang="en-US" altLang="zh-CN" sz="16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eaLnBrk="1" hangingPunct="1"/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1600"/>
            </a:p>
          </p:txBody>
        </p:sp>
        <p:sp>
          <p:nvSpPr>
            <p:cNvPr id="451" name="Rectangle 402"/>
            <p:cNvSpPr>
              <a:spLocks noChangeArrowheads="1"/>
            </p:cNvSpPr>
            <p:nvPr/>
          </p:nvSpPr>
          <p:spPr bwMode="auto">
            <a:xfrm>
              <a:off x="5527" y="1001"/>
              <a:ext cx="122" cy="4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16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  <a:p>
              <a:pPr eaLnBrk="1" hangingPunct="1"/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1600"/>
            </a:p>
          </p:txBody>
        </p:sp>
        <p:sp>
          <p:nvSpPr>
            <p:cNvPr id="452" name="Rectangle 403"/>
            <p:cNvSpPr>
              <a:spLocks noChangeArrowheads="1"/>
            </p:cNvSpPr>
            <p:nvPr/>
          </p:nvSpPr>
          <p:spPr bwMode="auto">
            <a:xfrm>
              <a:off x="4121" y="1228"/>
              <a:ext cx="75" cy="3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1200" i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1200"/>
            </a:p>
          </p:txBody>
        </p:sp>
        <p:sp>
          <p:nvSpPr>
            <p:cNvPr id="453" name="Rectangle 406"/>
            <p:cNvSpPr>
              <a:spLocks noChangeArrowheads="1"/>
            </p:cNvSpPr>
            <p:nvPr/>
          </p:nvSpPr>
          <p:spPr bwMode="auto">
            <a:xfrm>
              <a:off x="3923" y="1616"/>
              <a:ext cx="104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1400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54" name="Rectangle 407"/>
            <p:cNvSpPr>
              <a:spLocks noChangeArrowheads="1"/>
            </p:cNvSpPr>
            <p:nvPr/>
          </p:nvSpPr>
          <p:spPr bwMode="auto">
            <a:xfrm>
              <a:off x="3923" y="981"/>
              <a:ext cx="104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1400" baseline="-250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55" name="Rectangle 408"/>
            <p:cNvSpPr>
              <a:spLocks noChangeArrowheads="1"/>
            </p:cNvSpPr>
            <p:nvPr/>
          </p:nvSpPr>
          <p:spPr bwMode="auto">
            <a:xfrm>
              <a:off x="3560" y="1616"/>
              <a:ext cx="104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1400" baseline="-250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231"/>
          <p:cNvSpPr txBox="1">
            <a:spLocks noChangeArrowheads="1"/>
          </p:cNvSpPr>
          <p:nvPr/>
        </p:nvSpPr>
        <p:spPr bwMode="auto">
          <a:xfrm>
            <a:off x="251395" y="1285875"/>
            <a:ext cx="4392613" cy="189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A50021"/>
                </a:solidFill>
              </a:rPr>
              <a:t>(3)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A50021"/>
                </a:solidFill>
              </a:rPr>
              <a:t>When both the switch pairs are off (t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on</a:t>
            </a:r>
            <a:r>
              <a:rPr lang="en-US" altLang="zh-CN" sz="2400" dirty="0">
                <a:solidFill>
                  <a:srgbClr val="A50021"/>
                </a:solidFill>
              </a:rPr>
              <a:t>&lt;t&lt;t</a:t>
            </a:r>
            <a:r>
              <a:rPr lang="en-US" altLang="zh-CN" sz="2400" baseline="-25000" dirty="0">
                <a:solidFill>
                  <a:srgbClr val="A50021"/>
                </a:solidFill>
              </a:rPr>
              <a:t>on</a:t>
            </a:r>
            <a:r>
              <a:rPr lang="en-US" altLang="zh-CN" sz="2400" dirty="0">
                <a:solidFill>
                  <a:srgbClr val="A50021"/>
                </a:solidFill>
              </a:rPr>
              <a:t>+</a:t>
            </a:r>
            <a:r>
              <a:rPr lang="el-GR" altLang="zh-CN" sz="2400" dirty="0">
                <a:solidFill>
                  <a:srgbClr val="A50021"/>
                </a:solidFill>
                <a:cs typeface="Arial" charset="0"/>
              </a:rPr>
              <a:t>Δ</a:t>
            </a:r>
            <a:r>
              <a:rPr lang="en-US" altLang="zh-CN" sz="2400" dirty="0">
                <a:solidFill>
                  <a:srgbClr val="A50021"/>
                </a:solidFill>
              </a:rPr>
              <a:t>)</a:t>
            </a:r>
            <a:r>
              <a:rPr lang="en-US" altLang="zh-CN" sz="2400" dirty="0"/>
              <a:t>: D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and D</a:t>
            </a:r>
            <a:r>
              <a:rPr lang="en-US" altLang="zh-CN" sz="2400" baseline="-25000" dirty="0"/>
              <a:t>2 </a:t>
            </a:r>
            <a:r>
              <a:rPr lang="en-US" altLang="zh-CN" sz="2400" dirty="0"/>
              <a:t>conduct. </a:t>
            </a:r>
            <a:r>
              <a:rPr lang="en-US" altLang="zh-CN" sz="2400" dirty="0" err="1"/>
              <a:t>i</a:t>
            </a:r>
            <a:r>
              <a:rPr lang="en-US" altLang="zh-CN" sz="2400" baseline="-25000" dirty="0" err="1"/>
              <a:t>L</a:t>
            </a:r>
            <a:r>
              <a:rPr lang="en-US" altLang="zh-CN" sz="2400" dirty="0"/>
              <a:t> through D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and D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decrease linearly.</a:t>
            </a:r>
          </a:p>
        </p:txBody>
      </p:sp>
      <p:graphicFrame>
        <p:nvGraphicFramePr>
          <p:cNvPr id="86019" name="Object 2"/>
          <p:cNvGraphicFramePr>
            <a:graphicFrameLocks noChangeAspect="1"/>
          </p:cNvGraphicFramePr>
          <p:nvPr/>
        </p:nvGraphicFramePr>
        <p:xfrm>
          <a:off x="900113" y="3284538"/>
          <a:ext cx="3197225" cy="197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24" name="公式" r:id="rId3" imgW="1396394" imgH="863225" progId="">
                  <p:embed/>
                </p:oleObj>
              </mc:Choice>
              <mc:Fallback>
                <p:oleObj name="公式" r:id="rId3" imgW="1396394" imgH="863225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284538"/>
                        <a:ext cx="3197225" cy="1974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0" name="Group 409"/>
          <p:cNvGrpSpPr>
            <a:grpSpLocks/>
          </p:cNvGrpSpPr>
          <p:nvPr/>
        </p:nvGrpSpPr>
        <p:grpSpPr bwMode="auto">
          <a:xfrm>
            <a:off x="4716016" y="980728"/>
            <a:ext cx="4323780" cy="5760640"/>
            <a:chOff x="3334" y="890"/>
            <a:chExt cx="2315" cy="3258"/>
          </a:xfrm>
        </p:grpSpPr>
        <p:sp>
          <p:nvSpPr>
            <p:cNvPr id="231" name="Freeform 175"/>
            <p:cNvSpPr>
              <a:spLocks/>
            </p:cNvSpPr>
            <p:nvPr/>
          </p:nvSpPr>
          <p:spPr bwMode="auto">
            <a:xfrm>
              <a:off x="3396" y="2276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Freeform 176"/>
            <p:cNvSpPr>
              <a:spLocks/>
            </p:cNvSpPr>
            <p:nvPr/>
          </p:nvSpPr>
          <p:spPr bwMode="auto">
            <a:xfrm>
              <a:off x="3396" y="2276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Line 177"/>
            <p:cNvSpPr>
              <a:spLocks noChangeShapeType="1"/>
            </p:cNvSpPr>
            <p:nvPr/>
          </p:nvSpPr>
          <p:spPr bwMode="auto">
            <a:xfrm>
              <a:off x="3404" y="2335"/>
              <a:ext cx="1" cy="7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Freeform 178"/>
            <p:cNvSpPr>
              <a:spLocks/>
            </p:cNvSpPr>
            <p:nvPr/>
          </p:nvSpPr>
          <p:spPr bwMode="auto">
            <a:xfrm>
              <a:off x="5483" y="2858"/>
              <a:ext cx="54" cy="17"/>
            </a:xfrm>
            <a:custGeom>
              <a:avLst/>
              <a:gdLst>
                <a:gd name="T0" fmla="*/ 1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1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Freeform 179"/>
            <p:cNvSpPr>
              <a:spLocks/>
            </p:cNvSpPr>
            <p:nvPr/>
          </p:nvSpPr>
          <p:spPr bwMode="auto">
            <a:xfrm>
              <a:off x="5483" y="2858"/>
              <a:ext cx="54" cy="17"/>
            </a:xfrm>
            <a:custGeom>
              <a:avLst/>
              <a:gdLst>
                <a:gd name="T0" fmla="*/ 1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1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Line 180"/>
            <p:cNvSpPr>
              <a:spLocks noChangeShapeType="1"/>
            </p:cNvSpPr>
            <p:nvPr/>
          </p:nvSpPr>
          <p:spPr bwMode="auto">
            <a:xfrm flipH="1">
              <a:off x="3404" y="2867"/>
              <a:ext cx="207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Line 181"/>
            <p:cNvSpPr>
              <a:spLocks noChangeShapeType="1"/>
            </p:cNvSpPr>
            <p:nvPr/>
          </p:nvSpPr>
          <p:spPr bwMode="auto">
            <a:xfrm>
              <a:off x="3404" y="2387"/>
              <a:ext cx="320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Freeform 182"/>
            <p:cNvSpPr>
              <a:spLocks/>
            </p:cNvSpPr>
            <p:nvPr/>
          </p:nvSpPr>
          <p:spPr bwMode="auto">
            <a:xfrm>
              <a:off x="5480" y="3909"/>
              <a:ext cx="54" cy="17"/>
            </a:xfrm>
            <a:custGeom>
              <a:avLst/>
              <a:gdLst>
                <a:gd name="T0" fmla="*/ 1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1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" name="Freeform 183"/>
            <p:cNvSpPr>
              <a:spLocks/>
            </p:cNvSpPr>
            <p:nvPr/>
          </p:nvSpPr>
          <p:spPr bwMode="auto">
            <a:xfrm>
              <a:off x="5480" y="3909"/>
              <a:ext cx="54" cy="17"/>
            </a:xfrm>
            <a:custGeom>
              <a:avLst/>
              <a:gdLst>
                <a:gd name="T0" fmla="*/ 1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1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" name="Line 184"/>
            <p:cNvSpPr>
              <a:spLocks noChangeShapeType="1"/>
            </p:cNvSpPr>
            <p:nvPr/>
          </p:nvSpPr>
          <p:spPr bwMode="auto">
            <a:xfrm flipH="1">
              <a:off x="3401" y="3918"/>
              <a:ext cx="207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Rectangle 185"/>
            <p:cNvSpPr>
              <a:spLocks noChangeArrowheads="1"/>
            </p:cNvSpPr>
            <p:nvPr/>
          </p:nvSpPr>
          <p:spPr bwMode="auto">
            <a:xfrm>
              <a:off x="3441" y="2160"/>
              <a:ext cx="1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</a:rPr>
                <a:t>oi</a:t>
              </a:r>
            </a:p>
          </p:txBody>
        </p:sp>
        <p:sp>
          <p:nvSpPr>
            <p:cNvPr id="242" name="Rectangle 186"/>
            <p:cNvSpPr>
              <a:spLocks noChangeArrowheads="1"/>
            </p:cNvSpPr>
            <p:nvPr/>
          </p:nvSpPr>
          <p:spPr bwMode="auto">
            <a:xfrm>
              <a:off x="3335" y="2798"/>
              <a:ext cx="5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243" name="Rectangle 187"/>
            <p:cNvSpPr>
              <a:spLocks noChangeArrowheads="1"/>
            </p:cNvSpPr>
            <p:nvPr/>
          </p:nvSpPr>
          <p:spPr bwMode="auto">
            <a:xfrm>
              <a:off x="3334" y="3847"/>
              <a:ext cx="5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244" name="Rectangle 188"/>
            <p:cNvSpPr>
              <a:spLocks noChangeArrowheads="1"/>
            </p:cNvSpPr>
            <p:nvPr/>
          </p:nvSpPr>
          <p:spPr bwMode="auto">
            <a:xfrm>
              <a:off x="5569" y="2795"/>
              <a:ext cx="5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 sz="2400"/>
            </a:p>
          </p:txBody>
        </p:sp>
        <p:sp>
          <p:nvSpPr>
            <p:cNvPr id="245" name="Rectangle 189"/>
            <p:cNvSpPr>
              <a:spLocks noChangeArrowheads="1"/>
            </p:cNvSpPr>
            <p:nvPr/>
          </p:nvSpPr>
          <p:spPr bwMode="auto">
            <a:xfrm>
              <a:off x="5566" y="3828"/>
              <a:ext cx="5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 sz="2400"/>
            </a:p>
          </p:txBody>
        </p:sp>
        <p:sp>
          <p:nvSpPr>
            <p:cNvPr id="246" name="Line 190"/>
            <p:cNvSpPr>
              <a:spLocks noChangeShapeType="1"/>
            </p:cNvSpPr>
            <p:nvPr/>
          </p:nvSpPr>
          <p:spPr bwMode="auto">
            <a:xfrm>
              <a:off x="4257" y="2387"/>
              <a:ext cx="320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" name="Line 191"/>
            <p:cNvSpPr>
              <a:spLocks noChangeShapeType="1"/>
            </p:cNvSpPr>
            <p:nvPr/>
          </p:nvSpPr>
          <p:spPr bwMode="auto">
            <a:xfrm>
              <a:off x="4577" y="2866"/>
              <a:ext cx="53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Line 192"/>
            <p:cNvSpPr>
              <a:spLocks noChangeShapeType="1"/>
            </p:cNvSpPr>
            <p:nvPr/>
          </p:nvSpPr>
          <p:spPr bwMode="auto">
            <a:xfrm>
              <a:off x="4577" y="2387"/>
              <a:ext cx="1" cy="29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Line 193"/>
            <p:cNvSpPr>
              <a:spLocks noChangeShapeType="1"/>
            </p:cNvSpPr>
            <p:nvPr/>
          </p:nvSpPr>
          <p:spPr bwMode="auto">
            <a:xfrm>
              <a:off x="5111" y="2387"/>
              <a:ext cx="319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" name="Line 194"/>
            <p:cNvSpPr>
              <a:spLocks noChangeShapeType="1"/>
            </p:cNvSpPr>
            <p:nvPr/>
          </p:nvSpPr>
          <p:spPr bwMode="auto">
            <a:xfrm>
              <a:off x="5111" y="2387"/>
              <a:ext cx="1" cy="29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Rectangle 195"/>
            <p:cNvSpPr>
              <a:spLocks noChangeArrowheads="1"/>
            </p:cNvSpPr>
            <p:nvPr/>
          </p:nvSpPr>
          <p:spPr bwMode="auto">
            <a:xfrm>
              <a:off x="3714" y="2179"/>
              <a:ext cx="4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N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2</a:t>
              </a:r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V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d</a:t>
              </a:r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/N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52" name="Line 196"/>
            <p:cNvSpPr>
              <a:spLocks noChangeShapeType="1"/>
            </p:cNvSpPr>
            <p:nvPr/>
          </p:nvSpPr>
          <p:spPr bwMode="auto">
            <a:xfrm>
              <a:off x="3724" y="2913"/>
              <a:ext cx="1" cy="1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" name="Line 197"/>
            <p:cNvSpPr>
              <a:spLocks noChangeShapeType="1"/>
            </p:cNvSpPr>
            <p:nvPr/>
          </p:nvSpPr>
          <p:spPr bwMode="auto">
            <a:xfrm>
              <a:off x="4257" y="2913"/>
              <a:ext cx="1" cy="1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4" name="Line 198"/>
            <p:cNvSpPr>
              <a:spLocks noChangeShapeType="1"/>
            </p:cNvSpPr>
            <p:nvPr/>
          </p:nvSpPr>
          <p:spPr bwMode="auto">
            <a:xfrm>
              <a:off x="4257" y="2913"/>
              <a:ext cx="1" cy="2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5" name="Line 199"/>
            <p:cNvSpPr>
              <a:spLocks noChangeShapeType="1"/>
            </p:cNvSpPr>
            <p:nvPr/>
          </p:nvSpPr>
          <p:spPr bwMode="auto">
            <a:xfrm>
              <a:off x="3404" y="3065"/>
              <a:ext cx="1" cy="8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" name="Line 200"/>
            <p:cNvSpPr>
              <a:spLocks noChangeShapeType="1"/>
            </p:cNvSpPr>
            <p:nvPr/>
          </p:nvSpPr>
          <p:spPr bwMode="auto">
            <a:xfrm>
              <a:off x="3456" y="2972"/>
              <a:ext cx="2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Freeform 201"/>
            <p:cNvSpPr>
              <a:spLocks/>
            </p:cNvSpPr>
            <p:nvPr/>
          </p:nvSpPr>
          <p:spPr bwMode="auto">
            <a:xfrm>
              <a:off x="3404" y="2934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0 w 140"/>
                <a:gd name="T3" fmla="*/ 0 h 76"/>
                <a:gd name="T4" fmla="*/ 0 w 140"/>
                <a:gd name="T5" fmla="*/ 5 h 76"/>
                <a:gd name="T6" fmla="*/ 0 w 140"/>
                <a:gd name="T7" fmla="*/ 9 h 76"/>
                <a:gd name="T8" fmla="*/ 0 w 140"/>
                <a:gd name="T9" fmla="*/ 14 h 76"/>
                <a:gd name="T10" fmla="*/ 0 w 140"/>
                <a:gd name="T11" fmla="*/ 18 h 76"/>
                <a:gd name="T12" fmla="*/ 0 w 140"/>
                <a:gd name="T13" fmla="*/ 23 h 76"/>
                <a:gd name="T14" fmla="*/ 0 w 140"/>
                <a:gd name="T15" fmla="*/ 29 h 76"/>
                <a:gd name="T16" fmla="*/ 0 w 140"/>
                <a:gd name="T17" fmla="*/ 33 h 76"/>
                <a:gd name="T18" fmla="*/ 0 w 140"/>
                <a:gd name="T19" fmla="*/ 38 h 76"/>
                <a:gd name="T20" fmla="*/ 0 w 140"/>
                <a:gd name="T21" fmla="*/ 43 h 76"/>
                <a:gd name="T22" fmla="*/ 0 w 140"/>
                <a:gd name="T23" fmla="*/ 47 h 76"/>
                <a:gd name="T24" fmla="*/ 0 w 140"/>
                <a:gd name="T25" fmla="*/ 52 h 76"/>
                <a:gd name="T26" fmla="*/ 0 w 140"/>
                <a:gd name="T27" fmla="*/ 58 h 76"/>
                <a:gd name="T28" fmla="*/ 0 w 140"/>
                <a:gd name="T29" fmla="*/ 62 h 76"/>
                <a:gd name="T30" fmla="*/ 0 w 140"/>
                <a:gd name="T31" fmla="*/ 67 h 76"/>
                <a:gd name="T32" fmla="*/ 0 w 140"/>
                <a:gd name="T33" fmla="*/ 71 h 76"/>
                <a:gd name="T34" fmla="*/ 0 w 140"/>
                <a:gd name="T35" fmla="*/ 76 h 76"/>
                <a:gd name="T36" fmla="*/ 0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Freeform 202"/>
            <p:cNvSpPr>
              <a:spLocks/>
            </p:cNvSpPr>
            <p:nvPr/>
          </p:nvSpPr>
          <p:spPr bwMode="auto">
            <a:xfrm>
              <a:off x="3655" y="2934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0 w 140"/>
                <a:gd name="T3" fmla="*/ 76 h 76"/>
                <a:gd name="T4" fmla="*/ 0 w 140"/>
                <a:gd name="T5" fmla="*/ 71 h 76"/>
                <a:gd name="T6" fmla="*/ 0 w 140"/>
                <a:gd name="T7" fmla="*/ 67 h 76"/>
                <a:gd name="T8" fmla="*/ 0 w 140"/>
                <a:gd name="T9" fmla="*/ 62 h 76"/>
                <a:gd name="T10" fmla="*/ 0 w 140"/>
                <a:gd name="T11" fmla="*/ 58 h 76"/>
                <a:gd name="T12" fmla="*/ 0 w 140"/>
                <a:gd name="T13" fmla="*/ 52 h 76"/>
                <a:gd name="T14" fmla="*/ 0 w 140"/>
                <a:gd name="T15" fmla="*/ 47 h 76"/>
                <a:gd name="T16" fmla="*/ 0 w 140"/>
                <a:gd name="T17" fmla="*/ 43 h 76"/>
                <a:gd name="T18" fmla="*/ 0 w 140"/>
                <a:gd name="T19" fmla="*/ 38 h 76"/>
                <a:gd name="T20" fmla="*/ 0 w 140"/>
                <a:gd name="T21" fmla="*/ 33 h 76"/>
                <a:gd name="T22" fmla="*/ 0 w 140"/>
                <a:gd name="T23" fmla="*/ 29 h 76"/>
                <a:gd name="T24" fmla="*/ 0 w 140"/>
                <a:gd name="T25" fmla="*/ 23 h 76"/>
                <a:gd name="T26" fmla="*/ 0 w 140"/>
                <a:gd name="T27" fmla="*/ 18 h 76"/>
                <a:gd name="T28" fmla="*/ 0 w 140"/>
                <a:gd name="T29" fmla="*/ 14 h 76"/>
                <a:gd name="T30" fmla="*/ 0 w 140"/>
                <a:gd name="T31" fmla="*/ 9 h 76"/>
                <a:gd name="T32" fmla="*/ 0 w 140"/>
                <a:gd name="T33" fmla="*/ 5 h 76"/>
                <a:gd name="T34" fmla="*/ 0 w 140"/>
                <a:gd name="T35" fmla="*/ 0 h 76"/>
                <a:gd name="T36" fmla="*/ 0 w 140"/>
                <a:gd name="T37" fmla="*/ 0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140" y="38"/>
                  </a:moveTo>
                  <a:lnTo>
                    <a:pt x="0" y="76"/>
                  </a:lnTo>
                  <a:lnTo>
                    <a:pt x="4" y="71"/>
                  </a:lnTo>
                  <a:lnTo>
                    <a:pt x="8" y="67"/>
                  </a:lnTo>
                  <a:lnTo>
                    <a:pt x="11" y="62"/>
                  </a:lnTo>
                  <a:lnTo>
                    <a:pt x="13" y="58"/>
                  </a:lnTo>
                  <a:lnTo>
                    <a:pt x="15" y="52"/>
                  </a:lnTo>
                  <a:lnTo>
                    <a:pt x="17" y="47"/>
                  </a:lnTo>
                  <a:lnTo>
                    <a:pt x="17" y="43"/>
                  </a:lnTo>
                  <a:lnTo>
                    <a:pt x="17" y="38"/>
                  </a:lnTo>
                  <a:lnTo>
                    <a:pt x="17" y="33"/>
                  </a:lnTo>
                  <a:lnTo>
                    <a:pt x="17" y="29"/>
                  </a:lnTo>
                  <a:lnTo>
                    <a:pt x="15" y="23"/>
                  </a:lnTo>
                  <a:lnTo>
                    <a:pt x="13" y="18"/>
                  </a:lnTo>
                  <a:lnTo>
                    <a:pt x="11" y="14"/>
                  </a:lnTo>
                  <a:lnTo>
                    <a:pt x="8" y="9"/>
                  </a:lnTo>
                  <a:lnTo>
                    <a:pt x="4" y="5"/>
                  </a:lnTo>
                  <a:lnTo>
                    <a:pt x="0" y="0"/>
                  </a:lnTo>
                  <a:lnTo>
                    <a:pt x="140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Line 203"/>
            <p:cNvSpPr>
              <a:spLocks noChangeShapeType="1"/>
            </p:cNvSpPr>
            <p:nvPr/>
          </p:nvSpPr>
          <p:spPr bwMode="auto">
            <a:xfrm>
              <a:off x="3776" y="2972"/>
              <a:ext cx="42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0" name="Freeform 204"/>
            <p:cNvSpPr>
              <a:spLocks/>
            </p:cNvSpPr>
            <p:nvPr/>
          </p:nvSpPr>
          <p:spPr bwMode="auto">
            <a:xfrm>
              <a:off x="3724" y="2934"/>
              <a:ext cx="69" cy="76"/>
            </a:xfrm>
            <a:custGeom>
              <a:avLst/>
              <a:gdLst>
                <a:gd name="T0" fmla="*/ 0 w 137"/>
                <a:gd name="T1" fmla="*/ 38 h 76"/>
                <a:gd name="T2" fmla="*/ 1 w 137"/>
                <a:gd name="T3" fmla="*/ 0 h 76"/>
                <a:gd name="T4" fmla="*/ 1 w 137"/>
                <a:gd name="T5" fmla="*/ 5 h 76"/>
                <a:gd name="T6" fmla="*/ 1 w 137"/>
                <a:gd name="T7" fmla="*/ 9 h 76"/>
                <a:gd name="T8" fmla="*/ 1 w 137"/>
                <a:gd name="T9" fmla="*/ 14 h 76"/>
                <a:gd name="T10" fmla="*/ 1 w 137"/>
                <a:gd name="T11" fmla="*/ 18 h 76"/>
                <a:gd name="T12" fmla="*/ 1 w 137"/>
                <a:gd name="T13" fmla="*/ 23 h 76"/>
                <a:gd name="T14" fmla="*/ 1 w 137"/>
                <a:gd name="T15" fmla="*/ 29 h 76"/>
                <a:gd name="T16" fmla="*/ 1 w 137"/>
                <a:gd name="T17" fmla="*/ 33 h 76"/>
                <a:gd name="T18" fmla="*/ 1 w 137"/>
                <a:gd name="T19" fmla="*/ 38 h 76"/>
                <a:gd name="T20" fmla="*/ 1 w 137"/>
                <a:gd name="T21" fmla="*/ 43 h 76"/>
                <a:gd name="T22" fmla="*/ 1 w 137"/>
                <a:gd name="T23" fmla="*/ 47 h 76"/>
                <a:gd name="T24" fmla="*/ 1 w 137"/>
                <a:gd name="T25" fmla="*/ 52 h 76"/>
                <a:gd name="T26" fmla="*/ 1 w 137"/>
                <a:gd name="T27" fmla="*/ 58 h 76"/>
                <a:gd name="T28" fmla="*/ 1 w 137"/>
                <a:gd name="T29" fmla="*/ 62 h 76"/>
                <a:gd name="T30" fmla="*/ 1 w 137"/>
                <a:gd name="T31" fmla="*/ 67 h 76"/>
                <a:gd name="T32" fmla="*/ 1 w 137"/>
                <a:gd name="T33" fmla="*/ 71 h 76"/>
                <a:gd name="T34" fmla="*/ 1 w 137"/>
                <a:gd name="T35" fmla="*/ 76 h 76"/>
                <a:gd name="T36" fmla="*/ 1 w 137"/>
                <a:gd name="T37" fmla="*/ 76 h 76"/>
                <a:gd name="T38" fmla="*/ 0 w 137"/>
                <a:gd name="T39" fmla="*/ 38 h 76"/>
                <a:gd name="T40" fmla="*/ 0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0" y="38"/>
                  </a:moveTo>
                  <a:lnTo>
                    <a:pt x="137" y="0"/>
                  </a:lnTo>
                  <a:lnTo>
                    <a:pt x="134" y="5"/>
                  </a:lnTo>
                  <a:lnTo>
                    <a:pt x="130" y="9"/>
                  </a:lnTo>
                  <a:lnTo>
                    <a:pt x="128" y="14"/>
                  </a:lnTo>
                  <a:lnTo>
                    <a:pt x="124" y="18"/>
                  </a:lnTo>
                  <a:lnTo>
                    <a:pt x="122" y="23"/>
                  </a:lnTo>
                  <a:lnTo>
                    <a:pt x="122" y="29"/>
                  </a:lnTo>
                  <a:lnTo>
                    <a:pt x="120" y="33"/>
                  </a:lnTo>
                  <a:lnTo>
                    <a:pt x="120" y="38"/>
                  </a:lnTo>
                  <a:lnTo>
                    <a:pt x="120" y="43"/>
                  </a:lnTo>
                  <a:lnTo>
                    <a:pt x="122" y="47"/>
                  </a:lnTo>
                  <a:lnTo>
                    <a:pt x="122" y="52"/>
                  </a:lnTo>
                  <a:lnTo>
                    <a:pt x="124" y="58"/>
                  </a:lnTo>
                  <a:lnTo>
                    <a:pt x="128" y="62"/>
                  </a:lnTo>
                  <a:lnTo>
                    <a:pt x="130" y="67"/>
                  </a:lnTo>
                  <a:lnTo>
                    <a:pt x="134" y="71"/>
                  </a:lnTo>
                  <a:lnTo>
                    <a:pt x="137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Freeform 205"/>
            <p:cNvSpPr>
              <a:spLocks/>
            </p:cNvSpPr>
            <p:nvPr/>
          </p:nvSpPr>
          <p:spPr bwMode="auto">
            <a:xfrm>
              <a:off x="4188" y="2934"/>
              <a:ext cx="69" cy="76"/>
            </a:xfrm>
            <a:custGeom>
              <a:avLst/>
              <a:gdLst>
                <a:gd name="T0" fmla="*/ 1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1 w 137"/>
                <a:gd name="T39" fmla="*/ 38 h 76"/>
                <a:gd name="T40" fmla="*/ 1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" name="Line 206"/>
            <p:cNvSpPr>
              <a:spLocks noChangeShapeType="1"/>
            </p:cNvSpPr>
            <p:nvPr/>
          </p:nvSpPr>
          <p:spPr bwMode="auto">
            <a:xfrm>
              <a:off x="3456" y="3089"/>
              <a:ext cx="74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" name="Freeform 207"/>
            <p:cNvSpPr>
              <a:spLocks/>
            </p:cNvSpPr>
            <p:nvPr/>
          </p:nvSpPr>
          <p:spPr bwMode="auto">
            <a:xfrm>
              <a:off x="3404" y="3051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0 w 140"/>
                <a:gd name="T3" fmla="*/ 0 h 76"/>
                <a:gd name="T4" fmla="*/ 0 w 140"/>
                <a:gd name="T5" fmla="*/ 5 h 76"/>
                <a:gd name="T6" fmla="*/ 0 w 140"/>
                <a:gd name="T7" fmla="*/ 9 h 76"/>
                <a:gd name="T8" fmla="*/ 0 w 140"/>
                <a:gd name="T9" fmla="*/ 14 h 76"/>
                <a:gd name="T10" fmla="*/ 0 w 140"/>
                <a:gd name="T11" fmla="*/ 18 h 76"/>
                <a:gd name="T12" fmla="*/ 0 w 140"/>
                <a:gd name="T13" fmla="*/ 23 h 76"/>
                <a:gd name="T14" fmla="*/ 0 w 140"/>
                <a:gd name="T15" fmla="*/ 29 h 76"/>
                <a:gd name="T16" fmla="*/ 0 w 140"/>
                <a:gd name="T17" fmla="*/ 33 h 76"/>
                <a:gd name="T18" fmla="*/ 0 w 140"/>
                <a:gd name="T19" fmla="*/ 38 h 76"/>
                <a:gd name="T20" fmla="*/ 0 w 140"/>
                <a:gd name="T21" fmla="*/ 43 h 76"/>
                <a:gd name="T22" fmla="*/ 0 w 140"/>
                <a:gd name="T23" fmla="*/ 47 h 76"/>
                <a:gd name="T24" fmla="*/ 0 w 140"/>
                <a:gd name="T25" fmla="*/ 52 h 76"/>
                <a:gd name="T26" fmla="*/ 0 w 140"/>
                <a:gd name="T27" fmla="*/ 58 h 76"/>
                <a:gd name="T28" fmla="*/ 0 w 140"/>
                <a:gd name="T29" fmla="*/ 62 h 76"/>
                <a:gd name="T30" fmla="*/ 0 w 140"/>
                <a:gd name="T31" fmla="*/ 67 h 76"/>
                <a:gd name="T32" fmla="*/ 0 w 140"/>
                <a:gd name="T33" fmla="*/ 71 h 76"/>
                <a:gd name="T34" fmla="*/ 0 w 140"/>
                <a:gd name="T35" fmla="*/ 76 h 76"/>
                <a:gd name="T36" fmla="*/ 0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Freeform 208"/>
            <p:cNvSpPr>
              <a:spLocks/>
            </p:cNvSpPr>
            <p:nvPr/>
          </p:nvSpPr>
          <p:spPr bwMode="auto">
            <a:xfrm>
              <a:off x="4188" y="3051"/>
              <a:ext cx="69" cy="76"/>
            </a:xfrm>
            <a:custGeom>
              <a:avLst/>
              <a:gdLst>
                <a:gd name="T0" fmla="*/ 1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1 w 137"/>
                <a:gd name="T39" fmla="*/ 38 h 76"/>
                <a:gd name="T40" fmla="*/ 1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" name="Rectangle 209"/>
            <p:cNvSpPr>
              <a:spLocks noChangeArrowheads="1"/>
            </p:cNvSpPr>
            <p:nvPr/>
          </p:nvSpPr>
          <p:spPr bwMode="auto">
            <a:xfrm>
              <a:off x="3561" y="2893"/>
              <a:ext cx="72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on</a:t>
              </a:r>
              <a:endParaRPr lang="en-US" altLang="zh-CN"/>
            </a:p>
          </p:txBody>
        </p:sp>
        <p:sp>
          <p:nvSpPr>
            <p:cNvPr id="266" name="Rectangle 210"/>
            <p:cNvSpPr>
              <a:spLocks noChangeArrowheads="1"/>
            </p:cNvSpPr>
            <p:nvPr/>
          </p:nvSpPr>
          <p:spPr bwMode="auto">
            <a:xfrm>
              <a:off x="3542" y="2847"/>
              <a:ext cx="29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267" name="Line 211"/>
            <p:cNvSpPr>
              <a:spLocks noChangeShapeType="1"/>
            </p:cNvSpPr>
            <p:nvPr/>
          </p:nvSpPr>
          <p:spPr bwMode="auto">
            <a:xfrm flipV="1">
              <a:off x="3721" y="3867"/>
              <a:ext cx="1" cy="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8" name="Line 212"/>
            <p:cNvSpPr>
              <a:spLocks noChangeShapeType="1"/>
            </p:cNvSpPr>
            <p:nvPr/>
          </p:nvSpPr>
          <p:spPr bwMode="auto">
            <a:xfrm flipV="1">
              <a:off x="4254" y="3867"/>
              <a:ext cx="1" cy="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" name="Line 213"/>
            <p:cNvSpPr>
              <a:spLocks noChangeShapeType="1"/>
            </p:cNvSpPr>
            <p:nvPr/>
          </p:nvSpPr>
          <p:spPr bwMode="auto">
            <a:xfrm flipV="1">
              <a:off x="4574" y="3867"/>
              <a:ext cx="1" cy="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0" name="Line 214"/>
            <p:cNvSpPr>
              <a:spLocks noChangeShapeType="1"/>
            </p:cNvSpPr>
            <p:nvPr/>
          </p:nvSpPr>
          <p:spPr bwMode="auto">
            <a:xfrm flipV="1">
              <a:off x="5108" y="3867"/>
              <a:ext cx="1" cy="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1" name="Freeform 215"/>
            <p:cNvSpPr>
              <a:spLocks/>
            </p:cNvSpPr>
            <p:nvPr/>
          </p:nvSpPr>
          <p:spPr bwMode="auto">
            <a:xfrm>
              <a:off x="3404" y="3440"/>
              <a:ext cx="1898" cy="234"/>
            </a:xfrm>
            <a:custGeom>
              <a:avLst/>
              <a:gdLst>
                <a:gd name="T0" fmla="*/ 0 w 3797"/>
                <a:gd name="T1" fmla="*/ 234 h 234"/>
                <a:gd name="T2" fmla="*/ 2 w 3797"/>
                <a:gd name="T3" fmla="*/ 0 h 234"/>
                <a:gd name="T4" fmla="*/ 6 w 3797"/>
                <a:gd name="T5" fmla="*/ 234 h 234"/>
                <a:gd name="T6" fmla="*/ 9 w 3797"/>
                <a:gd name="T7" fmla="*/ 0 h 234"/>
                <a:gd name="T8" fmla="*/ 13 w 3797"/>
                <a:gd name="T9" fmla="*/ 234 h 234"/>
                <a:gd name="T10" fmla="*/ 14 w 3797"/>
                <a:gd name="T11" fmla="*/ 117 h 2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797"/>
                <a:gd name="T19" fmla="*/ 0 h 234"/>
                <a:gd name="T20" fmla="*/ 3797 w 3797"/>
                <a:gd name="T21" fmla="*/ 234 h 2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797" h="234">
                  <a:moveTo>
                    <a:pt x="0" y="234"/>
                  </a:moveTo>
                  <a:lnTo>
                    <a:pt x="642" y="0"/>
                  </a:lnTo>
                  <a:lnTo>
                    <a:pt x="1707" y="234"/>
                  </a:lnTo>
                  <a:lnTo>
                    <a:pt x="2347" y="0"/>
                  </a:lnTo>
                  <a:lnTo>
                    <a:pt x="3414" y="234"/>
                  </a:lnTo>
                  <a:lnTo>
                    <a:pt x="3797" y="117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2" name="Freeform 216"/>
            <p:cNvSpPr>
              <a:spLocks/>
            </p:cNvSpPr>
            <p:nvPr/>
          </p:nvSpPr>
          <p:spPr bwMode="auto">
            <a:xfrm>
              <a:off x="3724" y="2387"/>
              <a:ext cx="533" cy="479"/>
            </a:xfrm>
            <a:custGeom>
              <a:avLst/>
              <a:gdLst>
                <a:gd name="T0" fmla="*/ 0 w 1065"/>
                <a:gd name="T1" fmla="*/ 0 h 479"/>
                <a:gd name="T2" fmla="*/ 0 w 1065"/>
                <a:gd name="T3" fmla="*/ 479 h 479"/>
                <a:gd name="T4" fmla="*/ 5 w 1065"/>
                <a:gd name="T5" fmla="*/ 479 h 479"/>
                <a:gd name="T6" fmla="*/ 5 w 1065"/>
                <a:gd name="T7" fmla="*/ 0 h 4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5"/>
                <a:gd name="T13" fmla="*/ 0 h 479"/>
                <a:gd name="T14" fmla="*/ 1065 w 1065"/>
                <a:gd name="T15" fmla="*/ 479 h 4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5" h="479">
                  <a:moveTo>
                    <a:pt x="0" y="0"/>
                  </a:moveTo>
                  <a:lnTo>
                    <a:pt x="0" y="479"/>
                  </a:lnTo>
                  <a:lnTo>
                    <a:pt x="1065" y="479"/>
                  </a:lnTo>
                  <a:lnTo>
                    <a:pt x="106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" name="Freeform 217"/>
            <p:cNvSpPr>
              <a:spLocks noEditPoints="1"/>
            </p:cNvSpPr>
            <p:nvPr/>
          </p:nvSpPr>
          <p:spPr bwMode="auto">
            <a:xfrm>
              <a:off x="3401" y="2571"/>
              <a:ext cx="2039" cy="13"/>
            </a:xfrm>
            <a:custGeom>
              <a:avLst/>
              <a:gdLst>
                <a:gd name="T0" fmla="*/ 1 w 4078"/>
                <a:gd name="T1" fmla="*/ 5 h 13"/>
                <a:gd name="T2" fmla="*/ 1 w 4078"/>
                <a:gd name="T3" fmla="*/ 13 h 13"/>
                <a:gd name="T4" fmla="*/ 0 w 4078"/>
                <a:gd name="T5" fmla="*/ 6 h 13"/>
                <a:gd name="T6" fmla="*/ 1 w 4078"/>
                <a:gd name="T7" fmla="*/ 0 h 13"/>
                <a:gd name="T8" fmla="*/ 2 w 4078"/>
                <a:gd name="T9" fmla="*/ 5 h 13"/>
                <a:gd name="T10" fmla="*/ 2 w 4078"/>
                <a:gd name="T11" fmla="*/ 13 h 13"/>
                <a:gd name="T12" fmla="*/ 2 w 4078"/>
                <a:gd name="T13" fmla="*/ 6 h 13"/>
                <a:gd name="T14" fmla="*/ 2 w 4078"/>
                <a:gd name="T15" fmla="*/ 0 h 13"/>
                <a:gd name="T16" fmla="*/ 4 w 4078"/>
                <a:gd name="T17" fmla="*/ 5 h 13"/>
                <a:gd name="T18" fmla="*/ 4 w 4078"/>
                <a:gd name="T19" fmla="*/ 13 h 13"/>
                <a:gd name="T20" fmla="*/ 3 w 4078"/>
                <a:gd name="T21" fmla="*/ 6 h 13"/>
                <a:gd name="T22" fmla="*/ 3 w 4078"/>
                <a:gd name="T23" fmla="*/ 0 h 13"/>
                <a:gd name="T24" fmla="*/ 5 w 4078"/>
                <a:gd name="T25" fmla="*/ 5 h 13"/>
                <a:gd name="T26" fmla="*/ 5 w 4078"/>
                <a:gd name="T27" fmla="*/ 13 h 13"/>
                <a:gd name="T28" fmla="*/ 4 w 4078"/>
                <a:gd name="T29" fmla="*/ 6 h 13"/>
                <a:gd name="T30" fmla="*/ 4 w 4078"/>
                <a:gd name="T31" fmla="*/ 0 h 13"/>
                <a:gd name="T32" fmla="*/ 6 w 4078"/>
                <a:gd name="T33" fmla="*/ 5 h 13"/>
                <a:gd name="T34" fmla="*/ 6 w 4078"/>
                <a:gd name="T35" fmla="*/ 13 h 13"/>
                <a:gd name="T36" fmla="*/ 5 w 4078"/>
                <a:gd name="T37" fmla="*/ 6 h 13"/>
                <a:gd name="T38" fmla="*/ 5 w 4078"/>
                <a:gd name="T39" fmla="*/ 0 h 13"/>
                <a:gd name="T40" fmla="*/ 7 w 4078"/>
                <a:gd name="T41" fmla="*/ 5 h 13"/>
                <a:gd name="T42" fmla="*/ 7 w 4078"/>
                <a:gd name="T43" fmla="*/ 13 h 13"/>
                <a:gd name="T44" fmla="*/ 6 w 4078"/>
                <a:gd name="T45" fmla="*/ 6 h 13"/>
                <a:gd name="T46" fmla="*/ 7 w 4078"/>
                <a:gd name="T47" fmla="*/ 0 h 13"/>
                <a:gd name="T48" fmla="*/ 8 w 4078"/>
                <a:gd name="T49" fmla="*/ 5 h 13"/>
                <a:gd name="T50" fmla="*/ 8 w 4078"/>
                <a:gd name="T51" fmla="*/ 13 h 13"/>
                <a:gd name="T52" fmla="*/ 8 w 4078"/>
                <a:gd name="T53" fmla="*/ 6 h 13"/>
                <a:gd name="T54" fmla="*/ 8 w 4078"/>
                <a:gd name="T55" fmla="*/ 0 h 13"/>
                <a:gd name="T56" fmla="*/ 10 w 4078"/>
                <a:gd name="T57" fmla="*/ 5 h 13"/>
                <a:gd name="T58" fmla="*/ 10 w 4078"/>
                <a:gd name="T59" fmla="*/ 13 h 13"/>
                <a:gd name="T60" fmla="*/ 9 w 4078"/>
                <a:gd name="T61" fmla="*/ 6 h 13"/>
                <a:gd name="T62" fmla="*/ 9 w 4078"/>
                <a:gd name="T63" fmla="*/ 0 h 13"/>
                <a:gd name="T64" fmla="*/ 11 w 4078"/>
                <a:gd name="T65" fmla="*/ 5 h 13"/>
                <a:gd name="T66" fmla="*/ 11 w 4078"/>
                <a:gd name="T67" fmla="*/ 13 h 13"/>
                <a:gd name="T68" fmla="*/ 10 w 4078"/>
                <a:gd name="T69" fmla="*/ 6 h 13"/>
                <a:gd name="T70" fmla="*/ 10 w 4078"/>
                <a:gd name="T71" fmla="*/ 0 h 13"/>
                <a:gd name="T72" fmla="*/ 12 w 4078"/>
                <a:gd name="T73" fmla="*/ 5 h 13"/>
                <a:gd name="T74" fmla="*/ 12 w 4078"/>
                <a:gd name="T75" fmla="*/ 13 h 13"/>
                <a:gd name="T76" fmla="*/ 11 w 4078"/>
                <a:gd name="T77" fmla="*/ 6 h 13"/>
                <a:gd name="T78" fmla="*/ 11 w 4078"/>
                <a:gd name="T79" fmla="*/ 0 h 13"/>
                <a:gd name="T80" fmla="*/ 13 w 4078"/>
                <a:gd name="T81" fmla="*/ 5 h 13"/>
                <a:gd name="T82" fmla="*/ 13 w 4078"/>
                <a:gd name="T83" fmla="*/ 13 h 13"/>
                <a:gd name="T84" fmla="*/ 12 w 4078"/>
                <a:gd name="T85" fmla="*/ 6 h 13"/>
                <a:gd name="T86" fmla="*/ 13 w 4078"/>
                <a:gd name="T87" fmla="*/ 0 h 13"/>
                <a:gd name="T88" fmla="*/ 14 w 4078"/>
                <a:gd name="T89" fmla="*/ 5 h 13"/>
                <a:gd name="T90" fmla="*/ 14 w 4078"/>
                <a:gd name="T91" fmla="*/ 13 h 13"/>
                <a:gd name="T92" fmla="*/ 14 w 4078"/>
                <a:gd name="T93" fmla="*/ 6 h 13"/>
                <a:gd name="T94" fmla="*/ 14 w 4078"/>
                <a:gd name="T95" fmla="*/ 0 h 13"/>
                <a:gd name="T96" fmla="*/ 16 w 4078"/>
                <a:gd name="T97" fmla="*/ 5 h 13"/>
                <a:gd name="T98" fmla="*/ 16 w 4078"/>
                <a:gd name="T99" fmla="*/ 13 h 13"/>
                <a:gd name="T100" fmla="*/ 15 w 4078"/>
                <a:gd name="T101" fmla="*/ 6 h 13"/>
                <a:gd name="T102" fmla="*/ 15 w 4078"/>
                <a:gd name="T103" fmla="*/ 0 h 13"/>
                <a:gd name="T104" fmla="*/ 16 w 4078"/>
                <a:gd name="T105" fmla="*/ 5 h 13"/>
                <a:gd name="T106" fmla="*/ 16 w 4078"/>
                <a:gd name="T107" fmla="*/ 13 h 13"/>
                <a:gd name="T108" fmla="*/ 16 w 4078"/>
                <a:gd name="T109" fmla="*/ 6 h 13"/>
                <a:gd name="T110" fmla="*/ 16 w 4078"/>
                <a:gd name="T111" fmla="*/ 0 h 13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4078"/>
                <a:gd name="T169" fmla="*/ 0 h 13"/>
                <a:gd name="T170" fmla="*/ 4078 w 4078"/>
                <a:gd name="T171" fmla="*/ 13 h 13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4078" h="13">
                  <a:moveTo>
                    <a:pt x="11" y="0"/>
                  </a:moveTo>
                  <a:lnTo>
                    <a:pt x="191" y="0"/>
                  </a:lnTo>
                  <a:lnTo>
                    <a:pt x="194" y="0"/>
                  </a:lnTo>
                  <a:lnTo>
                    <a:pt x="196" y="0"/>
                  </a:lnTo>
                  <a:lnTo>
                    <a:pt x="200" y="2"/>
                  </a:lnTo>
                  <a:lnTo>
                    <a:pt x="202" y="4"/>
                  </a:lnTo>
                  <a:lnTo>
                    <a:pt x="204" y="5"/>
                  </a:lnTo>
                  <a:lnTo>
                    <a:pt x="204" y="6"/>
                  </a:lnTo>
                  <a:lnTo>
                    <a:pt x="204" y="8"/>
                  </a:lnTo>
                  <a:lnTo>
                    <a:pt x="202" y="9"/>
                  </a:lnTo>
                  <a:lnTo>
                    <a:pt x="200" y="11"/>
                  </a:lnTo>
                  <a:lnTo>
                    <a:pt x="196" y="13"/>
                  </a:lnTo>
                  <a:lnTo>
                    <a:pt x="194" y="13"/>
                  </a:lnTo>
                  <a:lnTo>
                    <a:pt x="191" y="13"/>
                  </a:lnTo>
                  <a:lnTo>
                    <a:pt x="11" y="13"/>
                  </a:lnTo>
                  <a:lnTo>
                    <a:pt x="9" y="13"/>
                  </a:lnTo>
                  <a:lnTo>
                    <a:pt x="8" y="13"/>
                  </a:lnTo>
                  <a:lnTo>
                    <a:pt x="4" y="11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4" y="2"/>
                  </a:lnTo>
                  <a:lnTo>
                    <a:pt x="8" y="0"/>
                  </a:lnTo>
                  <a:lnTo>
                    <a:pt x="9" y="0"/>
                  </a:lnTo>
                  <a:lnTo>
                    <a:pt x="11" y="0"/>
                  </a:lnTo>
                  <a:close/>
                  <a:moveTo>
                    <a:pt x="319" y="0"/>
                  </a:moveTo>
                  <a:lnTo>
                    <a:pt x="498" y="0"/>
                  </a:lnTo>
                  <a:lnTo>
                    <a:pt x="500" y="0"/>
                  </a:lnTo>
                  <a:lnTo>
                    <a:pt x="502" y="0"/>
                  </a:lnTo>
                  <a:lnTo>
                    <a:pt x="507" y="2"/>
                  </a:lnTo>
                  <a:lnTo>
                    <a:pt x="509" y="4"/>
                  </a:lnTo>
                  <a:lnTo>
                    <a:pt x="509" y="5"/>
                  </a:lnTo>
                  <a:lnTo>
                    <a:pt x="511" y="6"/>
                  </a:lnTo>
                  <a:lnTo>
                    <a:pt x="509" y="8"/>
                  </a:lnTo>
                  <a:lnTo>
                    <a:pt x="509" y="9"/>
                  </a:lnTo>
                  <a:lnTo>
                    <a:pt x="507" y="11"/>
                  </a:lnTo>
                  <a:lnTo>
                    <a:pt x="502" y="13"/>
                  </a:lnTo>
                  <a:lnTo>
                    <a:pt x="500" y="13"/>
                  </a:lnTo>
                  <a:lnTo>
                    <a:pt x="498" y="13"/>
                  </a:lnTo>
                  <a:lnTo>
                    <a:pt x="319" y="13"/>
                  </a:lnTo>
                  <a:lnTo>
                    <a:pt x="317" y="13"/>
                  </a:lnTo>
                  <a:lnTo>
                    <a:pt x="313" y="13"/>
                  </a:lnTo>
                  <a:lnTo>
                    <a:pt x="309" y="11"/>
                  </a:lnTo>
                  <a:lnTo>
                    <a:pt x="307" y="9"/>
                  </a:lnTo>
                  <a:lnTo>
                    <a:pt x="306" y="8"/>
                  </a:lnTo>
                  <a:lnTo>
                    <a:pt x="306" y="6"/>
                  </a:lnTo>
                  <a:lnTo>
                    <a:pt x="306" y="5"/>
                  </a:lnTo>
                  <a:lnTo>
                    <a:pt x="307" y="4"/>
                  </a:lnTo>
                  <a:lnTo>
                    <a:pt x="309" y="2"/>
                  </a:lnTo>
                  <a:lnTo>
                    <a:pt x="313" y="0"/>
                  </a:lnTo>
                  <a:lnTo>
                    <a:pt x="317" y="0"/>
                  </a:lnTo>
                  <a:lnTo>
                    <a:pt x="319" y="0"/>
                  </a:lnTo>
                  <a:close/>
                  <a:moveTo>
                    <a:pt x="626" y="0"/>
                  </a:moveTo>
                  <a:lnTo>
                    <a:pt x="804" y="0"/>
                  </a:lnTo>
                  <a:lnTo>
                    <a:pt x="807" y="0"/>
                  </a:lnTo>
                  <a:lnTo>
                    <a:pt x="809" y="0"/>
                  </a:lnTo>
                  <a:lnTo>
                    <a:pt x="813" y="2"/>
                  </a:lnTo>
                  <a:lnTo>
                    <a:pt x="817" y="4"/>
                  </a:lnTo>
                  <a:lnTo>
                    <a:pt x="817" y="5"/>
                  </a:lnTo>
                  <a:lnTo>
                    <a:pt x="817" y="6"/>
                  </a:lnTo>
                  <a:lnTo>
                    <a:pt x="817" y="8"/>
                  </a:lnTo>
                  <a:lnTo>
                    <a:pt x="817" y="9"/>
                  </a:lnTo>
                  <a:lnTo>
                    <a:pt x="813" y="11"/>
                  </a:lnTo>
                  <a:lnTo>
                    <a:pt x="809" y="13"/>
                  </a:lnTo>
                  <a:lnTo>
                    <a:pt x="807" y="13"/>
                  </a:lnTo>
                  <a:lnTo>
                    <a:pt x="804" y="13"/>
                  </a:lnTo>
                  <a:lnTo>
                    <a:pt x="626" y="13"/>
                  </a:lnTo>
                  <a:lnTo>
                    <a:pt x="622" y="13"/>
                  </a:lnTo>
                  <a:lnTo>
                    <a:pt x="621" y="13"/>
                  </a:lnTo>
                  <a:lnTo>
                    <a:pt x="617" y="11"/>
                  </a:lnTo>
                  <a:lnTo>
                    <a:pt x="613" y="9"/>
                  </a:lnTo>
                  <a:lnTo>
                    <a:pt x="613" y="8"/>
                  </a:lnTo>
                  <a:lnTo>
                    <a:pt x="613" y="6"/>
                  </a:lnTo>
                  <a:lnTo>
                    <a:pt x="613" y="5"/>
                  </a:lnTo>
                  <a:lnTo>
                    <a:pt x="613" y="4"/>
                  </a:lnTo>
                  <a:lnTo>
                    <a:pt x="617" y="2"/>
                  </a:lnTo>
                  <a:lnTo>
                    <a:pt x="621" y="0"/>
                  </a:lnTo>
                  <a:lnTo>
                    <a:pt x="622" y="0"/>
                  </a:lnTo>
                  <a:lnTo>
                    <a:pt x="626" y="0"/>
                  </a:lnTo>
                  <a:close/>
                  <a:moveTo>
                    <a:pt x="932" y="0"/>
                  </a:moveTo>
                  <a:lnTo>
                    <a:pt x="1111" y="0"/>
                  </a:lnTo>
                  <a:lnTo>
                    <a:pt x="1113" y="0"/>
                  </a:lnTo>
                  <a:lnTo>
                    <a:pt x="1117" y="0"/>
                  </a:lnTo>
                  <a:lnTo>
                    <a:pt x="1120" y="2"/>
                  </a:lnTo>
                  <a:lnTo>
                    <a:pt x="1122" y="4"/>
                  </a:lnTo>
                  <a:lnTo>
                    <a:pt x="1124" y="5"/>
                  </a:lnTo>
                  <a:lnTo>
                    <a:pt x="1124" y="6"/>
                  </a:lnTo>
                  <a:lnTo>
                    <a:pt x="1124" y="8"/>
                  </a:lnTo>
                  <a:lnTo>
                    <a:pt x="1122" y="9"/>
                  </a:lnTo>
                  <a:lnTo>
                    <a:pt x="1120" y="11"/>
                  </a:lnTo>
                  <a:lnTo>
                    <a:pt x="1117" y="13"/>
                  </a:lnTo>
                  <a:lnTo>
                    <a:pt x="1113" y="13"/>
                  </a:lnTo>
                  <a:lnTo>
                    <a:pt x="1111" y="13"/>
                  </a:lnTo>
                  <a:lnTo>
                    <a:pt x="932" y="13"/>
                  </a:lnTo>
                  <a:lnTo>
                    <a:pt x="930" y="13"/>
                  </a:lnTo>
                  <a:lnTo>
                    <a:pt x="926" y="13"/>
                  </a:lnTo>
                  <a:lnTo>
                    <a:pt x="922" y="11"/>
                  </a:lnTo>
                  <a:lnTo>
                    <a:pt x="920" y="9"/>
                  </a:lnTo>
                  <a:lnTo>
                    <a:pt x="919" y="8"/>
                  </a:lnTo>
                  <a:lnTo>
                    <a:pt x="919" y="6"/>
                  </a:lnTo>
                  <a:lnTo>
                    <a:pt x="919" y="5"/>
                  </a:lnTo>
                  <a:lnTo>
                    <a:pt x="920" y="4"/>
                  </a:lnTo>
                  <a:lnTo>
                    <a:pt x="922" y="2"/>
                  </a:lnTo>
                  <a:lnTo>
                    <a:pt x="926" y="0"/>
                  </a:lnTo>
                  <a:lnTo>
                    <a:pt x="930" y="0"/>
                  </a:lnTo>
                  <a:lnTo>
                    <a:pt x="932" y="0"/>
                  </a:lnTo>
                  <a:close/>
                  <a:moveTo>
                    <a:pt x="1239" y="0"/>
                  </a:moveTo>
                  <a:lnTo>
                    <a:pt x="1417" y="0"/>
                  </a:lnTo>
                  <a:lnTo>
                    <a:pt x="1420" y="0"/>
                  </a:lnTo>
                  <a:lnTo>
                    <a:pt x="1422" y="0"/>
                  </a:lnTo>
                  <a:lnTo>
                    <a:pt x="1426" y="2"/>
                  </a:lnTo>
                  <a:lnTo>
                    <a:pt x="1430" y="4"/>
                  </a:lnTo>
                  <a:lnTo>
                    <a:pt x="1430" y="5"/>
                  </a:lnTo>
                  <a:lnTo>
                    <a:pt x="1430" y="6"/>
                  </a:lnTo>
                  <a:lnTo>
                    <a:pt x="1430" y="8"/>
                  </a:lnTo>
                  <a:lnTo>
                    <a:pt x="1430" y="9"/>
                  </a:lnTo>
                  <a:lnTo>
                    <a:pt x="1426" y="11"/>
                  </a:lnTo>
                  <a:lnTo>
                    <a:pt x="1422" y="13"/>
                  </a:lnTo>
                  <a:lnTo>
                    <a:pt x="1420" y="13"/>
                  </a:lnTo>
                  <a:lnTo>
                    <a:pt x="1417" y="13"/>
                  </a:lnTo>
                  <a:lnTo>
                    <a:pt x="1239" y="13"/>
                  </a:lnTo>
                  <a:lnTo>
                    <a:pt x="1235" y="13"/>
                  </a:lnTo>
                  <a:lnTo>
                    <a:pt x="1234" y="13"/>
                  </a:lnTo>
                  <a:lnTo>
                    <a:pt x="1230" y="11"/>
                  </a:lnTo>
                  <a:lnTo>
                    <a:pt x="1226" y="9"/>
                  </a:lnTo>
                  <a:lnTo>
                    <a:pt x="1226" y="8"/>
                  </a:lnTo>
                  <a:lnTo>
                    <a:pt x="1226" y="6"/>
                  </a:lnTo>
                  <a:lnTo>
                    <a:pt x="1226" y="5"/>
                  </a:lnTo>
                  <a:lnTo>
                    <a:pt x="1226" y="4"/>
                  </a:lnTo>
                  <a:lnTo>
                    <a:pt x="1230" y="2"/>
                  </a:lnTo>
                  <a:lnTo>
                    <a:pt x="1234" y="0"/>
                  </a:lnTo>
                  <a:lnTo>
                    <a:pt x="1235" y="0"/>
                  </a:lnTo>
                  <a:lnTo>
                    <a:pt x="1239" y="0"/>
                  </a:lnTo>
                  <a:close/>
                  <a:moveTo>
                    <a:pt x="1545" y="0"/>
                  </a:moveTo>
                  <a:lnTo>
                    <a:pt x="1724" y="0"/>
                  </a:lnTo>
                  <a:lnTo>
                    <a:pt x="1726" y="0"/>
                  </a:lnTo>
                  <a:lnTo>
                    <a:pt x="1730" y="0"/>
                  </a:lnTo>
                  <a:lnTo>
                    <a:pt x="1733" y="2"/>
                  </a:lnTo>
                  <a:lnTo>
                    <a:pt x="1735" y="4"/>
                  </a:lnTo>
                  <a:lnTo>
                    <a:pt x="1737" y="5"/>
                  </a:lnTo>
                  <a:lnTo>
                    <a:pt x="1737" y="6"/>
                  </a:lnTo>
                  <a:lnTo>
                    <a:pt x="1737" y="8"/>
                  </a:lnTo>
                  <a:lnTo>
                    <a:pt x="1735" y="9"/>
                  </a:lnTo>
                  <a:lnTo>
                    <a:pt x="1733" y="11"/>
                  </a:lnTo>
                  <a:lnTo>
                    <a:pt x="1730" y="13"/>
                  </a:lnTo>
                  <a:lnTo>
                    <a:pt x="1726" y="13"/>
                  </a:lnTo>
                  <a:lnTo>
                    <a:pt x="1724" y="13"/>
                  </a:lnTo>
                  <a:lnTo>
                    <a:pt x="1545" y="13"/>
                  </a:lnTo>
                  <a:lnTo>
                    <a:pt x="1543" y="13"/>
                  </a:lnTo>
                  <a:lnTo>
                    <a:pt x="1541" y="13"/>
                  </a:lnTo>
                  <a:lnTo>
                    <a:pt x="1535" y="11"/>
                  </a:lnTo>
                  <a:lnTo>
                    <a:pt x="1533" y="9"/>
                  </a:lnTo>
                  <a:lnTo>
                    <a:pt x="1533" y="8"/>
                  </a:lnTo>
                  <a:lnTo>
                    <a:pt x="1532" y="6"/>
                  </a:lnTo>
                  <a:lnTo>
                    <a:pt x="1533" y="5"/>
                  </a:lnTo>
                  <a:lnTo>
                    <a:pt x="1533" y="4"/>
                  </a:lnTo>
                  <a:lnTo>
                    <a:pt x="1535" y="2"/>
                  </a:lnTo>
                  <a:lnTo>
                    <a:pt x="1541" y="0"/>
                  </a:lnTo>
                  <a:lnTo>
                    <a:pt x="1543" y="0"/>
                  </a:lnTo>
                  <a:lnTo>
                    <a:pt x="1545" y="0"/>
                  </a:lnTo>
                  <a:close/>
                  <a:moveTo>
                    <a:pt x="1852" y="0"/>
                  </a:moveTo>
                  <a:lnTo>
                    <a:pt x="2031" y="0"/>
                  </a:lnTo>
                  <a:lnTo>
                    <a:pt x="2033" y="0"/>
                  </a:lnTo>
                  <a:lnTo>
                    <a:pt x="2035" y="0"/>
                  </a:lnTo>
                  <a:lnTo>
                    <a:pt x="2039" y="2"/>
                  </a:lnTo>
                  <a:lnTo>
                    <a:pt x="2043" y="4"/>
                  </a:lnTo>
                  <a:lnTo>
                    <a:pt x="2043" y="5"/>
                  </a:lnTo>
                  <a:lnTo>
                    <a:pt x="2043" y="6"/>
                  </a:lnTo>
                  <a:lnTo>
                    <a:pt x="2043" y="8"/>
                  </a:lnTo>
                  <a:lnTo>
                    <a:pt x="2043" y="9"/>
                  </a:lnTo>
                  <a:lnTo>
                    <a:pt x="2039" y="11"/>
                  </a:lnTo>
                  <a:lnTo>
                    <a:pt x="2035" y="13"/>
                  </a:lnTo>
                  <a:lnTo>
                    <a:pt x="2033" y="13"/>
                  </a:lnTo>
                  <a:lnTo>
                    <a:pt x="2031" y="13"/>
                  </a:lnTo>
                  <a:lnTo>
                    <a:pt x="1852" y="13"/>
                  </a:lnTo>
                  <a:lnTo>
                    <a:pt x="1848" y="13"/>
                  </a:lnTo>
                  <a:lnTo>
                    <a:pt x="1847" y="13"/>
                  </a:lnTo>
                  <a:lnTo>
                    <a:pt x="1843" y="11"/>
                  </a:lnTo>
                  <a:lnTo>
                    <a:pt x="1839" y="9"/>
                  </a:lnTo>
                  <a:lnTo>
                    <a:pt x="1839" y="8"/>
                  </a:lnTo>
                  <a:lnTo>
                    <a:pt x="1839" y="6"/>
                  </a:lnTo>
                  <a:lnTo>
                    <a:pt x="1839" y="5"/>
                  </a:lnTo>
                  <a:lnTo>
                    <a:pt x="1839" y="4"/>
                  </a:lnTo>
                  <a:lnTo>
                    <a:pt x="1843" y="2"/>
                  </a:lnTo>
                  <a:lnTo>
                    <a:pt x="1847" y="0"/>
                  </a:lnTo>
                  <a:lnTo>
                    <a:pt x="1848" y="0"/>
                  </a:lnTo>
                  <a:lnTo>
                    <a:pt x="1852" y="0"/>
                  </a:lnTo>
                  <a:close/>
                  <a:moveTo>
                    <a:pt x="2158" y="0"/>
                  </a:moveTo>
                  <a:lnTo>
                    <a:pt x="2337" y="0"/>
                  </a:lnTo>
                  <a:lnTo>
                    <a:pt x="2341" y="0"/>
                  </a:lnTo>
                  <a:lnTo>
                    <a:pt x="2343" y="0"/>
                  </a:lnTo>
                  <a:lnTo>
                    <a:pt x="2346" y="2"/>
                  </a:lnTo>
                  <a:lnTo>
                    <a:pt x="2348" y="4"/>
                  </a:lnTo>
                  <a:lnTo>
                    <a:pt x="2350" y="5"/>
                  </a:lnTo>
                  <a:lnTo>
                    <a:pt x="2350" y="6"/>
                  </a:lnTo>
                  <a:lnTo>
                    <a:pt x="2350" y="8"/>
                  </a:lnTo>
                  <a:lnTo>
                    <a:pt x="2348" y="9"/>
                  </a:lnTo>
                  <a:lnTo>
                    <a:pt x="2346" y="11"/>
                  </a:lnTo>
                  <a:lnTo>
                    <a:pt x="2343" y="13"/>
                  </a:lnTo>
                  <a:lnTo>
                    <a:pt x="2341" y="13"/>
                  </a:lnTo>
                  <a:lnTo>
                    <a:pt x="2337" y="13"/>
                  </a:lnTo>
                  <a:lnTo>
                    <a:pt x="2158" y="13"/>
                  </a:lnTo>
                  <a:lnTo>
                    <a:pt x="2156" y="13"/>
                  </a:lnTo>
                  <a:lnTo>
                    <a:pt x="2154" y="13"/>
                  </a:lnTo>
                  <a:lnTo>
                    <a:pt x="2148" y="11"/>
                  </a:lnTo>
                  <a:lnTo>
                    <a:pt x="2146" y="9"/>
                  </a:lnTo>
                  <a:lnTo>
                    <a:pt x="2146" y="8"/>
                  </a:lnTo>
                  <a:lnTo>
                    <a:pt x="2146" y="6"/>
                  </a:lnTo>
                  <a:lnTo>
                    <a:pt x="2146" y="5"/>
                  </a:lnTo>
                  <a:lnTo>
                    <a:pt x="2146" y="4"/>
                  </a:lnTo>
                  <a:lnTo>
                    <a:pt x="2148" y="2"/>
                  </a:lnTo>
                  <a:lnTo>
                    <a:pt x="2154" y="0"/>
                  </a:lnTo>
                  <a:lnTo>
                    <a:pt x="2156" y="0"/>
                  </a:lnTo>
                  <a:lnTo>
                    <a:pt x="2158" y="0"/>
                  </a:lnTo>
                  <a:close/>
                  <a:moveTo>
                    <a:pt x="2465" y="0"/>
                  </a:moveTo>
                  <a:lnTo>
                    <a:pt x="2644" y="0"/>
                  </a:lnTo>
                  <a:lnTo>
                    <a:pt x="2646" y="0"/>
                  </a:lnTo>
                  <a:lnTo>
                    <a:pt x="2648" y="0"/>
                  </a:lnTo>
                  <a:lnTo>
                    <a:pt x="2652" y="2"/>
                  </a:lnTo>
                  <a:lnTo>
                    <a:pt x="2656" y="4"/>
                  </a:lnTo>
                  <a:lnTo>
                    <a:pt x="2656" y="5"/>
                  </a:lnTo>
                  <a:lnTo>
                    <a:pt x="2656" y="6"/>
                  </a:lnTo>
                  <a:lnTo>
                    <a:pt x="2656" y="8"/>
                  </a:lnTo>
                  <a:lnTo>
                    <a:pt x="2656" y="9"/>
                  </a:lnTo>
                  <a:lnTo>
                    <a:pt x="2652" y="11"/>
                  </a:lnTo>
                  <a:lnTo>
                    <a:pt x="2648" y="13"/>
                  </a:lnTo>
                  <a:lnTo>
                    <a:pt x="2646" y="13"/>
                  </a:lnTo>
                  <a:lnTo>
                    <a:pt x="2644" y="13"/>
                  </a:lnTo>
                  <a:lnTo>
                    <a:pt x="2465" y="13"/>
                  </a:lnTo>
                  <a:lnTo>
                    <a:pt x="2463" y="13"/>
                  </a:lnTo>
                  <a:lnTo>
                    <a:pt x="2460" y="13"/>
                  </a:lnTo>
                  <a:lnTo>
                    <a:pt x="2456" y="11"/>
                  </a:lnTo>
                  <a:lnTo>
                    <a:pt x="2454" y="9"/>
                  </a:lnTo>
                  <a:lnTo>
                    <a:pt x="2452" y="8"/>
                  </a:lnTo>
                  <a:lnTo>
                    <a:pt x="2452" y="6"/>
                  </a:lnTo>
                  <a:lnTo>
                    <a:pt x="2452" y="5"/>
                  </a:lnTo>
                  <a:lnTo>
                    <a:pt x="2454" y="4"/>
                  </a:lnTo>
                  <a:lnTo>
                    <a:pt x="2456" y="2"/>
                  </a:lnTo>
                  <a:lnTo>
                    <a:pt x="2460" y="0"/>
                  </a:lnTo>
                  <a:lnTo>
                    <a:pt x="2463" y="0"/>
                  </a:lnTo>
                  <a:lnTo>
                    <a:pt x="2465" y="0"/>
                  </a:lnTo>
                  <a:close/>
                  <a:moveTo>
                    <a:pt x="2771" y="0"/>
                  </a:moveTo>
                  <a:lnTo>
                    <a:pt x="2950" y="0"/>
                  </a:lnTo>
                  <a:lnTo>
                    <a:pt x="2954" y="0"/>
                  </a:lnTo>
                  <a:lnTo>
                    <a:pt x="2956" y="0"/>
                  </a:lnTo>
                  <a:lnTo>
                    <a:pt x="2959" y="2"/>
                  </a:lnTo>
                  <a:lnTo>
                    <a:pt x="2961" y="4"/>
                  </a:lnTo>
                  <a:lnTo>
                    <a:pt x="2963" y="5"/>
                  </a:lnTo>
                  <a:lnTo>
                    <a:pt x="2963" y="6"/>
                  </a:lnTo>
                  <a:lnTo>
                    <a:pt x="2963" y="8"/>
                  </a:lnTo>
                  <a:lnTo>
                    <a:pt x="2961" y="9"/>
                  </a:lnTo>
                  <a:lnTo>
                    <a:pt x="2959" y="11"/>
                  </a:lnTo>
                  <a:lnTo>
                    <a:pt x="2956" y="13"/>
                  </a:lnTo>
                  <a:lnTo>
                    <a:pt x="2954" y="13"/>
                  </a:lnTo>
                  <a:lnTo>
                    <a:pt x="2950" y="13"/>
                  </a:lnTo>
                  <a:lnTo>
                    <a:pt x="2771" y="13"/>
                  </a:lnTo>
                  <a:lnTo>
                    <a:pt x="2769" y="13"/>
                  </a:lnTo>
                  <a:lnTo>
                    <a:pt x="2767" y="13"/>
                  </a:lnTo>
                  <a:lnTo>
                    <a:pt x="2763" y="11"/>
                  </a:lnTo>
                  <a:lnTo>
                    <a:pt x="2759" y="9"/>
                  </a:lnTo>
                  <a:lnTo>
                    <a:pt x="2759" y="8"/>
                  </a:lnTo>
                  <a:lnTo>
                    <a:pt x="2759" y="6"/>
                  </a:lnTo>
                  <a:lnTo>
                    <a:pt x="2759" y="5"/>
                  </a:lnTo>
                  <a:lnTo>
                    <a:pt x="2759" y="4"/>
                  </a:lnTo>
                  <a:lnTo>
                    <a:pt x="2763" y="2"/>
                  </a:lnTo>
                  <a:lnTo>
                    <a:pt x="2767" y="0"/>
                  </a:lnTo>
                  <a:lnTo>
                    <a:pt x="2769" y="0"/>
                  </a:lnTo>
                  <a:lnTo>
                    <a:pt x="2771" y="0"/>
                  </a:lnTo>
                  <a:close/>
                  <a:moveTo>
                    <a:pt x="3078" y="0"/>
                  </a:moveTo>
                  <a:lnTo>
                    <a:pt x="3257" y="0"/>
                  </a:lnTo>
                  <a:lnTo>
                    <a:pt x="3259" y="0"/>
                  </a:lnTo>
                  <a:lnTo>
                    <a:pt x="3261" y="0"/>
                  </a:lnTo>
                  <a:lnTo>
                    <a:pt x="3267" y="2"/>
                  </a:lnTo>
                  <a:lnTo>
                    <a:pt x="3269" y="4"/>
                  </a:lnTo>
                  <a:lnTo>
                    <a:pt x="3269" y="5"/>
                  </a:lnTo>
                  <a:lnTo>
                    <a:pt x="3271" y="6"/>
                  </a:lnTo>
                  <a:lnTo>
                    <a:pt x="3269" y="8"/>
                  </a:lnTo>
                  <a:lnTo>
                    <a:pt x="3269" y="9"/>
                  </a:lnTo>
                  <a:lnTo>
                    <a:pt x="3267" y="11"/>
                  </a:lnTo>
                  <a:lnTo>
                    <a:pt x="3261" y="13"/>
                  </a:lnTo>
                  <a:lnTo>
                    <a:pt x="3259" y="13"/>
                  </a:lnTo>
                  <a:lnTo>
                    <a:pt x="3257" y="13"/>
                  </a:lnTo>
                  <a:lnTo>
                    <a:pt x="3078" y="13"/>
                  </a:lnTo>
                  <a:lnTo>
                    <a:pt x="3076" y="13"/>
                  </a:lnTo>
                  <a:lnTo>
                    <a:pt x="3073" y="13"/>
                  </a:lnTo>
                  <a:lnTo>
                    <a:pt x="3069" y="11"/>
                  </a:lnTo>
                  <a:lnTo>
                    <a:pt x="3067" y="9"/>
                  </a:lnTo>
                  <a:lnTo>
                    <a:pt x="3065" y="8"/>
                  </a:lnTo>
                  <a:lnTo>
                    <a:pt x="3065" y="6"/>
                  </a:lnTo>
                  <a:lnTo>
                    <a:pt x="3065" y="5"/>
                  </a:lnTo>
                  <a:lnTo>
                    <a:pt x="3067" y="4"/>
                  </a:lnTo>
                  <a:lnTo>
                    <a:pt x="3069" y="2"/>
                  </a:lnTo>
                  <a:lnTo>
                    <a:pt x="3073" y="0"/>
                  </a:lnTo>
                  <a:lnTo>
                    <a:pt x="3076" y="0"/>
                  </a:lnTo>
                  <a:lnTo>
                    <a:pt x="3078" y="0"/>
                  </a:lnTo>
                  <a:close/>
                  <a:moveTo>
                    <a:pt x="3386" y="0"/>
                  </a:moveTo>
                  <a:lnTo>
                    <a:pt x="3563" y="0"/>
                  </a:lnTo>
                  <a:lnTo>
                    <a:pt x="3567" y="0"/>
                  </a:lnTo>
                  <a:lnTo>
                    <a:pt x="3569" y="0"/>
                  </a:lnTo>
                  <a:lnTo>
                    <a:pt x="3572" y="2"/>
                  </a:lnTo>
                  <a:lnTo>
                    <a:pt x="3576" y="4"/>
                  </a:lnTo>
                  <a:lnTo>
                    <a:pt x="3576" y="5"/>
                  </a:lnTo>
                  <a:lnTo>
                    <a:pt x="3576" y="6"/>
                  </a:lnTo>
                  <a:lnTo>
                    <a:pt x="3576" y="8"/>
                  </a:lnTo>
                  <a:lnTo>
                    <a:pt x="3576" y="9"/>
                  </a:lnTo>
                  <a:lnTo>
                    <a:pt x="3572" y="11"/>
                  </a:lnTo>
                  <a:lnTo>
                    <a:pt x="3569" y="13"/>
                  </a:lnTo>
                  <a:lnTo>
                    <a:pt x="3567" y="13"/>
                  </a:lnTo>
                  <a:lnTo>
                    <a:pt x="3563" y="13"/>
                  </a:lnTo>
                  <a:lnTo>
                    <a:pt x="3386" y="13"/>
                  </a:lnTo>
                  <a:lnTo>
                    <a:pt x="3382" y="13"/>
                  </a:lnTo>
                  <a:lnTo>
                    <a:pt x="3380" y="13"/>
                  </a:lnTo>
                  <a:lnTo>
                    <a:pt x="3376" y="11"/>
                  </a:lnTo>
                  <a:lnTo>
                    <a:pt x="3373" y="9"/>
                  </a:lnTo>
                  <a:lnTo>
                    <a:pt x="3373" y="8"/>
                  </a:lnTo>
                  <a:lnTo>
                    <a:pt x="3373" y="6"/>
                  </a:lnTo>
                  <a:lnTo>
                    <a:pt x="3373" y="5"/>
                  </a:lnTo>
                  <a:lnTo>
                    <a:pt x="3373" y="4"/>
                  </a:lnTo>
                  <a:lnTo>
                    <a:pt x="3376" y="2"/>
                  </a:lnTo>
                  <a:lnTo>
                    <a:pt x="3380" y="0"/>
                  </a:lnTo>
                  <a:lnTo>
                    <a:pt x="3382" y="0"/>
                  </a:lnTo>
                  <a:lnTo>
                    <a:pt x="3386" y="0"/>
                  </a:lnTo>
                  <a:close/>
                  <a:moveTo>
                    <a:pt x="3691" y="0"/>
                  </a:moveTo>
                  <a:lnTo>
                    <a:pt x="3870" y="0"/>
                  </a:lnTo>
                  <a:lnTo>
                    <a:pt x="3872" y="0"/>
                  </a:lnTo>
                  <a:lnTo>
                    <a:pt x="3876" y="0"/>
                  </a:lnTo>
                  <a:lnTo>
                    <a:pt x="3880" y="2"/>
                  </a:lnTo>
                  <a:lnTo>
                    <a:pt x="3882" y="4"/>
                  </a:lnTo>
                  <a:lnTo>
                    <a:pt x="3884" y="5"/>
                  </a:lnTo>
                  <a:lnTo>
                    <a:pt x="3884" y="6"/>
                  </a:lnTo>
                  <a:lnTo>
                    <a:pt x="3884" y="8"/>
                  </a:lnTo>
                  <a:lnTo>
                    <a:pt x="3882" y="9"/>
                  </a:lnTo>
                  <a:lnTo>
                    <a:pt x="3880" y="11"/>
                  </a:lnTo>
                  <a:lnTo>
                    <a:pt x="3876" y="13"/>
                  </a:lnTo>
                  <a:lnTo>
                    <a:pt x="3872" y="13"/>
                  </a:lnTo>
                  <a:lnTo>
                    <a:pt x="3870" y="13"/>
                  </a:lnTo>
                  <a:lnTo>
                    <a:pt x="3691" y="13"/>
                  </a:lnTo>
                  <a:lnTo>
                    <a:pt x="3689" y="13"/>
                  </a:lnTo>
                  <a:lnTo>
                    <a:pt x="3686" y="13"/>
                  </a:lnTo>
                  <a:lnTo>
                    <a:pt x="3682" y="11"/>
                  </a:lnTo>
                  <a:lnTo>
                    <a:pt x="3680" y="9"/>
                  </a:lnTo>
                  <a:lnTo>
                    <a:pt x="3678" y="8"/>
                  </a:lnTo>
                  <a:lnTo>
                    <a:pt x="3678" y="6"/>
                  </a:lnTo>
                  <a:lnTo>
                    <a:pt x="3678" y="5"/>
                  </a:lnTo>
                  <a:lnTo>
                    <a:pt x="3680" y="4"/>
                  </a:lnTo>
                  <a:lnTo>
                    <a:pt x="3682" y="2"/>
                  </a:lnTo>
                  <a:lnTo>
                    <a:pt x="3686" y="0"/>
                  </a:lnTo>
                  <a:lnTo>
                    <a:pt x="3689" y="0"/>
                  </a:lnTo>
                  <a:lnTo>
                    <a:pt x="3691" y="0"/>
                  </a:lnTo>
                  <a:close/>
                  <a:moveTo>
                    <a:pt x="3999" y="0"/>
                  </a:moveTo>
                  <a:lnTo>
                    <a:pt x="4065" y="0"/>
                  </a:lnTo>
                  <a:lnTo>
                    <a:pt x="4067" y="0"/>
                  </a:lnTo>
                  <a:lnTo>
                    <a:pt x="4068" y="0"/>
                  </a:lnTo>
                  <a:lnTo>
                    <a:pt x="4074" y="2"/>
                  </a:lnTo>
                  <a:lnTo>
                    <a:pt x="4076" y="4"/>
                  </a:lnTo>
                  <a:lnTo>
                    <a:pt x="4078" y="5"/>
                  </a:lnTo>
                  <a:lnTo>
                    <a:pt x="4078" y="6"/>
                  </a:lnTo>
                  <a:lnTo>
                    <a:pt x="4078" y="8"/>
                  </a:lnTo>
                  <a:lnTo>
                    <a:pt x="4076" y="9"/>
                  </a:lnTo>
                  <a:lnTo>
                    <a:pt x="4074" y="11"/>
                  </a:lnTo>
                  <a:lnTo>
                    <a:pt x="4068" y="13"/>
                  </a:lnTo>
                  <a:lnTo>
                    <a:pt x="4067" y="13"/>
                  </a:lnTo>
                  <a:lnTo>
                    <a:pt x="4065" y="13"/>
                  </a:lnTo>
                  <a:lnTo>
                    <a:pt x="3999" y="13"/>
                  </a:lnTo>
                  <a:lnTo>
                    <a:pt x="3995" y="13"/>
                  </a:lnTo>
                  <a:lnTo>
                    <a:pt x="3993" y="13"/>
                  </a:lnTo>
                  <a:lnTo>
                    <a:pt x="3989" y="11"/>
                  </a:lnTo>
                  <a:lnTo>
                    <a:pt x="3986" y="9"/>
                  </a:lnTo>
                  <a:lnTo>
                    <a:pt x="3986" y="8"/>
                  </a:lnTo>
                  <a:lnTo>
                    <a:pt x="3986" y="6"/>
                  </a:lnTo>
                  <a:lnTo>
                    <a:pt x="3986" y="5"/>
                  </a:lnTo>
                  <a:lnTo>
                    <a:pt x="3986" y="4"/>
                  </a:lnTo>
                  <a:lnTo>
                    <a:pt x="3989" y="2"/>
                  </a:lnTo>
                  <a:lnTo>
                    <a:pt x="3993" y="0"/>
                  </a:lnTo>
                  <a:lnTo>
                    <a:pt x="3995" y="0"/>
                  </a:lnTo>
                  <a:lnTo>
                    <a:pt x="3999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" name="Rectangle 218"/>
            <p:cNvSpPr>
              <a:spLocks noChangeArrowheads="1"/>
            </p:cNvSpPr>
            <p:nvPr/>
          </p:nvSpPr>
          <p:spPr bwMode="auto">
            <a:xfrm>
              <a:off x="3931" y="2858"/>
              <a:ext cx="59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/>
            </a:p>
          </p:txBody>
        </p:sp>
        <p:sp>
          <p:nvSpPr>
            <p:cNvPr id="275" name="Rectangle 219"/>
            <p:cNvSpPr>
              <a:spLocks noChangeArrowheads="1"/>
            </p:cNvSpPr>
            <p:nvPr/>
          </p:nvSpPr>
          <p:spPr bwMode="auto">
            <a:xfrm>
              <a:off x="3719" y="3102"/>
              <a:ext cx="24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/2</a:t>
              </a:r>
              <a:endParaRPr lang="en-US" altLang="zh-CN" sz="2000"/>
            </a:p>
          </p:txBody>
        </p:sp>
        <p:sp>
          <p:nvSpPr>
            <p:cNvPr id="276" name="Rectangle 220"/>
            <p:cNvSpPr>
              <a:spLocks noChangeArrowheads="1"/>
            </p:cNvSpPr>
            <p:nvPr/>
          </p:nvSpPr>
          <p:spPr bwMode="auto">
            <a:xfrm>
              <a:off x="3447" y="3238"/>
              <a:ext cx="12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</a:p>
          </p:txBody>
        </p:sp>
        <p:sp>
          <p:nvSpPr>
            <p:cNvPr id="277" name="Freeform 221"/>
            <p:cNvSpPr>
              <a:spLocks noEditPoints="1"/>
            </p:cNvSpPr>
            <p:nvPr/>
          </p:nvSpPr>
          <p:spPr bwMode="auto">
            <a:xfrm>
              <a:off x="3400" y="3565"/>
              <a:ext cx="1980" cy="8"/>
            </a:xfrm>
            <a:custGeom>
              <a:avLst/>
              <a:gdLst>
                <a:gd name="T0" fmla="*/ 0 w 3961"/>
                <a:gd name="T1" fmla="*/ 5 h 8"/>
                <a:gd name="T2" fmla="*/ 0 w 3961"/>
                <a:gd name="T3" fmla="*/ 5 h 8"/>
                <a:gd name="T4" fmla="*/ 0 w 3961"/>
                <a:gd name="T5" fmla="*/ 0 h 8"/>
                <a:gd name="T6" fmla="*/ 1 w 3961"/>
                <a:gd name="T7" fmla="*/ 6 h 8"/>
                <a:gd name="T8" fmla="*/ 0 w 3961"/>
                <a:gd name="T9" fmla="*/ 4 h 8"/>
                <a:gd name="T10" fmla="*/ 1 w 3961"/>
                <a:gd name="T11" fmla="*/ 0 h 8"/>
                <a:gd name="T12" fmla="*/ 1 w 3961"/>
                <a:gd name="T13" fmla="*/ 7 h 8"/>
                <a:gd name="T14" fmla="*/ 1 w 3961"/>
                <a:gd name="T15" fmla="*/ 2 h 8"/>
                <a:gd name="T16" fmla="*/ 2 w 3961"/>
                <a:gd name="T17" fmla="*/ 0 h 8"/>
                <a:gd name="T18" fmla="*/ 2 w 3961"/>
                <a:gd name="T19" fmla="*/ 8 h 8"/>
                <a:gd name="T20" fmla="*/ 2 w 3961"/>
                <a:gd name="T21" fmla="*/ 1 h 8"/>
                <a:gd name="T22" fmla="*/ 3 w 3961"/>
                <a:gd name="T23" fmla="*/ 1 h 8"/>
                <a:gd name="T24" fmla="*/ 2 w 3961"/>
                <a:gd name="T25" fmla="*/ 8 h 8"/>
                <a:gd name="T26" fmla="*/ 2 w 3961"/>
                <a:gd name="T27" fmla="*/ 0 h 8"/>
                <a:gd name="T28" fmla="*/ 4 w 3961"/>
                <a:gd name="T29" fmla="*/ 2 h 8"/>
                <a:gd name="T30" fmla="*/ 3 w 3961"/>
                <a:gd name="T31" fmla="*/ 7 h 8"/>
                <a:gd name="T32" fmla="*/ 3 w 3961"/>
                <a:gd name="T33" fmla="*/ 0 h 8"/>
                <a:gd name="T34" fmla="*/ 4 w 3961"/>
                <a:gd name="T35" fmla="*/ 4 h 8"/>
                <a:gd name="T36" fmla="*/ 4 w 3961"/>
                <a:gd name="T37" fmla="*/ 6 h 8"/>
                <a:gd name="T38" fmla="*/ 4 w 3961"/>
                <a:gd name="T39" fmla="*/ 0 h 8"/>
                <a:gd name="T40" fmla="*/ 5 w 3961"/>
                <a:gd name="T41" fmla="*/ 5 h 8"/>
                <a:gd name="T42" fmla="*/ 5 w 3961"/>
                <a:gd name="T43" fmla="*/ 5 h 8"/>
                <a:gd name="T44" fmla="*/ 5 w 3961"/>
                <a:gd name="T45" fmla="*/ 0 h 8"/>
                <a:gd name="T46" fmla="*/ 6 w 3961"/>
                <a:gd name="T47" fmla="*/ 6 h 8"/>
                <a:gd name="T48" fmla="*/ 5 w 3961"/>
                <a:gd name="T49" fmla="*/ 4 h 8"/>
                <a:gd name="T50" fmla="*/ 6 w 3961"/>
                <a:gd name="T51" fmla="*/ 0 h 8"/>
                <a:gd name="T52" fmla="*/ 6 w 3961"/>
                <a:gd name="T53" fmla="*/ 7 h 8"/>
                <a:gd name="T54" fmla="*/ 6 w 3961"/>
                <a:gd name="T55" fmla="*/ 2 h 8"/>
                <a:gd name="T56" fmla="*/ 7 w 3961"/>
                <a:gd name="T57" fmla="*/ 0 h 8"/>
                <a:gd name="T58" fmla="*/ 7 w 3961"/>
                <a:gd name="T59" fmla="*/ 8 h 8"/>
                <a:gd name="T60" fmla="*/ 7 w 3961"/>
                <a:gd name="T61" fmla="*/ 1 h 8"/>
                <a:gd name="T62" fmla="*/ 8 w 3961"/>
                <a:gd name="T63" fmla="*/ 1 h 8"/>
                <a:gd name="T64" fmla="*/ 7 w 3961"/>
                <a:gd name="T65" fmla="*/ 8 h 8"/>
                <a:gd name="T66" fmla="*/ 7 w 3961"/>
                <a:gd name="T67" fmla="*/ 0 h 8"/>
                <a:gd name="T68" fmla="*/ 9 w 3961"/>
                <a:gd name="T69" fmla="*/ 2 h 8"/>
                <a:gd name="T70" fmla="*/ 8 w 3961"/>
                <a:gd name="T71" fmla="*/ 7 h 8"/>
                <a:gd name="T72" fmla="*/ 8 w 3961"/>
                <a:gd name="T73" fmla="*/ 0 h 8"/>
                <a:gd name="T74" fmla="*/ 9 w 3961"/>
                <a:gd name="T75" fmla="*/ 4 h 8"/>
                <a:gd name="T76" fmla="*/ 9 w 3961"/>
                <a:gd name="T77" fmla="*/ 6 h 8"/>
                <a:gd name="T78" fmla="*/ 9 w 3961"/>
                <a:gd name="T79" fmla="*/ 0 h 8"/>
                <a:gd name="T80" fmla="*/ 10 w 3961"/>
                <a:gd name="T81" fmla="*/ 5 h 8"/>
                <a:gd name="T82" fmla="*/ 10 w 3961"/>
                <a:gd name="T83" fmla="*/ 5 h 8"/>
                <a:gd name="T84" fmla="*/ 10 w 3961"/>
                <a:gd name="T85" fmla="*/ 0 h 8"/>
                <a:gd name="T86" fmla="*/ 11 w 3961"/>
                <a:gd name="T87" fmla="*/ 6 h 8"/>
                <a:gd name="T88" fmla="*/ 10 w 3961"/>
                <a:gd name="T89" fmla="*/ 4 h 8"/>
                <a:gd name="T90" fmla="*/ 11 w 3961"/>
                <a:gd name="T91" fmla="*/ 0 h 8"/>
                <a:gd name="T92" fmla="*/ 11 w 3961"/>
                <a:gd name="T93" fmla="*/ 7 h 8"/>
                <a:gd name="T94" fmla="*/ 11 w 3961"/>
                <a:gd name="T95" fmla="*/ 2 h 8"/>
                <a:gd name="T96" fmla="*/ 12 w 3961"/>
                <a:gd name="T97" fmla="*/ 0 h 8"/>
                <a:gd name="T98" fmla="*/ 12 w 3961"/>
                <a:gd name="T99" fmla="*/ 8 h 8"/>
                <a:gd name="T100" fmla="*/ 12 w 3961"/>
                <a:gd name="T101" fmla="*/ 1 h 8"/>
                <a:gd name="T102" fmla="*/ 13 w 3961"/>
                <a:gd name="T103" fmla="*/ 1 h 8"/>
                <a:gd name="T104" fmla="*/ 12 w 3961"/>
                <a:gd name="T105" fmla="*/ 8 h 8"/>
                <a:gd name="T106" fmla="*/ 12 w 3961"/>
                <a:gd name="T107" fmla="*/ 0 h 8"/>
                <a:gd name="T108" fmla="*/ 14 w 3961"/>
                <a:gd name="T109" fmla="*/ 2 h 8"/>
                <a:gd name="T110" fmla="*/ 13 w 3961"/>
                <a:gd name="T111" fmla="*/ 7 h 8"/>
                <a:gd name="T112" fmla="*/ 13 w 3961"/>
                <a:gd name="T113" fmla="*/ 0 h 8"/>
                <a:gd name="T114" fmla="*/ 14 w 3961"/>
                <a:gd name="T115" fmla="*/ 4 h 8"/>
                <a:gd name="T116" fmla="*/ 14 w 3961"/>
                <a:gd name="T117" fmla="*/ 6 h 8"/>
                <a:gd name="T118" fmla="*/ 14 w 3961"/>
                <a:gd name="T119" fmla="*/ 0 h 8"/>
                <a:gd name="T120" fmla="*/ 15 w 3961"/>
                <a:gd name="T121" fmla="*/ 5 h 8"/>
                <a:gd name="T122" fmla="*/ 15 w 3961"/>
                <a:gd name="T123" fmla="*/ 5 h 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961"/>
                <a:gd name="T187" fmla="*/ 0 h 8"/>
                <a:gd name="T188" fmla="*/ 3961 w 3961"/>
                <a:gd name="T189" fmla="*/ 8 h 8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961" h="8">
                  <a:moveTo>
                    <a:pt x="7" y="0"/>
                  </a:moveTo>
                  <a:lnTo>
                    <a:pt x="115" y="0"/>
                  </a:lnTo>
                  <a:lnTo>
                    <a:pt x="119" y="0"/>
                  </a:lnTo>
                  <a:lnTo>
                    <a:pt x="121" y="1"/>
                  </a:lnTo>
                  <a:lnTo>
                    <a:pt x="122" y="2"/>
                  </a:lnTo>
                  <a:lnTo>
                    <a:pt x="122" y="4"/>
                  </a:lnTo>
                  <a:lnTo>
                    <a:pt x="122" y="5"/>
                  </a:lnTo>
                  <a:lnTo>
                    <a:pt x="121" y="6"/>
                  </a:lnTo>
                  <a:lnTo>
                    <a:pt x="119" y="7"/>
                  </a:lnTo>
                  <a:lnTo>
                    <a:pt x="115" y="8"/>
                  </a:lnTo>
                  <a:lnTo>
                    <a:pt x="7" y="8"/>
                  </a:lnTo>
                  <a:lnTo>
                    <a:pt x="5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1"/>
                  </a:lnTo>
                  <a:lnTo>
                    <a:pt x="5" y="0"/>
                  </a:lnTo>
                  <a:lnTo>
                    <a:pt x="7" y="0"/>
                  </a:lnTo>
                  <a:close/>
                  <a:moveTo>
                    <a:pt x="192" y="0"/>
                  </a:moveTo>
                  <a:lnTo>
                    <a:pt x="300" y="0"/>
                  </a:lnTo>
                  <a:lnTo>
                    <a:pt x="302" y="0"/>
                  </a:lnTo>
                  <a:lnTo>
                    <a:pt x="305" y="1"/>
                  </a:lnTo>
                  <a:lnTo>
                    <a:pt x="307" y="2"/>
                  </a:lnTo>
                  <a:lnTo>
                    <a:pt x="307" y="4"/>
                  </a:lnTo>
                  <a:lnTo>
                    <a:pt x="307" y="5"/>
                  </a:lnTo>
                  <a:lnTo>
                    <a:pt x="305" y="6"/>
                  </a:lnTo>
                  <a:lnTo>
                    <a:pt x="302" y="7"/>
                  </a:lnTo>
                  <a:lnTo>
                    <a:pt x="300" y="8"/>
                  </a:lnTo>
                  <a:lnTo>
                    <a:pt x="192" y="8"/>
                  </a:lnTo>
                  <a:lnTo>
                    <a:pt x="188" y="7"/>
                  </a:lnTo>
                  <a:lnTo>
                    <a:pt x="187" y="6"/>
                  </a:lnTo>
                  <a:lnTo>
                    <a:pt x="185" y="5"/>
                  </a:lnTo>
                  <a:lnTo>
                    <a:pt x="185" y="4"/>
                  </a:lnTo>
                  <a:lnTo>
                    <a:pt x="185" y="2"/>
                  </a:lnTo>
                  <a:lnTo>
                    <a:pt x="187" y="1"/>
                  </a:lnTo>
                  <a:lnTo>
                    <a:pt x="188" y="0"/>
                  </a:lnTo>
                  <a:lnTo>
                    <a:pt x="192" y="0"/>
                  </a:lnTo>
                  <a:close/>
                  <a:moveTo>
                    <a:pt x="375" y="0"/>
                  </a:moveTo>
                  <a:lnTo>
                    <a:pt x="483" y="0"/>
                  </a:lnTo>
                  <a:lnTo>
                    <a:pt x="486" y="0"/>
                  </a:lnTo>
                  <a:lnTo>
                    <a:pt x="488" y="1"/>
                  </a:lnTo>
                  <a:lnTo>
                    <a:pt x="490" y="2"/>
                  </a:lnTo>
                  <a:lnTo>
                    <a:pt x="490" y="4"/>
                  </a:lnTo>
                  <a:lnTo>
                    <a:pt x="490" y="5"/>
                  </a:lnTo>
                  <a:lnTo>
                    <a:pt x="488" y="6"/>
                  </a:lnTo>
                  <a:lnTo>
                    <a:pt x="486" y="7"/>
                  </a:lnTo>
                  <a:lnTo>
                    <a:pt x="483" y="8"/>
                  </a:lnTo>
                  <a:lnTo>
                    <a:pt x="375" y="8"/>
                  </a:lnTo>
                  <a:lnTo>
                    <a:pt x="373" y="7"/>
                  </a:lnTo>
                  <a:lnTo>
                    <a:pt x="371" y="6"/>
                  </a:lnTo>
                  <a:lnTo>
                    <a:pt x="370" y="5"/>
                  </a:lnTo>
                  <a:lnTo>
                    <a:pt x="368" y="4"/>
                  </a:lnTo>
                  <a:lnTo>
                    <a:pt x="370" y="2"/>
                  </a:lnTo>
                  <a:lnTo>
                    <a:pt x="371" y="1"/>
                  </a:lnTo>
                  <a:lnTo>
                    <a:pt x="373" y="0"/>
                  </a:lnTo>
                  <a:lnTo>
                    <a:pt x="375" y="0"/>
                  </a:lnTo>
                  <a:close/>
                  <a:moveTo>
                    <a:pt x="560" y="0"/>
                  </a:moveTo>
                  <a:lnTo>
                    <a:pt x="668" y="0"/>
                  </a:lnTo>
                  <a:lnTo>
                    <a:pt x="669" y="0"/>
                  </a:lnTo>
                  <a:lnTo>
                    <a:pt x="673" y="1"/>
                  </a:lnTo>
                  <a:lnTo>
                    <a:pt x="675" y="2"/>
                  </a:lnTo>
                  <a:lnTo>
                    <a:pt x="675" y="4"/>
                  </a:lnTo>
                  <a:lnTo>
                    <a:pt x="675" y="5"/>
                  </a:lnTo>
                  <a:lnTo>
                    <a:pt x="673" y="6"/>
                  </a:lnTo>
                  <a:lnTo>
                    <a:pt x="669" y="7"/>
                  </a:lnTo>
                  <a:lnTo>
                    <a:pt x="668" y="8"/>
                  </a:lnTo>
                  <a:lnTo>
                    <a:pt x="560" y="8"/>
                  </a:lnTo>
                  <a:lnTo>
                    <a:pt x="556" y="7"/>
                  </a:lnTo>
                  <a:lnTo>
                    <a:pt x="554" y="6"/>
                  </a:lnTo>
                  <a:lnTo>
                    <a:pt x="552" y="5"/>
                  </a:lnTo>
                  <a:lnTo>
                    <a:pt x="552" y="4"/>
                  </a:lnTo>
                  <a:lnTo>
                    <a:pt x="552" y="2"/>
                  </a:lnTo>
                  <a:lnTo>
                    <a:pt x="554" y="1"/>
                  </a:lnTo>
                  <a:lnTo>
                    <a:pt x="556" y="0"/>
                  </a:lnTo>
                  <a:lnTo>
                    <a:pt x="560" y="0"/>
                  </a:lnTo>
                  <a:close/>
                  <a:moveTo>
                    <a:pt x="745" y="0"/>
                  </a:moveTo>
                  <a:lnTo>
                    <a:pt x="850" y="0"/>
                  </a:lnTo>
                  <a:lnTo>
                    <a:pt x="854" y="0"/>
                  </a:lnTo>
                  <a:lnTo>
                    <a:pt x="856" y="1"/>
                  </a:lnTo>
                  <a:lnTo>
                    <a:pt x="858" y="2"/>
                  </a:lnTo>
                  <a:lnTo>
                    <a:pt x="860" y="4"/>
                  </a:lnTo>
                  <a:lnTo>
                    <a:pt x="858" y="5"/>
                  </a:lnTo>
                  <a:lnTo>
                    <a:pt x="856" y="6"/>
                  </a:lnTo>
                  <a:lnTo>
                    <a:pt x="854" y="7"/>
                  </a:lnTo>
                  <a:lnTo>
                    <a:pt x="850" y="8"/>
                  </a:lnTo>
                  <a:lnTo>
                    <a:pt x="745" y="8"/>
                  </a:lnTo>
                  <a:lnTo>
                    <a:pt x="741" y="7"/>
                  </a:lnTo>
                  <a:lnTo>
                    <a:pt x="739" y="6"/>
                  </a:lnTo>
                  <a:lnTo>
                    <a:pt x="737" y="5"/>
                  </a:lnTo>
                  <a:lnTo>
                    <a:pt x="735" y="4"/>
                  </a:lnTo>
                  <a:lnTo>
                    <a:pt x="737" y="2"/>
                  </a:lnTo>
                  <a:lnTo>
                    <a:pt x="739" y="1"/>
                  </a:lnTo>
                  <a:lnTo>
                    <a:pt x="741" y="0"/>
                  </a:lnTo>
                  <a:lnTo>
                    <a:pt x="745" y="0"/>
                  </a:lnTo>
                  <a:close/>
                  <a:moveTo>
                    <a:pt x="928" y="0"/>
                  </a:moveTo>
                  <a:lnTo>
                    <a:pt x="1035" y="0"/>
                  </a:lnTo>
                  <a:lnTo>
                    <a:pt x="1037" y="0"/>
                  </a:lnTo>
                  <a:lnTo>
                    <a:pt x="1041" y="1"/>
                  </a:lnTo>
                  <a:lnTo>
                    <a:pt x="1043" y="2"/>
                  </a:lnTo>
                  <a:lnTo>
                    <a:pt x="1043" y="4"/>
                  </a:lnTo>
                  <a:lnTo>
                    <a:pt x="1043" y="5"/>
                  </a:lnTo>
                  <a:lnTo>
                    <a:pt x="1041" y="6"/>
                  </a:lnTo>
                  <a:lnTo>
                    <a:pt x="1037" y="7"/>
                  </a:lnTo>
                  <a:lnTo>
                    <a:pt x="1035" y="8"/>
                  </a:lnTo>
                  <a:lnTo>
                    <a:pt x="928" y="8"/>
                  </a:lnTo>
                  <a:lnTo>
                    <a:pt x="924" y="7"/>
                  </a:lnTo>
                  <a:lnTo>
                    <a:pt x="922" y="6"/>
                  </a:lnTo>
                  <a:lnTo>
                    <a:pt x="920" y="5"/>
                  </a:lnTo>
                  <a:lnTo>
                    <a:pt x="920" y="4"/>
                  </a:lnTo>
                  <a:lnTo>
                    <a:pt x="920" y="2"/>
                  </a:lnTo>
                  <a:lnTo>
                    <a:pt x="922" y="1"/>
                  </a:lnTo>
                  <a:lnTo>
                    <a:pt x="924" y="0"/>
                  </a:lnTo>
                  <a:lnTo>
                    <a:pt x="928" y="0"/>
                  </a:lnTo>
                  <a:close/>
                  <a:moveTo>
                    <a:pt x="1113" y="0"/>
                  </a:moveTo>
                  <a:lnTo>
                    <a:pt x="1220" y="0"/>
                  </a:lnTo>
                  <a:lnTo>
                    <a:pt x="1222" y="0"/>
                  </a:lnTo>
                  <a:lnTo>
                    <a:pt x="1224" y="1"/>
                  </a:lnTo>
                  <a:lnTo>
                    <a:pt x="1226" y="2"/>
                  </a:lnTo>
                  <a:lnTo>
                    <a:pt x="1228" y="4"/>
                  </a:lnTo>
                  <a:lnTo>
                    <a:pt x="1226" y="5"/>
                  </a:lnTo>
                  <a:lnTo>
                    <a:pt x="1224" y="6"/>
                  </a:lnTo>
                  <a:lnTo>
                    <a:pt x="1222" y="7"/>
                  </a:lnTo>
                  <a:lnTo>
                    <a:pt x="1220" y="8"/>
                  </a:lnTo>
                  <a:lnTo>
                    <a:pt x="1113" y="8"/>
                  </a:lnTo>
                  <a:lnTo>
                    <a:pt x="1109" y="7"/>
                  </a:lnTo>
                  <a:lnTo>
                    <a:pt x="1107" y="6"/>
                  </a:lnTo>
                  <a:lnTo>
                    <a:pt x="1105" y="5"/>
                  </a:lnTo>
                  <a:lnTo>
                    <a:pt x="1105" y="4"/>
                  </a:lnTo>
                  <a:lnTo>
                    <a:pt x="1105" y="2"/>
                  </a:lnTo>
                  <a:lnTo>
                    <a:pt x="1107" y="1"/>
                  </a:lnTo>
                  <a:lnTo>
                    <a:pt x="1109" y="0"/>
                  </a:lnTo>
                  <a:lnTo>
                    <a:pt x="1113" y="0"/>
                  </a:lnTo>
                  <a:close/>
                  <a:moveTo>
                    <a:pt x="1296" y="0"/>
                  </a:moveTo>
                  <a:lnTo>
                    <a:pt x="1403" y="0"/>
                  </a:lnTo>
                  <a:lnTo>
                    <a:pt x="1407" y="0"/>
                  </a:lnTo>
                  <a:lnTo>
                    <a:pt x="1409" y="1"/>
                  </a:lnTo>
                  <a:lnTo>
                    <a:pt x="1411" y="2"/>
                  </a:lnTo>
                  <a:lnTo>
                    <a:pt x="1411" y="4"/>
                  </a:lnTo>
                  <a:lnTo>
                    <a:pt x="1411" y="5"/>
                  </a:lnTo>
                  <a:lnTo>
                    <a:pt x="1409" y="6"/>
                  </a:lnTo>
                  <a:lnTo>
                    <a:pt x="1407" y="7"/>
                  </a:lnTo>
                  <a:lnTo>
                    <a:pt x="1403" y="8"/>
                  </a:lnTo>
                  <a:lnTo>
                    <a:pt x="1296" y="8"/>
                  </a:lnTo>
                  <a:lnTo>
                    <a:pt x="1294" y="7"/>
                  </a:lnTo>
                  <a:lnTo>
                    <a:pt x="1290" y="6"/>
                  </a:lnTo>
                  <a:lnTo>
                    <a:pt x="1288" y="5"/>
                  </a:lnTo>
                  <a:lnTo>
                    <a:pt x="1288" y="4"/>
                  </a:lnTo>
                  <a:lnTo>
                    <a:pt x="1288" y="2"/>
                  </a:lnTo>
                  <a:lnTo>
                    <a:pt x="1290" y="1"/>
                  </a:lnTo>
                  <a:lnTo>
                    <a:pt x="1294" y="0"/>
                  </a:lnTo>
                  <a:lnTo>
                    <a:pt x="1296" y="0"/>
                  </a:lnTo>
                  <a:close/>
                  <a:moveTo>
                    <a:pt x="1480" y="0"/>
                  </a:moveTo>
                  <a:lnTo>
                    <a:pt x="1588" y="0"/>
                  </a:lnTo>
                  <a:lnTo>
                    <a:pt x="1590" y="0"/>
                  </a:lnTo>
                  <a:lnTo>
                    <a:pt x="1592" y="1"/>
                  </a:lnTo>
                  <a:lnTo>
                    <a:pt x="1594" y="2"/>
                  </a:lnTo>
                  <a:lnTo>
                    <a:pt x="1596" y="4"/>
                  </a:lnTo>
                  <a:lnTo>
                    <a:pt x="1594" y="5"/>
                  </a:lnTo>
                  <a:lnTo>
                    <a:pt x="1592" y="6"/>
                  </a:lnTo>
                  <a:lnTo>
                    <a:pt x="1590" y="7"/>
                  </a:lnTo>
                  <a:lnTo>
                    <a:pt x="1588" y="8"/>
                  </a:lnTo>
                  <a:lnTo>
                    <a:pt x="1480" y="8"/>
                  </a:lnTo>
                  <a:lnTo>
                    <a:pt x="1477" y="7"/>
                  </a:lnTo>
                  <a:lnTo>
                    <a:pt x="1475" y="6"/>
                  </a:lnTo>
                  <a:lnTo>
                    <a:pt x="1473" y="5"/>
                  </a:lnTo>
                  <a:lnTo>
                    <a:pt x="1473" y="4"/>
                  </a:lnTo>
                  <a:lnTo>
                    <a:pt x="1473" y="2"/>
                  </a:lnTo>
                  <a:lnTo>
                    <a:pt x="1475" y="1"/>
                  </a:lnTo>
                  <a:lnTo>
                    <a:pt x="1477" y="0"/>
                  </a:lnTo>
                  <a:lnTo>
                    <a:pt x="1480" y="0"/>
                  </a:lnTo>
                  <a:close/>
                  <a:moveTo>
                    <a:pt x="1663" y="0"/>
                  </a:moveTo>
                  <a:lnTo>
                    <a:pt x="1771" y="0"/>
                  </a:lnTo>
                  <a:lnTo>
                    <a:pt x="1775" y="0"/>
                  </a:lnTo>
                  <a:lnTo>
                    <a:pt x="1777" y="1"/>
                  </a:lnTo>
                  <a:lnTo>
                    <a:pt x="1778" y="2"/>
                  </a:lnTo>
                  <a:lnTo>
                    <a:pt x="1778" y="4"/>
                  </a:lnTo>
                  <a:lnTo>
                    <a:pt x="1778" y="5"/>
                  </a:lnTo>
                  <a:lnTo>
                    <a:pt x="1777" y="6"/>
                  </a:lnTo>
                  <a:lnTo>
                    <a:pt x="1775" y="7"/>
                  </a:lnTo>
                  <a:lnTo>
                    <a:pt x="1771" y="8"/>
                  </a:lnTo>
                  <a:lnTo>
                    <a:pt x="1663" y="8"/>
                  </a:lnTo>
                  <a:lnTo>
                    <a:pt x="1662" y="7"/>
                  </a:lnTo>
                  <a:lnTo>
                    <a:pt x="1658" y="6"/>
                  </a:lnTo>
                  <a:lnTo>
                    <a:pt x="1656" y="5"/>
                  </a:lnTo>
                  <a:lnTo>
                    <a:pt x="1656" y="4"/>
                  </a:lnTo>
                  <a:lnTo>
                    <a:pt x="1656" y="2"/>
                  </a:lnTo>
                  <a:lnTo>
                    <a:pt x="1658" y="1"/>
                  </a:lnTo>
                  <a:lnTo>
                    <a:pt x="1662" y="0"/>
                  </a:lnTo>
                  <a:lnTo>
                    <a:pt x="1663" y="0"/>
                  </a:lnTo>
                  <a:close/>
                  <a:moveTo>
                    <a:pt x="1848" y="0"/>
                  </a:moveTo>
                  <a:lnTo>
                    <a:pt x="1956" y="0"/>
                  </a:lnTo>
                  <a:lnTo>
                    <a:pt x="1958" y="0"/>
                  </a:lnTo>
                  <a:lnTo>
                    <a:pt x="1960" y="1"/>
                  </a:lnTo>
                  <a:lnTo>
                    <a:pt x="1961" y="2"/>
                  </a:lnTo>
                  <a:lnTo>
                    <a:pt x="1963" y="4"/>
                  </a:lnTo>
                  <a:lnTo>
                    <a:pt x="1961" y="5"/>
                  </a:lnTo>
                  <a:lnTo>
                    <a:pt x="1960" y="6"/>
                  </a:lnTo>
                  <a:lnTo>
                    <a:pt x="1958" y="7"/>
                  </a:lnTo>
                  <a:lnTo>
                    <a:pt x="1956" y="8"/>
                  </a:lnTo>
                  <a:lnTo>
                    <a:pt x="1848" y="8"/>
                  </a:lnTo>
                  <a:lnTo>
                    <a:pt x="1844" y="7"/>
                  </a:lnTo>
                  <a:lnTo>
                    <a:pt x="1843" y="6"/>
                  </a:lnTo>
                  <a:lnTo>
                    <a:pt x="1841" y="5"/>
                  </a:lnTo>
                  <a:lnTo>
                    <a:pt x="1841" y="4"/>
                  </a:lnTo>
                  <a:lnTo>
                    <a:pt x="1841" y="2"/>
                  </a:lnTo>
                  <a:lnTo>
                    <a:pt x="1843" y="1"/>
                  </a:lnTo>
                  <a:lnTo>
                    <a:pt x="1844" y="0"/>
                  </a:lnTo>
                  <a:lnTo>
                    <a:pt x="1848" y="0"/>
                  </a:lnTo>
                  <a:close/>
                  <a:moveTo>
                    <a:pt x="2031" y="0"/>
                  </a:moveTo>
                  <a:lnTo>
                    <a:pt x="2139" y="0"/>
                  </a:lnTo>
                  <a:lnTo>
                    <a:pt x="2142" y="0"/>
                  </a:lnTo>
                  <a:lnTo>
                    <a:pt x="2144" y="1"/>
                  </a:lnTo>
                  <a:lnTo>
                    <a:pt x="2146" y="2"/>
                  </a:lnTo>
                  <a:lnTo>
                    <a:pt x="2146" y="4"/>
                  </a:lnTo>
                  <a:lnTo>
                    <a:pt x="2146" y="5"/>
                  </a:lnTo>
                  <a:lnTo>
                    <a:pt x="2144" y="6"/>
                  </a:lnTo>
                  <a:lnTo>
                    <a:pt x="2142" y="7"/>
                  </a:lnTo>
                  <a:lnTo>
                    <a:pt x="2139" y="8"/>
                  </a:lnTo>
                  <a:lnTo>
                    <a:pt x="2031" y="8"/>
                  </a:lnTo>
                  <a:lnTo>
                    <a:pt x="2029" y="7"/>
                  </a:lnTo>
                  <a:lnTo>
                    <a:pt x="2026" y="6"/>
                  </a:lnTo>
                  <a:lnTo>
                    <a:pt x="2024" y="5"/>
                  </a:lnTo>
                  <a:lnTo>
                    <a:pt x="2024" y="4"/>
                  </a:lnTo>
                  <a:lnTo>
                    <a:pt x="2024" y="2"/>
                  </a:lnTo>
                  <a:lnTo>
                    <a:pt x="2026" y="1"/>
                  </a:lnTo>
                  <a:lnTo>
                    <a:pt x="2029" y="0"/>
                  </a:lnTo>
                  <a:lnTo>
                    <a:pt x="2031" y="0"/>
                  </a:lnTo>
                  <a:close/>
                  <a:moveTo>
                    <a:pt x="2216" y="0"/>
                  </a:moveTo>
                  <a:lnTo>
                    <a:pt x="2324" y="0"/>
                  </a:lnTo>
                  <a:lnTo>
                    <a:pt x="2325" y="0"/>
                  </a:lnTo>
                  <a:lnTo>
                    <a:pt x="2329" y="1"/>
                  </a:lnTo>
                  <a:lnTo>
                    <a:pt x="2329" y="2"/>
                  </a:lnTo>
                  <a:lnTo>
                    <a:pt x="2331" y="4"/>
                  </a:lnTo>
                  <a:lnTo>
                    <a:pt x="2329" y="5"/>
                  </a:lnTo>
                  <a:lnTo>
                    <a:pt x="2329" y="6"/>
                  </a:lnTo>
                  <a:lnTo>
                    <a:pt x="2325" y="7"/>
                  </a:lnTo>
                  <a:lnTo>
                    <a:pt x="2324" y="8"/>
                  </a:lnTo>
                  <a:lnTo>
                    <a:pt x="2216" y="8"/>
                  </a:lnTo>
                  <a:lnTo>
                    <a:pt x="2212" y="7"/>
                  </a:lnTo>
                  <a:lnTo>
                    <a:pt x="2210" y="6"/>
                  </a:lnTo>
                  <a:lnTo>
                    <a:pt x="2209" y="5"/>
                  </a:lnTo>
                  <a:lnTo>
                    <a:pt x="2209" y="4"/>
                  </a:lnTo>
                  <a:lnTo>
                    <a:pt x="2209" y="2"/>
                  </a:lnTo>
                  <a:lnTo>
                    <a:pt x="2210" y="1"/>
                  </a:lnTo>
                  <a:lnTo>
                    <a:pt x="2212" y="0"/>
                  </a:lnTo>
                  <a:lnTo>
                    <a:pt x="2216" y="0"/>
                  </a:lnTo>
                  <a:close/>
                  <a:moveTo>
                    <a:pt x="2399" y="0"/>
                  </a:moveTo>
                  <a:lnTo>
                    <a:pt x="2507" y="0"/>
                  </a:lnTo>
                  <a:lnTo>
                    <a:pt x="2510" y="0"/>
                  </a:lnTo>
                  <a:lnTo>
                    <a:pt x="2512" y="1"/>
                  </a:lnTo>
                  <a:lnTo>
                    <a:pt x="2514" y="2"/>
                  </a:lnTo>
                  <a:lnTo>
                    <a:pt x="2514" y="4"/>
                  </a:lnTo>
                  <a:lnTo>
                    <a:pt x="2514" y="5"/>
                  </a:lnTo>
                  <a:lnTo>
                    <a:pt x="2512" y="6"/>
                  </a:lnTo>
                  <a:lnTo>
                    <a:pt x="2510" y="7"/>
                  </a:lnTo>
                  <a:lnTo>
                    <a:pt x="2507" y="8"/>
                  </a:lnTo>
                  <a:lnTo>
                    <a:pt x="2399" y="8"/>
                  </a:lnTo>
                  <a:lnTo>
                    <a:pt x="2397" y="7"/>
                  </a:lnTo>
                  <a:lnTo>
                    <a:pt x="2393" y="6"/>
                  </a:lnTo>
                  <a:lnTo>
                    <a:pt x="2393" y="5"/>
                  </a:lnTo>
                  <a:lnTo>
                    <a:pt x="2391" y="4"/>
                  </a:lnTo>
                  <a:lnTo>
                    <a:pt x="2393" y="2"/>
                  </a:lnTo>
                  <a:lnTo>
                    <a:pt x="2393" y="1"/>
                  </a:lnTo>
                  <a:lnTo>
                    <a:pt x="2397" y="0"/>
                  </a:lnTo>
                  <a:lnTo>
                    <a:pt x="2399" y="0"/>
                  </a:lnTo>
                  <a:close/>
                  <a:moveTo>
                    <a:pt x="2584" y="0"/>
                  </a:moveTo>
                  <a:lnTo>
                    <a:pt x="2691" y="0"/>
                  </a:lnTo>
                  <a:lnTo>
                    <a:pt x="2693" y="0"/>
                  </a:lnTo>
                  <a:lnTo>
                    <a:pt x="2697" y="1"/>
                  </a:lnTo>
                  <a:lnTo>
                    <a:pt x="2699" y="2"/>
                  </a:lnTo>
                  <a:lnTo>
                    <a:pt x="2699" y="4"/>
                  </a:lnTo>
                  <a:lnTo>
                    <a:pt x="2699" y="5"/>
                  </a:lnTo>
                  <a:lnTo>
                    <a:pt x="2697" y="6"/>
                  </a:lnTo>
                  <a:lnTo>
                    <a:pt x="2693" y="7"/>
                  </a:lnTo>
                  <a:lnTo>
                    <a:pt x="2691" y="8"/>
                  </a:lnTo>
                  <a:lnTo>
                    <a:pt x="2584" y="8"/>
                  </a:lnTo>
                  <a:lnTo>
                    <a:pt x="2580" y="7"/>
                  </a:lnTo>
                  <a:lnTo>
                    <a:pt x="2578" y="6"/>
                  </a:lnTo>
                  <a:lnTo>
                    <a:pt x="2576" y="5"/>
                  </a:lnTo>
                  <a:lnTo>
                    <a:pt x="2576" y="4"/>
                  </a:lnTo>
                  <a:lnTo>
                    <a:pt x="2576" y="2"/>
                  </a:lnTo>
                  <a:lnTo>
                    <a:pt x="2578" y="1"/>
                  </a:lnTo>
                  <a:lnTo>
                    <a:pt x="2580" y="0"/>
                  </a:lnTo>
                  <a:lnTo>
                    <a:pt x="2584" y="0"/>
                  </a:lnTo>
                  <a:close/>
                  <a:moveTo>
                    <a:pt x="2767" y="0"/>
                  </a:moveTo>
                  <a:lnTo>
                    <a:pt x="2874" y="0"/>
                  </a:lnTo>
                  <a:lnTo>
                    <a:pt x="2878" y="0"/>
                  </a:lnTo>
                  <a:lnTo>
                    <a:pt x="2880" y="1"/>
                  </a:lnTo>
                  <a:lnTo>
                    <a:pt x="2882" y="2"/>
                  </a:lnTo>
                  <a:lnTo>
                    <a:pt x="2882" y="4"/>
                  </a:lnTo>
                  <a:lnTo>
                    <a:pt x="2882" y="5"/>
                  </a:lnTo>
                  <a:lnTo>
                    <a:pt x="2880" y="6"/>
                  </a:lnTo>
                  <a:lnTo>
                    <a:pt x="2878" y="7"/>
                  </a:lnTo>
                  <a:lnTo>
                    <a:pt x="2874" y="8"/>
                  </a:lnTo>
                  <a:lnTo>
                    <a:pt x="2767" y="8"/>
                  </a:lnTo>
                  <a:lnTo>
                    <a:pt x="2765" y="7"/>
                  </a:lnTo>
                  <a:lnTo>
                    <a:pt x="2763" y="6"/>
                  </a:lnTo>
                  <a:lnTo>
                    <a:pt x="2761" y="5"/>
                  </a:lnTo>
                  <a:lnTo>
                    <a:pt x="2759" y="4"/>
                  </a:lnTo>
                  <a:lnTo>
                    <a:pt x="2761" y="2"/>
                  </a:lnTo>
                  <a:lnTo>
                    <a:pt x="2763" y="1"/>
                  </a:lnTo>
                  <a:lnTo>
                    <a:pt x="2765" y="0"/>
                  </a:lnTo>
                  <a:lnTo>
                    <a:pt x="2767" y="0"/>
                  </a:lnTo>
                  <a:close/>
                  <a:moveTo>
                    <a:pt x="2952" y="0"/>
                  </a:moveTo>
                  <a:lnTo>
                    <a:pt x="3059" y="0"/>
                  </a:lnTo>
                  <a:lnTo>
                    <a:pt x="3061" y="0"/>
                  </a:lnTo>
                  <a:lnTo>
                    <a:pt x="3065" y="1"/>
                  </a:lnTo>
                  <a:lnTo>
                    <a:pt x="3067" y="2"/>
                  </a:lnTo>
                  <a:lnTo>
                    <a:pt x="3067" y="4"/>
                  </a:lnTo>
                  <a:lnTo>
                    <a:pt x="3067" y="5"/>
                  </a:lnTo>
                  <a:lnTo>
                    <a:pt x="3065" y="6"/>
                  </a:lnTo>
                  <a:lnTo>
                    <a:pt x="3061" y="7"/>
                  </a:lnTo>
                  <a:lnTo>
                    <a:pt x="3059" y="8"/>
                  </a:lnTo>
                  <a:lnTo>
                    <a:pt x="2952" y="8"/>
                  </a:lnTo>
                  <a:lnTo>
                    <a:pt x="2948" y="7"/>
                  </a:lnTo>
                  <a:lnTo>
                    <a:pt x="2946" y="6"/>
                  </a:lnTo>
                  <a:lnTo>
                    <a:pt x="2944" y="5"/>
                  </a:lnTo>
                  <a:lnTo>
                    <a:pt x="2944" y="4"/>
                  </a:lnTo>
                  <a:lnTo>
                    <a:pt x="2944" y="2"/>
                  </a:lnTo>
                  <a:lnTo>
                    <a:pt x="2946" y="1"/>
                  </a:lnTo>
                  <a:lnTo>
                    <a:pt x="2948" y="0"/>
                  </a:lnTo>
                  <a:lnTo>
                    <a:pt x="2952" y="0"/>
                  </a:lnTo>
                  <a:close/>
                  <a:moveTo>
                    <a:pt x="3137" y="0"/>
                  </a:moveTo>
                  <a:lnTo>
                    <a:pt x="3242" y="0"/>
                  </a:lnTo>
                  <a:lnTo>
                    <a:pt x="3246" y="0"/>
                  </a:lnTo>
                  <a:lnTo>
                    <a:pt x="3248" y="1"/>
                  </a:lnTo>
                  <a:lnTo>
                    <a:pt x="3250" y="2"/>
                  </a:lnTo>
                  <a:lnTo>
                    <a:pt x="3250" y="4"/>
                  </a:lnTo>
                  <a:lnTo>
                    <a:pt x="3250" y="5"/>
                  </a:lnTo>
                  <a:lnTo>
                    <a:pt x="3248" y="6"/>
                  </a:lnTo>
                  <a:lnTo>
                    <a:pt x="3246" y="7"/>
                  </a:lnTo>
                  <a:lnTo>
                    <a:pt x="3242" y="8"/>
                  </a:lnTo>
                  <a:lnTo>
                    <a:pt x="3137" y="8"/>
                  </a:lnTo>
                  <a:lnTo>
                    <a:pt x="3133" y="7"/>
                  </a:lnTo>
                  <a:lnTo>
                    <a:pt x="3131" y="6"/>
                  </a:lnTo>
                  <a:lnTo>
                    <a:pt x="3129" y="5"/>
                  </a:lnTo>
                  <a:lnTo>
                    <a:pt x="3127" y="4"/>
                  </a:lnTo>
                  <a:lnTo>
                    <a:pt x="3129" y="2"/>
                  </a:lnTo>
                  <a:lnTo>
                    <a:pt x="3131" y="1"/>
                  </a:lnTo>
                  <a:lnTo>
                    <a:pt x="3133" y="0"/>
                  </a:lnTo>
                  <a:lnTo>
                    <a:pt x="3137" y="0"/>
                  </a:lnTo>
                  <a:close/>
                  <a:moveTo>
                    <a:pt x="3319" y="0"/>
                  </a:moveTo>
                  <a:lnTo>
                    <a:pt x="3427" y="0"/>
                  </a:lnTo>
                  <a:lnTo>
                    <a:pt x="3429" y="0"/>
                  </a:lnTo>
                  <a:lnTo>
                    <a:pt x="3433" y="1"/>
                  </a:lnTo>
                  <a:lnTo>
                    <a:pt x="3435" y="2"/>
                  </a:lnTo>
                  <a:lnTo>
                    <a:pt x="3435" y="4"/>
                  </a:lnTo>
                  <a:lnTo>
                    <a:pt x="3435" y="5"/>
                  </a:lnTo>
                  <a:lnTo>
                    <a:pt x="3433" y="6"/>
                  </a:lnTo>
                  <a:lnTo>
                    <a:pt x="3429" y="7"/>
                  </a:lnTo>
                  <a:lnTo>
                    <a:pt x="3427" y="8"/>
                  </a:lnTo>
                  <a:lnTo>
                    <a:pt x="3319" y="8"/>
                  </a:lnTo>
                  <a:lnTo>
                    <a:pt x="3316" y="7"/>
                  </a:lnTo>
                  <a:lnTo>
                    <a:pt x="3314" y="6"/>
                  </a:lnTo>
                  <a:lnTo>
                    <a:pt x="3312" y="5"/>
                  </a:lnTo>
                  <a:lnTo>
                    <a:pt x="3312" y="4"/>
                  </a:lnTo>
                  <a:lnTo>
                    <a:pt x="3312" y="2"/>
                  </a:lnTo>
                  <a:lnTo>
                    <a:pt x="3314" y="1"/>
                  </a:lnTo>
                  <a:lnTo>
                    <a:pt x="3316" y="0"/>
                  </a:lnTo>
                  <a:lnTo>
                    <a:pt x="3319" y="0"/>
                  </a:lnTo>
                  <a:close/>
                  <a:moveTo>
                    <a:pt x="3504" y="0"/>
                  </a:moveTo>
                  <a:lnTo>
                    <a:pt x="3610" y="0"/>
                  </a:lnTo>
                  <a:lnTo>
                    <a:pt x="3614" y="0"/>
                  </a:lnTo>
                  <a:lnTo>
                    <a:pt x="3616" y="1"/>
                  </a:lnTo>
                  <a:lnTo>
                    <a:pt x="3617" y="2"/>
                  </a:lnTo>
                  <a:lnTo>
                    <a:pt x="3619" y="4"/>
                  </a:lnTo>
                  <a:lnTo>
                    <a:pt x="3617" y="5"/>
                  </a:lnTo>
                  <a:lnTo>
                    <a:pt x="3616" y="6"/>
                  </a:lnTo>
                  <a:lnTo>
                    <a:pt x="3614" y="7"/>
                  </a:lnTo>
                  <a:lnTo>
                    <a:pt x="3610" y="8"/>
                  </a:lnTo>
                  <a:lnTo>
                    <a:pt x="3504" y="8"/>
                  </a:lnTo>
                  <a:lnTo>
                    <a:pt x="3501" y="7"/>
                  </a:lnTo>
                  <a:lnTo>
                    <a:pt x="3499" y="6"/>
                  </a:lnTo>
                  <a:lnTo>
                    <a:pt x="3497" y="5"/>
                  </a:lnTo>
                  <a:lnTo>
                    <a:pt x="3497" y="4"/>
                  </a:lnTo>
                  <a:lnTo>
                    <a:pt x="3497" y="2"/>
                  </a:lnTo>
                  <a:lnTo>
                    <a:pt x="3499" y="1"/>
                  </a:lnTo>
                  <a:lnTo>
                    <a:pt x="3501" y="0"/>
                  </a:lnTo>
                  <a:lnTo>
                    <a:pt x="3504" y="0"/>
                  </a:lnTo>
                  <a:close/>
                  <a:moveTo>
                    <a:pt x="3687" y="0"/>
                  </a:moveTo>
                  <a:lnTo>
                    <a:pt x="3795" y="0"/>
                  </a:lnTo>
                  <a:lnTo>
                    <a:pt x="3799" y="0"/>
                  </a:lnTo>
                  <a:lnTo>
                    <a:pt x="3800" y="1"/>
                  </a:lnTo>
                  <a:lnTo>
                    <a:pt x="3802" y="2"/>
                  </a:lnTo>
                  <a:lnTo>
                    <a:pt x="3802" y="4"/>
                  </a:lnTo>
                  <a:lnTo>
                    <a:pt x="3802" y="5"/>
                  </a:lnTo>
                  <a:lnTo>
                    <a:pt x="3800" y="6"/>
                  </a:lnTo>
                  <a:lnTo>
                    <a:pt x="3799" y="7"/>
                  </a:lnTo>
                  <a:lnTo>
                    <a:pt x="3795" y="8"/>
                  </a:lnTo>
                  <a:lnTo>
                    <a:pt x="3687" y="8"/>
                  </a:lnTo>
                  <a:lnTo>
                    <a:pt x="3685" y="7"/>
                  </a:lnTo>
                  <a:lnTo>
                    <a:pt x="3682" y="6"/>
                  </a:lnTo>
                  <a:lnTo>
                    <a:pt x="3680" y="5"/>
                  </a:lnTo>
                  <a:lnTo>
                    <a:pt x="3680" y="4"/>
                  </a:lnTo>
                  <a:lnTo>
                    <a:pt x="3680" y="2"/>
                  </a:lnTo>
                  <a:lnTo>
                    <a:pt x="3682" y="1"/>
                  </a:lnTo>
                  <a:lnTo>
                    <a:pt x="3685" y="0"/>
                  </a:lnTo>
                  <a:lnTo>
                    <a:pt x="3687" y="0"/>
                  </a:lnTo>
                  <a:close/>
                  <a:moveTo>
                    <a:pt x="3872" y="0"/>
                  </a:moveTo>
                  <a:lnTo>
                    <a:pt x="3953" y="0"/>
                  </a:lnTo>
                  <a:lnTo>
                    <a:pt x="3957" y="0"/>
                  </a:lnTo>
                  <a:lnTo>
                    <a:pt x="3959" y="1"/>
                  </a:lnTo>
                  <a:lnTo>
                    <a:pt x="3961" y="2"/>
                  </a:lnTo>
                  <a:lnTo>
                    <a:pt x="3961" y="4"/>
                  </a:lnTo>
                  <a:lnTo>
                    <a:pt x="3961" y="5"/>
                  </a:lnTo>
                  <a:lnTo>
                    <a:pt x="3959" y="6"/>
                  </a:lnTo>
                  <a:lnTo>
                    <a:pt x="3957" y="7"/>
                  </a:lnTo>
                  <a:lnTo>
                    <a:pt x="3953" y="8"/>
                  </a:lnTo>
                  <a:lnTo>
                    <a:pt x="3872" y="8"/>
                  </a:lnTo>
                  <a:lnTo>
                    <a:pt x="3868" y="7"/>
                  </a:lnTo>
                  <a:lnTo>
                    <a:pt x="3866" y="6"/>
                  </a:lnTo>
                  <a:lnTo>
                    <a:pt x="3865" y="5"/>
                  </a:lnTo>
                  <a:lnTo>
                    <a:pt x="3865" y="4"/>
                  </a:lnTo>
                  <a:lnTo>
                    <a:pt x="3865" y="2"/>
                  </a:lnTo>
                  <a:lnTo>
                    <a:pt x="3866" y="1"/>
                  </a:lnTo>
                  <a:lnTo>
                    <a:pt x="3868" y="0"/>
                  </a:lnTo>
                  <a:lnTo>
                    <a:pt x="3872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" name="Rectangle 222"/>
            <p:cNvSpPr>
              <a:spLocks noChangeArrowheads="1"/>
            </p:cNvSpPr>
            <p:nvPr/>
          </p:nvSpPr>
          <p:spPr bwMode="auto">
            <a:xfrm>
              <a:off x="4490" y="3646"/>
              <a:ext cx="13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宋体" pitchFamily="2" charset="-122"/>
                </a:rPr>
                <a:t>I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宋体" pitchFamily="2" charset="-122"/>
                </a:rPr>
                <a:t>o</a:t>
              </a:r>
            </a:p>
          </p:txBody>
        </p:sp>
        <p:sp>
          <p:nvSpPr>
            <p:cNvPr id="279" name="Line 223"/>
            <p:cNvSpPr>
              <a:spLocks noChangeShapeType="1"/>
            </p:cNvSpPr>
            <p:nvPr/>
          </p:nvSpPr>
          <p:spPr bwMode="auto">
            <a:xfrm>
              <a:off x="4577" y="2632"/>
              <a:ext cx="1" cy="23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" name="Line 224"/>
            <p:cNvSpPr>
              <a:spLocks noChangeShapeType="1"/>
            </p:cNvSpPr>
            <p:nvPr/>
          </p:nvSpPr>
          <p:spPr bwMode="auto">
            <a:xfrm>
              <a:off x="5111" y="2632"/>
              <a:ext cx="1" cy="23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1" name="Line 225"/>
            <p:cNvSpPr>
              <a:spLocks noChangeShapeType="1"/>
            </p:cNvSpPr>
            <p:nvPr/>
          </p:nvSpPr>
          <p:spPr bwMode="auto">
            <a:xfrm flipV="1">
              <a:off x="3937" y="2631"/>
              <a:ext cx="1" cy="17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Freeform 226"/>
            <p:cNvSpPr>
              <a:spLocks/>
            </p:cNvSpPr>
            <p:nvPr/>
          </p:nvSpPr>
          <p:spPr bwMode="auto">
            <a:xfrm>
              <a:off x="3903" y="2791"/>
              <a:ext cx="68" cy="75"/>
            </a:xfrm>
            <a:custGeom>
              <a:avLst/>
              <a:gdLst>
                <a:gd name="T0" fmla="*/ 0 w 138"/>
                <a:gd name="T1" fmla="*/ 75 h 75"/>
                <a:gd name="T2" fmla="*/ 0 w 138"/>
                <a:gd name="T3" fmla="*/ 0 h 75"/>
                <a:gd name="T4" fmla="*/ 0 w 138"/>
                <a:gd name="T5" fmla="*/ 2 h 75"/>
                <a:gd name="T6" fmla="*/ 0 w 138"/>
                <a:gd name="T7" fmla="*/ 4 h 75"/>
                <a:gd name="T8" fmla="*/ 0 w 138"/>
                <a:gd name="T9" fmla="*/ 5 h 75"/>
                <a:gd name="T10" fmla="*/ 0 w 138"/>
                <a:gd name="T11" fmla="*/ 6 h 75"/>
                <a:gd name="T12" fmla="*/ 0 w 138"/>
                <a:gd name="T13" fmla="*/ 7 h 75"/>
                <a:gd name="T14" fmla="*/ 0 w 138"/>
                <a:gd name="T15" fmla="*/ 8 h 75"/>
                <a:gd name="T16" fmla="*/ 0 w 138"/>
                <a:gd name="T17" fmla="*/ 8 h 75"/>
                <a:gd name="T18" fmla="*/ 0 w 138"/>
                <a:gd name="T19" fmla="*/ 9 h 75"/>
                <a:gd name="T20" fmla="*/ 0 w 138"/>
                <a:gd name="T21" fmla="*/ 8 h 75"/>
                <a:gd name="T22" fmla="*/ 0 w 138"/>
                <a:gd name="T23" fmla="*/ 8 h 75"/>
                <a:gd name="T24" fmla="*/ 0 w 138"/>
                <a:gd name="T25" fmla="*/ 7 h 75"/>
                <a:gd name="T26" fmla="*/ 0 w 138"/>
                <a:gd name="T27" fmla="*/ 6 h 75"/>
                <a:gd name="T28" fmla="*/ 0 w 138"/>
                <a:gd name="T29" fmla="*/ 5 h 75"/>
                <a:gd name="T30" fmla="*/ 0 w 138"/>
                <a:gd name="T31" fmla="*/ 4 h 75"/>
                <a:gd name="T32" fmla="*/ 0 w 138"/>
                <a:gd name="T33" fmla="*/ 2 h 75"/>
                <a:gd name="T34" fmla="*/ 0 w 138"/>
                <a:gd name="T35" fmla="*/ 0 h 75"/>
                <a:gd name="T36" fmla="*/ 0 w 138"/>
                <a:gd name="T37" fmla="*/ 75 h 75"/>
                <a:gd name="T38" fmla="*/ 0 w 138"/>
                <a:gd name="T39" fmla="*/ 75 h 7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38"/>
                <a:gd name="T61" fmla="*/ 0 h 75"/>
                <a:gd name="T62" fmla="*/ 138 w 138"/>
                <a:gd name="T63" fmla="*/ 75 h 7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38" h="75">
                  <a:moveTo>
                    <a:pt x="70" y="75"/>
                  </a:moveTo>
                  <a:lnTo>
                    <a:pt x="0" y="0"/>
                  </a:lnTo>
                  <a:lnTo>
                    <a:pt x="10" y="2"/>
                  </a:lnTo>
                  <a:lnTo>
                    <a:pt x="17" y="4"/>
                  </a:lnTo>
                  <a:lnTo>
                    <a:pt x="25" y="5"/>
                  </a:lnTo>
                  <a:lnTo>
                    <a:pt x="34" y="6"/>
                  </a:lnTo>
                  <a:lnTo>
                    <a:pt x="44" y="7"/>
                  </a:lnTo>
                  <a:lnTo>
                    <a:pt x="51" y="8"/>
                  </a:lnTo>
                  <a:lnTo>
                    <a:pt x="60" y="8"/>
                  </a:lnTo>
                  <a:lnTo>
                    <a:pt x="70" y="9"/>
                  </a:lnTo>
                  <a:lnTo>
                    <a:pt x="77" y="8"/>
                  </a:lnTo>
                  <a:lnTo>
                    <a:pt x="87" y="8"/>
                  </a:lnTo>
                  <a:lnTo>
                    <a:pt x="96" y="7"/>
                  </a:lnTo>
                  <a:lnTo>
                    <a:pt x="104" y="6"/>
                  </a:lnTo>
                  <a:lnTo>
                    <a:pt x="113" y="5"/>
                  </a:lnTo>
                  <a:lnTo>
                    <a:pt x="121" y="4"/>
                  </a:lnTo>
                  <a:lnTo>
                    <a:pt x="130" y="2"/>
                  </a:lnTo>
                  <a:lnTo>
                    <a:pt x="138" y="0"/>
                  </a:lnTo>
                  <a:lnTo>
                    <a:pt x="70" y="7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" name="Freeform 227"/>
            <p:cNvSpPr>
              <a:spLocks/>
            </p:cNvSpPr>
            <p:nvPr/>
          </p:nvSpPr>
          <p:spPr bwMode="auto">
            <a:xfrm>
              <a:off x="3903" y="2573"/>
              <a:ext cx="68" cy="77"/>
            </a:xfrm>
            <a:custGeom>
              <a:avLst/>
              <a:gdLst>
                <a:gd name="T0" fmla="*/ 0 w 138"/>
                <a:gd name="T1" fmla="*/ 0 h 77"/>
                <a:gd name="T2" fmla="*/ 0 w 138"/>
                <a:gd name="T3" fmla="*/ 77 h 77"/>
                <a:gd name="T4" fmla="*/ 0 w 138"/>
                <a:gd name="T5" fmla="*/ 75 h 77"/>
                <a:gd name="T6" fmla="*/ 0 w 138"/>
                <a:gd name="T7" fmla="*/ 73 h 77"/>
                <a:gd name="T8" fmla="*/ 0 w 138"/>
                <a:gd name="T9" fmla="*/ 71 h 77"/>
                <a:gd name="T10" fmla="*/ 0 w 138"/>
                <a:gd name="T11" fmla="*/ 70 h 77"/>
                <a:gd name="T12" fmla="*/ 0 w 138"/>
                <a:gd name="T13" fmla="*/ 69 h 77"/>
                <a:gd name="T14" fmla="*/ 0 w 138"/>
                <a:gd name="T15" fmla="*/ 69 h 77"/>
                <a:gd name="T16" fmla="*/ 0 w 138"/>
                <a:gd name="T17" fmla="*/ 68 h 77"/>
                <a:gd name="T18" fmla="*/ 0 w 138"/>
                <a:gd name="T19" fmla="*/ 68 h 77"/>
                <a:gd name="T20" fmla="*/ 0 w 138"/>
                <a:gd name="T21" fmla="*/ 68 h 77"/>
                <a:gd name="T22" fmla="*/ 0 w 138"/>
                <a:gd name="T23" fmla="*/ 69 h 77"/>
                <a:gd name="T24" fmla="*/ 0 w 138"/>
                <a:gd name="T25" fmla="*/ 69 h 77"/>
                <a:gd name="T26" fmla="*/ 0 w 138"/>
                <a:gd name="T27" fmla="*/ 70 h 77"/>
                <a:gd name="T28" fmla="*/ 0 w 138"/>
                <a:gd name="T29" fmla="*/ 71 h 77"/>
                <a:gd name="T30" fmla="*/ 0 w 138"/>
                <a:gd name="T31" fmla="*/ 73 h 77"/>
                <a:gd name="T32" fmla="*/ 0 w 138"/>
                <a:gd name="T33" fmla="*/ 75 h 77"/>
                <a:gd name="T34" fmla="*/ 0 w 138"/>
                <a:gd name="T35" fmla="*/ 77 h 77"/>
                <a:gd name="T36" fmla="*/ 0 w 138"/>
                <a:gd name="T37" fmla="*/ 77 h 77"/>
                <a:gd name="T38" fmla="*/ 0 w 138"/>
                <a:gd name="T39" fmla="*/ 0 h 77"/>
                <a:gd name="T40" fmla="*/ 0 w 138"/>
                <a:gd name="T41" fmla="*/ 0 h 7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8"/>
                <a:gd name="T64" fmla="*/ 0 h 77"/>
                <a:gd name="T65" fmla="*/ 138 w 138"/>
                <a:gd name="T66" fmla="*/ 77 h 7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8" h="77">
                  <a:moveTo>
                    <a:pt x="70" y="0"/>
                  </a:moveTo>
                  <a:lnTo>
                    <a:pt x="138" y="77"/>
                  </a:lnTo>
                  <a:lnTo>
                    <a:pt x="130" y="75"/>
                  </a:lnTo>
                  <a:lnTo>
                    <a:pt x="121" y="73"/>
                  </a:lnTo>
                  <a:lnTo>
                    <a:pt x="113" y="71"/>
                  </a:lnTo>
                  <a:lnTo>
                    <a:pt x="104" y="70"/>
                  </a:lnTo>
                  <a:lnTo>
                    <a:pt x="96" y="69"/>
                  </a:lnTo>
                  <a:lnTo>
                    <a:pt x="87" y="69"/>
                  </a:lnTo>
                  <a:lnTo>
                    <a:pt x="77" y="68"/>
                  </a:lnTo>
                  <a:lnTo>
                    <a:pt x="70" y="68"/>
                  </a:lnTo>
                  <a:lnTo>
                    <a:pt x="60" y="68"/>
                  </a:lnTo>
                  <a:lnTo>
                    <a:pt x="51" y="69"/>
                  </a:lnTo>
                  <a:lnTo>
                    <a:pt x="44" y="69"/>
                  </a:lnTo>
                  <a:lnTo>
                    <a:pt x="34" y="70"/>
                  </a:lnTo>
                  <a:lnTo>
                    <a:pt x="25" y="71"/>
                  </a:lnTo>
                  <a:lnTo>
                    <a:pt x="17" y="73"/>
                  </a:lnTo>
                  <a:lnTo>
                    <a:pt x="10" y="75"/>
                  </a:lnTo>
                  <a:lnTo>
                    <a:pt x="0" y="77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4" name="Rectangle 228"/>
            <p:cNvSpPr>
              <a:spLocks noChangeArrowheads="1"/>
            </p:cNvSpPr>
            <p:nvPr/>
          </p:nvSpPr>
          <p:spPr bwMode="auto">
            <a:xfrm>
              <a:off x="3991" y="2648"/>
              <a:ext cx="135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</p:txBody>
        </p:sp>
        <p:sp>
          <p:nvSpPr>
            <p:cNvPr id="285" name="Rectangle 229"/>
            <p:cNvSpPr>
              <a:spLocks noChangeArrowheads="1"/>
            </p:cNvSpPr>
            <p:nvPr/>
          </p:nvSpPr>
          <p:spPr bwMode="auto">
            <a:xfrm>
              <a:off x="4396" y="3994"/>
              <a:ext cx="19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宋体" pitchFamily="2" charset="-122"/>
                </a:rPr>
                <a:t>(b)</a:t>
              </a:r>
              <a:endParaRPr lang="en-US" altLang="zh-CN" sz="1600"/>
            </a:p>
          </p:txBody>
        </p:sp>
        <p:sp>
          <p:nvSpPr>
            <p:cNvPr id="286" name="Line 230"/>
            <p:cNvSpPr>
              <a:spLocks noChangeShapeType="1"/>
            </p:cNvSpPr>
            <p:nvPr/>
          </p:nvSpPr>
          <p:spPr bwMode="auto">
            <a:xfrm flipV="1">
              <a:off x="4445" y="3555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" name="Line 231"/>
            <p:cNvSpPr>
              <a:spLocks noChangeShapeType="1"/>
            </p:cNvSpPr>
            <p:nvPr/>
          </p:nvSpPr>
          <p:spPr bwMode="auto">
            <a:xfrm>
              <a:off x="4445" y="3737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Line 232"/>
            <p:cNvSpPr>
              <a:spLocks noChangeShapeType="1"/>
            </p:cNvSpPr>
            <p:nvPr/>
          </p:nvSpPr>
          <p:spPr bwMode="auto">
            <a:xfrm flipV="1">
              <a:off x="3401" y="3329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Line 233"/>
            <p:cNvSpPr>
              <a:spLocks noChangeShapeType="1"/>
            </p:cNvSpPr>
            <p:nvPr/>
          </p:nvSpPr>
          <p:spPr bwMode="auto">
            <a:xfrm flipV="1">
              <a:off x="3487" y="2406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0" name="Line 234"/>
            <p:cNvSpPr>
              <a:spLocks noChangeShapeType="1"/>
            </p:cNvSpPr>
            <p:nvPr/>
          </p:nvSpPr>
          <p:spPr bwMode="auto">
            <a:xfrm>
              <a:off x="3487" y="263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Line 235"/>
            <p:cNvSpPr>
              <a:spLocks noChangeShapeType="1"/>
            </p:cNvSpPr>
            <p:nvPr/>
          </p:nvSpPr>
          <p:spPr bwMode="auto">
            <a:xfrm flipH="1">
              <a:off x="3578" y="2315"/>
              <a:ext cx="181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2" name="Freeform 236"/>
            <p:cNvSpPr>
              <a:spLocks/>
            </p:cNvSpPr>
            <p:nvPr/>
          </p:nvSpPr>
          <p:spPr bwMode="auto">
            <a:xfrm>
              <a:off x="4306" y="1298"/>
              <a:ext cx="33" cy="210"/>
            </a:xfrm>
            <a:custGeom>
              <a:avLst/>
              <a:gdLst>
                <a:gd name="T0" fmla="*/ 1 w 65"/>
                <a:gd name="T1" fmla="*/ 0 h 420"/>
                <a:gd name="T2" fmla="*/ 1 w 65"/>
                <a:gd name="T3" fmla="*/ 1 h 420"/>
                <a:gd name="T4" fmla="*/ 1 w 65"/>
                <a:gd name="T5" fmla="*/ 1 h 420"/>
                <a:gd name="T6" fmla="*/ 1 w 65"/>
                <a:gd name="T7" fmla="*/ 1 h 420"/>
                <a:gd name="T8" fmla="*/ 1 w 65"/>
                <a:gd name="T9" fmla="*/ 1 h 420"/>
                <a:gd name="T10" fmla="*/ 1 w 65"/>
                <a:gd name="T11" fmla="*/ 1 h 420"/>
                <a:gd name="T12" fmla="*/ 1 w 65"/>
                <a:gd name="T13" fmla="*/ 1 h 420"/>
                <a:gd name="T14" fmla="*/ 1 w 65"/>
                <a:gd name="T15" fmla="*/ 1 h 420"/>
                <a:gd name="T16" fmla="*/ 1 w 65"/>
                <a:gd name="T17" fmla="*/ 1 h 420"/>
                <a:gd name="T18" fmla="*/ 1 w 65"/>
                <a:gd name="T19" fmla="*/ 1 h 420"/>
                <a:gd name="T20" fmla="*/ 1 w 65"/>
                <a:gd name="T21" fmla="*/ 1 h 420"/>
                <a:gd name="T22" fmla="*/ 1 w 65"/>
                <a:gd name="T23" fmla="*/ 1 h 420"/>
                <a:gd name="T24" fmla="*/ 1 w 65"/>
                <a:gd name="T25" fmla="*/ 1 h 420"/>
                <a:gd name="T26" fmla="*/ 1 w 65"/>
                <a:gd name="T27" fmla="*/ 1 h 420"/>
                <a:gd name="T28" fmla="*/ 1 w 65"/>
                <a:gd name="T29" fmla="*/ 1 h 420"/>
                <a:gd name="T30" fmla="*/ 0 w 65"/>
                <a:gd name="T31" fmla="*/ 1 h 420"/>
                <a:gd name="T32" fmla="*/ 1 w 65"/>
                <a:gd name="T33" fmla="*/ 1 h 420"/>
                <a:gd name="T34" fmla="*/ 1 w 65"/>
                <a:gd name="T35" fmla="*/ 1 h 420"/>
                <a:gd name="T36" fmla="*/ 1 w 65"/>
                <a:gd name="T37" fmla="*/ 1 h 420"/>
                <a:gd name="T38" fmla="*/ 1 w 65"/>
                <a:gd name="T39" fmla="*/ 1 h 420"/>
                <a:gd name="T40" fmla="*/ 1 w 65"/>
                <a:gd name="T41" fmla="*/ 1 h 420"/>
                <a:gd name="T42" fmla="*/ 1 w 65"/>
                <a:gd name="T43" fmla="*/ 1 h 420"/>
                <a:gd name="T44" fmla="*/ 1 w 65"/>
                <a:gd name="T45" fmla="*/ 1 h 420"/>
                <a:gd name="T46" fmla="*/ 1 w 65"/>
                <a:gd name="T47" fmla="*/ 1 h 420"/>
                <a:gd name="T48" fmla="*/ 1 w 65"/>
                <a:gd name="T49" fmla="*/ 1 h 420"/>
                <a:gd name="T50" fmla="*/ 1 w 65"/>
                <a:gd name="T51" fmla="*/ 1 h 420"/>
                <a:gd name="T52" fmla="*/ 1 w 65"/>
                <a:gd name="T53" fmla="*/ 1 h 420"/>
                <a:gd name="T54" fmla="*/ 1 w 65"/>
                <a:gd name="T55" fmla="*/ 1 h 420"/>
                <a:gd name="T56" fmla="*/ 1 w 65"/>
                <a:gd name="T57" fmla="*/ 1 h 420"/>
                <a:gd name="T58" fmla="*/ 1 w 65"/>
                <a:gd name="T59" fmla="*/ 1 h 420"/>
                <a:gd name="T60" fmla="*/ 1 w 65"/>
                <a:gd name="T61" fmla="*/ 1 h 420"/>
                <a:gd name="T62" fmla="*/ 1 w 65"/>
                <a:gd name="T63" fmla="*/ 1 h 420"/>
                <a:gd name="T64" fmla="*/ 1 w 65"/>
                <a:gd name="T65" fmla="*/ 1 h 420"/>
                <a:gd name="T66" fmla="*/ 1 w 65"/>
                <a:gd name="T67" fmla="*/ 1 h 420"/>
                <a:gd name="T68" fmla="*/ 1 w 65"/>
                <a:gd name="T69" fmla="*/ 1 h 420"/>
                <a:gd name="T70" fmla="*/ 1 w 65"/>
                <a:gd name="T71" fmla="*/ 1 h 420"/>
                <a:gd name="T72" fmla="*/ 1 w 65"/>
                <a:gd name="T73" fmla="*/ 1 h 420"/>
                <a:gd name="T74" fmla="*/ 1 w 65"/>
                <a:gd name="T75" fmla="*/ 1 h 420"/>
                <a:gd name="T76" fmla="*/ 1 w 65"/>
                <a:gd name="T77" fmla="*/ 2 h 420"/>
                <a:gd name="T78" fmla="*/ 1 w 65"/>
                <a:gd name="T79" fmla="*/ 2 h 420"/>
                <a:gd name="T80" fmla="*/ 1 w 65"/>
                <a:gd name="T81" fmla="*/ 2 h 420"/>
                <a:gd name="T82" fmla="*/ 1 w 65"/>
                <a:gd name="T83" fmla="*/ 2 h 420"/>
                <a:gd name="T84" fmla="*/ 1 w 65"/>
                <a:gd name="T85" fmla="*/ 2 h 420"/>
                <a:gd name="T86" fmla="*/ 1 w 65"/>
                <a:gd name="T87" fmla="*/ 2 h 420"/>
                <a:gd name="T88" fmla="*/ 1 w 65"/>
                <a:gd name="T89" fmla="*/ 2 h 420"/>
                <a:gd name="T90" fmla="*/ 1 w 65"/>
                <a:gd name="T91" fmla="*/ 2 h 420"/>
                <a:gd name="T92" fmla="*/ 0 w 65"/>
                <a:gd name="T93" fmla="*/ 2 h 420"/>
                <a:gd name="T94" fmla="*/ 1 w 65"/>
                <a:gd name="T95" fmla="*/ 2 h 420"/>
                <a:gd name="T96" fmla="*/ 1 w 65"/>
                <a:gd name="T97" fmla="*/ 2 h 420"/>
                <a:gd name="T98" fmla="*/ 1 w 65"/>
                <a:gd name="T99" fmla="*/ 2 h 420"/>
                <a:gd name="T100" fmla="*/ 1 w 65"/>
                <a:gd name="T101" fmla="*/ 2 h 420"/>
                <a:gd name="T102" fmla="*/ 1 w 65"/>
                <a:gd name="T103" fmla="*/ 2 h 420"/>
                <a:gd name="T104" fmla="*/ 1 w 65"/>
                <a:gd name="T105" fmla="*/ 2 h 420"/>
                <a:gd name="T106" fmla="*/ 1 w 65"/>
                <a:gd name="T107" fmla="*/ 2 h 420"/>
                <a:gd name="T108" fmla="*/ 1 w 65"/>
                <a:gd name="T109" fmla="*/ 2 h 420"/>
                <a:gd name="T110" fmla="*/ 1 w 65"/>
                <a:gd name="T111" fmla="*/ 2 h 420"/>
                <a:gd name="T112" fmla="*/ 1 w 65"/>
                <a:gd name="T113" fmla="*/ 2 h 420"/>
                <a:gd name="T114" fmla="*/ 1 w 65"/>
                <a:gd name="T115" fmla="*/ 2 h 420"/>
                <a:gd name="T116" fmla="*/ 1 w 65"/>
                <a:gd name="T117" fmla="*/ 2 h 420"/>
                <a:gd name="T118" fmla="*/ 1 w 65"/>
                <a:gd name="T119" fmla="*/ 2 h 420"/>
                <a:gd name="T120" fmla="*/ 1 w 65"/>
                <a:gd name="T121" fmla="*/ 2 h 420"/>
                <a:gd name="T122" fmla="*/ 1 w 65"/>
                <a:gd name="T123" fmla="*/ 2 h 42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65"/>
                <a:gd name="T187" fmla="*/ 0 h 420"/>
                <a:gd name="T188" fmla="*/ 65 w 65"/>
                <a:gd name="T189" fmla="*/ 420 h 42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65" h="420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18" y="2"/>
                  </a:lnTo>
                  <a:lnTo>
                    <a:pt x="25" y="4"/>
                  </a:lnTo>
                  <a:lnTo>
                    <a:pt x="30" y="5"/>
                  </a:lnTo>
                  <a:lnTo>
                    <a:pt x="35" y="9"/>
                  </a:lnTo>
                  <a:lnTo>
                    <a:pt x="46" y="14"/>
                  </a:lnTo>
                  <a:lnTo>
                    <a:pt x="49" y="17"/>
                  </a:lnTo>
                  <a:lnTo>
                    <a:pt x="53" y="22"/>
                  </a:lnTo>
                  <a:lnTo>
                    <a:pt x="56" y="25"/>
                  </a:lnTo>
                  <a:lnTo>
                    <a:pt x="60" y="31"/>
                  </a:lnTo>
                  <a:lnTo>
                    <a:pt x="62" y="36"/>
                  </a:lnTo>
                  <a:lnTo>
                    <a:pt x="63" y="41"/>
                  </a:lnTo>
                  <a:lnTo>
                    <a:pt x="65" y="46"/>
                  </a:lnTo>
                  <a:lnTo>
                    <a:pt x="65" y="51"/>
                  </a:lnTo>
                  <a:lnTo>
                    <a:pt x="65" y="56"/>
                  </a:lnTo>
                  <a:lnTo>
                    <a:pt x="65" y="61"/>
                  </a:lnTo>
                  <a:lnTo>
                    <a:pt x="63" y="66"/>
                  </a:lnTo>
                  <a:lnTo>
                    <a:pt x="62" y="71"/>
                  </a:lnTo>
                  <a:lnTo>
                    <a:pt x="60" y="76"/>
                  </a:lnTo>
                  <a:lnTo>
                    <a:pt x="56" y="81"/>
                  </a:lnTo>
                  <a:lnTo>
                    <a:pt x="53" y="84"/>
                  </a:lnTo>
                  <a:lnTo>
                    <a:pt x="49" y="87"/>
                  </a:lnTo>
                  <a:lnTo>
                    <a:pt x="41" y="94"/>
                  </a:lnTo>
                  <a:lnTo>
                    <a:pt x="35" y="97"/>
                  </a:lnTo>
                  <a:lnTo>
                    <a:pt x="28" y="101"/>
                  </a:lnTo>
                  <a:lnTo>
                    <a:pt x="23" y="102"/>
                  </a:lnTo>
                  <a:lnTo>
                    <a:pt x="18" y="104"/>
                  </a:lnTo>
                  <a:lnTo>
                    <a:pt x="11" y="104"/>
                  </a:lnTo>
                  <a:lnTo>
                    <a:pt x="6" y="106"/>
                  </a:lnTo>
                  <a:lnTo>
                    <a:pt x="0" y="106"/>
                  </a:lnTo>
                  <a:lnTo>
                    <a:pt x="6" y="106"/>
                  </a:lnTo>
                  <a:lnTo>
                    <a:pt x="13" y="106"/>
                  </a:lnTo>
                  <a:lnTo>
                    <a:pt x="18" y="107"/>
                  </a:lnTo>
                  <a:lnTo>
                    <a:pt x="25" y="109"/>
                  </a:lnTo>
                  <a:lnTo>
                    <a:pt x="30" y="111"/>
                  </a:lnTo>
                  <a:lnTo>
                    <a:pt x="35" y="112"/>
                  </a:lnTo>
                  <a:lnTo>
                    <a:pt x="46" y="119"/>
                  </a:lnTo>
                  <a:lnTo>
                    <a:pt x="49" y="123"/>
                  </a:lnTo>
                  <a:lnTo>
                    <a:pt x="53" y="126"/>
                  </a:lnTo>
                  <a:lnTo>
                    <a:pt x="56" y="131"/>
                  </a:lnTo>
                  <a:lnTo>
                    <a:pt x="60" y="136"/>
                  </a:lnTo>
                  <a:lnTo>
                    <a:pt x="62" y="139"/>
                  </a:lnTo>
                  <a:lnTo>
                    <a:pt x="63" y="144"/>
                  </a:lnTo>
                  <a:lnTo>
                    <a:pt x="65" y="149"/>
                  </a:lnTo>
                  <a:lnTo>
                    <a:pt x="65" y="156"/>
                  </a:lnTo>
                  <a:lnTo>
                    <a:pt x="65" y="161"/>
                  </a:lnTo>
                  <a:lnTo>
                    <a:pt x="65" y="166"/>
                  </a:lnTo>
                  <a:lnTo>
                    <a:pt x="63" y="171"/>
                  </a:lnTo>
                  <a:lnTo>
                    <a:pt x="62" y="176"/>
                  </a:lnTo>
                  <a:lnTo>
                    <a:pt x="60" y="181"/>
                  </a:lnTo>
                  <a:lnTo>
                    <a:pt x="56" y="184"/>
                  </a:lnTo>
                  <a:lnTo>
                    <a:pt x="53" y="189"/>
                  </a:lnTo>
                  <a:lnTo>
                    <a:pt x="49" y="193"/>
                  </a:lnTo>
                  <a:lnTo>
                    <a:pt x="41" y="199"/>
                  </a:lnTo>
                  <a:lnTo>
                    <a:pt x="35" y="203"/>
                  </a:lnTo>
                  <a:lnTo>
                    <a:pt x="28" y="205"/>
                  </a:lnTo>
                  <a:lnTo>
                    <a:pt x="23" y="206"/>
                  </a:lnTo>
                  <a:lnTo>
                    <a:pt x="18" y="208"/>
                  </a:lnTo>
                  <a:lnTo>
                    <a:pt x="11" y="210"/>
                  </a:lnTo>
                  <a:lnTo>
                    <a:pt x="6" y="210"/>
                  </a:lnTo>
                  <a:lnTo>
                    <a:pt x="0" y="210"/>
                  </a:lnTo>
                  <a:lnTo>
                    <a:pt x="6" y="210"/>
                  </a:lnTo>
                  <a:lnTo>
                    <a:pt x="13" y="211"/>
                  </a:lnTo>
                  <a:lnTo>
                    <a:pt x="18" y="211"/>
                  </a:lnTo>
                  <a:lnTo>
                    <a:pt x="25" y="213"/>
                  </a:lnTo>
                  <a:lnTo>
                    <a:pt x="30" y="215"/>
                  </a:lnTo>
                  <a:lnTo>
                    <a:pt x="35" y="218"/>
                  </a:lnTo>
                  <a:lnTo>
                    <a:pt x="46" y="225"/>
                  </a:lnTo>
                  <a:lnTo>
                    <a:pt x="49" y="228"/>
                  </a:lnTo>
                  <a:lnTo>
                    <a:pt x="53" y="231"/>
                  </a:lnTo>
                  <a:lnTo>
                    <a:pt x="56" y="236"/>
                  </a:lnTo>
                  <a:lnTo>
                    <a:pt x="60" y="240"/>
                  </a:lnTo>
                  <a:lnTo>
                    <a:pt x="62" y="245"/>
                  </a:lnTo>
                  <a:lnTo>
                    <a:pt x="63" y="250"/>
                  </a:lnTo>
                  <a:lnTo>
                    <a:pt x="65" y="255"/>
                  </a:lnTo>
                  <a:lnTo>
                    <a:pt x="65" y="260"/>
                  </a:lnTo>
                  <a:lnTo>
                    <a:pt x="65" y="266"/>
                  </a:lnTo>
                  <a:lnTo>
                    <a:pt x="65" y="271"/>
                  </a:lnTo>
                  <a:lnTo>
                    <a:pt x="63" y="276"/>
                  </a:lnTo>
                  <a:lnTo>
                    <a:pt x="62" y="281"/>
                  </a:lnTo>
                  <a:lnTo>
                    <a:pt x="60" y="285"/>
                  </a:lnTo>
                  <a:lnTo>
                    <a:pt x="56" y="290"/>
                  </a:lnTo>
                  <a:lnTo>
                    <a:pt x="53" y="295"/>
                  </a:lnTo>
                  <a:lnTo>
                    <a:pt x="49" y="298"/>
                  </a:lnTo>
                  <a:lnTo>
                    <a:pt x="41" y="305"/>
                  </a:lnTo>
                  <a:lnTo>
                    <a:pt x="35" y="308"/>
                  </a:lnTo>
                  <a:lnTo>
                    <a:pt x="28" y="310"/>
                  </a:lnTo>
                  <a:lnTo>
                    <a:pt x="23" y="312"/>
                  </a:lnTo>
                  <a:lnTo>
                    <a:pt x="18" y="313"/>
                  </a:lnTo>
                  <a:lnTo>
                    <a:pt x="11" y="315"/>
                  </a:lnTo>
                  <a:lnTo>
                    <a:pt x="6" y="315"/>
                  </a:lnTo>
                  <a:lnTo>
                    <a:pt x="0" y="315"/>
                  </a:lnTo>
                  <a:lnTo>
                    <a:pt x="6" y="315"/>
                  </a:lnTo>
                  <a:lnTo>
                    <a:pt x="13" y="315"/>
                  </a:lnTo>
                  <a:lnTo>
                    <a:pt x="18" y="317"/>
                  </a:lnTo>
                  <a:lnTo>
                    <a:pt x="25" y="318"/>
                  </a:lnTo>
                  <a:lnTo>
                    <a:pt x="30" y="320"/>
                  </a:lnTo>
                  <a:lnTo>
                    <a:pt x="35" y="323"/>
                  </a:lnTo>
                  <a:lnTo>
                    <a:pt x="46" y="328"/>
                  </a:lnTo>
                  <a:lnTo>
                    <a:pt x="49" y="332"/>
                  </a:lnTo>
                  <a:lnTo>
                    <a:pt x="53" y="337"/>
                  </a:lnTo>
                  <a:lnTo>
                    <a:pt x="56" y="340"/>
                  </a:lnTo>
                  <a:lnTo>
                    <a:pt x="60" y="345"/>
                  </a:lnTo>
                  <a:lnTo>
                    <a:pt x="62" y="350"/>
                  </a:lnTo>
                  <a:lnTo>
                    <a:pt x="63" y="355"/>
                  </a:lnTo>
                  <a:lnTo>
                    <a:pt x="65" y="360"/>
                  </a:lnTo>
                  <a:lnTo>
                    <a:pt x="65" y="365"/>
                  </a:lnTo>
                  <a:lnTo>
                    <a:pt x="65" y="370"/>
                  </a:lnTo>
                  <a:lnTo>
                    <a:pt x="65" y="375"/>
                  </a:lnTo>
                  <a:lnTo>
                    <a:pt x="63" y="380"/>
                  </a:lnTo>
                  <a:lnTo>
                    <a:pt x="62" y="385"/>
                  </a:lnTo>
                  <a:lnTo>
                    <a:pt x="60" y="390"/>
                  </a:lnTo>
                  <a:lnTo>
                    <a:pt x="56" y="395"/>
                  </a:lnTo>
                  <a:lnTo>
                    <a:pt x="53" y="399"/>
                  </a:lnTo>
                  <a:lnTo>
                    <a:pt x="49" y="404"/>
                  </a:lnTo>
                  <a:lnTo>
                    <a:pt x="41" y="410"/>
                  </a:lnTo>
                  <a:lnTo>
                    <a:pt x="35" y="412"/>
                  </a:lnTo>
                  <a:lnTo>
                    <a:pt x="28" y="415"/>
                  </a:lnTo>
                  <a:lnTo>
                    <a:pt x="23" y="417"/>
                  </a:lnTo>
                  <a:lnTo>
                    <a:pt x="18" y="419"/>
                  </a:lnTo>
                  <a:lnTo>
                    <a:pt x="11" y="419"/>
                  </a:lnTo>
                  <a:lnTo>
                    <a:pt x="6" y="420"/>
                  </a:lnTo>
                  <a:lnTo>
                    <a:pt x="0" y="42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3" name="Freeform 237"/>
            <p:cNvSpPr>
              <a:spLocks/>
            </p:cNvSpPr>
            <p:nvPr/>
          </p:nvSpPr>
          <p:spPr bwMode="auto">
            <a:xfrm>
              <a:off x="4399" y="1182"/>
              <a:ext cx="33" cy="210"/>
            </a:xfrm>
            <a:custGeom>
              <a:avLst/>
              <a:gdLst>
                <a:gd name="T0" fmla="*/ 1 w 66"/>
                <a:gd name="T1" fmla="*/ 0 h 420"/>
                <a:gd name="T2" fmla="*/ 1 w 66"/>
                <a:gd name="T3" fmla="*/ 1 h 420"/>
                <a:gd name="T4" fmla="*/ 1 w 66"/>
                <a:gd name="T5" fmla="*/ 1 h 420"/>
                <a:gd name="T6" fmla="*/ 1 w 66"/>
                <a:gd name="T7" fmla="*/ 1 h 420"/>
                <a:gd name="T8" fmla="*/ 1 w 66"/>
                <a:gd name="T9" fmla="*/ 1 h 420"/>
                <a:gd name="T10" fmla="*/ 1 w 66"/>
                <a:gd name="T11" fmla="*/ 1 h 420"/>
                <a:gd name="T12" fmla="*/ 1 w 66"/>
                <a:gd name="T13" fmla="*/ 1 h 420"/>
                <a:gd name="T14" fmla="*/ 0 w 66"/>
                <a:gd name="T15" fmla="*/ 1 h 420"/>
                <a:gd name="T16" fmla="*/ 1 w 66"/>
                <a:gd name="T17" fmla="*/ 1 h 420"/>
                <a:gd name="T18" fmla="*/ 1 w 66"/>
                <a:gd name="T19" fmla="*/ 1 h 420"/>
                <a:gd name="T20" fmla="*/ 1 w 66"/>
                <a:gd name="T21" fmla="*/ 1 h 420"/>
                <a:gd name="T22" fmla="*/ 1 w 66"/>
                <a:gd name="T23" fmla="*/ 1 h 420"/>
                <a:gd name="T24" fmla="*/ 1 w 66"/>
                <a:gd name="T25" fmla="*/ 1 h 420"/>
                <a:gd name="T26" fmla="*/ 1 w 66"/>
                <a:gd name="T27" fmla="*/ 1 h 420"/>
                <a:gd name="T28" fmla="*/ 1 w 66"/>
                <a:gd name="T29" fmla="*/ 1 h 420"/>
                <a:gd name="T30" fmla="*/ 1 w 66"/>
                <a:gd name="T31" fmla="*/ 1 h 420"/>
                <a:gd name="T32" fmla="*/ 1 w 66"/>
                <a:gd name="T33" fmla="*/ 1 h 420"/>
                <a:gd name="T34" fmla="*/ 1 w 66"/>
                <a:gd name="T35" fmla="*/ 1 h 420"/>
                <a:gd name="T36" fmla="*/ 1 w 66"/>
                <a:gd name="T37" fmla="*/ 1 h 420"/>
                <a:gd name="T38" fmla="*/ 1 w 66"/>
                <a:gd name="T39" fmla="*/ 1 h 420"/>
                <a:gd name="T40" fmla="*/ 1 w 66"/>
                <a:gd name="T41" fmla="*/ 1 h 420"/>
                <a:gd name="T42" fmla="*/ 1 w 66"/>
                <a:gd name="T43" fmla="*/ 1 h 420"/>
                <a:gd name="T44" fmla="*/ 1 w 66"/>
                <a:gd name="T45" fmla="*/ 1 h 420"/>
                <a:gd name="T46" fmla="*/ 0 w 66"/>
                <a:gd name="T47" fmla="*/ 1 h 420"/>
                <a:gd name="T48" fmla="*/ 1 w 66"/>
                <a:gd name="T49" fmla="*/ 1 h 420"/>
                <a:gd name="T50" fmla="*/ 1 w 66"/>
                <a:gd name="T51" fmla="*/ 1 h 420"/>
                <a:gd name="T52" fmla="*/ 1 w 66"/>
                <a:gd name="T53" fmla="*/ 1 h 420"/>
                <a:gd name="T54" fmla="*/ 1 w 66"/>
                <a:gd name="T55" fmla="*/ 1 h 420"/>
                <a:gd name="T56" fmla="*/ 1 w 66"/>
                <a:gd name="T57" fmla="*/ 1 h 420"/>
                <a:gd name="T58" fmla="*/ 1 w 66"/>
                <a:gd name="T59" fmla="*/ 1 h 420"/>
                <a:gd name="T60" fmla="*/ 1 w 66"/>
                <a:gd name="T61" fmla="*/ 1 h 420"/>
                <a:gd name="T62" fmla="*/ 1 w 66"/>
                <a:gd name="T63" fmla="*/ 1 h 420"/>
                <a:gd name="T64" fmla="*/ 1 w 66"/>
                <a:gd name="T65" fmla="*/ 1 h 420"/>
                <a:gd name="T66" fmla="*/ 1 w 66"/>
                <a:gd name="T67" fmla="*/ 1 h 420"/>
                <a:gd name="T68" fmla="*/ 1 w 66"/>
                <a:gd name="T69" fmla="*/ 1 h 420"/>
                <a:gd name="T70" fmla="*/ 1 w 66"/>
                <a:gd name="T71" fmla="*/ 1 h 420"/>
                <a:gd name="T72" fmla="*/ 1 w 66"/>
                <a:gd name="T73" fmla="*/ 1 h 420"/>
                <a:gd name="T74" fmla="*/ 1 w 66"/>
                <a:gd name="T75" fmla="*/ 1 h 420"/>
                <a:gd name="T76" fmla="*/ 0 w 66"/>
                <a:gd name="T77" fmla="*/ 2 h 420"/>
                <a:gd name="T78" fmla="*/ 1 w 66"/>
                <a:gd name="T79" fmla="*/ 2 h 420"/>
                <a:gd name="T80" fmla="*/ 1 w 66"/>
                <a:gd name="T81" fmla="*/ 2 h 420"/>
                <a:gd name="T82" fmla="*/ 1 w 66"/>
                <a:gd name="T83" fmla="*/ 2 h 420"/>
                <a:gd name="T84" fmla="*/ 1 w 66"/>
                <a:gd name="T85" fmla="*/ 2 h 420"/>
                <a:gd name="T86" fmla="*/ 1 w 66"/>
                <a:gd name="T87" fmla="*/ 2 h 420"/>
                <a:gd name="T88" fmla="*/ 1 w 66"/>
                <a:gd name="T89" fmla="*/ 2 h 420"/>
                <a:gd name="T90" fmla="*/ 1 w 66"/>
                <a:gd name="T91" fmla="*/ 2 h 420"/>
                <a:gd name="T92" fmla="*/ 1 w 66"/>
                <a:gd name="T93" fmla="*/ 2 h 420"/>
                <a:gd name="T94" fmla="*/ 1 w 66"/>
                <a:gd name="T95" fmla="*/ 2 h 420"/>
                <a:gd name="T96" fmla="*/ 1 w 66"/>
                <a:gd name="T97" fmla="*/ 2 h 420"/>
                <a:gd name="T98" fmla="*/ 1 w 66"/>
                <a:gd name="T99" fmla="*/ 2 h 420"/>
                <a:gd name="T100" fmla="*/ 1 w 66"/>
                <a:gd name="T101" fmla="*/ 2 h 420"/>
                <a:gd name="T102" fmla="*/ 1 w 66"/>
                <a:gd name="T103" fmla="*/ 2 h 420"/>
                <a:gd name="T104" fmla="*/ 1 w 66"/>
                <a:gd name="T105" fmla="*/ 2 h 420"/>
                <a:gd name="T106" fmla="*/ 1 w 66"/>
                <a:gd name="T107" fmla="*/ 2 h 420"/>
                <a:gd name="T108" fmla="*/ 0 w 66"/>
                <a:gd name="T109" fmla="*/ 2 h 420"/>
                <a:gd name="T110" fmla="*/ 1 w 66"/>
                <a:gd name="T111" fmla="*/ 2 h 420"/>
                <a:gd name="T112" fmla="*/ 1 w 66"/>
                <a:gd name="T113" fmla="*/ 2 h 420"/>
                <a:gd name="T114" fmla="*/ 1 w 66"/>
                <a:gd name="T115" fmla="*/ 2 h 420"/>
                <a:gd name="T116" fmla="*/ 1 w 66"/>
                <a:gd name="T117" fmla="*/ 2 h 420"/>
                <a:gd name="T118" fmla="*/ 1 w 66"/>
                <a:gd name="T119" fmla="*/ 2 h 420"/>
                <a:gd name="T120" fmla="*/ 1 w 66"/>
                <a:gd name="T121" fmla="*/ 2 h 420"/>
                <a:gd name="T122" fmla="*/ 1 w 66"/>
                <a:gd name="T123" fmla="*/ 2 h 42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66"/>
                <a:gd name="T187" fmla="*/ 0 h 420"/>
                <a:gd name="T188" fmla="*/ 66 w 66"/>
                <a:gd name="T189" fmla="*/ 420 h 42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66" h="420">
                  <a:moveTo>
                    <a:pt x="66" y="0"/>
                  </a:moveTo>
                  <a:lnTo>
                    <a:pt x="59" y="0"/>
                  </a:lnTo>
                  <a:lnTo>
                    <a:pt x="54" y="0"/>
                  </a:lnTo>
                  <a:lnTo>
                    <a:pt x="47" y="2"/>
                  </a:lnTo>
                  <a:lnTo>
                    <a:pt x="42" y="4"/>
                  </a:lnTo>
                  <a:lnTo>
                    <a:pt x="35" y="6"/>
                  </a:lnTo>
                  <a:lnTo>
                    <a:pt x="29" y="9"/>
                  </a:lnTo>
                  <a:lnTo>
                    <a:pt x="21" y="14"/>
                  </a:lnTo>
                  <a:lnTo>
                    <a:pt x="15" y="17"/>
                  </a:lnTo>
                  <a:lnTo>
                    <a:pt x="12" y="22"/>
                  </a:lnTo>
                  <a:lnTo>
                    <a:pt x="8" y="26"/>
                  </a:lnTo>
                  <a:lnTo>
                    <a:pt x="7" y="31"/>
                  </a:lnTo>
                  <a:lnTo>
                    <a:pt x="3" y="36"/>
                  </a:lnTo>
                  <a:lnTo>
                    <a:pt x="1" y="41"/>
                  </a:lnTo>
                  <a:lnTo>
                    <a:pt x="1" y="46"/>
                  </a:lnTo>
                  <a:lnTo>
                    <a:pt x="0" y="51"/>
                  </a:lnTo>
                  <a:lnTo>
                    <a:pt x="0" y="56"/>
                  </a:lnTo>
                  <a:lnTo>
                    <a:pt x="1" y="61"/>
                  </a:lnTo>
                  <a:lnTo>
                    <a:pt x="1" y="66"/>
                  </a:lnTo>
                  <a:lnTo>
                    <a:pt x="5" y="71"/>
                  </a:lnTo>
                  <a:lnTo>
                    <a:pt x="7" y="76"/>
                  </a:lnTo>
                  <a:lnTo>
                    <a:pt x="10" y="81"/>
                  </a:lnTo>
                  <a:lnTo>
                    <a:pt x="14" y="84"/>
                  </a:lnTo>
                  <a:lnTo>
                    <a:pt x="17" y="89"/>
                  </a:lnTo>
                  <a:lnTo>
                    <a:pt x="26" y="96"/>
                  </a:lnTo>
                  <a:lnTo>
                    <a:pt x="31" y="98"/>
                  </a:lnTo>
                  <a:lnTo>
                    <a:pt x="36" y="101"/>
                  </a:lnTo>
                  <a:lnTo>
                    <a:pt x="42" y="103"/>
                  </a:lnTo>
                  <a:lnTo>
                    <a:pt x="49" y="104"/>
                  </a:lnTo>
                  <a:lnTo>
                    <a:pt x="54" y="104"/>
                  </a:lnTo>
                  <a:lnTo>
                    <a:pt x="61" y="106"/>
                  </a:lnTo>
                  <a:lnTo>
                    <a:pt x="66" y="106"/>
                  </a:lnTo>
                  <a:lnTo>
                    <a:pt x="59" y="106"/>
                  </a:lnTo>
                  <a:lnTo>
                    <a:pt x="54" y="106"/>
                  </a:lnTo>
                  <a:lnTo>
                    <a:pt x="47" y="108"/>
                  </a:lnTo>
                  <a:lnTo>
                    <a:pt x="42" y="109"/>
                  </a:lnTo>
                  <a:lnTo>
                    <a:pt x="35" y="111"/>
                  </a:lnTo>
                  <a:lnTo>
                    <a:pt x="29" y="113"/>
                  </a:lnTo>
                  <a:lnTo>
                    <a:pt x="21" y="119"/>
                  </a:lnTo>
                  <a:lnTo>
                    <a:pt x="15" y="123"/>
                  </a:lnTo>
                  <a:lnTo>
                    <a:pt x="12" y="126"/>
                  </a:lnTo>
                  <a:lnTo>
                    <a:pt x="8" y="131"/>
                  </a:lnTo>
                  <a:lnTo>
                    <a:pt x="7" y="136"/>
                  </a:lnTo>
                  <a:lnTo>
                    <a:pt x="3" y="139"/>
                  </a:lnTo>
                  <a:lnTo>
                    <a:pt x="1" y="144"/>
                  </a:lnTo>
                  <a:lnTo>
                    <a:pt x="1" y="151"/>
                  </a:lnTo>
                  <a:lnTo>
                    <a:pt x="0" y="156"/>
                  </a:lnTo>
                  <a:lnTo>
                    <a:pt x="0" y="161"/>
                  </a:lnTo>
                  <a:lnTo>
                    <a:pt x="1" y="166"/>
                  </a:lnTo>
                  <a:lnTo>
                    <a:pt x="1" y="171"/>
                  </a:lnTo>
                  <a:lnTo>
                    <a:pt x="5" y="176"/>
                  </a:lnTo>
                  <a:lnTo>
                    <a:pt x="7" y="181"/>
                  </a:lnTo>
                  <a:lnTo>
                    <a:pt x="10" y="185"/>
                  </a:lnTo>
                  <a:lnTo>
                    <a:pt x="14" y="190"/>
                  </a:lnTo>
                  <a:lnTo>
                    <a:pt x="17" y="193"/>
                  </a:lnTo>
                  <a:lnTo>
                    <a:pt x="26" y="200"/>
                  </a:lnTo>
                  <a:lnTo>
                    <a:pt x="31" y="203"/>
                  </a:lnTo>
                  <a:lnTo>
                    <a:pt x="36" y="205"/>
                  </a:lnTo>
                  <a:lnTo>
                    <a:pt x="42" y="208"/>
                  </a:lnTo>
                  <a:lnTo>
                    <a:pt x="49" y="208"/>
                  </a:lnTo>
                  <a:lnTo>
                    <a:pt x="54" y="210"/>
                  </a:lnTo>
                  <a:lnTo>
                    <a:pt x="61" y="210"/>
                  </a:lnTo>
                  <a:lnTo>
                    <a:pt x="66" y="210"/>
                  </a:lnTo>
                  <a:lnTo>
                    <a:pt x="59" y="210"/>
                  </a:lnTo>
                  <a:lnTo>
                    <a:pt x="54" y="211"/>
                  </a:lnTo>
                  <a:lnTo>
                    <a:pt x="47" y="211"/>
                  </a:lnTo>
                  <a:lnTo>
                    <a:pt x="42" y="213"/>
                  </a:lnTo>
                  <a:lnTo>
                    <a:pt x="35" y="216"/>
                  </a:lnTo>
                  <a:lnTo>
                    <a:pt x="29" y="218"/>
                  </a:lnTo>
                  <a:lnTo>
                    <a:pt x="21" y="225"/>
                  </a:lnTo>
                  <a:lnTo>
                    <a:pt x="15" y="228"/>
                  </a:lnTo>
                  <a:lnTo>
                    <a:pt x="12" y="231"/>
                  </a:lnTo>
                  <a:lnTo>
                    <a:pt x="8" y="236"/>
                  </a:lnTo>
                  <a:lnTo>
                    <a:pt x="7" y="240"/>
                  </a:lnTo>
                  <a:lnTo>
                    <a:pt x="3" y="245"/>
                  </a:lnTo>
                  <a:lnTo>
                    <a:pt x="1" y="250"/>
                  </a:lnTo>
                  <a:lnTo>
                    <a:pt x="1" y="255"/>
                  </a:lnTo>
                  <a:lnTo>
                    <a:pt x="0" y="260"/>
                  </a:lnTo>
                  <a:lnTo>
                    <a:pt x="0" y="267"/>
                  </a:lnTo>
                  <a:lnTo>
                    <a:pt x="1" y="272"/>
                  </a:lnTo>
                  <a:lnTo>
                    <a:pt x="1" y="277"/>
                  </a:lnTo>
                  <a:lnTo>
                    <a:pt x="5" y="282"/>
                  </a:lnTo>
                  <a:lnTo>
                    <a:pt x="7" y="287"/>
                  </a:lnTo>
                  <a:lnTo>
                    <a:pt x="10" y="290"/>
                  </a:lnTo>
                  <a:lnTo>
                    <a:pt x="14" y="295"/>
                  </a:lnTo>
                  <a:lnTo>
                    <a:pt x="17" y="298"/>
                  </a:lnTo>
                  <a:lnTo>
                    <a:pt x="26" y="305"/>
                  </a:lnTo>
                  <a:lnTo>
                    <a:pt x="31" y="308"/>
                  </a:lnTo>
                  <a:lnTo>
                    <a:pt x="36" y="310"/>
                  </a:lnTo>
                  <a:lnTo>
                    <a:pt x="42" y="312"/>
                  </a:lnTo>
                  <a:lnTo>
                    <a:pt x="49" y="313"/>
                  </a:lnTo>
                  <a:lnTo>
                    <a:pt x="54" y="315"/>
                  </a:lnTo>
                  <a:lnTo>
                    <a:pt x="61" y="315"/>
                  </a:lnTo>
                  <a:lnTo>
                    <a:pt x="66" y="315"/>
                  </a:lnTo>
                  <a:lnTo>
                    <a:pt x="59" y="315"/>
                  </a:lnTo>
                  <a:lnTo>
                    <a:pt x="54" y="315"/>
                  </a:lnTo>
                  <a:lnTo>
                    <a:pt x="47" y="317"/>
                  </a:lnTo>
                  <a:lnTo>
                    <a:pt x="42" y="318"/>
                  </a:lnTo>
                  <a:lnTo>
                    <a:pt x="35" y="320"/>
                  </a:lnTo>
                  <a:lnTo>
                    <a:pt x="29" y="323"/>
                  </a:lnTo>
                  <a:lnTo>
                    <a:pt x="21" y="328"/>
                  </a:lnTo>
                  <a:lnTo>
                    <a:pt x="15" y="332"/>
                  </a:lnTo>
                  <a:lnTo>
                    <a:pt x="12" y="337"/>
                  </a:lnTo>
                  <a:lnTo>
                    <a:pt x="8" y="340"/>
                  </a:lnTo>
                  <a:lnTo>
                    <a:pt x="7" y="345"/>
                  </a:lnTo>
                  <a:lnTo>
                    <a:pt x="3" y="350"/>
                  </a:lnTo>
                  <a:lnTo>
                    <a:pt x="1" y="355"/>
                  </a:lnTo>
                  <a:lnTo>
                    <a:pt x="1" y="360"/>
                  </a:lnTo>
                  <a:lnTo>
                    <a:pt x="0" y="365"/>
                  </a:lnTo>
                  <a:lnTo>
                    <a:pt x="0" y="370"/>
                  </a:lnTo>
                  <a:lnTo>
                    <a:pt x="1" y="375"/>
                  </a:lnTo>
                  <a:lnTo>
                    <a:pt x="1" y="380"/>
                  </a:lnTo>
                  <a:lnTo>
                    <a:pt x="5" y="385"/>
                  </a:lnTo>
                  <a:lnTo>
                    <a:pt x="7" y="390"/>
                  </a:lnTo>
                  <a:lnTo>
                    <a:pt x="10" y="395"/>
                  </a:lnTo>
                  <a:lnTo>
                    <a:pt x="14" y="399"/>
                  </a:lnTo>
                  <a:lnTo>
                    <a:pt x="17" y="404"/>
                  </a:lnTo>
                  <a:lnTo>
                    <a:pt x="26" y="410"/>
                  </a:lnTo>
                  <a:lnTo>
                    <a:pt x="31" y="412"/>
                  </a:lnTo>
                  <a:lnTo>
                    <a:pt x="36" y="415"/>
                  </a:lnTo>
                  <a:lnTo>
                    <a:pt x="42" y="417"/>
                  </a:lnTo>
                  <a:lnTo>
                    <a:pt x="49" y="419"/>
                  </a:lnTo>
                  <a:lnTo>
                    <a:pt x="54" y="419"/>
                  </a:lnTo>
                  <a:lnTo>
                    <a:pt x="61" y="420"/>
                  </a:lnTo>
                  <a:lnTo>
                    <a:pt x="66" y="42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4" name="Line 238"/>
            <p:cNvSpPr>
              <a:spLocks noChangeShapeType="1"/>
            </p:cNvSpPr>
            <p:nvPr/>
          </p:nvSpPr>
          <p:spPr bwMode="auto">
            <a:xfrm>
              <a:off x="4359" y="1187"/>
              <a:ext cx="1" cy="19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" name="Line 239"/>
            <p:cNvSpPr>
              <a:spLocks noChangeShapeType="1"/>
            </p:cNvSpPr>
            <p:nvPr/>
          </p:nvSpPr>
          <p:spPr bwMode="auto">
            <a:xfrm flipV="1">
              <a:off x="4373" y="1187"/>
              <a:ext cx="1" cy="19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6" name="Rectangle 240"/>
            <p:cNvSpPr>
              <a:spLocks noChangeArrowheads="1"/>
            </p:cNvSpPr>
            <p:nvPr/>
          </p:nvSpPr>
          <p:spPr bwMode="auto">
            <a:xfrm>
              <a:off x="5424" y="1196"/>
              <a:ext cx="44" cy="10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/>
            </a:p>
          </p:txBody>
        </p:sp>
        <p:sp>
          <p:nvSpPr>
            <p:cNvPr id="297" name="Rectangle 241"/>
            <p:cNvSpPr>
              <a:spLocks noChangeArrowheads="1"/>
            </p:cNvSpPr>
            <p:nvPr/>
          </p:nvSpPr>
          <p:spPr bwMode="auto">
            <a:xfrm>
              <a:off x="5424" y="1196"/>
              <a:ext cx="44" cy="105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/>
            </a:p>
          </p:txBody>
        </p:sp>
        <p:sp>
          <p:nvSpPr>
            <p:cNvPr id="298" name="Line 242"/>
            <p:cNvSpPr>
              <a:spLocks noChangeShapeType="1"/>
            </p:cNvSpPr>
            <p:nvPr/>
          </p:nvSpPr>
          <p:spPr bwMode="auto">
            <a:xfrm>
              <a:off x="5227" y="1237"/>
              <a:ext cx="8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" name="Line 243"/>
            <p:cNvSpPr>
              <a:spLocks noChangeShapeType="1"/>
            </p:cNvSpPr>
            <p:nvPr/>
          </p:nvSpPr>
          <p:spPr bwMode="auto">
            <a:xfrm>
              <a:off x="5227" y="1269"/>
              <a:ext cx="8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" name="Line 244"/>
            <p:cNvSpPr>
              <a:spLocks noChangeShapeType="1"/>
            </p:cNvSpPr>
            <p:nvPr/>
          </p:nvSpPr>
          <p:spPr bwMode="auto">
            <a:xfrm>
              <a:off x="5271" y="1269"/>
              <a:ext cx="1" cy="8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" name="Line 245"/>
            <p:cNvSpPr>
              <a:spLocks noChangeShapeType="1"/>
            </p:cNvSpPr>
            <p:nvPr/>
          </p:nvSpPr>
          <p:spPr bwMode="auto">
            <a:xfrm flipV="1">
              <a:off x="5271" y="1143"/>
              <a:ext cx="1" cy="9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2" name="Line 246"/>
            <p:cNvSpPr>
              <a:spLocks noChangeShapeType="1"/>
            </p:cNvSpPr>
            <p:nvPr/>
          </p:nvSpPr>
          <p:spPr bwMode="auto">
            <a:xfrm flipV="1">
              <a:off x="5271" y="1122"/>
              <a:ext cx="1" cy="2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3" name="Freeform 247"/>
            <p:cNvSpPr>
              <a:spLocks/>
            </p:cNvSpPr>
            <p:nvPr/>
          </p:nvSpPr>
          <p:spPr bwMode="auto">
            <a:xfrm>
              <a:off x="4289" y="1315"/>
              <a:ext cx="28" cy="27"/>
            </a:xfrm>
            <a:custGeom>
              <a:avLst/>
              <a:gdLst>
                <a:gd name="T0" fmla="*/ 0 w 56"/>
                <a:gd name="T1" fmla="*/ 1 h 53"/>
                <a:gd name="T2" fmla="*/ 0 w 56"/>
                <a:gd name="T3" fmla="*/ 1 h 53"/>
                <a:gd name="T4" fmla="*/ 1 w 56"/>
                <a:gd name="T5" fmla="*/ 1 h 53"/>
                <a:gd name="T6" fmla="*/ 1 w 56"/>
                <a:gd name="T7" fmla="*/ 1 h 53"/>
                <a:gd name="T8" fmla="*/ 1 w 56"/>
                <a:gd name="T9" fmla="*/ 1 h 53"/>
                <a:gd name="T10" fmla="*/ 1 w 56"/>
                <a:gd name="T11" fmla="*/ 1 h 53"/>
                <a:gd name="T12" fmla="*/ 1 w 56"/>
                <a:gd name="T13" fmla="*/ 1 h 53"/>
                <a:gd name="T14" fmla="*/ 1 w 56"/>
                <a:gd name="T15" fmla="*/ 1 h 53"/>
                <a:gd name="T16" fmla="*/ 1 w 56"/>
                <a:gd name="T17" fmla="*/ 0 h 53"/>
                <a:gd name="T18" fmla="*/ 1 w 56"/>
                <a:gd name="T19" fmla="*/ 1 h 53"/>
                <a:gd name="T20" fmla="*/ 1 w 56"/>
                <a:gd name="T21" fmla="*/ 1 h 53"/>
                <a:gd name="T22" fmla="*/ 1 w 56"/>
                <a:gd name="T23" fmla="*/ 1 h 53"/>
                <a:gd name="T24" fmla="*/ 1 w 56"/>
                <a:gd name="T25" fmla="*/ 1 h 53"/>
                <a:gd name="T26" fmla="*/ 1 w 56"/>
                <a:gd name="T27" fmla="*/ 1 h 53"/>
                <a:gd name="T28" fmla="*/ 1 w 56"/>
                <a:gd name="T29" fmla="*/ 1 h 53"/>
                <a:gd name="T30" fmla="*/ 1 w 56"/>
                <a:gd name="T31" fmla="*/ 1 h 53"/>
                <a:gd name="T32" fmla="*/ 1 w 56"/>
                <a:gd name="T33" fmla="*/ 1 h 53"/>
                <a:gd name="T34" fmla="*/ 1 w 56"/>
                <a:gd name="T35" fmla="*/ 1 h 53"/>
                <a:gd name="T36" fmla="*/ 1 w 56"/>
                <a:gd name="T37" fmla="*/ 1 h 53"/>
                <a:gd name="T38" fmla="*/ 1 w 56"/>
                <a:gd name="T39" fmla="*/ 1 h 53"/>
                <a:gd name="T40" fmla="*/ 1 w 56"/>
                <a:gd name="T41" fmla="*/ 1 h 53"/>
                <a:gd name="T42" fmla="*/ 1 w 56"/>
                <a:gd name="T43" fmla="*/ 1 h 53"/>
                <a:gd name="T44" fmla="*/ 1 w 56"/>
                <a:gd name="T45" fmla="*/ 1 h 53"/>
                <a:gd name="T46" fmla="*/ 1 w 56"/>
                <a:gd name="T47" fmla="*/ 1 h 53"/>
                <a:gd name="T48" fmla="*/ 1 w 56"/>
                <a:gd name="T49" fmla="*/ 1 h 53"/>
                <a:gd name="T50" fmla="*/ 1 w 56"/>
                <a:gd name="T51" fmla="*/ 1 h 53"/>
                <a:gd name="T52" fmla="*/ 1 w 56"/>
                <a:gd name="T53" fmla="*/ 1 h 53"/>
                <a:gd name="T54" fmla="*/ 1 w 56"/>
                <a:gd name="T55" fmla="*/ 1 h 53"/>
                <a:gd name="T56" fmla="*/ 1 w 56"/>
                <a:gd name="T57" fmla="*/ 1 h 53"/>
                <a:gd name="T58" fmla="*/ 1 w 56"/>
                <a:gd name="T59" fmla="*/ 1 h 53"/>
                <a:gd name="T60" fmla="*/ 1 w 56"/>
                <a:gd name="T61" fmla="*/ 1 h 53"/>
                <a:gd name="T62" fmla="*/ 1 w 56"/>
                <a:gd name="T63" fmla="*/ 1 h 53"/>
                <a:gd name="T64" fmla="*/ 0 w 56"/>
                <a:gd name="T65" fmla="*/ 1 h 53"/>
                <a:gd name="T66" fmla="*/ 0 w 56"/>
                <a:gd name="T67" fmla="*/ 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3"/>
                <a:gd name="T104" fmla="*/ 56 w 56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3">
                  <a:moveTo>
                    <a:pt x="0" y="26"/>
                  </a:moveTo>
                  <a:lnTo>
                    <a:pt x="0" y="21"/>
                  </a:lnTo>
                  <a:lnTo>
                    <a:pt x="2" y="16"/>
                  </a:lnTo>
                  <a:lnTo>
                    <a:pt x="6" y="13"/>
                  </a:lnTo>
                  <a:lnTo>
                    <a:pt x="9" y="8"/>
                  </a:lnTo>
                  <a:lnTo>
                    <a:pt x="13" y="5"/>
                  </a:lnTo>
                  <a:lnTo>
                    <a:pt x="18" y="3"/>
                  </a:lnTo>
                  <a:lnTo>
                    <a:pt x="23" y="1"/>
                  </a:lnTo>
                  <a:lnTo>
                    <a:pt x="28" y="0"/>
                  </a:lnTo>
                  <a:lnTo>
                    <a:pt x="34" y="1"/>
                  </a:lnTo>
                  <a:lnTo>
                    <a:pt x="39" y="3"/>
                  </a:lnTo>
                  <a:lnTo>
                    <a:pt x="44" y="5"/>
                  </a:lnTo>
                  <a:lnTo>
                    <a:pt x="48" y="8"/>
                  </a:lnTo>
                  <a:lnTo>
                    <a:pt x="51" y="13"/>
                  </a:lnTo>
                  <a:lnTo>
                    <a:pt x="55" y="16"/>
                  </a:lnTo>
                  <a:lnTo>
                    <a:pt x="56" y="21"/>
                  </a:lnTo>
                  <a:lnTo>
                    <a:pt x="56" y="26"/>
                  </a:lnTo>
                  <a:lnTo>
                    <a:pt x="56" y="33"/>
                  </a:lnTo>
                  <a:lnTo>
                    <a:pt x="55" y="38"/>
                  </a:lnTo>
                  <a:lnTo>
                    <a:pt x="51" y="41"/>
                  </a:lnTo>
                  <a:lnTo>
                    <a:pt x="48" y="46"/>
                  </a:lnTo>
                  <a:lnTo>
                    <a:pt x="44" y="50"/>
                  </a:lnTo>
                  <a:lnTo>
                    <a:pt x="39" y="51"/>
                  </a:lnTo>
                  <a:lnTo>
                    <a:pt x="34" y="53"/>
                  </a:lnTo>
                  <a:lnTo>
                    <a:pt x="28" y="53"/>
                  </a:lnTo>
                  <a:lnTo>
                    <a:pt x="23" y="53"/>
                  </a:lnTo>
                  <a:lnTo>
                    <a:pt x="18" y="51"/>
                  </a:lnTo>
                  <a:lnTo>
                    <a:pt x="13" y="50"/>
                  </a:lnTo>
                  <a:lnTo>
                    <a:pt x="9" y="46"/>
                  </a:lnTo>
                  <a:lnTo>
                    <a:pt x="6" y="41"/>
                  </a:lnTo>
                  <a:lnTo>
                    <a:pt x="2" y="38"/>
                  </a:lnTo>
                  <a:lnTo>
                    <a:pt x="0" y="33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4" name="Freeform 248"/>
            <p:cNvSpPr>
              <a:spLocks/>
            </p:cNvSpPr>
            <p:nvPr/>
          </p:nvSpPr>
          <p:spPr bwMode="auto">
            <a:xfrm>
              <a:off x="4426" y="1189"/>
              <a:ext cx="28" cy="27"/>
            </a:xfrm>
            <a:custGeom>
              <a:avLst/>
              <a:gdLst>
                <a:gd name="T0" fmla="*/ 0 w 56"/>
                <a:gd name="T1" fmla="*/ 1 h 53"/>
                <a:gd name="T2" fmla="*/ 1 w 56"/>
                <a:gd name="T3" fmla="*/ 1 h 53"/>
                <a:gd name="T4" fmla="*/ 1 w 56"/>
                <a:gd name="T5" fmla="*/ 1 h 53"/>
                <a:gd name="T6" fmla="*/ 1 w 56"/>
                <a:gd name="T7" fmla="*/ 1 h 53"/>
                <a:gd name="T8" fmla="*/ 1 w 56"/>
                <a:gd name="T9" fmla="*/ 1 h 53"/>
                <a:gd name="T10" fmla="*/ 1 w 56"/>
                <a:gd name="T11" fmla="*/ 1 h 53"/>
                <a:gd name="T12" fmla="*/ 1 w 56"/>
                <a:gd name="T13" fmla="*/ 1 h 53"/>
                <a:gd name="T14" fmla="*/ 1 w 56"/>
                <a:gd name="T15" fmla="*/ 0 h 53"/>
                <a:gd name="T16" fmla="*/ 1 w 56"/>
                <a:gd name="T17" fmla="*/ 0 h 53"/>
                <a:gd name="T18" fmla="*/ 1 w 56"/>
                <a:gd name="T19" fmla="*/ 0 h 53"/>
                <a:gd name="T20" fmla="*/ 1 w 56"/>
                <a:gd name="T21" fmla="*/ 1 h 53"/>
                <a:gd name="T22" fmla="*/ 1 w 56"/>
                <a:gd name="T23" fmla="*/ 1 h 53"/>
                <a:gd name="T24" fmla="*/ 1 w 56"/>
                <a:gd name="T25" fmla="*/ 1 h 53"/>
                <a:gd name="T26" fmla="*/ 1 w 56"/>
                <a:gd name="T27" fmla="*/ 1 h 53"/>
                <a:gd name="T28" fmla="*/ 1 w 56"/>
                <a:gd name="T29" fmla="*/ 1 h 53"/>
                <a:gd name="T30" fmla="*/ 1 w 56"/>
                <a:gd name="T31" fmla="*/ 1 h 53"/>
                <a:gd name="T32" fmla="*/ 1 w 56"/>
                <a:gd name="T33" fmla="*/ 1 h 53"/>
                <a:gd name="T34" fmla="*/ 1 w 56"/>
                <a:gd name="T35" fmla="*/ 1 h 53"/>
                <a:gd name="T36" fmla="*/ 1 w 56"/>
                <a:gd name="T37" fmla="*/ 1 h 53"/>
                <a:gd name="T38" fmla="*/ 1 w 56"/>
                <a:gd name="T39" fmla="*/ 1 h 53"/>
                <a:gd name="T40" fmla="*/ 1 w 56"/>
                <a:gd name="T41" fmla="*/ 1 h 53"/>
                <a:gd name="T42" fmla="*/ 1 w 56"/>
                <a:gd name="T43" fmla="*/ 1 h 53"/>
                <a:gd name="T44" fmla="*/ 1 w 56"/>
                <a:gd name="T45" fmla="*/ 1 h 53"/>
                <a:gd name="T46" fmla="*/ 1 w 56"/>
                <a:gd name="T47" fmla="*/ 1 h 53"/>
                <a:gd name="T48" fmla="*/ 1 w 56"/>
                <a:gd name="T49" fmla="*/ 1 h 53"/>
                <a:gd name="T50" fmla="*/ 1 w 56"/>
                <a:gd name="T51" fmla="*/ 1 h 53"/>
                <a:gd name="T52" fmla="*/ 1 w 56"/>
                <a:gd name="T53" fmla="*/ 1 h 53"/>
                <a:gd name="T54" fmla="*/ 1 w 56"/>
                <a:gd name="T55" fmla="*/ 1 h 53"/>
                <a:gd name="T56" fmla="*/ 1 w 56"/>
                <a:gd name="T57" fmla="*/ 1 h 53"/>
                <a:gd name="T58" fmla="*/ 1 w 56"/>
                <a:gd name="T59" fmla="*/ 1 h 53"/>
                <a:gd name="T60" fmla="*/ 1 w 56"/>
                <a:gd name="T61" fmla="*/ 1 h 53"/>
                <a:gd name="T62" fmla="*/ 1 w 56"/>
                <a:gd name="T63" fmla="*/ 1 h 53"/>
                <a:gd name="T64" fmla="*/ 1 w 56"/>
                <a:gd name="T65" fmla="*/ 1 h 53"/>
                <a:gd name="T66" fmla="*/ 0 w 56"/>
                <a:gd name="T67" fmla="*/ 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3"/>
                <a:gd name="T104" fmla="*/ 56 w 56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3">
                  <a:moveTo>
                    <a:pt x="0" y="27"/>
                  </a:moveTo>
                  <a:lnTo>
                    <a:pt x="2" y="20"/>
                  </a:lnTo>
                  <a:lnTo>
                    <a:pt x="3" y="15"/>
                  </a:lnTo>
                  <a:lnTo>
                    <a:pt x="5" y="12"/>
                  </a:lnTo>
                  <a:lnTo>
                    <a:pt x="9" y="7"/>
                  </a:lnTo>
                  <a:lnTo>
                    <a:pt x="12" y="3"/>
                  </a:lnTo>
                  <a:lnTo>
                    <a:pt x="17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40" y="2"/>
                  </a:lnTo>
                  <a:lnTo>
                    <a:pt x="43" y="3"/>
                  </a:lnTo>
                  <a:lnTo>
                    <a:pt x="49" y="7"/>
                  </a:lnTo>
                  <a:lnTo>
                    <a:pt x="52" y="12"/>
                  </a:lnTo>
                  <a:lnTo>
                    <a:pt x="54" y="15"/>
                  </a:lnTo>
                  <a:lnTo>
                    <a:pt x="56" y="20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2" y="42"/>
                  </a:lnTo>
                  <a:lnTo>
                    <a:pt x="49" y="45"/>
                  </a:lnTo>
                  <a:lnTo>
                    <a:pt x="43" y="48"/>
                  </a:lnTo>
                  <a:lnTo>
                    <a:pt x="40" y="50"/>
                  </a:lnTo>
                  <a:lnTo>
                    <a:pt x="35" y="52"/>
                  </a:lnTo>
                  <a:lnTo>
                    <a:pt x="28" y="53"/>
                  </a:lnTo>
                  <a:lnTo>
                    <a:pt x="23" y="52"/>
                  </a:lnTo>
                  <a:lnTo>
                    <a:pt x="17" y="50"/>
                  </a:lnTo>
                  <a:lnTo>
                    <a:pt x="12" y="48"/>
                  </a:lnTo>
                  <a:lnTo>
                    <a:pt x="9" y="45"/>
                  </a:lnTo>
                  <a:lnTo>
                    <a:pt x="5" y="42"/>
                  </a:lnTo>
                  <a:lnTo>
                    <a:pt x="3" y="37"/>
                  </a:lnTo>
                  <a:lnTo>
                    <a:pt x="2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5" name="Rectangle 249"/>
            <p:cNvSpPr>
              <a:spLocks noChangeArrowheads="1"/>
            </p:cNvSpPr>
            <p:nvPr/>
          </p:nvSpPr>
          <p:spPr bwMode="auto">
            <a:xfrm>
              <a:off x="5346" y="1138"/>
              <a:ext cx="5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R</a:t>
              </a:r>
              <a:endParaRPr lang="en-US" altLang="zh-CN"/>
            </a:p>
          </p:txBody>
        </p:sp>
        <p:sp>
          <p:nvSpPr>
            <p:cNvPr id="306" name="Freeform 250"/>
            <p:cNvSpPr>
              <a:spLocks noEditPoints="1"/>
            </p:cNvSpPr>
            <p:nvPr/>
          </p:nvSpPr>
          <p:spPr bwMode="auto">
            <a:xfrm>
              <a:off x="4031" y="1029"/>
              <a:ext cx="14" cy="118"/>
            </a:xfrm>
            <a:custGeom>
              <a:avLst/>
              <a:gdLst>
                <a:gd name="T0" fmla="*/ 1 w 28"/>
                <a:gd name="T1" fmla="*/ 1 h 236"/>
                <a:gd name="T2" fmla="*/ 1 w 28"/>
                <a:gd name="T3" fmla="*/ 1 h 236"/>
                <a:gd name="T4" fmla="*/ 1 w 28"/>
                <a:gd name="T5" fmla="*/ 1 h 236"/>
                <a:gd name="T6" fmla="*/ 0 w 28"/>
                <a:gd name="T7" fmla="*/ 1 h 236"/>
                <a:gd name="T8" fmla="*/ 0 w 28"/>
                <a:gd name="T9" fmla="*/ 1 h 236"/>
                <a:gd name="T10" fmla="*/ 1 w 28"/>
                <a:gd name="T11" fmla="*/ 1 h 236"/>
                <a:gd name="T12" fmla="*/ 1 w 28"/>
                <a:gd name="T13" fmla="*/ 1 h 236"/>
                <a:gd name="T14" fmla="*/ 1 w 28"/>
                <a:gd name="T15" fmla="*/ 1 h 236"/>
                <a:gd name="T16" fmla="*/ 1 w 28"/>
                <a:gd name="T17" fmla="*/ 1 h 236"/>
                <a:gd name="T18" fmla="*/ 1 w 28"/>
                <a:gd name="T19" fmla="*/ 1 h 236"/>
                <a:gd name="T20" fmla="*/ 1 w 28"/>
                <a:gd name="T21" fmla="*/ 1 h 236"/>
                <a:gd name="T22" fmla="*/ 1 w 28"/>
                <a:gd name="T23" fmla="*/ 1 h 236"/>
                <a:gd name="T24" fmla="*/ 1 w 28"/>
                <a:gd name="T25" fmla="*/ 1 h 236"/>
                <a:gd name="T26" fmla="*/ 1 w 28"/>
                <a:gd name="T27" fmla="*/ 1 h 236"/>
                <a:gd name="T28" fmla="*/ 1 w 28"/>
                <a:gd name="T29" fmla="*/ 1 h 236"/>
                <a:gd name="T30" fmla="*/ 1 w 28"/>
                <a:gd name="T31" fmla="*/ 1 h 236"/>
                <a:gd name="T32" fmla="*/ 1 w 28"/>
                <a:gd name="T33" fmla="*/ 1 h 236"/>
                <a:gd name="T34" fmla="*/ 1 w 28"/>
                <a:gd name="T35" fmla="*/ 1 h 236"/>
                <a:gd name="T36" fmla="*/ 1 w 28"/>
                <a:gd name="T37" fmla="*/ 0 h 236"/>
                <a:gd name="T38" fmla="*/ 1 w 28"/>
                <a:gd name="T39" fmla="*/ 1 h 236"/>
                <a:gd name="T40" fmla="*/ 1 w 28"/>
                <a:gd name="T41" fmla="*/ 1 h 236"/>
                <a:gd name="T42" fmla="*/ 0 w 28"/>
                <a:gd name="T43" fmla="*/ 1 h 236"/>
                <a:gd name="T44" fmla="*/ 0 w 28"/>
                <a:gd name="T45" fmla="*/ 1 h 236"/>
                <a:gd name="T46" fmla="*/ 1 w 28"/>
                <a:gd name="T47" fmla="*/ 1 h 236"/>
                <a:gd name="T48" fmla="*/ 1 w 28"/>
                <a:gd name="T49" fmla="*/ 1 h 236"/>
                <a:gd name="T50" fmla="*/ 1 w 28"/>
                <a:gd name="T51" fmla="*/ 1 h 236"/>
                <a:gd name="T52" fmla="*/ 1 w 28"/>
                <a:gd name="T53" fmla="*/ 1 h 236"/>
                <a:gd name="T54" fmla="*/ 1 w 28"/>
                <a:gd name="T55" fmla="*/ 1 h 236"/>
                <a:gd name="T56" fmla="*/ 1 w 28"/>
                <a:gd name="T57" fmla="*/ 1 h 236"/>
                <a:gd name="T58" fmla="*/ 1 w 28"/>
                <a:gd name="T59" fmla="*/ 1 h 236"/>
                <a:gd name="T60" fmla="*/ 1 w 28"/>
                <a:gd name="T61" fmla="*/ 1 h 236"/>
                <a:gd name="T62" fmla="*/ 1 w 28"/>
                <a:gd name="T63" fmla="*/ 1 h 236"/>
                <a:gd name="T64" fmla="*/ 1 w 28"/>
                <a:gd name="T65" fmla="*/ 1 h 236"/>
                <a:gd name="T66" fmla="*/ 1 w 28"/>
                <a:gd name="T67" fmla="*/ 0 h 236"/>
                <a:gd name="T68" fmla="*/ 1 w 28"/>
                <a:gd name="T69" fmla="*/ 0 h 236"/>
                <a:gd name="T70" fmla="*/ 1 w 28"/>
                <a:gd name="T71" fmla="*/ 0 h 2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8"/>
                <a:gd name="T109" fmla="*/ 0 h 236"/>
                <a:gd name="T110" fmla="*/ 28 w 28"/>
                <a:gd name="T111" fmla="*/ 236 h 2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8" h="236">
                  <a:moveTo>
                    <a:pt x="14" y="209"/>
                  </a:moveTo>
                  <a:lnTo>
                    <a:pt x="10" y="209"/>
                  </a:lnTo>
                  <a:lnTo>
                    <a:pt x="9" y="209"/>
                  </a:lnTo>
                  <a:lnTo>
                    <a:pt x="5" y="211"/>
                  </a:lnTo>
                  <a:lnTo>
                    <a:pt x="3" y="213"/>
                  </a:lnTo>
                  <a:lnTo>
                    <a:pt x="2" y="214"/>
                  </a:lnTo>
                  <a:lnTo>
                    <a:pt x="0" y="218"/>
                  </a:lnTo>
                  <a:lnTo>
                    <a:pt x="0" y="219"/>
                  </a:lnTo>
                  <a:lnTo>
                    <a:pt x="0" y="223"/>
                  </a:lnTo>
                  <a:lnTo>
                    <a:pt x="0" y="225"/>
                  </a:lnTo>
                  <a:lnTo>
                    <a:pt x="0" y="228"/>
                  </a:lnTo>
                  <a:lnTo>
                    <a:pt x="2" y="230"/>
                  </a:lnTo>
                  <a:lnTo>
                    <a:pt x="3" y="231"/>
                  </a:lnTo>
                  <a:lnTo>
                    <a:pt x="5" y="233"/>
                  </a:lnTo>
                  <a:lnTo>
                    <a:pt x="9" y="235"/>
                  </a:lnTo>
                  <a:lnTo>
                    <a:pt x="10" y="235"/>
                  </a:lnTo>
                  <a:lnTo>
                    <a:pt x="14" y="236"/>
                  </a:lnTo>
                  <a:lnTo>
                    <a:pt x="16" y="235"/>
                  </a:lnTo>
                  <a:lnTo>
                    <a:pt x="19" y="235"/>
                  </a:lnTo>
                  <a:lnTo>
                    <a:pt x="21" y="233"/>
                  </a:lnTo>
                  <a:lnTo>
                    <a:pt x="23" y="231"/>
                  </a:lnTo>
                  <a:lnTo>
                    <a:pt x="24" y="230"/>
                  </a:lnTo>
                  <a:lnTo>
                    <a:pt x="26" y="228"/>
                  </a:lnTo>
                  <a:lnTo>
                    <a:pt x="26" y="225"/>
                  </a:lnTo>
                  <a:lnTo>
                    <a:pt x="28" y="223"/>
                  </a:lnTo>
                  <a:lnTo>
                    <a:pt x="26" y="219"/>
                  </a:lnTo>
                  <a:lnTo>
                    <a:pt x="26" y="218"/>
                  </a:lnTo>
                  <a:lnTo>
                    <a:pt x="24" y="214"/>
                  </a:lnTo>
                  <a:lnTo>
                    <a:pt x="23" y="213"/>
                  </a:lnTo>
                  <a:lnTo>
                    <a:pt x="21" y="211"/>
                  </a:lnTo>
                  <a:lnTo>
                    <a:pt x="19" y="209"/>
                  </a:lnTo>
                  <a:lnTo>
                    <a:pt x="16" y="209"/>
                  </a:lnTo>
                  <a:lnTo>
                    <a:pt x="14" y="209"/>
                  </a:lnTo>
                  <a:close/>
                  <a:moveTo>
                    <a:pt x="14" y="0"/>
                  </a:moveTo>
                  <a:lnTo>
                    <a:pt x="10" y="0"/>
                  </a:lnTo>
                  <a:lnTo>
                    <a:pt x="9" y="0"/>
                  </a:lnTo>
                  <a:lnTo>
                    <a:pt x="5" y="2"/>
                  </a:lnTo>
                  <a:lnTo>
                    <a:pt x="3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20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9" y="25"/>
                  </a:lnTo>
                  <a:lnTo>
                    <a:pt x="10" y="25"/>
                  </a:lnTo>
                  <a:lnTo>
                    <a:pt x="14" y="25"/>
                  </a:lnTo>
                  <a:lnTo>
                    <a:pt x="16" y="25"/>
                  </a:lnTo>
                  <a:lnTo>
                    <a:pt x="19" y="25"/>
                  </a:lnTo>
                  <a:lnTo>
                    <a:pt x="21" y="24"/>
                  </a:lnTo>
                  <a:lnTo>
                    <a:pt x="23" y="22"/>
                  </a:lnTo>
                  <a:lnTo>
                    <a:pt x="24" y="20"/>
                  </a:lnTo>
                  <a:lnTo>
                    <a:pt x="26" y="17"/>
                  </a:lnTo>
                  <a:lnTo>
                    <a:pt x="26" y="15"/>
                  </a:lnTo>
                  <a:lnTo>
                    <a:pt x="28" y="12"/>
                  </a:lnTo>
                  <a:lnTo>
                    <a:pt x="26" y="10"/>
                  </a:lnTo>
                  <a:lnTo>
                    <a:pt x="26" y="7"/>
                  </a:lnTo>
                  <a:lnTo>
                    <a:pt x="24" y="5"/>
                  </a:lnTo>
                  <a:lnTo>
                    <a:pt x="23" y="4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" name="Freeform 251"/>
            <p:cNvSpPr>
              <a:spLocks/>
            </p:cNvSpPr>
            <p:nvPr/>
          </p:nvSpPr>
          <p:spPr bwMode="auto">
            <a:xfrm>
              <a:off x="4031" y="1134"/>
              <a:ext cx="14" cy="13"/>
            </a:xfrm>
            <a:custGeom>
              <a:avLst/>
              <a:gdLst>
                <a:gd name="T0" fmla="*/ 1 w 28"/>
                <a:gd name="T1" fmla="*/ 0 h 27"/>
                <a:gd name="T2" fmla="*/ 1 w 28"/>
                <a:gd name="T3" fmla="*/ 0 h 27"/>
                <a:gd name="T4" fmla="*/ 1 w 28"/>
                <a:gd name="T5" fmla="*/ 0 h 27"/>
                <a:gd name="T6" fmla="*/ 1 w 28"/>
                <a:gd name="T7" fmla="*/ 0 h 27"/>
                <a:gd name="T8" fmla="*/ 1 w 28"/>
                <a:gd name="T9" fmla="*/ 0 h 27"/>
                <a:gd name="T10" fmla="*/ 1 w 28"/>
                <a:gd name="T11" fmla="*/ 0 h 27"/>
                <a:gd name="T12" fmla="*/ 0 w 28"/>
                <a:gd name="T13" fmla="*/ 0 h 27"/>
                <a:gd name="T14" fmla="*/ 0 w 28"/>
                <a:gd name="T15" fmla="*/ 0 h 27"/>
                <a:gd name="T16" fmla="*/ 0 w 28"/>
                <a:gd name="T17" fmla="*/ 0 h 27"/>
                <a:gd name="T18" fmla="*/ 0 w 28"/>
                <a:gd name="T19" fmla="*/ 0 h 27"/>
                <a:gd name="T20" fmla="*/ 0 w 28"/>
                <a:gd name="T21" fmla="*/ 0 h 27"/>
                <a:gd name="T22" fmla="*/ 1 w 28"/>
                <a:gd name="T23" fmla="*/ 0 h 27"/>
                <a:gd name="T24" fmla="*/ 1 w 28"/>
                <a:gd name="T25" fmla="*/ 0 h 27"/>
                <a:gd name="T26" fmla="*/ 1 w 28"/>
                <a:gd name="T27" fmla="*/ 0 h 27"/>
                <a:gd name="T28" fmla="*/ 1 w 28"/>
                <a:gd name="T29" fmla="*/ 0 h 27"/>
                <a:gd name="T30" fmla="*/ 1 w 28"/>
                <a:gd name="T31" fmla="*/ 0 h 27"/>
                <a:gd name="T32" fmla="*/ 1 w 28"/>
                <a:gd name="T33" fmla="*/ 0 h 27"/>
                <a:gd name="T34" fmla="*/ 1 w 28"/>
                <a:gd name="T35" fmla="*/ 0 h 27"/>
                <a:gd name="T36" fmla="*/ 1 w 28"/>
                <a:gd name="T37" fmla="*/ 0 h 27"/>
                <a:gd name="T38" fmla="*/ 1 w 28"/>
                <a:gd name="T39" fmla="*/ 0 h 27"/>
                <a:gd name="T40" fmla="*/ 1 w 28"/>
                <a:gd name="T41" fmla="*/ 0 h 27"/>
                <a:gd name="T42" fmla="*/ 1 w 28"/>
                <a:gd name="T43" fmla="*/ 0 h 27"/>
                <a:gd name="T44" fmla="*/ 1 w 28"/>
                <a:gd name="T45" fmla="*/ 0 h 27"/>
                <a:gd name="T46" fmla="*/ 1 w 28"/>
                <a:gd name="T47" fmla="*/ 0 h 27"/>
                <a:gd name="T48" fmla="*/ 1 w 28"/>
                <a:gd name="T49" fmla="*/ 0 h 27"/>
                <a:gd name="T50" fmla="*/ 1 w 28"/>
                <a:gd name="T51" fmla="*/ 0 h 27"/>
                <a:gd name="T52" fmla="*/ 1 w 28"/>
                <a:gd name="T53" fmla="*/ 0 h 27"/>
                <a:gd name="T54" fmla="*/ 1 w 28"/>
                <a:gd name="T55" fmla="*/ 0 h 27"/>
                <a:gd name="T56" fmla="*/ 1 w 28"/>
                <a:gd name="T57" fmla="*/ 0 h 27"/>
                <a:gd name="T58" fmla="*/ 1 w 28"/>
                <a:gd name="T59" fmla="*/ 0 h 27"/>
                <a:gd name="T60" fmla="*/ 1 w 28"/>
                <a:gd name="T61" fmla="*/ 0 h 27"/>
                <a:gd name="T62" fmla="*/ 1 w 28"/>
                <a:gd name="T63" fmla="*/ 0 h 27"/>
                <a:gd name="T64" fmla="*/ 1 w 28"/>
                <a:gd name="T65" fmla="*/ 0 h 27"/>
                <a:gd name="T66" fmla="*/ 1 w 28"/>
                <a:gd name="T67" fmla="*/ 0 h 27"/>
                <a:gd name="T68" fmla="*/ 1 w 28"/>
                <a:gd name="T69" fmla="*/ 0 h 2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7"/>
                <a:gd name="T107" fmla="*/ 28 w 28"/>
                <a:gd name="T108" fmla="*/ 27 h 2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7">
                  <a:moveTo>
                    <a:pt x="14" y="0"/>
                  </a:moveTo>
                  <a:lnTo>
                    <a:pt x="10" y="0"/>
                  </a:lnTo>
                  <a:lnTo>
                    <a:pt x="9" y="0"/>
                  </a:lnTo>
                  <a:lnTo>
                    <a:pt x="5" y="2"/>
                  </a:lnTo>
                  <a:lnTo>
                    <a:pt x="3" y="4"/>
                  </a:lnTo>
                  <a:lnTo>
                    <a:pt x="2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2" y="21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9" y="26"/>
                  </a:lnTo>
                  <a:lnTo>
                    <a:pt x="10" y="26"/>
                  </a:lnTo>
                  <a:lnTo>
                    <a:pt x="14" y="27"/>
                  </a:lnTo>
                  <a:lnTo>
                    <a:pt x="16" y="26"/>
                  </a:lnTo>
                  <a:lnTo>
                    <a:pt x="19" y="26"/>
                  </a:lnTo>
                  <a:lnTo>
                    <a:pt x="21" y="24"/>
                  </a:lnTo>
                  <a:lnTo>
                    <a:pt x="23" y="22"/>
                  </a:lnTo>
                  <a:lnTo>
                    <a:pt x="24" y="21"/>
                  </a:lnTo>
                  <a:lnTo>
                    <a:pt x="26" y="19"/>
                  </a:lnTo>
                  <a:lnTo>
                    <a:pt x="26" y="16"/>
                  </a:lnTo>
                  <a:lnTo>
                    <a:pt x="28" y="14"/>
                  </a:lnTo>
                  <a:lnTo>
                    <a:pt x="26" y="10"/>
                  </a:lnTo>
                  <a:lnTo>
                    <a:pt x="26" y="9"/>
                  </a:lnTo>
                  <a:lnTo>
                    <a:pt x="24" y="5"/>
                  </a:lnTo>
                  <a:lnTo>
                    <a:pt x="23" y="4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" name="Freeform 252"/>
            <p:cNvSpPr>
              <a:spLocks/>
            </p:cNvSpPr>
            <p:nvPr/>
          </p:nvSpPr>
          <p:spPr bwMode="auto">
            <a:xfrm>
              <a:off x="4031" y="1029"/>
              <a:ext cx="14" cy="13"/>
            </a:xfrm>
            <a:custGeom>
              <a:avLst/>
              <a:gdLst>
                <a:gd name="T0" fmla="*/ 1 w 28"/>
                <a:gd name="T1" fmla="*/ 0 h 25"/>
                <a:gd name="T2" fmla="*/ 1 w 28"/>
                <a:gd name="T3" fmla="*/ 0 h 25"/>
                <a:gd name="T4" fmla="*/ 1 w 28"/>
                <a:gd name="T5" fmla="*/ 0 h 25"/>
                <a:gd name="T6" fmla="*/ 1 w 28"/>
                <a:gd name="T7" fmla="*/ 1 h 25"/>
                <a:gd name="T8" fmla="*/ 1 w 28"/>
                <a:gd name="T9" fmla="*/ 1 h 25"/>
                <a:gd name="T10" fmla="*/ 1 w 28"/>
                <a:gd name="T11" fmla="*/ 1 h 25"/>
                <a:gd name="T12" fmla="*/ 0 w 28"/>
                <a:gd name="T13" fmla="*/ 1 h 25"/>
                <a:gd name="T14" fmla="*/ 0 w 28"/>
                <a:gd name="T15" fmla="*/ 1 h 25"/>
                <a:gd name="T16" fmla="*/ 0 w 28"/>
                <a:gd name="T17" fmla="*/ 1 h 25"/>
                <a:gd name="T18" fmla="*/ 0 w 28"/>
                <a:gd name="T19" fmla="*/ 1 h 25"/>
                <a:gd name="T20" fmla="*/ 0 w 28"/>
                <a:gd name="T21" fmla="*/ 1 h 25"/>
                <a:gd name="T22" fmla="*/ 1 w 28"/>
                <a:gd name="T23" fmla="*/ 1 h 25"/>
                <a:gd name="T24" fmla="*/ 1 w 28"/>
                <a:gd name="T25" fmla="*/ 1 h 25"/>
                <a:gd name="T26" fmla="*/ 1 w 28"/>
                <a:gd name="T27" fmla="*/ 1 h 25"/>
                <a:gd name="T28" fmla="*/ 1 w 28"/>
                <a:gd name="T29" fmla="*/ 1 h 25"/>
                <a:gd name="T30" fmla="*/ 1 w 28"/>
                <a:gd name="T31" fmla="*/ 1 h 25"/>
                <a:gd name="T32" fmla="*/ 1 w 28"/>
                <a:gd name="T33" fmla="*/ 1 h 25"/>
                <a:gd name="T34" fmla="*/ 1 w 28"/>
                <a:gd name="T35" fmla="*/ 1 h 25"/>
                <a:gd name="T36" fmla="*/ 1 w 28"/>
                <a:gd name="T37" fmla="*/ 1 h 25"/>
                <a:gd name="T38" fmla="*/ 1 w 28"/>
                <a:gd name="T39" fmla="*/ 1 h 25"/>
                <a:gd name="T40" fmla="*/ 1 w 28"/>
                <a:gd name="T41" fmla="*/ 1 h 25"/>
                <a:gd name="T42" fmla="*/ 1 w 28"/>
                <a:gd name="T43" fmla="*/ 1 h 25"/>
                <a:gd name="T44" fmla="*/ 1 w 28"/>
                <a:gd name="T45" fmla="*/ 1 h 25"/>
                <a:gd name="T46" fmla="*/ 1 w 28"/>
                <a:gd name="T47" fmla="*/ 1 h 25"/>
                <a:gd name="T48" fmla="*/ 1 w 28"/>
                <a:gd name="T49" fmla="*/ 1 h 25"/>
                <a:gd name="T50" fmla="*/ 1 w 28"/>
                <a:gd name="T51" fmla="*/ 1 h 25"/>
                <a:gd name="T52" fmla="*/ 1 w 28"/>
                <a:gd name="T53" fmla="*/ 1 h 25"/>
                <a:gd name="T54" fmla="*/ 1 w 28"/>
                <a:gd name="T55" fmla="*/ 1 h 25"/>
                <a:gd name="T56" fmla="*/ 1 w 28"/>
                <a:gd name="T57" fmla="*/ 1 h 25"/>
                <a:gd name="T58" fmla="*/ 1 w 28"/>
                <a:gd name="T59" fmla="*/ 1 h 25"/>
                <a:gd name="T60" fmla="*/ 1 w 28"/>
                <a:gd name="T61" fmla="*/ 1 h 25"/>
                <a:gd name="T62" fmla="*/ 1 w 28"/>
                <a:gd name="T63" fmla="*/ 0 h 25"/>
                <a:gd name="T64" fmla="*/ 1 w 28"/>
                <a:gd name="T65" fmla="*/ 0 h 25"/>
                <a:gd name="T66" fmla="*/ 1 w 28"/>
                <a:gd name="T67" fmla="*/ 0 h 25"/>
                <a:gd name="T68" fmla="*/ 1 w 28"/>
                <a:gd name="T69" fmla="*/ 0 h 2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5"/>
                <a:gd name="T107" fmla="*/ 28 w 28"/>
                <a:gd name="T108" fmla="*/ 25 h 25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5">
                  <a:moveTo>
                    <a:pt x="14" y="0"/>
                  </a:moveTo>
                  <a:lnTo>
                    <a:pt x="10" y="0"/>
                  </a:lnTo>
                  <a:lnTo>
                    <a:pt x="9" y="0"/>
                  </a:lnTo>
                  <a:lnTo>
                    <a:pt x="5" y="2"/>
                  </a:lnTo>
                  <a:lnTo>
                    <a:pt x="3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20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9" y="25"/>
                  </a:lnTo>
                  <a:lnTo>
                    <a:pt x="10" y="25"/>
                  </a:lnTo>
                  <a:lnTo>
                    <a:pt x="14" y="25"/>
                  </a:lnTo>
                  <a:lnTo>
                    <a:pt x="16" y="25"/>
                  </a:lnTo>
                  <a:lnTo>
                    <a:pt x="19" y="25"/>
                  </a:lnTo>
                  <a:lnTo>
                    <a:pt x="21" y="24"/>
                  </a:lnTo>
                  <a:lnTo>
                    <a:pt x="23" y="22"/>
                  </a:lnTo>
                  <a:lnTo>
                    <a:pt x="24" y="20"/>
                  </a:lnTo>
                  <a:lnTo>
                    <a:pt x="26" y="17"/>
                  </a:lnTo>
                  <a:lnTo>
                    <a:pt x="26" y="15"/>
                  </a:lnTo>
                  <a:lnTo>
                    <a:pt x="28" y="12"/>
                  </a:lnTo>
                  <a:lnTo>
                    <a:pt x="26" y="10"/>
                  </a:lnTo>
                  <a:lnTo>
                    <a:pt x="26" y="7"/>
                  </a:lnTo>
                  <a:lnTo>
                    <a:pt x="24" y="5"/>
                  </a:lnTo>
                  <a:lnTo>
                    <a:pt x="23" y="4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" name="Line 253"/>
            <p:cNvSpPr>
              <a:spLocks noChangeShapeType="1"/>
            </p:cNvSpPr>
            <p:nvPr/>
          </p:nvSpPr>
          <p:spPr bwMode="auto">
            <a:xfrm>
              <a:off x="4041" y="1042"/>
              <a:ext cx="31" cy="8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" name="Freeform 254"/>
            <p:cNvSpPr>
              <a:spLocks/>
            </p:cNvSpPr>
            <p:nvPr/>
          </p:nvSpPr>
          <p:spPr bwMode="auto">
            <a:xfrm>
              <a:off x="5257" y="1085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0"/>
                  </a:lnTo>
                  <a:lnTo>
                    <a:pt x="2" y="15"/>
                  </a:lnTo>
                  <a:lnTo>
                    <a:pt x="5" y="12"/>
                  </a:lnTo>
                  <a:lnTo>
                    <a:pt x="7" y="7"/>
                  </a:lnTo>
                  <a:lnTo>
                    <a:pt x="12" y="4"/>
                  </a:lnTo>
                  <a:lnTo>
                    <a:pt x="17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38" y="2"/>
                  </a:lnTo>
                  <a:lnTo>
                    <a:pt x="44" y="4"/>
                  </a:lnTo>
                  <a:lnTo>
                    <a:pt x="47" y="7"/>
                  </a:lnTo>
                  <a:lnTo>
                    <a:pt x="51" y="12"/>
                  </a:lnTo>
                  <a:lnTo>
                    <a:pt x="54" y="15"/>
                  </a:lnTo>
                  <a:lnTo>
                    <a:pt x="54" y="20"/>
                  </a:lnTo>
                  <a:lnTo>
                    <a:pt x="56" y="27"/>
                  </a:lnTo>
                  <a:lnTo>
                    <a:pt x="54" y="32"/>
                  </a:lnTo>
                  <a:lnTo>
                    <a:pt x="54" y="37"/>
                  </a:lnTo>
                  <a:lnTo>
                    <a:pt x="51" y="42"/>
                  </a:lnTo>
                  <a:lnTo>
                    <a:pt x="47" y="46"/>
                  </a:lnTo>
                  <a:lnTo>
                    <a:pt x="44" y="49"/>
                  </a:lnTo>
                  <a:lnTo>
                    <a:pt x="38" y="51"/>
                  </a:lnTo>
                  <a:lnTo>
                    <a:pt x="33" y="52"/>
                  </a:lnTo>
                  <a:lnTo>
                    <a:pt x="28" y="54"/>
                  </a:lnTo>
                  <a:lnTo>
                    <a:pt x="23" y="52"/>
                  </a:lnTo>
                  <a:lnTo>
                    <a:pt x="17" y="51"/>
                  </a:lnTo>
                  <a:lnTo>
                    <a:pt x="12" y="49"/>
                  </a:lnTo>
                  <a:lnTo>
                    <a:pt x="7" y="46"/>
                  </a:lnTo>
                  <a:lnTo>
                    <a:pt x="5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" name="Line 255"/>
            <p:cNvSpPr>
              <a:spLocks noChangeShapeType="1"/>
            </p:cNvSpPr>
            <p:nvPr/>
          </p:nvSpPr>
          <p:spPr bwMode="auto">
            <a:xfrm flipH="1" flipV="1">
              <a:off x="4431" y="1099"/>
              <a:ext cx="1" cy="8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" name="Freeform 256"/>
            <p:cNvSpPr>
              <a:spLocks/>
            </p:cNvSpPr>
            <p:nvPr/>
          </p:nvSpPr>
          <p:spPr bwMode="auto">
            <a:xfrm>
              <a:off x="5167" y="1097"/>
              <a:ext cx="280" cy="99"/>
            </a:xfrm>
            <a:custGeom>
              <a:avLst/>
              <a:gdLst>
                <a:gd name="T0" fmla="*/ 2 w 561"/>
                <a:gd name="T1" fmla="*/ 1 h 197"/>
                <a:gd name="T2" fmla="*/ 2 w 561"/>
                <a:gd name="T3" fmla="*/ 1 h 197"/>
                <a:gd name="T4" fmla="*/ 0 w 561"/>
                <a:gd name="T5" fmla="*/ 0 h 197"/>
                <a:gd name="T6" fmla="*/ 0 60000 65536"/>
                <a:gd name="T7" fmla="*/ 0 60000 65536"/>
                <a:gd name="T8" fmla="*/ 0 60000 65536"/>
                <a:gd name="T9" fmla="*/ 0 w 561"/>
                <a:gd name="T10" fmla="*/ 0 h 197"/>
                <a:gd name="T11" fmla="*/ 561 w 561"/>
                <a:gd name="T12" fmla="*/ 197 h 1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1" h="197">
                  <a:moveTo>
                    <a:pt x="561" y="197"/>
                  </a:moveTo>
                  <a:lnTo>
                    <a:pt x="561" y="3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" name="Line 257"/>
            <p:cNvSpPr>
              <a:spLocks noChangeShapeType="1"/>
            </p:cNvSpPr>
            <p:nvPr/>
          </p:nvSpPr>
          <p:spPr bwMode="auto">
            <a:xfrm flipH="1" flipV="1">
              <a:off x="5270" y="1098"/>
              <a:ext cx="1" cy="2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" name="Freeform 258"/>
            <p:cNvSpPr>
              <a:spLocks/>
            </p:cNvSpPr>
            <p:nvPr/>
          </p:nvSpPr>
          <p:spPr bwMode="auto">
            <a:xfrm>
              <a:off x="4948" y="1067"/>
              <a:ext cx="219" cy="32"/>
            </a:xfrm>
            <a:custGeom>
              <a:avLst/>
              <a:gdLst>
                <a:gd name="T0" fmla="*/ 0 w 439"/>
                <a:gd name="T1" fmla="*/ 1 h 63"/>
                <a:gd name="T2" fmla="*/ 0 w 439"/>
                <a:gd name="T3" fmla="*/ 1 h 63"/>
                <a:gd name="T4" fmla="*/ 0 w 439"/>
                <a:gd name="T5" fmla="*/ 1 h 63"/>
                <a:gd name="T6" fmla="*/ 0 w 439"/>
                <a:gd name="T7" fmla="*/ 1 h 63"/>
                <a:gd name="T8" fmla="*/ 0 w 439"/>
                <a:gd name="T9" fmla="*/ 1 h 63"/>
                <a:gd name="T10" fmla="*/ 0 w 439"/>
                <a:gd name="T11" fmla="*/ 1 h 63"/>
                <a:gd name="T12" fmla="*/ 0 w 439"/>
                <a:gd name="T13" fmla="*/ 1 h 63"/>
                <a:gd name="T14" fmla="*/ 0 w 439"/>
                <a:gd name="T15" fmla="*/ 0 h 63"/>
                <a:gd name="T16" fmla="*/ 0 w 439"/>
                <a:gd name="T17" fmla="*/ 0 h 63"/>
                <a:gd name="T18" fmla="*/ 0 w 439"/>
                <a:gd name="T19" fmla="*/ 1 h 63"/>
                <a:gd name="T20" fmla="*/ 0 w 439"/>
                <a:gd name="T21" fmla="*/ 1 h 63"/>
                <a:gd name="T22" fmla="*/ 0 w 439"/>
                <a:gd name="T23" fmla="*/ 1 h 63"/>
                <a:gd name="T24" fmla="*/ 0 w 439"/>
                <a:gd name="T25" fmla="*/ 1 h 63"/>
                <a:gd name="T26" fmla="*/ 0 w 439"/>
                <a:gd name="T27" fmla="*/ 1 h 63"/>
                <a:gd name="T28" fmla="*/ 0 w 439"/>
                <a:gd name="T29" fmla="*/ 1 h 63"/>
                <a:gd name="T30" fmla="*/ 0 w 439"/>
                <a:gd name="T31" fmla="*/ 1 h 63"/>
                <a:gd name="T32" fmla="*/ 0 w 439"/>
                <a:gd name="T33" fmla="*/ 1 h 63"/>
                <a:gd name="T34" fmla="*/ 0 w 439"/>
                <a:gd name="T35" fmla="*/ 1 h 63"/>
                <a:gd name="T36" fmla="*/ 0 w 439"/>
                <a:gd name="T37" fmla="*/ 1 h 63"/>
                <a:gd name="T38" fmla="*/ 0 w 439"/>
                <a:gd name="T39" fmla="*/ 1 h 63"/>
                <a:gd name="T40" fmla="*/ 0 w 439"/>
                <a:gd name="T41" fmla="*/ 1 h 63"/>
                <a:gd name="T42" fmla="*/ 0 w 439"/>
                <a:gd name="T43" fmla="*/ 1 h 63"/>
                <a:gd name="T44" fmla="*/ 0 w 439"/>
                <a:gd name="T45" fmla="*/ 0 h 63"/>
                <a:gd name="T46" fmla="*/ 0 w 439"/>
                <a:gd name="T47" fmla="*/ 0 h 63"/>
                <a:gd name="T48" fmla="*/ 0 w 439"/>
                <a:gd name="T49" fmla="*/ 1 h 63"/>
                <a:gd name="T50" fmla="*/ 0 w 439"/>
                <a:gd name="T51" fmla="*/ 1 h 63"/>
                <a:gd name="T52" fmla="*/ 0 w 439"/>
                <a:gd name="T53" fmla="*/ 1 h 63"/>
                <a:gd name="T54" fmla="*/ 0 w 439"/>
                <a:gd name="T55" fmla="*/ 1 h 63"/>
                <a:gd name="T56" fmla="*/ 0 w 439"/>
                <a:gd name="T57" fmla="*/ 1 h 63"/>
                <a:gd name="T58" fmla="*/ 0 w 439"/>
                <a:gd name="T59" fmla="*/ 1 h 63"/>
                <a:gd name="T60" fmla="*/ 0 w 439"/>
                <a:gd name="T61" fmla="*/ 1 h 63"/>
                <a:gd name="T62" fmla="*/ 0 w 439"/>
                <a:gd name="T63" fmla="*/ 1 h 63"/>
                <a:gd name="T64" fmla="*/ 0 w 439"/>
                <a:gd name="T65" fmla="*/ 1 h 63"/>
                <a:gd name="T66" fmla="*/ 0 w 439"/>
                <a:gd name="T67" fmla="*/ 1 h 63"/>
                <a:gd name="T68" fmla="*/ 0 w 439"/>
                <a:gd name="T69" fmla="*/ 1 h 63"/>
                <a:gd name="T70" fmla="*/ 0 w 439"/>
                <a:gd name="T71" fmla="*/ 1 h 63"/>
                <a:gd name="T72" fmla="*/ 0 w 439"/>
                <a:gd name="T73" fmla="*/ 1 h 63"/>
                <a:gd name="T74" fmla="*/ 1 w 439"/>
                <a:gd name="T75" fmla="*/ 1 h 63"/>
                <a:gd name="T76" fmla="*/ 1 w 439"/>
                <a:gd name="T77" fmla="*/ 0 h 63"/>
                <a:gd name="T78" fmla="*/ 1 w 439"/>
                <a:gd name="T79" fmla="*/ 0 h 63"/>
                <a:gd name="T80" fmla="*/ 1 w 439"/>
                <a:gd name="T81" fmla="*/ 1 h 63"/>
                <a:gd name="T82" fmla="*/ 1 w 439"/>
                <a:gd name="T83" fmla="*/ 1 h 63"/>
                <a:gd name="T84" fmla="*/ 1 w 439"/>
                <a:gd name="T85" fmla="*/ 1 h 63"/>
                <a:gd name="T86" fmla="*/ 1 w 439"/>
                <a:gd name="T87" fmla="*/ 1 h 63"/>
                <a:gd name="T88" fmla="*/ 1 w 439"/>
                <a:gd name="T89" fmla="*/ 1 h 63"/>
                <a:gd name="T90" fmla="*/ 1 w 439"/>
                <a:gd name="T91" fmla="*/ 1 h 63"/>
                <a:gd name="T92" fmla="*/ 1 w 439"/>
                <a:gd name="T93" fmla="*/ 1 h 63"/>
                <a:gd name="T94" fmla="*/ 1 w 439"/>
                <a:gd name="T95" fmla="*/ 1 h 63"/>
                <a:gd name="T96" fmla="*/ 1 w 439"/>
                <a:gd name="T97" fmla="*/ 1 h 63"/>
                <a:gd name="T98" fmla="*/ 1 w 439"/>
                <a:gd name="T99" fmla="*/ 1 h 63"/>
                <a:gd name="T100" fmla="*/ 1 w 439"/>
                <a:gd name="T101" fmla="*/ 1 h 63"/>
                <a:gd name="T102" fmla="*/ 1 w 439"/>
                <a:gd name="T103" fmla="*/ 1 h 63"/>
                <a:gd name="T104" fmla="*/ 1 w 439"/>
                <a:gd name="T105" fmla="*/ 1 h 63"/>
                <a:gd name="T106" fmla="*/ 1 w 439"/>
                <a:gd name="T107" fmla="*/ 0 h 63"/>
                <a:gd name="T108" fmla="*/ 1 w 439"/>
                <a:gd name="T109" fmla="*/ 0 h 63"/>
                <a:gd name="T110" fmla="*/ 1 w 439"/>
                <a:gd name="T111" fmla="*/ 1 h 63"/>
                <a:gd name="T112" fmla="*/ 1 w 439"/>
                <a:gd name="T113" fmla="*/ 1 h 63"/>
                <a:gd name="T114" fmla="*/ 1 w 439"/>
                <a:gd name="T115" fmla="*/ 1 h 63"/>
                <a:gd name="T116" fmla="*/ 1 w 439"/>
                <a:gd name="T117" fmla="*/ 1 h 63"/>
                <a:gd name="T118" fmla="*/ 1 w 439"/>
                <a:gd name="T119" fmla="*/ 1 h 63"/>
                <a:gd name="T120" fmla="*/ 1 w 439"/>
                <a:gd name="T121" fmla="*/ 1 h 63"/>
                <a:gd name="T122" fmla="*/ 1 w 439"/>
                <a:gd name="T123" fmla="*/ 1 h 63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439"/>
                <a:gd name="T187" fmla="*/ 0 h 63"/>
                <a:gd name="T188" fmla="*/ 439 w 439"/>
                <a:gd name="T189" fmla="*/ 63 h 63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439" h="63">
                  <a:moveTo>
                    <a:pt x="0" y="63"/>
                  </a:moveTo>
                  <a:lnTo>
                    <a:pt x="0" y="56"/>
                  </a:lnTo>
                  <a:lnTo>
                    <a:pt x="0" y="50"/>
                  </a:lnTo>
                  <a:lnTo>
                    <a:pt x="2" y="45"/>
                  </a:lnTo>
                  <a:lnTo>
                    <a:pt x="4" y="38"/>
                  </a:lnTo>
                  <a:lnTo>
                    <a:pt x="5" y="33"/>
                  </a:lnTo>
                  <a:lnTo>
                    <a:pt x="9" y="28"/>
                  </a:lnTo>
                  <a:lnTo>
                    <a:pt x="14" y="20"/>
                  </a:lnTo>
                  <a:lnTo>
                    <a:pt x="18" y="15"/>
                  </a:lnTo>
                  <a:lnTo>
                    <a:pt x="23" y="11"/>
                  </a:lnTo>
                  <a:lnTo>
                    <a:pt x="26" y="8"/>
                  </a:lnTo>
                  <a:lnTo>
                    <a:pt x="32" y="5"/>
                  </a:lnTo>
                  <a:lnTo>
                    <a:pt x="37" y="3"/>
                  </a:lnTo>
                  <a:lnTo>
                    <a:pt x="42" y="1"/>
                  </a:lnTo>
                  <a:lnTo>
                    <a:pt x="47" y="0"/>
                  </a:lnTo>
                  <a:lnTo>
                    <a:pt x="53" y="0"/>
                  </a:lnTo>
                  <a:lnTo>
                    <a:pt x="58" y="0"/>
                  </a:lnTo>
                  <a:lnTo>
                    <a:pt x="63" y="0"/>
                  </a:lnTo>
                  <a:lnTo>
                    <a:pt x="68" y="1"/>
                  </a:lnTo>
                  <a:lnTo>
                    <a:pt x="74" y="3"/>
                  </a:lnTo>
                  <a:lnTo>
                    <a:pt x="79" y="6"/>
                  </a:lnTo>
                  <a:lnTo>
                    <a:pt x="84" y="8"/>
                  </a:lnTo>
                  <a:lnTo>
                    <a:pt x="88" y="11"/>
                  </a:lnTo>
                  <a:lnTo>
                    <a:pt x="93" y="16"/>
                  </a:lnTo>
                  <a:lnTo>
                    <a:pt x="100" y="25"/>
                  </a:lnTo>
                  <a:lnTo>
                    <a:pt x="102" y="30"/>
                  </a:lnTo>
                  <a:lnTo>
                    <a:pt x="105" y="35"/>
                  </a:lnTo>
                  <a:lnTo>
                    <a:pt x="107" y="40"/>
                  </a:lnTo>
                  <a:lnTo>
                    <a:pt x="109" y="46"/>
                  </a:lnTo>
                  <a:lnTo>
                    <a:pt x="109" y="51"/>
                  </a:lnTo>
                  <a:lnTo>
                    <a:pt x="110" y="58"/>
                  </a:lnTo>
                  <a:lnTo>
                    <a:pt x="110" y="63"/>
                  </a:lnTo>
                  <a:lnTo>
                    <a:pt x="110" y="56"/>
                  </a:lnTo>
                  <a:lnTo>
                    <a:pt x="110" y="50"/>
                  </a:lnTo>
                  <a:lnTo>
                    <a:pt x="112" y="45"/>
                  </a:lnTo>
                  <a:lnTo>
                    <a:pt x="114" y="38"/>
                  </a:lnTo>
                  <a:lnTo>
                    <a:pt x="116" y="33"/>
                  </a:lnTo>
                  <a:lnTo>
                    <a:pt x="117" y="28"/>
                  </a:lnTo>
                  <a:lnTo>
                    <a:pt x="124" y="20"/>
                  </a:lnTo>
                  <a:lnTo>
                    <a:pt x="128" y="15"/>
                  </a:lnTo>
                  <a:lnTo>
                    <a:pt x="131" y="11"/>
                  </a:lnTo>
                  <a:lnTo>
                    <a:pt x="137" y="8"/>
                  </a:lnTo>
                  <a:lnTo>
                    <a:pt x="142" y="5"/>
                  </a:lnTo>
                  <a:lnTo>
                    <a:pt x="145" y="3"/>
                  </a:lnTo>
                  <a:lnTo>
                    <a:pt x="151" y="1"/>
                  </a:lnTo>
                  <a:lnTo>
                    <a:pt x="156" y="0"/>
                  </a:lnTo>
                  <a:lnTo>
                    <a:pt x="163" y="0"/>
                  </a:lnTo>
                  <a:lnTo>
                    <a:pt x="168" y="0"/>
                  </a:lnTo>
                  <a:lnTo>
                    <a:pt x="173" y="0"/>
                  </a:lnTo>
                  <a:lnTo>
                    <a:pt x="179" y="1"/>
                  </a:lnTo>
                  <a:lnTo>
                    <a:pt x="184" y="3"/>
                  </a:lnTo>
                  <a:lnTo>
                    <a:pt x="189" y="6"/>
                  </a:lnTo>
                  <a:lnTo>
                    <a:pt x="192" y="8"/>
                  </a:lnTo>
                  <a:lnTo>
                    <a:pt x="198" y="11"/>
                  </a:lnTo>
                  <a:lnTo>
                    <a:pt x="201" y="16"/>
                  </a:lnTo>
                  <a:lnTo>
                    <a:pt x="208" y="25"/>
                  </a:lnTo>
                  <a:lnTo>
                    <a:pt x="212" y="30"/>
                  </a:lnTo>
                  <a:lnTo>
                    <a:pt x="213" y="35"/>
                  </a:lnTo>
                  <a:lnTo>
                    <a:pt x="217" y="40"/>
                  </a:lnTo>
                  <a:lnTo>
                    <a:pt x="217" y="46"/>
                  </a:lnTo>
                  <a:lnTo>
                    <a:pt x="219" y="51"/>
                  </a:lnTo>
                  <a:lnTo>
                    <a:pt x="219" y="58"/>
                  </a:lnTo>
                  <a:lnTo>
                    <a:pt x="219" y="63"/>
                  </a:lnTo>
                  <a:lnTo>
                    <a:pt x="219" y="56"/>
                  </a:lnTo>
                  <a:lnTo>
                    <a:pt x="220" y="50"/>
                  </a:lnTo>
                  <a:lnTo>
                    <a:pt x="220" y="45"/>
                  </a:lnTo>
                  <a:lnTo>
                    <a:pt x="222" y="38"/>
                  </a:lnTo>
                  <a:lnTo>
                    <a:pt x="226" y="33"/>
                  </a:lnTo>
                  <a:lnTo>
                    <a:pt x="227" y="28"/>
                  </a:lnTo>
                  <a:lnTo>
                    <a:pt x="234" y="20"/>
                  </a:lnTo>
                  <a:lnTo>
                    <a:pt x="238" y="15"/>
                  </a:lnTo>
                  <a:lnTo>
                    <a:pt x="241" y="11"/>
                  </a:lnTo>
                  <a:lnTo>
                    <a:pt x="247" y="8"/>
                  </a:lnTo>
                  <a:lnTo>
                    <a:pt x="250" y="5"/>
                  </a:lnTo>
                  <a:lnTo>
                    <a:pt x="255" y="3"/>
                  </a:lnTo>
                  <a:lnTo>
                    <a:pt x="261" y="1"/>
                  </a:lnTo>
                  <a:lnTo>
                    <a:pt x="266" y="0"/>
                  </a:lnTo>
                  <a:lnTo>
                    <a:pt x="271" y="0"/>
                  </a:lnTo>
                  <a:lnTo>
                    <a:pt x="278" y="0"/>
                  </a:lnTo>
                  <a:lnTo>
                    <a:pt x="283" y="0"/>
                  </a:lnTo>
                  <a:lnTo>
                    <a:pt x="289" y="1"/>
                  </a:lnTo>
                  <a:lnTo>
                    <a:pt x="294" y="3"/>
                  </a:lnTo>
                  <a:lnTo>
                    <a:pt x="299" y="6"/>
                  </a:lnTo>
                  <a:lnTo>
                    <a:pt x="303" y="8"/>
                  </a:lnTo>
                  <a:lnTo>
                    <a:pt x="308" y="11"/>
                  </a:lnTo>
                  <a:lnTo>
                    <a:pt x="311" y="16"/>
                  </a:lnTo>
                  <a:lnTo>
                    <a:pt x="318" y="25"/>
                  </a:lnTo>
                  <a:lnTo>
                    <a:pt x="322" y="30"/>
                  </a:lnTo>
                  <a:lnTo>
                    <a:pt x="324" y="35"/>
                  </a:lnTo>
                  <a:lnTo>
                    <a:pt x="325" y="40"/>
                  </a:lnTo>
                  <a:lnTo>
                    <a:pt x="327" y="46"/>
                  </a:lnTo>
                  <a:lnTo>
                    <a:pt x="329" y="51"/>
                  </a:lnTo>
                  <a:lnTo>
                    <a:pt x="329" y="58"/>
                  </a:lnTo>
                  <a:lnTo>
                    <a:pt x="329" y="63"/>
                  </a:lnTo>
                  <a:lnTo>
                    <a:pt x="329" y="56"/>
                  </a:lnTo>
                  <a:lnTo>
                    <a:pt x="329" y="50"/>
                  </a:lnTo>
                  <a:lnTo>
                    <a:pt x="331" y="45"/>
                  </a:lnTo>
                  <a:lnTo>
                    <a:pt x="332" y="38"/>
                  </a:lnTo>
                  <a:lnTo>
                    <a:pt x="334" y="33"/>
                  </a:lnTo>
                  <a:lnTo>
                    <a:pt x="338" y="28"/>
                  </a:lnTo>
                  <a:lnTo>
                    <a:pt x="343" y="20"/>
                  </a:lnTo>
                  <a:lnTo>
                    <a:pt x="346" y="15"/>
                  </a:lnTo>
                  <a:lnTo>
                    <a:pt x="352" y="11"/>
                  </a:lnTo>
                  <a:lnTo>
                    <a:pt x="355" y="8"/>
                  </a:lnTo>
                  <a:lnTo>
                    <a:pt x="360" y="5"/>
                  </a:lnTo>
                  <a:lnTo>
                    <a:pt x="366" y="3"/>
                  </a:lnTo>
                  <a:lnTo>
                    <a:pt x="371" y="1"/>
                  </a:lnTo>
                  <a:lnTo>
                    <a:pt x="376" y="0"/>
                  </a:lnTo>
                  <a:lnTo>
                    <a:pt x="381" y="0"/>
                  </a:lnTo>
                  <a:lnTo>
                    <a:pt x="386" y="0"/>
                  </a:lnTo>
                  <a:lnTo>
                    <a:pt x="392" y="0"/>
                  </a:lnTo>
                  <a:lnTo>
                    <a:pt x="397" y="1"/>
                  </a:lnTo>
                  <a:lnTo>
                    <a:pt x="402" y="3"/>
                  </a:lnTo>
                  <a:lnTo>
                    <a:pt x="407" y="6"/>
                  </a:lnTo>
                  <a:lnTo>
                    <a:pt x="413" y="8"/>
                  </a:lnTo>
                  <a:lnTo>
                    <a:pt x="416" y="11"/>
                  </a:lnTo>
                  <a:lnTo>
                    <a:pt x="421" y="16"/>
                  </a:lnTo>
                  <a:lnTo>
                    <a:pt x="428" y="25"/>
                  </a:lnTo>
                  <a:lnTo>
                    <a:pt x="430" y="30"/>
                  </a:lnTo>
                  <a:lnTo>
                    <a:pt x="434" y="35"/>
                  </a:lnTo>
                  <a:lnTo>
                    <a:pt x="435" y="40"/>
                  </a:lnTo>
                  <a:lnTo>
                    <a:pt x="437" y="46"/>
                  </a:lnTo>
                  <a:lnTo>
                    <a:pt x="437" y="51"/>
                  </a:lnTo>
                  <a:lnTo>
                    <a:pt x="439" y="58"/>
                  </a:lnTo>
                  <a:lnTo>
                    <a:pt x="439" y="6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" name="Rectangle 259"/>
            <p:cNvSpPr>
              <a:spLocks noChangeArrowheads="1"/>
            </p:cNvSpPr>
            <p:nvPr/>
          </p:nvSpPr>
          <p:spPr bwMode="auto">
            <a:xfrm>
              <a:off x="4632" y="993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316" name="Rectangle 260"/>
            <p:cNvSpPr>
              <a:spLocks noChangeArrowheads="1"/>
            </p:cNvSpPr>
            <p:nvPr/>
          </p:nvSpPr>
          <p:spPr bwMode="auto">
            <a:xfrm>
              <a:off x="4575" y="956"/>
              <a:ext cx="6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317" name="Rectangle 261"/>
            <p:cNvSpPr>
              <a:spLocks noChangeArrowheads="1"/>
            </p:cNvSpPr>
            <p:nvPr/>
          </p:nvSpPr>
          <p:spPr bwMode="auto">
            <a:xfrm>
              <a:off x="4633" y="1578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318" name="Rectangle 262"/>
            <p:cNvSpPr>
              <a:spLocks noChangeArrowheads="1"/>
            </p:cNvSpPr>
            <p:nvPr/>
          </p:nvSpPr>
          <p:spPr bwMode="auto">
            <a:xfrm>
              <a:off x="4576" y="1538"/>
              <a:ext cx="6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319" name="Rectangle 263"/>
            <p:cNvSpPr>
              <a:spLocks noChangeArrowheads="1"/>
            </p:cNvSpPr>
            <p:nvPr/>
          </p:nvSpPr>
          <p:spPr bwMode="auto">
            <a:xfrm>
              <a:off x="4300" y="1235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320" name="Rectangle 264"/>
            <p:cNvSpPr>
              <a:spLocks noChangeArrowheads="1"/>
            </p:cNvSpPr>
            <p:nvPr/>
          </p:nvSpPr>
          <p:spPr bwMode="auto">
            <a:xfrm>
              <a:off x="4250" y="1197"/>
              <a:ext cx="59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321" name="Rectangle 265"/>
            <p:cNvSpPr>
              <a:spLocks noChangeArrowheads="1"/>
            </p:cNvSpPr>
            <p:nvPr/>
          </p:nvSpPr>
          <p:spPr bwMode="auto">
            <a:xfrm>
              <a:off x="4510" y="1277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322" name="Rectangle 266"/>
            <p:cNvSpPr>
              <a:spLocks noChangeArrowheads="1"/>
            </p:cNvSpPr>
            <p:nvPr/>
          </p:nvSpPr>
          <p:spPr bwMode="auto">
            <a:xfrm>
              <a:off x="4453" y="1236"/>
              <a:ext cx="59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323" name="Freeform 267"/>
            <p:cNvSpPr>
              <a:spLocks noEditPoints="1"/>
            </p:cNvSpPr>
            <p:nvPr/>
          </p:nvSpPr>
          <p:spPr bwMode="auto">
            <a:xfrm>
              <a:off x="4033" y="1658"/>
              <a:ext cx="14" cy="118"/>
            </a:xfrm>
            <a:custGeom>
              <a:avLst/>
              <a:gdLst>
                <a:gd name="T0" fmla="*/ 1 w 28"/>
                <a:gd name="T1" fmla="*/ 1 h 235"/>
                <a:gd name="T2" fmla="*/ 1 w 28"/>
                <a:gd name="T3" fmla="*/ 1 h 235"/>
                <a:gd name="T4" fmla="*/ 1 w 28"/>
                <a:gd name="T5" fmla="*/ 1 h 235"/>
                <a:gd name="T6" fmla="*/ 0 w 28"/>
                <a:gd name="T7" fmla="*/ 1 h 235"/>
                <a:gd name="T8" fmla="*/ 0 w 28"/>
                <a:gd name="T9" fmla="*/ 1 h 235"/>
                <a:gd name="T10" fmla="*/ 1 w 28"/>
                <a:gd name="T11" fmla="*/ 1 h 235"/>
                <a:gd name="T12" fmla="*/ 1 w 28"/>
                <a:gd name="T13" fmla="*/ 1 h 235"/>
                <a:gd name="T14" fmla="*/ 1 w 28"/>
                <a:gd name="T15" fmla="*/ 1 h 235"/>
                <a:gd name="T16" fmla="*/ 1 w 28"/>
                <a:gd name="T17" fmla="*/ 1 h 235"/>
                <a:gd name="T18" fmla="*/ 1 w 28"/>
                <a:gd name="T19" fmla="*/ 1 h 235"/>
                <a:gd name="T20" fmla="*/ 1 w 28"/>
                <a:gd name="T21" fmla="*/ 1 h 235"/>
                <a:gd name="T22" fmla="*/ 1 w 28"/>
                <a:gd name="T23" fmla="*/ 1 h 235"/>
                <a:gd name="T24" fmla="*/ 1 w 28"/>
                <a:gd name="T25" fmla="*/ 1 h 235"/>
                <a:gd name="T26" fmla="*/ 1 w 28"/>
                <a:gd name="T27" fmla="*/ 1 h 235"/>
                <a:gd name="T28" fmla="*/ 1 w 28"/>
                <a:gd name="T29" fmla="*/ 1 h 235"/>
                <a:gd name="T30" fmla="*/ 1 w 28"/>
                <a:gd name="T31" fmla="*/ 1 h 235"/>
                <a:gd name="T32" fmla="*/ 1 w 28"/>
                <a:gd name="T33" fmla="*/ 1 h 235"/>
                <a:gd name="T34" fmla="*/ 1 w 28"/>
                <a:gd name="T35" fmla="*/ 1 h 235"/>
                <a:gd name="T36" fmla="*/ 1 w 28"/>
                <a:gd name="T37" fmla="*/ 0 h 235"/>
                <a:gd name="T38" fmla="*/ 1 w 28"/>
                <a:gd name="T39" fmla="*/ 1 h 235"/>
                <a:gd name="T40" fmla="*/ 1 w 28"/>
                <a:gd name="T41" fmla="*/ 1 h 235"/>
                <a:gd name="T42" fmla="*/ 0 w 28"/>
                <a:gd name="T43" fmla="*/ 1 h 235"/>
                <a:gd name="T44" fmla="*/ 0 w 28"/>
                <a:gd name="T45" fmla="*/ 1 h 235"/>
                <a:gd name="T46" fmla="*/ 1 w 28"/>
                <a:gd name="T47" fmla="*/ 1 h 235"/>
                <a:gd name="T48" fmla="*/ 1 w 28"/>
                <a:gd name="T49" fmla="*/ 1 h 235"/>
                <a:gd name="T50" fmla="*/ 1 w 28"/>
                <a:gd name="T51" fmla="*/ 1 h 235"/>
                <a:gd name="T52" fmla="*/ 1 w 28"/>
                <a:gd name="T53" fmla="*/ 1 h 235"/>
                <a:gd name="T54" fmla="*/ 1 w 28"/>
                <a:gd name="T55" fmla="*/ 1 h 235"/>
                <a:gd name="T56" fmla="*/ 1 w 28"/>
                <a:gd name="T57" fmla="*/ 1 h 235"/>
                <a:gd name="T58" fmla="*/ 1 w 28"/>
                <a:gd name="T59" fmla="*/ 1 h 235"/>
                <a:gd name="T60" fmla="*/ 1 w 28"/>
                <a:gd name="T61" fmla="*/ 1 h 235"/>
                <a:gd name="T62" fmla="*/ 1 w 28"/>
                <a:gd name="T63" fmla="*/ 1 h 235"/>
                <a:gd name="T64" fmla="*/ 1 w 28"/>
                <a:gd name="T65" fmla="*/ 1 h 235"/>
                <a:gd name="T66" fmla="*/ 1 w 28"/>
                <a:gd name="T67" fmla="*/ 1 h 235"/>
                <a:gd name="T68" fmla="*/ 1 w 28"/>
                <a:gd name="T69" fmla="*/ 0 h 235"/>
                <a:gd name="T70" fmla="*/ 1 w 28"/>
                <a:gd name="T71" fmla="*/ 0 h 23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8"/>
                <a:gd name="T109" fmla="*/ 0 h 235"/>
                <a:gd name="T110" fmla="*/ 28 w 28"/>
                <a:gd name="T111" fmla="*/ 235 h 23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8" h="235">
                  <a:moveTo>
                    <a:pt x="14" y="209"/>
                  </a:moveTo>
                  <a:lnTo>
                    <a:pt x="11" y="209"/>
                  </a:lnTo>
                  <a:lnTo>
                    <a:pt x="9" y="210"/>
                  </a:lnTo>
                  <a:lnTo>
                    <a:pt x="6" y="212"/>
                  </a:lnTo>
                  <a:lnTo>
                    <a:pt x="4" y="214"/>
                  </a:lnTo>
                  <a:lnTo>
                    <a:pt x="2" y="215"/>
                  </a:lnTo>
                  <a:lnTo>
                    <a:pt x="2" y="217"/>
                  </a:lnTo>
                  <a:lnTo>
                    <a:pt x="0" y="220"/>
                  </a:lnTo>
                  <a:lnTo>
                    <a:pt x="0" y="222"/>
                  </a:lnTo>
                  <a:lnTo>
                    <a:pt x="0" y="225"/>
                  </a:lnTo>
                  <a:lnTo>
                    <a:pt x="2" y="227"/>
                  </a:lnTo>
                  <a:lnTo>
                    <a:pt x="2" y="229"/>
                  </a:lnTo>
                  <a:lnTo>
                    <a:pt x="4" y="232"/>
                  </a:lnTo>
                  <a:lnTo>
                    <a:pt x="6" y="234"/>
                  </a:lnTo>
                  <a:lnTo>
                    <a:pt x="9" y="234"/>
                  </a:lnTo>
                  <a:lnTo>
                    <a:pt x="11" y="235"/>
                  </a:lnTo>
                  <a:lnTo>
                    <a:pt x="14" y="235"/>
                  </a:lnTo>
                  <a:lnTo>
                    <a:pt x="16" y="235"/>
                  </a:lnTo>
                  <a:lnTo>
                    <a:pt x="20" y="234"/>
                  </a:lnTo>
                  <a:lnTo>
                    <a:pt x="21" y="234"/>
                  </a:lnTo>
                  <a:lnTo>
                    <a:pt x="23" y="232"/>
                  </a:lnTo>
                  <a:lnTo>
                    <a:pt x="25" y="229"/>
                  </a:lnTo>
                  <a:lnTo>
                    <a:pt x="26" y="227"/>
                  </a:lnTo>
                  <a:lnTo>
                    <a:pt x="26" y="225"/>
                  </a:lnTo>
                  <a:lnTo>
                    <a:pt x="28" y="222"/>
                  </a:lnTo>
                  <a:lnTo>
                    <a:pt x="26" y="220"/>
                  </a:lnTo>
                  <a:lnTo>
                    <a:pt x="26" y="217"/>
                  </a:lnTo>
                  <a:lnTo>
                    <a:pt x="25" y="215"/>
                  </a:lnTo>
                  <a:lnTo>
                    <a:pt x="23" y="214"/>
                  </a:lnTo>
                  <a:lnTo>
                    <a:pt x="21" y="212"/>
                  </a:lnTo>
                  <a:lnTo>
                    <a:pt x="20" y="210"/>
                  </a:lnTo>
                  <a:lnTo>
                    <a:pt x="16" y="209"/>
                  </a:lnTo>
                  <a:lnTo>
                    <a:pt x="14" y="209"/>
                  </a:lnTo>
                  <a:close/>
                  <a:moveTo>
                    <a:pt x="14" y="0"/>
                  </a:moveTo>
                  <a:lnTo>
                    <a:pt x="11" y="0"/>
                  </a:lnTo>
                  <a:lnTo>
                    <a:pt x="9" y="1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5"/>
                  </a:lnTo>
                  <a:lnTo>
                    <a:pt x="2" y="8"/>
                  </a:lnTo>
                  <a:lnTo>
                    <a:pt x="0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9" y="25"/>
                  </a:lnTo>
                  <a:lnTo>
                    <a:pt x="11" y="25"/>
                  </a:lnTo>
                  <a:lnTo>
                    <a:pt x="14" y="26"/>
                  </a:lnTo>
                  <a:lnTo>
                    <a:pt x="16" y="25"/>
                  </a:lnTo>
                  <a:lnTo>
                    <a:pt x="20" y="25"/>
                  </a:lnTo>
                  <a:lnTo>
                    <a:pt x="21" y="23"/>
                  </a:lnTo>
                  <a:lnTo>
                    <a:pt x="23" y="21"/>
                  </a:lnTo>
                  <a:lnTo>
                    <a:pt x="25" y="20"/>
                  </a:lnTo>
                  <a:lnTo>
                    <a:pt x="26" y="18"/>
                  </a:lnTo>
                  <a:lnTo>
                    <a:pt x="26" y="15"/>
                  </a:lnTo>
                  <a:lnTo>
                    <a:pt x="28" y="13"/>
                  </a:lnTo>
                  <a:lnTo>
                    <a:pt x="26" y="10"/>
                  </a:lnTo>
                  <a:lnTo>
                    <a:pt x="26" y="8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6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4" name="Freeform 268"/>
            <p:cNvSpPr>
              <a:spLocks/>
            </p:cNvSpPr>
            <p:nvPr/>
          </p:nvSpPr>
          <p:spPr bwMode="auto">
            <a:xfrm>
              <a:off x="4033" y="1763"/>
              <a:ext cx="14" cy="13"/>
            </a:xfrm>
            <a:custGeom>
              <a:avLst/>
              <a:gdLst>
                <a:gd name="T0" fmla="*/ 1 w 28"/>
                <a:gd name="T1" fmla="*/ 0 h 26"/>
                <a:gd name="T2" fmla="*/ 1 w 28"/>
                <a:gd name="T3" fmla="*/ 0 h 26"/>
                <a:gd name="T4" fmla="*/ 1 w 28"/>
                <a:gd name="T5" fmla="*/ 1 h 26"/>
                <a:gd name="T6" fmla="*/ 1 w 28"/>
                <a:gd name="T7" fmla="*/ 1 h 26"/>
                <a:gd name="T8" fmla="*/ 1 w 28"/>
                <a:gd name="T9" fmla="*/ 1 h 26"/>
                <a:gd name="T10" fmla="*/ 1 w 28"/>
                <a:gd name="T11" fmla="*/ 1 h 26"/>
                <a:gd name="T12" fmla="*/ 1 w 28"/>
                <a:gd name="T13" fmla="*/ 1 h 26"/>
                <a:gd name="T14" fmla="*/ 0 w 28"/>
                <a:gd name="T15" fmla="*/ 1 h 26"/>
                <a:gd name="T16" fmla="*/ 0 w 28"/>
                <a:gd name="T17" fmla="*/ 1 h 26"/>
                <a:gd name="T18" fmla="*/ 0 w 28"/>
                <a:gd name="T19" fmla="*/ 1 h 26"/>
                <a:gd name="T20" fmla="*/ 1 w 28"/>
                <a:gd name="T21" fmla="*/ 1 h 26"/>
                <a:gd name="T22" fmla="*/ 1 w 28"/>
                <a:gd name="T23" fmla="*/ 1 h 26"/>
                <a:gd name="T24" fmla="*/ 1 w 28"/>
                <a:gd name="T25" fmla="*/ 1 h 26"/>
                <a:gd name="T26" fmla="*/ 1 w 28"/>
                <a:gd name="T27" fmla="*/ 1 h 26"/>
                <a:gd name="T28" fmla="*/ 1 w 28"/>
                <a:gd name="T29" fmla="*/ 1 h 26"/>
                <a:gd name="T30" fmla="*/ 1 w 28"/>
                <a:gd name="T31" fmla="*/ 1 h 26"/>
                <a:gd name="T32" fmla="*/ 1 w 28"/>
                <a:gd name="T33" fmla="*/ 1 h 26"/>
                <a:gd name="T34" fmla="*/ 1 w 28"/>
                <a:gd name="T35" fmla="*/ 1 h 26"/>
                <a:gd name="T36" fmla="*/ 1 w 28"/>
                <a:gd name="T37" fmla="*/ 1 h 26"/>
                <a:gd name="T38" fmla="*/ 1 w 28"/>
                <a:gd name="T39" fmla="*/ 1 h 26"/>
                <a:gd name="T40" fmla="*/ 1 w 28"/>
                <a:gd name="T41" fmla="*/ 1 h 26"/>
                <a:gd name="T42" fmla="*/ 1 w 28"/>
                <a:gd name="T43" fmla="*/ 1 h 26"/>
                <a:gd name="T44" fmla="*/ 1 w 28"/>
                <a:gd name="T45" fmla="*/ 1 h 26"/>
                <a:gd name="T46" fmla="*/ 1 w 28"/>
                <a:gd name="T47" fmla="*/ 1 h 26"/>
                <a:gd name="T48" fmla="*/ 1 w 28"/>
                <a:gd name="T49" fmla="*/ 1 h 26"/>
                <a:gd name="T50" fmla="*/ 1 w 28"/>
                <a:gd name="T51" fmla="*/ 1 h 26"/>
                <a:gd name="T52" fmla="*/ 1 w 28"/>
                <a:gd name="T53" fmla="*/ 1 h 26"/>
                <a:gd name="T54" fmla="*/ 1 w 28"/>
                <a:gd name="T55" fmla="*/ 1 h 26"/>
                <a:gd name="T56" fmla="*/ 1 w 28"/>
                <a:gd name="T57" fmla="*/ 1 h 26"/>
                <a:gd name="T58" fmla="*/ 1 w 28"/>
                <a:gd name="T59" fmla="*/ 1 h 26"/>
                <a:gd name="T60" fmla="*/ 1 w 28"/>
                <a:gd name="T61" fmla="*/ 1 h 26"/>
                <a:gd name="T62" fmla="*/ 1 w 28"/>
                <a:gd name="T63" fmla="*/ 1 h 26"/>
                <a:gd name="T64" fmla="*/ 1 w 28"/>
                <a:gd name="T65" fmla="*/ 0 h 26"/>
                <a:gd name="T66" fmla="*/ 1 w 28"/>
                <a:gd name="T67" fmla="*/ 0 h 26"/>
                <a:gd name="T68" fmla="*/ 1 w 28"/>
                <a:gd name="T69" fmla="*/ 0 h 2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6"/>
                <a:gd name="T107" fmla="*/ 28 w 28"/>
                <a:gd name="T108" fmla="*/ 26 h 2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6">
                  <a:moveTo>
                    <a:pt x="14" y="0"/>
                  </a:moveTo>
                  <a:lnTo>
                    <a:pt x="11" y="0"/>
                  </a:lnTo>
                  <a:lnTo>
                    <a:pt x="9" y="1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6"/>
                  </a:lnTo>
                  <a:lnTo>
                    <a:pt x="2" y="8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6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4" y="23"/>
                  </a:lnTo>
                  <a:lnTo>
                    <a:pt x="6" y="25"/>
                  </a:lnTo>
                  <a:lnTo>
                    <a:pt x="9" y="25"/>
                  </a:lnTo>
                  <a:lnTo>
                    <a:pt x="11" y="26"/>
                  </a:lnTo>
                  <a:lnTo>
                    <a:pt x="14" y="26"/>
                  </a:lnTo>
                  <a:lnTo>
                    <a:pt x="16" y="26"/>
                  </a:lnTo>
                  <a:lnTo>
                    <a:pt x="20" y="25"/>
                  </a:lnTo>
                  <a:lnTo>
                    <a:pt x="21" y="25"/>
                  </a:lnTo>
                  <a:lnTo>
                    <a:pt x="23" y="23"/>
                  </a:lnTo>
                  <a:lnTo>
                    <a:pt x="25" y="20"/>
                  </a:lnTo>
                  <a:lnTo>
                    <a:pt x="26" y="18"/>
                  </a:lnTo>
                  <a:lnTo>
                    <a:pt x="26" y="16"/>
                  </a:lnTo>
                  <a:lnTo>
                    <a:pt x="28" y="13"/>
                  </a:lnTo>
                  <a:lnTo>
                    <a:pt x="26" y="11"/>
                  </a:lnTo>
                  <a:lnTo>
                    <a:pt x="26" y="8"/>
                  </a:lnTo>
                  <a:lnTo>
                    <a:pt x="25" y="6"/>
                  </a:lnTo>
                  <a:lnTo>
                    <a:pt x="23" y="5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6" y="0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5" name="Freeform 269"/>
            <p:cNvSpPr>
              <a:spLocks/>
            </p:cNvSpPr>
            <p:nvPr/>
          </p:nvSpPr>
          <p:spPr bwMode="auto">
            <a:xfrm>
              <a:off x="4033" y="1658"/>
              <a:ext cx="14" cy="14"/>
            </a:xfrm>
            <a:custGeom>
              <a:avLst/>
              <a:gdLst>
                <a:gd name="T0" fmla="*/ 1 w 28"/>
                <a:gd name="T1" fmla="*/ 0 h 26"/>
                <a:gd name="T2" fmla="*/ 1 w 28"/>
                <a:gd name="T3" fmla="*/ 0 h 26"/>
                <a:gd name="T4" fmla="*/ 1 w 28"/>
                <a:gd name="T5" fmla="*/ 1 h 26"/>
                <a:gd name="T6" fmla="*/ 1 w 28"/>
                <a:gd name="T7" fmla="*/ 1 h 26"/>
                <a:gd name="T8" fmla="*/ 1 w 28"/>
                <a:gd name="T9" fmla="*/ 1 h 26"/>
                <a:gd name="T10" fmla="*/ 1 w 28"/>
                <a:gd name="T11" fmla="*/ 1 h 26"/>
                <a:gd name="T12" fmla="*/ 1 w 28"/>
                <a:gd name="T13" fmla="*/ 1 h 26"/>
                <a:gd name="T14" fmla="*/ 0 w 28"/>
                <a:gd name="T15" fmla="*/ 1 h 26"/>
                <a:gd name="T16" fmla="*/ 0 w 28"/>
                <a:gd name="T17" fmla="*/ 1 h 26"/>
                <a:gd name="T18" fmla="*/ 0 w 28"/>
                <a:gd name="T19" fmla="*/ 1 h 26"/>
                <a:gd name="T20" fmla="*/ 1 w 28"/>
                <a:gd name="T21" fmla="*/ 1 h 26"/>
                <a:gd name="T22" fmla="*/ 1 w 28"/>
                <a:gd name="T23" fmla="*/ 1 h 26"/>
                <a:gd name="T24" fmla="*/ 1 w 28"/>
                <a:gd name="T25" fmla="*/ 1 h 26"/>
                <a:gd name="T26" fmla="*/ 1 w 28"/>
                <a:gd name="T27" fmla="*/ 1 h 26"/>
                <a:gd name="T28" fmla="*/ 1 w 28"/>
                <a:gd name="T29" fmla="*/ 1 h 26"/>
                <a:gd name="T30" fmla="*/ 1 w 28"/>
                <a:gd name="T31" fmla="*/ 1 h 26"/>
                <a:gd name="T32" fmla="*/ 1 w 28"/>
                <a:gd name="T33" fmla="*/ 1 h 26"/>
                <a:gd name="T34" fmla="*/ 1 w 28"/>
                <a:gd name="T35" fmla="*/ 1 h 26"/>
                <a:gd name="T36" fmla="*/ 1 w 28"/>
                <a:gd name="T37" fmla="*/ 1 h 26"/>
                <a:gd name="T38" fmla="*/ 1 w 28"/>
                <a:gd name="T39" fmla="*/ 1 h 26"/>
                <a:gd name="T40" fmla="*/ 1 w 28"/>
                <a:gd name="T41" fmla="*/ 1 h 26"/>
                <a:gd name="T42" fmla="*/ 1 w 28"/>
                <a:gd name="T43" fmla="*/ 1 h 26"/>
                <a:gd name="T44" fmla="*/ 1 w 28"/>
                <a:gd name="T45" fmla="*/ 1 h 26"/>
                <a:gd name="T46" fmla="*/ 1 w 28"/>
                <a:gd name="T47" fmla="*/ 1 h 26"/>
                <a:gd name="T48" fmla="*/ 1 w 28"/>
                <a:gd name="T49" fmla="*/ 1 h 26"/>
                <a:gd name="T50" fmla="*/ 1 w 28"/>
                <a:gd name="T51" fmla="*/ 1 h 26"/>
                <a:gd name="T52" fmla="*/ 1 w 28"/>
                <a:gd name="T53" fmla="*/ 1 h 26"/>
                <a:gd name="T54" fmla="*/ 1 w 28"/>
                <a:gd name="T55" fmla="*/ 1 h 26"/>
                <a:gd name="T56" fmla="*/ 1 w 28"/>
                <a:gd name="T57" fmla="*/ 1 h 26"/>
                <a:gd name="T58" fmla="*/ 1 w 28"/>
                <a:gd name="T59" fmla="*/ 1 h 26"/>
                <a:gd name="T60" fmla="*/ 1 w 28"/>
                <a:gd name="T61" fmla="*/ 1 h 26"/>
                <a:gd name="T62" fmla="*/ 1 w 28"/>
                <a:gd name="T63" fmla="*/ 1 h 26"/>
                <a:gd name="T64" fmla="*/ 1 w 28"/>
                <a:gd name="T65" fmla="*/ 0 h 26"/>
                <a:gd name="T66" fmla="*/ 1 w 28"/>
                <a:gd name="T67" fmla="*/ 0 h 26"/>
                <a:gd name="T68" fmla="*/ 1 w 28"/>
                <a:gd name="T69" fmla="*/ 0 h 2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6"/>
                <a:gd name="T107" fmla="*/ 28 w 28"/>
                <a:gd name="T108" fmla="*/ 26 h 2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6">
                  <a:moveTo>
                    <a:pt x="14" y="0"/>
                  </a:moveTo>
                  <a:lnTo>
                    <a:pt x="11" y="0"/>
                  </a:lnTo>
                  <a:lnTo>
                    <a:pt x="9" y="1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5"/>
                  </a:lnTo>
                  <a:lnTo>
                    <a:pt x="2" y="8"/>
                  </a:lnTo>
                  <a:lnTo>
                    <a:pt x="0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9" y="25"/>
                  </a:lnTo>
                  <a:lnTo>
                    <a:pt x="11" y="25"/>
                  </a:lnTo>
                  <a:lnTo>
                    <a:pt x="14" y="26"/>
                  </a:lnTo>
                  <a:lnTo>
                    <a:pt x="16" y="25"/>
                  </a:lnTo>
                  <a:lnTo>
                    <a:pt x="20" y="25"/>
                  </a:lnTo>
                  <a:lnTo>
                    <a:pt x="21" y="23"/>
                  </a:lnTo>
                  <a:lnTo>
                    <a:pt x="23" y="21"/>
                  </a:lnTo>
                  <a:lnTo>
                    <a:pt x="25" y="20"/>
                  </a:lnTo>
                  <a:lnTo>
                    <a:pt x="26" y="18"/>
                  </a:lnTo>
                  <a:lnTo>
                    <a:pt x="26" y="15"/>
                  </a:lnTo>
                  <a:lnTo>
                    <a:pt x="28" y="13"/>
                  </a:lnTo>
                  <a:lnTo>
                    <a:pt x="26" y="10"/>
                  </a:lnTo>
                  <a:lnTo>
                    <a:pt x="26" y="8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6" y="0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" name="Line 270"/>
            <p:cNvSpPr>
              <a:spLocks noChangeShapeType="1"/>
            </p:cNvSpPr>
            <p:nvPr/>
          </p:nvSpPr>
          <p:spPr bwMode="auto">
            <a:xfrm>
              <a:off x="4042" y="1671"/>
              <a:ext cx="32" cy="8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" name="Freeform 271"/>
            <p:cNvSpPr>
              <a:spLocks/>
            </p:cNvSpPr>
            <p:nvPr/>
          </p:nvSpPr>
          <p:spPr bwMode="auto">
            <a:xfrm>
              <a:off x="4399" y="1392"/>
              <a:ext cx="32" cy="210"/>
            </a:xfrm>
            <a:custGeom>
              <a:avLst/>
              <a:gdLst>
                <a:gd name="T0" fmla="*/ 1 w 64"/>
                <a:gd name="T1" fmla="*/ 0 h 420"/>
                <a:gd name="T2" fmla="*/ 1 w 64"/>
                <a:gd name="T3" fmla="*/ 1 h 420"/>
                <a:gd name="T4" fmla="*/ 1 w 64"/>
                <a:gd name="T5" fmla="*/ 1 h 420"/>
                <a:gd name="T6" fmla="*/ 1 w 64"/>
                <a:gd name="T7" fmla="*/ 1 h 420"/>
                <a:gd name="T8" fmla="*/ 1 w 64"/>
                <a:gd name="T9" fmla="*/ 1 h 420"/>
                <a:gd name="T10" fmla="*/ 1 w 64"/>
                <a:gd name="T11" fmla="*/ 1 h 420"/>
                <a:gd name="T12" fmla="*/ 1 w 64"/>
                <a:gd name="T13" fmla="*/ 1 h 420"/>
                <a:gd name="T14" fmla="*/ 0 w 64"/>
                <a:gd name="T15" fmla="*/ 1 h 420"/>
                <a:gd name="T16" fmla="*/ 0 w 64"/>
                <a:gd name="T17" fmla="*/ 1 h 420"/>
                <a:gd name="T18" fmla="*/ 1 w 64"/>
                <a:gd name="T19" fmla="*/ 1 h 420"/>
                <a:gd name="T20" fmla="*/ 1 w 64"/>
                <a:gd name="T21" fmla="*/ 1 h 420"/>
                <a:gd name="T22" fmla="*/ 1 w 64"/>
                <a:gd name="T23" fmla="*/ 1 h 420"/>
                <a:gd name="T24" fmla="*/ 1 w 64"/>
                <a:gd name="T25" fmla="*/ 1 h 420"/>
                <a:gd name="T26" fmla="*/ 1 w 64"/>
                <a:gd name="T27" fmla="*/ 1 h 420"/>
                <a:gd name="T28" fmla="*/ 1 w 64"/>
                <a:gd name="T29" fmla="*/ 1 h 420"/>
                <a:gd name="T30" fmla="*/ 1 w 64"/>
                <a:gd name="T31" fmla="*/ 1 h 420"/>
                <a:gd name="T32" fmla="*/ 1 w 64"/>
                <a:gd name="T33" fmla="*/ 1 h 420"/>
                <a:gd name="T34" fmla="*/ 1 w 64"/>
                <a:gd name="T35" fmla="*/ 1 h 420"/>
                <a:gd name="T36" fmla="*/ 1 w 64"/>
                <a:gd name="T37" fmla="*/ 1 h 420"/>
                <a:gd name="T38" fmla="*/ 1 w 64"/>
                <a:gd name="T39" fmla="*/ 1 h 420"/>
                <a:gd name="T40" fmla="*/ 1 w 64"/>
                <a:gd name="T41" fmla="*/ 1 h 420"/>
                <a:gd name="T42" fmla="*/ 1 w 64"/>
                <a:gd name="T43" fmla="*/ 1 h 420"/>
                <a:gd name="T44" fmla="*/ 0 w 64"/>
                <a:gd name="T45" fmla="*/ 1 h 420"/>
                <a:gd name="T46" fmla="*/ 0 w 64"/>
                <a:gd name="T47" fmla="*/ 1 h 420"/>
                <a:gd name="T48" fmla="*/ 1 w 64"/>
                <a:gd name="T49" fmla="*/ 1 h 420"/>
                <a:gd name="T50" fmla="*/ 1 w 64"/>
                <a:gd name="T51" fmla="*/ 1 h 420"/>
                <a:gd name="T52" fmla="*/ 1 w 64"/>
                <a:gd name="T53" fmla="*/ 1 h 420"/>
                <a:gd name="T54" fmla="*/ 1 w 64"/>
                <a:gd name="T55" fmla="*/ 1 h 420"/>
                <a:gd name="T56" fmla="*/ 1 w 64"/>
                <a:gd name="T57" fmla="*/ 1 h 420"/>
                <a:gd name="T58" fmla="*/ 1 w 64"/>
                <a:gd name="T59" fmla="*/ 1 h 420"/>
                <a:gd name="T60" fmla="*/ 1 w 64"/>
                <a:gd name="T61" fmla="*/ 1 h 420"/>
                <a:gd name="T62" fmla="*/ 1 w 64"/>
                <a:gd name="T63" fmla="*/ 1 h 420"/>
                <a:gd name="T64" fmla="*/ 1 w 64"/>
                <a:gd name="T65" fmla="*/ 1 h 420"/>
                <a:gd name="T66" fmla="*/ 1 w 64"/>
                <a:gd name="T67" fmla="*/ 1 h 420"/>
                <a:gd name="T68" fmla="*/ 1 w 64"/>
                <a:gd name="T69" fmla="*/ 1 h 420"/>
                <a:gd name="T70" fmla="*/ 1 w 64"/>
                <a:gd name="T71" fmla="*/ 1 h 420"/>
                <a:gd name="T72" fmla="*/ 1 w 64"/>
                <a:gd name="T73" fmla="*/ 1 h 420"/>
                <a:gd name="T74" fmla="*/ 1 w 64"/>
                <a:gd name="T75" fmla="*/ 1 h 420"/>
                <a:gd name="T76" fmla="*/ 0 w 64"/>
                <a:gd name="T77" fmla="*/ 2 h 420"/>
                <a:gd name="T78" fmla="*/ 0 w 64"/>
                <a:gd name="T79" fmla="*/ 2 h 420"/>
                <a:gd name="T80" fmla="*/ 1 w 64"/>
                <a:gd name="T81" fmla="*/ 2 h 420"/>
                <a:gd name="T82" fmla="*/ 1 w 64"/>
                <a:gd name="T83" fmla="*/ 2 h 420"/>
                <a:gd name="T84" fmla="*/ 1 w 64"/>
                <a:gd name="T85" fmla="*/ 2 h 420"/>
                <a:gd name="T86" fmla="*/ 1 w 64"/>
                <a:gd name="T87" fmla="*/ 2 h 420"/>
                <a:gd name="T88" fmla="*/ 1 w 64"/>
                <a:gd name="T89" fmla="*/ 2 h 420"/>
                <a:gd name="T90" fmla="*/ 1 w 64"/>
                <a:gd name="T91" fmla="*/ 2 h 420"/>
                <a:gd name="T92" fmla="*/ 1 w 64"/>
                <a:gd name="T93" fmla="*/ 2 h 420"/>
                <a:gd name="T94" fmla="*/ 1 w 64"/>
                <a:gd name="T95" fmla="*/ 2 h 420"/>
                <a:gd name="T96" fmla="*/ 1 w 64"/>
                <a:gd name="T97" fmla="*/ 2 h 420"/>
                <a:gd name="T98" fmla="*/ 1 w 64"/>
                <a:gd name="T99" fmla="*/ 2 h 420"/>
                <a:gd name="T100" fmla="*/ 1 w 64"/>
                <a:gd name="T101" fmla="*/ 2 h 420"/>
                <a:gd name="T102" fmla="*/ 1 w 64"/>
                <a:gd name="T103" fmla="*/ 2 h 420"/>
                <a:gd name="T104" fmla="*/ 1 w 64"/>
                <a:gd name="T105" fmla="*/ 2 h 420"/>
                <a:gd name="T106" fmla="*/ 0 w 64"/>
                <a:gd name="T107" fmla="*/ 2 h 420"/>
                <a:gd name="T108" fmla="*/ 0 w 64"/>
                <a:gd name="T109" fmla="*/ 2 h 420"/>
                <a:gd name="T110" fmla="*/ 1 w 64"/>
                <a:gd name="T111" fmla="*/ 2 h 420"/>
                <a:gd name="T112" fmla="*/ 1 w 64"/>
                <a:gd name="T113" fmla="*/ 2 h 420"/>
                <a:gd name="T114" fmla="*/ 1 w 64"/>
                <a:gd name="T115" fmla="*/ 2 h 420"/>
                <a:gd name="T116" fmla="*/ 1 w 64"/>
                <a:gd name="T117" fmla="*/ 2 h 420"/>
                <a:gd name="T118" fmla="*/ 1 w 64"/>
                <a:gd name="T119" fmla="*/ 2 h 420"/>
                <a:gd name="T120" fmla="*/ 1 w 64"/>
                <a:gd name="T121" fmla="*/ 2 h 420"/>
                <a:gd name="T122" fmla="*/ 1 w 64"/>
                <a:gd name="T123" fmla="*/ 2 h 42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64"/>
                <a:gd name="T187" fmla="*/ 0 h 420"/>
                <a:gd name="T188" fmla="*/ 64 w 64"/>
                <a:gd name="T189" fmla="*/ 420 h 42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64" h="420">
                  <a:moveTo>
                    <a:pt x="64" y="0"/>
                  </a:moveTo>
                  <a:lnTo>
                    <a:pt x="59" y="0"/>
                  </a:lnTo>
                  <a:lnTo>
                    <a:pt x="52" y="0"/>
                  </a:lnTo>
                  <a:lnTo>
                    <a:pt x="45" y="2"/>
                  </a:lnTo>
                  <a:lnTo>
                    <a:pt x="40" y="4"/>
                  </a:lnTo>
                  <a:lnTo>
                    <a:pt x="35" y="5"/>
                  </a:lnTo>
                  <a:lnTo>
                    <a:pt x="29" y="7"/>
                  </a:lnTo>
                  <a:lnTo>
                    <a:pt x="19" y="14"/>
                  </a:lnTo>
                  <a:lnTo>
                    <a:pt x="15" y="17"/>
                  </a:lnTo>
                  <a:lnTo>
                    <a:pt x="12" y="21"/>
                  </a:lnTo>
                  <a:lnTo>
                    <a:pt x="8" y="26"/>
                  </a:lnTo>
                  <a:lnTo>
                    <a:pt x="5" y="31"/>
                  </a:lnTo>
                  <a:lnTo>
                    <a:pt x="3" y="36"/>
                  </a:lnTo>
                  <a:lnTo>
                    <a:pt x="1" y="41"/>
                  </a:lnTo>
                  <a:lnTo>
                    <a:pt x="0" y="46"/>
                  </a:lnTo>
                  <a:lnTo>
                    <a:pt x="0" y="51"/>
                  </a:lnTo>
                  <a:lnTo>
                    <a:pt x="0" y="56"/>
                  </a:lnTo>
                  <a:lnTo>
                    <a:pt x="0" y="61"/>
                  </a:lnTo>
                  <a:lnTo>
                    <a:pt x="1" y="66"/>
                  </a:lnTo>
                  <a:lnTo>
                    <a:pt x="3" y="71"/>
                  </a:lnTo>
                  <a:lnTo>
                    <a:pt x="5" y="76"/>
                  </a:lnTo>
                  <a:lnTo>
                    <a:pt x="8" y="81"/>
                  </a:lnTo>
                  <a:lnTo>
                    <a:pt x="12" y="84"/>
                  </a:lnTo>
                  <a:lnTo>
                    <a:pt x="15" y="87"/>
                  </a:lnTo>
                  <a:lnTo>
                    <a:pt x="24" y="94"/>
                  </a:lnTo>
                  <a:lnTo>
                    <a:pt x="29" y="97"/>
                  </a:lnTo>
                  <a:lnTo>
                    <a:pt x="35" y="99"/>
                  </a:lnTo>
                  <a:lnTo>
                    <a:pt x="42" y="103"/>
                  </a:lnTo>
                  <a:lnTo>
                    <a:pt x="47" y="104"/>
                  </a:lnTo>
                  <a:lnTo>
                    <a:pt x="54" y="104"/>
                  </a:lnTo>
                  <a:lnTo>
                    <a:pt x="59" y="104"/>
                  </a:lnTo>
                  <a:lnTo>
                    <a:pt x="64" y="104"/>
                  </a:lnTo>
                  <a:lnTo>
                    <a:pt x="59" y="104"/>
                  </a:lnTo>
                  <a:lnTo>
                    <a:pt x="52" y="106"/>
                  </a:lnTo>
                  <a:lnTo>
                    <a:pt x="45" y="106"/>
                  </a:lnTo>
                  <a:lnTo>
                    <a:pt x="40" y="108"/>
                  </a:lnTo>
                  <a:lnTo>
                    <a:pt x="35" y="111"/>
                  </a:lnTo>
                  <a:lnTo>
                    <a:pt x="29" y="113"/>
                  </a:lnTo>
                  <a:lnTo>
                    <a:pt x="19" y="119"/>
                  </a:lnTo>
                  <a:lnTo>
                    <a:pt x="15" y="123"/>
                  </a:lnTo>
                  <a:lnTo>
                    <a:pt x="12" y="126"/>
                  </a:lnTo>
                  <a:lnTo>
                    <a:pt x="8" y="131"/>
                  </a:lnTo>
                  <a:lnTo>
                    <a:pt x="5" y="134"/>
                  </a:lnTo>
                  <a:lnTo>
                    <a:pt x="3" y="139"/>
                  </a:lnTo>
                  <a:lnTo>
                    <a:pt x="1" y="144"/>
                  </a:lnTo>
                  <a:lnTo>
                    <a:pt x="0" y="149"/>
                  </a:lnTo>
                  <a:lnTo>
                    <a:pt x="0" y="156"/>
                  </a:lnTo>
                  <a:lnTo>
                    <a:pt x="0" y="161"/>
                  </a:lnTo>
                  <a:lnTo>
                    <a:pt x="0" y="166"/>
                  </a:lnTo>
                  <a:lnTo>
                    <a:pt x="1" y="171"/>
                  </a:lnTo>
                  <a:lnTo>
                    <a:pt x="3" y="176"/>
                  </a:lnTo>
                  <a:lnTo>
                    <a:pt x="5" y="181"/>
                  </a:lnTo>
                  <a:lnTo>
                    <a:pt x="8" y="185"/>
                  </a:lnTo>
                  <a:lnTo>
                    <a:pt x="12" y="190"/>
                  </a:lnTo>
                  <a:lnTo>
                    <a:pt x="15" y="193"/>
                  </a:lnTo>
                  <a:lnTo>
                    <a:pt x="24" y="200"/>
                  </a:lnTo>
                  <a:lnTo>
                    <a:pt x="29" y="203"/>
                  </a:lnTo>
                  <a:lnTo>
                    <a:pt x="35" y="205"/>
                  </a:lnTo>
                  <a:lnTo>
                    <a:pt x="42" y="206"/>
                  </a:lnTo>
                  <a:lnTo>
                    <a:pt x="47" y="208"/>
                  </a:lnTo>
                  <a:lnTo>
                    <a:pt x="54" y="210"/>
                  </a:lnTo>
                  <a:lnTo>
                    <a:pt x="59" y="210"/>
                  </a:lnTo>
                  <a:lnTo>
                    <a:pt x="64" y="210"/>
                  </a:lnTo>
                  <a:lnTo>
                    <a:pt x="59" y="210"/>
                  </a:lnTo>
                  <a:lnTo>
                    <a:pt x="52" y="210"/>
                  </a:lnTo>
                  <a:lnTo>
                    <a:pt x="45" y="211"/>
                  </a:lnTo>
                  <a:lnTo>
                    <a:pt x="40" y="213"/>
                  </a:lnTo>
                  <a:lnTo>
                    <a:pt x="35" y="215"/>
                  </a:lnTo>
                  <a:lnTo>
                    <a:pt x="29" y="218"/>
                  </a:lnTo>
                  <a:lnTo>
                    <a:pt x="19" y="223"/>
                  </a:lnTo>
                  <a:lnTo>
                    <a:pt x="15" y="228"/>
                  </a:lnTo>
                  <a:lnTo>
                    <a:pt x="12" y="231"/>
                  </a:lnTo>
                  <a:lnTo>
                    <a:pt x="8" y="235"/>
                  </a:lnTo>
                  <a:lnTo>
                    <a:pt x="5" y="240"/>
                  </a:lnTo>
                  <a:lnTo>
                    <a:pt x="3" y="245"/>
                  </a:lnTo>
                  <a:lnTo>
                    <a:pt x="1" y="250"/>
                  </a:lnTo>
                  <a:lnTo>
                    <a:pt x="0" y="255"/>
                  </a:lnTo>
                  <a:lnTo>
                    <a:pt x="0" y="260"/>
                  </a:lnTo>
                  <a:lnTo>
                    <a:pt x="0" y="265"/>
                  </a:lnTo>
                  <a:lnTo>
                    <a:pt x="0" y="272"/>
                  </a:lnTo>
                  <a:lnTo>
                    <a:pt x="1" y="277"/>
                  </a:lnTo>
                  <a:lnTo>
                    <a:pt x="3" y="282"/>
                  </a:lnTo>
                  <a:lnTo>
                    <a:pt x="5" y="285"/>
                  </a:lnTo>
                  <a:lnTo>
                    <a:pt x="8" y="290"/>
                  </a:lnTo>
                  <a:lnTo>
                    <a:pt x="12" y="293"/>
                  </a:lnTo>
                  <a:lnTo>
                    <a:pt x="15" y="298"/>
                  </a:lnTo>
                  <a:lnTo>
                    <a:pt x="24" y="305"/>
                  </a:lnTo>
                  <a:lnTo>
                    <a:pt x="29" y="307"/>
                  </a:lnTo>
                  <a:lnTo>
                    <a:pt x="35" y="310"/>
                  </a:lnTo>
                  <a:lnTo>
                    <a:pt x="42" y="312"/>
                  </a:lnTo>
                  <a:lnTo>
                    <a:pt x="47" y="313"/>
                  </a:lnTo>
                  <a:lnTo>
                    <a:pt x="54" y="315"/>
                  </a:lnTo>
                  <a:lnTo>
                    <a:pt x="59" y="315"/>
                  </a:lnTo>
                  <a:lnTo>
                    <a:pt x="64" y="315"/>
                  </a:lnTo>
                  <a:lnTo>
                    <a:pt x="59" y="315"/>
                  </a:lnTo>
                  <a:lnTo>
                    <a:pt x="52" y="315"/>
                  </a:lnTo>
                  <a:lnTo>
                    <a:pt x="45" y="317"/>
                  </a:lnTo>
                  <a:lnTo>
                    <a:pt x="40" y="318"/>
                  </a:lnTo>
                  <a:lnTo>
                    <a:pt x="35" y="320"/>
                  </a:lnTo>
                  <a:lnTo>
                    <a:pt x="29" y="322"/>
                  </a:lnTo>
                  <a:lnTo>
                    <a:pt x="19" y="328"/>
                  </a:lnTo>
                  <a:lnTo>
                    <a:pt x="15" y="332"/>
                  </a:lnTo>
                  <a:lnTo>
                    <a:pt x="12" y="337"/>
                  </a:lnTo>
                  <a:lnTo>
                    <a:pt x="8" y="340"/>
                  </a:lnTo>
                  <a:lnTo>
                    <a:pt x="5" y="345"/>
                  </a:lnTo>
                  <a:lnTo>
                    <a:pt x="3" y="350"/>
                  </a:lnTo>
                  <a:lnTo>
                    <a:pt x="1" y="355"/>
                  </a:lnTo>
                  <a:lnTo>
                    <a:pt x="0" y="360"/>
                  </a:lnTo>
                  <a:lnTo>
                    <a:pt x="0" y="365"/>
                  </a:lnTo>
                  <a:lnTo>
                    <a:pt x="0" y="370"/>
                  </a:lnTo>
                  <a:lnTo>
                    <a:pt x="0" y="375"/>
                  </a:lnTo>
                  <a:lnTo>
                    <a:pt x="1" y="380"/>
                  </a:lnTo>
                  <a:lnTo>
                    <a:pt x="3" y="385"/>
                  </a:lnTo>
                  <a:lnTo>
                    <a:pt x="5" y="390"/>
                  </a:lnTo>
                  <a:lnTo>
                    <a:pt x="8" y="395"/>
                  </a:lnTo>
                  <a:lnTo>
                    <a:pt x="12" y="399"/>
                  </a:lnTo>
                  <a:lnTo>
                    <a:pt x="15" y="402"/>
                  </a:lnTo>
                  <a:lnTo>
                    <a:pt x="24" y="409"/>
                  </a:lnTo>
                  <a:lnTo>
                    <a:pt x="29" y="412"/>
                  </a:lnTo>
                  <a:lnTo>
                    <a:pt x="35" y="415"/>
                  </a:lnTo>
                  <a:lnTo>
                    <a:pt x="42" y="417"/>
                  </a:lnTo>
                  <a:lnTo>
                    <a:pt x="47" y="419"/>
                  </a:lnTo>
                  <a:lnTo>
                    <a:pt x="54" y="419"/>
                  </a:lnTo>
                  <a:lnTo>
                    <a:pt x="59" y="420"/>
                  </a:lnTo>
                  <a:lnTo>
                    <a:pt x="64" y="42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" name="Line 272"/>
            <p:cNvSpPr>
              <a:spLocks noChangeShapeType="1"/>
            </p:cNvSpPr>
            <p:nvPr/>
          </p:nvSpPr>
          <p:spPr bwMode="auto">
            <a:xfrm>
              <a:off x="4359" y="1397"/>
              <a:ext cx="1" cy="19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" name="Line 273"/>
            <p:cNvSpPr>
              <a:spLocks noChangeShapeType="1"/>
            </p:cNvSpPr>
            <p:nvPr/>
          </p:nvSpPr>
          <p:spPr bwMode="auto">
            <a:xfrm flipV="1">
              <a:off x="4372" y="1397"/>
              <a:ext cx="1" cy="19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0" name="Freeform 274"/>
            <p:cNvSpPr>
              <a:spLocks/>
            </p:cNvSpPr>
            <p:nvPr/>
          </p:nvSpPr>
          <p:spPr bwMode="auto">
            <a:xfrm>
              <a:off x="4420" y="1400"/>
              <a:ext cx="28" cy="27"/>
            </a:xfrm>
            <a:custGeom>
              <a:avLst/>
              <a:gdLst>
                <a:gd name="T0" fmla="*/ 0 w 55"/>
                <a:gd name="T1" fmla="*/ 1 h 53"/>
                <a:gd name="T2" fmla="*/ 1 w 55"/>
                <a:gd name="T3" fmla="*/ 1 h 53"/>
                <a:gd name="T4" fmla="*/ 1 w 55"/>
                <a:gd name="T5" fmla="*/ 1 h 53"/>
                <a:gd name="T6" fmla="*/ 1 w 55"/>
                <a:gd name="T7" fmla="*/ 1 h 53"/>
                <a:gd name="T8" fmla="*/ 1 w 55"/>
                <a:gd name="T9" fmla="*/ 1 h 53"/>
                <a:gd name="T10" fmla="*/ 1 w 55"/>
                <a:gd name="T11" fmla="*/ 1 h 53"/>
                <a:gd name="T12" fmla="*/ 1 w 55"/>
                <a:gd name="T13" fmla="*/ 1 h 53"/>
                <a:gd name="T14" fmla="*/ 1 w 55"/>
                <a:gd name="T15" fmla="*/ 0 h 53"/>
                <a:gd name="T16" fmla="*/ 1 w 55"/>
                <a:gd name="T17" fmla="*/ 0 h 53"/>
                <a:gd name="T18" fmla="*/ 1 w 55"/>
                <a:gd name="T19" fmla="*/ 0 h 53"/>
                <a:gd name="T20" fmla="*/ 1 w 55"/>
                <a:gd name="T21" fmla="*/ 1 h 53"/>
                <a:gd name="T22" fmla="*/ 1 w 55"/>
                <a:gd name="T23" fmla="*/ 1 h 53"/>
                <a:gd name="T24" fmla="*/ 1 w 55"/>
                <a:gd name="T25" fmla="*/ 1 h 53"/>
                <a:gd name="T26" fmla="*/ 1 w 55"/>
                <a:gd name="T27" fmla="*/ 1 h 53"/>
                <a:gd name="T28" fmla="*/ 1 w 55"/>
                <a:gd name="T29" fmla="*/ 1 h 53"/>
                <a:gd name="T30" fmla="*/ 1 w 55"/>
                <a:gd name="T31" fmla="*/ 1 h 53"/>
                <a:gd name="T32" fmla="*/ 1 w 55"/>
                <a:gd name="T33" fmla="*/ 1 h 53"/>
                <a:gd name="T34" fmla="*/ 1 w 55"/>
                <a:gd name="T35" fmla="*/ 1 h 53"/>
                <a:gd name="T36" fmla="*/ 1 w 55"/>
                <a:gd name="T37" fmla="*/ 1 h 53"/>
                <a:gd name="T38" fmla="*/ 1 w 55"/>
                <a:gd name="T39" fmla="*/ 1 h 53"/>
                <a:gd name="T40" fmla="*/ 1 w 55"/>
                <a:gd name="T41" fmla="*/ 1 h 53"/>
                <a:gd name="T42" fmla="*/ 1 w 55"/>
                <a:gd name="T43" fmla="*/ 1 h 53"/>
                <a:gd name="T44" fmla="*/ 1 w 55"/>
                <a:gd name="T45" fmla="*/ 1 h 53"/>
                <a:gd name="T46" fmla="*/ 1 w 55"/>
                <a:gd name="T47" fmla="*/ 1 h 53"/>
                <a:gd name="T48" fmla="*/ 1 w 55"/>
                <a:gd name="T49" fmla="*/ 1 h 53"/>
                <a:gd name="T50" fmla="*/ 1 w 55"/>
                <a:gd name="T51" fmla="*/ 1 h 53"/>
                <a:gd name="T52" fmla="*/ 1 w 55"/>
                <a:gd name="T53" fmla="*/ 1 h 53"/>
                <a:gd name="T54" fmla="*/ 1 w 55"/>
                <a:gd name="T55" fmla="*/ 1 h 53"/>
                <a:gd name="T56" fmla="*/ 1 w 55"/>
                <a:gd name="T57" fmla="*/ 1 h 53"/>
                <a:gd name="T58" fmla="*/ 1 w 55"/>
                <a:gd name="T59" fmla="*/ 1 h 53"/>
                <a:gd name="T60" fmla="*/ 1 w 55"/>
                <a:gd name="T61" fmla="*/ 1 h 53"/>
                <a:gd name="T62" fmla="*/ 1 w 55"/>
                <a:gd name="T63" fmla="*/ 1 h 53"/>
                <a:gd name="T64" fmla="*/ 1 w 55"/>
                <a:gd name="T65" fmla="*/ 1 h 53"/>
                <a:gd name="T66" fmla="*/ 0 w 55"/>
                <a:gd name="T67" fmla="*/ 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5"/>
                <a:gd name="T103" fmla="*/ 0 h 53"/>
                <a:gd name="T104" fmla="*/ 55 w 55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5" h="53">
                  <a:moveTo>
                    <a:pt x="0" y="26"/>
                  </a:moveTo>
                  <a:lnTo>
                    <a:pt x="1" y="21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8" y="6"/>
                  </a:lnTo>
                  <a:lnTo>
                    <a:pt x="12" y="5"/>
                  </a:lnTo>
                  <a:lnTo>
                    <a:pt x="17" y="1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40" y="1"/>
                  </a:lnTo>
                  <a:lnTo>
                    <a:pt x="43" y="5"/>
                  </a:lnTo>
                  <a:lnTo>
                    <a:pt x="48" y="6"/>
                  </a:lnTo>
                  <a:lnTo>
                    <a:pt x="52" y="11"/>
                  </a:lnTo>
                  <a:lnTo>
                    <a:pt x="54" y="16"/>
                  </a:lnTo>
                  <a:lnTo>
                    <a:pt x="55" y="21"/>
                  </a:lnTo>
                  <a:lnTo>
                    <a:pt x="55" y="26"/>
                  </a:lnTo>
                  <a:lnTo>
                    <a:pt x="55" y="31"/>
                  </a:lnTo>
                  <a:lnTo>
                    <a:pt x="54" y="36"/>
                  </a:lnTo>
                  <a:lnTo>
                    <a:pt x="52" y="41"/>
                  </a:lnTo>
                  <a:lnTo>
                    <a:pt x="48" y="45"/>
                  </a:lnTo>
                  <a:lnTo>
                    <a:pt x="43" y="48"/>
                  </a:lnTo>
                  <a:lnTo>
                    <a:pt x="40" y="51"/>
                  </a:lnTo>
                  <a:lnTo>
                    <a:pt x="35" y="51"/>
                  </a:lnTo>
                  <a:lnTo>
                    <a:pt x="28" y="53"/>
                  </a:lnTo>
                  <a:lnTo>
                    <a:pt x="22" y="51"/>
                  </a:lnTo>
                  <a:lnTo>
                    <a:pt x="17" y="51"/>
                  </a:lnTo>
                  <a:lnTo>
                    <a:pt x="12" y="48"/>
                  </a:lnTo>
                  <a:lnTo>
                    <a:pt x="8" y="45"/>
                  </a:lnTo>
                  <a:lnTo>
                    <a:pt x="5" y="41"/>
                  </a:lnTo>
                  <a:lnTo>
                    <a:pt x="3" y="36"/>
                  </a:lnTo>
                  <a:lnTo>
                    <a:pt x="1" y="31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1" name="Line 275"/>
            <p:cNvSpPr>
              <a:spLocks noChangeShapeType="1"/>
            </p:cNvSpPr>
            <p:nvPr/>
          </p:nvSpPr>
          <p:spPr bwMode="auto">
            <a:xfrm flipH="1">
              <a:off x="4038" y="920"/>
              <a:ext cx="153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2" name="Freeform 276"/>
            <p:cNvSpPr>
              <a:spLocks/>
            </p:cNvSpPr>
            <p:nvPr/>
          </p:nvSpPr>
          <p:spPr bwMode="auto">
            <a:xfrm>
              <a:off x="4040" y="1770"/>
              <a:ext cx="175" cy="115"/>
            </a:xfrm>
            <a:custGeom>
              <a:avLst/>
              <a:gdLst>
                <a:gd name="T0" fmla="*/ 1 w 352"/>
                <a:gd name="T1" fmla="*/ 0 h 231"/>
                <a:gd name="T2" fmla="*/ 0 w 352"/>
                <a:gd name="T3" fmla="*/ 0 h 231"/>
                <a:gd name="T4" fmla="*/ 0 w 352"/>
                <a:gd name="T5" fmla="*/ 0 h 231"/>
                <a:gd name="T6" fmla="*/ 0 60000 65536"/>
                <a:gd name="T7" fmla="*/ 0 60000 65536"/>
                <a:gd name="T8" fmla="*/ 0 60000 65536"/>
                <a:gd name="T9" fmla="*/ 0 w 352"/>
                <a:gd name="T10" fmla="*/ 0 h 231"/>
                <a:gd name="T11" fmla="*/ 352 w 352"/>
                <a:gd name="T12" fmla="*/ 231 h 2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2" h="231">
                  <a:moveTo>
                    <a:pt x="352" y="231"/>
                  </a:moveTo>
                  <a:lnTo>
                    <a:pt x="0" y="231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" name="Line 277"/>
            <p:cNvSpPr>
              <a:spLocks noChangeShapeType="1"/>
            </p:cNvSpPr>
            <p:nvPr/>
          </p:nvSpPr>
          <p:spPr bwMode="auto">
            <a:xfrm flipH="1">
              <a:off x="4040" y="1550"/>
              <a:ext cx="175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" name="Freeform 278"/>
            <p:cNvSpPr>
              <a:spLocks/>
            </p:cNvSpPr>
            <p:nvPr/>
          </p:nvSpPr>
          <p:spPr bwMode="auto">
            <a:xfrm>
              <a:off x="4026" y="1536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6" y="12"/>
                  </a:lnTo>
                  <a:lnTo>
                    <a:pt x="9" y="9"/>
                  </a:lnTo>
                  <a:lnTo>
                    <a:pt x="13" y="5"/>
                  </a:lnTo>
                  <a:lnTo>
                    <a:pt x="18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9" y="2"/>
                  </a:lnTo>
                  <a:lnTo>
                    <a:pt x="44" y="5"/>
                  </a:lnTo>
                  <a:lnTo>
                    <a:pt x="47" y="9"/>
                  </a:lnTo>
                  <a:lnTo>
                    <a:pt x="51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1" y="42"/>
                  </a:lnTo>
                  <a:lnTo>
                    <a:pt x="47" y="45"/>
                  </a:lnTo>
                  <a:lnTo>
                    <a:pt x="44" y="49"/>
                  </a:lnTo>
                  <a:lnTo>
                    <a:pt x="39" y="52"/>
                  </a:lnTo>
                  <a:lnTo>
                    <a:pt x="34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8" y="52"/>
                  </a:lnTo>
                  <a:lnTo>
                    <a:pt x="13" y="49"/>
                  </a:lnTo>
                  <a:lnTo>
                    <a:pt x="9" y="45"/>
                  </a:lnTo>
                  <a:lnTo>
                    <a:pt x="6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" name="Freeform 279"/>
            <p:cNvSpPr>
              <a:spLocks/>
            </p:cNvSpPr>
            <p:nvPr/>
          </p:nvSpPr>
          <p:spPr bwMode="auto">
            <a:xfrm>
              <a:off x="4026" y="1872"/>
              <a:ext cx="28" cy="26"/>
            </a:xfrm>
            <a:custGeom>
              <a:avLst/>
              <a:gdLst>
                <a:gd name="T0" fmla="*/ 0 w 56"/>
                <a:gd name="T1" fmla="*/ 0 h 54"/>
                <a:gd name="T2" fmla="*/ 0 w 56"/>
                <a:gd name="T3" fmla="*/ 0 h 54"/>
                <a:gd name="T4" fmla="*/ 1 w 56"/>
                <a:gd name="T5" fmla="*/ 0 h 54"/>
                <a:gd name="T6" fmla="*/ 1 w 56"/>
                <a:gd name="T7" fmla="*/ 0 h 54"/>
                <a:gd name="T8" fmla="*/ 1 w 56"/>
                <a:gd name="T9" fmla="*/ 0 h 54"/>
                <a:gd name="T10" fmla="*/ 1 w 56"/>
                <a:gd name="T11" fmla="*/ 0 h 54"/>
                <a:gd name="T12" fmla="*/ 1 w 56"/>
                <a:gd name="T13" fmla="*/ 0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0 h 54"/>
                <a:gd name="T22" fmla="*/ 1 w 56"/>
                <a:gd name="T23" fmla="*/ 0 h 54"/>
                <a:gd name="T24" fmla="*/ 1 w 56"/>
                <a:gd name="T25" fmla="*/ 0 h 54"/>
                <a:gd name="T26" fmla="*/ 1 w 56"/>
                <a:gd name="T27" fmla="*/ 0 h 54"/>
                <a:gd name="T28" fmla="*/ 1 w 56"/>
                <a:gd name="T29" fmla="*/ 0 h 54"/>
                <a:gd name="T30" fmla="*/ 1 w 56"/>
                <a:gd name="T31" fmla="*/ 0 h 54"/>
                <a:gd name="T32" fmla="*/ 1 w 56"/>
                <a:gd name="T33" fmla="*/ 0 h 54"/>
                <a:gd name="T34" fmla="*/ 1 w 56"/>
                <a:gd name="T35" fmla="*/ 0 h 54"/>
                <a:gd name="T36" fmla="*/ 1 w 56"/>
                <a:gd name="T37" fmla="*/ 0 h 54"/>
                <a:gd name="T38" fmla="*/ 1 w 56"/>
                <a:gd name="T39" fmla="*/ 0 h 54"/>
                <a:gd name="T40" fmla="*/ 1 w 56"/>
                <a:gd name="T41" fmla="*/ 0 h 54"/>
                <a:gd name="T42" fmla="*/ 1 w 56"/>
                <a:gd name="T43" fmla="*/ 0 h 54"/>
                <a:gd name="T44" fmla="*/ 1 w 56"/>
                <a:gd name="T45" fmla="*/ 0 h 54"/>
                <a:gd name="T46" fmla="*/ 1 w 56"/>
                <a:gd name="T47" fmla="*/ 0 h 54"/>
                <a:gd name="T48" fmla="*/ 1 w 56"/>
                <a:gd name="T49" fmla="*/ 0 h 54"/>
                <a:gd name="T50" fmla="*/ 1 w 56"/>
                <a:gd name="T51" fmla="*/ 0 h 54"/>
                <a:gd name="T52" fmla="*/ 1 w 56"/>
                <a:gd name="T53" fmla="*/ 0 h 54"/>
                <a:gd name="T54" fmla="*/ 1 w 56"/>
                <a:gd name="T55" fmla="*/ 0 h 54"/>
                <a:gd name="T56" fmla="*/ 1 w 56"/>
                <a:gd name="T57" fmla="*/ 0 h 54"/>
                <a:gd name="T58" fmla="*/ 1 w 56"/>
                <a:gd name="T59" fmla="*/ 0 h 54"/>
                <a:gd name="T60" fmla="*/ 1 w 56"/>
                <a:gd name="T61" fmla="*/ 0 h 54"/>
                <a:gd name="T62" fmla="*/ 1 w 56"/>
                <a:gd name="T63" fmla="*/ 0 h 54"/>
                <a:gd name="T64" fmla="*/ 0 w 56"/>
                <a:gd name="T65" fmla="*/ 0 h 54"/>
                <a:gd name="T66" fmla="*/ 0 w 56"/>
                <a:gd name="T67" fmla="*/ 0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6" y="12"/>
                  </a:lnTo>
                  <a:lnTo>
                    <a:pt x="9" y="9"/>
                  </a:lnTo>
                  <a:lnTo>
                    <a:pt x="13" y="5"/>
                  </a:lnTo>
                  <a:lnTo>
                    <a:pt x="18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9" y="2"/>
                  </a:lnTo>
                  <a:lnTo>
                    <a:pt x="44" y="5"/>
                  </a:lnTo>
                  <a:lnTo>
                    <a:pt x="47" y="9"/>
                  </a:lnTo>
                  <a:lnTo>
                    <a:pt x="51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1" y="42"/>
                  </a:lnTo>
                  <a:lnTo>
                    <a:pt x="47" y="45"/>
                  </a:lnTo>
                  <a:lnTo>
                    <a:pt x="44" y="49"/>
                  </a:lnTo>
                  <a:lnTo>
                    <a:pt x="39" y="52"/>
                  </a:lnTo>
                  <a:lnTo>
                    <a:pt x="34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8" y="52"/>
                  </a:lnTo>
                  <a:lnTo>
                    <a:pt x="13" y="49"/>
                  </a:lnTo>
                  <a:lnTo>
                    <a:pt x="9" y="45"/>
                  </a:lnTo>
                  <a:lnTo>
                    <a:pt x="6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" name="Line 280"/>
            <p:cNvSpPr>
              <a:spLocks noChangeShapeType="1"/>
            </p:cNvSpPr>
            <p:nvPr/>
          </p:nvSpPr>
          <p:spPr bwMode="auto">
            <a:xfrm flipV="1">
              <a:off x="4431" y="1602"/>
              <a:ext cx="1" cy="8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" name="Line 281"/>
            <p:cNvSpPr>
              <a:spLocks noChangeShapeType="1"/>
            </p:cNvSpPr>
            <p:nvPr/>
          </p:nvSpPr>
          <p:spPr bwMode="auto">
            <a:xfrm flipH="1" flipV="1">
              <a:off x="4782" y="1099"/>
              <a:ext cx="3" cy="5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" name="Line 282"/>
            <p:cNvSpPr>
              <a:spLocks noChangeShapeType="1"/>
            </p:cNvSpPr>
            <p:nvPr/>
          </p:nvSpPr>
          <p:spPr bwMode="auto">
            <a:xfrm>
              <a:off x="4782" y="1099"/>
              <a:ext cx="166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" name="Line 283"/>
            <p:cNvSpPr>
              <a:spLocks noChangeShapeType="1"/>
            </p:cNvSpPr>
            <p:nvPr/>
          </p:nvSpPr>
          <p:spPr bwMode="auto">
            <a:xfrm>
              <a:off x="5447" y="1301"/>
              <a:ext cx="1" cy="4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" name="Freeform 284"/>
            <p:cNvSpPr>
              <a:spLocks/>
            </p:cNvSpPr>
            <p:nvPr/>
          </p:nvSpPr>
          <p:spPr bwMode="auto">
            <a:xfrm>
              <a:off x="4431" y="1392"/>
              <a:ext cx="1011" cy="1"/>
            </a:xfrm>
            <a:custGeom>
              <a:avLst/>
              <a:gdLst>
                <a:gd name="T0" fmla="*/ 0 w 2022"/>
                <a:gd name="T1" fmla="*/ 0 h 1"/>
                <a:gd name="T2" fmla="*/ 8 w 2022"/>
                <a:gd name="T3" fmla="*/ 0 h 1"/>
                <a:gd name="T4" fmla="*/ 8 w 2022"/>
                <a:gd name="T5" fmla="*/ 0 h 1"/>
                <a:gd name="T6" fmla="*/ 0 60000 65536"/>
                <a:gd name="T7" fmla="*/ 0 60000 65536"/>
                <a:gd name="T8" fmla="*/ 0 60000 65536"/>
                <a:gd name="T9" fmla="*/ 0 w 2022"/>
                <a:gd name="T10" fmla="*/ 0 h 1"/>
                <a:gd name="T11" fmla="*/ 2022 w 20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22" h="1">
                  <a:moveTo>
                    <a:pt x="0" y="0"/>
                  </a:moveTo>
                  <a:lnTo>
                    <a:pt x="2022" y="0"/>
                  </a:lnTo>
                  <a:lnTo>
                    <a:pt x="2014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" name="Line 285"/>
            <p:cNvSpPr>
              <a:spLocks noChangeShapeType="1"/>
            </p:cNvSpPr>
            <p:nvPr/>
          </p:nvSpPr>
          <p:spPr bwMode="auto">
            <a:xfrm>
              <a:off x="5447" y="1350"/>
              <a:ext cx="1" cy="4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" name="Line 286"/>
            <p:cNvSpPr>
              <a:spLocks noChangeShapeType="1"/>
            </p:cNvSpPr>
            <p:nvPr/>
          </p:nvSpPr>
          <p:spPr bwMode="auto">
            <a:xfrm>
              <a:off x="5271" y="1350"/>
              <a:ext cx="1" cy="4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" name="Freeform 287"/>
            <p:cNvSpPr>
              <a:spLocks/>
            </p:cNvSpPr>
            <p:nvPr/>
          </p:nvSpPr>
          <p:spPr bwMode="auto">
            <a:xfrm>
              <a:off x="5257" y="1379"/>
              <a:ext cx="28" cy="27"/>
            </a:xfrm>
            <a:custGeom>
              <a:avLst/>
              <a:gdLst>
                <a:gd name="T0" fmla="*/ 0 w 56"/>
                <a:gd name="T1" fmla="*/ 1 h 53"/>
                <a:gd name="T2" fmla="*/ 0 w 56"/>
                <a:gd name="T3" fmla="*/ 1 h 53"/>
                <a:gd name="T4" fmla="*/ 1 w 56"/>
                <a:gd name="T5" fmla="*/ 1 h 53"/>
                <a:gd name="T6" fmla="*/ 1 w 56"/>
                <a:gd name="T7" fmla="*/ 1 h 53"/>
                <a:gd name="T8" fmla="*/ 1 w 56"/>
                <a:gd name="T9" fmla="*/ 1 h 53"/>
                <a:gd name="T10" fmla="*/ 1 w 56"/>
                <a:gd name="T11" fmla="*/ 1 h 53"/>
                <a:gd name="T12" fmla="*/ 1 w 56"/>
                <a:gd name="T13" fmla="*/ 1 h 53"/>
                <a:gd name="T14" fmla="*/ 1 w 56"/>
                <a:gd name="T15" fmla="*/ 0 h 53"/>
                <a:gd name="T16" fmla="*/ 1 w 56"/>
                <a:gd name="T17" fmla="*/ 0 h 53"/>
                <a:gd name="T18" fmla="*/ 1 w 56"/>
                <a:gd name="T19" fmla="*/ 0 h 53"/>
                <a:gd name="T20" fmla="*/ 1 w 56"/>
                <a:gd name="T21" fmla="*/ 1 h 53"/>
                <a:gd name="T22" fmla="*/ 1 w 56"/>
                <a:gd name="T23" fmla="*/ 1 h 53"/>
                <a:gd name="T24" fmla="*/ 1 w 56"/>
                <a:gd name="T25" fmla="*/ 1 h 53"/>
                <a:gd name="T26" fmla="*/ 1 w 56"/>
                <a:gd name="T27" fmla="*/ 1 h 53"/>
                <a:gd name="T28" fmla="*/ 1 w 56"/>
                <a:gd name="T29" fmla="*/ 1 h 53"/>
                <a:gd name="T30" fmla="*/ 1 w 56"/>
                <a:gd name="T31" fmla="*/ 1 h 53"/>
                <a:gd name="T32" fmla="*/ 1 w 56"/>
                <a:gd name="T33" fmla="*/ 1 h 53"/>
                <a:gd name="T34" fmla="*/ 1 w 56"/>
                <a:gd name="T35" fmla="*/ 1 h 53"/>
                <a:gd name="T36" fmla="*/ 1 w 56"/>
                <a:gd name="T37" fmla="*/ 1 h 53"/>
                <a:gd name="T38" fmla="*/ 1 w 56"/>
                <a:gd name="T39" fmla="*/ 1 h 53"/>
                <a:gd name="T40" fmla="*/ 1 w 56"/>
                <a:gd name="T41" fmla="*/ 1 h 53"/>
                <a:gd name="T42" fmla="*/ 1 w 56"/>
                <a:gd name="T43" fmla="*/ 1 h 53"/>
                <a:gd name="T44" fmla="*/ 1 w 56"/>
                <a:gd name="T45" fmla="*/ 1 h 53"/>
                <a:gd name="T46" fmla="*/ 1 w 56"/>
                <a:gd name="T47" fmla="*/ 1 h 53"/>
                <a:gd name="T48" fmla="*/ 1 w 56"/>
                <a:gd name="T49" fmla="*/ 1 h 53"/>
                <a:gd name="T50" fmla="*/ 1 w 56"/>
                <a:gd name="T51" fmla="*/ 1 h 53"/>
                <a:gd name="T52" fmla="*/ 1 w 56"/>
                <a:gd name="T53" fmla="*/ 1 h 53"/>
                <a:gd name="T54" fmla="*/ 1 w 56"/>
                <a:gd name="T55" fmla="*/ 1 h 53"/>
                <a:gd name="T56" fmla="*/ 1 w 56"/>
                <a:gd name="T57" fmla="*/ 1 h 53"/>
                <a:gd name="T58" fmla="*/ 1 w 56"/>
                <a:gd name="T59" fmla="*/ 1 h 53"/>
                <a:gd name="T60" fmla="*/ 1 w 56"/>
                <a:gd name="T61" fmla="*/ 1 h 53"/>
                <a:gd name="T62" fmla="*/ 1 w 56"/>
                <a:gd name="T63" fmla="*/ 1 h 53"/>
                <a:gd name="T64" fmla="*/ 0 w 56"/>
                <a:gd name="T65" fmla="*/ 1 h 53"/>
                <a:gd name="T66" fmla="*/ 0 w 56"/>
                <a:gd name="T67" fmla="*/ 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3"/>
                <a:gd name="T104" fmla="*/ 56 w 56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3">
                  <a:moveTo>
                    <a:pt x="0" y="26"/>
                  </a:moveTo>
                  <a:lnTo>
                    <a:pt x="0" y="21"/>
                  </a:lnTo>
                  <a:lnTo>
                    <a:pt x="2" y="16"/>
                  </a:lnTo>
                  <a:lnTo>
                    <a:pt x="5" y="11"/>
                  </a:lnTo>
                  <a:lnTo>
                    <a:pt x="7" y="6"/>
                  </a:lnTo>
                  <a:lnTo>
                    <a:pt x="12" y="3"/>
                  </a:lnTo>
                  <a:lnTo>
                    <a:pt x="17" y="1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38" y="1"/>
                  </a:lnTo>
                  <a:lnTo>
                    <a:pt x="44" y="3"/>
                  </a:lnTo>
                  <a:lnTo>
                    <a:pt x="47" y="6"/>
                  </a:lnTo>
                  <a:lnTo>
                    <a:pt x="51" y="11"/>
                  </a:lnTo>
                  <a:lnTo>
                    <a:pt x="54" y="16"/>
                  </a:lnTo>
                  <a:lnTo>
                    <a:pt x="54" y="21"/>
                  </a:lnTo>
                  <a:lnTo>
                    <a:pt x="56" y="26"/>
                  </a:lnTo>
                  <a:lnTo>
                    <a:pt x="54" y="31"/>
                  </a:lnTo>
                  <a:lnTo>
                    <a:pt x="54" y="36"/>
                  </a:lnTo>
                  <a:lnTo>
                    <a:pt x="51" y="42"/>
                  </a:lnTo>
                  <a:lnTo>
                    <a:pt x="47" y="45"/>
                  </a:lnTo>
                  <a:lnTo>
                    <a:pt x="44" y="48"/>
                  </a:lnTo>
                  <a:lnTo>
                    <a:pt x="38" y="52"/>
                  </a:lnTo>
                  <a:lnTo>
                    <a:pt x="33" y="52"/>
                  </a:lnTo>
                  <a:lnTo>
                    <a:pt x="28" y="53"/>
                  </a:lnTo>
                  <a:lnTo>
                    <a:pt x="23" y="52"/>
                  </a:lnTo>
                  <a:lnTo>
                    <a:pt x="17" y="52"/>
                  </a:lnTo>
                  <a:lnTo>
                    <a:pt x="12" y="48"/>
                  </a:lnTo>
                  <a:lnTo>
                    <a:pt x="7" y="45"/>
                  </a:lnTo>
                  <a:lnTo>
                    <a:pt x="5" y="42"/>
                  </a:lnTo>
                  <a:lnTo>
                    <a:pt x="2" y="36"/>
                  </a:lnTo>
                  <a:lnTo>
                    <a:pt x="0" y="31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4" name="Freeform 288"/>
            <p:cNvSpPr>
              <a:spLocks/>
            </p:cNvSpPr>
            <p:nvPr/>
          </p:nvSpPr>
          <p:spPr bwMode="auto">
            <a:xfrm>
              <a:off x="4768" y="1085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0"/>
                  </a:lnTo>
                  <a:lnTo>
                    <a:pt x="2" y="15"/>
                  </a:lnTo>
                  <a:lnTo>
                    <a:pt x="5" y="12"/>
                  </a:lnTo>
                  <a:lnTo>
                    <a:pt x="7" y="7"/>
                  </a:lnTo>
                  <a:lnTo>
                    <a:pt x="12" y="4"/>
                  </a:lnTo>
                  <a:lnTo>
                    <a:pt x="17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38" y="2"/>
                  </a:lnTo>
                  <a:lnTo>
                    <a:pt x="44" y="4"/>
                  </a:lnTo>
                  <a:lnTo>
                    <a:pt x="47" y="7"/>
                  </a:lnTo>
                  <a:lnTo>
                    <a:pt x="51" y="12"/>
                  </a:lnTo>
                  <a:lnTo>
                    <a:pt x="54" y="15"/>
                  </a:lnTo>
                  <a:lnTo>
                    <a:pt x="54" y="20"/>
                  </a:lnTo>
                  <a:lnTo>
                    <a:pt x="56" y="27"/>
                  </a:lnTo>
                  <a:lnTo>
                    <a:pt x="54" y="32"/>
                  </a:lnTo>
                  <a:lnTo>
                    <a:pt x="54" y="37"/>
                  </a:lnTo>
                  <a:lnTo>
                    <a:pt x="51" y="42"/>
                  </a:lnTo>
                  <a:lnTo>
                    <a:pt x="47" y="46"/>
                  </a:lnTo>
                  <a:lnTo>
                    <a:pt x="44" y="49"/>
                  </a:lnTo>
                  <a:lnTo>
                    <a:pt x="38" y="51"/>
                  </a:lnTo>
                  <a:lnTo>
                    <a:pt x="33" y="52"/>
                  </a:lnTo>
                  <a:lnTo>
                    <a:pt x="28" y="54"/>
                  </a:lnTo>
                  <a:lnTo>
                    <a:pt x="23" y="52"/>
                  </a:lnTo>
                  <a:lnTo>
                    <a:pt x="17" y="51"/>
                  </a:lnTo>
                  <a:lnTo>
                    <a:pt x="12" y="49"/>
                  </a:lnTo>
                  <a:lnTo>
                    <a:pt x="7" y="46"/>
                  </a:lnTo>
                  <a:lnTo>
                    <a:pt x="5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" name="Rectangle 293"/>
            <p:cNvSpPr>
              <a:spLocks noChangeArrowheads="1"/>
            </p:cNvSpPr>
            <p:nvPr/>
          </p:nvSpPr>
          <p:spPr bwMode="auto">
            <a:xfrm>
              <a:off x="4505" y="1504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346" name="Rectangle 294"/>
            <p:cNvSpPr>
              <a:spLocks noChangeArrowheads="1"/>
            </p:cNvSpPr>
            <p:nvPr/>
          </p:nvSpPr>
          <p:spPr bwMode="auto">
            <a:xfrm>
              <a:off x="4449" y="1464"/>
              <a:ext cx="59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347" name="Line 295"/>
            <p:cNvSpPr>
              <a:spLocks noChangeShapeType="1"/>
            </p:cNvSpPr>
            <p:nvPr/>
          </p:nvSpPr>
          <p:spPr bwMode="auto">
            <a:xfrm flipH="1">
              <a:off x="3408" y="1885"/>
              <a:ext cx="767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" name="Line 296"/>
            <p:cNvSpPr>
              <a:spLocks noChangeShapeType="1"/>
            </p:cNvSpPr>
            <p:nvPr/>
          </p:nvSpPr>
          <p:spPr bwMode="auto">
            <a:xfrm flipH="1">
              <a:off x="3408" y="920"/>
              <a:ext cx="70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" name="Line 297"/>
            <p:cNvSpPr>
              <a:spLocks noChangeShapeType="1"/>
            </p:cNvSpPr>
            <p:nvPr/>
          </p:nvSpPr>
          <p:spPr bwMode="auto">
            <a:xfrm flipV="1">
              <a:off x="4038" y="920"/>
              <a:ext cx="1" cy="11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" name="Line 298"/>
            <p:cNvSpPr>
              <a:spLocks noChangeShapeType="1"/>
            </p:cNvSpPr>
            <p:nvPr/>
          </p:nvSpPr>
          <p:spPr bwMode="auto">
            <a:xfrm>
              <a:off x="4038" y="1140"/>
              <a:ext cx="2" cy="41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" name="Line 299"/>
            <p:cNvSpPr>
              <a:spLocks noChangeShapeType="1"/>
            </p:cNvSpPr>
            <p:nvPr/>
          </p:nvSpPr>
          <p:spPr bwMode="auto">
            <a:xfrm>
              <a:off x="4040" y="1550"/>
              <a:ext cx="1" cy="11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" name="Line 300"/>
            <p:cNvSpPr>
              <a:spLocks noChangeShapeType="1"/>
            </p:cNvSpPr>
            <p:nvPr/>
          </p:nvSpPr>
          <p:spPr bwMode="auto">
            <a:xfrm flipH="1">
              <a:off x="4038" y="1256"/>
              <a:ext cx="153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" name="Line 301"/>
            <p:cNvSpPr>
              <a:spLocks noChangeShapeType="1"/>
            </p:cNvSpPr>
            <p:nvPr/>
          </p:nvSpPr>
          <p:spPr bwMode="auto">
            <a:xfrm flipH="1">
              <a:off x="4040" y="1298"/>
              <a:ext cx="266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4" name="Line 302"/>
            <p:cNvSpPr>
              <a:spLocks noChangeShapeType="1"/>
            </p:cNvSpPr>
            <p:nvPr/>
          </p:nvSpPr>
          <p:spPr bwMode="auto">
            <a:xfrm flipH="1">
              <a:off x="3707" y="1508"/>
              <a:ext cx="599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5" name="Freeform 303"/>
            <p:cNvSpPr>
              <a:spLocks/>
            </p:cNvSpPr>
            <p:nvPr/>
          </p:nvSpPr>
          <p:spPr bwMode="auto">
            <a:xfrm>
              <a:off x="4026" y="1286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1 h 54"/>
                <a:gd name="T16" fmla="*/ 1 w 56"/>
                <a:gd name="T17" fmla="*/ 0 h 54"/>
                <a:gd name="T18" fmla="*/ 1 w 56"/>
                <a:gd name="T19" fmla="*/ 1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6" y="12"/>
                  </a:lnTo>
                  <a:lnTo>
                    <a:pt x="9" y="8"/>
                  </a:lnTo>
                  <a:lnTo>
                    <a:pt x="13" y="5"/>
                  </a:lnTo>
                  <a:lnTo>
                    <a:pt x="18" y="3"/>
                  </a:lnTo>
                  <a:lnTo>
                    <a:pt x="23" y="2"/>
                  </a:lnTo>
                  <a:lnTo>
                    <a:pt x="28" y="0"/>
                  </a:lnTo>
                  <a:lnTo>
                    <a:pt x="34" y="2"/>
                  </a:lnTo>
                  <a:lnTo>
                    <a:pt x="39" y="3"/>
                  </a:lnTo>
                  <a:lnTo>
                    <a:pt x="44" y="5"/>
                  </a:lnTo>
                  <a:lnTo>
                    <a:pt x="47" y="8"/>
                  </a:lnTo>
                  <a:lnTo>
                    <a:pt x="51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3"/>
                  </a:lnTo>
                  <a:lnTo>
                    <a:pt x="54" y="38"/>
                  </a:lnTo>
                  <a:lnTo>
                    <a:pt x="51" y="42"/>
                  </a:lnTo>
                  <a:lnTo>
                    <a:pt x="47" y="47"/>
                  </a:lnTo>
                  <a:lnTo>
                    <a:pt x="44" y="50"/>
                  </a:lnTo>
                  <a:lnTo>
                    <a:pt x="39" y="52"/>
                  </a:lnTo>
                  <a:lnTo>
                    <a:pt x="34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8" y="52"/>
                  </a:lnTo>
                  <a:lnTo>
                    <a:pt x="13" y="50"/>
                  </a:lnTo>
                  <a:lnTo>
                    <a:pt x="9" y="47"/>
                  </a:lnTo>
                  <a:lnTo>
                    <a:pt x="6" y="42"/>
                  </a:lnTo>
                  <a:lnTo>
                    <a:pt x="2" y="38"/>
                  </a:lnTo>
                  <a:lnTo>
                    <a:pt x="0" y="33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6" name="Freeform 304"/>
            <p:cNvSpPr>
              <a:spLocks/>
            </p:cNvSpPr>
            <p:nvPr/>
          </p:nvSpPr>
          <p:spPr bwMode="auto">
            <a:xfrm>
              <a:off x="4026" y="1242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0"/>
                  </a:lnTo>
                  <a:lnTo>
                    <a:pt x="2" y="15"/>
                  </a:lnTo>
                  <a:lnTo>
                    <a:pt x="6" y="12"/>
                  </a:lnTo>
                  <a:lnTo>
                    <a:pt x="9" y="7"/>
                  </a:lnTo>
                  <a:lnTo>
                    <a:pt x="13" y="3"/>
                  </a:lnTo>
                  <a:lnTo>
                    <a:pt x="18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9" y="2"/>
                  </a:lnTo>
                  <a:lnTo>
                    <a:pt x="44" y="3"/>
                  </a:lnTo>
                  <a:lnTo>
                    <a:pt x="47" y="7"/>
                  </a:lnTo>
                  <a:lnTo>
                    <a:pt x="51" y="12"/>
                  </a:lnTo>
                  <a:lnTo>
                    <a:pt x="54" y="15"/>
                  </a:lnTo>
                  <a:lnTo>
                    <a:pt x="56" y="20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1" y="42"/>
                  </a:lnTo>
                  <a:lnTo>
                    <a:pt x="47" y="45"/>
                  </a:lnTo>
                  <a:lnTo>
                    <a:pt x="44" y="48"/>
                  </a:lnTo>
                  <a:lnTo>
                    <a:pt x="39" y="50"/>
                  </a:lnTo>
                  <a:lnTo>
                    <a:pt x="34" y="52"/>
                  </a:lnTo>
                  <a:lnTo>
                    <a:pt x="28" y="54"/>
                  </a:lnTo>
                  <a:lnTo>
                    <a:pt x="23" y="52"/>
                  </a:lnTo>
                  <a:lnTo>
                    <a:pt x="18" y="50"/>
                  </a:lnTo>
                  <a:lnTo>
                    <a:pt x="13" y="48"/>
                  </a:lnTo>
                  <a:lnTo>
                    <a:pt x="9" y="45"/>
                  </a:lnTo>
                  <a:lnTo>
                    <a:pt x="6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7" name="Freeform 305"/>
            <p:cNvSpPr>
              <a:spLocks/>
            </p:cNvSpPr>
            <p:nvPr/>
          </p:nvSpPr>
          <p:spPr bwMode="auto">
            <a:xfrm>
              <a:off x="3691" y="1872"/>
              <a:ext cx="28" cy="26"/>
            </a:xfrm>
            <a:custGeom>
              <a:avLst/>
              <a:gdLst>
                <a:gd name="T0" fmla="*/ 0 w 56"/>
                <a:gd name="T1" fmla="*/ 0 h 54"/>
                <a:gd name="T2" fmla="*/ 0 w 56"/>
                <a:gd name="T3" fmla="*/ 0 h 54"/>
                <a:gd name="T4" fmla="*/ 1 w 56"/>
                <a:gd name="T5" fmla="*/ 0 h 54"/>
                <a:gd name="T6" fmla="*/ 1 w 56"/>
                <a:gd name="T7" fmla="*/ 0 h 54"/>
                <a:gd name="T8" fmla="*/ 1 w 56"/>
                <a:gd name="T9" fmla="*/ 0 h 54"/>
                <a:gd name="T10" fmla="*/ 1 w 56"/>
                <a:gd name="T11" fmla="*/ 0 h 54"/>
                <a:gd name="T12" fmla="*/ 1 w 56"/>
                <a:gd name="T13" fmla="*/ 0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0 h 54"/>
                <a:gd name="T22" fmla="*/ 1 w 56"/>
                <a:gd name="T23" fmla="*/ 0 h 54"/>
                <a:gd name="T24" fmla="*/ 1 w 56"/>
                <a:gd name="T25" fmla="*/ 0 h 54"/>
                <a:gd name="T26" fmla="*/ 1 w 56"/>
                <a:gd name="T27" fmla="*/ 0 h 54"/>
                <a:gd name="T28" fmla="*/ 1 w 56"/>
                <a:gd name="T29" fmla="*/ 0 h 54"/>
                <a:gd name="T30" fmla="*/ 1 w 56"/>
                <a:gd name="T31" fmla="*/ 0 h 54"/>
                <a:gd name="T32" fmla="*/ 1 w 56"/>
                <a:gd name="T33" fmla="*/ 0 h 54"/>
                <a:gd name="T34" fmla="*/ 1 w 56"/>
                <a:gd name="T35" fmla="*/ 0 h 54"/>
                <a:gd name="T36" fmla="*/ 1 w 56"/>
                <a:gd name="T37" fmla="*/ 0 h 54"/>
                <a:gd name="T38" fmla="*/ 1 w 56"/>
                <a:gd name="T39" fmla="*/ 0 h 54"/>
                <a:gd name="T40" fmla="*/ 1 w 56"/>
                <a:gd name="T41" fmla="*/ 0 h 54"/>
                <a:gd name="T42" fmla="*/ 1 w 56"/>
                <a:gd name="T43" fmla="*/ 0 h 54"/>
                <a:gd name="T44" fmla="*/ 1 w 56"/>
                <a:gd name="T45" fmla="*/ 0 h 54"/>
                <a:gd name="T46" fmla="*/ 1 w 56"/>
                <a:gd name="T47" fmla="*/ 0 h 54"/>
                <a:gd name="T48" fmla="*/ 1 w 56"/>
                <a:gd name="T49" fmla="*/ 0 h 54"/>
                <a:gd name="T50" fmla="*/ 1 w 56"/>
                <a:gd name="T51" fmla="*/ 0 h 54"/>
                <a:gd name="T52" fmla="*/ 1 w 56"/>
                <a:gd name="T53" fmla="*/ 0 h 54"/>
                <a:gd name="T54" fmla="*/ 1 w 56"/>
                <a:gd name="T55" fmla="*/ 0 h 54"/>
                <a:gd name="T56" fmla="*/ 1 w 56"/>
                <a:gd name="T57" fmla="*/ 0 h 54"/>
                <a:gd name="T58" fmla="*/ 1 w 56"/>
                <a:gd name="T59" fmla="*/ 0 h 54"/>
                <a:gd name="T60" fmla="*/ 1 w 56"/>
                <a:gd name="T61" fmla="*/ 0 h 54"/>
                <a:gd name="T62" fmla="*/ 1 w 56"/>
                <a:gd name="T63" fmla="*/ 0 h 54"/>
                <a:gd name="T64" fmla="*/ 0 w 56"/>
                <a:gd name="T65" fmla="*/ 0 h 54"/>
                <a:gd name="T66" fmla="*/ 0 w 56"/>
                <a:gd name="T67" fmla="*/ 0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3" y="12"/>
                  </a:lnTo>
                  <a:lnTo>
                    <a:pt x="7" y="9"/>
                  </a:lnTo>
                  <a:lnTo>
                    <a:pt x="12" y="5"/>
                  </a:lnTo>
                  <a:lnTo>
                    <a:pt x="16" y="2"/>
                  </a:lnTo>
                  <a:lnTo>
                    <a:pt x="21" y="0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38" y="2"/>
                  </a:lnTo>
                  <a:lnTo>
                    <a:pt x="44" y="5"/>
                  </a:lnTo>
                  <a:lnTo>
                    <a:pt x="47" y="9"/>
                  </a:lnTo>
                  <a:lnTo>
                    <a:pt x="51" y="12"/>
                  </a:lnTo>
                  <a:lnTo>
                    <a:pt x="52" y="17"/>
                  </a:lnTo>
                  <a:lnTo>
                    <a:pt x="54" y="22"/>
                  </a:lnTo>
                  <a:lnTo>
                    <a:pt x="56" y="27"/>
                  </a:lnTo>
                  <a:lnTo>
                    <a:pt x="54" y="32"/>
                  </a:lnTo>
                  <a:lnTo>
                    <a:pt x="52" y="37"/>
                  </a:lnTo>
                  <a:lnTo>
                    <a:pt x="51" y="42"/>
                  </a:lnTo>
                  <a:lnTo>
                    <a:pt x="47" y="45"/>
                  </a:lnTo>
                  <a:lnTo>
                    <a:pt x="44" y="49"/>
                  </a:lnTo>
                  <a:lnTo>
                    <a:pt x="38" y="52"/>
                  </a:lnTo>
                  <a:lnTo>
                    <a:pt x="33" y="54"/>
                  </a:lnTo>
                  <a:lnTo>
                    <a:pt x="28" y="54"/>
                  </a:lnTo>
                  <a:lnTo>
                    <a:pt x="21" y="54"/>
                  </a:lnTo>
                  <a:lnTo>
                    <a:pt x="16" y="52"/>
                  </a:lnTo>
                  <a:lnTo>
                    <a:pt x="12" y="49"/>
                  </a:lnTo>
                  <a:lnTo>
                    <a:pt x="7" y="45"/>
                  </a:lnTo>
                  <a:lnTo>
                    <a:pt x="3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" name="Freeform 306"/>
            <p:cNvSpPr>
              <a:spLocks/>
            </p:cNvSpPr>
            <p:nvPr/>
          </p:nvSpPr>
          <p:spPr bwMode="auto">
            <a:xfrm>
              <a:off x="3693" y="906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1 h 54"/>
                <a:gd name="T16" fmla="*/ 1 w 56"/>
                <a:gd name="T17" fmla="*/ 0 h 54"/>
                <a:gd name="T18" fmla="*/ 1 w 56"/>
                <a:gd name="T19" fmla="*/ 1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4" y="12"/>
                  </a:lnTo>
                  <a:lnTo>
                    <a:pt x="7" y="9"/>
                  </a:lnTo>
                  <a:lnTo>
                    <a:pt x="13" y="5"/>
                  </a:lnTo>
                  <a:lnTo>
                    <a:pt x="18" y="4"/>
                  </a:lnTo>
                  <a:lnTo>
                    <a:pt x="23" y="2"/>
                  </a:lnTo>
                  <a:lnTo>
                    <a:pt x="28" y="0"/>
                  </a:lnTo>
                  <a:lnTo>
                    <a:pt x="34" y="2"/>
                  </a:lnTo>
                  <a:lnTo>
                    <a:pt x="39" y="4"/>
                  </a:lnTo>
                  <a:lnTo>
                    <a:pt x="44" y="5"/>
                  </a:lnTo>
                  <a:lnTo>
                    <a:pt x="48" y="9"/>
                  </a:lnTo>
                  <a:lnTo>
                    <a:pt x="51" y="12"/>
                  </a:lnTo>
                  <a:lnTo>
                    <a:pt x="55" y="17"/>
                  </a:lnTo>
                  <a:lnTo>
                    <a:pt x="55" y="22"/>
                  </a:lnTo>
                  <a:lnTo>
                    <a:pt x="56" y="27"/>
                  </a:lnTo>
                  <a:lnTo>
                    <a:pt x="55" y="34"/>
                  </a:lnTo>
                  <a:lnTo>
                    <a:pt x="55" y="39"/>
                  </a:lnTo>
                  <a:lnTo>
                    <a:pt x="51" y="42"/>
                  </a:lnTo>
                  <a:lnTo>
                    <a:pt x="48" y="47"/>
                  </a:lnTo>
                  <a:lnTo>
                    <a:pt x="44" y="51"/>
                  </a:lnTo>
                  <a:lnTo>
                    <a:pt x="39" y="52"/>
                  </a:lnTo>
                  <a:lnTo>
                    <a:pt x="34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8" y="52"/>
                  </a:lnTo>
                  <a:lnTo>
                    <a:pt x="13" y="51"/>
                  </a:lnTo>
                  <a:lnTo>
                    <a:pt x="7" y="47"/>
                  </a:lnTo>
                  <a:lnTo>
                    <a:pt x="4" y="42"/>
                  </a:lnTo>
                  <a:lnTo>
                    <a:pt x="2" y="39"/>
                  </a:lnTo>
                  <a:lnTo>
                    <a:pt x="0" y="34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" name="Freeform 307"/>
            <p:cNvSpPr>
              <a:spLocks/>
            </p:cNvSpPr>
            <p:nvPr/>
          </p:nvSpPr>
          <p:spPr bwMode="auto">
            <a:xfrm>
              <a:off x="4026" y="906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1 h 54"/>
                <a:gd name="T16" fmla="*/ 1 w 56"/>
                <a:gd name="T17" fmla="*/ 0 h 54"/>
                <a:gd name="T18" fmla="*/ 1 w 56"/>
                <a:gd name="T19" fmla="*/ 1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6" y="12"/>
                  </a:lnTo>
                  <a:lnTo>
                    <a:pt x="9" y="9"/>
                  </a:lnTo>
                  <a:lnTo>
                    <a:pt x="13" y="5"/>
                  </a:lnTo>
                  <a:lnTo>
                    <a:pt x="18" y="4"/>
                  </a:lnTo>
                  <a:lnTo>
                    <a:pt x="23" y="2"/>
                  </a:lnTo>
                  <a:lnTo>
                    <a:pt x="28" y="0"/>
                  </a:lnTo>
                  <a:lnTo>
                    <a:pt x="34" y="2"/>
                  </a:lnTo>
                  <a:lnTo>
                    <a:pt x="39" y="4"/>
                  </a:lnTo>
                  <a:lnTo>
                    <a:pt x="44" y="5"/>
                  </a:lnTo>
                  <a:lnTo>
                    <a:pt x="47" y="9"/>
                  </a:lnTo>
                  <a:lnTo>
                    <a:pt x="51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4"/>
                  </a:lnTo>
                  <a:lnTo>
                    <a:pt x="54" y="39"/>
                  </a:lnTo>
                  <a:lnTo>
                    <a:pt x="51" y="42"/>
                  </a:lnTo>
                  <a:lnTo>
                    <a:pt x="47" y="47"/>
                  </a:lnTo>
                  <a:lnTo>
                    <a:pt x="44" y="51"/>
                  </a:lnTo>
                  <a:lnTo>
                    <a:pt x="39" y="52"/>
                  </a:lnTo>
                  <a:lnTo>
                    <a:pt x="34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8" y="52"/>
                  </a:lnTo>
                  <a:lnTo>
                    <a:pt x="13" y="51"/>
                  </a:lnTo>
                  <a:lnTo>
                    <a:pt x="9" y="47"/>
                  </a:lnTo>
                  <a:lnTo>
                    <a:pt x="6" y="42"/>
                  </a:lnTo>
                  <a:lnTo>
                    <a:pt x="2" y="39"/>
                  </a:lnTo>
                  <a:lnTo>
                    <a:pt x="0" y="34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0" name="Freeform 308"/>
            <p:cNvSpPr>
              <a:spLocks/>
            </p:cNvSpPr>
            <p:nvPr/>
          </p:nvSpPr>
          <p:spPr bwMode="auto">
            <a:xfrm>
              <a:off x="5056" y="1010"/>
              <a:ext cx="54" cy="15"/>
            </a:xfrm>
            <a:custGeom>
              <a:avLst/>
              <a:gdLst>
                <a:gd name="T0" fmla="*/ 1 w 108"/>
                <a:gd name="T1" fmla="*/ 1 h 30"/>
                <a:gd name="T2" fmla="*/ 0 w 108"/>
                <a:gd name="T3" fmla="*/ 0 h 30"/>
                <a:gd name="T4" fmla="*/ 0 w 108"/>
                <a:gd name="T5" fmla="*/ 1 h 30"/>
                <a:gd name="T6" fmla="*/ 1 w 108"/>
                <a:gd name="T7" fmla="*/ 1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30"/>
                <a:gd name="T14" fmla="*/ 108 w 108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30">
                  <a:moveTo>
                    <a:pt x="108" y="15"/>
                  </a:moveTo>
                  <a:lnTo>
                    <a:pt x="0" y="0"/>
                  </a:lnTo>
                  <a:lnTo>
                    <a:pt x="0" y="30"/>
                  </a:lnTo>
                  <a:lnTo>
                    <a:pt x="108" y="15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" name="Freeform 309"/>
            <p:cNvSpPr>
              <a:spLocks/>
            </p:cNvSpPr>
            <p:nvPr/>
          </p:nvSpPr>
          <p:spPr bwMode="auto">
            <a:xfrm>
              <a:off x="5056" y="1010"/>
              <a:ext cx="54" cy="15"/>
            </a:xfrm>
            <a:custGeom>
              <a:avLst/>
              <a:gdLst>
                <a:gd name="T0" fmla="*/ 1 w 108"/>
                <a:gd name="T1" fmla="*/ 1 h 30"/>
                <a:gd name="T2" fmla="*/ 0 w 108"/>
                <a:gd name="T3" fmla="*/ 0 h 30"/>
                <a:gd name="T4" fmla="*/ 0 w 108"/>
                <a:gd name="T5" fmla="*/ 1 h 30"/>
                <a:gd name="T6" fmla="*/ 1 w 108"/>
                <a:gd name="T7" fmla="*/ 1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30"/>
                <a:gd name="T14" fmla="*/ 108 w 108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30">
                  <a:moveTo>
                    <a:pt x="108" y="15"/>
                  </a:moveTo>
                  <a:lnTo>
                    <a:pt x="0" y="0"/>
                  </a:lnTo>
                  <a:lnTo>
                    <a:pt x="0" y="30"/>
                  </a:lnTo>
                  <a:lnTo>
                    <a:pt x="108" y="15"/>
                  </a:lnTo>
                  <a:close/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2" name="Line 310"/>
            <p:cNvSpPr>
              <a:spLocks noChangeShapeType="1"/>
            </p:cNvSpPr>
            <p:nvPr/>
          </p:nvSpPr>
          <p:spPr bwMode="auto">
            <a:xfrm flipH="1">
              <a:off x="4986" y="1017"/>
              <a:ext cx="70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3" name="Freeform 311"/>
            <p:cNvSpPr>
              <a:spLocks/>
            </p:cNvSpPr>
            <p:nvPr/>
          </p:nvSpPr>
          <p:spPr bwMode="auto">
            <a:xfrm>
              <a:off x="5325" y="1052"/>
              <a:ext cx="55" cy="15"/>
            </a:xfrm>
            <a:custGeom>
              <a:avLst/>
              <a:gdLst>
                <a:gd name="T0" fmla="*/ 1 w 110"/>
                <a:gd name="T1" fmla="*/ 0 h 31"/>
                <a:gd name="T2" fmla="*/ 0 w 110"/>
                <a:gd name="T3" fmla="*/ 0 h 31"/>
                <a:gd name="T4" fmla="*/ 0 w 110"/>
                <a:gd name="T5" fmla="*/ 0 h 31"/>
                <a:gd name="T6" fmla="*/ 1 w 110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0"/>
                <a:gd name="T13" fmla="*/ 0 h 31"/>
                <a:gd name="T14" fmla="*/ 110 w 110"/>
                <a:gd name="T15" fmla="*/ 31 h 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0" h="31">
                  <a:moveTo>
                    <a:pt x="110" y="16"/>
                  </a:moveTo>
                  <a:lnTo>
                    <a:pt x="0" y="0"/>
                  </a:lnTo>
                  <a:lnTo>
                    <a:pt x="0" y="31"/>
                  </a:lnTo>
                  <a:lnTo>
                    <a:pt x="110" y="16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" name="Freeform 312"/>
            <p:cNvSpPr>
              <a:spLocks/>
            </p:cNvSpPr>
            <p:nvPr/>
          </p:nvSpPr>
          <p:spPr bwMode="auto">
            <a:xfrm>
              <a:off x="5325" y="1052"/>
              <a:ext cx="55" cy="15"/>
            </a:xfrm>
            <a:custGeom>
              <a:avLst/>
              <a:gdLst>
                <a:gd name="T0" fmla="*/ 1 w 110"/>
                <a:gd name="T1" fmla="*/ 0 h 31"/>
                <a:gd name="T2" fmla="*/ 0 w 110"/>
                <a:gd name="T3" fmla="*/ 0 h 31"/>
                <a:gd name="T4" fmla="*/ 0 w 110"/>
                <a:gd name="T5" fmla="*/ 0 h 31"/>
                <a:gd name="T6" fmla="*/ 1 w 110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0"/>
                <a:gd name="T13" fmla="*/ 0 h 31"/>
                <a:gd name="T14" fmla="*/ 110 w 110"/>
                <a:gd name="T15" fmla="*/ 31 h 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0" h="31">
                  <a:moveTo>
                    <a:pt x="110" y="16"/>
                  </a:moveTo>
                  <a:lnTo>
                    <a:pt x="0" y="0"/>
                  </a:lnTo>
                  <a:lnTo>
                    <a:pt x="0" y="31"/>
                  </a:lnTo>
                  <a:lnTo>
                    <a:pt x="110" y="16"/>
                  </a:lnTo>
                  <a:close/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5" name="Line 313"/>
            <p:cNvSpPr>
              <a:spLocks noChangeShapeType="1"/>
            </p:cNvSpPr>
            <p:nvPr/>
          </p:nvSpPr>
          <p:spPr bwMode="auto">
            <a:xfrm flipH="1">
              <a:off x="5255" y="1059"/>
              <a:ext cx="70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" name="Rectangle 314"/>
            <p:cNvSpPr>
              <a:spLocks noChangeArrowheads="1"/>
            </p:cNvSpPr>
            <p:nvPr/>
          </p:nvSpPr>
          <p:spPr bwMode="auto">
            <a:xfrm>
              <a:off x="5051" y="932"/>
              <a:ext cx="31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 i="1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  <a:endParaRPr lang="en-US" altLang="zh-CN"/>
            </a:p>
          </p:txBody>
        </p:sp>
        <p:sp>
          <p:nvSpPr>
            <p:cNvPr id="367" name="Rectangle 315"/>
            <p:cNvSpPr>
              <a:spLocks noChangeArrowheads="1"/>
            </p:cNvSpPr>
            <p:nvPr/>
          </p:nvSpPr>
          <p:spPr bwMode="auto">
            <a:xfrm>
              <a:off x="5030" y="890"/>
              <a:ext cx="2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endParaRPr lang="en-US" altLang="zh-CN"/>
            </a:p>
          </p:txBody>
        </p:sp>
        <p:sp>
          <p:nvSpPr>
            <p:cNvPr id="368" name="Rectangle 316"/>
            <p:cNvSpPr>
              <a:spLocks noChangeArrowheads="1"/>
            </p:cNvSpPr>
            <p:nvPr/>
          </p:nvSpPr>
          <p:spPr bwMode="auto">
            <a:xfrm>
              <a:off x="5288" y="962"/>
              <a:ext cx="4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宋体" pitchFamily="2" charset="-122"/>
                </a:rPr>
                <a:t>I</a:t>
              </a:r>
              <a:endParaRPr lang="en-US" altLang="zh-CN"/>
            </a:p>
          </p:txBody>
        </p:sp>
        <p:sp>
          <p:nvSpPr>
            <p:cNvPr id="369" name="Rectangle 317"/>
            <p:cNvSpPr>
              <a:spLocks noChangeArrowheads="1"/>
            </p:cNvSpPr>
            <p:nvPr/>
          </p:nvSpPr>
          <p:spPr bwMode="auto">
            <a:xfrm>
              <a:off x="5328" y="992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宋体" pitchFamily="2" charset="-122"/>
                </a:rPr>
                <a:t>o</a:t>
              </a:r>
              <a:endParaRPr lang="en-US" altLang="zh-CN"/>
            </a:p>
          </p:txBody>
        </p:sp>
        <p:sp>
          <p:nvSpPr>
            <p:cNvPr id="370" name="Rectangle 318"/>
            <p:cNvSpPr>
              <a:spLocks noChangeArrowheads="1"/>
            </p:cNvSpPr>
            <p:nvPr/>
          </p:nvSpPr>
          <p:spPr bwMode="auto">
            <a:xfrm>
              <a:off x="4450" y="1940"/>
              <a:ext cx="19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宋体" pitchFamily="2" charset="-122"/>
                </a:rPr>
                <a:t>(a)</a:t>
              </a:r>
              <a:endParaRPr lang="en-US" altLang="zh-CN" sz="1600"/>
            </a:p>
          </p:txBody>
        </p:sp>
        <p:sp>
          <p:nvSpPr>
            <p:cNvPr id="371" name="Freeform 319"/>
            <p:cNvSpPr>
              <a:spLocks noEditPoints="1"/>
            </p:cNvSpPr>
            <p:nvPr/>
          </p:nvSpPr>
          <p:spPr bwMode="auto">
            <a:xfrm>
              <a:off x="3696" y="1028"/>
              <a:ext cx="14" cy="118"/>
            </a:xfrm>
            <a:custGeom>
              <a:avLst/>
              <a:gdLst>
                <a:gd name="T0" fmla="*/ 1 w 28"/>
                <a:gd name="T1" fmla="*/ 1 h 236"/>
                <a:gd name="T2" fmla="*/ 1 w 28"/>
                <a:gd name="T3" fmla="*/ 1 h 236"/>
                <a:gd name="T4" fmla="*/ 1 w 28"/>
                <a:gd name="T5" fmla="*/ 1 h 236"/>
                <a:gd name="T6" fmla="*/ 1 w 28"/>
                <a:gd name="T7" fmla="*/ 1 h 236"/>
                <a:gd name="T8" fmla="*/ 1 w 28"/>
                <a:gd name="T9" fmla="*/ 1 h 236"/>
                <a:gd name="T10" fmla="*/ 1 w 28"/>
                <a:gd name="T11" fmla="*/ 1 h 236"/>
                <a:gd name="T12" fmla="*/ 1 w 28"/>
                <a:gd name="T13" fmla="*/ 1 h 236"/>
                <a:gd name="T14" fmla="*/ 1 w 28"/>
                <a:gd name="T15" fmla="*/ 1 h 236"/>
                <a:gd name="T16" fmla="*/ 1 w 28"/>
                <a:gd name="T17" fmla="*/ 1 h 236"/>
                <a:gd name="T18" fmla="*/ 1 w 28"/>
                <a:gd name="T19" fmla="*/ 1 h 236"/>
                <a:gd name="T20" fmla="*/ 1 w 28"/>
                <a:gd name="T21" fmla="*/ 1 h 236"/>
                <a:gd name="T22" fmla="*/ 1 w 28"/>
                <a:gd name="T23" fmla="*/ 1 h 236"/>
                <a:gd name="T24" fmla="*/ 1 w 28"/>
                <a:gd name="T25" fmla="*/ 1 h 236"/>
                <a:gd name="T26" fmla="*/ 1 w 28"/>
                <a:gd name="T27" fmla="*/ 1 h 236"/>
                <a:gd name="T28" fmla="*/ 1 w 28"/>
                <a:gd name="T29" fmla="*/ 1 h 236"/>
                <a:gd name="T30" fmla="*/ 1 w 28"/>
                <a:gd name="T31" fmla="*/ 1 h 236"/>
                <a:gd name="T32" fmla="*/ 1 w 28"/>
                <a:gd name="T33" fmla="*/ 1 h 236"/>
                <a:gd name="T34" fmla="*/ 1 w 28"/>
                <a:gd name="T35" fmla="*/ 1 h 236"/>
                <a:gd name="T36" fmla="*/ 1 w 28"/>
                <a:gd name="T37" fmla="*/ 0 h 236"/>
                <a:gd name="T38" fmla="*/ 1 w 28"/>
                <a:gd name="T39" fmla="*/ 1 h 236"/>
                <a:gd name="T40" fmla="*/ 1 w 28"/>
                <a:gd name="T41" fmla="*/ 1 h 236"/>
                <a:gd name="T42" fmla="*/ 1 w 28"/>
                <a:gd name="T43" fmla="*/ 1 h 236"/>
                <a:gd name="T44" fmla="*/ 1 w 28"/>
                <a:gd name="T45" fmla="*/ 1 h 236"/>
                <a:gd name="T46" fmla="*/ 1 w 28"/>
                <a:gd name="T47" fmla="*/ 1 h 236"/>
                <a:gd name="T48" fmla="*/ 1 w 28"/>
                <a:gd name="T49" fmla="*/ 1 h 236"/>
                <a:gd name="T50" fmla="*/ 1 w 28"/>
                <a:gd name="T51" fmla="*/ 1 h 236"/>
                <a:gd name="T52" fmla="*/ 1 w 28"/>
                <a:gd name="T53" fmla="*/ 1 h 236"/>
                <a:gd name="T54" fmla="*/ 1 w 28"/>
                <a:gd name="T55" fmla="*/ 1 h 236"/>
                <a:gd name="T56" fmla="*/ 1 w 28"/>
                <a:gd name="T57" fmla="*/ 1 h 236"/>
                <a:gd name="T58" fmla="*/ 1 w 28"/>
                <a:gd name="T59" fmla="*/ 1 h 236"/>
                <a:gd name="T60" fmla="*/ 1 w 28"/>
                <a:gd name="T61" fmla="*/ 1 h 236"/>
                <a:gd name="T62" fmla="*/ 1 w 28"/>
                <a:gd name="T63" fmla="*/ 1 h 236"/>
                <a:gd name="T64" fmla="*/ 1 w 28"/>
                <a:gd name="T65" fmla="*/ 1 h 236"/>
                <a:gd name="T66" fmla="*/ 1 w 28"/>
                <a:gd name="T67" fmla="*/ 1 h 236"/>
                <a:gd name="T68" fmla="*/ 1 w 28"/>
                <a:gd name="T69" fmla="*/ 0 h 236"/>
                <a:gd name="T70" fmla="*/ 1 w 28"/>
                <a:gd name="T71" fmla="*/ 0 h 2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8"/>
                <a:gd name="T109" fmla="*/ 0 h 236"/>
                <a:gd name="T110" fmla="*/ 28 w 28"/>
                <a:gd name="T111" fmla="*/ 236 h 2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8" h="236">
                  <a:moveTo>
                    <a:pt x="14" y="209"/>
                  </a:moveTo>
                  <a:lnTo>
                    <a:pt x="13" y="210"/>
                  </a:lnTo>
                  <a:lnTo>
                    <a:pt x="9" y="210"/>
                  </a:lnTo>
                  <a:lnTo>
                    <a:pt x="7" y="212"/>
                  </a:lnTo>
                  <a:lnTo>
                    <a:pt x="6" y="214"/>
                  </a:lnTo>
                  <a:lnTo>
                    <a:pt x="4" y="215"/>
                  </a:lnTo>
                  <a:lnTo>
                    <a:pt x="2" y="217"/>
                  </a:lnTo>
                  <a:lnTo>
                    <a:pt x="2" y="220"/>
                  </a:lnTo>
                  <a:lnTo>
                    <a:pt x="0" y="222"/>
                  </a:lnTo>
                  <a:lnTo>
                    <a:pt x="2" y="226"/>
                  </a:lnTo>
                  <a:lnTo>
                    <a:pt x="2" y="227"/>
                  </a:lnTo>
                  <a:lnTo>
                    <a:pt x="4" y="231"/>
                  </a:lnTo>
                  <a:lnTo>
                    <a:pt x="6" y="232"/>
                  </a:lnTo>
                  <a:lnTo>
                    <a:pt x="7" y="234"/>
                  </a:lnTo>
                  <a:lnTo>
                    <a:pt x="9" y="234"/>
                  </a:lnTo>
                  <a:lnTo>
                    <a:pt x="13" y="236"/>
                  </a:lnTo>
                  <a:lnTo>
                    <a:pt x="14" y="236"/>
                  </a:lnTo>
                  <a:lnTo>
                    <a:pt x="18" y="236"/>
                  </a:lnTo>
                  <a:lnTo>
                    <a:pt x="20" y="234"/>
                  </a:lnTo>
                  <a:lnTo>
                    <a:pt x="23" y="234"/>
                  </a:lnTo>
                  <a:lnTo>
                    <a:pt x="25" y="232"/>
                  </a:lnTo>
                  <a:lnTo>
                    <a:pt x="27" y="231"/>
                  </a:lnTo>
                  <a:lnTo>
                    <a:pt x="27" y="227"/>
                  </a:lnTo>
                  <a:lnTo>
                    <a:pt x="28" y="226"/>
                  </a:lnTo>
                  <a:lnTo>
                    <a:pt x="28" y="222"/>
                  </a:lnTo>
                  <a:lnTo>
                    <a:pt x="28" y="220"/>
                  </a:lnTo>
                  <a:lnTo>
                    <a:pt x="27" y="217"/>
                  </a:lnTo>
                  <a:lnTo>
                    <a:pt x="27" y="215"/>
                  </a:lnTo>
                  <a:lnTo>
                    <a:pt x="25" y="214"/>
                  </a:lnTo>
                  <a:lnTo>
                    <a:pt x="23" y="212"/>
                  </a:lnTo>
                  <a:lnTo>
                    <a:pt x="20" y="210"/>
                  </a:lnTo>
                  <a:lnTo>
                    <a:pt x="18" y="210"/>
                  </a:lnTo>
                  <a:lnTo>
                    <a:pt x="14" y="209"/>
                  </a:lnTo>
                  <a:close/>
                  <a:moveTo>
                    <a:pt x="14" y="0"/>
                  </a:moveTo>
                  <a:lnTo>
                    <a:pt x="13" y="0"/>
                  </a:lnTo>
                  <a:lnTo>
                    <a:pt x="9" y="1"/>
                  </a:lnTo>
                  <a:lnTo>
                    <a:pt x="7" y="1"/>
                  </a:lnTo>
                  <a:lnTo>
                    <a:pt x="6" y="3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2" y="15"/>
                  </a:lnTo>
                  <a:lnTo>
                    <a:pt x="2" y="18"/>
                  </a:lnTo>
                  <a:lnTo>
                    <a:pt x="4" y="20"/>
                  </a:lnTo>
                  <a:lnTo>
                    <a:pt x="6" y="21"/>
                  </a:lnTo>
                  <a:lnTo>
                    <a:pt x="7" y="23"/>
                  </a:lnTo>
                  <a:lnTo>
                    <a:pt x="9" y="25"/>
                  </a:lnTo>
                  <a:lnTo>
                    <a:pt x="13" y="26"/>
                  </a:lnTo>
                  <a:lnTo>
                    <a:pt x="14" y="26"/>
                  </a:lnTo>
                  <a:lnTo>
                    <a:pt x="18" y="26"/>
                  </a:lnTo>
                  <a:lnTo>
                    <a:pt x="20" y="25"/>
                  </a:lnTo>
                  <a:lnTo>
                    <a:pt x="23" y="23"/>
                  </a:lnTo>
                  <a:lnTo>
                    <a:pt x="25" y="21"/>
                  </a:lnTo>
                  <a:lnTo>
                    <a:pt x="27" y="20"/>
                  </a:lnTo>
                  <a:lnTo>
                    <a:pt x="27" y="18"/>
                  </a:lnTo>
                  <a:lnTo>
                    <a:pt x="28" y="15"/>
                  </a:lnTo>
                  <a:lnTo>
                    <a:pt x="28" y="13"/>
                  </a:lnTo>
                  <a:lnTo>
                    <a:pt x="28" y="10"/>
                  </a:lnTo>
                  <a:lnTo>
                    <a:pt x="27" y="8"/>
                  </a:lnTo>
                  <a:lnTo>
                    <a:pt x="27" y="6"/>
                  </a:lnTo>
                  <a:lnTo>
                    <a:pt x="25" y="3"/>
                  </a:lnTo>
                  <a:lnTo>
                    <a:pt x="23" y="1"/>
                  </a:lnTo>
                  <a:lnTo>
                    <a:pt x="20" y="1"/>
                  </a:lnTo>
                  <a:lnTo>
                    <a:pt x="18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2" name="Freeform 320"/>
            <p:cNvSpPr>
              <a:spLocks/>
            </p:cNvSpPr>
            <p:nvPr/>
          </p:nvSpPr>
          <p:spPr bwMode="auto">
            <a:xfrm>
              <a:off x="3696" y="1133"/>
              <a:ext cx="14" cy="13"/>
            </a:xfrm>
            <a:custGeom>
              <a:avLst/>
              <a:gdLst>
                <a:gd name="T0" fmla="*/ 1 w 28"/>
                <a:gd name="T1" fmla="*/ 0 h 27"/>
                <a:gd name="T2" fmla="*/ 1 w 28"/>
                <a:gd name="T3" fmla="*/ 0 h 27"/>
                <a:gd name="T4" fmla="*/ 1 w 28"/>
                <a:gd name="T5" fmla="*/ 0 h 27"/>
                <a:gd name="T6" fmla="*/ 1 w 28"/>
                <a:gd name="T7" fmla="*/ 0 h 27"/>
                <a:gd name="T8" fmla="*/ 1 w 28"/>
                <a:gd name="T9" fmla="*/ 0 h 27"/>
                <a:gd name="T10" fmla="*/ 1 w 28"/>
                <a:gd name="T11" fmla="*/ 0 h 27"/>
                <a:gd name="T12" fmla="*/ 1 w 28"/>
                <a:gd name="T13" fmla="*/ 0 h 27"/>
                <a:gd name="T14" fmla="*/ 1 w 28"/>
                <a:gd name="T15" fmla="*/ 0 h 27"/>
                <a:gd name="T16" fmla="*/ 0 w 28"/>
                <a:gd name="T17" fmla="*/ 0 h 27"/>
                <a:gd name="T18" fmla="*/ 1 w 28"/>
                <a:gd name="T19" fmla="*/ 0 h 27"/>
                <a:gd name="T20" fmla="*/ 1 w 28"/>
                <a:gd name="T21" fmla="*/ 0 h 27"/>
                <a:gd name="T22" fmla="*/ 1 w 28"/>
                <a:gd name="T23" fmla="*/ 0 h 27"/>
                <a:gd name="T24" fmla="*/ 1 w 28"/>
                <a:gd name="T25" fmla="*/ 0 h 27"/>
                <a:gd name="T26" fmla="*/ 1 w 28"/>
                <a:gd name="T27" fmla="*/ 0 h 27"/>
                <a:gd name="T28" fmla="*/ 1 w 28"/>
                <a:gd name="T29" fmla="*/ 0 h 27"/>
                <a:gd name="T30" fmla="*/ 1 w 28"/>
                <a:gd name="T31" fmla="*/ 0 h 27"/>
                <a:gd name="T32" fmla="*/ 1 w 28"/>
                <a:gd name="T33" fmla="*/ 0 h 27"/>
                <a:gd name="T34" fmla="*/ 1 w 28"/>
                <a:gd name="T35" fmla="*/ 0 h 27"/>
                <a:gd name="T36" fmla="*/ 1 w 28"/>
                <a:gd name="T37" fmla="*/ 0 h 27"/>
                <a:gd name="T38" fmla="*/ 1 w 28"/>
                <a:gd name="T39" fmla="*/ 0 h 27"/>
                <a:gd name="T40" fmla="*/ 1 w 28"/>
                <a:gd name="T41" fmla="*/ 0 h 27"/>
                <a:gd name="T42" fmla="*/ 1 w 28"/>
                <a:gd name="T43" fmla="*/ 0 h 27"/>
                <a:gd name="T44" fmla="*/ 1 w 28"/>
                <a:gd name="T45" fmla="*/ 0 h 27"/>
                <a:gd name="T46" fmla="*/ 1 w 28"/>
                <a:gd name="T47" fmla="*/ 0 h 27"/>
                <a:gd name="T48" fmla="*/ 1 w 28"/>
                <a:gd name="T49" fmla="*/ 0 h 27"/>
                <a:gd name="T50" fmla="*/ 1 w 28"/>
                <a:gd name="T51" fmla="*/ 0 h 27"/>
                <a:gd name="T52" fmla="*/ 1 w 28"/>
                <a:gd name="T53" fmla="*/ 0 h 27"/>
                <a:gd name="T54" fmla="*/ 1 w 28"/>
                <a:gd name="T55" fmla="*/ 0 h 27"/>
                <a:gd name="T56" fmla="*/ 1 w 28"/>
                <a:gd name="T57" fmla="*/ 0 h 27"/>
                <a:gd name="T58" fmla="*/ 1 w 28"/>
                <a:gd name="T59" fmla="*/ 0 h 27"/>
                <a:gd name="T60" fmla="*/ 1 w 28"/>
                <a:gd name="T61" fmla="*/ 0 h 27"/>
                <a:gd name="T62" fmla="*/ 1 w 28"/>
                <a:gd name="T63" fmla="*/ 0 h 27"/>
                <a:gd name="T64" fmla="*/ 1 w 28"/>
                <a:gd name="T65" fmla="*/ 0 h 27"/>
                <a:gd name="T66" fmla="*/ 1 w 28"/>
                <a:gd name="T67" fmla="*/ 0 h 27"/>
                <a:gd name="T68" fmla="*/ 1 w 28"/>
                <a:gd name="T69" fmla="*/ 0 h 2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7"/>
                <a:gd name="T107" fmla="*/ 28 w 28"/>
                <a:gd name="T108" fmla="*/ 27 h 2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7">
                  <a:moveTo>
                    <a:pt x="14" y="0"/>
                  </a:moveTo>
                  <a:lnTo>
                    <a:pt x="13" y="1"/>
                  </a:lnTo>
                  <a:lnTo>
                    <a:pt x="9" y="1"/>
                  </a:lnTo>
                  <a:lnTo>
                    <a:pt x="7" y="3"/>
                  </a:lnTo>
                  <a:lnTo>
                    <a:pt x="6" y="5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2" y="18"/>
                  </a:lnTo>
                  <a:lnTo>
                    <a:pt x="4" y="22"/>
                  </a:lnTo>
                  <a:lnTo>
                    <a:pt x="6" y="23"/>
                  </a:lnTo>
                  <a:lnTo>
                    <a:pt x="7" y="25"/>
                  </a:lnTo>
                  <a:lnTo>
                    <a:pt x="9" y="25"/>
                  </a:lnTo>
                  <a:lnTo>
                    <a:pt x="13" y="27"/>
                  </a:lnTo>
                  <a:lnTo>
                    <a:pt x="14" y="27"/>
                  </a:lnTo>
                  <a:lnTo>
                    <a:pt x="18" y="27"/>
                  </a:lnTo>
                  <a:lnTo>
                    <a:pt x="20" y="25"/>
                  </a:lnTo>
                  <a:lnTo>
                    <a:pt x="23" y="25"/>
                  </a:lnTo>
                  <a:lnTo>
                    <a:pt x="25" y="23"/>
                  </a:lnTo>
                  <a:lnTo>
                    <a:pt x="27" y="22"/>
                  </a:lnTo>
                  <a:lnTo>
                    <a:pt x="27" y="18"/>
                  </a:lnTo>
                  <a:lnTo>
                    <a:pt x="28" y="17"/>
                  </a:lnTo>
                  <a:lnTo>
                    <a:pt x="28" y="13"/>
                  </a:lnTo>
                  <a:lnTo>
                    <a:pt x="28" y="11"/>
                  </a:lnTo>
                  <a:lnTo>
                    <a:pt x="27" y="8"/>
                  </a:lnTo>
                  <a:lnTo>
                    <a:pt x="27" y="6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3" name="Freeform 321"/>
            <p:cNvSpPr>
              <a:spLocks/>
            </p:cNvSpPr>
            <p:nvPr/>
          </p:nvSpPr>
          <p:spPr bwMode="auto">
            <a:xfrm>
              <a:off x="3696" y="1028"/>
              <a:ext cx="14" cy="14"/>
            </a:xfrm>
            <a:custGeom>
              <a:avLst/>
              <a:gdLst>
                <a:gd name="T0" fmla="*/ 1 w 28"/>
                <a:gd name="T1" fmla="*/ 0 h 26"/>
                <a:gd name="T2" fmla="*/ 1 w 28"/>
                <a:gd name="T3" fmla="*/ 0 h 26"/>
                <a:gd name="T4" fmla="*/ 1 w 28"/>
                <a:gd name="T5" fmla="*/ 1 h 26"/>
                <a:gd name="T6" fmla="*/ 1 w 28"/>
                <a:gd name="T7" fmla="*/ 1 h 26"/>
                <a:gd name="T8" fmla="*/ 1 w 28"/>
                <a:gd name="T9" fmla="*/ 1 h 26"/>
                <a:gd name="T10" fmla="*/ 1 w 28"/>
                <a:gd name="T11" fmla="*/ 1 h 26"/>
                <a:gd name="T12" fmla="*/ 1 w 28"/>
                <a:gd name="T13" fmla="*/ 1 h 26"/>
                <a:gd name="T14" fmla="*/ 1 w 28"/>
                <a:gd name="T15" fmla="*/ 1 h 26"/>
                <a:gd name="T16" fmla="*/ 0 w 28"/>
                <a:gd name="T17" fmla="*/ 1 h 26"/>
                <a:gd name="T18" fmla="*/ 1 w 28"/>
                <a:gd name="T19" fmla="*/ 1 h 26"/>
                <a:gd name="T20" fmla="*/ 1 w 28"/>
                <a:gd name="T21" fmla="*/ 1 h 26"/>
                <a:gd name="T22" fmla="*/ 1 w 28"/>
                <a:gd name="T23" fmla="*/ 1 h 26"/>
                <a:gd name="T24" fmla="*/ 1 w 28"/>
                <a:gd name="T25" fmla="*/ 1 h 26"/>
                <a:gd name="T26" fmla="*/ 1 w 28"/>
                <a:gd name="T27" fmla="*/ 1 h 26"/>
                <a:gd name="T28" fmla="*/ 1 w 28"/>
                <a:gd name="T29" fmla="*/ 1 h 26"/>
                <a:gd name="T30" fmla="*/ 1 w 28"/>
                <a:gd name="T31" fmla="*/ 1 h 26"/>
                <a:gd name="T32" fmla="*/ 1 w 28"/>
                <a:gd name="T33" fmla="*/ 1 h 26"/>
                <a:gd name="T34" fmla="*/ 1 w 28"/>
                <a:gd name="T35" fmla="*/ 1 h 26"/>
                <a:gd name="T36" fmla="*/ 1 w 28"/>
                <a:gd name="T37" fmla="*/ 1 h 26"/>
                <a:gd name="T38" fmla="*/ 1 w 28"/>
                <a:gd name="T39" fmla="*/ 1 h 26"/>
                <a:gd name="T40" fmla="*/ 1 w 28"/>
                <a:gd name="T41" fmla="*/ 1 h 26"/>
                <a:gd name="T42" fmla="*/ 1 w 28"/>
                <a:gd name="T43" fmla="*/ 1 h 26"/>
                <a:gd name="T44" fmla="*/ 1 w 28"/>
                <a:gd name="T45" fmla="*/ 1 h 26"/>
                <a:gd name="T46" fmla="*/ 1 w 28"/>
                <a:gd name="T47" fmla="*/ 1 h 26"/>
                <a:gd name="T48" fmla="*/ 1 w 28"/>
                <a:gd name="T49" fmla="*/ 1 h 26"/>
                <a:gd name="T50" fmla="*/ 1 w 28"/>
                <a:gd name="T51" fmla="*/ 1 h 26"/>
                <a:gd name="T52" fmla="*/ 1 w 28"/>
                <a:gd name="T53" fmla="*/ 1 h 26"/>
                <a:gd name="T54" fmla="*/ 1 w 28"/>
                <a:gd name="T55" fmla="*/ 1 h 26"/>
                <a:gd name="T56" fmla="*/ 1 w 28"/>
                <a:gd name="T57" fmla="*/ 1 h 26"/>
                <a:gd name="T58" fmla="*/ 1 w 28"/>
                <a:gd name="T59" fmla="*/ 1 h 26"/>
                <a:gd name="T60" fmla="*/ 1 w 28"/>
                <a:gd name="T61" fmla="*/ 1 h 26"/>
                <a:gd name="T62" fmla="*/ 1 w 28"/>
                <a:gd name="T63" fmla="*/ 1 h 26"/>
                <a:gd name="T64" fmla="*/ 1 w 28"/>
                <a:gd name="T65" fmla="*/ 0 h 26"/>
                <a:gd name="T66" fmla="*/ 1 w 28"/>
                <a:gd name="T67" fmla="*/ 0 h 26"/>
                <a:gd name="T68" fmla="*/ 1 w 28"/>
                <a:gd name="T69" fmla="*/ 0 h 2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6"/>
                <a:gd name="T107" fmla="*/ 28 w 28"/>
                <a:gd name="T108" fmla="*/ 26 h 2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6">
                  <a:moveTo>
                    <a:pt x="14" y="0"/>
                  </a:moveTo>
                  <a:lnTo>
                    <a:pt x="13" y="0"/>
                  </a:lnTo>
                  <a:lnTo>
                    <a:pt x="9" y="1"/>
                  </a:lnTo>
                  <a:lnTo>
                    <a:pt x="7" y="1"/>
                  </a:lnTo>
                  <a:lnTo>
                    <a:pt x="6" y="3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2" y="15"/>
                  </a:lnTo>
                  <a:lnTo>
                    <a:pt x="2" y="18"/>
                  </a:lnTo>
                  <a:lnTo>
                    <a:pt x="4" y="20"/>
                  </a:lnTo>
                  <a:lnTo>
                    <a:pt x="6" y="21"/>
                  </a:lnTo>
                  <a:lnTo>
                    <a:pt x="7" y="23"/>
                  </a:lnTo>
                  <a:lnTo>
                    <a:pt x="9" y="25"/>
                  </a:lnTo>
                  <a:lnTo>
                    <a:pt x="13" y="26"/>
                  </a:lnTo>
                  <a:lnTo>
                    <a:pt x="14" y="26"/>
                  </a:lnTo>
                  <a:lnTo>
                    <a:pt x="18" y="26"/>
                  </a:lnTo>
                  <a:lnTo>
                    <a:pt x="20" y="25"/>
                  </a:lnTo>
                  <a:lnTo>
                    <a:pt x="23" y="23"/>
                  </a:lnTo>
                  <a:lnTo>
                    <a:pt x="25" y="21"/>
                  </a:lnTo>
                  <a:lnTo>
                    <a:pt x="27" y="20"/>
                  </a:lnTo>
                  <a:lnTo>
                    <a:pt x="27" y="18"/>
                  </a:lnTo>
                  <a:lnTo>
                    <a:pt x="28" y="15"/>
                  </a:lnTo>
                  <a:lnTo>
                    <a:pt x="28" y="13"/>
                  </a:lnTo>
                  <a:lnTo>
                    <a:pt x="28" y="10"/>
                  </a:lnTo>
                  <a:lnTo>
                    <a:pt x="27" y="8"/>
                  </a:lnTo>
                  <a:lnTo>
                    <a:pt x="27" y="6"/>
                  </a:lnTo>
                  <a:lnTo>
                    <a:pt x="25" y="3"/>
                  </a:lnTo>
                  <a:lnTo>
                    <a:pt x="23" y="1"/>
                  </a:lnTo>
                  <a:lnTo>
                    <a:pt x="20" y="1"/>
                  </a:lnTo>
                  <a:lnTo>
                    <a:pt x="18" y="0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4" name="Line 322"/>
            <p:cNvSpPr>
              <a:spLocks noChangeShapeType="1"/>
            </p:cNvSpPr>
            <p:nvPr/>
          </p:nvSpPr>
          <p:spPr bwMode="auto">
            <a:xfrm>
              <a:off x="3706" y="1041"/>
              <a:ext cx="32" cy="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" name="Line 323"/>
            <p:cNvSpPr>
              <a:spLocks noChangeShapeType="1"/>
            </p:cNvSpPr>
            <p:nvPr/>
          </p:nvSpPr>
          <p:spPr bwMode="auto">
            <a:xfrm flipH="1">
              <a:off x="3703" y="920"/>
              <a:ext cx="155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6" name="Rectangle 325"/>
            <p:cNvSpPr>
              <a:spLocks noChangeArrowheads="1"/>
            </p:cNvSpPr>
            <p:nvPr/>
          </p:nvSpPr>
          <p:spPr bwMode="auto">
            <a:xfrm>
              <a:off x="3560" y="1026"/>
              <a:ext cx="104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1400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77" name="Line 326"/>
            <p:cNvSpPr>
              <a:spLocks noChangeShapeType="1"/>
            </p:cNvSpPr>
            <p:nvPr/>
          </p:nvSpPr>
          <p:spPr bwMode="auto">
            <a:xfrm flipV="1">
              <a:off x="3703" y="920"/>
              <a:ext cx="1" cy="11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" name="Line 327"/>
            <p:cNvSpPr>
              <a:spLocks noChangeShapeType="1"/>
            </p:cNvSpPr>
            <p:nvPr/>
          </p:nvSpPr>
          <p:spPr bwMode="auto">
            <a:xfrm flipH="1">
              <a:off x="3704" y="1255"/>
              <a:ext cx="153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" name="Freeform 328"/>
            <p:cNvSpPr>
              <a:spLocks/>
            </p:cNvSpPr>
            <p:nvPr/>
          </p:nvSpPr>
          <p:spPr bwMode="auto">
            <a:xfrm>
              <a:off x="3691" y="1242"/>
              <a:ext cx="28" cy="26"/>
            </a:xfrm>
            <a:custGeom>
              <a:avLst/>
              <a:gdLst>
                <a:gd name="T0" fmla="*/ 0 w 56"/>
                <a:gd name="T1" fmla="*/ 0 h 54"/>
                <a:gd name="T2" fmla="*/ 1 w 56"/>
                <a:gd name="T3" fmla="*/ 0 h 54"/>
                <a:gd name="T4" fmla="*/ 1 w 56"/>
                <a:gd name="T5" fmla="*/ 0 h 54"/>
                <a:gd name="T6" fmla="*/ 1 w 56"/>
                <a:gd name="T7" fmla="*/ 0 h 54"/>
                <a:gd name="T8" fmla="*/ 1 w 56"/>
                <a:gd name="T9" fmla="*/ 0 h 54"/>
                <a:gd name="T10" fmla="*/ 1 w 56"/>
                <a:gd name="T11" fmla="*/ 0 h 54"/>
                <a:gd name="T12" fmla="*/ 1 w 56"/>
                <a:gd name="T13" fmla="*/ 0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0 h 54"/>
                <a:gd name="T22" fmla="*/ 1 w 56"/>
                <a:gd name="T23" fmla="*/ 0 h 54"/>
                <a:gd name="T24" fmla="*/ 1 w 56"/>
                <a:gd name="T25" fmla="*/ 0 h 54"/>
                <a:gd name="T26" fmla="*/ 1 w 56"/>
                <a:gd name="T27" fmla="*/ 0 h 54"/>
                <a:gd name="T28" fmla="*/ 1 w 56"/>
                <a:gd name="T29" fmla="*/ 0 h 54"/>
                <a:gd name="T30" fmla="*/ 1 w 56"/>
                <a:gd name="T31" fmla="*/ 0 h 54"/>
                <a:gd name="T32" fmla="*/ 1 w 56"/>
                <a:gd name="T33" fmla="*/ 0 h 54"/>
                <a:gd name="T34" fmla="*/ 1 w 56"/>
                <a:gd name="T35" fmla="*/ 0 h 54"/>
                <a:gd name="T36" fmla="*/ 1 w 56"/>
                <a:gd name="T37" fmla="*/ 0 h 54"/>
                <a:gd name="T38" fmla="*/ 1 w 56"/>
                <a:gd name="T39" fmla="*/ 0 h 54"/>
                <a:gd name="T40" fmla="*/ 1 w 56"/>
                <a:gd name="T41" fmla="*/ 0 h 54"/>
                <a:gd name="T42" fmla="*/ 1 w 56"/>
                <a:gd name="T43" fmla="*/ 0 h 54"/>
                <a:gd name="T44" fmla="*/ 1 w 56"/>
                <a:gd name="T45" fmla="*/ 0 h 54"/>
                <a:gd name="T46" fmla="*/ 1 w 56"/>
                <a:gd name="T47" fmla="*/ 0 h 54"/>
                <a:gd name="T48" fmla="*/ 1 w 56"/>
                <a:gd name="T49" fmla="*/ 0 h 54"/>
                <a:gd name="T50" fmla="*/ 1 w 56"/>
                <a:gd name="T51" fmla="*/ 0 h 54"/>
                <a:gd name="T52" fmla="*/ 1 w 56"/>
                <a:gd name="T53" fmla="*/ 0 h 54"/>
                <a:gd name="T54" fmla="*/ 1 w 56"/>
                <a:gd name="T55" fmla="*/ 0 h 54"/>
                <a:gd name="T56" fmla="*/ 1 w 56"/>
                <a:gd name="T57" fmla="*/ 0 h 54"/>
                <a:gd name="T58" fmla="*/ 1 w 56"/>
                <a:gd name="T59" fmla="*/ 0 h 54"/>
                <a:gd name="T60" fmla="*/ 1 w 56"/>
                <a:gd name="T61" fmla="*/ 0 h 54"/>
                <a:gd name="T62" fmla="*/ 1 w 56"/>
                <a:gd name="T63" fmla="*/ 0 h 54"/>
                <a:gd name="T64" fmla="*/ 1 w 56"/>
                <a:gd name="T65" fmla="*/ 0 h 54"/>
                <a:gd name="T66" fmla="*/ 0 w 56"/>
                <a:gd name="T67" fmla="*/ 0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2" y="22"/>
                  </a:lnTo>
                  <a:lnTo>
                    <a:pt x="3" y="17"/>
                  </a:lnTo>
                  <a:lnTo>
                    <a:pt x="5" y="12"/>
                  </a:lnTo>
                  <a:lnTo>
                    <a:pt x="9" y="9"/>
                  </a:lnTo>
                  <a:lnTo>
                    <a:pt x="14" y="5"/>
                  </a:lnTo>
                  <a:lnTo>
                    <a:pt x="17" y="2"/>
                  </a:lnTo>
                  <a:lnTo>
                    <a:pt x="23" y="2"/>
                  </a:lnTo>
                  <a:lnTo>
                    <a:pt x="28" y="0"/>
                  </a:lnTo>
                  <a:lnTo>
                    <a:pt x="35" y="2"/>
                  </a:lnTo>
                  <a:lnTo>
                    <a:pt x="40" y="2"/>
                  </a:lnTo>
                  <a:lnTo>
                    <a:pt x="44" y="5"/>
                  </a:lnTo>
                  <a:lnTo>
                    <a:pt x="49" y="9"/>
                  </a:lnTo>
                  <a:lnTo>
                    <a:pt x="52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2" y="42"/>
                  </a:lnTo>
                  <a:lnTo>
                    <a:pt x="49" y="47"/>
                  </a:lnTo>
                  <a:lnTo>
                    <a:pt x="44" y="50"/>
                  </a:lnTo>
                  <a:lnTo>
                    <a:pt x="40" y="52"/>
                  </a:lnTo>
                  <a:lnTo>
                    <a:pt x="35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7" y="52"/>
                  </a:lnTo>
                  <a:lnTo>
                    <a:pt x="14" y="50"/>
                  </a:lnTo>
                  <a:lnTo>
                    <a:pt x="9" y="47"/>
                  </a:lnTo>
                  <a:lnTo>
                    <a:pt x="5" y="42"/>
                  </a:lnTo>
                  <a:lnTo>
                    <a:pt x="3" y="37"/>
                  </a:lnTo>
                  <a:lnTo>
                    <a:pt x="2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" name="Freeform 329"/>
            <p:cNvSpPr>
              <a:spLocks/>
            </p:cNvSpPr>
            <p:nvPr/>
          </p:nvSpPr>
          <p:spPr bwMode="auto">
            <a:xfrm>
              <a:off x="3691" y="906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1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1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2" y="22"/>
                  </a:lnTo>
                  <a:lnTo>
                    <a:pt x="3" y="17"/>
                  </a:lnTo>
                  <a:lnTo>
                    <a:pt x="5" y="12"/>
                  </a:lnTo>
                  <a:lnTo>
                    <a:pt x="9" y="9"/>
                  </a:lnTo>
                  <a:lnTo>
                    <a:pt x="14" y="5"/>
                  </a:lnTo>
                  <a:lnTo>
                    <a:pt x="17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40" y="2"/>
                  </a:lnTo>
                  <a:lnTo>
                    <a:pt x="44" y="5"/>
                  </a:lnTo>
                  <a:lnTo>
                    <a:pt x="49" y="9"/>
                  </a:lnTo>
                  <a:lnTo>
                    <a:pt x="52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2" y="42"/>
                  </a:lnTo>
                  <a:lnTo>
                    <a:pt x="49" y="46"/>
                  </a:lnTo>
                  <a:lnTo>
                    <a:pt x="44" y="49"/>
                  </a:lnTo>
                  <a:lnTo>
                    <a:pt x="40" y="52"/>
                  </a:lnTo>
                  <a:lnTo>
                    <a:pt x="35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7" y="52"/>
                  </a:lnTo>
                  <a:lnTo>
                    <a:pt x="14" y="49"/>
                  </a:lnTo>
                  <a:lnTo>
                    <a:pt x="9" y="46"/>
                  </a:lnTo>
                  <a:lnTo>
                    <a:pt x="5" y="42"/>
                  </a:lnTo>
                  <a:lnTo>
                    <a:pt x="3" y="37"/>
                  </a:lnTo>
                  <a:lnTo>
                    <a:pt x="2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1" name="Freeform 330"/>
            <p:cNvSpPr>
              <a:spLocks noEditPoints="1"/>
            </p:cNvSpPr>
            <p:nvPr/>
          </p:nvSpPr>
          <p:spPr bwMode="auto">
            <a:xfrm>
              <a:off x="3698" y="1657"/>
              <a:ext cx="13" cy="118"/>
            </a:xfrm>
            <a:custGeom>
              <a:avLst/>
              <a:gdLst>
                <a:gd name="T0" fmla="*/ 1 w 26"/>
                <a:gd name="T1" fmla="*/ 1 h 236"/>
                <a:gd name="T2" fmla="*/ 1 w 26"/>
                <a:gd name="T3" fmla="*/ 1 h 236"/>
                <a:gd name="T4" fmla="*/ 1 w 26"/>
                <a:gd name="T5" fmla="*/ 1 h 236"/>
                <a:gd name="T6" fmla="*/ 0 w 26"/>
                <a:gd name="T7" fmla="*/ 1 h 236"/>
                <a:gd name="T8" fmla="*/ 0 w 26"/>
                <a:gd name="T9" fmla="*/ 1 h 236"/>
                <a:gd name="T10" fmla="*/ 1 w 26"/>
                <a:gd name="T11" fmla="*/ 1 h 236"/>
                <a:gd name="T12" fmla="*/ 1 w 26"/>
                <a:gd name="T13" fmla="*/ 1 h 236"/>
                <a:gd name="T14" fmla="*/ 1 w 26"/>
                <a:gd name="T15" fmla="*/ 1 h 236"/>
                <a:gd name="T16" fmla="*/ 1 w 26"/>
                <a:gd name="T17" fmla="*/ 1 h 236"/>
                <a:gd name="T18" fmla="*/ 1 w 26"/>
                <a:gd name="T19" fmla="*/ 1 h 236"/>
                <a:gd name="T20" fmla="*/ 1 w 26"/>
                <a:gd name="T21" fmla="*/ 1 h 236"/>
                <a:gd name="T22" fmla="*/ 1 w 26"/>
                <a:gd name="T23" fmla="*/ 1 h 236"/>
                <a:gd name="T24" fmla="*/ 1 w 26"/>
                <a:gd name="T25" fmla="*/ 1 h 236"/>
                <a:gd name="T26" fmla="*/ 1 w 26"/>
                <a:gd name="T27" fmla="*/ 1 h 236"/>
                <a:gd name="T28" fmla="*/ 1 w 26"/>
                <a:gd name="T29" fmla="*/ 1 h 236"/>
                <a:gd name="T30" fmla="*/ 1 w 26"/>
                <a:gd name="T31" fmla="*/ 1 h 236"/>
                <a:gd name="T32" fmla="*/ 1 w 26"/>
                <a:gd name="T33" fmla="*/ 1 h 236"/>
                <a:gd name="T34" fmla="*/ 1 w 26"/>
                <a:gd name="T35" fmla="*/ 1 h 236"/>
                <a:gd name="T36" fmla="*/ 1 w 26"/>
                <a:gd name="T37" fmla="*/ 1 h 236"/>
                <a:gd name="T38" fmla="*/ 1 w 26"/>
                <a:gd name="T39" fmla="*/ 1 h 236"/>
                <a:gd name="T40" fmla="*/ 1 w 26"/>
                <a:gd name="T41" fmla="*/ 1 h 236"/>
                <a:gd name="T42" fmla="*/ 0 w 26"/>
                <a:gd name="T43" fmla="*/ 1 h 236"/>
                <a:gd name="T44" fmla="*/ 0 w 26"/>
                <a:gd name="T45" fmla="*/ 1 h 236"/>
                <a:gd name="T46" fmla="*/ 1 w 26"/>
                <a:gd name="T47" fmla="*/ 1 h 236"/>
                <a:gd name="T48" fmla="*/ 1 w 26"/>
                <a:gd name="T49" fmla="*/ 1 h 236"/>
                <a:gd name="T50" fmla="*/ 1 w 26"/>
                <a:gd name="T51" fmla="*/ 1 h 236"/>
                <a:gd name="T52" fmla="*/ 1 w 26"/>
                <a:gd name="T53" fmla="*/ 1 h 236"/>
                <a:gd name="T54" fmla="*/ 1 w 26"/>
                <a:gd name="T55" fmla="*/ 1 h 236"/>
                <a:gd name="T56" fmla="*/ 1 w 26"/>
                <a:gd name="T57" fmla="*/ 1 h 236"/>
                <a:gd name="T58" fmla="*/ 1 w 26"/>
                <a:gd name="T59" fmla="*/ 1 h 236"/>
                <a:gd name="T60" fmla="*/ 1 w 26"/>
                <a:gd name="T61" fmla="*/ 1 h 236"/>
                <a:gd name="T62" fmla="*/ 1 w 26"/>
                <a:gd name="T63" fmla="*/ 1 h 236"/>
                <a:gd name="T64" fmla="*/ 1 w 26"/>
                <a:gd name="T65" fmla="*/ 1 h 236"/>
                <a:gd name="T66" fmla="*/ 1 w 26"/>
                <a:gd name="T67" fmla="*/ 1 h 236"/>
                <a:gd name="T68" fmla="*/ 1 w 26"/>
                <a:gd name="T69" fmla="*/ 0 h 236"/>
                <a:gd name="T70" fmla="*/ 1 w 26"/>
                <a:gd name="T71" fmla="*/ 0 h 2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6"/>
                <a:gd name="T109" fmla="*/ 0 h 236"/>
                <a:gd name="T110" fmla="*/ 26 w 26"/>
                <a:gd name="T111" fmla="*/ 236 h 2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6" h="236">
                  <a:moveTo>
                    <a:pt x="12" y="211"/>
                  </a:moveTo>
                  <a:lnTo>
                    <a:pt x="10" y="211"/>
                  </a:lnTo>
                  <a:lnTo>
                    <a:pt x="7" y="211"/>
                  </a:lnTo>
                  <a:lnTo>
                    <a:pt x="5" y="212"/>
                  </a:lnTo>
                  <a:lnTo>
                    <a:pt x="3" y="214"/>
                  </a:lnTo>
                  <a:lnTo>
                    <a:pt x="2" y="216"/>
                  </a:lnTo>
                  <a:lnTo>
                    <a:pt x="0" y="219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0" y="226"/>
                  </a:lnTo>
                  <a:lnTo>
                    <a:pt x="0" y="229"/>
                  </a:lnTo>
                  <a:lnTo>
                    <a:pt x="2" y="231"/>
                  </a:lnTo>
                  <a:lnTo>
                    <a:pt x="3" y="232"/>
                  </a:lnTo>
                  <a:lnTo>
                    <a:pt x="5" y="234"/>
                  </a:lnTo>
                  <a:lnTo>
                    <a:pt x="7" y="236"/>
                  </a:lnTo>
                  <a:lnTo>
                    <a:pt x="10" y="236"/>
                  </a:lnTo>
                  <a:lnTo>
                    <a:pt x="12" y="236"/>
                  </a:lnTo>
                  <a:lnTo>
                    <a:pt x="16" y="236"/>
                  </a:lnTo>
                  <a:lnTo>
                    <a:pt x="19" y="236"/>
                  </a:lnTo>
                  <a:lnTo>
                    <a:pt x="21" y="234"/>
                  </a:lnTo>
                  <a:lnTo>
                    <a:pt x="23" y="232"/>
                  </a:lnTo>
                  <a:lnTo>
                    <a:pt x="24" y="231"/>
                  </a:lnTo>
                  <a:lnTo>
                    <a:pt x="26" y="229"/>
                  </a:lnTo>
                  <a:lnTo>
                    <a:pt x="26" y="226"/>
                  </a:lnTo>
                  <a:lnTo>
                    <a:pt x="26" y="224"/>
                  </a:lnTo>
                  <a:lnTo>
                    <a:pt x="26" y="221"/>
                  </a:lnTo>
                  <a:lnTo>
                    <a:pt x="26" y="219"/>
                  </a:lnTo>
                  <a:lnTo>
                    <a:pt x="24" y="216"/>
                  </a:lnTo>
                  <a:lnTo>
                    <a:pt x="23" y="214"/>
                  </a:lnTo>
                  <a:lnTo>
                    <a:pt x="21" y="212"/>
                  </a:lnTo>
                  <a:lnTo>
                    <a:pt x="19" y="211"/>
                  </a:lnTo>
                  <a:lnTo>
                    <a:pt x="16" y="211"/>
                  </a:lnTo>
                  <a:lnTo>
                    <a:pt x="12" y="211"/>
                  </a:lnTo>
                  <a:close/>
                  <a:moveTo>
                    <a:pt x="12" y="0"/>
                  </a:moveTo>
                  <a:lnTo>
                    <a:pt x="10" y="2"/>
                  </a:lnTo>
                  <a:lnTo>
                    <a:pt x="7" y="2"/>
                  </a:lnTo>
                  <a:lnTo>
                    <a:pt x="5" y="3"/>
                  </a:lnTo>
                  <a:lnTo>
                    <a:pt x="3" y="5"/>
                  </a:lnTo>
                  <a:lnTo>
                    <a:pt x="2" y="7"/>
                  </a:lnTo>
                  <a:lnTo>
                    <a:pt x="0" y="8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10" y="27"/>
                  </a:lnTo>
                  <a:lnTo>
                    <a:pt x="12" y="27"/>
                  </a:lnTo>
                  <a:lnTo>
                    <a:pt x="16" y="27"/>
                  </a:lnTo>
                  <a:lnTo>
                    <a:pt x="19" y="27"/>
                  </a:lnTo>
                  <a:lnTo>
                    <a:pt x="21" y="25"/>
                  </a:lnTo>
                  <a:lnTo>
                    <a:pt x="23" y="23"/>
                  </a:lnTo>
                  <a:lnTo>
                    <a:pt x="24" y="22"/>
                  </a:lnTo>
                  <a:lnTo>
                    <a:pt x="26" y="18"/>
                  </a:lnTo>
                  <a:lnTo>
                    <a:pt x="26" y="17"/>
                  </a:lnTo>
                  <a:lnTo>
                    <a:pt x="26" y="13"/>
                  </a:lnTo>
                  <a:lnTo>
                    <a:pt x="26" y="12"/>
                  </a:lnTo>
                  <a:lnTo>
                    <a:pt x="26" y="8"/>
                  </a:lnTo>
                  <a:lnTo>
                    <a:pt x="24" y="7"/>
                  </a:lnTo>
                  <a:lnTo>
                    <a:pt x="23" y="5"/>
                  </a:lnTo>
                  <a:lnTo>
                    <a:pt x="21" y="3"/>
                  </a:lnTo>
                  <a:lnTo>
                    <a:pt x="19" y="2"/>
                  </a:lnTo>
                  <a:lnTo>
                    <a:pt x="16" y="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2" name="Freeform 331"/>
            <p:cNvSpPr>
              <a:spLocks/>
            </p:cNvSpPr>
            <p:nvPr/>
          </p:nvSpPr>
          <p:spPr bwMode="auto">
            <a:xfrm>
              <a:off x="3698" y="1763"/>
              <a:ext cx="13" cy="12"/>
            </a:xfrm>
            <a:custGeom>
              <a:avLst/>
              <a:gdLst>
                <a:gd name="T0" fmla="*/ 1 w 26"/>
                <a:gd name="T1" fmla="*/ 0 h 25"/>
                <a:gd name="T2" fmla="*/ 1 w 26"/>
                <a:gd name="T3" fmla="*/ 0 h 25"/>
                <a:gd name="T4" fmla="*/ 1 w 26"/>
                <a:gd name="T5" fmla="*/ 0 h 25"/>
                <a:gd name="T6" fmla="*/ 1 w 26"/>
                <a:gd name="T7" fmla="*/ 0 h 25"/>
                <a:gd name="T8" fmla="*/ 1 w 26"/>
                <a:gd name="T9" fmla="*/ 0 h 25"/>
                <a:gd name="T10" fmla="*/ 1 w 26"/>
                <a:gd name="T11" fmla="*/ 0 h 25"/>
                <a:gd name="T12" fmla="*/ 0 w 26"/>
                <a:gd name="T13" fmla="*/ 0 h 25"/>
                <a:gd name="T14" fmla="*/ 0 w 26"/>
                <a:gd name="T15" fmla="*/ 0 h 25"/>
                <a:gd name="T16" fmla="*/ 0 w 26"/>
                <a:gd name="T17" fmla="*/ 0 h 25"/>
                <a:gd name="T18" fmla="*/ 0 w 26"/>
                <a:gd name="T19" fmla="*/ 0 h 25"/>
                <a:gd name="T20" fmla="*/ 0 w 26"/>
                <a:gd name="T21" fmla="*/ 0 h 25"/>
                <a:gd name="T22" fmla="*/ 1 w 26"/>
                <a:gd name="T23" fmla="*/ 0 h 25"/>
                <a:gd name="T24" fmla="*/ 1 w 26"/>
                <a:gd name="T25" fmla="*/ 0 h 25"/>
                <a:gd name="T26" fmla="*/ 1 w 26"/>
                <a:gd name="T27" fmla="*/ 0 h 25"/>
                <a:gd name="T28" fmla="*/ 1 w 26"/>
                <a:gd name="T29" fmla="*/ 0 h 25"/>
                <a:gd name="T30" fmla="*/ 1 w 26"/>
                <a:gd name="T31" fmla="*/ 0 h 25"/>
                <a:gd name="T32" fmla="*/ 1 w 26"/>
                <a:gd name="T33" fmla="*/ 0 h 25"/>
                <a:gd name="T34" fmla="*/ 1 w 26"/>
                <a:gd name="T35" fmla="*/ 0 h 25"/>
                <a:gd name="T36" fmla="*/ 1 w 26"/>
                <a:gd name="T37" fmla="*/ 0 h 25"/>
                <a:gd name="T38" fmla="*/ 1 w 26"/>
                <a:gd name="T39" fmla="*/ 0 h 25"/>
                <a:gd name="T40" fmla="*/ 1 w 26"/>
                <a:gd name="T41" fmla="*/ 0 h 25"/>
                <a:gd name="T42" fmla="*/ 1 w 26"/>
                <a:gd name="T43" fmla="*/ 0 h 25"/>
                <a:gd name="T44" fmla="*/ 1 w 26"/>
                <a:gd name="T45" fmla="*/ 0 h 25"/>
                <a:gd name="T46" fmla="*/ 1 w 26"/>
                <a:gd name="T47" fmla="*/ 0 h 25"/>
                <a:gd name="T48" fmla="*/ 1 w 26"/>
                <a:gd name="T49" fmla="*/ 0 h 25"/>
                <a:gd name="T50" fmla="*/ 1 w 26"/>
                <a:gd name="T51" fmla="*/ 0 h 25"/>
                <a:gd name="T52" fmla="*/ 1 w 26"/>
                <a:gd name="T53" fmla="*/ 0 h 25"/>
                <a:gd name="T54" fmla="*/ 1 w 26"/>
                <a:gd name="T55" fmla="*/ 0 h 25"/>
                <a:gd name="T56" fmla="*/ 1 w 26"/>
                <a:gd name="T57" fmla="*/ 0 h 25"/>
                <a:gd name="T58" fmla="*/ 1 w 26"/>
                <a:gd name="T59" fmla="*/ 0 h 25"/>
                <a:gd name="T60" fmla="*/ 1 w 26"/>
                <a:gd name="T61" fmla="*/ 0 h 25"/>
                <a:gd name="T62" fmla="*/ 1 w 26"/>
                <a:gd name="T63" fmla="*/ 0 h 25"/>
                <a:gd name="T64" fmla="*/ 1 w 26"/>
                <a:gd name="T65" fmla="*/ 0 h 25"/>
                <a:gd name="T66" fmla="*/ 1 w 26"/>
                <a:gd name="T67" fmla="*/ 0 h 25"/>
                <a:gd name="T68" fmla="*/ 1 w 26"/>
                <a:gd name="T69" fmla="*/ 0 h 2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6"/>
                <a:gd name="T106" fmla="*/ 0 h 25"/>
                <a:gd name="T107" fmla="*/ 26 w 26"/>
                <a:gd name="T108" fmla="*/ 25 h 25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6" h="25">
                  <a:moveTo>
                    <a:pt x="12" y="0"/>
                  </a:moveTo>
                  <a:lnTo>
                    <a:pt x="10" y="0"/>
                  </a:lnTo>
                  <a:lnTo>
                    <a:pt x="7" y="0"/>
                  </a:lnTo>
                  <a:lnTo>
                    <a:pt x="5" y="1"/>
                  </a:lnTo>
                  <a:lnTo>
                    <a:pt x="3" y="3"/>
                  </a:lnTo>
                  <a:lnTo>
                    <a:pt x="2" y="5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2" y="20"/>
                  </a:lnTo>
                  <a:lnTo>
                    <a:pt x="3" y="21"/>
                  </a:lnTo>
                  <a:lnTo>
                    <a:pt x="5" y="23"/>
                  </a:lnTo>
                  <a:lnTo>
                    <a:pt x="7" y="25"/>
                  </a:lnTo>
                  <a:lnTo>
                    <a:pt x="10" y="25"/>
                  </a:lnTo>
                  <a:lnTo>
                    <a:pt x="12" y="25"/>
                  </a:lnTo>
                  <a:lnTo>
                    <a:pt x="16" y="25"/>
                  </a:lnTo>
                  <a:lnTo>
                    <a:pt x="19" y="25"/>
                  </a:lnTo>
                  <a:lnTo>
                    <a:pt x="21" y="23"/>
                  </a:lnTo>
                  <a:lnTo>
                    <a:pt x="23" y="21"/>
                  </a:lnTo>
                  <a:lnTo>
                    <a:pt x="24" y="20"/>
                  </a:lnTo>
                  <a:lnTo>
                    <a:pt x="26" y="18"/>
                  </a:lnTo>
                  <a:lnTo>
                    <a:pt x="26" y="15"/>
                  </a:lnTo>
                  <a:lnTo>
                    <a:pt x="26" y="13"/>
                  </a:lnTo>
                  <a:lnTo>
                    <a:pt x="26" y="10"/>
                  </a:lnTo>
                  <a:lnTo>
                    <a:pt x="26" y="8"/>
                  </a:lnTo>
                  <a:lnTo>
                    <a:pt x="24" y="5"/>
                  </a:lnTo>
                  <a:lnTo>
                    <a:pt x="23" y="3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3" name="Freeform 332"/>
            <p:cNvSpPr>
              <a:spLocks/>
            </p:cNvSpPr>
            <p:nvPr/>
          </p:nvSpPr>
          <p:spPr bwMode="auto">
            <a:xfrm>
              <a:off x="3698" y="1657"/>
              <a:ext cx="13" cy="14"/>
            </a:xfrm>
            <a:custGeom>
              <a:avLst/>
              <a:gdLst>
                <a:gd name="T0" fmla="*/ 1 w 26"/>
                <a:gd name="T1" fmla="*/ 0 h 27"/>
                <a:gd name="T2" fmla="*/ 1 w 26"/>
                <a:gd name="T3" fmla="*/ 1 h 27"/>
                <a:gd name="T4" fmla="*/ 1 w 26"/>
                <a:gd name="T5" fmla="*/ 1 h 27"/>
                <a:gd name="T6" fmla="*/ 1 w 26"/>
                <a:gd name="T7" fmla="*/ 1 h 27"/>
                <a:gd name="T8" fmla="*/ 1 w 26"/>
                <a:gd name="T9" fmla="*/ 1 h 27"/>
                <a:gd name="T10" fmla="*/ 1 w 26"/>
                <a:gd name="T11" fmla="*/ 1 h 27"/>
                <a:gd name="T12" fmla="*/ 0 w 26"/>
                <a:gd name="T13" fmla="*/ 1 h 27"/>
                <a:gd name="T14" fmla="*/ 0 w 26"/>
                <a:gd name="T15" fmla="*/ 1 h 27"/>
                <a:gd name="T16" fmla="*/ 0 w 26"/>
                <a:gd name="T17" fmla="*/ 1 h 27"/>
                <a:gd name="T18" fmla="*/ 0 w 26"/>
                <a:gd name="T19" fmla="*/ 1 h 27"/>
                <a:gd name="T20" fmla="*/ 0 w 26"/>
                <a:gd name="T21" fmla="*/ 1 h 27"/>
                <a:gd name="T22" fmla="*/ 1 w 26"/>
                <a:gd name="T23" fmla="*/ 1 h 27"/>
                <a:gd name="T24" fmla="*/ 1 w 26"/>
                <a:gd name="T25" fmla="*/ 1 h 27"/>
                <a:gd name="T26" fmla="*/ 1 w 26"/>
                <a:gd name="T27" fmla="*/ 1 h 27"/>
                <a:gd name="T28" fmla="*/ 1 w 26"/>
                <a:gd name="T29" fmla="*/ 1 h 27"/>
                <a:gd name="T30" fmla="*/ 1 w 26"/>
                <a:gd name="T31" fmla="*/ 1 h 27"/>
                <a:gd name="T32" fmla="*/ 1 w 26"/>
                <a:gd name="T33" fmla="*/ 1 h 27"/>
                <a:gd name="T34" fmla="*/ 1 w 26"/>
                <a:gd name="T35" fmla="*/ 1 h 27"/>
                <a:gd name="T36" fmla="*/ 1 w 26"/>
                <a:gd name="T37" fmla="*/ 1 h 27"/>
                <a:gd name="T38" fmla="*/ 1 w 26"/>
                <a:gd name="T39" fmla="*/ 1 h 27"/>
                <a:gd name="T40" fmla="*/ 1 w 26"/>
                <a:gd name="T41" fmla="*/ 1 h 27"/>
                <a:gd name="T42" fmla="*/ 1 w 26"/>
                <a:gd name="T43" fmla="*/ 1 h 27"/>
                <a:gd name="T44" fmla="*/ 1 w 26"/>
                <a:gd name="T45" fmla="*/ 1 h 27"/>
                <a:gd name="T46" fmla="*/ 1 w 26"/>
                <a:gd name="T47" fmla="*/ 1 h 27"/>
                <a:gd name="T48" fmla="*/ 1 w 26"/>
                <a:gd name="T49" fmla="*/ 1 h 27"/>
                <a:gd name="T50" fmla="*/ 1 w 26"/>
                <a:gd name="T51" fmla="*/ 1 h 27"/>
                <a:gd name="T52" fmla="*/ 1 w 26"/>
                <a:gd name="T53" fmla="*/ 1 h 27"/>
                <a:gd name="T54" fmla="*/ 1 w 26"/>
                <a:gd name="T55" fmla="*/ 1 h 27"/>
                <a:gd name="T56" fmla="*/ 1 w 26"/>
                <a:gd name="T57" fmla="*/ 1 h 27"/>
                <a:gd name="T58" fmla="*/ 1 w 26"/>
                <a:gd name="T59" fmla="*/ 1 h 27"/>
                <a:gd name="T60" fmla="*/ 1 w 26"/>
                <a:gd name="T61" fmla="*/ 1 h 27"/>
                <a:gd name="T62" fmla="*/ 1 w 26"/>
                <a:gd name="T63" fmla="*/ 1 h 27"/>
                <a:gd name="T64" fmla="*/ 1 w 26"/>
                <a:gd name="T65" fmla="*/ 1 h 27"/>
                <a:gd name="T66" fmla="*/ 1 w 26"/>
                <a:gd name="T67" fmla="*/ 0 h 27"/>
                <a:gd name="T68" fmla="*/ 1 w 26"/>
                <a:gd name="T69" fmla="*/ 0 h 2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6"/>
                <a:gd name="T106" fmla="*/ 0 h 27"/>
                <a:gd name="T107" fmla="*/ 26 w 26"/>
                <a:gd name="T108" fmla="*/ 27 h 2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6" h="27">
                  <a:moveTo>
                    <a:pt x="12" y="0"/>
                  </a:moveTo>
                  <a:lnTo>
                    <a:pt x="10" y="2"/>
                  </a:lnTo>
                  <a:lnTo>
                    <a:pt x="7" y="2"/>
                  </a:lnTo>
                  <a:lnTo>
                    <a:pt x="5" y="3"/>
                  </a:lnTo>
                  <a:lnTo>
                    <a:pt x="3" y="5"/>
                  </a:lnTo>
                  <a:lnTo>
                    <a:pt x="2" y="7"/>
                  </a:lnTo>
                  <a:lnTo>
                    <a:pt x="0" y="8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10" y="27"/>
                  </a:lnTo>
                  <a:lnTo>
                    <a:pt x="12" y="27"/>
                  </a:lnTo>
                  <a:lnTo>
                    <a:pt x="16" y="27"/>
                  </a:lnTo>
                  <a:lnTo>
                    <a:pt x="19" y="27"/>
                  </a:lnTo>
                  <a:lnTo>
                    <a:pt x="21" y="25"/>
                  </a:lnTo>
                  <a:lnTo>
                    <a:pt x="23" y="23"/>
                  </a:lnTo>
                  <a:lnTo>
                    <a:pt x="24" y="22"/>
                  </a:lnTo>
                  <a:lnTo>
                    <a:pt x="26" y="18"/>
                  </a:lnTo>
                  <a:lnTo>
                    <a:pt x="26" y="17"/>
                  </a:lnTo>
                  <a:lnTo>
                    <a:pt x="26" y="13"/>
                  </a:lnTo>
                  <a:lnTo>
                    <a:pt x="26" y="12"/>
                  </a:lnTo>
                  <a:lnTo>
                    <a:pt x="26" y="8"/>
                  </a:lnTo>
                  <a:lnTo>
                    <a:pt x="24" y="7"/>
                  </a:lnTo>
                  <a:lnTo>
                    <a:pt x="23" y="5"/>
                  </a:lnTo>
                  <a:lnTo>
                    <a:pt x="21" y="3"/>
                  </a:lnTo>
                  <a:lnTo>
                    <a:pt x="19" y="2"/>
                  </a:lnTo>
                  <a:lnTo>
                    <a:pt x="16" y="2"/>
                  </a:lnTo>
                  <a:lnTo>
                    <a:pt x="1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4" name="Line 333"/>
            <p:cNvSpPr>
              <a:spLocks noChangeShapeType="1"/>
            </p:cNvSpPr>
            <p:nvPr/>
          </p:nvSpPr>
          <p:spPr bwMode="auto">
            <a:xfrm>
              <a:off x="3708" y="1671"/>
              <a:ext cx="31" cy="8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" name="Line 334"/>
            <p:cNvSpPr>
              <a:spLocks noChangeShapeType="1"/>
            </p:cNvSpPr>
            <p:nvPr/>
          </p:nvSpPr>
          <p:spPr bwMode="auto">
            <a:xfrm flipH="1">
              <a:off x="3705" y="1548"/>
              <a:ext cx="153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" name="Line 337"/>
            <p:cNvSpPr>
              <a:spLocks noChangeShapeType="1"/>
            </p:cNvSpPr>
            <p:nvPr/>
          </p:nvSpPr>
          <p:spPr bwMode="auto">
            <a:xfrm flipV="1">
              <a:off x="3705" y="1549"/>
              <a:ext cx="1" cy="11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7" name="Line 338"/>
            <p:cNvSpPr>
              <a:spLocks noChangeShapeType="1"/>
            </p:cNvSpPr>
            <p:nvPr/>
          </p:nvSpPr>
          <p:spPr bwMode="auto">
            <a:xfrm flipH="1">
              <a:off x="3705" y="1884"/>
              <a:ext cx="153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" name="Freeform 339"/>
            <p:cNvSpPr>
              <a:spLocks/>
            </p:cNvSpPr>
            <p:nvPr/>
          </p:nvSpPr>
          <p:spPr bwMode="auto">
            <a:xfrm>
              <a:off x="3693" y="1535"/>
              <a:ext cx="28" cy="27"/>
            </a:xfrm>
            <a:custGeom>
              <a:avLst/>
              <a:gdLst>
                <a:gd name="T0" fmla="*/ 0 w 56"/>
                <a:gd name="T1" fmla="*/ 1 h 53"/>
                <a:gd name="T2" fmla="*/ 0 w 56"/>
                <a:gd name="T3" fmla="*/ 1 h 53"/>
                <a:gd name="T4" fmla="*/ 1 w 56"/>
                <a:gd name="T5" fmla="*/ 1 h 53"/>
                <a:gd name="T6" fmla="*/ 1 w 56"/>
                <a:gd name="T7" fmla="*/ 1 h 53"/>
                <a:gd name="T8" fmla="*/ 1 w 56"/>
                <a:gd name="T9" fmla="*/ 1 h 53"/>
                <a:gd name="T10" fmla="*/ 1 w 56"/>
                <a:gd name="T11" fmla="*/ 1 h 53"/>
                <a:gd name="T12" fmla="*/ 1 w 56"/>
                <a:gd name="T13" fmla="*/ 1 h 53"/>
                <a:gd name="T14" fmla="*/ 1 w 56"/>
                <a:gd name="T15" fmla="*/ 1 h 53"/>
                <a:gd name="T16" fmla="*/ 1 w 56"/>
                <a:gd name="T17" fmla="*/ 0 h 53"/>
                <a:gd name="T18" fmla="*/ 1 w 56"/>
                <a:gd name="T19" fmla="*/ 1 h 53"/>
                <a:gd name="T20" fmla="*/ 1 w 56"/>
                <a:gd name="T21" fmla="*/ 1 h 53"/>
                <a:gd name="T22" fmla="*/ 1 w 56"/>
                <a:gd name="T23" fmla="*/ 1 h 53"/>
                <a:gd name="T24" fmla="*/ 1 w 56"/>
                <a:gd name="T25" fmla="*/ 1 h 53"/>
                <a:gd name="T26" fmla="*/ 1 w 56"/>
                <a:gd name="T27" fmla="*/ 1 h 53"/>
                <a:gd name="T28" fmla="*/ 1 w 56"/>
                <a:gd name="T29" fmla="*/ 1 h 53"/>
                <a:gd name="T30" fmla="*/ 1 w 56"/>
                <a:gd name="T31" fmla="*/ 1 h 53"/>
                <a:gd name="T32" fmla="*/ 1 w 56"/>
                <a:gd name="T33" fmla="*/ 1 h 53"/>
                <a:gd name="T34" fmla="*/ 1 w 56"/>
                <a:gd name="T35" fmla="*/ 1 h 53"/>
                <a:gd name="T36" fmla="*/ 1 w 56"/>
                <a:gd name="T37" fmla="*/ 1 h 53"/>
                <a:gd name="T38" fmla="*/ 1 w 56"/>
                <a:gd name="T39" fmla="*/ 1 h 53"/>
                <a:gd name="T40" fmla="*/ 1 w 56"/>
                <a:gd name="T41" fmla="*/ 1 h 53"/>
                <a:gd name="T42" fmla="*/ 1 w 56"/>
                <a:gd name="T43" fmla="*/ 1 h 53"/>
                <a:gd name="T44" fmla="*/ 1 w 56"/>
                <a:gd name="T45" fmla="*/ 1 h 53"/>
                <a:gd name="T46" fmla="*/ 1 w 56"/>
                <a:gd name="T47" fmla="*/ 1 h 53"/>
                <a:gd name="T48" fmla="*/ 1 w 56"/>
                <a:gd name="T49" fmla="*/ 1 h 53"/>
                <a:gd name="T50" fmla="*/ 1 w 56"/>
                <a:gd name="T51" fmla="*/ 1 h 53"/>
                <a:gd name="T52" fmla="*/ 1 w 56"/>
                <a:gd name="T53" fmla="*/ 1 h 53"/>
                <a:gd name="T54" fmla="*/ 1 w 56"/>
                <a:gd name="T55" fmla="*/ 1 h 53"/>
                <a:gd name="T56" fmla="*/ 1 w 56"/>
                <a:gd name="T57" fmla="*/ 1 h 53"/>
                <a:gd name="T58" fmla="*/ 1 w 56"/>
                <a:gd name="T59" fmla="*/ 1 h 53"/>
                <a:gd name="T60" fmla="*/ 1 w 56"/>
                <a:gd name="T61" fmla="*/ 1 h 53"/>
                <a:gd name="T62" fmla="*/ 1 w 56"/>
                <a:gd name="T63" fmla="*/ 1 h 53"/>
                <a:gd name="T64" fmla="*/ 0 w 56"/>
                <a:gd name="T65" fmla="*/ 1 h 53"/>
                <a:gd name="T66" fmla="*/ 0 w 56"/>
                <a:gd name="T67" fmla="*/ 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3"/>
                <a:gd name="T104" fmla="*/ 56 w 56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3">
                  <a:moveTo>
                    <a:pt x="0" y="26"/>
                  </a:moveTo>
                  <a:lnTo>
                    <a:pt x="0" y="21"/>
                  </a:lnTo>
                  <a:lnTo>
                    <a:pt x="2" y="16"/>
                  </a:lnTo>
                  <a:lnTo>
                    <a:pt x="4" y="11"/>
                  </a:lnTo>
                  <a:lnTo>
                    <a:pt x="7" y="8"/>
                  </a:lnTo>
                  <a:lnTo>
                    <a:pt x="13" y="5"/>
                  </a:lnTo>
                  <a:lnTo>
                    <a:pt x="18" y="3"/>
                  </a:lnTo>
                  <a:lnTo>
                    <a:pt x="23" y="1"/>
                  </a:lnTo>
                  <a:lnTo>
                    <a:pt x="28" y="0"/>
                  </a:lnTo>
                  <a:lnTo>
                    <a:pt x="34" y="1"/>
                  </a:lnTo>
                  <a:lnTo>
                    <a:pt x="39" y="3"/>
                  </a:lnTo>
                  <a:lnTo>
                    <a:pt x="44" y="5"/>
                  </a:lnTo>
                  <a:lnTo>
                    <a:pt x="48" y="8"/>
                  </a:lnTo>
                  <a:lnTo>
                    <a:pt x="51" y="11"/>
                  </a:lnTo>
                  <a:lnTo>
                    <a:pt x="55" y="16"/>
                  </a:lnTo>
                  <a:lnTo>
                    <a:pt x="55" y="21"/>
                  </a:lnTo>
                  <a:lnTo>
                    <a:pt x="56" y="26"/>
                  </a:lnTo>
                  <a:lnTo>
                    <a:pt x="55" y="33"/>
                  </a:lnTo>
                  <a:lnTo>
                    <a:pt x="55" y="38"/>
                  </a:lnTo>
                  <a:lnTo>
                    <a:pt x="51" y="41"/>
                  </a:lnTo>
                  <a:lnTo>
                    <a:pt x="48" y="46"/>
                  </a:lnTo>
                  <a:lnTo>
                    <a:pt x="44" y="50"/>
                  </a:lnTo>
                  <a:lnTo>
                    <a:pt x="39" y="51"/>
                  </a:lnTo>
                  <a:lnTo>
                    <a:pt x="34" y="53"/>
                  </a:lnTo>
                  <a:lnTo>
                    <a:pt x="28" y="53"/>
                  </a:lnTo>
                  <a:lnTo>
                    <a:pt x="23" y="53"/>
                  </a:lnTo>
                  <a:lnTo>
                    <a:pt x="18" y="51"/>
                  </a:lnTo>
                  <a:lnTo>
                    <a:pt x="13" y="50"/>
                  </a:lnTo>
                  <a:lnTo>
                    <a:pt x="7" y="46"/>
                  </a:lnTo>
                  <a:lnTo>
                    <a:pt x="4" y="41"/>
                  </a:lnTo>
                  <a:lnTo>
                    <a:pt x="2" y="38"/>
                  </a:lnTo>
                  <a:lnTo>
                    <a:pt x="0" y="33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" name="Line 340"/>
            <p:cNvSpPr>
              <a:spLocks noChangeShapeType="1"/>
            </p:cNvSpPr>
            <p:nvPr/>
          </p:nvSpPr>
          <p:spPr bwMode="auto">
            <a:xfrm>
              <a:off x="3703" y="1140"/>
              <a:ext cx="2" cy="42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" name="Line 341"/>
            <p:cNvSpPr>
              <a:spLocks noChangeShapeType="1"/>
            </p:cNvSpPr>
            <p:nvPr/>
          </p:nvSpPr>
          <p:spPr bwMode="auto">
            <a:xfrm>
              <a:off x="3705" y="1770"/>
              <a:ext cx="1" cy="11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1" name="Freeform 342"/>
            <p:cNvSpPr>
              <a:spLocks/>
            </p:cNvSpPr>
            <p:nvPr/>
          </p:nvSpPr>
          <p:spPr bwMode="auto">
            <a:xfrm>
              <a:off x="3844" y="1871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1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1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2" y="22"/>
                  </a:lnTo>
                  <a:lnTo>
                    <a:pt x="2" y="17"/>
                  </a:lnTo>
                  <a:lnTo>
                    <a:pt x="5" y="12"/>
                  </a:lnTo>
                  <a:lnTo>
                    <a:pt x="8" y="7"/>
                  </a:lnTo>
                  <a:lnTo>
                    <a:pt x="12" y="4"/>
                  </a:lnTo>
                  <a:lnTo>
                    <a:pt x="17" y="2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38" y="2"/>
                  </a:lnTo>
                  <a:lnTo>
                    <a:pt x="43" y="4"/>
                  </a:lnTo>
                  <a:lnTo>
                    <a:pt x="49" y="7"/>
                  </a:lnTo>
                  <a:lnTo>
                    <a:pt x="50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0" y="42"/>
                  </a:lnTo>
                  <a:lnTo>
                    <a:pt x="49" y="46"/>
                  </a:lnTo>
                  <a:lnTo>
                    <a:pt x="43" y="49"/>
                  </a:lnTo>
                  <a:lnTo>
                    <a:pt x="38" y="51"/>
                  </a:lnTo>
                  <a:lnTo>
                    <a:pt x="33" y="52"/>
                  </a:lnTo>
                  <a:lnTo>
                    <a:pt x="28" y="54"/>
                  </a:lnTo>
                  <a:lnTo>
                    <a:pt x="22" y="52"/>
                  </a:lnTo>
                  <a:lnTo>
                    <a:pt x="17" y="51"/>
                  </a:lnTo>
                  <a:lnTo>
                    <a:pt x="12" y="49"/>
                  </a:lnTo>
                  <a:lnTo>
                    <a:pt x="8" y="46"/>
                  </a:lnTo>
                  <a:lnTo>
                    <a:pt x="5" y="42"/>
                  </a:lnTo>
                  <a:lnTo>
                    <a:pt x="2" y="37"/>
                  </a:lnTo>
                  <a:lnTo>
                    <a:pt x="2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" name="Freeform 343"/>
            <p:cNvSpPr>
              <a:spLocks/>
            </p:cNvSpPr>
            <p:nvPr/>
          </p:nvSpPr>
          <p:spPr bwMode="auto">
            <a:xfrm>
              <a:off x="3693" y="1494"/>
              <a:ext cx="28" cy="27"/>
            </a:xfrm>
            <a:custGeom>
              <a:avLst/>
              <a:gdLst>
                <a:gd name="T0" fmla="*/ 0 w 56"/>
                <a:gd name="T1" fmla="*/ 1 h 53"/>
                <a:gd name="T2" fmla="*/ 0 w 56"/>
                <a:gd name="T3" fmla="*/ 1 h 53"/>
                <a:gd name="T4" fmla="*/ 1 w 56"/>
                <a:gd name="T5" fmla="*/ 1 h 53"/>
                <a:gd name="T6" fmla="*/ 1 w 56"/>
                <a:gd name="T7" fmla="*/ 1 h 53"/>
                <a:gd name="T8" fmla="*/ 1 w 56"/>
                <a:gd name="T9" fmla="*/ 1 h 53"/>
                <a:gd name="T10" fmla="*/ 1 w 56"/>
                <a:gd name="T11" fmla="*/ 1 h 53"/>
                <a:gd name="T12" fmla="*/ 1 w 56"/>
                <a:gd name="T13" fmla="*/ 1 h 53"/>
                <a:gd name="T14" fmla="*/ 1 w 56"/>
                <a:gd name="T15" fmla="*/ 0 h 53"/>
                <a:gd name="T16" fmla="*/ 1 w 56"/>
                <a:gd name="T17" fmla="*/ 0 h 53"/>
                <a:gd name="T18" fmla="*/ 1 w 56"/>
                <a:gd name="T19" fmla="*/ 0 h 53"/>
                <a:gd name="T20" fmla="*/ 1 w 56"/>
                <a:gd name="T21" fmla="*/ 1 h 53"/>
                <a:gd name="T22" fmla="*/ 1 w 56"/>
                <a:gd name="T23" fmla="*/ 1 h 53"/>
                <a:gd name="T24" fmla="*/ 1 w 56"/>
                <a:gd name="T25" fmla="*/ 1 h 53"/>
                <a:gd name="T26" fmla="*/ 1 w 56"/>
                <a:gd name="T27" fmla="*/ 1 h 53"/>
                <a:gd name="T28" fmla="*/ 1 w 56"/>
                <a:gd name="T29" fmla="*/ 1 h 53"/>
                <a:gd name="T30" fmla="*/ 1 w 56"/>
                <a:gd name="T31" fmla="*/ 1 h 53"/>
                <a:gd name="T32" fmla="*/ 1 w 56"/>
                <a:gd name="T33" fmla="*/ 1 h 53"/>
                <a:gd name="T34" fmla="*/ 1 w 56"/>
                <a:gd name="T35" fmla="*/ 1 h 53"/>
                <a:gd name="T36" fmla="*/ 1 w 56"/>
                <a:gd name="T37" fmla="*/ 1 h 53"/>
                <a:gd name="T38" fmla="*/ 1 w 56"/>
                <a:gd name="T39" fmla="*/ 1 h 53"/>
                <a:gd name="T40" fmla="*/ 1 w 56"/>
                <a:gd name="T41" fmla="*/ 1 h 53"/>
                <a:gd name="T42" fmla="*/ 1 w 56"/>
                <a:gd name="T43" fmla="*/ 1 h 53"/>
                <a:gd name="T44" fmla="*/ 1 w 56"/>
                <a:gd name="T45" fmla="*/ 1 h 53"/>
                <a:gd name="T46" fmla="*/ 1 w 56"/>
                <a:gd name="T47" fmla="*/ 1 h 53"/>
                <a:gd name="T48" fmla="*/ 1 w 56"/>
                <a:gd name="T49" fmla="*/ 1 h 53"/>
                <a:gd name="T50" fmla="*/ 1 w 56"/>
                <a:gd name="T51" fmla="*/ 1 h 53"/>
                <a:gd name="T52" fmla="*/ 1 w 56"/>
                <a:gd name="T53" fmla="*/ 1 h 53"/>
                <a:gd name="T54" fmla="*/ 1 w 56"/>
                <a:gd name="T55" fmla="*/ 1 h 53"/>
                <a:gd name="T56" fmla="*/ 1 w 56"/>
                <a:gd name="T57" fmla="*/ 1 h 53"/>
                <a:gd name="T58" fmla="*/ 1 w 56"/>
                <a:gd name="T59" fmla="*/ 1 h 53"/>
                <a:gd name="T60" fmla="*/ 1 w 56"/>
                <a:gd name="T61" fmla="*/ 1 h 53"/>
                <a:gd name="T62" fmla="*/ 1 w 56"/>
                <a:gd name="T63" fmla="*/ 1 h 53"/>
                <a:gd name="T64" fmla="*/ 0 w 56"/>
                <a:gd name="T65" fmla="*/ 1 h 53"/>
                <a:gd name="T66" fmla="*/ 0 w 56"/>
                <a:gd name="T67" fmla="*/ 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3"/>
                <a:gd name="T104" fmla="*/ 56 w 56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3">
                  <a:moveTo>
                    <a:pt x="0" y="26"/>
                  </a:moveTo>
                  <a:lnTo>
                    <a:pt x="0" y="20"/>
                  </a:lnTo>
                  <a:lnTo>
                    <a:pt x="2" y="15"/>
                  </a:lnTo>
                  <a:lnTo>
                    <a:pt x="4" y="11"/>
                  </a:lnTo>
                  <a:lnTo>
                    <a:pt x="7" y="6"/>
                  </a:lnTo>
                  <a:lnTo>
                    <a:pt x="13" y="3"/>
                  </a:lnTo>
                  <a:lnTo>
                    <a:pt x="18" y="1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9" y="1"/>
                  </a:lnTo>
                  <a:lnTo>
                    <a:pt x="44" y="3"/>
                  </a:lnTo>
                  <a:lnTo>
                    <a:pt x="48" y="6"/>
                  </a:lnTo>
                  <a:lnTo>
                    <a:pt x="51" y="11"/>
                  </a:lnTo>
                  <a:lnTo>
                    <a:pt x="55" y="15"/>
                  </a:lnTo>
                  <a:lnTo>
                    <a:pt x="55" y="20"/>
                  </a:lnTo>
                  <a:lnTo>
                    <a:pt x="56" y="26"/>
                  </a:lnTo>
                  <a:lnTo>
                    <a:pt x="55" y="31"/>
                  </a:lnTo>
                  <a:lnTo>
                    <a:pt x="55" y="36"/>
                  </a:lnTo>
                  <a:lnTo>
                    <a:pt x="51" y="41"/>
                  </a:lnTo>
                  <a:lnTo>
                    <a:pt x="48" y="45"/>
                  </a:lnTo>
                  <a:lnTo>
                    <a:pt x="44" y="48"/>
                  </a:lnTo>
                  <a:lnTo>
                    <a:pt x="39" y="50"/>
                  </a:lnTo>
                  <a:lnTo>
                    <a:pt x="34" y="51"/>
                  </a:lnTo>
                  <a:lnTo>
                    <a:pt x="28" y="53"/>
                  </a:lnTo>
                  <a:lnTo>
                    <a:pt x="23" y="51"/>
                  </a:lnTo>
                  <a:lnTo>
                    <a:pt x="18" y="50"/>
                  </a:lnTo>
                  <a:lnTo>
                    <a:pt x="13" y="48"/>
                  </a:lnTo>
                  <a:lnTo>
                    <a:pt x="7" y="45"/>
                  </a:lnTo>
                  <a:lnTo>
                    <a:pt x="4" y="41"/>
                  </a:lnTo>
                  <a:lnTo>
                    <a:pt x="2" y="36"/>
                  </a:lnTo>
                  <a:lnTo>
                    <a:pt x="0" y="31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3" name="Freeform 344"/>
            <p:cNvSpPr>
              <a:spLocks/>
            </p:cNvSpPr>
            <p:nvPr/>
          </p:nvSpPr>
          <p:spPr bwMode="auto">
            <a:xfrm>
              <a:off x="3844" y="906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1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1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2" y="22"/>
                  </a:lnTo>
                  <a:lnTo>
                    <a:pt x="3" y="17"/>
                  </a:lnTo>
                  <a:lnTo>
                    <a:pt x="5" y="12"/>
                  </a:lnTo>
                  <a:lnTo>
                    <a:pt x="8" y="9"/>
                  </a:lnTo>
                  <a:lnTo>
                    <a:pt x="12" y="5"/>
                  </a:lnTo>
                  <a:lnTo>
                    <a:pt x="17" y="2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40" y="2"/>
                  </a:lnTo>
                  <a:lnTo>
                    <a:pt x="43" y="5"/>
                  </a:lnTo>
                  <a:lnTo>
                    <a:pt x="49" y="9"/>
                  </a:lnTo>
                  <a:lnTo>
                    <a:pt x="52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2" y="42"/>
                  </a:lnTo>
                  <a:lnTo>
                    <a:pt x="49" y="46"/>
                  </a:lnTo>
                  <a:lnTo>
                    <a:pt x="43" y="49"/>
                  </a:lnTo>
                  <a:lnTo>
                    <a:pt x="40" y="52"/>
                  </a:lnTo>
                  <a:lnTo>
                    <a:pt x="35" y="54"/>
                  </a:lnTo>
                  <a:lnTo>
                    <a:pt x="28" y="54"/>
                  </a:lnTo>
                  <a:lnTo>
                    <a:pt x="22" y="54"/>
                  </a:lnTo>
                  <a:lnTo>
                    <a:pt x="17" y="52"/>
                  </a:lnTo>
                  <a:lnTo>
                    <a:pt x="12" y="49"/>
                  </a:lnTo>
                  <a:lnTo>
                    <a:pt x="8" y="46"/>
                  </a:lnTo>
                  <a:lnTo>
                    <a:pt x="5" y="42"/>
                  </a:lnTo>
                  <a:lnTo>
                    <a:pt x="3" y="37"/>
                  </a:lnTo>
                  <a:lnTo>
                    <a:pt x="2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4" name="Rectangle 345"/>
            <p:cNvSpPr>
              <a:spLocks noChangeArrowheads="1"/>
            </p:cNvSpPr>
            <p:nvPr/>
          </p:nvSpPr>
          <p:spPr bwMode="auto">
            <a:xfrm>
              <a:off x="4521" y="1136"/>
              <a:ext cx="36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宋体" pitchFamily="2" charset="-122"/>
                </a:rPr>
                <a:t>+</a:t>
              </a:r>
              <a:endParaRPr lang="en-US" altLang="zh-CN"/>
            </a:p>
          </p:txBody>
        </p:sp>
        <p:sp>
          <p:nvSpPr>
            <p:cNvPr id="395" name="Rectangle 346"/>
            <p:cNvSpPr>
              <a:spLocks noChangeArrowheads="1"/>
            </p:cNvSpPr>
            <p:nvPr/>
          </p:nvSpPr>
          <p:spPr bwMode="auto">
            <a:xfrm>
              <a:off x="4521" y="1336"/>
              <a:ext cx="36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宋体" pitchFamily="2" charset="-122"/>
                </a:rPr>
                <a:t>-</a:t>
              </a:r>
              <a:endParaRPr lang="en-US" altLang="zh-CN"/>
            </a:p>
          </p:txBody>
        </p:sp>
        <p:sp>
          <p:nvSpPr>
            <p:cNvPr id="396" name="Rectangle 347"/>
            <p:cNvSpPr>
              <a:spLocks noChangeArrowheads="1"/>
            </p:cNvSpPr>
            <p:nvPr/>
          </p:nvSpPr>
          <p:spPr bwMode="auto">
            <a:xfrm>
              <a:off x="4587" y="1268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397" name="Rectangle 348"/>
            <p:cNvSpPr>
              <a:spLocks noChangeArrowheads="1"/>
            </p:cNvSpPr>
            <p:nvPr/>
          </p:nvSpPr>
          <p:spPr bwMode="auto">
            <a:xfrm>
              <a:off x="4551" y="1222"/>
              <a:ext cx="4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u</a:t>
              </a:r>
              <a:endParaRPr lang="en-US" altLang="zh-CN"/>
            </a:p>
          </p:txBody>
        </p:sp>
        <p:sp>
          <p:nvSpPr>
            <p:cNvPr id="398" name="Line 349"/>
            <p:cNvSpPr>
              <a:spLocks noChangeShapeType="1"/>
            </p:cNvSpPr>
            <p:nvPr/>
          </p:nvSpPr>
          <p:spPr bwMode="auto">
            <a:xfrm flipV="1">
              <a:off x="4359" y="1380"/>
              <a:ext cx="1" cy="2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" name="Line 350"/>
            <p:cNvSpPr>
              <a:spLocks noChangeShapeType="1"/>
            </p:cNvSpPr>
            <p:nvPr/>
          </p:nvSpPr>
          <p:spPr bwMode="auto">
            <a:xfrm flipV="1">
              <a:off x="4372" y="1380"/>
              <a:ext cx="1" cy="2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" name="Freeform 351"/>
            <p:cNvSpPr>
              <a:spLocks/>
            </p:cNvSpPr>
            <p:nvPr/>
          </p:nvSpPr>
          <p:spPr bwMode="auto">
            <a:xfrm>
              <a:off x="3815" y="1046"/>
              <a:ext cx="87" cy="83"/>
            </a:xfrm>
            <a:custGeom>
              <a:avLst/>
              <a:gdLst>
                <a:gd name="T0" fmla="*/ 0 w 173"/>
                <a:gd name="T1" fmla="*/ 1 h 165"/>
                <a:gd name="T2" fmla="*/ 1 w 173"/>
                <a:gd name="T3" fmla="*/ 0 h 165"/>
                <a:gd name="T4" fmla="*/ 1 w 173"/>
                <a:gd name="T5" fmla="*/ 1 h 165"/>
                <a:gd name="T6" fmla="*/ 0 w 173"/>
                <a:gd name="T7" fmla="*/ 1 h 1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5"/>
                <a:gd name="T14" fmla="*/ 173 w 173"/>
                <a:gd name="T15" fmla="*/ 165 h 1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5">
                  <a:moveTo>
                    <a:pt x="0" y="165"/>
                  </a:moveTo>
                  <a:lnTo>
                    <a:pt x="86" y="0"/>
                  </a:lnTo>
                  <a:lnTo>
                    <a:pt x="173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1" name="Line 352"/>
            <p:cNvSpPr>
              <a:spLocks noChangeShapeType="1"/>
            </p:cNvSpPr>
            <p:nvPr/>
          </p:nvSpPr>
          <p:spPr bwMode="auto">
            <a:xfrm flipH="1">
              <a:off x="3815" y="1046"/>
              <a:ext cx="87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2" name="Freeform 353"/>
            <p:cNvSpPr>
              <a:spLocks/>
            </p:cNvSpPr>
            <p:nvPr/>
          </p:nvSpPr>
          <p:spPr bwMode="auto">
            <a:xfrm>
              <a:off x="3815" y="1046"/>
              <a:ext cx="87" cy="83"/>
            </a:xfrm>
            <a:custGeom>
              <a:avLst/>
              <a:gdLst>
                <a:gd name="T0" fmla="*/ 0 w 173"/>
                <a:gd name="T1" fmla="*/ 1 h 165"/>
                <a:gd name="T2" fmla="*/ 1 w 173"/>
                <a:gd name="T3" fmla="*/ 0 h 165"/>
                <a:gd name="T4" fmla="*/ 1 w 173"/>
                <a:gd name="T5" fmla="*/ 1 h 165"/>
                <a:gd name="T6" fmla="*/ 0 w 173"/>
                <a:gd name="T7" fmla="*/ 1 h 1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5"/>
                <a:gd name="T14" fmla="*/ 173 w 173"/>
                <a:gd name="T15" fmla="*/ 165 h 1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5">
                  <a:moveTo>
                    <a:pt x="0" y="165"/>
                  </a:moveTo>
                  <a:lnTo>
                    <a:pt x="86" y="0"/>
                  </a:lnTo>
                  <a:lnTo>
                    <a:pt x="173" y="165"/>
                  </a:lnTo>
                  <a:lnTo>
                    <a:pt x="0" y="165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3" name="Line 354"/>
            <p:cNvSpPr>
              <a:spLocks noChangeShapeType="1"/>
            </p:cNvSpPr>
            <p:nvPr/>
          </p:nvSpPr>
          <p:spPr bwMode="auto">
            <a:xfrm flipV="1">
              <a:off x="3858" y="920"/>
              <a:ext cx="1" cy="33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4" name="Freeform 355"/>
            <p:cNvSpPr>
              <a:spLocks/>
            </p:cNvSpPr>
            <p:nvPr/>
          </p:nvSpPr>
          <p:spPr bwMode="auto">
            <a:xfrm>
              <a:off x="3815" y="1046"/>
              <a:ext cx="87" cy="84"/>
            </a:xfrm>
            <a:custGeom>
              <a:avLst/>
              <a:gdLst>
                <a:gd name="T0" fmla="*/ 1 w 173"/>
                <a:gd name="T1" fmla="*/ 0 h 167"/>
                <a:gd name="T2" fmla="*/ 0 w 173"/>
                <a:gd name="T3" fmla="*/ 1 h 167"/>
                <a:gd name="T4" fmla="*/ 1 w 173"/>
                <a:gd name="T5" fmla="*/ 1 h 167"/>
                <a:gd name="T6" fmla="*/ 1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6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" name="Freeform 356"/>
            <p:cNvSpPr>
              <a:spLocks/>
            </p:cNvSpPr>
            <p:nvPr/>
          </p:nvSpPr>
          <p:spPr bwMode="auto">
            <a:xfrm>
              <a:off x="3815" y="1046"/>
              <a:ext cx="87" cy="84"/>
            </a:xfrm>
            <a:custGeom>
              <a:avLst/>
              <a:gdLst>
                <a:gd name="T0" fmla="*/ 1 w 173"/>
                <a:gd name="T1" fmla="*/ 0 h 167"/>
                <a:gd name="T2" fmla="*/ 0 w 173"/>
                <a:gd name="T3" fmla="*/ 1 h 167"/>
                <a:gd name="T4" fmla="*/ 1 w 173"/>
                <a:gd name="T5" fmla="*/ 1 h 167"/>
                <a:gd name="T6" fmla="*/ 1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6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6" name="Line 357"/>
            <p:cNvSpPr>
              <a:spLocks noChangeShapeType="1"/>
            </p:cNvSpPr>
            <p:nvPr/>
          </p:nvSpPr>
          <p:spPr bwMode="auto">
            <a:xfrm flipV="1">
              <a:off x="3858" y="1046"/>
              <a:ext cx="1" cy="8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7" name="Line 358"/>
            <p:cNvSpPr>
              <a:spLocks noChangeShapeType="1"/>
            </p:cNvSpPr>
            <p:nvPr/>
          </p:nvSpPr>
          <p:spPr bwMode="auto">
            <a:xfrm flipH="1">
              <a:off x="3815" y="1046"/>
              <a:ext cx="87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8" name="Freeform 359"/>
            <p:cNvSpPr>
              <a:spLocks/>
            </p:cNvSpPr>
            <p:nvPr/>
          </p:nvSpPr>
          <p:spPr bwMode="auto">
            <a:xfrm>
              <a:off x="4148" y="1047"/>
              <a:ext cx="86" cy="82"/>
            </a:xfrm>
            <a:custGeom>
              <a:avLst/>
              <a:gdLst>
                <a:gd name="T0" fmla="*/ 0 w 171"/>
                <a:gd name="T1" fmla="*/ 1 h 164"/>
                <a:gd name="T2" fmla="*/ 1 w 171"/>
                <a:gd name="T3" fmla="*/ 0 h 164"/>
                <a:gd name="T4" fmla="*/ 1 w 171"/>
                <a:gd name="T5" fmla="*/ 1 h 164"/>
                <a:gd name="T6" fmla="*/ 0 w 171"/>
                <a:gd name="T7" fmla="*/ 1 h 1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4"/>
                <a:gd name="T14" fmla="*/ 171 w 171"/>
                <a:gd name="T15" fmla="*/ 164 h 1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4">
                  <a:moveTo>
                    <a:pt x="0" y="164"/>
                  </a:moveTo>
                  <a:lnTo>
                    <a:pt x="86" y="0"/>
                  </a:lnTo>
                  <a:lnTo>
                    <a:pt x="171" y="164"/>
                  </a:lnTo>
                  <a:lnTo>
                    <a:pt x="0" y="16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" name="Line 360"/>
            <p:cNvSpPr>
              <a:spLocks noChangeShapeType="1"/>
            </p:cNvSpPr>
            <p:nvPr/>
          </p:nvSpPr>
          <p:spPr bwMode="auto">
            <a:xfrm flipH="1">
              <a:off x="4148" y="1047"/>
              <a:ext cx="86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" name="Freeform 361"/>
            <p:cNvSpPr>
              <a:spLocks/>
            </p:cNvSpPr>
            <p:nvPr/>
          </p:nvSpPr>
          <p:spPr bwMode="auto">
            <a:xfrm>
              <a:off x="4148" y="1047"/>
              <a:ext cx="86" cy="82"/>
            </a:xfrm>
            <a:custGeom>
              <a:avLst/>
              <a:gdLst>
                <a:gd name="T0" fmla="*/ 0 w 171"/>
                <a:gd name="T1" fmla="*/ 1 h 164"/>
                <a:gd name="T2" fmla="*/ 1 w 171"/>
                <a:gd name="T3" fmla="*/ 0 h 164"/>
                <a:gd name="T4" fmla="*/ 1 w 171"/>
                <a:gd name="T5" fmla="*/ 1 h 164"/>
                <a:gd name="T6" fmla="*/ 0 w 171"/>
                <a:gd name="T7" fmla="*/ 1 h 1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4"/>
                <a:gd name="T14" fmla="*/ 171 w 171"/>
                <a:gd name="T15" fmla="*/ 164 h 1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4">
                  <a:moveTo>
                    <a:pt x="0" y="164"/>
                  </a:moveTo>
                  <a:lnTo>
                    <a:pt x="86" y="0"/>
                  </a:lnTo>
                  <a:lnTo>
                    <a:pt x="171" y="164"/>
                  </a:lnTo>
                  <a:lnTo>
                    <a:pt x="0" y="164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" name="Line 362"/>
            <p:cNvSpPr>
              <a:spLocks noChangeShapeType="1"/>
            </p:cNvSpPr>
            <p:nvPr/>
          </p:nvSpPr>
          <p:spPr bwMode="auto">
            <a:xfrm flipV="1">
              <a:off x="4191" y="920"/>
              <a:ext cx="1" cy="33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" name="Freeform 363"/>
            <p:cNvSpPr>
              <a:spLocks/>
            </p:cNvSpPr>
            <p:nvPr/>
          </p:nvSpPr>
          <p:spPr bwMode="auto">
            <a:xfrm>
              <a:off x="4148" y="1046"/>
              <a:ext cx="86" cy="84"/>
            </a:xfrm>
            <a:custGeom>
              <a:avLst/>
              <a:gdLst>
                <a:gd name="T0" fmla="*/ 1 w 171"/>
                <a:gd name="T1" fmla="*/ 0 h 167"/>
                <a:gd name="T2" fmla="*/ 0 w 171"/>
                <a:gd name="T3" fmla="*/ 1 h 167"/>
                <a:gd name="T4" fmla="*/ 1 w 171"/>
                <a:gd name="T5" fmla="*/ 1 h 167"/>
                <a:gd name="T6" fmla="*/ 1 w 171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7"/>
                <a:gd name="T14" fmla="*/ 171 w 171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7">
                  <a:moveTo>
                    <a:pt x="86" y="0"/>
                  </a:moveTo>
                  <a:lnTo>
                    <a:pt x="0" y="167"/>
                  </a:lnTo>
                  <a:lnTo>
                    <a:pt x="171" y="167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" name="Freeform 364"/>
            <p:cNvSpPr>
              <a:spLocks/>
            </p:cNvSpPr>
            <p:nvPr/>
          </p:nvSpPr>
          <p:spPr bwMode="auto">
            <a:xfrm>
              <a:off x="4148" y="1046"/>
              <a:ext cx="86" cy="84"/>
            </a:xfrm>
            <a:custGeom>
              <a:avLst/>
              <a:gdLst>
                <a:gd name="T0" fmla="*/ 1 w 171"/>
                <a:gd name="T1" fmla="*/ 0 h 167"/>
                <a:gd name="T2" fmla="*/ 0 w 171"/>
                <a:gd name="T3" fmla="*/ 1 h 167"/>
                <a:gd name="T4" fmla="*/ 1 w 171"/>
                <a:gd name="T5" fmla="*/ 1 h 167"/>
                <a:gd name="T6" fmla="*/ 1 w 171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7"/>
                <a:gd name="T14" fmla="*/ 171 w 171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7">
                  <a:moveTo>
                    <a:pt x="86" y="0"/>
                  </a:moveTo>
                  <a:lnTo>
                    <a:pt x="0" y="167"/>
                  </a:lnTo>
                  <a:lnTo>
                    <a:pt x="171" y="167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4" name="Line 365"/>
            <p:cNvSpPr>
              <a:spLocks noChangeShapeType="1"/>
            </p:cNvSpPr>
            <p:nvPr/>
          </p:nvSpPr>
          <p:spPr bwMode="auto">
            <a:xfrm flipV="1">
              <a:off x="4191" y="1046"/>
              <a:ext cx="1" cy="8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5" name="Line 366"/>
            <p:cNvSpPr>
              <a:spLocks noChangeShapeType="1"/>
            </p:cNvSpPr>
            <p:nvPr/>
          </p:nvSpPr>
          <p:spPr bwMode="auto">
            <a:xfrm flipH="1">
              <a:off x="4148" y="1046"/>
              <a:ext cx="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6" name="Freeform 367"/>
            <p:cNvSpPr>
              <a:spLocks/>
            </p:cNvSpPr>
            <p:nvPr/>
          </p:nvSpPr>
          <p:spPr bwMode="auto">
            <a:xfrm>
              <a:off x="4564" y="1058"/>
              <a:ext cx="86" cy="82"/>
            </a:xfrm>
            <a:custGeom>
              <a:avLst/>
              <a:gdLst>
                <a:gd name="T0" fmla="*/ 0 w 173"/>
                <a:gd name="T1" fmla="*/ 0 h 166"/>
                <a:gd name="T2" fmla="*/ 0 w 173"/>
                <a:gd name="T3" fmla="*/ 0 h 166"/>
                <a:gd name="T4" fmla="*/ 0 w 173"/>
                <a:gd name="T5" fmla="*/ 0 h 166"/>
                <a:gd name="T6" fmla="*/ 0 w 173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6"/>
                <a:gd name="T14" fmla="*/ 173 w 173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6">
                  <a:moveTo>
                    <a:pt x="0" y="0"/>
                  </a:moveTo>
                  <a:lnTo>
                    <a:pt x="173" y="82"/>
                  </a:lnTo>
                  <a:lnTo>
                    <a:pt x="0" y="1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7" name="Line 368"/>
            <p:cNvSpPr>
              <a:spLocks noChangeShapeType="1"/>
            </p:cNvSpPr>
            <p:nvPr/>
          </p:nvSpPr>
          <p:spPr bwMode="auto">
            <a:xfrm flipV="1">
              <a:off x="4650" y="1058"/>
              <a:ext cx="1" cy="8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8" name="Freeform 369"/>
            <p:cNvSpPr>
              <a:spLocks/>
            </p:cNvSpPr>
            <p:nvPr/>
          </p:nvSpPr>
          <p:spPr bwMode="auto">
            <a:xfrm>
              <a:off x="4564" y="1058"/>
              <a:ext cx="86" cy="82"/>
            </a:xfrm>
            <a:custGeom>
              <a:avLst/>
              <a:gdLst>
                <a:gd name="T0" fmla="*/ 0 w 173"/>
                <a:gd name="T1" fmla="*/ 0 h 166"/>
                <a:gd name="T2" fmla="*/ 0 w 173"/>
                <a:gd name="T3" fmla="*/ 0 h 166"/>
                <a:gd name="T4" fmla="*/ 0 w 173"/>
                <a:gd name="T5" fmla="*/ 0 h 166"/>
                <a:gd name="T6" fmla="*/ 0 w 173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6"/>
                <a:gd name="T14" fmla="*/ 173 w 173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6">
                  <a:moveTo>
                    <a:pt x="0" y="0"/>
                  </a:moveTo>
                  <a:lnTo>
                    <a:pt x="173" y="82"/>
                  </a:lnTo>
                  <a:lnTo>
                    <a:pt x="0" y="166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" name="Line 370"/>
            <p:cNvSpPr>
              <a:spLocks noChangeShapeType="1"/>
            </p:cNvSpPr>
            <p:nvPr/>
          </p:nvSpPr>
          <p:spPr bwMode="auto">
            <a:xfrm>
              <a:off x="4431" y="1099"/>
              <a:ext cx="35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" name="Freeform 371"/>
            <p:cNvSpPr>
              <a:spLocks/>
            </p:cNvSpPr>
            <p:nvPr/>
          </p:nvSpPr>
          <p:spPr bwMode="auto">
            <a:xfrm>
              <a:off x="4563" y="1058"/>
              <a:ext cx="88" cy="82"/>
            </a:xfrm>
            <a:custGeom>
              <a:avLst/>
              <a:gdLst>
                <a:gd name="T0" fmla="*/ 0 w 177"/>
                <a:gd name="T1" fmla="*/ 0 h 166"/>
                <a:gd name="T2" fmla="*/ 0 w 177"/>
                <a:gd name="T3" fmla="*/ 0 h 166"/>
                <a:gd name="T4" fmla="*/ 0 w 177"/>
                <a:gd name="T5" fmla="*/ 0 h 166"/>
                <a:gd name="T6" fmla="*/ 0 w 177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7"/>
                <a:gd name="T13" fmla="*/ 0 h 166"/>
                <a:gd name="T14" fmla="*/ 177 w 177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7" h="166">
                  <a:moveTo>
                    <a:pt x="177" y="82"/>
                  </a:moveTo>
                  <a:lnTo>
                    <a:pt x="0" y="0"/>
                  </a:lnTo>
                  <a:lnTo>
                    <a:pt x="0" y="166"/>
                  </a:lnTo>
                  <a:lnTo>
                    <a:pt x="177" y="8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" name="Freeform 372"/>
            <p:cNvSpPr>
              <a:spLocks/>
            </p:cNvSpPr>
            <p:nvPr/>
          </p:nvSpPr>
          <p:spPr bwMode="auto">
            <a:xfrm>
              <a:off x="4563" y="1058"/>
              <a:ext cx="88" cy="82"/>
            </a:xfrm>
            <a:custGeom>
              <a:avLst/>
              <a:gdLst>
                <a:gd name="T0" fmla="*/ 0 w 177"/>
                <a:gd name="T1" fmla="*/ 0 h 166"/>
                <a:gd name="T2" fmla="*/ 0 w 177"/>
                <a:gd name="T3" fmla="*/ 0 h 166"/>
                <a:gd name="T4" fmla="*/ 0 w 177"/>
                <a:gd name="T5" fmla="*/ 0 h 166"/>
                <a:gd name="T6" fmla="*/ 0 w 177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7"/>
                <a:gd name="T13" fmla="*/ 0 h 166"/>
                <a:gd name="T14" fmla="*/ 177 w 177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7" h="166">
                  <a:moveTo>
                    <a:pt x="177" y="82"/>
                  </a:moveTo>
                  <a:lnTo>
                    <a:pt x="0" y="0"/>
                  </a:lnTo>
                  <a:lnTo>
                    <a:pt x="0" y="166"/>
                  </a:lnTo>
                  <a:lnTo>
                    <a:pt x="177" y="82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" name="Line 373"/>
            <p:cNvSpPr>
              <a:spLocks noChangeShapeType="1"/>
            </p:cNvSpPr>
            <p:nvPr/>
          </p:nvSpPr>
          <p:spPr bwMode="auto">
            <a:xfrm>
              <a:off x="4563" y="1099"/>
              <a:ext cx="88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3" name="Line 374"/>
            <p:cNvSpPr>
              <a:spLocks noChangeShapeType="1"/>
            </p:cNvSpPr>
            <p:nvPr/>
          </p:nvSpPr>
          <p:spPr bwMode="auto">
            <a:xfrm flipV="1">
              <a:off x="4651" y="1058"/>
              <a:ext cx="1" cy="8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4" name="Freeform 375"/>
            <p:cNvSpPr>
              <a:spLocks/>
            </p:cNvSpPr>
            <p:nvPr/>
          </p:nvSpPr>
          <p:spPr bwMode="auto">
            <a:xfrm>
              <a:off x="3815" y="1676"/>
              <a:ext cx="87" cy="82"/>
            </a:xfrm>
            <a:custGeom>
              <a:avLst/>
              <a:gdLst>
                <a:gd name="T0" fmla="*/ 0 w 173"/>
                <a:gd name="T1" fmla="*/ 1 h 164"/>
                <a:gd name="T2" fmla="*/ 1 w 173"/>
                <a:gd name="T3" fmla="*/ 0 h 164"/>
                <a:gd name="T4" fmla="*/ 1 w 173"/>
                <a:gd name="T5" fmla="*/ 1 h 164"/>
                <a:gd name="T6" fmla="*/ 0 w 173"/>
                <a:gd name="T7" fmla="*/ 1 h 1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4"/>
                <a:gd name="T14" fmla="*/ 173 w 173"/>
                <a:gd name="T15" fmla="*/ 164 h 1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4">
                  <a:moveTo>
                    <a:pt x="0" y="164"/>
                  </a:moveTo>
                  <a:lnTo>
                    <a:pt x="86" y="0"/>
                  </a:lnTo>
                  <a:lnTo>
                    <a:pt x="173" y="164"/>
                  </a:lnTo>
                  <a:lnTo>
                    <a:pt x="0" y="16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" name="Line 376"/>
            <p:cNvSpPr>
              <a:spLocks noChangeShapeType="1"/>
            </p:cNvSpPr>
            <p:nvPr/>
          </p:nvSpPr>
          <p:spPr bwMode="auto">
            <a:xfrm flipH="1">
              <a:off x="3815" y="1676"/>
              <a:ext cx="87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6" name="Freeform 377"/>
            <p:cNvSpPr>
              <a:spLocks/>
            </p:cNvSpPr>
            <p:nvPr/>
          </p:nvSpPr>
          <p:spPr bwMode="auto">
            <a:xfrm>
              <a:off x="3815" y="1676"/>
              <a:ext cx="87" cy="82"/>
            </a:xfrm>
            <a:custGeom>
              <a:avLst/>
              <a:gdLst>
                <a:gd name="T0" fmla="*/ 0 w 173"/>
                <a:gd name="T1" fmla="*/ 1 h 164"/>
                <a:gd name="T2" fmla="*/ 1 w 173"/>
                <a:gd name="T3" fmla="*/ 0 h 164"/>
                <a:gd name="T4" fmla="*/ 1 w 173"/>
                <a:gd name="T5" fmla="*/ 1 h 164"/>
                <a:gd name="T6" fmla="*/ 0 w 173"/>
                <a:gd name="T7" fmla="*/ 1 h 1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4"/>
                <a:gd name="T14" fmla="*/ 173 w 173"/>
                <a:gd name="T15" fmla="*/ 164 h 1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4">
                  <a:moveTo>
                    <a:pt x="0" y="164"/>
                  </a:moveTo>
                  <a:lnTo>
                    <a:pt x="86" y="0"/>
                  </a:lnTo>
                  <a:lnTo>
                    <a:pt x="173" y="164"/>
                  </a:lnTo>
                  <a:lnTo>
                    <a:pt x="0" y="164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7" name="Line 378"/>
            <p:cNvSpPr>
              <a:spLocks noChangeShapeType="1"/>
            </p:cNvSpPr>
            <p:nvPr/>
          </p:nvSpPr>
          <p:spPr bwMode="auto">
            <a:xfrm flipV="1">
              <a:off x="3858" y="1549"/>
              <a:ext cx="1" cy="33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" name="Freeform 379"/>
            <p:cNvSpPr>
              <a:spLocks/>
            </p:cNvSpPr>
            <p:nvPr/>
          </p:nvSpPr>
          <p:spPr bwMode="auto">
            <a:xfrm>
              <a:off x="3815" y="1675"/>
              <a:ext cx="87" cy="84"/>
            </a:xfrm>
            <a:custGeom>
              <a:avLst/>
              <a:gdLst>
                <a:gd name="T0" fmla="*/ 1 w 173"/>
                <a:gd name="T1" fmla="*/ 0 h 167"/>
                <a:gd name="T2" fmla="*/ 0 w 173"/>
                <a:gd name="T3" fmla="*/ 1 h 167"/>
                <a:gd name="T4" fmla="*/ 1 w 173"/>
                <a:gd name="T5" fmla="*/ 1 h 167"/>
                <a:gd name="T6" fmla="*/ 1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6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9" name="Freeform 380"/>
            <p:cNvSpPr>
              <a:spLocks/>
            </p:cNvSpPr>
            <p:nvPr/>
          </p:nvSpPr>
          <p:spPr bwMode="auto">
            <a:xfrm>
              <a:off x="3815" y="1675"/>
              <a:ext cx="87" cy="84"/>
            </a:xfrm>
            <a:custGeom>
              <a:avLst/>
              <a:gdLst>
                <a:gd name="T0" fmla="*/ 1 w 173"/>
                <a:gd name="T1" fmla="*/ 0 h 167"/>
                <a:gd name="T2" fmla="*/ 0 w 173"/>
                <a:gd name="T3" fmla="*/ 1 h 167"/>
                <a:gd name="T4" fmla="*/ 1 w 173"/>
                <a:gd name="T5" fmla="*/ 1 h 167"/>
                <a:gd name="T6" fmla="*/ 1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6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" name="Line 381"/>
            <p:cNvSpPr>
              <a:spLocks noChangeShapeType="1"/>
            </p:cNvSpPr>
            <p:nvPr/>
          </p:nvSpPr>
          <p:spPr bwMode="auto">
            <a:xfrm flipV="1">
              <a:off x="3858" y="1675"/>
              <a:ext cx="1" cy="8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" name="Line 382"/>
            <p:cNvSpPr>
              <a:spLocks noChangeShapeType="1"/>
            </p:cNvSpPr>
            <p:nvPr/>
          </p:nvSpPr>
          <p:spPr bwMode="auto">
            <a:xfrm flipH="1">
              <a:off x="3815" y="1675"/>
              <a:ext cx="87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2" name="Freeform 383"/>
            <p:cNvSpPr>
              <a:spLocks/>
            </p:cNvSpPr>
            <p:nvPr/>
          </p:nvSpPr>
          <p:spPr bwMode="auto">
            <a:xfrm>
              <a:off x="4171" y="1677"/>
              <a:ext cx="86" cy="82"/>
            </a:xfrm>
            <a:custGeom>
              <a:avLst/>
              <a:gdLst>
                <a:gd name="T0" fmla="*/ 0 w 173"/>
                <a:gd name="T1" fmla="*/ 0 h 166"/>
                <a:gd name="T2" fmla="*/ 0 w 173"/>
                <a:gd name="T3" fmla="*/ 0 h 166"/>
                <a:gd name="T4" fmla="*/ 0 w 173"/>
                <a:gd name="T5" fmla="*/ 0 h 166"/>
                <a:gd name="T6" fmla="*/ 0 w 173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6"/>
                <a:gd name="T14" fmla="*/ 173 w 173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6">
                  <a:moveTo>
                    <a:pt x="0" y="166"/>
                  </a:moveTo>
                  <a:lnTo>
                    <a:pt x="88" y="0"/>
                  </a:lnTo>
                  <a:lnTo>
                    <a:pt x="173" y="166"/>
                  </a:lnTo>
                  <a:lnTo>
                    <a:pt x="0" y="16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3" name="Line 384"/>
            <p:cNvSpPr>
              <a:spLocks noChangeShapeType="1"/>
            </p:cNvSpPr>
            <p:nvPr/>
          </p:nvSpPr>
          <p:spPr bwMode="auto">
            <a:xfrm flipH="1">
              <a:off x="4171" y="1677"/>
              <a:ext cx="86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4" name="Freeform 385"/>
            <p:cNvSpPr>
              <a:spLocks/>
            </p:cNvSpPr>
            <p:nvPr/>
          </p:nvSpPr>
          <p:spPr bwMode="auto">
            <a:xfrm>
              <a:off x="4171" y="1677"/>
              <a:ext cx="86" cy="82"/>
            </a:xfrm>
            <a:custGeom>
              <a:avLst/>
              <a:gdLst>
                <a:gd name="T0" fmla="*/ 0 w 173"/>
                <a:gd name="T1" fmla="*/ 0 h 166"/>
                <a:gd name="T2" fmla="*/ 0 w 173"/>
                <a:gd name="T3" fmla="*/ 0 h 166"/>
                <a:gd name="T4" fmla="*/ 0 w 173"/>
                <a:gd name="T5" fmla="*/ 0 h 166"/>
                <a:gd name="T6" fmla="*/ 0 w 173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6"/>
                <a:gd name="T14" fmla="*/ 173 w 173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6">
                  <a:moveTo>
                    <a:pt x="0" y="166"/>
                  </a:moveTo>
                  <a:lnTo>
                    <a:pt x="88" y="0"/>
                  </a:lnTo>
                  <a:lnTo>
                    <a:pt x="173" y="166"/>
                  </a:lnTo>
                  <a:lnTo>
                    <a:pt x="0" y="166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5" name="Line 386"/>
            <p:cNvSpPr>
              <a:spLocks noChangeShapeType="1"/>
            </p:cNvSpPr>
            <p:nvPr/>
          </p:nvSpPr>
          <p:spPr bwMode="auto">
            <a:xfrm flipV="1">
              <a:off x="4214" y="1550"/>
              <a:ext cx="1" cy="33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6" name="Freeform 387"/>
            <p:cNvSpPr>
              <a:spLocks/>
            </p:cNvSpPr>
            <p:nvPr/>
          </p:nvSpPr>
          <p:spPr bwMode="auto">
            <a:xfrm>
              <a:off x="4171" y="1676"/>
              <a:ext cx="86" cy="83"/>
            </a:xfrm>
            <a:custGeom>
              <a:avLst/>
              <a:gdLst>
                <a:gd name="T0" fmla="*/ 0 w 173"/>
                <a:gd name="T1" fmla="*/ 0 h 167"/>
                <a:gd name="T2" fmla="*/ 0 w 173"/>
                <a:gd name="T3" fmla="*/ 0 h 167"/>
                <a:gd name="T4" fmla="*/ 0 w 173"/>
                <a:gd name="T5" fmla="*/ 0 h 167"/>
                <a:gd name="T6" fmla="*/ 0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8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7" name="Freeform 388"/>
            <p:cNvSpPr>
              <a:spLocks/>
            </p:cNvSpPr>
            <p:nvPr/>
          </p:nvSpPr>
          <p:spPr bwMode="auto">
            <a:xfrm>
              <a:off x="4171" y="1676"/>
              <a:ext cx="86" cy="83"/>
            </a:xfrm>
            <a:custGeom>
              <a:avLst/>
              <a:gdLst>
                <a:gd name="T0" fmla="*/ 0 w 173"/>
                <a:gd name="T1" fmla="*/ 0 h 167"/>
                <a:gd name="T2" fmla="*/ 0 w 173"/>
                <a:gd name="T3" fmla="*/ 0 h 167"/>
                <a:gd name="T4" fmla="*/ 0 w 173"/>
                <a:gd name="T5" fmla="*/ 0 h 167"/>
                <a:gd name="T6" fmla="*/ 0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8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8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8" name="Line 389"/>
            <p:cNvSpPr>
              <a:spLocks noChangeShapeType="1"/>
            </p:cNvSpPr>
            <p:nvPr/>
          </p:nvSpPr>
          <p:spPr bwMode="auto">
            <a:xfrm flipV="1">
              <a:off x="4214" y="1676"/>
              <a:ext cx="1" cy="8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9" name="Line 390"/>
            <p:cNvSpPr>
              <a:spLocks noChangeShapeType="1"/>
            </p:cNvSpPr>
            <p:nvPr/>
          </p:nvSpPr>
          <p:spPr bwMode="auto">
            <a:xfrm flipH="1">
              <a:off x="4171" y="1676"/>
              <a:ext cx="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" name="Freeform 391"/>
            <p:cNvSpPr>
              <a:spLocks/>
            </p:cNvSpPr>
            <p:nvPr/>
          </p:nvSpPr>
          <p:spPr bwMode="auto">
            <a:xfrm>
              <a:off x="4567" y="1644"/>
              <a:ext cx="86" cy="83"/>
            </a:xfrm>
            <a:custGeom>
              <a:avLst/>
              <a:gdLst>
                <a:gd name="T0" fmla="*/ 0 w 171"/>
                <a:gd name="T1" fmla="*/ 0 h 166"/>
                <a:gd name="T2" fmla="*/ 1 w 171"/>
                <a:gd name="T3" fmla="*/ 1 h 166"/>
                <a:gd name="T4" fmla="*/ 0 w 171"/>
                <a:gd name="T5" fmla="*/ 1 h 166"/>
                <a:gd name="T6" fmla="*/ 0 w 171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6"/>
                <a:gd name="T14" fmla="*/ 171 w 171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6">
                  <a:moveTo>
                    <a:pt x="0" y="0"/>
                  </a:moveTo>
                  <a:lnTo>
                    <a:pt x="171" y="84"/>
                  </a:lnTo>
                  <a:lnTo>
                    <a:pt x="0" y="1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" name="Line 392"/>
            <p:cNvSpPr>
              <a:spLocks noChangeShapeType="1"/>
            </p:cNvSpPr>
            <p:nvPr/>
          </p:nvSpPr>
          <p:spPr bwMode="auto">
            <a:xfrm flipV="1">
              <a:off x="4653" y="1644"/>
              <a:ext cx="1" cy="8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" name="Freeform 393"/>
            <p:cNvSpPr>
              <a:spLocks/>
            </p:cNvSpPr>
            <p:nvPr/>
          </p:nvSpPr>
          <p:spPr bwMode="auto">
            <a:xfrm>
              <a:off x="4567" y="1644"/>
              <a:ext cx="86" cy="83"/>
            </a:xfrm>
            <a:custGeom>
              <a:avLst/>
              <a:gdLst>
                <a:gd name="T0" fmla="*/ 0 w 171"/>
                <a:gd name="T1" fmla="*/ 0 h 166"/>
                <a:gd name="T2" fmla="*/ 1 w 171"/>
                <a:gd name="T3" fmla="*/ 1 h 166"/>
                <a:gd name="T4" fmla="*/ 0 w 171"/>
                <a:gd name="T5" fmla="*/ 1 h 166"/>
                <a:gd name="T6" fmla="*/ 0 w 171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6"/>
                <a:gd name="T14" fmla="*/ 171 w 171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6">
                  <a:moveTo>
                    <a:pt x="0" y="0"/>
                  </a:moveTo>
                  <a:lnTo>
                    <a:pt x="171" y="84"/>
                  </a:lnTo>
                  <a:lnTo>
                    <a:pt x="0" y="166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3" name="Line 394"/>
            <p:cNvSpPr>
              <a:spLocks noChangeShapeType="1"/>
            </p:cNvSpPr>
            <p:nvPr/>
          </p:nvSpPr>
          <p:spPr bwMode="auto">
            <a:xfrm>
              <a:off x="4435" y="1686"/>
              <a:ext cx="35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4" name="Freeform 395"/>
            <p:cNvSpPr>
              <a:spLocks/>
            </p:cNvSpPr>
            <p:nvPr/>
          </p:nvSpPr>
          <p:spPr bwMode="auto">
            <a:xfrm>
              <a:off x="4567" y="1644"/>
              <a:ext cx="87" cy="83"/>
            </a:xfrm>
            <a:custGeom>
              <a:avLst/>
              <a:gdLst>
                <a:gd name="T0" fmla="*/ 0 w 175"/>
                <a:gd name="T1" fmla="*/ 1 h 166"/>
                <a:gd name="T2" fmla="*/ 0 w 175"/>
                <a:gd name="T3" fmla="*/ 0 h 166"/>
                <a:gd name="T4" fmla="*/ 0 w 175"/>
                <a:gd name="T5" fmla="*/ 1 h 166"/>
                <a:gd name="T6" fmla="*/ 0 w 175"/>
                <a:gd name="T7" fmla="*/ 1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5"/>
                <a:gd name="T13" fmla="*/ 0 h 166"/>
                <a:gd name="T14" fmla="*/ 175 w 175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5" h="166">
                  <a:moveTo>
                    <a:pt x="175" y="84"/>
                  </a:moveTo>
                  <a:lnTo>
                    <a:pt x="0" y="0"/>
                  </a:lnTo>
                  <a:lnTo>
                    <a:pt x="0" y="166"/>
                  </a:lnTo>
                  <a:lnTo>
                    <a:pt x="175" y="8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5" name="Freeform 396"/>
            <p:cNvSpPr>
              <a:spLocks/>
            </p:cNvSpPr>
            <p:nvPr/>
          </p:nvSpPr>
          <p:spPr bwMode="auto">
            <a:xfrm>
              <a:off x="4567" y="1644"/>
              <a:ext cx="87" cy="83"/>
            </a:xfrm>
            <a:custGeom>
              <a:avLst/>
              <a:gdLst>
                <a:gd name="T0" fmla="*/ 0 w 175"/>
                <a:gd name="T1" fmla="*/ 1 h 166"/>
                <a:gd name="T2" fmla="*/ 0 w 175"/>
                <a:gd name="T3" fmla="*/ 0 h 166"/>
                <a:gd name="T4" fmla="*/ 0 w 175"/>
                <a:gd name="T5" fmla="*/ 1 h 166"/>
                <a:gd name="T6" fmla="*/ 0 w 175"/>
                <a:gd name="T7" fmla="*/ 1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5"/>
                <a:gd name="T13" fmla="*/ 0 h 166"/>
                <a:gd name="T14" fmla="*/ 175 w 175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5" h="166">
                  <a:moveTo>
                    <a:pt x="175" y="84"/>
                  </a:moveTo>
                  <a:lnTo>
                    <a:pt x="0" y="0"/>
                  </a:lnTo>
                  <a:lnTo>
                    <a:pt x="0" y="166"/>
                  </a:lnTo>
                  <a:lnTo>
                    <a:pt x="175" y="84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6" name="Line 397"/>
            <p:cNvSpPr>
              <a:spLocks noChangeShapeType="1"/>
            </p:cNvSpPr>
            <p:nvPr/>
          </p:nvSpPr>
          <p:spPr bwMode="auto">
            <a:xfrm>
              <a:off x="4567" y="1686"/>
              <a:ext cx="87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" name="Line 398"/>
            <p:cNvSpPr>
              <a:spLocks noChangeShapeType="1"/>
            </p:cNvSpPr>
            <p:nvPr/>
          </p:nvSpPr>
          <p:spPr bwMode="auto">
            <a:xfrm flipV="1">
              <a:off x="4654" y="1644"/>
              <a:ext cx="1" cy="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8" name="Rectangle 399"/>
            <p:cNvSpPr>
              <a:spLocks noChangeArrowheads="1"/>
            </p:cNvSpPr>
            <p:nvPr/>
          </p:nvSpPr>
          <p:spPr bwMode="auto">
            <a:xfrm>
              <a:off x="5028" y="1138"/>
              <a:ext cx="48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宋体" pitchFamily="2" charset="-122"/>
                </a:rPr>
                <a:t>L</a:t>
              </a:r>
              <a:endParaRPr lang="en-US" altLang="zh-CN" sz="1200"/>
            </a:p>
          </p:txBody>
        </p:sp>
        <p:sp>
          <p:nvSpPr>
            <p:cNvPr id="449" name="Rectangle 400"/>
            <p:cNvSpPr>
              <a:spLocks noChangeArrowheads="1"/>
            </p:cNvSpPr>
            <p:nvPr/>
          </p:nvSpPr>
          <p:spPr bwMode="auto">
            <a:xfrm>
              <a:off x="4801" y="1047"/>
              <a:ext cx="93" cy="3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1200" i="1" baseline="-25000">
                  <a:solidFill>
                    <a:srgbClr val="000000"/>
                  </a:solidFill>
                  <a:latin typeface="Times New Roman" pitchFamily="18" charset="0"/>
                </a:rPr>
                <a:t>oi</a:t>
              </a:r>
            </a:p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1200"/>
            </a:p>
          </p:txBody>
        </p:sp>
        <p:sp>
          <p:nvSpPr>
            <p:cNvPr id="450" name="Rectangle 401"/>
            <p:cNvSpPr>
              <a:spLocks noChangeArrowheads="1"/>
            </p:cNvSpPr>
            <p:nvPr/>
          </p:nvSpPr>
          <p:spPr bwMode="auto">
            <a:xfrm>
              <a:off x="3395" y="1001"/>
              <a:ext cx="122" cy="7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endParaRPr lang="en-US" altLang="zh-CN" sz="16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eaLnBrk="1" hangingPunct="1"/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1600" i="1" baseline="-250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</a:p>
            <a:p>
              <a:pPr eaLnBrk="1" hangingPunct="1"/>
              <a:endParaRPr lang="en-US" altLang="zh-CN" sz="16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eaLnBrk="1" hangingPunct="1"/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1600"/>
            </a:p>
          </p:txBody>
        </p:sp>
        <p:sp>
          <p:nvSpPr>
            <p:cNvPr id="451" name="Rectangle 402"/>
            <p:cNvSpPr>
              <a:spLocks noChangeArrowheads="1"/>
            </p:cNvSpPr>
            <p:nvPr/>
          </p:nvSpPr>
          <p:spPr bwMode="auto">
            <a:xfrm>
              <a:off x="5527" y="1001"/>
              <a:ext cx="122" cy="4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16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  <a:p>
              <a:pPr eaLnBrk="1" hangingPunct="1"/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1600"/>
            </a:p>
          </p:txBody>
        </p:sp>
        <p:sp>
          <p:nvSpPr>
            <p:cNvPr id="452" name="Rectangle 403"/>
            <p:cNvSpPr>
              <a:spLocks noChangeArrowheads="1"/>
            </p:cNvSpPr>
            <p:nvPr/>
          </p:nvSpPr>
          <p:spPr bwMode="auto">
            <a:xfrm>
              <a:off x="4121" y="1228"/>
              <a:ext cx="75" cy="3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1200" i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1200"/>
            </a:p>
          </p:txBody>
        </p:sp>
        <p:sp>
          <p:nvSpPr>
            <p:cNvPr id="453" name="Rectangle 406"/>
            <p:cNvSpPr>
              <a:spLocks noChangeArrowheads="1"/>
            </p:cNvSpPr>
            <p:nvPr/>
          </p:nvSpPr>
          <p:spPr bwMode="auto">
            <a:xfrm>
              <a:off x="3923" y="1616"/>
              <a:ext cx="104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1400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54" name="Rectangle 407"/>
            <p:cNvSpPr>
              <a:spLocks noChangeArrowheads="1"/>
            </p:cNvSpPr>
            <p:nvPr/>
          </p:nvSpPr>
          <p:spPr bwMode="auto">
            <a:xfrm>
              <a:off x="3923" y="981"/>
              <a:ext cx="104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1400" baseline="-250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55" name="Rectangle 408"/>
            <p:cNvSpPr>
              <a:spLocks noChangeArrowheads="1"/>
            </p:cNvSpPr>
            <p:nvPr/>
          </p:nvSpPr>
          <p:spPr bwMode="auto">
            <a:xfrm>
              <a:off x="3560" y="1616"/>
              <a:ext cx="104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1400" baseline="-250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042" name="Object 2"/>
          <p:cNvGraphicFramePr>
            <a:graphicFrameLocks noChangeAspect="1"/>
          </p:cNvGraphicFramePr>
          <p:nvPr/>
        </p:nvGraphicFramePr>
        <p:xfrm>
          <a:off x="1331913" y="1052513"/>
          <a:ext cx="1595437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6" name="公式" r:id="rId3" imgW="736280" imgH="393529" progId="">
                  <p:embed/>
                </p:oleObj>
              </mc:Choice>
              <mc:Fallback>
                <p:oleObj name="公式" r:id="rId3" imgW="736280" imgH="393529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052513"/>
                        <a:ext cx="1595437" cy="854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3" name="Text Box 232"/>
          <p:cNvSpPr txBox="1">
            <a:spLocks noChangeArrowheads="1"/>
          </p:cNvSpPr>
          <p:nvPr/>
        </p:nvSpPr>
        <p:spPr bwMode="auto">
          <a:xfrm>
            <a:off x="395288" y="2276475"/>
            <a:ext cx="45354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/>
              <a:t> In the condition of steady-state:</a:t>
            </a:r>
          </a:p>
        </p:txBody>
      </p:sp>
      <p:graphicFrame>
        <p:nvGraphicFramePr>
          <p:cNvPr id="87044" name="Object 3"/>
          <p:cNvGraphicFramePr>
            <a:graphicFrameLocks noChangeAspect="1"/>
          </p:cNvGraphicFramePr>
          <p:nvPr/>
        </p:nvGraphicFramePr>
        <p:xfrm>
          <a:off x="35496" y="3141663"/>
          <a:ext cx="4608512" cy="225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7" name="公式" r:id="rId5" imgW="2260600" imgH="1104900" progId="">
                  <p:embed/>
                </p:oleObj>
              </mc:Choice>
              <mc:Fallback>
                <p:oleObj name="公式" r:id="rId5" imgW="2260600" imgH="110490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96" y="3141663"/>
                        <a:ext cx="4608512" cy="2251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1" name="Group 409"/>
          <p:cNvGrpSpPr>
            <a:grpSpLocks/>
          </p:cNvGrpSpPr>
          <p:nvPr/>
        </p:nvGrpSpPr>
        <p:grpSpPr bwMode="auto">
          <a:xfrm>
            <a:off x="4716016" y="980728"/>
            <a:ext cx="4323780" cy="5760640"/>
            <a:chOff x="3334" y="890"/>
            <a:chExt cx="2315" cy="3258"/>
          </a:xfrm>
        </p:grpSpPr>
        <p:sp>
          <p:nvSpPr>
            <p:cNvPr id="232" name="Freeform 175"/>
            <p:cNvSpPr>
              <a:spLocks/>
            </p:cNvSpPr>
            <p:nvPr/>
          </p:nvSpPr>
          <p:spPr bwMode="auto">
            <a:xfrm>
              <a:off x="3396" y="2276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Freeform 176"/>
            <p:cNvSpPr>
              <a:spLocks/>
            </p:cNvSpPr>
            <p:nvPr/>
          </p:nvSpPr>
          <p:spPr bwMode="auto">
            <a:xfrm>
              <a:off x="3396" y="2276"/>
              <a:ext cx="15" cy="59"/>
            </a:xfrm>
            <a:custGeom>
              <a:avLst/>
              <a:gdLst>
                <a:gd name="T0" fmla="*/ 1 w 30"/>
                <a:gd name="T1" fmla="*/ 0 h 59"/>
                <a:gd name="T2" fmla="*/ 0 w 30"/>
                <a:gd name="T3" fmla="*/ 59 h 59"/>
                <a:gd name="T4" fmla="*/ 1 w 30"/>
                <a:gd name="T5" fmla="*/ 59 h 59"/>
                <a:gd name="T6" fmla="*/ 1 w 3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59"/>
                <a:gd name="T14" fmla="*/ 30 w 30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59">
                  <a:moveTo>
                    <a:pt x="15" y="0"/>
                  </a:moveTo>
                  <a:lnTo>
                    <a:pt x="0" y="59"/>
                  </a:lnTo>
                  <a:lnTo>
                    <a:pt x="30" y="59"/>
                  </a:lnTo>
                  <a:lnTo>
                    <a:pt x="15" y="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Line 177"/>
            <p:cNvSpPr>
              <a:spLocks noChangeShapeType="1"/>
            </p:cNvSpPr>
            <p:nvPr/>
          </p:nvSpPr>
          <p:spPr bwMode="auto">
            <a:xfrm>
              <a:off x="3404" y="2335"/>
              <a:ext cx="1" cy="7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Freeform 178"/>
            <p:cNvSpPr>
              <a:spLocks/>
            </p:cNvSpPr>
            <p:nvPr/>
          </p:nvSpPr>
          <p:spPr bwMode="auto">
            <a:xfrm>
              <a:off x="5483" y="2858"/>
              <a:ext cx="54" cy="17"/>
            </a:xfrm>
            <a:custGeom>
              <a:avLst/>
              <a:gdLst>
                <a:gd name="T0" fmla="*/ 1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1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Freeform 179"/>
            <p:cNvSpPr>
              <a:spLocks/>
            </p:cNvSpPr>
            <p:nvPr/>
          </p:nvSpPr>
          <p:spPr bwMode="auto">
            <a:xfrm>
              <a:off x="5483" y="2858"/>
              <a:ext cx="54" cy="17"/>
            </a:xfrm>
            <a:custGeom>
              <a:avLst/>
              <a:gdLst>
                <a:gd name="T0" fmla="*/ 1 w 108"/>
                <a:gd name="T1" fmla="*/ 8 h 17"/>
                <a:gd name="T2" fmla="*/ 0 w 108"/>
                <a:gd name="T3" fmla="*/ 0 h 17"/>
                <a:gd name="T4" fmla="*/ 0 w 108"/>
                <a:gd name="T5" fmla="*/ 17 h 17"/>
                <a:gd name="T6" fmla="*/ 1 w 108"/>
                <a:gd name="T7" fmla="*/ 8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8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8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Line 180"/>
            <p:cNvSpPr>
              <a:spLocks noChangeShapeType="1"/>
            </p:cNvSpPr>
            <p:nvPr/>
          </p:nvSpPr>
          <p:spPr bwMode="auto">
            <a:xfrm flipH="1">
              <a:off x="3404" y="2867"/>
              <a:ext cx="207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Line 181"/>
            <p:cNvSpPr>
              <a:spLocks noChangeShapeType="1"/>
            </p:cNvSpPr>
            <p:nvPr/>
          </p:nvSpPr>
          <p:spPr bwMode="auto">
            <a:xfrm>
              <a:off x="3404" y="2387"/>
              <a:ext cx="320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" name="Freeform 182"/>
            <p:cNvSpPr>
              <a:spLocks/>
            </p:cNvSpPr>
            <p:nvPr/>
          </p:nvSpPr>
          <p:spPr bwMode="auto">
            <a:xfrm>
              <a:off x="5480" y="3909"/>
              <a:ext cx="54" cy="17"/>
            </a:xfrm>
            <a:custGeom>
              <a:avLst/>
              <a:gdLst>
                <a:gd name="T0" fmla="*/ 1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1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" name="Freeform 183"/>
            <p:cNvSpPr>
              <a:spLocks/>
            </p:cNvSpPr>
            <p:nvPr/>
          </p:nvSpPr>
          <p:spPr bwMode="auto">
            <a:xfrm>
              <a:off x="5480" y="3909"/>
              <a:ext cx="54" cy="17"/>
            </a:xfrm>
            <a:custGeom>
              <a:avLst/>
              <a:gdLst>
                <a:gd name="T0" fmla="*/ 1 w 108"/>
                <a:gd name="T1" fmla="*/ 9 h 17"/>
                <a:gd name="T2" fmla="*/ 0 w 108"/>
                <a:gd name="T3" fmla="*/ 0 h 17"/>
                <a:gd name="T4" fmla="*/ 0 w 108"/>
                <a:gd name="T5" fmla="*/ 17 h 17"/>
                <a:gd name="T6" fmla="*/ 1 w 108"/>
                <a:gd name="T7" fmla="*/ 9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17"/>
                <a:gd name="T14" fmla="*/ 108 w 10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17">
                  <a:moveTo>
                    <a:pt x="108" y="9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108" y="9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Line 184"/>
            <p:cNvSpPr>
              <a:spLocks noChangeShapeType="1"/>
            </p:cNvSpPr>
            <p:nvPr/>
          </p:nvSpPr>
          <p:spPr bwMode="auto">
            <a:xfrm flipH="1">
              <a:off x="3401" y="3918"/>
              <a:ext cx="207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Rectangle 185"/>
            <p:cNvSpPr>
              <a:spLocks noChangeArrowheads="1"/>
            </p:cNvSpPr>
            <p:nvPr/>
          </p:nvSpPr>
          <p:spPr bwMode="auto">
            <a:xfrm>
              <a:off x="3441" y="2160"/>
              <a:ext cx="1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</a:rPr>
                <a:t>oi</a:t>
              </a:r>
            </a:p>
          </p:txBody>
        </p:sp>
        <p:sp>
          <p:nvSpPr>
            <p:cNvPr id="243" name="Rectangle 186"/>
            <p:cNvSpPr>
              <a:spLocks noChangeArrowheads="1"/>
            </p:cNvSpPr>
            <p:nvPr/>
          </p:nvSpPr>
          <p:spPr bwMode="auto">
            <a:xfrm>
              <a:off x="3335" y="2798"/>
              <a:ext cx="5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244" name="Rectangle 187"/>
            <p:cNvSpPr>
              <a:spLocks noChangeArrowheads="1"/>
            </p:cNvSpPr>
            <p:nvPr/>
          </p:nvSpPr>
          <p:spPr bwMode="auto">
            <a:xfrm>
              <a:off x="3334" y="3847"/>
              <a:ext cx="5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/>
            </a:p>
          </p:txBody>
        </p:sp>
        <p:sp>
          <p:nvSpPr>
            <p:cNvPr id="245" name="Rectangle 188"/>
            <p:cNvSpPr>
              <a:spLocks noChangeArrowheads="1"/>
            </p:cNvSpPr>
            <p:nvPr/>
          </p:nvSpPr>
          <p:spPr bwMode="auto">
            <a:xfrm>
              <a:off x="5569" y="2795"/>
              <a:ext cx="5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 sz="2400"/>
            </a:p>
          </p:txBody>
        </p:sp>
        <p:sp>
          <p:nvSpPr>
            <p:cNvPr id="246" name="Rectangle 189"/>
            <p:cNvSpPr>
              <a:spLocks noChangeArrowheads="1"/>
            </p:cNvSpPr>
            <p:nvPr/>
          </p:nvSpPr>
          <p:spPr bwMode="auto">
            <a:xfrm>
              <a:off x="5566" y="3828"/>
              <a:ext cx="5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 sz="2400"/>
            </a:p>
          </p:txBody>
        </p:sp>
        <p:sp>
          <p:nvSpPr>
            <p:cNvPr id="247" name="Line 190"/>
            <p:cNvSpPr>
              <a:spLocks noChangeShapeType="1"/>
            </p:cNvSpPr>
            <p:nvPr/>
          </p:nvSpPr>
          <p:spPr bwMode="auto">
            <a:xfrm>
              <a:off x="4257" y="2387"/>
              <a:ext cx="320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Line 191"/>
            <p:cNvSpPr>
              <a:spLocks noChangeShapeType="1"/>
            </p:cNvSpPr>
            <p:nvPr/>
          </p:nvSpPr>
          <p:spPr bwMode="auto">
            <a:xfrm>
              <a:off x="4577" y="2866"/>
              <a:ext cx="53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Line 192"/>
            <p:cNvSpPr>
              <a:spLocks noChangeShapeType="1"/>
            </p:cNvSpPr>
            <p:nvPr/>
          </p:nvSpPr>
          <p:spPr bwMode="auto">
            <a:xfrm>
              <a:off x="4577" y="2387"/>
              <a:ext cx="1" cy="29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" name="Line 193"/>
            <p:cNvSpPr>
              <a:spLocks noChangeShapeType="1"/>
            </p:cNvSpPr>
            <p:nvPr/>
          </p:nvSpPr>
          <p:spPr bwMode="auto">
            <a:xfrm>
              <a:off x="5111" y="2387"/>
              <a:ext cx="319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Line 194"/>
            <p:cNvSpPr>
              <a:spLocks noChangeShapeType="1"/>
            </p:cNvSpPr>
            <p:nvPr/>
          </p:nvSpPr>
          <p:spPr bwMode="auto">
            <a:xfrm>
              <a:off x="5111" y="2387"/>
              <a:ext cx="1" cy="29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" name="Rectangle 195"/>
            <p:cNvSpPr>
              <a:spLocks noChangeArrowheads="1"/>
            </p:cNvSpPr>
            <p:nvPr/>
          </p:nvSpPr>
          <p:spPr bwMode="auto">
            <a:xfrm>
              <a:off x="3714" y="2179"/>
              <a:ext cx="4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N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2</a:t>
              </a:r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V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d</a:t>
              </a:r>
              <a:r>
                <a:rPr lang="en-US" altLang="zh-CN" sz="1600">
                  <a:solidFill>
                    <a:srgbClr val="A50021"/>
                  </a:solidFill>
                  <a:latin typeface="Times New Roman" pitchFamily="18" charset="0"/>
                </a:rPr>
                <a:t>/N</a:t>
              </a:r>
              <a:r>
                <a:rPr lang="en-US" altLang="zh-CN" sz="1600" baseline="-25000">
                  <a:solidFill>
                    <a:srgbClr val="A50021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53" name="Line 196"/>
            <p:cNvSpPr>
              <a:spLocks noChangeShapeType="1"/>
            </p:cNvSpPr>
            <p:nvPr/>
          </p:nvSpPr>
          <p:spPr bwMode="auto">
            <a:xfrm>
              <a:off x="3724" y="2913"/>
              <a:ext cx="1" cy="1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4" name="Line 197"/>
            <p:cNvSpPr>
              <a:spLocks noChangeShapeType="1"/>
            </p:cNvSpPr>
            <p:nvPr/>
          </p:nvSpPr>
          <p:spPr bwMode="auto">
            <a:xfrm>
              <a:off x="4257" y="2913"/>
              <a:ext cx="1" cy="1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5" name="Line 198"/>
            <p:cNvSpPr>
              <a:spLocks noChangeShapeType="1"/>
            </p:cNvSpPr>
            <p:nvPr/>
          </p:nvSpPr>
          <p:spPr bwMode="auto">
            <a:xfrm>
              <a:off x="4257" y="2913"/>
              <a:ext cx="1" cy="2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" name="Line 199"/>
            <p:cNvSpPr>
              <a:spLocks noChangeShapeType="1"/>
            </p:cNvSpPr>
            <p:nvPr/>
          </p:nvSpPr>
          <p:spPr bwMode="auto">
            <a:xfrm>
              <a:off x="3404" y="3065"/>
              <a:ext cx="1" cy="8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Line 200"/>
            <p:cNvSpPr>
              <a:spLocks noChangeShapeType="1"/>
            </p:cNvSpPr>
            <p:nvPr/>
          </p:nvSpPr>
          <p:spPr bwMode="auto">
            <a:xfrm>
              <a:off x="3456" y="2972"/>
              <a:ext cx="2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Freeform 201"/>
            <p:cNvSpPr>
              <a:spLocks/>
            </p:cNvSpPr>
            <p:nvPr/>
          </p:nvSpPr>
          <p:spPr bwMode="auto">
            <a:xfrm>
              <a:off x="3404" y="2934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0 w 140"/>
                <a:gd name="T3" fmla="*/ 0 h 76"/>
                <a:gd name="T4" fmla="*/ 0 w 140"/>
                <a:gd name="T5" fmla="*/ 5 h 76"/>
                <a:gd name="T6" fmla="*/ 0 w 140"/>
                <a:gd name="T7" fmla="*/ 9 h 76"/>
                <a:gd name="T8" fmla="*/ 0 w 140"/>
                <a:gd name="T9" fmla="*/ 14 h 76"/>
                <a:gd name="T10" fmla="*/ 0 w 140"/>
                <a:gd name="T11" fmla="*/ 18 h 76"/>
                <a:gd name="T12" fmla="*/ 0 w 140"/>
                <a:gd name="T13" fmla="*/ 23 h 76"/>
                <a:gd name="T14" fmla="*/ 0 w 140"/>
                <a:gd name="T15" fmla="*/ 29 h 76"/>
                <a:gd name="T16" fmla="*/ 0 w 140"/>
                <a:gd name="T17" fmla="*/ 33 h 76"/>
                <a:gd name="T18" fmla="*/ 0 w 140"/>
                <a:gd name="T19" fmla="*/ 38 h 76"/>
                <a:gd name="T20" fmla="*/ 0 w 140"/>
                <a:gd name="T21" fmla="*/ 43 h 76"/>
                <a:gd name="T22" fmla="*/ 0 w 140"/>
                <a:gd name="T23" fmla="*/ 47 h 76"/>
                <a:gd name="T24" fmla="*/ 0 w 140"/>
                <a:gd name="T25" fmla="*/ 52 h 76"/>
                <a:gd name="T26" fmla="*/ 0 w 140"/>
                <a:gd name="T27" fmla="*/ 58 h 76"/>
                <a:gd name="T28" fmla="*/ 0 w 140"/>
                <a:gd name="T29" fmla="*/ 62 h 76"/>
                <a:gd name="T30" fmla="*/ 0 w 140"/>
                <a:gd name="T31" fmla="*/ 67 h 76"/>
                <a:gd name="T32" fmla="*/ 0 w 140"/>
                <a:gd name="T33" fmla="*/ 71 h 76"/>
                <a:gd name="T34" fmla="*/ 0 w 140"/>
                <a:gd name="T35" fmla="*/ 76 h 76"/>
                <a:gd name="T36" fmla="*/ 0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Freeform 202"/>
            <p:cNvSpPr>
              <a:spLocks/>
            </p:cNvSpPr>
            <p:nvPr/>
          </p:nvSpPr>
          <p:spPr bwMode="auto">
            <a:xfrm>
              <a:off x="3655" y="2934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0 w 140"/>
                <a:gd name="T3" fmla="*/ 76 h 76"/>
                <a:gd name="T4" fmla="*/ 0 w 140"/>
                <a:gd name="T5" fmla="*/ 71 h 76"/>
                <a:gd name="T6" fmla="*/ 0 w 140"/>
                <a:gd name="T7" fmla="*/ 67 h 76"/>
                <a:gd name="T8" fmla="*/ 0 w 140"/>
                <a:gd name="T9" fmla="*/ 62 h 76"/>
                <a:gd name="T10" fmla="*/ 0 w 140"/>
                <a:gd name="T11" fmla="*/ 58 h 76"/>
                <a:gd name="T12" fmla="*/ 0 w 140"/>
                <a:gd name="T13" fmla="*/ 52 h 76"/>
                <a:gd name="T14" fmla="*/ 0 w 140"/>
                <a:gd name="T15" fmla="*/ 47 h 76"/>
                <a:gd name="T16" fmla="*/ 0 w 140"/>
                <a:gd name="T17" fmla="*/ 43 h 76"/>
                <a:gd name="T18" fmla="*/ 0 w 140"/>
                <a:gd name="T19" fmla="*/ 38 h 76"/>
                <a:gd name="T20" fmla="*/ 0 w 140"/>
                <a:gd name="T21" fmla="*/ 33 h 76"/>
                <a:gd name="T22" fmla="*/ 0 w 140"/>
                <a:gd name="T23" fmla="*/ 29 h 76"/>
                <a:gd name="T24" fmla="*/ 0 w 140"/>
                <a:gd name="T25" fmla="*/ 23 h 76"/>
                <a:gd name="T26" fmla="*/ 0 w 140"/>
                <a:gd name="T27" fmla="*/ 18 h 76"/>
                <a:gd name="T28" fmla="*/ 0 w 140"/>
                <a:gd name="T29" fmla="*/ 14 h 76"/>
                <a:gd name="T30" fmla="*/ 0 w 140"/>
                <a:gd name="T31" fmla="*/ 9 h 76"/>
                <a:gd name="T32" fmla="*/ 0 w 140"/>
                <a:gd name="T33" fmla="*/ 5 h 76"/>
                <a:gd name="T34" fmla="*/ 0 w 140"/>
                <a:gd name="T35" fmla="*/ 0 h 76"/>
                <a:gd name="T36" fmla="*/ 0 w 140"/>
                <a:gd name="T37" fmla="*/ 0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140" y="38"/>
                  </a:moveTo>
                  <a:lnTo>
                    <a:pt x="0" y="76"/>
                  </a:lnTo>
                  <a:lnTo>
                    <a:pt x="4" y="71"/>
                  </a:lnTo>
                  <a:lnTo>
                    <a:pt x="8" y="67"/>
                  </a:lnTo>
                  <a:lnTo>
                    <a:pt x="11" y="62"/>
                  </a:lnTo>
                  <a:lnTo>
                    <a:pt x="13" y="58"/>
                  </a:lnTo>
                  <a:lnTo>
                    <a:pt x="15" y="52"/>
                  </a:lnTo>
                  <a:lnTo>
                    <a:pt x="17" y="47"/>
                  </a:lnTo>
                  <a:lnTo>
                    <a:pt x="17" y="43"/>
                  </a:lnTo>
                  <a:lnTo>
                    <a:pt x="17" y="38"/>
                  </a:lnTo>
                  <a:lnTo>
                    <a:pt x="17" y="33"/>
                  </a:lnTo>
                  <a:lnTo>
                    <a:pt x="17" y="29"/>
                  </a:lnTo>
                  <a:lnTo>
                    <a:pt x="15" y="23"/>
                  </a:lnTo>
                  <a:lnTo>
                    <a:pt x="13" y="18"/>
                  </a:lnTo>
                  <a:lnTo>
                    <a:pt x="11" y="14"/>
                  </a:lnTo>
                  <a:lnTo>
                    <a:pt x="8" y="9"/>
                  </a:lnTo>
                  <a:lnTo>
                    <a:pt x="4" y="5"/>
                  </a:lnTo>
                  <a:lnTo>
                    <a:pt x="0" y="0"/>
                  </a:lnTo>
                  <a:lnTo>
                    <a:pt x="140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0" name="Line 203"/>
            <p:cNvSpPr>
              <a:spLocks noChangeShapeType="1"/>
            </p:cNvSpPr>
            <p:nvPr/>
          </p:nvSpPr>
          <p:spPr bwMode="auto">
            <a:xfrm>
              <a:off x="3776" y="2972"/>
              <a:ext cx="42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Freeform 204"/>
            <p:cNvSpPr>
              <a:spLocks/>
            </p:cNvSpPr>
            <p:nvPr/>
          </p:nvSpPr>
          <p:spPr bwMode="auto">
            <a:xfrm>
              <a:off x="3724" y="2934"/>
              <a:ext cx="69" cy="76"/>
            </a:xfrm>
            <a:custGeom>
              <a:avLst/>
              <a:gdLst>
                <a:gd name="T0" fmla="*/ 0 w 137"/>
                <a:gd name="T1" fmla="*/ 38 h 76"/>
                <a:gd name="T2" fmla="*/ 1 w 137"/>
                <a:gd name="T3" fmla="*/ 0 h 76"/>
                <a:gd name="T4" fmla="*/ 1 w 137"/>
                <a:gd name="T5" fmla="*/ 5 h 76"/>
                <a:gd name="T6" fmla="*/ 1 w 137"/>
                <a:gd name="T7" fmla="*/ 9 h 76"/>
                <a:gd name="T8" fmla="*/ 1 w 137"/>
                <a:gd name="T9" fmla="*/ 14 h 76"/>
                <a:gd name="T10" fmla="*/ 1 w 137"/>
                <a:gd name="T11" fmla="*/ 18 h 76"/>
                <a:gd name="T12" fmla="*/ 1 w 137"/>
                <a:gd name="T13" fmla="*/ 23 h 76"/>
                <a:gd name="T14" fmla="*/ 1 w 137"/>
                <a:gd name="T15" fmla="*/ 29 h 76"/>
                <a:gd name="T16" fmla="*/ 1 w 137"/>
                <a:gd name="T17" fmla="*/ 33 h 76"/>
                <a:gd name="T18" fmla="*/ 1 w 137"/>
                <a:gd name="T19" fmla="*/ 38 h 76"/>
                <a:gd name="T20" fmla="*/ 1 w 137"/>
                <a:gd name="T21" fmla="*/ 43 h 76"/>
                <a:gd name="T22" fmla="*/ 1 w 137"/>
                <a:gd name="T23" fmla="*/ 47 h 76"/>
                <a:gd name="T24" fmla="*/ 1 w 137"/>
                <a:gd name="T25" fmla="*/ 52 h 76"/>
                <a:gd name="T26" fmla="*/ 1 w 137"/>
                <a:gd name="T27" fmla="*/ 58 h 76"/>
                <a:gd name="T28" fmla="*/ 1 w 137"/>
                <a:gd name="T29" fmla="*/ 62 h 76"/>
                <a:gd name="T30" fmla="*/ 1 w 137"/>
                <a:gd name="T31" fmla="*/ 67 h 76"/>
                <a:gd name="T32" fmla="*/ 1 w 137"/>
                <a:gd name="T33" fmla="*/ 71 h 76"/>
                <a:gd name="T34" fmla="*/ 1 w 137"/>
                <a:gd name="T35" fmla="*/ 76 h 76"/>
                <a:gd name="T36" fmla="*/ 1 w 137"/>
                <a:gd name="T37" fmla="*/ 76 h 76"/>
                <a:gd name="T38" fmla="*/ 0 w 137"/>
                <a:gd name="T39" fmla="*/ 38 h 76"/>
                <a:gd name="T40" fmla="*/ 0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0" y="38"/>
                  </a:moveTo>
                  <a:lnTo>
                    <a:pt x="137" y="0"/>
                  </a:lnTo>
                  <a:lnTo>
                    <a:pt x="134" y="5"/>
                  </a:lnTo>
                  <a:lnTo>
                    <a:pt x="130" y="9"/>
                  </a:lnTo>
                  <a:lnTo>
                    <a:pt x="128" y="14"/>
                  </a:lnTo>
                  <a:lnTo>
                    <a:pt x="124" y="18"/>
                  </a:lnTo>
                  <a:lnTo>
                    <a:pt x="122" y="23"/>
                  </a:lnTo>
                  <a:lnTo>
                    <a:pt x="122" y="29"/>
                  </a:lnTo>
                  <a:lnTo>
                    <a:pt x="120" y="33"/>
                  </a:lnTo>
                  <a:lnTo>
                    <a:pt x="120" y="38"/>
                  </a:lnTo>
                  <a:lnTo>
                    <a:pt x="120" y="43"/>
                  </a:lnTo>
                  <a:lnTo>
                    <a:pt x="122" y="47"/>
                  </a:lnTo>
                  <a:lnTo>
                    <a:pt x="122" y="52"/>
                  </a:lnTo>
                  <a:lnTo>
                    <a:pt x="124" y="58"/>
                  </a:lnTo>
                  <a:lnTo>
                    <a:pt x="128" y="62"/>
                  </a:lnTo>
                  <a:lnTo>
                    <a:pt x="130" y="67"/>
                  </a:lnTo>
                  <a:lnTo>
                    <a:pt x="134" y="71"/>
                  </a:lnTo>
                  <a:lnTo>
                    <a:pt x="137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" name="Freeform 205"/>
            <p:cNvSpPr>
              <a:spLocks/>
            </p:cNvSpPr>
            <p:nvPr/>
          </p:nvSpPr>
          <p:spPr bwMode="auto">
            <a:xfrm>
              <a:off x="4188" y="2934"/>
              <a:ext cx="69" cy="76"/>
            </a:xfrm>
            <a:custGeom>
              <a:avLst/>
              <a:gdLst>
                <a:gd name="T0" fmla="*/ 1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1 w 137"/>
                <a:gd name="T39" fmla="*/ 38 h 76"/>
                <a:gd name="T40" fmla="*/ 1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" name="Line 206"/>
            <p:cNvSpPr>
              <a:spLocks noChangeShapeType="1"/>
            </p:cNvSpPr>
            <p:nvPr/>
          </p:nvSpPr>
          <p:spPr bwMode="auto">
            <a:xfrm>
              <a:off x="3456" y="3089"/>
              <a:ext cx="74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Freeform 207"/>
            <p:cNvSpPr>
              <a:spLocks/>
            </p:cNvSpPr>
            <p:nvPr/>
          </p:nvSpPr>
          <p:spPr bwMode="auto">
            <a:xfrm>
              <a:off x="3404" y="3051"/>
              <a:ext cx="69" cy="76"/>
            </a:xfrm>
            <a:custGeom>
              <a:avLst/>
              <a:gdLst>
                <a:gd name="T0" fmla="*/ 0 w 140"/>
                <a:gd name="T1" fmla="*/ 38 h 76"/>
                <a:gd name="T2" fmla="*/ 0 w 140"/>
                <a:gd name="T3" fmla="*/ 0 h 76"/>
                <a:gd name="T4" fmla="*/ 0 w 140"/>
                <a:gd name="T5" fmla="*/ 5 h 76"/>
                <a:gd name="T6" fmla="*/ 0 w 140"/>
                <a:gd name="T7" fmla="*/ 9 h 76"/>
                <a:gd name="T8" fmla="*/ 0 w 140"/>
                <a:gd name="T9" fmla="*/ 14 h 76"/>
                <a:gd name="T10" fmla="*/ 0 w 140"/>
                <a:gd name="T11" fmla="*/ 18 h 76"/>
                <a:gd name="T12" fmla="*/ 0 w 140"/>
                <a:gd name="T13" fmla="*/ 23 h 76"/>
                <a:gd name="T14" fmla="*/ 0 w 140"/>
                <a:gd name="T15" fmla="*/ 29 h 76"/>
                <a:gd name="T16" fmla="*/ 0 w 140"/>
                <a:gd name="T17" fmla="*/ 33 h 76"/>
                <a:gd name="T18" fmla="*/ 0 w 140"/>
                <a:gd name="T19" fmla="*/ 38 h 76"/>
                <a:gd name="T20" fmla="*/ 0 w 140"/>
                <a:gd name="T21" fmla="*/ 43 h 76"/>
                <a:gd name="T22" fmla="*/ 0 w 140"/>
                <a:gd name="T23" fmla="*/ 47 h 76"/>
                <a:gd name="T24" fmla="*/ 0 w 140"/>
                <a:gd name="T25" fmla="*/ 52 h 76"/>
                <a:gd name="T26" fmla="*/ 0 w 140"/>
                <a:gd name="T27" fmla="*/ 58 h 76"/>
                <a:gd name="T28" fmla="*/ 0 w 140"/>
                <a:gd name="T29" fmla="*/ 62 h 76"/>
                <a:gd name="T30" fmla="*/ 0 w 140"/>
                <a:gd name="T31" fmla="*/ 67 h 76"/>
                <a:gd name="T32" fmla="*/ 0 w 140"/>
                <a:gd name="T33" fmla="*/ 71 h 76"/>
                <a:gd name="T34" fmla="*/ 0 w 140"/>
                <a:gd name="T35" fmla="*/ 76 h 76"/>
                <a:gd name="T36" fmla="*/ 0 w 140"/>
                <a:gd name="T37" fmla="*/ 76 h 76"/>
                <a:gd name="T38" fmla="*/ 0 w 140"/>
                <a:gd name="T39" fmla="*/ 38 h 76"/>
                <a:gd name="T40" fmla="*/ 0 w 140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0"/>
                <a:gd name="T64" fmla="*/ 0 h 76"/>
                <a:gd name="T65" fmla="*/ 140 w 140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0" h="76">
                  <a:moveTo>
                    <a:pt x="0" y="38"/>
                  </a:moveTo>
                  <a:lnTo>
                    <a:pt x="140" y="0"/>
                  </a:lnTo>
                  <a:lnTo>
                    <a:pt x="134" y="5"/>
                  </a:lnTo>
                  <a:lnTo>
                    <a:pt x="132" y="9"/>
                  </a:lnTo>
                  <a:lnTo>
                    <a:pt x="129" y="14"/>
                  </a:lnTo>
                  <a:lnTo>
                    <a:pt x="127" y="18"/>
                  </a:lnTo>
                  <a:lnTo>
                    <a:pt x="125" y="23"/>
                  </a:lnTo>
                  <a:lnTo>
                    <a:pt x="123" y="29"/>
                  </a:lnTo>
                  <a:lnTo>
                    <a:pt x="123" y="33"/>
                  </a:lnTo>
                  <a:lnTo>
                    <a:pt x="123" y="38"/>
                  </a:lnTo>
                  <a:lnTo>
                    <a:pt x="123" y="43"/>
                  </a:lnTo>
                  <a:lnTo>
                    <a:pt x="123" y="47"/>
                  </a:lnTo>
                  <a:lnTo>
                    <a:pt x="125" y="52"/>
                  </a:lnTo>
                  <a:lnTo>
                    <a:pt x="127" y="58"/>
                  </a:lnTo>
                  <a:lnTo>
                    <a:pt x="129" y="62"/>
                  </a:lnTo>
                  <a:lnTo>
                    <a:pt x="132" y="67"/>
                  </a:lnTo>
                  <a:lnTo>
                    <a:pt x="134" y="71"/>
                  </a:lnTo>
                  <a:lnTo>
                    <a:pt x="14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" name="Freeform 208"/>
            <p:cNvSpPr>
              <a:spLocks/>
            </p:cNvSpPr>
            <p:nvPr/>
          </p:nvSpPr>
          <p:spPr bwMode="auto">
            <a:xfrm>
              <a:off x="4188" y="3051"/>
              <a:ext cx="69" cy="76"/>
            </a:xfrm>
            <a:custGeom>
              <a:avLst/>
              <a:gdLst>
                <a:gd name="T0" fmla="*/ 1 w 137"/>
                <a:gd name="T1" fmla="*/ 38 h 76"/>
                <a:gd name="T2" fmla="*/ 0 w 137"/>
                <a:gd name="T3" fmla="*/ 76 h 76"/>
                <a:gd name="T4" fmla="*/ 1 w 137"/>
                <a:gd name="T5" fmla="*/ 71 h 76"/>
                <a:gd name="T6" fmla="*/ 1 w 137"/>
                <a:gd name="T7" fmla="*/ 67 h 76"/>
                <a:gd name="T8" fmla="*/ 1 w 137"/>
                <a:gd name="T9" fmla="*/ 62 h 76"/>
                <a:gd name="T10" fmla="*/ 1 w 137"/>
                <a:gd name="T11" fmla="*/ 58 h 76"/>
                <a:gd name="T12" fmla="*/ 1 w 137"/>
                <a:gd name="T13" fmla="*/ 52 h 76"/>
                <a:gd name="T14" fmla="*/ 1 w 137"/>
                <a:gd name="T15" fmla="*/ 47 h 76"/>
                <a:gd name="T16" fmla="*/ 1 w 137"/>
                <a:gd name="T17" fmla="*/ 43 h 76"/>
                <a:gd name="T18" fmla="*/ 1 w 137"/>
                <a:gd name="T19" fmla="*/ 38 h 76"/>
                <a:gd name="T20" fmla="*/ 1 w 137"/>
                <a:gd name="T21" fmla="*/ 33 h 76"/>
                <a:gd name="T22" fmla="*/ 1 w 137"/>
                <a:gd name="T23" fmla="*/ 29 h 76"/>
                <a:gd name="T24" fmla="*/ 1 w 137"/>
                <a:gd name="T25" fmla="*/ 23 h 76"/>
                <a:gd name="T26" fmla="*/ 1 w 137"/>
                <a:gd name="T27" fmla="*/ 18 h 76"/>
                <a:gd name="T28" fmla="*/ 1 w 137"/>
                <a:gd name="T29" fmla="*/ 14 h 76"/>
                <a:gd name="T30" fmla="*/ 1 w 137"/>
                <a:gd name="T31" fmla="*/ 9 h 76"/>
                <a:gd name="T32" fmla="*/ 1 w 137"/>
                <a:gd name="T33" fmla="*/ 5 h 76"/>
                <a:gd name="T34" fmla="*/ 0 w 137"/>
                <a:gd name="T35" fmla="*/ 0 h 76"/>
                <a:gd name="T36" fmla="*/ 0 w 137"/>
                <a:gd name="T37" fmla="*/ 0 h 76"/>
                <a:gd name="T38" fmla="*/ 1 w 137"/>
                <a:gd name="T39" fmla="*/ 38 h 76"/>
                <a:gd name="T40" fmla="*/ 1 w 137"/>
                <a:gd name="T41" fmla="*/ 38 h 7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7"/>
                <a:gd name="T64" fmla="*/ 0 h 76"/>
                <a:gd name="T65" fmla="*/ 137 w 137"/>
                <a:gd name="T66" fmla="*/ 76 h 7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7" h="76">
                  <a:moveTo>
                    <a:pt x="137" y="38"/>
                  </a:moveTo>
                  <a:lnTo>
                    <a:pt x="0" y="76"/>
                  </a:lnTo>
                  <a:lnTo>
                    <a:pt x="3" y="71"/>
                  </a:lnTo>
                  <a:lnTo>
                    <a:pt x="7" y="67"/>
                  </a:lnTo>
                  <a:lnTo>
                    <a:pt x="9" y="62"/>
                  </a:lnTo>
                  <a:lnTo>
                    <a:pt x="11" y="58"/>
                  </a:lnTo>
                  <a:lnTo>
                    <a:pt x="13" y="52"/>
                  </a:lnTo>
                  <a:lnTo>
                    <a:pt x="15" y="47"/>
                  </a:lnTo>
                  <a:lnTo>
                    <a:pt x="15" y="43"/>
                  </a:lnTo>
                  <a:lnTo>
                    <a:pt x="17" y="38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3" y="23"/>
                  </a:lnTo>
                  <a:lnTo>
                    <a:pt x="11" y="18"/>
                  </a:lnTo>
                  <a:lnTo>
                    <a:pt x="9" y="14"/>
                  </a:lnTo>
                  <a:lnTo>
                    <a:pt x="7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137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" name="Rectangle 209"/>
            <p:cNvSpPr>
              <a:spLocks noChangeArrowheads="1"/>
            </p:cNvSpPr>
            <p:nvPr/>
          </p:nvSpPr>
          <p:spPr bwMode="auto">
            <a:xfrm>
              <a:off x="3561" y="2893"/>
              <a:ext cx="72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Times New Roman" pitchFamily="18" charset="0"/>
                </a:rPr>
                <a:t>on</a:t>
              </a:r>
              <a:endParaRPr lang="en-US" altLang="zh-CN"/>
            </a:p>
          </p:txBody>
        </p:sp>
        <p:sp>
          <p:nvSpPr>
            <p:cNvPr id="267" name="Rectangle 210"/>
            <p:cNvSpPr>
              <a:spLocks noChangeArrowheads="1"/>
            </p:cNvSpPr>
            <p:nvPr/>
          </p:nvSpPr>
          <p:spPr bwMode="auto">
            <a:xfrm>
              <a:off x="3542" y="2847"/>
              <a:ext cx="29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3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/>
            </a:p>
          </p:txBody>
        </p:sp>
        <p:sp>
          <p:nvSpPr>
            <p:cNvPr id="268" name="Line 211"/>
            <p:cNvSpPr>
              <a:spLocks noChangeShapeType="1"/>
            </p:cNvSpPr>
            <p:nvPr/>
          </p:nvSpPr>
          <p:spPr bwMode="auto">
            <a:xfrm flipV="1">
              <a:off x="3721" y="3867"/>
              <a:ext cx="1" cy="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" name="Line 212"/>
            <p:cNvSpPr>
              <a:spLocks noChangeShapeType="1"/>
            </p:cNvSpPr>
            <p:nvPr/>
          </p:nvSpPr>
          <p:spPr bwMode="auto">
            <a:xfrm flipV="1">
              <a:off x="4254" y="3867"/>
              <a:ext cx="1" cy="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0" name="Line 213"/>
            <p:cNvSpPr>
              <a:spLocks noChangeShapeType="1"/>
            </p:cNvSpPr>
            <p:nvPr/>
          </p:nvSpPr>
          <p:spPr bwMode="auto">
            <a:xfrm flipV="1">
              <a:off x="4574" y="3867"/>
              <a:ext cx="1" cy="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1" name="Line 214"/>
            <p:cNvSpPr>
              <a:spLocks noChangeShapeType="1"/>
            </p:cNvSpPr>
            <p:nvPr/>
          </p:nvSpPr>
          <p:spPr bwMode="auto">
            <a:xfrm flipV="1">
              <a:off x="5108" y="3867"/>
              <a:ext cx="1" cy="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2" name="Freeform 215"/>
            <p:cNvSpPr>
              <a:spLocks/>
            </p:cNvSpPr>
            <p:nvPr/>
          </p:nvSpPr>
          <p:spPr bwMode="auto">
            <a:xfrm>
              <a:off x="3404" y="3440"/>
              <a:ext cx="1898" cy="234"/>
            </a:xfrm>
            <a:custGeom>
              <a:avLst/>
              <a:gdLst>
                <a:gd name="T0" fmla="*/ 0 w 3797"/>
                <a:gd name="T1" fmla="*/ 234 h 234"/>
                <a:gd name="T2" fmla="*/ 2 w 3797"/>
                <a:gd name="T3" fmla="*/ 0 h 234"/>
                <a:gd name="T4" fmla="*/ 6 w 3797"/>
                <a:gd name="T5" fmla="*/ 234 h 234"/>
                <a:gd name="T6" fmla="*/ 9 w 3797"/>
                <a:gd name="T7" fmla="*/ 0 h 234"/>
                <a:gd name="T8" fmla="*/ 13 w 3797"/>
                <a:gd name="T9" fmla="*/ 234 h 234"/>
                <a:gd name="T10" fmla="*/ 14 w 3797"/>
                <a:gd name="T11" fmla="*/ 117 h 2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797"/>
                <a:gd name="T19" fmla="*/ 0 h 234"/>
                <a:gd name="T20" fmla="*/ 3797 w 3797"/>
                <a:gd name="T21" fmla="*/ 234 h 2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797" h="234">
                  <a:moveTo>
                    <a:pt x="0" y="234"/>
                  </a:moveTo>
                  <a:lnTo>
                    <a:pt x="642" y="0"/>
                  </a:lnTo>
                  <a:lnTo>
                    <a:pt x="1707" y="234"/>
                  </a:lnTo>
                  <a:lnTo>
                    <a:pt x="2347" y="0"/>
                  </a:lnTo>
                  <a:lnTo>
                    <a:pt x="3414" y="234"/>
                  </a:lnTo>
                  <a:lnTo>
                    <a:pt x="3797" y="117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" name="Freeform 216"/>
            <p:cNvSpPr>
              <a:spLocks/>
            </p:cNvSpPr>
            <p:nvPr/>
          </p:nvSpPr>
          <p:spPr bwMode="auto">
            <a:xfrm>
              <a:off x="3724" y="2387"/>
              <a:ext cx="533" cy="479"/>
            </a:xfrm>
            <a:custGeom>
              <a:avLst/>
              <a:gdLst>
                <a:gd name="T0" fmla="*/ 0 w 1065"/>
                <a:gd name="T1" fmla="*/ 0 h 479"/>
                <a:gd name="T2" fmla="*/ 0 w 1065"/>
                <a:gd name="T3" fmla="*/ 479 h 479"/>
                <a:gd name="T4" fmla="*/ 5 w 1065"/>
                <a:gd name="T5" fmla="*/ 479 h 479"/>
                <a:gd name="T6" fmla="*/ 5 w 1065"/>
                <a:gd name="T7" fmla="*/ 0 h 4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5"/>
                <a:gd name="T13" fmla="*/ 0 h 479"/>
                <a:gd name="T14" fmla="*/ 1065 w 1065"/>
                <a:gd name="T15" fmla="*/ 479 h 4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5" h="479">
                  <a:moveTo>
                    <a:pt x="0" y="0"/>
                  </a:moveTo>
                  <a:lnTo>
                    <a:pt x="0" y="479"/>
                  </a:lnTo>
                  <a:lnTo>
                    <a:pt x="1065" y="479"/>
                  </a:lnTo>
                  <a:lnTo>
                    <a:pt x="106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" name="Freeform 217"/>
            <p:cNvSpPr>
              <a:spLocks noEditPoints="1"/>
            </p:cNvSpPr>
            <p:nvPr/>
          </p:nvSpPr>
          <p:spPr bwMode="auto">
            <a:xfrm>
              <a:off x="3401" y="2571"/>
              <a:ext cx="2039" cy="13"/>
            </a:xfrm>
            <a:custGeom>
              <a:avLst/>
              <a:gdLst>
                <a:gd name="T0" fmla="*/ 1 w 4078"/>
                <a:gd name="T1" fmla="*/ 5 h 13"/>
                <a:gd name="T2" fmla="*/ 1 w 4078"/>
                <a:gd name="T3" fmla="*/ 13 h 13"/>
                <a:gd name="T4" fmla="*/ 0 w 4078"/>
                <a:gd name="T5" fmla="*/ 6 h 13"/>
                <a:gd name="T6" fmla="*/ 1 w 4078"/>
                <a:gd name="T7" fmla="*/ 0 h 13"/>
                <a:gd name="T8" fmla="*/ 2 w 4078"/>
                <a:gd name="T9" fmla="*/ 5 h 13"/>
                <a:gd name="T10" fmla="*/ 2 w 4078"/>
                <a:gd name="T11" fmla="*/ 13 h 13"/>
                <a:gd name="T12" fmla="*/ 2 w 4078"/>
                <a:gd name="T13" fmla="*/ 6 h 13"/>
                <a:gd name="T14" fmla="*/ 2 w 4078"/>
                <a:gd name="T15" fmla="*/ 0 h 13"/>
                <a:gd name="T16" fmla="*/ 4 w 4078"/>
                <a:gd name="T17" fmla="*/ 5 h 13"/>
                <a:gd name="T18" fmla="*/ 4 w 4078"/>
                <a:gd name="T19" fmla="*/ 13 h 13"/>
                <a:gd name="T20" fmla="*/ 3 w 4078"/>
                <a:gd name="T21" fmla="*/ 6 h 13"/>
                <a:gd name="T22" fmla="*/ 3 w 4078"/>
                <a:gd name="T23" fmla="*/ 0 h 13"/>
                <a:gd name="T24" fmla="*/ 5 w 4078"/>
                <a:gd name="T25" fmla="*/ 5 h 13"/>
                <a:gd name="T26" fmla="*/ 5 w 4078"/>
                <a:gd name="T27" fmla="*/ 13 h 13"/>
                <a:gd name="T28" fmla="*/ 4 w 4078"/>
                <a:gd name="T29" fmla="*/ 6 h 13"/>
                <a:gd name="T30" fmla="*/ 4 w 4078"/>
                <a:gd name="T31" fmla="*/ 0 h 13"/>
                <a:gd name="T32" fmla="*/ 6 w 4078"/>
                <a:gd name="T33" fmla="*/ 5 h 13"/>
                <a:gd name="T34" fmla="*/ 6 w 4078"/>
                <a:gd name="T35" fmla="*/ 13 h 13"/>
                <a:gd name="T36" fmla="*/ 5 w 4078"/>
                <a:gd name="T37" fmla="*/ 6 h 13"/>
                <a:gd name="T38" fmla="*/ 5 w 4078"/>
                <a:gd name="T39" fmla="*/ 0 h 13"/>
                <a:gd name="T40" fmla="*/ 7 w 4078"/>
                <a:gd name="T41" fmla="*/ 5 h 13"/>
                <a:gd name="T42" fmla="*/ 7 w 4078"/>
                <a:gd name="T43" fmla="*/ 13 h 13"/>
                <a:gd name="T44" fmla="*/ 6 w 4078"/>
                <a:gd name="T45" fmla="*/ 6 h 13"/>
                <a:gd name="T46" fmla="*/ 7 w 4078"/>
                <a:gd name="T47" fmla="*/ 0 h 13"/>
                <a:gd name="T48" fmla="*/ 8 w 4078"/>
                <a:gd name="T49" fmla="*/ 5 h 13"/>
                <a:gd name="T50" fmla="*/ 8 w 4078"/>
                <a:gd name="T51" fmla="*/ 13 h 13"/>
                <a:gd name="T52" fmla="*/ 8 w 4078"/>
                <a:gd name="T53" fmla="*/ 6 h 13"/>
                <a:gd name="T54" fmla="*/ 8 w 4078"/>
                <a:gd name="T55" fmla="*/ 0 h 13"/>
                <a:gd name="T56" fmla="*/ 10 w 4078"/>
                <a:gd name="T57" fmla="*/ 5 h 13"/>
                <a:gd name="T58" fmla="*/ 10 w 4078"/>
                <a:gd name="T59" fmla="*/ 13 h 13"/>
                <a:gd name="T60" fmla="*/ 9 w 4078"/>
                <a:gd name="T61" fmla="*/ 6 h 13"/>
                <a:gd name="T62" fmla="*/ 9 w 4078"/>
                <a:gd name="T63" fmla="*/ 0 h 13"/>
                <a:gd name="T64" fmla="*/ 11 w 4078"/>
                <a:gd name="T65" fmla="*/ 5 h 13"/>
                <a:gd name="T66" fmla="*/ 11 w 4078"/>
                <a:gd name="T67" fmla="*/ 13 h 13"/>
                <a:gd name="T68" fmla="*/ 10 w 4078"/>
                <a:gd name="T69" fmla="*/ 6 h 13"/>
                <a:gd name="T70" fmla="*/ 10 w 4078"/>
                <a:gd name="T71" fmla="*/ 0 h 13"/>
                <a:gd name="T72" fmla="*/ 12 w 4078"/>
                <a:gd name="T73" fmla="*/ 5 h 13"/>
                <a:gd name="T74" fmla="*/ 12 w 4078"/>
                <a:gd name="T75" fmla="*/ 13 h 13"/>
                <a:gd name="T76" fmla="*/ 11 w 4078"/>
                <a:gd name="T77" fmla="*/ 6 h 13"/>
                <a:gd name="T78" fmla="*/ 11 w 4078"/>
                <a:gd name="T79" fmla="*/ 0 h 13"/>
                <a:gd name="T80" fmla="*/ 13 w 4078"/>
                <a:gd name="T81" fmla="*/ 5 h 13"/>
                <a:gd name="T82" fmla="*/ 13 w 4078"/>
                <a:gd name="T83" fmla="*/ 13 h 13"/>
                <a:gd name="T84" fmla="*/ 12 w 4078"/>
                <a:gd name="T85" fmla="*/ 6 h 13"/>
                <a:gd name="T86" fmla="*/ 13 w 4078"/>
                <a:gd name="T87" fmla="*/ 0 h 13"/>
                <a:gd name="T88" fmla="*/ 14 w 4078"/>
                <a:gd name="T89" fmla="*/ 5 h 13"/>
                <a:gd name="T90" fmla="*/ 14 w 4078"/>
                <a:gd name="T91" fmla="*/ 13 h 13"/>
                <a:gd name="T92" fmla="*/ 14 w 4078"/>
                <a:gd name="T93" fmla="*/ 6 h 13"/>
                <a:gd name="T94" fmla="*/ 14 w 4078"/>
                <a:gd name="T95" fmla="*/ 0 h 13"/>
                <a:gd name="T96" fmla="*/ 16 w 4078"/>
                <a:gd name="T97" fmla="*/ 5 h 13"/>
                <a:gd name="T98" fmla="*/ 16 w 4078"/>
                <a:gd name="T99" fmla="*/ 13 h 13"/>
                <a:gd name="T100" fmla="*/ 15 w 4078"/>
                <a:gd name="T101" fmla="*/ 6 h 13"/>
                <a:gd name="T102" fmla="*/ 15 w 4078"/>
                <a:gd name="T103" fmla="*/ 0 h 13"/>
                <a:gd name="T104" fmla="*/ 16 w 4078"/>
                <a:gd name="T105" fmla="*/ 5 h 13"/>
                <a:gd name="T106" fmla="*/ 16 w 4078"/>
                <a:gd name="T107" fmla="*/ 13 h 13"/>
                <a:gd name="T108" fmla="*/ 16 w 4078"/>
                <a:gd name="T109" fmla="*/ 6 h 13"/>
                <a:gd name="T110" fmla="*/ 16 w 4078"/>
                <a:gd name="T111" fmla="*/ 0 h 13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4078"/>
                <a:gd name="T169" fmla="*/ 0 h 13"/>
                <a:gd name="T170" fmla="*/ 4078 w 4078"/>
                <a:gd name="T171" fmla="*/ 13 h 13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4078" h="13">
                  <a:moveTo>
                    <a:pt x="11" y="0"/>
                  </a:moveTo>
                  <a:lnTo>
                    <a:pt x="191" y="0"/>
                  </a:lnTo>
                  <a:lnTo>
                    <a:pt x="194" y="0"/>
                  </a:lnTo>
                  <a:lnTo>
                    <a:pt x="196" y="0"/>
                  </a:lnTo>
                  <a:lnTo>
                    <a:pt x="200" y="2"/>
                  </a:lnTo>
                  <a:lnTo>
                    <a:pt x="202" y="4"/>
                  </a:lnTo>
                  <a:lnTo>
                    <a:pt x="204" y="5"/>
                  </a:lnTo>
                  <a:lnTo>
                    <a:pt x="204" y="6"/>
                  </a:lnTo>
                  <a:lnTo>
                    <a:pt x="204" y="8"/>
                  </a:lnTo>
                  <a:lnTo>
                    <a:pt x="202" y="9"/>
                  </a:lnTo>
                  <a:lnTo>
                    <a:pt x="200" y="11"/>
                  </a:lnTo>
                  <a:lnTo>
                    <a:pt x="196" y="13"/>
                  </a:lnTo>
                  <a:lnTo>
                    <a:pt x="194" y="13"/>
                  </a:lnTo>
                  <a:lnTo>
                    <a:pt x="191" y="13"/>
                  </a:lnTo>
                  <a:lnTo>
                    <a:pt x="11" y="13"/>
                  </a:lnTo>
                  <a:lnTo>
                    <a:pt x="9" y="13"/>
                  </a:lnTo>
                  <a:lnTo>
                    <a:pt x="8" y="13"/>
                  </a:lnTo>
                  <a:lnTo>
                    <a:pt x="4" y="11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4" y="2"/>
                  </a:lnTo>
                  <a:lnTo>
                    <a:pt x="8" y="0"/>
                  </a:lnTo>
                  <a:lnTo>
                    <a:pt x="9" y="0"/>
                  </a:lnTo>
                  <a:lnTo>
                    <a:pt x="11" y="0"/>
                  </a:lnTo>
                  <a:close/>
                  <a:moveTo>
                    <a:pt x="319" y="0"/>
                  </a:moveTo>
                  <a:lnTo>
                    <a:pt x="498" y="0"/>
                  </a:lnTo>
                  <a:lnTo>
                    <a:pt x="500" y="0"/>
                  </a:lnTo>
                  <a:lnTo>
                    <a:pt x="502" y="0"/>
                  </a:lnTo>
                  <a:lnTo>
                    <a:pt x="507" y="2"/>
                  </a:lnTo>
                  <a:lnTo>
                    <a:pt x="509" y="4"/>
                  </a:lnTo>
                  <a:lnTo>
                    <a:pt x="509" y="5"/>
                  </a:lnTo>
                  <a:lnTo>
                    <a:pt x="511" y="6"/>
                  </a:lnTo>
                  <a:lnTo>
                    <a:pt x="509" y="8"/>
                  </a:lnTo>
                  <a:lnTo>
                    <a:pt x="509" y="9"/>
                  </a:lnTo>
                  <a:lnTo>
                    <a:pt x="507" y="11"/>
                  </a:lnTo>
                  <a:lnTo>
                    <a:pt x="502" y="13"/>
                  </a:lnTo>
                  <a:lnTo>
                    <a:pt x="500" y="13"/>
                  </a:lnTo>
                  <a:lnTo>
                    <a:pt x="498" y="13"/>
                  </a:lnTo>
                  <a:lnTo>
                    <a:pt x="319" y="13"/>
                  </a:lnTo>
                  <a:lnTo>
                    <a:pt x="317" y="13"/>
                  </a:lnTo>
                  <a:lnTo>
                    <a:pt x="313" y="13"/>
                  </a:lnTo>
                  <a:lnTo>
                    <a:pt x="309" y="11"/>
                  </a:lnTo>
                  <a:lnTo>
                    <a:pt x="307" y="9"/>
                  </a:lnTo>
                  <a:lnTo>
                    <a:pt x="306" y="8"/>
                  </a:lnTo>
                  <a:lnTo>
                    <a:pt x="306" y="6"/>
                  </a:lnTo>
                  <a:lnTo>
                    <a:pt x="306" y="5"/>
                  </a:lnTo>
                  <a:lnTo>
                    <a:pt x="307" y="4"/>
                  </a:lnTo>
                  <a:lnTo>
                    <a:pt x="309" y="2"/>
                  </a:lnTo>
                  <a:lnTo>
                    <a:pt x="313" y="0"/>
                  </a:lnTo>
                  <a:lnTo>
                    <a:pt x="317" y="0"/>
                  </a:lnTo>
                  <a:lnTo>
                    <a:pt x="319" y="0"/>
                  </a:lnTo>
                  <a:close/>
                  <a:moveTo>
                    <a:pt x="626" y="0"/>
                  </a:moveTo>
                  <a:lnTo>
                    <a:pt x="804" y="0"/>
                  </a:lnTo>
                  <a:lnTo>
                    <a:pt x="807" y="0"/>
                  </a:lnTo>
                  <a:lnTo>
                    <a:pt x="809" y="0"/>
                  </a:lnTo>
                  <a:lnTo>
                    <a:pt x="813" y="2"/>
                  </a:lnTo>
                  <a:lnTo>
                    <a:pt x="817" y="4"/>
                  </a:lnTo>
                  <a:lnTo>
                    <a:pt x="817" y="5"/>
                  </a:lnTo>
                  <a:lnTo>
                    <a:pt x="817" y="6"/>
                  </a:lnTo>
                  <a:lnTo>
                    <a:pt x="817" y="8"/>
                  </a:lnTo>
                  <a:lnTo>
                    <a:pt x="817" y="9"/>
                  </a:lnTo>
                  <a:lnTo>
                    <a:pt x="813" y="11"/>
                  </a:lnTo>
                  <a:lnTo>
                    <a:pt x="809" y="13"/>
                  </a:lnTo>
                  <a:lnTo>
                    <a:pt x="807" y="13"/>
                  </a:lnTo>
                  <a:lnTo>
                    <a:pt x="804" y="13"/>
                  </a:lnTo>
                  <a:lnTo>
                    <a:pt x="626" y="13"/>
                  </a:lnTo>
                  <a:lnTo>
                    <a:pt x="622" y="13"/>
                  </a:lnTo>
                  <a:lnTo>
                    <a:pt x="621" y="13"/>
                  </a:lnTo>
                  <a:lnTo>
                    <a:pt x="617" y="11"/>
                  </a:lnTo>
                  <a:lnTo>
                    <a:pt x="613" y="9"/>
                  </a:lnTo>
                  <a:lnTo>
                    <a:pt x="613" y="8"/>
                  </a:lnTo>
                  <a:lnTo>
                    <a:pt x="613" y="6"/>
                  </a:lnTo>
                  <a:lnTo>
                    <a:pt x="613" y="5"/>
                  </a:lnTo>
                  <a:lnTo>
                    <a:pt x="613" y="4"/>
                  </a:lnTo>
                  <a:lnTo>
                    <a:pt x="617" y="2"/>
                  </a:lnTo>
                  <a:lnTo>
                    <a:pt x="621" y="0"/>
                  </a:lnTo>
                  <a:lnTo>
                    <a:pt x="622" y="0"/>
                  </a:lnTo>
                  <a:lnTo>
                    <a:pt x="626" y="0"/>
                  </a:lnTo>
                  <a:close/>
                  <a:moveTo>
                    <a:pt x="932" y="0"/>
                  </a:moveTo>
                  <a:lnTo>
                    <a:pt x="1111" y="0"/>
                  </a:lnTo>
                  <a:lnTo>
                    <a:pt x="1113" y="0"/>
                  </a:lnTo>
                  <a:lnTo>
                    <a:pt x="1117" y="0"/>
                  </a:lnTo>
                  <a:lnTo>
                    <a:pt x="1120" y="2"/>
                  </a:lnTo>
                  <a:lnTo>
                    <a:pt x="1122" y="4"/>
                  </a:lnTo>
                  <a:lnTo>
                    <a:pt x="1124" y="5"/>
                  </a:lnTo>
                  <a:lnTo>
                    <a:pt x="1124" y="6"/>
                  </a:lnTo>
                  <a:lnTo>
                    <a:pt x="1124" y="8"/>
                  </a:lnTo>
                  <a:lnTo>
                    <a:pt x="1122" y="9"/>
                  </a:lnTo>
                  <a:lnTo>
                    <a:pt x="1120" y="11"/>
                  </a:lnTo>
                  <a:lnTo>
                    <a:pt x="1117" y="13"/>
                  </a:lnTo>
                  <a:lnTo>
                    <a:pt x="1113" y="13"/>
                  </a:lnTo>
                  <a:lnTo>
                    <a:pt x="1111" y="13"/>
                  </a:lnTo>
                  <a:lnTo>
                    <a:pt x="932" y="13"/>
                  </a:lnTo>
                  <a:lnTo>
                    <a:pt x="930" y="13"/>
                  </a:lnTo>
                  <a:lnTo>
                    <a:pt x="926" y="13"/>
                  </a:lnTo>
                  <a:lnTo>
                    <a:pt x="922" y="11"/>
                  </a:lnTo>
                  <a:lnTo>
                    <a:pt x="920" y="9"/>
                  </a:lnTo>
                  <a:lnTo>
                    <a:pt x="919" y="8"/>
                  </a:lnTo>
                  <a:lnTo>
                    <a:pt x="919" y="6"/>
                  </a:lnTo>
                  <a:lnTo>
                    <a:pt x="919" y="5"/>
                  </a:lnTo>
                  <a:lnTo>
                    <a:pt x="920" y="4"/>
                  </a:lnTo>
                  <a:lnTo>
                    <a:pt x="922" y="2"/>
                  </a:lnTo>
                  <a:lnTo>
                    <a:pt x="926" y="0"/>
                  </a:lnTo>
                  <a:lnTo>
                    <a:pt x="930" y="0"/>
                  </a:lnTo>
                  <a:lnTo>
                    <a:pt x="932" y="0"/>
                  </a:lnTo>
                  <a:close/>
                  <a:moveTo>
                    <a:pt x="1239" y="0"/>
                  </a:moveTo>
                  <a:lnTo>
                    <a:pt x="1417" y="0"/>
                  </a:lnTo>
                  <a:lnTo>
                    <a:pt x="1420" y="0"/>
                  </a:lnTo>
                  <a:lnTo>
                    <a:pt x="1422" y="0"/>
                  </a:lnTo>
                  <a:lnTo>
                    <a:pt x="1426" y="2"/>
                  </a:lnTo>
                  <a:lnTo>
                    <a:pt x="1430" y="4"/>
                  </a:lnTo>
                  <a:lnTo>
                    <a:pt x="1430" y="5"/>
                  </a:lnTo>
                  <a:lnTo>
                    <a:pt x="1430" y="6"/>
                  </a:lnTo>
                  <a:lnTo>
                    <a:pt x="1430" y="8"/>
                  </a:lnTo>
                  <a:lnTo>
                    <a:pt x="1430" y="9"/>
                  </a:lnTo>
                  <a:lnTo>
                    <a:pt x="1426" y="11"/>
                  </a:lnTo>
                  <a:lnTo>
                    <a:pt x="1422" y="13"/>
                  </a:lnTo>
                  <a:lnTo>
                    <a:pt x="1420" y="13"/>
                  </a:lnTo>
                  <a:lnTo>
                    <a:pt x="1417" y="13"/>
                  </a:lnTo>
                  <a:lnTo>
                    <a:pt x="1239" y="13"/>
                  </a:lnTo>
                  <a:lnTo>
                    <a:pt x="1235" y="13"/>
                  </a:lnTo>
                  <a:lnTo>
                    <a:pt x="1234" y="13"/>
                  </a:lnTo>
                  <a:lnTo>
                    <a:pt x="1230" y="11"/>
                  </a:lnTo>
                  <a:lnTo>
                    <a:pt x="1226" y="9"/>
                  </a:lnTo>
                  <a:lnTo>
                    <a:pt x="1226" y="8"/>
                  </a:lnTo>
                  <a:lnTo>
                    <a:pt x="1226" y="6"/>
                  </a:lnTo>
                  <a:lnTo>
                    <a:pt x="1226" y="5"/>
                  </a:lnTo>
                  <a:lnTo>
                    <a:pt x="1226" y="4"/>
                  </a:lnTo>
                  <a:lnTo>
                    <a:pt x="1230" y="2"/>
                  </a:lnTo>
                  <a:lnTo>
                    <a:pt x="1234" y="0"/>
                  </a:lnTo>
                  <a:lnTo>
                    <a:pt x="1235" y="0"/>
                  </a:lnTo>
                  <a:lnTo>
                    <a:pt x="1239" y="0"/>
                  </a:lnTo>
                  <a:close/>
                  <a:moveTo>
                    <a:pt x="1545" y="0"/>
                  </a:moveTo>
                  <a:lnTo>
                    <a:pt x="1724" y="0"/>
                  </a:lnTo>
                  <a:lnTo>
                    <a:pt x="1726" y="0"/>
                  </a:lnTo>
                  <a:lnTo>
                    <a:pt x="1730" y="0"/>
                  </a:lnTo>
                  <a:lnTo>
                    <a:pt x="1733" y="2"/>
                  </a:lnTo>
                  <a:lnTo>
                    <a:pt x="1735" y="4"/>
                  </a:lnTo>
                  <a:lnTo>
                    <a:pt x="1737" y="5"/>
                  </a:lnTo>
                  <a:lnTo>
                    <a:pt x="1737" y="6"/>
                  </a:lnTo>
                  <a:lnTo>
                    <a:pt x="1737" y="8"/>
                  </a:lnTo>
                  <a:lnTo>
                    <a:pt x="1735" y="9"/>
                  </a:lnTo>
                  <a:lnTo>
                    <a:pt x="1733" y="11"/>
                  </a:lnTo>
                  <a:lnTo>
                    <a:pt x="1730" y="13"/>
                  </a:lnTo>
                  <a:lnTo>
                    <a:pt x="1726" y="13"/>
                  </a:lnTo>
                  <a:lnTo>
                    <a:pt x="1724" y="13"/>
                  </a:lnTo>
                  <a:lnTo>
                    <a:pt x="1545" y="13"/>
                  </a:lnTo>
                  <a:lnTo>
                    <a:pt x="1543" y="13"/>
                  </a:lnTo>
                  <a:lnTo>
                    <a:pt x="1541" y="13"/>
                  </a:lnTo>
                  <a:lnTo>
                    <a:pt x="1535" y="11"/>
                  </a:lnTo>
                  <a:lnTo>
                    <a:pt x="1533" y="9"/>
                  </a:lnTo>
                  <a:lnTo>
                    <a:pt x="1533" y="8"/>
                  </a:lnTo>
                  <a:lnTo>
                    <a:pt x="1532" y="6"/>
                  </a:lnTo>
                  <a:lnTo>
                    <a:pt x="1533" y="5"/>
                  </a:lnTo>
                  <a:lnTo>
                    <a:pt x="1533" y="4"/>
                  </a:lnTo>
                  <a:lnTo>
                    <a:pt x="1535" y="2"/>
                  </a:lnTo>
                  <a:lnTo>
                    <a:pt x="1541" y="0"/>
                  </a:lnTo>
                  <a:lnTo>
                    <a:pt x="1543" y="0"/>
                  </a:lnTo>
                  <a:lnTo>
                    <a:pt x="1545" y="0"/>
                  </a:lnTo>
                  <a:close/>
                  <a:moveTo>
                    <a:pt x="1852" y="0"/>
                  </a:moveTo>
                  <a:lnTo>
                    <a:pt x="2031" y="0"/>
                  </a:lnTo>
                  <a:lnTo>
                    <a:pt x="2033" y="0"/>
                  </a:lnTo>
                  <a:lnTo>
                    <a:pt x="2035" y="0"/>
                  </a:lnTo>
                  <a:lnTo>
                    <a:pt x="2039" y="2"/>
                  </a:lnTo>
                  <a:lnTo>
                    <a:pt x="2043" y="4"/>
                  </a:lnTo>
                  <a:lnTo>
                    <a:pt x="2043" y="5"/>
                  </a:lnTo>
                  <a:lnTo>
                    <a:pt x="2043" y="6"/>
                  </a:lnTo>
                  <a:lnTo>
                    <a:pt x="2043" y="8"/>
                  </a:lnTo>
                  <a:lnTo>
                    <a:pt x="2043" y="9"/>
                  </a:lnTo>
                  <a:lnTo>
                    <a:pt x="2039" y="11"/>
                  </a:lnTo>
                  <a:lnTo>
                    <a:pt x="2035" y="13"/>
                  </a:lnTo>
                  <a:lnTo>
                    <a:pt x="2033" y="13"/>
                  </a:lnTo>
                  <a:lnTo>
                    <a:pt x="2031" y="13"/>
                  </a:lnTo>
                  <a:lnTo>
                    <a:pt x="1852" y="13"/>
                  </a:lnTo>
                  <a:lnTo>
                    <a:pt x="1848" y="13"/>
                  </a:lnTo>
                  <a:lnTo>
                    <a:pt x="1847" y="13"/>
                  </a:lnTo>
                  <a:lnTo>
                    <a:pt x="1843" y="11"/>
                  </a:lnTo>
                  <a:lnTo>
                    <a:pt x="1839" y="9"/>
                  </a:lnTo>
                  <a:lnTo>
                    <a:pt x="1839" y="8"/>
                  </a:lnTo>
                  <a:lnTo>
                    <a:pt x="1839" y="6"/>
                  </a:lnTo>
                  <a:lnTo>
                    <a:pt x="1839" y="5"/>
                  </a:lnTo>
                  <a:lnTo>
                    <a:pt x="1839" y="4"/>
                  </a:lnTo>
                  <a:lnTo>
                    <a:pt x="1843" y="2"/>
                  </a:lnTo>
                  <a:lnTo>
                    <a:pt x="1847" y="0"/>
                  </a:lnTo>
                  <a:lnTo>
                    <a:pt x="1848" y="0"/>
                  </a:lnTo>
                  <a:lnTo>
                    <a:pt x="1852" y="0"/>
                  </a:lnTo>
                  <a:close/>
                  <a:moveTo>
                    <a:pt x="2158" y="0"/>
                  </a:moveTo>
                  <a:lnTo>
                    <a:pt x="2337" y="0"/>
                  </a:lnTo>
                  <a:lnTo>
                    <a:pt x="2341" y="0"/>
                  </a:lnTo>
                  <a:lnTo>
                    <a:pt x="2343" y="0"/>
                  </a:lnTo>
                  <a:lnTo>
                    <a:pt x="2346" y="2"/>
                  </a:lnTo>
                  <a:lnTo>
                    <a:pt x="2348" y="4"/>
                  </a:lnTo>
                  <a:lnTo>
                    <a:pt x="2350" y="5"/>
                  </a:lnTo>
                  <a:lnTo>
                    <a:pt x="2350" y="6"/>
                  </a:lnTo>
                  <a:lnTo>
                    <a:pt x="2350" y="8"/>
                  </a:lnTo>
                  <a:lnTo>
                    <a:pt x="2348" y="9"/>
                  </a:lnTo>
                  <a:lnTo>
                    <a:pt x="2346" y="11"/>
                  </a:lnTo>
                  <a:lnTo>
                    <a:pt x="2343" y="13"/>
                  </a:lnTo>
                  <a:lnTo>
                    <a:pt x="2341" y="13"/>
                  </a:lnTo>
                  <a:lnTo>
                    <a:pt x="2337" y="13"/>
                  </a:lnTo>
                  <a:lnTo>
                    <a:pt x="2158" y="13"/>
                  </a:lnTo>
                  <a:lnTo>
                    <a:pt x="2156" y="13"/>
                  </a:lnTo>
                  <a:lnTo>
                    <a:pt x="2154" y="13"/>
                  </a:lnTo>
                  <a:lnTo>
                    <a:pt x="2148" y="11"/>
                  </a:lnTo>
                  <a:lnTo>
                    <a:pt x="2146" y="9"/>
                  </a:lnTo>
                  <a:lnTo>
                    <a:pt x="2146" y="8"/>
                  </a:lnTo>
                  <a:lnTo>
                    <a:pt x="2146" y="6"/>
                  </a:lnTo>
                  <a:lnTo>
                    <a:pt x="2146" y="5"/>
                  </a:lnTo>
                  <a:lnTo>
                    <a:pt x="2146" y="4"/>
                  </a:lnTo>
                  <a:lnTo>
                    <a:pt x="2148" y="2"/>
                  </a:lnTo>
                  <a:lnTo>
                    <a:pt x="2154" y="0"/>
                  </a:lnTo>
                  <a:lnTo>
                    <a:pt x="2156" y="0"/>
                  </a:lnTo>
                  <a:lnTo>
                    <a:pt x="2158" y="0"/>
                  </a:lnTo>
                  <a:close/>
                  <a:moveTo>
                    <a:pt x="2465" y="0"/>
                  </a:moveTo>
                  <a:lnTo>
                    <a:pt x="2644" y="0"/>
                  </a:lnTo>
                  <a:lnTo>
                    <a:pt x="2646" y="0"/>
                  </a:lnTo>
                  <a:lnTo>
                    <a:pt x="2648" y="0"/>
                  </a:lnTo>
                  <a:lnTo>
                    <a:pt x="2652" y="2"/>
                  </a:lnTo>
                  <a:lnTo>
                    <a:pt x="2656" y="4"/>
                  </a:lnTo>
                  <a:lnTo>
                    <a:pt x="2656" y="5"/>
                  </a:lnTo>
                  <a:lnTo>
                    <a:pt x="2656" y="6"/>
                  </a:lnTo>
                  <a:lnTo>
                    <a:pt x="2656" y="8"/>
                  </a:lnTo>
                  <a:lnTo>
                    <a:pt x="2656" y="9"/>
                  </a:lnTo>
                  <a:lnTo>
                    <a:pt x="2652" y="11"/>
                  </a:lnTo>
                  <a:lnTo>
                    <a:pt x="2648" y="13"/>
                  </a:lnTo>
                  <a:lnTo>
                    <a:pt x="2646" y="13"/>
                  </a:lnTo>
                  <a:lnTo>
                    <a:pt x="2644" y="13"/>
                  </a:lnTo>
                  <a:lnTo>
                    <a:pt x="2465" y="13"/>
                  </a:lnTo>
                  <a:lnTo>
                    <a:pt x="2463" y="13"/>
                  </a:lnTo>
                  <a:lnTo>
                    <a:pt x="2460" y="13"/>
                  </a:lnTo>
                  <a:lnTo>
                    <a:pt x="2456" y="11"/>
                  </a:lnTo>
                  <a:lnTo>
                    <a:pt x="2454" y="9"/>
                  </a:lnTo>
                  <a:lnTo>
                    <a:pt x="2452" y="8"/>
                  </a:lnTo>
                  <a:lnTo>
                    <a:pt x="2452" y="6"/>
                  </a:lnTo>
                  <a:lnTo>
                    <a:pt x="2452" y="5"/>
                  </a:lnTo>
                  <a:lnTo>
                    <a:pt x="2454" y="4"/>
                  </a:lnTo>
                  <a:lnTo>
                    <a:pt x="2456" y="2"/>
                  </a:lnTo>
                  <a:lnTo>
                    <a:pt x="2460" y="0"/>
                  </a:lnTo>
                  <a:lnTo>
                    <a:pt x="2463" y="0"/>
                  </a:lnTo>
                  <a:lnTo>
                    <a:pt x="2465" y="0"/>
                  </a:lnTo>
                  <a:close/>
                  <a:moveTo>
                    <a:pt x="2771" y="0"/>
                  </a:moveTo>
                  <a:lnTo>
                    <a:pt x="2950" y="0"/>
                  </a:lnTo>
                  <a:lnTo>
                    <a:pt x="2954" y="0"/>
                  </a:lnTo>
                  <a:lnTo>
                    <a:pt x="2956" y="0"/>
                  </a:lnTo>
                  <a:lnTo>
                    <a:pt x="2959" y="2"/>
                  </a:lnTo>
                  <a:lnTo>
                    <a:pt x="2961" y="4"/>
                  </a:lnTo>
                  <a:lnTo>
                    <a:pt x="2963" y="5"/>
                  </a:lnTo>
                  <a:lnTo>
                    <a:pt x="2963" y="6"/>
                  </a:lnTo>
                  <a:lnTo>
                    <a:pt x="2963" y="8"/>
                  </a:lnTo>
                  <a:lnTo>
                    <a:pt x="2961" y="9"/>
                  </a:lnTo>
                  <a:lnTo>
                    <a:pt x="2959" y="11"/>
                  </a:lnTo>
                  <a:lnTo>
                    <a:pt x="2956" y="13"/>
                  </a:lnTo>
                  <a:lnTo>
                    <a:pt x="2954" y="13"/>
                  </a:lnTo>
                  <a:lnTo>
                    <a:pt x="2950" y="13"/>
                  </a:lnTo>
                  <a:lnTo>
                    <a:pt x="2771" y="13"/>
                  </a:lnTo>
                  <a:lnTo>
                    <a:pt x="2769" y="13"/>
                  </a:lnTo>
                  <a:lnTo>
                    <a:pt x="2767" y="13"/>
                  </a:lnTo>
                  <a:lnTo>
                    <a:pt x="2763" y="11"/>
                  </a:lnTo>
                  <a:lnTo>
                    <a:pt x="2759" y="9"/>
                  </a:lnTo>
                  <a:lnTo>
                    <a:pt x="2759" y="8"/>
                  </a:lnTo>
                  <a:lnTo>
                    <a:pt x="2759" y="6"/>
                  </a:lnTo>
                  <a:lnTo>
                    <a:pt x="2759" y="5"/>
                  </a:lnTo>
                  <a:lnTo>
                    <a:pt x="2759" y="4"/>
                  </a:lnTo>
                  <a:lnTo>
                    <a:pt x="2763" y="2"/>
                  </a:lnTo>
                  <a:lnTo>
                    <a:pt x="2767" y="0"/>
                  </a:lnTo>
                  <a:lnTo>
                    <a:pt x="2769" y="0"/>
                  </a:lnTo>
                  <a:lnTo>
                    <a:pt x="2771" y="0"/>
                  </a:lnTo>
                  <a:close/>
                  <a:moveTo>
                    <a:pt x="3078" y="0"/>
                  </a:moveTo>
                  <a:lnTo>
                    <a:pt x="3257" y="0"/>
                  </a:lnTo>
                  <a:lnTo>
                    <a:pt x="3259" y="0"/>
                  </a:lnTo>
                  <a:lnTo>
                    <a:pt x="3261" y="0"/>
                  </a:lnTo>
                  <a:lnTo>
                    <a:pt x="3267" y="2"/>
                  </a:lnTo>
                  <a:lnTo>
                    <a:pt x="3269" y="4"/>
                  </a:lnTo>
                  <a:lnTo>
                    <a:pt x="3269" y="5"/>
                  </a:lnTo>
                  <a:lnTo>
                    <a:pt x="3271" y="6"/>
                  </a:lnTo>
                  <a:lnTo>
                    <a:pt x="3269" y="8"/>
                  </a:lnTo>
                  <a:lnTo>
                    <a:pt x="3269" y="9"/>
                  </a:lnTo>
                  <a:lnTo>
                    <a:pt x="3267" y="11"/>
                  </a:lnTo>
                  <a:lnTo>
                    <a:pt x="3261" y="13"/>
                  </a:lnTo>
                  <a:lnTo>
                    <a:pt x="3259" y="13"/>
                  </a:lnTo>
                  <a:lnTo>
                    <a:pt x="3257" y="13"/>
                  </a:lnTo>
                  <a:lnTo>
                    <a:pt x="3078" y="13"/>
                  </a:lnTo>
                  <a:lnTo>
                    <a:pt x="3076" y="13"/>
                  </a:lnTo>
                  <a:lnTo>
                    <a:pt x="3073" y="13"/>
                  </a:lnTo>
                  <a:lnTo>
                    <a:pt x="3069" y="11"/>
                  </a:lnTo>
                  <a:lnTo>
                    <a:pt x="3067" y="9"/>
                  </a:lnTo>
                  <a:lnTo>
                    <a:pt x="3065" y="8"/>
                  </a:lnTo>
                  <a:lnTo>
                    <a:pt x="3065" y="6"/>
                  </a:lnTo>
                  <a:lnTo>
                    <a:pt x="3065" y="5"/>
                  </a:lnTo>
                  <a:lnTo>
                    <a:pt x="3067" y="4"/>
                  </a:lnTo>
                  <a:lnTo>
                    <a:pt x="3069" y="2"/>
                  </a:lnTo>
                  <a:lnTo>
                    <a:pt x="3073" y="0"/>
                  </a:lnTo>
                  <a:lnTo>
                    <a:pt x="3076" y="0"/>
                  </a:lnTo>
                  <a:lnTo>
                    <a:pt x="3078" y="0"/>
                  </a:lnTo>
                  <a:close/>
                  <a:moveTo>
                    <a:pt x="3386" y="0"/>
                  </a:moveTo>
                  <a:lnTo>
                    <a:pt x="3563" y="0"/>
                  </a:lnTo>
                  <a:lnTo>
                    <a:pt x="3567" y="0"/>
                  </a:lnTo>
                  <a:lnTo>
                    <a:pt x="3569" y="0"/>
                  </a:lnTo>
                  <a:lnTo>
                    <a:pt x="3572" y="2"/>
                  </a:lnTo>
                  <a:lnTo>
                    <a:pt x="3576" y="4"/>
                  </a:lnTo>
                  <a:lnTo>
                    <a:pt x="3576" y="5"/>
                  </a:lnTo>
                  <a:lnTo>
                    <a:pt x="3576" y="6"/>
                  </a:lnTo>
                  <a:lnTo>
                    <a:pt x="3576" y="8"/>
                  </a:lnTo>
                  <a:lnTo>
                    <a:pt x="3576" y="9"/>
                  </a:lnTo>
                  <a:lnTo>
                    <a:pt x="3572" y="11"/>
                  </a:lnTo>
                  <a:lnTo>
                    <a:pt x="3569" y="13"/>
                  </a:lnTo>
                  <a:lnTo>
                    <a:pt x="3567" y="13"/>
                  </a:lnTo>
                  <a:lnTo>
                    <a:pt x="3563" y="13"/>
                  </a:lnTo>
                  <a:lnTo>
                    <a:pt x="3386" y="13"/>
                  </a:lnTo>
                  <a:lnTo>
                    <a:pt x="3382" y="13"/>
                  </a:lnTo>
                  <a:lnTo>
                    <a:pt x="3380" y="13"/>
                  </a:lnTo>
                  <a:lnTo>
                    <a:pt x="3376" y="11"/>
                  </a:lnTo>
                  <a:lnTo>
                    <a:pt x="3373" y="9"/>
                  </a:lnTo>
                  <a:lnTo>
                    <a:pt x="3373" y="8"/>
                  </a:lnTo>
                  <a:lnTo>
                    <a:pt x="3373" y="6"/>
                  </a:lnTo>
                  <a:lnTo>
                    <a:pt x="3373" y="5"/>
                  </a:lnTo>
                  <a:lnTo>
                    <a:pt x="3373" y="4"/>
                  </a:lnTo>
                  <a:lnTo>
                    <a:pt x="3376" y="2"/>
                  </a:lnTo>
                  <a:lnTo>
                    <a:pt x="3380" y="0"/>
                  </a:lnTo>
                  <a:lnTo>
                    <a:pt x="3382" y="0"/>
                  </a:lnTo>
                  <a:lnTo>
                    <a:pt x="3386" y="0"/>
                  </a:lnTo>
                  <a:close/>
                  <a:moveTo>
                    <a:pt x="3691" y="0"/>
                  </a:moveTo>
                  <a:lnTo>
                    <a:pt x="3870" y="0"/>
                  </a:lnTo>
                  <a:lnTo>
                    <a:pt x="3872" y="0"/>
                  </a:lnTo>
                  <a:lnTo>
                    <a:pt x="3876" y="0"/>
                  </a:lnTo>
                  <a:lnTo>
                    <a:pt x="3880" y="2"/>
                  </a:lnTo>
                  <a:lnTo>
                    <a:pt x="3882" y="4"/>
                  </a:lnTo>
                  <a:lnTo>
                    <a:pt x="3884" y="5"/>
                  </a:lnTo>
                  <a:lnTo>
                    <a:pt x="3884" y="6"/>
                  </a:lnTo>
                  <a:lnTo>
                    <a:pt x="3884" y="8"/>
                  </a:lnTo>
                  <a:lnTo>
                    <a:pt x="3882" y="9"/>
                  </a:lnTo>
                  <a:lnTo>
                    <a:pt x="3880" y="11"/>
                  </a:lnTo>
                  <a:lnTo>
                    <a:pt x="3876" y="13"/>
                  </a:lnTo>
                  <a:lnTo>
                    <a:pt x="3872" y="13"/>
                  </a:lnTo>
                  <a:lnTo>
                    <a:pt x="3870" y="13"/>
                  </a:lnTo>
                  <a:lnTo>
                    <a:pt x="3691" y="13"/>
                  </a:lnTo>
                  <a:lnTo>
                    <a:pt x="3689" y="13"/>
                  </a:lnTo>
                  <a:lnTo>
                    <a:pt x="3686" y="13"/>
                  </a:lnTo>
                  <a:lnTo>
                    <a:pt x="3682" y="11"/>
                  </a:lnTo>
                  <a:lnTo>
                    <a:pt x="3680" y="9"/>
                  </a:lnTo>
                  <a:lnTo>
                    <a:pt x="3678" y="8"/>
                  </a:lnTo>
                  <a:lnTo>
                    <a:pt x="3678" y="6"/>
                  </a:lnTo>
                  <a:lnTo>
                    <a:pt x="3678" y="5"/>
                  </a:lnTo>
                  <a:lnTo>
                    <a:pt x="3680" y="4"/>
                  </a:lnTo>
                  <a:lnTo>
                    <a:pt x="3682" y="2"/>
                  </a:lnTo>
                  <a:lnTo>
                    <a:pt x="3686" y="0"/>
                  </a:lnTo>
                  <a:lnTo>
                    <a:pt x="3689" y="0"/>
                  </a:lnTo>
                  <a:lnTo>
                    <a:pt x="3691" y="0"/>
                  </a:lnTo>
                  <a:close/>
                  <a:moveTo>
                    <a:pt x="3999" y="0"/>
                  </a:moveTo>
                  <a:lnTo>
                    <a:pt x="4065" y="0"/>
                  </a:lnTo>
                  <a:lnTo>
                    <a:pt x="4067" y="0"/>
                  </a:lnTo>
                  <a:lnTo>
                    <a:pt x="4068" y="0"/>
                  </a:lnTo>
                  <a:lnTo>
                    <a:pt x="4074" y="2"/>
                  </a:lnTo>
                  <a:lnTo>
                    <a:pt x="4076" y="4"/>
                  </a:lnTo>
                  <a:lnTo>
                    <a:pt x="4078" y="5"/>
                  </a:lnTo>
                  <a:lnTo>
                    <a:pt x="4078" y="6"/>
                  </a:lnTo>
                  <a:lnTo>
                    <a:pt x="4078" y="8"/>
                  </a:lnTo>
                  <a:lnTo>
                    <a:pt x="4076" y="9"/>
                  </a:lnTo>
                  <a:lnTo>
                    <a:pt x="4074" y="11"/>
                  </a:lnTo>
                  <a:lnTo>
                    <a:pt x="4068" y="13"/>
                  </a:lnTo>
                  <a:lnTo>
                    <a:pt x="4067" y="13"/>
                  </a:lnTo>
                  <a:lnTo>
                    <a:pt x="4065" y="13"/>
                  </a:lnTo>
                  <a:lnTo>
                    <a:pt x="3999" y="13"/>
                  </a:lnTo>
                  <a:lnTo>
                    <a:pt x="3995" y="13"/>
                  </a:lnTo>
                  <a:lnTo>
                    <a:pt x="3993" y="13"/>
                  </a:lnTo>
                  <a:lnTo>
                    <a:pt x="3989" y="11"/>
                  </a:lnTo>
                  <a:lnTo>
                    <a:pt x="3986" y="9"/>
                  </a:lnTo>
                  <a:lnTo>
                    <a:pt x="3986" y="8"/>
                  </a:lnTo>
                  <a:lnTo>
                    <a:pt x="3986" y="6"/>
                  </a:lnTo>
                  <a:lnTo>
                    <a:pt x="3986" y="5"/>
                  </a:lnTo>
                  <a:lnTo>
                    <a:pt x="3986" y="4"/>
                  </a:lnTo>
                  <a:lnTo>
                    <a:pt x="3989" y="2"/>
                  </a:lnTo>
                  <a:lnTo>
                    <a:pt x="3993" y="0"/>
                  </a:lnTo>
                  <a:lnTo>
                    <a:pt x="3995" y="0"/>
                  </a:lnTo>
                  <a:lnTo>
                    <a:pt x="3999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5" name="Rectangle 218"/>
            <p:cNvSpPr>
              <a:spLocks noChangeArrowheads="1"/>
            </p:cNvSpPr>
            <p:nvPr/>
          </p:nvSpPr>
          <p:spPr bwMode="auto">
            <a:xfrm>
              <a:off x="3931" y="2858"/>
              <a:ext cx="59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/>
            </a:p>
          </p:txBody>
        </p:sp>
        <p:sp>
          <p:nvSpPr>
            <p:cNvPr id="276" name="Rectangle 219"/>
            <p:cNvSpPr>
              <a:spLocks noChangeArrowheads="1"/>
            </p:cNvSpPr>
            <p:nvPr/>
          </p:nvSpPr>
          <p:spPr bwMode="auto">
            <a:xfrm>
              <a:off x="3719" y="3102"/>
              <a:ext cx="24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/2</a:t>
              </a:r>
              <a:endParaRPr lang="en-US" altLang="zh-CN" sz="2000"/>
            </a:p>
          </p:txBody>
        </p:sp>
        <p:sp>
          <p:nvSpPr>
            <p:cNvPr id="277" name="Rectangle 220"/>
            <p:cNvSpPr>
              <a:spLocks noChangeArrowheads="1"/>
            </p:cNvSpPr>
            <p:nvPr/>
          </p:nvSpPr>
          <p:spPr bwMode="auto">
            <a:xfrm>
              <a:off x="3447" y="3238"/>
              <a:ext cx="12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</a:p>
          </p:txBody>
        </p:sp>
        <p:sp>
          <p:nvSpPr>
            <p:cNvPr id="278" name="Freeform 221"/>
            <p:cNvSpPr>
              <a:spLocks noEditPoints="1"/>
            </p:cNvSpPr>
            <p:nvPr/>
          </p:nvSpPr>
          <p:spPr bwMode="auto">
            <a:xfrm>
              <a:off x="3400" y="3565"/>
              <a:ext cx="1980" cy="8"/>
            </a:xfrm>
            <a:custGeom>
              <a:avLst/>
              <a:gdLst>
                <a:gd name="T0" fmla="*/ 0 w 3961"/>
                <a:gd name="T1" fmla="*/ 5 h 8"/>
                <a:gd name="T2" fmla="*/ 0 w 3961"/>
                <a:gd name="T3" fmla="*/ 5 h 8"/>
                <a:gd name="T4" fmla="*/ 0 w 3961"/>
                <a:gd name="T5" fmla="*/ 0 h 8"/>
                <a:gd name="T6" fmla="*/ 1 w 3961"/>
                <a:gd name="T7" fmla="*/ 6 h 8"/>
                <a:gd name="T8" fmla="*/ 0 w 3961"/>
                <a:gd name="T9" fmla="*/ 4 h 8"/>
                <a:gd name="T10" fmla="*/ 1 w 3961"/>
                <a:gd name="T11" fmla="*/ 0 h 8"/>
                <a:gd name="T12" fmla="*/ 1 w 3961"/>
                <a:gd name="T13" fmla="*/ 7 h 8"/>
                <a:gd name="T14" fmla="*/ 1 w 3961"/>
                <a:gd name="T15" fmla="*/ 2 h 8"/>
                <a:gd name="T16" fmla="*/ 2 w 3961"/>
                <a:gd name="T17" fmla="*/ 0 h 8"/>
                <a:gd name="T18" fmla="*/ 2 w 3961"/>
                <a:gd name="T19" fmla="*/ 8 h 8"/>
                <a:gd name="T20" fmla="*/ 2 w 3961"/>
                <a:gd name="T21" fmla="*/ 1 h 8"/>
                <a:gd name="T22" fmla="*/ 3 w 3961"/>
                <a:gd name="T23" fmla="*/ 1 h 8"/>
                <a:gd name="T24" fmla="*/ 2 w 3961"/>
                <a:gd name="T25" fmla="*/ 8 h 8"/>
                <a:gd name="T26" fmla="*/ 2 w 3961"/>
                <a:gd name="T27" fmla="*/ 0 h 8"/>
                <a:gd name="T28" fmla="*/ 4 w 3961"/>
                <a:gd name="T29" fmla="*/ 2 h 8"/>
                <a:gd name="T30" fmla="*/ 3 w 3961"/>
                <a:gd name="T31" fmla="*/ 7 h 8"/>
                <a:gd name="T32" fmla="*/ 3 w 3961"/>
                <a:gd name="T33" fmla="*/ 0 h 8"/>
                <a:gd name="T34" fmla="*/ 4 w 3961"/>
                <a:gd name="T35" fmla="*/ 4 h 8"/>
                <a:gd name="T36" fmla="*/ 4 w 3961"/>
                <a:gd name="T37" fmla="*/ 6 h 8"/>
                <a:gd name="T38" fmla="*/ 4 w 3961"/>
                <a:gd name="T39" fmla="*/ 0 h 8"/>
                <a:gd name="T40" fmla="*/ 5 w 3961"/>
                <a:gd name="T41" fmla="*/ 5 h 8"/>
                <a:gd name="T42" fmla="*/ 5 w 3961"/>
                <a:gd name="T43" fmla="*/ 5 h 8"/>
                <a:gd name="T44" fmla="*/ 5 w 3961"/>
                <a:gd name="T45" fmla="*/ 0 h 8"/>
                <a:gd name="T46" fmla="*/ 6 w 3961"/>
                <a:gd name="T47" fmla="*/ 6 h 8"/>
                <a:gd name="T48" fmla="*/ 5 w 3961"/>
                <a:gd name="T49" fmla="*/ 4 h 8"/>
                <a:gd name="T50" fmla="*/ 6 w 3961"/>
                <a:gd name="T51" fmla="*/ 0 h 8"/>
                <a:gd name="T52" fmla="*/ 6 w 3961"/>
                <a:gd name="T53" fmla="*/ 7 h 8"/>
                <a:gd name="T54" fmla="*/ 6 w 3961"/>
                <a:gd name="T55" fmla="*/ 2 h 8"/>
                <a:gd name="T56" fmla="*/ 7 w 3961"/>
                <a:gd name="T57" fmla="*/ 0 h 8"/>
                <a:gd name="T58" fmla="*/ 7 w 3961"/>
                <a:gd name="T59" fmla="*/ 8 h 8"/>
                <a:gd name="T60" fmla="*/ 7 w 3961"/>
                <a:gd name="T61" fmla="*/ 1 h 8"/>
                <a:gd name="T62" fmla="*/ 8 w 3961"/>
                <a:gd name="T63" fmla="*/ 1 h 8"/>
                <a:gd name="T64" fmla="*/ 7 w 3961"/>
                <a:gd name="T65" fmla="*/ 8 h 8"/>
                <a:gd name="T66" fmla="*/ 7 w 3961"/>
                <a:gd name="T67" fmla="*/ 0 h 8"/>
                <a:gd name="T68" fmla="*/ 9 w 3961"/>
                <a:gd name="T69" fmla="*/ 2 h 8"/>
                <a:gd name="T70" fmla="*/ 8 w 3961"/>
                <a:gd name="T71" fmla="*/ 7 h 8"/>
                <a:gd name="T72" fmla="*/ 8 w 3961"/>
                <a:gd name="T73" fmla="*/ 0 h 8"/>
                <a:gd name="T74" fmla="*/ 9 w 3961"/>
                <a:gd name="T75" fmla="*/ 4 h 8"/>
                <a:gd name="T76" fmla="*/ 9 w 3961"/>
                <a:gd name="T77" fmla="*/ 6 h 8"/>
                <a:gd name="T78" fmla="*/ 9 w 3961"/>
                <a:gd name="T79" fmla="*/ 0 h 8"/>
                <a:gd name="T80" fmla="*/ 10 w 3961"/>
                <a:gd name="T81" fmla="*/ 5 h 8"/>
                <a:gd name="T82" fmla="*/ 10 w 3961"/>
                <a:gd name="T83" fmla="*/ 5 h 8"/>
                <a:gd name="T84" fmla="*/ 10 w 3961"/>
                <a:gd name="T85" fmla="*/ 0 h 8"/>
                <a:gd name="T86" fmla="*/ 11 w 3961"/>
                <a:gd name="T87" fmla="*/ 6 h 8"/>
                <a:gd name="T88" fmla="*/ 10 w 3961"/>
                <a:gd name="T89" fmla="*/ 4 h 8"/>
                <a:gd name="T90" fmla="*/ 11 w 3961"/>
                <a:gd name="T91" fmla="*/ 0 h 8"/>
                <a:gd name="T92" fmla="*/ 11 w 3961"/>
                <a:gd name="T93" fmla="*/ 7 h 8"/>
                <a:gd name="T94" fmla="*/ 11 w 3961"/>
                <a:gd name="T95" fmla="*/ 2 h 8"/>
                <a:gd name="T96" fmla="*/ 12 w 3961"/>
                <a:gd name="T97" fmla="*/ 0 h 8"/>
                <a:gd name="T98" fmla="*/ 12 w 3961"/>
                <a:gd name="T99" fmla="*/ 8 h 8"/>
                <a:gd name="T100" fmla="*/ 12 w 3961"/>
                <a:gd name="T101" fmla="*/ 1 h 8"/>
                <a:gd name="T102" fmla="*/ 13 w 3961"/>
                <a:gd name="T103" fmla="*/ 1 h 8"/>
                <a:gd name="T104" fmla="*/ 12 w 3961"/>
                <a:gd name="T105" fmla="*/ 8 h 8"/>
                <a:gd name="T106" fmla="*/ 12 w 3961"/>
                <a:gd name="T107" fmla="*/ 0 h 8"/>
                <a:gd name="T108" fmla="*/ 14 w 3961"/>
                <a:gd name="T109" fmla="*/ 2 h 8"/>
                <a:gd name="T110" fmla="*/ 13 w 3961"/>
                <a:gd name="T111" fmla="*/ 7 h 8"/>
                <a:gd name="T112" fmla="*/ 13 w 3961"/>
                <a:gd name="T113" fmla="*/ 0 h 8"/>
                <a:gd name="T114" fmla="*/ 14 w 3961"/>
                <a:gd name="T115" fmla="*/ 4 h 8"/>
                <a:gd name="T116" fmla="*/ 14 w 3961"/>
                <a:gd name="T117" fmla="*/ 6 h 8"/>
                <a:gd name="T118" fmla="*/ 14 w 3961"/>
                <a:gd name="T119" fmla="*/ 0 h 8"/>
                <a:gd name="T120" fmla="*/ 15 w 3961"/>
                <a:gd name="T121" fmla="*/ 5 h 8"/>
                <a:gd name="T122" fmla="*/ 15 w 3961"/>
                <a:gd name="T123" fmla="*/ 5 h 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961"/>
                <a:gd name="T187" fmla="*/ 0 h 8"/>
                <a:gd name="T188" fmla="*/ 3961 w 3961"/>
                <a:gd name="T189" fmla="*/ 8 h 8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961" h="8">
                  <a:moveTo>
                    <a:pt x="7" y="0"/>
                  </a:moveTo>
                  <a:lnTo>
                    <a:pt x="115" y="0"/>
                  </a:lnTo>
                  <a:lnTo>
                    <a:pt x="119" y="0"/>
                  </a:lnTo>
                  <a:lnTo>
                    <a:pt x="121" y="1"/>
                  </a:lnTo>
                  <a:lnTo>
                    <a:pt x="122" y="2"/>
                  </a:lnTo>
                  <a:lnTo>
                    <a:pt x="122" y="4"/>
                  </a:lnTo>
                  <a:lnTo>
                    <a:pt x="122" y="5"/>
                  </a:lnTo>
                  <a:lnTo>
                    <a:pt x="121" y="6"/>
                  </a:lnTo>
                  <a:lnTo>
                    <a:pt x="119" y="7"/>
                  </a:lnTo>
                  <a:lnTo>
                    <a:pt x="115" y="8"/>
                  </a:lnTo>
                  <a:lnTo>
                    <a:pt x="7" y="8"/>
                  </a:lnTo>
                  <a:lnTo>
                    <a:pt x="5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1"/>
                  </a:lnTo>
                  <a:lnTo>
                    <a:pt x="5" y="0"/>
                  </a:lnTo>
                  <a:lnTo>
                    <a:pt x="7" y="0"/>
                  </a:lnTo>
                  <a:close/>
                  <a:moveTo>
                    <a:pt x="192" y="0"/>
                  </a:moveTo>
                  <a:lnTo>
                    <a:pt x="300" y="0"/>
                  </a:lnTo>
                  <a:lnTo>
                    <a:pt x="302" y="0"/>
                  </a:lnTo>
                  <a:lnTo>
                    <a:pt x="305" y="1"/>
                  </a:lnTo>
                  <a:lnTo>
                    <a:pt x="307" y="2"/>
                  </a:lnTo>
                  <a:lnTo>
                    <a:pt x="307" y="4"/>
                  </a:lnTo>
                  <a:lnTo>
                    <a:pt x="307" y="5"/>
                  </a:lnTo>
                  <a:lnTo>
                    <a:pt x="305" y="6"/>
                  </a:lnTo>
                  <a:lnTo>
                    <a:pt x="302" y="7"/>
                  </a:lnTo>
                  <a:lnTo>
                    <a:pt x="300" y="8"/>
                  </a:lnTo>
                  <a:lnTo>
                    <a:pt x="192" y="8"/>
                  </a:lnTo>
                  <a:lnTo>
                    <a:pt x="188" y="7"/>
                  </a:lnTo>
                  <a:lnTo>
                    <a:pt x="187" y="6"/>
                  </a:lnTo>
                  <a:lnTo>
                    <a:pt x="185" y="5"/>
                  </a:lnTo>
                  <a:lnTo>
                    <a:pt x="185" y="4"/>
                  </a:lnTo>
                  <a:lnTo>
                    <a:pt x="185" y="2"/>
                  </a:lnTo>
                  <a:lnTo>
                    <a:pt x="187" y="1"/>
                  </a:lnTo>
                  <a:lnTo>
                    <a:pt x="188" y="0"/>
                  </a:lnTo>
                  <a:lnTo>
                    <a:pt x="192" y="0"/>
                  </a:lnTo>
                  <a:close/>
                  <a:moveTo>
                    <a:pt x="375" y="0"/>
                  </a:moveTo>
                  <a:lnTo>
                    <a:pt x="483" y="0"/>
                  </a:lnTo>
                  <a:lnTo>
                    <a:pt x="486" y="0"/>
                  </a:lnTo>
                  <a:lnTo>
                    <a:pt x="488" y="1"/>
                  </a:lnTo>
                  <a:lnTo>
                    <a:pt x="490" y="2"/>
                  </a:lnTo>
                  <a:lnTo>
                    <a:pt x="490" y="4"/>
                  </a:lnTo>
                  <a:lnTo>
                    <a:pt x="490" y="5"/>
                  </a:lnTo>
                  <a:lnTo>
                    <a:pt x="488" y="6"/>
                  </a:lnTo>
                  <a:lnTo>
                    <a:pt x="486" y="7"/>
                  </a:lnTo>
                  <a:lnTo>
                    <a:pt x="483" y="8"/>
                  </a:lnTo>
                  <a:lnTo>
                    <a:pt x="375" y="8"/>
                  </a:lnTo>
                  <a:lnTo>
                    <a:pt x="373" y="7"/>
                  </a:lnTo>
                  <a:lnTo>
                    <a:pt x="371" y="6"/>
                  </a:lnTo>
                  <a:lnTo>
                    <a:pt x="370" y="5"/>
                  </a:lnTo>
                  <a:lnTo>
                    <a:pt x="368" y="4"/>
                  </a:lnTo>
                  <a:lnTo>
                    <a:pt x="370" y="2"/>
                  </a:lnTo>
                  <a:lnTo>
                    <a:pt x="371" y="1"/>
                  </a:lnTo>
                  <a:lnTo>
                    <a:pt x="373" y="0"/>
                  </a:lnTo>
                  <a:lnTo>
                    <a:pt x="375" y="0"/>
                  </a:lnTo>
                  <a:close/>
                  <a:moveTo>
                    <a:pt x="560" y="0"/>
                  </a:moveTo>
                  <a:lnTo>
                    <a:pt x="668" y="0"/>
                  </a:lnTo>
                  <a:lnTo>
                    <a:pt x="669" y="0"/>
                  </a:lnTo>
                  <a:lnTo>
                    <a:pt x="673" y="1"/>
                  </a:lnTo>
                  <a:lnTo>
                    <a:pt x="675" y="2"/>
                  </a:lnTo>
                  <a:lnTo>
                    <a:pt x="675" y="4"/>
                  </a:lnTo>
                  <a:lnTo>
                    <a:pt x="675" y="5"/>
                  </a:lnTo>
                  <a:lnTo>
                    <a:pt x="673" y="6"/>
                  </a:lnTo>
                  <a:lnTo>
                    <a:pt x="669" y="7"/>
                  </a:lnTo>
                  <a:lnTo>
                    <a:pt x="668" y="8"/>
                  </a:lnTo>
                  <a:lnTo>
                    <a:pt x="560" y="8"/>
                  </a:lnTo>
                  <a:lnTo>
                    <a:pt x="556" y="7"/>
                  </a:lnTo>
                  <a:lnTo>
                    <a:pt x="554" y="6"/>
                  </a:lnTo>
                  <a:lnTo>
                    <a:pt x="552" y="5"/>
                  </a:lnTo>
                  <a:lnTo>
                    <a:pt x="552" y="4"/>
                  </a:lnTo>
                  <a:lnTo>
                    <a:pt x="552" y="2"/>
                  </a:lnTo>
                  <a:lnTo>
                    <a:pt x="554" y="1"/>
                  </a:lnTo>
                  <a:lnTo>
                    <a:pt x="556" y="0"/>
                  </a:lnTo>
                  <a:lnTo>
                    <a:pt x="560" y="0"/>
                  </a:lnTo>
                  <a:close/>
                  <a:moveTo>
                    <a:pt x="745" y="0"/>
                  </a:moveTo>
                  <a:lnTo>
                    <a:pt x="850" y="0"/>
                  </a:lnTo>
                  <a:lnTo>
                    <a:pt x="854" y="0"/>
                  </a:lnTo>
                  <a:lnTo>
                    <a:pt x="856" y="1"/>
                  </a:lnTo>
                  <a:lnTo>
                    <a:pt x="858" y="2"/>
                  </a:lnTo>
                  <a:lnTo>
                    <a:pt x="860" y="4"/>
                  </a:lnTo>
                  <a:lnTo>
                    <a:pt x="858" y="5"/>
                  </a:lnTo>
                  <a:lnTo>
                    <a:pt x="856" y="6"/>
                  </a:lnTo>
                  <a:lnTo>
                    <a:pt x="854" y="7"/>
                  </a:lnTo>
                  <a:lnTo>
                    <a:pt x="850" y="8"/>
                  </a:lnTo>
                  <a:lnTo>
                    <a:pt x="745" y="8"/>
                  </a:lnTo>
                  <a:lnTo>
                    <a:pt x="741" y="7"/>
                  </a:lnTo>
                  <a:lnTo>
                    <a:pt x="739" y="6"/>
                  </a:lnTo>
                  <a:lnTo>
                    <a:pt x="737" y="5"/>
                  </a:lnTo>
                  <a:lnTo>
                    <a:pt x="735" y="4"/>
                  </a:lnTo>
                  <a:lnTo>
                    <a:pt x="737" y="2"/>
                  </a:lnTo>
                  <a:lnTo>
                    <a:pt x="739" y="1"/>
                  </a:lnTo>
                  <a:lnTo>
                    <a:pt x="741" y="0"/>
                  </a:lnTo>
                  <a:lnTo>
                    <a:pt x="745" y="0"/>
                  </a:lnTo>
                  <a:close/>
                  <a:moveTo>
                    <a:pt x="928" y="0"/>
                  </a:moveTo>
                  <a:lnTo>
                    <a:pt x="1035" y="0"/>
                  </a:lnTo>
                  <a:lnTo>
                    <a:pt x="1037" y="0"/>
                  </a:lnTo>
                  <a:lnTo>
                    <a:pt x="1041" y="1"/>
                  </a:lnTo>
                  <a:lnTo>
                    <a:pt x="1043" y="2"/>
                  </a:lnTo>
                  <a:lnTo>
                    <a:pt x="1043" y="4"/>
                  </a:lnTo>
                  <a:lnTo>
                    <a:pt x="1043" y="5"/>
                  </a:lnTo>
                  <a:lnTo>
                    <a:pt x="1041" y="6"/>
                  </a:lnTo>
                  <a:lnTo>
                    <a:pt x="1037" y="7"/>
                  </a:lnTo>
                  <a:lnTo>
                    <a:pt x="1035" y="8"/>
                  </a:lnTo>
                  <a:lnTo>
                    <a:pt x="928" y="8"/>
                  </a:lnTo>
                  <a:lnTo>
                    <a:pt x="924" y="7"/>
                  </a:lnTo>
                  <a:lnTo>
                    <a:pt x="922" y="6"/>
                  </a:lnTo>
                  <a:lnTo>
                    <a:pt x="920" y="5"/>
                  </a:lnTo>
                  <a:lnTo>
                    <a:pt x="920" y="4"/>
                  </a:lnTo>
                  <a:lnTo>
                    <a:pt x="920" y="2"/>
                  </a:lnTo>
                  <a:lnTo>
                    <a:pt x="922" y="1"/>
                  </a:lnTo>
                  <a:lnTo>
                    <a:pt x="924" y="0"/>
                  </a:lnTo>
                  <a:lnTo>
                    <a:pt x="928" y="0"/>
                  </a:lnTo>
                  <a:close/>
                  <a:moveTo>
                    <a:pt x="1113" y="0"/>
                  </a:moveTo>
                  <a:lnTo>
                    <a:pt x="1220" y="0"/>
                  </a:lnTo>
                  <a:lnTo>
                    <a:pt x="1222" y="0"/>
                  </a:lnTo>
                  <a:lnTo>
                    <a:pt x="1224" y="1"/>
                  </a:lnTo>
                  <a:lnTo>
                    <a:pt x="1226" y="2"/>
                  </a:lnTo>
                  <a:lnTo>
                    <a:pt x="1228" y="4"/>
                  </a:lnTo>
                  <a:lnTo>
                    <a:pt x="1226" y="5"/>
                  </a:lnTo>
                  <a:lnTo>
                    <a:pt x="1224" y="6"/>
                  </a:lnTo>
                  <a:lnTo>
                    <a:pt x="1222" y="7"/>
                  </a:lnTo>
                  <a:lnTo>
                    <a:pt x="1220" y="8"/>
                  </a:lnTo>
                  <a:lnTo>
                    <a:pt x="1113" y="8"/>
                  </a:lnTo>
                  <a:lnTo>
                    <a:pt x="1109" y="7"/>
                  </a:lnTo>
                  <a:lnTo>
                    <a:pt x="1107" y="6"/>
                  </a:lnTo>
                  <a:lnTo>
                    <a:pt x="1105" y="5"/>
                  </a:lnTo>
                  <a:lnTo>
                    <a:pt x="1105" y="4"/>
                  </a:lnTo>
                  <a:lnTo>
                    <a:pt x="1105" y="2"/>
                  </a:lnTo>
                  <a:lnTo>
                    <a:pt x="1107" y="1"/>
                  </a:lnTo>
                  <a:lnTo>
                    <a:pt x="1109" y="0"/>
                  </a:lnTo>
                  <a:lnTo>
                    <a:pt x="1113" y="0"/>
                  </a:lnTo>
                  <a:close/>
                  <a:moveTo>
                    <a:pt x="1296" y="0"/>
                  </a:moveTo>
                  <a:lnTo>
                    <a:pt x="1403" y="0"/>
                  </a:lnTo>
                  <a:lnTo>
                    <a:pt x="1407" y="0"/>
                  </a:lnTo>
                  <a:lnTo>
                    <a:pt x="1409" y="1"/>
                  </a:lnTo>
                  <a:lnTo>
                    <a:pt x="1411" y="2"/>
                  </a:lnTo>
                  <a:lnTo>
                    <a:pt x="1411" y="4"/>
                  </a:lnTo>
                  <a:lnTo>
                    <a:pt x="1411" y="5"/>
                  </a:lnTo>
                  <a:lnTo>
                    <a:pt x="1409" y="6"/>
                  </a:lnTo>
                  <a:lnTo>
                    <a:pt x="1407" y="7"/>
                  </a:lnTo>
                  <a:lnTo>
                    <a:pt x="1403" y="8"/>
                  </a:lnTo>
                  <a:lnTo>
                    <a:pt x="1296" y="8"/>
                  </a:lnTo>
                  <a:lnTo>
                    <a:pt x="1294" y="7"/>
                  </a:lnTo>
                  <a:lnTo>
                    <a:pt x="1290" y="6"/>
                  </a:lnTo>
                  <a:lnTo>
                    <a:pt x="1288" y="5"/>
                  </a:lnTo>
                  <a:lnTo>
                    <a:pt x="1288" y="4"/>
                  </a:lnTo>
                  <a:lnTo>
                    <a:pt x="1288" y="2"/>
                  </a:lnTo>
                  <a:lnTo>
                    <a:pt x="1290" y="1"/>
                  </a:lnTo>
                  <a:lnTo>
                    <a:pt x="1294" y="0"/>
                  </a:lnTo>
                  <a:lnTo>
                    <a:pt x="1296" y="0"/>
                  </a:lnTo>
                  <a:close/>
                  <a:moveTo>
                    <a:pt x="1480" y="0"/>
                  </a:moveTo>
                  <a:lnTo>
                    <a:pt x="1588" y="0"/>
                  </a:lnTo>
                  <a:lnTo>
                    <a:pt x="1590" y="0"/>
                  </a:lnTo>
                  <a:lnTo>
                    <a:pt x="1592" y="1"/>
                  </a:lnTo>
                  <a:lnTo>
                    <a:pt x="1594" y="2"/>
                  </a:lnTo>
                  <a:lnTo>
                    <a:pt x="1596" y="4"/>
                  </a:lnTo>
                  <a:lnTo>
                    <a:pt x="1594" y="5"/>
                  </a:lnTo>
                  <a:lnTo>
                    <a:pt x="1592" y="6"/>
                  </a:lnTo>
                  <a:lnTo>
                    <a:pt x="1590" y="7"/>
                  </a:lnTo>
                  <a:lnTo>
                    <a:pt x="1588" y="8"/>
                  </a:lnTo>
                  <a:lnTo>
                    <a:pt x="1480" y="8"/>
                  </a:lnTo>
                  <a:lnTo>
                    <a:pt x="1477" y="7"/>
                  </a:lnTo>
                  <a:lnTo>
                    <a:pt x="1475" y="6"/>
                  </a:lnTo>
                  <a:lnTo>
                    <a:pt x="1473" y="5"/>
                  </a:lnTo>
                  <a:lnTo>
                    <a:pt x="1473" y="4"/>
                  </a:lnTo>
                  <a:lnTo>
                    <a:pt x="1473" y="2"/>
                  </a:lnTo>
                  <a:lnTo>
                    <a:pt x="1475" y="1"/>
                  </a:lnTo>
                  <a:lnTo>
                    <a:pt x="1477" y="0"/>
                  </a:lnTo>
                  <a:lnTo>
                    <a:pt x="1480" y="0"/>
                  </a:lnTo>
                  <a:close/>
                  <a:moveTo>
                    <a:pt x="1663" y="0"/>
                  </a:moveTo>
                  <a:lnTo>
                    <a:pt x="1771" y="0"/>
                  </a:lnTo>
                  <a:lnTo>
                    <a:pt x="1775" y="0"/>
                  </a:lnTo>
                  <a:lnTo>
                    <a:pt x="1777" y="1"/>
                  </a:lnTo>
                  <a:lnTo>
                    <a:pt x="1778" y="2"/>
                  </a:lnTo>
                  <a:lnTo>
                    <a:pt x="1778" y="4"/>
                  </a:lnTo>
                  <a:lnTo>
                    <a:pt x="1778" y="5"/>
                  </a:lnTo>
                  <a:lnTo>
                    <a:pt x="1777" y="6"/>
                  </a:lnTo>
                  <a:lnTo>
                    <a:pt x="1775" y="7"/>
                  </a:lnTo>
                  <a:lnTo>
                    <a:pt x="1771" y="8"/>
                  </a:lnTo>
                  <a:lnTo>
                    <a:pt x="1663" y="8"/>
                  </a:lnTo>
                  <a:lnTo>
                    <a:pt x="1662" y="7"/>
                  </a:lnTo>
                  <a:lnTo>
                    <a:pt x="1658" y="6"/>
                  </a:lnTo>
                  <a:lnTo>
                    <a:pt x="1656" y="5"/>
                  </a:lnTo>
                  <a:lnTo>
                    <a:pt x="1656" y="4"/>
                  </a:lnTo>
                  <a:lnTo>
                    <a:pt x="1656" y="2"/>
                  </a:lnTo>
                  <a:lnTo>
                    <a:pt x="1658" y="1"/>
                  </a:lnTo>
                  <a:lnTo>
                    <a:pt x="1662" y="0"/>
                  </a:lnTo>
                  <a:lnTo>
                    <a:pt x="1663" y="0"/>
                  </a:lnTo>
                  <a:close/>
                  <a:moveTo>
                    <a:pt x="1848" y="0"/>
                  </a:moveTo>
                  <a:lnTo>
                    <a:pt x="1956" y="0"/>
                  </a:lnTo>
                  <a:lnTo>
                    <a:pt x="1958" y="0"/>
                  </a:lnTo>
                  <a:lnTo>
                    <a:pt x="1960" y="1"/>
                  </a:lnTo>
                  <a:lnTo>
                    <a:pt x="1961" y="2"/>
                  </a:lnTo>
                  <a:lnTo>
                    <a:pt x="1963" y="4"/>
                  </a:lnTo>
                  <a:lnTo>
                    <a:pt x="1961" y="5"/>
                  </a:lnTo>
                  <a:lnTo>
                    <a:pt x="1960" y="6"/>
                  </a:lnTo>
                  <a:lnTo>
                    <a:pt x="1958" y="7"/>
                  </a:lnTo>
                  <a:lnTo>
                    <a:pt x="1956" y="8"/>
                  </a:lnTo>
                  <a:lnTo>
                    <a:pt x="1848" y="8"/>
                  </a:lnTo>
                  <a:lnTo>
                    <a:pt x="1844" y="7"/>
                  </a:lnTo>
                  <a:lnTo>
                    <a:pt x="1843" y="6"/>
                  </a:lnTo>
                  <a:lnTo>
                    <a:pt x="1841" y="5"/>
                  </a:lnTo>
                  <a:lnTo>
                    <a:pt x="1841" y="4"/>
                  </a:lnTo>
                  <a:lnTo>
                    <a:pt x="1841" y="2"/>
                  </a:lnTo>
                  <a:lnTo>
                    <a:pt x="1843" y="1"/>
                  </a:lnTo>
                  <a:lnTo>
                    <a:pt x="1844" y="0"/>
                  </a:lnTo>
                  <a:lnTo>
                    <a:pt x="1848" y="0"/>
                  </a:lnTo>
                  <a:close/>
                  <a:moveTo>
                    <a:pt x="2031" y="0"/>
                  </a:moveTo>
                  <a:lnTo>
                    <a:pt x="2139" y="0"/>
                  </a:lnTo>
                  <a:lnTo>
                    <a:pt x="2142" y="0"/>
                  </a:lnTo>
                  <a:lnTo>
                    <a:pt x="2144" y="1"/>
                  </a:lnTo>
                  <a:lnTo>
                    <a:pt x="2146" y="2"/>
                  </a:lnTo>
                  <a:lnTo>
                    <a:pt x="2146" y="4"/>
                  </a:lnTo>
                  <a:lnTo>
                    <a:pt x="2146" y="5"/>
                  </a:lnTo>
                  <a:lnTo>
                    <a:pt x="2144" y="6"/>
                  </a:lnTo>
                  <a:lnTo>
                    <a:pt x="2142" y="7"/>
                  </a:lnTo>
                  <a:lnTo>
                    <a:pt x="2139" y="8"/>
                  </a:lnTo>
                  <a:lnTo>
                    <a:pt x="2031" y="8"/>
                  </a:lnTo>
                  <a:lnTo>
                    <a:pt x="2029" y="7"/>
                  </a:lnTo>
                  <a:lnTo>
                    <a:pt x="2026" y="6"/>
                  </a:lnTo>
                  <a:lnTo>
                    <a:pt x="2024" y="5"/>
                  </a:lnTo>
                  <a:lnTo>
                    <a:pt x="2024" y="4"/>
                  </a:lnTo>
                  <a:lnTo>
                    <a:pt x="2024" y="2"/>
                  </a:lnTo>
                  <a:lnTo>
                    <a:pt x="2026" y="1"/>
                  </a:lnTo>
                  <a:lnTo>
                    <a:pt x="2029" y="0"/>
                  </a:lnTo>
                  <a:lnTo>
                    <a:pt x="2031" y="0"/>
                  </a:lnTo>
                  <a:close/>
                  <a:moveTo>
                    <a:pt x="2216" y="0"/>
                  </a:moveTo>
                  <a:lnTo>
                    <a:pt x="2324" y="0"/>
                  </a:lnTo>
                  <a:lnTo>
                    <a:pt x="2325" y="0"/>
                  </a:lnTo>
                  <a:lnTo>
                    <a:pt x="2329" y="1"/>
                  </a:lnTo>
                  <a:lnTo>
                    <a:pt x="2329" y="2"/>
                  </a:lnTo>
                  <a:lnTo>
                    <a:pt x="2331" y="4"/>
                  </a:lnTo>
                  <a:lnTo>
                    <a:pt x="2329" y="5"/>
                  </a:lnTo>
                  <a:lnTo>
                    <a:pt x="2329" y="6"/>
                  </a:lnTo>
                  <a:lnTo>
                    <a:pt x="2325" y="7"/>
                  </a:lnTo>
                  <a:lnTo>
                    <a:pt x="2324" y="8"/>
                  </a:lnTo>
                  <a:lnTo>
                    <a:pt x="2216" y="8"/>
                  </a:lnTo>
                  <a:lnTo>
                    <a:pt x="2212" y="7"/>
                  </a:lnTo>
                  <a:lnTo>
                    <a:pt x="2210" y="6"/>
                  </a:lnTo>
                  <a:lnTo>
                    <a:pt x="2209" y="5"/>
                  </a:lnTo>
                  <a:lnTo>
                    <a:pt x="2209" y="4"/>
                  </a:lnTo>
                  <a:lnTo>
                    <a:pt x="2209" y="2"/>
                  </a:lnTo>
                  <a:lnTo>
                    <a:pt x="2210" y="1"/>
                  </a:lnTo>
                  <a:lnTo>
                    <a:pt x="2212" y="0"/>
                  </a:lnTo>
                  <a:lnTo>
                    <a:pt x="2216" y="0"/>
                  </a:lnTo>
                  <a:close/>
                  <a:moveTo>
                    <a:pt x="2399" y="0"/>
                  </a:moveTo>
                  <a:lnTo>
                    <a:pt x="2507" y="0"/>
                  </a:lnTo>
                  <a:lnTo>
                    <a:pt x="2510" y="0"/>
                  </a:lnTo>
                  <a:lnTo>
                    <a:pt x="2512" y="1"/>
                  </a:lnTo>
                  <a:lnTo>
                    <a:pt x="2514" y="2"/>
                  </a:lnTo>
                  <a:lnTo>
                    <a:pt x="2514" y="4"/>
                  </a:lnTo>
                  <a:lnTo>
                    <a:pt x="2514" y="5"/>
                  </a:lnTo>
                  <a:lnTo>
                    <a:pt x="2512" y="6"/>
                  </a:lnTo>
                  <a:lnTo>
                    <a:pt x="2510" y="7"/>
                  </a:lnTo>
                  <a:lnTo>
                    <a:pt x="2507" y="8"/>
                  </a:lnTo>
                  <a:lnTo>
                    <a:pt x="2399" y="8"/>
                  </a:lnTo>
                  <a:lnTo>
                    <a:pt x="2397" y="7"/>
                  </a:lnTo>
                  <a:lnTo>
                    <a:pt x="2393" y="6"/>
                  </a:lnTo>
                  <a:lnTo>
                    <a:pt x="2393" y="5"/>
                  </a:lnTo>
                  <a:lnTo>
                    <a:pt x="2391" y="4"/>
                  </a:lnTo>
                  <a:lnTo>
                    <a:pt x="2393" y="2"/>
                  </a:lnTo>
                  <a:lnTo>
                    <a:pt x="2393" y="1"/>
                  </a:lnTo>
                  <a:lnTo>
                    <a:pt x="2397" y="0"/>
                  </a:lnTo>
                  <a:lnTo>
                    <a:pt x="2399" y="0"/>
                  </a:lnTo>
                  <a:close/>
                  <a:moveTo>
                    <a:pt x="2584" y="0"/>
                  </a:moveTo>
                  <a:lnTo>
                    <a:pt x="2691" y="0"/>
                  </a:lnTo>
                  <a:lnTo>
                    <a:pt x="2693" y="0"/>
                  </a:lnTo>
                  <a:lnTo>
                    <a:pt x="2697" y="1"/>
                  </a:lnTo>
                  <a:lnTo>
                    <a:pt x="2699" y="2"/>
                  </a:lnTo>
                  <a:lnTo>
                    <a:pt x="2699" y="4"/>
                  </a:lnTo>
                  <a:lnTo>
                    <a:pt x="2699" y="5"/>
                  </a:lnTo>
                  <a:lnTo>
                    <a:pt x="2697" y="6"/>
                  </a:lnTo>
                  <a:lnTo>
                    <a:pt x="2693" y="7"/>
                  </a:lnTo>
                  <a:lnTo>
                    <a:pt x="2691" y="8"/>
                  </a:lnTo>
                  <a:lnTo>
                    <a:pt x="2584" y="8"/>
                  </a:lnTo>
                  <a:lnTo>
                    <a:pt x="2580" y="7"/>
                  </a:lnTo>
                  <a:lnTo>
                    <a:pt x="2578" y="6"/>
                  </a:lnTo>
                  <a:lnTo>
                    <a:pt x="2576" y="5"/>
                  </a:lnTo>
                  <a:lnTo>
                    <a:pt x="2576" y="4"/>
                  </a:lnTo>
                  <a:lnTo>
                    <a:pt x="2576" y="2"/>
                  </a:lnTo>
                  <a:lnTo>
                    <a:pt x="2578" y="1"/>
                  </a:lnTo>
                  <a:lnTo>
                    <a:pt x="2580" y="0"/>
                  </a:lnTo>
                  <a:lnTo>
                    <a:pt x="2584" y="0"/>
                  </a:lnTo>
                  <a:close/>
                  <a:moveTo>
                    <a:pt x="2767" y="0"/>
                  </a:moveTo>
                  <a:lnTo>
                    <a:pt x="2874" y="0"/>
                  </a:lnTo>
                  <a:lnTo>
                    <a:pt x="2878" y="0"/>
                  </a:lnTo>
                  <a:lnTo>
                    <a:pt x="2880" y="1"/>
                  </a:lnTo>
                  <a:lnTo>
                    <a:pt x="2882" y="2"/>
                  </a:lnTo>
                  <a:lnTo>
                    <a:pt x="2882" y="4"/>
                  </a:lnTo>
                  <a:lnTo>
                    <a:pt x="2882" y="5"/>
                  </a:lnTo>
                  <a:lnTo>
                    <a:pt x="2880" y="6"/>
                  </a:lnTo>
                  <a:lnTo>
                    <a:pt x="2878" y="7"/>
                  </a:lnTo>
                  <a:lnTo>
                    <a:pt x="2874" y="8"/>
                  </a:lnTo>
                  <a:lnTo>
                    <a:pt x="2767" y="8"/>
                  </a:lnTo>
                  <a:lnTo>
                    <a:pt x="2765" y="7"/>
                  </a:lnTo>
                  <a:lnTo>
                    <a:pt x="2763" y="6"/>
                  </a:lnTo>
                  <a:lnTo>
                    <a:pt x="2761" y="5"/>
                  </a:lnTo>
                  <a:lnTo>
                    <a:pt x="2759" y="4"/>
                  </a:lnTo>
                  <a:lnTo>
                    <a:pt x="2761" y="2"/>
                  </a:lnTo>
                  <a:lnTo>
                    <a:pt x="2763" y="1"/>
                  </a:lnTo>
                  <a:lnTo>
                    <a:pt x="2765" y="0"/>
                  </a:lnTo>
                  <a:lnTo>
                    <a:pt x="2767" y="0"/>
                  </a:lnTo>
                  <a:close/>
                  <a:moveTo>
                    <a:pt x="2952" y="0"/>
                  </a:moveTo>
                  <a:lnTo>
                    <a:pt x="3059" y="0"/>
                  </a:lnTo>
                  <a:lnTo>
                    <a:pt x="3061" y="0"/>
                  </a:lnTo>
                  <a:lnTo>
                    <a:pt x="3065" y="1"/>
                  </a:lnTo>
                  <a:lnTo>
                    <a:pt x="3067" y="2"/>
                  </a:lnTo>
                  <a:lnTo>
                    <a:pt x="3067" y="4"/>
                  </a:lnTo>
                  <a:lnTo>
                    <a:pt x="3067" y="5"/>
                  </a:lnTo>
                  <a:lnTo>
                    <a:pt x="3065" y="6"/>
                  </a:lnTo>
                  <a:lnTo>
                    <a:pt x="3061" y="7"/>
                  </a:lnTo>
                  <a:lnTo>
                    <a:pt x="3059" y="8"/>
                  </a:lnTo>
                  <a:lnTo>
                    <a:pt x="2952" y="8"/>
                  </a:lnTo>
                  <a:lnTo>
                    <a:pt x="2948" y="7"/>
                  </a:lnTo>
                  <a:lnTo>
                    <a:pt x="2946" y="6"/>
                  </a:lnTo>
                  <a:lnTo>
                    <a:pt x="2944" y="5"/>
                  </a:lnTo>
                  <a:lnTo>
                    <a:pt x="2944" y="4"/>
                  </a:lnTo>
                  <a:lnTo>
                    <a:pt x="2944" y="2"/>
                  </a:lnTo>
                  <a:lnTo>
                    <a:pt x="2946" y="1"/>
                  </a:lnTo>
                  <a:lnTo>
                    <a:pt x="2948" y="0"/>
                  </a:lnTo>
                  <a:lnTo>
                    <a:pt x="2952" y="0"/>
                  </a:lnTo>
                  <a:close/>
                  <a:moveTo>
                    <a:pt x="3137" y="0"/>
                  </a:moveTo>
                  <a:lnTo>
                    <a:pt x="3242" y="0"/>
                  </a:lnTo>
                  <a:lnTo>
                    <a:pt x="3246" y="0"/>
                  </a:lnTo>
                  <a:lnTo>
                    <a:pt x="3248" y="1"/>
                  </a:lnTo>
                  <a:lnTo>
                    <a:pt x="3250" y="2"/>
                  </a:lnTo>
                  <a:lnTo>
                    <a:pt x="3250" y="4"/>
                  </a:lnTo>
                  <a:lnTo>
                    <a:pt x="3250" y="5"/>
                  </a:lnTo>
                  <a:lnTo>
                    <a:pt x="3248" y="6"/>
                  </a:lnTo>
                  <a:lnTo>
                    <a:pt x="3246" y="7"/>
                  </a:lnTo>
                  <a:lnTo>
                    <a:pt x="3242" y="8"/>
                  </a:lnTo>
                  <a:lnTo>
                    <a:pt x="3137" y="8"/>
                  </a:lnTo>
                  <a:lnTo>
                    <a:pt x="3133" y="7"/>
                  </a:lnTo>
                  <a:lnTo>
                    <a:pt x="3131" y="6"/>
                  </a:lnTo>
                  <a:lnTo>
                    <a:pt x="3129" y="5"/>
                  </a:lnTo>
                  <a:lnTo>
                    <a:pt x="3127" y="4"/>
                  </a:lnTo>
                  <a:lnTo>
                    <a:pt x="3129" y="2"/>
                  </a:lnTo>
                  <a:lnTo>
                    <a:pt x="3131" y="1"/>
                  </a:lnTo>
                  <a:lnTo>
                    <a:pt x="3133" y="0"/>
                  </a:lnTo>
                  <a:lnTo>
                    <a:pt x="3137" y="0"/>
                  </a:lnTo>
                  <a:close/>
                  <a:moveTo>
                    <a:pt x="3319" y="0"/>
                  </a:moveTo>
                  <a:lnTo>
                    <a:pt x="3427" y="0"/>
                  </a:lnTo>
                  <a:lnTo>
                    <a:pt x="3429" y="0"/>
                  </a:lnTo>
                  <a:lnTo>
                    <a:pt x="3433" y="1"/>
                  </a:lnTo>
                  <a:lnTo>
                    <a:pt x="3435" y="2"/>
                  </a:lnTo>
                  <a:lnTo>
                    <a:pt x="3435" y="4"/>
                  </a:lnTo>
                  <a:lnTo>
                    <a:pt x="3435" y="5"/>
                  </a:lnTo>
                  <a:lnTo>
                    <a:pt x="3433" y="6"/>
                  </a:lnTo>
                  <a:lnTo>
                    <a:pt x="3429" y="7"/>
                  </a:lnTo>
                  <a:lnTo>
                    <a:pt x="3427" y="8"/>
                  </a:lnTo>
                  <a:lnTo>
                    <a:pt x="3319" y="8"/>
                  </a:lnTo>
                  <a:lnTo>
                    <a:pt x="3316" y="7"/>
                  </a:lnTo>
                  <a:lnTo>
                    <a:pt x="3314" y="6"/>
                  </a:lnTo>
                  <a:lnTo>
                    <a:pt x="3312" y="5"/>
                  </a:lnTo>
                  <a:lnTo>
                    <a:pt x="3312" y="4"/>
                  </a:lnTo>
                  <a:lnTo>
                    <a:pt x="3312" y="2"/>
                  </a:lnTo>
                  <a:lnTo>
                    <a:pt x="3314" y="1"/>
                  </a:lnTo>
                  <a:lnTo>
                    <a:pt x="3316" y="0"/>
                  </a:lnTo>
                  <a:lnTo>
                    <a:pt x="3319" y="0"/>
                  </a:lnTo>
                  <a:close/>
                  <a:moveTo>
                    <a:pt x="3504" y="0"/>
                  </a:moveTo>
                  <a:lnTo>
                    <a:pt x="3610" y="0"/>
                  </a:lnTo>
                  <a:lnTo>
                    <a:pt x="3614" y="0"/>
                  </a:lnTo>
                  <a:lnTo>
                    <a:pt x="3616" y="1"/>
                  </a:lnTo>
                  <a:lnTo>
                    <a:pt x="3617" y="2"/>
                  </a:lnTo>
                  <a:lnTo>
                    <a:pt x="3619" y="4"/>
                  </a:lnTo>
                  <a:lnTo>
                    <a:pt x="3617" y="5"/>
                  </a:lnTo>
                  <a:lnTo>
                    <a:pt x="3616" y="6"/>
                  </a:lnTo>
                  <a:lnTo>
                    <a:pt x="3614" y="7"/>
                  </a:lnTo>
                  <a:lnTo>
                    <a:pt x="3610" y="8"/>
                  </a:lnTo>
                  <a:lnTo>
                    <a:pt x="3504" y="8"/>
                  </a:lnTo>
                  <a:lnTo>
                    <a:pt x="3501" y="7"/>
                  </a:lnTo>
                  <a:lnTo>
                    <a:pt x="3499" y="6"/>
                  </a:lnTo>
                  <a:lnTo>
                    <a:pt x="3497" y="5"/>
                  </a:lnTo>
                  <a:lnTo>
                    <a:pt x="3497" y="4"/>
                  </a:lnTo>
                  <a:lnTo>
                    <a:pt x="3497" y="2"/>
                  </a:lnTo>
                  <a:lnTo>
                    <a:pt x="3499" y="1"/>
                  </a:lnTo>
                  <a:lnTo>
                    <a:pt x="3501" y="0"/>
                  </a:lnTo>
                  <a:lnTo>
                    <a:pt x="3504" y="0"/>
                  </a:lnTo>
                  <a:close/>
                  <a:moveTo>
                    <a:pt x="3687" y="0"/>
                  </a:moveTo>
                  <a:lnTo>
                    <a:pt x="3795" y="0"/>
                  </a:lnTo>
                  <a:lnTo>
                    <a:pt x="3799" y="0"/>
                  </a:lnTo>
                  <a:lnTo>
                    <a:pt x="3800" y="1"/>
                  </a:lnTo>
                  <a:lnTo>
                    <a:pt x="3802" y="2"/>
                  </a:lnTo>
                  <a:lnTo>
                    <a:pt x="3802" y="4"/>
                  </a:lnTo>
                  <a:lnTo>
                    <a:pt x="3802" y="5"/>
                  </a:lnTo>
                  <a:lnTo>
                    <a:pt x="3800" y="6"/>
                  </a:lnTo>
                  <a:lnTo>
                    <a:pt x="3799" y="7"/>
                  </a:lnTo>
                  <a:lnTo>
                    <a:pt x="3795" y="8"/>
                  </a:lnTo>
                  <a:lnTo>
                    <a:pt x="3687" y="8"/>
                  </a:lnTo>
                  <a:lnTo>
                    <a:pt x="3685" y="7"/>
                  </a:lnTo>
                  <a:lnTo>
                    <a:pt x="3682" y="6"/>
                  </a:lnTo>
                  <a:lnTo>
                    <a:pt x="3680" y="5"/>
                  </a:lnTo>
                  <a:lnTo>
                    <a:pt x="3680" y="4"/>
                  </a:lnTo>
                  <a:lnTo>
                    <a:pt x="3680" y="2"/>
                  </a:lnTo>
                  <a:lnTo>
                    <a:pt x="3682" y="1"/>
                  </a:lnTo>
                  <a:lnTo>
                    <a:pt x="3685" y="0"/>
                  </a:lnTo>
                  <a:lnTo>
                    <a:pt x="3687" y="0"/>
                  </a:lnTo>
                  <a:close/>
                  <a:moveTo>
                    <a:pt x="3872" y="0"/>
                  </a:moveTo>
                  <a:lnTo>
                    <a:pt x="3953" y="0"/>
                  </a:lnTo>
                  <a:lnTo>
                    <a:pt x="3957" y="0"/>
                  </a:lnTo>
                  <a:lnTo>
                    <a:pt x="3959" y="1"/>
                  </a:lnTo>
                  <a:lnTo>
                    <a:pt x="3961" y="2"/>
                  </a:lnTo>
                  <a:lnTo>
                    <a:pt x="3961" y="4"/>
                  </a:lnTo>
                  <a:lnTo>
                    <a:pt x="3961" y="5"/>
                  </a:lnTo>
                  <a:lnTo>
                    <a:pt x="3959" y="6"/>
                  </a:lnTo>
                  <a:lnTo>
                    <a:pt x="3957" y="7"/>
                  </a:lnTo>
                  <a:lnTo>
                    <a:pt x="3953" y="8"/>
                  </a:lnTo>
                  <a:lnTo>
                    <a:pt x="3872" y="8"/>
                  </a:lnTo>
                  <a:lnTo>
                    <a:pt x="3868" y="7"/>
                  </a:lnTo>
                  <a:lnTo>
                    <a:pt x="3866" y="6"/>
                  </a:lnTo>
                  <a:lnTo>
                    <a:pt x="3865" y="5"/>
                  </a:lnTo>
                  <a:lnTo>
                    <a:pt x="3865" y="4"/>
                  </a:lnTo>
                  <a:lnTo>
                    <a:pt x="3865" y="2"/>
                  </a:lnTo>
                  <a:lnTo>
                    <a:pt x="3866" y="1"/>
                  </a:lnTo>
                  <a:lnTo>
                    <a:pt x="3868" y="0"/>
                  </a:lnTo>
                  <a:lnTo>
                    <a:pt x="3872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9" name="Rectangle 222"/>
            <p:cNvSpPr>
              <a:spLocks noChangeArrowheads="1"/>
            </p:cNvSpPr>
            <p:nvPr/>
          </p:nvSpPr>
          <p:spPr bwMode="auto">
            <a:xfrm>
              <a:off x="4490" y="3646"/>
              <a:ext cx="13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宋体" pitchFamily="2" charset="-122"/>
                </a:rPr>
                <a:t>I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宋体" pitchFamily="2" charset="-122"/>
                </a:rPr>
                <a:t>o</a:t>
              </a:r>
            </a:p>
          </p:txBody>
        </p:sp>
        <p:sp>
          <p:nvSpPr>
            <p:cNvPr id="280" name="Line 223"/>
            <p:cNvSpPr>
              <a:spLocks noChangeShapeType="1"/>
            </p:cNvSpPr>
            <p:nvPr/>
          </p:nvSpPr>
          <p:spPr bwMode="auto">
            <a:xfrm>
              <a:off x="4577" y="2632"/>
              <a:ext cx="1" cy="23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1" name="Line 224"/>
            <p:cNvSpPr>
              <a:spLocks noChangeShapeType="1"/>
            </p:cNvSpPr>
            <p:nvPr/>
          </p:nvSpPr>
          <p:spPr bwMode="auto">
            <a:xfrm>
              <a:off x="5111" y="2632"/>
              <a:ext cx="1" cy="23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Line 225"/>
            <p:cNvSpPr>
              <a:spLocks noChangeShapeType="1"/>
            </p:cNvSpPr>
            <p:nvPr/>
          </p:nvSpPr>
          <p:spPr bwMode="auto">
            <a:xfrm flipV="1">
              <a:off x="3937" y="2631"/>
              <a:ext cx="1" cy="17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" name="Freeform 226"/>
            <p:cNvSpPr>
              <a:spLocks/>
            </p:cNvSpPr>
            <p:nvPr/>
          </p:nvSpPr>
          <p:spPr bwMode="auto">
            <a:xfrm>
              <a:off x="3903" y="2791"/>
              <a:ext cx="68" cy="75"/>
            </a:xfrm>
            <a:custGeom>
              <a:avLst/>
              <a:gdLst>
                <a:gd name="T0" fmla="*/ 0 w 138"/>
                <a:gd name="T1" fmla="*/ 75 h 75"/>
                <a:gd name="T2" fmla="*/ 0 w 138"/>
                <a:gd name="T3" fmla="*/ 0 h 75"/>
                <a:gd name="T4" fmla="*/ 0 w 138"/>
                <a:gd name="T5" fmla="*/ 2 h 75"/>
                <a:gd name="T6" fmla="*/ 0 w 138"/>
                <a:gd name="T7" fmla="*/ 4 h 75"/>
                <a:gd name="T8" fmla="*/ 0 w 138"/>
                <a:gd name="T9" fmla="*/ 5 h 75"/>
                <a:gd name="T10" fmla="*/ 0 w 138"/>
                <a:gd name="T11" fmla="*/ 6 h 75"/>
                <a:gd name="T12" fmla="*/ 0 w 138"/>
                <a:gd name="T13" fmla="*/ 7 h 75"/>
                <a:gd name="T14" fmla="*/ 0 w 138"/>
                <a:gd name="T15" fmla="*/ 8 h 75"/>
                <a:gd name="T16" fmla="*/ 0 w 138"/>
                <a:gd name="T17" fmla="*/ 8 h 75"/>
                <a:gd name="T18" fmla="*/ 0 w 138"/>
                <a:gd name="T19" fmla="*/ 9 h 75"/>
                <a:gd name="T20" fmla="*/ 0 w 138"/>
                <a:gd name="T21" fmla="*/ 8 h 75"/>
                <a:gd name="T22" fmla="*/ 0 w 138"/>
                <a:gd name="T23" fmla="*/ 8 h 75"/>
                <a:gd name="T24" fmla="*/ 0 w 138"/>
                <a:gd name="T25" fmla="*/ 7 h 75"/>
                <a:gd name="T26" fmla="*/ 0 w 138"/>
                <a:gd name="T27" fmla="*/ 6 h 75"/>
                <a:gd name="T28" fmla="*/ 0 w 138"/>
                <a:gd name="T29" fmla="*/ 5 h 75"/>
                <a:gd name="T30" fmla="*/ 0 w 138"/>
                <a:gd name="T31" fmla="*/ 4 h 75"/>
                <a:gd name="T32" fmla="*/ 0 w 138"/>
                <a:gd name="T33" fmla="*/ 2 h 75"/>
                <a:gd name="T34" fmla="*/ 0 w 138"/>
                <a:gd name="T35" fmla="*/ 0 h 75"/>
                <a:gd name="T36" fmla="*/ 0 w 138"/>
                <a:gd name="T37" fmla="*/ 75 h 75"/>
                <a:gd name="T38" fmla="*/ 0 w 138"/>
                <a:gd name="T39" fmla="*/ 75 h 7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38"/>
                <a:gd name="T61" fmla="*/ 0 h 75"/>
                <a:gd name="T62" fmla="*/ 138 w 138"/>
                <a:gd name="T63" fmla="*/ 75 h 7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38" h="75">
                  <a:moveTo>
                    <a:pt x="70" y="75"/>
                  </a:moveTo>
                  <a:lnTo>
                    <a:pt x="0" y="0"/>
                  </a:lnTo>
                  <a:lnTo>
                    <a:pt x="10" y="2"/>
                  </a:lnTo>
                  <a:lnTo>
                    <a:pt x="17" y="4"/>
                  </a:lnTo>
                  <a:lnTo>
                    <a:pt x="25" y="5"/>
                  </a:lnTo>
                  <a:lnTo>
                    <a:pt x="34" y="6"/>
                  </a:lnTo>
                  <a:lnTo>
                    <a:pt x="44" y="7"/>
                  </a:lnTo>
                  <a:lnTo>
                    <a:pt x="51" y="8"/>
                  </a:lnTo>
                  <a:lnTo>
                    <a:pt x="60" y="8"/>
                  </a:lnTo>
                  <a:lnTo>
                    <a:pt x="70" y="9"/>
                  </a:lnTo>
                  <a:lnTo>
                    <a:pt x="77" y="8"/>
                  </a:lnTo>
                  <a:lnTo>
                    <a:pt x="87" y="8"/>
                  </a:lnTo>
                  <a:lnTo>
                    <a:pt x="96" y="7"/>
                  </a:lnTo>
                  <a:lnTo>
                    <a:pt x="104" y="6"/>
                  </a:lnTo>
                  <a:lnTo>
                    <a:pt x="113" y="5"/>
                  </a:lnTo>
                  <a:lnTo>
                    <a:pt x="121" y="4"/>
                  </a:lnTo>
                  <a:lnTo>
                    <a:pt x="130" y="2"/>
                  </a:lnTo>
                  <a:lnTo>
                    <a:pt x="138" y="0"/>
                  </a:lnTo>
                  <a:lnTo>
                    <a:pt x="70" y="7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4" name="Freeform 227"/>
            <p:cNvSpPr>
              <a:spLocks/>
            </p:cNvSpPr>
            <p:nvPr/>
          </p:nvSpPr>
          <p:spPr bwMode="auto">
            <a:xfrm>
              <a:off x="3903" y="2573"/>
              <a:ext cx="68" cy="77"/>
            </a:xfrm>
            <a:custGeom>
              <a:avLst/>
              <a:gdLst>
                <a:gd name="T0" fmla="*/ 0 w 138"/>
                <a:gd name="T1" fmla="*/ 0 h 77"/>
                <a:gd name="T2" fmla="*/ 0 w 138"/>
                <a:gd name="T3" fmla="*/ 77 h 77"/>
                <a:gd name="T4" fmla="*/ 0 w 138"/>
                <a:gd name="T5" fmla="*/ 75 h 77"/>
                <a:gd name="T6" fmla="*/ 0 w 138"/>
                <a:gd name="T7" fmla="*/ 73 h 77"/>
                <a:gd name="T8" fmla="*/ 0 w 138"/>
                <a:gd name="T9" fmla="*/ 71 h 77"/>
                <a:gd name="T10" fmla="*/ 0 w 138"/>
                <a:gd name="T11" fmla="*/ 70 h 77"/>
                <a:gd name="T12" fmla="*/ 0 w 138"/>
                <a:gd name="T13" fmla="*/ 69 h 77"/>
                <a:gd name="T14" fmla="*/ 0 w 138"/>
                <a:gd name="T15" fmla="*/ 69 h 77"/>
                <a:gd name="T16" fmla="*/ 0 w 138"/>
                <a:gd name="T17" fmla="*/ 68 h 77"/>
                <a:gd name="T18" fmla="*/ 0 w 138"/>
                <a:gd name="T19" fmla="*/ 68 h 77"/>
                <a:gd name="T20" fmla="*/ 0 w 138"/>
                <a:gd name="T21" fmla="*/ 68 h 77"/>
                <a:gd name="T22" fmla="*/ 0 w 138"/>
                <a:gd name="T23" fmla="*/ 69 h 77"/>
                <a:gd name="T24" fmla="*/ 0 w 138"/>
                <a:gd name="T25" fmla="*/ 69 h 77"/>
                <a:gd name="T26" fmla="*/ 0 w 138"/>
                <a:gd name="T27" fmla="*/ 70 h 77"/>
                <a:gd name="T28" fmla="*/ 0 w 138"/>
                <a:gd name="T29" fmla="*/ 71 h 77"/>
                <a:gd name="T30" fmla="*/ 0 w 138"/>
                <a:gd name="T31" fmla="*/ 73 h 77"/>
                <a:gd name="T32" fmla="*/ 0 w 138"/>
                <a:gd name="T33" fmla="*/ 75 h 77"/>
                <a:gd name="T34" fmla="*/ 0 w 138"/>
                <a:gd name="T35" fmla="*/ 77 h 77"/>
                <a:gd name="T36" fmla="*/ 0 w 138"/>
                <a:gd name="T37" fmla="*/ 77 h 77"/>
                <a:gd name="T38" fmla="*/ 0 w 138"/>
                <a:gd name="T39" fmla="*/ 0 h 77"/>
                <a:gd name="T40" fmla="*/ 0 w 138"/>
                <a:gd name="T41" fmla="*/ 0 h 7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38"/>
                <a:gd name="T64" fmla="*/ 0 h 77"/>
                <a:gd name="T65" fmla="*/ 138 w 138"/>
                <a:gd name="T66" fmla="*/ 77 h 7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38" h="77">
                  <a:moveTo>
                    <a:pt x="70" y="0"/>
                  </a:moveTo>
                  <a:lnTo>
                    <a:pt x="138" y="77"/>
                  </a:lnTo>
                  <a:lnTo>
                    <a:pt x="130" y="75"/>
                  </a:lnTo>
                  <a:lnTo>
                    <a:pt x="121" y="73"/>
                  </a:lnTo>
                  <a:lnTo>
                    <a:pt x="113" y="71"/>
                  </a:lnTo>
                  <a:lnTo>
                    <a:pt x="104" y="70"/>
                  </a:lnTo>
                  <a:lnTo>
                    <a:pt x="96" y="69"/>
                  </a:lnTo>
                  <a:lnTo>
                    <a:pt x="87" y="69"/>
                  </a:lnTo>
                  <a:lnTo>
                    <a:pt x="77" y="68"/>
                  </a:lnTo>
                  <a:lnTo>
                    <a:pt x="70" y="68"/>
                  </a:lnTo>
                  <a:lnTo>
                    <a:pt x="60" y="68"/>
                  </a:lnTo>
                  <a:lnTo>
                    <a:pt x="51" y="69"/>
                  </a:lnTo>
                  <a:lnTo>
                    <a:pt x="44" y="69"/>
                  </a:lnTo>
                  <a:lnTo>
                    <a:pt x="34" y="70"/>
                  </a:lnTo>
                  <a:lnTo>
                    <a:pt x="25" y="71"/>
                  </a:lnTo>
                  <a:lnTo>
                    <a:pt x="17" y="73"/>
                  </a:lnTo>
                  <a:lnTo>
                    <a:pt x="10" y="75"/>
                  </a:lnTo>
                  <a:lnTo>
                    <a:pt x="0" y="77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5" name="Rectangle 228"/>
            <p:cNvSpPr>
              <a:spLocks noChangeArrowheads="1"/>
            </p:cNvSpPr>
            <p:nvPr/>
          </p:nvSpPr>
          <p:spPr bwMode="auto">
            <a:xfrm>
              <a:off x="3991" y="2648"/>
              <a:ext cx="135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</p:txBody>
        </p:sp>
        <p:sp>
          <p:nvSpPr>
            <p:cNvPr id="286" name="Rectangle 229"/>
            <p:cNvSpPr>
              <a:spLocks noChangeArrowheads="1"/>
            </p:cNvSpPr>
            <p:nvPr/>
          </p:nvSpPr>
          <p:spPr bwMode="auto">
            <a:xfrm>
              <a:off x="4396" y="3994"/>
              <a:ext cx="19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宋体" pitchFamily="2" charset="-122"/>
                </a:rPr>
                <a:t>(b)</a:t>
              </a:r>
              <a:endParaRPr lang="en-US" altLang="zh-CN" sz="1600"/>
            </a:p>
          </p:txBody>
        </p:sp>
        <p:sp>
          <p:nvSpPr>
            <p:cNvPr id="287" name="Line 230"/>
            <p:cNvSpPr>
              <a:spLocks noChangeShapeType="1"/>
            </p:cNvSpPr>
            <p:nvPr/>
          </p:nvSpPr>
          <p:spPr bwMode="auto">
            <a:xfrm flipV="1">
              <a:off x="4445" y="3555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Line 231"/>
            <p:cNvSpPr>
              <a:spLocks noChangeShapeType="1"/>
            </p:cNvSpPr>
            <p:nvPr/>
          </p:nvSpPr>
          <p:spPr bwMode="auto">
            <a:xfrm>
              <a:off x="4445" y="3737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Line 232"/>
            <p:cNvSpPr>
              <a:spLocks noChangeShapeType="1"/>
            </p:cNvSpPr>
            <p:nvPr/>
          </p:nvSpPr>
          <p:spPr bwMode="auto">
            <a:xfrm flipV="1">
              <a:off x="3401" y="3329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0" name="Line 233"/>
            <p:cNvSpPr>
              <a:spLocks noChangeShapeType="1"/>
            </p:cNvSpPr>
            <p:nvPr/>
          </p:nvSpPr>
          <p:spPr bwMode="auto">
            <a:xfrm flipV="1">
              <a:off x="3487" y="2406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Line 234"/>
            <p:cNvSpPr>
              <a:spLocks noChangeShapeType="1"/>
            </p:cNvSpPr>
            <p:nvPr/>
          </p:nvSpPr>
          <p:spPr bwMode="auto">
            <a:xfrm>
              <a:off x="3487" y="263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2" name="Line 235"/>
            <p:cNvSpPr>
              <a:spLocks noChangeShapeType="1"/>
            </p:cNvSpPr>
            <p:nvPr/>
          </p:nvSpPr>
          <p:spPr bwMode="auto">
            <a:xfrm flipH="1">
              <a:off x="3578" y="2315"/>
              <a:ext cx="181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3" name="Freeform 236"/>
            <p:cNvSpPr>
              <a:spLocks/>
            </p:cNvSpPr>
            <p:nvPr/>
          </p:nvSpPr>
          <p:spPr bwMode="auto">
            <a:xfrm>
              <a:off x="4306" y="1298"/>
              <a:ext cx="33" cy="210"/>
            </a:xfrm>
            <a:custGeom>
              <a:avLst/>
              <a:gdLst>
                <a:gd name="T0" fmla="*/ 1 w 65"/>
                <a:gd name="T1" fmla="*/ 0 h 420"/>
                <a:gd name="T2" fmla="*/ 1 w 65"/>
                <a:gd name="T3" fmla="*/ 1 h 420"/>
                <a:gd name="T4" fmla="*/ 1 w 65"/>
                <a:gd name="T5" fmla="*/ 1 h 420"/>
                <a:gd name="T6" fmla="*/ 1 w 65"/>
                <a:gd name="T7" fmla="*/ 1 h 420"/>
                <a:gd name="T8" fmla="*/ 1 w 65"/>
                <a:gd name="T9" fmla="*/ 1 h 420"/>
                <a:gd name="T10" fmla="*/ 1 w 65"/>
                <a:gd name="T11" fmla="*/ 1 h 420"/>
                <a:gd name="T12" fmla="*/ 1 w 65"/>
                <a:gd name="T13" fmla="*/ 1 h 420"/>
                <a:gd name="T14" fmla="*/ 1 w 65"/>
                <a:gd name="T15" fmla="*/ 1 h 420"/>
                <a:gd name="T16" fmla="*/ 1 w 65"/>
                <a:gd name="T17" fmla="*/ 1 h 420"/>
                <a:gd name="T18" fmla="*/ 1 w 65"/>
                <a:gd name="T19" fmla="*/ 1 h 420"/>
                <a:gd name="T20" fmla="*/ 1 w 65"/>
                <a:gd name="T21" fmla="*/ 1 h 420"/>
                <a:gd name="T22" fmla="*/ 1 w 65"/>
                <a:gd name="T23" fmla="*/ 1 h 420"/>
                <a:gd name="T24" fmla="*/ 1 w 65"/>
                <a:gd name="T25" fmla="*/ 1 h 420"/>
                <a:gd name="T26" fmla="*/ 1 w 65"/>
                <a:gd name="T27" fmla="*/ 1 h 420"/>
                <a:gd name="T28" fmla="*/ 1 w 65"/>
                <a:gd name="T29" fmla="*/ 1 h 420"/>
                <a:gd name="T30" fmla="*/ 0 w 65"/>
                <a:gd name="T31" fmla="*/ 1 h 420"/>
                <a:gd name="T32" fmla="*/ 1 w 65"/>
                <a:gd name="T33" fmla="*/ 1 h 420"/>
                <a:gd name="T34" fmla="*/ 1 w 65"/>
                <a:gd name="T35" fmla="*/ 1 h 420"/>
                <a:gd name="T36" fmla="*/ 1 w 65"/>
                <a:gd name="T37" fmla="*/ 1 h 420"/>
                <a:gd name="T38" fmla="*/ 1 w 65"/>
                <a:gd name="T39" fmla="*/ 1 h 420"/>
                <a:gd name="T40" fmla="*/ 1 w 65"/>
                <a:gd name="T41" fmla="*/ 1 h 420"/>
                <a:gd name="T42" fmla="*/ 1 w 65"/>
                <a:gd name="T43" fmla="*/ 1 h 420"/>
                <a:gd name="T44" fmla="*/ 1 w 65"/>
                <a:gd name="T45" fmla="*/ 1 h 420"/>
                <a:gd name="T46" fmla="*/ 1 w 65"/>
                <a:gd name="T47" fmla="*/ 1 h 420"/>
                <a:gd name="T48" fmla="*/ 1 w 65"/>
                <a:gd name="T49" fmla="*/ 1 h 420"/>
                <a:gd name="T50" fmla="*/ 1 w 65"/>
                <a:gd name="T51" fmla="*/ 1 h 420"/>
                <a:gd name="T52" fmla="*/ 1 w 65"/>
                <a:gd name="T53" fmla="*/ 1 h 420"/>
                <a:gd name="T54" fmla="*/ 1 w 65"/>
                <a:gd name="T55" fmla="*/ 1 h 420"/>
                <a:gd name="T56" fmla="*/ 1 w 65"/>
                <a:gd name="T57" fmla="*/ 1 h 420"/>
                <a:gd name="T58" fmla="*/ 1 w 65"/>
                <a:gd name="T59" fmla="*/ 1 h 420"/>
                <a:gd name="T60" fmla="*/ 1 w 65"/>
                <a:gd name="T61" fmla="*/ 1 h 420"/>
                <a:gd name="T62" fmla="*/ 1 w 65"/>
                <a:gd name="T63" fmla="*/ 1 h 420"/>
                <a:gd name="T64" fmla="*/ 1 w 65"/>
                <a:gd name="T65" fmla="*/ 1 h 420"/>
                <a:gd name="T66" fmla="*/ 1 w 65"/>
                <a:gd name="T67" fmla="*/ 1 h 420"/>
                <a:gd name="T68" fmla="*/ 1 w 65"/>
                <a:gd name="T69" fmla="*/ 1 h 420"/>
                <a:gd name="T70" fmla="*/ 1 w 65"/>
                <a:gd name="T71" fmla="*/ 1 h 420"/>
                <a:gd name="T72" fmla="*/ 1 w 65"/>
                <a:gd name="T73" fmla="*/ 1 h 420"/>
                <a:gd name="T74" fmla="*/ 1 w 65"/>
                <a:gd name="T75" fmla="*/ 1 h 420"/>
                <a:gd name="T76" fmla="*/ 1 w 65"/>
                <a:gd name="T77" fmla="*/ 2 h 420"/>
                <a:gd name="T78" fmla="*/ 1 w 65"/>
                <a:gd name="T79" fmla="*/ 2 h 420"/>
                <a:gd name="T80" fmla="*/ 1 w 65"/>
                <a:gd name="T81" fmla="*/ 2 h 420"/>
                <a:gd name="T82" fmla="*/ 1 w 65"/>
                <a:gd name="T83" fmla="*/ 2 h 420"/>
                <a:gd name="T84" fmla="*/ 1 w 65"/>
                <a:gd name="T85" fmla="*/ 2 h 420"/>
                <a:gd name="T86" fmla="*/ 1 w 65"/>
                <a:gd name="T87" fmla="*/ 2 h 420"/>
                <a:gd name="T88" fmla="*/ 1 w 65"/>
                <a:gd name="T89" fmla="*/ 2 h 420"/>
                <a:gd name="T90" fmla="*/ 1 w 65"/>
                <a:gd name="T91" fmla="*/ 2 h 420"/>
                <a:gd name="T92" fmla="*/ 0 w 65"/>
                <a:gd name="T93" fmla="*/ 2 h 420"/>
                <a:gd name="T94" fmla="*/ 1 w 65"/>
                <a:gd name="T95" fmla="*/ 2 h 420"/>
                <a:gd name="T96" fmla="*/ 1 w 65"/>
                <a:gd name="T97" fmla="*/ 2 h 420"/>
                <a:gd name="T98" fmla="*/ 1 w 65"/>
                <a:gd name="T99" fmla="*/ 2 h 420"/>
                <a:gd name="T100" fmla="*/ 1 w 65"/>
                <a:gd name="T101" fmla="*/ 2 h 420"/>
                <a:gd name="T102" fmla="*/ 1 w 65"/>
                <a:gd name="T103" fmla="*/ 2 h 420"/>
                <a:gd name="T104" fmla="*/ 1 w 65"/>
                <a:gd name="T105" fmla="*/ 2 h 420"/>
                <a:gd name="T106" fmla="*/ 1 w 65"/>
                <a:gd name="T107" fmla="*/ 2 h 420"/>
                <a:gd name="T108" fmla="*/ 1 w 65"/>
                <a:gd name="T109" fmla="*/ 2 h 420"/>
                <a:gd name="T110" fmla="*/ 1 w 65"/>
                <a:gd name="T111" fmla="*/ 2 h 420"/>
                <a:gd name="T112" fmla="*/ 1 w 65"/>
                <a:gd name="T113" fmla="*/ 2 h 420"/>
                <a:gd name="T114" fmla="*/ 1 w 65"/>
                <a:gd name="T115" fmla="*/ 2 h 420"/>
                <a:gd name="T116" fmla="*/ 1 w 65"/>
                <a:gd name="T117" fmla="*/ 2 h 420"/>
                <a:gd name="T118" fmla="*/ 1 w 65"/>
                <a:gd name="T119" fmla="*/ 2 h 420"/>
                <a:gd name="T120" fmla="*/ 1 w 65"/>
                <a:gd name="T121" fmla="*/ 2 h 420"/>
                <a:gd name="T122" fmla="*/ 1 w 65"/>
                <a:gd name="T123" fmla="*/ 2 h 42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65"/>
                <a:gd name="T187" fmla="*/ 0 h 420"/>
                <a:gd name="T188" fmla="*/ 65 w 65"/>
                <a:gd name="T189" fmla="*/ 420 h 42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65" h="420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18" y="2"/>
                  </a:lnTo>
                  <a:lnTo>
                    <a:pt x="25" y="4"/>
                  </a:lnTo>
                  <a:lnTo>
                    <a:pt x="30" y="5"/>
                  </a:lnTo>
                  <a:lnTo>
                    <a:pt x="35" y="9"/>
                  </a:lnTo>
                  <a:lnTo>
                    <a:pt x="46" y="14"/>
                  </a:lnTo>
                  <a:lnTo>
                    <a:pt x="49" y="17"/>
                  </a:lnTo>
                  <a:lnTo>
                    <a:pt x="53" y="22"/>
                  </a:lnTo>
                  <a:lnTo>
                    <a:pt x="56" y="25"/>
                  </a:lnTo>
                  <a:lnTo>
                    <a:pt x="60" y="31"/>
                  </a:lnTo>
                  <a:lnTo>
                    <a:pt x="62" y="36"/>
                  </a:lnTo>
                  <a:lnTo>
                    <a:pt x="63" y="41"/>
                  </a:lnTo>
                  <a:lnTo>
                    <a:pt x="65" y="46"/>
                  </a:lnTo>
                  <a:lnTo>
                    <a:pt x="65" y="51"/>
                  </a:lnTo>
                  <a:lnTo>
                    <a:pt x="65" y="56"/>
                  </a:lnTo>
                  <a:lnTo>
                    <a:pt x="65" y="61"/>
                  </a:lnTo>
                  <a:lnTo>
                    <a:pt x="63" y="66"/>
                  </a:lnTo>
                  <a:lnTo>
                    <a:pt x="62" y="71"/>
                  </a:lnTo>
                  <a:lnTo>
                    <a:pt x="60" y="76"/>
                  </a:lnTo>
                  <a:lnTo>
                    <a:pt x="56" y="81"/>
                  </a:lnTo>
                  <a:lnTo>
                    <a:pt x="53" y="84"/>
                  </a:lnTo>
                  <a:lnTo>
                    <a:pt x="49" y="87"/>
                  </a:lnTo>
                  <a:lnTo>
                    <a:pt x="41" y="94"/>
                  </a:lnTo>
                  <a:lnTo>
                    <a:pt x="35" y="97"/>
                  </a:lnTo>
                  <a:lnTo>
                    <a:pt x="28" y="101"/>
                  </a:lnTo>
                  <a:lnTo>
                    <a:pt x="23" y="102"/>
                  </a:lnTo>
                  <a:lnTo>
                    <a:pt x="18" y="104"/>
                  </a:lnTo>
                  <a:lnTo>
                    <a:pt x="11" y="104"/>
                  </a:lnTo>
                  <a:lnTo>
                    <a:pt x="6" y="106"/>
                  </a:lnTo>
                  <a:lnTo>
                    <a:pt x="0" y="106"/>
                  </a:lnTo>
                  <a:lnTo>
                    <a:pt x="6" y="106"/>
                  </a:lnTo>
                  <a:lnTo>
                    <a:pt x="13" y="106"/>
                  </a:lnTo>
                  <a:lnTo>
                    <a:pt x="18" y="107"/>
                  </a:lnTo>
                  <a:lnTo>
                    <a:pt x="25" y="109"/>
                  </a:lnTo>
                  <a:lnTo>
                    <a:pt x="30" y="111"/>
                  </a:lnTo>
                  <a:lnTo>
                    <a:pt x="35" y="112"/>
                  </a:lnTo>
                  <a:lnTo>
                    <a:pt x="46" y="119"/>
                  </a:lnTo>
                  <a:lnTo>
                    <a:pt x="49" y="123"/>
                  </a:lnTo>
                  <a:lnTo>
                    <a:pt x="53" y="126"/>
                  </a:lnTo>
                  <a:lnTo>
                    <a:pt x="56" y="131"/>
                  </a:lnTo>
                  <a:lnTo>
                    <a:pt x="60" y="136"/>
                  </a:lnTo>
                  <a:lnTo>
                    <a:pt x="62" y="139"/>
                  </a:lnTo>
                  <a:lnTo>
                    <a:pt x="63" y="144"/>
                  </a:lnTo>
                  <a:lnTo>
                    <a:pt x="65" y="149"/>
                  </a:lnTo>
                  <a:lnTo>
                    <a:pt x="65" y="156"/>
                  </a:lnTo>
                  <a:lnTo>
                    <a:pt x="65" y="161"/>
                  </a:lnTo>
                  <a:lnTo>
                    <a:pt x="65" y="166"/>
                  </a:lnTo>
                  <a:lnTo>
                    <a:pt x="63" y="171"/>
                  </a:lnTo>
                  <a:lnTo>
                    <a:pt x="62" y="176"/>
                  </a:lnTo>
                  <a:lnTo>
                    <a:pt x="60" y="181"/>
                  </a:lnTo>
                  <a:lnTo>
                    <a:pt x="56" y="184"/>
                  </a:lnTo>
                  <a:lnTo>
                    <a:pt x="53" y="189"/>
                  </a:lnTo>
                  <a:lnTo>
                    <a:pt x="49" y="193"/>
                  </a:lnTo>
                  <a:lnTo>
                    <a:pt x="41" y="199"/>
                  </a:lnTo>
                  <a:lnTo>
                    <a:pt x="35" y="203"/>
                  </a:lnTo>
                  <a:lnTo>
                    <a:pt x="28" y="205"/>
                  </a:lnTo>
                  <a:lnTo>
                    <a:pt x="23" y="206"/>
                  </a:lnTo>
                  <a:lnTo>
                    <a:pt x="18" y="208"/>
                  </a:lnTo>
                  <a:lnTo>
                    <a:pt x="11" y="210"/>
                  </a:lnTo>
                  <a:lnTo>
                    <a:pt x="6" y="210"/>
                  </a:lnTo>
                  <a:lnTo>
                    <a:pt x="0" y="210"/>
                  </a:lnTo>
                  <a:lnTo>
                    <a:pt x="6" y="210"/>
                  </a:lnTo>
                  <a:lnTo>
                    <a:pt x="13" y="211"/>
                  </a:lnTo>
                  <a:lnTo>
                    <a:pt x="18" y="211"/>
                  </a:lnTo>
                  <a:lnTo>
                    <a:pt x="25" y="213"/>
                  </a:lnTo>
                  <a:lnTo>
                    <a:pt x="30" y="215"/>
                  </a:lnTo>
                  <a:lnTo>
                    <a:pt x="35" y="218"/>
                  </a:lnTo>
                  <a:lnTo>
                    <a:pt x="46" y="225"/>
                  </a:lnTo>
                  <a:lnTo>
                    <a:pt x="49" y="228"/>
                  </a:lnTo>
                  <a:lnTo>
                    <a:pt x="53" y="231"/>
                  </a:lnTo>
                  <a:lnTo>
                    <a:pt x="56" y="236"/>
                  </a:lnTo>
                  <a:lnTo>
                    <a:pt x="60" y="240"/>
                  </a:lnTo>
                  <a:lnTo>
                    <a:pt x="62" y="245"/>
                  </a:lnTo>
                  <a:lnTo>
                    <a:pt x="63" y="250"/>
                  </a:lnTo>
                  <a:lnTo>
                    <a:pt x="65" y="255"/>
                  </a:lnTo>
                  <a:lnTo>
                    <a:pt x="65" y="260"/>
                  </a:lnTo>
                  <a:lnTo>
                    <a:pt x="65" y="266"/>
                  </a:lnTo>
                  <a:lnTo>
                    <a:pt x="65" y="271"/>
                  </a:lnTo>
                  <a:lnTo>
                    <a:pt x="63" y="276"/>
                  </a:lnTo>
                  <a:lnTo>
                    <a:pt x="62" y="281"/>
                  </a:lnTo>
                  <a:lnTo>
                    <a:pt x="60" y="285"/>
                  </a:lnTo>
                  <a:lnTo>
                    <a:pt x="56" y="290"/>
                  </a:lnTo>
                  <a:lnTo>
                    <a:pt x="53" y="295"/>
                  </a:lnTo>
                  <a:lnTo>
                    <a:pt x="49" y="298"/>
                  </a:lnTo>
                  <a:lnTo>
                    <a:pt x="41" y="305"/>
                  </a:lnTo>
                  <a:lnTo>
                    <a:pt x="35" y="308"/>
                  </a:lnTo>
                  <a:lnTo>
                    <a:pt x="28" y="310"/>
                  </a:lnTo>
                  <a:lnTo>
                    <a:pt x="23" y="312"/>
                  </a:lnTo>
                  <a:lnTo>
                    <a:pt x="18" y="313"/>
                  </a:lnTo>
                  <a:lnTo>
                    <a:pt x="11" y="315"/>
                  </a:lnTo>
                  <a:lnTo>
                    <a:pt x="6" y="315"/>
                  </a:lnTo>
                  <a:lnTo>
                    <a:pt x="0" y="315"/>
                  </a:lnTo>
                  <a:lnTo>
                    <a:pt x="6" y="315"/>
                  </a:lnTo>
                  <a:lnTo>
                    <a:pt x="13" y="315"/>
                  </a:lnTo>
                  <a:lnTo>
                    <a:pt x="18" y="317"/>
                  </a:lnTo>
                  <a:lnTo>
                    <a:pt x="25" y="318"/>
                  </a:lnTo>
                  <a:lnTo>
                    <a:pt x="30" y="320"/>
                  </a:lnTo>
                  <a:lnTo>
                    <a:pt x="35" y="323"/>
                  </a:lnTo>
                  <a:lnTo>
                    <a:pt x="46" y="328"/>
                  </a:lnTo>
                  <a:lnTo>
                    <a:pt x="49" y="332"/>
                  </a:lnTo>
                  <a:lnTo>
                    <a:pt x="53" y="337"/>
                  </a:lnTo>
                  <a:lnTo>
                    <a:pt x="56" y="340"/>
                  </a:lnTo>
                  <a:lnTo>
                    <a:pt x="60" y="345"/>
                  </a:lnTo>
                  <a:lnTo>
                    <a:pt x="62" y="350"/>
                  </a:lnTo>
                  <a:lnTo>
                    <a:pt x="63" y="355"/>
                  </a:lnTo>
                  <a:lnTo>
                    <a:pt x="65" y="360"/>
                  </a:lnTo>
                  <a:lnTo>
                    <a:pt x="65" y="365"/>
                  </a:lnTo>
                  <a:lnTo>
                    <a:pt x="65" y="370"/>
                  </a:lnTo>
                  <a:lnTo>
                    <a:pt x="65" y="375"/>
                  </a:lnTo>
                  <a:lnTo>
                    <a:pt x="63" y="380"/>
                  </a:lnTo>
                  <a:lnTo>
                    <a:pt x="62" y="385"/>
                  </a:lnTo>
                  <a:lnTo>
                    <a:pt x="60" y="390"/>
                  </a:lnTo>
                  <a:lnTo>
                    <a:pt x="56" y="395"/>
                  </a:lnTo>
                  <a:lnTo>
                    <a:pt x="53" y="399"/>
                  </a:lnTo>
                  <a:lnTo>
                    <a:pt x="49" y="404"/>
                  </a:lnTo>
                  <a:lnTo>
                    <a:pt x="41" y="410"/>
                  </a:lnTo>
                  <a:lnTo>
                    <a:pt x="35" y="412"/>
                  </a:lnTo>
                  <a:lnTo>
                    <a:pt x="28" y="415"/>
                  </a:lnTo>
                  <a:lnTo>
                    <a:pt x="23" y="417"/>
                  </a:lnTo>
                  <a:lnTo>
                    <a:pt x="18" y="419"/>
                  </a:lnTo>
                  <a:lnTo>
                    <a:pt x="11" y="419"/>
                  </a:lnTo>
                  <a:lnTo>
                    <a:pt x="6" y="420"/>
                  </a:lnTo>
                  <a:lnTo>
                    <a:pt x="0" y="42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4" name="Freeform 237"/>
            <p:cNvSpPr>
              <a:spLocks/>
            </p:cNvSpPr>
            <p:nvPr/>
          </p:nvSpPr>
          <p:spPr bwMode="auto">
            <a:xfrm>
              <a:off x="4399" y="1182"/>
              <a:ext cx="33" cy="210"/>
            </a:xfrm>
            <a:custGeom>
              <a:avLst/>
              <a:gdLst>
                <a:gd name="T0" fmla="*/ 1 w 66"/>
                <a:gd name="T1" fmla="*/ 0 h 420"/>
                <a:gd name="T2" fmla="*/ 1 w 66"/>
                <a:gd name="T3" fmla="*/ 1 h 420"/>
                <a:gd name="T4" fmla="*/ 1 w 66"/>
                <a:gd name="T5" fmla="*/ 1 h 420"/>
                <a:gd name="T6" fmla="*/ 1 w 66"/>
                <a:gd name="T7" fmla="*/ 1 h 420"/>
                <a:gd name="T8" fmla="*/ 1 w 66"/>
                <a:gd name="T9" fmla="*/ 1 h 420"/>
                <a:gd name="T10" fmla="*/ 1 w 66"/>
                <a:gd name="T11" fmla="*/ 1 h 420"/>
                <a:gd name="T12" fmla="*/ 1 w 66"/>
                <a:gd name="T13" fmla="*/ 1 h 420"/>
                <a:gd name="T14" fmla="*/ 0 w 66"/>
                <a:gd name="T15" fmla="*/ 1 h 420"/>
                <a:gd name="T16" fmla="*/ 1 w 66"/>
                <a:gd name="T17" fmla="*/ 1 h 420"/>
                <a:gd name="T18" fmla="*/ 1 w 66"/>
                <a:gd name="T19" fmla="*/ 1 h 420"/>
                <a:gd name="T20" fmla="*/ 1 w 66"/>
                <a:gd name="T21" fmla="*/ 1 h 420"/>
                <a:gd name="T22" fmla="*/ 1 w 66"/>
                <a:gd name="T23" fmla="*/ 1 h 420"/>
                <a:gd name="T24" fmla="*/ 1 w 66"/>
                <a:gd name="T25" fmla="*/ 1 h 420"/>
                <a:gd name="T26" fmla="*/ 1 w 66"/>
                <a:gd name="T27" fmla="*/ 1 h 420"/>
                <a:gd name="T28" fmla="*/ 1 w 66"/>
                <a:gd name="T29" fmla="*/ 1 h 420"/>
                <a:gd name="T30" fmla="*/ 1 w 66"/>
                <a:gd name="T31" fmla="*/ 1 h 420"/>
                <a:gd name="T32" fmla="*/ 1 w 66"/>
                <a:gd name="T33" fmla="*/ 1 h 420"/>
                <a:gd name="T34" fmla="*/ 1 w 66"/>
                <a:gd name="T35" fmla="*/ 1 h 420"/>
                <a:gd name="T36" fmla="*/ 1 w 66"/>
                <a:gd name="T37" fmla="*/ 1 h 420"/>
                <a:gd name="T38" fmla="*/ 1 w 66"/>
                <a:gd name="T39" fmla="*/ 1 h 420"/>
                <a:gd name="T40" fmla="*/ 1 w 66"/>
                <a:gd name="T41" fmla="*/ 1 h 420"/>
                <a:gd name="T42" fmla="*/ 1 w 66"/>
                <a:gd name="T43" fmla="*/ 1 h 420"/>
                <a:gd name="T44" fmla="*/ 1 w 66"/>
                <a:gd name="T45" fmla="*/ 1 h 420"/>
                <a:gd name="T46" fmla="*/ 0 w 66"/>
                <a:gd name="T47" fmla="*/ 1 h 420"/>
                <a:gd name="T48" fmla="*/ 1 w 66"/>
                <a:gd name="T49" fmla="*/ 1 h 420"/>
                <a:gd name="T50" fmla="*/ 1 w 66"/>
                <a:gd name="T51" fmla="*/ 1 h 420"/>
                <a:gd name="T52" fmla="*/ 1 w 66"/>
                <a:gd name="T53" fmla="*/ 1 h 420"/>
                <a:gd name="T54" fmla="*/ 1 w 66"/>
                <a:gd name="T55" fmla="*/ 1 h 420"/>
                <a:gd name="T56" fmla="*/ 1 w 66"/>
                <a:gd name="T57" fmla="*/ 1 h 420"/>
                <a:gd name="T58" fmla="*/ 1 w 66"/>
                <a:gd name="T59" fmla="*/ 1 h 420"/>
                <a:gd name="T60" fmla="*/ 1 w 66"/>
                <a:gd name="T61" fmla="*/ 1 h 420"/>
                <a:gd name="T62" fmla="*/ 1 w 66"/>
                <a:gd name="T63" fmla="*/ 1 h 420"/>
                <a:gd name="T64" fmla="*/ 1 w 66"/>
                <a:gd name="T65" fmla="*/ 1 h 420"/>
                <a:gd name="T66" fmla="*/ 1 w 66"/>
                <a:gd name="T67" fmla="*/ 1 h 420"/>
                <a:gd name="T68" fmla="*/ 1 w 66"/>
                <a:gd name="T69" fmla="*/ 1 h 420"/>
                <a:gd name="T70" fmla="*/ 1 w 66"/>
                <a:gd name="T71" fmla="*/ 1 h 420"/>
                <a:gd name="T72" fmla="*/ 1 w 66"/>
                <a:gd name="T73" fmla="*/ 1 h 420"/>
                <a:gd name="T74" fmla="*/ 1 w 66"/>
                <a:gd name="T75" fmla="*/ 1 h 420"/>
                <a:gd name="T76" fmla="*/ 0 w 66"/>
                <a:gd name="T77" fmla="*/ 2 h 420"/>
                <a:gd name="T78" fmla="*/ 1 w 66"/>
                <a:gd name="T79" fmla="*/ 2 h 420"/>
                <a:gd name="T80" fmla="*/ 1 w 66"/>
                <a:gd name="T81" fmla="*/ 2 h 420"/>
                <a:gd name="T82" fmla="*/ 1 w 66"/>
                <a:gd name="T83" fmla="*/ 2 h 420"/>
                <a:gd name="T84" fmla="*/ 1 w 66"/>
                <a:gd name="T85" fmla="*/ 2 h 420"/>
                <a:gd name="T86" fmla="*/ 1 w 66"/>
                <a:gd name="T87" fmla="*/ 2 h 420"/>
                <a:gd name="T88" fmla="*/ 1 w 66"/>
                <a:gd name="T89" fmla="*/ 2 h 420"/>
                <a:gd name="T90" fmla="*/ 1 w 66"/>
                <a:gd name="T91" fmla="*/ 2 h 420"/>
                <a:gd name="T92" fmla="*/ 1 w 66"/>
                <a:gd name="T93" fmla="*/ 2 h 420"/>
                <a:gd name="T94" fmla="*/ 1 w 66"/>
                <a:gd name="T95" fmla="*/ 2 h 420"/>
                <a:gd name="T96" fmla="*/ 1 w 66"/>
                <a:gd name="T97" fmla="*/ 2 h 420"/>
                <a:gd name="T98" fmla="*/ 1 w 66"/>
                <a:gd name="T99" fmla="*/ 2 h 420"/>
                <a:gd name="T100" fmla="*/ 1 w 66"/>
                <a:gd name="T101" fmla="*/ 2 h 420"/>
                <a:gd name="T102" fmla="*/ 1 w 66"/>
                <a:gd name="T103" fmla="*/ 2 h 420"/>
                <a:gd name="T104" fmla="*/ 1 w 66"/>
                <a:gd name="T105" fmla="*/ 2 h 420"/>
                <a:gd name="T106" fmla="*/ 1 w 66"/>
                <a:gd name="T107" fmla="*/ 2 h 420"/>
                <a:gd name="T108" fmla="*/ 0 w 66"/>
                <a:gd name="T109" fmla="*/ 2 h 420"/>
                <a:gd name="T110" fmla="*/ 1 w 66"/>
                <a:gd name="T111" fmla="*/ 2 h 420"/>
                <a:gd name="T112" fmla="*/ 1 w 66"/>
                <a:gd name="T113" fmla="*/ 2 h 420"/>
                <a:gd name="T114" fmla="*/ 1 w 66"/>
                <a:gd name="T115" fmla="*/ 2 h 420"/>
                <a:gd name="T116" fmla="*/ 1 w 66"/>
                <a:gd name="T117" fmla="*/ 2 h 420"/>
                <a:gd name="T118" fmla="*/ 1 w 66"/>
                <a:gd name="T119" fmla="*/ 2 h 420"/>
                <a:gd name="T120" fmla="*/ 1 w 66"/>
                <a:gd name="T121" fmla="*/ 2 h 420"/>
                <a:gd name="T122" fmla="*/ 1 w 66"/>
                <a:gd name="T123" fmla="*/ 2 h 42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66"/>
                <a:gd name="T187" fmla="*/ 0 h 420"/>
                <a:gd name="T188" fmla="*/ 66 w 66"/>
                <a:gd name="T189" fmla="*/ 420 h 42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66" h="420">
                  <a:moveTo>
                    <a:pt x="66" y="0"/>
                  </a:moveTo>
                  <a:lnTo>
                    <a:pt x="59" y="0"/>
                  </a:lnTo>
                  <a:lnTo>
                    <a:pt x="54" y="0"/>
                  </a:lnTo>
                  <a:lnTo>
                    <a:pt x="47" y="2"/>
                  </a:lnTo>
                  <a:lnTo>
                    <a:pt x="42" y="4"/>
                  </a:lnTo>
                  <a:lnTo>
                    <a:pt x="35" y="6"/>
                  </a:lnTo>
                  <a:lnTo>
                    <a:pt x="29" y="9"/>
                  </a:lnTo>
                  <a:lnTo>
                    <a:pt x="21" y="14"/>
                  </a:lnTo>
                  <a:lnTo>
                    <a:pt x="15" y="17"/>
                  </a:lnTo>
                  <a:lnTo>
                    <a:pt x="12" y="22"/>
                  </a:lnTo>
                  <a:lnTo>
                    <a:pt x="8" y="26"/>
                  </a:lnTo>
                  <a:lnTo>
                    <a:pt x="7" y="31"/>
                  </a:lnTo>
                  <a:lnTo>
                    <a:pt x="3" y="36"/>
                  </a:lnTo>
                  <a:lnTo>
                    <a:pt x="1" y="41"/>
                  </a:lnTo>
                  <a:lnTo>
                    <a:pt x="1" y="46"/>
                  </a:lnTo>
                  <a:lnTo>
                    <a:pt x="0" y="51"/>
                  </a:lnTo>
                  <a:lnTo>
                    <a:pt x="0" y="56"/>
                  </a:lnTo>
                  <a:lnTo>
                    <a:pt x="1" y="61"/>
                  </a:lnTo>
                  <a:lnTo>
                    <a:pt x="1" y="66"/>
                  </a:lnTo>
                  <a:lnTo>
                    <a:pt x="5" y="71"/>
                  </a:lnTo>
                  <a:lnTo>
                    <a:pt x="7" y="76"/>
                  </a:lnTo>
                  <a:lnTo>
                    <a:pt x="10" y="81"/>
                  </a:lnTo>
                  <a:lnTo>
                    <a:pt x="14" y="84"/>
                  </a:lnTo>
                  <a:lnTo>
                    <a:pt x="17" y="89"/>
                  </a:lnTo>
                  <a:lnTo>
                    <a:pt x="26" y="96"/>
                  </a:lnTo>
                  <a:lnTo>
                    <a:pt x="31" y="98"/>
                  </a:lnTo>
                  <a:lnTo>
                    <a:pt x="36" y="101"/>
                  </a:lnTo>
                  <a:lnTo>
                    <a:pt x="42" y="103"/>
                  </a:lnTo>
                  <a:lnTo>
                    <a:pt x="49" y="104"/>
                  </a:lnTo>
                  <a:lnTo>
                    <a:pt x="54" y="104"/>
                  </a:lnTo>
                  <a:lnTo>
                    <a:pt x="61" y="106"/>
                  </a:lnTo>
                  <a:lnTo>
                    <a:pt x="66" y="106"/>
                  </a:lnTo>
                  <a:lnTo>
                    <a:pt x="59" y="106"/>
                  </a:lnTo>
                  <a:lnTo>
                    <a:pt x="54" y="106"/>
                  </a:lnTo>
                  <a:lnTo>
                    <a:pt x="47" y="108"/>
                  </a:lnTo>
                  <a:lnTo>
                    <a:pt x="42" y="109"/>
                  </a:lnTo>
                  <a:lnTo>
                    <a:pt x="35" y="111"/>
                  </a:lnTo>
                  <a:lnTo>
                    <a:pt x="29" y="113"/>
                  </a:lnTo>
                  <a:lnTo>
                    <a:pt x="21" y="119"/>
                  </a:lnTo>
                  <a:lnTo>
                    <a:pt x="15" y="123"/>
                  </a:lnTo>
                  <a:lnTo>
                    <a:pt x="12" y="126"/>
                  </a:lnTo>
                  <a:lnTo>
                    <a:pt x="8" y="131"/>
                  </a:lnTo>
                  <a:lnTo>
                    <a:pt x="7" y="136"/>
                  </a:lnTo>
                  <a:lnTo>
                    <a:pt x="3" y="139"/>
                  </a:lnTo>
                  <a:lnTo>
                    <a:pt x="1" y="144"/>
                  </a:lnTo>
                  <a:lnTo>
                    <a:pt x="1" y="151"/>
                  </a:lnTo>
                  <a:lnTo>
                    <a:pt x="0" y="156"/>
                  </a:lnTo>
                  <a:lnTo>
                    <a:pt x="0" y="161"/>
                  </a:lnTo>
                  <a:lnTo>
                    <a:pt x="1" y="166"/>
                  </a:lnTo>
                  <a:lnTo>
                    <a:pt x="1" y="171"/>
                  </a:lnTo>
                  <a:lnTo>
                    <a:pt x="5" y="176"/>
                  </a:lnTo>
                  <a:lnTo>
                    <a:pt x="7" y="181"/>
                  </a:lnTo>
                  <a:lnTo>
                    <a:pt x="10" y="185"/>
                  </a:lnTo>
                  <a:lnTo>
                    <a:pt x="14" y="190"/>
                  </a:lnTo>
                  <a:lnTo>
                    <a:pt x="17" y="193"/>
                  </a:lnTo>
                  <a:lnTo>
                    <a:pt x="26" y="200"/>
                  </a:lnTo>
                  <a:lnTo>
                    <a:pt x="31" y="203"/>
                  </a:lnTo>
                  <a:lnTo>
                    <a:pt x="36" y="205"/>
                  </a:lnTo>
                  <a:lnTo>
                    <a:pt x="42" y="208"/>
                  </a:lnTo>
                  <a:lnTo>
                    <a:pt x="49" y="208"/>
                  </a:lnTo>
                  <a:lnTo>
                    <a:pt x="54" y="210"/>
                  </a:lnTo>
                  <a:lnTo>
                    <a:pt x="61" y="210"/>
                  </a:lnTo>
                  <a:lnTo>
                    <a:pt x="66" y="210"/>
                  </a:lnTo>
                  <a:lnTo>
                    <a:pt x="59" y="210"/>
                  </a:lnTo>
                  <a:lnTo>
                    <a:pt x="54" y="211"/>
                  </a:lnTo>
                  <a:lnTo>
                    <a:pt x="47" y="211"/>
                  </a:lnTo>
                  <a:lnTo>
                    <a:pt x="42" y="213"/>
                  </a:lnTo>
                  <a:lnTo>
                    <a:pt x="35" y="216"/>
                  </a:lnTo>
                  <a:lnTo>
                    <a:pt x="29" y="218"/>
                  </a:lnTo>
                  <a:lnTo>
                    <a:pt x="21" y="225"/>
                  </a:lnTo>
                  <a:lnTo>
                    <a:pt x="15" y="228"/>
                  </a:lnTo>
                  <a:lnTo>
                    <a:pt x="12" y="231"/>
                  </a:lnTo>
                  <a:lnTo>
                    <a:pt x="8" y="236"/>
                  </a:lnTo>
                  <a:lnTo>
                    <a:pt x="7" y="240"/>
                  </a:lnTo>
                  <a:lnTo>
                    <a:pt x="3" y="245"/>
                  </a:lnTo>
                  <a:lnTo>
                    <a:pt x="1" y="250"/>
                  </a:lnTo>
                  <a:lnTo>
                    <a:pt x="1" y="255"/>
                  </a:lnTo>
                  <a:lnTo>
                    <a:pt x="0" y="260"/>
                  </a:lnTo>
                  <a:lnTo>
                    <a:pt x="0" y="267"/>
                  </a:lnTo>
                  <a:lnTo>
                    <a:pt x="1" y="272"/>
                  </a:lnTo>
                  <a:lnTo>
                    <a:pt x="1" y="277"/>
                  </a:lnTo>
                  <a:lnTo>
                    <a:pt x="5" y="282"/>
                  </a:lnTo>
                  <a:lnTo>
                    <a:pt x="7" y="287"/>
                  </a:lnTo>
                  <a:lnTo>
                    <a:pt x="10" y="290"/>
                  </a:lnTo>
                  <a:lnTo>
                    <a:pt x="14" y="295"/>
                  </a:lnTo>
                  <a:lnTo>
                    <a:pt x="17" y="298"/>
                  </a:lnTo>
                  <a:lnTo>
                    <a:pt x="26" y="305"/>
                  </a:lnTo>
                  <a:lnTo>
                    <a:pt x="31" y="308"/>
                  </a:lnTo>
                  <a:lnTo>
                    <a:pt x="36" y="310"/>
                  </a:lnTo>
                  <a:lnTo>
                    <a:pt x="42" y="312"/>
                  </a:lnTo>
                  <a:lnTo>
                    <a:pt x="49" y="313"/>
                  </a:lnTo>
                  <a:lnTo>
                    <a:pt x="54" y="315"/>
                  </a:lnTo>
                  <a:lnTo>
                    <a:pt x="61" y="315"/>
                  </a:lnTo>
                  <a:lnTo>
                    <a:pt x="66" y="315"/>
                  </a:lnTo>
                  <a:lnTo>
                    <a:pt x="59" y="315"/>
                  </a:lnTo>
                  <a:lnTo>
                    <a:pt x="54" y="315"/>
                  </a:lnTo>
                  <a:lnTo>
                    <a:pt x="47" y="317"/>
                  </a:lnTo>
                  <a:lnTo>
                    <a:pt x="42" y="318"/>
                  </a:lnTo>
                  <a:lnTo>
                    <a:pt x="35" y="320"/>
                  </a:lnTo>
                  <a:lnTo>
                    <a:pt x="29" y="323"/>
                  </a:lnTo>
                  <a:lnTo>
                    <a:pt x="21" y="328"/>
                  </a:lnTo>
                  <a:lnTo>
                    <a:pt x="15" y="332"/>
                  </a:lnTo>
                  <a:lnTo>
                    <a:pt x="12" y="337"/>
                  </a:lnTo>
                  <a:lnTo>
                    <a:pt x="8" y="340"/>
                  </a:lnTo>
                  <a:lnTo>
                    <a:pt x="7" y="345"/>
                  </a:lnTo>
                  <a:lnTo>
                    <a:pt x="3" y="350"/>
                  </a:lnTo>
                  <a:lnTo>
                    <a:pt x="1" y="355"/>
                  </a:lnTo>
                  <a:lnTo>
                    <a:pt x="1" y="360"/>
                  </a:lnTo>
                  <a:lnTo>
                    <a:pt x="0" y="365"/>
                  </a:lnTo>
                  <a:lnTo>
                    <a:pt x="0" y="370"/>
                  </a:lnTo>
                  <a:lnTo>
                    <a:pt x="1" y="375"/>
                  </a:lnTo>
                  <a:lnTo>
                    <a:pt x="1" y="380"/>
                  </a:lnTo>
                  <a:lnTo>
                    <a:pt x="5" y="385"/>
                  </a:lnTo>
                  <a:lnTo>
                    <a:pt x="7" y="390"/>
                  </a:lnTo>
                  <a:lnTo>
                    <a:pt x="10" y="395"/>
                  </a:lnTo>
                  <a:lnTo>
                    <a:pt x="14" y="399"/>
                  </a:lnTo>
                  <a:lnTo>
                    <a:pt x="17" y="404"/>
                  </a:lnTo>
                  <a:lnTo>
                    <a:pt x="26" y="410"/>
                  </a:lnTo>
                  <a:lnTo>
                    <a:pt x="31" y="412"/>
                  </a:lnTo>
                  <a:lnTo>
                    <a:pt x="36" y="415"/>
                  </a:lnTo>
                  <a:lnTo>
                    <a:pt x="42" y="417"/>
                  </a:lnTo>
                  <a:lnTo>
                    <a:pt x="49" y="419"/>
                  </a:lnTo>
                  <a:lnTo>
                    <a:pt x="54" y="419"/>
                  </a:lnTo>
                  <a:lnTo>
                    <a:pt x="61" y="420"/>
                  </a:lnTo>
                  <a:lnTo>
                    <a:pt x="66" y="42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" name="Line 238"/>
            <p:cNvSpPr>
              <a:spLocks noChangeShapeType="1"/>
            </p:cNvSpPr>
            <p:nvPr/>
          </p:nvSpPr>
          <p:spPr bwMode="auto">
            <a:xfrm>
              <a:off x="4359" y="1187"/>
              <a:ext cx="1" cy="19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6" name="Line 239"/>
            <p:cNvSpPr>
              <a:spLocks noChangeShapeType="1"/>
            </p:cNvSpPr>
            <p:nvPr/>
          </p:nvSpPr>
          <p:spPr bwMode="auto">
            <a:xfrm flipV="1">
              <a:off x="4373" y="1187"/>
              <a:ext cx="1" cy="19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" name="Rectangle 240"/>
            <p:cNvSpPr>
              <a:spLocks noChangeArrowheads="1"/>
            </p:cNvSpPr>
            <p:nvPr/>
          </p:nvSpPr>
          <p:spPr bwMode="auto">
            <a:xfrm>
              <a:off x="5424" y="1196"/>
              <a:ext cx="44" cy="10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/>
            </a:p>
          </p:txBody>
        </p:sp>
        <p:sp>
          <p:nvSpPr>
            <p:cNvPr id="298" name="Rectangle 241"/>
            <p:cNvSpPr>
              <a:spLocks noChangeArrowheads="1"/>
            </p:cNvSpPr>
            <p:nvPr/>
          </p:nvSpPr>
          <p:spPr bwMode="auto">
            <a:xfrm>
              <a:off x="5424" y="1196"/>
              <a:ext cx="44" cy="105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/>
            </a:p>
          </p:txBody>
        </p:sp>
        <p:sp>
          <p:nvSpPr>
            <p:cNvPr id="299" name="Line 242"/>
            <p:cNvSpPr>
              <a:spLocks noChangeShapeType="1"/>
            </p:cNvSpPr>
            <p:nvPr/>
          </p:nvSpPr>
          <p:spPr bwMode="auto">
            <a:xfrm>
              <a:off x="5227" y="1237"/>
              <a:ext cx="8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" name="Line 243"/>
            <p:cNvSpPr>
              <a:spLocks noChangeShapeType="1"/>
            </p:cNvSpPr>
            <p:nvPr/>
          </p:nvSpPr>
          <p:spPr bwMode="auto">
            <a:xfrm>
              <a:off x="5227" y="1269"/>
              <a:ext cx="8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" name="Line 244"/>
            <p:cNvSpPr>
              <a:spLocks noChangeShapeType="1"/>
            </p:cNvSpPr>
            <p:nvPr/>
          </p:nvSpPr>
          <p:spPr bwMode="auto">
            <a:xfrm>
              <a:off x="5271" y="1269"/>
              <a:ext cx="1" cy="8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2" name="Line 245"/>
            <p:cNvSpPr>
              <a:spLocks noChangeShapeType="1"/>
            </p:cNvSpPr>
            <p:nvPr/>
          </p:nvSpPr>
          <p:spPr bwMode="auto">
            <a:xfrm flipV="1">
              <a:off x="5271" y="1143"/>
              <a:ext cx="1" cy="9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3" name="Line 246"/>
            <p:cNvSpPr>
              <a:spLocks noChangeShapeType="1"/>
            </p:cNvSpPr>
            <p:nvPr/>
          </p:nvSpPr>
          <p:spPr bwMode="auto">
            <a:xfrm flipV="1">
              <a:off x="5271" y="1122"/>
              <a:ext cx="1" cy="2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4" name="Freeform 247"/>
            <p:cNvSpPr>
              <a:spLocks/>
            </p:cNvSpPr>
            <p:nvPr/>
          </p:nvSpPr>
          <p:spPr bwMode="auto">
            <a:xfrm>
              <a:off x="4289" y="1315"/>
              <a:ext cx="28" cy="27"/>
            </a:xfrm>
            <a:custGeom>
              <a:avLst/>
              <a:gdLst>
                <a:gd name="T0" fmla="*/ 0 w 56"/>
                <a:gd name="T1" fmla="*/ 1 h 53"/>
                <a:gd name="T2" fmla="*/ 0 w 56"/>
                <a:gd name="T3" fmla="*/ 1 h 53"/>
                <a:gd name="T4" fmla="*/ 1 w 56"/>
                <a:gd name="T5" fmla="*/ 1 h 53"/>
                <a:gd name="T6" fmla="*/ 1 w 56"/>
                <a:gd name="T7" fmla="*/ 1 h 53"/>
                <a:gd name="T8" fmla="*/ 1 w 56"/>
                <a:gd name="T9" fmla="*/ 1 h 53"/>
                <a:gd name="T10" fmla="*/ 1 w 56"/>
                <a:gd name="T11" fmla="*/ 1 h 53"/>
                <a:gd name="T12" fmla="*/ 1 w 56"/>
                <a:gd name="T13" fmla="*/ 1 h 53"/>
                <a:gd name="T14" fmla="*/ 1 w 56"/>
                <a:gd name="T15" fmla="*/ 1 h 53"/>
                <a:gd name="T16" fmla="*/ 1 w 56"/>
                <a:gd name="T17" fmla="*/ 0 h 53"/>
                <a:gd name="T18" fmla="*/ 1 w 56"/>
                <a:gd name="T19" fmla="*/ 1 h 53"/>
                <a:gd name="T20" fmla="*/ 1 w 56"/>
                <a:gd name="T21" fmla="*/ 1 h 53"/>
                <a:gd name="T22" fmla="*/ 1 w 56"/>
                <a:gd name="T23" fmla="*/ 1 h 53"/>
                <a:gd name="T24" fmla="*/ 1 w 56"/>
                <a:gd name="T25" fmla="*/ 1 h 53"/>
                <a:gd name="T26" fmla="*/ 1 w 56"/>
                <a:gd name="T27" fmla="*/ 1 h 53"/>
                <a:gd name="T28" fmla="*/ 1 w 56"/>
                <a:gd name="T29" fmla="*/ 1 h 53"/>
                <a:gd name="T30" fmla="*/ 1 w 56"/>
                <a:gd name="T31" fmla="*/ 1 h 53"/>
                <a:gd name="T32" fmla="*/ 1 w 56"/>
                <a:gd name="T33" fmla="*/ 1 h 53"/>
                <a:gd name="T34" fmla="*/ 1 w 56"/>
                <a:gd name="T35" fmla="*/ 1 h 53"/>
                <a:gd name="T36" fmla="*/ 1 w 56"/>
                <a:gd name="T37" fmla="*/ 1 h 53"/>
                <a:gd name="T38" fmla="*/ 1 w 56"/>
                <a:gd name="T39" fmla="*/ 1 h 53"/>
                <a:gd name="T40" fmla="*/ 1 w 56"/>
                <a:gd name="T41" fmla="*/ 1 h 53"/>
                <a:gd name="T42" fmla="*/ 1 w 56"/>
                <a:gd name="T43" fmla="*/ 1 h 53"/>
                <a:gd name="T44" fmla="*/ 1 w 56"/>
                <a:gd name="T45" fmla="*/ 1 h 53"/>
                <a:gd name="T46" fmla="*/ 1 w 56"/>
                <a:gd name="T47" fmla="*/ 1 h 53"/>
                <a:gd name="T48" fmla="*/ 1 w 56"/>
                <a:gd name="T49" fmla="*/ 1 h 53"/>
                <a:gd name="T50" fmla="*/ 1 w 56"/>
                <a:gd name="T51" fmla="*/ 1 h 53"/>
                <a:gd name="T52" fmla="*/ 1 w 56"/>
                <a:gd name="T53" fmla="*/ 1 h 53"/>
                <a:gd name="T54" fmla="*/ 1 w 56"/>
                <a:gd name="T55" fmla="*/ 1 h 53"/>
                <a:gd name="T56" fmla="*/ 1 w 56"/>
                <a:gd name="T57" fmla="*/ 1 h 53"/>
                <a:gd name="T58" fmla="*/ 1 w 56"/>
                <a:gd name="T59" fmla="*/ 1 h 53"/>
                <a:gd name="T60" fmla="*/ 1 w 56"/>
                <a:gd name="T61" fmla="*/ 1 h 53"/>
                <a:gd name="T62" fmla="*/ 1 w 56"/>
                <a:gd name="T63" fmla="*/ 1 h 53"/>
                <a:gd name="T64" fmla="*/ 0 w 56"/>
                <a:gd name="T65" fmla="*/ 1 h 53"/>
                <a:gd name="T66" fmla="*/ 0 w 56"/>
                <a:gd name="T67" fmla="*/ 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3"/>
                <a:gd name="T104" fmla="*/ 56 w 56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3">
                  <a:moveTo>
                    <a:pt x="0" y="26"/>
                  </a:moveTo>
                  <a:lnTo>
                    <a:pt x="0" y="21"/>
                  </a:lnTo>
                  <a:lnTo>
                    <a:pt x="2" y="16"/>
                  </a:lnTo>
                  <a:lnTo>
                    <a:pt x="6" y="13"/>
                  </a:lnTo>
                  <a:lnTo>
                    <a:pt x="9" y="8"/>
                  </a:lnTo>
                  <a:lnTo>
                    <a:pt x="13" y="5"/>
                  </a:lnTo>
                  <a:lnTo>
                    <a:pt x="18" y="3"/>
                  </a:lnTo>
                  <a:lnTo>
                    <a:pt x="23" y="1"/>
                  </a:lnTo>
                  <a:lnTo>
                    <a:pt x="28" y="0"/>
                  </a:lnTo>
                  <a:lnTo>
                    <a:pt x="34" y="1"/>
                  </a:lnTo>
                  <a:lnTo>
                    <a:pt x="39" y="3"/>
                  </a:lnTo>
                  <a:lnTo>
                    <a:pt x="44" y="5"/>
                  </a:lnTo>
                  <a:lnTo>
                    <a:pt x="48" y="8"/>
                  </a:lnTo>
                  <a:lnTo>
                    <a:pt x="51" y="13"/>
                  </a:lnTo>
                  <a:lnTo>
                    <a:pt x="55" y="16"/>
                  </a:lnTo>
                  <a:lnTo>
                    <a:pt x="56" y="21"/>
                  </a:lnTo>
                  <a:lnTo>
                    <a:pt x="56" y="26"/>
                  </a:lnTo>
                  <a:lnTo>
                    <a:pt x="56" y="33"/>
                  </a:lnTo>
                  <a:lnTo>
                    <a:pt x="55" y="38"/>
                  </a:lnTo>
                  <a:lnTo>
                    <a:pt x="51" y="41"/>
                  </a:lnTo>
                  <a:lnTo>
                    <a:pt x="48" y="46"/>
                  </a:lnTo>
                  <a:lnTo>
                    <a:pt x="44" y="50"/>
                  </a:lnTo>
                  <a:lnTo>
                    <a:pt x="39" y="51"/>
                  </a:lnTo>
                  <a:lnTo>
                    <a:pt x="34" y="53"/>
                  </a:lnTo>
                  <a:lnTo>
                    <a:pt x="28" y="53"/>
                  </a:lnTo>
                  <a:lnTo>
                    <a:pt x="23" y="53"/>
                  </a:lnTo>
                  <a:lnTo>
                    <a:pt x="18" y="51"/>
                  </a:lnTo>
                  <a:lnTo>
                    <a:pt x="13" y="50"/>
                  </a:lnTo>
                  <a:lnTo>
                    <a:pt x="9" y="46"/>
                  </a:lnTo>
                  <a:lnTo>
                    <a:pt x="6" y="41"/>
                  </a:lnTo>
                  <a:lnTo>
                    <a:pt x="2" y="38"/>
                  </a:lnTo>
                  <a:lnTo>
                    <a:pt x="0" y="33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5" name="Freeform 248"/>
            <p:cNvSpPr>
              <a:spLocks/>
            </p:cNvSpPr>
            <p:nvPr/>
          </p:nvSpPr>
          <p:spPr bwMode="auto">
            <a:xfrm>
              <a:off x="4426" y="1189"/>
              <a:ext cx="28" cy="27"/>
            </a:xfrm>
            <a:custGeom>
              <a:avLst/>
              <a:gdLst>
                <a:gd name="T0" fmla="*/ 0 w 56"/>
                <a:gd name="T1" fmla="*/ 1 h 53"/>
                <a:gd name="T2" fmla="*/ 1 w 56"/>
                <a:gd name="T3" fmla="*/ 1 h 53"/>
                <a:gd name="T4" fmla="*/ 1 w 56"/>
                <a:gd name="T5" fmla="*/ 1 h 53"/>
                <a:gd name="T6" fmla="*/ 1 w 56"/>
                <a:gd name="T7" fmla="*/ 1 h 53"/>
                <a:gd name="T8" fmla="*/ 1 w 56"/>
                <a:gd name="T9" fmla="*/ 1 h 53"/>
                <a:gd name="T10" fmla="*/ 1 w 56"/>
                <a:gd name="T11" fmla="*/ 1 h 53"/>
                <a:gd name="T12" fmla="*/ 1 w 56"/>
                <a:gd name="T13" fmla="*/ 1 h 53"/>
                <a:gd name="T14" fmla="*/ 1 w 56"/>
                <a:gd name="T15" fmla="*/ 0 h 53"/>
                <a:gd name="T16" fmla="*/ 1 w 56"/>
                <a:gd name="T17" fmla="*/ 0 h 53"/>
                <a:gd name="T18" fmla="*/ 1 w 56"/>
                <a:gd name="T19" fmla="*/ 0 h 53"/>
                <a:gd name="T20" fmla="*/ 1 w 56"/>
                <a:gd name="T21" fmla="*/ 1 h 53"/>
                <a:gd name="T22" fmla="*/ 1 w 56"/>
                <a:gd name="T23" fmla="*/ 1 h 53"/>
                <a:gd name="T24" fmla="*/ 1 w 56"/>
                <a:gd name="T25" fmla="*/ 1 h 53"/>
                <a:gd name="T26" fmla="*/ 1 w 56"/>
                <a:gd name="T27" fmla="*/ 1 h 53"/>
                <a:gd name="T28" fmla="*/ 1 w 56"/>
                <a:gd name="T29" fmla="*/ 1 h 53"/>
                <a:gd name="T30" fmla="*/ 1 w 56"/>
                <a:gd name="T31" fmla="*/ 1 h 53"/>
                <a:gd name="T32" fmla="*/ 1 w 56"/>
                <a:gd name="T33" fmla="*/ 1 h 53"/>
                <a:gd name="T34" fmla="*/ 1 w 56"/>
                <a:gd name="T35" fmla="*/ 1 h 53"/>
                <a:gd name="T36" fmla="*/ 1 w 56"/>
                <a:gd name="T37" fmla="*/ 1 h 53"/>
                <a:gd name="T38" fmla="*/ 1 w 56"/>
                <a:gd name="T39" fmla="*/ 1 h 53"/>
                <a:gd name="T40" fmla="*/ 1 w 56"/>
                <a:gd name="T41" fmla="*/ 1 h 53"/>
                <a:gd name="T42" fmla="*/ 1 w 56"/>
                <a:gd name="T43" fmla="*/ 1 h 53"/>
                <a:gd name="T44" fmla="*/ 1 w 56"/>
                <a:gd name="T45" fmla="*/ 1 h 53"/>
                <a:gd name="T46" fmla="*/ 1 w 56"/>
                <a:gd name="T47" fmla="*/ 1 h 53"/>
                <a:gd name="T48" fmla="*/ 1 w 56"/>
                <a:gd name="T49" fmla="*/ 1 h 53"/>
                <a:gd name="T50" fmla="*/ 1 w 56"/>
                <a:gd name="T51" fmla="*/ 1 h 53"/>
                <a:gd name="T52" fmla="*/ 1 w 56"/>
                <a:gd name="T53" fmla="*/ 1 h 53"/>
                <a:gd name="T54" fmla="*/ 1 w 56"/>
                <a:gd name="T55" fmla="*/ 1 h 53"/>
                <a:gd name="T56" fmla="*/ 1 w 56"/>
                <a:gd name="T57" fmla="*/ 1 h 53"/>
                <a:gd name="T58" fmla="*/ 1 w 56"/>
                <a:gd name="T59" fmla="*/ 1 h 53"/>
                <a:gd name="T60" fmla="*/ 1 w 56"/>
                <a:gd name="T61" fmla="*/ 1 h 53"/>
                <a:gd name="T62" fmla="*/ 1 w 56"/>
                <a:gd name="T63" fmla="*/ 1 h 53"/>
                <a:gd name="T64" fmla="*/ 1 w 56"/>
                <a:gd name="T65" fmla="*/ 1 h 53"/>
                <a:gd name="T66" fmla="*/ 0 w 56"/>
                <a:gd name="T67" fmla="*/ 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3"/>
                <a:gd name="T104" fmla="*/ 56 w 56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3">
                  <a:moveTo>
                    <a:pt x="0" y="27"/>
                  </a:moveTo>
                  <a:lnTo>
                    <a:pt x="2" y="20"/>
                  </a:lnTo>
                  <a:lnTo>
                    <a:pt x="3" y="15"/>
                  </a:lnTo>
                  <a:lnTo>
                    <a:pt x="5" y="12"/>
                  </a:lnTo>
                  <a:lnTo>
                    <a:pt x="9" y="7"/>
                  </a:lnTo>
                  <a:lnTo>
                    <a:pt x="12" y="3"/>
                  </a:lnTo>
                  <a:lnTo>
                    <a:pt x="17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40" y="2"/>
                  </a:lnTo>
                  <a:lnTo>
                    <a:pt x="43" y="3"/>
                  </a:lnTo>
                  <a:lnTo>
                    <a:pt x="49" y="7"/>
                  </a:lnTo>
                  <a:lnTo>
                    <a:pt x="52" y="12"/>
                  </a:lnTo>
                  <a:lnTo>
                    <a:pt x="54" y="15"/>
                  </a:lnTo>
                  <a:lnTo>
                    <a:pt x="56" y="20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2" y="42"/>
                  </a:lnTo>
                  <a:lnTo>
                    <a:pt x="49" y="45"/>
                  </a:lnTo>
                  <a:lnTo>
                    <a:pt x="43" y="48"/>
                  </a:lnTo>
                  <a:lnTo>
                    <a:pt x="40" y="50"/>
                  </a:lnTo>
                  <a:lnTo>
                    <a:pt x="35" y="52"/>
                  </a:lnTo>
                  <a:lnTo>
                    <a:pt x="28" y="53"/>
                  </a:lnTo>
                  <a:lnTo>
                    <a:pt x="23" y="52"/>
                  </a:lnTo>
                  <a:lnTo>
                    <a:pt x="17" y="50"/>
                  </a:lnTo>
                  <a:lnTo>
                    <a:pt x="12" y="48"/>
                  </a:lnTo>
                  <a:lnTo>
                    <a:pt x="9" y="45"/>
                  </a:lnTo>
                  <a:lnTo>
                    <a:pt x="5" y="42"/>
                  </a:lnTo>
                  <a:lnTo>
                    <a:pt x="3" y="37"/>
                  </a:lnTo>
                  <a:lnTo>
                    <a:pt x="2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6" name="Rectangle 249"/>
            <p:cNvSpPr>
              <a:spLocks noChangeArrowheads="1"/>
            </p:cNvSpPr>
            <p:nvPr/>
          </p:nvSpPr>
          <p:spPr bwMode="auto">
            <a:xfrm>
              <a:off x="5346" y="1138"/>
              <a:ext cx="5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R</a:t>
              </a:r>
              <a:endParaRPr lang="en-US" altLang="zh-CN"/>
            </a:p>
          </p:txBody>
        </p:sp>
        <p:sp>
          <p:nvSpPr>
            <p:cNvPr id="307" name="Freeform 250"/>
            <p:cNvSpPr>
              <a:spLocks noEditPoints="1"/>
            </p:cNvSpPr>
            <p:nvPr/>
          </p:nvSpPr>
          <p:spPr bwMode="auto">
            <a:xfrm>
              <a:off x="4031" y="1029"/>
              <a:ext cx="14" cy="118"/>
            </a:xfrm>
            <a:custGeom>
              <a:avLst/>
              <a:gdLst>
                <a:gd name="T0" fmla="*/ 1 w 28"/>
                <a:gd name="T1" fmla="*/ 1 h 236"/>
                <a:gd name="T2" fmla="*/ 1 w 28"/>
                <a:gd name="T3" fmla="*/ 1 h 236"/>
                <a:gd name="T4" fmla="*/ 1 w 28"/>
                <a:gd name="T5" fmla="*/ 1 h 236"/>
                <a:gd name="T6" fmla="*/ 0 w 28"/>
                <a:gd name="T7" fmla="*/ 1 h 236"/>
                <a:gd name="T8" fmla="*/ 0 w 28"/>
                <a:gd name="T9" fmla="*/ 1 h 236"/>
                <a:gd name="T10" fmla="*/ 1 w 28"/>
                <a:gd name="T11" fmla="*/ 1 h 236"/>
                <a:gd name="T12" fmla="*/ 1 w 28"/>
                <a:gd name="T13" fmla="*/ 1 h 236"/>
                <a:gd name="T14" fmla="*/ 1 w 28"/>
                <a:gd name="T15" fmla="*/ 1 h 236"/>
                <a:gd name="T16" fmla="*/ 1 w 28"/>
                <a:gd name="T17" fmla="*/ 1 h 236"/>
                <a:gd name="T18" fmla="*/ 1 w 28"/>
                <a:gd name="T19" fmla="*/ 1 h 236"/>
                <a:gd name="T20" fmla="*/ 1 w 28"/>
                <a:gd name="T21" fmla="*/ 1 h 236"/>
                <a:gd name="T22" fmla="*/ 1 w 28"/>
                <a:gd name="T23" fmla="*/ 1 h 236"/>
                <a:gd name="T24" fmla="*/ 1 w 28"/>
                <a:gd name="T25" fmla="*/ 1 h 236"/>
                <a:gd name="T26" fmla="*/ 1 w 28"/>
                <a:gd name="T27" fmla="*/ 1 h 236"/>
                <a:gd name="T28" fmla="*/ 1 w 28"/>
                <a:gd name="T29" fmla="*/ 1 h 236"/>
                <a:gd name="T30" fmla="*/ 1 w 28"/>
                <a:gd name="T31" fmla="*/ 1 h 236"/>
                <a:gd name="T32" fmla="*/ 1 w 28"/>
                <a:gd name="T33" fmla="*/ 1 h 236"/>
                <a:gd name="T34" fmla="*/ 1 w 28"/>
                <a:gd name="T35" fmla="*/ 1 h 236"/>
                <a:gd name="T36" fmla="*/ 1 w 28"/>
                <a:gd name="T37" fmla="*/ 0 h 236"/>
                <a:gd name="T38" fmla="*/ 1 w 28"/>
                <a:gd name="T39" fmla="*/ 1 h 236"/>
                <a:gd name="T40" fmla="*/ 1 w 28"/>
                <a:gd name="T41" fmla="*/ 1 h 236"/>
                <a:gd name="T42" fmla="*/ 0 w 28"/>
                <a:gd name="T43" fmla="*/ 1 h 236"/>
                <a:gd name="T44" fmla="*/ 0 w 28"/>
                <a:gd name="T45" fmla="*/ 1 h 236"/>
                <a:gd name="T46" fmla="*/ 1 w 28"/>
                <a:gd name="T47" fmla="*/ 1 h 236"/>
                <a:gd name="T48" fmla="*/ 1 w 28"/>
                <a:gd name="T49" fmla="*/ 1 h 236"/>
                <a:gd name="T50" fmla="*/ 1 w 28"/>
                <a:gd name="T51" fmla="*/ 1 h 236"/>
                <a:gd name="T52" fmla="*/ 1 w 28"/>
                <a:gd name="T53" fmla="*/ 1 h 236"/>
                <a:gd name="T54" fmla="*/ 1 w 28"/>
                <a:gd name="T55" fmla="*/ 1 h 236"/>
                <a:gd name="T56" fmla="*/ 1 w 28"/>
                <a:gd name="T57" fmla="*/ 1 h 236"/>
                <a:gd name="T58" fmla="*/ 1 w 28"/>
                <a:gd name="T59" fmla="*/ 1 h 236"/>
                <a:gd name="T60" fmla="*/ 1 w 28"/>
                <a:gd name="T61" fmla="*/ 1 h 236"/>
                <a:gd name="T62" fmla="*/ 1 w 28"/>
                <a:gd name="T63" fmla="*/ 1 h 236"/>
                <a:gd name="T64" fmla="*/ 1 w 28"/>
                <a:gd name="T65" fmla="*/ 1 h 236"/>
                <a:gd name="T66" fmla="*/ 1 w 28"/>
                <a:gd name="T67" fmla="*/ 0 h 236"/>
                <a:gd name="T68" fmla="*/ 1 w 28"/>
                <a:gd name="T69" fmla="*/ 0 h 236"/>
                <a:gd name="T70" fmla="*/ 1 w 28"/>
                <a:gd name="T71" fmla="*/ 0 h 2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8"/>
                <a:gd name="T109" fmla="*/ 0 h 236"/>
                <a:gd name="T110" fmla="*/ 28 w 28"/>
                <a:gd name="T111" fmla="*/ 236 h 2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8" h="236">
                  <a:moveTo>
                    <a:pt x="14" y="209"/>
                  </a:moveTo>
                  <a:lnTo>
                    <a:pt x="10" y="209"/>
                  </a:lnTo>
                  <a:lnTo>
                    <a:pt x="9" y="209"/>
                  </a:lnTo>
                  <a:lnTo>
                    <a:pt x="5" y="211"/>
                  </a:lnTo>
                  <a:lnTo>
                    <a:pt x="3" y="213"/>
                  </a:lnTo>
                  <a:lnTo>
                    <a:pt x="2" y="214"/>
                  </a:lnTo>
                  <a:lnTo>
                    <a:pt x="0" y="218"/>
                  </a:lnTo>
                  <a:lnTo>
                    <a:pt x="0" y="219"/>
                  </a:lnTo>
                  <a:lnTo>
                    <a:pt x="0" y="223"/>
                  </a:lnTo>
                  <a:lnTo>
                    <a:pt x="0" y="225"/>
                  </a:lnTo>
                  <a:lnTo>
                    <a:pt x="0" y="228"/>
                  </a:lnTo>
                  <a:lnTo>
                    <a:pt x="2" y="230"/>
                  </a:lnTo>
                  <a:lnTo>
                    <a:pt x="3" y="231"/>
                  </a:lnTo>
                  <a:lnTo>
                    <a:pt x="5" y="233"/>
                  </a:lnTo>
                  <a:lnTo>
                    <a:pt x="9" y="235"/>
                  </a:lnTo>
                  <a:lnTo>
                    <a:pt x="10" y="235"/>
                  </a:lnTo>
                  <a:lnTo>
                    <a:pt x="14" y="236"/>
                  </a:lnTo>
                  <a:lnTo>
                    <a:pt x="16" y="235"/>
                  </a:lnTo>
                  <a:lnTo>
                    <a:pt x="19" y="235"/>
                  </a:lnTo>
                  <a:lnTo>
                    <a:pt x="21" y="233"/>
                  </a:lnTo>
                  <a:lnTo>
                    <a:pt x="23" y="231"/>
                  </a:lnTo>
                  <a:lnTo>
                    <a:pt x="24" y="230"/>
                  </a:lnTo>
                  <a:lnTo>
                    <a:pt x="26" y="228"/>
                  </a:lnTo>
                  <a:lnTo>
                    <a:pt x="26" y="225"/>
                  </a:lnTo>
                  <a:lnTo>
                    <a:pt x="28" y="223"/>
                  </a:lnTo>
                  <a:lnTo>
                    <a:pt x="26" y="219"/>
                  </a:lnTo>
                  <a:lnTo>
                    <a:pt x="26" y="218"/>
                  </a:lnTo>
                  <a:lnTo>
                    <a:pt x="24" y="214"/>
                  </a:lnTo>
                  <a:lnTo>
                    <a:pt x="23" y="213"/>
                  </a:lnTo>
                  <a:lnTo>
                    <a:pt x="21" y="211"/>
                  </a:lnTo>
                  <a:lnTo>
                    <a:pt x="19" y="209"/>
                  </a:lnTo>
                  <a:lnTo>
                    <a:pt x="16" y="209"/>
                  </a:lnTo>
                  <a:lnTo>
                    <a:pt x="14" y="209"/>
                  </a:lnTo>
                  <a:close/>
                  <a:moveTo>
                    <a:pt x="14" y="0"/>
                  </a:moveTo>
                  <a:lnTo>
                    <a:pt x="10" y="0"/>
                  </a:lnTo>
                  <a:lnTo>
                    <a:pt x="9" y="0"/>
                  </a:lnTo>
                  <a:lnTo>
                    <a:pt x="5" y="2"/>
                  </a:lnTo>
                  <a:lnTo>
                    <a:pt x="3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20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9" y="25"/>
                  </a:lnTo>
                  <a:lnTo>
                    <a:pt x="10" y="25"/>
                  </a:lnTo>
                  <a:lnTo>
                    <a:pt x="14" y="25"/>
                  </a:lnTo>
                  <a:lnTo>
                    <a:pt x="16" y="25"/>
                  </a:lnTo>
                  <a:lnTo>
                    <a:pt x="19" y="25"/>
                  </a:lnTo>
                  <a:lnTo>
                    <a:pt x="21" y="24"/>
                  </a:lnTo>
                  <a:lnTo>
                    <a:pt x="23" y="22"/>
                  </a:lnTo>
                  <a:lnTo>
                    <a:pt x="24" y="20"/>
                  </a:lnTo>
                  <a:lnTo>
                    <a:pt x="26" y="17"/>
                  </a:lnTo>
                  <a:lnTo>
                    <a:pt x="26" y="15"/>
                  </a:lnTo>
                  <a:lnTo>
                    <a:pt x="28" y="12"/>
                  </a:lnTo>
                  <a:lnTo>
                    <a:pt x="26" y="10"/>
                  </a:lnTo>
                  <a:lnTo>
                    <a:pt x="26" y="7"/>
                  </a:lnTo>
                  <a:lnTo>
                    <a:pt x="24" y="5"/>
                  </a:lnTo>
                  <a:lnTo>
                    <a:pt x="23" y="4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" name="Freeform 251"/>
            <p:cNvSpPr>
              <a:spLocks/>
            </p:cNvSpPr>
            <p:nvPr/>
          </p:nvSpPr>
          <p:spPr bwMode="auto">
            <a:xfrm>
              <a:off x="4031" y="1134"/>
              <a:ext cx="14" cy="13"/>
            </a:xfrm>
            <a:custGeom>
              <a:avLst/>
              <a:gdLst>
                <a:gd name="T0" fmla="*/ 1 w 28"/>
                <a:gd name="T1" fmla="*/ 0 h 27"/>
                <a:gd name="T2" fmla="*/ 1 w 28"/>
                <a:gd name="T3" fmla="*/ 0 h 27"/>
                <a:gd name="T4" fmla="*/ 1 w 28"/>
                <a:gd name="T5" fmla="*/ 0 h 27"/>
                <a:gd name="T6" fmla="*/ 1 w 28"/>
                <a:gd name="T7" fmla="*/ 0 h 27"/>
                <a:gd name="T8" fmla="*/ 1 w 28"/>
                <a:gd name="T9" fmla="*/ 0 h 27"/>
                <a:gd name="T10" fmla="*/ 1 w 28"/>
                <a:gd name="T11" fmla="*/ 0 h 27"/>
                <a:gd name="T12" fmla="*/ 0 w 28"/>
                <a:gd name="T13" fmla="*/ 0 h 27"/>
                <a:gd name="T14" fmla="*/ 0 w 28"/>
                <a:gd name="T15" fmla="*/ 0 h 27"/>
                <a:gd name="T16" fmla="*/ 0 w 28"/>
                <a:gd name="T17" fmla="*/ 0 h 27"/>
                <a:gd name="T18" fmla="*/ 0 w 28"/>
                <a:gd name="T19" fmla="*/ 0 h 27"/>
                <a:gd name="T20" fmla="*/ 0 w 28"/>
                <a:gd name="T21" fmla="*/ 0 h 27"/>
                <a:gd name="T22" fmla="*/ 1 w 28"/>
                <a:gd name="T23" fmla="*/ 0 h 27"/>
                <a:gd name="T24" fmla="*/ 1 w 28"/>
                <a:gd name="T25" fmla="*/ 0 h 27"/>
                <a:gd name="T26" fmla="*/ 1 w 28"/>
                <a:gd name="T27" fmla="*/ 0 h 27"/>
                <a:gd name="T28" fmla="*/ 1 w 28"/>
                <a:gd name="T29" fmla="*/ 0 h 27"/>
                <a:gd name="T30" fmla="*/ 1 w 28"/>
                <a:gd name="T31" fmla="*/ 0 h 27"/>
                <a:gd name="T32" fmla="*/ 1 w 28"/>
                <a:gd name="T33" fmla="*/ 0 h 27"/>
                <a:gd name="T34" fmla="*/ 1 w 28"/>
                <a:gd name="T35" fmla="*/ 0 h 27"/>
                <a:gd name="T36" fmla="*/ 1 w 28"/>
                <a:gd name="T37" fmla="*/ 0 h 27"/>
                <a:gd name="T38" fmla="*/ 1 w 28"/>
                <a:gd name="T39" fmla="*/ 0 h 27"/>
                <a:gd name="T40" fmla="*/ 1 w 28"/>
                <a:gd name="T41" fmla="*/ 0 h 27"/>
                <a:gd name="T42" fmla="*/ 1 w 28"/>
                <a:gd name="T43" fmla="*/ 0 h 27"/>
                <a:gd name="T44" fmla="*/ 1 w 28"/>
                <a:gd name="T45" fmla="*/ 0 h 27"/>
                <a:gd name="T46" fmla="*/ 1 w 28"/>
                <a:gd name="T47" fmla="*/ 0 h 27"/>
                <a:gd name="T48" fmla="*/ 1 w 28"/>
                <a:gd name="T49" fmla="*/ 0 h 27"/>
                <a:gd name="T50" fmla="*/ 1 w 28"/>
                <a:gd name="T51" fmla="*/ 0 h 27"/>
                <a:gd name="T52" fmla="*/ 1 w 28"/>
                <a:gd name="T53" fmla="*/ 0 h 27"/>
                <a:gd name="T54" fmla="*/ 1 w 28"/>
                <a:gd name="T55" fmla="*/ 0 h 27"/>
                <a:gd name="T56" fmla="*/ 1 w 28"/>
                <a:gd name="T57" fmla="*/ 0 h 27"/>
                <a:gd name="T58" fmla="*/ 1 w 28"/>
                <a:gd name="T59" fmla="*/ 0 h 27"/>
                <a:gd name="T60" fmla="*/ 1 w 28"/>
                <a:gd name="T61" fmla="*/ 0 h 27"/>
                <a:gd name="T62" fmla="*/ 1 w 28"/>
                <a:gd name="T63" fmla="*/ 0 h 27"/>
                <a:gd name="T64" fmla="*/ 1 w 28"/>
                <a:gd name="T65" fmla="*/ 0 h 27"/>
                <a:gd name="T66" fmla="*/ 1 w 28"/>
                <a:gd name="T67" fmla="*/ 0 h 27"/>
                <a:gd name="T68" fmla="*/ 1 w 28"/>
                <a:gd name="T69" fmla="*/ 0 h 2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7"/>
                <a:gd name="T107" fmla="*/ 28 w 28"/>
                <a:gd name="T108" fmla="*/ 27 h 2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7">
                  <a:moveTo>
                    <a:pt x="14" y="0"/>
                  </a:moveTo>
                  <a:lnTo>
                    <a:pt x="10" y="0"/>
                  </a:lnTo>
                  <a:lnTo>
                    <a:pt x="9" y="0"/>
                  </a:lnTo>
                  <a:lnTo>
                    <a:pt x="5" y="2"/>
                  </a:lnTo>
                  <a:lnTo>
                    <a:pt x="3" y="4"/>
                  </a:lnTo>
                  <a:lnTo>
                    <a:pt x="2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2" y="21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9" y="26"/>
                  </a:lnTo>
                  <a:lnTo>
                    <a:pt x="10" y="26"/>
                  </a:lnTo>
                  <a:lnTo>
                    <a:pt x="14" y="27"/>
                  </a:lnTo>
                  <a:lnTo>
                    <a:pt x="16" y="26"/>
                  </a:lnTo>
                  <a:lnTo>
                    <a:pt x="19" y="26"/>
                  </a:lnTo>
                  <a:lnTo>
                    <a:pt x="21" y="24"/>
                  </a:lnTo>
                  <a:lnTo>
                    <a:pt x="23" y="22"/>
                  </a:lnTo>
                  <a:lnTo>
                    <a:pt x="24" y="21"/>
                  </a:lnTo>
                  <a:lnTo>
                    <a:pt x="26" y="19"/>
                  </a:lnTo>
                  <a:lnTo>
                    <a:pt x="26" y="16"/>
                  </a:lnTo>
                  <a:lnTo>
                    <a:pt x="28" y="14"/>
                  </a:lnTo>
                  <a:lnTo>
                    <a:pt x="26" y="10"/>
                  </a:lnTo>
                  <a:lnTo>
                    <a:pt x="26" y="9"/>
                  </a:lnTo>
                  <a:lnTo>
                    <a:pt x="24" y="5"/>
                  </a:lnTo>
                  <a:lnTo>
                    <a:pt x="23" y="4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" name="Freeform 252"/>
            <p:cNvSpPr>
              <a:spLocks/>
            </p:cNvSpPr>
            <p:nvPr/>
          </p:nvSpPr>
          <p:spPr bwMode="auto">
            <a:xfrm>
              <a:off x="4031" y="1029"/>
              <a:ext cx="14" cy="13"/>
            </a:xfrm>
            <a:custGeom>
              <a:avLst/>
              <a:gdLst>
                <a:gd name="T0" fmla="*/ 1 w 28"/>
                <a:gd name="T1" fmla="*/ 0 h 25"/>
                <a:gd name="T2" fmla="*/ 1 w 28"/>
                <a:gd name="T3" fmla="*/ 0 h 25"/>
                <a:gd name="T4" fmla="*/ 1 w 28"/>
                <a:gd name="T5" fmla="*/ 0 h 25"/>
                <a:gd name="T6" fmla="*/ 1 w 28"/>
                <a:gd name="T7" fmla="*/ 1 h 25"/>
                <a:gd name="T8" fmla="*/ 1 w 28"/>
                <a:gd name="T9" fmla="*/ 1 h 25"/>
                <a:gd name="T10" fmla="*/ 1 w 28"/>
                <a:gd name="T11" fmla="*/ 1 h 25"/>
                <a:gd name="T12" fmla="*/ 0 w 28"/>
                <a:gd name="T13" fmla="*/ 1 h 25"/>
                <a:gd name="T14" fmla="*/ 0 w 28"/>
                <a:gd name="T15" fmla="*/ 1 h 25"/>
                <a:gd name="T16" fmla="*/ 0 w 28"/>
                <a:gd name="T17" fmla="*/ 1 h 25"/>
                <a:gd name="T18" fmla="*/ 0 w 28"/>
                <a:gd name="T19" fmla="*/ 1 h 25"/>
                <a:gd name="T20" fmla="*/ 0 w 28"/>
                <a:gd name="T21" fmla="*/ 1 h 25"/>
                <a:gd name="T22" fmla="*/ 1 w 28"/>
                <a:gd name="T23" fmla="*/ 1 h 25"/>
                <a:gd name="T24" fmla="*/ 1 w 28"/>
                <a:gd name="T25" fmla="*/ 1 h 25"/>
                <a:gd name="T26" fmla="*/ 1 w 28"/>
                <a:gd name="T27" fmla="*/ 1 h 25"/>
                <a:gd name="T28" fmla="*/ 1 w 28"/>
                <a:gd name="T29" fmla="*/ 1 h 25"/>
                <a:gd name="T30" fmla="*/ 1 w 28"/>
                <a:gd name="T31" fmla="*/ 1 h 25"/>
                <a:gd name="T32" fmla="*/ 1 w 28"/>
                <a:gd name="T33" fmla="*/ 1 h 25"/>
                <a:gd name="T34" fmla="*/ 1 w 28"/>
                <a:gd name="T35" fmla="*/ 1 h 25"/>
                <a:gd name="T36" fmla="*/ 1 w 28"/>
                <a:gd name="T37" fmla="*/ 1 h 25"/>
                <a:gd name="T38" fmla="*/ 1 w 28"/>
                <a:gd name="T39" fmla="*/ 1 h 25"/>
                <a:gd name="T40" fmla="*/ 1 w 28"/>
                <a:gd name="T41" fmla="*/ 1 h 25"/>
                <a:gd name="T42" fmla="*/ 1 w 28"/>
                <a:gd name="T43" fmla="*/ 1 h 25"/>
                <a:gd name="T44" fmla="*/ 1 w 28"/>
                <a:gd name="T45" fmla="*/ 1 h 25"/>
                <a:gd name="T46" fmla="*/ 1 w 28"/>
                <a:gd name="T47" fmla="*/ 1 h 25"/>
                <a:gd name="T48" fmla="*/ 1 w 28"/>
                <a:gd name="T49" fmla="*/ 1 h 25"/>
                <a:gd name="T50" fmla="*/ 1 w 28"/>
                <a:gd name="T51" fmla="*/ 1 h 25"/>
                <a:gd name="T52" fmla="*/ 1 w 28"/>
                <a:gd name="T53" fmla="*/ 1 h 25"/>
                <a:gd name="T54" fmla="*/ 1 w 28"/>
                <a:gd name="T55" fmla="*/ 1 h 25"/>
                <a:gd name="T56" fmla="*/ 1 w 28"/>
                <a:gd name="T57" fmla="*/ 1 h 25"/>
                <a:gd name="T58" fmla="*/ 1 w 28"/>
                <a:gd name="T59" fmla="*/ 1 h 25"/>
                <a:gd name="T60" fmla="*/ 1 w 28"/>
                <a:gd name="T61" fmla="*/ 1 h 25"/>
                <a:gd name="T62" fmla="*/ 1 w 28"/>
                <a:gd name="T63" fmla="*/ 0 h 25"/>
                <a:gd name="T64" fmla="*/ 1 w 28"/>
                <a:gd name="T65" fmla="*/ 0 h 25"/>
                <a:gd name="T66" fmla="*/ 1 w 28"/>
                <a:gd name="T67" fmla="*/ 0 h 25"/>
                <a:gd name="T68" fmla="*/ 1 w 28"/>
                <a:gd name="T69" fmla="*/ 0 h 2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5"/>
                <a:gd name="T107" fmla="*/ 28 w 28"/>
                <a:gd name="T108" fmla="*/ 25 h 25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5">
                  <a:moveTo>
                    <a:pt x="14" y="0"/>
                  </a:moveTo>
                  <a:lnTo>
                    <a:pt x="10" y="0"/>
                  </a:lnTo>
                  <a:lnTo>
                    <a:pt x="9" y="0"/>
                  </a:lnTo>
                  <a:lnTo>
                    <a:pt x="5" y="2"/>
                  </a:lnTo>
                  <a:lnTo>
                    <a:pt x="3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20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9" y="25"/>
                  </a:lnTo>
                  <a:lnTo>
                    <a:pt x="10" y="25"/>
                  </a:lnTo>
                  <a:lnTo>
                    <a:pt x="14" y="25"/>
                  </a:lnTo>
                  <a:lnTo>
                    <a:pt x="16" y="25"/>
                  </a:lnTo>
                  <a:lnTo>
                    <a:pt x="19" y="25"/>
                  </a:lnTo>
                  <a:lnTo>
                    <a:pt x="21" y="24"/>
                  </a:lnTo>
                  <a:lnTo>
                    <a:pt x="23" y="22"/>
                  </a:lnTo>
                  <a:lnTo>
                    <a:pt x="24" y="20"/>
                  </a:lnTo>
                  <a:lnTo>
                    <a:pt x="26" y="17"/>
                  </a:lnTo>
                  <a:lnTo>
                    <a:pt x="26" y="15"/>
                  </a:lnTo>
                  <a:lnTo>
                    <a:pt x="28" y="12"/>
                  </a:lnTo>
                  <a:lnTo>
                    <a:pt x="26" y="10"/>
                  </a:lnTo>
                  <a:lnTo>
                    <a:pt x="26" y="7"/>
                  </a:lnTo>
                  <a:lnTo>
                    <a:pt x="24" y="5"/>
                  </a:lnTo>
                  <a:lnTo>
                    <a:pt x="23" y="4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" name="Line 253"/>
            <p:cNvSpPr>
              <a:spLocks noChangeShapeType="1"/>
            </p:cNvSpPr>
            <p:nvPr/>
          </p:nvSpPr>
          <p:spPr bwMode="auto">
            <a:xfrm>
              <a:off x="4041" y="1042"/>
              <a:ext cx="31" cy="8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" name="Freeform 254"/>
            <p:cNvSpPr>
              <a:spLocks/>
            </p:cNvSpPr>
            <p:nvPr/>
          </p:nvSpPr>
          <p:spPr bwMode="auto">
            <a:xfrm>
              <a:off x="5257" y="1085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0"/>
                  </a:lnTo>
                  <a:lnTo>
                    <a:pt x="2" y="15"/>
                  </a:lnTo>
                  <a:lnTo>
                    <a:pt x="5" y="12"/>
                  </a:lnTo>
                  <a:lnTo>
                    <a:pt x="7" y="7"/>
                  </a:lnTo>
                  <a:lnTo>
                    <a:pt x="12" y="4"/>
                  </a:lnTo>
                  <a:lnTo>
                    <a:pt x="17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38" y="2"/>
                  </a:lnTo>
                  <a:lnTo>
                    <a:pt x="44" y="4"/>
                  </a:lnTo>
                  <a:lnTo>
                    <a:pt x="47" y="7"/>
                  </a:lnTo>
                  <a:lnTo>
                    <a:pt x="51" y="12"/>
                  </a:lnTo>
                  <a:lnTo>
                    <a:pt x="54" y="15"/>
                  </a:lnTo>
                  <a:lnTo>
                    <a:pt x="54" y="20"/>
                  </a:lnTo>
                  <a:lnTo>
                    <a:pt x="56" y="27"/>
                  </a:lnTo>
                  <a:lnTo>
                    <a:pt x="54" y="32"/>
                  </a:lnTo>
                  <a:lnTo>
                    <a:pt x="54" y="37"/>
                  </a:lnTo>
                  <a:lnTo>
                    <a:pt x="51" y="42"/>
                  </a:lnTo>
                  <a:lnTo>
                    <a:pt x="47" y="46"/>
                  </a:lnTo>
                  <a:lnTo>
                    <a:pt x="44" y="49"/>
                  </a:lnTo>
                  <a:lnTo>
                    <a:pt x="38" y="51"/>
                  </a:lnTo>
                  <a:lnTo>
                    <a:pt x="33" y="52"/>
                  </a:lnTo>
                  <a:lnTo>
                    <a:pt x="28" y="54"/>
                  </a:lnTo>
                  <a:lnTo>
                    <a:pt x="23" y="52"/>
                  </a:lnTo>
                  <a:lnTo>
                    <a:pt x="17" y="51"/>
                  </a:lnTo>
                  <a:lnTo>
                    <a:pt x="12" y="49"/>
                  </a:lnTo>
                  <a:lnTo>
                    <a:pt x="7" y="46"/>
                  </a:lnTo>
                  <a:lnTo>
                    <a:pt x="5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" name="Line 255"/>
            <p:cNvSpPr>
              <a:spLocks noChangeShapeType="1"/>
            </p:cNvSpPr>
            <p:nvPr/>
          </p:nvSpPr>
          <p:spPr bwMode="auto">
            <a:xfrm flipH="1" flipV="1">
              <a:off x="4431" y="1099"/>
              <a:ext cx="1" cy="8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" name="Freeform 256"/>
            <p:cNvSpPr>
              <a:spLocks/>
            </p:cNvSpPr>
            <p:nvPr/>
          </p:nvSpPr>
          <p:spPr bwMode="auto">
            <a:xfrm>
              <a:off x="5167" y="1097"/>
              <a:ext cx="280" cy="99"/>
            </a:xfrm>
            <a:custGeom>
              <a:avLst/>
              <a:gdLst>
                <a:gd name="T0" fmla="*/ 2 w 561"/>
                <a:gd name="T1" fmla="*/ 1 h 197"/>
                <a:gd name="T2" fmla="*/ 2 w 561"/>
                <a:gd name="T3" fmla="*/ 1 h 197"/>
                <a:gd name="T4" fmla="*/ 0 w 561"/>
                <a:gd name="T5" fmla="*/ 0 h 197"/>
                <a:gd name="T6" fmla="*/ 0 60000 65536"/>
                <a:gd name="T7" fmla="*/ 0 60000 65536"/>
                <a:gd name="T8" fmla="*/ 0 60000 65536"/>
                <a:gd name="T9" fmla="*/ 0 w 561"/>
                <a:gd name="T10" fmla="*/ 0 h 197"/>
                <a:gd name="T11" fmla="*/ 561 w 561"/>
                <a:gd name="T12" fmla="*/ 197 h 1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1" h="197">
                  <a:moveTo>
                    <a:pt x="561" y="197"/>
                  </a:moveTo>
                  <a:lnTo>
                    <a:pt x="561" y="3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" name="Line 257"/>
            <p:cNvSpPr>
              <a:spLocks noChangeShapeType="1"/>
            </p:cNvSpPr>
            <p:nvPr/>
          </p:nvSpPr>
          <p:spPr bwMode="auto">
            <a:xfrm flipH="1" flipV="1">
              <a:off x="5270" y="1098"/>
              <a:ext cx="1" cy="2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" name="Freeform 258"/>
            <p:cNvSpPr>
              <a:spLocks/>
            </p:cNvSpPr>
            <p:nvPr/>
          </p:nvSpPr>
          <p:spPr bwMode="auto">
            <a:xfrm>
              <a:off x="4948" y="1067"/>
              <a:ext cx="219" cy="32"/>
            </a:xfrm>
            <a:custGeom>
              <a:avLst/>
              <a:gdLst>
                <a:gd name="T0" fmla="*/ 0 w 439"/>
                <a:gd name="T1" fmla="*/ 1 h 63"/>
                <a:gd name="T2" fmla="*/ 0 w 439"/>
                <a:gd name="T3" fmla="*/ 1 h 63"/>
                <a:gd name="T4" fmla="*/ 0 w 439"/>
                <a:gd name="T5" fmla="*/ 1 h 63"/>
                <a:gd name="T6" fmla="*/ 0 w 439"/>
                <a:gd name="T7" fmla="*/ 1 h 63"/>
                <a:gd name="T8" fmla="*/ 0 w 439"/>
                <a:gd name="T9" fmla="*/ 1 h 63"/>
                <a:gd name="T10" fmla="*/ 0 w 439"/>
                <a:gd name="T11" fmla="*/ 1 h 63"/>
                <a:gd name="T12" fmla="*/ 0 w 439"/>
                <a:gd name="T13" fmla="*/ 1 h 63"/>
                <a:gd name="T14" fmla="*/ 0 w 439"/>
                <a:gd name="T15" fmla="*/ 0 h 63"/>
                <a:gd name="T16" fmla="*/ 0 w 439"/>
                <a:gd name="T17" fmla="*/ 0 h 63"/>
                <a:gd name="T18" fmla="*/ 0 w 439"/>
                <a:gd name="T19" fmla="*/ 1 h 63"/>
                <a:gd name="T20" fmla="*/ 0 w 439"/>
                <a:gd name="T21" fmla="*/ 1 h 63"/>
                <a:gd name="T22" fmla="*/ 0 w 439"/>
                <a:gd name="T23" fmla="*/ 1 h 63"/>
                <a:gd name="T24" fmla="*/ 0 w 439"/>
                <a:gd name="T25" fmla="*/ 1 h 63"/>
                <a:gd name="T26" fmla="*/ 0 w 439"/>
                <a:gd name="T27" fmla="*/ 1 h 63"/>
                <a:gd name="T28" fmla="*/ 0 w 439"/>
                <a:gd name="T29" fmla="*/ 1 h 63"/>
                <a:gd name="T30" fmla="*/ 0 w 439"/>
                <a:gd name="T31" fmla="*/ 1 h 63"/>
                <a:gd name="T32" fmla="*/ 0 w 439"/>
                <a:gd name="T33" fmla="*/ 1 h 63"/>
                <a:gd name="T34" fmla="*/ 0 w 439"/>
                <a:gd name="T35" fmla="*/ 1 h 63"/>
                <a:gd name="T36" fmla="*/ 0 w 439"/>
                <a:gd name="T37" fmla="*/ 1 h 63"/>
                <a:gd name="T38" fmla="*/ 0 w 439"/>
                <a:gd name="T39" fmla="*/ 1 h 63"/>
                <a:gd name="T40" fmla="*/ 0 w 439"/>
                <a:gd name="T41" fmla="*/ 1 h 63"/>
                <a:gd name="T42" fmla="*/ 0 w 439"/>
                <a:gd name="T43" fmla="*/ 1 h 63"/>
                <a:gd name="T44" fmla="*/ 0 w 439"/>
                <a:gd name="T45" fmla="*/ 0 h 63"/>
                <a:gd name="T46" fmla="*/ 0 w 439"/>
                <a:gd name="T47" fmla="*/ 0 h 63"/>
                <a:gd name="T48" fmla="*/ 0 w 439"/>
                <a:gd name="T49" fmla="*/ 1 h 63"/>
                <a:gd name="T50" fmla="*/ 0 w 439"/>
                <a:gd name="T51" fmla="*/ 1 h 63"/>
                <a:gd name="T52" fmla="*/ 0 w 439"/>
                <a:gd name="T53" fmla="*/ 1 h 63"/>
                <a:gd name="T54" fmla="*/ 0 w 439"/>
                <a:gd name="T55" fmla="*/ 1 h 63"/>
                <a:gd name="T56" fmla="*/ 0 w 439"/>
                <a:gd name="T57" fmla="*/ 1 h 63"/>
                <a:gd name="T58" fmla="*/ 0 w 439"/>
                <a:gd name="T59" fmla="*/ 1 h 63"/>
                <a:gd name="T60" fmla="*/ 0 w 439"/>
                <a:gd name="T61" fmla="*/ 1 h 63"/>
                <a:gd name="T62" fmla="*/ 0 w 439"/>
                <a:gd name="T63" fmla="*/ 1 h 63"/>
                <a:gd name="T64" fmla="*/ 0 w 439"/>
                <a:gd name="T65" fmla="*/ 1 h 63"/>
                <a:gd name="T66" fmla="*/ 0 w 439"/>
                <a:gd name="T67" fmla="*/ 1 h 63"/>
                <a:gd name="T68" fmla="*/ 0 w 439"/>
                <a:gd name="T69" fmla="*/ 1 h 63"/>
                <a:gd name="T70" fmla="*/ 0 w 439"/>
                <a:gd name="T71" fmla="*/ 1 h 63"/>
                <a:gd name="T72" fmla="*/ 0 w 439"/>
                <a:gd name="T73" fmla="*/ 1 h 63"/>
                <a:gd name="T74" fmla="*/ 1 w 439"/>
                <a:gd name="T75" fmla="*/ 1 h 63"/>
                <a:gd name="T76" fmla="*/ 1 w 439"/>
                <a:gd name="T77" fmla="*/ 0 h 63"/>
                <a:gd name="T78" fmla="*/ 1 w 439"/>
                <a:gd name="T79" fmla="*/ 0 h 63"/>
                <a:gd name="T80" fmla="*/ 1 w 439"/>
                <a:gd name="T81" fmla="*/ 1 h 63"/>
                <a:gd name="T82" fmla="*/ 1 w 439"/>
                <a:gd name="T83" fmla="*/ 1 h 63"/>
                <a:gd name="T84" fmla="*/ 1 w 439"/>
                <a:gd name="T85" fmla="*/ 1 h 63"/>
                <a:gd name="T86" fmla="*/ 1 w 439"/>
                <a:gd name="T87" fmla="*/ 1 h 63"/>
                <a:gd name="T88" fmla="*/ 1 w 439"/>
                <a:gd name="T89" fmla="*/ 1 h 63"/>
                <a:gd name="T90" fmla="*/ 1 w 439"/>
                <a:gd name="T91" fmla="*/ 1 h 63"/>
                <a:gd name="T92" fmla="*/ 1 w 439"/>
                <a:gd name="T93" fmla="*/ 1 h 63"/>
                <a:gd name="T94" fmla="*/ 1 w 439"/>
                <a:gd name="T95" fmla="*/ 1 h 63"/>
                <a:gd name="T96" fmla="*/ 1 w 439"/>
                <a:gd name="T97" fmla="*/ 1 h 63"/>
                <a:gd name="T98" fmla="*/ 1 w 439"/>
                <a:gd name="T99" fmla="*/ 1 h 63"/>
                <a:gd name="T100" fmla="*/ 1 w 439"/>
                <a:gd name="T101" fmla="*/ 1 h 63"/>
                <a:gd name="T102" fmla="*/ 1 w 439"/>
                <a:gd name="T103" fmla="*/ 1 h 63"/>
                <a:gd name="T104" fmla="*/ 1 w 439"/>
                <a:gd name="T105" fmla="*/ 1 h 63"/>
                <a:gd name="T106" fmla="*/ 1 w 439"/>
                <a:gd name="T107" fmla="*/ 0 h 63"/>
                <a:gd name="T108" fmla="*/ 1 w 439"/>
                <a:gd name="T109" fmla="*/ 0 h 63"/>
                <a:gd name="T110" fmla="*/ 1 w 439"/>
                <a:gd name="T111" fmla="*/ 1 h 63"/>
                <a:gd name="T112" fmla="*/ 1 w 439"/>
                <a:gd name="T113" fmla="*/ 1 h 63"/>
                <a:gd name="T114" fmla="*/ 1 w 439"/>
                <a:gd name="T115" fmla="*/ 1 h 63"/>
                <a:gd name="T116" fmla="*/ 1 w 439"/>
                <a:gd name="T117" fmla="*/ 1 h 63"/>
                <a:gd name="T118" fmla="*/ 1 w 439"/>
                <a:gd name="T119" fmla="*/ 1 h 63"/>
                <a:gd name="T120" fmla="*/ 1 w 439"/>
                <a:gd name="T121" fmla="*/ 1 h 63"/>
                <a:gd name="T122" fmla="*/ 1 w 439"/>
                <a:gd name="T123" fmla="*/ 1 h 63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439"/>
                <a:gd name="T187" fmla="*/ 0 h 63"/>
                <a:gd name="T188" fmla="*/ 439 w 439"/>
                <a:gd name="T189" fmla="*/ 63 h 63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439" h="63">
                  <a:moveTo>
                    <a:pt x="0" y="63"/>
                  </a:moveTo>
                  <a:lnTo>
                    <a:pt x="0" y="56"/>
                  </a:lnTo>
                  <a:lnTo>
                    <a:pt x="0" y="50"/>
                  </a:lnTo>
                  <a:lnTo>
                    <a:pt x="2" y="45"/>
                  </a:lnTo>
                  <a:lnTo>
                    <a:pt x="4" y="38"/>
                  </a:lnTo>
                  <a:lnTo>
                    <a:pt x="5" y="33"/>
                  </a:lnTo>
                  <a:lnTo>
                    <a:pt x="9" y="28"/>
                  </a:lnTo>
                  <a:lnTo>
                    <a:pt x="14" y="20"/>
                  </a:lnTo>
                  <a:lnTo>
                    <a:pt x="18" y="15"/>
                  </a:lnTo>
                  <a:lnTo>
                    <a:pt x="23" y="11"/>
                  </a:lnTo>
                  <a:lnTo>
                    <a:pt x="26" y="8"/>
                  </a:lnTo>
                  <a:lnTo>
                    <a:pt x="32" y="5"/>
                  </a:lnTo>
                  <a:lnTo>
                    <a:pt x="37" y="3"/>
                  </a:lnTo>
                  <a:lnTo>
                    <a:pt x="42" y="1"/>
                  </a:lnTo>
                  <a:lnTo>
                    <a:pt x="47" y="0"/>
                  </a:lnTo>
                  <a:lnTo>
                    <a:pt x="53" y="0"/>
                  </a:lnTo>
                  <a:lnTo>
                    <a:pt x="58" y="0"/>
                  </a:lnTo>
                  <a:lnTo>
                    <a:pt x="63" y="0"/>
                  </a:lnTo>
                  <a:lnTo>
                    <a:pt x="68" y="1"/>
                  </a:lnTo>
                  <a:lnTo>
                    <a:pt x="74" y="3"/>
                  </a:lnTo>
                  <a:lnTo>
                    <a:pt x="79" y="6"/>
                  </a:lnTo>
                  <a:lnTo>
                    <a:pt x="84" y="8"/>
                  </a:lnTo>
                  <a:lnTo>
                    <a:pt x="88" y="11"/>
                  </a:lnTo>
                  <a:lnTo>
                    <a:pt x="93" y="16"/>
                  </a:lnTo>
                  <a:lnTo>
                    <a:pt x="100" y="25"/>
                  </a:lnTo>
                  <a:lnTo>
                    <a:pt x="102" y="30"/>
                  </a:lnTo>
                  <a:lnTo>
                    <a:pt x="105" y="35"/>
                  </a:lnTo>
                  <a:lnTo>
                    <a:pt x="107" y="40"/>
                  </a:lnTo>
                  <a:lnTo>
                    <a:pt x="109" y="46"/>
                  </a:lnTo>
                  <a:lnTo>
                    <a:pt x="109" y="51"/>
                  </a:lnTo>
                  <a:lnTo>
                    <a:pt x="110" y="58"/>
                  </a:lnTo>
                  <a:lnTo>
                    <a:pt x="110" y="63"/>
                  </a:lnTo>
                  <a:lnTo>
                    <a:pt x="110" y="56"/>
                  </a:lnTo>
                  <a:lnTo>
                    <a:pt x="110" y="50"/>
                  </a:lnTo>
                  <a:lnTo>
                    <a:pt x="112" y="45"/>
                  </a:lnTo>
                  <a:lnTo>
                    <a:pt x="114" y="38"/>
                  </a:lnTo>
                  <a:lnTo>
                    <a:pt x="116" y="33"/>
                  </a:lnTo>
                  <a:lnTo>
                    <a:pt x="117" y="28"/>
                  </a:lnTo>
                  <a:lnTo>
                    <a:pt x="124" y="20"/>
                  </a:lnTo>
                  <a:lnTo>
                    <a:pt x="128" y="15"/>
                  </a:lnTo>
                  <a:lnTo>
                    <a:pt x="131" y="11"/>
                  </a:lnTo>
                  <a:lnTo>
                    <a:pt x="137" y="8"/>
                  </a:lnTo>
                  <a:lnTo>
                    <a:pt x="142" y="5"/>
                  </a:lnTo>
                  <a:lnTo>
                    <a:pt x="145" y="3"/>
                  </a:lnTo>
                  <a:lnTo>
                    <a:pt x="151" y="1"/>
                  </a:lnTo>
                  <a:lnTo>
                    <a:pt x="156" y="0"/>
                  </a:lnTo>
                  <a:lnTo>
                    <a:pt x="163" y="0"/>
                  </a:lnTo>
                  <a:lnTo>
                    <a:pt x="168" y="0"/>
                  </a:lnTo>
                  <a:lnTo>
                    <a:pt x="173" y="0"/>
                  </a:lnTo>
                  <a:lnTo>
                    <a:pt x="179" y="1"/>
                  </a:lnTo>
                  <a:lnTo>
                    <a:pt x="184" y="3"/>
                  </a:lnTo>
                  <a:lnTo>
                    <a:pt x="189" y="6"/>
                  </a:lnTo>
                  <a:lnTo>
                    <a:pt x="192" y="8"/>
                  </a:lnTo>
                  <a:lnTo>
                    <a:pt x="198" y="11"/>
                  </a:lnTo>
                  <a:lnTo>
                    <a:pt x="201" y="16"/>
                  </a:lnTo>
                  <a:lnTo>
                    <a:pt x="208" y="25"/>
                  </a:lnTo>
                  <a:lnTo>
                    <a:pt x="212" y="30"/>
                  </a:lnTo>
                  <a:lnTo>
                    <a:pt x="213" y="35"/>
                  </a:lnTo>
                  <a:lnTo>
                    <a:pt x="217" y="40"/>
                  </a:lnTo>
                  <a:lnTo>
                    <a:pt x="217" y="46"/>
                  </a:lnTo>
                  <a:lnTo>
                    <a:pt x="219" y="51"/>
                  </a:lnTo>
                  <a:lnTo>
                    <a:pt x="219" y="58"/>
                  </a:lnTo>
                  <a:lnTo>
                    <a:pt x="219" y="63"/>
                  </a:lnTo>
                  <a:lnTo>
                    <a:pt x="219" y="56"/>
                  </a:lnTo>
                  <a:lnTo>
                    <a:pt x="220" y="50"/>
                  </a:lnTo>
                  <a:lnTo>
                    <a:pt x="220" y="45"/>
                  </a:lnTo>
                  <a:lnTo>
                    <a:pt x="222" y="38"/>
                  </a:lnTo>
                  <a:lnTo>
                    <a:pt x="226" y="33"/>
                  </a:lnTo>
                  <a:lnTo>
                    <a:pt x="227" y="28"/>
                  </a:lnTo>
                  <a:lnTo>
                    <a:pt x="234" y="20"/>
                  </a:lnTo>
                  <a:lnTo>
                    <a:pt x="238" y="15"/>
                  </a:lnTo>
                  <a:lnTo>
                    <a:pt x="241" y="11"/>
                  </a:lnTo>
                  <a:lnTo>
                    <a:pt x="247" y="8"/>
                  </a:lnTo>
                  <a:lnTo>
                    <a:pt x="250" y="5"/>
                  </a:lnTo>
                  <a:lnTo>
                    <a:pt x="255" y="3"/>
                  </a:lnTo>
                  <a:lnTo>
                    <a:pt x="261" y="1"/>
                  </a:lnTo>
                  <a:lnTo>
                    <a:pt x="266" y="0"/>
                  </a:lnTo>
                  <a:lnTo>
                    <a:pt x="271" y="0"/>
                  </a:lnTo>
                  <a:lnTo>
                    <a:pt x="278" y="0"/>
                  </a:lnTo>
                  <a:lnTo>
                    <a:pt x="283" y="0"/>
                  </a:lnTo>
                  <a:lnTo>
                    <a:pt x="289" y="1"/>
                  </a:lnTo>
                  <a:lnTo>
                    <a:pt x="294" y="3"/>
                  </a:lnTo>
                  <a:lnTo>
                    <a:pt x="299" y="6"/>
                  </a:lnTo>
                  <a:lnTo>
                    <a:pt x="303" y="8"/>
                  </a:lnTo>
                  <a:lnTo>
                    <a:pt x="308" y="11"/>
                  </a:lnTo>
                  <a:lnTo>
                    <a:pt x="311" y="16"/>
                  </a:lnTo>
                  <a:lnTo>
                    <a:pt x="318" y="25"/>
                  </a:lnTo>
                  <a:lnTo>
                    <a:pt x="322" y="30"/>
                  </a:lnTo>
                  <a:lnTo>
                    <a:pt x="324" y="35"/>
                  </a:lnTo>
                  <a:lnTo>
                    <a:pt x="325" y="40"/>
                  </a:lnTo>
                  <a:lnTo>
                    <a:pt x="327" y="46"/>
                  </a:lnTo>
                  <a:lnTo>
                    <a:pt x="329" y="51"/>
                  </a:lnTo>
                  <a:lnTo>
                    <a:pt x="329" y="58"/>
                  </a:lnTo>
                  <a:lnTo>
                    <a:pt x="329" y="63"/>
                  </a:lnTo>
                  <a:lnTo>
                    <a:pt x="329" y="56"/>
                  </a:lnTo>
                  <a:lnTo>
                    <a:pt x="329" y="50"/>
                  </a:lnTo>
                  <a:lnTo>
                    <a:pt x="331" y="45"/>
                  </a:lnTo>
                  <a:lnTo>
                    <a:pt x="332" y="38"/>
                  </a:lnTo>
                  <a:lnTo>
                    <a:pt x="334" y="33"/>
                  </a:lnTo>
                  <a:lnTo>
                    <a:pt x="338" y="28"/>
                  </a:lnTo>
                  <a:lnTo>
                    <a:pt x="343" y="20"/>
                  </a:lnTo>
                  <a:lnTo>
                    <a:pt x="346" y="15"/>
                  </a:lnTo>
                  <a:lnTo>
                    <a:pt x="352" y="11"/>
                  </a:lnTo>
                  <a:lnTo>
                    <a:pt x="355" y="8"/>
                  </a:lnTo>
                  <a:lnTo>
                    <a:pt x="360" y="5"/>
                  </a:lnTo>
                  <a:lnTo>
                    <a:pt x="366" y="3"/>
                  </a:lnTo>
                  <a:lnTo>
                    <a:pt x="371" y="1"/>
                  </a:lnTo>
                  <a:lnTo>
                    <a:pt x="376" y="0"/>
                  </a:lnTo>
                  <a:lnTo>
                    <a:pt x="381" y="0"/>
                  </a:lnTo>
                  <a:lnTo>
                    <a:pt x="386" y="0"/>
                  </a:lnTo>
                  <a:lnTo>
                    <a:pt x="392" y="0"/>
                  </a:lnTo>
                  <a:lnTo>
                    <a:pt x="397" y="1"/>
                  </a:lnTo>
                  <a:lnTo>
                    <a:pt x="402" y="3"/>
                  </a:lnTo>
                  <a:lnTo>
                    <a:pt x="407" y="6"/>
                  </a:lnTo>
                  <a:lnTo>
                    <a:pt x="413" y="8"/>
                  </a:lnTo>
                  <a:lnTo>
                    <a:pt x="416" y="11"/>
                  </a:lnTo>
                  <a:lnTo>
                    <a:pt x="421" y="16"/>
                  </a:lnTo>
                  <a:lnTo>
                    <a:pt x="428" y="25"/>
                  </a:lnTo>
                  <a:lnTo>
                    <a:pt x="430" y="30"/>
                  </a:lnTo>
                  <a:lnTo>
                    <a:pt x="434" y="35"/>
                  </a:lnTo>
                  <a:lnTo>
                    <a:pt x="435" y="40"/>
                  </a:lnTo>
                  <a:lnTo>
                    <a:pt x="437" y="46"/>
                  </a:lnTo>
                  <a:lnTo>
                    <a:pt x="437" y="51"/>
                  </a:lnTo>
                  <a:lnTo>
                    <a:pt x="439" y="58"/>
                  </a:lnTo>
                  <a:lnTo>
                    <a:pt x="439" y="6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" name="Rectangle 259"/>
            <p:cNvSpPr>
              <a:spLocks noChangeArrowheads="1"/>
            </p:cNvSpPr>
            <p:nvPr/>
          </p:nvSpPr>
          <p:spPr bwMode="auto">
            <a:xfrm>
              <a:off x="4632" y="993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317" name="Rectangle 260"/>
            <p:cNvSpPr>
              <a:spLocks noChangeArrowheads="1"/>
            </p:cNvSpPr>
            <p:nvPr/>
          </p:nvSpPr>
          <p:spPr bwMode="auto">
            <a:xfrm>
              <a:off x="4575" y="956"/>
              <a:ext cx="6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318" name="Rectangle 261"/>
            <p:cNvSpPr>
              <a:spLocks noChangeArrowheads="1"/>
            </p:cNvSpPr>
            <p:nvPr/>
          </p:nvSpPr>
          <p:spPr bwMode="auto">
            <a:xfrm>
              <a:off x="4633" y="1578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319" name="Rectangle 262"/>
            <p:cNvSpPr>
              <a:spLocks noChangeArrowheads="1"/>
            </p:cNvSpPr>
            <p:nvPr/>
          </p:nvSpPr>
          <p:spPr bwMode="auto">
            <a:xfrm>
              <a:off x="4576" y="1538"/>
              <a:ext cx="6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320" name="Rectangle 263"/>
            <p:cNvSpPr>
              <a:spLocks noChangeArrowheads="1"/>
            </p:cNvSpPr>
            <p:nvPr/>
          </p:nvSpPr>
          <p:spPr bwMode="auto">
            <a:xfrm>
              <a:off x="4300" y="1235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321" name="Rectangle 264"/>
            <p:cNvSpPr>
              <a:spLocks noChangeArrowheads="1"/>
            </p:cNvSpPr>
            <p:nvPr/>
          </p:nvSpPr>
          <p:spPr bwMode="auto">
            <a:xfrm>
              <a:off x="4250" y="1197"/>
              <a:ext cx="59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322" name="Rectangle 265"/>
            <p:cNvSpPr>
              <a:spLocks noChangeArrowheads="1"/>
            </p:cNvSpPr>
            <p:nvPr/>
          </p:nvSpPr>
          <p:spPr bwMode="auto">
            <a:xfrm>
              <a:off x="4510" y="1277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323" name="Rectangle 266"/>
            <p:cNvSpPr>
              <a:spLocks noChangeArrowheads="1"/>
            </p:cNvSpPr>
            <p:nvPr/>
          </p:nvSpPr>
          <p:spPr bwMode="auto">
            <a:xfrm>
              <a:off x="4453" y="1236"/>
              <a:ext cx="59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324" name="Freeform 267"/>
            <p:cNvSpPr>
              <a:spLocks noEditPoints="1"/>
            </p:cNvSpPr>
            <p:nvPr/>
          </p:nvSpPr>
          <p:spPr bwMode="auto">
            <a:xfrm>
              <a:off x="4033" y="1658"/>
              <a:ext cx="14" cy="118"/>
            </a:xfrm>
            <a:custGeom>
              <a:avLst/>
              <a:gdLst>
                <a:gd name="T0" fmla="*/ 1 w 28"/>
                <a:gd name="T1" fmla="*/ 1 h 235"/>
                <a:gd name="T2" fmla="*/ 1 w 28"/>
                <a:gd name="T3" fmla="*/ 1 h 235"/>
                <a:gd name="T4" fmla="*/ 1 w 28"/>
                <a:gd name="T5" fmla="*/ 1 h 235"/>
                <a:gd name="T6" fmla="*/ 0 w 28"/>
                <a:gd name="T7" fmla="*/ 1 h 235"/>
                <a:gd name="T8" fmla="*/ 0 w 28"/>
                <a:gd name="T9" fmla="*/ 1 h 235"/>
                <a:gd name="T10" fmla="*/ 1 w 28"/>
                <a:gd name="T11" fmla="*/ 1 h 235"/>
                <a:gd name="T12" fmla="*/ 1 w 28"/>
                <a:gd name="T13" fmla="*/ 1 h 235"/>
                <a:gd name="T14" fmla="*/ 1 w 28"/>
                <a:gd name="T15" fmla="*/ 1 h 235"/>
                <a:gd name="T16" fmla="*/ 1 w 28"/>
                <a:gd name="T17" fmla="*/ 1 h 235"/>
                <a:gd name="T18" fmla="*/ 1 w 28"/>
                <a:gd name="T19" fmla="*/ 1 h 235"/>
                <a:gd name="T20" fmla="*/ 1 w 28"/>
                <a:gd name="T21" fmla="*/ 1 h 235"/>
                <a:gd name="T22" fmla="*/ 1 w 28"/>
                <a:gd name="T23" fmla="*/ 1 h 235"/>
                <a:gd name="T24" fmla="*/ 1 w 28"/>
                <a:gd name="T25" fmla="*/ 1 h 235"/>
                <a:gd name="T26" fmla="*/ 1 w 28"/>
                <a:gd name="T27" fmla="*/ 1 h 235"/>
                <a:gd name="T28" fmla="*/ 1 w 28"/>
                <a:gd name="T29" fmla="*/ 1 h 235"/>
                <a:gd name="T30" fmla="*/ 1 w 28"/>
                <a:gd name="T31" fmla="*/ 1 h 235"/>
                <a:gd name="T32" fmla="*/ 1 w 28"/>
                <a:gd name="T33" fmla="*/ 1 h 235"/>
                <a:gd name="T34" fmla="*/ 1 w 28"/>
                <a:gd name="T35" fmla="*/ 1 h 235"/>
                <a:gd name="T36" fmla="*/ 1 w 28"/>
                <a:gd name="T37" fmla="*/ 0 h 235"/>
                <a:gd name="T38" fmla="*/ 1 w 28"/>
                <a:gd name="T39" fmla="*/ 1 h 235"/>
                <a:gd name="T40" fmla="*/ 1 w 28"/>
                <a:gd name="T41" fmla="*/ 1 h 235"/>
                <a:gd name="T42" fmla="*/ 0 w 28"/>
                <a:gd name="T43" fmla="*/ 1 h 235"/>
                <a:gd name="T44" fmla="*/ 0 w 28"/>
                <a:gd name="T45" fmla="*/ 1 h 235"/>
                <a:gd name="T46" fmla="*/ 1 w 28"/>
                <a:gd name="T47" fmla="*/ 1 h 235"/>
                <a:gd name="T48" fmla="*/ 1 w 28"/>
                <a:gd name="T49" fmla="*/ 1 h 235"/>
                <a:gd name="T50" fmla="*/ 1 w 28"/>
                <a:gd name="T51" fmla="*/ 1 h 235"/>
                <a:gd name="T52" fmla="*/ 1 w 28"/>
                <a:gd name="T53" fmla="*/ 1 h 235"/>
                <a:gd name="T54" fmla="*/ 1 w 28"/>
                <a:gd name="T55" fmla="*/ 1 h 235"/>
                <a:gd name="T56" fmla="*/ 1 w 28"/>
                <a:gd name="T57" fmla="*/ 1 h 235"/>
                <a:gd name="T58" fmla="*/ 1 w 28"/>
                <a:gd name="T59" fmla="*/ 1 h 235"/>
                <a:gd name="T60" fmla="*/ 1 w 28"/>
                <a:gd name="T61" fmla="*/ 1 h 235"/>
                <a:gd name="T62" fmla="*/ 1 w 28"/>
                <a:gd name="T63" fmla="*/ 1 h 235"/>
                <a:gd name="T64" fmla="*/ 1 w 28"/>
                <a:gd name="T65" fmla="*/ 1 h 235"/>
                <a:gd name="T66" fmla="*/ 1 w 28"/>
                <a:gd name="T67" fmla="*/ 1 h 235"/>
                <a:gd name="T68" fmla="*/ 1 w 28"/>
                <a:gd name="T69" fmla="*/ 0 h 235"/>
                <a:gd name="T70" fmla="*/ 1 w 28"/>
                <a:gd name="T71" fmla="*/ 0 h 23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8"/>
                <a:gd name="T109" fmla="*/ 0 h 235"/>
                <a:gd name="T110" fmla="*/ 28 w 28"/>
                <a:gd name="T111" fmla="*/ 235 h 23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8" h="235">
                  <a:moveTo>
                    <a:pt x="14" y="209"/>
                  </a:moveTo>
                  <a:lnTo>
                    <a:pt x="11" y="209"/>
                  </a:lnTo>
                  <a:lnTo>
                    <a:pt x="9" y="210"/>
                  </a:lnTo>
                  <a:lnTo>
                    <a:pt x="6" y="212"/>
                  </a:lnTo>
                  <a:lnTo>
                    <a:pt x="4" y="214"/>
                  </a:lnTo>
                  <a:lnTo>
                    <a:pt x="2" y="215"/>
                  </a:lnTo>
                  <a:lnTo>
                    <a:pt x="2" y="217"/>
                  </a:lnTo>
                  <a:lnTo>
                    <a:pt x="0" y="220"/>
                  </a:lnTo>
                  <a:lnTo>
                    <a:pt x="0" y="222"/>
                  </a:lnTo>
                  <a:lnTo>
                    <a:pt x="0" y="225"/>
                  </a:lnTo>
                  <a:lnTo>
                    <a:pt x="2" y="227"/>
                  </a:lnTo>
                  <a:lnTo>
                    <a:pt x="2" y="229"/>
                  </a:lnTo>
                  <a:lnTo>
                    <a:pt x="4" y="232"/>
                  </a:lnTo>
                  <a:lnTo>
                    <a:pt x="6" y="234"/>
                  </a:lnTo>
                  <a:lnTo>
                    <a:pt x="9" y="234"/>
                  </a:lnTo>
                  <a:lnTo>
                    <a:pt x="11" y="235"/>
                  </a:lnTo>
                  <a:lnTo>
                    <a:pt x="14" y="235"/>
                  </a:lnTo>
                  <a:lnTo>
                    <a:pt x="16" y="235"/>
                  </a:lnTo>
                  <a:lnTo>
                    <a:pt x="20" y="234"/>
                  </a:lnTo>
                  <a:lnTo>
                    <a:pt x="21" y="234"/>
                  </a:lnTo>
                  <a:lnTo>
                    <a:pt x="23" y="232"/>
                  </a:lnTo>
                  <a:lnTo>
                    <a:pt x="25" y="229"/>
                  </a:lnTo>
                  <a:lnTo>
                    <a:pt x="26" y="227"/>
                  </a:lnTo>
                  <a:lnTo>
                    <a:pt x="26" y="225"/>
                  </a:lnTo>
                  <a:lnTo>
                    <a:pt x="28" y="222"/>
                  </a:lnTo>
                  <a:lnTo>
                    <a:pt x="26" y="220"/>
                  </a:lnTo>
                  <a:lnTo>
                    <a:pt x="26" y="217"/>
                  </a:lnTo>
                  <a:lnTo>
                    <a:pt x="25" y="215"/>
                  </a:lnTo>
                  <a:lnTo>
                    <a:pt x="23" y="214"/>
                  </a:lnTo>
                  <a:lnTo>
                    <a:pt x="21" y="212"/>
                  </a:lnTo>
                  <a:lnTo>
                    <a:pt x="20" y="210"/>
                  </a:lnTo>
                  <a:lnTo>
                    <a:pt x="16" y="209"/>
                  </a:lnTo>
                  <a:lnTo>
                    <a:pt x="14" y="209"/>
                  </a:lnTo>
                  <a:close/>
                  <a:moveTo>
                    <a:pt x="14" y="0"/>
                  </a:moveTo>
                  <a:lnTo>
                    <a:pt x="11" y="0"/>
                  </a:lnTo>
                  <a:lnTo>
                    <a:pt x="9" y="1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5"/>
                  </a:lnTo>
                  <a:lnTo>
                    <a:pt x="2" y="8"/>
                  </a:lnTo>
                  <a:lnTo>
                    <a:pt x="0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9" y="25"/>
                  </a:lnTo>
                  <a:lnTo>
                    <a:pt x="11" y="25"/>
                  </a:lnTo>
                  <a:lnTo>
                    <a:pt x="14" y="26"/>
                  </a:lnTo>
                  <a:lnTo>
                    <a:pt x="16" y="25"/>
                  </a:lnTo>
                  <a:lnTo>
                    <a:pt x="20" y="25"/>
                  </a:lnTo>
                  <a:lnTo>
                    <a:pt x="21" y="23"/>
                  </a:lnTo>
                  <a:lnTo>
                    <a:pt x="23" y="21"/>
                  </a:lnTo>
                  <a:lnTo>
                    <a:pt x="25" y="20"/>
                  </a:lnTo>
                  <a:lnTo>
                    <a:pt x="26" y="18"/>
                  </a:lnTo>
                  <a:lnTo>
                    <a:pt x="26" y="15"/>
                  </a:lnTo>
                  <a:lnTo>
                    <a:pt x="28" y="13"/>
                  </a:lnTo>
                  <a:lnTo>
                    <a:pt x="26" y="10"/>
                  </a:lnTo>
                  <a:lnTo>
                    <a:pt x="26" y="8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6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5" name="Freeform 268"/>
            <p:cNvSpPr>
              <a:spLocks/>
            </p:cNvSpPr>
            <p:nvPr/>
          </p:nvSpPr>
          <p:spPr bwMode="auto">
            <a:xfrm>
              <a:off x="4033" y="1763"/>
              <a:ext cx="14" cy="13"/>
            </a:xfrm>
            <a:custGeom>
              <a:avLst/>
              <a:gdLst>
                <a:gd name="T0" fmla="*/ 1 w 28"/>
                <a:gd name="T1" fmla="*/ 0 h 26"/>
                <a:gd name="T2" fmla="*/ 1 w 28"/>
                <a:gd name="T3" fmla="*/ 0 h 26"/>
                <a:gd name="T4" fmla="*/ 1 w 28"/>
                <a:gd name="T5" fmla="*/ 1 h 26"/>
                <a:gd name="T6" fmla="*/ 1 w 28"/>
                <a:gd name="T7" fmla="*/ 1 h 26"/>
                <a:gd name="T8" fmla="*/ 1 w 28"/>
                <a:gd name="T9" fmla="*/ 1 h 26"/>
                <a:gd name="T10" fmla="*/ 1 w 28"/>
                <a:gd name="T11" fmla="*/ 1 h 26"/>
                <a:gd name="T12" fmla="*/ 1 w 28"/>
                <a:gd name="T13" fmla="*/ 1 h 26"/>
                <a:gd name="T14" fmla="*/ 0 w 28"/>
                <a:gd name="T15" fmla="*/ 1 h 26"/>
                <a:gd name="T16" fmla="*/ 0 w 28"/>
                <a:gd name="T17" fmla="*/ 1 h 26"/>
                <a:gd name="T18" fmla="*/ 0 w 28"/>
                <a:gd name="T19" fmla="*/ 1 h 26"/>
                <a:gd name="T20" fmla="*/ 1 w 28"/>
                <a:gd name="T21" fmla="*/ 1 h 26"/>
                <a:gd name="T22" fmla="*/ 1 w 28"/>
                <a:gd name="T23" fmla="*/ 1 h 26"/>
                <a:gd name="T24" fmla="*/ 1 w 28"/>
                <a:gd name="T25" fmla="*/ 1 h 26"/>
                <a:gd name="T26" fmla="*/ 1 w 28"/>
                <a:gd name="T27" fmla="*/ 1 h 26"/>
                <a:gd name="T28" fmla="*/ 1 w 28"/>
                <a:gd name="T29" fmla="*/ 1 h 26"/>
                <a:gd name="T30" fmla="*/ 1 w 28"/>
                <a:gd name="T31" fmla="*/ 1 h 26"/>
                <a:gd name="T32" fmla="*/ 1 w 28"/>
                <a:gd name="T33" fmla="*/ 1 h 26"/>
                <a:gd name="T34" fmla="*/ 1 w 28"/>
                <a:gd name="T35" fmla="*/ 1 h 26"/>
                <a:gd name="T36" fmla="*/ 1 w 28"/>
                <a:gd name="T37" fmla="*/ 1 h 26"/>
                <a:gd name="T38" fmla="*/ 1 w 28"/>
                <a:gd name="T39" fmla="*/ 1 h 26"/>
                <a:gd name="T40" fmla="*/ 1 w 28"/>
                <a:gd name="T41" fmla="*/ 1 h 26"/>
                <a:gd name="T42" fmla="*/ 1 w 28"/>
                <a:gd name="T43" fmla="*/ 1 h 26"/>
                <a:gd name="T44" fmla="*/ 1 w 28"/>
                <a:gd name="T45" fmla="*/ 1 h 26"/>
                <a:gd name="T46" fmla="*/ 1 w 28"/>
                <a:gd name="T47" fmla="*/ 1 h 26"/>
                <a:gd name="T48" fmla="*/ 1 w 28"/>
                <a:gd name="T49" fmla="*/ 1 h 26"/>
                <a:gd name="T50" fmla="*/ 1 w 28"/>
                <a:gd name="T51" fmla="*/ 1 h 26"/>
                <a:gd name="T52" fmla="*/ 1 w 28"/>
                <a:gd name="T53" fmla="*/ 1 h 26"/>
                <a:gd name="T54" fmla="*/ 1 w 28"/>
                <a:gd name="T55" fmla="*/ 1 h 26"/>
                <a:gd name="T56" fmla="*/ 1 w 28"/>
                <a:gd name="T57" fmla="*/ 1 h 26"/>
                <a:gd name="T58" fmla="*/ 1 w 28"/>
                <a:gd name="T59" fmla="*/ 1 h 26"/>
                <a:gd name="T60" fmla="*/ 1 w 28"/>
                <a:gd name="T61" fmla="*/ 1 h 26"/>
                <a:gd name="T62" fmla="*/ 1 w 28"/>
                <a:gd name="T63" fmla="*/ 1 h 26"/>
                <a:gd name="T64" fmla="*/ 1 w 28"/>
                <a:gd name="T65" fmla="*/ 0 h 26"/>
                <a:gd name="T66" fmla="*/ 1 w 28"/>
                <a:gd name="T67" fmla="*/ 0 h 26"/>
                <a:gd name="T68" fmla="*/ 1 w 28"/>
                <a:gd name="T69" fmla="*/ 0 h 2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6"/>
                <a:gd name="T107" fmla="*/ 28 w 28"/>
                <a:gd name="T108" fmla="*/ 26 h 2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6">
                  <a:moveTo>
                    <a:pt x="14" y="0"/>
                  </a:moveTo>
                  <a:lnTo>
                    <a:pt x="11" y="0"/>
                  </a:lnTo>
                  <a:lnTo>
                    <a:pt x="9" y="1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6"/>
                  </a:lnTo>
                  <a:lnTo>
                    <a:pt x="2" y="8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6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4" y="23"/>
                  </a:lnTo>
                  <a:lnTo>
                    <a:pt x="6" y="25"/>
                  </a:lnTo>
                  <a:lnTo>
                    <a:pt x="9" y="25"/>
                  </a:lnTo>
                  <a:lnTo>
                    <a:pt x="11" y="26"/>
                  </a:lnTo>
                  <a:lnTo>
                    <a:pt x="14" y="26"/>
                  </a:lnTo>
                  <a:lnTo>
                    <a:pt x="16" y="26"/>
                  </a:lnTo>
                  <a:lnTo>
                    <a:pt x="20" y="25"/>
                  </a:lnTo>
                  <a:lnTo>
                    <a:pt x="21" y="25"/>
                  </a:lnTo>
                  <a:lnTo>
                    <a:pt x="23" y="23"/>
                  </a:lnTo>
                  <a:lnTo>
                    <a:pt x="25" y="20"/>
                  </a:lnTo>
                  <a:lnTo>
                    <a:pt x="26" y="18"/>
                  </a:lnTo>
                  <a:lnTo>
                    <a:pt x="26" y="16"/>
                  </a:lnTo>
                  <a:lnTo>
                    <a:pt x="28" y="13"/>
                  </a:lnTo>
                  <a:lnTo>
                    <a:pt x="26" y="11"/>
                  </a:lnTo>
                  <a:lnTo>
                    <a:pt x="26" y="8"/>
                  </a:lnTo>
                  <a:lnTo>
                    <a:pt x="25" y="6"/>
                  </a:lnTo>
                  <a:lnTo>
                    <a:pt x="23" y="5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6" y="0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" name="Freeform 269"/>
            <p:cNvSpPr>
              <a:spLocks/>
            </p:cNvSpPr>
            <p:nvPr/>
          </p:nvSpPr>
          <p:spPr bwMode="auto">
            <a:xfrm>
              <a:off x="4033" y="1658"/>
              <a:ext cx="14" cy="14"/>
            </a:xfrm>
            <a:custGeom>
              <a:avLst/>
              <a:gdLst>
                <a:gd name="T0" fmla="*/ 1 w 28"/>
                <a:gd name="T1" fmla="*/ 0 h 26"/>
                <a:gd name="T2" fmla="*/ 1 w 28"/>
                <a:gd name="T3" fmla="*/ 0 h 26"/>
                <a:gd name="T4" fmla="*/ 1 w 28"/>
                <a:gd name="T5" fmla="*/ 1 h 26"/>
                <a:gd name="T6" fmla="*/ 1 w 28"/>
                <a:gd name="T7" fmla="*/ 1 h 26"/>
                <a:gd name="T8" fmla="*/ 1 w 28"/>
                <a:gd name="T9" fmla="*/ 1 h 26"/>
                <a:gd name="T10" fmla="*/ 1 w 28"/>
                <a:gd name="T11" fmla="*/ 1 h 26"/>
                <a:gd name="T12" fmla="*/ 1 w 28"/>
                <a:gd name="T13" fmla="*/ 1 h 26"/>
                <a:gd name="T14" fmla="*/ 0 w 28"/>
                <a:gd name="T15" fmla="*/ 1 h 26"/>
                <a:gd name="T16" fmla="*/ 0 w 28"/>
                <a:gd name="T17" fmla="*/ 1 h 26"/>
                <a:gd name="T18" fmla="*/ 0 w 28"/>
                <a:gd name="T19" fmla="*/ 1 h 26"/>
                <a:gd name="T20" fmla="*/ 1 w 28"/>
                <a:gd name="T21" fmla="*/ 1 h 26"/>
                <a:gd name="T22" fmla="*/ 1 w 28"/>
                <a:gd name="T23" fmla="*/ 1 h 26"/>
                <a:gd name="T24" fmla="*/ 1 w 28"/>
                <a:gd name="T25" fmla="*/ 1 h 26"/>
                <a:gd name="T26" fmla="*/ 1 w 28"/>
                <a:gd name="T27" fmla="*/ 1 h 26"/>
                <a:gd name="T28" fmla="*/ 1 w 28"/>
                <a:gd name="T29" fmla="*/ 1 h 26"/>
                <a:gd name="T30" fmla="*/ 1 w 28"/>
                <a:gd name="T31" fmla="*/ 1 h 26"/>
                <a:gd name="T32" fmla="*/ 1 w 28"/>
                <a:gd name="T33" fmla="*/ 1 h 26"/>
                <a:gd name="T34" fmla="*/ 1 w 28"/>
                <a:gd name="T35" fmla="*/ 1 h 26"/>
                <a:gd name="T36" fmla="*/ 1 w 28"/>
                <a:gd name="T37" fmla="*/ 1 h 26"/>
                <a:gd name="T38" fmla="*/ 1 w 28"/>
                <a:gd name="T39" fmla="*/ 1 h 26"/>
                <a:gd name="T40" fmla="*/ 1 w 28"/>
                <a:gd name="T41" fmla="*/ 1 h 26"/>
                <a:gd name="T42" fmla="*/ 1 w 28"/>
                <a:gd name="T43" fmla="*/ 1 h 26"/>
                <a:gd name="T44" fmla="*/ 1 w 28"/>
                <a:gd name="T45" fmla="*/ 1 h 26"/>
                <a:gd name="T46" fmla="*/ 1 w 28"/>
                <a:gd name="T47" fmla="*/ 1 h 26"/>
                <a:gd name="T48" fmla="*/ 1 w 28"/>
                <a:gd name="T49" fmla="*/ 1 h 26"/>
                <a:gd name="T50" fmla="*/ 1 w 28"/>
                <a:gd name="T51" fmla="*/ 1 h 26"/>
                <a:gd name="T52" fmla="*/ 1 w 28"/>
                <a:gd name="T53" fmla="*/ 1 h 26"/>
                <a:gd name="T54" fmla="*/ 1 w 28"/>
                <a:gd name="T55" fmla="*/ 1 h 26"/>
                <a:gd name="T56" fmla="*/ 1 w 28"/>
                <a:gd name="T57" fmla="*/ 1 h 26"/>
                <a:gd name="T58" fmla="*/ 1 w 28"/>
                <a:gd name="T59" fmla="*/ 1 h 26"/>
                <a:gd name="T60" fmla="*/ 1 w 28"/>
                <a:gd name="T61" fmla="*/ 1 h 26"/>
                <a:gd name="T62" fmla="*/ 1 w 28"/>
                <a:gd name="T63" fmla="*/ 1 h 26"/>
                <a:gd name="T64" fmla="*/ 1 w 28"/>
                <a:gd name="T65" fmla="*/ 0 h 26"/>
                <a:gd name="T66" fmla="*/ 1 w 28"/>
                <a:gd name="T67" fmla="*/ 0 h 26"/>
                <a:gd name="T68" fmla="*/ 1 w 28"/>
                <a:gd name="T69" fmla="*/ 0 h 2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6"/>
                <a:gd name="T107" fmla="*/ 28 w 28"/>
                <a:gd name="T108" fmla="*/ 26 h 2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6">
                  <a:moveTo>
                    <a:pt x="14" y="0"/>
                  </a:moveTo>
                  <a:lnTo>
                    <a:pt x="11" y="0"/>
                  </a:lnTo>
                  <a:lnTo>
                    <a:pt x="9" y="1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5"/>
                  </a:lnTo>
                  <a:lnTo>
                    <a:pt x="2" y="8"/>
                  </a:lnTo>
                  <a:lnTo>
                    <a:pt x="0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9" y="25"/>
                  </a:lnTo>
                  <a:lnTo>
                    <a:pt x="11" y="25"/>
                  </a:lnTo>
                  <a:lnTo>
                    <a:pt x="14" y="26"/>
                  </a:lnTo>
                  <a:lnTo>
                    <a:pt x="16" y="25"/>
                  </a:lnTo>
                  <a:lnTo>
                    <a:pt x="20" y="25"/>
                  </a:lnTo>
                  <a:lnTo>
                    <a:pt x="21" y="23"/>
                  </a:lnTo>
                  <a:lnTo>
                    <a:pt x="23" y="21"/>
                  </a:lnTo>
                  <a:lnTo>
                    <a:pt x="25" y="20"/>
                  </a:lnTo>
                  <a:lnTo>
                    <a:pt x="26" y="18"/>
                  </a:lnTo>
                  <a:lnTo>
                    <a:pt x="26" y="15"/>
                  </a:lnTo>
                  <a:lnTo>
                    <a:pt x="28" y="13"/>
                  </a:lnTo>
                  <a:lnTo>
                    <a:pt x="26" y="10"/>
                  </a:lnTo>
                  <a:lnTo>
                    <a:pt x="26" y="8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6" y="0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" name="Line 270"/>
            <p:cNvSpPr>
              <a:spLocks noChangeShapeType="1"/>
            </p:cNvSpPr>
            <p:nvPr/>
          </p:nvSpPr>
          <p:spPr bwMode="auto">
            <a:xfrm>
              <a:off x="4042" y="1671"/>
              <a:ext cx="32" cy="8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" name="Freeform 271"/>
            <p:cNvSpPr>
              <a:spLocks/>
            </p:cNvSpPr>
            <p:nvPr/>
          </p:nvSpPr>
          <p:spPr bwMode="auto">
            <a:xfrm>
              <a:off x="4399" y="1392"/>
              <a:ext cx="32" cy="210"/>
            </a:xfrm>
            <a:custGeom>
              <a:avLst/>
              <a:gdLst>
                <a:gd name="T0" fmla="*/ 1 w 64"/>
                <a:gd name="T1" fmla="*/ 0 h 420"/>
                <a:gd name="T2" fmla="*/ 1 w 64"/>
                <a:gd name="T3" fmla="*/ 1 h 420"/>
                <a:gd name="T4" fmla="*/ 1 w 64"/>
                <a:gd name="T5" fmla="*/ 1 h 420"/>
                <a:gd name="T6" fmla="*/ 1 w 64"/>
                <a:gd name="T7" fmla="*/ 1 h 420"/>
                <a:gd name="T8" fmla="*/ 1 w 64"/>
                <a:gd name="T9" fmla="*/ 1 h 420"/>
                <a:gd name="T10" fmla="*/ 1 w 64"/>
                <a:gd name="T11" fmla="*/ 1 h 420"/>
                <a:gd name="T12" fmla="*/ 1 w 64"/>
                <a:gd name="T13" fmla="*/ 1 h 420"/>
                <a:gd name="T14" fmla="*/ 0 w 64"/>
                <a:gd name="T15" fmla="*/ 1 h 420"/>
                <a:gd name="T16" fmla="*/ 0 w 64"/>
                <a:gd name="T17" fmla="*/ 1 h 420"/>
                <a:gd name="T18" fmla="*/ 1 w 64"/>
                <a:gd name="T19" fmla="*/ 1 h 420"/>
                <a:gd name="T20" fmla="*/ 1 w 64"/>
                <a:gd name="T21" fmla="*/ 1 h 420"/>
                <a:gd name="T22" fmla="*/ 1 w 64"/>
                <a:gd name="T23" fmla="*/ 1 h 420"/>
                <a:gd name="T24" fmla="*/ 1 w 64"/>
                <a:gd name="T25" fmla="*/ 1 h 420"/>
                <a:gd name="T26" fmla="*/ 1 w 64"/>
                <a:gd name="T27" fmla="*/ 1 h 420"/>
                <a:gd name="T28" fmla="*/ 1 w 64"/>
                <a:gd name="T29" fmla="*/ 1 h 420"/>
                <a:gd name="T30" fmla="*/ 1 w 64"/>
                <a:gd name="T31" fmla="*/ 1 h 420"/>
                <a:gd name="T32" fmla="*/ 1 w 64"/>
                <a:gd name="T33" fmla="*/ 1 h 420"/>
                <a:gd name="T34" fmla="*/ 1 w 64"/>
                <a:gd name="T35" fmla="*/ 1 h 420"/>
                <a:gd name="T36" fmla="*/ 1 w 64"/>
                <a:gd name="T37" fmla="*/ 1 h 420"/>
                <a:gd name="T38" fmla="*/ 1 w 64"/>
                <a:gd name="T39" fmla="*/ 1 h 420"/>
                <a:gd name="T40" fmla="*/ 1 w 64"/>
                <a:gd name="T41" fmla="*/ 1 h 420"/>
                <a:gd name="T42" fmla="*/ 1 w 64"/>
                <a:gd name="T43" fmla="*/ 1 h 420"/>
                <a:gd name="T44" fmla="*/ 0 w 64"/>
                <a:gd name="T45" fmla="*/ 1 h 420"/>
                <a:gd name="T46" fmla="*/ 0 w 64"/>
                <a:gd name="T47" fmla="*/ 1 h 420"/>
                <a:gd name="T48" fmla="*/ 1 w 64"/>
                <a:gd name="T49" fmla="*/ 1 h 420"/>
                <a:gd name="T50" fmla="*/ 1 w 64"/>
                <a:gd name="T51" fmla="*/ 1 h 420"/>
                <a:gd name="T52" fmla="*/ 1 w 64"/>
                <a:gd name="T53" fmla="*/ 1 h 420"/>
                <a:gd name="T54" fmla="*/ 1 w 64"/>
                <a:gd name="T55" fmla="*/ 1 h 420"/>
                <a:gd name="T56" fmla="*/ 1 w 64"/>
                <a:gd name="T57" fmla="*/ 1 h 420"/>
                <a:gd name="T58" fmla="*/ 1 w 64"/>
                <a:gd name="T59" fmla="*/ 1 h 420"/>
                <a:gd name="T60" fmla="*/ 1 w 64"/>
                <a:gd name="T61" fmla="*/ 1 h 420"/>
                <a:gd name="T62" fmla="*/ 1 w 64"/>
                <a:gd name="T63" fmla="*/ 1 h 420"/>
                <a:gd name="T64" fmla="*/ 1 w 64"/>
                <a:gd name="T65" fmla="*/ 1 h 420"/>
                <a:gd name="T66" fmla="*/ 1 w 64"/>
                <a:gd name="T67" fmla="*/ 1 h 420"/>
                <a:gd name="T68" fmla="*/ 1 w 64"/>
                <a:gd name="T69" fmla="*/ 1 h 420"/>
                <a:gd name="T70" fmla="*/ 1 w 64"/>
                <a:gd name="T71" fmla="*/ 1 h 420"/>
                <a:gd name="T72" fmla="*/ 1 w 64"/>
                <a:gd name="T73" fmla="*/ 1 h 420"/>
                <a:gd name="T74" fmla="*/ 1 w 64"/>
                <a:gd name="T75" fmla="*/ 1 h 420"/>
                <a:gd name="T76" fmla="*/ 0 w 64"/>
                <a:gd name="T77" fmla="*/ 2 h 420"/>
                <a:gd name="T78" fmla="*/ 0 w 64"/>
                <a:gd name="T79" fmla="*/ 2 h 420"/>
                <a:gd name="T80" fmla="*/ 1 w 64"/>
                <a:gd name="T81" fmla="*/ 2 h 420"/>
                <a:gd name="T82" fmla="*/ 1 w 64"/>
                <a:gd name="T83" fmla="*/ 2 h 420"/>
                <a:gd name="T84" fmla="*/ 1 w 64"/>
                <a:gd name="T85" fmla="*/ 2 h 420"/>
                <a:gd name="T86" fmla="*/ 1 w 64"/>
                <a:gd name="T87" fmla="*/ 2 h 420"/>
                <a:gd name="T88" fmla="*/ 1 w 64"/>
                <a:gd name="T89" fmla="*/ 2 h 420"/>
                <a:gd name="T90" fmla="*/ 1 w 64"/>
                <a:gd name="T91" fmla="*/ 2 h 420"/>
                <a:gd name="T92" fmla="*/ 1 w 64"/>
                <a:gd name="T93" fmla="*/ 2 h 420"/>
                <a:gd name="T94" fmla="*/ 1 w 64"/>
                <a:gd name="T95" fmla="*/ 2 h 420"/>
                <a:gd name="T96" fmla="*/ 1 w 64"/>
                <a:gd name="T97" fmla="*/ 2 h 420"/>
                <a:gd name="T98" fmla="*/ 1 w 64"/>
                <a:gd name="T99" fmla="*/ 2 h 420"/>
                <a:gd name="T100" fmla="*/ 1 w 64"/>
                <a:gd name="T101" fmla="*/ 2 h 420"/>
                <a:gd name="T102" fmla="*/ 1 w 64"/>
                <a:gd name="T103" fmla="*/ 2 h 420"/>
                <a:gd name="T104" fmla="*/ 1 w 64"/>
                <a:gd name="T105" fmla="*/ 2 h 420"/>
                <a:gd name="T106" fmla="*/ 0 w 64"/>
                <a:gd name="T107" fmla="*/ 2 h 420"/>
                <a:gd name="T108" fmla="*/ 0 w 64"/>
                <a:gd name="T109" fmla="*/ 2 h 420"/>
                <a:gd name="T110" fmla="*/ 1 w 64"/>
                <a:gd name="T111" fmla="*/ 2 h 420"/>
                <a:gd name="T112" fmla="*/ 1 w 64"/>
                <a:gd name="T113" fmla="*/ 2 h 420"/>
                <a:gd name="T114" fmla="*/ 1 w 64"/>
                <a:gd name="T115" fmla="*/ 2 h 420"/>
                <a:gd name="T116" fmla="*/ 1 w 64"/>
                <a:gd name="T117" fmla="*/ 2 h 420"/>
                <a:gd name="T118" fmla="*/ 1 w 64"/>
                <a:gd name="T119" fmla="*/ 2 h 420"/>
                <a:gd name="T120" fmla="*/ 1 w 64"/>
                <a:gd name="T121" fmla="*/ 2 h 420"/>
                <a:gd name="T122" fmla="*/ 1 w 64"/>
                <a:gd name="T123" fmla="*/ 2 h 42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64"/>
                <a:gd name="T187" fmla="*/ 0 h 420"/>
                <a:gd name="T188" fmla="*/ 64 w 64"/>
                <a:gd name="T189" fmla="*/ 420 h 42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64" h="420">
                  <a:moveTo>
                    <a:pt x="64" y="0"/>
                  </a:moveTo>
                  <a:lnTo>
                    <a:pt x="59" y="0"/>
                  </a:lnTo>
                  <a:lnTo>
                    <a:pt x="52" y="0"/>
                  </a:lnTo>
                  <a:lnTo>
                    <a:pt x="45" y="2"/>
                  </a:lnTo>
                  <a:lnTo>
                    <a:pt x="40" y="4"/>
                  </a:lnTo>
                  <a:lnTo>
                    <a:pt x="35" y="5"/>
                  </a:lnTo>
                  <a:lnTo>
                    <a:pt x="29" y="7"/>
                  </a:lnTo>
                  <a:lnTo>
                    <a:pt x="19" y="14"/>
                  </a:lnTo>
                  <a:lnTo>
                    <a:pt x="15" y="17"/>
                  </a:lnTo>
                  <a:lnTo>
                    <a:pt x="12" y="21"/>
                  </a:lnTo>
                  <a:lnTo>
                    <a:pt x="8" y="26"/>
                  </a:lnTo>
                  <a:lnTo>
                    <a:pt x="5" y="31"/>
                  </a:lnTo>
                  <a:lnTo>
                    <a:pt x="3" y="36"/>
                  </a:lnTo>
                  <a:lnTo>
                    <a:pt x="1" y="41"/>
                  </a:lnTo>
                  <a:lnTo>
                    <a:pt x="0" y="46"/>
                  </a:lnTo>
                  <a:lnTo>
                    <a:pt x="0" y="51"/>
                  </a:lnTo>
                  <a:lnTo>
                    <a:pt x="0" y="56"/>
                  </a:lnTo>
                  <a:lnTo>
                    <a:pt x="0" y="61"/>
                  </a:lnTo>
                  <a:lnTo>
                    <a:pt x="1" y="66"/>
                  </a:lnTo>
                  <a:lnTo>
                    <a:pt x="3" y="71"/>
                  </a:lnTo>
                  <a:lnTo>
                    <a:pt x="5" y="76"/>
                  </a:lnTo>
                  <a:lnTo>
                    <a:pt x="8" y="81"/>
                  </a:lnTo>
                  <a:lnTo>
                    <a:pt x="12" y="84"/>
                  </a:lnTo>
                  <a:lnTo>
                    <a:pt x="15" y="87"/>
                  </a:lnTo>
                  <a:lnTo>
                    <a:pt x="24" y="94"/>
                  </a:lnTo>
                  <a:lnTo>
                    <a:pt x="29" y="97"/>
                  </a:lnTo>
                  <a:lnTo>
                    <a:pt x="35" y="99"/>
                  </a:lnTo>
                  <a:lnTo>
                    <a:pt x="42" y="103"/>
                  </a:lnTo>
                  <a:lnTo>
                    <a:pt x="47" y="104"/>
                  </a:lnTo>
                  <a:lnTo>
                    <a:pt x="54" y="104"/>
                  </a:lnTo>
                  <a:lnTo>
                    <a:pt x="59" y="104"/>
                  </a:lnTo>
                  <a:lnTo>
                    <a:pt x="64" y="104"/>
                  </a:lnTo>
                  <a:lnTo>
                    <a:pt x="59" y="104"/>
                  </a:lnTo>
                  <a:lnTo>
                    <a:pt x="52" y="106"/>
                  </a:lnTo>
                  <a:lnTo>
                    <a:pt x="45" y="106"/>
                  </a:lnTo>
                  <a:lnTo>
                    <a:pt x="40" y="108"/>
                  </a:lnTo>
                  <a:lnTo>
                    <a:pt x="35" y="111"/>
                  </a:lnTo>
                  <a:lnTo>
                    <a:pt x="29" y="113"/>
                  </a:lnTo>
                  <a:lnTo>
                    <a:pt x="19" y="119"/>
                  </a:lnTo>
                  <a:lnTo>
                    <a:pt x="15" y="123"/>
                  </a:lnTo>
                  <a:lnTo>
                    <a:pt x="12" y="126"/>
                  </a:lnTo>
                  <a:lnTo>
                    <a:pt x="8" y="131"/>
                  </a:lnTo>
                  <a:lnTo>
                    <a:pt x="5" y="134"/>
                  </a:lnTo>
                  <a:lnTo>
                    <a:pt x="3" y="139"/>
                  </a:lnTo>
                  <a:lnTo>
                    <a:pt x="1" y="144"/>
                  </a:lnTo>
                  <a:lnTo>
                    <a:pt x="0" y="149"/>
                  </a:lnTo>
                  <a:lnTo>
                    <a:pt x="0" y="156"/>
                  </a:lnTo>
                  <a:lnTo>
                    <a:pt x="0" y="161"/>
                  </a:lnTo>
                  <a:lnTo>
                    <a:pt x="0" y="166"/>
                  </a:lnTo>
                  <a:lnTo>
                    <a:pt x="1" y="171"/>
                  </a:lnTo>
                  <a:lnTo>
                    <a:pt x="3" y="176"/>
                  </a:lnTo>
                  <a:lnTo>
                    <a:pt x="5" y="181"/>
                  </a:lnTo>
                  <a:lnTo>
                    <a:pt x="8" y="185"/>
                  </a:lnTo>
                  <a:lnTo>
                    <a:pt x="12" y="190"/>
                  </a:lnTo>
                  <a:lnTo>
                    <a:pt x="15" y="193"/>
                  </a:lnTo>
                  <a:lnTo>
                    <a:pt x="24" y="200"/>
                  </a:lnTo>
                  <a:lnTo>
                    <a:pt x="29" y="203"/>
                  </a:lnTo>
                  <a:lnTo>
                    <a:pt x="35" y="205"/>
                  </a:lnTo>
                  <a:lnTo>
                    <a:pt x="42" y="206"/>
                  </a:lnTo>
                  <a:lnTo>
                    <a:pt x="47" y="208"/>
                  </a:lnTo>
                  <a:lnTo>
                    <a:pt x="54" y="210"/>
                  </a:lnTo>
                  <a:lnTo>
                    <a:pt x="59" y="210"/>
                  </a:lnTo>
                  <a:lnTo>
                    <a:pt x="64" y="210"/>
                  </a:lnTo>
                  <a:lnTo>
                    <a:pt x="59" y="210"/>
                  </a:lnTo>
                  <a:lnTo>
                    <a:pt x="52" y="210"/>
                  </a:lnTo>
                  <a:lnTo>
                    <a:pt x="45" y="211"/>
                  </a:lnTo>
                  <a:lnTo>
                    <a:pt x="40" y="213"/>
                  </a:lnTo>
                  <a:lnTo>
                    <a:pt x="35" y="215"/>
                  </a:lnTo>
                  <a:lnTo>
                    <a:pt x="29" y="218"/>
                  </a:lnTo>
                  <a:lnTo>
                    <a:pt x="19" y="223"/>
                  </a:lnTo>
                  <a:lnTo>
                    <a:pt x="15" y="228"/>
                  </a:lnTo>
                  <a:lnTo>
                    <a:pt x="12" y="231"/>
                  </a:lnTo>
                  <a:lnTo>
                    <a:pt x="8" y="235"/>
                  </a:lnTo>
                  <a:lnTo>
                    <a:pt x="5" y="240"/>
                  </a:lnTo>
                  <a:lnTo>
                    <a:pt x="3" y="245"/>
                  </a:lnTo>
                  <a:lnTo>
                    <a:pt x="1" y="250"/>
                  </a:lnTo>
                  <a:lnTo>
                    <a:pt x="0" y="255"/>
                  </a:lnTo>
                  <a:lnTo>
                    <a:pt x="0" y="260"/>
                  </a:lnTo>
                  <a:lnTo>
                    <a:pt x="0" y="265"/>
                  </a:lnTo>
                  <a:lnTo>
                    <a:pt x="0" y="272"/>
                  </a:lnTo>
                  <a:lnTo>
                    <a:pt x="1" y="277"/>
                  </a:lnTo>
                  <a:lnTo>
                    <a:pt x="3" y="282"/>
                  </a:lnTo>
                  <a:lnTo>
                    <a:pt x="5" y="285"/>
                  </a:lnTo>
                  <a:lnTo>
                    <a:pt x="8" y="290"/>
                  </a:lnTo>
                  <a:lnTo>
                    <a:pt x="12" y="293"/>
                  </a:lnTo>
                  <a:lnTo>
                    <a:pt x="15" y="298"/>
                  </a:lnTo>
                  <a:lnTo>
                    <a:pt x="24" y="305"/>
                  </a:lnTo>
                  <a:lnTo>
                    <a:pt x="29" y="307"/>
                  </a:lnTo>
                  <a:lnTo>
                    <a:pt x="35" y="310"/>
                  </a:lnTo>
                  <a:lnTo>
                    <a:pt x="42" y="312"/>
                  </a:lnTo>
                  <a:lnTo>
                    <a:pt x="47" y="313"/>
                  </a:lnTo>
                  <a:lnTo>
                    <a:pt x="54" y="315"/>
                  </a:lnTo>
                  <a:lnTo>
                    <a:pt x="59" y="315"/>
                  </a:lnTo>
                  <a:lnTo>
                    <a:pt x="64" y="315"/>
                  </a:lnTo>
                  <a:lnTo>
                    <a:pt x="59" y="315"/>
                  </a:lnTo>
                  <a:lnTo>
                    <a:pt x="52" y="315"/>
                  </a:lnTo>
                  <a:lnTo>
                    <a:pt x="45" y="317"/>
                  </a:lnTo>
                  <a:lnTo>
                    <a:pt x="40" y="318"/>
                  </a:lnTo>
                  <a:lnTo>
                    <a:pt x="35" y="320"/>
                  </a:lnTo>
                  <a:lnTo>
                    <a:pt x="29" y="322"/>
                  </a:lnTo>
                  <a:lnTo>
                    <a:pt x="19" y="328"/>
                  </a:lnTo>
                  <a:lnTo>
                    <a:pt x="15" y="332"/>
                  </a:lnTo>
                  <a:lnTo>
                    <a:pt x="12" y="337"/>
                  </a:lnTo>
                  <a:lnTo>
                    <a:pt x="8" y="340"/>
                  </a:lnTo>
                  <a:lnTo>
                    <a:pt x="5" y="345"/>
                  </a:lnTo>
                  <a:lnTo>
                    <a:pt x="3" y="350"/>
                  </a:lnTo>
                  <a:lnTo>
                    <a:pt x="1" y="355"/>
                  </a:lnTo>
                  <a:lnTo>
                    <a:pt x="0" y="360"/>
                  </a:lnTo>
                  <a:lnTo>
                    <a:pt x="0" y="365"/>
                  </a:lnTo>
                  <a:lnTo>
                    <a:pt x="0" y="370"/>
                  </a:lnTo>
                  <a:lnTo>
                    <a:pt x="0" y="375"/>
                  </a:lnTo>
                  <a:lnTo>
                    <a:pt x="1" y="380"/>
                  </a:lnTo>
                  <a:lnTo>
                    <a:pt x="3" y="385"/>
                  </a:lnTo>
                  <a:lnTo>
                    <a:pt x="5" y="390"/>
                  </a:lnTo>
                  <a:lnTo>
                    <a:pt x="8" y="395"/>
                  </a:lnTo>
                  <a:lnTo>
                    <a:pt x="12" y="399"/>
                  </a:lnTo>
                  <a:lnTo>
                    <a:pt x="15" y="402"/>
                  </a:lnTo>
                  <a:lnTo>
                    <a:pt x="24" y="409"/>
                  </a:lnTo>
                  <a:lnTo>
                    <a:pt x="29" y="412"/>
                  </a:lnTo>
                  <a:lnTo>
                    <a:pt x="35" y="415"/>
                  </a:lnTo>
                  <a:lnTo>
                    <a:pt x="42" y="417"/>
                  </a:lnTo>
                  <a:lnTo>
                    <a:pt x="47" y="419"/>
                  </a:lnTo>
                  <a:lnTo>
                    <a:pt x="54" y="419"/>
                  </a:lnTo>
                  <a:lnTo>
                    <a:pt x="59" y="420"/>
                  </a:lnTo>
                  <a:lnTo>
                    <a:pt x="64" y="42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" name="Line 272"/>
            <p:cNvSpPr>
              <a:spLocks noChangeShapeType="1"/>
            </p:cNvSpPr>
            <p:nvPr/>
          </p:nvSpPr>
          <p:spPr bwMode="auto">
            <a:xfrm>
              <a:off x="4359" y="1397"/>
              <a:ext cx="1" cy="19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0" name="Line 273"/>
            <p:cNvSpPr>
              <a:spLocks noChangeShapeType="1"/>
            </p:cNvSpPr>
            <p:nvPr/>
          </p:nvSpPr>
          <p:spPr bwMode="auto">
            <a:xfrm flipV="1">
              <a:off x="4372" y="1397"/>
              <a:ext cx="1" cy="19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1" name="Freeform 274"/>
            <p:cNvSpPr>
              <a:spLocks/>
            </p:cNvSpPr>
            <p:nvPr/>
          </p:nvSpPr>
          <p:spPr bwMode="auto">
            <a:xfrm>
              <a:off x="4420" y="1400"/>
              <a:ext cx="28" cy="27"/>
            </a:xfrm>
            <a:custGeom>
              <a:avLst/>
              <a:gdLst>
                <a:gd name="T0" fmla="*/ 0 w 55"/>
                <a:gd name="T1" fmla="*/ 1 h 53"/>
                <a:gd name="T2" fmla="*/ 1 w 55"/>
                <a:gd name="T3" fmla="*/ 1 h 53"/>
                <a:gd name="T4" fmla="*/ 1 w 55"/>
                <a:gd name="T5" fmla="*/ 1 h 53"/>
                <a:gd name="T6" fmla="*/ 1 w 55"/>
                <a:gd name="T7" fmla="*/ 1 h 53"/>
                <a:gd name="T8" fmla="*/ 1 w 55"/>
                <a:gd name="T9" fmla="*/ 1 h 53"/>
                <a:gd name="T10" fmla="*/ 1 w 55"/>
                <a:gd name="T11" fmla="*/ 1 h 53"/>
                <a:gd name="T12" fmla="*/ 1 w 55"/>
                <a:gd name="T13" fmla="*/ 1 h 53"/>
                <a:gd name="T14" fmla="*/ 1 w 55"/>
                <a:gd name="T15" fmla="*/ 0 h 53"/>
                <a:gd name="T16" fmla="*/ 1 w 55"/>
                <a:gd name="T17" fmla="*/ 0 h 53"/>
                <a:gd name="T18" fmla="*/ 1 w 55"/>
                <a:gd name="T19" fmla="*/ 0 h 53"/>
                <a:gd name="T20" fmla="*/ 1 w 55"/>
                <a:gd name="T21" fmla="*/ 1 h 53"/>
                <a:gd name="T22" fmla="*/ 1 w 55"/>
                <a:gd name="T23" fmla="*/ 1 h 53"/>
                <a:gd name="T24" fmla="*/ 1 w 55"/>
                <a:gd name="T25" fmla="*/ 1 h 53"/>
                <a:gd name="T26" fmla="*/ 1 w 55"/>
                <a:gd name="T27" fmla="*/ 1 h 53"/>
                <a:gd name="T28" fmla="*/ 1 w 55"/>
                <a:gd name="T29" fmla="*/ 1 h 53"/>
                <a:gd name="T30" fmla="*/ 1 w 55"/>
                <a:gd name="T31" fmla="*/ 1 h 53"/>
                <a:gd name="T32" fmla="*/ 1 w 55"/>
                <a:gd name="T33" fmla="*/ 1 h 53"/>
                <a:gd name="T34" fmla="*/ 1 w 55"/>
                <a:gd name="T35" fmla="*/ 1 h 53"/>
                <a:gd name="T36" fmla="*/ 1 w 55"/>
                <a:gd name="T37" fmla="*/ 1 h 53"/>
                <a:gd name="T38" fmla="*/ 1 w 55"/>
                <a:gd name="T39" fmla="*/ 1 h 53"/>
                <a:gd name="T40" fmla="*/ 1 w 55"/>
                <a:gd name="T41" fmla="*/ 1 h 53"/>
                <a:gd name="T42" fmla="*/ 1 w 55"/>
                <a:gd name="T43" fmla="*/ 1 h 53"/>
                <a:gd name="T44" fmla="*/ 1 w 55"/>
                <a:gd name="T45" fmla="*/ 1 h 53"/>
                <a:gd name="T46" fmla="*/ 1 w 55"/>
                <a:gd name="T47" fmla="*/ 1 h 53"/>
                <a:gd name="T48" fmla="*/ 1 w 55"/>
                <a:gd name="T49" fmla="*/ 1 h 53"/>
                <a:gd name="T50" fmla="*/ 1 w 55"/>
                <a:gd name="T51" fmla="*/ 1 h 53"/>
                <a:gd name="T52" fmla="*/ 1 w 55"/>
                <a:gd name="T53" fmla="*/ 1 h 53"/>
                <a:gd name="T54" fmla="*/ 1 w 55"/>
                <a:gd name="T55" fmla="*/ 1 h 53"/>
                <a:gd name="T56" fmla="*/ 1 w 55"/>
                <a:gd name="T57" fmla="*/ 1 h 53"/>
                <a:gd name="T58" fmla="*/ 1 w 55"/>
                <a:gd name="T59" fmla="*/ 1 h 53"/>
                <a:gd name="T60" fmla="*/ 1 w 55"/>
                <a:gd name="T61" fmla="*/ 1 h 53"/>
                <a:gd name="T62" fmla="*/ 1 w 55"/>
                <a:gd name="T63" fmla="*/ 1 h 53"/>
                <a:gd name="T64" fmla="*/ 1 w 55"/>
                <a:gd name="T65" fmla="*/ 1 h 53"/>
                <a:gd name="T66" fmla="*/ 0 w 55"/>
                <a:gd name="T67" fmla="*/ 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5"/>
                <a:gd name="T103" fmla="*/ 0 h 53"/>
                <a:gd name="T104" fmla="*/ 55 w 55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5" h="53">
                  <a:moveTo>
                    <a:pt x="0" y="26"/>
                  </a:moveTo>
                  <a:lnTo>
                    <a:pt x="1" y="21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8" y="6"/>
                  </a:lnTo>
                  <a:lnTo>
                    <a:pt x="12" y="5"/>
                  </a:lnTo>
                  <a:lnTo>
                    <a:pt x="17" y="1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40" y="1"/>
                  </a:lnTo>
                  <a:lnTo>
                    <a:pt x="43" y="5"/>
                  </a:lnTo>
                  <a:lnTo>
                    <a:pt x="48" y="6"/>
                  </a:lnTo>
                  <a:lnTo>
                    <a:pt x="52" y="11"/>
                  </a:lnTo>
                  <a:lnTo>
                    <a:pt x="54" y="16"/>
                  </a:lnTo>
                  <a:lnTo>
                    <a:pt x="55" y="21"/>
                  </a:lnTo>
                  <a:lnTo>
                    <a:pt x="55" y="26"/>
                  </a:lnTo>
                  <a:lnTo>
                    <a:pt x="55" y="31"/>
                  </a:lnTo>
                  <a:lnTo>
                    <a:pt x="54" y="36"/>
                  </a:lnTo>
                  <a:lnTo>
                    <a:pt x="52" y="41"/>
                  </a:lnTo>
                  <a:lnTo>
                    <a:pt x="48" y="45"/>
                  </a:lnTo>
                  <a:lnTo>
                    <a:pt x="43" y="48"/>
                  </a:lnTo>
                  <a:lnTo>
                    <a:pt x="40" y="51"/>
                  </a:lnTo>
                  <a:lnTo>
                    <a:pt x="35" y="51"/>
                  </a:lnTo>
                  <a:lnTo>
                    <a:pt x="28" y="53"/>
                  </a:lnTo>
                  <a:lnTo>
                    <a:pt x="22" y="51"/>
                  </a:lnTo>
                  <a:lnTo>
                    <a:pt x="17" y="51"/>
                  </a:lnTo>
                  <a:lnTo>
                    <a:pt x="12" y="48"/>
                  </a:lnTo>
                  <a:lnTo>
                    <a:pt x="8" y="45"/>
                  </a:lnTo>
                  <a:lnTo>
                    <a:pt x="5" y="41"/>
                  </a:lnTo>
                  <a:lnTo>
                    <a:pt x="3" y="36"/>
                  </a:lnTo>
                  <a:lnTo>
                    <a:pt x="1" y="31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2" name="Line 275"/>
            <p:cNvSpPr>
              <a:spLocks noChangeShapeType="1"/>
            </p:cNvSpPr>
            <p:nvPr/>
          </p:nvSpPr>
          <p:spPr bwMode="auto">
            <a:xfrm flipH="1">
              <a:off x="4038" y="920"/>
              <a:ext cx="153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" name="Freeform 276"/>
            <p:cNvSpPr>
              <a:spLocks/>
            </p:cNvSpPr>
            <p:nvPr/>
          </p:nvSpPr>
          <p:spPr bwMode="auto">
            <a:xfrm>
              <a:off x="4040" y="1770"/>
              <a:ext cx="175" cy="115"/>
            </a:xfrm>
            <a:custGeom>
              <a:avLst/>
              <a:gdLst>
                <a:gd name="T0" fmla="*/ 1 w 352"/>
                <a:gd name="T1" fmla="*/ 0 h 231"/>
                <a:gd name="T2" fmla="*/ 0 w 352"/>
                <a:gd name="T3" fmla="*/ 0 h 231"/>
                <a:gd name="T4" fmla="*/ 0 w 352"/>
                <a:gd name="T5" fmla="*/ 0 h 231"/>
                <a:gd name="T6" fmla="*/ 0 60000 65536"/>
                <a:gd name="T7" fmla="*/ 0 60000 65536"/>
                <a:gd name="T8" fmla="*/ 0 60000 65536"/>
                <a:gd name="T9" fmla="*/ 0 w 352"/>
                <a:gd name="T10" fmla="*/ 0 h 231"/>
                <a:gd name="T11" fmla="*/ 352 w 352"/>
                <a:gd name="T12" fmla="*/ 231 h 2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2" h="231">
                  <a:moveTo>
                    <a:pt x="352" y="231"/>
                  </a:moveTo>
                  <a:lnTo>
                    <a:pt x="0" y="231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" name="Line 277"/>
            <p:cNvSpPr>
              <a:spLocks noChangeShapeType="1"/>
            </p:cNvSpPr>
            <p:nvPr/>
          </p:nvSpPr>
          <p:spPr bwMode="auto">
            <a:xfrm flipH="1">
              <a:off x="4040" y="1550"/>
              <a:ext cx="175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" name="Freeform 278"/>
            <p:cNvSpPr>
              <a:spLocks/>
            </p:cNvSpPr>
            <p:nvPr/>
          </p:nvSpPr>
          <p:spPr bwMode="auto">
            <a:xfrm>
              <a:off x="4026" y="1536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6" y="12"/>
                  </a:lnTo>
                  <a:lnTo>
                    <a:pt x="9" y="9"/>
                  </a:lnTo>
                  <a:lnTo>
                    <a:pt x="13" y="5"/>
                  </a:lnTo>
                  <a:lnTo>
                    <a:pt x="18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9" y="2"/>
                  </a:lnTo>
                  <a:lnTo>
                    <a:pt x="44" y="5"/>
                  </a:lnTo>
                  <a:lnTo>
                    <a:pt x="47" y="9"/>
                  </a:lnTo>
                  <a:lnTo>
                    <a:pt x="51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1" y="42"/>
                  </a:lnTo>
                  <a:lnTo>
                    <a:pt x="47" y="45"/>
                  </a:lnTo>
                  <a:lnTo>
                    <a:pt x="44" y="49"/>
                  </a:lnTo>
                  <a:lnTo>
                    <a:pt x="39" y="52"/>
                  </a:lnTo>
                  <a:lnTo>
                    <a:pt x="34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8" y="52"/>
                  </a:lnTo>
                  <a:lnTo>
                    <a:pt x="13" y="49"/>
                  </a:lnTo>
                  <a:lnTo>
                    <a:pt x="9" y="45"/>
                  </a:lnTo>
                  <a:lnTo>
                    <a:pt x="6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" name="Freeform 279"/>
            <p:cNvSpPr>
              <a:spLocks/>
            </p:cNvSpPr>
            <p:nvPr/>
          </p:nvSpPr>
          <p:spPr bwMode="auto">
            <a:xfrm>
              <a:off x="4026" y="1872"/>
              <a:ext cx="28" cy="26"/>
            </a:xfrm>
            <a:custGeom>
              <a:avLst/>
              <a:gdLst>
                <a:gd name="T0" fmla="*/ 0 w 56"/>
                <a:gd name="T1" fmla="*/ 0 h 54"/>
                <a:gd name="T2" fmla="*/ 0 w 56"/>
                <a:gd name="T3" fmla="*/ 0 h 54"/>
                <a:gd name="T4" fmla="*/ 1 w 56"/>
                <a:gd name="T5" fmla="*/ 0 h 54"/>
                <a:gd name="T6" fmla="*/ 1 w 56"/>
                <a:gd name="T7" fmla="*/ 0 h 54"/>
                <a:gd name="T8" fmla="*/ 1 w 56"/>
                <a:gd name="T9" fmla="*/ 0 h 54"/>
                <a:gd name="T10" fmla="*/ 1 w 56"/>
                <a:gd name="T11" fmla="*/ 0 h 54"/>
                <a:gd name="T12" fmla="*/ 1 w 56"/>
                <a:gd name="T13" fmla="*/ 0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0 h 54"/>
                <a:gd name="T22" fmla="*/ 1 w 56"/>
                <a:gd name="T23" fmla="*/ 0 h 54"/>
                <a:gd name="T24" fmla="*/ 1 w 56"/>
                <a:gd name="T25" fmla="*/ 0 h 54"/>
                <a:gd name="T26" fmla="*/ 1 w 56"/>
                <a:gd name="T27" fmla="*/ 0 h 54"/>
                <a:gd name="T28" fmla="*/ 1 w 56"/>
                <a:gd name="T29" fmla="*/ 0 h 54"/>
                <a:gd name="T30" fmla="*/ 1 w 56"/>
                <a:gd name="T31" fmla="*/ 0 h 54"/>
                <a:gd name="T32" fmla="*/ 1 w 56"/>
                <a:gd name="T33" fmla="*/ 0 h 54"/>
                <a:gd name="T34" fmla="*/ 1 w 56"/>
                <a:gd name="T35" fmla="*/ 0 h 54"/>
                <a:gd name="T36" fmla="*/ 1 w 56"/>
                <a:gd name="T37" fmla="*/ 0 h 54"/>
                <a:gd name="T38" fmla="*/ 1 w 56"/>
                <a:gd name="T39" fmla="*/ 0 h 54"/>
                <a:gd name="T40" fmla="*/ 1 w 56"/>
                <a:gd name="T41" fmla="*/ 0 h 54"/>
                <a:gd name="T42" fmla="*/ 1 w 56"/>
                <a:gd name="T43" fmla="*/ 0 h 54"/>
                <a:gd name="T44" fmla="*/ 1 w 56"/>
                <a:gd name="T45" fmla="*/ 0 h 54"/>
                <a:gd name="T46" fmla="*/ 1 w 56"/>
                <a:gd name="T47" fmla="*/ 0 h 54"/>
                <a:gd name="T48" fmla="*/ 1 w 56"/>
                <a:gd name="T49" fmla="*/ 0 h 54"/>
                <a:gd name="T50" fmla="*/ 1 w 56"/>
                <a:gd name="T51" fmla="*/ 0 h 54"/>
                <a:gd name="T52" fmla="*/ 1 w 56"/>
                <a:gd name="T53" fmla="*/ 0 h 54"/>
                <a:gd name="T54" fmla="*/ 1 w 56"/>
                <a:gd name="T55" fmla="*/ 0 h 54"/>
                <a:gd name="T56" fmla="*/ 1 w 56"/>
                <a:gd name="T57" fmla="*/ 0 h 54"/>
                <a:gd name="T58" fmla="*/ 1 w 56"/>
                <a:gd name="T59" fmla="*/ 0 h 54"/>
                <a:gd name="T60" fmla="*/ 1 w 56"/>
                <a:gd name="T61" fmla="*/ 0 h 54"/>
                <a:gd name="T62" fmla="*/ 1 w 56"/>
                <a:gd name="T63" fmla="*/ 0 h 54"/>
                <a:gd name="T64" fmla="*/ 0 w 56"/>
                <a:gd name="T65" fmla="*/ 0 h 54"/>
                <a:gd name="T66" fmla="*/ 0 w 56"/>
                <a:gd name="T67" fmla="*/ 0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6" y="12"/>
                  </a:lnTo>
                  <a:lnTo>
                    <a:pt x="9" y="9"/>
                  </a:lnTo>
                  <a:lnTo>
                    <a:pt x="13" y="5"/>
                  </a:lnTo>
                  <a:lnTo>
                    <a:pt x="18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9" y="2"/>
                  </a:lnTo>
                  <a:lnTo>
                    <a:pt x="44" y="5"/>
                  </a:lnTo>
                  <a:lnTo>
                    <a:pt x="47" y="9"/>
                  </a:lnTo>
                  <a:lnTo>
                    <a:pt x="51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1" y="42"/>
                  </a:lnTo>
                  <a:lnTo>
                    <a:pt x="47" y="45"/>
                  </a:lnTo>
                  <a:lnTo>
                    <a:pt x="44" y="49"/>
                  </a:lnTo>
                  <a:lnTo>
                    <a:pt x="39" y="52"/>
                  </a:lnTo>
                  <a:lnTo>
                    <a:pt x="34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8" y="52"/>
                  </a:lnTo>
                  <a:lnTo>
                    <a:pt x="13" y="49"/>
                  </a:lnTo>
                  <a:lnTo>
                    <a:pt x="9" y="45"/>
                  </a:lnTo>
                  <a:lnTo>
                    <a:pt x="6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" name="Line 280"/>
            <p:cNvSpPr>
              <a:spLocks noChangeShapeType="1"/>
            </p:cNvSpPr>
            <p:nvPr/>
          </p:nvSpPr>
          <p:spPr bwMode="auto">
            <a:xfrm flipV="1">
              <a:off x="4431" y="1602"/>
              <a:ext cx="1" cy="8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" name="Line 281"/>
            <p:cNvSpPr>
              <a:spLocks noChangeShapeType="1"/>
            </p:cNvSpPr>
            <p:nvPr/>
          </p:nvSpPr>
          <p:spPr bwMode="auto">
            <a:xfrm flipH="1" flipV="1">
              <a:off x="4782" y="1099"/>
              <a:ext cx="3" cy="5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" name="Line 282"/>
            <p:cNvSpPr>
              <a:spLocks noChangeShapeType="1"/>
            </p:cNvSpPr>
            <p:nvPr/>
          </p:nvSpPr>
          <p:spPr bwMode="auto">
            <a:xfrm>
              <a:off x="4782" y="1099"/>
              <a:ext cx="166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" name="Line 283"/>
            <p:cNvSpPr>
              <a:spLocks noChangeShapeType="1"/>
            </p:cNvSpPr>
            <p:nvPr/>
          </p:nvSpPr>
          <p:spPr bwMode="auto">
            <a:xfrm>
              <a:off x="5447" y="1301"/>
              <a:ext cx="1" cy="4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" name="Freeform 284"/>
            <p:cNvSpPr>
              <a:spLocks/>
            </p:cNvSpPr>
            <p:nvPr/>
          </p:nvSpPr>
          <p:spPr bwMode="auto">
            <a:xfrm>
              <a:off x="4431" y="1392"/>
              <a:ext cx="1011" cy="1"/>
            </a:xfrm>
            <a:custGeom>
              <a:avLst/>
              <a:gdLst>
                <a:gd name="T0" fmla="*/ 0 w 2022"/>
                <a:gd name="T1" fmla="*/ 0 h 1"/>
                <a:gd name="T2" fmla="*/ 8 w 2022"/>
                <a:gd name="T3" fmla="*/ 0 h 1"/>
                <a:gd name="T4" fmla="*/ 8 w 2022"/>
                <a:gd name="T5" fmla="*/ 0 h 1"/>
                <a:gd name="T6" fmla="*/ 0 60000 65536"/>
                <a:gd name="T7" fmla="*/ 0 60000 65536"/>
                <a:gd name="T8" fmla="*/ 0 60000 65536"/>
                <a:gd name="T9" fmla="*/ 0 w 2022"/>
                <a:gd name="T10" fmla="*/ 0 h 1"/>
                <a:gd name="T11" fmla="*/ 2022 w 20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22" h="1">
                  <a:moveTo>
                    <a:pt x="0" y="0"/>
                  </a:moveTo>
                  <a:lnTo>
                    <a:pt x="2022" y="0"/>
                  </a:lnTo>
                  <a:lnTo>
                    <a:pt x="2014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" name="Line 285"/>
            <p:cNvSpPr>
              <a:spLocks noChangeShapeType="1"/>
            </p:cNvSpPr>
            <p:nvPr/>
          </p:nvSpPr>
          <p:spPr bwMode="auto">
            <a:xfrm>
              <a:off x="5447" y="1350"/>
              <a:ext cx="1" cy="4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" name="Line 286"/>
            <p:cNvSpPr>
              <a:spLocks noChangeShapeType="1"/>
            </p:cNvSpPr>
            <p:nvPr/>
          </p:nvSpPr>
          <p:spPr bwMode="auto">
            <a:xfrm>
              <a:off x="5271" y="1350"/>
              <a:ext cx="1" cy="4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4" name="Freeform 287"/>
            <p:cNvSpPr>
              <a:spLocks/>
            </p:cNvSpPr>
            <p:nvPr/>
          </p:nvSpPr>
          <p:spPr bwMode="auto">
            <a:xfrm>
              <a:off x="5257" y="1379"/>
              <a:ext cx="28" cy="27"/>
            </a:xfrm>
            <a:custGeom>
              <a:avLst/>
              <a:gdLst>
                <a:gd name="T0" fmla="*/ 0 w 56"/>
                <a:gd name="T1" fmla="*/ 1 h 53"/>
                <a:gd name="T2" fmla="*/ 0 w 56"/>
                <a:gd name="T3" fmla="*/ 1 h 53"/>
                <a:gd name="T4" fmla="*/ 1 w 56"/>
                <a:gd name="T5" fmla="*/ 1 h 53"/>
                <a:gd name="T6" fmla="*/ 1 w 56"/>
                <a:gd name="T7" fmla="*/ 1 h 53"/>
                <a:gd name="T8" fmla="*/ 1 w 56"/>
                <a:gd name="T9" fmla="*/ 1 h 53"/>
                <a:gd name="T10" fmla="*/ 1 w 56"/>
                <a:gd name="T11" fmla="*/ 1 h 53"/>
                <a:gd name="T12" fmla="*/ 1 w 56"/>
                <a:gd name="T13" fmla="*/ 1 h 53"/>
                <a:gd name="T14" fmla="*/ 1 w 56"/>
                <a:gd name="T15" fmla="*/ 0 h 53"/>
                <a:gd name="T16" fmla="*/ 1 w 56"/>
                <a:gd name="T17" fmla="*/ 0 h 53"/>
                <a:gd name="T18" fmla="*/ 1 w 56"/>
                <a:gd name="T19" fmla="*/ 0 h 53"/>
                <a:gd name="T20" fmla="*/ 1 w 56"/>
                <a:gd name="T21" fmla="*/ 1 h 53"/>
                <a:gd name="T22" fmla="*/ 1 w 56"/>
                <a:gd name="T23" fmla="*/ 1 h 53"/>
                <a:gd name="T24" fmla="*/ 1 w 56"/>
                <a:gd name="T25" fmla="*/ 1 h 53"/>
                <a:gd name="T26" fmla="*/ 1 w 56"/>
                <a:gd name="T27" fmla="*/ 1 h 53"/>
                <a:gd name="T28" fmla="*/ 1 w 56"/>
                <a:gd name="T29" fmla="*/ 1 h 53"/>
                <a:gd name="T30" fmla="*/ 1 w 56"/>
                <a:gd name="T31" fmla="*/ 1 h 53"/>
                <a:gd name="T32" fmla="*/ 1 w 56"/>
                <a:gd name="T33" fmla="*/ 1 h 53"/>
                <a:gd name="T34" fmla="*/ 1 w 56"/>
                <a:gd name="T35" fmla="*/ 1 h 53"/>
                <a:gd name="T36" fmla="*/ 1 w 56"/>
                <a:gd name="T37" fmla="*/ 1 h 53"/>
                <a:gd name="T38" fmla="*/ 1 w 56"/>
                <a:gd name="T39" fmla="*/ 1 h 53"/>
                <a:gd name="T40" fmla="*/ 1 w 56"/>
                <a:gd name="T41" fmla="*/ 1 h 53"/>
                <a:gd name="T42" fmla="*/ 1 w 56"/>
                <a:gd name="T43" fmla="*/ 1 h 53"/>
                <a:gd name="T44" fmla="*/ 1 w 56"/>
                <a:gd name="T45" fmla="*/ 1 h 53"/>
                <a:gd name="T46" fmla="*/ 1 w 56"/>
                <a:gd name="T47" fmla="*/ 1 h 53"/>
                <a:gd name="T48" fmla="*/ 1 w 56"/>
                <a:gd name="T49" fmla="*/ 1 h 53"/>
                <a:gd name="T50" fmla="*/ 1 w 56"/>
                <a:gd name="T51" fmla="*/ 1 h 53"/>
                <a:gd name="T52" fmla="*/ 1 w 56"/>
                <a:gd name="T53" fmla="*/ 1 h 53"/>
                <a:gd name="T54" fmla="*/ 1 w 56"/>
                <a:gd name="T55" fmla="*/ 1 h 53"/>
                <a:gd name="T56" fmla="*/ 1 w 56"/>
                <a:gd name="T57" fmla="*/ 1 h 53"/>
                <a:gd name="T58" fmla="*/ 1 w 56"/>
                <a:gd name="T59" fmla="*/ 1 h 53"/>
                <a:gd name="T60" fmla="*/ 1 w 56"/>
                <a:gd name="T61" fmla="*/ 1 h 53"/>
                <a:gd name="T62" fmla="*/ 1 w 56"/>
                <a:gd name="T63" fmla="*/ 1 h 53"/>
                <a:gd name="T64" fmla="*/ 0 w 56"/>
                <a:gd name="T65" fmla="*/ 1 h 53"/>
                <a:gd name="T66" fmla="*/ 0 w 56"/>
                <a:gd name="T67" fmla="*/ 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3"/>
                <a:gd name="T104" fmla="*/ 56 w 56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3">
                  <a:moveTo>
                    <a:pt x="0" y="26"/>
                  </a:moveTo>
                  <a:lnTo>
                    <a:pt x="0" y="21"/>
                  </a:lnTo>
                  <a:lnTo>
                    <a:pt x="2" y="16"/>
                  </a:lnTo>
                  <a:lnTo>
                    <a:pt x="5" y="11"/>
                  </a:lnTo>
                  <a:lnTo>
                    <a:pt x="7" y="6"/>
                  </a:lnTo>
                  <a:lnTo>
                    <a:pt x="12" y="3"/>
                  </a:lnTo>
                  <a:lnTo>
                    <a:pt x="17" y="1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38" y="1"/>
                  </a:lnTo>
                  <a:lnTo>
                    <a:pt x="44" y="3"/>
                  </a:lnTo>
                  <a:lnTo>
                    <a:pt x="47" y="6"/>
                  </a:lnTo>
                  <a:lnTo>
                    <a:pt x="51" y="11"/>
                  </a:lnTo>
                  <a:lnTo>
                    <a:pt x="54" y="16"/>
                  </a:lnTo>
                  <a:lnTo>
                    <a:pt x="54" y="21"/>
                  </a:lnTo>
                  <a:lnTo>
                    <a:pt x="56" y="26"/>
                  </a:lnTo>
                  <a:lnTo>
                    <a:pt x="54" y="31"/>
                  </a:lnTo>
                  <a:lnTo>
                    <a:pt x="54" y="36"/>
                  </a:lnTo>
                  <a:lnTo>
                    <a:pt x="51" y="42"/>
                  </a:lnTo>
                  <a:lnTo>
                    <a:pt x="47" y="45"/>
                  </a:lnTo>
                  <a:lnTo>
                    <a:pt x="44" y="48"/>
                  </a:lnTo>
                  <a:lnTo>
                    <a:pt x="38" y="52"/>
                  </a:lnTo>
                  <a:lnTo>
                    <a:pt x="33" y="52"/>
                  </a:lnTo>
                  <a:lnTo>
                    <a:pt x="28" y="53"/>
                  </a:lnTo>
                  <a:lnTo>
                    <a:pt x="23" y="52"/>
                  </a:lnTo>
                  <a:lnTo>
                    <a:pt x="17" y="52"/>
                  </a:lnTo>
                  <a:lnTo>
                    <a:pt x="12" y="48"/>
                  </a:lnTo>
                  <a:lnTo>
                    <a:pt x="7" y="45"/>
                  </a:lnTo>
                  <a:lnTo>
                    <a:pt x="5" y="42"/>
                  </a:lnTo>
                  <a:lnTo>
                    <a:pt x="2" y="36"/>
                  </a:lnTo>
                  <a:lnTo>
                    <a:pt x="0" y="31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" name="Freeform 288"/>
            <p:cNvSpPr>
              <a:spLocks/>
            </p:cNvSpPr>
            <p:nvPr/>
          </p:nvSpPr>
          <p:spPr bwMode="auto">
            <a:xfrm>
              <a:off x="4768" y="1085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0"/>
                  </a:lnTo>
                  <a:lnTo>
                    <a:pt x="2" y="15"/>
                  </a:lnTo>
                  <a:lnTo>
                    <a:pt x="5" y="12"/>
                  </a:lnTo>
                  <a:lnTo>
                    <a:pt x="7" y="7"/>
                  </a:lnTo>
                  <a:lnTo>
                    <a:pt x="12" y="4"/>
                  </a:lnTo>
                  <a:lnTo>
                    <a:pt x="17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38" y="2"/>
                  </a:lnTo>
                  <a:lnTo>
                    <a:pt x="44" y="4"/>
                  </a:lnTo>
                  <a:lnTo>
                    <a:pt x="47" y="7"/>
                  </a:lnTo>
                  <a:lnTo>
                    <a:pt x="51" y="12"/>
                  </a:lnTo>
                  <a:lnTo>
                    <a:pt x="54" y="15"/>
                  </a:lnTo>
                  <a:lnTo>
                    <a:pt x="54" y="20"/>
                  </a:lnTo>
                  <a:lnTo>
                    <a:pt x="56" y="27"/>
                  </a:lnTo>
                  <a:lnTo>
                    <a:pt x="54" y="32"/>
                  </a:lnTo>
                  <a:lnTo>
                    <a:pt x="54" y="37"/>
                  </a:lnTo>
                  <a:lnTo>
                    <a:pt x="51" y="42"/>
                  </a:lnTo>
                  <a:lnTo>
                    <a:pt x="47" y="46"/>
                  </a:lnTo>
                  <a:lnTo>
                    <a:pt x="44" y="49"/>
                  </a:lnTo>
                  <a:lnTo>
                    <a:pt x="38" y="51"/>
                  </a:lnTo>
                  <a:lnTo>
                    <a:pt x="33" y="52"/>
                  </a:lnTo>
                  <a:lnTo>
                    <a:pt x="28" y="54"/>
                  </a:lnTo>
                  <a:lnTo>
                    <a:pt x="23" y="52"/>
                  </a:lnTo>
                  <a:lnTo>
                    <a:pt x="17" y="51"/>
                  </a:lnTo>
                  <a:lnTo>
                    <a:pt x="12" y="49"/>
                  </a:lnTo>
                  <a:lnTo>
                    <a:pt x="7" y="46"/>
                  </a:lnTo>
                  <a:lnTo>
                    <a:pt x="5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6" name="Rectangle 293"/>
            <p:cNvSpPr>
              <a:spLocks noChangeArrowheads="1"/>
            </p:cNvSpPr>
            <p:nvPr/>
          </p:nvSpPr>
          <p:spPr bwMode="auto">
            <a:xfrm>
              <a:off x="4505" y="1504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347" name="Rectangle 294"/>
            <p:cNvSpPr>
              <a:spLocks noChangeArrowheads="1"/>
            </p:cNvSpPr>
            <p:nvPr/>
          </p:nvSpPr>
          <p:spPr bwMode="auto">
            <a:xfrm>
              <a:off x="4449" y="1464"/>
              <a:ext cx="59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348" name="Line 295"/>
            <p:cNvSpPr>
              <a:spLocks noChangeShapeType="1"/>
            </p:cNvSpPr>
            <p:nvPr/>
          </p:nvSpPr>
          <p:spPr bwMode="auto">
            <a:xfrm flipH="1">
              <a:off x="3408" y="1885"/>
              <a:ext cx="767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" name="Line 296"/>
            <p:cNvSpPr>
              <a:spLocks noChangeShapeType="1"/>
            </p:cNvSpPr>
            <p:nvPr/>
          </p:nvSpPr>
          <p:spPr bwMode="auto">
            <a:xfrm flipH="1">
              <a:off x="3408" y="920"/>
              <a:ext cx="70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" name="Line 297"/>
            <p:cNvSpPr>
              <a:spLocks noChangeShapeType="1"/>
            </p:cNvSpPr>
            <p:nvPr/>
          </p:nvSpPr>
          <p:spPr bwMode="auto">
            <a:xfrm flipV="1">
              <a:off x="4038" y="920"/>
              <a:ext cx="1" cy="11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" name="Line 298"/>
            <p:cNvSpPr>
              <a:spLocks noChangeShapeType="1"/>
            </p:cNvSpPr>
            <p:nvPr/>
          </p:nvSpPr>
          <p:spPr bwMode="auto">
            <a:xfrm>
              <a:off x="4038" y="1140"/>
              <a:ext cx="2" cy="41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" name="Line 299"/>
            <p:cNvSpPr>
              <a:spLocks noChangeShapeType="1"/>
            </p:cNvSpPr>
            <p:nvPr/>
          </p:nvSpPr>
          <p:spPr bwMode="auto">
            <a:xfrm>
              <a:off x="4040" y="1550"/>
              <a:ext cx="1" cy="11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" name="Line 300"/>
            <p:cNvSpPr>
              <a:spLocks noChangeShapeType="1"/>
            </p:cNvSpPr>
            <p:nvPr/>
          </p:nvSpPr>
          <p:spPr bwMode="auto">
            <a:xfrm flipH="1">
              <a:off x="4038" y="1256"/>
              <a:ext cx="153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4" name="Line 301"/>
            <p:cNvSpPr>
              <a:spLocks noChangeShapeType="1"/>
            </p:cNvSpPr>
            <p:nvPr/>
          </p:nvSpPr>
          <p:spPr bwMode="auto">
            <a:xfrm flipH="1">
              <a:off x="4040" y="1298"/>
              <a:ext cx="266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5" name="Line 302"/>
            <p:cNvSpPr>
              <a:spLocks noChangeShapeType="1"/>
            </p:cNvSpPr>
            <p:nvPr/>
          </p:nvSpPr>
          <p:spPr bwMode="auto">
            <a:xfrm flipH="1">
              <a:off x="3707" y="1508"/>
              <a:ext cx="599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6" name="Freeform 303"/>
            <p:cNvSpPr>
              <a:spLocks/>
            </p:cNvSpPr>
            <p:nvPr/>
          </p:nvSpPr>
          <p:spPr bwMode="auto">
            <a:xfrm>
              <a:off x="4026" y="1286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1 h 54"/>
                <a:gd name="T16" fmla="*/ 1 w 56"/>
                <a:gd name="T17" fmla="*/ 0 h 54"/>
                <a:gd name="T18" fmla="*/ 1 w 56"/>
                <a:gd name="T19" fmla="*/ 1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6" y="12"/>
                  </a:lnTo>
                  <a:lnTo>
                    <a:pt x="9" y="8"/>
                  </a:lnTo>
                  <a:lnTo>
                    <a:pt x="13" y="5"/>
                  </a:lnTo>
                  <a:lnTo>
                    <a:pt x="18" y="3"/>
                  </a:lnTo>
                  <a:lnTo>
                    <a:pt x="23" y="2"/>
                  </a:lnTo>
                  <a:lnTo>
                    <a:pt x="28" y="0"/>
                  </a:lnTo>
                  <a:lnTo>
                    <a:pt x="34" y="2"/>
                  </a:lnTo>
                  <a:lnTo>
                    <a:pt x="39" y="3"/>
                  </a:lnTo>
                  <a:lnTo>
                    <a:pt x="44" y="5"/>
                  </a:lnTo>
                  <a:lnTo>
                    <a:pt x="47" y="8"/>
                  </a:lnTo>
                  <a:lnTo>
                    <a:pt x="51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3"/>
                  </a:lnTo>
                  <a:lnTo>
                    <a:pt x="54" y="38"/>
                  </a:lnTo>
                  <a:lnTo>
                    <a:pt x="51" y="42"/>
                  </a:lnTo>
                  <a:lnTo>
                    <a:pt x="47" y="47"/>
                  </a:lnTo>
                  <a:lnTo>
                    <a:pt x="44" y="50"/>
                  </a:lnTo>
                  <a:lnTo>
                    <a:pt x="39" y="52"/>
                  </a:lnTo>
                  <a:lnTo>
                    <a:pt x="34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8" y="52"/>
                  </a:lnTo>
                  <a:lnTo>
                    <a:pt x="13" y="50"/>
                  </a:lnTo>
                  <a:lnTo>
                    <a:pt x="9" y="47"/>
                  </a:lnTo>
                  <a:lnTo>
                    <a:pt x="6" y="42"/>
                  </a:lnTo>
                  <a:lnTo>
                    <a:pt x="2" y="38"/>
                  </a:lnTo>
                  <a:lnTo>
                    <a:pt x="0" y="33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7" name="Freeform 304"/>
            <p:cNvSpPr>
              <a:spLocks/>
            </p:cNvSpPr>
            <p:nvPr/>
          </p:nvSpPr>
          <p:spPr bwMode="auto">
            <a:xfrm>
              <a:off x="4026" y="1242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0"/>
                  </a:lnTo>
                  <a:lnTo>
                    <a:pt x="2" y="15"/>
                  </a:lnTo>
                  <a:lnTo>
                    <a:pt x="6" y="12"/>
                  </a:lnTo>
                  <a:lnTo>
                    <a:pt x="9" y="7"/>
                  </a:lnTo>
                  <a:lnTo>
                    <a:pt x="13" y="3"/>
                  </a:lnTo>
                  <a:lnTo>
                    <a:pt x="18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9" y="2"/>
                  </a:lnTo>
                  <a:lnTo>
                    <a:pt x="44" y="3"/>
                  </a:lnTo>
                  <a:lnTo>
                    <a:pt x="47" y="7"/>
                  </a:lnTo>
                  <a:lnTo>
                    <a:pt x="51" y="12"/>
                  </a:lnTo>
                  <a:lnTo>
                    <a:pt x="54" y="15"/>
                  </a:lnTo>
                  <a:lnTo>
                    <a:pt x="56" y="20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1" y="42"/>
                  </a:lnTo>
                  <a:lnTo>
                    <a:pt x="47" y="45"/>
                  </a:lnTo>
                  <a:lnTo>
                    <a:pt x="44" y="48"/>
                  </a:lnTo>
                  <a:lnTo>
                    <a:pt x="39" y="50"/>
                  </a:lnTo>
                  <a:lnTo>
                    <a:pt x="34" y="52"/>
                  </a:lnTo>
                  <a:lnTo>
                    <a:pt x="28" y="54"/>
                  </a:lnTo>
                  <a:lnTo>
                    <a:pt x="23" y="52"/>
                  </a:lnTo>
                  <a:lnTo>
                    <a:pt x="18" y="50"/>
                  </a:lnTo>
                  <a:lnTo>
                    <a:pt x="13" y="48"/>
                  </a:lnTo>
                  <a:lnTo>
                    <a:pt x="9" y="45"/>
                  </a:lnTo>
                  <a:lnTo>
                    <a:pt x="6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" name="Freeform 305"/>
            <p:cNvSpPr>
              <a:spLocks/>
            </p:cNvSpPr>
            <p:nvPr/>
          </p:nvSpPr>
          <p:spPr bwMode="auto">
            <a:xfrm>
              <a:off x="3691" y="1872"/>
              <a:ext cx="28" cy="26"/>
            </a:xfrm>
            <a:custGeom>
              <a:avLst/>
              <a:gdLst>
                <a:gd name="T0" fmla="*/ 0 w 56"/>
                <a:gd name="T1" fmla="*/ 0 h 54"/>
                <a:gd name="T2" fmla="*/ 0 w 56"/>
                <a:gd name="T3" fmla="*/ 0 h 54"/>
                <a:gd name="T4" fmla="*/ 1 w 56"/>
                <a:gd name="T5" fmla="*/ 0 h 54"/>
                <a:gd name="T6" fmla="*/ 1 w 56"/>
                <a:gd name="T7" fmla="*/ 0 h 54"/>
                <a:gd name="T8" fmla="*/ 1 w 56"/>
                <a:gd name="T9" fmla="*/ 0 h 54"/>
                <a:gd name="T10" fmla="*/ 1 w 56"/>
                <a:gd name="T11" fmla="*/ 0 h 54"/>
                <a:gd name="T12" fmla="*/ 1 w 56"/>
                <a:gd name="T13" fmla="*/ 0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0 h 54"/>
                <a:gd name="T22" fmla="*/ 1 w 56"/>
                <a:gd name="T23" fmla="*/ 0 h 54"/>
                <a:gd name="T24" fmla="*/ 1 w 56"/>
                <a:gd name="T25" fmla="*/ 0 h 54"/>
                <a:gd name="T26" fmla="*/ 1 w 56"/>
                <a:gd name="T27" fmla="*/ 0 h 54"/>
                <a:gd name="T28" fmla="*/ 1 w 56"/>
                <a:gd name="T29" fmla="*/ 0 h 54"/>
                <a:gd name="T30" fmla="*/ 1 w 56"/>
                <a:gd name="T31" fmla="*/ 0 h 54"/>
                <a:gd name="T32" fmla="*/ 1 w 56"/>
                <a:gd name="T33" fmla="*/ 0 h 54"/>
                <a:gd name="T34" fmla="*/ 1 w 56"/>
                <a:gd name="T35" fmla="*/ 0 h 54"/>
                <a:gd name="T36" fmla="*/ 1 w 56"/>
                <a:gd name="T37" fmla="*/ 0 h 54"/>
                <a:gd name="T38" fmla="*/ 1 w 56"/>
                <a:gd name="T39" fmla="*/ 0 h 54"/>
                <a:gd name="T40" fmla="*/ 1 w 56"/>
                <a:gd name="T41" fmla="*/ 0 h 54"/>
                <a:gd name="T42" fmla="*/ 1 w 56"/>
                <a:gd name="T43" fmla="*/ 0 h 54"/>
                <a:gd name="T44" fmla="*/ 1 w 56"/>
                <a:gd name="T45" fmla="*/ 0 h 54"/>
                <a:gd name="T46" fmla="*/ 1 w 56"/>
                <a:gd name="T47" fmla="*/ 0 h 54"/>
                <a:gd name="T48" fmla="*/ 1 w 56"/>
                <a:gd name="T49" fmla="*/ 0 h 54"/>
                <a:gd name="T50" fmla="*/ 1 w 56"/>
                <a:gd name="T51" fmla="*/ 0 h 54"/>
                <a:gd name="T52" fmla="*/ 1 w 56"/>
                <a:gd name="T53" fmla="*/ 0 h 54"/>
                <a:gd name="T54" fmla="*/ 1 w 56"/>
                <a:gd name="T55" fmla="*/ 0 h 54"/>
                <a:gd name="T56" fmla="*/ 1 w 56"/>
                <a:gd name="T57" fmla="*/ 0 h 54"/>
                <a:gd name="T58" fmla="*/ 1 w 56"/>
                <a:gd name="T59" fmla="*/ 0 h 54"/>
                <a:gd name="T60" fmla="*/ 1 w 56"/>
                <a:gd name="T61" fmla="*/ 0 h 54"/>
                <a:gd name="T62" fmla="*/ 1 w 56"/>
                <a:gd name="T63" fmla="*/ 0 h 54"/>
                <a:gd name="T64" fmla="*/ 0 w 56"/>
                <a:gd name="T65" fmla="*/ 0 h 54"/>
                <a:gd name="T66" fmla="*/ 0 w 56"/>
                <a:gd name="T67" fmla="*/ 0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3" y="12"/>
                  </a:lnTo>
                  <a:lnTo>
                    <a:pt x="7" y="9"/>
                  </a:lnTo>
                  <a:lnTo>
                    <a:pt x="12" y="5"/>
                  </a:lnTo>
                  <a:lnTo>
                    <a:pt x="16" y="2"/>
                  </a:lnTo>
                  <a:lnTo>
                    <a:pt x="21" y="0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38" y="2"/>
                  </a:lnTo>
                  <a:lnTo>
                    <a:pt x="44" y="5"/>
                  </a:lnTo>
                  <a:lnTo>
                    <a:pt x="47" y="9"/>
                  </a:lnTo>
                  <a:lnTo>
                    <a:pt x="51" y="12"/>
                  </a:lnTo>
                  <a:lnTo>
                    <a:pt x="52" y="17"/>
                  </a:lnTo>
                  <a:lnTo>
                    <a:pt x="54" y="22"/>
                  </a:lnTo>
                  <a:lnTo>
                    <a:pt x="56" y="27"/>
                  </a:lnTo>
                  <a:lnTo>
                    <a:pt x="54" y="32"/>
                  </a:lnTo>
                  <a:lnTo>
                    <a:pt x="52" y="37"/>
                  </a:lnTo>
                  <a:lnTo>
                    <a:pt x="51" y="42"/>
                  </a:lnTo>
                  <a:lnTo>
                    <a:pt x="47" y="45"/>
                  </a:lnTo>
                  <a:lnTo>
                    <a:pt x="44" y="49"/>
                  </a:lnTo>
                  <a:lnTo>
                    <a:pt x="38" y="52"/>
                  </a:lnTo>
                  <a:lnTo>
                    <a:pt x="33" y="54"/>
                  </a:lnTo>
                  <a:lnTo>
                    <a:pt x="28" y="54"/>
                  </a:lnTo>
                  <a:lnTo>
                    <a:pt x="21" y="54"/>
                  </a:lnTo>
                  <a:lnTo>
                    <a:pt x="16" y="52"/>
                  </a:lnTo>
                  <a:lnTo>
                    <a:pt x="12" y="49"/>
                  </a:lnTo>
                  <a:lnTo>
                    <a:pt x="7" y="45"/>
                  </a:lnTo>
                  <a:lnTo>
                    <a:pt x="3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" name="Freeform 306"/>
            <p:cNvSpPr>
              <a:spLocks/>
            </p:cNvSpPr>
            <p:nvPr/>
          </p:nvSpPr>
          <p:spPr bwMode="auto">
            <a:xfrm>
              <a:off x="3693" y="906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1 h 54"/>
                <a:gd name="T16" fmla="*/ 1 w 56"/>
                <a:gd name="T17" fmla="*/ 0 h 54"/>
                <a:gd name="T18" fmla="*/ 1 w 56"/>
                <a:gd name="T19" fmla="*/ 1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4" y="12"/>
                  </a:lnTo>
                  <a:lnTo>
                    <a:pt x="7" y="9"/>
                  </a:lnTo>
                  <a:lnTo>
                    <a:pt x="13" y="5"/>
                  </a:lnTo>
                  <a:lnTo>
                    <a:pt x="18" y="4"/>
                  </a:lnTo>
                  <a:lnTo>
                    <a:pt x="23" y="2"/>
                  </a:lnTo>
                  <a:lnTo>
                    <a:pt x="28" y="0"/>
                  </a:lnTo>
                  <a:lnTo>
                    <a:pt x="34" y="2"/>
                  </a:lnTo>
                  <a:lnTo>
                    <a:pt x="39" y="4"/>
                  </a:lnTo>
                  <a:lnTo>
                    <a:pt x="44" y="5"/>
                  </a:lnTo>
                  <a:lnTo>
                    <a:pt x="48" y="9"/>
                  </a:lnTo>
                  <a:lnTo>
                    <a:pt x="51" y="12"/>
                  </a:lnTo>
                  <a:lnTo>
                    <a:pt x="55" y="17"/>
                  </a:lnTo>
                  <a:lnTo>
                    <a:pt x="55" y="22"/>
                  </a:lnTo>
                  <a:lnTo>
                    <a:pt x="56" y="27"/>
                  </a:lnTo>
                  <a:lnTo>
                    <a:pt x="55" y="34"/>
                  </a:lnTo>
                  <a:lnTo>
                    <a:pt x="55" y="39"/>
                  </a:lnTo>
                  <a:lnTo>
                    <a:pt x="51" y="42"/>
                  </a:lnTo>
                  <a:lnTo>
                    <a:pt x="48" y="47"/>
                  </a:lnTo>
                  <a:lnTo>
                    <a:pt x="44" y="51"/>
                  </a:lnTo>
                  <a:lnTo>
                    <a:pt x="39" y="52"/>
                  </a:lnTo>
                  <a:lnTo>
                    <a:pt x="34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8" y="52"/>
                  </a:lnTo>
                  <a:lnTo>
                    <a:pt x="13" y="51"/>
                  </a:lnTo>
                  <a:lnTo>
                    <a:pt x="7" y="47"/>
                  </a:lnTo>
                  <a:lnTo>
                    <a:pt x="4" y="42"/>
                  </a:lnTo>
                  <a:lnTo>
                    <a:pt x="2" y="39"/>
                  </a:lnTo>
                  <a:lnTo>
                    <a:pt x="0" y="34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0" name="Freeform 307"/>
            <p:cNvSpPr>
              <a:spLocks/>
            </p:cNvSpPr>
            <p:nvPr/>
          </p:nvSpPr>
          <p:spPr bwMode="auto">
            <a:xfrm>
              <a:off x="4026" y="906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0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1 h 54"/>
                <a:gd name="T16" fmla="*/ 1 w 56"/>
                <a:gd name="T17" fmla="*/ 0 h 54"/>
                <a:gd name="T18" fmla="*/ 1 w 56"/>
                <a:gd name="T19" fmla="*/ 1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0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6" y="12"/>
                  </a:lnTo>
                  <a:lnTo>
                    <a:pt x="9" y="9"/>
                  </a:lnTo>
                  <a:lnTo>
                    <a:pt x="13" y="5"/>
                  </a:lnTo>
                  <a:lnTo>
                    <a:pt x="18" y="4"/>
                  </a:lnTo>
                  <a:lnTo>
                    <a:pt x="23" y="2"/>
                  </a:lnTo>
                  <a:lnTo>
                    <a:pt x="28" y="0"/>
                  </a:lnTo>
                  <a:lnTo>
                    <a:pt x="34" y="2"/>
                  </a:lnTo>
                  <a:lnTo>
                    <a:pt x="39" y="4"/>
                  </a:lnTo>
                  <a:lnTo>
                    <a:pt x="44" y="5"/>
                  </a:lnTo>
                  <a:lnTo>
                    <a:pt x="47" y="9"/>
                  </a:lnTo>
                  <a:lnTo>
                    <a:pt x="51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4"/>
                  </a:lnTo>
                  <a:lnTo>
                    <a:pt x="54" y="39"/>
                  </a:lnTo>
                  <a:lnTo>
                    <a:pt x="51" y="42"/>
                  </a:lnTo>
                  <a:lnTo>
                    <a:pt x="47" y="47"/>
                  </a:lnTo>
                  <a:lnTo>
                    <a:pt x="44" y="51"/>
                  </a:lnTo>
                  <a:lnTo>
                    <a:pt x="39" y="52"/>
                  </a:lnTo>
                  <a:lnTo>
                    <a:pt x="34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8" y="52"/>
                  </a:lnTo>
                  <a:lnTo>
                    <a:pt x="13" y="51"/>
                  </a:lnTo>
                  <a:lnTo>
                    <a:pt x="9" y="47"/>
                  </a:lnTo>
                  <a:lnTo>
                    <a:pt x="6" y="42"/>
                  </a:lnTo>
                  <a:lnTo>
                    <a:pt x="2" y="39"/>
                  </a:lnTo>
                  <a:lnTo>
                    <a:pt x="0" y="34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" name="Freeform 308"/>
            <p:cNvSpPr>
              <a:spLocks/>
            </p:cNvSpPr>
            <p:nvPr/>
          </p:nvSpPr>
          <p:spPr bwMode="auto">
            <a:xfrm>
              <a:off x="5056" y="1010"/>
              <a:ext cx="54" cy="15"/>
            </a:xfrm>
            <a:custGeom>
              <a:avLst/>
              <a:gdLst>
                <a:gd name="T0" fmla="*/ 1 w 108"/>
                <a:gd name="T1" fmla="*/ 1 h 30"/>
                <a:gd name="T2" fmla="*/ 0 w 108"/>
                <a:gd name="T3" fmla="*/ 0 h 30"/>
                <a:gd name="T4" fmla="*/ 0 w 108"/>
                <a:gd name="T5" fmla="*/ 1 h 30"/>
                <a:gd name="T6" fmla="*/ 1 w 108"/>
                <a:gd name="T7" fmla="*/ 1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30"/>
                <a:gd name="T14" fmla="*/ 108 w 108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30">
                  <a:moveTo>
                    <a:pt x="108" y="15"/>
                  </a:moveTo>
                  <a:lnTo>
                    <a:pt x="0" y="0"/>
                  </a:lnTo>
                  <a:lnTo>
                    <a:pt x="0" y="30"/>
                  </a:lnTo>
                  <a:lnTo>
                    <a:pt x="108" y="15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2" name="Freeform 309"/>
            <p:cNvSpPr>
              <a:spLocks/>
            </p:cNvSpPr>
            <p:nvPr/>
          </p:nvSpPr>
          <p:spPr bwMode="auto">
            <a:xfrm>
              <a:off x="5056" y="1010"/>
              <a:ext cx="54" cy="15"/>
            </a:xfrm>
            <a:custGeom>
              <a:avLst/>
              <a:gdLst>
                <a:gd name="T0" fmla="*/ 1 w 108"/>
                <a:gd name="T1" fmla="*/ 1 h 30"/>
                <a:gd name="T2" fmla="*/ 0 w 108"/>
                <a:gd name="T3" fmla="*/ 0 h 30"/>
                <a:gd name="T4" fmla="*/ 0 w 108"/>
                <a:gd name="T5" fmla="*/ 1 h 30"/>
                <a:gd name="T6" fmla="*/ 1 w 108"/>
                <a:gd name="T7" fmla="*/ 1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30"/>
                <a:gd name="T14" fmla="*/ 108 w 108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30">
                  <a:moveTo>
                    <a:pt x="108" y="15"/>
                  </a:moveTo>
                  <a:lnTo>
                    <a:pt x="0" y="0"/>
                  </a:lnTo>
                  <a:lnTo>
                    <a:pt x="0" y="30"/>
                  </a:lnTo>
                  <a:lnTo>
                    <a:pt x="108" y="15"/>
                  </a:lnTo>
                  <a:close/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3" name="Line 310"/>
            <p:cNvSpPr>
              <a:spLocks noChangeShapeType="1"/>
            </p:cNvSpPr>
            <p:nvPr/>
          </p:nvSpPr>
          <p:spPr bwMode="auto">
            <a:xfrm flipH="1">
              <a:off x="4986" y="1017"/>
              <a:ext cx="70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" name="Freeform 311"/>
            <p:cNvSpPr>
              <a:spLocks/>
            </p:cNvSpPr>
            <p:nvPr/>
          </p:nvSpPr>
          <p:spPr bwMode="auto">
            <a:xfrm>
              <a:off x="5325" y="1052"/>
              <a:ext cx="55" cy="15"/>
            </a:xfrm>
            <a:custGeom>
              <a:avLst/>
              <a:gdLst>
                <a:gd name="T0" fmla="*/ 1 w 110"/>
                <a:gd name="T1" fmla="*/ 0 h 31"/>
                <a:gd name="T2" fmla="*/ 0 w 110"/>
                <a:gd name="T3" fmla="*/ 0 h 31"/>
                <a:gd name="T4" fmla="*/ 0 w 110"/>
                <a:gd name="T5" fmla="*/ 0 h 31"/>
                <a:gd name="T6" fmla="*/ 1 w 110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0"/>
                <a:gd name="T13" fmla="*/ 0 h 31"/>
                <a:gd name="T14" fmla="*/ 110 w 110"/>
                <a:gd name="T15" fmla="*/ 31 h 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0" h="31">
                  <a:moveTo>
                    <a:pt x="110" y="16"/>
                  </a:moveTo>
                  <a:lnTo>
                    <a:pt x="0" y="0"/>
                  </a:lnTo>
                  <a:lnTo>
                    <a:pt x="0" y="31"/>
                  </a:lnTo>
                  <a:lnTo>
                    <a:pt x="110" y="16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5" name="Freeform 312"/>
            <p:cNvSpPr>
              <a:spLocks/>
            </p:cNvSpPr>
            <p:nvPr/>
          </p:nvSpPr>
          <p:spPr bwMode="auto">
            <a:xfrm>
              <a:off x="5325" y="1052"/>
              <a:ext cx="55" cy="15"/>
            </a:xfrm>
            <a:custGeom>
              <a:avLst/>
              <a:gdLst>
                <a:gd name="T0" fmla="*/ 1 w 110"/>
                <a:gd name="T1" fmla="*/ 0 h 31"/>
                <a:gd name="T2" fmla="*/ 0 w 110"/>
                <a:gd name="T3" fmla="*/ 0 h 31"/>
                <a:gd name="T4" fmla="*/ 0 w 110"/>
                <a:gd name="T5" fmla="*/ 0 h 31"/>
                <a:gd name="T6" fmla="*/ 1 w 110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0"/>
                <a:gd name="T13" fmla="*/ 0 h 31"/>
                <a:gd name="T14" fmla="*/ 110 w 110"/>
                <a:gd name="T15" fmla="*/ 31 h 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0" h="31">
                  <a:moveTo>
                    <a:pt x="110" y="16"/>
                  </a:moveTo>
                  <a:lnTo>
                    <a:pt x="0" y="0"/>
                  </a:lnTo>
                  <a:lnTo>
                    <a:pt x="0" y="31"/>
                  </a:lnTo>
                  <a:lnTo>
                    <a:pt x="110" y="16"/>
                  </a:lnTo>
                  <a:close/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" name="Line 313"/>
            <p:cNvSpPr>
              <a:spLocks noChangeShapeType="1"/>
            </p:cNvSpPr>
            <p:nvPr/>
          </p:nvSpPr>
          <p:spPr bwMode="auto">
            <a:xfrm flipH="1">
              <a:off x="5255" y="1059"/>
              <a:ext cx="70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7" name="Rectangle 314"/>
            <p:cNvSpPr>
              <a:spLocks noChangeArrowheads="1"/>
            </p:cNvSpPr>
            <p:nvPr/>
          </p:nvSpPr>
          <p:spPr bwMode="auto">
            <a:xfrm>
              <a:off x="5051" y="932"/>
              <a:ext cx="31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 i="1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  <a:endParaRPr lang="en-US" altLang="zh-CN"/>
            </a:p>
          </p:txBody>
        </p:sp>
        <p:sp>
          <p:nvSpPr>
            <p:cNvPr id="368" name="Rectangle 315"/>
            <p:cNvSpPr>
              <a:spLocks noChangeArrowheads="1"/>
            </p:cNvSpPr>
            <p:nvPr/>
          </p:nvSpPr>
          <p:spPr bwMode="auto">
            <a:xfrm>
              <a:off x="5030" y="890"/>
              <a:ext cx="2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endParaRPr lang="en-US" altLang="zh-CN"/>
            </a:p>
          </p:txBody>
        </p:sp>
        <p:sp>
          <p:nvSpPr>
            <p:cNvPr id="369" name="Rectangle 316"/>
            <p:cNvSpPr>
              <a:spLocks noChangeArrowheads="1"/>
            </p:cNvSpPr>
            <p:nvPr/>
          </p:nvSpPr>
          <p:spPr bwMode="auto">
            <a:xfrm>
              <a:off x="5288" y="962"/>
              <a:ext cx="4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宋体" pitchFamily="2" charset="-122"/>
                </a:rPr>
                <a:t>I</a:t>
              </a:r>
              <a:endParaRPr lang="en-US" altLang="zh-CN"/>
            </a:p>
          </p:txBody>
        </p:sp>
        <p:sp>
          <p:nvSpPr>
            <p:cNvPr id="370" name="Rectangle 317"/>
            <p:cNvSpPr>
              <a:spLocks noChangeArrowheads="1"/>
            </p:cNvSpPr>
            <p:nvPr/>
          </p:nvSpPr>
          <p:spPr bwMode="auto">
            <a:xfrm>
              <a:off x="5328" y="992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宋体" pitchFamily="2" charset="-122"/>
                </a:rPr>
                <a:t>o</a:t>
              </a:r>
              <a:endParaRPr lang="en-US" altLang="zh-CN"/>
            </a:p>
          </p:txBody>
        </p:sp>
        <p:sp>
          <p:nvSpPr>
            <p:cNvPr id="371" name="Rectangle 318"/>
            <p:cNvSpPr>
              <a:spLocks noChangeArrowheads="1"/>
            </p:cNvSpPr>
            <p:nvPr/>
          </p:nvSpPr>
          <p:spPr bwMode="auto">
            <a:xfrm>
              <a:off x="4450" y="1940"/>
              <a:ext cx="19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rgbClr val="000000"/>
                  </a:solidFill>
                  <a:latin typeface="宋体" pitchFamily="2" charset="-122"/>
                </a:rPr>
                <a:t>(a)</a:t>
              </a:r>
              <a:endParaRPr lang="en-US" altLang="zh-CN" sz="1600"/>
            </a:p>
          </p:txBody>
        </p:sp>
        <p:sp>
          <p:nvSpPr>
            <p:cNvPr id="372" name="Freeform 319"/>
            <p:cNvSpPr>
              <a:spLocks noEditPoints="1"/>
            </p:cNvSpPr>
            <p:nvPr/>
          </p:nvSpPr>
          <p:spPr bwMode="auto">
            <a:xfrm>
              <a:off x="3696" y="1028"/>
              <a:ext cx="14" cy="118"/>
            </a:xfrm>
            <a:custGeom>
              <a:avLst/>
              <a:gdLst>
                <a:gd name="T0" fmla="*/ 1 w 28"/>
                <a:gd name="T1" fmla="*/ 1 h 236"/>
                <a:gd name="T2" fmla="*/ 1 w 28"/>
                <a:gd name="T3" fmla="*/ 1 h 236"/>
                <a:gd name="T4" fmla="*/ 1 w 28"/>
                <a:gd name="T5" fmla="*/ 1 h 236"/>
                <a:gd name="T6" fmla="*/ 1 w 28"/>
                <a:gd name="T7" fmla="*/ 1 h 236"/>
                <a:gd name="T8" fmla="*/ 1 w 28"/>
                <a:gd name="T9" fmla="*/ 1 h 236"/>
                <a:gd name="T10" fmla="*/ 1 w 28"/>
                <a:gd name="T11" fmla="*/ 1 h 236"/>
                <a:gd name="T12" fmla="*/ 1 w 28"/>
                <a:gd name="T13" fmla="*/ 1 h 236"/>
                <a:gd name="T14" fmla="*/ 1 w 28"/>
                <a:gd name="T15" fmla="*/ 1 h 236"/>
                <a:gd name="T16" fmla="*/ 1 w 28"/>
                <a:gd name="T17" fmla="*/ 1 h 236"/>
                <a:gd name="T18" fmla="*/ 1 w 28"/>
                <a:gd name="T19" fmla="*/ 1 h 236"/>
                <a:gd name="T20" fmla="*/ 1 w 28"/>
                <a:gd name="T21" fmla="*/ 1 h 236"/>
                <a:gd name="T22" fmla="*/ 1 w 28"/>
                <a:gd name="T23" fmla="*/ 1 h 236"/>
                <a:gd name="T24" fmla="*/ 1 w 28"/>
                <a:gd name="T25" fmla="*/ 1 h 236"/>
                <a:gd name="T26" fmla="*/ 1 w 28"/>
                <a:gd name="T27" fmla="*/ 1 h 236"/>
                <a:gd name="T28" fmla="*/ 1 w 28"/>
                <a:gd name="T29" fmla="*/ 1 h 236"/>
                <a:gd name="T30" fmla="*/ 1 w 28"/>
                <a:gd name="T31" fmla="*/ 1 h 236"/>
                <a:gd name="T32" fmla="*/ 1 w 28"/>
                <a:gd name="T33" fmla="*/ 1 h 236"/>
                <a:gd name="T34" fmla="*/ 1 w 28"/>
                <a:gd name="T35" fmla="*/ 1 h 236"/>
                <a:gd name="T36" fmla="*/ 1 w 28"/>
                <a:gd name="T37" fmla="*/ 0 h 236"/>
                <a:gd name="T38" fmla="*/ 1 w 28"/>
                <a:gd name="T39" fmla="*/ 1 h 236"/>
                <a:gd name="T40" fmla="*/ 1 w 28"/>
                <a:gd name="T41" fmla="*/ 1 h 236"/>
                <a:gd name="T42" fmla="*/ 1 w 28"/>
                <a:gd name="T43" fmla="*/ 1 h 236"/>
                <a:gd name="T44" fmla="*/ 1 w 28"/>
                <a:gd name="T45" fmla="*/ 1 h 236"/>
                <a:gd name="T46" fmla="*/ 1 w 28"/>
                <a:gd name="T47" fmla="*/ 1 h 236"/>
                <a:gd name="T48" fmla="*/ 1 w 28"/>
                <a:gd name="T49" fmla="*/ 1 h 236"/>
                <a:gd name="T50" fmla="*/ 1 w 28"/>
                <a:gd name="T51" fmla="*/ 1 h 236"/>
                <a:gd name="T52" fmla="*/ 1 w 28"/>
                <a:gd name="T53" fmla="*/ 1 h 236"/>
                <a:gd name="T54" fmla="*/ 1 w 28"/>
                <a:gd name="T55" fmla="*/ 1 h 236"/>
                <a:gd name="T56" fmla="*/ 1 w 28"/>
                <a:gd name="T57" fmla="*/ 1 h 236"/>
                <a:gd name="T58" fmla="*/ 1 w 28"/>
                <a:gd name="T59" fmla="*/ 1 h 236"/>
                <a:gd name="T60" fmla="*/ 1 w 28"/>
                <a:gd name="T61" fmla="*/ 1 h 236"/>
                <a:gd name="T62" fmla="*/ 1 w 28"/>
                <a:gd name="T63" fmla="*/ 1 h 236"/>
                <a:gd name="T64" fmla="*/ 1 w 28"/>
                <a:gd name="T65" fmla="*/ 1 h 236"/>
                <a:gd name="T66" fmla="*/ 1 w 28"/>
                <a:gd name="T67" fmla="*/ 1 h 236"/>
                <a:gd name="T68" fmla="*/ 1 w 28"/>
                <a:gd name="T69" fmla="*/ 0 h 236"/>
                <a:gd name="T70" fmla="*/ 1 w 28"/>
                <a:gd name="T71" fmla="*/ 0 h 2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8"/>
                <a:gd name="T109" fmla="*/ 0 h 236"/>
                <a:gd name="T110" fmla="*/ 28 w 28"/>
                <a:gd name="T111" fmla="*/ 236 h 2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8" h="236">
                  <a:moveTo>
                    <a:pt x="14" y="209"/>
                  </a:moveTo>
                  <a:lnTo>
                    <a:pt x="13" y="210"/>
                  </a:lnTo>
                  <a:lnTo>
                    <a:pt x="9" y="210"/>
                  </a:lnTo>
                  <a:lnTo>
                    <a:pt x="7" y="212"/>
                  </a:lnTo>
                  <a:lnTo>
                    <a:pt x="6" y="214"/>
                  </a:lnTo>
                  <a:lnTo>
                    <a:pt x="4" y="215"/>
                  </a:lnTo>
                  <a:lnTo>
                    <a:pt x="2" y="217"/>
                  </a:lnTo>
                  <a:lnTo>
                    <a:pt x="2" y="220"/>
                  </a:lnTo>
                  <a:lnTo>
                    <a:pt x="0" y="222"/>
                  </a:lnTo>
                  <a:lnTo>
                    <a:pt x="2" y="226"/>
                  </a:lnTo>
                  <a:lnTo>
                    <a:pt x="2" y="227"/>
                  </a:lnTo>
                  <a:lnTo>
                    <a:pt x="4" y="231"/>
                  </a:lnTo>
                  <a:lnTo>
                    <a:pt x="6" y="232"/>
                  </a:lnTo>
                  <a:lnTo>
                    <a:pt x="7" y="234"/>
                  </a:lnTo>
                  <a:lnTo>
                    <a:pt x="9" y="234"/>
                  </a:lnTo>
                  <a:lnTo>
                    <a:pt x="13" y="236"/>
                  </a:lnTo>
                  <a:lnTo>
                    <a:pt x="14" y="236"/>
                  </a:lnTo>
                  <a:lnTo>
                    <a:pt x="18" y="236"/>
                  </a:lnTo>
                  <a:lnTo>
                    <a:pt x="20" y="234"/>
                  </a:lnTo>
                  <a:lnTo>
                    <a:pt x="23" y="234"/>
                  </a:lnTo>
                  <a:lnTo>
                    <a:pt x="25" y="232"/>
                  </a:lnTo>
                  <a:lnTo>
                    <a:pt x="27" y="231"/>
                  </a:lnTo>
                  <a:lnTo>
                    <a:pt x="27" y="227"/>
                  </a:lnTo>
                  <a:lnTo>
                    <a:pt x="28" y="226"/>
                  </a:lnTo>
                  <a:lnTo>
                    <a:pt x="28" y="222"/>
                  </a:lnTo>
                  <a:lnTo>
                    <a:pt x="28" y="220"/>
                  </a:lnTo>
                  <a:lnTo>
                    <a:pt x="27" y="217"/>
                  </a:lnTo>
                  <a:lnTo>
                    <a:pt x="27" y="215"/>
                  </a:lnTo>
                  <a:lnTo>
                    <a:pt x="25" y="214"/>
                  </a:lnTo>
                  <a:lnTo>
                    <a:pt x="23" y="212"/>
                  </a:lnTo>
                  <a:lnTo>
                    <a:pt x="20" y="210"/>
                  </a:lnTo>
                  <a:lnTo>
                    <a:pt x="18" y="210"/>
                  </a:lnTo>
                  <a:lnTo>
                    <a:pt x="14" y="209"/>
                  </a:lnTo>
                  <a:close/>
                  <a:moveTo>
                    <a:pt x="14" y="0"/>
                  </a:moveTo>
                  <a:lnTo>
                    <a:pt x="13" y="0"/>
                  </a:lnTo>
                  <a:lnTo>
                    <a:pt x="9" y="1"/>
                  </a:lnTo>
                  <a:lnTo>
                    <a:pt x="7" y="1"/>
                  </a:lnTo>
                  <a:lnTo>
                    <a:pt x="6" y="3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2" y="15"/>
                  </a:lnTo>
                  <a:lnTo>
                    <a:pt x="2" y="18"/>
                  </a:lnTo>
                  <a:lnTo>
                    <a:pt x="4" y="20"/>
                  </a:lnTo>
                  <a:lnTo>
                    <a:pt x="6" y="21"/>
                  </a:lnTo>
                  <a:lnTo>
                    <a:pt x="7" y="23"/>
                  </a:lnTo>
                  <a:lnTo>
                    <a:pt x="9" y="25"/>
                  </a:lnTo>
                  <a:lnTo>
                    <a:pt x="13" y="26"/>
                  </a:lnTo>
                  <a:lnTo>
                    <a:pt x="14" y="26"/>
                  </a:lnTo>
                  <a:lnTo>
                    <a:pt x="18" y="26"/>
                  </a:lnTo>
                  <a:lnTo>
                    <a:pt x="20" y="25"/>
                  </a:lnTo>
                  <a:lnTo>
                    <a:pt x="23" y="23"/>
                  </a:lnTo>
                  <a:lnTo>
                    <a:pt x="25" y="21"/>
                  </a:lnTo>
                  <a:lnTo>
                    <a:pt x="27" y="20"/>
                  </a:lnTo>
                  <a:lnTo>
                    <a:pt x="27" y="18"/>
                  </a:lnTo>
                  <a:lnTo>
                    <a:pt x="28" y="15"/>
                  </a:lnTo>
                  <a:lnTo>
                    <a:pt x="28" y="13"/>
                  </a:lnTo>
                  <a:lnTo>
                    <a:pt x="28" y="10"/>
                  </a:lnTo>
                  <a:lnTo>
                    <a:pt x="27" y="8"/>
                  </a:lnTo>
                  <a:lnTo>
                    <a:pt x="27" y="6"/>
                  </a:lnTo>
                  <a:lnTo>
                    <a:pt x="25" y="3"/>
                  </a:lnTo>
                  <a:lnTo>
                    <a:pt x="23" y="1"/>
                  </a:lnTo>
                  <a:lnTo>
                    <a:pt x="20" y="1"/>
                  </a:lnTo>
                  <a:lnTo>
                    <a:pt x="18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3" name="Freeform 320"/>
            <p:cNvSpPr>
              <a:spLocks/>
            </p:cNvSpPr>
            <p:nvPr/>
          </p:nvSpPr>
          <p:spPr bwMode="auto">
            <a:xfrm>
              <a:off x="3696" y="1133"/>
              <a:ext cx="14" cy="13"/>
            </a:xfrm>
            <a:custGeom>
              <a:avLst/>
              <a:gdLst>
                <a:gd name="T0" fmla="*/ 1 w 28"/>
                <a:gd name="T1" fmla="*/ 0 h 27"/>
                <a:gd name="T2" fmla="*/ 1 w 28"/>
                <a:gd name="T3" fmla="*/ 0 h 27"/>
                <a:gd name="T4" fmla="*/ 1 w 28"/>
                <a:gd name="T5" fmla="*/ 0 h 27"/>
                <a:gd name="T6" fmla="*/ 1 w 28"/>
                <a:gd name="T7" fmla="*/ 0 h 27"/>
                <a:gd name="T8" fmla="*/ 1 w 28"/>
                <a:gd name="T9" fmla="*/ 0 h 27"/>
                <a:gd name="T10" fmla="*/ 1 w 28"/>
                <a:gd name="T11" fmla="*/ 0 h 27"/>
                <a:gd name="T12" fmla="*/ 1 w 28"/>
                <a:gd name="T13" fmla="*/ 0 h 27"/>
                <a:gd name="T14" fmla="*/ 1 w 28"/>
                <a:gd name="T15" fmla="*/ 0 h 27"/>
                <a:gd name="T16" fmla="*/ 0 w 28"/>
                <a:gd name="T17" fmla="*/ 0 h 27"/>
                <a:gd name="T18" fmla="*/ 1 w 28"/>
                <a:gd name="T19" fmla="*/ 0 h 27"/>
                <a:gd name="T20" fmla="*/ 1 w 28"/>
                <a:gd name="T21" fmla="*/ 0 h 27"/>
                <a:gd name="T22" fmla="*/ 1 w 28"/>
                <a:gd name="T23" fmla="*/ 0 h 27"/>
                <a:gd name="T24" fmla="*/ 1 w 28"/>
                <a:gd name="T25" fmla="*/ 0 h 27"/>
                <a:gd name="T26" fmla="*/ 1 w 28"/>
                <a:gd name="T27" fmla="*/ 0 h 27"/>
                <a:gd name="T28" fmla="*/ 1 w 28"/>
                <a:gd name="T29" fmla="*/ 0 h 27"/>
                <a:gd name="T30" fmla="*/ 1 w 28"/>
                <a:gd name="T31" fmla="*/ 0 h 27"/>
                <a:gd name="T32" fmla="*/ 1 w 28"/>
                <a:gd name="T33" fmla="*/ 0 h 27"/>
                <a:gd name="T34" fmla="*/ 1 w 28"/>
                <a:gd name="T35" fmla="*/ 0 h 27"/>
                <a:gd name="T36" fmla="*/ 1 w 28"/>
                <a:gd name="T37" fmla="*/ 0 h 27"/>
                <a:gd name="T38" fmla="*/ 1 w 28"/>
                <a:gd name="T39" fmla="*/ 0 h 27"/>
                <a:gd name="T40" fmla="*/ 1 w 28"/>
                <a:gd name="T41" fmla="*/ 0 h 27"/>
                <a:gd name="T42" fmla="*/ 1 w 28"/>
                <a:gd name="T43" fmla="*/ 0 h 27"/>
                <a:gd name="T44" fmla="*/ 1 w 28"/>
                <a:gd name="T45" fmla="*/ 0 h 27"/>
                <a:gd name="T46" fmla="*/ 1 w 28"/>
                <a:gd name="T47" fmla="*/ 0 h 27"/>
                <a:gd name="T48" fmla="*/ 1 w 28"/>
                <a:gd name="T49" fmla="*/ 0 h 27"/>
                <a:gd name="T50" fmla="*/ 1 w 28"/>
                <a:gd name="T51" fmla="*/ 0 h 27"/>
                <a:gd name="T52" fmla="*/ 1 w 28"/>
                <a:gd name="T53" fmla="*/ 0 h 27"/>
                <a:gd name="T54" fmla="*/ 1 w 28"/>
                <a:gd name="T55" fmla="*/ 0 h 27"/>
                <a:gd name="T56" fmla="*/ 1 w 28"/>
                <a:gd name="T57" fmla="*/ 0 h 27"/>
                <a:gd name="T58" fmla="*/ 1 w 28"/>
                <a:gd name="T59" fmla="*/ 0 h 27"/>
                <a:gd name="T60" fmla="*/ 1 w 28"/>
                <a:gd name="T61" fmla="*/ 0 h 27"/>
                <a:gd name="T62" fmla="*/ 1 w 28"/>
                <a:gd name="T63" fmla="*/ 0 h 27"/>
                <a:gd name="T64" fmla="*/ 1 w 28"/>
                <a:gd name="T65" fmla="*/ 0 h 27"/>
                <a:gd name="T66" fmla="*/ 1 w 28"/>
                <a:gd name="T67" fmla="*/ 0 h 27"/>
                <a:gd name="T68" fmla="*/ 1 w 28"/>
                <a:gd name="T69" fmla="*/ 0 h 2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7"/>
                <a:gd name="T107" fmla="*/ 28 w 28"/>
                <a:gd name="T108" fmla="*/ 27 h 2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7">
                  <a:moveTo>
                    <a:pt x="14" y="0"/>
                  </a:moveTo>
                  <a:lnTo>
                    <a:pt x="13" y="1"/>
                  </a:lnTo>
                  <a:lnTo>
                    <a:pt x="9" y="1"/>
                  </a:lnTo>
                  <a:lnTo>
                    <a:pt x="7" y="3"/>
                  </a:lnTo>
                  <a:lnTo>
                    <a:pt x="6" y="5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2" y="18"/>
                  </a:lnTo>
                  <a:lnTo>
                    <a:pt x="4" y="22"/>
                  </a:lnTo>
                  <a:lnTo>
                    <a:pt x="6" y="23"/>
                  </a:lnTo>
                  <a:lnTo>
                    <a:pt x="7" y="25"/>
                  </a:lnTo>
                  <a:lnTo>
                    <a:pt x="9" y="25"/>
                  </a:lnTo>
                  <a:lnTo>
                    <a:pt x="13" y="27"/>
                  </a:lnTo>
                  <a:lnTo>
                    <a:pt x="14" y="27"/>
                  </a:lnTo>
                  <a:lnTo>
                    <a:pt x="18" y="27"/>
                  </a:lnTo>
                  <a:lnTo>
                    <a:pt x="20" y="25"/>
                  </a:lnTo>
                  <a:lnTo>
                    <a:pt x="23" y="25"/>
                  </a:lnTo>
                  <a:lnTo>
                    <a:pt x="25" y="23"/>
                  </a:lnTo>
                  <a:lnTo>
                    <a:pt x="27" y="22"/>
                  </a:lnTo>
                  <a:lnTo>
                    <a:pt x="27" y="18"/>
                  </a:lnTo>
                  <a:lnTo>
                    <a:pt x="28" y="17"/>
                  </a:lnTo>
                  <a:lnTo>
                    <a:pt x="28" y="13"/>
                  </a:lnTo>
                  <a:lnTo>
                    <a:pt x="28" y="11"/>
                  </a:lnTo>
                  <a:lnTo>
                    <a:pt x="27" y="8"/>
                  </a:lnTo>
                  <a:lnTo>
                    <a:pt x="27" y="6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4" name="Freeform 321"/>
            <p:cNvSpPr>
              <a:spLocks/>
            </p:cNvSpPr>
            <p:nvPr/>
          </p:nvSpPr>
          <p:spPr bwMode="auto">
            <a:xfrm>
              <a:off x="3696" y="1028"/>
              <a:ext cx="14" cy="14"/>
            </a:xfrm>
            <a:custGeom>
              <a:avLst/>
              <a:gdLst>
                <a:gd name="T0" fmla="*/ 1 w 28"/>
                <a:gd name="T1" fmla="*/ 0 h 26"/>
                <a:gd name="T2" fmla="*/ 1 w 28"/>
                <a:gd name="T3" fmla="*/ 0 h 26"/>
                <a:gd name="T4" fmla="*/ 1 w 28"/>
                <a:gd name="T5" fmla="*/ 1 h 26"/>
                <a:gd name="T6" fmla="*/ 1 w 28"/>
                <a:gd name="T7" fmla="*/ 1 h 26"/>
                <a:gd name="T8" fmla="*/ 1 w 28"/>
                <a:gd name="T9" fmla="*/ 1 h 26"/>
                <a:gd name="T10" fmla="*/ 1 w 28"/>
                <a:gd name="T11" fmla="*/ 1 h 26"/>
                <a:gd name="T12" fmla="*/ 1 w 28"/>
                <a:gd name="T13" fmla="*/ 1 h 26"/>
                <a:gd name="T14" fmla="*/ 1 w 28"/>
                <a:gd name="T15" fmla="*/ 1 h 26"/>
                <a:gd name="T16" fmla="*/ 0 w 28"/>
                <a:gd name="T17" fmla="*/ 1 h 26"/>
                <a:gd name="T18" fmla="*/ 1 w 28"/>
                <a:gd name="T19" fmla="*/ 1 h 26"/>
                <a:gd name="T20" fmla="*/ 1 w 28"/>
                <a:gd name="T21" fmla="*/ 1 h 26"/>
                <a:gd name="T22" fmla="*/ 1 w 28"/>
                <a:gd name="T23" fmla="*/ 1 h 26"/>
                <a:gd name="T24" fmla="*/ 1 w 28"/>
                <a:gd name="T25" fmla="*/ 1 h 26"/>
                <a:gd name="T26" fmla="*/ 1 w 28"/>
                <a:gd name="T27" fmla="*/ 1 h 26"/>
                <a:gd name="T28" fmla="*/ 1 w 28"/>
                <a:gd name="T29" fmla="*/ 1 h 26"/>
                <a:gd name="T30" fmla="*/ 1 w 28"/>
                <a:gd name="T31" fmla="*/ 1 h 26"/>
                <a:gd name="T32" fmla="*/ 1 w 28"/>
                <a:gd name="T33" fmla="*/ 1 h 26"/>
                <a:gd name="T34" fmla="*/ 1 w 28"/>
                <a:gd name="T35" fmla="*/ 1 h 26"/>
                <a:gd name="T36" fmla="*/ 1 w 28"/>
                <a:gd name="T37" fmla="*/ 1 h 26"/>
                <a:gd name="T38" fmla="*/ 1 w 28"/>
                <a:gd name="T39" fmla="*/ 1 h 26"/>
                <a:gd name="T40" fmla="*/ 1 w 28"/>
                <a:gd name="T41" fmla="*/ 1 h 26"/>
                <a:gd name="T42" fmla="*/ 1 w 28"/>
                <a:gd name="T43" fmla="*/ 1 h 26"/>
                <a:gd name="T44" fmla="*/ 1 w 28"/>
                <a:gd name="T45" fmla="*/ 1 h 26"/>
                <a:gd name="T46" fmla="*/ 1 w 28"/>
                <a:gd name="T47" fmla="*/ 1 h 26"/>
                <a:gd name="T48" fmla="*/ 1 w 28"/>
                <a:gd name="T49" fmla="*/ 1 h 26"/>
                <a:gd name="T50" fmla="*/ 1 w 28"/>
                <a:gd name="T51" fmla="*/ 1 h 26"/>
                <a:gd name="T52" fmla="*/ 1 w 28"/>
                <a:gd name="T53" fmla="*/ 1 h 26"/>
                <a:gd name="T54" fmla="*/ 1 w 28"/>
                <a:gd name="T55" fmla="*/ 1 h 26"/>
                <a:gd name="T56" fmla="*/ 1 w 28"/>
                <a:gd name="T57" fmla="*/ 1 h 26"/>
                <a:gd name="T58" fmla="*/ 1 w 28"/>
                <a:gd name="T59" fmla="*/ 1 h 26"/>
                <a:gd name="T60" fmla="*/ 1 w 28"/>
                <a:gd name="T61" fmla="*/ 1 h 26"/>
                <a:gd name="T62" fmla="*/ 1 w 28"/>
                <a:gd name="T63" fmla="*/ 1 h 26"/>
                <a:gd name="T64" fmla="*/ 1 w 28"/>
                <a:gd name="T65" fmla="*/ 0 h 26"/>
                <a:gd name="T66" fmla="*/ 1 w 28"/>
                <a:gd name="T67" fmla="*/ 0 h 26"/>
                <a:gd name="T68" fmla="*/ 1 w 28"/>
                <a:gd name="T69" fmla="*/ 0 h 2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6"/>
                <a:gd name="T107" fmla="*/ 28 w 28"/>
                <a:gd name="T108" fmla="*/ 26 h 2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6">
                  <a:moveTo>
                    <a:pt x="14" y="0"/>
                  </a:moveTo>
                  <a:lnTo>
                    <a:pt x="13" y="0"/>
                  </a:lnTo>
                  <a:lnTo>
                    <a:pt x="9" y="1"/>
                  </a:lnTo>
                  <a:lnTo>
                    <a:pt x="7" y="1"/>
                  </a:lnTo>
                  <a:lnTo>
                    <a:pt x="6" y="3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2" y="15"/>
                  </a:lnTo>
                  <a:lnTo>
                    <a:pt x="2" y="18"/>
                  </a:lnTo>
                  <a:lnTo>
                    <a:pt x="4" y="20"/>
                  </a:lnTo>
                  <a:lnTo>
                    <a:pt x="6" y="21"/>
                  </a:lnTo>
                  <a:lnTo>
                    <a:pt x="7" y="23"/>
                  </a:lnTo>
                  <a:lnTo>
                    <a:pt x="9" y="25"/>
                  </a:lnTo>
                  <a:lnTo>
                    <a:pt x="13" y="26"/>
                  </a:lnTo>
                  <a:lnTo>
                    <a:pt x="14" y="26"/>
                  </a:lnTo>
                  <a:lnTo>
                    <a:pt x="18" y="26"/>
                  </a:lnTo>
                  <a:lnTo>
                    <a:pt x="20" y="25"/>
                  </a:lnTo>
                  <a:lnTo>
                    <a:pt x="23" y="23"/>
                  </a:lnTo>
                  <a:lnTo>
                    <a:pt x="25" y="21"/>
                  </a:lnTo>
                  <a:lnTo>
                    <a:pt x="27" y="20"/>
                  </a:lnTo>
                  <a:lnTo>
                    <a:pt x="27" y="18"/>
                  </a:lnTo>
                  <a:lnTo>
                    <a:pt x="28" y="15"/>
                  </a:lnTo>
                  <a:lnTo>
                    <a:pt x="28" y="13"/>
                  </a:lnTo>
                  <a:lnTo>
                    <a:pt x="28" y="10"/>
                  </a:lnTo>
                  <a:lnTo>
                    <a:pt x="27" y="8"/>
                  </a:lnTo>
                  <a:lnTo>
                    <a:pt x="27" y="6"/>
                  </a:lnTo>
                  <a:lnTo>
                    <a:pt x="25" y="3"/>
                  </a:lnTo>
                  <a:lnTo>
                    <a:pt x="23" y="1"/>
                  </a:lnTo>
                  <a:lnTo>
                    <a:pt x="20" y="1"/>
                  </a:lnTo>
                  <a:lnTo>
                    <a:pt x="18" y="0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" name="Line 322"/>
            <p:cNvSpPr>
              <a:spLocks noChangeShapeType="1"/>
            </p:cNvSpPr>
            <p:nvPr/>
          </p:nvSpPr>
          <p:spPr bwMode="auto">
            <a:xfrm>
              <a:off x="3706" y="1041"/>
              <a:ext cx="32" cy="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6" name="Line 323"/>
            <p:cNvSpPr>
              <a:spLocks noChangeShapeType="1"/>
            </p:cNvSpPr>
            <p:nvPr/>
          </p:nvSpPr>
          <p:spPr bwMode="auto">
            <a:xfrm flipH="1">
              <a:off x="3703" y="920"/>
              <a:ext cx="155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7" name="Rectangle 325"/>
            <p:cNvSpPr>
              <a:spLocks noChangeArrowheads="1"/>
            </p:cNvSpPr>
            <p:nvPr/>
          </p:nvSpPr>
          <p:spPr bwMode="auto">
            <a:xfrm>
              <a:off x="3560" y="1026"/>
              <a:ext cx="104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1400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78" name="Line 326"/>
            <p:cNvSpPr>
              <a:spLocks noChangeShapeType="1"/>
            </p:cNvSpPr>
            <p:nvPr/>
          </p:nvSpPr>
          <p:spPr bwMode="auto">
            <a:xfrm flipV="1">
              <a:off x="3703" y="920"/>
              <a:ext cx="1" cy="11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" name="Line 327"/>
            <p:cNvSpPr>
              <a:spLocks noChangeShapeType="1"/>
            </p:cNvSpPr>
            <p:nvPr/>
          </p:nvSpPr>
          <p:spPr bwMode="auto">
            <a:xfrm flipH="1">
              <a:off x="3704" y="1255"/>
              <a:ext cx="153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" name="Freeform 328"/>
            <p:cNvSpPr>
              <a:spLocks/>
            </p:cNvSpPr>
            <p:nvPr/>
          </p:nvSpPr>
          <p:spPr bwMode="auto">
            <a:xfrm>
              <a:off x="3691" y="1242"/>
              <a:ext cx="28" cy="26"/>
            </a:xfrm>
            <a:custGeom>
              <a:avLst/>
              <a:gdLst>
                <a:gd name="T0" fmla="*/ 0 w 56"/>
                <a:gd name="T1" fmla="*/ 0 h 54"/>
                <a:gd name="T2" fmla="*/ 1 w 56"/>
                <a:gd name="T3" fmla="*/ 0 h 54"/>
                <a:gd name="T4" fmla="*/ 1 w 56"/>
                <a:gd name="T5" fmla="*/ 0 h 54"/>
                <a:gd name="T6" fmla="*/ 1 w 56"/>
                <a:gd name="T7" fmla="*/ 0 h 54"/>
                <a:gd name="T8" fmla="*/ 1 w 56"/>
                <a:gd name="T9" fmla="*/ 0 h 54"/>
                <a:gd name="T10" fmla="*/ 1 w 56"/>
                <a:gd name="T11" fmla="*/ 0 h 54"/>
                <a:gd name="T12" fmla="*/ 1 w 56"/>
                <a:gd name="T13" fmla="*/ 0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0 h 54"/>
                <a:gd name="T22" fmla="*/ 1 w 56"/>
                <a:gd name="T23" fmla="*/ 0 h 54"/>
                <a:gd name="T24" fmla="*/ 1 w 56"/>
                <a:gd name="T25" fmla="*/ 0 h 54"/>
                <a:gd name="T26" fmla="*/ 1 w 56"/>
                <a:gd name="T27" fmla="*/ 0 h 54"/>
                <a:gd name="T28" fmla="*/ 1 w 56"/>
                <a:gd name="T29" fmla="*/ 0 h 54"/>
                <a:gd name="T30" fmla="*/ 1 w 56"/>
                <a:gd name="T31" fmla="*/ 0 h 54"/>
                <a:gd name="T32" fmla="*/ 1 w 56"/>
                <a:gd name="T33" fmla="*/ 0 h 54"/>
                <a:gd name="T34" fmla="*/ 1 w 56"/>
                <a:gd name="T35" fmla="*/ 0 h 54"/>
                <a:gd name="T36" fmla="*/ 1 w 56"/>
                <a:gd name="T37" fmla="*/ 0 h 54"/>
                <a:gd name="T38" fmla="*/ 1 w 56"/>
                <a:gd name="T39" fmla="*/ 0 h 54"/>
                <a:gd name="T40" fmla="*/ 1 w 56"/>
                <a:gd name="T41" fmla="*/ 0 h 54"/>
                <a:gd name="T42" fmla="*/ 1 w 56"/>
                <a:gd name="T43" fmla="*/ 0 h 54"/>
                <a:gd name="T44" fmla="*/ 1 w 56"/>
                <a:gd name="T45" fmla="*/ 0 h 54"/>
                <a:gd name="T46" fmla="*/ 1 w 56"/>
                <a:gd name="T47" fmla="*/ 0 h 54"/>
                <a:gd name="T48" fmla="*/ 1 w 56"/>
                <a:gd name="T49" fmla="*/ 0 h 54"/>
                <a:gd name="T50" fmla="*/ 1 w 56"/>
                <a:gd name="T51" fmla="*/ 0 h 54"/>
                <a:gd name="T52" fmla="*/ 1 w 56"/>
                <a:gd name="T53" fmla="*/ 0 h 54"/>
                <a:gd name="T54" fmla="*/ 1 w 56"/>
                <a:gd name="T55" fmla="*/ 0 h 54"/>
                <a:gd name="T56" fmla="*/ 1 w 56"/>
                <a:gd name="T57" fmla="*/ 0 h 54"/>
                <a:gd name="T58" fmla="*/ 1 w 56"/>
                <a:gd name="T59" fmla="*/ 0 h 54"/>
                <a:gd name="T60" fmla="*/ 1 w 56"/>
                <a:gd name="T61" fmla="*/ 0 h 54"/>
                <a:gd name="T62" fmla="*/ 1 w 56"/>
                <a:gd name="T63" fmla="*/ 0 h 54"/>
                <a:gd name="T64" fmla="*/ 1 w 56"/>
                <a:gd name="T65" fmla="*/ 0 h 54"/>
                <a:gd name="T66" fmla="*/ 0 w 56"/>
                <a:gd name="T67" fmla="*/ 0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2" y="22"/>
                  </a:lnTo>
                  <a:lnTo>
                    <a:pt x="3" y="17"/>
                  </a:lnTo>
                  <a:lnTo>
                    <a:pt x="5" y="12"/>
                  </a:lnTo>
                  <a:lnTo>
                    <a:pt x="9" y="9"/>
                  </a:lnTo>
                  <a:lnTo>
                    <a:pt x="14" y="5"/>
                  </a:lnTo>
                  <a:lnTo>
                    <a:pt x="17" y="2"/>
                  </a:lnTo>
                  <a:lnTo>
                    <a:pt x="23" y="2"/>
                  </a:lnTo>
                  <a:lnTo>
                    <a:pt x="28" y="0"/>
                  </a:lnTo>
                  <a:lnTo>
                    <a:pt x="35" y="2"/>
                  </a:lnTo>
                  <a:lnTo>
                    <a:pt x="40" y="2"/>
                  </a:lnTo>
                  <a:lnTo>
                    <a:pt x="44" y="5"/>
                  </a:lnTo>
                  <a:lnTo>
                    <a:pt x="49" y="9"/>
                  </a:lnTo>
                  <a:lnTo>
                    <a:pt x="52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2" y="42"/>
                  </a:lnTo>
                  <a:lnTo>
                    <a:pt x="49" y="47"/>
                  </a:lnTo>
                  <a:lnTo>
                    <a:pt x="44" y="50"/>
                  </a:lnTo>
                  <a:lnTo>
                    <a:pt x="40" y="52"/>
                  </a:lnTo>
                  <a:lnTo>
                    <a:pt x="35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7" y="52"/>
                  </a:lnTo>
                  <a:lnTo>
                    <a:pt x="14" y="50"/>
                  </a:lnTo>
                  <a:lnTo>
                    <a:pt x="9" y="47"/>
                  </a:lnTo>
                  <a:lnTo>
                    <a:pt x="5" y="42"/>
                  </a:lnTo>
                  <a:lnTo>
                    <a:pt x="3" y="37"/>
                  </a:lnTo>
                  <a:lnTo>
                    <a:pt x="2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1" name="Freeform 329"/>
            <p:cNvSpPr>
              <a:spLocks/>
            </p:cNvSpPr>
            <p:nvPr/>
          </p:nvSpPr>
          <p:spPr bwMode="auto">
            <a:xfrm>
              <a:off x="3691" y="906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1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1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2" y="22"/>
                  </a:lnTo>
                  <a:lnTo>
                    <a:pt x="3" y="17"/>
                  </a:lnTo>
                  <a:lnTo>
                    <a:pt x="5" y="12"/>
                  </a:lnTo>
                  <a:lnTo>
                    <a:pt x="9" y="9"/>
                  </a:lnTo>
                  <a:lnTo>
                    <a:pt x="14" y="5"/>
                  </a:lnTo>
                  <a:lnTo>
                    <a:pt x="17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40" y="2"/>
                  </a:lnTo>
                  <a:lnTo>
                    <a:pt x="44" y="5"/>
                  </a:lnTo>
                  <a:lnTo>
                    <a:pt x="49" y="9"/>
                  </a:lnTo>
                  <a:lnTo>
                    <a:pt x="52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2" y="42"/>
                  </a:lnTo>
                  <a:lnTo>
                    <a:pt x="49" y="46"/>
                  </a:lnTo>
                  <a:lnTo>
                    <a:pt x="44" y="49"/>
                  </a:lnTo>
                  <a:lnTo>
                    <a:pt x="40" y="52"/>
                  </a:lnTo>
                  <a:lnTo>
                    <a:pt x="35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7" y="52"/>
                  </a:lnTo>
                  <a:lnTo>
                    <a:pt x="14" y="49"/>
                  </a:lnTo>
                  <a:lnTo>
                    <a:pt x="9" y="46"/>
                  </a:lnTo>
                  <a:lnTo>
                    <a:pt x="5" y="42"/>
                  </a:lnTo>
                  <a:lnTo>
                    <a:pt x="3" y="37"/>
                  </a:lnTo>
                  <a:lnTo>
                    <a:pt x="2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2" name="Freeform 330"/>
            <p:cNvSpPr>
              <a:spLocks noEditPoints="1"/>
            </p:cNvSpPr>
            <p:nvPr/>
          </p:nvSpPr>
          <p:spPr bwMode="auto">
            <a:xfrm>
              <a:off x="3698" y="1657"/>
              <a:ext cx="13" cy="118"/>
            </a:xfrm>
            <a:custGeom>
              <a:avLst/>
              <a:gdLst>
                <a:gd name="T0" fmla="*/ 1 w 26"/>
                <a:gd name="T1" fmla="*/ 1 h 236"/>
                <a:gd name="T2" fmla="*/ 1 w 26"/>
                <a:gd name="T3" fmla="*/ 1 h 236"/>
                <a:gd name="T4" fmla="*/ 1 w 26"/>
                <a:gd name="T5" fmla="*/ 1 h 236"/>
                <a:gd name="T6" fmla="*/ 0 w 26"/>
                <a:gd name="T7" fmla="*/ 1 h 236"/>
                <a:gd name="T8" fmla="*/ 0 w 26"/>
                <a:gd name="T9" fmla="*/ 1 h 236"/>
                <a:gd name="T10" fmla="*/ 1 w 26"/>
                <a:gd name="T11" fmla="*/ 1 h 236"/>
                <a:gd name="T12" fmla="*/ 1 w 26"/>
                <a:gd name="T13" fmla="*/ 1 h 236"/>
                <a:gd name="T14" fmla="*/ 1 w 26"/>
                <a:gd name="T15" fmla="*/ 1 h 236"/>
                <a:gd name="T16" fmla="*/ 1 w 26"/>
                <a:gd name="T17" fmla="*/ 1 h 236"/>
                <a:gd name="T18" fmla="*/ 1 w 26"/>
                <a:gd name="T19" fmla="*/ 1 h 236"/>
                <a:gd name="T20" fmla="*/ 1 w 26"/>
                <a:gd name="T21" fmla="*/ 1 h 236"/>
                <a:gd name="T22" fmla="*/ 1 w 26"/>
                <a:gd name="T23" fmla="*/ 1 h 236"/>
                <a:gd name="T24" fmla="*/ 1 w 26"/>
                <a:gd name="T25" fmla="*/ 1 h 236"/>
                <a:gd name="T26" fmla="*/ 1 w 26"/>
                <a:gd name="T27" fmla="*/ 1 h 236"/>
                <a:gd name="T28" fmla="*/ 1 w 26"/>
                <a:gd name="T29" fmla="*/ 1 h 236"/>
                <a:gd name="T30" fmla="*/ 1 w 26"/>
                <a:gd name="T31" fmla="*/ 1 h 236"/>
                <a:gd name="T32" fmla="*/ 1 w 26"/>
                <a:gd name="T33" fmla="*/ 1 h 236"/>
                <a:gd name="T34" fmla="*/ 1 w 26"/>
                <a:gd name="T35" fmla="*/ 1 h 236"/>
                <a:gd name="T36" fmla="*/ 1 w 26"/>
                <a:gd name="T37" fmla="*/ 1 h 236"/>
                <a:gd name="T38" fmla="*/ 1 w 26"/>
                <a:gd name="T39" fmla="*/ 1 h 236"/>
                <a:gd name="T40" fmla="*/ 1 w 26"/>
                <a:gd name="T41" fmla="*/ 1 h 236"/>
                <a:gd name="T42" fmla="*/ 0 w 26"/>
                <a:gd name="T43" fmla="*/ 1 h 236"/>
                <a:gd name="T44" fmla="*/ 0 w 26"/>
                <a:gd name="T45" fmla="*/ 1 h 236"/>
                <a:gd name="T46" fmla="*/ 1 w 26"/>
                <a:gd name="T47" fmla="*/ 1 h 236"/>
                <a:gd name="T48" fmla="*/ 1 w 26"/>
                <a:gd name="T49" fmla="*/ 1 h 236"/>
                <a:gd name="T50" fmla="*/ 1 w 26"/>
                <a:gd name="T51" fmla="*/ 1 h 236"/>
                <a:gd name="T52" fmla="*/ 1 w 26"/>
                <a:gd name="T53" fmla="*/ 1 h 236"/>
                <a:gd name="T54" fmla="*/ 1 w 26"/>
                <a:gd name="T55" fmla="*/ 1 h 236"/>
                <a:gd name="T56" fmla="*/ 1 w 26"/>
                <a:gd name="T57" fmla="*/ 1 h 236"/>
                <a:gd name="T58" fmla="*/ 1 w 26"/>
                <a:gd name="T59" fmla="*/ 1 h 236"/>
                <a:gd name="T60" fmla="*/ 1 w 26"/>
                <a:gd name="T61" fmla="*/ 1 h 236"/>
                <a:gd name="T62" fmla="*/ 1 w 26"/>
                <a:gd name="T63" fmla="*/ 1 h 236"/>
                <a:gd name="T64" fmla="*/ 1 w 26"/>
                <a:gd name="T65" fmla="*/ 1 h 236"/>
                <a:gd name="T66" fmla="*/ 1 w 26"/>
                <a:gd name="T67" fmla="*/ 1 h 236"/>
                <a:gd name="T68" fmla="*/ 1 w 26"/>
                <a:gd name="T69" fmla="*/ 0 h 236"/>
                <a:gd name="T70" fmla="*/ 1 w 26"/>
                <a:gd name="T71" fmla="*/ 0 h 2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6"/>
                <a:gd name="T109" fmla="*/ 0 h 236"/>
                <a:gd name="T110" fmla="*/ 26 w 26"/>
                <a:gd name="T111" fmla="*/ 236 h 2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6" h="236">
                  <a:moveTo>
                    <a:pt x="12" y="211"/>
                  </a:moveTo>
                  <a:lnTo>
                    <a:pt x="10" y="211"/>
                  </a:lnTo>
                  <a:lnTo>
                    <a:pt x="7" y="211"/>
                  </a:lnTo>
                  <a:lnTo>
                    <a:pt x="5" y="212"/>
                  </a:lnTo>
                  <a:lnTo>
                    <a:pt x="3" y="214"/>
                  </a:lnTo>
                  <a:lnTo>
                    <a:pt x="2" y="216"/>
                  </a:lnTo>
                  <a:lnTo>
                    <a:pt x="0" y="219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0" y="226"/>
                  </a:lnTo>
                  <a:lnTo>
                    <a:pt x="0" y="229"/>
                  </a:lnTo>
                  <a:lnTo>
                    <a:pt x="2" y="231"/>
                  </a:lnTo>
                  <a:lnTo>
                    <a:pt x="3" y="232"/>
                  </a:lnTo>
                  <a:lnTo>
                    <a:pt x="5" y="234"/>
                  </a:lnTo>
                  <a:lnTo>
                    <a:pt x="7" y="236"/>
                  </a:lnTo>
                  <a:lnTo>
                    <a:pt x="10" y="236"/>
                  </a:lnTo>
                  <a:lnTo>
                    <a:pt x="12" y="236"/>
                  </a:lnTo>
                  <a:lnTo>
                    <a:pt x="16" y="236"/>
                  </a:lnTo>
                  <a:lnTo>
                    <a:pt x="19" y="236"/>
                  </a:lnTo>
                  <a:lnTo>
                    <a:pt x="21" y="234"/>
                  </a:lnTo>
                  <a:lnTo>
                    <a:pt x="23" y="232"/>
                  </a:lnTo>
                  <a:lnTo>
                    <a:pt x="24" y="231"/>
                  </a:lnTo>
                  <a:lnTo>
                    <a:pt x="26" y="229"/>
                  </a:lnTo>
                  <a:lnTo>
                    <a:pt x="26" y="226"/>
                  </a:lnTo>
                  <a:lnTo>
                    <a:pt x="26" y="224"/>
                  </a:lnTo>
                  <a:lnTo>
                    <a:pt x="26" y="221"/>
                  </a:lnTo>
                  <a:lnTo>
                    <a:pt x="26" y="219"/>
                  </a:lnTo>
                  <a:lnTo>
                    <a:pt x="24" y="216"/>
                  </a:lnTo>
                  <a:lnTo>
                    <a:pt x="23" y="214"/>
                  </a:lnTo>
                  <a:lnTo>
                    <a:pt x="21" y="212"/>
                  </a:lnTo>
                  <a:lnTo>
                    <a:pt x="19" y="211"/>
                  </a:lnTo>
                  <a:lnTo>
                    <a:pt x="16" y="211"/>
                  </a:lnTo>
                  <a:lnTo>
                    <a:pt x="12" y="211"/>
                  </a:lnTo>
                  <a:close/>
                  <a:moveTo>
                    <a:pt x="12" y="0"/>
                  </a:moveTo>
                  <a:lnTo>
                    <a:pt x="10" y="2"/>
                  </a:lnTo>
                  <a:lnTo>
                    <a:pt x="7" y="2"/>
                  </a:lnTo>
                  <a:lnTo>
                    <a:pt x="5" y="3"/>
                  </a:lnTo>
                  <a:lnTo>
                    <a:pt x="3" y="5"/>
                  </a:lnTo>
                  <a:lnTo>
                    <a:pt x="2" y="7"/>
                  </a:lnTo>
                  <a:lnTo>
                    <a:pt x="0" y="8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10" y="27"/>
                  </a:lnTo>
                  <a:lnTo>
                    <a:pt x="12" y="27"/>
                  </a:lnTo>
                  <a:lnTo>
                    <a:pt x="16" y="27"/>
                  </a:lnTo>
                  <a:lnTo>
                    <a:pt x="19" y="27"/>
                  </a:lnTo>
                  <a:lnTo>
                    <a:pt x="21" y="25"/>
                  </a:lnTo>
                  <a:lnTo>
                    <a:pt x="23" y="23"/>
                  </a:lnTo>
                  <a:lnTo>
                    <a:pt x="24" y="22"/>
                  </a:lnTo>
                  <a:lnTo>
                    <a:pt x="26" y="18"/>
                  </a:lnTo>
                  <a:lnTo>
                    <a:pt x="26" y="17"/>
                  </a:lnTo>
                  <a:lnTo>
                    <a:pt x="26" y="13"/>
                  </a:lnTo>
                  <a:lnTo>
                    <a:pt x="26" y="12"/>
                  </a:lnTo>
                  <a:lnTo>
                    <a:pt x="26" y="8"/>
                  </a:lnTo>
                  <a:lnTo>
                    <a:pt x="24" y="7"/>
                  </a:lnTo>
                  <a:lnTo>
                    <a:pt x="23" y="5"/>
                  </a:lnTo>
                  <a:lnTo>
                    <a:pt x="21" y="3"/>
                  </a:lnTo>
                  <a:lnTo>
                    <a:pt x="19" y="2"/>
                  </a:lnTo>
                  <a:lnTo>
                    <a:pt x="16" y="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3" name="Freeform 331"/>
            <p:cNvSpPr>
              <a:spLocks/>
            </p:cNvSpPr>
            <p:nvPr/>
          </p:nvSpPr>
          <p:spPr bwMode="auto">
            <a:xfrm>
              <a:off x="3698" y="1763"/>
              <a:ext cx="13" cy="12"/>
            </a:xfrm>
            <a:custGeom>
              <a:avLst/>
              <a:gdLst>
                <a:gd name="T0" fmla="*/ 1 w 26"/>
                <a:gd name="T1" fmla="*/ 0 h 25"/>
                <a:gd name="T2" fmla="*/ 1 w 26"/>
                <a:gd name="T3" fmla="*/ 0 h 25"/>
                <a:gd name="T4" fmla="*/ 1 w 26"/>
                <a:gd name="T5" fmla="*/ 0 h 25"/>
                <a:gd name="T6" fmla="*/ 1 w 26"/>
                <a:gd name="T7" fmla="*/ 0 h 25"/>
                <a:gd name="T8" fmla="*/ 1 w 26"/>
                <a:gd name="T9" fmla="*/ 0 h 25"/>
                <a:gd name="T10" fmla="*/ 1 w 26"/>
                <a:gd name="T11" fmla="*/ 0 h 25"/>
                <a:gd name="T12" fmla="*/ 0 w 26"/>
                <a:gd name="T13" fmla="*/ 0 h 25"/>
                <a:gd name="T14" fmla="*/ 0 w 26"/>
                <a:gd name="T15" fmla="*/ 0 h 25"/>
                <a:gd name="T16" fmla="*/ 0 w 26"/>
                <a:gd name="T17" fmla="*/ 0 h 25"/>
                <a:gd name="T18" fmla="*/ 0 w 26"/>
                <a:gd name="T19" fmla="*/ 0 h 25"/>
                <a:gd name="T20" fmla="*/ 0 w 26"/>
                <a:gd name="T21" fmla="*/ 0 h 25"/>
                <a:gd name="T22" fmla="*/ 1 w 26"/>
                <a:gd name="T23" fmla="*/ 0 h 25"/>
                <a:gd name="T24" fmla="*/ 1 w 26"/>
                <a:gd name="T25" fmla="*/ 0 h 25"/>
                <a:gd name="T26" fmla="*/ 1 w 26"/>
                <a:gd name="T27" fmla="*/ 0 h 25"/>
                <a:gd name="T28" fmla="*/ 1 w 26"/>
                <a:gd name="T29" fmla="*/ 0 h 25"/>
                <a:gd name="T30" fmla="*/ 1 w 26"/>
                <a:gd name="T31" fmla="*/ 0 h 25"/>
                <a:gd name="T32" fmla="*/ 1 w 26"/>
                <a:gd name="T33" fmla="*/ 0 h 25"/>
                <a:gd name="T34" fmla="*/ 1 w 26"/>
                <a:gd name="T35" fmla="*/ 0 h 25"/>
                <a:gd name="T36" fmla="*/ 1 w 26"/>
                <a:gd name="T37" fmla="*/ 0 h 25"/>
                <a:gd name="T38" fmla="*/ 1 w 26"/>
                <a:gd name="T39" fmla="*/ 0 h 25"/>
                <a:gd name="T40" fmla="*/ 1 w 26"/>
                <a:gd name="T41" fmla="*/ 0 h 25"/>
                <a:gd name="T42" fmla="*/ 1 w 26"/>
                <a:gd name="T43" fmla="*/ 0 h 25"/>
                <a:gd name="T44" fmla="*/ 1 w 26"/>
                <a:gd name="T45" fmla="*/ 0 h 25"/>
                <a:gd name="T46" fmla="*/ 1 w 26"/>
                <a:gd name="T47" fmla="*/ 0 h 25"/>
                <a:gd name="T48" fmla="*/ 1 w 26"/>
                <a:gd name="T49" fmla="*/ 0 h 25"/>
                <a:gd name="T50" fmla="*/ 1 w 26"/>
                <a:gd name="T51" fmla="*/ 0 h 25"/>
                <a:gd name="T52" fmla="*/ 1 w 26"/>
                <a:gd name="T53" fmla="*/ 0 h 25"/>
                <a:gd name="T54" fmla="*/ 1 w 26"/>
                <a:gd name="T55" fmla="*/ 0 h 25"/>
                <a:gd name="T56" fmla="*/ 1 w 26"/>
                <a:gd name="T57" fmla="*/ 0 h 25"/>
                <a:gd name="T58" fmla="*/ 1 w 26"/>
                <a:gd name="T59" fmla="*/ 0 h 25"/>
                <a:gd name="T60" fmla="*/ 1 w 26"/>
                <a:gd name="T61" fmla="*/ 0 h 25"/>
                <a:gd name="T62" fmla="*/ 1 w 26"/>
                <a:gd name="T63" fmla="*/ 0 h 25"/>
                <a:gd name="T64" fmla="*/ 1 w 26"/>
                <a:gd name="T65" fmla="*/ 0 h 25"/>
                <a:gd name="T66" fmla="*/ 1 w 26"/>
                <a:gd name="T67" fmla="*/ 0 h 25"/>
                <a:gd name="T68" fmla="*/ 1 w 26"/>
                <a:gd name="T69" fmla="*/ 0 h 2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6"/>
                <a:gd name="T106" fmla="*/ 0 h 25"/>
                <a:gd name="T107" fmla="*/ 26 w 26"/>
                <a:gd name="T108" fmla="*/ 25 h 25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6" h="25">
                  <a:moveTo>
                    <a:pt x="12" y="0"/>
                  </a:moveTo>
                  <a:lnTo>
                    <a:pt x="10" y="0"/>
                  </a:lnTo>
                  <a:lnTo>
                    <a:pt x="7" y="0"/>
                  </a:lnTo>
                  <a:lnTo>
                    <a:pt x="5" y="1"/>
                  </a:lnTo>
                  <a:lnTo>
                    <a:pt x="3" y="3"/>
                  </a:lnTo>
                  <a:lnTo>
                    <a:pt x="2" y="5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2" y="20"/>
                  </a:lnTo>
                  <a:lnTo>
                    <a:pt x="3" y="21"/>
                  </a:lnTo>
                  <a:lnTo>
                    <a:pt x="5" y="23"/>
                  </a:lnTo>
                  <a:lnTo>
                    <a:pt x="7" y="25"/>
                  </a:lnTo>
                  <a:lnTo>
                    <a:pt x="10" y="25"/>
                  </a:lnTo>
                  <a:lnTo>
                    <a:pt x="12" y="25"/>
                  </a:lnTo>
                  <a:lnTo>
                    <a:pt x="16" y="25"/>
                  </a:lnTo>
                  <a:lnTo>
                    <a:pt x="19" y="25"/>
                  </a:lnTo>
                  <a:lnTo>
                    <a:pt x="21" y="23"/>
                  </a:lnTo>
                  <a:lnTo>
                    <a:pt x="23" y="21"/>
                  </a:lnTo>
                  <a:lnTo>
                    <a:pt x="24" y="20"/>
                  </a:lnTo>
                  <a:lnTo>
                    <a:pt x="26" y="18"/>
                  </a:lnTo>
                  <a:lnTo>
                    <a:pt x="26" y="15"/>
                  </a:lnTo>
                  <a:lnTo>
                    <a:pt x="26" y="13"/>
                  </a:lnTo>
                  <a:lnTo>
                    <a:pt x="26" y="10"/>
                  </a:lnTo>
                  <a:lnTo>
                    <a:pt x="26" y="8"/>
                  </a:lnTo>
                  <a:lnTo>
                    <a:pt x="24" y="5"/>
                  </a:lnTo>
                  <a:lnTo>
                    <a:pt x="23" y="3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4" name="Freeform 332"/>
            <p:cNvSpPr>
              <a:spLocks/>
            </p:cNvSpPr>
            <p:nvPr/>
          </p:nvSpPr>
          <p:spPr bwMode="auto">
            <a:xfrm>
              <a:off x="3698" y="1657"/>
              <a:ext cx="13" cy="14"/>
            </a:xfrm>
            <a:custGeom>
              <a:avLst/>
              <a:gdLst>
                <a:gd name="T0" fmla="*/ 1 w 26"/>
                <a:gd name="T1" fmla="*/ 0 h 27"/>
                <a:gd name="T2" fmla="*/ 1 w 26"/>
                <a:gd name="T3" fmla="*/ 1 h 27"/>
                <a:gd name="T4" fmla="*/ 1 w 26"/>
                <a:gd name="T5" fmla="*/ 1 h 27"/>
                <a:gd name="T6" fmla="*/ 1 w 26"/>
                <a:gd name="T7" fmla="*/ 1 h 27"/>
                <a:gd name="T8" fmla="*/ 1 w 26"/>
                <a:gd name="T9" fmla="*/ 1 h 27"/>
                <a:gd name="T10" fmla="*/ 1 w 26"/>
                <a:gd name="T11" fmla="*/ 1 h 27"/>
                <a:gd name="T12" fmla="*/ 0 w 26"/>
                <a:gd name="T13" fmla="*/ 1 h 27"/>
                <a:gd name="T14" fmla="*/ 0 w 26"/>
                <a:gd name="T15" fmla="*/ 1 h 27"/>
                <a:gd name="T16" fmla="*/ 0 w 26"/>
                <a:gd name="T17" fmla="*/ 1 h 27"/>
                <a:gd name="T18" fmla="*/ 0 w 26"/>
                <a:gd name="T19" fmla="*/ 1 h 27"/>
                <a:gd name="T20" fmla="*/ 0 w 26"/>
                <a:gd name="T21" fmla="*/ 1 h 27"/>
                <a:gd name="T22" fmla="*/ 1 w 26"/>
                <a:gd name="T23" fmla="*/ 1 h 27"/>
                <a:gd name="T24" fmla="*/ 1 w 26"/>
                <a:gd name="T25" fmla="*/ 1 h 27"/>
                <a:gd name="T26" fmla="*/ 1 w 26"/>
                <a:gd name="T27" fmla="*/ 1 h 27"/>
                <a:gd name="T28" fmla="*/ 1 w 26"/>
                <a:gd name="T29" fmla="*/ 1 h 27"/>
                <a:gd name="T30" fmla="*/ 1 w 26"/>
                <a:gd name="T31" fmla="*/ 1 h 27"/>
                <a:gd name="T32" fmla="*/ 1 w 26"/>
                <a:gd name="T33" fmla="*/ 1 h 27"/>
                <a:gd name="T34" fmla="*/ 1 w 26"/>
                <a:gd name="T35" fmla="*/ 1 h 27"/>
                <a:gd name="T36" fmla="*/ 1 w 26"/>
                <a:gd name="T37" fmla="*/ 1 h 27"/>
                <a:gd name="T38" fmla="*/ 1 w 26"/>
                <a:gd name="T39" fmla="*/ 1 h 27"/>
                <a:gd name="T40" fmla="*/ 1 w 26"/>
                <a:gd name="T41" fmla="*/ 1 h 27"/>
                <a:gd name="T42" fmla="*/ 1 w 26"/>
                <a:gd name="T43" fmla="*/ 1 h 27"/>
                <a:gd name="T44" fmla="*/ 1 w 26"/>
                <a:gd name="T45" fmla="*/ 1 h 27"/>
                <a:gd name="T46" fmla="*/ 1 w 26"/>
                <a:gd name="T47" fmla="*/ 1 h 27"/>
                <a:gd name="T48" fmla="*/ 1 w 26"/>
                <a:gd name="T49" fmla="*/ 1 h 27"/>
                <a:gd name="T50" fmla="*/ 1 w 26"/>
                <a:gd name="T51" fmla="*/ 1 h 27"/>
                <a:gd name="T52" fmla="*/ 1 w 26"/>
                <a:gd name="T53" fmla="*/ 1 h 27"/>
                <a:gd name="T54" fmla="*/ 1 w 26"/>
                <a:gd name="T55" fmla="*/ 1 h 27"/>
                <a:gd name="T56" fmla="*/ 1 w 26"/>
                <a:gd name="T57" fmla="*/ 1 h 27"/>
                <a:gd name="T58" fmla="*/ 1 w 26"/>
                <a:gd name="T59" fmla="*/ 1 h 27"/>
                <a:gd name="T60" fmla="*/ 1 w 26"/>
                <a:gd name="T61" fmla="*/ 1 h 27"/>
                <a:gd name="T62" fmla="*/ 1 w 26"/>
                <a:gd name="T63" fmla="*/ 1 h 27"/>
                <a:gd name="T64" fmla="*/ 1 w 26"/>
                <a:gd name="T65" fmla="*/ 1 h 27"/>
                <a:gd name="T66" fmla="*/ 1 w 26"/>
                <a:gd name="T67" fmla="*/ 0 h 27"/>
                <a:gd name="T68" fmla="*/ 1 w 26"/>
                <a:gd name="T69" fmla="*/ 0 h 2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6"/>
                <a:gd name="T106" fmla="*/ 0 h 27"/>
                <a:gd name="T107" fmla="*/ 26 w 26"/>
                <a:gd name="T108" fmla="*/ 27 h 2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6" h="27">
                  <a:moveTo>
                    <a:pt x="12" y="0"/>
                  </a:moveTo>
                  <a:lnTo>
                    <a:pt x="10" y="2"/>
                  </a:lnTo>
                  <a:lnTo>
                    <a:pt x="7" y="2"/>
                  </a:lnTo>
                  <a:lnTo>
                    <a:pt x="5" y="3"/>
                  </a:lnTo>
                  <a:lnTo>
                    <a:pt x="3" y="5"/>
                  </a:lnTo>
                  <a:lnTo>
                    <a:pt x="2" y="7"/>
                  </a:lnTo>
                  <a:lnTo>
                    <a:pt x="0" y="8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10" y="27"/>
                  </a:lnTo>
                  <a:lnTo>
                    <a:pt x="12" y="27"/>
                  </a:lnTo>
                  <a:lnTo>
                    <a:pt x="16" y="27"/>
                  </a:lnTo>
                  <a:lnTo>
                    <a:pt x="19" y="27"/>
                  </a:lnTo>
                  <a:lnTo>
                    <a:pt x="21" y="25"/>
                  </a:lnTo>
                  <a:lnTo>
                    <a:pt x="23" y="23"/>
                  </a:lnTo>
                  <a:lnTo>
                    <a:pt x="24" y="22"/>
                  </a:lnTo>
                  <a:lnTo>
                    <a:pt x="26" y="18"/>
                  </a:lnTo>
                  <a:lnTo>
                    <a:pt x="26" y="17"/>
                  </a:lnTo>
                  <a:lnTo>
                    <a:pt x="26" y="13"/>
                  </a:lnTo>
                  <a:lnTo>
                    <a:pt x="26" y="12"/>
                  </a:lnTo>
                  <a:lnTo>
                    <a:pt x="26" y="8"/>
                  </a:lnTo>
                  <a:lnTo>
                    <a:pt x="24" y="7"/>
                  </a:lnTo>
                  <a:lnTo>
                    <a:pt x="23" y="5"/>
                  </a:lnTo>
                  <a:lnTo>
                    <a:pt x="21" y="3"/>
                  </a:lnTo>
                  <a:lnTo>
                    <a:pt x="19" y="2"/>
                  </a:lnTo>
                  <a:lnTo>
                    <a:pt x="16" y="2"/>
                  </a:lnTo>
                  <a:lnTo>
                    <a:pt x="1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" name="Line 333"/>
            <p:cNvSpPr>
              <a:spLocks noChangeShapeType="1"/>
            </p:cNvSpPr>
            <p:nvPr/>
          </p:nvSpPr>
          <p:spPr bwMode="auto">
            <a:xfrm>
              <a:off x="3708" y="1671"/>
              <a:ext cx="31" cy="8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" name="Line 334"/>
            <p:cNvSpPr>
              <a:spLocks noChangeShapeType="1"/>
            </p:cNvSpPr>
            <p:nvPr/>
          </p:nvSpPr>
          <p:spPr bwMode="auto">
            <a:xfrm flipH="1">
              <a:off x="3705" y="1548"/>
              <a:ext cx="153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7" name="Line 337"/>
            <p:cNvSpPr>
              <a:spLocks noChangeShapeType="1"/>
            </p:cNvSpPr>
            <p:nvPr/>
          </p:nvSpPr>
          <p:spPr bwMode="auto">
            <a:xfrm flipV="1">
              <a:off x="3705" y="1549"/>
              <a:ext cx="1" cy="11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" name="Line 338"/>
            <p:cNvSpPr>
              <a:spLocks noChangeShapeType="1"/>
            </p:cNvSpPr>
            <p:nvPr/>
          </p:nvSpPr>
          <p:spPr bwMode="auto">
            <a:xfrm flipH="1">
              <a:off x="3705" y="1884"/>
              <a:ext cx="153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" name="Freeform 339"/>
            <p:cNvSpPr>
              <a:spLocks/>
            </p:cNvSpPr>
            <p:nvPr/>
          </p:nvSpPr>
          <p:spPr bwMode="auto">
            <a:xfrm>
              <a:off x="3693" y="1535"/>
              <a:ext cx="28" cy="27"/>
            </a:xfrm>
            <a:custGeom>
              <a:avLst/>
              <a:gdLst>
                <a:gd name="T0" fmla="*/ 0 w 56"/>
                <a:gd name="T1" fmla="*/ 1 h 53"/>
                <a:gd name="T2" fmla="*/ 0 w 56"/>
                <a:gd name="T3" fmla="*/ 1 h 53"/>
                <a:gd name="T4" fmla="*/ 1 w 56"/>
                <a:gd name="T5" fmla="*/ 1 h 53"/>
                <a:gd name="T6" fmla="*/ 1 w 56"/>
                <a:gd name="T7" fmla="*/ 1 h 53"/>
                <a:gd name="T8" fmla="*/ 1 w 56"/>
                <a:gd name="T9" fmla="*/ 1 h 53"/>
                <a:gd name="T10" fmla="*/ 1 w 56"/>
                <a:gd name="T11" fmla="*/ 1 h 53"/>
                <a:gd name="T12" fmla="*/ 1 w 56"/>
                <a:gd name="T13" fmla="*/ 1 h 53"/>
                <a:gd name="T14" fmla="*/ 1 w 56"/>
                <a:gd name="T15" fmla="*/ 1 h 53"/>
                <a:gd name="T16" fmla="*/ 1 w 56"/>
                <a:gd name="T17" fmla="*/ 0 h 53"/>
                <a:gd name="T18" fmla="*/ 1 w 56"/>
                <a:gd name="T19" fmla="*/ 1 h 53"/>
                <a:gd name="T20" fmla="*/ 1 w 56"/>
                <a:gd name="T21" fmla="*/ 1 h 53"/>
                <a:gd name="T22" fmla="*/ 1 w 56"/>
                <a:gd name="T23" fmla="*/ 1 h 53"/>
                <a:gd name="T24" fmla="*/ 1 w 56"/>
                <a:gd name="T25" fmla="*/ 1 h 53"/>
                <a:gd name="T26" fmla="*/ 1 w 56"/>
                <a:gd name="T27" fmla="*/ 1 h 53"/>
                <a:gd name="T28" fmla="*/ 1 w 56"/>
                <a:gd name="T29" fmla="*/ 1 h 53"/>
                <a:gd name="T30" fmla="*/ 1 w 56"/>
                <a:gd name="T31" fmla="*/ 1 h 53"/>
                <a:gd name="T32" fmla="*/ 1 w 56"/>
                <a:gd name="T33" fmla="*/ 1 h 53"/>
                <a:gd name="T34" fmla="*/ 1 w 56"/>
                <a:gd name="T35" fmla="*/ 1 h 53"/>
                <a:gd name="T36" fmla="*/ 1 w 56"/>
                <a:gd name="T37" fmla="*/ 1 h 53"/>
                <a:gd name="T38" fmla="*/ 1 w 56"/>
                <a:gd name="T39" fmla="*/ 1 h 53"/>
                <a:gd name="T40" fmla="*/ 1 w 56"/>
                <a:gd name="T41" fmla="*/ 1 h 53"/>
                <a:gd name="T42" fmla="*/ 1 w 56"/>
                <a:gd name="T43" fmla="*/ 1 h 53"/>
                <a:gd name="T44" fmla="*/ 1 w 56"/>
                <a:gd name="T45" fmla="*/ 1 h 53"/>
                <a:gd name="T46" fmla="*/ 1 w 56"/>
                <a:gd name="T47" fmla="*/ 1 h 53"/>
                <a:gd name="T48" fmla="*/ 1 w 56"/>
                <a:gd name="T49" fmla="*/ 1 h 53"/>
                <a:gd name="T50" fmla="*/ 1 w 56"/>
                <a:gd name="T51" fmla="*/ 1 h 53"/>
                <a:gd name="T52" fmla="*/ 1 w 56"/>
                <a:gd name="T53" fmla="*/ 1 h 53"/>
                <a:gd name="T54" fmla="*/ 1 w 56"/>
                <a:gd name="T55" fmla="*/ 1 h 53"/>
                <a:gd name="T56" fmla="*/ 1 w 56"/>
                <a:gd name="T57" fmla="*/ 1 h 53"/>
                <a:gd name="T58" fmla="*/ 1 w 56"/>
                <a:gd name="T59" fmla="*/ 1 h 53"/>
                <a:gd name="T60" fmla="*/ 1 w 56"/>
                <a:gd name="T61" fmla="*/ 1 h 53"/>
                <a:gd name="T62" fmla="*/ 1 w 56"/>
                <a:gd name="T63" fmla="*/ 1 h 53"/>
                <a:gd name="T64" fmla="*/ 0 w 56"/>
                <a:gd name="T65" fmla="*/ 1 h 53"/>
                <a:gd name="T66" fmla="*/ 0 w 56"/>
                <a:gd name="T67" fmla="*/ 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3"/>
                <a:gd name="T104" fmla="*/ 56 w 56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3">
                  <a:moveTo>
                    <a:pt x="0" y="26"/>
                  </a:moveTo>
                  <a:lnTo>
                    <a:pt x="0" y="21"/>
                  </a:lnTo>
                  <a:lnTo>
                    <a:pt x="2" y="16"/>
                  </a:lnTo>
                  <a:lnTo>
                    <a:pt x="4" y="11"/>
                  </a:lnTo>
                  <a:lnTo>
                    <a:pt x="7" y="8"/>
                  </a:lnTo>
                  <a:lnTo>
                    <a:pt x="13" y="5"/>
                  </a:lnTo>
                  <a:lnTo>
                    <a:pt x="18" y="3"/>
                  </a:lnTo>
                  <a:lnTo>
                    <a:pt x="23" y="1"/>
                  </a:lnTo>
                  <a:lnTo>
                    <a:pt x="28" y="0"/>
                  </a:lnTo>
                  <a:lnTo>
                    <a:pt x="34" y="1"/>
                  </a:lnTo>
                  <a:lnTo>
                    <a:pt x="39" y="3"/>
                  </a:lnTo>
                  <a:lnTo>
                    <a:pt x="44" y="5"/>
                  </a:lnTo>
                  <a:lnTo>
                    <a:pt x="48" y="8"/>
                  </a:lnTo>
                  <a:lnTo>
                    <a:pt x="51" y="11"/>
                  </a:lnTo>
                  <a:lnTo>
                    <a:pt x="55" y="16"/>
                  </a:lnTo>
                  <a:lnTo>
                    <a:pt x="55" y="21"/>
                  </a:lnTo>
                  <a:lnTo>
                    <a:pt x="56" y="26"/>
                  </a:lnTo>
                  <a:lnTo>
                    <a:pt x="55" y="33"/>
                  </a:lnTo>
                  <a:lnTo>
                    <a:pt x="55" y="38"/>
                  </a:lnTo>
                  <a:lnTo>
                    <a:pt x="51" y="41"/>
                  </a:lnTo>
                  <a:lnTo>
                    <a:pt x="48" y="46"/>
                  </a:lnTo>
                  <a:lnTo>
                    <a:pt x="44" y="50"/>
                  </a:lnTo>
                  <a:lnTo>
                    <a:pt x="39" y="51"/>
                  </a:lnTo>
                  <a:lnTo>
                    <a:pt x="34" y="53"/>
                  </a:lnTo>
                  <a:lnTo>
                    <a:pt x="28" y="53"/>
                  </a:lnTo>
                  <a:lnTo>
                    <a:pt x="23" y="53"/>
                  </a:lnTo>
                  <a:lnTo>
                    <a:pt x="18" y="51"/>
                  </a:lnTo>
                  <a:lnTo>
                    <a:pt x="13" y="50"/>
                  </a:lnTo>
                  <a:lnTo>
                    <a:pt x="7" y="46"/>
                  </a:lnTo>
                  <a:lnTo>
                    <a:pt x="4" y="41"/>
                  </a:lnTo>
                  <a:lnTo>
                    <a:pt x="2" y="38"/>
                  </a:lnTo>
                  <a:lnTo>
                    <a:pt x="0" y="33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" name="Line 340"/>
            <p:cNvSpPr>
              <a:spLocks noChangeShapeType="1"/>
            </p:cNvSpPr>
            <p:nvPr/>
          </p:nvSpPr>
          <p:spPr bwMode="auto">
            <a:xfrm>
              <a:off x="3703" y="1140"/>
              <a:ext cx="2" cy="42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1" name="Line 341"/>
            <p:cNvSpPr>
              <a:spLocks noChangeShapeType="1"/>
            </p:cNvSpPr>
            <p:nvPr/>
          </p:nvSpPr>
          <p:spPr bwMode="auto">
            <a:xfrm>
              <a:off x="3705" y="1770"/>
              <a:ext cx="1" cy="11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" name="Freeform 342"/>
            <p:cNvSpPr>
              <a:spLocks/>
            </p:cNvSpPr>
            <p:nvPr/>
          </p:nvSpPr>
          <p:spPr bwMode="auto">
            <a:xfrm>
              <a:off x="3844" y="1871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1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1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2" y="22"/>
                  </a:lnTo>
                  <a:lnTo>
                    <a:pt x="2" y="17"/>
                  </a:lnTo>
                  <a:lnTo>
                    <a:pt x="5" y="12"/>
                  </a:lnTo>
                  <a:lnTo>
                    <a:pt x="8" y="7"/>
                  </a:lnTo>
                  <a:lnTo>
                    <a:pt x="12" y="4"/>
                  </a:lnTo>
                  <a:lnTo>
                    <a:pt x="17" y="2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38" y="2"/>
                  </a:lnTo>
                  <a:lnTo>
                    <a:pt x="43" y="4"/>
                  </a:lnTo>
                  <a:lnTo>
                    <a:pt x="49" y="7"/>
                  </a:lnTo>
                  <a:lnTo>
                    <a:pt x="50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0" y="42"/>
                  </a:lnTo>
                  <a:lnTo>
                    <a:pt x="49" y="46"/>
                  </a:lnTo>
                  <a:lnTo>
                    <a:pt x="43" y="49"/>
                  </a:lnTo>
                  <a:lnTo>
                    <a:pt x="38" y="51"/>
                  </a:lnTo>
                  <a:lnTo>
                    <a:pt x="33" y="52"/>
                  </a:lnTo>
                  <a:lnTo>
                    <a:pt x="28" y="54"/>
                  </a:lnTo>
                  <a:lnTo>
                    <a:pt x="22" y="52"/>
                  </a:lnTo>
                  <a:lnTo>
                    <a:pt x="17" y="51"/>
                  </a:lnTo>
                  <a:lnTo>
                    <a:pt x="12" y="49"/>
                  </a:lnTo>
                  <a:lnTo>
                    <a:pt x="8" y="46"/>
                  </a:lnTo>
                  <a:lnTo>
                    <a:pt x="5" y="42"/>
                  </a:lnTo>
                  <a:lnTo>
                    <a:pt x="2" y="37"/>
                  </a:lnTo>
                  <a:lnTo>
                    <a:pt x="2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3" name="Freeform 343"/>
            <p:cNvSpPr>
              <a:spLocks/>
            </p:cNvSpPr>
            <p:nvPr/>
          </p:nvSpPr>
          <p:spPr bwMode="auto">
            <a:xfrm>
              <a:off x="3693" y="1494"/>
              <a:ext cx="28" cy="27"/>
            </a:xfrm>
            <a:custGeom>
              <a:avLst/>
              <a:gdLst>
                <a:gd name="T0" fmla="*/ 0 w 56"/>
                <a:gd name="T1" fmla="*/ 1 h 53"/>
                <a:gd name="T2" fmla="*/ 0 w 56"/>
                <a:gd name="T3" fmla="*/ 1 h 53"/>
                <a:gd name="T4" fmla="*/ 1 w 56"/>
                <a:gd name="T5" fmla="*/ 1 h 53"/>
                <a:gd name="T6" fmla="*/ 1 w 56"/>
                <a:gd name="T7" fmla="*/ 1 h 53"/>
                <a:gd name="T8" fmla="*/ 1 w 56"/>
                <a:gd name="T9" fmla="*/ 1 h 53"/>
                <a:gd name="T10" fmla="*/ 1 w 56"/>
                <a:gd name="T11" fmla="*/ 1 h 53"/>
                <a:gd name="T12" fmla="*/ 1 w 56"/>
                <a:gd name="T13" fmla="*/ 1 h 53"/>
                <a:gd name="T14" fmla="*/ 1 w 56"/>
                <a:gd name="T15" fmla="*/ 0 h 53"/>
                <a:gd name="T16" fmla="*/ 1 w 56"/>
                <a:gd name="T17" fmla="*/ 0 h 53"/>
                <a:gd name="T18" fmla="*/ 1 w 56"/>
                <a:gd name="T19" fmla="*/ 0 h 53"/>
                <a:gd name="T20" fmla="*/ 1 w 56"/>
                <a:gd name="T21" fmla="*/ 1 h 53"/>
                <a:gd name="T22" fmla="*/ 1 w 56"/>
                <a:gd name="T23" fmla="*/ 1 h 53"/>
                <a:gd name="T24" fmla="*/ 1 w 56"/>
                <a:gd name="T25" fmla="*/ 1 h 53"/>
                <a:gd name="T26" fmla="*/ 1 w 56"/>
                <a:gd name="T27" fmla="*/ 1 h 53"/>
                <a:gd name="T28" fmla="*/ 1 w 56"/>
                <a:gd name="T29" fmla="*/ 1 h 53"/>
                <a:gd name="T30" fmla="*/ 1 w 56"/>
                <a:gd name="T31" fmla="*/ 1 h 53"/>
                <a:gd name="T32" fmla="*/ 1 w 56"/>
                <a:gd name="T33" fmla="*/ 1 h 53"/>
                <a:gd name="T34" fmla="*/ 1 w 56"/>
                <a:gd name="T35" fmla="*/ 1 h 53"/>
                <a:gd name="T36" fmla="*/ 1 w 56"/>
                <a:gd name="T37" fmla="*/ 1 h 53"/>
                <a:gd name="T38" fmla="*/ 1 w 56"/>
                <a:gd name="T39" fmla="*/ 1 h 53"/>
                <a:gd name="T40" fmla="*/ 1 w 56"/>
                <a:gd name="T41" fmla="*/ 1 h 53"/>
                <a:gd name="T42" fmla="*/ 1 w 56"/>
                <a:gd name="T43" fmla="*/ 1 h 53"/>
                <a:gd name="T44" fmla="*/ 1 w 56"/>
                <a:gd name="T45" fmla="*/ 1 h 53"/>
                <a:gd name="T46" fmla="*/ 1 w 56"/>
                <a:gd name="T47" fmla="*/ 1 h 53"/>
                <a:gd name="T48" fmla="*/ 1 w 56"/>
                <a:gd name="T49" fmla="*/ 1 h 53"/>
                <a:gd name="T50" fmla="*/ 1 w 56"/>
                <a:gd name="T51" fmla="*/ 1 h 53"/>
                <a:gd name="T52" fmla="*/ 1 w 56"/>
                <a:gd name="T53" fmla="*/ 1 h 53"/>
                <a:gd name="T54" fmla="*/ 1 w 56"/>
                <a:gd name="T55" fmla="*/ 1 h 53"/>
                <a:gd name="T56" fmla="*/ 1 w 56"/>
                <a:gd name="T57" fmla="*/ 1 h 53"/>
                <a:gd name="T58" fmla="*/ 1 w 56"/>
                <a:gd name="T59" fmla="*/ 1 h 53"/>
                <a:gd name="T60" fmla="*/ 1 w 56"/>
                <a:gd name="T61" fmla="*/ 1 h 53"/>
                <a:gd name="T62" fmla="*/ 1 w 56"/>
                <a:gd name="T63" fmla="*/ 1 h 53"/>
                <a:gd name="T64" fmla="*/ 0 w 56"/>
                <a:gd name="T65" fmla="*/ 1 h 53"/>
                <a:gd name="T66" fmla="*/ 0 w 56"/>
                <a:gd name="T67" fmla="*/ 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3"/>
                <a:gd name="T104" fmla="*/ 56 w 56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3">
                  <a:moveTo>
                    <a:pt x="0" y="26"/>
                  </a:moveTo>
                  <a:lnTo>
                    <a:pt x="0" y="20"/>
                  </a:lnTo>
                  <a:lnTo>
                    <a:pt x="2" y="15"/>
                  </a:lnTo>
                  <a:lnTo>
                    <a:pt x="4" y="11"/>
                  </a:lnTo>
                  <a:lnTo>
                    <a:pt x="7" y="6"/>
                  </a:lnTo>
                  <a:lnTo>
                    <a:pt x="13" y="3"/>
                  </a:lnTo>
                  <a:lnTo>
                    <a:pt x="18" y="1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9" y="1"/>
                  </a:lnTo>
                  <a:lnTo>
                    <a:pt x="44" y="3"/>
                  </a:lnTo>
                  <a:lnTo>
                    <a:pt x="48" y="6"/>
                  </a:lnTo>
                  <a:lnTo>
                    <a:pt x="51" y="11"/>
                  </a:lnTo>
                  <a:lnTo>
                    <a:pt x="55" y="15"/>
                  </a:lnTo>
                  <a:lnTo>
                    <a:pt x="55" y="20"/>
                  </a:lnTo>
                  <a:lnTo>
                    <a:pt x="56" y="26"/>
                  </a:lnTo>
                  <a:lnTo>
                    <a:pt x="55" y="31"/>
                  </a:lnTo>
                  <a:lnTo>
                    <a:pt x="55" y="36"/>
                  </a:lnTo>
                  <a:lnTo>
                    <a:pt x="51" y="41"/>
                  </a:lnTo>
                  <a:lnTo>
                    <a:pt x="48" y="45"/>
                  </a:lnTo>
                  <a:lnTo>
                    <a:pt x="44" y="48"/>
                  </a:lnTo>
                  <a:lnTo>
                    <a:pt x="39" y="50"/>
                  </a:lnTo>
                  <a:lnTo>
                    <a:pt x="34" y="51"/>
                  </a:lnTo>
                  <a:lnTo>
                    <a:pt x="28" y="53"/>
                  </a:lnTo>
                  <a:lnTo>
                    <a:pt x="23" y="51"/>
                  </a:lnTo>
                  <a:lnTo>
                    <a:pt x="18" y="50"/>
                  </a:lnTo>
                  <a:lnTo>
                    <a:pt x="13" y="48"/>
                  </a:lnTo>
                  <a:lnTo>
                    <a:pt x="7" y="45"/>
                  </a:lnTo>
                  <a:lnTo>
                    <a:pt x="4" y="41"/>
                  </a:lnTo>
                  <a:lnTo>
                    <a:pt x="2" y="36"/>
                  </a:lnTo>
                  <a:lnTo>
                    <a:pt x="0" y="31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4" name="Freeform 344"/>
            <p:cNvSpPr>
              <a:spLocks/>
            </p:cNvSpPr>
            <p:nvPr/>
          </p:nvSpPr>
          <p:spPr bwMode="auto">
            <a:xfrm>
              <a:off x="3844" y="906"/>
              <a:ext cx="28" cy="27"/>
            </a:xfrm>
            <a:custGeom>
              <a:avLst/>
              <a:gdLst>
                <a:gd name="T0" fmla="*/ 0 w 56"/>
                <a:gd name="T1" fmla="*/ 1 h 54"/>
                <a:gd name="T2" fmla="*/ 1 w 56"/>
                <a:gd name="T3" fmla="*/ 1 h 54"/>
                <a:gd name="T4" fmla="*/ 1 w 56"/>
                <a:gd name="T5" fmla="*/ 1 h 54"/>
                <a:gd name="T6" fmla="*/ 1 w 56"/>
                <a:gd name="T7" fmla="*/ 1 h 54"/>
                <a:gd name="T8" fmla="*/ 1 w 56"/>
                <a:gd name="T9" fmla="*/ 1 h 54"/>
                <a:gd name="T10" fmla="*/ 1 w 56"/>
                <a:gd name="T11" fmla="*/ 1 h 54"/>
                <a:gd name="T12" fmla="*/ 1 w 56"/>
                <a:gd name="T13" fmla="*/ 1 h 54"/>
                <a:gd name="T14" fmla="*/ 1 w 56"/>
                <a:gd name="T15" fmla="*/ 0 h 54"/>
                <a:gd name="T16" fmla="*/ 1 w 56"/>
                <a:gd name="T17" fmla="*/ 0 h 54"/>
                <a:gd name="T18" fmla="*/ 1 w 56"/>
                <a:gd name="T19" fmla="*/ 0 h 54"/>
                <a:gd name="T20" fmla="*/ 1 w 56"/>
                <a:gd name="T21" fmla="*/ 1 h 54"/>
                <a:gd name="T22" fmla="*/ 1 w 56"/>
                <a:gd name="T23" fmla="*/ 1 h 54"/>
                <a:gd name="T24" fmla="*/ 1 w 56"/>
                <a:gd name="T25" fmla="*/ 1 h 54"/>
                <a:gd name="T26" fmla="*/ 1 w 56"/>
                <a:gd name="T27" fmla="*/ 1 h 54"/>
                <a:gd name="T28" fmla="*/ 1 w 56"/>
                <a:gd name="T29" fmla="*/ 1 h 54"/>
                <a:gd name="T30" fmla="*/ 1 w 56"/>
                <a:gd name="T31" fmla="*/ 1 h 54"/>
                <a:gd name="T32" fmla="*/ 1 w 56"/>
                <a:gd name="T33" fmla="*/ 1 h 54"/>
                <a:gd name="T34" fmla="*/ 1 w 56"/>
                <a:gd name="T35" fmla="*/ 1 h 54"/>
                <a:gd name="T36" fmla="*/ 1 w 56"/>
                <a:gd name="T37" fmla="*/ 1 h 54"/>
                <a:gd name="T38" fmla="*/ 1 w 56"/>
                <a:gd name="T39" fmla="*/ 1 h 54"/>
                <a:gd name="T40" fmla="*/ 1 w 56"/>
                <a:gd name="T41" fmla="*/ 1 h 54"/>
                <a:gd name="T42" fmla="*/ 1 w 56"/>
                <a:gd name="T43" fmla="*/ 1 h 54"/>
                <a:gd name="T44" fmla="*/ 1 w 56"/>
                <a:gd name="T45" fmla="*/ 1 h 54"/>
                <a:gd name="T46" fmla="*/ 1 w 56"/>
                <a:gd name="T47" fmla="*/ 1 h 54"/>
                <a:gd name="T48" fmla="*/ 1 w 56"/>
                <a:gd name="T49" fmla="*/ 1 h 54"/>
                <a:gd name="T50" fmla="*/ 1 w 56"/>
                <a:gd name="T51" fmla="*/ 1 h 54"/>
                <a:gd name="T52" fmla="*/ 1 w 56"/>
                <a:gd name="T53" fmla="*/ 1 h 54"/>
                <a:gd name="T54" fmla="*/ 1 w 56"/>
                <a:gd name="T55" fmla="*/ 1 h 54"/>
                <a:gd name="T56" fmla="*/ 1 w 56"/>
                <a:gd name="T57" fmla="*/ 1 h 54"/>
                <a:gd name="T58" fmla="*/ 1 w 56"/>
                <a:gd name="T59" fmla="*/ 1 h 54"/>
                <a:gd name="T60" fmla="*/ 1 w 56"/>
                <a:gd name="T61" fmla="*/ 1 h 54"/>
                <a:gd name="T62" fmla="*/ 1 w 56"/>
                <a:gd name="T63" fmla="*/ 1 h 54"/>
                <a:gd name="T64" fmla="*/ 1 w 56"/>
                <a:gd name="T65" fmla="*/ 1 h 54"/>
                <a:gd name="T66" fmla="*/ 0 w 56"/>
                <a:gd name="T67" fmla="*/ 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2" y="22"/>
                  </a:lnTo>
                  <a:lnTo>
                    <a:pt x="3" y="17"/>
                  </a:lnTo>
                  <a:lnTo>
                    <a:pt x="5" y="12"/>
                  </a:lnTo>
                  <a:lnTo>
                    <a:pt x="8" y="9"/>
                  </a:lnTo>
                  <a:lnTo>
                    <a:pt x="12" y="5"/>
                  </a:lnTo>
                  <a:lnTo>
                    <a:pt x="17" y="2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40" y="2"/>
                  </a:lnTo>
                  <a:lnTo>
                    <a:pt x="43" y="5"/>
                  </a:lnTo>
                  <a:lnTo>
                    <a:pt x="49" y="9"/>
                  </a:lnTo>
                  <a:lnTo>
                    <a:pt x="52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2" y="42"/>
                  </a:lnTo>
                  <a:lnTo>
                    <a:pt x="49" y="46"/>
                  </a:lnTo>
                  <a:lnTo>
                    <a:pt x="43" y="49"/>
                  </a:lnTo>
                  <a:lnTo>
                    <a:pt x="40" y="52"/>
                  </a:lnTo>
                  <a:lnTo>
                    <a:pt x="35" y="54"/>
                  </a:lnTo>
                  <a:lnTo>
                    <a:pt x="28" y="54"/>
                  </a:lnTo>
                  <a:lnTo>
                    <a:pt x="22" y="54"/>
                  </a:lnTo>
                  <a:lnTo>
                    <a:pt x="17" y="52"/>
                  </a:lnTo>
                  <a:lnTo>
                    <a:pt x="12" y="49"/>
                  </a:lnTo>
                  <a:lnTo>
                    <a:pt x="8" y="46"/>
                  </a:lnTo>
                  <a:lnTo>
                    <a:pt x="5" y="42"/>
                  </a:lnTo>
                  <a:lnTo>
                    <a:pt x="3" y="37"/>
                  </a:lnTo>
                  <a:lnTo>
                    <a:pt x="2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5" name="Rectangle 345"/>
            <p:cNvSpPr>
              <a:spLocks noChangeArrowheads="1"/>
            </p:cNvSpPr>
            <p:nvPr/>
          </p:nvSpPr>
          <p:spPr bwMode="auto">
            <a:xfrm>
              <a:off x="4521" y="1136"/>
              <a:ext cx="36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宋体" pitchFamily="2" charset="-122"/>
                </a:rPr>
                <a:t>+</a:t>
              </a:r>
              <a:endParaRPr lang="en-US" altLang="zh-CN"/>
            </a:p>
          </p:txBody>
        </p:sp>
        <p:sp>
          <p:nvSpPr>
            <p:cNvPr id="396" name="Rectangle 346"/>
            <p:cNvSpPr>
              <a:spLocks noChangeArrowheads="1"/>
            </p:cNvSpPr>
            <p:nvPr/>
          </p:nvSpPr>
          <p:spPr bwMode="auto">
            <a:xfrm>
              <a:off x="4521" y="1336"/>
              <a:ext cx="36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900">
                  <a:solidFill>
                    <a:srgbClr val="000000"/>
                  </a:solidFill>
                  <a:latin typeface="宋体" pitchFamily="2" charset="-122"/>
                </a:rPr>
                <a:t>-</a:t>
              </a:r>
              <a:endParaRPr lang="en-US" altLang="zh-CN"/>
            </a:p>
          </p:txBody>
        </p:sp>
        <p:sp>
          <p:nvSpPr>
            <p:cNvPr id="397" name="Rectangle 347"/>
            <p:cNvSpPr>
              <a:spLocks noChangeArrowheads="1"/>
            </p:cNvSpPr>
            <p:nvPr/>
          </p:nvSpPr>
          <p:spPr bwMode="auto">
            <a:xfrm>
              <a:off x="4587" y="1268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398" name="Rectangle 348"/>
            <p:cNvSpPr>
              <a:spLocks noChangeArrowheads="1"/>
            </p:cNvSpPr>
            <p:nvPr/>
          </p:nvSpPr>
          <p:spPr bwMode="auto">
            <a:xfrm>
              <a:off x="4551" y="1222"/>
              <a:ext cx="4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u</a:t>
              </a:r>
              <a:endParaRPr lang="en-US" altLang="zh-CN"/>
            </a:p>
          </p:txBody>
        </p:sp>
        <p:sp>
          <p:nvSpPr>
            <p:cNvPr id="399" name="Line 349"/>
            <p:cNvSpPr>
              <a:spLocks noChangeShapeType="1"/>
            </p:cNvSpPr>
            <p:nvPr/>
          </p:nvSpPr>
          <p:spPr bwMode="auto">
            <a:xfrm flipV="1">
              <a:off x="4359" y="1380"/>
              <a:ext cx="1" cy="2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" name="Line 350"/>
            <p:cNvSpPr>
              <a:spLocks noChangeShapeType="1"/>
            </p:cNvSpPr>
            <p:nvPr/>
          </p:nvSpPr>
          <p:spPr bwMode="auto">
            <a:xfrm flipV="1">
              <a:off x="4372" y="1380"/>
              <a:ext cx="1" cy="2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1" name="Freeform 351"/>
            <p:cNvSpPr>
              <a:spLocks/>
            </p:cNvSpPr>
            <p:nvPr/>
          </p:nvSpPr>
          <p:spPr bwMode="auto">
            <a:xfrm>
              <a:off x="3815" y="1046"/>
              <a:ext cx="87" cy="83"/>
            </a:xfrm>
            <a:custGeom>
              <a:avLst/>
              <a:gdLst>
                <a:gd name="T0" fmla="*/ 0 w 173"/>
                <a:gd name="T1" fmla="*/ 1 h 165"/>
                <a:gd name="T2" fmla="*/ 1 w 173"/>
                <a:gd name="T3" fmla="*/ 0 h 165"/>
                <a:gd name="T4" fmla="*/ 1 w 173"/>
                <a:gd name="T5" fmla="*/ 1 h 165"/>
                <a:gd name="T6" fmla="*/ 0 w 173"/>
                <a:gd name="T7" fmla="*/ 1 h 1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5"/>
                <a:gd name="T14" fmla="*/ 173 w 173"/>
                <a:gd name="T15" fmla="*/ 165 h 1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5">
                  <a:moveTo>
                    <a:pt x="0" y="165"/>
                  </a:moveTo>
                  <a:lnTo>
                    <a:pt x="86" y="0"/>
                  </a:lnTo>
                  <a:lnTo>
                    <a:pt x="173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2" name="Line 352"/>
            <p:cNvSpPr>
              <a:spLocks noChangeShapeType="1"/>
            </p:cNvSpPr>
            <p:nvPr/>
          </p:nvSpPr>
          <p:spPr bwMode="auto">
            <a:xfrm flipH="1">
              <a:off x="3815" y="1046"/>
              <a:ext cx="87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3" name="Freeform 353"/>
            <p:cNvSpPr>
              <a:spLocks/>
            </p:cNvSpPr>
            <p:nvPr/>
          </p:nvSpPr>
          <p:spPr bwMode="auto">
            <a:xfrm>
              <a:off x="3815" y="1046"/>
              <a:ext cx="87" cy="83"/>
            </a:xfrm>
            <a:custGeom>
              <a:avLst/>
              <a:gdLst>
                <a:gd name="T0" fmla="*/ 0 w 173"/>
                <a:gd name="T1" fmla="*/ 1 h 165"/>
                <a:gd name="T2" fmla="*/ 1 w 173"/>
                <a:gd name="T3" fmla="*/ 0 h 165"/>
                <a:gd name="T4" fmla="*/ 1 w 173"/>
                <a:gd name="T5" fmla="*/ 1 h 165"/>
                <a:gd name="T6" fmla="*/ 0 w 173"/>
                <a:gd name="T7" fmla="*/ 1 h 1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5"/>
                <a:gd name="T14" fmla="*/ 173 w 173"/>
                <a:gd name="T15" fmla="*/ 165 h 1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5">
                  <a:moveTo>
                    <a:pt x="0" y="165"/>
                  </a:moveTo>
                  <a:lnTo>
                    <a:pt x="86" y="0"/>
                  </a:lnTo>
                  <a:lnTo>
                    <a:pt x="173" y="165"/>
                  </a:lnTo>
                  <a:lnTo>
                    <a:pt x="0" y="165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4" name="Line 354"/>
            <p:cNvSpPr>
              <a:spLocks noChangeShapeType="1"/>
            </p:cNvSpPr>
            <p:nvPr/>
          </p:nvSpPr>
          <p:spPr bwMode="auto">
            <a:xfrm flipV="1">
              <a:off x="3858" y="920"/>
              <a:ext cx="1" cy="33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" name="Freeform 355"/>
            <p:cNvSpPr>
              <a:spLocks/>
            </p:cNvSpPr>
            <p:nvPr/>
          </p:nvSpPr>
          <p:spPr bwMode="auto">
            <a:xfrm>
              <a:off x="3815" y="1046"/>
              <a:ext cx="87" cy="84"/>
            </a:xfrm>
            <a:custGeom>
              <a:avLst/>
              <a:gdLst>
                <a:gd name="T0" fmla="*/ 1 w 173"/>
                <a:gd name="T1" fmla="*/ 0 h 167"/>
                <a:gd name="T2" fmla="*/ 0 w 173"/>
                <a:gd name="T3" fmla="*/ 1 h 167"/>
                <a:gd name="T4" fmla="*/ 1 w 173"/>
                <a:gd name="T5" fmla="*/ 1 h 167"/>
                <a:gd name="T6" fmla="*/ 1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6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6" name="Freeform 356"/>
            <p:cNvSpPr>
              <a:spLocks/>
            </p:cNvSpPr>
            <p:nvPr/>
          </p:nvSpPr>
          <p:spPr bwMode="auto">
            <a:xfrm>
              <a:off x="3815" y="1046"/>
              <a:ext cx="87" cy="84"/>
            </a:xfrm>
            <a:custGeom>
              <a:avLst/>
              <a:gdLst>
                <a:gd name="T0" fmla="*/ 1 w 173"/>
                <a:gd name="T1" fmla="*/ 0 h 167"/>
                <a:gd name="T2" fmla="*/ 0 w 173"/>
                <a:gd name="T3" fmla="*/ 1 h 167"/>
                <a:gd name="T4" fmla="*/ 1 w 173"/>
                <a:gd name="T5" fmla="*/ 1 h 167"/>
                <a:gd name="T6" fmla="*/ 1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6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7" name="Line 357"/>
            <p:cNvSpPr>
              <a:spLocks noChangeShapeType="1"/>
            </p:cNvSpPr>
            <p:nvPr/>
          </p:nvSpPr>
          <p:spPr bwMode="auto">
            <a:xfrm flipV="1">
              <a:off x="3858" y="1046"/>
              <a:ext cx="1" cy="8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8" name="Line 358"/>
            <p:cNvSpPr>
              <a:spLocks noChangeShapeType="1"/>
            </p:cNvSpPr>
            <p:nvPr/>
          </p:nvSpPr>
          <p:spPr bwMode="auto">
            <a:xfrm flipH="1">
              <a:off x="3815" y="1046"/>
              <a:ext cx="87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" name="Freeform 359"/>
            <p:cNvSpPr>
              <a:spLocks/>
            </p:cNvSpPr>
            <p:nvPr/>
          </p:nvSpPr>
          <p:spPr bwMode="auto">
            <a:xfrm>
              <a:off x="4148" y="1047"/>
              <a:ext cx="86" cy="82"/>
            </a:xfrm>
            <a:custGeom>
              <a:avLst/>
              <a:gdLst>
                <a:gd name="T0" fmla="*/ 0 w 171"/>
                <a:gd name="T1" fmla="*/ 1 h 164"/>
                <a:gd name="T2" fmla="*/ 1 w 171"/>
                <a:gd name="T3" fmla="*/ 0 h 164"/>
                <a:gd name="T4" fmla="*/ 1 w 171"/>
                <a:gd name="T5" fmla="*/ 1 h 164"/>
                <a:gd name="T6" fmla="*/ 0 w 171"/>
                <a:gd name="T7" fmla="*/ 1 h 1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4"/>
                <a:gd name="T14" fmla="*/ 171 w 171"/>
                <a:gd name="T15" fmla="*/ 164 h 1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4">
                  <a:moveTo>
                    <a:pt x="0" y="164"/>
                  </a:moveTo>
                  <a:lnTo>
                    <a:pt x="86" y="0"/>
                  </a:lnTo>
                  <a:lnTo>
                    <a:pt x="171" y="164"/>
                  </a:lnTo>
                  <a:lnTo>
                    <a:pt x="0" y="16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" name="Line 360"/>
            <p:cNvSpPr>
              <a:spLocks noChangeShapeType="1"/>
            </p:cNvSpPr>
            <p:nvPr/>
          </p:nvSpPr>
          <p:spPr bwMode="auto">
            <a:xfrm flipH="1">
              <a:off x="4148" y="1047"/>
              <a:ext cx="86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" name="Freeform 361"/>
            <p:cNvSpPr>
              <a:spLocks/>
            </p:cNvSpPr>
            <p:nvPr/>
          </p:nvSpPr>
          <p:spPr bwMode="auto">
            <a:xfrm>
              <a:off x="4148" y="1047"/>
              <a:ext cx="86" cy="82"/>
            </a:xfrm>
            <a:custGeom>
              <a:avLst/>
              <a:gdLst>
                <a:gd name="T0" fmla="*/ 0 w 171"/>
                <a:gd name="T1" fmla="*/ 1 h 164"/>
                <a:gd name="T2" fmla="*/ 1 w 171"/>
                <a:gd name="T3" fmla="*/ 0 h 164"/>
                <a:gd name="T4" fmla="*/ 1 w 171"/>
                <a:gd name="T5" fmla="*/ 1 h 164"/>
                <a:gd name="T6" fmla="*/ 0 w 171"/>
                <a:gd name="T7" fmla="*/ 1 h 1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4"/>
                <a:gd name="T14" fmla="*/ 171 w 171"/>
                <a:gd name="T15" fmla="*/ 164 h 1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4">
                  <a:moveTo>
                    <a:pt x="0" y="164"/>
                  </a:moveTo>
                  <a:lnTo>
                    <a:pt x="86" y="0"/>
                  </a:lnTo>
                  <a:lnTo>
                    <a:pt x="171" y="164"/>
                  </a:lnTo>
                  <a:lnTo>
                    <a:pt x="0" y="164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" name="Line 362"/>
            <p:cNvSpPr>
              <a:spLocks noChangeShapeType="1"/>
            </p:cNvSpPr>
            <p:nvPr/>
          </p:nvSpPr>
          <p:spPr bwMode="auto">
            <a:xfrm flipV="1">
              <a:off x="4191" y="920"/>
              <a:ext cx="1" cy="33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" name="Freeform 363"/>
            <p:cNvSpPr>
              <a:spLocks/>
            </p:cNvSpPr>
            <p:nvPr/>
          </p:nvSpPr>
          <p:spPr bwMode="auto">
            <a:xfrm>
              <a:off x="4148" y="1046"/>
              <a:ext cx="86" cy="84"/>
            </a:xfrm>
            <a:custGeom>
              <a:avLst/>
              <a:gdLst>
                <a:gd name="T0" fmla="*/ 1 w 171"/>
                <a:gd name="T1" fmla="*/ 0 h 167"/>
                <a:gd name="T2" fmla="*/ 0 w 171"/>
                <a:gd name="T3" fmla="*/ 1 h 167"/>
                <a:gd name="T4" fmla="*/ 1 w 171"/>
                <a:gd name="T5" fmla="*/ 1 h 167"/>
                <a:gd name="T6" fmla="*/ 1 w 171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7"/>
                <a:gd name="T14" fmla="*/ 171 w 171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7">
                  <a:moveTo>
                    <a:pt x="86" y="0"/>
                  </a:moveTo>
                  <a:lnTo>
                    <a:pt x="0" y="167"/>
                  </a:lnTo>
                  <a:lnTo>
                    <a:pt x="171" y="167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4" name="Freeform 364"/>
            <p:cNvSpPr>
              <a:spLocks/>
            </p:cNvSpPr>
            <p:nvPr/>
          </p:nvSpPr>
          <p:spPr bwMode="auto">
            <a:xfrm>
              <a:off x="4148" y="1046"/>
              <a:ext cx="86" cy="84"/>
            </a:xfrm>
            <a:custGeom>
              <a:avLst/>
              <a:gdLst>
                <a:gd name="T0" fmla="*/ 1 w 171"/>
                <a:gd name="T1" fmla="*/ 0 h 167"/>
                <a:gd name="T2" fmla="*/ 0 w 171"/>
                <a:gd name="T3" fmla="*/ 1 h 167"/>
                <a:gd name="T4" fmla="*/ 1 w 171"/>
                <a:gd name="T5" fmla="*/ 1 h 167"/>
                <a:gd name="T6" fmla="*/ 1 w 171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7"/>
                <a:gd name="T14" fmla="*/ 171 w 171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7">
                  <a:moveTo>
                    <a:pt x="86" y="0"/>
                  </a:moveTo>
                  <a:lnTo>
                    <a:pt x="0" y="167"/>
                  </a:lnTo>
                  <a:lnTo>
                    <a:pt x="171" y="167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5" name="Line 365"/>
            <p:cNvSpPr>
              <a:spLocks noChangeShapeType="1"/>
            </p:cNvSpPr>
            <p:nvPr/>
          </p:nvSpPr>
          <p:spPr bwMode="auto">
            <a:xfrm flipV="1">
              <a:off x="4191" y="1046"/>
              <a:ext cx="1" cy="8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6" name="Line 366"/>
            <p:cNvSpPr>
              <a:spLocks noChangeShapeType="1"/>
            </p:cNvSpPr>
            <p:nvPr/>
          </p:nvSpPr>
          <p:spPr bwMode="auto">
            <a:xfrm flipH="1">
              <a:off x="4148" y="1046"/>
              <a:ext cx="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7" name="Freeform 367"/>
            <p:cNvSpPr>
              <a:spLocks/>
            </p:cNvSpPr>
            <p:nvPr/>
          </p:nvSpPr>
          <p:spPr bwMode="auto">
            <a:xfrm>
              <a:off x="4564" y="1058"/>
              <a:ext cx="86" cy="82"/>
            </a:xfrm>
            <a:custGeom>
              <a:avLst/>
              <a:gdLst>
                <a:gd name="T0" fmla="*/ 0 w 173"/>
                <a:gd name="T1" fmla="*/ 0 h 166"/>
                <a:gd name="T2" fmla="*/ 0 w 173"/>
                <a:gd name="T3" fmla="*/ 0 h 166"/>
                <a:gd name="T4" fmla="*/ 0 w 173"/>
                <a:gd name="T5" fmla="*/ 0 h 166"/>
                <a:gd name="T6" fmla="*/ 0 w 173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6"/>
                <a:gd name="T14" fmla="*/ 173 w 173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6">
                  <a:moveTo>
                    <a:pt x="0" y="0"/>
                  </a:moveTo>
                  <a:lnTo>
                    <a:pt x="173" y="82"/>
                  </a:lnTo>
                  <a:lnTo>
                    <a:pt x="0" y="1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8" name="Line 368"/>
            <p:cNvSpPr>
              <a:spLocks noChangeShapeType="1"/>
            </p:cNvSpPr>
            <p:nvPr/>
          </p:nvSpPr>
          <p:spPr bwMode="auto">
            <a:xfrm flipV="1">
              <a:off x="4650" y="1058"/>
              <a:ext cx="1" cy="8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" name="Freeform 369"/>
            <p:cNvSpPr>
              <a:spLocks/>
            </p:cNvSpPr>
            <p:nvPr/>
          </p:nvSpPr>
          <p:spPr bwMode="auto">
            <a:xfrm>
              <a:off x="4564" y="1058"/>
              <a:ext cx="86" cy="82"/>
            </a:xfrm>
            <a:custGeom>
              <a:avLst/>
              <a:gdLst>
                <a:gd name="T0" fmla="*/ 0 w 173"/>
                <a:gd name="T1" fmla="*/ 0 h 166"/>
                <a:gd name="T2" fmla="*/ 0 w 173"/>
                <a:gd name="T3" fmla="*/ 0 h 166"/>
                <a:gd name="T4" fmla="*/ 0 w 173"/>
                <a:gd name="T5" fmla="*/ 0 h 166"/>
                <a:gd name="T6" fmla="*/ 0 w 173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6"/>
                <a:gd name="T14" fmla="*/ 173 w 173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6">
                  <a:moveTo>
                    <a:pt x="0" y="0"/>
                  </a:moveTo>
                  <a:lnTo>
                    <a:pt x="173" y="82"/>
                  </a:lnTo>
                  <a:lnTo>
                    <a:pt x="0" y="166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" name="Line 370"/>
            <p:cNvSpPr>
              <a:spLocks noChangeShapeType="1"/>
            </p:cNvSpPr>
            <p:nvPr/>
          </p:nvSpPr>
          <p:spPr bwMode="auto">
            <a:xfrm>
              <a:off x="4431" y="1099"/>
              <a:ext cx="35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" name="Freeform 371"/>
            <p:cNvSpPr>
              <a:spLocks/>
            </p:cNvSpPr>
            <p:nvPr/>
          </p:nvSpPr>
          <p:spPr bwMode="auto">
            <a:xfrm>
              <a:off x="4563" y="1058"/>
              <a:ext cx="88" cy="82"/>
            </a:xfrm>
            <a:custGeom>
              <a:avLst/>
              <a:gdLst>
                <a:gd name="T0" fmla="*/ 0 w 177"/>
                <a:gd name="T1" fmla="*/ 0 h 166"/>
                <a:gd name="T2" fmla="*/ 0 w 177"/>
                <a:gd name="T3" fmla="*/ 0 h 166"/>
                <a:gd name="T4" fmla="*/ 0 w 177"/>
                <a:gd name="T5" fmla="*/ 0 h 166"/>
                <a:gd name="T6" fmla="*/ 0 w 177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7"/>
                <a:gd name="T13" fmla="*/ 0 h 166"/>
                <a:gd name="T14" fmla="*/ 177 w 177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7" h="166">
                  <a:moveTo>
                    <a:pt x="177" y="82"/>
                  </a:moveTo>
                  <a:lnTo>
                    <a:pt x="0" y="0"/>
                  </a:lnTo>
                  <a:lnTo>
                    <a:pt x="0" y="166"/>
                  </a:lnTo>
                  <a:lnTo>
                    <a:pt x="177" y="8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" name="Freeform 372"/>
            <p:cNvSpPr>
              <a:spLocks/>
            </p:cNvSpPr>
            <p:nvPr/>
          </p:nvSpPr>
          <p:spPr bwMode="auto">
            <a:xfrm>
              <a:off x="4563" y="1058"/>
              <a:ext cx="88" cy="82"/>
            </a:xfrm>
            <a:custGeom>
              <a:avLst/>
              <a:gdLst>
                <a:gd name="T0" fmla="*/ 0 w 177"/>
                <a:gd name="T1" fmla="*/ 0 h 166"/>
                <a:gd name="T2" fmla="*/ 0 w 177"/>
                <a:gd name="T3" fmla="*/ 0 h 166"/>
                <a:gd name="T4" fmla="*/ 0 w 177"/>
                <a:gd name="T5" fmla="*/ 0 h 166"/>
                <a:gd name="T6" fmla="*/ 0 w 177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7"/>
                <a:gd name="T13" fmla="*/ 0 h 166"/>
                <a:gd name="T14" fmla="*/ 177 w 177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7" h="166">
                  <a:moveTo>
                    <a:pt x="177" y="82"/>
                  </a:moveTo>
                  <a:lnTo>
                    <a:pt x="0" y="0"/>
                  </a:lnTo>
                  <a:lnTo>
                    <a:pt x="0" y="166"/>
                  </a:lnTo>
                  <a:lnTo>
                    <a:pt x="177" y="82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3" name="Line 373"/>
            <p:cNvSpPr>
              <a:spLocks noChangeShapeType="1"/>
            </p:cNvSpPr>
            <p:nvPr/>
          </p:nvSpPr>
          <p:spPr bwMode="auto">
            <a:xfrm>
              <a:off x="4563" y="1099"/>
              <a:ext cx="88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4" name="Line 374"/>
            <p:cNvSpPr>
              <a:spLocks noChangeShapeType="1"/>
            </p:cNvSpPr>
            <p:nvPr/>
          </p:nvSpPr>
          <p:spPr bwMode="auto">
            <a:xfrm flipV="1">
              <a:off x="4651" y="1058"/>
              <a:ext cx="1" cy="8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" name="Freeform 375"/>
            <p:cNvSpPr>
              <a:spLocks/>
            </p:cNvSpPr>
            <p:nvPr/>
          </p:nvSpPr>
          <p:spPr bwMode="auto">
            <a:xfrm>
              <a:off x="3815" y="1676"/>
              <a:ext cx="87" cy="82"/>
            </a:xfrm>
            <a:custGeom>
              <a:avLst/>
              <a:gdLst>
                <a:gd name="T0" fmla="*/ 0 w 173"/>
                <a:gd name="T1" fmla="*/ 1 h 164"/>
                <a:gd name="T2" fmla="*/ 1 w 173"/>
                <a:gd name="T3" fmla="*/ 0 h 164"/>
                <a:gd name="T4" fmla="*/ 1 w 173"/>
                <a:gd name="T5" fmla="*/ 1 h 164"/>
                <a:gd name="T6" fmla="*/ 0 w 173"/>
                <a:gd name="T7" fmla="*/ 1 h 1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4"/>
                <a:gd name="T14" fmla="*/ 173 w 173"/>
                <a:gd name="T15" fmla="*/ 164 h 1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4">
                  <a:moveTo>
                    <a:pt x="0" y="164"/>
                  </a:moveTo>
                  <a:lnTo>
                    <a:pt x="86" y="0"/>
                  </a:lnTo>
                  <a:lnTo>
                    <a:pt x="173" y="164"/>
                  </a:lnTo>
                  <a:lnTo>
                    <a:pt x="0" y="16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6" name="Line 376"/>
            <p:cNvSpPr>
              <a:spLocks noChangeShapeType="1"/>
            </p:cNvSpPr>
            <p:nvPr/>
          </p:nvSpPr>
          <p:spPr bwMode="auto">
            <a:xfrm flipH="1">
              <a:off x="3815" y="1676"/>
              <a:ext cx="87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7" name="Freeform 377"/>
            <p:cNvSpPr>
              <a:spLocks/>
            </p:cNvSpPr>
            <p:nvPr/>
          </p:nvSpPr>
          <p:spPr bwMode="auto">
            <a:xfrm>
              <a:off x="3815" y="1676"/>
              <a:ext cx="87" cy="82"/>
            </a:xfrm>
            <a:custGeom>
              <a:avLst/>
              <a:gdLst>
                <a:gd name="T0" fmla="*/ 0 w 173"/>
                <a:gd name="T1" fmla="*/ 1 h 164"/>
                <a:gd name="T2" fmla="*/ 1 w 173"/>
                <a:gd name="T3" fmla="*/ 0 h 164"/>
                <a:gd name="T4" fmla="*/ 1 w 173"/>
                <a:gd name="T5" fmla="*/ 1 h 164"/>
                <a:gd name="T6" fmla="*/ 0 w 173"/>
                <a:gd name="T7" fmla="*/ 1 h 1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4"/>
                <a:gd name="T14" fmla="*/ 173 w 173"/>
                <a:gd name="T15" fmla="*/ 164 h 1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4">
                  <a:moveTo>
                    <a:pt x="0" y="164"/>
                  </a:moveTo>
                  <a:lnTo>
                    <a:pt x="86" y="0"/>
                  </a:lnTo>
                  <a:lnTo>
                    <a:pt x="173" y="164"/>
                  </a:lnTo>
                  <a:lnTo>
                    <a:pt x="0" y="164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" name="Line 378"/>
            <p:cNvSpPr>
              <a:spLocks noChangeShapeType="1"/>
            </p:cNvSpPr>
            <p:nvPr/>
          </p:nvSpPr>
          <p:spPr bwMode="auto">
            <a:xfrm flipV="1">
              <a:off x="3858" y="1549"/>
              <a:ext cx="1" cy="33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9" name="Freeform 379"/>
            <p:cNvSpPr>
              <a:spLocks/>
            </p:cNvSpPr>
            <p:nvPr/>
          </p:nvSpPr>
          <p:spPr bwMode="auto">
            <a:xfrm>
              <a:off x="3815" y="1675"/>
              <a:ext cx="87" cy="84"/>
            </a:xfrm>
            <a:custGeom>
              <a:avLst/>
              <a:gdLst>
                <a:gd name="T0" fmla="*/ 1 w 173"/>
                <a:gd name="T1" fmla="*/ 0 h 167"/>
                <a:gd name="T2" fmla="*/ 0 w 173"/>
                <a:gd name="T3" fmla="*/ 1 h 167"/>
                <a:gd name="T4" fmla="*/ 1 w 173"/>
                <a:gd name="T5" fmla="*/ 1 h 167"/>
                <a:gd name="T6" fmla="*/ 1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6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" name="Freeform 380"/>
            <p:cNvSpPr>
              <a:spLocks/>
            </p:cNvSpPr>
            <p:nvPr/>
          </p:nvSpPr>
          <p:spPr bwMode="auto">
            <a:xfrm>
              <a:off x="3815" y="1675"/>
              <a:ext cx="87" cy="84"/>
            </a:xfrm>
            <a:custGeom>
              <a:avLst/>
              <a:gdLst>
                <a:gd name="T0" fmla="*/ 1 w 173"/>
                <a:gd name="T1" fmla="*/ 0 h 167"/>
                <a:gd name="T2" fmla="*/ 0 w 173"/>
                <a:gd name="T3" fmla="*/ 1 h 167"/>
                <a:gd name="T4" fmla="*/ 1 w 173"/>
                <a:gd name="T5" fmla="*/ 1 h 167"/>
                <a:gd name="T6" fmla="*/ 1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6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" name="Line 381"/>
            <p:cNvSpPr>
              <a:spLocks noChangeShapeType="1"/>
            </p:cNvSpPr>
            <p:nvPr/>
          </p:nvSpPr>
          <p:spPr bwMode="auto">
            <a:xfrm flipV="1">
              <a:off x="3858" y="1675"/>
              <a:ext cx="1" cy="8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2" name="Line 382"/>
            <p:cNvSpPr>
              <a:spLocks noChangeShapeType="1"/>
            </p:cNvSpPr>
            <p:nvPr/>
          </p:nvSpPr>
          <p:spPr bwMode="auto">
            <a:xfrm flipH="1">
              <a:off x="3815" y="1675"/>
              <a:ext cx="87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3" name="Freeform 383"/>
            <p:cNvSpPr>
              <a:spLocks/>
            </p:cNvSpPr>
            <p:nvPr/>
          </p:nvSpPr>
          <p:spPr bwMode="auto">
            <a:xfrm>
              <a:off x="4171" y="1677"/>
              <a:ext cx="86" cy="82"/>
            </a:xfrm>
            <a:custGeom>
              <a:avLst/>
              <a:gdLst>
                <a:gd name="T0" fmla="*/ 0 w 173"/>
                <a:gd name="T1" fmla="*/ 0 h 166"/>
                <a:gd name="T2" fmla="*/ 0 w 173"/>
                <a:gd name="T3" fmla="*/ 0 h 166"/>
                <a:gd name="T4" fmla="*/ 0 w 173"/>
                <a:gd name="T5" fmla="*/ 0 h 166"/>
                <a:gd name="T6" fmla="*/ 0 w 173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6"/>
                <a:gd name="T14" fmla="*/ 173 w 173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6">
                  <a:moveTo>
                    <a:pt x="0" y="166"/>
                  </a:moveTo>
                  <a:lnTo>
                    <a:pt x="88" y="0"/>
                  </a:lnTo>
                  <a:lnTo>
                    <a:pt x="173" y="166"/>
                  </a:lnTo>
                  <a:lnTo>
                    <a:pt x="0" y="16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4" name="Line 384"/>
            <p:cNvSpPr>
              <a:spLocks noChangeShapeType="1"/>
            </p:cNvSpPr>
            <p:nvPr/>
          </p:nvSpPr>
          <p:spPr bwMode="auto">
            <a:xfrm flipH="1">
              <a:off x="4171" y="1677"/>
              <a:ext cx="86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5" name="Freeform 385"/>
            <p:cNvSpPr>
              <a:spLocks/>
            </p:cNvSpPr>
            <p:nvPr/>
          </p:nvSpPr>
          <p:spPr bwMode="auto">
            <a:xfrm>
              <a:off x="4171" y="1677"/>
              <a:ext cx="86" cy="82"/>
            </a:xfrm>
            <a:custGeom>
              <a:avLst/>
              <a:gdLst>
                <a:gd name="T0" fmla="*/ 0 w 173"/>
                <a:gd name="T1" fmla="*/ 0 h 166"/>
                <a:gd name="T2" fmla="*/ 0 w 173"/>
                <a:gd name="T3" fmla="*/ 0 h 166"/>
                <a:gd name="T4" fmla="*/ 0 w 173"/>
                <a:gd name="T5" fmla="*/ 0 h 166"/>
                <a:gd name="T6" fmla="*/ 0 w 173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6"/>
                <a:gd name="T14" fmla="*/ 173 w 173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6">
                  <a:moveTo>
                    <a:pt x="0" y="166"/>
                  </a:moveTo>
                  <a:lnTo>
                    <a:pt x="88" y="0"/>
                  </a:lnTo>
                  <a:lnTo>
                    <a:pt x="173" y="166"/>
                  </a:lnTo>
                  <a:lnTo>
                    <a:pt x="0" y="166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6" name="Line 386"/>
            <p:cNvSpPr>
              <a:spLocks noChangeShapeType="1"/>
            </p:cNvSpPr>
            <p:nvPr/>
          </p:nvSpPr>
          <p:spPr bwMode="auto">
            <a:xfrm flipV="1">
              <a:off x="4214" y="1550"/>
              <a:ext cx="1" cy="33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7" name="Freeform 387"/>
            <p:cNvSpPr>
              <a:spLocks/>
            </p:cNvSpPr>
            <p:nvPr/>
          </p:nvSpPr>
          <p:spPr bwMode="auto">
            <a:xfrm>
              <a:off x="4171" y="1676"/>
              <a:ext cx="86" cy="83"/>
            </a:xfrm>
            <a:custGeom>
              <a:avLst/>
              <a:gdLst>
                <a:gd name="T0" fmla="*/ 0 w 173"/>
                <a:gd name="T1" fmla="*/ 0 h 167"/>
                <a:gd name="T2" fmla="*/ 0 w 173"/>
                <a:gd name="T3" fmla="*/ 0 h 167"/>
                <a:gd name="T4" fmla="*/ 0 w 173"/>
                <a:gd name="T5" fmla="*/ 0 h 167"/>
                <a:gd name="T6" fmla="*/ 0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8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8" name="Freeform 388"/>
            <p:cNvSpPr>
              <a:spLocks/>
            </p:cNvSpPr>
            <p:nvPr/>
          </p:nvSpPr>
          <p:spPr bwMode="auto">
            <a:xfrm>
              <a:off x="4171" y="1676"/>
              <a:ext cx="86" cy="83"/>
            </a:xfrm>
            <a:custGeom>
              <a:avLst/>
              <a:gdLst>
                <a:gd name="T0" fmla="*/ 0 w 173"/>
                <a:gd name="T1" fmla="*/ 0 h 167"/>
                <a:gd name="T2" fmla="*/ 0 w 173"/>
                <a:gd name="T3" fmla="*/ 0 h 167"/>
                <a:gd name="T4" fmla="*/ 0 w 173"/>
                <a:gd name="T5" fmla="*/ 0 h 167"/>
                <a:gd name="T6" fmla="*/ 0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8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8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9" name="Line 389"/>
            <p:cNvSpPr>
              <a:spLocks noChangeShapeType="1"/>
            </p:cNvSpPr>
            <p:nvPr/>
          </p:nvSpPr>
          <p:spPr bwMode="auto">
            <a:xfrm flipV="1">
              <a:off x="4214" y="1676"/>
              <a:ext cx="1" cy="8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" name="Line 390"/>
            <p:cNvSpPr>
              <a:spLocks noChangeShapeType="1"/>
            </p:cNvSpPr>
            <p:nvPr/>
          </p:nvSpPr>
          <p:spPr bwMode="auto">
            <a:xfrm flipH="1">
              <a:off x="4171" y="1676"/>
              <a:ext cx="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" name="Freeform 391"/>
            <p:cNvSpPr>
              <a:spLocks/>
            </p:cNvSpPr>
            <p:nvPr/>
          </p:nvSpPr>
          <p:spPr bwMode="auto">
            <a:xfrm>
              <a:off x="4567" y="1644"/>
              <a:ext cx="86" cy="83"/>
            </a:xfrm>
            <a:custGeom>
              <a:avLst/>
              <a:gdLst>
                <a:gd name="T0" fmla="*/ 0 w 171"/>
                <a:gd name="T1" fmla="*/ 0 h 166"/>
                <a:gd name="T2" fmla="*/ 1 w 171"/>
                <a:gd name="T3" fmla="*/ 1 h 166"/>
                <a:gd name="T4" fmla="*/ 0 w 171"/>
                <a:gd name="T5" fmla="*/ 1 h 166"/>
                <a:gd name="T6" fmla="*/ 0 w 171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6"/>
                <a:gd name="T14" fmla="*/ 171 w 171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6">
                  <a:moveTo>
                    <a:pt x="0" y="0"/>
                  </a:moveTo>
                  <a:lnTo>
                    <a:pt x="171" y="84"/>
                  </a:lnTo>
                  <a:lnTo>
                    <a:pt x="0" y="1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" name="Line 392"/>
            <p:cNvSpPr>
              <a:spLocks noChangeShapeType="1"/>
            </p:cNvSpPr>
            <p:nvPr/>
          </p:nvSpPr>
          <p:spPr bwMode="auto">
            <a:xfrm flipV="1">
              <a:off x="4653" y="1644"/>
              <a:ext cx="1" cy="8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3" name="Freeform 393"/>
            <p:cNvSpPr>
              <a:spLocks/>
            </p:cNvSpPr>
            <p:nvPr/>
          </p:nvSpPr>
          <p:spPr bwMode="auto">
            <a:xfrm>
              <a:off x="4567" y="1644"/>
              <a:ext cx="86" cy="83"/>
            </a:xfrm>
            <a:custGeom>
              <a:avLst/>
              <a:gdLst>
                <a:gd name="T0" fmla="*/ 0 w 171"/>
                <a:gd name="T1" fmla="*/ 0 h 166"/>
                <a:gd name="T2" fmla="*/ 1 w 171"/>
                <a:gd name="T3" fmla="*/ 1 h 166"/>
                <a:gd name="T4" fmla="*/ 0 w 171"/>
                <a:gd name="T5" fmla="*/ 1 h 166"/>
                <a:gd name="T6" fmla="*/ 0 w 171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6"/>
                <a:gd name="T14" fmla="*/ 171 w 171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6">
                  <a:moveTo>
                    <a:pt x="0" y="0"/>
                  </a:moveTo>
                  <a:lnTo>
                    <a:pt x="171" y="84"/>
                  </a:lnTo>
                  <a:lnTo>
                    <a:pt x="0" y="166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4" name="Line 394"/>
            <p:cNvSpPr>
              <a:spLocks noChangeShapeType="1"/>
            </p:cNvSpPr>
            <p:nvPr/>
          </p:nvSpPr>
          <p:spPr bwMode="auto">
            <a:xfrm>
              <a:off x="4435" y="1686"/>
              <a:ext cx="35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5" name="Freeform 395"/>
            <p:cNvSpPr>
              <a:spLocks/>
            </p:cNvSpPr>
            <p:nvPr/>
          </p:nvSpPr>
          <p:spPr bwMode="auto">
            <a:xfrm>
              <a:off x="4567" y="1644"/>
              <a:ext cx="87" cy="83"/>
            </a:xfrm>
            <a:custGeom>
              <a:avLst/>
              <a:gdLst>
                <a:gd name="T0" fmla="*/ 0 w 175"/>
                <a:gd name="T1" fmla="*/ 1 h 166"/>
                <a:gd name="T2" fmla="*/ 0 w 175"/>
                <a:gd name="T3" fmla="*/ 0 h 166"/>
                <a:gd name="T4" fmla="*/ 0 w 175"/>
                <a:gd name="T5" fmla="*/ 1 h 166"/>
                <a:gd name="T6" fmla="*/ 0 w 175"/>
                <a:gd name="T7" fmla="*/ 1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5"/>
                <a:gd name="T13" fmla="*/ 0 h 166"/>
                <a:gd name="T14" fmla="*/ 175 w 175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5" h="166">
                  <a:moveTo>
                    <a:pt x="175" y="84"/>
                  </a:moveTo>
                  <a:lnTo>
                    <a:pt x="0" y="0"/>
                  </a:lnTo>
                  <a:lnTo>
                    <a:pt x="0" y="166"/>
                  </a:lnTo>
                  <a:lnTo>
                    <a:pt x="175" y="8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6" name="Freeform 396"/>
            <p:cNvSpPr>
              <a:spLocks/>
            </p:cNvSpPr>
            <p:nvPr/>
          </p:nvSpPr>
          <p:spPr bwMode="auto">
            <a:xfrm>
              <a:off x="4567" y="1644"/>
              <a:ext cx="87" cy="83"/>
            </a:xfrm>
            <a:custGeom>
              <a:avLst/>
              <a:gdLst>
                <a:gd name="T0" fmla="*/ 0 w 175"/>
                <a:gd name="T1" fmla="*/ 1 h 166"/>
                <a:gd name="T2" fmla="*/ 0 w 175"/>
                <a:gd name="T3" fmla="*/ 0 h 166"/>
                <a:gd name="T4" fmla="*/ 0 w 175"/>
                <a:gd name="T5" fmla="*/ 1 h 166"/>
                <a:gd name="T6" fmla="*/ 0 w 175"/>
                <a:gd name="T7" fmla="*/ 1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5"/>
                <a:gd name="T13" fmla="*/ 0 h 166"/>
                <a:gd name="T14" fmla="*/ 175 w 175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5" h="166">
                  <a:moveTo>
                    <a:pt x="175" y="84"/>
                  </a:moveTo>
                  <a:lnTo>
                    <a:pt x="0" y="0"/>
                  </a:lnTo>
                  <a:lnTo>
                    <a:pt x="0" y="166"/>
                  </a:lnTo>
                  <a:lnTo>
                    <a:pt x="175" y="84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" name="Line 397"/>
            <p:cNvSpPr>
              <a:spLocks noChangeShapeType="1"/>
            </p:cNvSpPr>
            <p:nvPr/>
          </p:nvSpPr>
          <p:spPr bwMode="auto">
            <a:xfrm>
              <a:off x="4567" y="1686"/>
              <a:ext cx="87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8" name="Line 398"/>
            <p:cNvSpPr>
              <a:spLocks noChangeShapeType="1"/>
            </p:cNvSpPr>
            <p:nvPr/>
          </p:nvSpPr>
          <p:spPr bwMode="auto">
            <a:xfrm flipV="1">
              <a:off x="4654" y="1644"/>
              <a:ext cx="1" cy="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" name="Rectangle 399"/>
            <p:cNvSpPr>
              <a:spLocks noChangeArrowheads="1"/>
            </p:cNvSpPr>
            <p:nvPr/>
          </p:nvSpPr>
          <p:spPr bwMode="auto">
            <a:xfrm>
              <a:off x="5028" y="1138"/>
              <a:ext cx="48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宋体" pitchFamily="2" charset="-122"/>
                </a:rPr>
                <a:t>L</a:t>
              </a:r>
              <a:endParaRPr lang="en-US" altLang="zh-CN" sz="1200"/>
            </a:p>
          </p:txBody>
        </p:sp>
        <p:sp>
          <p:nvSpPr>
            <p:cNvPr id="450" name="Rectangle 400"/>
            <p:cNvSpPr>
              <a:spLocks noChangeArrowheads="1"/>
            </p:cNvSpPr>
            <p:nvPr/>
          </p:nvSpPr>
          <p:spPr bwMode="auto">
            <a:xfrm>
              <a:off x="4801" y="1047"/>
              <a:ext cx="93" cy="3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1200" i="1" baseline="-25000">
                  <a:solidFill>
                    <a:srgbClr val="000000"/>
                  </a:solidFill>
                  <a:latin typeface="Times New Roman" pitchFamily="18" charset="0"/>
                </a:rPr>
                <a:t>oi</a:t>
              </a:r>
            </a:p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1200"/>
            </a:p>
          </p:txBody>
        </p:sp>
        <p:sp>
          <p:nvSpPr>
            <p:cNvPr id="451" name="Rectangle 401"/>
            <p:cNvSpPr>
              <a:spLocks noChangeArrowheads="1"/>
            </p:cNvSpPr>
            <p:nvPr/>
          </p:nvSpPr>
          <p:spPr bwMode="auto">
            <a:xfrm>
              <a:off x="3395" y="1001"/>
              <a:ext cx="122" cy="7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endParaRPr lang="en-US" altLang="zh-CN" sz="16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eaLnBrk="1" hangingPunct="1"/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1600" i="1" baseline="-250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</a:p>
            <a:p>
              <a:pPr eaLnBrk="1" hangingPunct="1"/>
              <a:endParaRPr lang="en-US" altLang="zh-CN" sz="16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eaLnBrk="1" hangingPunct="1"/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1600"/>
            </a:p>
          </p:txBody>
        </p:sp>
        <p:sp>
          <p:nvSpPr>
            <p:cNvPr id="452" name="Rectangle 402"/>
            <p:cNvSpPr>
              <a:spLocks noChangeArrowheads="1"/>
            </p:cNvSpPr>
            <p:nvPr/>
          </p:nvSpPr>
          <p:spPr bwMode="auto">
            <a:xfrm>
              <a:off x="5527" y="1001"/>
              <a:ext cx="122" cy="4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16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  <a:p>
              <a:pPr eaLnBrk="1" hangingPunct="1"/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1600"/>
            </a:p>
          </p:txBody>
        </p:sp>
        <p:sp>
          <p:nvSpPr>
            <p:cNvPr id="453" name="Rectangle 403"/>
            <p:cNvSpPr>
              <a:spLocks noChangeArrowheads="1"/>
            </p:cNvSpPr>
            <p:nvPr/>
          </p:nvSpPr>
          <p:spPr bwMode="auto">
            <a:xfrm>
              <a:off x="4121" y="1228"/>
              <a:ext cx="75" cy="3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1200" i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  <a:p>
              <a:pPr eaLnBrk="1" hangingPunct="1"/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1200"/>
            </a:p>
          </p:txBody>
        </p:sp>
        <p:sp>
          <p:nvSpPr>
            <p:cNvPr id="454" name="Rectangle 406"/>
            <p:cNvSpPr>
              <a:spLocks noChangeArrowheads="1"/>
            </p:cNvSpPr>
            <p:nvPr/>
          </p:nvSpPr>
          <p:spPr bwMode="auto">
            <a:xfrm>
              <a:off x="3923" y="1616"/>
              <a:ext cx="104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1400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55" name="Rectangle 407"/>
            <p:cNvSpPr>
              <a:spLocks noChangeArrowheads="1"/>
            </p:cNvSpPr>
            <p:nvPr/>
          </p:nvSpPr>
          <p:spPr bwMode="auto">
            <a:xfrm>
              <a:off x="3923" y="981"/>
              <a:ext cx="104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1400" baseline="-250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56" name="Rectangle 408"/>
            <p:cNvSpPr>
              <a:spLocks noChangeArrowheads="1"/>
            </p:cNvSpPr>
            <p:nvPr/>
          </p:nvSpPr>
          <p:spPr bwMode="auto">
            <a:xfrm>
              <a:off x="3560" y="1616"/>
              <a:ext cx="104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1400" baseline="-250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066" name="Object 2"/>
          <p:cNvGraphicFramePr>
            <a:graphicFrameLocks noChangeAspect="1"/>
          </p:cNvGraphicFramePr>
          <p:nvPr/>
        </p:nvGraphicFramePr>
        <p:xfrm>
          <a:off x="900113" y="1844675"/>
          <a:ext cx="2955925" cy="312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2" name="公式" r:id="rId3" imgW="1320800" imgH="1397000" progId="">
                  <p:embed/>
                </p:oleObj>
              </mc:Choice>
              <mc:Fallback>
                <p:oleObj name="公式" r:id="rId3" imgW="1320800" imgH="13970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844675"/>
                        <a:ext cx="2955925" cy="3127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02405"/>
          <p:cNvGrpSpPr>
            <a:grpSpLocks/>
          </p:cNvGrpSpPr>
          <p:nvPr/>
        </p:nvGrpSpPr>
        <p:grpSpPr bwMode="auto">
          <a:xfrm>
            <a:off x="4572000" y="908720"/>
            <a:ext cx="4321175" cy="5949280"/>
            <a:chOff x="0" y="0"/>
            <a:chExt cx="2631" cy="3659"/>
          </a:xfrm>
        </p:grpSpPr>
        <p:sp>
          <p:nvSpPr>
            <p:cNvPr id="88068" name="矩形 102406"/>
            <p:cNvSpPr>
              <a:spLocks noChangeArrowheads="1"/>
            </p:cNvSpPr>
            <p:nvPr/>
          </p:nvSpPr>
          <p:spPr bwMode="auto">
            <a:xfrm>
              <a:off x="499" y="1904"/>
              <a:ext cx="280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000">
                  <a:latin typeface="Times New Roman" pitchFamily="18" charset="0"/>
                </a:rPr>
                <a:t>N</a:t>
              </a:r>
              <a:r>
                <a:rPr lang="en-US" altLang="zh-CN" sz="1000" baseline="-25000">
                  <a:latin typeface="Times New Roman" pitchFamily="18" charset="0"/>
                </a:rPr>
                <a:t>2</a:t>
              </a:r>
              <a:r>
                <a:rPr lang="en-US" altLang="zh-CN" sz="1000">
                  <a:latin typeface="Times New Roman" pitchFamily="18" charset="0"/>
                </a:rPr>
                <a:t>V</a:t>
              </a:r>
              <a:r>
                <a:rPr lang="en-US" altLang="zh-CN" sz="1000" baseline="-25000">
                  <a:latin typeface="Times New Roman" pitchFamily="18" charset="0"/>
                </a:rPr>
                <a:t>d</a:t>
              </a:r>
              <a:r>
                <a:rPr lang="en-US" altLang="zh-CN" sz="1000">
                  <a:latin typeface="Times New Roman" pitchFamily="18" charset="0"/>
                </a:rPr>
                <a:t>/N</a:t>
              </a:r>
              <a:r>
                <a:rPr lang="en-US" altLang="zh-CN" sz="1000" baseline="-25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88069" name="直接连接符 102407"/>
            <p:cNvSpPr>
              <a:spLocks noChangeShapeType="1"/>
            </p:cNvSpPr>
            <p:nvPr/>
          </p:nvSpPr>
          <p:spPr bwMode="auto">
            <a:xfrm flipH="1">
              <a:off x="363" y="2040"/>
              <a:ext cx="181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70" name="直接连接符 102408"/>
            <p:cNvSpPr>
              <a:spLocks noChangeShapeType="1"/>
            </p:cNvSpPr>
            <p:nvPr/>
          </p:nvSpPr>
          <p:spPr bwMode="auto">
            <a:xfrm flipV="1">
              <a:off x="318" y="770"/>
              <a:ext cx="0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71" name="直接连接符 102409"/>
            <p:cNvSpPr>
              <a:spLocks noChangeShapeType="1"/>
            </p:cNvSpPr>
            <p:nvPr/>
          </p:nvSpPr>
          <p:spPr bwMode="auto">
            <a:xfrm>
              <a:off x="318" y="997"/>
              <a:ext cx="21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" name="组合 102410"/>
            <p:cNvGrpSpPr>
              <a:grpSpLocks/>
            </p:cNvGrpSpPr>
            <p:nvPr/>
          </p:nvGrpSpPr>
          <p:grpSpPr bwMode="auto">
            <a:xfrm>
              <a:off x="318" y="1269"/>
              <a:ext cx="2132" cy="635"/>
              <a:chOff x="0" y="0"/>
              <a:chExt cx="2132" cy="635"/>
            </a:xfrm>
          </p:grpSpPr>
          <p:sp>
            <p:nvSpPr>
              <p:cNvPr id="88182" name="直接连接符 102411"/>
              <p:cNvSpPr>
                <a:spLocks noChangeShapeType="1"/>
              </p:cNvSpPr>
              <p:nvPr/>
            </p:nvSpPr>
            <p:spPr bwMode="auto">
              <a:xfrm flipV="1">
                <a:off x="0" y="0"/>
                <a:ext cx="0" cy="63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183" name="直接连接符 102412"/>
              <p:cNvSpPr>
                <a:spLocks noChangeShapeType="1"/>
              </p:cNvSpPr>
              <p:nvPr/>
            </p:nvSpPr>
            <p:spPr bwMode="auto">
              <a:xfrm>
                <a:off x="0" y="317"/>
                <a:ext cx="21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8073" name="直接连接符 102413"/>
            <p:cNvSpPr>
              <a:spLocks noChangeShapeType="1"/>
            </p:cNvSpPr>
            <p:nvPr/>
          </p:nvSpPr>
          <p:spPr bwMode="auto">
            <a:xfrm flipV="1">
              <a:off x="318" y="2040"/>
              <a:ext cx="0" cy="3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74" name="直接连接符 102414"/>
            <p:cNvSpPr>
              <a:spLocks noChangeShapeType="1"/>
            </p:cNvSpPr>
            <p:nvPr/>
          </p:nvSpPr>
          <p:spPr bwMode="auto">
            <a:xfrm>
              <a:off x="318" y="2357"/>
              <a:ext cx="21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75" name="直接连接符 102415"/>
            <p:cNvSpPr>
              <a:spLocks noChangeShapeType="1"/>
            </p:cNvSpPr>
            <p:nvPr/>
          </p:nvSpPr>
          <p:spPr bwMode="auto">
            <a:xfrm flipV="1">
              <a:off x="318" y="2449"/>
              <a:ext cx="0" cy="3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76" name="直接连接符 102416"/>
            <p:cNvSpPr>
              <a:spLocks noChangeShapeType="1"/>
            </p:cNvSpPr>
            <p:nvPr/>
          </p:nvSpPr>
          <p:spPr bwMode="auto">
            <a:xfrm>
              <a:off x="318" y="2766"/>
              <a:ext cx="21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77" name="直接连接符 102417"/>
            <p:cNvSpPr>
              <a:spLocks noChangeShapeType="1"/>
            </p:cNvSpPr>
            <p:nvPr/>
          </p:nvSpPr>
          <p:spPr bwMode="auto">
            <a:xfrm flipH="1">
              <a:off x="544" y="407"/>
              <a:ext cx="1" cy="299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78" name="直接连接符 102418"/>
            <p:cNvSpPr>
              <a:spLocks noChangeShapeType="1"/>
            </p:cNvSpPr>
            <p:nvPr/>
          </p:nvSpPr>
          <p:spPr bwMode="auto">
            <a:xfrm>
              <a:off x="953" y="407"/>
              <a:ext cx="0" cy="299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79" name="直接连接符 102419"/>
            <p:cNvSpPr>
              <a:spLocks noChangeShapeType="1"/>
            </p:cNvSpPr>
            <p:nvPr/>
          </p:nvSpPr>
          <p:spPr bwMode="auto">
            <a:xfrm>
              <a:off x="1180" y="635"/>
              <a:ext cx="0" cy="27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0" name="直接连接符 102420"/>
            <p:cNvSpPr>
              <a:spLocks noChangeShapeType="1"/>
            </p:cNvSpPr>
            <p:nvPr/>
          </p:nvSpPr>
          <p:spPr bwMode="auto">
            <a:xfrm>
              <a:off x="1588" y="409"/>
              <a:ext cx="0" cy="29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1" name="直接连接符 102421"/>
            <p:cNvSpPr>
              <a:spLocks noChangeShapeType="1"/>
            </p:cNvSpPr>
            <p:nvPr/>
          </p:nvSpPr>
          <p:spPr bwMode="auto">
            <a:xfrm flipV="1">
              <a:off x="318" y="906"/>
              <a:ext cx="227" cy="18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2" name="直接连接符 102422"/>
            <p:cNvSpPr>
              <a:spLocks noChangeShapeType="1"/>
            </p:cNvSpPr>
            <p:nvPr/>
          </p:nvSpPr>
          <p:spPr bwMode="auto">
            <a:xfrm>
              <a:off x="544" y="905"/>
              <a:ext cx="409" cy="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3" name="直接连接符 102423"/>
            <p:cNvSpPr>
              <a:spLocks noChangeShapeType="1"/>
            </p:cNvSpPr>
            <p:nvPr/>
          </p:nvSpPr>
          <p:spPr bwMode="auto">
            <a:xfrm>
              <a:off x="953" y="905"/>
              <a:ext cx="227" cy="182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4" name="直接连接符 102424"/>
            <p:cNvSpPr>
              <a:spLocks noChangeShapeType="1"/>
            </p:cNvSpPr>
            <p:nvPr/>
          </p:nvSpPr>
          <p:spPr bwMode="auto">
            <a:xfrm flipV="1">
              <a:off x="318" y="1359"/>
              <a:ext cx="227" cy="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5" name="直接连接符 102425"/>
            <p:cNvSpPr>
              <a:spLocks noChangeShapeType="1"/>
            </p:cNvSpPr>
            <p:nvPr/>
          </p:nvSpPr>
          <p:spPr bwMode="auto">
            <a:xfrm>
              <a:off x="953" y="1813"/>
              <a:ext cx="227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6" name="直接连接符 102426"/>
            <p:cNvSpPr>
              <a:spLocks noChangeShapeType="1"/>
            </p:cNvSpPr>
            <p:nvPr/>
          </p:nvSpPr>
          <p:spPr bwMode="auto">
            <a:xfrm>
              <a:off x="1180" y="1086"/>
              <a:ext cx="408" cy="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7" name="直接连接符 102427"/>
            <p:cNvSpPr>
              <a:spLocks noChangeShapeType="1"/>
            </p:cNvSpPr>
            <p:nvPr/>
          </p:nvSpPr>
          <p:spPr bwMode="auto">
            <a:xfrm flipV="1">
              <a:off x="318" y="2130"/>
              <a:ext cx="227" cy="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8" name="直接连接符 102428"/>
            <p:cNvSpPr>
              <a:spLocks noChangeShapeType="1"/>
            </p:cNvSpPr>
            <p:nvPr/>
          </p:nvSpPr>
          <p:spPr bwMode="auto">
            <a:xfrm>
              <a:off x="953" y="2130"/>
              <a:ext cx="227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9" name="直接连接符 102429"/>
            <p:cNvSpPr>
              <a:spLocks noChangeShapeType="1"/>
            </p:cNvSpPr>
            <p:nvPr/>
          </p:nvSpPr>
          <p:spPr bwMode="auto">
            <a:xfrm flipV="1">
              <a:off x="318" y="2494"/>
              <a:ext cx="227" cy="18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90" name="直接连接符 102430"/>
            <p:cNvSpPr>
              <a:spLocks noChangeShapeType="1"/>
            </p:cNvSpPr>
            <p:nvPr/>
          </p:nvSpPr>
          <p:spPr bwMode="auto">
            <a:xfrm flipV="1">
              <a:off x="953" y="2494"/>
              <a:ext cx="227" cy="18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91" name="直接连接符 102431"/>
            <p:cNvSpPr>
              <a:spLocks noChangeShapeType="1"/>
            </p:cNvSpPr>
            <p:nvPr/>
          </p:nvSpPr>
          <p:spPr bwMode="auto">
            <a:xfrm>
              <a:off x="544" y="2493"/>
              <a:ext cx="409" cy="18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92" name="直接连接符 102432"/>
            <p:cNvSpPr>
              <a:spLocks noChangeShapeType="1"/>
            </p:cNvSpPr>
            <p:nvPr/>
          </p:nvSpPr>
          <p:spPr bwMode="auto">
            <a:xfrm>
              <a:off x="1180" y="2493"/>
              <a:ext cx="408" cy="18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93" name="直接连接符 102433"/>
            <p:cNvSpPr>
              <a:spLocks noChangeShapeType="1"/>
            </p:cNvSpPr>
            <p:nvPr/>
          </p:nvSpPr>
          <p:spPr bwMode="auto">
            <a:xfrm flipV="1">
              <a:off x="318" y="2857"/>
              <a:ext cx="0" cy="3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94" name="直接连接符 102434"/>
            <p:cNvSpPr>
              <a:spLocks noChangeShapeType="1"/>
            </p:cNvSpPr>
            <p:nvPr/>
          </p:nvSpPr>
          <p:spPr bwMode="auto">
            <a:xfrm>
              <a:off x="318" y="3174"/>
              <a:ext cx="21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95" name="直接连接符 102435"/>
            <p:cNvSpPr>
              <a:spLocks noChangeShapeType="1"/>
            </p:cNvSpPr>
            <p:nvPr/>
          </p:nvSpPr>
          <p:spPr bwMode="auto">
            <a:xfrm flipV="1">
              <a:off x="318" y="2903"/>
              <a:ext cx="227" cy="18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96" name="直接连接符 102436"/>
            <p:cNvSpPr>
              <a:spLocks noChangeShapeType="1"/>
            </p:cNvSpPr>
            <p:nvPr/>
          </p:nvSpPr>
          <p:spPr bwMode="auto">
            <a:xfrm flipV="1">
              <a:off x="544" y="2902"/>
              <a:ext cx="0" cy="13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97" name="直接连接符 102437"/>
            <p:cNvSpPr>
              <a:spLocks noChangeShapeType="1"/>
            </p:cNvSpPr>
            <p:nvPr/>
          </p:nvSpPr>
          <p:spPr bwMode="auto">
            <a:xfrm>
              <a:off x="544" y="3038"/>
              <a:ext cx="409" cy="9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98" name="直接连接符 102438"/>
            <p:cNvSpPr>
              <a:spLocks noChangeShapeType="1"/>
            </p:cNvSpPr>
            <p:nvPr/>
          </p:nvSpPr>
          <p:spPr bwMode="auto">
            <a:xfrm>
              <a:off x="1180" y="3038"/>
              <a:ext cx="408" cy="9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99" name="直接连接符 102439"/>
            <p:cNvSpPr>
              <a:spLocks noChangeShapeType="1"/>
            </p:cNvSpPr>
            <p:nvPr/>
          </p:nvSpPr>
          <p:spPr bwMode="auto">
            <a:xfrm flipV="1">
              <a:off x="1180" y="3038"/>
              <a:ext cx="0" cy="13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00" name="直接连接符 102440"/>
            <p:cNvSpPr>
              <a:spLocks noChangeShapeType="1"/>
            </p:cNvSpPr>
            <p:nvPr/>
          </p:nvSpPr>
          <p:spPr bwMode="auto">
            <a:xfrm flipV="1">
              <a:off x="953" y="3128"/>
              <a:ext cx="0" cy="4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01" name="直接连接符 102441"/>
            <p:cNvSpPr>
              <a:spLocks noChangeShapeType="1"/>
            </p:cNvSpPr>
            <p:nvPr/>
          </p:nvSpPr>
          <p:spPr bwMode="auto">
            <a:xfrm flipV="1">
              <a:off x="1588" y="3083"/>
              <a:ext cx="0" cy="4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02" name="直接连接符 102442"/>
            <p:cNvSpPr>
              <a:spLocks noChangeShapeType="1"/>
            </p:cNvSpPr>
            <p:nvPr/>
          </p:nvSpPr>
          <p:spPr bwMode="auto">
            <a:xfrm flipV="1">
              <a:off x="1588" y="2903"/>
              <a:ext cx="227" cy="18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03" name="直接连接符 102443"/>
            <p:cNvSpPr>
              <a:spLocks noChangeShapeType="1"/>
            </p:cNvSpPr>
            <p:nvPr/>
          </p:nvSpPr>
          <p:spPr bwMode="auto">
            <a:xfrm flipV="1">
              <a:off x="1588" y="2494"/>
              <a:ext cx="227" cy="18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04" name="直接连接符 102444"/>
            <p:cNvSpPr>
              <a:spLocks noChangeShapeType="1"/>
            </p:cNvSpPr>
            <p:nvPr/>
          </p:nvSpPr>
          <p:spPr bwMode="auto">
            <a:xfrm flipV="1">
              <a:off x="1588" y="906"/>
              <a:ext cx="227" cy="18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05" name="直接连接符 102445"/>
            <p:cNvSpPr>
              <a:spLocks noChangeShapeType="1"/>
            </p:cNvSpPr>
            <p:nvPr/>
          </p:nvSpPr>
          <p:spPr bwMode="auto">
            <a:xfrm>
              <a:off x="1815" y="407"/>
              <a:ext cx="0" cy="299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06" name="直接连接符 102446"/>
            <p:cNvSpPr>
              <a:spLocks noChangeShapeType="1"/>
            </p:cNvSpPr>
            <p:nvPr/>
          </p:nvSpPr>
          <p:spPr bwMode="auto">
            <a:xfrm>
              <a:off x="2223" y="407"/>
              <a:ext cx="0" cy="299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07" name="直接连接符 102447"/>
            <p:cNvSpPr>
              <a:spLocks noChangeShapeType="1"/>
            </p:cNvSpPr>
            <p:nvPr/>
          </p:nvSpPr>
          <p:spPr bwMode="auto">
            <a:xfrm>
              <a:off x="1815" y="906"/>
              <a:ext cx="409" cy="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08" name="直接连接符 102448"/>
            <p:cNvSpPr>
              <a:spLocks noChangeShapeType="1"/>
            </p:cNvSpPr>
            <p:nvPr/>
          </p:nvSpPr>
          <p:spPr bwMode="auto">
            <a:xfrm>
              <a:off x="2223" y="906"/>
              <a:ext cx="91" cy="9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09" name="直接连接符 102449"/>
            <p:cNvSpPr>
              <a:spLocks noChangeShapeType="1"/>
            </p:cNvSpPr>
            <p:nvPr/>
          </p:nvSpPr>
          <p:spPr bwMode="auto">
            <a:xfrm flipV="1">
              <a:off x="1588" y="1359"/>
              <a:ext cx="227" cy="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10" name="直接连接符 102450"/>
            <p:cNvSpPr>
              <a:spLocks noChangeShapeType="1"/>
            </p:cNvSpPr>
            <p:nvPr/>
          </p:nvSpPr>
          <p:spPr bwMode="auto">
            <a:xfrm flipV="1">
              <a:off x="2223" y="1813"/>
              <a:ext cx="136" cy="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11" name="直接连接符 102451"/>
            <p:cNvSpPr>
              <a:spLocks noChangeShapeType="1"/>
            </p:cNvSpPr>
            <p:nvPr/>
          </p:nvSpPr>
          <p:spPr bwMode="auto">
            <a:xfrm flipV="1">
              <a:off x="1588" y="2130"/>
              <a:ext cx="227" cy="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12" name="直接连接符 102452"/>
            <p:cNvSpPr>
              <a:spLocks noChangeShapeType="1"/>
            </p:cNvSpPr>
            <p:nvPr/>
          </p:nvSpPr>
          <p:spPr bwMode="auto">
            <a:xfrm flipV="1">
              <a:off x="2223" y="2130"/>
              <a:ext cx="136" cy="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13" name="直接连接符 102453"/>
            <p:cNvSpPr>
              <a:spLocks noChangeShapeType="1"/>
            </p:cNvSpPr>
            <p:nvPr/>
          </p:nvSpPr>
          <p:spPr bwMode="auto">
            <a:xfrm>
              <a:off x="1815" y="2494"/>
              <a:ext cx="409" cy="18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14" name="直接连接符 102454"/>
            <p:cNvSpPr>
              <a:spLocks noChangeShapeType="1"/>
            </p:cNvSpPr>
            <p:nvPr/>
          </p:nvSpPr>
          <p:spPr bwMode="auto">
            <a:xfrm flipV="1">
              <a:off x="2223" y="2584"/>
              <a:ext cx="136" cy="9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15" name="直接连接符 102455"/>
            <p:cNvSpPr>
              <a:spLocks noChangeShapeType="1"/>
            </p:cNvSpPr>
            <p:nvPr/>
          </p:nvSpPr>
          <p:spPr bwMode="auto">
            <a:xfrm flipV="1">
              <a:off x="1815" y="2903"/>
              <a:ext cx="0" cy="13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16" name="直接连接符 102456"/>
            <p:cNvSpPr>
              <a:spLocks noChangeShapeType="1"/>
            </p:cNvSpPr>
            <p:nvPr/>
          </p:nvSpPr>
          <p:spPr bwMode="auto">
            <a:xfrm>
              <a:off x="1815" y="3039"/>
              <a:ext cx="409" cy="9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17" name="直接连接符 102457"/>
            <p:cNvSpPr>
              <a:spLocks noChangeShapeType="1"/>
            </p:cNvSpPr>
            <p:nvPr/>
          </p:nvSpPr>
          <p:spPr bwMode="auto">
            <a:xfrm flipV="1">
              <a:off x="2224" y="3129"/>
              <a:ext cx="0" cy="4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18" name="直接连接符 102458"/>
            <p:cNvSpPr>
              <a:spLocks noChangeShapeType="1"/>
            </p:cNvSpPr>
            <p:nvPr/>
          </p:nvSpPr>
          <p:spPr bwMode="auto">
            <a:xfrm flipV="1">
              <a:off x="318" y="3265"/>
              <a:ext cx="0" cy="3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19" name="直接连接符 102459"/>
            <p:cNvSpPr>
              <a:spLocks noChangeShapeType="1"/>
            </p:cNvSpPr>
            <p:nvPr/>
          </p:nvSpPr>
          <p:spPr bwMode="auto">
            <a:xfrm>
              <a:off x="318" y="3582"/>
              <a:ext cx="21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20" name="直接连接符 102460"/>
            <p:cNvSpPr>
              <a:spLocks noChangeShapeType="1"/>
            </p:cNvSpPr>
            <p:nvPr/>
          </p:nvSpPr>
          <p:spPr bwMode="auto">
            <a:xfrm>
              <a:off x="545" y="3445"/>
              <a:ext cx="408" cy="9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21" name="直接连接符 102461"/>
            <p:cNvSpPr>
              <a:spLocks noChangeShapeType="1"/>
            </p:cNvSpPr>
            <p:nvPr/>
          </p:nvSpPr>
          <p:spPr bwMode="auto">
            <a:xfrm flipV="1">
              <a:off x="545" y="3445"/>
              <a:ext cx="0" cy="13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22" name="直接连接符 102462"/>
            <p:cNvSpPr>
              <a:spLocks noChangeShapeType="1"/>
            </p:cNvSpPr>
            <p:nvPr/>
          </p:nvSpPr>
          <p:spPr bwMode="auto">
            <a:xfrm flipV="1">
              <a:off x="953" y="3490"/>
              <a:ext cx="0" cy="4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23" name="直接连接符 102463"/>
            <p:cNvSpPr>
              <a:spLocks noChangeShapeType="1"/>
            </p:cNvSpPr>
            <p:nvPr/>
          </p:nvSpPr>
          <p:spPr bwMode="auto">
            <a:xfrm flipV="1">
              <a:off x="953" y="3310"/>
              <a:ext cx="227" cy="18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24" name="直接连接符 102464"/>
            <p:cNvSpPr>
              <a:spLocks noChangeShapeType="1"/>
            </p:cNvSpPr>
            <p:nvPr/>
          </p:nvSpPr>
          <p:spPr bwMode="auto">
            <a:xfrm flipV="1">
              <a:off x="1180" y="3310"/>
              <a:ext cx="0" cy="13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25" name="直接连接符 102465"/>
            <p:cNvSpPr>
              <a:spLocks noChangeShapeType="1"/>
            </p:cNvSpPr>
            <p:nvPr/>
          </p:nvSpPr>
          <p:spPr bwMode="auto">
            <a:xfrm>
              <a:off x="1180" y="3446"/>
              <a:ext cx="409" cy="9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26" name="直接连接符 102466"/>
            <p:cNvSpPr>
              <a:spLocks noChangeShapeType="1"/>
            </p:cNvSpPr>
            <p:nvPr/>
          </p:nvSpPr>
          <p:spPr bwMode="auto">
            <a:xfrm flipV="1">
              <a:off x="1589" y="3536"/>
              <a:ext cx="0" cy="4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27" name="直接连接符 102467"/>
            <p:cNvSpPr>
              <a:spLocks noChangeShapeType="1"/>
            </p:cNvSpPr>
            <p:nvPr/>
          </p:nvSpPr>
          <p:spPr bwMode="auto">
            <a:xfrm>
              <a:off x="1815" y="3446"/>
              <a:ext cx="408" cy="9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28" name="直接连接符 102468"/>
            <p:cNvSpPr>
              <a:spLocks noChangeShapeType="1"/>
            </p:cNvSpPr>
            <p:nvPr/>
          </p:nvSpPr>
          <p:spPr bwMode="auto">
            <a:xfrm flipV="1">
              <a:off x="1815" y="3446"/>
              <a:ext cx="0" cy="13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29" name="直接连接符 102469"/>
            <p:cNvSpPr>
              <a:spLocks noChangeShapeType="1"/>
            </p:cNvSpPr>
            <p:nvPr/>
          </p:nvSpPr>
          <p:spPr bwMode="auto">
            <a:xfrm flipV="1">
              <a:off x="2223" y="3491"/>
              <a:ext cx="0" cy="4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30" name="直接连接符 102470"/>
            <p:cNvSpPr>
              <a:spLocks noChangeShapeType="1"/>
            </p:cNvSpPr>
            <p:nvPr/>
          </p:nvSpPr>
          <p:spPr bwMode="auto">
            <a:xfrm flipV="1">
              <a:off x="2223" y="3400"/>
              <a:ext cx="136" cy="9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31" name="直接连接符 102471"/>
            <p:cNvSpPr>
              <a:spLocks noChangeShapeType="1"/>
            </p:cNvSpPr>
            <p:nvPr/>
          </p:nvSpPr>
          <p:spPr bwMode="auto">
            <a:xfrm flipV="1">
              <a:off x="319" y="0"/>
              <a:ext cx="0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32" name="直接连接符 102472"/>
            <p:cNvSpPr>
              <a:spLocks noChangeShapeType="1"/>
            </p:cNvSpPr>
            <p:nvPr/>
          </p:nvSpPr>
          <p:spPr bwMode="auto">
            <a:xfrm>
              <a:off x="318" y="407"/>
              <a:ext cx="21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33" name="直接连接符 102473"/>
            <p:cNvSpPr>
              <a:spLocks noChangeShapeType="1"/>
            </p:cNvSpPr>
            <p:nvPr/>
          </p:nvSpPr>
          <p:spPr bwMode="auto">
            <a:xfrm>
              <a:off x="318" y="90"/>
              <a:ext cx="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34" name="直接连接符 102474"/>
            <p:cNvSpPr>
              <a:spLocks noChangeShapeType="1"/>
            </p:cNvSpPr>
            <p:nvPr/>
          </p:nvSpPr>
          <p:spPr bwMode="auto">
            <a:xfrm>
              <a:off x="545" y="90"/>
              <a:ext cx="0" cy="3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35" name="直接连接符 102475"/>
            <p:cNvSpPr>
              <a:spLocks noChangeShapeType="1"/>
            </p:cNvSpPr>
            <p:nvPr/>
          </p:nvSpPr>
          <p:spPr bwMode="auto">
            <a:xfrm>
              <a:off x="953" y="90"/>
              <a:ext cx="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36" name="直接连接符 102476"/>
            <p:cNvSpPr>
              <a:spLocks noChangeShapeType="1"/>
            </p:cNvSpPr>
            <p:nvPr/>
          </p:nvSpPr>
          <p:spPr bwMode="auto">
            <a:xfrm>
              <a:off x="1180" y="90"/>
              <a:ext cx="0" cy="3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37" name="直接连接符 102477"/>
            <p:cNvSpPr>
              <a:spLocks noChangeShapeType="1"/>
            </p:cNvSpPr>
            <p:nvPr/>
          </p:nvSpPr>
          <p:spPr bwMode="auto">
            <a:xfrm>
              <a:off x="1588" y="90"/>
              <a:ext cx="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38" name="直接连接符 102478"/>
            <p:cNvSpPr>
              <a:spLocks noChangeShapeType="1"/>
            </p:cNvSpPr>
            <p:nvPr/>
          </p:nvSpPr>
          <p:spPr bwMode="auto">
            <a:xfrm>
              <a:off x="1815" y="90"/>
              <a:ext cx="0" cy="3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39" name="直接连接符 102479"/>
            <p:cNvSpPr>
              <a:spLocks noChangeShapeType="1"/>
            </p:cNvSpPr>
            <p:nvPr/>
          </p:nvSpPr>
          <p:spPr bwMode="auto">
            <a:xfrm flipH="1">
              <a:off x="2223" y="90"/>
              <a:ext cx="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40" name="直接连接符 102480"/>
            <p:cNvSpPr>
              <a:spLocks noChangeShapeType="1"/>
            </p:cNvSpPr>
            <p:nvPr/>
          </p:nvSpPr>
          <p:spPr bwMode="auto">
            <a:xfrm>
              <a:off x="2223" y="90"/>
              <a:ext cx="0" cy="3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41" name="直接连接符 102481"/>
            <p:cNvSpPr>
              <a:spLocks noChangeShapeType="1"/>
            </p:cNvSpPr>
            <p:nvPr/>
          </p:nvSpPr>
          <p:spPr bwMode="auto">
            <a:xfrm>
              <a:off x="1588" y="90"/>
              <a:ext cx="0" cy="3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42" name="直接连接符 102482"/>
            <p:cNvSpPr>
              <a:spLocks noChangeShapeType="1"/>
            </p:cNvSpPr>
            <p:nvPr/>
          </p:nvSpPr>
          <p:spPr bwMode="auto">
            <a:xfrm>
              <a:off x="953" y="90"/>
              <a:ext cx="0" cy="3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43" name="直接连接符 102483"/>
            <p:cNvSpPr>
              <a:spLocks noChangeShapeType="1"/>
            </p:cNvSpPr>
            <p:nvPr/>
          </p:nvSpPr>
          <p:spPr bwMode="auto">
            <a:xfrm>
              <a:off x="545" y="1360"/>
              <a:ext cx="0" cy="22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44" name="直接连接符 102484"/>
            <p:cNvSpPr>
              <a:spLocks noChangeShapeType="1"/>
            </p:cNvSpPr>
            <p:nvPr/>
          </p:nvSpPr>
          <p:spPr bwMode="auto">
            <a:xfrm>
              <a:off x="953" y="1586"/>
              <a:ext cx="0" cy="22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45" name="直接连接符 102485"/>
            <p:cNvSpPr>
              <a:spLocks noChangeShapeType="1"/>
            </p:cNvSpPr>
            <p:nvPr/>
          </p:nvSpPr>
          <p:spPr bwMode="auto">
            <a:xfrm>
              <a:off x="1180" y="1586"/>
              <a:ext cx="0" cy="22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46" name="直接连接符 102486"/>
            <p:cNvSpPr>
              <a:spLocks noChangeShapeType="1"/>
            </p:cNvSpPr>
            <p:nvPr/>
          </p:nvSpPr>
          <p:spPr bwMode="auto">
            <a:xfrm>
              <a:off x="1588" y="1360"/>
              <a:ext cx="0" cy="22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47" name="直接连接符 102487"/>
            <p:cNvSpPr>
              <a:spLocks noChangeShapeType="1"/>
            </p:cNvSpPr>
            <p:nvPr/>
          </p:nvSpPr>
          <p:spPr bwMode="auto">
            <a:xfrm>
              <a:off x="1815" y="1360"/>
              <a:ext cx="0" cy="22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48" name="直接连接符 102488"/>
            <p:cNvSpPr>
              <a:spLocks noChangeShapeType="1"/>
            </p:cNvSpPr>
            <p:nvPr/>
          </p:nvSpPr>
          <p:spPr bwMode="auto">
            <a:xfrm>
              <a:off x="2223" y="1586"/>
              <a:ext cx="0" cy="22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49" name="直接连接符 102489"/>
            <p:cNvSpPr>
              <a:spLocks noChangeShapeType="1"/>
            </p:cNvSpPr>
            <p:nvPr/>
          </p:nvSpPr>
          <p:spPr bwMode="auto">
            <a:xfrm>
              <a:off x="545" y="2131"/>
              <a:ext cx="0" cy="22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50" name="直接连接符 102490"/>
            <p:cNvSpPr>
              <a:spLocks noChangeShapeType="1"/>
            </p:cNvSpPr>
            <p:nvPr/>
          </p:nvSpPr>
          <p:spPr bwMode="auto">
            <a:xfrm>
              <a:off x="953" y="2131"/>
              <a:ext cx="0" cy="22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51" name="直接连接符 102491"/>
            <p:cNvSpPr>
              <a:spLocks noChangeShapeType="1"/>
            </p:cNvSpPr>
            <p:nvPr/>
          </p:nvSpPr>
          <p:spPr bwMode="auto">
            <a:xfrm>
              <a:off x="1180" y="2131"/>
              <a:ext cx="0" cy="22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52" name="直接连接符 102492"/>
            <p:cNvSpPr>
              <a:spLocks noChangeShapeType="1"/>
            </p:cNvSpPr>
            <p:nvPr/>
          </p:nvSpPr>
          <p:spPr bwMode="auto">
            <a:xfrm>
              <a:off x="1588" y="2131"/>
              <a:ext cx="0" cy="22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53" name="直接连接符 102493"/>
            <p:cNvSpPr>
              <a:spLocks noChangeShapeType="1"/>
            </p:cNvSpPr>
            <p:nvPr/>
          </p:nvSpPr>
          <p:spPr bwMode="auto">
            <a:xfrm>
              <a:off x="1815" y="2131"/>
              <a:ext cx="0" cy="22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54" name="直接连接符 102494"/>
            <p:cNvSpPr>
              <a:spLocks noChangeShapeType="1"/>
            </p:cNvSpPr>
            <p:nvPr/>
          </p:nvSpPr>
          <p:spPr bwMode="auto">
            <a:xfrm>
              <a:off x="2223" y="2131"/>
              <a:ext cx="0" cy="22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55" name="直接连接符 102495"/>
            <p:cNvSpPr>
              <a:spLocks noChangeShapeType="1"/>
            </p:cNvSpPr>
            <p:nvPr/>
          </p:nvSpPr>
          <p:spPr bwMode="auto">
            <a:xfrm flipH="1">
              <a:off x="953" y="499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56" name="直接连接符 102496"/>
            <p:cNvSpPr>
              <a:spLocks noChangeShapeType="1"/>
            </p:cNvSpPr>
            <p:nvPr/>
          </p:nvSpPr>
          <p:spPr bwMode="auto">
            <a:xfrm>
              <a:off x="1452" y="499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57" name="直接连接符 102497"/>
            <p:cNvSpPr>
              <a:spLocks noChangeShapeType="1"/>
            </p:cNvSpPr>
            <p:nvPr/>
          </p:nvSpPr>
          <p:spPr bwMode="auto">
            <a:xfrm>
              <a:off x="1089" y="817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58" name="直接连接符 102498"/>
            <p:cNvSpPr>
              <a:spLocks noChangeShapeType="1"/>
            </p:cNvSpPr>
            <p:nvPr/>
          </p:nvSpPr>
          <p:spPr bwMode="auto">
            <a:xfrm flipH="1">
              <a:off x="953" y="817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59" name="文本框 102499"/>
            <p:cNvSpPr txBox="1">
              <a:spLocks noChangeArrowheads="1"/>
            </p:cNvSpPr>
            <p:nvPr/>
          </p:nvSpPr>
          <p:spPr bwMode="auto">
            <a:xfrm>
              <a:off x="1044" y="409"/>
              <a:ext cx="45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T</a:t>
              </a:r>
              <a:r>
                <a:rPr lang="en-US" altLang="zh-CN" sz="1600" b="1" baseline="-25000"/>
                <a:t>s</a:t>
              </a:r>
              <a:r>
                <a:rPr lang="en-US" altLang="zh-CN" sz="1600" b="1"/>
                <a:t>/2</a:t>
              </a:r>
            </a:p>
          </p:txBody>
        </p:sp>
        <p:sp>
          <p:nvSpPr>
            <p:cNvPr id="88160" name="直接连接符 102500"/>
            <p:cNvSpPr>
              <a:spLocks noChangeShapeType="1"/>
            </p:cNvSpPr>
            <p:nvPr/>
          </p:nvSpPr>
          <p:spPr bwMode="auto">
            <a:xfrm>
              <a:off x="1498" y="817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61" name="直接连接符 102501"/>
            <p:cNvSpPr>
              <a:spLocks noChangeShapeType="1"/>
            </p:cNvSpPr>
            <p:nvPr/>
          </p:nvSpPr>
          <p:spPr bwMode="auto">
            <a:xfrm flipH="1">
              <a:off x="1180" y="817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62" name="文本框 102502"/>
            <p:cNvSpPr txBox="1">
              <a:spLocks noChangeArrowheads="1"/>
            </p:cNvSpPr>
            <p:nvPr/>
          </p:nvSpPr>
          <p:spPr bwMode="auto">
            <a:xfrm>
              <a:off x="908" y="590"/>
              <a:ext cx="31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t</a:t>
              </a:r>
              <a:r>
                <a:rPr lang="en-US" altLang="zh-CN" sz="1600" b="1" baseline="-25000"/>
                <a:t>on</a:t>
              </a:r>
            </a:p>
          </p:txBody>
        </p:sp>
        <p:sp>
          <p:nvSpPr>
            <p:cNvPr id="88163" name="文本框 102503"/>
            <p:cNvSpPr txBox="1">
              <a:spLocks noChangeArrowheads="1"/>
            </p:cNvSpPr>
            <p:nvPr/>
          </p:nvSpPr>
          <p:spPr bwMode="auto">
            <a:xfrm>
              <a:off x="1271" y="681"/>
              <a:ext cx="27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l-GR" altLang="en-US" sz="1600" b="1">
                  <a:latin typeface="宋体" pitchFamily="2" charset="-122"/>
                </a:rPr>
                <a:t>Δ</a:t>
              </a:r>
              <a:endParaRPr lang="el-GR" altLang="en-US" sz="1600" b="1" baseline="-25000">
                <a:latin typeface="宋体" pitchFamily="2" charset="-122"/>
              </a:endParaRPr>
            </a:p>
          </p:txBody>
        </p:sp>
        <p:sp>
          <p:nvSpPr>
            <p:cNvPr id="88164" name="文本框 102504"/>
            <p:cNvSpPr txBox="1">
              <a:spLocks noChangeArrowheads="1"/>
            </p:cNvSpPr>
            <p:nvPr/>
          </p:nvSpPr>
          <p:spPr bwMode="auto">
            <a:xfrm>
              <a:off x="46" y="679"/>
              <a:ext cx="27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latin typeface="宋体" pitchFamily="2" charset="-122"/>
                </a:rPr>
                <a:t>i</a:t>
              </a:r>
              <a:r>
                <a:rPr lang="en-US" altLang="zh-CN" sz="1600" b="1" baseline="-25000">
                  <a:latin typeface="宋体" pitchFamily="2" charset="-122"/>
                </a:rPr>
                <a:t>m</a:t>
              </a:r>
              <a:endParaRPr lang="el-GR" altLang="en-US" sz="1600" b="1" baseline="-25000">
                <a:latin typeface="宋体" pitchFamily="2" charset="-122"/>
              </a:endParaRPr>
            </a:p>
          </p:txBody>
        </p:sp>
        <p:sp>
          <p:nvSpPr>
            <p:cNvPr id="88165" name="文本框 102505"/>
            <p:cNvSpPr txBox="1">
              <a:spLocks noChangeArrowheads="1"/>
            </p:cNvSpPr>
            <p:nvPr/>
          </p:nvSpPr>
          <p:spPr bwMode="auto">
            <a:xfrm>
              <a:off x="46" y="1268"/>
              <a:ext cx="27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latin typeface="宋体" pitchFamily="2" charset="-122"/>
                </a:rPr>
                <a:t>v</a:t>
              </a:r>
              <a:r>
                <a:rPr lang="en-US" altLang="zh-CN" sz="1600" b="1" baseline="-25000">
                  <a:latin typeface="宋体" pitchFamily="2" charset="-122"/>
                </a:rPr>
                <a:t>1</a:t>
              </a:r>
              <a:endParaRPr lang="el-GR" altLang="en-US" sz="1600" b="1" baseline="-25000">
                <a:latin typeface="宋体" pitchFamily="2" charset="-122"/>
              </a:endParaRPr>
            </a:p>
          </p:txBody>
        </p:sp>
        <p:sp>
          <p:nvSpPr>
            <p:cNvPr id="88166" name="文本框 102506"/>
            <p:cNvSpPr txBox="1">
              <a:spLocks noChangeArrowheads="1"/>
            </p:cNvSpPr>
            <p:nvPr/>
          </p:nvSpPr>
          <p:spPr bwMode="auto">
            <a:xfrm>
              <a:off x="0" y="1994"/>
              <a:ext cx="318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latin typeface="宋体" pitchFamily="2" charset="-122"/>
                </a:rPr>
                <a:t>v</a:t>
              </a:r>
              <a:r>
                <a:rPr lang="en-US" altLang="zh-CN" sz="1600" b="1" baseline="-25000">
                  <a:latin typeface="宋体" pitchFamily="2" charset="-122"/>
                </a:rPr>
                <a:t>oi</a:t>
              </a:r>
              <a:endParaRPr lang="el-GR" altLang="en-US" sz="1600" b="1" baseline="-25000">
                <a:latin typeface="宋体" pitchFamily="2" charset="-122"/>
              </a:endParaRPr>
            </a:p>
          </p:txBody>
        </p:sp>
        <p:sp>
          <p:nvSpPr>
            <p:cNvPr id="88167" name="文本框 102507"/>
            <p:cNvSpPr txBox="1">
              <a:spLocks noChangeArrowheads="1"/>
            </p:cNvSpPr>
            <p:nvPr/>
          </p:nvSpPr>
          <p:spPr bwMode="auto">
            <a:xfrm>
              <a:off x="0" y="2357"/>
              <a:ext cx="27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latin typeface="宋体" pitchFamily="2" charset="-122"/>
                </a:rPr>
                <a:t>i</a:t>
              </a:r>
              <a:r>
                <a:rPr lang="en-US" altLang="zh-CN" sz="1600" b="1" baseline="-25000">
                  <a:latin typeface="宋体" pitchFamily="2" charset="-122"/>
                </a:rPr>
                <a:t>L</a:t>
              </a:r>
              <a:endParaRPr lang="el-GR" altLang="en-US" sz="1600" b="1" baseline="-25000">
                <a:latin typeface="宋体" pitchFamily="2" charset="-122"/>
              </a:endParaRPr>
            </a:p>
          </p:txBody>
        </p:sp>
        <p:sp>
          <p:nvSpPr>
            <p:cNvPr id="88168" name="文本框 102508"/>
            <p:cNvSpPr txBox="1">
              <a:spLocks noChangeArrowheads="1"/>
            </p:cNvSpPr>
            <p:nvPr/>
          </p:nvSpPr>
          <p:spPr bwMode="auto">
            <a:xfrm>
              <a:off x="0" y="2811"/>
              <a:ext cx="318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latin typeface="宋体" pitchFamily="2" charset="-122"/>
                </a:rPr>
                <a:t>i</a:t>
              </a:r>
              <a:r>
                <a:rPr lang="en-US" altLang="zh-CN" sz="1600" b="1" baseline="-25000">
                  <a:latin typeface="宋体" pitchFamily="2" charset="-122"/>
                </a:rPr>
                <a:t>D1</a:t>
              </a:r>
              <a:endParaRPr lang="el-GR" altLang="en-US" sz="1600" b="1" baseline="-25000">
                <a:latin typeface="宋体" pitchFamily="2" charset="-122"/>
              </a:endParaRPr>
            </a:p>
          </p:txBody>
        </p:sp>
        <p:sp>
          <p:nvSpPr>
            <p:cNvPr id="88169" name="文本框 102509"/>
            <p:cNvSpPr txBox="1">
              <a:spLocks noChangeArrowheads="1"/>
            </p:cNvSpPr>
            <p:nvPr/>
          </p:nvSpPr>
          <p:spPr bwMode="auto">
            <a:xfrm>
              <a:off x="0" y="3174"/>
              <a:ext cx="318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latin typeface="宋体" pitchFamily="2" charset="-122"/>
                </a:rPr>
                <a:t>i</a:t>
              </a:r>
              <a:r>
                <a:rPr lang="en-US" altLang="zh-CN" sz="1600" b="1" baseline="-25000">
                  <a:latin typeface="宋体" pitchFamily="2" charset="-122"/>
                </a:rPr>
                <a:t>D2</a:t>
              </a:r>
              <a:endParaRPr lang="el-GR" altLang="en-US" sz="1600" b="1" baseline="-25000">
                <a:latin typeface="宋体" pitchFamily="2" charset="-122"/>
              </a:endParaRPr>
            </a:p>
          </p:txBody>
        </p:sp>
        <p:sp>
          <p:nvSpPr>
            <p:cNvPr id="88170" name="矩形 102510"/>
            <p:cNvSpPr>
              <a:spLocks noChangeArrowheads="1"/>
            </p:cNvSpPr>
            <p:nvPr/>
          </p:nvSpPr>
          <p:spPr bwMode="auto">
            <a:xfrm>
              <a:off x="363" y="1405"/>
              <a:ext cx="86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000">
                  <a:latin typeface="Times New Roman" pitchFamily="18" charset="0"/>
                </a:rPr>
                <a:t>V</a:t>
              </a:r>
              <a:r>
                <a:rPr lang="en-US" altLang="zh-CN" sz="1000" baseline="-25000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88171" name="矩形 102511"/>
            <p:cNvSpPr>
              <a:spLocks noChangeArrowheads="1"/>
            </p:cNvSpPr>
            <p:nvPr/>
          </p:nvSpPr>
          <p:spPr bwMode="auto">
            <a:xfrm>
              <a:off x="998" y="1586"/>
              <a:ext cx="227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 hangingPunct="1"/>
              <a:r>
                <a:rPr lang="en-US" altLang="zh-CN" sz="1000">
                  <a:latin typeface="Times New Roman" pitchFamily="18" charset="0"/>
                </a:rPr>
                <a:t>-V</a:t>
              </a:r>
              <a:r>
                <a:rPr lang="en-US" altLang="zh-CN" sz="1000" baseline="-25000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88172" name="矩形 102512"/>
            <p:cNvSpPr>
              <a:spLocks noChangeArrowheads="1"/>
            </p:cNvSpPr>
            <p:nvPr/>
          </p:nvSpPr>
          <p:spPr bwMode="auto">
            <a:xfrm>
              <a:off x="998" y="91"/>
              <a:ext cx="77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000">
                  <a:latin typeface="Times New Roman" pitchFamily="18" charset="0"/>
                </a:rPr>
                <a:t>T</a:t>
              </a:r>
              <a:r>
                <a:rPr lang="en-US" altLang="zh-CN" sz="1000" baseline="-25000">
                  <a:latin typeface="Times New Roman" pitchFamily="18" charset="0"/>
                </a:rPr>
                <a:t>3</a:t>
              </a:r>
            </a:p>
            <a:p>
              <a:pPr eaLnBrk="1" hangingPunct="1"/>
              <a:r>
                <a:rPr lang="en-US" altLang="zh-CN" sz="1000">
                  <a:latin typeface="Times New Roman" pitchFamily="18" charset="0"/>
                </a:rPr>
                <a:t>T</a:t>
              </a:r>
              <a:r>
                <a:rPr lang="en-US" altLang="zh-CN" sz="1000" baseline="-250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88173" name="矩形 102513"/>
            <p:cNvSpPr>
              <a:spLocks noChangeArrowheads="1"/>
            </p:cNvSpPr>
            <p:nvPr/>
          </p:nvSpPr>
          <p:spPr bwMode="auto">
            <a:xfrm>
              <a:off x="1633" y="89"/>
              <a:ext cx="77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000">
                  <a:latin typeface="Times New Roman" pitchFamily="18" charset="0"/>
                </a:rPr>
                <a:t>T</a:t>
              </a:r>
              <a:r>
                <a:rPr lang="en-US" altLang="zh-CN" sz="1000" baseline="-25000">
                  <a:latin typeface="Times New Roman" pitchFamily="18" charset="0"/>
                </a:rPr>
                <a:t>1</a:t>
              </a:r>
            </a:p>
            <a:p>
              <a:pPr eaLnBrk="1" hangingPunct="1"/>
              <a:r>
                <a:rPr lang="en-US" altLang="zh-CN" sz="1000">
                  <a:latin typeface="Times New Roman" pitchFamily="18" charset="0"/>
                </a:rPr>
                <a:t>T</a:t>
              </a:r>
              <a:r>
                <a:rPr lang="en-US" altLang="zh-CN" sz="1000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88174" name="矩形 102514"/>
            <p:cNvSpPr>
              <a:spLocks noChangeArrowheads="1"/>
            </p:cNvSpPr>
            <p:nvPr/>
          </p:nvSpPr>
          <p:spPr bwMode="auto">
            <a:xfrm>
              <a:off x="363" y="91"/>
              <a:ext cx="77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000">
                  <a:latin typeface="Times New Roman" pitchFamily="18" charset="0"/>
                </a:rPr>
                <a:t>T</a:t>
              </a:r>
              <a:r>
                <a:rPr lang="en-US" altLang="zh-CN" sz="1000" baseline="-25000">
                  <a:latin typeface="Times New Roman" pitchFamily="18" charset="0"/>
                </a:rPr>
                <a:t>1</a:t>
              </a:r>
            </a:p>
            <a:p>
              <a:pPr eaLnBrk="1" hangingPunct="1"/>
              <a:r>
                <a:rPr lang="en-US" altLang="zh-CN" sz="1000">
                  <a:latin typeface="Times New Roman" pitchFamily="18" charset="0"/>
                </a:rPr>
                <a:t>T</a:t>
              </a:r>
              <a:r>
                <a:rPr lang="en-US" altLang="zh-CN" sz="1000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88175" name="文本框 102515"/>
            <p:cNvSpPr txBox="1">
              <a:spLocks noChangeArrowheads="1"/>
            </p:cNvSpPr>
            <p:nvPr/>
          </p:nvSpPr>
          <p:spPr bwMode="auto">
            <a:xfrm>
              <a:off x="2450" y="316"/>
              <a:ext cx="18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/>
                <a:t>t</a:t>
              </a:r>
            </a:p>
          </p:txBody>
        </p:sp>
        <p:sp>
          <p:nvSpPr>
            <p:cNvPr id="88176" name="文本框 102516"/>
            <p:cNvSpPr txBox="1">
              <a:spLocks noChangeArrowheads="1"/>
            </p:cNvSpPr>
            <p:nvPr/>
          </p:nvSpPr>
          <p:spPr bwMode="auto">
            <a:xfrm>
              <a:off x="2450" y="860"/>
              <a:ext cx="18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/>
                <a:t>t</a:t>
              </a:r>
            </a:p>
          </p:txBody>
        </p:sp>
        <p:sp>
          <p:nvSpPr>
            <p:cNvPr id="88177" name="文本框 102517"/>
            <p:cNvSpPr txBox="1">
              <a:spLocks noChangeArrowheads="1"/>
            </p:cNvSpPr>
            <p:nvPr/>
          </p:nvSpPr>
          <p:spPr bwMode="auto">
            <a:xfrm>
              <a:off x="2450" y="1450"/>
              <a:ext cx="18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/>
                <a:t>t</a:t>
              </a:r>
            </a:p>
          </p:txBody>
        </p:sp>
        <p:sp>
          <p:nvSpPr>
            <p:cNvPr id="88178" name="文本框 102518"/>
            <p:cNvSpPr txBox="1">
              <a:spLocks noChangeArrowheads="1"/>
            </p:cNvSpPr>
            <p:nvPr/>
          </p:nvSpPr>
          <p:spPr bwMode="auto">
            <a:xfrm>
              <a:off x="2450" y="2221"/>
              <a:ext cx="18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/>
                <a:t>t</a:t>
              </a:r>
            </a:p>
          </p:txBody>
        </p:sp>
        <p:sp>
          <p:nvSpPr>
            <p:cNvPr id="88179" name="文本框 102519"/>
            <p:cNvSpPr txBox="1">
              <a:spLocks noChangeArrowheads="1"/>
            </p:cNvSpPr>
            <p:nvPr/>
          </p:nvSpPr>
          <p:spPr bwMode="auto">
            <a:xfrm>
              <a:off x="2450" y="2629"/>
              <a:ext cx="18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/>
                <a:t>t</a:t>
              </a:r>
            </a:p>
          </p:txBody>
        </p:sp>
        <p:sp>
          <p:nvSpPr>
            <p:cNvPr id="88180" name="文本框 102520"/>
            <p:cNvSpPr txBox="1">
              <a:spLocks noChangeArrowheads="1"/>
            </p:cNvSpPr>
            <p:nvPr/>
          </p:nvSpPr>
          <p:spPr bwMode="auto">
            <a:xfrm>
              <a:off x="2450" y="3038"/>
              <a:ext cx="18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/>
                <a:t>t</a:t>
              </a:r>
            </a:p>
          </p:txBody>
        </p:sp>
        <p:sp>
          <p:nvSpPr>
            <p:cNvPr id="88181" name="文本框 102521"/>
            <p:cNvSpPr txBox="1">
              <a:spLocks noChangeArrowheads="1"/>
            </p:cNvSpPr>
            <p:nvPr/>
          </p:nvSpPr>
          <p:spPr bwMode="auto">
            <a:xfrm>
              <a:off x="2450" y="3446"/>
              <a:ext cx="18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/>
                <a:t>t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ChangeArrowheads="1"/>
          </p:cNvSpPr>
          <p:nvPr/>
        </p:nvSpPr>
        <p:spPr bwMode="auto">
          <a:xfrm>
            <a:off x="1475656" y="980728"/>
            <a:ext cx="655660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 b="1" dirty="0" smtClean="0">
                <a:solidFill>
                  <a:srgbClr val="FF0000"/>
                </a:solidFill>
              </a:rPr>
              <a:t>An </a:t>
            </a:r>
            <a:r>
              <a:rPr lang="en-US" altLang="zh-CN" sz="2800" b="1" dirty="0">
                <a:solidFill>
                  <a:srgbClr val="FF0000"/>
                </a:solidFill>
              </a:rPr>
              <a:t>practical Full-Bridge dc-dc supply</a:t>
            </a:r>
          </a:p>
        </p:txBody>
      </p:sp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611188" y="6237288"/>
            <a:ext cx="5759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A50021"/>
                </a:solidFill>
              </a:rPr>
              <a:t>What is the role of capacitor C</a:t>
            </a:r>
            <a:r>
              <a:rPr lang="en-US" altLang="zh-CN" sz="2400" baseline="-25000">
                <a:solidFill>
                  <a:srgbClr val="A50021"/>
                </a:solidFill>
              </a:rPr>
              <a:t>b</a:t>
            </a:r>
            <a:r>
              <a:rPr lang="en-US" altLang="zh-CN" sz="2400">
                <a:solidFill>
                  <a:srgbClr val="A50021"/>
                </a:solidFill>
              </a:rPr>
              <a:t>?</a:t>
            </a:r>
          </a:p>
        </p:txBody>
      </p:sp>
      <p:graphicFrame>
        <p:nvGraphicFramePr>
          <p:cNvPr id="89092" name="对象 1"/>
          <p:cNvGraphicFramePr>
            <a:graphicFrameLocks noChangeAspect="1"/>
          </p:cNvGraphicFramePr>
          <p:nvPr/>
        </p:nvGraphicFramePr>
        <p:xfrm>
          <a:off x="107950" y="1700213"/>
          <a:ext cx="9036050" cy="316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6" name="Visio" r:id="rId3" imgW="9631050" imgH="2271780" progId="Visio.Drawing.11">
                  <p:embed/>
                </p:oleObj>
              </mc:Choice>
              <mc:Fallback>
                <p:oleObj name="Visio" r:id="rId3" imgW="9631050" imgH="2271780" progId="Visio.Drawing.11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1700213"/>
                        <a:ext cx="9036050" cy="316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箭头连接符 2"/>
          <p:cNvCxnSpPr/>
          <p:nvPr/>
        </p:nvCxnSpPr>
        <p:spPr>
          <a:xfrm flipH="1" flipV="1">
            <a:off x="4643438" y="3789363"/>
            <a:ext cx="73025" cy="24479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245225"/>
            <a:ext cx="2133600" cy="476250"/>
          </a:xfrm>
          <a:noFill/>
        </p:spPr>
        <p:txBody>
          <a:bodyPr/>
          <a:lstStyle/>
          <a:p>
            <a:fld id="{976D95FA-0F66-4095-BCB9-FED59BFFE9D1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auto">
          <a:xfrm>
            <a:off x="285750" y="1143000"/>
            <a:ext cx="77454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/>
              <a:t>C:\FirstCourse_PE_Book03\fbsmps.sch</a:t>
            </a:r>
          </a:p>
        </p:txBody>
      </p:sp>
      <p:pic>
        <p:nvPicPr>
          <p:cNvPr id="9011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" y="1928813"/>
            <a:ext cx="8066088" cy="477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0117" name="矩形 5"/>
          <p:cNvSpPr>
            <a:spLocks noChangeArrowheads="1"/>
          </p:cNvSpPr>
          <p:nvPr/>
        </p:nvSpPr>
        <p:spPr bwMode="auto">
          <a:xfrm>
            <a:off x="4860032" y="188640"/>
            <a:ext cx="371316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200" b="1" dirty="0" err="1">
                <a:solidFill>
                  <a:srgbClr val="FF0000"/>
                </a:solidFill>
              </a:rPr>
              <a:t>PSpice</a:t>
            </a:r>
            <a:r>
              <a:rPr lang="en-US" altLang="zh-CN" sz="3200" b="1" dirty="0">
                <a:solidFill>
                  <a:srgbClr val="FF0000"/>
                </a:solidFill>
              </a:rPr>
              <a:t> Modeling: 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5"/>
          <p:cNvSpPr>
            <a:spLocks noChangeArrowheads="1"/>
          </p:cNvSpPr>
          <p:nvPr/>
        </p:nvSpPr>
        <p:spPr bwMode="auto">
          <a:xfrm>
            <a:off x="611188" y="1125538"/>
            <a:ext cx="34194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 b="1"/>
              <a:t>Simulation Results</a:t>
            </a:r>
          </a:p>
        </p:txBody>
      </p:sp>
      <p:pic>
        <p:nvPicPr>
          <p:cNvPr id="91139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38" y="1928813"/>
            <a:ext cx="7951787" cy="433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1140" name="Text Box 5"/>
          <p:cNvSpPr txBox="1">
            <a:spLocks noChangeArrowheads="1"/>
          </p:cNvSpPr>
          <p:nvPr/>
        </p:nvSpPr>
        <p:spPr bwMode="auto">
          <a:xfrm>
            <a:off x="2627313" y="3284538"/>
            <a:ext cx="6492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A50021"/>
                </a:solidFill>
              </a:rPr>
              <a:t>v</a:t>
            </a:r>
            <a:r>
              <a:rPr lang="en-US" altLang="zh-CN" sz="2400" baseline="-25000">
                <a:solidFill>
                  <a:srgbClr val="A50021"/>
                </a:solidFill>
              </a:rPr>
              <a:t>1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ChangeArrowheads="1"/>
          </p:cNvSpPr>
          <p:nvPr/>
        </p:nvSpPr>
        <p:spPr bwMode="auto">
          <a:xfrm>
            <a:off x="539750" y="1000125"/>
            <a:ext cx="7920038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2800" b="1">
                <a:solidFill>
                  <a:srgbClr val="A50021"/>
                </a:solidFill>
              </a:rPr>
              <a:t>Comparison of the full-bridge converter (FB) with the half-bridge converter (HB) </a:t>
            </a:r>
            <a:r>
              <a:rPr kumimoji="1" lang="zh-CN" altLang="en-US" sz="2800" b="1">
                <a:solidFill>
                  <a:schemeClr val="tx2"/>
                </a:solidFill>
              </a:rPr>
              <a:t>☆</a:t>
            </a:r>
            <a:endParaRPr kumimoji="1" lang="en-US" altLang="zh-CN" sz="2800" b="1">
              <a:solidFill>
                <a:schemeClr val="tx2"/>
              </a:solidFill>
            </a:endParaRPr>
          </a:p>
        </p:txBody>
      </p:sp>
      <p:sp>
        <p:nvSpPr>
          <p:cNvPr id="92164" name="Text Box 5"/>
          <p:cNvSpPr txBox="1">
            <a:spLocks noChangeArrowheads="1"/>
          </p:cNvSpPr>
          <p:nvPr/>
        </p:nvSpPr>
        <p:spPr bwMode="auto">
          <a:xfrm>
            <a:off x="719137" y="1997072"/>
            <a:ext cx="7561263" cy="970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 sz="2400" dirty="0"/>
              <a:t>For identical input and output voltages and power ratings requires: </a:t>
            </a:r>
          </a:p>
        </p:txBody>
      </p:sp>
      <p:graphicFrame>
        <p:nvGraphicFramePr>
          <p:cNvPr id="9216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8431323"/>
              </p:ext>
            </p:extLst>
          </p:nvPr>
        </p:nvGraphicFramePr>
        <p:xfrm>
          <a:off x="2609056" y="3086400"/>
          <a:ext cx="4143375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38" name="公式" r:id="rId3" imgW="2095500" imgH="482600" progId="">
                  <p:embed/>
                </p:oleObj>
              </mc:Choice>
              <mc:Fallback>
                <p:oleObj name="公式" r:id="rId3" imgW="2095500" imgH="4826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9056" y="3086400"/>
                        <a:ext cx="4143375" cy="955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525597"/>
              </p:ext>
            </p:extLst>
          </p:nvPr>
        </p:nvGraphicFramePr>
        <p:xfrm>
          <a:off x="2627313" y="4911427"/>
          <a:ext cx="35290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39" name="公式" r:id="rId5" imgW="1879600" imgH="215900" progId="">
                  <p:embed/>
                </p:oleObj>
              </mc:Choice>
              <mc:Fallback>
                <p:oleObj name="公式" r:id="rId5" imgW="1879600" imgH="21590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4911427"/>
                        <a:ext cx="3529012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7" name="Text Box 8"/>
          <p:cNvSpPr txBox="1">
            <a:spLocks noChangeArrowheads="1"/>
          </p:cNvSpPr>
          <p:nvPr/>
        </p:nvSpPr>
        <p:spPr bwMode="auto">
          <a:xfrm>
            <a:off x="827584" y="4335165"/>
            <a:ext cx="75612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/>
              <a:t>The switch currents I</a:t>
            </a:r>
            <a:r>
              <a:rPr lang="en-US" altLang="zh-CN" sz="2400" baseline="-25000" dirty="0"/>
              <a:t>T</a:t>
            </a:r>
            <a:r>
              <a:rPr lang="en-US" altLang="zh-CN" sz="2400" dirty="0"/>
              <a:t> are:</a:t>
            </a:r>
          </a:p>
        </p:txBody>
      </p:sp>
      <p:sp>
        <p:nvSpPr>
          <p:cNvPr id="92168" name="Text Box 9"/>
          <p:cNvSpPr txBox="1">
            <a:spLocks noChangeArrowheads="1"/>
          </p:cNvSpPr>
          <p:nvPr/>
        </p:nvSpPr>
        <p:spPr bwMode="auto">
          <a:xfrm>
            <a:off x="900113" y="5460699"/>
            <a:ext cx="7561263" cy="970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A50021"/>
                </a:solidFill>
              </a:rPr>
              <a:t>In large power ratings, it may be advantageous to use a full-bridge converter over a half-bridge converter.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245225"/>
            <a:ext cx="2133600" cy="476250"/>
          </a:xfrm>
          <a:noFill/>
        </p:spPr>
        <p:txBody>
          <a:bodyPr/>
          <a:lstStyle/>
          <a:p>
            <a:fld id="{467D46D2-72A3-44B7-8F25-BB1A5156A34B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103427" name="Text Box 7"/>
          <p:cNvSpPr txBox="1">
            <a:spLocks noChangeArrowheads="1"/>
          </p:cNvSpPr>
          <p:nvPr/>
        </p:nvSpPr>
        <p:spPr bwMode="auto">
          <a:xfrm>
            <a:off x="468313" y="1052736"/>
            <a:ext cx="8280400" cy="5586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25000"/>
              </a:lnSpc>
              <a:buFont typeface="Wingdings" pitchFamily="2" charset="2"/>
              <a:buAutoNum type="arabicPeriod"/>
            </a:pPr>
            <a:r>
              <a:rPr lang="en-US" altLang="zh-CN" sz="2400" dirty="0"/>
              <a:t>What are the normal specifications of power supplies?</a:t>
            </a:r>
          </a:p>
          <a:p>
            <a:pPr marL="342900" indent="-342900" eaLnBrk="1" hangingPunct="1">
              <a:lnSpc>
                <a:spcPct val="125000"/>
              </a:lnSpc>
              <a:buFont typeface="Wingdings" pitchFamily="2" charset="2"/>
              <a:buAutoNum type="arabicPeriod"/>
            </a:pPr>
            <a:r>
              <a:rPr lang="en-US" altLang="zh-CN" sz="2400" dirty="0"/>
              <a:t>What are the advantages and disadvantages of switch-mode power supplies?</a:t>
            </a:r>
          </a:p>
          <a:p>
            <a:pPr marL="342900" indent="-342900" eaLnBrk="1" hangingPunct="1">
              <a:lnSpc>
                <a:spcPct val="125000"/>
              </a:lnSpc>
              <a:buFont typeface="Wingdings" pitchFamily="2" charset="2"/>
              <a:buAutoNum type="arabicPeriod"/>
            </a:pPr>
            <a:r>
              <a:rPr lang="en-US" altLang="zh-CN" sz="2400" dirty="0"/>
              <a:t>What are the advantages and disadvantages of </a:t>
            </a:r>
            <a:r>
              <a:rPr lang="en-US" altLang="zh-CN" sz="2400" dirty="0" err="1"/>
              <a:t>flyback</a:t>
            </a:r>
            <a:r>
              <a:rPr lang="en-US" altLang="zh-CN" sz="2400" dirty="0"/>
              <a:t> converters?</a:t>
            </a:r>
          </a:p>
          <a:p>
            <a:pPr marL="342900" indent="-342900" eaLnBrk="1" hangingPunct="1">
              <a:lnSpc>
                <a:spcPct val="125000"/>
              </a:lnSpc>
              <a:buFont typeface="Wingdings" pitchFamily="2" charset="2"/>
              <a:buAutoNum type="arabicPeriod"/>
            </a:pPr>
            <a:r>
              <a:rPr lang="en-US" altLang="zh-CN" sz="2400" dirty="0"/>
              <a:t>What are the advantages and disadvantages of full-bridge converters?</a:t>
            </a:r>
          </a:p>
          <a:p>
            <a:pPr marL="342900" indent="-342900" eaLnBrk="1" hangingPunct="1">
              <a:lnSpc>
                <a:spcPct val="125000"/>
              </a:lnSpc>
              <a:buFont typeface="Wingdings" pitchFamily="2" charset="2"/>
              <a:buAutoNum type="arabicPeriod"/>
            </a:pPr>
            <a:r>
              <a:rPr lang="en-US" altLang="zh-CN" sz="2400" dirty="0"/>
              <a:t>What are the advantages and disadvantages of half-bridge converters?</a:t>
            </a:r>
          </a:p>
          <a:p>
            <a:pPr marL="342900" indent="-342900" eaLnBrk="1" hangingPunct="1">
              <a:lnSpc>
                <a:spcPct val="125000"/>
              </a:lnSpc>
              <a:buFont typeface="Wingdings" pitchFamily="2" charset="2"/>
              <a:buAutoNum type="arabicPeriod"/>
            </a:pPr>
            <a:r>
              <a:rPr lang="en-US" altLang="zh-CN" sz="2400" dirty="0"/>
              <a:t>What are the problems of the transformer core?</a:t>
            </a:r>
          </a:p>
          <a:p>
            <a:pPr marL="342900" indent="-342900" eaLnBrk="1" hangingPunct="1">
              <a:lnSpc>
                <a:spcPct val="125000"/>
              </a:lnSpc>
              <a:buFont typeface="Wingdings" pitchFamily="2" charset="2"/>
              <a:buAutoNum type="arabicPeriod"/>
            </a:pPr>
            <a:r>
              <a:rPr lang="en-US" altLang="zh-CN" sz="2400" dirty="0"/>
              <a:t>Why is the design of a dc inductor different from that of an ac inductor?</a:t>
            </a:r>
            <a:endParaRPr lang="el-GR" altLang="zh-CN" sz="2400" dirty="0"/>
          </a:p>
        </p:txBody>
      </p:sp>
      <p:sp>
        <p:nvSpPr>
          <p:cNvPr id="103428" name="Rectangle 7"/>
          <p:cNvSpPr>
            <a:spLocks noChangeArrowheads="1"/>
          </p:cNvSpPr>
          <p:nvPr/>
        </p:nvSpPr>
        <p:spPr bwMode="auto">
          <a:xfrm>
            <a:off x="4500563" y="260350"/>
            <a:ext cx="3251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 b="1">
                <a:solidFill>
                  <a:srgbClr val="A50021"/>
                </a:solidFill>
              </a:rPr>
              <a:t>Review Questions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5E82A90-76CB-4CFB-BE49-8A56B6B34100}" type="slidenum">
              <a:rPr lang="en-US" altLang="zh-CN" smtClean="0"/>
              <a:pPr/>
              <a:t>30</a:t>
            </a:fld>
            <a:endParaRPr lang="en-US" altLang="zh-CN" smtClean="0"/>
          </a:p>
        </p:txBody>
      </p:sp>
      <p:sp>
        <p:nvSpPr>
          <p:cNvPr id="43011" name="Text Box 2"/>
          <p:cNvSpPr txBox="1">
            <a:spLocks noChangeArrowheads="1"/>
          </p:cNvSpPr>
          <p:nvPr/>
        </p:nvSpPr>
        <p:spPr bwMode="auto">
          <a:xfrm>
            <a:off x="468313" y="908050"/>
            <a:ext cx="82804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A50021"/>
                </a:solidFill>
              </a:rPr>
              <a:t>10-1</a:t>
            </a:r>
            <a:r>
              <a:rPr lang="en-US" altLang="zh-CN" sz="2400" dirty="0"/>
              <a:t> A 12-V regulated linear power supply of the type shown in Fig. 10-1a designed to operate with a 60-Hz ac voltage in range of 120V (+10%~-25%). At the maximum load, the peak-to-peak ripple in the capacitor voltage is 1.0V. The power supply is designed such that 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d,min</a:t>
            </a:r>
            <a:r>
              <a:rPr lang="en-US" altLang="zh-CN" sz="2400" dirty="0"/>
              <a:t>-V</a:t>
            </a:r>
            <a:r>
              <a:rPr lang="en-US" altLang="zh-CN" sz="2400" baseline="-25000" dirty="0"/>
              <a:t>o</a:t>
            </a:r>
            <a:r>
              <a:rPr lang="en-US" altLang="zh-CN" sz="2400" dirty="0"/>
              <a:t>=0.5V in Fig.10-1b.</a:t>
            </a:r>
            <a:endParaRPr lang="el-GR" altLang="zh-CN" sz="2400" dirty="0"/>
          </a:p>
        </p:txBody>
      </p:sp>
      <p:pic>
        <p:nvPicPr>
          <p:cNvPr id="43012" name="Picture 3" descr="~AUT030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7538" y="2862263"/>
            <a:ext cx="4716462" cy="3995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3" name="Text Box 4"/>
          <p:cNvSpPr txBox="1">
            <a:spLocks noChangeArrowheads="1"/>
          </p:cNvSpPr>
          <p:nvPr/>
        </p:nvSpPr>
        <p:spPr bwMode="auto">
          <a:xfrm>
            <a:off x="468313" y="3213100"/>
            <a:ext cx="381635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buFont typeface="Wingdings" pitchFamily="2" charset="2"/>
              <a:buNone/>
            </a:pPr>
            <a:r>
              <a:rPr lang="en-US" altLang="zh-CN" sz="2400" dirty="0"/>
              <a:t>Calculate the loss of efficiency due to power losses in the transistor at full load, with the input voltage at its maximum. (Hint: Approximate the capacitor voltage waveform with straight-line segments.)</a:t>
            </a:r>
            <a:endParaRPr lang="el-GR" altLang="zh-CN" sz="2400" dirty="0"/>
          </a:p>
        </p:txBody>
      </p:sp>
      <p:sp>
        <p:nvSpPr>
          <p:cNvPr id="43014" name="Rectangle 7"/>
          <p:cNvSpPr>
            <a:spLocks noChangeArrowheads="1"/>
          </p:cNvSpPr>
          <p:nvPr/>
        </p:nvSpPr>
        <p:spPr bwMode="auto">
          <a:xfrm>
            <a:off x="4787900" y="188913"/>
            <a:ext cx="16065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A50021"/>
                </a:solidFill>
              </a:rPr>
              <a:t>Problem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DD26C22-B4E4-429A-B668-4347C4A964C1}" type="slidenum">
              <a:rPr lang="en-US" altLang="zh-CN" smtClean="0"/>
              <a:pPr/>
              <a:t>31</a:t>
            </a:fld>
            <a:endParaRPr lang="en-US" altLang="zh-CN" smtClean="0"/>
          </a:p>
        </p:txBody>
      </p:sp>
      <p:sp>
        <p:nvSpPr>
          <p:cNvPr id="44035" name="Text Box 2"/>
          <p:cNvSpPr txBox="1">
            <a:spLocks noChangeArrowheads="1"/>
          </p:cNvSpPr>
          <p:nvPr/>
        </p:nvSpPr>
        <p:spPr bwMode="auto">
          <a:xfrm>
            <a:off x="468313" y="981075"/>
            <a:ext cx="82804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A50021"/>
                </a:solidFill>
              </a:rPr>
              <a:t>10-2</a:t>
            </a:r>
            <a:r>
              <a:rPr lang="en-US" altLang="zh-CN" sz="2400" dirty="0"/>
              <a:t> A </a:t>
            </a:r>
            <a:r>
              <a:rPr lang="en-US" altLang="zh-CN" sz="2400" dirty="0" err="1"/>
              <a:t>flyback</a:t>
            </a:r>
            <a:r>
              <a:rPr lang="en-US" altLang="zh-CN" sz="2400" dirty="0"/>
              <a:t> converter is operating in a complete demagnetization mode. Derive the voltage transfer ratio V</a:t>
            </a:r>
            <a:r>
              <a:rPr lang="en-US" altLang="zh-CN" sz="2400" baseline="-25000" dirty="0"/>
              <a:t>o</a:t>
            </a:r>
            <a:r>
              <a:rPr lang="en-US" altLang="zh-CN" sz="2400" dirty="0"/>
              <a:t>/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d</a:t>
            </a:r>
            <a:r>
              <a:rPr lang="en-US" altLang="zh-CN" sz="2400" dirty="0"/>
              <a:t> in terms of the load resistance R, switching frequency f</a:t>
            </a:r>
            <a:r>
              <a:rPr lang="en-US" altLang="zh-CN" sz="2400" baseline="-25000" dirty="0"/>
              <a:t>s</a:t>
            </a:r>
            <a:r>
              <a:rPr lang="en-US" altLang="zh-CN" sz="2400" dirty="0"/>
              <a:t>, transformer inductance L</a:t>
            </a:r>
            <a:r>
              <a:rPr lang="en-US" altLang="zh-CN" sz="2400" baseline="-25000" dirty="0"/>
              <a:t>m</a:t>
            </a:r>
            <a:r>
              <a:rPr lang="en-US" altLang="zh-CN" sz="2400" dirty="0"/>
              <a:t>, and duty ratio D.</a:t>
            </a:r>
            <a:endParaRPr lang="el-GR" altLang="zh-CN" sz="2400" dirty="0"/>
          </a:p>
        </p:txBody>
      </p:sp>
      <p:sp>
        <p:nvSpPr>
          <p:cNvPr id="44036" name="Rectangle 7"/>
          <p:cNvSpPr>
            <a:spLocks noChangeArrowheads="1"/>
          </p:cNvSpPr>
          <p:nvPr/>
        </p:nvSpPr>
        <p:spPr bwMode="auto">
          <a:xfrm>
            <a:off x="4787900" y="188913"/>
            <a:ext cx="16065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A50021"/>
                </a:solidFill>
              </a:rPr>
              <a:t>Problem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468064" y="2924944"/>
            <a:ext cx="82804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rgbClr val="A50021"/>
                </a:solidFill>
              </a:rPr>
              <a:t>10-3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A forward converter with demagnetizing winding is desired to operate wit a maximum duty ratio </a:t>
            </a:r>
            <a:r>
              <a:rPr lang="en-US" altLang="zh-CN" sz="2400" dirty="0" err="1"/>
              <a:t>D</a:t>
            </a:r>
            <a:r>
              <a:rPr lang="en-US" altLang="zh-CN" sz="2400" baseline="-25000" dirty="0" err="1"/>
              <a:t>max</a:t>
            </a:r>
            <a:r>
              <a:rPr lang="en-US" altLang="zh-CN" sz="2400" dirty="0"/>
              <a:t> of 0.7. calculate the voltage rating of the switching in terms of the input voltage 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d</a:t>
            </a:r>
            <a:r>
              <a:rPr lang="en-US" altLang="zh-CN" sz="2400" dirty="0"/>
              <a:t>.</a:t>
            </a:r>
            <a:endParaRPr lang="el-GR" altLang="zh-CN" sz="2400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F83123A-41AB-4BFE-B42F-1236BE706051}" type="slidenum">
              <a:rPr lang="en-US" altLang="zh-CN" smtClean="0"/>
              <a:pPr/>
              <a:t>32</a:t>
            </a:fld>
            <a:endParaRPr lang="en-US" altLang="zh-CN" smtClean="0"/>
          </a:p>
        </p:txBody>
      </p:sp>
      <p:sp>
        <p:nvSpPr>
          <p:cNvPr id="45059" name="Text Box 2"/>
          <p:cNvSpPr txBox="1">
            <a:spLocks noChangeArrowheads="1"/>
          </p:cNvSpPr>
          <p:nvPr/>
        </p:nvSpPr>
        <p:spPr bwMode="auto">
          <a:xfrm>
            <a:off x="468313" y="981075"/>
            <a:ext cx="82804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A50021"/>
                </a:solidFill>
              </a:rPr>
              <a:t>10-4</a:t>
            </a:r>
            <a:r>
              <a:rPr lang="en-US" altLang="zh-CN" sz="2400" dirty="0"/>
              <a:t> A </a:t>
            </a:r>
            <a:r>
              <a:rPr lang="en-US" altLang="zh-CN" sz="2400" dirty="0" err="1"/>
              <a:t>flyback</a:t>
            </a:r>
            <a:r>
              <a:rPr lang="en-US" altLang="zh-CN" sz="2400" dirty="0"/>
              <a:t> converter is operating in an incomplete demagnetization mode with a duty ratio of 0.4. in the same application, another option may be to parallel two half-size </a:t>
            </a:r>
            <a:r>
              <a:rPr lang="en-US" altLang="zh-CN" sz="2400" dirty="0" err="1"/>
              <a:t>flyback</a:t>
            </a:r>
            <a:r>
              <a:rPr lang="en-US" altLang="zh-CN" sz="2400" dirty="0"/>
              <a:t> converters as shown in Fig. 10-9b. Compare the ripple in the input current i</a:t>
            </a:r>
            <a:r>
              <a:rPr lang="en-US" altLang="zh-CN" sz="2400" baseline="-25000" dirty="0"/>
              <a:t>d</a:t>
            </a:r>
            <a:r>
              <a:rPr lang="en-US" altLang="zh-CN" sz="2400" dirty="0"/>
              <a:t> and the output stage current </a:t>
            </a:r>
            <a:r>
              <a:rPr lang="en-US" altLang="zh-CN" sz="2400" dirty="0" err="1"/>
              <a:t>i</a:t>
            </a:r>
            <a:r>
              <a:rPr lang="en-US" altLang="zh-CN" sz="2400" baseline="-25000" dirty="0" err="1"/>
              <a:t>o</a:t>
            </a:r>
            <a:r>
              <a:rPr lang="en-US" altLang="zh-CN" sz="2400" dirty="0"/>
              <a:t> waveforms in these two options, assuming a very large output capacitor such that 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o</a:t>
            </a:r>
            <a:r>
              <a:rPr lang="en-US" altLang="zh-CN" sz="2400" dirty="0"/>
              <a:t>(t)</a:t>
            </a:r>
            <a:r>
              <a:rPr lang="en-US" altLang="zh-CN" sz="2400" dirty="0">
                <a:cs typeface="Arial" charset="0"/>
              </a:rPr>
              <a:t>≈V</a:t>
            </a:r>
            <a:r>
              <a:rPr lang="en-US" altLang="zh-CN" sz="2400" baseline="-25000" dirty="0">
                <a:cs typeface="Arial" charset="0"/>
              </a:rPr>
              <a:t>o</a:t>
            </a:r>
            <a:r>
              <a:rPr lang="en-US" altLang="zh-CN" sz="2400" dirty="0">
                <a:cs typeface="Arial" charset="0"/>
              </a:rPr>
              <a:t>.</a:t>
            </a:r>
          </a:p>
        </p:txBody>
      </p:sp>
      <p:pic>
        <p:nvPicPr>
          <p:cNvPr id="45060" name="Picture 3" descr="~AUT031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4663" y="3709988"/>
            <a:ext cx="4859337" cy="3148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061" name="Rectangle 7"/>
          <p:cNvSpPr>
            <a:spLocks noChangeArrowheads="1"/>
          </p:cNvSpPr>
          <p:nvPr/>
        </p:nvSpPr>
        <p:spPr bwMode="auto">
          <a:xfrm>
            <a:off x="4787900" y="188913"/>
            <a:ext cx="16065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A50021"/>
                </a:solidFill>
              </a:rPr>
              <a:t>Problem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A11BCA0-B163-4792-BB0C-90042E38AC89}" type="slidenum">
              <a:rPr lang="en-US" altLang="zh-CN" smtClean="0"/>
              <a:pPr/>
              <a:t>33</a:t>
            </a:fld>
            <a:endParaRPr lang="en-US" altLang="zh-CN" smtClean="0"/>
          </a:p>
        </p:txBody>
      </p:sp>
      <p:sp>
        <p:nvSpPr>
          <p:cNvPr id="46083" name="Text Box 2"/>
          <p:cNvSpPr txBox="1">
            <a:spLocks noChangeArrowheads="1"/>
          </p:cNvSpPr>
          <p:nvPr/>
        </p:nvSpPr>
        <p:spPr bwMode="auto">
          <a:xfrm>
            <a:off x="395288" y="1052513"/>
            <a:ext cx="82804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A50021"/>
                </a:solidFill>
              </a:rPr>
              <a:t>10-5</a:t>
            </a:r>
            <a:r>
              <a:rPr lang="en-US" altLang="zh-CN" sz="2400" dirty="0"/>
              <a:t> A switch-mode power supply is to be designed with the following specifications: 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d</a:t>
            </a:r>
            <a:r>
              <a:rPr lang="en-US" altLang="zh-CN" sz="2400" dirty="0"/>
              <a:t> =48V</a:t>
            </a:r>
            <a:r>
              <a:rPr lang="en-US" altLang="zh-CN" sz="2400" dirty="0">
                <a:cs typeface="Arial" charset="0"/>
              </a:rPr>
              <a:t>±10%, 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o</a:t>
            </a:r>
            <a:r>
              <a:rPr lang="en-US" altLang="zh-CN" sz="2400" dirty="0"/>
              <a:t>=5V, f</a:t>
            </a:r>
            <a:r>
              <a:rPr lang="en-US" altLang="zh-CN" sz="2400" baseline="-25000" dirty="0"/>
              <a:t>s</a:t>
            </a:r>
            <a:r>
              <a:rPr lang="en-US" altLang="zh-CN" sz="2400" dirty="0"/>
              <a:t>=100kHz, </a:t>
            </a:r>
            <a:r>
              <a:rPr lang="en-US" altLang="zh-CN" sz="2400" dirty="0" err="1"/>
              <a:t>P</a:t>
            </a:r>
            <a:r>
              <a:rPr lang="en-US" altLang="zh-CN" sz="2400" baseline="-25000" dirty="0" err="1"/>
              <a:t>load</a:t>
            </a:r>
            <a:r>
              <a:rPr lang="en-US" altLang="zh-CN" sz="2400" dirty="0"/>
              <a:t> is 15~50W. A forward converter operating in a </a:t>
            </a:r>
            <a:r>
              <a:rPr lang="en-US" altLang="zh-CN" sz="2400" dirty="0">
                <a:solidFill>
                  <a:srgbClr val="A50021"/>
                </a:solidFill>
              </a:rPr>
              <a:t>continuous-conduction</a:t>
            </a:r>
            <a:r>
              <a:rPr lang="en-US" altLang="zh-CN" sz="2400" dirty="0"/>
              <a:t> mode with a demagnetizing winding (N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=N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 is chosen. Assume all components to be ideal except the presence of transformer magnetization inductance. 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714875" y="3429000"/>
            <a:ext cx="4054475" cy="2846388"/>
            <a:chOff x="2880" y="1706"/>
            <a:chExt cx="2554" cy="1793"/>
          </a:xfrm>
        </p:grpSpPr>
        <p:sp>
          <p:nvSpPr>
            <p:cNvPr id="46087" name="Rectangle 4"/>
            <p:cNvSpPr>
              <a:spLocks noChangeArrowheads="1"/>
            </p:cNvSpPr>
            <p:nvPr/>
          </p:nvSpPr>
          <p:spPr bwMode="auto">
            <a:xfrm>
              <a:off x="2880" y="2114"/>
              <a:ext cx="150" cy="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endParaRPr lang="en-US" altLang="zh-CN" sz="20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</a:p>
            <a:p>
              <a:endParaRPr lang="en-US" altLang="zh-CN" sz="20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2000"/>
            </a:p>
          </p:txBody>
        </p:sp>
        <p:sp>
          <p:nvSpPr>
            <p:cNvPr id="46088" name="Rectangle 5"/>
            <p:cNvSpPr>
              <a:spLocks noChangeArrowheads="1"/>
            </p:cNvSpPr>
            <p:nvPr/>
          </p:nvSpPr>
          <p:spPr bwMode="auto">
            <a:xfrm>
              <a:off x="5284" y="2024"/>
              <a:ext cx="150" cy="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2000"/>
            </a:p>
          </p:txBody>
        </p:sp>
        <p:sp>
          <p:nvSpPr>
            <p:cNvPr id="46089" name="Rectangle 6"/>
            <p:cNvSpPr>
              <a:spLocks noChangeArrowheads="1"/>
            </p:cNvSpPr>
            <p:nvPr/>
          </p:nvSpPr>
          <p:spPr bwMode="auto">
            <a:xfrm>
              <a:off x="3969" y="1752"/>
              <a:ext cx="15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46090" name="Rectangle 7"/>
            <p:cNvSpPr>
              <a:spLocks noChangeArrowheads="1"/>
            </p:cNvSpPr>
            <p:nvPr/>
          </p:nvSpPr>
          <p:spPr bwMode="auto">
            <a:xfrm>
              <a:off x="4423" y="1752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solidFill>
                    <a:srgbClr val="000000"/>
                  </a:solidFill>
                  <a:latin typeface="宋体" pitchFamily="2" charset="-122"/>
                </a:rPr>
                <a:t>L</a:t>
              </a:r>
              <a:endParaRPr lang="en-US" altLang="zh-CN"/>
            </a:p>
          </p:txBody>
        </p:sp>
        <p:sp>
          <p:nvSpPr>
            <p:cNvPr id="46091" name="Rectangle 8"/>
            <p:cNvSpPr>
              <a:spLocks noChangeArrowheads="1"/>
            </p:cNvSpPr>
            <p:nvPr/>
          </p:nvSpPr>
          <p:spPr bwMode="auto">
            <a:xfrm>
              <a:off x="4604" y="1706"/>
              <a:ext cx="10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</a:p>
          </p:txBody>
        </p:sp>
        <p:sp>
          <p:nvSpPr>
            <p:cNvPr id="46092" name="Rectangle 9"/>
            <p:cNvSpPr>
              <a:spLocks noChangeArrowheads="1"/>
            </p:cNvSpPr>
            <p:nvPr/>
          </p:nvSpPr>
          <p:spPr bwMode="auto">
            <a:xfrm>
              <a:off x="4377" y="2024"/>
              <a:ext cx="37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+ 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 -</a:t>
              </a:r>
              <a:endParaRPr lang="en-US" altLang="zh-CN" sz="2000"/>
            </a:p>
          </p:txBody>
        </p:sp>
        <p:sp>
          <p:nvSpPr>
            <p:cNvPr id="46093" name="Rectangle 10"/>
            <p:cNvSpPr>
              <a:spLocks noChangeArrowheads="1"/>
            </p:cNvSpPr>
            <p:nvPr/>
          </p:nvSpPr>
          <p:spPr bwMode="auto">
            <a:xfrm>
              <a:off x="4377" y="2205"/>
              <a:ext cx="15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6094" name="Line 11"/>
            <p:cNvSpPr>
              <a:spLocks noChangeShapeType="1"/>
            </p:cNvSpPr>
            <p:nvPr/>
          </p:nvSpPr>
          <p:spPr bwMode="auto">
            <a:xfrm>
              <a:off x="4559" y="1933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5" name="Freeform 12"/>
            <p:cNvSpPr>
              <a:spLocks/>
            </p:cNvSpPr>
            <p:nvPr/>
          </p:nvSpPr>
          <p:spPr bwMode="auto">
            <a:xfrm>
              <a:off x="3546" y="2151"/>
              <a:ext cx="57" cy="347"/>
            </a:xfrm>
            <a:custGeom>
              <a:avLst/>
              <a:gdLst>
                <a:gd name="T0" fmla="*/ 0 w 57"/>
                <a:gd name="T1" fmla="*/ 1 h 347"/>
                <a:gd name="T2" fmla="*/ 56 w 57"/>
                <a:gd name="T3" fmla="*/ 42 h 347"/>
                <a:gd name="T4" fmla="*/ 5 w 57"/>
                <a:gd name="T5" fmla="*/ 87 h 347"/>
                <a:gd name="T6" fmla="*/ 0 w 57"/>
                <a:gd name="T7" fmla="*/ 87 h 347"/>
                <a:gd name="T8" fmla="*/ 56 w 57"/>
                <a:gd name="T9" fmla="*/ 129 h 347"/>
                <a:gd name="T10" fmla="*/ 5 w 57"/>
                <a:gd name="T11" fmla="*/ 174 h 347"/>
                <a:gd name="T12" fmla="*/ 0 w 57"/>
                <a:gd name="T13" fmla="*/ 174 h 347"/>
                <a:gd name="T14" fmla="*/ 56 w 57"/>
                <a:gd name="T15" fmla="*/ 215 h 347"/>
                <a:gd name="T16" fmla="*/ 5 w 57"/>
                <a:gd name="T17" fmla="*/ 260 h 347"/>
                <a:gd name="T18" fmla="*/ 0 w 57"/>
                <a:gd name="T19" fmla="*/ 260 h 347"/>
                <a:gd name="T20" fmla="*/ 56 w 57"/>
                <a:gd name="T21" fmla="*/ 302 h 347"/>
                <a:gd name="T22" fmla="*/ 5 w 57"/>
                <a:gd name="T23" fmla="*/ 347 h 347"/>
                <a:gd name="T24" fmla="*/ 0 w 57"/>
                <a:gd name="T25" fmla="*/ 347 h 34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7"/>
                <a:gd name="T40" fmla="*/ 0 h 347"/>
                <a:gd name="T41" fmla="*/ 57 w 57"/>
                <a:gd name="T42" fmla="*/ 347 h 34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7" h="347">
                  <a:moveTo>
                    <a:pt x="0" y="1"/>
                  </a:moveTo>
                  <a:cubicBezTo>
                    <a:pt x="30" y="0"/>
                    <a:pt x="55" y="18"/>
                    <a:pt x="56" y="42"/>
                  </a:cubicBezTo>
                  <a:cubicBezTo>
                    <a:pt x="57" y="66"/>
                    <a:pt x="34" y="86"/>
                    <a:pt x="5" y="87"/>
                  </a:cubicBezTo>
                  <a:cubicBezTo>
                    <a:pt x="3" y="87"/>
                    <a:pt x="1" y="87"/>
                    <a:pt x="0" y="87"/>
                  </a:cubicBezTo>
                  <a:cubicBezTo>
                    <a:pt x="30" y="86"/>
                    <a:pt x="55" y="105"/>
                    <a:pt x="56" y="129"/>
                  </a:cubicBezTo>
                  <a:cubicBezTo>
                    <a:pt x="57" y="153"/>
                    <a:pt x="34" y="173"/>
                    <a:pt x="5" y="174"/>
                  </a:cubicBezTo>
                  <a:cubicBezTo>
                    <a:pt x="3" y="174"/>
                    <a:pt x="1" y="174"/>
                    <a:pt x="0" y="174"/>
                  </a:cubicBezTo>
                  <a:cubicBezTo>
                    <a:pt x="30" y="173"/>
                    <a:pt x="55" y="192"/>
                    <a:pt x="56" y="215"/>
                  </a:cubicBezTo>
                  <a:cubicBezTo>
                    <a:pt x="57" y="239"/>
                    <a:pt x="34" y="259"/>
                    <a:pt x="5" y="260"/>
                  </a:cubicBezTo>
                  <a:cubicBezTo>
                    <a:pt x="3" y="260"/>
                    <a:pt x="1" y="260"/>
                    <a:pt x="0" y="260"/>
                  </a:cubicBezTo>
                  <a:cubicBezTo>
                    <a:pt x="30" y="259"/>
                    <a:pt x="55" y="278"/>
                    <a:pt x="56" y="302"/>
                  </a:cubicBezTo>
                  <a:cubicBezTo>
                    <a:pt x="57" y="326"/>
                    <a:pt x="34" y="346"/>
                    <a:pt x="5" y="347"/>
                  </a:cubicBezTo>
                  <a:cubicBezTo>
                    <a:pt x="3" y="347"/>
                    <a:pt x="1" y="347"/>
                    <a:pt x="0" y="347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6" name="Freeform 13"/>
            <p:cNvSpPr>
              <a:spLocks/>
            </p:cNvSpPr>
            <p:nvPr/>
          </p:nvSpPr>
          <p:spPr bwMode="auto">
            <a:xfrm>
              <a:off x="3704" y="2151"/>
              <a:ext cx="56" cy="347"/>
            </a:xfrm>
            <a:custGeom>
              <a:avLst/>
              <a:gdLst>
                <a:gd name="T0" fmla="*/ 56 w 56"/>
                <a:gd name="T1" fmla="*/ 1 h 347"/>
                <a:gd name="T2" fmla="*/ 0 w 56"/>
                <a:gd name="T3" fmla="*/ 42 h 347"/>
                <a:gd name="T4" fmla="*/ 52 w 56"/>
                <a:gd name="T5" fmla="*/ 87 h 347"/>
                <a:gd name="T6" fmla="*/ 56 w 56"/>
                <a:gd name="T7" fmla="*/ 87 h 347"/>
                <a:gd name="T8" fmla="*/ 0 w 56"/>
                <a:gd name="T9" fmla="*/ 129 h 347"/>
                <a:gd name="T10" fmla="*/ 52 w 56"/>
                <a:gd name="T11" fmla="*/ 174 h 347"/>
                <a:gd name="T12" fmla="*/ 56 w 56"/>
                <a:gd name="T13" fmla="*/ 174 h 347"/>
                <a:gd name="T14" fmla="*/ 0 w 56"/>
                <a:gd name="T15" fmla="*/ 215 h 347"/>
                <a:gd name="T16" fmla="*/ 52 w 56"/>
                <a:gd name="T17" fmla="*/ 260 h 347"/>
                <a:gd name="T18" fmla="*/ 56 w 56"/>
                <a:gd name="T19" fmla="*/ 260 h 347"/>
                <a:gd name="T20" fmla="*/ 0 w 56"/>
                <a:gd name="T21" fmla="*/ 302 h 347"/>
                <a:gd name="T22" fmla="*/ 52 w 56"/>
                <a:gd name="T23" fmla="*/ 347 h 347"/>
                <a:gd name="T24" fmla="*/ 56 w 56"/>
                <a:gd name="T25" fmla="*/ 347 h 34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6"/>
                <a:gd name="T40" fmla="*/ 0 h 347"/>
                <a:gd name="T41" fmla="*/ 56 w 56"/>
                <a:gd name="T42" fmla="*/ 347 h 34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6" h="347">
                  <a:moveTo>
                    <a:pt x="56" y="1"/>
                  </a:moveTo>
                  <a:cubicBezTo>
                    <a:pt x="27" y="0"/>
                    <a:pt x="2" y="18"/>
                    <a:pt x="0" y="42"/>
                  </a:cubicBezTo>
                  <a:cubicBezTo>
                    <a:pt x="0" y="66"/>
                    <a:pt x="23" y="86"/>
                    <a:pt x="52" y="87"/>
                  </a:cubicBezTo>
                  <a:cubicBezTo>
                    <a:pt x="54" y="87"/>
                    <a:pt x="55" y="87"/>
                    <a:pt x="56" y="87"/>
                  </a:cubicBezTo>
                  <a:cubicBezTo>
                    <a:pt x="27" y="86"/>
                    <a:pt x="2" y="105"/>
                    <a:pt x="0" y="129"/>
                  </a:cubicBezTo>
                  <a:cubicBezTo>
                    <a:pt x="0" y="153"/>
                    <a:pt x="23" y="173"/>
                    <a:pt x="52" y="174"/>
                  </a:cubicBezTo>
                  <a:cubicBezTo>
                    <a:pt x="54" y="174"/>
                    <a:pt x="55" y="174"/>
                    <a:pt x="56" y="174"/>
                  </a:cubicBezTo>
                  <a:cubicBezTo>
                    <a:pt x="27" y="173"/>
                    <a:pt x="2" y="192"/>
                    <a:pt x="0" y="215"/>
                  </a:cubicBezTo>
                  <a:cubicBezTo>
                    <a:pt x="0" y="239"/>
                    <a:pt x="23" y="259"/>
                    <a:pt x="52" y="260"/>
                  </a:cubicBezTo>
                  <a:cubicBezTo>
                    <a:pt x="54" y="260"/>
                    <a:pt x="55" y="260"/>
                    <a:pt x="56" y="260"/>
                  </a:cubicBezTo>
                  <a:cubicBezTo>
                    <a:pt x="27" y="259"/>
                    <a:pt x="2" y="278"/>
                    <a:pt x="0" y="302"/>
                  </a:cubicBezTo>
                  <a:cubicBezTo>
                    <a:pt x="0" y="326"/>
                    <a:pt x="23" y="346"/>
                    <a:pt x="52" y="347"/>
                  </a:cubicBezTo>
                  <a:cubicBezTo>
                    <a:pt x="54" y="347"/>
                    <a:pt x="55" y="347"/>
                    <a:pt x="56" y="347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7" name="Line 14"/>
            <p:cNvSpPr>
              <a:spLocks noChangeShapeType="1"/>
            </p:cNvSpPr>
            <p:nvPr/>
          </p:nvSpPr>
          <p:spPr bwMode="auto">
            <a:xfrm>
              <a:off x="3637" y="2161"/>
              <a:ext cx="1" cy="32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8" name="Line 15"/>
            <p:cNvSpPr>
              <a:spLocks noChangeShapeType="1"/>
            </p:cNvSpPr>
            <p:nvPr/>
          </p:nvSpPr>
          <p:spPr bwMode="auto">
            <a:xfrm flipV="1">
              <a:off x="3660" y="2161"/>
              <a:ext cx="1" cy="32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9" name="Rectangle 16"/>
            <p:cNvSpPr>
              <a:spLocks noChangeArrowheads="1"/>
            </p:cNvSpPr>
            <p:nvPr/>
          </p:nvSpPr>
          <p:spPr bwMode="auto">
            <a:xfrm>
              <a:off x="5170" y="2183"/>
              <a:ext cx="75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0" name="Rectangle 17"/>
            <p:cNvSpPr>
              <a:spLocks noChangeArrowheads="1"/>
            </p:cNvSpPr>
            <p:nvPr/>
          </p:nvSpPr>
          <p:spPr bwMode="auto">
            <a:xfrm>
              <a:off x="5170" y="2183"/>
              <a:ext cx="75" cy="173"/>
            </a:xfrm>
            <a:prstGeom prst="rect">
              <a:avLst/>
            </a:pr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1" name="Line 18"/>
            <p:cNvSpPr>
              <a:spLocks noChangeShapeType="1"/>
            </p:cNvSpPr>
            <p:nvPr/>
          </p:nvSpPr>
          <p:spPr bwMode="auto">
            <a:xfrm>
              <a:off x="4835" y="2252"/>
              <a:ext cx="149" cy="1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2" name="Line 19"/>
            <p:cNvSpPr>
              <a:spLocks noChangeShapeType="1"/>
            </p:cNvSpPr>
            <p:nvPr/>
          </p:nvSpPr>
          <p:spPr bwMode="auto">
            <a:xfrm>
              <a:off x="4835" y="2304"/>
              <a:ext cx="149" cy="1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3" name="Line 20"/>
            <p:cNvSpPr>
              <a:spLocks noChangeShapeType="1"/>
            </p:cNvSpPr>
            <p:nvPr/>
          </p:nvSpPr>
          <p:spPr bwMode="auto">
            <a:xfrm>
              <a:off x="4910" y="2304"/>
              <a:ext cx="1" cy="13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4" name="Line 21"/>
            <p:cNvSpPr>
              <a:spLocks noChangeShapeType="1"/>
            </p:cNvSpPr>
            <p:nvPr/>
          </p:nvSpPr>
          <p:spPr bwMode="auto">
            <a:xfrm flipV="1">
              <a:off x="4910" y="2097"/>
              <a:ext cx="1" cy="155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5" name="Freeform 22"/>
            <p:cNvSpPr>
              <a:spLocks/>
            </p:cNvSpPr>
            <p:nvPr/>
          </p:nvSpPr>
          <p:spPr bwMode="auto">
            <a:xfrm>
              <a:off x="3541" y="2083"/>
              <a:ext cx="1" cy="69"/>
            </a:xfrm>
            <a:custGeom>
              <a:avLst/>
              <a:gdLst>
                <a:gd name="T0" fmla="*/ 0 w 1"/>
                <a:gd name="T1" fmla="*/ 69 h 69"/>
                <a:gd name="T2" fmla="*/ 0 w 1"/>
                <a:gd name="T3" fmla="*/ 0 h 69"/>
                <a:gd name="T4" fmla="*/ 0 w 1"/>
                <a:gd name="T5" fmla="*/ 34 h 69"/>
                <a:gd name="T6" fmla="*/ 0 60000 65536"/>
                <a:gd name="T7" fmla="*/ 0 60000 65536"/>
                <a:gd name="T8" fmla="*/ 0 60000 65536"/>
                <a:gd name="T9" fmla="*/ 0 w 1"/>
                <a:gd name="T10" fmla="*/ 0 h 69"/>
                <a:gd name="T11" fmla="*/ 1 w 1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9">
                  <a:moveTo>
                    <a:pt x="0" y="69"/>
                  </a:moveTo>
                  <a:lnTo>
                    <a:pt x="0" y="0"/>
                  </a:lnTo>
                  <a:lnTo>
                    <a:pt x="0" y="34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6" name="Line 23"/>
            <p:cNvSpPr>
              <a:spLocks noChangeShapeType="1"/>
            </p:cNvSpPr>
            <p:nvPr/>
          </p:nvSpPr>
          <p:spPr bwMode="auto">
            <a:xfrm flipV="1">
              <a:off x="4910" y="2062"/>
              <a:ext cx="1" cy="35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7" name="Line 24"/>
            <p:cNvSpPr>
              <a:spLocks noChangeShapeType="1"/>
            </p:cNvSpPr>
            <p:nvPr/>
          </p:nvSpPr>
          <p:spPr bwMode="auto">
            <a:xfrm>
              <a:off x="4910" y="2442"/>
              <a:ext cx="1" cy="104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8" name="Freeform 25"/>
            <p:cNvSpPr>
              <a:spLocks/>
            </p:cNvSpPr>
            <p:nvPr/>
          </p:nvSpPr>
          <p:spPr bwMode="auto">
            <a:xfrm>
              <a:off x="3281" y="2171"/>
              <a:ext cx="38" cy="34"/>
            </a:xfrm>
            <a:custGeom>
              <a:avLst/>
              <a:gdLst>
                <a:gd name="T0" fmla="*/ 0 w 55"/>
                <a:gd name="T1" fmla="*/ 27 h 53"/>
                <a:gd name="T2" fmla="*/ 27 w 55"/>
                <a:gd name="T3" fmla="*/ 0 h 53"/>
                <a:gd name="T4" fmla="*/ 55 w 55"/>
                <a:gd name="T5" fmla="*/ 27 h 53"/>
                <a:gd name="T6" fmla="*/ 55 w 55"/>
                <a:gd name="T7" fmla="*/ 27 h 53"/>
                <a:gd name="T8" fmla="*/ 27 w 55"/>
                <a:gd name="T9" fmla="*/ 53 h 53"/>
                <a:gd name="T10" fmla="*/ 0 w 55"/>
                <a:gd name="T11" fmla="*/ 27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5"/>
                <a:gd name="T19" fmla="*/ 0 h 53"/>
                <a:gd name="T20" fmla="*/ 55 w 55"/>
                <a:gd name="T21" fmla="*/ 53 h 5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5" h="53">
                  <a:moveTo>
                    <a:pt x="0" y="27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55" y="42"/>
                    <a:pt x="42" y="53"/>
                    <a:pt x="27" y="53"/>
                  </a:cubicBezTo>
                  <a:cubicBezTo>
                    <a:pt x="12" y="53"/>
                    <a:pt x="0" y="42"/>
                    <a:pt x="0" y="27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9" name="Freeform 26"/>
            <p:cNvSpPr>
              <a:spLocks/>
            </p:cNvSpPr>
            <p:nvPr/>
          </p:nvSpPr>
          <p:spPr bwMode="auto">
            <a:xfrm>
              <a:off x="3756" y="2167"/>
              <a:ext cx="37" cy="35"/>
            </a:xfrm>
            <a:custGeom>
              <a:avLst/>
              <a:gdLst>
                <a:gd name="T0" fmla="*/ 0 w 54"/>
                <a:gd name="T1" fmla="*/ 27 h 54"/>
                <a:gd name="T2" fmla="*/ 27 w 54"/>
                <a:gd name="T3" fmla="*/ 0 h 54"/>
                <a:gd name="T4" fmla="*/ 54 w 54"/>
                <a:gd name="T5" fmla="*/ 27 h 54"/>
                <a:gd name="T6" fmla="*/ 54 w 54"/>
                <a:gd name="T7" fmla="*/ 27 h 54"/>
                <a:gd name="T8" fmla="*/ 27 w 54"/>
                <a:gd name="T9" fmla="*/ 54 h 54"/>
                <a:gd name="T10" fmla="*/ 0 w 54"/>
                <a:gd name="T11" fmla="*/ 27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54"/>
                <a:gd name="T20" fmla="*/ 54 w 54"/>
                <a:gd name="T21" fmla="*/ 54 h 5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54">
                  <a:moveTo>
                    <a:pt x="0" y="27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42"/>
                    <a:pt x="42" y="54"/>
                    <a:pt x="27" y="54"/>
                  </a:cubicBezTo>
                  <a:cubicBezTo>
                    <a:pt x="12" y="54"/>
                    <a:pt x="0" y="42"/>
                    <a:pt x="0" y="27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0" name="Rectangle 27"/>
            <p:cNvSpPr>
              <a:spLocks noChangeArrowheads="1"/>
            </p:cNvSpPr>
            <p:nvPr/>
          </p:nvSpPr>
          <p:spPr bwMode="auto">
            <a:xfrm>
              <a:off x="3184" y="2805"/>
              <a:ext cx="9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 sz="2000"/>
            </a:p>
          </p:txBody>
        </p:sp>
        <p:sp>
          <p:nvSpPr>
            <p:cNvPr id="46111" name="Freeform 28"/>
            <p:cNvSpPr>
              <a:spLocks/>
            </p:cNvSpPr>
            <p:nvPr/>
          </p:nvSpPr>
          <p:spPr bwMode="auto">
            <a:xfrm>
              <a:off x="4891" y="2005"/>
              <a:ext cx="37" cy="35"/>
            </a:xfrm>
            <a:custGeom>
              <a:avLst/>
              <a:gdLst>
                <a:gd name="T0" fmla="*/ 0 w 54"/>
                <a:gd name="T1" fmla="*/ 27 h 54"/>
                <a:gd name="T2" fmla="*/ 27 w 54"/>
                <a:gd name="T3" fmla="*/ 0 h 54"/>
                <a:gd name="T4" fmla="*/ 54 w 54"/>
                <a:gd name="T5" fmla="*/ 27 h 54"/>
                <a:gd name="T6" fmla="*/ 54 w 54"/>
                <a:gd name="T7" fmla="*/ 27 h 54"/>
                <a:gd name="T8" fmla="*/ 27 w 54"/>
                <a:gd name="T9" fmla="*/ 54 h 54"/>
                <a:gd name="T10" fmla="*/ 0 w 54"/>
                <a:gd name="T11" fmla="*/ 27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54"/>
                <a:gd name="T20" fmla="*/ 54 w 54"/>
                <a:gd name="T21" fmla="*/ 54 h 5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54">
                  <a:moveTo>
                    <a:pt x="0" y="27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42"/>
                    <a:pt x="42" y="54"/>
                    <a:pt x="27" y="54"/>
                  </a:cubicBezTo>
                  <a:cubicBezTo>
                    <a:pt x="12" y="54"/>
                    <a:pt x="0" y="42"/>
                    <a:pt x="0" y="27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2" name="Freeform 29"/>
            <p:cNvSpPr>
              <a:spLocks/>
            </p:cNvSpPr>
            <p:nvPr/>
          </p:nvSpPr>
          <p:spPr bwMode="auto">
            <a:xfrm>
              <a:off x="4891" y="2558"/>
              <a:ext cx="37" cy="34"/>
            </a:xfrm>
            <a:custGeom>
              <a:avLst/>
              <a:gdLst>
                <a:gd name="T0" fmla="*/ 0 w 54"/>
                <a:gd name="T1" fmla="*/ 27 h 53"/>
                <a:gd name="T2" fmla="*/ 27 w 54"/>
                <a:gd name="T3" fmla="*/ 0 h 53"/>
                <a:gd name="T4" fmla="*/ 54 w 54"/>
                <a:gd name="T5" fmla="*/ 27 h 53"/>
                <a:gd name="T6" fmla="*/ 54 w 54"/>
                <a:gd name="T7" fmla="*/ 27 h 53"/>
                <a:gd name="T8" fmla="*/ 27 w 54"/>
                <a:gd name="T9" fmla="*/ 53 h 53"/>
                <a:gd name="T10" fmla="*/ 0 w 54"/>
                <a:gd name="T11" fmla="*/ 27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53"/>
                <a:gd name="T20" fmla="*/ 54 w 54"/>
                <a:gd name="T21" fmla="*/ 53 h 5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53">
                  <a:moveTo>
                    <a:pt x="0" y="27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41"/>
                    <a:pt x="42" y="53"/>
                    <a:pt x="27" y="53"/>
                  </a:cubicBezTo>
                  <a:cubicBezTo>
                    <a:pt x="12" y="53"/>
                    <a:pt x="0" y="41"/>
                    <a:pt x="0" y="27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3" name="Line 30"/>
            <p:cNvSpPr>
              <a:spLocks noChangeShapeType="1"/>
            </p:cNvSpPr>
            <p:nvPr/>
          </p:nvSpPr>
          <p:spPr bwMode="auto">
            <a:xfrm flipV="1">
              <a:off x="3760" y="2022"/>
              <a:ext cx="1" cy="13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4" name="Freeform 31"/>
            <p:cNvSpPr>
              <a:spLocks/>
            </p:cNvSpPr>
            <p:nvPr/>
          </p:nvSpPr>
          <p:spPr bwMode="auto">
            <a:xfrm>
              <a:off x="4733" y="2020"/>
              <a:ext cx="478" cy="163"/>
            </a:xfrm>
            <a:custGeom>
              <a:avLst/>
              <a:gdLst>
                <a:gd name="T0" fmla="*/ 478 w 478"/>
                <a:gd name="T1" fmla="*/ 163 h 163"/>
                <a:gd name="T2" fmla="*/ 478 w 478"/>
                <a:gd name="T3" fmla="*/ 2 h 163"/>
                <a:gd name="T4" fmla="*/ 0 w 478"/>
                <a:gd name="T5" fmla="*/ 0 h 163"/>
                <a:gd name="T6" fmla="*/ 0 60000 65536"/>
                <a:gd name="T7" fmla="*/ 0 60000 65536"/>
                <a:gd name="T8" fmla="*/ 0 60000 65536"/>
                <a:gd name="T9" fmla="*/ 0 w 478"/>
                <a:gd name="T10" fmla="*/ 0 h 163"/>
                <a:gd name="T11" fmla="*/ 478 w 478"/>
                <a:gd name="T12" fmla="*/ 163 h 1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8" h="163">
                  <a:moveTo>
                    <a:pt x="478" y="163"/>
                  </a:moveTo>
                  <a:lnTo>
                    <a:pt x="478" y="2"/>
                  </a:lnTo>
                  <a:lnTo>
                    <a:pt x="0" y="0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5" name="Line 32"/>
            <p:cNvSpPr>
              <a:spLocks noChangeShapeType="1"/>
            </p:cNvSpPr>
            <p:nvPr/>
          </p:nvSpPr>
          <p:spPr bwMode="auto">
            <a:xfrm flipH="1" flipV="1">
              <a:off x="4908" y="2021"/>
              <a:ext cx="2" cy="41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6" name="Line 33"/>
            <p:cNvSpPr>
              <a:spLocks noChangeShapeType="1"/>
            </p:cNvSpPr>
            <p:nvPr/>
          </p:nvSpPr>
          <p:spPr bwMode="auto">
            <a:xfrm>
              <a:off x="4910" y="2524"/>
              <a:ext cx="1" cy="52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7" name="Freeform 34"/>
            <p:cNvSpPr>
              <a:spLocks/>
            </p:cNvSpPr>
            <p:nvPr/>
          </p:nvSpPr>
          <p:spPr bwMode="auto">
            <a:xfrm>
              <a:off x="4359" y="1969"/>
              <a:ext cx="374" cy="53"/>
            </a:xfrm>
            <a:custGeom>
              <a:avLst/>
              <a:gdLst>
                <a:gd name="T0" fmla="*/ 1 w 374"/>
                <a:gd name="T1" fmla="*/ 53 h 53"/>
                <a:gd name="T2" fmla="*/ 46 w 374"/>
                <a:gd name="T3" fmla="*/ 2 h 53"/>
                <a:gd name="T4" fmla="*/ 94 w 374"/>
                <a:gd name="T5" fmla="*/ 49 h 53"/>
                <a:gd name="T6" fmla="*/ 94 w 374"/>
                <a:gd name="T7" fmla="*/ 53 h 53"/>
                <a:gd name="T8" fmla="*/ 139 w 374"/>
                <a:gd name="T9" fmla="*/ 2 h 53"/>
                <a:gd name="T10" fmla="*/ 188 w 374"/>
                <a:gd name="T11" fmla="*/ 49 h 53"/>
                <a:gd name="T12" fmla="*/ 188 w 374"/>
                <a:gd name="T13" fmla="*/ 53 h 53"/>
                <a:gd name="T14" fmla="*/ 232 w 374"/>
                <a:gd name="T15" fmla="*/ 2 h 53"/>
                <a:gd name="T16" fmla="*/ 280 w 374"/>
                <a:gd name="T17" fmla="*/ 49 h 53"/>
                <a:gd name="T18" fmla="*/ 280 w 374"/>
                <a:gd name="T19" fmla="*/ 53 h 53"/>
                <a:gd name="T20" fmla="*/ 325 w 374"/>
                <a:gd name="T21" fmla="*/ 2 h 53"/>
                <a:gd name="T22" fmla="*/ 374 w 374"/>
                <a:gd name="T23" fmla="*/ 49 h 53"/>
                <a:gd name="T24" fmla="*/ 374 w 374"/>
                <a:gd name="T25" fmla="*/ 53 h 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74"/>
                <a:gd name="T40" fmla="*/ 0 h 53"/>
                <a:gd name="T41" fmla="*/ 374 w 374"/>
                <a:gd name="T42" fmla="*/ 53 h 53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74" h="53">
                  <a:moveTo>
                    <a:pt x="1" y="53"/>
                  </a:moveTo>
                  <a:cubicBezTo>
                    <a:pt x="0" y="25"/>
                    <a:pt x="20" y="3"/>
                    <a:pt x="46" y="2"/>
                  </a:cubicBezTo>
                  <a:cubicBezTo>
                    <a:pt x="71" y="0"/>
                    <a:pt x="93" y="22"/>
                    <a:pt x="94" y="49"/>
                  </a:cubicBezTo>
                  <a:cubicBezTo>
                    <a:pt x="94" y="51"/>
                    <a:pt x="94" y="52"/>
                    <a:pt x="94" y="53"/>
                  </a:cubicBezTo>
                  <a:cubicBezTo>
                    <a:pt x="93" y="25"/>
                    <a:pt x="113" y="3"/>
                    <a:pt x="139" y="2"/>
                  </a:cubicBezTo>
                  <a:cubicBezTo>
                    <a:pt x="164" y="0"/>
                    <a:pt x="186" y="22"/>
                    <a:pt x="188" y="49"/>
                  </a:cubicBezTo>
                  <a:cubicBezTo>
                    <a:pt x="188" y="51"/>
                    <a:pt x="188" y="52"/>
                    <a:pt x="188" y="53"/>
                  </a:cubicBezTo>
                  <a:cubicBezTo>
                    <a:pt x="186" y="25"/>
                    <a:pt x="206" y="3"/>
                    <a:pt x="232" y="2"/>
                  </a:cubicBezTo>
                  <a:cubicBezTo>
                    <a:pt x="258" y="0"/>
                    <a:pt x="280" y="22"/>
                    <a:pt x="280" y="49"/>
                  </a:cubicBezTo>
                  <a:cubicBezTo>
                    <a:pt x="280" y="51"/>
                    <a:pt x="280" y="52"/>
                    <a:pt x="280" y="53"/>
                  </a:cubicBezTo>
                  <a:cubicBezTo>
                    <a:pt x="280" y="25"/>
                    <a:pt x="299" y="3"/>
                    <a:pt x="325" y="2"/>
                  </a:cubicBezTo>
                  <a:cubicBezTo>
                    <a:pt x="351" y="0"/>
                    <a:pt x="372" y="22"/>
                    <a:pt x="374" y="49"/>
                  </a:cubicBezTo>
                  <a:cubicBezTo>
                    <a:pt x="374" y="51"/>
                    <a:pt x="374" y="52"/>
                    <a:pt x="374" y="53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8" name="Freeform 35"/>
            <p:cNvSpPr>
              <a:spLocks/>
            </p:cNvSpPr>
            <p:nvPr/>
          </p:nvSpPr>
          <p:spPr bwMode="auto">
            <a:xfrm>
              <a:off x="3760" y="2356"/>
              <a:ext cx="1453" cy="220"/>
            </a:xfrm>
            <a:custGeom>
              <a:avLst/>
              <a:gdLst>
                <a:gd name="T0" fmla="*/ 0 w 1453"/>
                <a:gd name="T1" fmla="*/ 142 h 220"/>
                <a:gd name="T2" fmla="*/ 0 w 1453"/>
                <a:gd name="T3" fmla="*/ 220 h 220"/>
                <a:gd name="T4" fmla="*/ 1453 w 1453"/>
                <a:gd name="T5" fmla="*/ 220 h 220"/>
                <a:gd name="T6" fmla="*/ 1453 w 1453"/>
                <a:gd name="T7" fmla="*/ 0 h 2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53"/>
                <a:gd name="T13" fmla="*/ 0 h 220"/>
                <a:gd name="T14" fmla="*/ 1453 w 1453"/>
                <a:gd name="T15" fmla="*/ 220 h 2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53" h="220">
                  <a:moveTo>
                    <a:pt x="0" y="142"/>
                  </a:moveTo>
                  <a:lnTo>
                    <a:pt x="0" y="220"/>
                  </a:lnTo>
                  <a:lnTo>
                    <a:pt x="1453" y="220"/>
                  </a:lnTo>
                  <a:lnTo>
                    <a:pt x="1453" y="0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9" name="Rectangle 36"/>
            <p:cNvSpPr>
              <a:spLocks noChangeArrowheads="1"/>
            </p:cNvSpPr>
            <p:nvPr/>
          </p:nvSpPr>
          <p:spPr bwMode="auto">
            <a:xfrm>
              <a:off x="3153" y="2251"/>
              <a:ext cx="14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46120" name="Freeform 37"/>
            <p:cNvSpPr>
              <a:spLocks/>
            </p:cNvSpPr>
            <p:nvPr/>
          </p:nvSpPr>
          <p:spPr bwMode="auto">
            <a:xfrm>
              <a:off x="4248" y="2007"/>
              <a:ext cx="36" cy="34"/>
            </a:xfrm>
            <a:custGeom>
              <a:avLst/>
              <a:gdLst>
                <a:gd name="T0" fmla="*/ 0 w 54"/>
                <a:gd name="T1" fmla="*/ 27 h 53"/>
                <a:gd name="T2" fmla="*/ 27 w 54"/>
                <a:gd name="T3" fmla="*/ 0 h 53"/>
                <a:gd name="T4" fmla="*/ 54 w 54"/>
                <a:gd name="T5" fmla="*/ 27 h 53"/>
                <a:gd name="T6" fmla="*/ 54 w 54"/>
                <a:gd name="T7" fmla="*/ 27 h 53"/>
                <a:gd name="T8" fmla="*/ 27 w 54"/>
                <a:gd name="T9" fmla="*/ 53 h 53"/>
                <a:gd name="T10" fmla="*/ 0 w 54"/>
                <a:gd name="T11" fmla="*/ 27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53"/>
                <a:gd name="T20" fmla="*/ 54 w 54"/>
                <a:gd name="T21" fmla="*/ 53 h 5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53">
                  <a:moveTo>
                    <a:pt x="0" y="27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41"/>
                    <a:pt x="42" y="53"/>
                    <a:pt x="27" y="53"/>
                  </a:cubicBezTo>
                  <a:cubicBezTo>
                    <a:pt x="12" y="53"/>
                    <a:pt x="0" y="41"/>
                    <a:pt x="0" y="27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1" name="Freeform 38"/>
            <p:cNvSpPr>
              <a:spLocks/>
            </p:cNvSpPr>
            <p:nvPr/>
          </p:nvSpPr>
          <p:spPr bwMode="auto">
            <a:xfrm>
              <a:off x="4248" y="2560"/>
              <a:ext cx="36" cy="34"/>
            </a:xfrm>
            <a:custGeom>
              <a:avLst/>
              <a:gdLst>
                <a:gd name="T0" fmla="*/ 0 w 54"/>
                <a:gd name="T1" fmla="*/ 26 h 53"/>
                <a:gd name="T2" fmla="*/ 27 w 54"/>
                <a:gd name="T3" fmla="*/ 0 h 53"/>
                <a:gd name="T4" fmla="*/ 54 w 54"/>
                <a:gd name="T5" fmla="*/ 26 h 53"/>
                <a:gd name="T6" fmla="*/ 54 w 54"/>
                <a:gd name="T7" fmla="*/ 26 h 53"/>
                <a:gd name="T8" fmla="*/ 27 w 54"/>
                <a:gd name="T9" fmla="*/ 53 h 53"/>
                <a:gd name="T10" fmla="*/ 0 w 54"/>
                <a:gd name="T11" fmla="*/ 26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53"/>
                <a:gd name="T20" fmla="*/ 54 w 54"/>
                <a:gd name="T21" fmla="*/ 53 h 5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53">
                  <a:moveTo>
                    <a:pt x="0" y="26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6"/>
                  </a:cubicBezTo>
                  <a:cubicBezTo>
                    <a:pt x="54" y="26"/>
                    <a:pt x="54" y="26"/>
                    <a:pt x="54" y="26"/>
                  </a:cubicBezTo>
                  <a:cubicBezTo>
                    <a:pt x="54" y="41"/>
                    <a:pt x="42" y="53"/>
                    <a:pt x="27" y="53"/>
                  </a:cubicBezTo>
                  <a:cubicBezTo>
                    <a:pt x="12" y="53"/>
                    <a:pt x="0" y="41"/>
                    <a:pt x="0" y="26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2" name="Freeform 39"/>
            <p:cNvSpPr>
              <a:spLocks/>
            </p:cNvSpPr>
            <p:nvPr/>
          </p:nvSpPr>
          <p:spPr bwMode="auto">
            <a:xfrm>
              <a:off x="3315" y="2152"/>
              <a:ext cx="57" cy="347"/>
            </a:xfrm>
            <a:custGeom>
              <a:avLst/>
              <a:gdLst>
                <a:gd name="T0" fmla="*/ 0 w 57"/>
                <a:gd name="T1" fmla="*/ 1 h 347"/>
                <a:gd name="T2" fmla="*/ 56 w 57"/>
                <a:gd name="T3" fmla="*/ 42 h 347"/>
                <a:gd name="T4" fmla="*/ 4 w 57"/>
                <a:gd name="T5" fmla="*/ 88 h 347"/>
                <a:gd name="T6" fmla="*/ 0 w 57"/>
                <a:gd name="T7" fmla="*/ 88 h 347"/>
                <a:gd name="T8" fmla="*/ 56 w 57"/>
                <a:gd name="T9" fmla="*/ 129 h 347"/>
                <a:gd name="T10" fmla="*/ 4 w 57"/>
                <a:gd name="T11" fmla="*/ 174 h 347"/>
                <a:gd name="T12" fmla="*/ 0 w 57"/>
                <a:gd name="T13" fmla="*/ 174 h 347"/>
                <a:gd name="T14" fmla="*/ 56 w 57"/>
                <a:gd name="T15" fmla="*/ 216 h 347"/>
                <a:gd name="T16" fmla="*/ 4 w 57"/>
                <a:gd name="T17" fmla="*/ 261 h 347"/>
                <a:gd name="T18" fmla="*/ 0 w 57"/>
                <a:gd name="T19" fmla="*/ 261 h 347"/>
                <a:gd name="T20" fmla="*/ 56 w 57"/>
                <a:gd name="T21" fmla="*/ 302 h 347"/>
                <a:gd name="T22" fmla="*/ 4 w 57"/>
                <a:gd name="T23" fmla="*/ 347 h 347"/>
                <a:gd name="T24" fmla="*/ 0 w 57"/>
                <a:gd name="T25" fmla="*/ 347 h 34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7"/>
                <a:gd name="T40" fmla="*/ 0 h 347"/>
                <a:gd name="T41" fmla="*/ 57 w 57"/>
                <a:gd name="T42" fmla="*/ 347 h 34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7" h="347">
                  <a:moveTo>
                    <a:pt x="0" y="1"/>
                  </a:moveTo>
                  <a:cubicBezTo>
                    <a:pt x="30" y="0"/>
                    <a:pt x="54" y="19"/>
                    <a:pt x="56" y="42"/>
                  </a:cubicBezTo>
                  <a:cubicBezTo>
                    <a:pt x="57" y="66"/>
                    <a:pt x="34" y="86"/>
                    <a:pt x="4" y="88"/>
                  </a:cubicBezTo>
                  <a:cubicBezTo>
                    <a:pt x="2" y="88"/>
                    <a:pt x="1" y="88"/>
                    <a:pt x="0" y="88"/>
                  </a:cubicBezTo>
                  <a:cubicBezTo>
                    <a:pt x="30" y="86"/>
                    <a:pt x="54" y="105"/>
                    <a:pt x="56" y="129"/>
                  </a:cubicBezTo>
                  <a:cubicBezTo>
                    <a:pt x="57" y="153"/>
                    <a:pt x="34" y="173"/>
                    <a:pt x="4" y="174"/>
                  </a:cubicBezTo>
                  <a:cubicBezTo>
                    <a:pt x="2" y="174"/>
                    <a:pt x="1" y="174"/>
                    <a:pt x="0" y="174"/>
                  </a:cubicBezTo>
                  <a:cubicBezTo>
                    <a:pt x="30" y="173"/>
                    <a:pt x="54" y="192"/>
                    <a:pt x="56" y="216"/>
                  </a:cubicBezTo>
                  <a:cubicBezTo>
                    <a:pt x="57" y="239"/>
                    <a:pt x="34" y="260"/>
                    <a:pt x="4" y="261"/>
                  </a:cubicBezTo>
                  <a:cubicBezTo>
                    <a:pt x="2" y="261"/>
                    <a:pt x="1" y="261"/>
                    <a:pt x="0" y="261"/>
                  </a:cubicBezTo>
                  <a:cubicBezTo>
                    <a:pt x="30" y="260"/>
                    <a:pt x="54" y="278"/>
                    <a:pt x="56" y="302"/>
                  </a:cubicBezTo>
                  <a:cubicBezTo>
                    <a:pt x="57" y="326"/>
                    <a:pt x="34" y="346"/>
                    <a:pt x="4" y="347"/>
                  </a:cubicBezTo>
                  <a:cubicBezTo>
                    <a:pt x="2" y="347"/>
                    <a:pt x="1" y="347"/>
                    <a:pt x="0" y="347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3" name="Freeform 40"/>
            <p:cNvSpPr>
              <a:spLocks/>
            </p:cNvSpPr>
            <p:nvPr/>
          </p:nvSpPr>
          <p:spPr bwMode="auto">
            <a:xfrm>
              <a:off x="3519" y="2447"/>
              <a:ext cx="38" cy="35"/>
            </a:xfrm>
            <a:custGeom>
              <a:avLst/>
              <a:gdLst>
                <a:gd name="T0" fmla="*/ 0 w 55"/>
                <a:gd name="T1" fmla="*/ 27 h 54"/>
                <a:gd name="T2" fmla="*/ 28 w 55"/>
                <a:gd name="T3" fmla="*/ 0 h 54"/>
                <a:gd name="T4" fmla="*/ 55 w 55"/>
                <a:gd name="T5" fmla="*/ 27 h 54"/>
                <a:gd name="T6" fmla="*/ 55 w 55"/>
                <a:gd name="T7" fmla="*/ 27 h 54"/>
                <a:gd name="T8" fmla="*/ 28 w 55"/>
                <a:gd name="T9" fmla="*/ 54 h 54"/>
                <a:gd name="T10" fmla="*/ 0 w 55"/>
                <a:gd name="T11" fmla="*/ 27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5"/>
                <a:gd name="T19" fmla="*/ 0 h 54"/>
                <a:gd name="T20" fmla="*/ 55 w 55"/>
                <a:gd name="T21" fmla="*/ 54 h 5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5" h="54">
                  <a:moveTo>
                    <a:pt x="0" y="27"/>
                  </a:moveTo>
                  <a:cubicBezTo>
                    <a:pt x="0" y="12"/>
                    <a:pt x="13" y="0"/>
                    <a:pt x="28" y="0"/>
                  </a:cubicBezTo>
                  <a:cubicBezTo>
                    <a:pt x="43" y="0"/>
                    <a:pt x="55" y="12"/>
                    <a:pt x="55" y="27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55" y="42"/>
                    <a:pt x="43" y="54"/>
                    <a:pt x="28" y="54"/>
                  </a:cubicBezTo>
                  <a:cubicBezTo>
                    <a:pt x="13" y="54"/>
                    <a:pt x="0" y="42"/>
                    <a:pt x="0" y="27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4" name="Line 41"/>
            <p:cNvSpPr>
              <a:spLocks noChangeShapeType="1"/>
            </p:cNvSpPr>
            <p:nvPr/>
          </p:nvSpPr>
          <p:spPr bwMode="auto">
            <a:xfrm flipV="1">
              <a:off x="3315" y="2083"/>
              <a:ext cx="1" cy="7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5" name="Line 42"/>
            <p:cNvSpPr>
              <a:spLocks noChangeShapeType="1"/>
            </p:cNvSpPr>
            <p:nvPr/>
          </p:nvSpPr>
          <p:spPr bwMode="auto">
            <a:xfrm flipV="1">
              <a:off x="3315" y="2499"/>
              <a:ext cx="1" cy="294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6" name="Line 43"/>
            <p:cNvSpPr>
              <a:spLocks noChangeShapeType="1"/>
            </p:cNvSpPr>
            <p:nvPr/>
          </p:nvSpPr>
          <p:spPr bwMode="auto">
            <a:xfrm>
              <a:off x="3315" y="2966"/>
              <a:ext cx="1" cy="189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7" name="Freeform 44"/>
            <p:cNvSpPr>
              <a:spLocks/>
            </p:cNvSpPr>
            <p:nvPr/>
          </p:nvSpPr>
          <p:spPr bwMode="auto">
            <a:xfrm>
              <a:off x="3541" y="2498"/>
              <a:ext cx="5" cy="104"/>
            </a:xfrm>
            <a:custGeom>
              <a:avLst/>
              <a:gdLst>
                <a:gd name="T0" fmla="*/ 0 w 5"/>
                <a:gd name="T1" fmla="*/ 104 h 104"/>
                <a:gd name="T2" fmla="*/ 0 w 5"/>
                <a:gd name="T3" fmla="*/ 5 h 104"/>
                <a:gd name="T4" fmla="*/ 5 w 5"/>
                <a:gd name="T5" fmla="*/ 0 h 104"/>
                <a:gd name="T6" fmla="*/ 0 60000 65536"/>
                <a:gd name="T7" fmla="*/ 0 60000 65536"/>
                <a:gd name="T8" fmla="*/ 0 60000 65536"/>
                <a:gd name="T9" fmla="*/ 0 w 5"/>
                <a:gd name="T10" fmla="*/ 0 h 104"/>
                <a:gd name="T11" fmla="*/ 5 w 5"/>
                <a:gd name="T12" fmla="*/ 104 h 1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" h="104">
                  <a:moveTo>
                    <a:pt x="0" y="104"/>
                  </a:moveTo>
                  <a:lnTo>
                    <a:pt x="0" y="5"/>
                  </a:lnTo>
                  <a:lnTo>
                    <a:pt x="5" y="0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8" name="Freeform 45"/>
            <p:cNvSpPr>
              <a:spLocks/>
            </p:cNvSpPr>
            <p:nvPr/>
          </p:nvSpPr>
          <p:spPr bwMode="auto">
            <a:xfrm>
              <a:off x="3983" y="1953"/>
              <a:ext cx="150" cy="139"/>
            </a:xfrm>
            <a:custGeom>
              <a:avLst/>
              <a:gdLst>
                <a:gd name="T0" fmla="*/ 0 w 150"/>
                <a:gd name="T1" fmla="*/ 0 h 139"/>
                <a:gd name="T2" fmla="*/ 150 w 150"/>
                <a:gd name="T3" fmla="*/ 69 h 139"/>
                <a:gd name="T4" fmla="*/ 0 w 150"/>
                <a:gd name="T5" fmla="*/ 139 h 139"/>
                <a:gd name="T6" fmla="*/ 0 w 150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0"/>
                <a:gd name="T13" fmla="*/ 0 h 139"/>
                <a:gd name="T14" fmla="*/ 150 w 150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0" h="139">
                  <a:moveTo>
                    <a:pt x="0" y="0"/>
                  </a:moveTo>
                  <a:lnTo>
                    <a:pt x="150" y="69"/>
                  </a:lnTo>
                  <a:lnTo>
                    <a:pt x="0" y="1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9" name="Freeform 46"/>
            <p:cNvSpPr>
              <a:spLocks noEditPoints="1"/>
            </p:cNvSpPr>
            <p:nvPr/>
          </p:nvSpPr>
          <p:spPr bwMode="auto">
            <a:xfrm>
              <a:off x="3983" y="1953"/>
              <a:ext cx="150" cy="139"/>
            </a:xfrm>
            <a:custGeom>
              <a:avLst/>
              <a:gdLst>
                <a:gd name="T0" fmla="*/ 150 w 150"/>
                <a:gd name="T1" fmla="*/ 139 h 139"/>
                <a:gd name="T2" fmla="*/ 150 w 150"/>
                <a:gd name="T3" fmla="*/ 0 h 139"/>
                <a:gd name="T4" fmla="*/ 0 w 150"/>
                <a:gd name="T5" fmla="*/ 0 h 139"/>
                <a:gd name="T6" fmla="*/ 150 w 150"/>
                <a:gd name="T7" fmla="*/ 69 h 139"/>
                <a:gd name="T8" fmla="*/ 0 w 150"/>
                <a:gd name="T9" fmla="*/ 139 h 139"/>
                <a:gd name="T10" fmla="*/ 0 w 150"/>
                <a:gd name="T11" fmla="*/ 0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0"/>
                <a:gd name="T19" fmla="*/ 0 h 139"/>
                <a:gd name="T20" fmla="*/ 150 w 150"/>
                <a:gd name="T21" fmla="*/ 139 h 1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0" h="139">
                  <a:moveTo>
                    <a:pt x="150" y="139"/>
                  </a:moveTo>
                  <a:lnTo>
                    <a:pt x="150" y="0"/>
                  </a:lnTo>
                  <a:moveTo>
                    <a:pt x="0" y="0"/>
                  </a:moveTo>
                  <a:lnTo>
                    <a:pt x="150" y="69"/>
                  </a:lnTo>
                  <a:lnTo>
                    <a:pt x="0" y="139"/>
                  </a:lnTo>
                  <a:lnTo>
                    <a:pt x="0" y="0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0" name="Line 47"/>
            <p:cNvSpPr>
              <a:spLocks noChangeShapeType="1"/>
            </p:cNvSpPr>
            <p:nvPr/>
          </p:nvSpPr>
          <p:spPr bwMode="auto">
            <a:xfrm>
              <a:off x="3760" y="2022"/>
              <a:ext cx="596" cy="1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1" name="Freeform 48"/>
            <p:cNvSpPr>
              <a:spLocks/>
            </p:cNvSpPr>
            <p:nvPr/>
          </p:nvSpPr>
          <p:spPr bwMode="auto">
            <a:xfrm>
              <a:off x="3983" y="1953"/>
              <a:ext cx="150" cy="139"/>
            </a:xfrm>
            <a:custGeom>
              <a:avLst/>
              <a:gdLst>
                <a:gd name="T0" fmla="*/ 150 w 150"/>
                <a:gd name="T1" fmla="*/ 69 h 139"/>
                <a:gd name="T2" fmla="*/ 0 w 150"/>
                <a:gd name="T3" fmla="*/ 0 h 139"/>
                <a:gd name="T4" fmla="*/ 0 w 150"/>
                <a:gd name="T5" fmla="*/ 139 h 139"/>
                <a:gd name="T6" fmla="*/ 150 w 150"/>
                <a:gd name="T7" fmla="*/ 69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0"/>
                <a:gd name="T13" fmla="*/ 0 h 139"/>
                <a:gd name="T14" fmla="*/ 150 w 150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0" h="139">
                  <a:moveTo>
                    <a:pt x="150" y="69"/>
                  </a:moveTo>
                  <a:lnTo>
                    <a:pt x="0" y="0"/>
                  </a:lnTo>
                  <a:lnTo>
                    <a:pt x="0" y="139"/>
                  </a:lnTo>
                  <a:lnTo>
                    <a:pt x="150" y="6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2" name="Freeform 49"/>
            <p:cNvSpPr>
              <a:spLocks/>
            </p:cNvSpPr>
            <p:nvPr/>
          </p:nvSpPr>
          <p:spPr bwMode="auto">
            <a:xfrm>
              <a:off x="3983" y="1953"/>
              <a:ext cx="150" cy="139"/>
            </a:xfrm>
            <a:custGeom>
              <a:avLst/>
              <a:gdLst>
                <a:gd name="T0" fmla="*/ 150 w 150"/>
                <a:gd name="T1" fmla="*/ 69 h 139"/>
                <a:gd name="T2" fmla="*/ 0 w 150"/>
                <a:gd name="T3" fmla="*/ 0 h 139"/>
                <a:gd name="T4" fmla="*/ 0 w 150"/>
                <a:gd name="T5" fmla="*/ 139 h 139"/>
                <a:gd name="T6" fmla="*/ 150 w 150"/>
                <a:gd name="T7" fmla="*/ 69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0"/>
                <a:gd name="T13" fmla="*/ 0 h 139"/>
                <a:gd name="T14" fmla="*/ 150 w 150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0" h="139">
                  <a:moveTo>
                    <a:pt x="150" y="69"/>
                  </a:moveTo>
                  <a:lnTo>
                    <a:pt x="0" y="0"/>
                  </a:lnTo>
                  <a:lnTo>
                    <a:pt x="0" y="139"/>
                  </a:lnTo>
                  <a:lnTo>
                    <a:pt x="150" y="69"/>
                  </a:lnTo>
                  <a:close/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3" name="Line 50"/>
            <p:cNvSpPr>
              <a:spLocks noChangeShapeType="1"/>
            </p:cNvSpPr>
            <p:nvPr/>
          </p:nvSpPr>
          <p:spPr bwMode="auto">
            <a:xfrm>
              <a:off x="3983" y="2022"/>
              <a:ext cx="150" cy="1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4" name="Line 51"/>
            <p:cNvSpPr>
              <a:spLocks noChangeShapeType="1"/>
            </p:cNvSpPr>
            <p:nvPr/>
          </p:nvSpPr>
          <p:spPr bwMode="auto">
            <a:xfrm flipV="1">
              <a:off x="4133" y="1953"/>
              <a:ext cx="1" cy="139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5" name="Freeform 52"/>
            <p:cNvSpPr>
              <a:spLocks/>
            </p:cNvSpPr>
            <p:nvPr/>
          </p:nvSpPr>
          <p:spPr bwMode="auto">
            <a:xfrm>
              <a:off x="4192" y="2231"/>
              <a:ext cx="148" cy="139"/>
            </a:xfrm>
            <a:custGeom>
              <a:avLst/>
              <a:gdLst>
                <a:gd name="T0" fmla="*/ 0 w 148"/>
                <a:gd name="T1" fmla="*/ 139 h 139"/>
                <a:gd name="T2" fmla="*/ 74 w 148"/>
                <a:gd name="T3" fmla="*/ 0 h 139"/>
                <a:gd name="T4" fmla="*/ 148 w 148"/>
                <a:gd name="T5" fmla="*/ 139 h 139"/>
                <a:gd name="T6" fmla="*/ 0 w 148"/>
                <a:gd name="T7" fmla="*/ 139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8"/>
                <a:gd name="T13" fmla="*/ 0 h 139"/>
                <a:gd name="T14" fmla="*/ 148 w 148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8" h="139">
                  <a:moveTo>
                    <a:pt x="0" y="139"/>
                  </a:moveTo>
                  <a:lnTo>
                    <a:pt x="74" y="0"/>
                  </a:lnTo>
                  <a:lnTo>
                    <a:pt x="148" y="139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6" name="Freeform 53"/>
            <p:cNvSpPr>
              <a:spLocks noEditPoints="1"/>
            </p:cNvSpPr>
            <p:nvPr/>
          </p:nvSpPr>
          <p:spPr bwMode="auto">
            <a:xfrm>
              <a:off x="4192" y="2231"/>
              <a:ext cx="148" cy="139"/>
            </a:xfrm>
            <a:custGeom>
              <a:avLst/>
              <a:gdLst>
                <a:gd name="T0" fmla="*/ 148 w 148"/>
                <a:gd name="T1" fmla="*/ 0 h 139"/>
                <a:gd name="T2" fmla="*/ 0 w 148"/>
                <a:gd name="T3" fmla="*/ 0 h 139"/>
                <a:gd name="T4" fmla="*/ 0 w 148"/>
                <a:gd name="T5" fmla="*/ 139 h 139"/>
                <a:gd name="T6" fmla="*/ 74 w 148"/>
                <a:gd name="T7" fmla="*/ 0 h 139"/>
                <a:gd name="T8" fmla="*/ 148 w 148"/>
                <a:gd name="T9" fmla="*/ 139 h 139"/>
                <a:gd name="T10" fmla="*/ 0 w 148"/>
                <a:gd name="T11" fmla="*/ 139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8"/>
                <a:gd name="T19" fmla="*/ 0 h 139"/>
                <a:gd name="T20" fmla="*/ 148 w 148"/>
                <a:gd name="T21" fmla="*/ 139 h 1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8" h="139">
                  <a:moveTo>
                    <a:pt x="148" y="0"/>
                  </a:moveTo>
                  <a:lnTo>
                    <a:pt x="0" y="0"/>
                  </a:lnTo>
                  <a:moveTo>
                    <a:pt x="0" y="139"/>
                  </a:moveTo>
                  <a:lnTo>
                    <a:pt x="74" y="0"/>
                  </a:lnTo>
                  <a:lnTo>
                    <a:pt x="148" y="139"/>
                  </a:lnTo>
                  <a:lnTo>
                    <a:pt x="0" y="139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7" name="Line 54"/>
            <p:cNvSpPr>
              <a:spLocks noChangeShapeType="1"/>
            </p:cNvSpPr>
            <p:nvPr/>
          </p:nvSpPr>
          <p:spPr bwMode="auto">
            <a:xfrm flipV="1">
              <a:off x="4266" y="2024"/>
              <a:ext cx="1" cy="553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8" name="Freeform 55"/>
            <p:cNvSpPr>
              <a:spLocks/>
            </p:cNvSpPr>
            <p:nvPr/>
          </p:nvSpPr>
          <p:spPr bwMode="auto">
            <a:xfrm>
              <a:off x="4192" y="2231"/>
              <a:ext cx="148" cy="139"/>
            </a:xfrm>
            <a:custGeom>
              <a:avLst/>
              <a:gdLst>
                <a:gd name="T0" fmla="*/ 74 w 148"/>
                <a:gd name="T1" fmla="*/ 0 h 139"/>
                <a:gd name="T2" fmla="*/ 0 w 148"/>
                <a:gd name="T3" fmla="*/ 139 h 139"/>
                <a:gd name="T4" fmla="*/ 148 w 148"/>
                <a:gd name="T5" fmla="*/ 139 h 139"/>
                <a:gd name="T6" fmla="*/ 74 w 148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8"/>
                <a:gd name="T13" fmla="*/ 0 h 139"/>
                <a:gd name="T14" fmla="*/ 148 w 148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8" h="139">
                  <a:moveTo>
                    <a:pt x="74" y="0"/>
                  </a:moveTo>
                  <a:lnTo>
                    <a:pt x="0" y="139"/>
                  </a:lnTo>
                  <a:lnTo>
                    <a:pt x="148" y="139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9" name="Freeform 56"/>
            <p:cNvSpPr>
              <a:spLocks/>
            </p:cNvSpPr>
            <p:nvPr/>
          </p:nvSpPr>
          <p:spPr bwMode="auto">
            <a:xfrm>
              <a:off x="4192" y="2231"/>
              <a:ext cx="148" cy="139"/>
            </a:xfrm>
            <a:custGeom>
              <a:avLst/>
              <a:gdLst>
                <a:gd name="T0" fmla="*/ 74 w 148"/>
                <a:gd name="T1" fmla="*/ 0 h 139"/>
                <a:gd name="T2" fmla="*/ 0 w 148"/>
                <a:gd name="T3" fmla="*/ 139 h 139"/>
                <a:gd name="T4" fmla="*/ 148 w 148"/>
                <a:gd name="T5" fmla="*/ 139 h 139"/>
                <a:gd name="T6" fmla="*/ 74 w 148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8"/>
                <a:gd name="T13" fmla="*/ 0 h 139"/>
                <a:gd name="T14" fmla="*/ 148 w 148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8" h="139">
                  <a:moveTo>
                    <a:pt x="74" y="0"/>
                  </a:moveTo>
                  <a:lnTo>
                    <a:pt x="0" y="139"/>
                  </a:lnTo>
                  <a:lnTo>
                    <a:pt x="148" y="139"/>
                  </a:lnTo>
                  <a:lnTo>
                    <a:pt x="74" y="0"/>
                  </a:lnTo>
                  <a:close/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0" name="Line 57"/>
            <p:cNvSpPr>
              <a:spLocks noChangeShapeType="1"/>
            </p:cNvSpPr>
            <p:nvPr/>
          </p:nvSpPr>
          <p:spPr bwMode="auto">
            <a:xfrm flipV="1">
              <a:off x="4266" y="2231"/>
              <a:ext cx="1" cy="139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1" name="Line 58"/>
            <p:cNvSpPr>
              <a:spLocks noChangeShapeType="1"/>
            </p:cNvSpPr>
            <p:nvPr/>
          </p:nvSpPr>
          <p:spPr bwMode="auto">
            <a:xfrm flipH="1">
              <a:off x="4192" y="2231"/>
              <a:ext cx="148" cy="1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2" name="Freeform 59"/>
            <p:cNvSpPr>
              <a:spLocks/>
            </p:cNvSpPr>
            <p:nvPr/>
          </p:nvSpPr>
          <p:spPr bwMode="auto">
            <a:xfrm>
              <a:off x="3468" y="2809"/>
              <a:ext cx="149" cy="139"/>
            </a:xfrm>
            <a:custGeom>
              <a:avLst/>
              <a:gdLst>
                <a:gd name="T0" fmla="*/ 0 w 149"/>
                <a:gd name="T1" fmla="*/ 139 h 139"/>
                <a:gd name="T2" fmla="*/ 74 w 149"/>
                <a:gd name="T3" fmla="*/ 0 h 139"/>
                <a:gd name="T4" fmla="*/ 149 w 149"/>
                <a:gd name="T5" fmla="*/ 139 h 139"/>
                <a:gd name="T6" fmla="*/ 0 w 149"/>
                <a:gd name="T7" fmla="*/ 139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9"/>
                <a:gd name="T13" fmla="*/ 0 h 139"/>
                <a:gd name="T14" fmla="*/ 149 w 149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9" h="139">
                  <a:moveTo>
                    <a:pt x="0" y="139"/>
                  </a:moveTo>
                  <a:lnTo>
                    <a:pt x="74" y="0"/>
                  </a:lnTo>
                  <a:lnTo>
                    <a:pt x="149" y="139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3" name="Freeform 60"/>
            <p:cNvSpPr>
              <a:spLocks noEditPoints="1"/>
            </p:cNvSpPr>
            <p:nvPr/>
          </p:nvSpPr>
          <p:spPr bwMode="auto">
            <a:xfrm>
              <a:off x="3468" y="2809"/>
              <a:ext cx="149" cy="139"/>
            </a:xfrm>
            <a:custGeom>
              <a:avLst/>
              <a:gdLst>
                <a:gd name="T0" fmla="*/ 149 w 149"/>
                <a:gd name="T1" fmla="*/ 0 h 139"/>
                <a:gd name="T2" fmla="*/ 0 w 149"/>
                <a:gd name="T3" fmla="*/ 0 h 139"/>
                <a:gd name="T4" fmla="*/ 0 w 149"/>
                <a:gd name="T5" fmla="*/ 139 h 139"/>
                <a:gd name="T6" fmla="*/ 74 w 149"/>
                <a:gd name="T7" fmla="*/ 0 h 139"/>
                <a:gd name="T8" fmla="*/ 149 w 149"/>
                <a:gd name="T9" fmla="*/ 139 h 139"/>
                <a:gd name="T10" fmla="*/ 0 w 149"/>
                <a:gd name="T11" fmla="*/ 139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9"/>
                <a:gd name="T19" fmla="*/ 0 h 139"/>
                <a:gd name="T20" fmla="*/ 149 w 149"/>
                <a:gd name="T21" fmla="*/ 139 h 1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9" h="139">
                  <a:moveTo>
                    <a:pt x="149" y="0"/>
                  </a:moveTo>
                  <a:lnTo>
                    <a:pt x="0" y="0"/>
                  </a:lnTo>
                  <a:moveTo>
                    <a:pt x="0" y="139"/>
                  </a:moveTo>
                  <a:lnTo>
                    <a:pt x="74" y="0"/>
                  </a:lnTo>
                  <a:lnTo>
                    <a:pt x="149" y="139"/>
                  </a:lnTo>
                  <a:lnTo>
                    <a:pt x="0" y="139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4" name="Line 61"/>
            <p:cNvSpPr>
              <a:spLocks noChangeShapeType="1"/>
            </p:cNvSpPr>
            <p:nvPr/>
          </p:nvSpPr>
          <p:spPr bwMode="auto">
            <a:xfrm flipV="1">
              <a:off x="3542" y="2602"/>
              <a:ext cx="1" cy="553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5" name="Freeform 62"/>
            <p:cNvSpPr>
              <a:spLocks/>
            </p:cNvSpPr>
            <p:nvPr/>
          </p:nvSpPr>
          <p:spPr bwMode="auto">
            <a:xfrm>
              <a:off x="3468" y="2809"/>
              <a:ext cx="149" cy="139"/>
            </a:xfrm>
            <a:custGeom>
              <a:avLst/>
              <a:gdLst>
                <a:gd name="T0" fmla="*/ 74 w 149"/>
                <a:gd name="T1" fmla="*/ 0 h 139"/>
                <a:gd name="T2" fmla="*/ 0 w 149"/>
                <a:gd name="T3" fmla="*/ 139 h 139"/>
                <a:gd name="T4" fmla="*/ 149 w 149"/>
                <a:gd name="T5" fmla="*/ 139 h 139"/>
                <a:gd name="T6" fmla="*/ 74 w 149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9"/>
                <a:gd name="T13" fmla="*/ 0 h 139"/>
                <a:gd name="T14" fmla="*/ 149 w 149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9" h="139">
                  <a:moveTo>
                    <a:pt x="74" y="0"/>
                  </a:moveTo>
                  <a:lnTo>
                    <a:pt x="0" y="139"/>
                  </a:lnTo>
                  <a:lnTo>
                    <a:pt x="149" y="139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6" name="Freeform 63"/>
            <p:cNvSpPr>
              <a:spLocks/>
            </p:cNvSpPr>
            <p:nvPr/>
          </p:nvSpPr>
          <p:spPr bwMode="auto">
            <a:xfrm>
              <a:off x="3468" y="2809"/>
              <a:ext cx="149" cy="139"/>
            </a:xfrm>
            <a:custGeom>
              <a:avLst/>
              <a:gdLst>
                <a:gd name="T0" fmla="*/ 74 w 149"/>
                <a:gd name="T1" fmla="*/ 0 h 139"/>
                <a:gd name="T2" fmla="*/ 0 w 149"/>
                <a:gd name="T3" fmla="*/ 139 h 139"/>
                <a:gd name="T4" fmla="*/ 149 w 149"/>
                <a:gd name="T5" fmla="*/ 139 h 139"/>
                <a:gd name="T6" fmla="*/ 74 w 149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9"/>
                <a:gd name="T13" fmla="*/ 0 h 139"/>
                <a:gd name="T14" fmla="*/ 149 w 149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9" h="139">
                  <a:moveTo>
                    <a:pt x="74" y="0"/>
                  </a:moveTo>
                  <a:lnTo>
                    <a:pt x="0" y="139"/>
                  </a:lnTo>
                  <a:lnTo>
                    <a:pt x="149" y="139"/>
                  </a:lnTo>
                  <a:lnTo>
                    <a:pt x="74" y="0"/>
                  </a:lnTo>
                  <a:close/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7" name="Line 64"/>
            <p:cNvSpPr>
              <a:spLocks noChangeShapeType="1"/>
            </p:cNvSpPr>
            <p:nvPr/>
          </p:nvSpPr>
          <p:spPr bwMode="auto">
            <a:xfrm flipV="1">
              <a:off x="3542" y="2809"/>
              <a:ext cx="1" cy="139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8" name="Line 65"/>
            <p:cNvSpPr>
              <a:spLocks noChangeShapeType="1"/>
            </p:cNvSpPr>
            <p:nvPr/>
          </p:nvSpPr>
          <p:spPr bwMode="auto">
            <a:xfrm flipH="1">
              <a:off x="3468" y="2809"/>
              <a:ext cx="149" cy="1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9" name="Freeform 66"/>
            <p:cNvSpPr>
              <a:spLocks/>
            </p:cNvSpPr>
            <p:nvPr/>
          </p:nvSpPr>
          <p:spPr bwMode="auto">
            <a:xfrm>
              <a:off x="3296" y="2066"/>
              <a:ext cx="37" cy="34"/>
            </a:xfrm>
            <a:custGeom>
              <a:avLst/>
              <a:gdLst>
                <a:gd name="T0" fmla="*/ 0 w 54"/>
                <a:gd name="T1" fmla="*/ 26 h 53"/>
                <a:gd name="T2" fmla="*/ 27 w 54"/>
                <a:gd name="T3" fmla="*/ 0 h 53"/>
                <a:gd name="T4" fmla="*/ 54 w 54"/>
                <a:gd name="T5" fmla="*/ 26 h 53"/>
                <a:gd name="T6" fmla="*/ 54 w 54"/>
                <a:gd name="T7" fmla="*/ 26 h 53"/>
                <a:gd name="T8" fmla="*/ 27 w 54"/>
                <a:gd name="T9" fmla="*/ 53 h 53"/>
                <a:gd name="T10" fmla="*/ 0 w 54"/>
                <a:gd name="T11" fmla="*/ 26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53"/>
                <a:gd name="T20" fmla="*/ 54 w 54"/>
                <a:gd name="T21" fmla="*/ 53 h 5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53">
                  <a:moveTo>
                    <a:pt x="0" y="26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6"/>
                  </a:cubicBezTo>
                  <a:cubicBezTo>
                    <a:pt x="54" y="26"/>
                    <a:pt x="54" y="26"/>
                    <a:pt x="54" y="26"/>
                  </a:cubicBezTo>
                  <a:cubicBezTo>
                    <a:pt x="54" y="41"/>
                    <a:pt x="42" y="53"/>
                    <a:pt x="27" y="53"/>
                  </a:cubicBezTo>
                  <a:cubicBezTo>
                    <a:pt x="12" y="53"/>
                    <a:pt x="0" y="41"/>
                    <a:pt x="0" y="26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50" name="Freeform 67"/>
            <p:cNvSpPr>
              <a:spLocks/>
            </p:cNvSpPr>
            <p:nvPr/>
          </p:nvSpPr>
          <p:spPr bwMode="auto">
            <a:xfrm>
              <a:off x="3296" y="3137"/>
              <a:ext cx="37" cy="35"/>
            </a:xfrm>
            <a:custGeom>
              <a:avLst/>
              <a:gdLst>
                <a:gd name="T0" fmla="*/ 0 w 54"/>
                <a:gd name="T1" fmla="*/ 27 h 53"/>
                <a:gd name="T2" fmla="*/ 27 w 54"/>
                <a:gd name="T3" fmla="*/ 0 h 53"/>
                <a:gd name="T4" fmla="*/ 54 w 54"/>
                <a:gd name="T5" fmla="*/ 27 h 53"/>
                <a:gd name="T6" fmla="*/ 54 w 54"/>
                <a:gd name="T7" fmla="*/ 27 h 53"/>
                <a:gd name="T8" fmla="*/ 27 w 54"/>
                <a:gd name="T9" fmla="*/ 53 h 53"/>
                <a:gd name="T10" fmla="*/ 0 w 54"/>
                <a:gd name="T11" fmla="*/ 27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53"/>
                <a:gd name="T20" fmla="*/ 54 w 54"/>
                <a:gd name="T21" fmla="*/ 53 h 5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53">
                  <a:moveTo>
                    <a:pt x="0" y="27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41"/>
                    <a:pt x="42" y="53"/>
                    <a:pt x="27" y="53"/>
                  </a:cubicBezTo>
                  <a:cubicBezTo>
                    <a:pt x="12" y="53"/>
                    <a:pt x="0" y="41"/>
                    <a:pt x="0" y="27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51" name="Freeform 68"/>
            <p:cNvSpPr>
              <a:spLocks noEditPoints="1"/>
            </p:cNvSpPr>
            <p:nvPr/>
          </p:nvSpPr>
          <p:spPr bwMode="auto">
            <a:xfrm>
              <a:off x="3302" y="2783"/>
              <a:ext cx="24" cy="194"/>
            </a:xfrm>
            <a:custGeom>
              <a:avLst/>
              <a:gdLst>
                <a:gd name="T0" fmla="*/ 17 w 34"/>
                <a:gd name="T1" fmla="*/ 267 h 300"/>
                <a:gd name="T2" fmla="*/ 0 w 34"/>
                <a:gd name="T3" fmla="*/ 283 h 300"/>
                <a:gd name="T4" fmla="*/ 17 w 34"/>
                <a:gd name="T5" fmla="*/ 300 h 300"/>
                <a:gd name="T6" fmla="*/ 17 w 34"/>
                <a:gd name="T7" fmla="*/ 300 h 300"/>
                <a:gd name="T8" fmla="*/ 34 w 34"/>
                <a:gd name="T9" fmla="*/ 283 h 300"/>
                <a:gd name="T10" fmla="*/ 17 w 34"/>
                <a:gd name="T11" fmla="*/ 267 h 300"/>
                <a:gd name="T12" fmla="*/ 17 w 34"/>
                <a:gd name="T13" fmla="*/ 267 h 300"/>
                <a:gd name="T14" fmla="*/ 17 w 34"/>
                <a:gd name="T15" fmla="*/ 0 h 300"/>
                <a:gd name="T16" fmla="*/ 0 w 34"/>
                <a:gd name="T17" fmla="*/ 16 h 300"/>
                <a:gd name="T18" fmla="*/ 17 w 34"/>
                <a:gd name="T19" fmla="*/ 33 h 300"/>
                <a:gd name="T20" fmla="*/ 17 w 34"/>
                <a:gd name="T21" fmla="*/ 33 h 300"/>
                <a:gd name="T22" fmla="*/ 34 w 34"/>
                <a:gd name="T23" fmla="*/ 16 h 300"/>
                <a:gd name="T24" fmla="*/ 17 w 34"/>
                <a:gd name="T25" fmla="*/ 0 h 300"/>
                <a:gd name="T26" fmla="*/ 17 w 34"/>
                <a:gd name="T27" fmla="*/ 0 h 3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4"/>
                <a:gd name="T43" fmla="*/ 0 h 300"/>
                <a:gd name="T44" fmla="*/ 34 w 34"/>
                <a:gd name="T45" fmla="*/ 300 h 3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4" h="300">
                  <a:moveTo>
                    <a:pt x="17" y="267"/>
                  </a:moveTo>
                  <a:cubicBezTo>
                    <a:pt x="8" y="267"/>
                    <a:pt x="0" y="274"/>
                    <a:pt x="0" y="283"/>
                  </a:cubicBezTo>
                  <a:cubicBezTo>
                    <a:pt x="0" y="292"/>
                    <a:pt x="8" y="300"/>
                    <a:pt x="17" y="300"/>
                  </a:cubicBezTo>
                  <a:cubicBezTo>
                    <a:pt x="17" y="300"/>
                    <a:pt x="17" y="300"/>
                    <a:pt x="17" y="300"/>
                  </a:cubicBezTo>
                  <a:cubicBezTo>
                    <a:pt x="27" y="300"/>
                    <a:pt x="34" y="292"/>
                    <a:pt x="34" y="283"/>
                  </a:cubicBezTo>
                  <a:cubicBezTo>
                    <a:pt x="34" y="274"/>
                    <a:pt x="27" y="267"/>
                    <a:pt x="17" y="267"/>
                  </a:cubicBezTo>
                  <a:cubicBezTo>
                    <a:pt x="17" y="267"/>
                    <a:pt x="17" y="267"/>
                    <a:pt x="17" y="267"/>
                  </a:cubicBezTo>
                  <a:close/>
                  <a:moveTo>
                    <a:pt x="17" y="0"/>
                  </a:moveTo>
                  <a:cubicBezTo>
                    <a:pt x="8" y="0"/>
                    <a:pt x="0" y="7"/>
                    <a:pt x="0" y="16"/>
                  </a:cubicBezTo>
                  <a:cubicBezTo>
                    <a:pt x="0" y="25"/>
                    <a:pt x="8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27" y="33"/>
                    <a:pt x="34" y="25"/>
                    <a:pt x="34" y="16"/>
                  </a:cubicBezTo>
                  <a:cubicBezTo>
                    <a:pt x="34" y="7"/>
                    <a:pt x="2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52" name="Freeform 69"/>
            <p:cNvSpPr>
              <a:spLocks noEditPoints="1"/>
            </p:cNvSpPr>
            <p:nvPr/>
          </p:nvSpPr>
          <p:spPr bwMode="auto">
            <a:xfrm>
              <a:off x="3302" y="2783"/>
              <a:ext cx="71" cy="194"/>
            </a:xfrm>
            <a:custGeom>
              <a:avLst/>
              <a:gdLst>
                <a:gd name="T0" fmla="*/ 17 w 103"/>
                <a:gd name="T1" fmla="*/ 267 h 300"/>
                <a:gd name="T2" fmla="*/ 0 w 103"/>
                <a:gd name="T3" fmla="*/ 283 h 300"/>
                <a:gd name="T4" fmla="*/ 17 w 103"/>
                <a:gd name="T5" fmla="*/ 300 h 300"/>
                <a:gd name="T6" fmla="*/ 17 w 103"/>
                <a:gd name="T7" fmla="*/ 300 h 300"/>
                <a:gd name="T8" fmla="*/ 34 w 103"/>
                <a:gd name="T9" fmla="*/ 283 h 300"/>
                <a:gd name="T10" fmla="*/ 17 w 103"/>
                <a:gd name="T11" fmla="*/ 267 h 300"/>
                <a:gd name="T12" fmla="*/ 17 w 103"/>
                <a:gd name="T13" fmla="*/ 267 h 300"/>
                <a:gd name="T14" fmla="*/ 17 w 103"/>
                <a:gd name="T15" fmla="*/ 0 h 300"/>
                <a:gd name="T16" fmla="*/ 0 w 103"/>
                <a:gd name="T17" fmla="*/ 16 h 300"/>
                <a:gd name="T18" fmla="*/ 17 w 103"/>
                <a:gd name="T19" fmla="*/ 33 h 300"/>
                <a:gd name="T20" fmla="*/ 17 w 103"/>
                <a:gd name="T21" fmla="*/ 33 h 300"/>
                <a:gd name="T22" fmla="*/ 34 w 103"/>
                <a:gd name="T23" fmla="*/ 16 h 300"/>
                <a:gd name="T24" fmla="*/ 17 w 103"/>
                <a:gd name="T25" fmla="*/ 0 h 300"/>
                <a:gd name="T26" fmla="*/ 17 w 103"/>
                <a:gd name="T27" fmla="*/ 0 h 300"/>
                <a:gd name="T28" fmla="*/ 24 w 103"/>
                <a:gd name="T29" fmla="*/ 32 h 300"/>
                <a:gd name="T30" fmla="*/ 103 w 103"/>
                <a:gd name="T31" fmla="*/ 250 h 30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3"/>
                <a:gd name="T49" fmla="*/ 0 h 300"/>
                <a:gd name="T50" fmla="*/ 103 w 103"/>
                <a:gd name="T51" fmla="*/ 300 h 30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3" h="300">
                  <a:moveTo>
                    <a:pt x="17" y="267"/>
                  </a:moveTo>
                  <a:cubicBezTo>
                    <a:pt x="8" y="267"/>
                    <a:pt x="0" y="274"/>
                    <a:pt x="0" y="283"/>
                  </a:cubicBezTo>
                  <a:cubicBezTo>
                    <a:pt x="0" y="292"/>
                    <a:pt x="8" y="300"/>
                    <a:pt x="17" y="300"/>
                  </a:cubicBezTo>
                  <a:cubicBezTo>
                    <a:pt x="17" y="300"/>
                    <a:pt x="17" y="300"/>
                    <a:pt x="17" y="300"/>
                  </a:cubicBezTo>
                  <a:cubicBezTo>
                    <a:pt x="27" y="300"/>
                    <a:pt x="34" y="292"/>
                    <a:pt x="34" y="283"/>
                  </a:cubicBezTo>
                  <a:cubicBezTo>
                    <a:pt x="34" y="274"/>
                    <a:pt x="27" y="267"/>
                    <a:pt x="17" y="267"/>
                  </a:cubicBezTo>
                  <a:cubicBezTo>
                    <a:pt x="17" y="267"/>
                    <a:pt x="17" y="267"/>
                    <a:pt x="17" y="267"/>
                  </a:cubicBezTo>
                  <a:moveTo>
                    <a:pt x="17" y="0"/>
                  </a:moveTo>
                  <a:cubicBezTo>
                    <a:pt x="8" y="0"/>
                    <a:pt x="0" y="7"/>
                    <a:pt x="0" y="16"/>
                  </a:cubicBezTo>
                  <a:cubicBezTo>
                    <a:pt x="0" y="25"/>
                    <a:pt x="8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27" y="33"/>
                    <a:pt x="34" y="25"/>
                    <a:pt x="34" y="16"/>
                  </a:cubicBezTo>
                  <a:cubicBezTo>
                    <a:pt x="34" y="7"/>
                    <a:pt x="2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moveTo>
                    <a:pt x="24" y="32"/>
                  </a:moveTo>
                  <a:lnTo>
                    <a:pt x="103" y="250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53" name="Freeform 70"/>
            <p:cNvSpPr>
              <a:spLocks/>
            </p:cNvSpPr>
            <p:nvPr/>
          </p:nvSpPr>
          <p:spPr bwMode="auto">
            <a:xfrm>
              <a:off x="3298" y="2648"/>
              <a:ext cx="32" cy="58"/>
            </a:xfrm>
            <a:custGeom>
              <a:avLst/>
              <a:gdLst>
                <a:gd name="T0" fmla="*/ 17 w 32"/>
                <a:gd name="T1" fmla="*/ 58 h 58"/>
                <a:gd name="T2" fmla="*/ 32 w 32"/>
                <a:gd name="T3" fmla="*/ 0 h 58"/>
                <a:gd name="T4" fmla="*/ 0 w 32"/>
                <a:gd name="T5" fmla="*/ 0 h 58"/>
                <a:gd name="T6" fmla="*/ 17 w 32"/>
                <a:gd name="T7" fmla="*/ 58 h 5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"/>
                <a:gd name="T13" fmla="*/ 0 h 58"/>
                <a:gd name="T14" fmla="*/ 32 w 32"/>
                <a:gd name="T15" fmla="*/ 58 h 5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" h="58">
                  <a:moveTo>
                    <a:pt x="17" y="58"/>
                  </a:moveTo>
                  <a:lnTo>
                    <a:pt x="32" y="0"/>
                  </a:lnTo>
                  <a:lnTo>
                    <a:pt x="0" y="0"/>
                  </a:lnTo>
                  <a:lnTo>
                    <a:pt x="17" y="58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54" name="Freeform 71"/>
            <p:cNvSpPr>
              <a:spLocks/>
            </p:cNvSpPr>
            <p:nvPr/>
          </p:nvSpPr>
          <p:spPr bwMode="auto">
            <a:xfrm>
              <a:off x="3298" y="2648"/>
              <a:ext cx="32" cy="58"/>
            </a:xfrm>
            <a:custGeom>
              <a:avLst/>
              <a:gdLst>
                <a:gd name="T0" fmla="*/ 17 w 32"/>
                <a:gd name="T1" fmla="*/ 58 h 58"/>
                <a:gd name="T2" fmla="*/ 32 w 32"/>
                <a:gd name="T3" fmla="*/ 0 h 58"/>
                <a:gd name="T4" fmla="*/ 0 w 32"/>
                <a:gd name="T5" fmla="*/ 0 h 58"/>
                <a:gd name="T6" fmla="*/ 17 w 32"/>
                <a:gd name="T7" fmla="*/ 58 h 5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"/>
                <a:gd name="T13" fmla="*/ 0 h 58"/>
                <a:gd name="T14" fmla="*/ 32 w 32"/>
                <a:gd name="T15" fmla="*/ 58 h 5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" h="58">
                  <a:moveTo>
                    <a:pt x="17" y="58"/>
                  </a:moveTo>
                  <a:lnTo>
                    <a:pt x="32" y="0"/>
                  </a:lnTo>
                  <a:lnTo>
                    <a:pt x="0" y="0"/>
                  </a:lnTo>
                  <a:lnTo>
                    <a:pt x="17" y="58"/>
                  </a:lnTo>
                  <a:close/>
                </a:path>
              </a:pathLst>
            </a:cu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55" name="Line 72"/>
            <p:cNvSpPr>
              <a:spLocks noChangeShapeType="1"/>
            </p:cNvSpPr>
            <p:nvPr/>
          </p:nvSpPr>
          <p:spPr bwMode="auto">
            <a:xfrm flipV="1">
              <a:off x="3315" y="2573"/>
              <a:ext cx="1" cy="75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56" name="Freeform 73"/>
            <p:cNvSpPr>
              <a:spLocks/>
            </p:cNvSpPr>
            <p:nvPr/>
          </p:nvSpPr>
          <p:spPr bwMode="auto">
            <a:xfrm>
              <a:off x="3526" y="2620"/>
              <a:ext cx="32" cy="59"/>
            </a:xfrm>
            <a:custGeom>
              <a:avLst/>
              <a:gdLst>
                <a:gd name="T0" fmla="*/ 16 w 32"/>
                <a:gd name="T1" fmla="*/ 0 h 59"/>
                <a:gd name="T2" fmla="*/ 0 w 32"/>
                <a:gd name="T3" fmla="*/ 59 h 59"/>
                <a:gd name="T4" fmla="*/ 32 w 32"/>
                <a:gd name="T5" fmla="*/ 59 h 59"/>
                <a:gd name="T6" fmla="*/ 16 w 32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"/>
                <a:gd name="T13" fmla="*/ 0 h 59"/>
                <a:gd name="T14" fmla="*/ 32 w 32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" h="59">
                  <a:moveTo>
                    <a:pt x="16" y="0"/>
                  </a:moveTo>
                  <a:lnTo>
                    <a:pt x="0" y="59"/>
                  </a:lnTo>
                  <a:lnTo>
                    <a:pt x="32" y="59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57" name="Freeform 74"/>
            <p:cNvSpPr>
              <a:spLocks/>
            </p:cNvSpPr>
            <p:nvPr/>
          </p:nvSpPr>
          <p:spPr bwMode="auto">
            <a:xfrm>
              <a:off x="3526" y="2620"/>
              <a:ext cx="32" cy="59"/>
            </a:xfrm>
            <a:custGeom>
              <a:avLst/>
              <a:gdLst>
                <a:gd name="T0" fmla="*/ 16 w 32"/>
                <a:gd name="T1" fmla="*/ 0 h 59"/>
                <a:gd name="T2" fmla="*/ 0 w 32"/>
                <a:gd name="T3" fmla="*/ 59 h 59"/>
                <a:gd name="T4" fmla="*/ 32 w 32"/>
                <a:gd name="T5" fmla="*/ 59 h 59"/>
                <a:gd name="T6" fmla="*/ 16 w 32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"/>
                <a:gd name="T13" fmla="*/ 0 h 59"/>
                <a:gd name="T14" fmla="*/ 32 w 32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" h="59">
                  <a:moveTo>
                    <a:pt x="16" y="0"/>
                  </a:moveTo>
                  <a:lnTo>
                    <a:pt x="0" y="59"/>
                  </a:lnTo>
                  <a:lnTo>
                    <a:pt x="32" y="59"/>
                  </a:lnTo>
                  <a:lnTo>
                    <a:pt x="16" y="0"/>
                  </a:lnTo>
                  <a:close/>
                </a:path>
              </a:pathLst>
            </a:cu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58" name="Line 75"/>
            <p:cNvSpPr>
              <a:spLocks noChangeShapeType="1"/>
            </p:cNvSpPr>
            <p:nvPr/>
          </p:nvSpPr>
          <p:spPr bwMode="auto">
            <a:xfrm>
              <a:off x="3542" y="2679"/>
              <a:ext cx="1" cy="74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59" name="Freeform 76"/>
            <p:cNvSpPr>
              <a:spLocks/>
            </p:cNvSpPr>
            <p:nvPr/>
          </p:nvSpPr>
          <p:spPr bwMode="auto">
            <a:xfrm>
              <a:off x="3870" y="2007"/>
              <a:ext cx="63" cy="30"/>
            </a:xfrm>
            <a:custGeom>
              <a:avLst/>
              <a:gdLst>
                <a:gd name="T0" fmla="*/ 63 w 63"/>
                <a:gd name="T1" fmla="*/ 15 h 30"/>
                <a:gd name="T2" fmla="*/ 0 w 63"/>
                <a:gd name="T3" fmla="*/ 0 h 30"/>
                <a:gd name="T4" fmla="*/ 0 w 63"/>
                <a:gd name="T5" fmla="*/ 30 h 30"/>
                <a:gd name="T6" fmla="*/ 63 w 63"/>
                <a:gd name="T7" fmla="*/ 15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3"/>
                <a:gd name="T13" fmla="*/ 0 h 30"/>
                <a:gd name="T14" fmla="*/ 63 w 63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3" h="30">
                  <a:moveTo>
                    <a:pt x="63" y="15"/>
                  </a:moveTo>
                  <a:lnTo>
                    <a:pt x="0" y="0"/>
                  </a:lnTo>
                  <a:lnTo>
                    <a:pt x="0" y="30"/>
                  </a:lnTo>
                  <a:lnTo>
                    <a:pt x="63" y="15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60" name="Freeform 77"/>
            <p:cNvSpPr>
              <a:spLocks/>
            </p:cNvSpPr>
            <p:nvPr/>
          </p:nvSpPr>
          <p:spPr bwMode="auto">
            <a:xfrm>
              <a:off x="3870" y="2007"/>
              <a:ext cx="63" cy="30"/>
            </a:xfrm>
            <a:custGeom>
              <a:avLst/>
              <a:gdLst>
                <a:gd name="T0" fmla="*/ 63 w 63"/>
                <a:gd name="T1" fmla="*/ 15 h 30"/>
                <a:gd name="T2" fmla="*/ 0 w 63"/>
                <a:gd name="T3" fmla="*/ 0 h 30"/>
                <a:gd name="T4" fmla="*/ 0 w 63"/>
                <a:gd name="T5" fmla="*/ 30 h 30"/>
                <a:gd name="T6" fmla="*/ 63 w 63"/>
                <a:gd name="T7" fmla="*/ 15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3"/>
                <a:gd name="T13" fmla="*/ 0 h 30"/>
                <a:gd name="T14" fmla="*/ 63 w 63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3" h="30">
                  <a:moveTo>
                    <a:pt x="63" y="15"/>
                  </a:moveTo>
                  <a:lnTo>
                    <a:pt x="0" y="0"/>
                  </a:lnTo>
                  <a:lnTo>
                    <a:pt x="0" y="30"/>
                  </a:lnTo>
                  <a:lnTo>
                    <a:pt x="63" y="15"/>
                  </a:lnTo>
                  <a:close/>
                </a:path>
              </a:pathLst>
            </a:cu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61" name="Line 78"/>
            <p:cNvSpPr>
              <a:spLocks noChangeShapeType="1"/>
            </p:cNvSpPr>
            <p:nvPr/>
          </p:nvSpPr>
          <p:spPr bwMode="auto">
            <a:xfrm flipH="1">
              <a:off x="3790" y="2022"/>
              <a:ext cx="80" cy="1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62" name="Rectangle 79"/>
            <p:cNvSpPr>
              <a:spLocks noChangeArrowheads="1"/>
            </p:cNvSpPr>
            <p:nvPr/>
          </p:nvSpPr>
          <p:spPr bwMode="auto">
            <a:xfrm>
              <a:off x="3334" y="2568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46163" name="Rectangle 80"/>
            <p:cNvSpPr>
              <a:spLocks noChangeArrowheads="1"/>
            </p:cNvSpPr>
            <p:nvPr/>
          </p:nvSpPr>
          <p:spPr bwMode="auto">
            <a:xfrm>
              <a:off x="3788" y="2251"/>
              <a:ext cx="14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6164" name="Rectangle 81"/>
            <p:cNvSpPr>
              <a:spLocks noChangeArrowheads="1"/>
            </p:cNvSpPr>
            <p:nvPr/>
          </p:nvSpPr>
          <p:spPr bwMode="auto">
            <a:xfrm>
              <a:off x="3379" y="2251"/>
              <a:ext cx="14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6165" name="Rectangle 82"/>
            <p:cNvSpPr>
              <a:spLocks noChangeArrowheads="1"/>
            </p:cNvSpPr>
            <p:nvPr/>
          </p:nvSpPr>
          <p:spPr bwMode="auto">
            <a:xfrm>
              <a:off x="3561" y="2568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6166" name="Rectangle 83"/>
            <p:cNvSpPr>
              <a:spLocks noChangeArrowheads="1"/>
            </p:cNvSpPr>
            <p:nvPr/>
          </p:nvSpPr>
          <p:spPr bwMode="auto">
            <a:xfrm>
              <a:off x="3788" y="1797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6167" name="Rectangle 84"/>
            <p:cNvSpPr>
              <a:spLocks noChangeArrowheads="1"/>
            </p:cNvSpPr>
            <p:nvPr/>
          </p:nvSpPr>
          <p:spPr bwMode="auto">
            <a:xfrm>
              <a:off x="3652" y="2795"/>
              <a:ext cx="15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6168" name="Line 85"/>
            <p:cNvSpPr>
              <a:spLocks noChangeShapeType="1"/>
            </p:cNvSpPr>
            <p:nvPr/>
          </p:nvSpPr>
          <p:spPr bwMode="auto">
            <a:xfrm>
              <a:off x="2925" y="3157"/>
              <a:ext cx="63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69" name="Line 86"/>
            <p:cNvSpPr>
              <a:spLocks noChangeShapeType="1"/>
            </p:cNvSpPr>
            <p:nvPr/>
          </p:nvSpPr>
          <p:spPr bwMode="auto">
            <a:xfrm>
              <a:off x="2925" y="2069"/>
              <a:ext cx="63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70" name="Text Box 87"/>
            <p:cNvSpPr txBox="1">
              <a:spLocks noChangeArrowheads="1"/>
            </p:cNvSpPr>
            <p:nvPr/>
          </p:nvSpPr>
          <p:spPr bwMode="auto">
            <a:xfrm>
              <a:off x="3061" y="3249"/>
              <a:ext cx="222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/>
                <a:t>Practical forward converter</a:t>
              </a:r>
            </a:p>
          </p:txBody>
        </p:sp>
      </p:grpSp>
      <p:sp>
        <p:nvSpPr>
          <p:cNvPr id="46085" name="Text Box 88"/>
          <p:cNvSpPr txBox="1">
            <a:spLocks noChangeArrowheads="1"/>
          </p:cNvSpPr>
          <p:nvPr/>
        </p:nvSpPr>
        <p:spPr bwMode="auto">
          <a:xfrm>
            <a:off x="466725" y="3933825"/>
            <a:ext cx="4176713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altLang="zh-CN" sz="2400" dirty="0"/>
              <a:t>(a) Calculate N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/N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if this turns ratio is desired to be as small as possible.</a:t>
            </a:r>
          </a:p>
          <a:p>
            <a:pPr algn="just"/>
            <a:r>
              <a:rPr lang="en-US" altLang="zh-CN" sz="2400" dirty="0"/>
              <a:t>(b) Calculate the minimum value of the filter inductance.</a:t>
            </a:r>
            <a:endParaRPr lang="zh-CN" altLang="en-US" sz="2400" dirty="0"/>
          </a:p>
        </p:txBody>
      </p:sp>
      <p:sp>
        <p:nvSpPr>
          <p:cNvPr id="46086" name="Rectangle 7"/>
          <p:cNvSpPr>
            <a:spLocks noChangeArrowheads="1"/>
          </p:cNvSpPr>
          <p:nvPr/>
        </p:nvSpPr>
        <p:spPr bwMode="auto">
          <a:xfrm>
            <a:off x="4787900" y="188913"/>
            <a:ext cx="16065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A50021"/>
                </a:solidFill>
              </a:rPr>
              <a:t>Problem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B2DA0E1-03F6-4F7D-8556-AF8A95211468}" type="slidenum">
              <a:rPr lang="en-US" altLang="zh-CN" smtClean="0"/>
              <a:pPr/>
              <a:t>34</a:t>
            </a:fld>
            <a:endParaRPr lang="en-US" altLang="zh-CN" smtClean="0"/>
          </a:p>
        </p:txBody>
      </p:sp>
      <p:sp>
        <p:nvSpPr>
          <p:cNvPr id="48131" name="Text Box 2"/>
          <p:cNvSpPr txBox="1">
            <a:spLocks noChangeArrowheads="1"/>
          </p:cNvSpPr>
          <p:nvPr/>
        </p:nvSpPr>
        <p:spPr bwMode="auto">
          <a:xfrm>
            <a:off x="468313" y="981075"/>
            <a:ext cx="82804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rgbClr val="A50021"/>
                </a:solidFill>
              </a:rPr>
              <a:t>10-6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In the circuit of Fig. 10-12b with two parallel forward converter, draw the input current i</a:t>
            </a:r>
            <a:r>
              <a:rPr lang="en-US" altLang="zh-CN" sz="2400" baseline="-25000" dirty="0"/>
              <a:t>d</a:t>
            </a:r>
            <a:r>
              <a:rPr lang="en-US" altLang="zh-CN" sz="2400" dirty="0"/>
              <a:t> and </a:t>
            </a:r>
            <a:r>
              <a:rPr lang="en-US" altLang="zh-CN" sz="2400" dirty="0" err="1"/>
              <a:t>i</a:t>
            </a:r>
            <a:r>
              <a:rPr lang="en-US" altLang="zh-CN" sz="2400" baseline="-25000" dirty="0" err="1"/>
              <a:t>L</a:t>
            </a:r>
            <a:r>
              <a:rPr lang="en-US" altLang="zh-CN" sz="2400" dirty="0"/>
              <a:t> waveforms if each converter is operating at a duty ratio of 0.3 in a continuous-conduction mode. </a:t>
            </a:r>
            <a:endParaRPr lang="en-US" altLang="zh-CN" sz="2400" dirty="0">
              <a:cs typeface="Arial" charset="0"/>
            </a:endParaRPr>
          </a:p>
        </p:txBody>
      </p:sp>
      <p:pic>
        <p:nvPicPr>
          <p:cNvPr id="48132" name="Picture 3" descr="~AUT032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14988" y="2133600"/>
            <a:ext cx="3529012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33" name="Text Box 4"/>
          <p:cNvSpPr txBox="1">
            <a:spLocks noChangeArrowheads="1"/>
          </p:cNvSpPr>
          <p:nvPr/>
        </p:nvSpPr>
        <p:spPr bwMode="auto">
          <a:xfrm>
            <a:off x="539750" y="2565400"/>
            <a:ext cx="4537075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altLang="zh-CN" sz="2400" dirty="0"/>
              <a:t>Compare these two waveforms with those if a single forward converter (with twice the power rating but with the same value of the output filter inductance as in Fig. 10-12b) is used. Assuming 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o</a:t>
            </a:r>
            <a:r>
              <a:rPr lang="en-US" altLang="zh-CN" sz="2400" dirty="0"/>
              <a:t>(t)</a:t>
            </a:r>
            <a:r>
              <a:rPr lang="en-US" altLang="zh-CN" sz="2400" dirty="0">
                <a:cs typeface="Arial" charset="0"/>
              </a:rPr>
              <a:t>≈V</a:t>
            </a:r>
            <a:r>
              <a:rPr lang="en-US" altLang="zh-CN" sz="2400" baseline="-25000" dirty="0">
                <a:cs typeface="Arial" charset="0"/>
              </a:rPr>
              <a:t>o</a:t>
            </a:r>
            <a:r>
              <a:rPr lang="en-US" altLang="zh-CN" sz="2400" dirty="0">
                <a:cs typeface="Arial" charset="0"/>
              </a:rPr>
              <a:t>.</a:t>
            </a:r>
          </a:p>
        </p:txBody>
      </p:sp>
      <p:sp>
        <p:nvSpPr>
          <p:cNvPr id="48134" name="Rectangle 7"/>
          <p:cNvSpPr>
            <a:spLocks noChangeArrowheads="1"/>
          </p:cNvSpPr>
          <p:nvPr/>
        </p:nvSpPr>
        <p:spPr bwMode="auto">
          <a:xfrm>
            <a:off x="4787900" y="188913"/>
            <a:ext cx="16065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A50021"/>
                </a:solidFill>
              </a:rPr>
              <a:t>Problem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301191A-1D3A-4609-BF7E-013A5A7280D0}" type="slidenum">
              <a:rPr lang="en-US" altLang="zh-CN" smtClean="0"/>
              <a:pPr/>
              <a:t>35</a:t>
            </a:fld>
            <a:endParaRPr lang="en-US" altLang="zh-CN" smtClean="0"/>
          </a:p>
        </p:txBody>
      </p:sp>
      <p:sp>
        <p:nvSpPr>
          <p:cNvPr id="49155" name="Text Box 2"/>
          <p:cNvSpPr txBox="1">
            <a:spLocks noChangeArrowheads="1"/>
          </p:cNvSpPr>
          <p:nvPr/>
        </p:nvSpPr>
        <p:spPr bwMode="auto">
          <a:xfrm>
            <a:off x="468313" y="981075"/>
            <a:ext cx="82804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rgbClr val="A50021"/>
                </a:solidFill>
              </a:rPr>
              <a:t>10-7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In the push-pull converter of Fig. 10-13a, assume the losses to be zero and each switch duty ratio to be 0.25. The transformer has a finite magnetizing inductance and </a:t>
            </a:r>
            <a:r>
              <a:rPr lang="en-US" altLang="zh-CN" sz="2400" dirty="0" err="1"/>
              <a:t>i</a:t>
            </a:r>
            <a:r>
              <a:rPr lang="en-US" altLang="zh-CN" sz="2400" baseline="-25000" dirty="0" err="1"/>
              <a:t>m</a:t>
            </a:r>
            <a:r>
              <a:rPr lang="en-US" altLang="zh-CN" sz="2400" dirty="0"/>
              <a:t> is the magnetizing current.</a:t>
            </a:r>
          </a:p>
        </p:txBody>
      </p:sp>
      <p:pic>
        <p:nvPicPr>
          <p:cNvPr id="49156" name="Picture 3" descr="~AUT032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40300" y="2205038"/>
            <a:ext cx="4203700" cy="4652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7" name="Text Box 4"/>
          <p:cNvSpPr txBox="1">
            <a:spLocks noChangeArrowheads="1"/>
          </p:cNvSpPr>
          <p:nvPr/>
        </p:nvSpPr>
        <p:spPr bwMode="auto">
          <a:xfrm>
            <a:off x="468313" y="2636838"/>
            <a:ext cx="424815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altLang="zh-CN" sz="2400" dirty="0"/>
              <a:t>(a) At a large load where </a:t>
            </a:r>
            <a:r>
              <a:rPr lang="en-US" altLang="zh-CN" sz="2400" dirty="0" err="1"/>
              <a:t>i</a:t>
            </a:r>
            <a:r>
              <a:rPr lang="en-US" altLang="zh-CN" sz="2400" baseline="-25000" dirty="0" err="1"/>
              <a:t>L</a:t>
            </a:r>
            <a:r>
              <a:rPr lang="en-US" altLang="zh-CN" sz="2400" dirty="0"/>
              <a:t>(N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/N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)&gt;&gt;</a:t>
            </a:r>
            <a:r>
              <a:rPr lang="en-US" altLang="zh-CN" sz="2400" dirty="0" err="1"/>
              <a:t>i</a:t>
            </a:r>
            <a:r>
              <a:rPr lang="en-US" altLang="zh-CN" sz="2400" baseline="-25000" dirty="0" err="1"/>
              <a:t>m</a:t>
            </a:r>
            <a:r>
              <a:rPr lang="en-US" altLang="zh-CN" sz="2400" dirty="0"/>
              <a:t>, draw the </a:t>
            </a:r>
            <a:r>
              <a:rPr lang="en-US" altLang="zh-CN" sz="2400" dirty="0" err="1"/>
              <a:t>i</a:t>
            </a:r>
            <a:r>
              <a:rPr lang="en-US" altLang="zh-CN" sz="2400" baseline="-25000" dirty="0" err="1"/>
              <a:t>m</a:t>
            </a:r>
            <a:r>
              <a:rPr lang="en-US" altLang="zh-CN" sz="2400" dirty="0"/>
              <a:t>, i</a:t>
            </a:r>
            <a:r>
              <a:rPr lang="en-US" altLang="zh-CN" sz="2400" baseline="-25000" dirty="0"/>
              <a:t>D1</a:t>
            </a:r>
            <a:r>
              <a:rPr lang="en-US" altLang="zh-CN" sz="2400" dirty="0"/>
              <a:t>, and i</a:t>
            </a:r>
            <a:r>
              <a:rPr lang="en-US" altLang="zh-CN" sz="2400" baseline="-25000" dirty="0"/>
              <a:t>D2</a:t>
            </a:r>
            <a:r>
              <a:rPr lang="en-US" altLang="zh-CN" sz="2400" dirty="0"/>
              <a:t> waveform.</a:t>
            </a:r>
          </a:p>
        </p:txBody>
      </p:sp>
      <p:sp>
        <p:nvSpPr>
          <p:cNvPr id="49158" name="Rectangle 7"/>
          <p:cNvSpPr>
            <a:spLocks noChangeArrowheads="1"/>
          </p:cNvSpPr>
          <p:nvPr/>
        </p:nvSpPr>
        <p:spPr bwMode="auto">
          <a:xfrm>
            <a:off x="4787900" y="188913"/>
            <a:ext cx="16065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A50021"/>
                </a:solidFill>
              </a:rPr>
              <a:t>Problem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4359</TotalTime>
  <Words>2075</Words>
  <Application>Microsoft Office PowerPoint</Application>
  <PresentationFormat>全屏显示(4:3)</PresentationFormat>
  <Paragraphs>886</Paragraphs>
  <Slides>35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35</vt:i4>
      </vt:variant>
    </vt:vector>
  </HeadingPairs>
  <TitlesOfParts>
    <vt:vector size="45" baseType="lpstr">
      <vt:lpstr>宋体</vt:lpstr>
      <vt:lpstr>Arial</vt:lpstr>
      <vt:lpstr>Calibri</vt:lpstr>
      <vt:lpstr>Symbol</vt:lpstr>
      <vt:lpstr>Times New Roman</vt:lpstr>
      <vt:lpstr>Wingdings</vt:lpstr>
      <vt:lpstr>默认设计模板</vt:lpstr>
      <vt:lpstr>Visio</vt:lpstr>
      <vt:lpstr>公式</vt:lpstr>
      <vt:lpstr>Microsoft Visio 2003-2010 绘图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littlepig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汤钰鹏</dc:creator>
  <cp:lastModifiedBy>ZLW</cp:lastModifiedBy>
  <cp:revision>213</cp:revision>
  <dcterms:created xsi:type="dcterms:W3CDTF">2006-06-19T08:54:14Z</dcterms:created>
  <dcterms:modified xsi:type="dcterms:W3CDTF">2021-04-09T08:32:43Z</dcterms:modified>
</cp:coreProperties>
</file>