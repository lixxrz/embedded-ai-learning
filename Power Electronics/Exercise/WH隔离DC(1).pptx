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68" r:id="rId2"/>
    <p:sldId id="263" r:id="rId3"/>
    <p:sldId id="267" r:id="rId4"/>
    <p:sldId id="264" r:id="rId5"/>
    <p:sldId id="271" r:id="rId6"/>
    <p:sldId id="287" r:id="rId7"/>
    <p:sldId id="288" r:id="rId8"/>
    <p:sldId id="292" r:id="rId9"/>
    <p:sldId id="295" r:id="rId10"/>
    <p:sldId id="298" r:id="rId11"/>
    <p:sldId id="299" r:id="rId12"/>
    <p:sldId id="300" r:id="rId13"/>
    <p:sldId id="306" r:id="rId14"/>
    <p:sldId id="307" r:id="rId15"/>
    <p:sldId id="308" r:id="rId16"/>
    <p:sldId id="309" r:id="rId17"/>
  </p:sldIdLst>
  <p:sldSz cx="9144000" cy="6858000" type="screen4x3"/>
  <p:notesSz cx="6662738" cy="9906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61" autoAdjust="0"/>
    <p:restoredTop sz="94660"/>
  </p:normalViewPr>
  <p:slideViewPr>
    <p:cSldViewPr>
      <p:cViewPr varScale="1">
        <p:scale>
          <a:sx n="63" d="100"/>
          <a:sy n="63" d="100"/>
        </p:scale>
        <p:origin x="15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766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3488" y="0"/>
            <a:ext cx="288766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13AB3-0107-43D9-A386-7D734383CF26}" type="datetimeFigureOut">
              <a:rPr lang="zh-CN" altLang="en-US" smtClean="0"/>
              <a:t>2024/5/30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88766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3488" y="9409113"/>
            <a:ext cx="288766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6D031-1AF6-4587-9410-D4B42C84AE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4400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7186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4010" y="0"/>
            <a:ext cx="2887186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10915-31D7-4506-A660-59E49725F5D6}" type="datetimeFigureOut">
              <a:rPr lang="zh-CN" altLang="en-US" smtClean="0"/>
              <a:pPr/>
              <a:t>2024/5/30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5663" y="742950"/>
            <a:ext cx="4953000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274" y="4705350"/>
            <a:ext cx="533019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887186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4010" y="9408981"/>
            <a:ext cx="2887186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455F0-5918-409C-A6FF-DBA618C25E9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591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72DF66-6473-4D43-9B0F-CA1C0D53A9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19251-674E-4AE6-B9B5-FBF4F23883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41986-8239-4DE0-8944-648A80B0DC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F9D0A-42DE-419F-B5BA-3ADCFF93D7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82B1AF-BB8B-47BD-8477-C5F38D7E47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1FEE11-5BBC-47ED-90D7-600856A6DE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7EBAD-C243-4530-A720-70633C71B3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0E751-7EEF-4048-96CE-AF79BE403A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389860-3003-448B-9084-28D838FA8B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2CF0A-8304-40DC-A7AD-D143386FB5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B916C-AAB7-4080-8698-F943D38EBD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fld id="{1537093E-30EB-4404-BD8D-F1BD300DFF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ransition spd="med">
    <p:wipe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png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11" Type="http://schemas.openxmlformats.org/officeDocument/2006/relationships/image" Target="../media/image15.wmf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4.bin"/><Relationship Id="rId4" Type="http://schemas.openxmlformats.org/officeDocument/2006/relationships/image" Target="../media/image12.wmf"/><Relationship Id="rId9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4.wmf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2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2"/>
          <p:cNvSpPr txBox="1">
            <a:spLocks noChangeArrowheads="1"/>
          </p:cNvSpPr>
          <p:nvPr/>
        </p:nvSpPr>
        <p:spPr bwMode="auto">
          <a:xfrm>
            <a:off x="4355976" y="116632"/>
            <a:ext cx="280828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b="1" i="1" dirty="0" smtClean="0">
                <a:solidFill>
                  <a:srgbClr val="A50021"/>
                </a:solidFill>
              </a:rPr>
              <a:t>1</a:t>
            </a:r>
            <a:endParaRPr lang="en-US" altLang="zh-CN" sz="4000" b="1" i="1" dirty="0">
              <a:solidFill>
                <a:srgbClr val="A50021"/>
              </a:solidFill>
            </a:endParaRPr>
          </a:p>
        </p:txBody>
      </p:sp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395288" y="1052513"/>
            <a:ext cx="82804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400" b="1" i="1" dirty="0">
                <a:solidFill>
                  <a:srgbClr val="A50021"/>
                </a:solidFill>
              </a:rPr>
              <a:t>Problem </a:t>
            </a:r>
            <a:r>
              <a:rPr lang="en-US" altLang="zh-CN" sz="2400" b="1" i="1" dirty="0" smtClean="0">
                <a:solidFill>
                  <a:srgbClr val="A50021"/>
                </a:solidFill>
              </a:rPr>
              <a:t>1:</a:t>
            </a:r>
            <a:r>
              <a:rPr lang="en-US" altLang="zh-CN" sz="2400" dirty="0" smtClean="0"/>
              <a:t>  </a:t>
            </a:r>
            <a:r>
              <a:rPr lang="en-US" altLang="zh-CN" sz="2400" dirty="0"/>
              <a:t>A switch-mode power supply is to be designed with the following specifications: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d</a:t>
            </a:r>
            <a:r>
              <a:rPr lang="en-US" altLang="zh-CN" sz="2400" dirty="0"/>
              <a:t> =45~60V, V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=15V, 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s</a:t>
            </a:r>
            <a:r>
              <a:rPr lang="en-US" altLang="zh-CN" sz="2400" dirty="0"/>
              <a:t>=100kHz, </a:t>
            </a:r>
            <a:r>
              <a:rPr lang="en-US" altLang="zh-CN" sz="2400" dirty="0" err="1"/>
              <a:t>P</a:t>
            </a:r>
            <a:r>
              <a:rPr lang="en-US" altLang="zh-CN" sz="2400" baseline="-25000" dirty="0" err="1"/>
              <a:t>load</a:t>
            </a:r>
            <a:r>
              <a:rPr lang="en-US" altLang="zh-CN" sz="2400" dirty="0"/>
              <a:t> is 15W. A forward converter operating in a </a:t>
            </a:r>
            <a:r>
              <a:rPr lang="en-US" altLang="zh-CN" sz="2400" dirty="0">
                <a:solidFill>
                  <a:srgbClr val="A50021"/>
                </a:solidFill>
              </a:rPr>
              <a:t>continuous-conduction</a:t>
            </a:r>
            <a:r>
              <a:rPr lang="en-US" altLang="zh-CN" sz="2400" dirty="0"/>
              <a:t> mode with a demagnetizing winding (N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 is chosen. Assume all components to be ideal except the presence of transformer magnetization inductance.                                                            </a:t>
            </a:r>
            <a:endParaRPr lang="en-US" altLang="zh-CN" sz="2400" dirty="0">
              <a:solidFill>
                <a:srgbClr val="A50021"/>
              </a:solidFill>
            </a:endParaRPr>
          </a:p>
        </p:txBody>
      </p:sp>
      <p:sp>
        <p:nvSpPr>
          <p:cNvPr id="179204" name="Text Box 4"/>
          <p:cNvSpPr txBox="1">
            <a:spLocks noChangeArrowheads="1"/>
          </p:cNvSpPr>
          <p:nvPr/>
        </p:nvSpPr>
        <p:spPr bwMode="auto">
          <a:xfrm>
            <a:off x="395288" y="3933825"/>
            <a:ext cx="4176712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(a) Calculate N</a:t>
            </a:r>
            <a:r>
              <a:rPr lang="en-US" altLang="zh-CN" sz="2400" baseline="-25000"/>
              <a:t>2</a:t>
            </a:r>
            <a:r>
              <a:rPr lang="en-US" altLang="zh-CN" sz="2400"/>
              <a:t>/N</a:t>
            </a:r>
            <a:r>
              <a:rPr lang="en-US" altLang="zh-CN" sz="2400" baseline="-25000"/>
              <a:t>1</a:t>
            </a:r>
            <a:r>
              <a:rPr lang="en-US" altLang="zh-CN" sz="2400"/>
              <a:t> if this turns ratio is desired to be as small as possible.</a:t>
            </a:r>
          </a:p>
          <a:p>
            <a:r>
              <a:rPr lang="en-US" altLang="zh-CN" sz="2400"/>
              <a:t>(b) Calculate the minimum value of the filter inductance.</a:t>
            </a:r>
          </a:p>
          <a:p>
            <a:r>
              <a:rPr lang="en-US" altLang="zh-CN" sz="2400"/>
              <a:t>(c) Calculate the peak voltage of switch T. </a:t>
            </a:r>
          </a:p>
        </p:txBody>
      </p:sp>
      <p:sp>
        <p:nvSpPr>
          <p:cNvPr id="179205" name="Rectangle 5"/>
          <p:cNvSpPr>
            <a:spLocks noChangeArrowheads="1"/>
          </p:cNvSpPr>
          <p:nvPr/>
        </p:nvSpPr>
        <p:spPr bwMode="auto">
          <a:xfrm>
            <a:off x="0" y="2471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79206" name="对象 1"/>
          <p:cNvPicPr>
            <a:picLocks noChangeArrowheads="1"/>
          </p:cNvPicPr>
          <p:nvPr/>
        </p:nvPicPr>
        <p:blipFill>
          <a:blip r:embed="rId2" cstate="print"/>
          <a:srcRect l="-3688" t="-5647" r="-3807" b="-4803"/>
          <a:stretch>
            <a:fillRect/>
          </a:stretch>
        </p:blipFill>
        <p:spPr bwMode="auto">
          <a:xfrm>
            <a:off x="4716463" y="3573463"/>
            <a:ext cx="4103687" cy="3024187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0" name="Text Box 90"/>
          <p:cNvSpPr txBox="1">
            <a:spLocks noChangeArrowheads="1"/>
          </p:cNvSpPr>
          <p:nvPr/>
        </p:nvSpPr>
        <p:spPr bwMode="auto">
          <a:xfrm>
            <a:off x="395288" y="1052513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 dirty="0">
                <a:solidFill>
                  <a:srgbClr val="A50021"/>
                </a:solidFill>
              </a:rPr>
              <a:t>Solution </a:t>
            </a:r>
            <a:r>
              <a:rPr lang="en-US" altLang="zh-CN" sz="2400" b="1" i="1" dirty="0" smtClean="0">
                <a:solidFill>
                  <a:srgbClr val="A50021"/>
                </a:solidFill>
              </a:rPr>
              <a:t>1</a:t>
            </a:r>
            <a:endParaRPr lang="en-US" altLang="zh-CN" sz="2400" b="1" i="1" dirty="0">
              <a:solidFill>
                <a:srgbClr val="A50021"/>
              </a:solidFill>
            </a:endParaRPr>
          </a:p>
        </p:txBody>
      </p:sp>
      <p:sp>
        <p:nvSpPr>
          <p:cNvPr id="174256" name="Text Box 176"/>
          <p:cNvSpPr txBox="1">
            <a:spLocks noChangeArrowheads="1"/>
          </p:cNvSpPr>
          <p:nvPr/>
        </p:nvSpPr>
        <p:spPr bwMode="auto">
          <a:xfrm>
            <a:off x="395288" y="1628775"/>
            <a:ext cx="4321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V</a:t>
            </a:r>
            <a:r>
              <a:rPr lang="en-US" altLang="zh-CN" sz="2400" baseline="-25000"/>
              <a:t>d</a:t>
            </a:r>
            <a:r>
              <a:rPr lang="en-US" altLang="zh-CN" sz="2400"/>
              <a:t>=45V to 60V,  Since N</a:t>
            </a:r>
            <a:r>
              <a:rPr lang="en-US" altLang="zh-CN" sz="2400" baseline="-25000"/>
              <a:t>3</a:t>
            </a:r>
            <a:r>
              <a:rPr lang="en-US" altLang="zh-CN" sz="2400"/>
              <a:t>=N</a:t>
            </a:r>
            <a:r>
              <a:rPr lang="en-US" altLang="zh-CN" sz="2400" baseline="-25000"/>
              <a:t>1</a:t>
            </a:r>
            <a:r>
              <a:rPr lang="en-US" altLang="zh-CN" sz="2400"/>
              <a:t>, </a:t>
            </a:r>
          </a:p>
        </p:txBody>
      </p:sp>
      <p:graphicFrame>
        <p:nvGraphicFramePr>
          <p:cNvPr id="174262" name="Object 182"/>
          <p:cNvGraphicFramePr>
            <a:graphicFrameLocks noChangeAspect="1"/>
          </p:cNvGraphicFramePr>
          <p:nvPr/>
        </p:nvGraphicFramePr>
        <p:xfrm>
          <a:off x="1187450" y="2276475"/>
          <a:ext cx="223202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8" r:id="rId3" imgW="990170" imgH="545863" progId="Equation.DSMT4">
                  <p:embed/>
                </p:oleObj>
              </mc:Choice>
              <mc:Fallback>
                <p:oleObj r:id="rId3" imgW="990170" imgH="545863" progId="Equation.DSMT4">
                  <p:embed/>
                  <p:pic>
                    <p:nvPicPr>
                      <p:cNvPr id="0" name="Picture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276475"/>
                        <a:ext cx="2232025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264" name="对象 1"/>
          <p:cNvPicPr>
            <a:picLocks noChangeArrowheads="1"/>
          </p:cNvPicPr>
          <p:nvPr/>
        </p:nvPicPr>
        <p:blipFill>
          <a:blip r:embed="rId5" cstate="print"/>
          <a:srcRect l="-3688" t="-5647" r="-3807" b="-4803"/>
          <a:stretch>
            <a:fillRect/>
          </a:stretch>
        </p:blipFill>
        <p:spPr bwMode="auto">
          <a:xfrm>
            <a:off x="4859338" y="981075"/>
            <a:ext cx="4103687" cy="3024188"/>
          </a:xfrm>
          <a:prstGeom prst="rect">
            <a:avLst/>
          </a:prstGeom>
          <a:noFill/>
        </p:spPr>
      </p:pic>
      <p:graphicFrame>
        <p:nvGraphicFramePr>
          <p:cNvPr id="174265" name="Object 185"/>
          <p:cNvGraphicFramePr>
            <a:graphicFrameLocks noChangeAspect="1"/>
          </p:cNvGraphicFramePr>
          <p:nvPr/>
        </p:nvGraphicFramePr>
        <p:xfrm>
          <a:off x="539750" y="5013325"/>
          <a:ext cx="65532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9" r:id="rId6" imgW="2159000" imgH="419100" progId="Equation.DSMT4">
                  <p:embed/>
                </p:oleObj>
              </mc:Choice>
              <mc:Fallback>
                <p:oleObj r:id="rId6" imgW="2159000" imgH="419100" progId="Equation.DSMT4">
                  <p:embed/>
                  <p:pic>
                    <p:nvPicPr>
                      <p:cNvPr id="0" name="Picture 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013325"/>
                        <a:ext cx="6553200" cy="127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67" name="Rectangle 187"/>
          <p:cNvSpPr>
            <a:spLocks noChangeArrowheads="1"/>
          </p:cNvSpPr>
          <p:nvPr/>
        </p:nvSpPr>
        <p:spPr bwMode="auto">
          <a:xfrm>
            <a:off x="323850" y="4292600"/>
            <a:ext cx="6480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/>
              <a:t>(a) Continuous </a:t>
            </a:r>
            <a:r>
              <a:rPr lang="en-US" altLang="zh-CN" sz="2400" dirty="0" smtClean="0"/>
              <a:t>conduction</a:t>
            </a:r>
            <a:endParaRPr lang="en-US" altLang="zh-CN" sz="2400" dirty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81" name="Text Box 5"/>
          <p:cNvSpPr txBox="1">
            <a:spLocks noChangeArrowheads="1"/>
          </p:cNvSpPr>
          <p:nvPr/>
        </p:nvSpPr>
        <p:spPr bwMode="auto">
          <a:xfrm>
            <a:off x="611188" y="1557338"/>
            <a:ext cx="777716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dirty="0"/>
              <a:t>(b) N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/N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=2/3 from part (a). </a:t>
            </a:r>
            <a:r>
              <a:rPr lang="en-US" altLang="zh-CN" sz="2400" dirty="0" err="1"/>
              <a:t>P</a:t>
            </a:r>
            <a:r>
              <a:rPr lang="en-US" altLang="zh-CN" sz="2400" baseline="-25000" dirty="0" err="1"/>
              <a:t>min</a:t>
            </a:r>
            <a:r>
              <a:rPr lang="en-US" altLang="zh-CN" sz="2400" dirty="0"/>
              <a:t>=15W.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o,min</a:t>
            </a:r>
            <a:r>
              <a:rPr lang="en-US" altLang="zh-CN" sz="2400" dirty="0"/>
              <a:t>=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L,min</a:t>
            </a:r>
            <a:r>
              <a:rPr lang="en-US" altLang="zh-CN" sz="2400" dirty="0"/>
              <a:t>=1A.</a:t>
            </a:r>
          </a:p>
          <a:p>
            <a:r>
              <a:rPr lang="en-US" altLang="zh-CN" sz="2400" dirty="0"/>
              <a:t>At the boundary </a:t>
            </a:r>
            <a:r>
              <a:rPr lang="en-US" altLang="zh-CN" sz="2400" dirty="0" smtClean="0"/>
              <a:t>mode</a:t>
            </a:r>
            <a:endParaRPr lang="en-US" altLang="zh-CN" sz="2400" dirty="0">
              <a:solidFill>
                <a:srgbClr val="A50021"/>
              </a:solidFill>
            </a:endParaRPr>
          </a:p>
        </p:txBody>
      </p:sp>
      <p:sp>
        <p:nvSpPr>
          <p:cNvPr id="178188" name="Rectangle 12"/>
          <p:cNvSpPr>
            <a:spLocks noChangeArrowheads="1"/>
          </p:cNvSpPr>
          <p:nvPr/>
        </p:nvSpPr>
        <p:spPr bwMode="auto">
          <a:xfrm>
            <a:off x="0" y="2971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8187" name="Object 11"/>
          <p:cNvGraphicFramePr>
            <a:graphicFrameLocks noChangeAspect="1"/>
          </p:cNvGraphicFramePr>
          <p:nvPr/>
        </p:nvGraphicFramePr>
        <p:xfrm>
          <a:off x="4356100" y="2205038"/>
          <a:ext cx="3960813" cy="299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13" r:id="rId3" imgW="1219200" imgH="914400" progId="Equation.DSMT4">
                  <p:embed/>
                </p:oleObj>
              </mc:Choice>
              <mc:Fallback>
                <p:oleObj r:id="rId3" imgW="1219200" imgH="9144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205038"/>
                        <a:ext cx="3960813" cy="299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9" name="Text Box 13"/>
          <p:cNvSpPr txBox="1">
            <a:spLocks noChangeArrowheads="1"/>
          </p:cNvSpPr>
          <p:nvPr/>
        </p:nvSpPr>
        <p:spPr bwMode="auto">
          <a:xfrm>
            <a:off x="539750" y="4724400"/>
            <a:ext cx="3960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At (V</a:t>
            </a:r>
            <a:r>
              <a:rPr lang="en-US" altLang="zh-CN" sz="2400" baseline="-25000"/>
              <a:t>d</a:t>
            </a:r>
            <a:r>
              <a:rPr lang="en-US" altLang="zh-CN" sz="2400"/>
              <a:t>)</a:t>
            </a:r>
            <a:r>
              <a:rPr lang="en-US" altLang="zh-CN" sz="2400" baseline="-25000"/>
              <a:t>min</a:t>
            </a:r>
            <a:r>
              <a:rPr lang="en-US" altLang="zh-CN" sz="2400"/>
              <a:t>=45V, D=0.5</a:t>
            </a:r>
          </a:p>
        </p:txBody>
      </p:sp>
      <p:sp>
        <p:nvSpPr>
          <p:cNvPr id="178191" name="Rectangle 15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8190" name="Object 14"/>
          <p:cNvGraphicFramePr>
            <a:graphicFrameLocks noChangeAspect="1"/>
          </p:cNvGraphicFramePr>
          <p:nvPr/>
        </p:nvGraphicFramePr>
        <p:xfrm>
          <a:off x="900113" y="5373688"/>
          <a:ext cx="51847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14" r:id="rId5" imgW="1638300" imgH="419100" progId="Equation.DSMT4">
                  <p:embed/>
                </p:oleObj>
              </mc:Choice>
              <mc:Fallback>
                <p:oleObj r:id="rId5" imgW="1638300" imgH="4191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373688"/>
                        <a:ext cx="5184775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10" name="Text Box 6"/>
          <p:cNvSpPr txBox="1">
            <a:spLocks noChangeArrowheads="1"/>
          </p:cNvSpPr>
          <p:nvPr/>
        </p:nvSpPr>
        <p:spPr bwMode="auto">
          <a:xfrm>
            <a:off x="827088" y="1484313"/>
            <a:ext cx="55451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At (V</a:t>
            </a:r>
            <a:r>
              <a:rPr lang="en-US" altLang="zh-CN" sz="2400" baseline="-25000"/>
              <a:t>d</a:t>
            </a:r>
            <a:r>
              <a:rPr lang="en-US" altLang="zh-CN" sz="2400"/>
              <a:t>)</a:t>
            </a:r>
            <a:r>
              <a:rPr lang="en-US" altLang="zh-CN" sz="2400" baseline="-25000"/>
              <a:t>max</a:t>
            </a:r>
            <a:r>
              <a:rPr lang="en-US" altLang="zh-CN" sz="2400"/>
              <a:t>=60V, D=0.375</a:t>
            </a:r>
          </a:p>
        </p:txBody>
      </p:sp>
      <p:sp>
        <p:nvSpPr>
          <p:cNvPr id="175112" name="Text Box 8"/>
          <p:cNvSpPr txBox="1">
            <a:spLocks noChangeArrowheads="1"/>
          </p:cNvSpPr>
          <p:nvPr/>
        </p:nvSpPr>
        <p:spPr bwMode="auto">
          <a:xfrm>
            <a:off x="1187450" y="3500438"/>
            <a:ext cx="5832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Therefore, L</a:t>
            </a:r>
            <a:r>
              <a:rPr lang="en-US" altLang="zh-CN" sz="2400" baseline="-25000"/>
              <a:t>min</a:t>
            </a:r>
            <a:r>
              <a:rPr lang="en-US" altLang="zh-CN" sz="2400"/>
              <a:t>=46.875 should be used.</a:t>
            </a:r>
          </a:p>
        </p:txBody>
      </p:sp>
      <p:sp>
        <p:nvSpPr>
          <p:cNvPr id="175114" name="Rectangle 10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5113" name="Object 9"/>
          <p:cNvGraphicFramePr>
            <a:graphicFrameLocks noChangeAspect="1"/>
          </p:cNvGraphicFramePr>
          <p:nvPr/>
        </p:nvGraphicFramePr>
        <p:xfrm>
          <a:off x="1331913" y="1989138"/>
          <a:ext cx="6192837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5" r:id="rId3" imgW="1841500" imgH="419100" progId="Equation.DSMT4">
                  <p:embed/>
                </p:oleObj>
              </mc:Choice>
              <mc:Fallback>
                <p:oleObj r:id="rId3" imgW="1841500" imgH="4191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989138"/>
                        <a:ext cx="6192837" cy="1392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5" name="Rectangle 11"/>
          <p:cNvSpPr>
            <a:spLocks noChangeArrowheads="1"/>
          </p:cNvSpPr>
          <p:nvPr/>
        </p:nvSpPr>
        <p:spPr bwMode="auto">
          <a:xfrm>
            <a:off x="755650" y="4149725"/>
            <a:ext cx="5256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 dirty="0"/>
              <a:t>(c) when T is off,       </a:t>
            </a:r>
            <a:endParaRPr lang="en-US" altLang="zh-CN" sz="2400" dirty="0">
              <a:solidFill>
                <a:srgbClr val="A50021"/>
              </a:solidFill>
            </a:endParaRPr>
          </a:p>
        </p:txBody>
      </p:sp>
      <p:sp>
        <p:nvSpPr>
          <p:cNvPr id="175117" name="Rectangle 13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5116" name="Object 12"/>
          <p:cNvGraphicFramePr>
            <a:graphicFrameLocks noChangeAspect="1"/>
          </p:cNvGraphicFramePr>
          <p:nvPr/>
        </p:nvGraphicFramePr>
        <p:xfrm>
          <a:off x="1187450" y="4724400"/>
          <a:ext cx="3887788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6" r:id="rId5" imgW="1651000" imgH="419100" progId="Equation.DSMT4">
                  <p:embed/>
                </p:oleObj>
              </mc:Choice>
              <mc:Fallback>
                <p:oleObj r:id="rId5" imgW="1651000" imgH="4191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724400"/>
                        <a:ext cx="3887788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9" name="Rectangle 15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5118" name="Object 14"/>
          <p:cNvGraphicFramePr>
            <a:graphicFrameLocks noChangeAspect="1"/>
          </p:cNvGraphicFramePr>
          <p:nvPr/>
        </p:nvGraphicFramePr>
        <p:xfrm>
          <a:off x="1258888" y="5876925"/>
          <a:ext cx="23034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7" r:id="rId7" imgW="1193800" imgH="381000" progId="Equation.DSMT4">
                  <p:embed/>
                </p:oleObj>
              </mc:Choice>
              <mc:Fallback>
                <p:oleObj r:id="rId7" imgW="1193800" imgH="3810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876925"/>
                        <a:ext cx="2303462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21" name="Rectangle 17"/>
          <p:cNvSpPr>
            <a:spLocks noChangeArrowheads="1"/>
          </p:cNvSpPr>
          <p:nvPr/>
        </p:nvSpPr>
        <p:spPr bwMode="auto">
          <a:xfrm>
            <a:off x="0" y="33242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5120" name="Object 16"/>
          <p:cNvGraphicFramePr>
            <a:graphicFrameLocks noChangeAspect="1"/>
          </p:cNvGraphicFramePr>
          <p:nvPr/>
        </p:nvGraphicFramePr>
        <p:xfrm>
          <a:off x="4500563" y="5949950"/>
          <a:ext cx="252095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68" r:id="rId9" imgW="774028" imgH="203024" progId="Equation.DSMT4">
                  <p:embed/>
                </p:oleObj>
              </mc:Choice>
              <mc:Fallback>
                <p:oleObj r:id="rId9" imgW="774028" imgH="203024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949950"/>
                        <a:ext cx="2520950" cy="684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2"/>
          <p:cNvSpPr txBox="1">
            <a:spLocks noChangeArrowheads="1"/>
          </p:cNvSpPr>
          <p:nvPr/>
        </p:nvSpPr>
        <p:spPr bwMode="auto">
          <a:xfrm>
            <a:off x="539750" y="1052513"/>
            <a:ext cx="80645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sz="2400" b="1" i="1" dirty="0" smtClean="0">
                <a:solidFill>
                  <a:srgbClr val="A50021"/>
                </a:solidFill>
              </a:rPr>
              <a:t>Problem 2:</a:t>
            </a:r>
            <a:r>
              <a:rPr lang="en-US" altLang="zh-CN" sz="2400" dirty="0" smtClean="0"/>
              <a:t> Why </a:t>
            </a:r>
            <a:r>
              <a:rPr lang="en-US" altLang="zh-CN" sz="2400" dirty="0"/>
              <a:t>the semiconductor devices must be paralleled in converters sometimes</a:t>
            </a:r>
            <a:r>
              <a:rPr lang="zh-CN" altLang="en-US" sz="2400" dirty="0"/>
              <a:t>？</a:t>
            </a:r>
            <a:r>
              <a:rPr lang="en-US" altLang="zh-CN" sz="2400" dirty="0"/>
              <a:t>why  MOSFET can be easily paralleled ?                                             </a:t>
            </a:r>
            <a:endParaRPr lang="el-GR" altLang="zh-CN" sz="2400" dirty="0">
              <a:solidFill>
                <a:srgbClr val="A50021"/>
              </a:solidFill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7544" y="3206433"/>
            <a:ext cx="82804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10000"/>
              </a:spcBef>
            </a:pPr>
            <a:r>
              <a:rPr lang="en-US" altLang="zh-CN" sz="2400" b="1" i="1" dirty="0" smtClean="0">
                <a:solidFill>
                  <a:srgbClr val="A50021"/>
                </a:solidFill>
              </a:rPr>
              <a:t>Solution 2</a:t>
            </a:r>
            <a:r>
              <a:rPr lang="en-US" altLang="zh-CN" sz="2400" b="1" i="1" dirty="0"/>
              <a:t/>
            </a:r>
            <a:br>
              <a:rPr lang="en-US" altLang="zh-CN" sz="2400" b="1" i="1" dirty="0"/>
            </a:br>
            <a:r>
              <a:rPr lang="en-US" altLang="zh-CN" sz="2400" dirty="0"/>
              <a:t>(a) Current can be larger even for small device rate; </a:t>
            </a:r>
          </a:p>
          <a:p>
            <a:pPr eaLnBrk="0" hangingPunct="0">
              <a:lnSpc>
                <a:spcPct val="110000"/>
              </a:lnSpc>
              <a:spcBef>
                <a:spcPct val="10000"/>
              </a:spcBef>
            </a:pPr>
            <a:r>
              <a:rPr lang="en-US" altLang="zh-CN" sz="2400" dirty="0" smtClean="0"/>
              <a:t>(</a:t>
            </a:r>
            <a:r>
              <a:rPr lang="en-US" altLang="zh-CN" sz="2400" dirty="0"/>
              <a:t>b) Because their on-state resistance has a positive temperature coefficient.                            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93"/>
          <p:cNvSpPr>
            <a:spLocks noChangeArrowheads="1"/>
          </p:cNvSpPr>
          <p:nvPr/>
        </p:nvSpPr>
        <p:spPr bwMode="auto">
          <a:xfrm>
            <a:off x="0" y="2471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08" name="Text Box 2"/>
          <p:cNvSpPr txBox="1">
            <a:spLocks noChangeArrowheads="1"/>
          </p:cNvSpPr>
          <p:nvPr/>
        </p:nvSpPr>
        <p:spPr bwMode="auto">
          <a:xfrm>
            <a:off x="323850" y="1143000"/>
            <a:ext cx="8640763" cy="3083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en-US" altLang="zh-CN" sz="2400" b="1" i="1" dirty="0" smtClean="0">
                <a:solidFill>
                  <a:srgbClr val="A50021"/>
                </a:solidFill>
              </a:rPr>
              <a:t>Problem 1:</a:t>
            </a:r>
            <a:r>
              <a:rPr lang="en-US" altLang="zh-CN" sz="2400" dirty="0" smtClean="0"/>
              <a:t> A </a:t>
            </a:r>
            <a:r>
              <a:rPr lang="en-US" altLang="zh-CN" sz="2400" dirty="0"/>
              <a:t>switch-mode power supply is to be designed with the following specifications: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d</a:t>
            </a:r>
            <a:r>
              <a:rPr lang="en-US" altLang="zh-CN" sz="2400" dirty="0"/>
              <a:t> =48V</a:t>
            </a:r>
            <a:r>
              <a:rPr lang="en-US" altLang="zh-CN" sz="2400" dirty="0">
                <a:cs typeface="Arial" pitchFamily="34" charset="0"/>
              </a:rPr>
              <a:t>, </a:t>
            </a:r>
            <a:r>
              <a:rPr lang="en-US" altLang="zh-CN" sz="2400" dirty="0"/>
              <a:t>V</a:t>
            </a:r>
            <a:r>
              <a:rPr lang="en-US" altLang="zh-CN" sz="2400" baseline="-25000" dirty="0"/>
              <a:t>o</a:t>
            </a:r>
            <a:r>
              <a:rPr lang="en-US" altLang="zh-CN" sz="2400" dirty="0"/>
              <a:t>=5V. A forward converter operating in a </a:t>
            </a:r>
            <a:r>
              <a:rPr lang="en-US" altLang="zh-CN" sz="2400" dirty="0">
                <a:solidFill>
                  <a:srgbClr val="A50021"/>
                </a:solidFill>
              </a:rPr>
              <a:t>continuous-conduction</a:t>
            </a:r>
            <a:r>
              <a:rPr lang="en-US" altLang="zh-CN" sz="2400" dirty="0"/>
              <a:t> mode with a demagnetizing winding (N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=N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) is chosen.   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FontTx/>
              <a:buAutoNum type="alphaLcParenBoth"/>
            </a:pPr>
            <a:r>
              <a:rPr lang="en-US" altLang="zh-CN" sz="2400" dirty="0"/>
              <a:t>Please draw the diagram of the practical forward converter.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</a:pPr>
            <a:r>
              <a:rPr lang="en-US" altLang="zh-CN" sz="2400" dirty="0" smtClean="0"/>
              <a:t>(</a:t>
            </a:r>
            <a:r>
              <a:rPr lang="en-US" altLang="zh-CN" sz="2400" dirty="0"/>
              <a:t>b) Calculate N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/N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if this turns ratio is desired to be as big as possible.              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076056" y="188640"/>
            <a:ext cx="280828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b="1" i="1" dirty="0" smtClean="0">
                <a:solidFill>
                  <a:srgbClr val="A50021"/>
                </a:solidFill>
              </a:rPr>
              <a:t>2</a:t>
            </a:r>
            <a:endParaRPr lang="en-US" altLang="zh-CN" sz="4000" b="1" i="1" dirty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ext Box 2"/>
          <p:cNvSpPr txBox="1">
            <a:spLocks noChangeArrowheads="1"/>
          </p:cNvSpPr>
          <p:nvPr/>
        </p:nvSpPr>
        <p:spPr bwMode="auto">
          <a:xfrm>
            <a:off x="428625" y="1143000"/>
            <a:ext cx="8280400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A50021"/>
                </a:solidFill>
              </a:rPr>
              <a:t>Solution1:</a:t>
            </a:r>
          </a:p>
          <a:p>
            <a:pPr>
              <a:lnSpc>
                <a:spcPct val="11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A50021"/>
                </a:solidFill>
              </a:rPr>
              <a:t>    </a:t>
            </a:r>
            <a:r>
              <a:rPr lang="en-US" altLang="zh-CN" sz="2400" dirty="0"/>
              <a:t>(a</a:t>
            </a:r>
            <a:r>
              <a:rPr lang="en-US" altLang="zh-CN" sz="2400" dirty="0" smtClean="0"/>
              <a:t>)</a:t>
            </a:r>
            <a:endParaRPr lang="en-US" altLang="zh-CN" sz="2400" dirty="0"/>
          </a:p>
        </p:txBody>
      </p:sp>
      <p:sp>
        <p:nvSpPr>
          <p:cNvPr id="1030" name="Text Box 88"/>
          <p:cNvSpPr txBox="1">
            <a:spLocks noChangeArrowheads="1"/>
          </p:cNvSpPr>
          <p:nvPr/>
        </p:nvSpPr>
        <p:spPr bwMode="auto">
          <a:xfrm>
            <a:off x="683568" y="4365625"/>
            <a:ext cx="2736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/>
              <a:t>(b</a:t>
            </a:r>
            <a:r>
              <a:rPr lang="en-US" altLang="zh-CN" sz="2400" dirty="0" smtClean="0"/>
              <a:t>)</a:t>
            </a:r>
            <a:endParaRPr lang="en-US" altLang="zh-CN" sz="24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67744" y="1180531"/>
            <a:ext cx="4896544" cy="3185094"/>
            <a:chOff x="2880" y="1706"/>
            <a:chExt cx="2554" cy="1793"/>
          </a:xfrm>
        </p:grpSpPr>
        <p:sp>
          <p:nvSpPr>
            <p:cNvPr id="1033" name="Rectangle 5"/>
            <p:cNvSpPr>
              <a:spLocks noChangeArrowheads="1"/>
            </p:cNvSpPr>
            <p:nvPr/>
          </p:nvSpPr>
          <p:spPr bwMode="auto">
            <a:xfrm>
              <a:off x="2880" y="2114"/>
              <a:ext cx="150" cy="96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1034" name="Rectangle 6"/>
            <p:cNvSpPr>
              <a:spLocks noChangeArrowheads="1"/>
            </p:cNvSpPr>
            <p:nvPr/>
          </p:nvSpPr>
          <p:spPr bwMode="auto">
            <a:xfrm>
              <a:off x="5284" y="2024"/>
              <a:ext cx="150" cy="57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1035" name="Rectangle 7"/>
            <p:cNvSpPr>
              <a:spLocks noChangeArrowheads="1"/>
            </p:cNvSpPr>
            <p:nvPr/>
          </p:nvSpPr>
          <p:spPr bwMode="auto">
            <a:xfrm>
              <a:off x="3969" y="1752"/>
              <a:ext cx="152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036" name="Rectangle 8"/>
            <p:cNvSpPr>
              <a:spLocks noChangeArrowheads="1"/>
            </p:cNvSpPr>
            <p:nvPr/>
          </p:nvSpPr>
          <p:spPr bwMode="auto">
            <a:xfrm>
              <a:off x="4423" y="1752"/>
              <a:ext cx="72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/>
            </a:p>
          </p:txBody>
        </p:sp>
        <p:sp>
          <p:nvSpPr>
            <p:cNvPr id="1037" name="Rectangle 9"/>
            <p:cNvSpPr>
              <a:spLocks noChangeArrowheads="1"/>
            </p:cNvSpPr>
            <p:nvPr/>
          </p:nvSpPr>
          <p:spPr bwMode="auto">
            <a:xfrm>
              <a:off x="4604" y="1706"/>
              <a:ext cx="102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1038" name="Rectangle 10"/>
            <p:cNvSpPr>
              <a:spLocks noChangeArrowheads="1"/>
            </p:cNvSpPr>
            <p:nvPr/>
          </p:nvSpPr>
          <p:spPr bwMode="auto">
            <a:xfrm>
              <a:off x="4377" y="2024"/>
              <a:ext cx="370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 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 -</a:t>
              </a:r>
              <a:endParaRPr lang="en-US" altLang="zh-CN" sz="2000"/>
            </a:p>
          </p:txBody>
        </p:sp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4377" y="2205"/>
              <a:ext cx="152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040" name="Line 12"/>
            <p:cNvSpPr>
              <a:spLocks noChangeShapeType="1"/>
            </p:cNvSpPr>
            <p:nvPr/>
          </p:nvSpPr>
          <p:spPr bwMode="auto">
            <a:xfrm>
              <a:off x="4559" y="1933"/>
              <a:ext cx="2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1" name="Freeform 13"/>
            <p:cNvSpPr>
              <a:spLocks/>
            </p:cNvSpPr>
            <p:nvPr/>
          </p:nvSpPr>
          <p:spPr bwMode="auto">
            <a:xfrm>
              <a:off x="3546" y="2151"/>
              <a:ext cx="57" cy="347"/>
            </a:xfrm>
            <a:custGeom>
              <a:avLst/>
              <a:gdLst>
                <a:gd name="T0" fmla="*/ 0 w 57"/>
                <a:gd name="T1" fmla="*/ 1 h 347"/>
                <a:gd name="T2" fmla="*/ 56 w 57"/>
                <a:gd name="T3" fmla="*/ 42 h 347"/>
                <a:gd name="T4" fmla="*/ 5 w 57"/>
                <a:gd name="T5" fmla="*/ 87 h 347"/>
                <a:gd name="T6" fmla="*/ 0 w 57"/>
                <a:gd name="T7" fmla="*/ 87 h 347"/>
                <a:gd name="T8" fmla="*/ 56 w 57"/>
                <a:gd name="T9" fmla="*/ 129 h 347"/>
                <a:gd name="T10" fmla="*/ 5 w 57"/>
                <a:gd name="T11" fmla="*/ 174 h 347"/>
                <a:gd name="T12" fmla="*/ 0 w 57"/>
                <a:gd name="T13" fmla="*/ 174 h 347"/>
                <a:gd name="T14" fmla="*/ 56 w 57"/>
                <a:gd name="T15" fmla="*/ 215 h 347"/>
                <a:gd name="T16" fmla="*/ 5 w 57"/>
                <a:gd name="T17" fmla="*/ 260 h 347"/>
                <a:gd name="T18" fmla="*/ 0 w 57"/>
                <a:gd name="T19" fmla="*/ 260 h 347"/>
                <a:gd name="T20" fmla="*/ 56 w 57"/>
                <a:gd name="T21" fmla="*/ 302 h 347"/>
                <a:gd name="T22" fmla="*/ 5 w 57"/>
                <a:gd name="T23" fmla="*/ 347 h 347"/>
                <a:gd name="T24" fmla="*/ 0 w 57"/>
                <a:gd name="T25" fmla="*/ 347 h 3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"/>
                <a:gd name="T40" fmla="*/ 0 h 347"/>
                <a:gd name="T41" fmla="*/ 57 w 57"/>
                <a:gd name="T42" fmla="*/ 347 h 3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" h="347">
                  <a:moveTo>
                    <a:pt x="0" y="1"/>
                  </a:moveTo>
                  <a:cubicBezTo>
                    <a:pt x="30" y="0"/>
                    <a:pt x="55" y="18"/>
                    <a:pt x="56" y="42"/>
                  </a:cubicBezTo>
                  <a:cubicBezTo>
                    <a:pt x="57" y="66"/>
                    <a:pt x="34" y="86"/>
                    <a:pt x="5" y="87"/>
                  </a:cubicBezTo>
                  <a:cubicBezTo>
                    <a:pt x="3" y="87"/>
                    <a:pt x="1" y="87"/>
                    <a:pt x="0" y="87"/>
                  </a:cubicBezTo>
                  <a:cubicBezTo>
                    <a:pt x="30" y="86"/>
                    <a:pt x="55" y="105"/>
                    <a:pt x="56" y="129"/>
                  </a:cubicBezTo>
                  <a:cubicBezTo>
                    <a:pt x="57" y="153"/>
                    <a:pt x="34" y="173"/>
                    <a:pt x="5" y="174"/>
                  </a:cubicBezTo>
                  <a:cubicBezTo>
                    <a:pt x="3" y="174"/>
                    <a:pt x="1" y="174"/>
                    <a:pt x="0" y="174"/>
                  </a:cubicBezTo>
                  <a:cubicBezTo>
                    <a:pt x="30" y="173"/>
                    <a:pt x="55" y="192"/>
                    <a:pt x="56" y="215"/>
                  </a:cubicBezTo>
                  <a:cubicBezTo>
                    <a:pt x="57" y="239"/>
                    <a:pt x="34" y="259"/>
                    <a:pt x="5" y="260"/>
                  </a:cubicBezTo>
                  <a:cubicBezTo>
                    <a:pt x="3" y="260"/>
                    <a:pt x="1" y="260"/>
                    <a:pt x="0" y="260"/>
                  </a:cubicBezTo>
                  <a:cubicBezTo>
                    <a:pt x="30" y="259"/>
                    <a:pt x="55" y="278"/>
                    <a:pt x="56" y="302"/>
                  </a:cubicBezTo>
                  <a:cubicBezTo>
                    <a:pt x="57" y="326"/>
                    <a:pt x="34" y="346"/>
                    <a:pt x="5" y="347"/>
                  </a:cubicBezTo>
                  <a:cubicBezTo>
                    <a:pt x="3" y="347"/>
                    <a:pt x="1" y="347"/>
                    <a:pt x="0" y="347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2" name="Freeform 14"/>
            <p:cNvSpPr>
              <a:spLocks/>
            </p:cNvSpPr>
            <p:nvPr/>
          </p:nvSpPr>
          <p:spPr bwMode="auto">
            <a:xfrm>
              <a:off x="3704" y="2151"/>
              <a:ext cx="56" cy="347"/>
            </a:xfrm>
            <a:custGeom>
              <a:avLst/>
              <a:gdLst>
                <a:gd name="T0" fmla="*/ 56 w 56"/>
                <a:gd name="T1" fmla="*/ 1 h 347"/>
                <a:gd name="T2" fmla="*/ 0 w 56"/>
                <a:gd name="T3" fmla="*/ 42 h 347"/>
                <a:gd name="T4" fmla="*/ 52 w 56"/>
                <a:gd name="T5" fmla="*/ 87 h 347"/>
                <a:gd name="T6" fmla="*/ 56 w 56"/>
                <a:gd name="T7" fmla="*/ 87 h 347"/>
                <a:gd name="T8" fmla="*/ 0 w 56"/>
                <a:gd name="T9" fmla="*/ 129 h 347"/>
                <a:gd name="T10" fmla="*/ 52 w 56"/>
                <a:gd name="T11" fmla="*/ 174 h 347"/>
                <a:gd name="T12" fmla="*/ 56 w 56"/>
                <a:gd name="T13" fmla="*/ 174 h 347"/>
                <a:gd name="T14" fmla="*/ 0 w 56"/>
                <a:gd name="T15" fmla="*/ 215 h 347"/>
                <a:gd name="T16" fmla="*/ 52 w 56"/>
                <a:gd name="T17" fmla="*/ 260 h 347"/>
                <a:gd name="T18" fmla="*/ 56 w 56"/>
                <a:gd name="T19" fmla="*/ 260 h 347"/>
                <a:gd name="T20" fmla="*/ 0 w 56"/>
                <a:gd name="T21" fmla="*/ 302 h 347"/>
                <a:gd name="T22" fmla="*/ 52 w 56"/>
                <a:gd name="T23" fmla="*/ 347 h 347"/>
                <a:gd name="T24" fmla="*/ 56 w 56"/>
                <a:gd name="T25" fmla="*/ 347 h 3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347"/>
                <a:gd name="T41" fmla="*/ 56 w 56"/>
                <a:gd name="T42" fmla="*/ 347 h 3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347">
                  <a:moveTo>
                    <a:pt x="56" y="1"/>
                  </a:moveTo>
                  <a:cubicBezTo>
                    <a:pt x="27" y="0"/>
                    <a:pt x="2" y="18"/>
                    <a:pt x="0" y="42"/>
                  </a:cubicBezTo>
                  <a:cubicBezTo>
                    <a:pt x="0" y="66"/>
                    <a:pt x="23" y="86"/>
                    <a:pt x="52" y="87"/>
                  </a:cubicBezTo>
                  <a:cubicBezTo>
                    <a:pt x="54" y="87"/>
                    <a:pt x="55" y="87"/>
                    <a:pt x="56" y="87"/>
                  </a:cubicBezTo>
                  <a:cubicBezTo>
                    <a:pt x="27" y="86"/>
                    <a:pt x="2" y="105"/>
                    <a:pt x="0" y="129"/>
                  </a:cubicBezTo>
                  <a:cubicBezTo>
                    <a:pt x="0" y="153"/>
                    <a:pt x="23" y="173"/>
                    <a:pt x="52" y="174"/>
                  </a:cubicBezTo>
                  <a:cubicBezTo>
                    <a:pt x="54" y="174"/>
                    <a:pt x="55" y="174"/>
                    <a:pt x="56" y="174"/>
                  </a:cubicBezTo>
                  <a:cubicBezTo>
                    <a:pt x="27" y="173"/>
                    <a:pt x="2" y="192"/>
                    <a:pt x="0" y="215"/>
                  </a:cubicBezTo>
                  <a:cubicBezTo>
                    <a:pt x="0" y="239"/>
                    <a:pt x="23" y="259"/>
                    <a:pt x="52" y="260"/>
                  </a:cubicBezTo>
                  <a:cubicBezTo>
                    <a:pt x="54" y="260"/>
                    <a:pt x="55" y="260"/>
                    <a:pt x="56" y="260"/>
                  </a:cubicBezTo>
                  <a:cubicBezTo>
                    <a:pt x="27" y="259"/>
                    <a:pt x="2" y="278"/>
                    <a:pt x="0" y="302"/>
                  </a:cubicBezTo>
                  <a:cubicBezTo>
                    <a:pt x="0" y="326"/>
                    <a:pt x="23" y="346"/>
                    <a:pt x="52" y="347"/>
                  </a:cubicBezTo>
                  <a:cubicBezTo>
                    <a:pt x="54" y="347"/>
                    <a:pt x="55" y="347"/>
                    <a:pt x="56" y="347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Line 15"/>
            <p:cNvSpPr>
              <a:spLocks noChangeShapeType="1"/>
            </p:cNvSpPr>
            <p:nvPr/>
          </p:nvSpPr>
          <p:spPr bwMode="auto">
            <a:xfrm>
              <a:off x="3637" y="2161"/>
              <a:ext cx="1" cy="328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16"/>
            <p:cNvSpPr>
              <a:spLocks noChangeShapeType="1"/>
            </p:cNvSpPr>
            <p:nvPr/>
          </p:nvSpPr>
          <p:spPr bwMode="auto">
            <a:xfrm flipV="1">
              <a:off x="3660" y="2161"/>
              <a:ext cx="1" cy="328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Rectangle 17"/>
            <p:cNvSpPr>
              <a:spLocks noChangeArrowheads="1"/>
            </p:cNvSpPr>
            <p:nvPr/>
          </p:nvSpPr>
          <p:spPr bwMode="auto">
            <a:xfrm>
              <a:off x="5170" y="2183"/>
              <a:ext cx="75" cy="173"/>
            </a:xfrm>
            <a:prstGeom prst="rect">
              <a:avLst/>
            </a:prstGeom>
            <a:solidFill>
              <a:srgbClr val="FFFFFF"/>
            </a:solidFill>
            <a:ln w="1905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Rectangle 18"/>
            <p:cNvSpPr>
              <a:spLocks noChangeArrowheads="1"/>
            </p:cNvSpPr>
            <p:nvPr/>
          </p:nvSpPr>
          <p:spPr bwMode="auto">
            <a:xfrm>
              <a:off x="5170" y="2183"/>
              <a:ext cx="75" cy="173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Line 19"/>
            <p:cNvSpPr>
              <a:spLocks noChangeShapeType="1"/>
            </p:cNvSpPr>
            <p:nvPr/>
          </p:nvSpPr>
          <p:spPr bwMode="auto">
            <a:xfrm>
              <a:off x="4835" y="2252"/>
              <a:ext cx="149" cy="1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Line 20"/>
            <p:cNvSpPr>
              <a:spLocks noChangeShapeType="1"/>
            </p:cNvSpPr>
            <p:nvPr/>
          </p:nvSpPr>
          <p:spPr bwMode="auto">
            <a:xfrm>
              <a:off x="4835" y="2304"/>
              <a:ext cx="149" cy="1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21"/>
            <p:cNvSpPr>
              <a:spLocks noChangeShapeType="1"/>
            </p:cNvSpPr>
            <p:nvPr/>
          </p:nvSpPr>
          <p:spPr bwMode="auto">
            <a:xfrm>
              <a:off x="4910" y="2304"/>
              <a:ext cx="1" cy="138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Line 22"/>
            <p:cNvSpPr>
              <a:spLocks noChangeShapeType="1"/>
            </p:cNvSpPr>
            <p:nvPr/>
          </p:nvSpPr>
          <p:spPr bwMode="auto">
            <a:xfrm flipV="1">
              <a:off x="4910" y="2097"/>
              <a:ext cx="1" cy="155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Freeform 23"/>
            <p:cNvSpPr>
              <a:spLocks/>
            </p:cNvSpPr>
            <p:nvPr/>
          </p:nvSpPr>
          <p:spPr bwMode="auto">
            <a:xfrm>
              <a:off x="3541" y="2083"/>
              <a:ext cx="1" cy="69"/>
            </a:xfrm>
            <a:custGeom>
              <a:avLst/>
              <a:gdLst>
                <a:gd name="T0" fmla="*/ 0 w 1"/>
                <a:gd name="T1" fmla="*/ 69 h 69"/>
                <a:gd name="T2" fmla="*/ 0 w 1"/>
                <a:gd name="T3" fmla="*/ 0 h 69"/>
                <a:gd name="T4" fmla="*/ 0 w 1"/>
                <a:gd name="T5" fmla="*/ 34 h 69"/>
                <a:gd name="T6" fmla="*/ 0 60000 65536"/>
                <a:gd name="T7" fmla="*/ 0 60000 65536"/>
                <a:gd name="T8" fmla="*/ 0 60000 65536"/>
                <a:gd name="T9" fmla="*/ 0 w 1"/>
                <a:gd name="T10" fmla="*/ 0 h 69"/>
                <a:gd name="T11" fmla="*/ 1 w 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9">
                  <a:moveTo>
                    <a:pt x="0" y="69"/>
                  </a:moveTo>
                  <a:lnTo>
                    <a:pt x="0" y="0"/>
                  </a:lnTo>
                  <a:lnTo>
                    <a:pt x="0" y="34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Line 24"/>
            <p:cNvSpPr>
              <a:spLocks noChangeShapeType="1"/>
            </p:cNvSpPr>
            <p:nvPr/>
          </p:nvSpPr>
          <p:spPr bwMode="auto">
            <a:xfrm flipV="1">
              <a:off x="4910" y="2062"/>
              <a:ext cx="1" cy="35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3" name="Line 25"/>
            <p:cNvSpPr>
              <a:spLocks noChangeShapeType="1"/>
            </p:cNvSpPr>
            <p:nvPr/>
          </p:nvSpPr>
          <p:spPr bwMode="auto">
            <a:xfrm>
              <a:off x="4910" y="2442"/>
              <a:ext cx="1" cy="104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" name="Freeform 26"/>
            <p:cNvSpPr>
              <a:spLocks/>
            </p:cNvSpPr>
            <p:nvPr/>
          </p:nvSpPr>
          <p:spPr bwMode="auto">
            <a:xfrm>
              <a:off x="3281" y="2171"/>
              <a:ext cx="38" cy="34"/>
            </a:xfrm>
            <a:custGeom>
              <a:avLst/>
              <a:gdLst>
                <a:gd name="T0" fmla="*/ 0 w 55"/>
                <a:gd name="T1" fmla="*/ 3 h 53"/>
                <a:gd name="T2" fmla="*/ 4 w 55"/>
                <a:gd name="T3" fmla="*/ 0 h 53"/>
                <a:gd name="T4" fmla="*/ 8 w 55"/>
                <a:gd name="T5" fmla="*/ 3 h 53"/>
                <a:gd name="T6" fmla="*/ 8 w 55"/>
                <a:gd name="T7" fmla="*/ 3 h 53"/>
                <a:gd name="T8" fmla="*/ 4 w 55"/>
                <a:gd name="T9" fmla="*/ 6 h 53"/>
                <a:gd name="T10" fmla="*/ 0 w 55"/>
                <a:gd name="T11" fmla="*/ 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3"/>
                <a:gd name="T20" fmla="*/ 55 w 55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2"/>
                    <a:pt x="42" y="53"/>
                    <a:pt x="27" y="53"/>
                  </a:cubicBezTo>
                  <a:cubicBezTo>
                    <a:pt x="12" y="53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Freeform 27"/>
            <p:cNvSpPr>
              <a:spLocks/>
            </p:cNvSpPr>
            <p:nvPr/>
          </p:nvSpPr>
          <p:spPr bwMode="auto">
            <a:xfrm>
              <a:off x="3756" y="2167"/>
              <a:ext cx="37" cy="35"/>
            </a:xfrm>
            <a:custGeom>
              <a:avLst/>
              <a:gdLst>
                <a:gd name="T0" fmla="*/ 0 w 54"/>
                <a:gd name="T1" fmla="*/ 3 h 54"/>
                <a:gd name="T2" fmla="*/ 4 w 54"/>
                <a:gd name="T3" fmla="*/ 0 h 54"/>
                <a:gd name="T4" fmla="*/ 8 w 54"/>
                <a:gd name="T5" fmla="*/ 3 h 54"/>
                <a:gd name="T6" fmla="*/ 8 w 54"/>
                <a:gd name="T7" fmla="*/ 3 h 54"/>
                <a:gd name="T8" fmla="*/ 4 w 54"/>
                <a:gd name="T9" fmla="*/ 6 h 54"/>
                <a:gd name="T10" fmla="*/ 0 w 54"/>
                <a:gd name="T11" fmla="*/ 3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4"/>
                <a:gd name="T20" fmla="*/ 54 w 54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4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Rectangle 28"/>
            <p:cNvSpPr>
              <a:spLocks noChangeArrowheads="1"/>
            </p:cNvSpPr>
            <p:nvPr/>
          </p:nvSpPr>
          <p:spPr bwMode="auto">
            <a:xfrm>
              <a:off x="3184" y="2805"/>
              <a:ext cx="98" cy="19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000"/>
            </a:p>
          </p:txBody>
        </p:sp>
        <p:sp>
          <p:nvSpPr>
            <p:cNvPr id="1057" name="Freeform 29"/>
            <p:cNvSpPr>
              <a:spLocks/>
            </p:cNvSpPr>
            <p:nvPr/>
          </p:nvSpPr>
          <p:spPr bwMode="auto">
            <a:xfrm>
              <a:off x="4891" y="2005"/>
              <a:ext cx="37" cy="35"/>
            </a:xfrm>
            <a:custGeom>
              <a:avLst/>
              <a:gdLst>
                <a:gd name="T0" fmla="*/ 0 w 54"/>
                <a:gd name="T1" fmla="*/ 3 h 54"/>
                <a:gd name="T2" fmla="*/ 4 w 54"/>
                <a:gd name="T3" fmla="*/ 0 h 54"/>
                <a:gd name="T4" fmla="*/ 8 w 54"/>
                <a:gd name="T5" fmla="*/ 3 h 54"/>
                <a:gd name="T6" fmla="*/ 8 w 54"/>
                <a:gd name="T7" fmla="*/ 3 h 54"/>
                <a:gd name="T8" fmla="*/ 4 w 54"/>
                <a:gd name="T9" fmla="*/ 6 h 54"/>
                <a:gd name="T10" fmla="*/ 0 w 54"/>
                <a:gd name="T11" fmla="*/ 3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4"/>
                <a:gd name="T20" fmla="*/ 54 w 54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4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8" name="Freeform 30"/>
            <p:cNvSpPr>
              <a:spLocks/>
            </p:cNvSpPr>
            <p:nvPr/>
          </p:nvSpPr>
          <p:spPr bwMode="auto">
            <a:xfrm>
              <a:off x="4891" y="2558"/>
              <a:ext cx="37" cy="34"/>
            </a:xfrm>
            <a:custGeom>
              <a:avLst/>
              <a:gdLst>
                <a:gd name="T0" fmla="*/ 0 w 54"/>
                <a:gd name="T1" fmla="*/ 3 h 53"/>
                <a:gd name="T2" fmla="*/ 4 w 54"/>
                <a:gd name="T3" fmla="*/ 0 h 53"/>
                <a:gd name="T4" fmla="*/ 8 w 54"/>
                <a:gd name="T5" fmla="*/ 3 h 53"/>
                <a:gd name="T6" fmla="*/ 8 w 54"/>
                <a:gd name="T7" fmla="*/ 3 h 53"/>
                <a:gd name="T8" fmla="*/ 4 w 54"/>
                <a:gd name="T9" fmla="*/ 6 h 53"/>
                <a:gd name="T10" fmla="*/ 0 w 54"/>
                <a:gd name="T11" fmla="*/ 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" name="Line 31"/>
            <p:cNvSpPr>
              <a:spLocks noChangeShapeType="1"/>
            </p:cNvSpPr>
            <p:nvPr/>
          </p:nvSpPr>
          <p:spPr bwMode="auto">
            <a:xfrm flipV="1">
              <a:off x="3760" y="2022"/>
              <a:ext cx="1" cy="13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0" name="Freeform 32"/>
            <p:cNvSpPr>
              <a:spLocks/>
            </p:cNvSpPr>
            <p:nvPr/>
          </p:nvSpPr>
          <p:spPr bwMode="auto">
            <a:xfrm>
              <a:off x="4733" y="2020"/>
              <a:ext cx="478" cy="163"/>
            </a:xfrm>
            <a:custGeom>
              <a:avLst/>
              <a:gdLst>
                <a:gd name="T0" fmla="*/ 478 w 478"/>
                <a:gd name="T1" fmla="*/ 163 h 163"/>
                <a:gd name="T2" fmla="*/ 478 w 478"/>
                <a:gd name="T3" fmla="*/ 2 h 163"/>
                <a:gd name="T4" fmla="*/ 0 w 478"/>
                <a:gd name="T5" fmla="*/ 0 h 163"/>
                <a:gd name="T6" fmla="*/ 0 60000 65536"/>
                <a:gd name="T7" fmla="*/ 0 60000 65536"/>
                <a:gd name="T8" fmla="*/ 0 60000 65536"/>
                <a:gd name="T9" fmla="*/ 0 w 478"/>
                <a:gd name="T10" fmla="*/ 0 h 163"/>
                <a:gd name="T11" fmla="*/ 478 w 478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8" h="163">
                  <a:moveTo>
                    <a:pt x="478" y="163"/>
                  </a:moveTo>
                  <a:lnTo>
                    <a:pt x="478" y="2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1" name="Line 33"/>
            <p:cNvSpPr>
              <a:spLocks noChangeShapeType="1"/>
            </p:cNvSpPr>
            <p:nvPr/>
          </p:nvSpPr>
          <p:spPr bwMode="auto">
            <a:xfrm flipH="1" flipV="1">
              <a:off x="4908" y="2021"/>
              <a:ext cx="2" cy="41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2" name="Line 34"/>
            <p:cNvSpPr>
              <a:spLocks noChangeShapeType="1"/>
            </p:cNvSpPr>
            <p:nvPr/>
          </p:nvSpPr>
          <p:spPr bwMode="auto">
            <a:xfrm>
              <a:off x="4910" y="2524"/>
              <a:ext cx="1" cy="52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3" name="Freeform 35"/>
            <p:cNvSpPr>
              <a:spLocks/>
            </p:cNvSpPr>
            <p:nvPr/>
          </p:nvSpPr>
          <p:spPr bwMode="auto">
            <a:xfrm>
              <a:off x="4359" y="1969"/>
              <a:ext cx="374" cy="53"/>
            </a:xfrm>
            <a:custGeom>
              <a:avLst/>
              <a:gdLst>
                <a:gd name="T0" fmla="*/ 1 w 374"/>
                <a:gd name="T1" fmla="*/ 53 h 53"/>
                <a:gd name="T2" fmla="*/ 46 w 374"/>
                <a:gd name="T3" fmla="*/ 2 h 53"/>
                <a:gd name="T4" fmla="*/ 94 w 374"/>
                <a:gd name="T5" fmla="*/ 49 h 53"/>
                <a:gd name="T6" fmla="*/ 94 w 374"/>
                <a:gd name="T7" fmla="*/ 53 h 53"/>
                <a:gd name="T8" fmla="*/ 139 w 374"/>
                <a:gd name="T9" fmla="*/ 2 h 53"/>
                <a:gd name="T10" fmla="*/ 188 w 374"/>
                <a:gd name="T11" fmla="*/ 49 h 53"/>
                <a:gd name="T12" fmla="*/ 188 w 374"/>
                <a:gd name="T13" fmla="*/ 53 h 53"/>
                <a:gd name="T14" fmla="*/ 232 w 374"/>
                <a:gd name="T15" fmla="*/ 2 h 53"/>
                <a:gd name="T16" fmla="*/ 280 w 374"/>
                <a:gd name="T17" fmla="*/ 49 h 53"/>
                <a:gd name="T18" fmla="*/ 280 w 374"/>
                <a:gd name="T19" fmla="*/ 53 h 53"/>
                <a:gd name="T20" fmla="*/ 325 w 374"/>
                <a:gd name="T21" fmla="*/ 2 h 53"/>
                <a:gd name="T22" fmla="*/ 374 w 374"/>
                <a:gd name="T23" fmla="*/ 49 h 53"/>
                <a:gd name="T24" fmla="*/ 374 w 374"/>
                <a:gd name="T25" fmla="*/ 53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74"/>
                <a:gd name="T40" fmla="*/ 0 h 53"/>
                <a:gd name="T41" fmla="*/ 374 w 374"/>
                <a:gd name="T42" fmla="*/ 53 h 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74" h="53">
                  <a:moveTo>
                    <a:pt x="1" y="53"/>
                  </a:moveTo>
                  <a:cubicBezTo>
                    <a:pt x="0" y="25"/>
                    <a:pt x="20" y="3"/>
                    <a:pt x="46" y="2"/>
                  </a:cubicBezTo>
                  <a:cubicBezTo>
                    <a:pt x="71" y="0"/>
                    <a:pt x="93" y="22"/>
                    <a:pt x="94" y="49"/>
                  </a:cubicBezTo>
                  <a:cubicBezTo>
                    <a:pt x="94" y="51"/>
                    <a:pt x="94" y="52"/>
                    <a:pt x="94" y="53"/>
                  </a:cubicBezTo>
                  <a:cubicBezTo>
                    <a:pt x="93" y="25"/>
                    <a:pt x="113" y="3"/>
                    <a:pt x="139" y="2"/>
                  </a:cubicBezTo>
                  <a:cubicBezTo>
                    <a:pt x="164" y="0"/>
                    <a:pt x="186" y="22"/>
                    <a:pt x="188" y="49"/>
                  </a:cubicBezTo>
                  <a:cubicBezTo>
                    <a:pt x="188" y="51"/>
                    <a:pt x="188" y="52"/>
                    <a:pt x="188" y="53"/>
                  </a:cubicBezTo>
                  <a:cubicBezTo>
                    <a:pt x="186" y="25"/>
                    <a:pt x="206" y="3"/>
                    <a:pt x="232" y="2"/>
                  </a:cubicBezTo>
                  <a:cubicBezTo>
                    <a:pt x="258" y="0"/>
                    <a:pt x="280" y="22"/>
                    <a:pt x="280" y="49"/>
                  </a:cubicBezTo>
                  <a:cubicBezTo>
                    <a:pt x="280" y="51"/>
                    <a:pt x="280" y="52"/>
                    <a:pt x="280" y="53"/>
                  </a:cubicBezTo>
                  <a:cubicBezTo>
                    <a:pt x="280" y="25"/>
                    <a:pt x="299" y="3"/>
                    <a:pt x="325" y="2"/>
                  </a:cubicBezTo>
                  <a:cubicBezTo>
                    <a:pt x="351" y="0"/>
                    <a:pt x="372" y="22"/>
                    <a:pt x="374" y="49"/>
                  </a:cubicBezTo>
                  <a:cubicBezTo>
                    <a:pt x="374" y="51"/>
                    <a:pt x="374" y="52"/>
                    <a:pt x="374" y="53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4" name="Freeform 36"/>
            <p:cNvSpPr>
              <a:spLocks/>
            </p:cNvSpPr>
            <p:nvPr/>
          </p:nvSpPr>
          <p:spPr bwMode="auto">
            <a:xfrm>
              <a:off x="3760" y="2356"/>
              <a:ext cx="1453" cy="220"/>
            </a:xfrm>
            <a:custGeom>
              <a:avLst/>
              <a:gdLst>
                <a:gd name="T0" fmla="*/ 0 w 1453"/>
                <a:gd name="T1" fmla="*/ 142 h 220"/>
                <a:gd name="T2" fmla="*/ 0 w 1453"/>
                <a:gd name="T3" fmla="*/ 220 h 220"/>
                <a:gd name="T4" fmla="*/ 1453 w 1453"/>
                <a:gd name="T5" fmla="*/ 220 h 220"/>
                <a:gd name="T6" fmla="*/ 1453 w 1453"/>
                <a:gd name="T7" fmla="*/ 0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3"/>
                <a:gd name="T13" fmla="*/ 0 h 220"/>
                <a:gd name="T14" fmla="*/ 1453 w 1453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3" h="220">
                  <a:moveTo>
                    <a:pt x="0" y="142"/>
                  </a:moveTo>
                  <a:lnTo>
                    <a:pt x="0" y="220"/>
                  </a:lnTo>
                  <a:lnTo>
                    <a:pt x="1453" y="220"/>
                  </a:lnTo>
                  <a:lnTo>
                    <a:pt x="1453" y="0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5" name="Rectangle 37"/>
            <p:cNvSpPr>
              <a:spLocks noChangeArrowheads="1"/>
            </p:cNvSpPr>
            <p:nvPr/>
          </p:nvSpPr>
          <p:spPr bwMode="auto">
            <a:xfrm>
              <a:off x="3153" y="2251"/>
              <a:ext cx="14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066" name="Freeform 38"/>
            <p:cNvSpPr>
              <a:spLocks/>
            </p:cNvSpPr>
            <p:nvPr/>
          </p:nvSpPr>
          <p:spPr bwMode="auto">
            <a:xfrm>
              <a:off x="4248" y="2007"/>
              <a:ext cx="36" cy="34"/>
            </a:xfrm>
            <a:custGeom>
              <a:avLst/>
              <a:gdLst>
                <a:gd name="T0" fmla="*/ 0 w 54"/>
                <a:gd name="T1" fmla="*/ 3 h 53"/>
                <a:gd name="T2" fmla="*/ 3 w 54"/>
                <a:gd name="T3" fmla="*/ 0 h 53"/>
                <a:gd name="T4" fmla="*/ 7 w 54"/>
                <a:gd name="T5" fmla="*/ 3 h 53"/>
                <a:gd name="T6" fmla="*/ 7 w 54"/>
                <a:gd name="T7" fmla="*/ 3 h 53"/>
                <a:gd name="T8" fmla="*/ 3 w 54"/>
                <a:gd name="T9" fmla="*/ 6 h 53"/>
                <a:gd name="T10" fmla="*/ 0 w 54"/>
                <a:gd name="T11" fmla="*/ 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7" name="Freeform 39"/>
            <p:cNvSpPr>
              <a:spLocks/>
            </p:cNvSpPr>
            <p:nvPr/>
          </p:nvSpPr>
          <p:spPr bwMode="auto">
            <a:xfrm>
              <a:off x="4248" y="2560"/>
              <a:ext cx="36" cy="34"/>
            </a:xfrm>
            <a:custGeom>
              <a:avLst/>
              <a:gdLst>
                <a:gd name="T0" fmla="*/ 0 w 54"/>
                <a:gd name="T1" fmla="*/ 3 h 53"/>
                <a:gd name="T2" fmla="*/ 3 w 54"/>
                <a:gd name="T3" fmla="*/ 0 h 53"/>
                <a:gd name="T4" fmla="*/ 7 w 54"/>
                <a:gd name="T5" fmla="*/ 3 h 53"/>
                <a:gd name="T6" fmla="*/ 7 w 54"/>
                <a:gd name="T7" fmla="*/ 3 h 53"/>
                <a:gd name="T8" fmla="*/ 3 w 54"/>
                <a:gd name="T9" fmla="*/ 6 h 53"/>
                <a:gd name="T10" fmla="*/ 0 w 54"/>
                <a:gd name="T11" fmla="*/ 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6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8" name="Freeform 40"/>
            <p:cNvSpPr>
              <a:spLocks/>
            </p:cNvSpPr>
            <p:nvPr/>
          </p:nvSpPr>
          <p:spPr bwMode="auto">
            <a:xfrm>
              <a:off x="3315" y="2152"/>
              <a:ext cx="57" cy="347"/>
            </a:xfrm>
            <a:custGeom>
              <a:avLst/>
              <a:gdLst>
                <a:gd name="T0" fmla="*/ 0 w 57"/>
                <a:gd name="T1" fmla="*/ 1 h 347"/>
                <a:gd name="T2" fmla="*/ 56 w 57"/>
                <a:gd name="T3" fmla="*/ 42 h 347"/>
                <a:gd name="T4" fmla="*/ 4 w 57"/>
                <a:gd name="T5" fmla="*/ 88 h 347"/>
                <a:gd name="T6" fmla="*/ 0 w 57"/>
                <a:gd name="T7" fmla="*/ 88 h 347"/>
                <a:gd name="T8" fmla="*/ 56 w 57"/>
                <a:gd name="T9" fmla="*/ 129 h 347"/>
                <a:gd name="T10" fmla="*/ 4 w 57"/>
                <a:gd name="T11" fmla="*/ 174 h 347"/>
                <a:gd name="T12" fmla="*/ 0 w 57"/>
                <a:gd name="T13" fmla="*/ 174 h 347"/>
                <a:gd name="T14" fmla="*/ 56 w 57"/>
                <a:gd name="T15" fmla="*/ 216 h 347"/>
                <a:gd name="T16" fmla="*/ 4 w 57"/>
                <a:gd name="T17" fmla="*/ 261 h 347"/>
                <a:gd name="T18" fmla="*/ 0 w 57"/>
                <a:gd name="T19" fmla="*/ 261 h 347"/>
                <a:gd name="T20" fmla="*/ 56 w 57"/>
                <a:gd name="T21" fmla="*/ 302 h 347"/>
                <a:gd name="T22" fmla="*/ 4 w 57"/>
                <a:gd name="T23" fmla="*/ 347 h 347"/>
                <a:gd name="T24" fmla="*/ 0 w 57"/>
                <a:gd name="T25" fmla="*/ 347 h 3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"/>
                <a:gd name="T40" fmla="*/ 0 h 347"/>
                <a:gd name="T41" fmla="*/ 57 w 57"/>
                <a:gd name="T42" fmla="*/ 347 h 3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" h="347">
                  <a:moveTo>
                    <a:pt x="0" y="1"/>
                  </a:moveTo>
                  <a:cubicBezTo>
                    <a:pt x="30" y="0"/>
                    <a:pt x="54" y="19"/>
                    <a:pt x="56" y="42"/>
                  </a:cubicBezTo>
                  <a:cubicBezTo>
                    <a:pt x="57" y="66"/>
                    <a:pt x="34" y="86"/>
                    <a:pt x="4" y="88"/>
                  </a:cubicBezTo>
                  <a:cubicBezTo>
                    <a:pt x="2" y="88"/>
                    <a:pt x="1" y="88"/>
                    <a:pt x="0" y="88"/>
                  </a:cubicBezTo>
                  <a:cubicBezTo>
                    <a:pt x="30" y="86"/>
                    <a:pt x="54" y="105"/>
                    <a:pt x="56" y="129"/>
                  </a:cubicBezTo>
                  <a:cubicBezTo>
                    <a:pt x="57" y="153"/>
                    <a:pt x="34" y="173"/>
                    <a:pt x="4" y="174"/>
                  </a:cubicBezTo>
                  <a:cubicBezTo>
                    <a:pt x="2" y="174"/>
                    <a:pt x="1" y="174"/>
                    <a:pt x="0" y="174"/>
                  </a:cubicBezTo>
                  <a:cubicBezTo>
                    <a:pt x="30" y="173"/>
                    <a:pt x="54" y="192"/>
                    <a:pt x="56" y="216"/>
                  </a:cubicBezTo>
                  <a:cubicBezTo>
                    <a:pt x="57" y="239"/>
                    <a:pt x="34" y="260"/>
                    <a:pt x="4" y="261"/>
                  </a:cubicBezTo>
                  <a:cubicBezTo>
                    <a:pt x="2" y="261"/>
                    <a:pt x="1" y="261"/>
                    <a:pt x="0" y="261"/>
                  </a:cubicBezTo>
                  <a:cubicBezTo>
                    <a:pt x="30" y="260"/>
                    <a:pt x="54" y="278"/>
                    <a:pt x="56" y="302"/>
                  </a:cubicBezTo>
                  <a:cubicBezTo>
                    <a:pt x="57" y="326"/>
                    <a:pt x="34" y="346"/>
                    <a:pt x="4" y="347"/>
                  </a:cubicBezTo>
                  <a:cubicBezTo>
                    <a:pt x="2" y="347"/>
                    <a:pt x="1" y="347"/>
                    <a:pt x="0" y="347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9" name="Freeform 41"/>
            <p:cNvSpPr>
              <a:spLocks/>
            </p:cNvSpPr>
            <p:nvPr/>
          </p:nvSpPr>
          <p:spPr bwMode="auto">
            <a:xfrm>
              <a:off x="3519" y="2447"/>
              <a:ext cx="38" cy="35"/>
            </a:xfrm>
            <a:custGeom>
              <a:avLst/>
              <a:gdLst>
                <a:gd name="T0" fmla="*/ 0 w 55"/>
                <a:gd name="T1" fmla="*/ 3 h 54"/>
                <a:gd name="T2" fmla="*/ 4 w 55"/>
                <a:gd name="T3" fmla="*/ 0 h 54"/>
                <a:gd name="T4" fmla="*/ 8 w 55"/>
                <a:gd name="T5" fmla="*/ 3 h 54"/>
                <a:gd name="T6" fmla="*/ 8 w 55"/>
                <a:gd name="T7" fmla="*/ 3 h 54"/>
                <a:gd name="T8" fmla="*/ 4 w 55"/>
                <a:gd name="T9" fmla="*/ 6 h 54"/>
                <a:gd name="T10" fmla="*/ 0 w 55"/>
                <a:gd name="T11" fmla="*/ 3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4"/>
                <a:gd name="T20" fmla="*/ 55 w 55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4">
                  <a:moveTo>
                    <a:pt x="0" y="27"/>
                  </a:move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5" y="12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2"/>
                    <a:pt x="43" y="54"/>
                    <a:pt x="28" y="54"/>
                  </a:cubicBezTo>
                  <a:cubicBezTo>
                    <a:pt x="13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0" name="Line 42"/>
            <p:cNvSpPr>
              <a:spLocks noChangeShapeType="1"/>
            </p:cNvSpPr>
            <p:nvPr/>
          </p:nvSpPr>
          <p:spPr bwMode="auto">
            <a:xfrm flipV="1">
              <a:off x="3315" y="2083"/>
              <a:ext cx="1" cy="7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1" name="Line 43"/>
            <p:cNvSpPr>
              <a:spLocks noChangeShapeType="1"/>
            </p:cNvSpPr>
            <p:nvPr/>
          </p:nvSpPr>
          <p:spPr bwMode="auto">
            <a:xfrm flipV="1">
              <a:off x="3315" y="2499"/>
              <a:ext cx="1" cy="294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2" name="Line 44"/>
            <p:cNvSpPr>
              <a:spLocks noChangeShapeType="1"/>
            </p:cNvSpPr>
            <p:nvPr/>
          </p:nvSpPr>
          <p:spPr bwMode="auto">
            <a:xfrm>
              <a:off x="3315" y="2966"/>
              <a:ext cx="1" cy="189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3" name="Freeform 45"/>
            <p:cNvSpPr>
              <a:spLocks/>
            </p:cNvSpPr>
            <p:nvPr/>
          </p:nvSpPr>
          <p:spPr bwMode="auto">
            <a:xfrm>
              <a:off x="3541" y="2498"/>
              <a:ext cx="5" cy="104"/>
            </a:xfrm>
            <a:custGeom>
              <a:avLst/>
              <a:gdLst>
                <a:gd name="T0" fmla="*/ 0 w 5"/>
                <a:gd name="T1" fmla="*/ 104 h 104"/>
                <a:gd name="T2" fmla="*/ 0 w 5"/>
                <a:gd name="T3" fmla="*/ 5 h 104"/>
                <a:gd name="T4" fmla="*/ 5 w 5"/>
                <a:gd name="T5" fmla="*/ 0 h 104"/>
                <a:gd name="T6" fmla="*/ 0 60000 65536"/>
                <a:gd name="T7" fmla="*/ 0 60000 65536"/>
                <a:gd name="T8" fmla="*/ 0 60000 65536"/>
                <a:gd name="T9" fmla="*/ 0 w 5"/>
                <a:gd name="T10" fmla="*/ 0 h 104"/>
                <a:gd name="T11" fmla="*/ 5 w 5"/>
                <a:gd name="T12" fmla="*/ 104 h 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" h="104">
                  <a:moveTo>
                    <a:pt x="0" y="104"/>
                  </a:move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4" name="Freeform 46"/>
            <p:cNvSpPr>
              <a:spLocks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0 w 150"/>
                <a:gd name="T1" fmla="*/ 0 h 139"/>
                <a:gd name="T2" fmla="*/ 150 w 150"/>
                <a:gd name="T3" fmla="*/ 69 h 139"/>
                <a:gd name="T4" fmla="*/ 0 w 150"/>
                <a:gd name="T5" fmla="*/ 139 h 139"/>
                <a:gd name="T6" fmla="*/ 0 w 150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139"/>
                <a:gd name="T14" fmla="*/ 150 w 150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139">
                  <a:moveTo>
                    <a:pt x="0" y="0"/>
                  </a:moveTo>
                  <a:lnTo>
                    <a:pt x="150" y="69"/>
                  </a:lnTo>
                  <a:lnTo>
                    <a:pt x="0" y="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" name="Freeform 47"/>
            <p:cNvSpPr>
              <a:spLocks noEditPoints="1"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150 w 150"/>
                <a:gd name="T1" fmla="*/ 139 h 139"/>
                <a:gd name="T2" fmla="*/ 150 w 150"/>
                <a:gd name="T3" fmla="*/ 0 h 139"/>
                <a:gd name="T4" fmla="*/ 0 w 150"/>
                <a:gd name="T5" fmla="*/ 0 h 139"/>
                <a:gd name="T6" fmla="*/ 150 w 150"/>
                <a:gd name="T7" fmla="*/ 69 h 139"/>
                <a:gd name="T8" fmla="*/ 0 w 150"/>
                <a:gd name="T9" fmla="*/ 139 h 139"/>
                <a:gd name="T10" fmla="*/ 0 w 150"/>
                <a:gd name="T11" fmla="*/ 0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0"/>
                <a:gd name="T19" fmla="*/ 0 h 139"/>
                <a:gd name="T20" fmla="*/ 150 w 150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0" h="139">
                  <a:moveTo>
                    <a:pt x="150" y="139"/>
                  </a:moveTo>
                  <a:lnTo>
                    <a:pt x="150" y="0"/>
                  </a:lnTo>
                  <a:moveTo>
                    <a:pt x="0" y="0"/>
                  </a:moveTo>
                  <a:lnTo>
                    <a:pt x="150" y="69"/>
                  </a:lnTo>
                  <a:lnTo>
                    <a:pt x="0" y="139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6" name="Line 48"/>
            <p:cNvSpPr>
              <a:spLocks noChangeShapeType="1"/>
            </p:cNvSpPr>
            <p:nvPr/>
          </p:nvSpPr>
          <p:spPr bwMode="auto">
            <a:xfrm>
              <a:off x="3760" y="2022"/>
              <a:ext cx="596" cy="1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7" name="Freeform 49"/>
            <p:cNvSpPr>
              <a:spLocks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150 w 150"/>
                <a:gd name="T1" fmla="*/ 69 h 139"/>
                <a:gd name="T2" fmla="*/ 0 w 150"/>
                <a:gd name="T3" fmla="*/ 0 h 139"/>
                <a:gd name="T4" fmla="*/ 0 w 150"/>
                <a:gd name="T5" fmla="*/ 139 h 139"/>
                <a:gd name="T6" fmla="*/ 150 w 150"/>
                <a:gd name="T7" fmla="*/ 6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139"/>
                <a:gd name="T14" fmla="*/ 150 w 150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139">
                  <a:moveTo>
                    <a:pt x="150" y="69"/>
                  </a:moveTo>
                  <a:lnTo>
                    <a:pt x="0" y="0"/>
                  </a:lnTo>
                  <a:lnTo>
                    <a:pt x="0" y="139"/>
                  </a:lnTo>
                  <a:lnTo>
                    <a:pt x="150" y="69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8" name="Freeform 50"/>
            <p:cNvSpPr>
              <a:spLocks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150 w 150"/>
                <a:gd name="T1" fmla="*/ 69 h 139"/>
                <a:gd name="T2" fmla="*/ 0 w 150"/>
                <a:gd name="T3" fmla="*/ 0 h 139"/>
                <a:gd name="T4" fmla="*/ 0 w 150"/>
                <a:gd name="T5" fmla="*/ 139 h 139"/>
                <a:gd name="T6" fmla="*/ 150 w 150"/>
                <a:gd name="T7" fmla="*/ 6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139"/>
                <a:gd name="T14" fmla="*/ 150 w 150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139">
                  <a:moveTo>
                    <a:pt x="150" y="69"/>
                  </a:moveTo>
                  <a:lnTo>
                    <a:pt x="0" y="0"/>
                  </a:lnTo>
                  <a:lnTo>
                    <a:pt x="0" y="139"/>
                  </a:lnTo>
                  <a:lnTo>
                    <a:pt x="150" y="69"/>
                  </a:lnTo>
                  <a:close/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9" name="Line 51"/>
            <p:cNvSpPr>
              <a:spLocks noChangeShapeType="1"/>
            </p:cNvSpPr>
            <p:nvPr/>
          </p:nvSpPr>
          <p:spPr bwMode="auto">
            <a:xfrm>
              <a:off x="3983" y="2022"/>
              <a:ext cx="150" cy="1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0" name="Line 52"/>
            <p:cNvSpPr>
              <a:spLocks noChangeShapeType="1"/>
            </p:cNvSpPr>
            <p:nvPr/>
          </p:nvSpPr>
          <p:spPr bwMode="auto">
            <a:xfrm flipV="1">
              <a:off x="4133" y="1953"/>
              <a:ext cx="1" cy="139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1" name="Freeform 53"/>
            <p:cNvSpPr>
              <a:spLocks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0 w 148"/>
                <a:gd name="T1" fmla="*/ 139 h 139"/>
                <a:gd name="T2" fmla="*/ 74 w 148"/>
                <a:gd name="T3" fmla="*/ 0 h 139"/>
                <a:gd name="T4" fmla="*/ 148 w 148"/>
                <a:gd name="T5" fmla="*/ 139 h 139"/>
                <a:gd name="T6" fmla="*/ 0 w 148"/>
                <a:gd name="T7" fmla="*/ 13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39"/>
                <a:gd name="T14" fmla="*/ 148 w 148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39">
                  <a:moveTo>
                    <a:pt x="0" y="139"/>
                  </a:moveTo>
                  <a:lnTo>
                    <a:pt x="74" y="0"/>
                  </a:lnTo>
                  <a:lnTo>
                    <a:pt x="148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2" name="Freeform 54"/>
            <p:cNvSpPr>
              <a:spLocks noEditPoints="1"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148 w 148"/>
                <a:gd name="T1" fmla="*/ 0 h 139"/>
                <a:gd name="T2" fmla="*/ 0 w 148"/>
                <a:gd name="T3" fmla="*/ 0 h 139"/>
                <a:gd name="T4" fmla="*/ 0 w 148"/>
                <a:gd name="T5" fmla="*/ 139 h 139"/>
                <a:gd name="T6" fmla="*/ 74 w 148"/>
                <a:gd name="T7" fmla="*/ 0 h 139"/>
                <a:gd name="T8" fmla="*/ 148 w 148"/>
                <a:gd name="T9" fmla="*/ 139 h 139"/>
                <a:gd name="T10" fmla="*/ 0 w 148"/>
                <a:gd name="T11" fmla="*/ 139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8"/>
                <a:gd name="T19" fmla="*/ 0 h 139"/>
                <a:gd name="T20" fmla="*/ 148 w 148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8" h="139">
                  <a:moveTo>
                    <a:pt x="148" y="0"/>
                  </a:moveTo>
                  <a:lnTo>
                    <a:pt x="0" y="0"/>
                  </a:lnTo>
                  <a:moveTo>
                    <a:pt x="0" y="139"/>
                  </a:moveTo>
                  <a:lnTo>
                    <a:pt x="74" y="0"/>
                  </a:lnTo>
                  <a:lnTo>
                    <a:pt x="148" y="139"/>
                  </a:lnTo>
                  <a:lnTo>
                    <a:pt x="0" y="139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3" name="Line 55"/>
            <p:cNvSpPr>
              <a:spLocks noChangeShapeType="1"/>
            </p:cNvSpPr>
            <p:nvPr/>
          </p:nvSpPr>
          <p:spPr bwMode="auto">
            <a:xfrm flipV="1">
              <a:off x="4266" y="2024"/>
              <a:ext cx="1" cy="553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4" name="Freeform 56"/>
            <p:cNvSpPr>
              <a:spLocks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74 w 148"/>
                <a:gd name="T1" fmla="*/ 0 h 139"/>
                <a:gd name="T2" fmla="*/ 0 w 148"/>
                <a:gd name="T3" fmla="*/ 139 h 139"/>
                <a:gd name="T4" fmla="*/ 148 w 148"/>
                <a:gd name="T5" fmla="*/ 139 h 139"/>
                <a:gd name="T6" fmla="*/ 74 w 148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39"/>
                <a:gd name="T14" fmla="*/ 148 w 148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39">
                  <a:moveTo>
                    <a:pt x="74" y="0"/>
                  </a:moveTo>
                  <a:lnTo>
                    <a:pt x="0" y="139"/>
                  </a:lnTo>
                  <a:lnTo>
                    <a:pt x="148" y="139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5" name="Freeform 57"/>
            <p:cNvSpPr>
              <a:spLocks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74 w 148"/>
                <a:gd name="T1" fmla="*/ 0 h 139"/>
                <a:gd name="T2" fmla="*/ 0 w 148"/>
                <a:gd name="T3" fmla="*/ 139 h 139"/>
                <a:gd name="T4" fmla="*/ 148 w 148"/>
                <a:gd name="T5" fmla="*/ 139 h 139"/>
                <a:gd name="T6" fmla="*/ 74 w 148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39"/>
                <a:gd name="T14" fmla="*/ 148 w 148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39">
                  <a:moveTo>
                    <a:pt x="74" y="0"/>
                  </a:moveTo>
                  <a:lnTo>
                    <a:pt x="0" y="139"/>
                  </a:lnTo>
                  <a:lnTo>
                    <a:pt x="148" y="139"/>
                  </a:lnTo>
                  <a:lnTo>
                    <a:pt x="74" y="0"/>
                  </a:lnTo>
                  <a:close/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6" name="Line 58"/>
            <p:cNvSpPr>
              <a:spLocks noChangeShapeType="1"/>
            </p:cNvSpPr>
            <p:nvPr/>
          </p:nvSpPr>
          <p:spPr bwMode="auto">
            <a:xfrm flipV="1">
              <a:off x="4266" y="2231"/>
              <a:ext cx="1" cy="139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7" name="Line 59"/>
            <p:cNvSpPr>
              <a:spLocks noChangeShapeType="1"/>
            </p:cNvSpPr>
            <p:nvPr/>
          </p:nvSpPr>
          <p:spPr bwMode="auto">
            <a:xfrm flipH="1">
              <a:off x="4192" y="2231"/>
              <a:ext cx="148" cy="1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8" name="Freeform 60"/>
            <p:cNvSpPr>
              <a:spLocks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0 w 149"/>
                <a:gd name="T1" fmla="*/ 139 h 139"/>
                <a:gd name="T2" fmla="*/ 74 w 149"/>
                <a:gd name="T3" fmla="*/ 0 h 139"/>
                <a:gd name="T4" fmla="*/ 149 w 149"/>
                <a:gd name="T5" fmla="*/ 139 h 139"/>
                <a:gd name="T6" fmla="*/ 0 w 149"/>
                <a:gd name="T7" fmla="*/ 13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"/>
                <a:gd name="T13" fmla="*/ 0 h 139"/>
                <a:gd name="T14" fmla="*/ 149 w 14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" h="139">
                  <a:moveTo>
                    <a:pt x="0" y="139"/>
                  </a:moveTo>
                  <a:lnTo>
                    <a:pt x="74" y="0"/>
                  </a:lnTo>
                  <a:lnTo>
                    <a:pt x="149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9" name="Freeform 61"/>
            <p:cNvSpPr>
              <a:spLocks noEditPoints="1"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149 w 149"/>
                <a:gd name="T1" fmla="*/ 0 h 139"/>
                <a:gd name="T2" fmla="*/ 0 w 149"/>
                <a:gd name="T3" fmla="*/ 0 h 139"/>
                <a:gd name="T4" fmla="*/ 0 w 149"/>
                <a:gd name="T5" fmla="*/ 139 h 139"/>
                <a:gd name="T6" fmla="*/ 74 w 149"/>
                <a:gd name="T7" fmla="*/ 0 h 139"/>
                <a:gd name="T8" fmla="*/ 149 w 149"/>
                <a:gd name="T9" fmla="*/ 139 h 139"/>
                <a:gd name="T10" fmla="*/ 0 w 149"/>
                <a:gd name="T11" fmla="*/ 139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9"/>
                <a:gd name="T19" fmla="*/ 0 h 139"/>
                <a:gd name="T20" fmla="*/ 149 w 14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9" h="139">
                  <a:moveTo>
                    <a:pt x="149" y="0"/>
                  </a:moveTo>
                  <a:lnTo>
                    <a:pt x="0" y="0"/>
                  </a:lnTo>
                  <a:moveTo>
                    <a:pt x="0" y="139"/>
                  </a:moveTo>
                  <a:lnTo>
                    <a:pt x="74" y="0"/>
                  </a:lnTo>
                  <a:lnTo>
                    <a:pt x="149" y="139"/>
                  </a:lnTo>
                  <a:lnTo>
                    <a:pt x="0" y="139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0" name="Line 62"/>
            <p:cNvSpPr>
              <a:spLocks noChangeShapeType="1"/>
            </p:cNvSpPr>
            <p:nvPr/>
          </p:nvSpPr>
          <p:spPr bwMode="auto">
            <a:xfrm flipV="1">
              <a:off x="3542" y="2602"/>
              <a:ext cx="1" cy="553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1" name="Freeform 63"/>
            <p:cNvSpPr>
              <a:spLocks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74 w 149"/>
                <a:gd name="T1" fmla="*/ 0 h 139"/>
                <a:gd name="T2" fmla="*/ 0 w 149"/>
                <a:gd name="T3" fmla="*/ 139 h 139"/>
                <a:gd name="T4" fmla="*/ 149 w 149"/>
                <a:gd name="T5" fmla="*/ 139 h 139"/>
                <a:gd name="T6" fmla="*/ 74 w 149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"/>
                <a:gd name="T13" fmla="*/ 0 h 139"/>
                <a:gd name="T14" fmla="*/ 149 w 14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" h="139">
                  <a:moveTo>
                    <a:pt x="74" y="0"/>
                  </a:moveTo>
                  <a:lnTo>
                    <a:pt x="0" y="139"/>
                  </a:lnTo>
                  <a:lnTo>
                    <a:pt x="149" y="139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2" name="Freeform 64"/>
            <p:cNvSpPr>
              <a:spLocks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74 w 149"/>
                <a:gd name="T1" fmla="*/ 0 h 139"/>
                <a:gd name="T2" fmla="*/ 0 w 149"/>
                <a:gd name="T3" fmla="*/ 139 h 139"/>
                <a:gd name="T4" fmla="*/ 149 w 149"/>
                <a:gd name="T5" fmla="*/ 139 h 139"/>
                <a:gd name="T6" fmla="*/ 74 w 149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"/>
                <a:gd name="T13" fmla="*/ 0 h 139"/>
                <a:gd name="T14" fmla="*/ 149 w 14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" h="139">
                  <a:moveTo>
                    <a:pt x="74" y="0"/>
                  </a:moveTo>
                  <a:lnTo>
                    <a:pt x="0" y="139"/>
                  </a:lnTo>
                  <a:lnTo>
                    <a:pt x="149" y="139"/>
                  </a:lnTo>
                  <a:lnTo>
                    <a:pt x="74" y="0"/>
                  </a:lnTo>
                  <a:close/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3" name="Line 65"/>
            <p:cNvSpPr>
              <a:spLocks noChangeShapeType="1"/>
            </p:cNvSpPr>
            <p:nvPr/>
          </p:nvSpPr>
          <p:spPr bwMode="auto">
            <a:xfrm flipV="1">
              <a:off x="3542" y="2809"/>
              <a:ext cx="1" cy="139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4" name="Line 66"/>
            <p:cNvSpPr>
              <a:spLocks noChangeShapeType="1"/>
            </p:cNvSpPr>
            <p:nvPr/>
          </p:nvSpPr>
          <p:spPr bwMode="auto">
            <a:xfrm flipH="1">
              <a:off x="3468" y="2809"/>
              <a:ext cx="149" cy="1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" name="Freeform 67"/>
            <p:cNvSpPr>
              <a:spLocks/>
            </p:cNvSpPr>
            <p:nvPr/>
          </p:nvSpPr>
          <p:spPr bwMode="auto">
            <a:xfrm>
              <a:off x="3296" y="2066"/>
              <a:ext cx="37" cy="34"/>
            </a:xfrm>
            <a:custGeom>
              <a:avLst/>
              <a:gdLst>
                <a:gd name="T0" fmla="*/ 0 w 54"/>
                <a:gd name="T1" fmla="*/ 3 h 53"/>
                <a:gd name="T2" fmla="*/ 4 w 54"/>
                <a:gd name="T3" fmla="*/ 0 h 53"/>
                <a:gd name="T4" fmla="*/ 8 w 54"/>
                <a:gd name="T5" fmla="*/ 3 h 53"/>
                <a:gd name="T6" fmla="*/ 8 w 54"/>
                <a:gd name="T7" fmla="*/ 3 h 53"/>
                <a:gd name="T8" fmla="*/ 4 w 54"/>
                <a:gd name="T9" fmla="*/ 6 h 53"/>
                <a:gd name="T10" fmla="*/ 0 w 54"/>
                <a:gd name="T11" fmla="*/ 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6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6" name="Freeform 68"/>
            <p:cNvSpPr>
              <a:spLocks/>
            </p:cNvSpPr>
            <p:nvPr/>
          </p:nvSpPr>
          <p:spPr bwMode="auto">
            <a:xfrm>
              <a:off x="3296" y="3137"/>
              <a:ext cx="37" cy="35"/>
            </a:xfrm>
            <a:custGeom>
              <a:avLst/>
              <a:gdLst>
                <a:gd name="T0" fmla="*/ 0 w 54"/>
                <a:gd name="T1" fmla="*/ 3 h 53"/>
                <a:gd name="T2" fmla="*/ 4 w 54"/>
                <a:gd name="T3" fmla="*/ 0 h 53"/>
                <a:gd name="T4" fmla="*/ 8 w 54"/>
                <a:gd name="T5" fmla="*/ 3 h 53"/>
                <a:gd name="T6" fmla="*/ 8 w 54"/>
                <a:gd name="T7" fmla="*/ 3 h 53"/>
                <a:gd name="T8" fmla="*/ 4 w 54"/>
                <a:gd name="T9" fmla="*/ 7 h 53"/>
                <a:gd name="T10" fmla="*/ 0 w 54"/>
                <a:gd name="T11" fmla="*/ 3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7" name="Freeform 69"/>
            <p:cNvSpPr>
              <a:spLocks noEditPoints="1"/>
            </p:cNvSpPr>
            <p:nvPr/>
          </p:nvSpPr>
          <p:spPr bwMode="auto">
            <a:xfrm>
              <a:off x="3302" y="2783"/>
              <a:ext cx="24" cy="194"/>
            </a:xfrm>
            <a:custGeom>
              <a:avLst/>
              <a:gdLst>
                <a:gd name="T0" fmla="*/ 3 w 34"/>
                <a:gd name="T1" fmla="*/ 30 h 300"/>
                <a:gd name="T2" fmla="*/ 0 w 34"/>
                <a:gd name="T3" fmla="*/ 32 h 300"/>
                <a:gd name="T4" fmla="*/ 3 w 34"/>
                <a:gd name="T5" fmla="*/ 34 h 300"/>
                <a:gd name="T6" fmla="*/ 3 w 34"/>
                <a:gd name="T7" fmla="*/ 34 h 300"/>
                <a:gd name="T8" fmla="*/ 6 w 34"/>
                <a:gd name="T9" fmla="*/ 32 h 300"/>
                <a:gd name="T10" fmla="*/ 3 w 34"/>
                <a:gd name="T11" fmla="*/ 30 h 300"/>
                <a:gd name="T12" fmla="*/ 3 w 34"/>
                <a:gd name="T13" fmla="*/ 30 h 300"/>
                <a:gd name="T14" fmla="*/ 3 w 34"/>
                <a:gd name="T15" fmla="*/ 0 h 300"/>
                <a:gd name="T16" fmla="*/ 0 w 34"/>
                <a:gd name="T17" fmla="*/ 2 h 300"/>
                <a:gd name="T18" fmla="*/ 3 w 34"/>
                <a:gd name="T19" fmla="*/ 4 h 300"/>
                <a:gd name="T20" fmla="*/ 3 w 34"/>
                <a:gd name="T21" fmla="*/ 4 h 300"/>
                <a:gd name="T22" fmla="*/ 6 w 34"/>
                <a:gd name="T23" fmla="*/ 2 h 300"/>
                <a:gd name="T24" fmla="*/ 3 w 34"/>
                <a:gd name="T25" fmla="*/ 0 h 300"/>
                <a:gd name="T26" fmla="*/ 3 w 34"/>
                <a:gd name="T27" fmla="*/ 0 h 3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"/>
                <a:gd name="T43" fmla="*/ 0 h 300"/>
                <a:gd name="T44" fmla="*/ 34 w 34"/>
                <a:gd name="T45" fmla="*/ 300 h 3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" h="300">
                  <a:moveTo>
                    <a:pt x="17" y="267"/>
                  </a:moveTo>
                  <a:cubicBezTo>
                    <a:pt x="8" y="267"/>
                    <a:pt x="0" y="274"/>
                    <a:pt x="0" y="283"/>
                  </a:cubicBezTo>
                  <a:cubicBezTo>
                    <a:pt x="0" y="292"/>
                    <a:pt x="8" y="300"/>
                    <a:pt x="17" y="300"/>
                  </a:cubicBezTo>
                  <a:cubicBezTo>
                    <a:pt x="17" y="300"/>
                    <a:pt x="17" y="300"/>
                    <a:pt x="17" y="300"/>
                  </a:cubicBezTo>
                  <a:cubicBezTo>
                    <a:pt x="27" y="300"/>
                    <a:pt x="34" y="292"/>
                    <a:pt x="34" y="283"/>
                  </a:cubicBezTo>
                  <a:cubicBezTo>
                    <a:pt x="34" y="274"/>
                    <a:pt x="27" y="267"/>
                    <a:pt x="17" y="267"/>
                  </a:cubicBezTo>
                  <a:cubicBezTo>
                    <a:pt x="17" y="267"/>
                    <a:pt x="17" y="267"/>
                    <a:pt x="17" y="267"/>
                  </a:cubicBezTo>
                  <a:close/>
                  <a:moveTo>
                    <a:pt x="17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25"/>
                    <a:pt x="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27" y="33"/>
                    <a:pt x="34" y="25"/>
                    <a:pt x="34" y="16"/>
                  </a:cubicBezTo>
                  <a:cubicBezTo>
                    <a:pt x="34" y="7"/>
                    <a:pt x="2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8" name="Freeform 70"/>
            <p:cNvSpPr>
              <a:spLocks noEditPoints="1"/>
            </p:cNvSpPr>
            <p:nvPr/>
          </p:nvSpPr>
          <p:spPr bwMode="auto">
            <a:xfrm>
              <a:off x="3302" y="2783"/>
              <a:ext cx="71" cy="194"/>
            </a:xfrm>
            <a:custGeom>
              <a:avLst/>
              <a:gdLst>
                <a:gd name="T0" fmla="*/ 3 w 103"/>
                <a:gd name="T1" fmla="*/ 30 h 300"/>
                <a:gd name="T2" fmla="*/ 0 w 103"/>
                <a:gd name="T3" fmla="*/ 32 h 300"/>
                <a:gd name="T4" fmla="*/ 3 w 103"/>
                <a:gd name="T5" fmla="*/ 34 h 300"/>
                <a:gd name="T6" fmla="*/ 3 w 103"/>
                <a:gd name="T7" fmla="*/ 34 h 300"/>
                <a:gd name="T8" fmla="*/ 6 w 103"/>
                <a:gd name="T9" fmla="*/ 32 h 300"/>
                <a:gd name="T10" fmla="*/ 3 w 103"/>
                <a:gd name="T11" fmla="*/ 30 h 300"/>
                <a:gd name="T12" fmla="*/ 3 w 103"/>
                <a:gd name="T13" fmla="*/ 30 h 300"/>
                <a:gd name="T14" fmla="*/ 3 w 103"/>
                <a:gd name="T15" fmla="*/ 0 h 300"/>
                <a:gd name="T16" fmla="*/ 0 w 103"/>
                <a:gd name="T17" fmla="*/ 2 h 300"/>
                <a:gd name="T18" fmla="*/ 3 w 103"/>
                <a:gd name="T19" fmla="*/ 4 h 300"/>
                <a:gd name="T20" fmla="*/ 3 w 103"/>
                <a:gd name="T21" fmla="*/ 4 h 300"/>
                <a:gd name="T22" fmla="*/ 6 w 103"/>
                <a:gd name="T23" fmla="*/ 2 h 300"/>
                <a:gd name="T24" fmla="*/ 3 w 103"/>
                <a:gd name="T25" fmla="*/ 0 h 300"/>
                <a:gd name="T26" fmla="*/ 3 w 103"/>
                <a:gd name="T27" fmla="*/ 0 h 300"/>
                <a:gd name="T28" fmla="*/ 4 w 103"/>
                <a:gd name="T29" fmla="*/ 4 h 300"/>
                <a:gd name="T30" fmla="*/ 16 w 103"/>
                <a:gd name="T31" fmla="*/ 28 h 30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"/>
                <a:gd name="T49" fmla="*/ 0 h 300"/>
                <a:gd name="T50" fmla="*/ 103 w 103"/>
                <a:gd name="T51" fmla="*/ 300 h 30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" h="300">
                  <a:moveTo>
                    <a:pt x="17" y="267"/>
                  </a:moveTo>
                  <a:cubicBezTo>
                    <a:pt x="8" y="267"/>
                    <a:pt x="0" y="274"/>
                    <a:pt x="0" y="283"/>
                  </a:cubicBezTo>
                  <a:cubicBezTo>
                    <a:pt x="0" y="292"/>
                    <a:pt x="8" y="300"/>
                    <a:pt x="17" y="300"/>
                  </a:cubicBezTo>
                  <a:cubicBezTo>
                    <a:pt x="17" y="300"/>
                    <a:pt x="17" y="300"/>
                    <a:pt x="17" y="300"/>
                  </a:cubicBezTo>
                  <a:cubicBezTo>
                    <a:pt x="27" y="300"/>
                    <a:pt x="34" y="292"/>
                    <a:pt x="34" y="283"/>
                  </a:cubicBezTo>
                  <a:cubicBezTo>
                    <a:pt x="34" y="274"/>
                    <a:pt x="27" y="267"/>
                    <a:pt x="17" y="267"/>
                  </a:cubicBezTo>
                  <a:cubicBezTo>
                    <a:pt x="17" y="267"/>
                    <a:pt x="17" y="267"/>
                    <a:pt x="17" y="267"/>
                  </a:cubicBezTo>
                  <a:moveTo>
                    <a:pt x="17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25"/>
                    <a:pt x="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27" y="33"/>
                    <a:pt x="34" y="25"/>
                    <a:pt x="34" y="16"/>
                  </a:cubicBezTo>
                  <a:cubicBezTo>
                    <a:pt x="34" y="7"/>
                    <a:pt x="2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24" y="32"/>
                  </a:moveTo>
                  <a:lnTo>
                    <a:pt x="103" y="250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9" name="Freeform 71"/>
            <p:cNvSpPr>
              <a:spLocks/>
            </p:cNvSpPr>
            <p:nvPr/>
          </p:nvSpPr>
          <p:spPr bwMode="auto">
            <a:xfrm>
              <a:off x="3298" y="2648"/>
              <a:ext cx="32" cy="58"/>
            </a:xfrm>
            <a:custGeom>
              <a:avLst/>
              <a:gdLst>
                <a:gd name="T0" fmla="*/ 17 w 32"/>
                <a:gd name="T1" fmla="*/ 58 h 58"/>
                <a:gd name="T2" fmla="*/ 32 w 32"/>
                <a:gd name="T3" fmla="*/ 0 h 58"/>
                <a:gd name="T4" fmla="*/ 0 w 32"/>
                <a:gd name="T5" fmla="*/ 0 h 58"/>
                <a:gd name="T6" fmla="*/ 17 w 32"/>
                <a:gd name="T7" fmla="*/ 58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8"/>
                <a:gd name="T14" fmla="*/ 32 w 3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8">
                  <a:moveTo>
                    <a:pt x="17" y="58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17" y="58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0" name="Freeform 72"/>
            <p:cNvSpPr>
              <a:spLocks/>
            </p:cNvSpPr>
            <p:nvPr/>
          </p:nvSpPr>
          <p:spPr bwMode="auto">
            <a:xfrm>
              <a:off x="3298" y="2648"/>
              <a:ext cx="32" cy="58"/>
            </a:xfrm>
            <a:custGeom>
              <a:avLst/>
              <a:gdLst>
                <a:gd name="T0" fmla="*/ 17 w 32"/>
                <a:gd name="T1" fmla="*/ 58 h 58"/>
                <a:gd name="T2" fmla="*/ 32 w 32"/>
                <a:gd name="T3" fmla="*/ 0 h 58"/>
                <a:gd name="T4" fmla="*/ 0 w 32"/>
                <a:gd name="T5" fmla="*/ 0 h 58"/>
                <a:gd name="T6" fmla="*/ 17 w 32"/>
                <a:gd name="T7" fmla="*/ 58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8"/>
                <a:gd name="T14" fmla="*/ 32 w 3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8">
                  <a:moveTo>
                    <a:pt x="17" y="58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17" y="58"/>
                  </a:lnTo>
                  <a:close/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1" name="Line 73"/>
            <p:cNvSpPr>
              <a:spLocks noChangeShapeType="1"/>
            </p:cNvSpPr>
            <p:nvPr/>
          </p:nvSpPr>
          <p:spPr bwMode="auto">
            <a:xfrm flipV="1">
              <a:off x="3315" y="2573"/>
              <a:ext cx="1" cy="75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2" name="Freeform 74"/>
            <p:cNvSpPr>
              <a:spLocks/>
            </p:cNvSpPr>
            <p:nvPr/>
          </p:nvSpPr>
          <p:spPr bwMode="auto">
            <a:xfrm>
              <a:off x="3526" y="2620"/>
              <a:ext cx="32" cy="59"/>
            </a:xfrm>
            <a:custGeom>
              <a:avLst/>
              <a:gdLst>
                <a:gd name="T0" fmla="*/ 16 w 32"/>
                <a:gd name="T1" fmla="*/ 0 h 59"/>
                <a:gd name="T2" fmla="*/ 0 w 32"/>
                <a:gd name="T3" fmla="*/ 59 h 59"/>
                <a:gd name="T4" fmla="*/ 32 w 32"/>
                <a:gd name="T5" fmla="*/ 59 h 59"/>
                <a:gd name="T6" fmla="*/ 16 w 32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9"/>
                <a:gd name="T14" fmla="*/ 32 w 32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9">
                  <a:moveTo>
                    <a:pt x="16" y="0"/>
                  </a:moveTo>
                  <a:lnTo>
                    <a:pt x="0" y="59"/>
                  </a:lnTo>
                  <a:lnTo>
                    <a:pt x="32" y="59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3" name="Freeform 75"/>
            <p:cNvSpPr>
              <a:spLocks/>
            </p:cNvSpPr>
            <p:nvPr/>
          </p:nvSpPr>
          <p:spPr bwMode="auto">
            <a:xfrm>
              <a:off x="3526" y="2620"/>
              <a:ext cx="32" cy="59"/>
            </a:xfrm>
            <a:custGeom>
              <a:avLst/>
              <a:gdLst>
                <a:gd name="T0" fmla="*/ 16 w 32"/>
                <a:gd name="T1" fmla="*/ 0 h 59"/>
                <a:gd name="T2" fmla="*/ 0 w 32"/>
                <a:gd name="T3" fmla="*/ 59 h 59"/>
                <a:gd name="T4" fmla="*/ 32 w 32"/>
                <a:gd name="T5" fmla="*/ 59 h 59"/>
                <a:gd name="T6" fmla="*/ 16 w 32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9"/>
                <a:gd name="T14" fmla="*/ 32 w 32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9">
                  <a:moveTo>
                    <a:pt x="16" y="0"/>
                  </a:moveTo>
                  <a:lnTo>
                    <a:pt x="0" y="59"/>
                  </a:lnTo>
                  <a:lnTo>
                    <a:pt x="32" y="59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4" name="Line 76"/>
            <p:cNvSpPr>
              <a:spLocks noChangeShapeType="1"/>
            </p:cNvSpPr>
            <p:nvPr/>
          </p:nvSpPr>
          <p:spPr bwMode="auto">
            <a:xfrm>
              <a:off x="3542" y="2679"/>
              <a:ext cx="1" cy="74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" name="Freeform 77"/>
            <p:cNvSpPr>
              <a:spLocks/>
            </p:cNvSpPr>
            <p:nvPr/>
          </p:nvSpPr>
          <p:spPr bwMode="auto">
            <a:xfrm>
              <a:off x="3870" y="2007"/>
              <a:ext cx="63" cy="30"/>
            </a:xfrm>
            <a:custGeom>
              <a:avLst/>
              <a:gdLst>
                <a:gd name="T0" fmla="*/ 63 w 63"/>
                <a:gd name="T1" fmla="*/ 15 h 30"/>
                <a:gd name="T2" fmla="*/ 0 w 63"/>
                <a:gd name="T3" fmla="*/ 0 h 30"/>
                <a:gd name="T4" fmla="*/ 0 w 63"/>
                <a:gd name="T5" fmla="*/ 30 h 30"/>
                <a:gd name="T6" fmla="*/ 63 w 63"/>
                <a:gd name="T7" fmla="*/ 15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"/>
                <a:gd name="T13" fmla="*/ 0 h 30"/>
                <a:gd name="T14" fmla="*/ 63 w 63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" h="30">
                  <a:moveTo>
                    <a:pt x="63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63" y="15"/>
                  </a:lnTo>
                  <a:close/>
                </a:path>
              </a:pathLst>
            </a:custGeom>
            <a:solidFill>
              <a:srgbClr val="1A1A1A"/>
            </a:solidFill>
            <a:ln w="19050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6" name="Freeform 78"/>
            <p:cNvSpPr>
              <a:spLocks/>
            </p:cNvSpPr>
            <p:nvPr/>
          </p:nvSpPr>
          <p:spPr bwMode="auto">
            <a:xfrm>
              <a:off x="3870" y="2007"/>
              <a:ext cx="63" cy="30"/>
            </a:xfrm>
            <a:custGeom>
              <a:avLst/>
              <a:gdLst>
                <a:gd name="T0" fmla="*/ 63 w 63"/>
                <a:gd name="T1" fmla="*/ 15 h 30"/>
                <a:gd name="T2" fmla="*/ 0 w 63"/>
                <a:gd name="T3" fmla="*/ 0 h 30"/>
                <a:gd name="T4" fmla="*/ 0 w 63"/>
                <a:gd name="T5" fmla="*/ 30 h 30"/>
                <a:gd name="T6" fmla="*/ 63 w 63"/>
                <a:gd name="T7" fmla="*/ 15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"/>
                <a:gd name="T13" fmla="*/ 0 h 30"/>
                <a:gd name="T14" fmla="*/ 63 w 63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" h="30">
                  <a:moveTo>
                    <a:pt x="63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63" y="15"/>
                  </a:lnTo>
                  <a:close/>
                </a:path>
              </a:pathLst>
            </a:cu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7" name="Line 79"/>
            <p:cNvSpPr>
              <a:spLocks noChangeShapeType="1"/>
            </p:cNvSpPr>
            <p:nvPr/>
          </p:nvSpPr>
          <p:spPr bwMode="auto">
            <a:xfrm flipH="1">
              <a:off x="3790" y="2022"/>
              <a:ext cx="80" cy="1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8" name="Rectangle 80"/>
            <p:cNvSpPr>
              <a:spLocks noChangeArrowheads="1"/>
            </p:cNvSpPr>
            <p:nvPr/>
          </p:nvSpPr>
          <p:spPr bwMode="auto">
            <a:xfrm>
              <a:off x="3334" y="2568"/>
              <a:ext cx="88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dirty="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1109" name="Rectangle 81"/>
            <p:cNvSpPr>
              <a:spLocks noChangeArrowheads="1"/>
            </p:cNvSpPr>
            <p:nvPr/>
          </p:nvSpPr>
          <p:spPr bwMode="auto">
            <a:xfrm>
              <a:off x="3788" y="2251"/>
              <a:ext cx="14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110" name="Rectangle 82"/>
            <p:cNvSpPr>
              <a:spLocks noChangeArrowheads="1"/>
            </p:cNvSpPr>
            <p:nvPr/>
          </p:nvSpPr>
          <p:spPr bwMode="auto">
            <a:xfrm>
              <a:off x="3379" y="2251"/>
              <a:ext cx="144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111" name="Rectangle 83"/>
            <p:cNvSpPr>
              <a:spLocks noChangeArrowheads="1"/>
            </p:cNvSpPr>
            <p:nvPr/>
          </p:nvSpPr>
          <p:spPr bwMode="auto">
            <a:xfrm>
              <a:off x="3561" y="2568"/>
              <a:ext cx="88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112" name="Rectangle 84"/>
            <p:cNvSpPr>
              <a:spLocks noChangeArrowheads="1"/>
            </p:cNvSpPr>
            <p:nvPr/>
          </p:nvSpPr>
          <p:spPr bwMode="auto">
            <a:xfrm>
              <a:off x="3788" y="1797"/>
              <a:ext cx="88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113" name="Rectangle 85"/>
            <p:cNvSpPr>
              <a:spLocks noChangeArrowheads="1"/>
            </p:cNvSpPr>
            <p:nvPr/>
          </p:nvSpPr>
          <p:spPr bwMode="auto">
            <a:xfrm>
              <a:off x="3652" y="2795"/>
              <a:ext cx="152" cy="17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114" name="Line 86"/>
            <p:cNvSpPr>
              <a:spLocks noChangeShapeType="1"/>
            </p:cNvSpPr>
            <p:nvPr/>
          </p:nvSpPr>
          <p:spPr bwMode="auto">
            <a:xfrm>
              <a:off x="2925" y="3157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5" name="Line 87"/>
            <p:cNvSpPr>
              <a:spLocks noChangeShapeType="1"/>
            </p:cNvSpPr>
            <p:nvPr/>
          </p:nvSpPr>
          <p:spPr bwMode="auto">
            <a:xfrm>
              <a:off x="2925" y="2069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" name="Text Box 88"/>
            <p:cNvSpPr txBox="1">
              <a:spLocks noChangeArrowheads="1"/>
            </p:cNvSpPr>
            <p:nvPr/>
          </p:nvSpPr>
          <p:spPr bwMode="auto">
            <a:xfrm>
              <a:off x="3061" y="3249"/>
              <a:ext cx="2223" cy="2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/>
                <a:t>Practical forward converter</a:t>
              </a:r>
            </a:p>
          </p:txBody>
        </p:sp>
      </p:grp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403350" y="4365625"/>
          <a:ext cx="5253038" cy="185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82" name="公式" r:id="rId3" imgW="2514600" imgH="888840" progId="Equation.3">
                  <p:embed/>
                </p:oleObj>
              </mc:Choice>
              <mc:Fallback>
                <p:oleObj name="公式" r:id="rId3" imgW="2514600" imgH="8888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365625"/>
                        <a:ext cx="5253038" cy="1857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93"/>
          <p:cNvSpPr>
            <a:spLocks noChangeArrowheads="1"/>
          </p:cNvSpPr>
          <p:nvPr/>
        </p:nvSpPr>
        <p:spPr bwMode="auto">
          <a:xfrm>
            <a:off x="0" y="2471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57" name="Text Box 3"/>
          <p:cNvSpPr txBox="1">
            <a:spLocks noChangeArrowheads="1"/>
          </p:cNvSpPr>
          <p:nvPr/>
        </p:nvSpPr>
        <p:spPr bwMode="auto">
          <a:xfrm>
            <a:off x="395288" y="1125538"/>
            <a:ext cx="8424862" cy="1791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2400" b="1" i="1" dirty="0" smtClean="0">
                <a:solidFill>
                  <a:srgbClr val="A50021"/>
                </a:solidFill>
              </a:rPr>
              <a:t>Problem 4:</a:t>
            </a:r>
            <a:r>
              <a:rPr lang="en-US" altLang="zh-CN" sz="2400" dirty="0" smtClean="0"/>
              <a:t> Write </a:t>
            </a:r>
            <a:r>
              <a:rPr lang="en-US" altLang="zh-CN" sz="2400" dirty="0"/>
              <a:t>out the voltage stress </a:t>
            </a:r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T,peak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on the main switch in five kinds of dc-dc converters with isolation respectively.</a:t>
            </a: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 sz="2400" dirty="0"/>
              <a:t>                                                                           </a:t>
            </a:r>
            <a:endParaRPr lang="en-US" altLang="zh-CN" sz="2400" dirty="0">
              <a:solidFill>
                <a:srgbClr val="A50021"/>
              </a:solidFill>
            </a:endParaRPr>
          </a:p>
        </p:txBody>
      </p:sp>
      <p:sp>
        <p:nvSpPr>
          <p:cNvPr id="23558" name="矩形 2"/>
          <p:cNvSpPr>
            <a:spLocks noChangeArrowheads="1"/>
          </p:cNvSpPr>
          <p:nvPr/>
        </p:nvSpPr>
        <p:spPr bwMode="auto">
          <a:xfrm>
            <a:off x="323850" y="2133600"/>
            <a:ext cx="4572000" cy="429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>
                <a:solidFill>
                  <a:srgbClr val="C00000"/>
                </a:solidFill>
              </a:rPr>
              <a:t> Solution 4:  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/>
              <a:t>      Flyback converter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/>
              <a:t>      Forward converter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/>
              <a:t>      Push-pull converter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/>
              <a:t>      Half bridge converter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/>
              <a:t>      Full bridge converter</a:t>
            </a:r>
          </a:p>
        </p:txBody>
      </p:sp>
      <p:graphicFrame>
        <p:nvGraphicFramePr>
          <p:cNvPr id="23561" name="Object 202"/>
          <p:cNvGraphicFramePr>
            <a:graphicFrameLocks noChangeAspect="1"/>
          </p:cNvGraphicFramePr>
          <p:nvPr/>
        </p:nvGraphicFramePr>
        <p:xfrm>
          <a:off x="3924300" y="5229225"/>
          <a:ext cx="15621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54" name="公式" r:id="rId3" imgW="698400" imgH="241200" progId="Equation.3">
                  <p:embed/>
                </p:oleObj>
              </mc:Choice>
              <mc:Fallback>
                <p:oleObj name="公式" r:id="rId3" imgW="698400" imgH="241200" progId="Equation.3">
                  <p:embed/>
                  <p:pic>
                    <p:nvPicPr>
                      <p:cNvPr id="0" name="Object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229225"/>
                        <a:ext cx="15621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202"/>
          <p:cNvGraphicFramePr>
            <a:graphicFrameLocks noChangeAspect="1"/>
          </p:cNvGraphicFramePr>
          <p:nvPr/>
        </p:nvGraphicFramePr>
        <p:xfrm>
          <a:off x="3840163" y="4437063"/>
          <a:ext cx="17319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55" name="公式" r:id="rId5" imgW="774360" imgH="241200" progId="Equation.3">
                  <p:embed/>
                </p:oleObj>
              </mc:Choice>
              <mc:Fallback>
                <p:oleObj name="公式" r:id="rId5" imgW="77436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163" y="4437063"/>
                        <a:ext cx="1731962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202"/>
          <p:cNvGraphicFramePr>
            <a:graphicFrameLocks noChangeAspect="1"/>
          </p:cNvGraphicFramePr>
          <p:nvPr/>
        </p:nvGraphicFramePr>
        <p:xfrm>
          <a:off x="3924300" y="5949950"/>
          <a:ext cx="15621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56" name="公式" r:id="rId7" imgW="698400" imgH="241200" progId="Equation.3">
                  <p:embed/>
                </p:oleObj>
              </mc:Choice>
              <mc:Fallback>
                <p:oleObj name="公式" r:id="rId7" imgW="69840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949950"/>
                        <a:ext cx="15621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58"/>
          <p:cNvGraphicFramePr>
            <a:graphicFrameLocks noChangeAspect="1"/>
          </p:cNvGraphicFramePr>
          <p:nvPr/>
        </p:nvGraphicFramePr>
        <p:xfrm>
          <a:off x="3851275" y="3500438"/>
          <a:ext cx="2671763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57" name="公式" r:id="rId8" imgW="1193760" imgH="431640" progId="Equation.3">
                  <p:embed/>
                </p:oleObj>
              </mc:Choice>
              <mc:Fallback>
                <p:oleObj name="公式" r:id="rId8" imgW="1193760" imgH="431640" progId="Equation.3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3500438"/>
                        <a:ext cx="2671763" cy="966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/>
        </p:nvGraphicFramePr>
        <p:xfrm>
          <a:off x="3851275" y="2636838"/>
          <a:ext cx="2922588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58" name="公式" r:id="rId10" imgW="1282680" imgH="431640" progId="Equation.3">
                  <p:embed/>
                </p:oleObj>
              </mc:Choice>
              <mc:Fallback>
                <p:oleObj name="公式" r:id="rId10" imgW="128268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36838"/>
                        <a:ext cx="2922588" cy="984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0" y="2471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1" name="Text Box 3"/>
          <p:cNvSpPr txBox="1">
            <a:spLocks noChangeArrowheads="1"/>
          </p:cNvSpPr>
          <p:nvPr/>
        </p:nvSpPr>
        <p:spPr bwMode="auto">
          <a:xfrm>
            <a:off x="395288" y="1052513"/>
            <a:ext cx="8605837" cy="1348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en-US" altLang="zh-CN" sz="2400" b="1" i="1" dirty="0" smtClean="0">
                <a:solidFill>
                  <a:srgbClr val="A50021"/>
                </a:solidFill>
              </a:rPr>
              <a:t>Problem ****:</a:t>
            </a:r>
            <a:r>
              <a:rPr lang="en-US" altLang="zh-CN" sz="2400" dirty="0" smtClean="0"/>
              <a:t>(</a:t>
            </a:r>
            <a:r>
              <a:rPr lang="zh-CN" altLang="en-US" sz="2400" b="1" dirty="0"/>
              <a:t>实验</a:t>
            </a:r>
            <a:r>
              <a:rPr lang="en-US" altLang="zh-CN" sz="2400" dirty="0"/>
              <a:t>1)  In DC-DC experiment , (a) please draw the actual voltage-waveform of diode in buck </a:t>
            </a:r>
            <a:r>
              <a:rPr lang="en-US" altLang="zh-CN" sz="2400" dirty="0" smtClean="0"/>
              <a:t>converter</a:t>
            </a:r>
            <a:endParaRPr lang="en-US" altLang="zh-CN" sz="2400" dirty="0"/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en-US" altLang="zh-CN" sz="2400" dirty="0"/>
              <a:t>(b) Explain why this waveform is different form ideal waveform.   </a:t>
            </a:r>
          </a:p>
        </p:txBody>
      </p:sp>
      <p:sp>
        <p:nvSpPr>
          <p:cNvPr id="24582" name="矩形 1"/>
          <p:cNvSpPr>
            <a:spLocks noChangeArrowheads="1"/>
          </p:cNvSpPr>
          <p:nvPr/>
        </p:nvSpPr>
        <p:spPr bwMode="auto">
          <a:xfrm>
            <a:off x="468313" y="3141663"/>
            <a:ext cx="20810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A50021"/>
                </a:solidFill>
              </a:rPr>
              <a:t>Solution </a:t>
            </a:r>
            <a:r>
              <a:rPr lang="en-US" altLang="zh-CN" sz="2400" b="1" dirty="0" smtClean="0">
                <a:solidFill>
                  <a:srgbClr val="A50021"/>
                </a:solidFill>
              </a:rPr>
              <a:t>****:</a:t>
            </a:r>
            <a:endParaRPr lang="en-US" altLang="zh-CN" sz="2400" dirty="0"/>
          </a:p>
        </p:txBody>
      </p:sp>
      <p:sp>
        <p:nvSpPr>
          <p:cNvPr id="24583" name="矩形 2"/>
          <p:cNvSpPr>
            <a:spLocks noChangeArrowheads="1"/>
          </p:cNvSpPr>
          <p:nvPr/>
        </p:nvSpPr>
        <p:spPr bwMode="auto">
          <a:xfrm>
            <a:off x="539750" y="3716338"/>
            <a:ext cx="7786688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>
                <a:latin typeface="宋体" pitchFamily="2" charset="-122"/>
              </a:rPr>
              <a:t>(a) </a:t>
            </a:r>
            <a:r>
              <a:rPr lang="zh-CN" altLang="en-US" sz="2400" b="1">
                <a:latin typeface="宋体" pitchFamily="2" charset="-122"/>
              </a:rPr>
              <a:t>应该画出开关管开通时，二极管两端电压有波动 </a:t>
            </a:r>
            <a:r>
              <a:rPr lang="en-US" altLang="zh-CN" sz="2400" b="1">
                <a:latin typeface="宋体" pitchFamily="2" charset="-122"/>
              </a:rPr>
              <a:t>(</a:t>
            </a:r>
            <a:r>
              <a:rPr lang="zh-CN" altLang="en-US" sz="2400" b="1">
                <a:latin typeface="宋体" pitchFamily="2" charset="-122"/>
              </a:rPr>
              <a:t>波动范围与电流大小及设备电容大小有关</a:t>
            </a:r>
            <a:r>
              <a:rPr lang="en-US" altLang="zh-CN" sz="2400" b="1">
                <a:latin typeface="宋体" pitchFamily="2" charset="-122"/>
              </a:rPr>
              <a:t>)</a:t>
            </a:r>
            <a:r>
              <a:rPr lang="zh-CN" altLang="en-US" sz="2400" b="1">
                <a:latin typeface="宋体" pitchFamily="2" charset="-122"/>
              </a:rPr>
              <a:t>。开关管关断后，二极管导通，电压始终为零。</a:t>
            </a:r>
            <a:br>
              <a:rPr lang="zh-CN" altLang="en-US" sz="2400" b="1">
                <a:latin typeface="宋体" pitchFamily="2" charset="-122"/>
              </a:rPr>
            </a:br>
            <a:r>
              <a:rPr lang="en-US" altLang="zh-CN" sz="2400" b="1">
                <a:latin typeface="宋体" pitchFamily="2" charset="-122"/>
              </a:rPr>
              <a:t>(b) </a:t>
            </a:r>
            <a:r>
              <a:rPr lang="zh-CN" altLang="en-US" sz="2400" b="1">
                <a:latin typeface="宋体" pitchFamily="2" charset="-122"/>
              </a:rPr>
              <a:t>与理想波形不同的原因是：因为</a:t>
            </a:r>
            <a:r>
              <a:rPr lang="en-US" altLang="zh-CN" sz="2400" b="1">
                <a:latin typeface="宋体" pitchFamily="2" charset="-122"/>
              </a:rPr>
              <a:t>DC-DC</a:t>
            </a:r>
            <a:r>
              <a:rPr lang="zh-CN" altLang="en-US" sz="2400" b="1">
                <a:latin typeface="宋体" pitchFamily="2" charset="-122"/>
              </a:rPr>
              <a:t>输入电压为整流桥带电容稳压得到的，故输入电压有波动，所以输出电压也会随输入电压的波动而波动。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076056" y="188640"/>
            <a:ext cx="280828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b="1" i="1" dirty="0" smtClean="0">
                <a:solidFill>
                  <a:srgbClr val="A50021"/>
                </a:solidFill>
              </a:rPr>
              <a:t>3</a:t>
            </a:r>
            <a:endParaRPr lang="en-US" altLang="zh-CN" sz="4000" b="1" i="1" dirty="0">
              <a:solidFill>
                <a:srgbClr val="A5002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9512" y="1268760"/>
            <a:ext cx="885698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altLang="zh-CN" sz="2400" b="1" i="1" dirty="0" smtClean="0">
                <a:solidFill>
                  <a:srgbClr val="A50021"/>
                </a:solidFill>
              </a:rPr>
              <a:t>Problem 1:</a:t>
            </a:r>
            <a:r>
              <a:rPr lang="en-US" altLang="zh-CN" sz="2400" dirty="0" smtClean="0"/>
              <a:t> For </a:t>
            </a:r>
            <a:r>
              <a:rPr lang="en-US" altLang="zh-CN" sz="2400" dirty="0"/>
              <a:t>a </a:t>
            </a:r>
            <a:r>
              <a:rPr lang="en-US" altLang="zh-CN" sz="2400" dirty="0" err="1"/>
              <a:t>flyback</a:t>
            </a:r>
            <a:r>
              <a:rPr lang="en-US" altLang="zh-CN" sz="2400" dirty="0"/>
              <a:t> converter with input voltage </a:t>
            </a:r>
            <a:r>
              <a:rPr lang="en-US" altLang="zh-CN" sz="2400" dirty="0" err="1"/>
              <a:t>Vd</a:t>
            </a:r>
            <a:r>
              <a:rPr lang="en-US" altLang="zh-CN" sz="2400" dirty="0"/>
              <a:t> and output voltage Vo, its turns ratio of the transformer is N1/N2, please answer the questions:  </a:t>
            </a:r>
          </a:p>
          <a:p>
            <a:pPr marL="0" indent="0" algn="just">
              <a:buNone/>
            </a:pPr>
            <a:r>
              <a:rPr lang="en-US" altLang="zh-CN" sz="2400" dirty="0"/>
              <a:t>(1) Draw the circuit configuration of </a:t>
            </a:r>
            <a:r>
              <a:rPr lang="en-US" altLang="zh-CN" sz="2400" dirty="0" err="1"/>
              <a:t>flyback</a:t>
            </a:r>
            <a:r>
              <a:rPr lang="en-US" altLang="zh-CN" sz="2400" dirty="0"/>
              <a:t> converter.  (0.5 point)</a:t>
            </a:r>
          </a:p>
          <a:p>
            <a:pPr marL="0" indent="0" algn="just">
              <a:buNone/>
            </a:pPr>
            <a:r>
              <a:rPr lang="en-US" altLang="zh-CN" sz="2400" dirty="0"/>
              <a:t>(2) Draw the waveforms of the primary voltage of transformer, switch voltage, switch current and diode current in CCM operation mode.  (1 point)</a:t>
            </a:r>
          </a:p>
          <a:p>
            <a:pPr marL="0" indent="0" algn="just">
              <a:buNone/>
            </a:pPr>
            <a:r>
              <a:rPr lang="en-US" altLang="zh-CN" sz="2400" dirty="0"/>
              <a:t>(3) Derive the relationship between Vo and </a:t>
            </a:r>
            <a:r>
              <a:rPr lang="en-US" altLang="zh-CN" sz="2400" dirty="0" err="1"/>
              <a:t>Vd</a:t>
            </a:r>
            <a:r>
              <a:rPr lang="en-US" altLang="zh-CN" sz="2400" dirty="0"/>
              <a:t> under CCM operation mode. (0.5 point)</a:t>
            </a:r>
          </a:p>
          <a:p>
            <a:pPr marL="0" indent="0" algn="just">
              <a:buNone/>
            </a:pPr>
            <a:r>
              <a:rPr lang="en-US" altLang="zh-CN" sz="2400" dirty="0"/>
              <a:t>(4) Calculate the voltage stress of switch and diode. (0.5 point)</a:t>
            </a:r>
          </a:p>
          <a:p>
            <a:pPr marL="0" indent="0" algn="just">
              <a:buNone/>
            </a:pPr>
            <a:r>
              <a:rPr lang="en-US" altLang="zh-CN" sz="2400" dirty="0"/>
              <a:t>(5) Can the transformer in </a:t>
            </a:r>
            <a:r>
              <a:rPr lang="en-US" altLang="zh-CN" sz="2400" dirty="0" err="1"/>
              <a:t>flyback</a:t>
            </a:r>
            <a:r>
              <a:rPr lang="en-US" altLang="zh-CN" sz="2400" dirty="0"/>
              <a:t> converter be treated as an inductor? Compare its operation principle of the transformer with that of the transformer in forward converter. (0.5 point)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459" name="Object 19"/>
          <p:cNvGraphicFramePr>
            <a:graphicFrameLocks noChangeAspect="1"/>
          </p:cNvGraphicFramePr>
          <p:nvPr/>
        </p:nvGraphicFramePr>
        <p:xfrm>
          <a:off x="0" y="3140968"/>
          <a:ext cx="4752528" cy="2447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82" name="Visio" r:id="rId3" imgW="1774850" imgH="976884" progId="Visio.Drawing.11">
                  <p:embed/>
                </p:oleObj>
              </mc:Choice>
              <mc:Fallback>
                <p:oleObj name="Visio" r:id="rId3" imgW="1774850" imgH="976884" progId="Visio.Drawing.11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7370"/>
                      <a:stretch>
                        <a:fillRect/>
                      </a:stretch>
                    </p:blipFill>
                    <p:spPr bwMode="auto">
                      <a:xfrm>
                        <a:off x="0" y="3140968"/>
                        <a:ext cx="4752528" cy="24470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58" name="Object 18"/>
          <p:cNvGraphicFramePr>
            <a:graphicFrameLocks noChangeAspect="1"/>
          </p:cNvGraphicFramePr>
          <p:nvPr/>
        </p:nvGraphicFramePr>
        <p:xfrm>
          <a:off x="5292080" y="1340768"/>
          <a:ext cx="3731763" cy="5324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483" name="Visio" r:id="rId5" imgW="2814780" imgH="4042362" progId="Visio.Drawing.11">
                  <p:embed/>
                </p:oleObj>
              </mc:Choice>
              <mc:Fallback>
                <p:oleObj name="Visio" r:id="rId5" imgW="2814780" imgH="4042362" progId="Visio.Drawing.11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1340768"/>
                        <a:ext cx="3731763" cy="532485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61" name="Rectangle 21"/>
          <p:cNvSpPr>
            <a:spLocks noChangeArrowheads="1"/>
          </p:cNvSpPr>
          <p:nvPr/>
        </p:nvSpPr>
        <p:spPr bwMode="auto">
          <a:xfrm>
            <a:off x="4427984" y="1524363"/>
            <a:ext cx="89959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(2)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        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0" y="1628800"/>
            <a:ext cx="89959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(1)</a:t>
            </a: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           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79512" y="1052736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A50021"/>
                </a:solidFill>
              </a:rPr>
              <a:t>Solution 1:</a:t>
            </a:r>
            <a:r>
              <a:rPr lang="en-US" altLang="zh-CN" dirty="0" smtClean="0">
                <a:solidFill>
                  <a:srgbClr val="A50021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3236" name="Object 4"/>
          <p:cNvGraphicFramePr>
            <a:graphicFrameLocks noChangeAspect="1"/>
          </p:cNvGraphicFramePr>
          <p:nvPr/>
        </p:nvGraphicFramePr>
        <p:xfrm>
          <a:off x="2843808" y="908720"/>
          <a:ext cx="1656184" cy="783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15" r:id="rId3" imgW="876300" imgH="431800" progId="Equation.DSMT4">
                  <p:embed/>
                </p:oleObj>
              </mc:Choice>
              <mc:Fallback>
                <p:oleObj r:id="rId3" imgW="876300" imgH="431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908720"/>
                        <a:ext cx="1656184" cy="7833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5" name="Object 3"/>
          <p:cNvGraphicFramePr>
            <a:graphicFrameLocks noChangeAspect="1"/>
          </p:cNvGraphicFramePr>
          <p:nvPr/>
        </p:nvGraphicFramePr>
        <p:xfrm>
          <a:off x="7092280" y="836712"/>
          <a:ext cx="1672186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16" r:id="rId5" imgW="901309" imgH="431613" progId="Equation.DSMT4">
                  <p:embed/>
                </p:oleObj>
              </mc:Choice>
              <mc:Fallback>
                <p:oleObj r:id="rId5" imgW="901309" imgH="431613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836712"/>
                        <a:ext cx="1672186" cy="792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4" name="Object 2"/>
          <p:cNvGraphicFramePr>
            <a:graphicFrameLocks noChangeAspect="1"/>
          </p:cNvGraphicFramePr>
          <p:nvPr/>
        </p:nvGraphicFramePr>
        <p:xfrm>
          <a:off x="1403648" y="2204864"/>
          <a:ext cx="2304256" cy="843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17" r:id="rId7" imgW="1167893" imgH="431613" progId="Equation.DSMT4">
                  <p:embed/>
                </p:oleObj>
              </mc:Choice>
              <mc:Fallback>
                <p:oleObj r:id="rId7" imgW="1167893" imgH="431613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2204864"/>
                        <a:ext cx="2304256" cy="84302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3" name="Object 1"/>
          <p:cNvGraphicFramePr>
            <a:graphicFrameLocks noChangeAspect="1"/>
          </p:cNvGraphicFramePr>
          <p:nvPr/>
        </p:nvGraphicFramePr>
        <p:xfrm>
          <a:off x="5724128" y="2132856"/>
          <a:ext cx="2088231" cy="810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18" r:id="rId9" imgW="1079032" imgH="431613" progId="Equation.DSMT4">
                  <p:embed/>
                </p:oleObj>
              </mc:Choice>
              <mc:Fallback>
                <p:oleObj r:id="rId9" imgW="1079032" imgH="431613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2132856"/>
                        <a:ext cx="2088231" cy="8100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7" name="Rectangle 5"/>
          <p:cNvSpPr>
            <a:spLocks noChangeArrowheads="1"/>
          </p:cNvSpPr>
          <p:nvPr/>
        </p:nvSpPr>
        <p:spPr bwMode="auto">
          <a:xfrm>
            <a:off x="0" y="903784"/>
            <a:ext cx="298782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(3)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During the t</a:t>
            </a:r>
            <a:r>
              <a:rPr kumimoji="0" lang="en-US" altLang="zh-CN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on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 period, 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23238" name="Rectangle 6"/>
          <p:cNvSpPr>
            <a:spLocks noChangeArrowheads="1"/>
          </p:cNvSpPr>
          <p:nvPr/>
        </p:nvSpPr>
        <p:spPr bwMode="auto">
          <a:xfrm>
            <a:off x="4716016" y="1052736"/>
            <a:ext cx="233975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; during 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</a:t>
            </a:r>
            <a:r>
              <a:rPr kumimoji="0" lang="en-US" altLang="zh-CN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</a:t>
            </a:r>
            <a:r>
              <a:rPr kumimoji="0" lang="en-US" altLang="zh-CN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ea typeface="宋体" pitchFamily="2" charset="-122"/>
                <a:cs typeface="Times New Roman" pitchFamily="18" charset="0"/>
              </a:rPr>
              <a:t>­</a:t>
            </a:r>
            <a:r>
              <a:rPr kumimoji="0" lang="en-US" altLang="zh-CN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period, 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23239" name="Rectangle 7"/>
          <p:cNvSpPr>
            <a:spLocks noChangeArrowheads="1"/>
          </p:cNvSpPr>
          <p:nvPr/>
        </p:nvSpPr>
        <p:spPr bwMode="auto">
          <a:xfrm>
            <a:off x="0" y="1628800"/>
            <a:ext cx="91440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Since the net change of flux through the core over one time period must be zero in steady state, 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23240" name="Rectangle 8"/>
          <p:cNvSpPr>
            <a:spLocks noChangeArrowheads="1"/>
          </p:cNvSpPr>
          <p:nvPr/>
        </p:nvSpPr>
        <p:spPr bwMode="auto">
          <a:xfrm>
            <a:off x="4572000" y="2348880"/>
            <a:ext cx="971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55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So 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23241" name="Rectangle 9"/>
          <p:cNvSpPr>
            <a:spLocks noChangeArrowheads="1"/>
          </p:cNvSpPr>
          <p:nvPr/>
        </p:nvSpPr>
        <p:spPr bwMode="auto">
          <a:xfrm>
            <a:off x="0" y="1764804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graphicFrame>
        <p:nvGraphicFramePr>
          <p:cNvPr id="223248" name="Object 16"/>
          <p:cNvGraphicFramePr>
            <a:graphicFrameLocks noChangeAspect="1"/>
          </p:cNvGraphicFramePr>
          <p:nvPr/>
        </p:nvGraphicFramePr>
        <p:xfrm>
          <a:off x="1403648" y="3068960"/>
          <a:ext cx="1872208" cy="85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19" r:id="rId11" imgW="939392" imgH="431613" progId="Equation.DSMT4">
                  <p:embed/>
                </p:oleObj>
              </mc:Choice>
              <mc:Fallback>
                <p:oleObj r:id="rId11" imgW="939392" imgH="431613" progId="Equation.DSMT4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068960"/>
                        <a:ext cx="1872208" cy="8510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7" name="Object 15"/>
          <p:cNvGraphicFramePr>
            <a:graphicFrameLocks noChangeAspect="1"/>
          </p:cNvGraphicFramePr>
          <p:nvPr/>
        </p:nvGraphicFramePr>
        <p:xfrm>
          <a:off x="3707904" y="3140968"/>
          <a:ext cx="1939415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20" r:id="rId13" imgW="965200" imgH="431800" progId="Equation.DSMT4">
                  <p:embed/>
                </p:oleObj>
              </mc:Choice>
              <mc:Fallback>
                <p:oleObj r:id="rId13" imgW="965200" imgH="4318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3140968"/>
                        <a:ext cx="1939415" cy="8640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3250" name="Rectangle 18"/>
          <p:cNvSpPr>
            <a:spLocks noChangeArrowheads="1"/>
          </p:cNvSpPr>
          <p:nvPr/>
        </p:nvSpPr>
        <p:spPr bwMode="auto">
          <a:xfrm>
            <a:off x="0" y="4286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， 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9512" y="3284984"/>
            <a:ext cx="6944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(4) </a:t>
            </a:r>
            <a:endParaRPr lang="zh-CN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179512" y="4426659"/>
            <a:ext cx="8568952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556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(5)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Yes, The 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flyback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transformer is actually a two-winding inductor, which stores and transfers energy. During the t</a:t>
            </a:r>
            <a:r>
              <a:rPr kumimoji="0" lang="en-US" altLang="zh-CN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on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period, the diode D becomes reverse biased. The output load is entirely supplied by the energy stored in the output capacitor. During the </a:t>
            </a:r>
            <a:r>
              <a:rPr kumimoji="0" lang="en-US" altLang="zh-CN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</a:t>
            </a:r>
            <a:r>
              <a:rPr kumimoji="0" lang="en-US" altLang="zh-CN" b="0" i="0" u="none" strike="noStrike" cap="none" normalizeH="0" baseline="-30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</a:t>
            </a:r>
            <a:r>
              <a:rPr kumimoji="0" lang="en-US" altLang="zh-CN" b="0" i="0" u="none" strike="noStrike" cap="none" normalizeH="0" baseline="-3000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</a:t>
            </a: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period, the output load is entirely supplied by the energy stored in the transformer.</a:t>
            </a:r>
            <a:endParaRPr kumimoji="0" lang="en-US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076056" y="188640"/>
            <a:ext cx="280828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4000" b="1" i="1" dirty="0" smtClean="0">
                <a:solidFill>
                  <a:srgbClr val="A50021"/>
                </a:solidFill>
              </a:rPr>
              <a:t>4</a:t>
            </a:r>
            <a:endParaRPr lang="en-US" altLang="zh-CN" sz="4000" b="1" i="1" dirty="0">
              <a:solidFill>
                <a:srgbClr val="A5002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9512" y="1052736"/>
            <a:ext cx="85689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/>
            <a:r>
              <a:rPr lang="en-US" altLang="zh-CN" b="1" i="1" dirty="0" smtClean="0">
                <a:solidFill>
                  <a:srgbClr val="A50021"/>
                </a:solidFill>
              </a:rPr>
              <a:t>Problem 1: 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Draw the circuit of </a:t>
            </a:r>
            <a:r>
              <a:rPr lang="en-US" altLang="zh-CN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flyback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converter. Please write out the operation principle of </a:t>
            </a:r>
            <a:r>
              <a:rPr lang="en-US" altLang="zh-CN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flyback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converter and the relationship between V</a:t>
            </a:r>
            <a:r>
              <a:rPr lang="en-US" altLang="zh-CN" baseline="-25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and </a:t>
            </a:r>
            <a:r>
              <a:rPr lang="en-US" altLang="zh-CN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</a:t>
            </a:r>
            <a:r>
              <a:rPr lang="en-US" altLang="zh-CN" baseline="-250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under CCM operation mode.</a:t>
            </a:r>
          </a:p>
        </p:txBody>
      </p:sp>
      <p:grpSp>
        <p:nvGrpSpPr>
          <p:cNvPr id="4" name="Group 188"/>
          <p:cNvGrpSpPr>
            <a:grpSpLocks/>
          </p:cNvGrpSpPr>
          <p:nvPr/>
        </p:nvGrpSpPr>
        <p:grpSpPr bwMode="auto">
          <a:xfrm>
            <a:off x="5076056" y="2708920"/>
            <a:ext cx="3546478" cy="2100263"/>
            <a:chOff x="3334" y="572"/>
            <a:chExt cx="2234" cy="1323"/>
          </a:xfrm>
        </p:grpSpPr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3912" y="623"/>
              <a:ext cx="429" cy="879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" name="Freeform 10"/>
            <p:cNvSpPr>
              <a:spLocks noEditPoints="1"/>
            </p:cNvSpPr>
            <p:nvPr/>
          </p:nvSpPr>
          <p:spPr bwMode="auto">
            <a:xfrm>
              <a:off x="3907" y="618"/>
              <a:ext cx="439" cy="889"/>
            </a:xfrm>
            <a:custGeom>
              <a:avLst/>
              <a:gdLst>
                <a:gd name="T0" fmla="*/ 3 w 667"/>
                <a:gd name="T1" fmla="*/ 64 h 1338"/>
                <a:gd name="T2" fmla="*/ 3 w 667"/>
                <a:gd name="T3" fmla="*/ 7 h 1338"/>
                <a:gd name="T4" fmla="*/ 7 w 667"/>
                <a:gd name="T5" fmla="*/ 145 h 1338"/>
                <a:gd name="T6" fmla="*/ 0 w 667"/>
                <a:gd name="T7" fmla="*/ 96 h 1338"/>
                <a:gd name="T8" fmla="*/ 7 w 667"/>
                <a:gd name="T9" fmla="*/ 180 h 1338"/>
                <a:gd name="T10" fmla="*/ 0 w 667"/>
                <a:gd name="T11" fmla="*/ 230 h 1338"/>
                <a:gd name="T12" fmla="*/ 7 w 667"/>
                <a:gd name="T13" fmla="*/ 180 h 1338"/>
                <a:gd name="T14" fmla="*/ 3 w 667"/>
                <a:gd name="T15" fmla="*/ 318 h 1338"/>
                <a:gd name="T16" fmla="*/ 3 w 667"/>
                <a:gd name="T17" fmla="*/ 261 h 1338"/>
                <a:gd name="T18" fmla="*/ 7 w 667"/>
                <a:gd name="T19" fmla="*/ 399 h 1338"/>
                <a:gd name="T20" fmla="*/ 0 w 667"/>
                <a:gd name="T21" fmla="*/ 349 h 1338"/>
                <a:gd name="T22" fmla="*/ 7 w 667"/>
                <a:gd name="T23" fmla="*/ 435 h 1338"/>
                <a:gd name="T24" fmla="*/ 0 w 667"/>
                <a:gd name="T25" fmla="*/ 484 h 1338"/>
                <a:gd name="T26" fmla="*/ 7 w 667"/>
                <a:gd name="T27" fmla="*/ 435 h 1338"/>
                <a:gd name="T28" fmla="*/ 3 w 667"/>
                <a:gd name="T29" fmla="*/ 572 h 1338"/>
                <a:gd name="T30" fmla="*/ 3 w 667"/>
                <a:gd name="T31" fmla="*/ 516 h 1338"/>
                <a:gd name="T32" fmla="*/ 68 w 667"/>
                <a:gd name="T33" fmla="*/ 583 h 1338"/>
                <a:gd name="T34" fmla="*/ 20 w 667"/>
                <a:gd name="T35" fmla="*/ 591 h 1338"/>
                <a:gd name="T36" fmla="*/ 103 w 667"/>
                <a:gd name="T37" fmla="*/ 583 h 1338"/>
                <a:gd name="T38" fmla="*/ 151 w 667"/>
                <a:gd name="T39" fmla="*/ 591 h 1338"/>
                <a:gd name="T40" fmla="*/ 103 w 667"/>
                <a:gd name="T41" fmla="*/ 583 h 1338"/>
                <a:gd name="T42" fmla="*/ 238 w 667"/>
                <a:gd name="T43" fmla="*/ 587 h 1338"/>
                <a:gd name="T44" fmla="*/ 183 w 667"/>
                <a:gd name="T45" fmla="*/ 587 h 1338"/>
                <a:gd name="T46" fmla="*/ 286 w 667"/>
                <a:gd name="T47" fmla="*/ 583 h 1338"/>
                <a:gd name="T48" fmla="*/ 286 w 667"/>
                <a:gd name="T49" fmla="*/ 551 h 1338"/>
                <a:gd name="T50" fmla="*/ 286 w 667"/>
                <a:gd name="T51" fmla="*/ 591 h 1338"/>
                <a:gd name="T52" fmla="*/ 269 w 667"/>
                <a:gd name="T53" fmla="*/ 583 h 1338"/>
                <a:gd name="T54" fmla="*/ 286 w 667"/>
                <a:gd name="T55" fmla="*/ 466 h 1338"/>
                <a:gd name="T56" fmla="*/ 286 w 667"/>
                <a:gd name="T57" fmla="*/ 522 h 1338"/>
                <a:gd name="T58" fmla="*/ 282 w 667"/>
                <a:gd name="T59" fmla="*/ 385 h 1338"/>
                <a:gd name="T60" fmla="*/ 289 w 667"/>
                <a:gd name="T61" fmla="*/ 434 h 1338"/>
                <a:gd name="T62" fmla="*/ 282 w 667"/>
                <a:gd name="T63" fmla="*/ 349 h 1338"/>
                <a:gd name="T64" fmla="*/ 289 w 667"/>
                <a:gd name="T65" fmla="*/ 300 h 1338"/>
                <a:gd name="T66" fmla="*/ 282 w 667"/>
                <a:gd name="T67" fmla="*/ 349 h 1338"/>
                <a:gd name="T68" fmla="*/ 286 w 667"/>
                <a:gd name="T69" fmla="*/ 211 h 1338"/>
                <a:gd name="T70" fmla="*/ 286 w 667"/>
                <a:gd name="T71" fmla="*/ 268 h 1338"/>
                <a:gd name="T72" fmla="*/ 282 w 667"/>
                <a:gd name="T73" fmla="*/ 130 h 1338"/>
                <a:gd name="T74" fmla="*/ 289 w 667"/>
                <a:gd name="T75" fmla="*/ 179 h 1338"/>
                <a:gd name="T76" fmla="*/ 282 w 667"/>
                <a:gd name="T77" fmla="*/ 95 h 1338"/>
                <a:gd name="T78" fmla="*/ 289 w 667"/>
                <a:gd name="T79" fmla="*/ 45 h 1338"/>
                <a:gd name="T80" fmla="*/ 282 w 667"/>
                <a:gd name="T81" fmla="*/ 95 h 1338"/>
                <a:gd name="T82" fmla="*/ 286 w 667"/>
                <a:gd name="T83" fmla="*/ 7 h 1338"/>
                <a:gd name="T84" fmla="*/ 244 w 667"/>
                <a:gd name="T85" fmla="*/ 0 h 1338"/>
                <a:gd name="T86" fmla="*/ 289 w 667"/>
                <a:gd name="T87" fmla="*/ 10 h 1338"/>
                <a:gd name="T88" fmla="*/ 209 w 667"/>
                <a:gd name="T89" fmla="*/ 7 h 1338"/>
                <a:gd name="T90" fmla="*/ 161 w 667"/>
                <a:gd name="T91" fmla="*/ 0 h 1338"/>
                <a:gd name="T92" fmla="*/ 209 w 667"/>
                <a:gd name="T93" fmla="*/ 7 h 1338"/>
                <a:gd name="T94" fmla="*/ 74 w 667"/>
                <a:gd name="T95" fmla="*/ 3 h 1338"/>
                <a:gd name="T96" fmla="*/ 129 w 667"/>
                <a:gd name="T97" fmla="*/ 3 h 1338"/>
                <a:gd name="T98" fmla="*/ 3 w 667"/>
                <a:gd name="T99" fmla="*/ 7 h 1338"/>
                <a:gd name="T100" fmla="*/ 43 w 667"/>
                <a:gd name="T101" fmla="*/ 0 h 13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667"/>
                <a:gd name="T154" fmla="*/ 0 h 1338"/>
                <a:gd name="T155" fmla="*/ 667 w 667"/>
                <a:gd name="T156" fmla="*/ 1338 h 133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667" h="1338">
                  <a:moveTo>
                    <a:pt x="16" y="24"/>
                  </a:moveTo>
                  <a:lnTo>
                    <a:pt x="16" y="136"/>
                  </a:lnTo>
                  <a:cubicBezTo>
                    <a:pt x="16" y="141"/>
                    <a:pt x="13" y="144"/>
                    <a:pt x="8" y="144"/>
                  </a:cubicBezTo>
                  <a:cubicBezTo>
                    <a:pt x="4" y="144"/>
                    <a:pt x="0" y="141"/>
                    <a:pt x="0" y="136"/>
                  </a:cubicBezTo>
                  <a:lnTo>
                    <a:pt x="0" y="24"/>
                  </a:lnTo>
                  <a:cubicBezTo>
                    <a:pt x="0" y="20"/>
                    <a:pt x="4" y="16"/>
                    <a:pt x="8" y="16"/>
                  </a:cubicBezTo>
                  <a:cubicBezTo>
                    <a:pt x="13" y="16"/>
                    <a:pt x="16" y="20"/>
                    <a:pt x="16" y="24"/>
                  </a:cubicBezTo>
                  <a:close/>
                  <a:moveTo>
                    <a:pt x="16" y="216"/>
                  </a:moveTo>
                  <a:lnTo>
                    <a:pt x="16" y="328"/>
                  </a:lnTo>
                  <a:cubicBezTo>
                    <a:pt x="16" y="333"/>
                    <a:pt x="13" y="336"/>
                    <a:pt x="8" y="336"/>
                  </a:cubicBezTo>
                  <a:cubicBezTo>
                    <a:pt x="4" y="336"/>
                    <a:pt x="0" y="333"/>
                    <a:pt x="0" y="328"/>
                  </a:cubicBezTo>
                  <a:lnTo>
                    <a:pt x="0" y="216"/>
                  </a:lnTo>
                  <a:cubicBezTo>
                    <a:pt x="0" y="212"/>
                    <a:pt x="4" y="208"/>
                    <a:pt x="8" y="208"/>
                  </a:cubicBezTo>
                  <a:cubicBezTo>
                    <a:pt x="13" y="208"/>
                    <a:pt x="16" y="212"/>
                    <a:pt x="16" y="216"/>
                  </a:cubicBezTo>
                  <a:close/>
                  <a:moveTo>
                    <a:pt x="16" y="408"/>
                  </a:moveTo>
                  <a:lnTo>
                    <a:pt x="16" y="520"/>
                  </a:lnTo>
                  <a:cubicBezTo>
                    <a:pt x="16" y="525"/>
                    <a:pt x="13" y="528"/>
                    <a:pt x="8" y="528"/>
                  </a:cubicBezTo>
                  <a:cubicBezTo>
                    <a:pt x="4" y="528"/>
                    <a:pt x="0" y="525"/>
                    <a:pt x="0" y="520"/>
                  </a:cubicBezTo>
                  <a:lnTo>
                    <a:pt x="0" y="408"/>
                  </a:lnTo>
                  <a:cubicBezTo>
                    <a:pt x="0" y="404"/>
                    <a:pt x="4" y="400"/>
                    <a:pt x="8" y="400"/>
                  </a:cubicBezTo>
                  <a:cubicBezTo>
                    <a:pt x="13" y="400"/>
                    <a:pt x="16" y="404"/>
                    <a:pt x="16" y="408"/>
                  </a:cubicBezTo>
                  <a:close/>
                  <a:moveTo>
                    <a:pt x="16" y="600"/>
                  </a:moveTo>
                  <a:lnTo>
                    <a:pt x="16" y="712"/>
                  </a:lnTo>
                  <a:cubicBezTo>
                    <a:pt x="16" y="717"/>
                    <a:pt x="13" y="720"/>
                    <a:pt x="8" y="720"/>
                  </a:cubicBezTo>
                  <a:cubicBezTo>
                    <a:pt x="4" y="720"/>
                    <a:pt x="0" y="717"/>
                    <a:pt x="0" y="712"/>
                  </a:cubicBezTo>
                  <a:lnTo>
                    <a:pt x="0" y="600"/>
                  </a:lnTo>
                  <a:cubicBezTo>
                    <a:pt x="0" y="596"/>
                    <a:pt x="4" y="592"/>
                    <a:pt x="8" y="592"/>
                  </a:cubicBezTo>
                  <a:cubicBezTo>
                    <a:pt x="13" y="592"/>
                    <a:pt x="16" y="596"/>
                    <a:pt x="16" y="600"/>
                  </a:cubicBezTo>
                  <a:close/>
                  <a:moveTo>
                    <a:pt x="16" y="792"/>
                  </a:moveTo>
                  <a:lnTo>
                    <a:pt x="16" y="904"/>
                  </a:lnTo>
                  <a:cubicBezTo>
                    <a:pt x="16" y="909"/>
                    <a:pt x="13" y="912"/>
                    <a:pt x="8" y="912"/>
                  </a:cubicBezTo>
                  <a:cubicBezTo>
                    <a:pt x="4" y="912"/>
                    <a:pt x="0" y="909"/>
                    <a:pt x="0" y="904"/>
                  </a:cubicBezTo>
                  <a:lnTo>
                    <a:pt x="0" y="792"/>
                  </a:lnTo>
                  <a:cubicBezTo>
                    <a:pt x="0" y="788"/>
                    <a:pt x="4" y="784"/>
                    <a:pt x="8" y="784"/>
                  </a:cubicBezTo>
                  <a:cubicBezTo>
                    <a:pt x="13" y="784"/>
                    <a:pt x="16" y="788"/>
                    <a:pt x="16" y="792"/>
                  </a:cubicBezTo>
                  <a:close/>
                  <a:moveTo>
                    <a:pt x="16" y="984"/>
                  </a:moveTo>
                  <a:lnTo>
                    <a:pt x="16" y="1096"/>
                  </a:lnTo>
                  <a:cubicBezTo>
                    <a:pt x="16" y="1101"/>
                    <a:pt x="13" y="1104"/>
                    <a:pt x="8" y="1104"/>
                  </a:cubicBezTo>
                  <a:cubicBezTo>
                    <a:pt x="4" y="1104"/>
                    <a:pt x="0" y="1101"/>
                    <a:pt x="0" y="1096"/>
                  </a:cubicBezTo>
                  <a:lnTo>
                    <a:pt x="0" y="984"/>
                  </a:lnTo>
                  <a:cubicBezTo>
                    <a:pt x="0" y="980"/>
                    <a:pt x="4" y="976"/>
                    <a:pt x="8" y="976"/>
                  </a:cubicBezTo>
                  <a:cubicBezTo>
                    <a:pt x="13" y="976"/>
                    <a:pt x="16" y="980"/>
                    <a:pt x="16" y="984"/>
                  </a:cubicBezTo>
                  <a:close/>
                  <a:moveTo>
                    <a:pt x="16" y="1176"/>
                  </a:moveTo>
                  <a:lnTo>
                    <a:pt x="16" y="1288"/>
                  </a:lnTo>
                  <a:cubicBezTo>
                    <a:pt x="16" y="1293"/>
                    <a:pt x="13" y="1296"/>
                    <a:pt x="8" y="1296"/>
                  </a:cubicBezTo>
                  <a:cubicBezTo>
                    <a:pt x="4" y="1296"/>
                    <a:pt x="0" y="1293"/>
                    <a:pt x="0" y="1288"/>
                  </a:cubicBezTo>
                  <a:lnTo>
                    <a:pt x="0" y="1176"/>
                  </a:lnTo>
                  <a:cubicBezTo>
                    <a:pt x="0" y="1172"/>
                    <a:pt x="4" y="1168"/>
                    <a:pt x="8" y="1168"/>
                  </a:cubicBezTo>
                  <a:cubicBezTo>
                    <a:pt x="13" y="1168"/>
                    <a:pt x="16" y="1172"/>
                    <a:pt x="16" y="1176"/>
                  </a:cubicBezTo>
                  <a:close/>
                  <a:moveTo>
                    <a:pt x="46" y="1322"/>
                  </a:moveTo>
                  <a:lnTo>
                    <a:pt x="158" y="1322"/>
                  </a:lnTo>
                  <a:cubicBezTo>
                    <a:pt x="163" y="1322"/>
                    <a:pt x="166" y="1326"/>
                    <a:pt x="166" y="1330"/>
                  </a:cubicBezTo>
                  <a:cubicBezTo>
                    <a:pt x="166" y="1335"/>
                    <a:pt x="163" y="1338"/>
                    <a:pt x="158" y="1338"/>
                  </a:cubicBezTo>
                  <a:lnTo>
                    <a:pt x="46" y="1338"/>
                  </a:lnTo>
                  <a:cubicBezTo>
                    <a:pt x="42" y="1338"/>
                    <a:pt x="38" y="1335"/>
                    <a:pt x="38" y="1330"/>
                  </a:cubicBezTo>
                  <a:cubicBezTo>
                    <a:pt x="38" y="1326"/>
                    <a:pt x="42" y="1322"/>
                    <a:pt x="46" y="1322"/>
                  </a:cubicBezTo>
                  <a:close/>
                  <a:moveTo>
                    <a:pt x="238" y="1322"/>
                  </a:moveTo>
                  <a:lnTo>
                    <a:pt x="350" y="1322"/>
                  </a:lnTo>
                  <a:cubicBezTo>
                    <a:pt x="355" y="1322"/>
                    <a:pt x="358" y="1326"/>
                    <a:pt x="358" y="1330"/>
                  </a:cubicBezTo>
                  <a:cubicBezTo>
                    <a:pt x="358" y="1335"/>
                    <a:pt x="355" y="1338"/>
                    <a:pt x="350" y="1338"/>
                  </a:cubicBezTo>
                  <a:lnTo>
                    <a:pt x="238" y="1338"/>
                  </a:lnTo>
                  <a:cubicBezTo>
                    <a:pt x="234" y="1338"/>
                    <a:pt x="230" y="1335"/>
                    <a:pt x="230" y="1330"/>
                  </a:cubicBezTo>
                  <a:cubicBezTo>
                    <a:pt x="230" y="1326"/>
                    <a:pt x="234" y="1322"/>
                    <a:pt x="238" y="1322"/>
                  </a:cubicBezTo>
                  <a:close/>
                  <a:moveTo>
                    <a:pt x="430" y="1322"/>
                  </a:moveTo>
                  <a:lnTo>
                    <a:pt x="542" y="1322"/>
                  </a:lnTo>
                  <a:cubicBezTo>
                    <a:pt x="547" y="1322"/>
                    <a:pt x="550" y="1326"/>
                    <a:pt x="550" y="1330"/>
                  </a:cubicBezTo>
                  <a:cubicBezTo>
                    <a:pt x="550" y="1335"/>
                    <a:pt x="547" y="1338"/>
                    <a:pt x="542" y="1338"/>
                  </a:cubicBezTo>
                  <a:lnTo>
                    <a:pt x="430" y="1338"/>
                  </a:lnTo>
                  <a:cubicBezTo>
                    <a:pt x="426" y="1338"/>
                    <a:pt x="422" y="1335"/>
                    <a:pt x="422" y="1330"/>
                  </a:cubicBezTo>
                  <a:cubicBezTo>
                    <a:pt x="422" y="1326"/>
                    <a:pt x="426" y="1322"/>
                    <a:pt x="430" y="1322"/>
                  </a:cubicBezTo>
                  <a:close/>
                  <a:moveTo>
                    <a:pt x="622" y="1322"/>
                  </a:moveTo>
                  <a:lnTo>
                    <a:pt x="659" y="1322"/>
                  </a:lnTo>
                  <a:lnTo>
                    <a:pt x="651" y="1330"/>
                  </a:lnTo>
                  <a:lnTo>
                    <a:pt x="651" y="1255"/>
                  </a:lnTo>
                  <a:cubicBezTo>
                    <a:pt x="651" y="1251"/>
                    <a:pt x="655" y="1247"/>
                    <a:pt x="659" y="1247"/>
                  </a:cubicBezTo>
                  <a:cubicBezTo>
                    <a:pt x="663" y="1247"/>
                    <a:pt x="667" y="1251"/>
                    <a:pt x="667" y="1255"/>
                  </a:cubicBezTo>
                  <a:lnTo>
                    <a:pt x="667" y="1330"/>
                  </a:lnTo>
                  <a:cubicBezTo>
                    <a:pt x="667" y="1335"/>
                    <a:pt x="663" y="1338"/>
                    <a:pt x="659" y="1338"/>
                  </a:cubicBezTo>
                  <a:lnTo>
                    <a:pt x="622" y="1338"/>
                  </a:lnTo>
                  <a:cubicBezTo>
                    <a:pt x="618" y="1338"/>
                    <a:pt x="614" y="1335"/>
                    <a:pt x="614" y="1330"/>
                  </a:cubicBezTo>
                  <a:cubicBezTo>
                    <a:pt x="614" y="1326"/>
                    <a:pt x="618" y="1322"/>
                    <a:pt x="622" y="1322"/>
                  </a:cubicBezTo>
                  <a:close/>
                  <a:moveTo>
                    <a:pt x="651" y="1175"/>
                  </a:moveTo>
                  <a:lnTo>
                    <a:pt x="651" y="1063"/>
                  </a:lnTo>
                  <a:cubicBezTo>
                    <a:pt x="651" y="1059"/>
                    <a:pt x="655" y="1055"/>
                    <a:pt x="659" y="1055"/>
                  </a:cubicBezTo>
                  <a:cubicBezTo>
                    <a:pt x="663" y="1055"/>
                    <a:pt x="667" y="1059"/>
                    <a:pt x="667" y="1063"/>
                  </a:cubicBezTo>
                  <a:lnTo>
                    <a:pt x="667" y="1175"/>
                  </a:lnTo>
                  <a:cubicBezTo>
                    <a:pt x="667" y="1180"/>
                    <a:pt x="663" y="1183"/>
                    <a:pt x="659" y="1183"/>
                  </a:cubicBezTo>
                  <a:cubicBezTo>
                    <a:pt x="655" y="1183"/>
                    <a:pt x="651" y="1180"/>
                    <a:pt x="651" y="1175"/>
                  </a:cubicBezTo>
                  <a:close/>
                  <a:moveTo>
                    <a:pt x="651" y="983"/>
                  </a:moveTo>
                  <a:lnTo>
                    <a:pt x="651" y="871"/>
                  </a:lnTo>
                  <a:cubicBezTo>
                    <a:pt x="651" y="867"/>
                    <a:pt x="655" y="863"/>
                    <a:pt x="659" y="863"/>
                  </a:cubicBezTo>
                  <a:cubicBezTo>
                    <a:pt x="663" y="863"/>
                    <a:pt x="667" y="867"/>
                    <a:pt x="667" y="871"/>
                  </a:cubicBezTo>
                  <a:lnTo>
                    <a:pt x="667" y="983"/>
                  </a:lnTo>
                  <a:cubicBezTo>
                    <a:pt x="667" y="988"/>
                    <a:pt x="663" y="991"/>
                    <a:pt x="659" y="991"/>
                  </a:cubicBezTo>
                  <a:cubicBezTo>
                    <a:pt x="655" y="991"/>
                    <a:pt x="651" y="988"/>
                    <a:pt x="651" y="983"/>
                  </a:cubicBezTo>
                  <a:close/>
                  <a:moveTo>
                    <a:pt x="651" y="791"/>
                  </a:moveTo>
                  <a:lnTo>
                    <a:pt x="651" y="679"/>
                  </a:lnTo>
                  <a:cubicBezTo>
                    <a:pt x="651" y="675"/>
                    <a:pt x="655" y="671"/>
                    <a:pt x="659" y="671"/>
                  </a:cubicBezTo>
                  <a:cubicBezTo>
                    <a:pt x="663" y="671"/>
                    <a:pt x="667" y="675"/>
                    <a:pt x="667" y="679"/>
                  </a:cubicBezTo>
                  <a:lnTo>
                    <a:pt x="667" y="791"/>
                  </a:lnTo>
                  <a:cubicBezTo>
                    <a:pt x="667" y="796"/>
                    <a:pt x="663" y="799"/>
                    <a:pt x="659" y="799"/>
                  </a:cubicBezTo>
                  <a:cubicBezTo>
                    <a:pt x="655" y="799"/>
                    <a:pt x="651" y="796"/>
                    <a:pt x="651" y="791"/>
                  </a:cubicBezTo>
                  <a:close/>
                  <a:moveTo>
                    <a:pt x="651" y="599"/>
                  </a:moveTo>
                  <a:lnTo>
                    <a:pt x="651" y="487"/>
                  </a:lnTo>
                  <a:cubicBezTo>
                    <a:pt x="651" y="483"/>
                    <a:pt x="655" y="479"/>
                    <a:pt x="659" y="479"/>
                  </a:cubicBezTo>
                  <a:cubicBezTo>
                    <a:pt x="663" y="479"/>
                    <a:pt x="667" y="483"/>
                    <a:pt x="667" y="487"/>
                  </a:cubicBezTo>
                  <a:lnTo>
                    <a:pt x="667" y="599"/>
                  </a:lnTo>
                  <a:cubicBezTo>
                    <a:pt x="667" y="604"/>
                    <a:pt x="663" y="607"/>
                    <a:pt x="659" y="607"/>
                  </a:cubicBezTo>
                  <a:cubicBezTo>
                    <a:pt x="655" y="607"/>
                    <a:pt x="651" y="604"/>
                    <a:pt x="651" y="599"/>
                  </a:cubicBezTo>
                  <a:close/>
                  <a:moveTo>
                    <a:pt x="651" y="407"/>
                  </a:moveTo>
                  <a:lnTo>
                    <a:pt x="651" y="295"/>
                  </a:lnTo>
                  <a:cubicBezTo>
                    <a:pt x="651" y="291"/>
                    <a:pt x="655" y="287"/>
                    <a:pt x="659" y="287"/>
                  </a:cubicBezTo>
                  <a:cubicBezTo>
                    <a:pt x="663" y="287"/>
                    <a:pt x="667" y="291"/>
                    <a:pt x="667" y="295"/>
                  </a:cubicBezTo>
                  <a:lnTo>
                    <a:pt x="667" y="407"/>
                  </a:lnTo>
                  <a:cubicBezTo>
                    <a:pt x="667" y="412"/>
                    <a:pt x="663" y="415"/>
                    <a:pt x="659" y="415"/>
                  </a:cubicBezTo>
                  <a:cubicBezTo>
                    <a:pt x="655" y="415"/>
                    <a:pt x="651" y="412"/>
                    <a:pt x="651" y="407"/>
                  </a:cubicBezTo>
                  <a:close/>
                  <a:moveTo>
                    <a:pt x="651" y="215"/>
                  </a:moveTo>
                  <a:lnTo>
                    <a:pt x="651" y="103"/>
                  </a:lnTo>
                  <a:cubicBezTo>
                    <a:pt x="651" y="99"/>
                    <a:pt x="655" y="95"/>
                    <a:pt x="659" y="95"/>
                  </a:cubicBezTo>
                  <a:cubicBezTo>
                    <a:pt x="663" y="95"/>
                    <a:pt x="667" y="99"/>
                    <a:pt x="667" y="103"/>
                  </a:cubicBezTo>
                  <a:lnTo>
                    <a:pt x="667" y="215"/>
                  </a:lnTo>
                  <a:cubicBezTo>
                    <a:pt x="667" y="220"/>
                    <a:pt x="663" y="223"/>
                    <a:pt x="659" y="223"/>
                  </a:cubicBezTo>
                  <a:cubicBezTo>
                    <a:pt x="655" y="223"/>
                    <a:pt x="651" y="220"/>
                    <a:pt x="651" y="215"/>
                  </a:cubicBezTo>
                  <a:close/>
                  <a:moveTo>
                    <a:pt x="651" y="23"/>
                  </a:moveTo>
                  <a:lnTo>
                    <a:pt x="651" y="8"/>
                  </a:lnTo>
                  <a:lnTo>
                    <a:pt x="659" y="16"/>
                  </a:lnTo>
                  <a:lnTo>
                    <a:pt x="562" y="16"/>
                  </a:lnTo>
                  <a:cubicBezTo>
                    <a:pt x="558" y="16"/>
                    <a:pt x="554" y="13"/>
                    <a:pt x="554" y="8"/>
                  </a:cubicBezTo>
                  <a:cubicBezTo>
                    <a:pt x="554" y="4"/>
                    <a:pt x="558" y="0"/>
                    <a:pt x="562" y="0"/>
                  </a:cubicBezTo>
                  <a:lnTo>
                    <a:pt x="659" y="0"/>
                  </a:lnTo>
                  <a:cubicBezTo>
                    <a:pt x="663" y="0"/>
                    <a:pt x="667" y="4"/>
                    <a:pt x="667" y="8"/>
                  </a:cubicBezTo>
                  <a:lnTo>
                    <a:pt x="667" y="23"/>
                  </a:lnTo>
                  <a:cubicBezTo>
                    <a:pt x="667" y="28"/>
                    <a:pt x="663" y="31"/>
                    <a:pt x="659" y="31"/>
                  </a:cubicBezTo>
                  <a:cubicBezTo>
                    <a:pt x="655" y="31"/>
                    <a:pt x="651" y="28"/>
                    <a:pt x="651" y="23"/>
                  </a:cubicBezTo>
                  <a:close/>
                  <a:moveTo>
                    <a:pt x="482" y="16"/>
                  </a:moveTo>
                  <a:lnTo>
                    <a:pt x="370" y="16"/>
                  </a:lnTo>
                  <a:cubicBezTo>
                    <a:pt x="366" y="16"/>
                    <a:pt x="362" y="13"/>
                    <a:pt x="362" y="8"/>
                  </a:cubicBezTo>
                  <a:cubicBezTo>
                    <a:pt x="362" y="4"/>
                    <a:pt x="366" y="0"/>
                    <a:pt x="370" y="0"/>
                  </a:cubicBezTo>
                  <a:lnTo>
                    <a:pt x="482" y="0"/>
                  </a:lnTo>
                  <a:cubicBezTo>
                    <a:pt x="486" y="0"/>
                    <a:pt x="490" y="4"/>
                    <a:pt x="490" y="8"/>
                  </a:cubicBezTo>
                  <a:cubicBezTo>
                    <a:pt x="490" y="13"/>
                    <a:pt x="486" y="16"/>
                    <a:pt x="482" y="16"/>
                  </a:cubicBezTo>
                  <a:close/>
                  <a:moveTo>
                    <a:pt x="290" y="16"/>
                  </a:moveTo>
                  <a:lnTo>
                    <a:pt x="178" y="16"/>
                  </a:lnTo>
                  <a:cubicBezTo>
                    <a:pt x="174" y="16"/>
                    <a:pt x="170" y="13"/>
                    <a:pt x="170" y="8"/>
                  </a:cubicBezTo>
                  <a:cubicBezTo>
                    <a:pt x="170" y="4"/>
                    <a:pt x="174" y="0"/>
                    <a:pt x="178" y="0"/>
                  </a:cubicBezTo>
                  <a:lnTo>
                    <a:pt x="290" y="0"/>
                  </a:lnTo>
                  <a:cubicBezTo>
                    <a:pt x="294" y="0"/>
                    <a:pt x="298" y="4"/>
                    <a:pt x="298" y="8"/>
                  </a:cubicBezTo>
                  <a:cubicBezTo>
                    <a:pt x="298" y="13"/>
                    <a:pt x="294" y="16"/>
                    <a:pt x="290" y="16"/>
                  </a:cubicBezTo>
                  <a:close/>
                  <a:moveTo>
                    <a:pt x="98" y="16"/>
                  </a:moveTo>
                  <a:lnTo>
                    <a:pt x="8" y="16"/>
                  </a:lnTo>
                  <a:cubicBezTo>
                    <a:pt x="4" y="16"/>
                    <a:pt x="0" y="13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lnTo>
                    <a:pt x="98" y="0"/>
                  </a:lnTo>
                  <a:cubicBezTo>
                    <a:pt x="102" y="0"/>
                    <a:pt x="106" y="4"/>
                    <a:pt x="106" y="8"/>
                  </a:cubicBezTo>
                  <a:cubicBezTo>
                    <a:pt x="106" y="13"/>
                    <a:pt x="102" y="16"/>
                    <a:pt x="98" y="16"/>
                  </a:cubicBezTo>
                  <a:close/>
                </a:path>
              </a:pathLst>
            </a:custGeom>
            <a:solidFill>
              <a:srgbClr val="000000"/>
            </a:solidFill>
            <a:ln w="17463">
              <a:solidFill>
                <a:srgbClr val="000000"/>
              </a:solidFill>
              <a:bevel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Freeform 13"/>
            <p:cNvSpPr>
              <a:spLocks/>
            </p:cNvSpPr>
            <p:nvPr/>
          </p:nvSpPr>
          <p:spPr bwMode="auto">
            <a:xfrm>
              <a:off x="4065" y="948"/>
              <a:ext cx="51" cy="327"/>
            </a:xfrm>
            <a:custGeom>
              <a:avLst/>
              <a:gdLst>
                <a:gd name="T0" fmla="*/ 0 w 51"/>
                <a:gd name="T1" fmla="*/ 1 h 327"/>
                <a:gd name="T2" fmla="*/ 50 w 51"/>
                <a:gd name="T3" fmla="*/ 40 h 327"/>
                <a:gd name="T4" fmla="*/ 4 w 51"/>
                <a:gd name="T5" fmla="*/ 82 h 327"/>
                <a:gd name="T6" fmla="*/ 0 w 51"/>
                <a:gd name="T7" fmla="*/ 82 h 327"/>
                <a:gd name="T8" fmla="*/ 50 w 51"/>
                <a:gd name="T9" fmla="*/ 121 h 327"/>
                <a:gd name="T10" fmla="*/ 4 w 51"/>
                <a:gd name="T11" fmla="*/ 164 h 327"/>
                <a:gd name="T12" fmla="*/ 0 w 51"/>
                <a:gd name="T13" fmla="*/ 164 h 327"/>
                <a:gd name="T14" fmla="*/ 50 w 51"/>
                <a:gd name="T15" fmla="*/ 203 h 327"/>
                <a:gd name="T16" fmla="*/ 4 w 51"/>
                <a:gd name="T17" fmla="*/ 245 h 327"/>
                <a:gd name="T18" fmla="*/ 0 w 51"/>
                <a:gd name="T19" fmla="*/ 245 h 327"/>
                <a:gd name="T20" fmla="*/ 50 w 51"/>
                <a:gd name="T21" fmla="*/ 284 h 327"/>
                <a:gd name="T22" fmla="*/ 4 w 51"/>
                <a:gd name="T23" fmla="*/ 327 h 327"/>
                <a:gd name="T24" fmla="*/ 0 w 51"/>
                <a:gd name="T25" fmla="*/ 327 h 3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1"/>
                <a:gd name="T40" fmla="*/ 0 h 327"/>
                <a:gd name="T41" fmla="*/ 51 w 51"/>
                <a:gd name="T42" fmla="*/ 327 h 32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1" h="327">
                  <a:moveTo>
                    <a:pt x="0" y="1"/>
                  </a:moveTo>
                  <a:cubicBezTo>
                    <a:pt x="27" y="0"/>
                    <a:pt x="49" y="18"/>
                    <a:pt x="50" y="40"/>
                  </a:cubicBezTo>
                  <a:cubicBezTo>
                    <a:pt x="51" y="62"/>
                    <a:pt x="31" y="81"/>
                    <a:pt x="4" y="82"/>
                  </a:cubicBezTo>
                  <a:cubicBezTo>
                    <a:pt x="3" y="82"/>
                    <a:pt x="2" y="82"/>
                    <a:pt x="0" y="82"/>
                  </a:cubicBezTo>
                  <a:cubicBezTo>
                    <a:pt x="27" y="81"/>
                    <a:pt x="49" y="99"/>
                    <a:pt x="50" y="121"/>
                  </a:cubicBezTo>
                  <a:cubicBezTo>
                    <a:pt x="51" y="144"/>
                    <a:pt x="31" y="162"/>
                    <a:pt x="4" y="164"/>
                  </a:cubicBezTo>
                  <a:cubicBezTo>
                    <a:pt x="3" y="164"/>
                    <a:pt x="2" y="164"/>
                    <a:pt x="0" y="164"/>
                  </a:cubicBezTo>
                  <a:cubicBezTo>
                    <a:pt x="27" y="162"/>
                    <a:pt x="49" y="180"/>
                    <a:pt x="50" y="203"/>
                  </a:cubicBezTo>
                  <a:cubicBezTo>
                    <a:pt x="51" y="225"/>
                    <a:pt x="31" y="244"/>
                    <a:pt x="4" y="245"/>
                  </a:cubicBezTo>
                  <a:cubicBezTo>
                    <a:pt x="3" y="245"/>
                    <a:pt x="2" y="245"/>
                    <a:pt x="0" y="245"/>
                  </a:cubicBezTo>
                  <a:cubicBezTo>
                    <a:pt x="27" y="244"/>
                    <a:pt x="49" y="261"/>
                    <a:pt x="50" y="284"/>
                  </a:cubicBezTo>
                  <a:cubicBezTo>
                    <a:pt x="51" y="307"/>
                    <a:pt x="31" y="325"/>
                    <a:pt x="4" y="327"/>
                  </a:cubicBezTo>
                  <a:cubicBezTo>
                    <a:pt x="3" y="327"/>
                    <a:pt x="2" y="327"/>
                    <a:pt x="0" y="327"/>
                  </a:cubicBezTo>
                </a:path>
              </a:pathLst>
            </a:custGeom>
            <a:noFill/>
            <a:ln w="238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Freeform 14"/>
            <p:cNvSpPr>
              <a:spLocks/>
            </p:cNvSpPr>
            <p:nvPr/>
          </p:nvSpPr>
          <p:spPr bwMode="auto">
            <a:xfrm>
              <a:off x="4205" y="948"/>
              <a:ext cx="50" cy="327"/>
            </a:xfrm>
            <a:custGeom>
              <a:avLst/>
              <a:gdLst>
                <a:gd name="T0" fmla="*/ 50 w 50"/>
                <a:gd name="T1" fmla="*/ 1 h 327"/>
                <a:gd name="T2" fmla="*/ 1 w 50"/>
                <a:gd name="T3" fmla="*/ 40 h 327"/>
                <a:gd name="T4" fmla="*/ 46 w 50"/>
                <a:gd name="T5" fmla="*/ 82 h 327"/>
                <a:gd name="T6" fmla="*/ 50 w 50"/>
                <a:gd name="T7" fmla="*/ 82 h 327"/>
                <a:gd name="T8" fmla="*/ 1 w 50"/>
                <a:gd name="T9" fmla="*/ 121 h 327"/>
                <a:gd name="T10" fmla="*/ 46 w 50"/>
                <a:gd name="T11" fmla="*/ 164 h 327"/>
                <a:gd name="T12" fmla="*/ 50 w 50"/>
                <a:gd name="T13" fmla="*/ 164 h 327"/>
                <a:gd name="T14" fmla="*/ 1 w 50"/>
                <a:gd name="T15" fmla="*/ 203 h 327"/>
                <a:gd name="T16" fmla="*/ 46 w 50"/>
                <a:gd name="T17" fmla="*/ 245 h 327"/>
                <a:gd name="T18" fmla="*/ 50 w 50"/>
                <a:gd name="T19" fmla="*/ 245 h 327"/>
                <a:gd name="T20" fmla="*/ 1 w 50"/>
                <a:gd name="T21" fmla="*/ 284 h 327"/>
                <a:gd name="T22" fmla="*/ 46 w 50"/>
                <a:gd name="T23" fmla="*/ 327 h 327"/>
                <a:gd name="T24" fmla="*/ 50 w 50"/>
                <a:gd name="T25" fmla="*/ 327 h 3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0"/>
                <a:gd name="T40" fmla="*/ 0 h 327"/>
                <a:gd name="T41" fmla="*/ 50 w 50"/>
                <a:gd name="T42" fmla="*/ 327 h 32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0" h="327">
                  <a:moveTo>
                    <a:pt x="50" y="1"/>
                  </a:moveTo>
                  <a:cubicBezTo>
                    <a:pt x="24" y="0"/>
                    <a:pt x="2" y="18"/>
                    <a:pt x="1" y="40"/>
                  </a:cubicBezTo>
                  <a:cubicBezTo>
                    <a:pt x="0" y="62"/>
                    <a:pt x="20" y="81"/>
                    <a:pt x="46" y="82"/>
                  </a:cubicBezTo>
                  <a:cubicBezTo>
                    <a:pt x="48" y="82"/>
                    <a:pt x="49" y="82"/>
                    <a:pt x="50" y="82"/>
                  </a:cubicBezTo>
                  <a:cubicBezTo>
                    <a:pt x="24" y="81"/>
                    <a:pt x="2" y="99"/>
                    <a:pt x="1" y="121"/>
                  </a:cubicBezTo>
                  <a:cubicBezTo>
                    <a:pt x="0" y="144"/>
                    <a:pt x="20" y="162"/>
                    <a:pt x="46" y="164"/>
                  </a:cubicBezTo>
                  <a:cubicBezTo>
                    <a:pt x="48" y="164"/>
                    <a:pt x="49" y="164"/>
                    <a:pt x="50" y="164"/>
                  </a:cubicBezTo>
                  <a:cubicBezTo>
                    <a:pt x="24" y="162"/>
                    <a:pt x="2" y="180"/>
                    <a:pt x="1" y="203"/>
                  </a:cubicBezTo>
                  <a:cubicBezTo>
                    <a:pt x="0" y="225"/>
                    <a:pt x="20" y="244"/>
                    <a:pt x="46" y="245"/>
                  </a:cubicBezTo>
                  <a:cubicBezTo>
                    <a:pt x="48" y="245"/>
                    <a:pt x="49" y="245"/>
                    <a:pt x="50" y="245"/>
                  </a:cubicBezTo>
                  <a:cubicBezTo>
                    <a:pt x="24" y="244"/>
                    <a:pt x="2" y="261"/>
                    <a:pt x="1" y="284"/>
                  </a:cubicBezTo>
                  <a:cubicBezTo>
                    <a:pt x="0" y="307"/>
                    <a:pt x="20" y="325"/>
                    <a:pt x="46" y="327"/>
                  </a:cubicBezTo>
                  <a:cubicBezTo>
                    <a:pt x="48" y="327"/>
                    <a:pt x="49" y="327"/>
                    <a:pt x="50" y="327"/>
                  </a:cubicBezTo>
                </a:path>
              </a:pathLst>
            </a:custGeom>
            <a:noFill/>
            <a:ln w="238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4147" y="957"/>
              <a:ext cx="1" cy="30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Line 16"/>
            <p:cNvSpPr>
              <a:spLocks noChangeShapeType="1"/>
            </p:cNvSpPr>
            <p:nvPr/>
          </p:nvSpPr>
          <p:spPr bwMode="auto">
            <a:xfrm flipV="1">
              <a:off x="4166" y="957"/>
              <a:ext cx="1" cy="309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Rectangle 17"/>
            <p:cNvSpPr>
              <a:spLocks noChangeArrowheads="1"/>
            </p:cNvSpPr>
            <p:nvPr/>
          </p:nvSpPr>
          <p:spPr bwMode="auto">
            <a:xfrm>
              <a:off x="5315" y="997"/>
              <a:ext cx="66" cy="16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Rectangle 18"/>
            <p:cNvSpPr>
              <a:spLocks noChangeArrowheads="1"/>
            </p:cNvSpPr>
            <p:nvPr/>
          </p:nvSpPr>
          <p:spPr bwMode="auto">
            <a:xfrm>
              <a:off x="5315" y="997"/>
              <a:ext cx="66" cy="163"/>
            </a:xfrm>
            <a:prstGeom prst="rect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Line 19"/>
            <p:cNvSpPr>
              <a:spLocks noChangeShapeType="1"/>
            </p:cNvSpPr>
            <p:nvPr/>
          </p:nvSpPr>
          <p:spPr bwMode="auto">
            <a:xfrm>
              <a:off x="5018" y="1063"/>
              <a:ext cx="132" cy="1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>
              <a:off x="5018" y="1112"/>
              <a:ext cx="132" cy="1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5084" y="1112"/>
              <a:ext cx="1" cy="130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Line 22"/>
            <p:cNvSpPr>
              <a:spLocks noChangeShapeType="1"/>
            </p:cNvSpPr>
            <p:nvPr/>
          </p:nvSpPr>
          <p:spPr bwMode="auto">
            <a:xfrm flipV="1">
              <a:off x="5084" y="916"/>
              <a:ext cx="1" cy="147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23"/>
            <p:cNvSpPr>
              <a:spLocks/>
            </p:cNvSpPr>
            <p:nvPr/>
          </p:nvSpPr>
          <p:spPr bwMode="auto">
            <a:xfrm>
              <a:off x="4061" y="884"/>
              <a:ext cx="1" cy="65"/>
            </a:xfrm>
            <a:custGeom>
              <a:avLst/>
              <a:gdLst>
                <a:gd name="T0" fmla="*/ 0 w 1"/>
                <a:gd name="T1" fmla="*/ 65 h 65"/>
                <a:gd name="T2" fmla="*/ 0 w 1"/>
                <a:gd name="T3" fmla="*/ 0 h 65"/>
                <a:gd name="T4" fmla="*/ 0 w 1"/>
                <a:gd name="T5" fmla="*/ 32 h 65"/>
                <a:gd name="T6" fmla="*/ 0 60000 65536"/>
                <a:gd name="T7" fmla="*/ 0 60000 65536"/>
                <a:gd name="T8" fmla="*/ 0 60000 65536"/>
                <a:gd name="T9" fmla="*/ 0 w 1"/>
                <a:gd name="T10" fmla="*/ 0 h 65"/>
                <a:gd name="T11" fmla="*/ 1 w 1"/>
                <a:gd name="T12" fmla="*/ 65 h 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5">
                  <a:moveTo>
                    <a:pt x="0" y="65"/>
                  </a:moveTo>
                  <a:lnTo>
                    <a:pt x="0" y="0"/>
                  </a:lnTo>
                  <a:lnTo>
                    <a:pt x="0" y="32"/>
                  </a:lnTo>
                </a:path>
              </a:pathLst>
            </a:cu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 flipH="1">
              <a:off x="3334" y="884"/>
              <a:ext cx="727" cy="1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25"/>
            <p:cNvSpPr>
              <a:spLocks/>
            </p:cNvSpPr>
            <p:nvPr/>
          </p:nvSpPr>
          <p:spPr bwMode="auto">
            <a:xfrm>
              <a:off x="4255" y="884"/>
              <a:ext cx="250" cy="65"/>
            </a:xfrm>
            <a:custGeom>
              <a:avLst/>
              <a:gdLst>
                <a:gd name="T0" fmla="*/ 0 w 250"/>
                <a:gd name="T1" fmla="*/ 65 h 65"/>
                <a:gd name="T2" fmla="*/ 0 w 250"/>
                <a:gd name="T3" fmla="*/ 0 h 65"/>
                <a:gd name="T4" fmla="*/ 250 w 250"/>
                <a:gd name="T5" fmla="*/ 0 h 65"/>
                <a:gd name="T6" fmla="*/ 0 60000 65536"/>
                <a:gd name="T7" fmla="*/ 0 60000 65536"/>
                <a:gd name="T8" fmla="*/ 0 60000 65536"/>
                <a:gd name="T9" fmla="*/ 0 w 250"/>
                <a:gd name="T10" fmla="*/ 0 h 65"/>
                <a:gd name="T11" fmla="*/ 250 w 250"/>
                <a:gd name="T12" fmla="*/ 65 h 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0" h="65">
                  <a:moveTo>
                    <a:pt x="0" y="65"/>
                  </a:moveTo>
                  <a:lnTo>
                    <a:pt x="0" y="0"/>
                  </a:lnTo>
                  <a:lnTo>
                    <a:pt x="250" y="0"/>
                  </a:lnTo>
                </a:path>
              </a:pathLst>
            </a:cu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auto">
            <a:xfrm>
              <a:off x="4255" y="1160"/>
              <a:ext cx="1093" cy="180"/>
            </a:xfrm>
            <a:custGeom>
              <a:avLst/>
              <a:gdLst>
                <a:gd name="T0" fmla="*/ 0 w 1093"/>
                <a:gd name="T1" fmla="*/ 115 h 180"/>
                <a:gd name="T2" fmla="*/ 0 w 1093"/>
                <a:gd name="T3" fmla="*/ 180 h 180"/>
                <a:gd name="T4" fmla="*/ 1093 w 1093"/>
                <a:gd name="T5" fmla="*/ 180 h 180"/>
                <a:gd name="T6" fmla="*/ 1093 w 1093"/>
                <a:gd name="T7" fmla="*/ 0 h 1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3"/>
                <a:gd name="T13" fmla="*/ 0 h 180"/>
                <a:gd name="T14" fmla="*/ 1093 w 1093"/>
                <a:gd name="T15" fmla="*/ 180 h 1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3" h="180">
                  <a:moveTo>
                    <a:pt x="0" y="115"/>
                  </a:moveTo>
                  <a:lnTo>
                    <a:pt x="0" y="180"/>
                  </a:lnTo>
                  <a:lnTo>
                    <a:pt x="1093" y="180"/>
                  </a:lnTo>
                  <a:lnTo>
                    <a:pt x="1093" y="0"/>
                  </a:lnTo>
                </a:path>
              </a:pathLst>
            </a:cu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27"/>
            <p:cNvSpPr>
              <a:spLocks/>
            </p:cNvSpPr>
            <p:nvPr/>
          </p:nvSpPr>
          <p:spPr bwMode="auto">
            <a:xfrm>
              <a:off x="4935" y="884"/>
              <a:ext cx="413" cy="113"/>
            </a:xfrm>
            <a:custGeom>
              <a:avLst/>
              <a:gdLst>
                <a:gd name="T0" fmla="*/ 413 w 413"/>
                <a:gd name="T1" fmla="*/ 113 h 113"/>
                <a:gd name="T2" fmla="*/ 413 w 413"/>
                <a:gd name="T3" fmla="*/ 0 h 113"/>
                <a:gd name="T4" fmla="*/ 0 w 413"/>
                <a:gd name="T5" fmla="*/ 0 h 113"/>
                <a:gd name="T6" fmla="*/ 0 60000 65536"/>
                <a:gd name="T7" fmla="*/ 0 60000 65536"/>
                <a:gd name="T8" fmla="*/ 0 60000 65536"/>
                <a:gd name="T9" fmla="*/ 0 w 413"/>
                <a:gd name="T10" fmla="*/ 0 h 113"/>
                <a:gd name="T11" fmla="*/ 413 w 413"/>
                <a:gd name="T12" fmla="*/ 113 h 1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3" h="113">
                  <a:moveTo>
                    <a:pt x="413" y="113"/>
                  </a:moveTo>
                  <a:lnTo>
                    <a:pt x="413" y="0"/>
                  </a:lnTo>
                  <a:lnTo>
                    <a:pt x="0" y="0"/>
                  </a:lnTo>
                </a:path>
              </a:pathLst>
            </a:cu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Line 28"/>
            <p:cNvSpPr>
              <a:spLocks noChangeShapeType="1"/>
            </p:cNvSpPr>
            <p:nvPr/>
          </p:nvSpPr>
          <p:spPr bwMode="auto">
            <a:xfrm flipV="1">
              <a:off x="5084" y="884"/>
              <a:ext cx="1" cy="32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Line 29"/>
            <p:cNvSpPr>
              <a:spLocks noChangeShapeType="1"/>
            </p:cNvSpPr>
            <p:nvPr/>
          </p:nvSpPr>
          <p:spPr bwMode="auto">
            <a:xfrm>
              <a:off x="5084" y="1242"/>
              <a:ext cx="1" cy="98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30"/>
            <p:cNvSpPr>
              <a:spLocks/>
            </p:cNvSpPr>
            <p:nvPr/>
          </p:nvSpPr>
          <p:spPr bwMode="auto">
            <a:xfrm>
              <a:off x="4026" y="964"/>
              <a:ext cx="36" cy="35"/>
            </a:xfrm>
            <a:custGeom>
              <a:avLst/>
              <a:gdLst>
                <a:gd name="T0" fmla="*/ 0 w 55"/>
                <a:gd name="T1" fmla="*/ 12 h 54"/>
                <a:gd name="T2" fmla="*/ 12 w 55"/>
                <a:gd name="T3" fmla="*/ 0 h 54"/>
                <a:gd name="T4" fmla="*/ 24 w 55"/>
                <a:gd name="T5" fmla="*/ 12 h 54"/>
                <a:gd name="T6" fmla="*/ 24 w 55"/>
                <a:gd name="T7" fmla="*/ 12 h 54"/>
                <a:gd name="T8" fmla="*/ 12 w 55"/>
                <a:gd name="T9" fmla="*/ 23 h 54"/>
                <a:gd name="T10" fmla="*/ 0 w 55"/>
                <a:gd name="T11" fmla="*/ 12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4"/>
                <a:gd name="T20" fmla="*/ 55 w 55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4">
                  <a:moveTo>
                    <a:pt x="0" y="27"/>
                  </a:moveTo>
                  <a:cubicBezTo>
                    <a:pt x="0" y="12"/>
                    <a:pt x="12" y="0"/>
                    <a:pt x="28" y="0"/>
                  </a:cubicBezTo>
                  <a:cubicBezTo>
                    <a:pt x="43" y="0"/>
                    <a:pt x="55" y="12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2"/>
                    <a:pt x="43" y="54"/>
                    <a:pt x="28" y="54"/>
                  </a:cubicBezTo>
                  <a:cubicBezTo>
                    <a:pt x="12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31"/>
            <p:cNvSpPr>
              <a:spLocks/>
            </p:cNvSpPr>
            <p:nvPr/>
          </p:nvSpPr>
          <p:spPr bwMode="auto">
            <a:xfrm>
              <a:off x="4257" y="1224"/>
              <a:ext cx="36" cy="35"/>
            </a:xfrm>
            <a:custGeom>
              <a:avLst/>
              <a:gdLst>
                <a:gd name="T0" fmla="*/ 0 w 54"/>
                <a:gd name="T1" fmla="*/ 12 h 53"/>
                <a:gd name="T2" fmla="*/ 12 w 54"/>
                <a:gd name="T3" fmla="*/ 0 h 53"/>
                <a:gd name="T4" fmla="*/ 24 w 54"/>
                <a:gd name="T5" fmla="*/ 12 h 53"/>
                <a:gd name="T6" fmla="*/ 24 w 54"/>
                <a:gd name="T7" fmla="*/ 12 h 53"/>
                <a:gd name="T8" fmla="*/ 12 w 54"/>
                <a:gd name="T9" fmla="*/ 23 h 53"/>
                <a:gd name="T10" fmla="*/ 0 w 54"/>
                <a:gd name="T11" fmla="*/ 1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Rectangle 32"/>
            <p:cNvSpPr>
              <a:spLocks noChangeArrowheads="1"/>
            </p:cNvSpPr>
            <p:nvPr/>
          </p:nvSpPr>
          <p:spPr bwMode="auto">
            <a:xfrm>
              <a:off x="4613" y="941"/>
              <a:ext cx="11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 sz="2000"/>
            </a:p>
          </p:txBody>
        </p:sp>
        <p:sp>
          <p:nvSpPr>
            <p:cNvPr id="27" name="Rectangle 33"/>
            <p:cNvSpPr>
              <a:spLocks noChangeArrowheads="1"/>
            </p:cNvSpPr>
            <p:nvPr/>
          </p:nvSpPr>
          <p:spPr bwMode="auto">
            <a:xfrm>
              <a:off x="4874" y="980"/>
              <a:ext cx="10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endParaRPr lang="en-US" altLang="zh-CN" sz="2000"/>
            </a:p>
          </p:txBody>
        </p:sp>
        <p:sp>
          <p:nvSpPr>
            <p:cNvPr id="28" name="Rectangle 34"/>
            <p:cNvSpPr>
              <a:spLocks noChangeArrowheads="1"/>
            </p:cNvSpPr>
            <p:nvPr/>
          </p:nvSpPr>
          <p:spPr bwMode="auto">
            <a:xfrm>
              <a:off x="5191" y="980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 sz="2000"/>
            </a:p>
          </p:txBody>
        </p:sp>
        <p:sp>
          <p:nvSpPr>
            <p:cNvPr id="29" name="Rectangle 35"/>
            <p:cNvSpPr>
              <a:spLocks noChangeArrowheads="1"/>
            </p:cNvSpPr>
            <p:nvPr/>
          </p:nvSpPr>
          <p:spPr bwMode="auto">
            <a:xfrm>
              <a:off x="4170" y="1589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000" dirty="0"/>
            </a:p>
          </p:txBody>
        </p:sp>
        <p:sp>
          <p:nvSpPr>
            <p:cNvPr id="30" name="Freeform 36"/>
            <p:cNvSpPr>
              <a:spLocks/>
            </p:cNvSpPr>
            <p:nvPr/>
          </p:nvSpPr>
          <p:spPr bwMode="auto">
            <a:xfrm>
              <a:off x="5066" y="866"/>
              <a:ext cx="36" cy="36"/>
            </a:xfrm>
            <a:custGeom>
              <a:avLst/>
              <a:gdLst>
                <a:gd name="T0" fmla="*/ 0 w 55"/>
                <a:gd name="T1" fmla="*/ 12 h 54"/>
                <a:gd name="T2" fmla="*/ 12 w 55"/>
                <a:gd name="T3" fmla="*/ 0 h 54"/>
                <a:gd name="T4" fmla="*/ 24 w 55"/>
                <a:gd name="T5" fmla="*/ 12 h 54"/>
                <a:gd name="T6" fmla="*/ 24 w 55"/>
                <a:gd name="T7" fmla="*/ 12 h 54"/>
                <a:gd name="T8" fmla="*/ 12 w 55"/>
                <a:gd name="T9" fmla="*/ 24 h 54"/>
                <a:gd name="T10" fmla="*/ 0 w 55"/>
                <a:gd name="T11" fmla="*/ 12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4"/>
                <a:gd name="T20" fmla="*/ 55 w 55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4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37"/>
            <p:cNvSpPr>
              <a:spLocks/>
            </p:cNvSpPr>
            <p:nvPr/>
          </p:nvSpPr>
          <p:spPr bwMode="auto">
            <a:xfrm>
              <a:off x="5066" y="1322"/>
              <a:ext cx="36" cy="35"/>
            </a:xfrm>
            <a:custGeom>
              <a:avLst/>
              <a:gdLst>
                <a:gd name="T0" fmla="*/ 0 w 55"/>
                <a:gd name="T1" fmla="*/ 12 h 53"/>
                <a:gd name="T2" fmla="*/ 12 w 55"/>
                <a:gd name="T3" fmla="*/ 0 h 53"/>
                <a:gd name="T4" fmla="*/ 24 w 55"/>
                <a:gd name="T5" fmla="*/ 12 h 53"/>
                <a:gd name="T6" fmla="*/ 24 w 55"/>
                <a:gd name="T7" fmla="*/ 12 h 53"/>
                <a:gd name="T8" fmla="*/ 12 w 55"/>
                <a:gd name="T9" fmla="*/ 23 h 53"/>
                <a:gd name="T10" fmla="*/ 0 w 55"/>
                <a:gd name="T11" fmla="*/ 1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3"/>
                <a:gd name="T20" fmla="*/ 55 w 55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Rectangle 38"/>
            <p:cNvSpPr>
              <a:spLocks noChangeArrowheads="1"/>
            </p:cNvSpPr>
            <p:nvPr/>
          </p:nvSpPr>
          <p:spPr bwMode="auto">
            <a:xfrm>
              <a:off x="3967" y="663"/>
              <a:ext cx="33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:N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3" name="Freeform 39"/>
            <p:cNvSpPr>
              <a:spLocks/>
            </p:cNvSpPr>
            <p:nvPr/>
          </p:nvSpPr>
          <p:spPr bwMode="auto">
            <a:xfrm>
              <a:off x="3747" y="819"/>
              <a:ext cx="82" cy="22"/>
            </a:xfrm>
            <a:custGeom>
              <a:avLst/>
              <a:gdLst>
                <a:gd name="T0" fmla="*/ 82 w 82"/>
                <a:gd name="T1" fmla="*/ 11 h 22"/>
                <a:gd name="T2" fmla="*/ 0 w 82"/>
                <a:gd name="T3" fmla="*/ 0 h 22"/>
                <a:gd name="T4" fmla="*/ 0 w 82"/>
                <a:gd name="T5" fmla="*/ 22 h 22"/>
                <a:gd name="T6" fmla="*/ 82 w 82"/>
                <a:gd name="T7" fmla="*/ 1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2"/>
                <a:gd name="T13" fmla="*/ 0 h 22"/>
                <a:gd name="T14" fmla="*/ 82 w 82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2" h="22">
                  <a:moveTo>
                    <a:pt x="82" y="11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82" y="11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40"/>
            <p:cNvSpPr>
              <a:spLocks/>
            </p:cNvSpPr>
            <p:nvPr/>
          </p:nvSpPr>
          <p:spPr bwMode="auto">
            <a:xfrm>
              <a:off x="3747" y="819"/>
              <a:ext cx="82" cy="22"/>
            </a:xfrm>
            <a:custGeom>
              <a:avLst/>
              <a:gdLst>
                <a:gd name="T0" fmla="*/ 82 w 82"/>
                <a:gd name="T1" fmla="*/ 11 h 22"/>
                <a:gd name="T2" fmla="*/ 0 w 82"/>
                <a:gd name="T3" fmla="*/ 0 h 22"/>
                <a:gd name="T4" fmla="*/ 0 w 82"/>
                <a:gd name="T5" fmla="*/ 22 h 22"/>
                <a:gd name="T6" fmla="*/ 82 w 82"/>
                <a:gd name="T7" fmla="*/ 1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2"/>
                <a:gd name="T13" fmla="*/ 0 h 22"/>
                <a:gd name="T14" fmla="*/ 82 w 82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2" h="22">
                  <a:moveTo>
                    <a:pt x="82" y="11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82" y="11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Line 41"/>
            <p:cNvSpPr>
              <a:spLocks noChangeShapeType="1"/>
            </p:cNvSpPr>
            <p:nvPr/>
          </p:nvSpPr>
          <p:spPr bwMode="auto">
            <a:xfrm flipH="1">
              <a:off x="3641" y="830"/>
              <a:ext cx="106" cy="1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42"/>
            <p:cNvSpPr>
              <a:spLocks/>
            </p:cNvSpPr>
            <p:nvPr/>
          </p:nvSpPr>
          <p:spPr bwMode="auto">
            <a:xfrm>
              <a:off x="4457" y="819"/>
              <a:ext cx="82" cy="22"/>
            </a:xfrm>
            <a:custGeom>
              <a:avLst/>
              <a:gdLst>
                <a:gd name="T0" fmla="*/ 82 w 82"/>
                <a:gd name="T1" fmla="*/ 11 h 22"/>
                <a:gd name="T2" fmla="*/ 0 w 82"/>
                <a:gd name="T3" fmla="*/ 0 h 22"/>
                <a:gd name="T4" fmla="*/ 0 w 82"/>
                <a:gd name="T5" fmla="*/ 22 h 22"/>
                <a:gd name="T6" fmla="*/ 82 w 82"/>
                <a:gd name="T7" fmla="*/ 1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2"/>
                <a:gd name="T13" fmla="*/ 0 h 22"/>
                <a:gd name="T14" fmla="*/ 82 w 82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2" h="22">
                  <a:moveTo>
                    <a:pt x="82" y="11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82" y="11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43"/>
            <p:cNvSpPr>
              <a:spLocks/>
            </p:cNvSpPr>
            <p:nvPr/>
          </p:nvSpPr>
          <p:spPr bwMode="auto">
            <a:xfrm>
              <a:off x="4457" y="819"/>
              <a:ext cx="82" cy="22"/>
            </a:xfrm>
            <a:custGeom>
              <a:avLst/>
              <a:gdLst>
                <a:gd name="T0" fmla="*/ 82 w 82"/>
                <a:gd name="T1" fmla="*/ 11 h 22"/>
                <a:gd name="T2" fmla="*/ 0 w 82"/>
                <a:gd name="T3" fmla="*/ 0 h 22"/>
                <a:gd name="T4" fmla="*/ 0 w 82"/>
                <a:gd name="T5" fmla="*/ 22 h 22"/>
                <a:gd name="T6" fmla="*/ 82 w 82"/>
                <a:gd name="T7" fmla="*/ 11 h 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2"/>
                <a:gd name="T13" fmla="*/ 0 h 22"/>
                <a:gd name="T14" fmla="*/ 82 w 82"/>
                <a:gd name="T15" fmla="*/ 22 h 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2" h="22">
                  <a:moveTo>
                    <a:pt x="82" y="11"/>
                  </a:moveTo>
                  <a:lnTo>
                    <a:pt x="0" y="0"/>
                  </a:lnTo>
                  <a:lnTo>
                    <a:pt x="0" y="22"/>
                  </a:lnTo>
                  <a:lnTo>
                    <a:pt x="82" y="11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Line 44"/>
            <p:cNvSpPr>
              <a:spLocks noChangeShapeType="1"/>
            </p:cNvSpPr>
            <p:nvPr/>
          </p:nvSpPr>
          <p:spPr bwMode="auto">
            <a:xfrm flipH="1">
              <a:off x="4351" y="830"/>
              <a:ext cx="106" cy="1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3694" y="572"/>
              <a:ext cx="9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0" name="Line 87"/>
            <p:cNvSpPr>
              <a:spLocks noChangeShapeType="1"/>
            </p:cNvSpPr>
            <p:nvPr/>
          </p:nvSpPr>
          <p:spPr bwMode="auto">
            <a:xfrm>
              <a:off x="4065" y="1275"/>
              <a:ext cx="1" cy="262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88"/>
            <p:cNvSpPr>
              <a:spLocks/>
            </p:cNvSpPr>
            <p:nvPr/>
          </p:nvSpPr>
          <p:spPr bwMode="auto">
            <a:xfrm>
              <a:off x="3334" y="1714"/>
              <a:ext cx="731" cy="179"/>
            </a:xfrm>
            <a:custGeom>
              <a:avLst/>
              <a:gdLst>
                <a:gd name="T0" fmla="*/ 731 w 731"/>
                <a:gd name="T1" fmla="*/ 0 h 179"/>
                <a:gd name="T2" fmla="*/ 731 w 731"/>
                <a:gd name="T3" fmla="*/ 179 h 179"/>
                <a:gd name="T4" fmla="*/ 0 w 731"/>
                <a:gd name="T5" fmla="*/ 179 h 179"/>
                <a:gd name="T6" fmla="*/ 0 60000 65536"/>
                <a:gd name="T7" fmla="*/ 0 60000 65536"/>
                <a:gd name="T8" fmla="*/ 0 60000 65536"/>
                <a:gd name="T9" fmla="*/ 0 w 731"/>
                <a:gd name="T10" fmla="*/ 0 h 179"/>
                <a:gd name="T11" fmla="*/ 731 w 731"/>
                <a:gd name="T12" fmla="*/ 179 h 1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1" h="179">
                  <a:moveTo>
                    <a:pt x="731" y="0"/>
                  </a:moveTo>
                  <a:lnTo>
                    <a:pt x="731" y="179"/>
                  </a:lnTo>
                  <a:lnTo>
                    <a:pt x="0" y="179"/>
                  </a:lnTo>
                </a:path>
              </a:pathLst>
            </a:cu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6"/>
            <p:cNvSpPr>
              <a:spLocks/>
            </p:cNvSpPr>
            <p:nvPr/>
          </p:nvSpPr>
          <p:spPr bwMode="auto">
            <a:xfrm>
              <a:off x="4666" y="831"/>
              <a:ext cx="106" cy="106"/>
            </a:xfrm>
            <a:custGeom>
              <a:avLst/>
              <a:gdLst>
                <a:gd name="T0" fmla="*/ 0 w 106"/>
                <a:gd name="T1" fmla="*/ 0 h 106"/>
                <a:gd name="T2" fmla="*/ 106 w 106"/>
                <a:gd name="T3" fmla="*/ 53 h 106"/>
                <a:gd name="T4" fmla="*/ 0 w 106"/>
                <a:gd name="T5" fmla="*/ 106 h 106"/>
                <a:gd name="T6" fmla="*/ 0 w 106"/>
                <a:gd name="T7" fmla="*/ 0 h 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06"/>
                <a:gd name="T14" fmla="*/ 106 w 106"/>
                <a:gd name="T15" fmla="*/ 106 h 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06">
                  <a:moveTo>
                    <a:pt x="0" y="0"/>
                  </a:moveTo>
                  <a:lnTo>
                    <a:pt x="106" y="53"/>
                  </a:lnTo>
                  <a:lnTo>
                    <a:pt x="0" y="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97"/>
            <p:cNvSpPr>
              <a:spLocks noEditPoints="1"/>
            </p:cNvSpPr>
            <p:nvPr/>
          </p:nvSpPr>
          <p:spPr bwMode="auto">
            <a:xfrm>
              <a:off x="4666" y="831"/>
              <a:ext cx="106" cy="106"/>
            </a:xfrm>
            <a:custGeom>
              <a:avLst/>
              <a:gdLst>
                <a:gd name="T0" fmla="*/ 106 w 106"/>
                <a:gd name="T1" fmla="*/ 106 h 106"/>
                <a:gd name="T2" fmla="*/ 106 w 106"/>
                <a:gd name="T3" fmla="*/ 0 h 106"/>
                <a:gd name="T4" fmla="*/ 0 w 106"/>
                <a:gd name="T5" fmla="*/ 0 h 106"/>
                <a:gd name="T6" fmla="*/ 106 w 106"/>
                <a:gd name="T7" fmla="*/ 53 h 106"/>
                <a:gd name="T8" fmla="*/ 0 w 106"/>
                <a:gd name="T9" fmla="*/ 106 h 106"/>
                <a:gd name="T10" fmla="*/ 0 w 106"/>
                <a:gd name="T11" fmla="*/ 0 h 1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6"/>
                <a:gd name="T19" fmla="*/ 0 h 106"/>
                <a:gd name="T20" fmla="*/ 106 w 106"/>
                <a:gd name="T21" fmla="*/ 106 h 1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6" h="106">
                  <a:moveTo>
                    <a:pt x="106" y="106"/>
                  </a:moveTo>
                  <a:lnTo>
                    <a:pt x="106" y="0"/>
                  </a:lnTo>
                  <a:moveTo>
                    <a:pt x="0" y="0"/>
                  </a:moveTo>
                  <a:lnTo>
                    <a:pt x="106" y="53"/>
                  </a:lnTo>
                  <a:lnTo>
                    <a:pt x="0" y="106"/>
                  </a:lnTo>
                  <a:lnTo>
                    <a:pt x="0" y="0"/>
                  </a:lnTo>
                </a:path>
              </a:pathLst>
            </a:cu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Line 98"/>
            <p:cNvSpPr>
              <a:spLocks noChangeShapeType="1"/>
            </p:cNvSpPr>
            <p:nvPr/>
          </p:nvSpPr>
          <p:spPr bwMode="auto">
            <a:xfrm>
              <a:off x="4505" y="884"/>
              <a:ext cx="428" cy="1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99"/>
            <p:cNvSpPr>
              <a:spLocks/>
            </p:cNvSpPr>
            <p:nvPr/>
          </p:nvSpPr>
          <p:spPr bwMode="auto">
            <a:xfrm>
              <a:off x="4666" y="831"/>
              <a:ext cx="106" cy="106"/>
            </a:xfrm>
            <a:custGeom>
              <a:avLst/>
              <a:gdLst>
                <a:gd name="T0" fmla="*/ 106 w 106"/>
                <a:gd name="T1" fmla="*/ 53 h 106"/>
                <a:gd name="T2" fmla="*/ 0 w 106"/>
                <a:gd name="T3" fmla="*/ 0 h 106"/>
                <a:gd name="T4" fmla="*/ 0 w 106"/>
                <a:gd name="T5" fmla="*/ 106 h 106"/>
                <a:gd name="T6" fmla="*/ 106 w 106"/>
                <a:gd name="T7" fmla="*/ 53 h 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06"/>
                <a:gd name="T14" fmla="*/ 106 w 106"/>
                <a:gd name="T15" fmla="*/ 106 h 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06">
                  <a:moveTo>
                    <a:pt x="106" y="53"/>
                  </a:moveTo>
                  <a:lnTo>
                    <a:pt x="0" y="0"/>
                  </a:lnTo>
                  <a:lnTo>
                    <a:pt x="0" y="106"/>
                  </a:lnTo>
                  <a:lnTo>
                    <a:pt x="106" y="5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100"/>
            <p:cNvSpPr>
              <a:spLocks/>
            </p:cNvSpPr>
            <p:nvPr/>
          </p:nvSpPr>
          <p:spPr bwMode="auto">
            <a:xfrm>
              <a:off x="4666" y="831"/>
              <a:ext cx="106" cy="106"/>
            </a:xfrm>
            <a:custGeom>
              <a:avLst/>
              <a:gdLst>
                <a:gd name="T0" fmla="*/ 106 w 106"/>
                <a:gd name="T1" fmla="*/ 53 h 106"/>
                <a:gd name="T2" fmla="*/ 0 w 106"/>
                <a:gd name="T3" fmla="*/ 0 h 106"/>
                <a:gd name="T4" fmla="*/ 0 w 106"/>
                <a:gd name="T5" fmla="*/ 106 h 106"/>
                <a:gd name="T6" fmla="*/ 106 w 106"/>
                <a:gd name="T7" fmla="*/ 53 h 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06"/>
                <a:gd name="T14" fmla="*/ 106 w 106"/>
                <a:gd name="T15" fmla="*/ 106 h 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06">
                  <a:moveTo>
                    <a:pt x="106" y="53"/>
                  </a:moveTo>
                  <a:lnTo>
                    <a:pt x="0" y="0"/>
                  </a:lnTo>
                  <a:lnTo>
                    <a:pt x="0" y="106"/>
                  </a:lnTo>
                  <a:lnTo>
                    <a:pt x="106" y="53"/>
                  </a:lnTo>
                  <a:close/>
                </a:path>
              </a:pathLst>
            </a:custGeom>
            <a:noFill/>
            <a:ln w="238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Line 101"/>
            <p:cNvSpPr>
              <a:spLocks noChangeShapeType="1"/>
            </p:cNvSpPr>
            <p:nvPr/>
          </p:nvSpPr>
          <p:spPr bwMode="auto">
            <a:xfrm>
              <a:off x="4666" y="884"/>
              <a:ext cx="106" cy="1"/>
            </a:xfrm>
            <a:prstGeom prst="line">
              <a:avLst/>
            </a:pr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Line 102"/>
            <p:cNvSpPr>
              <a:spLocks noChangeShapeType="1"/>
            </p:cNvSpPr>
            <p:nvPr/>
          </p:nvSpPr>
          <p:spPr bwMode="auto">
            <a:xfrm flipV="1">
              <a:off x="4772" y="831"/>
              <a:ext cx="1" cy="106"/>
            </a:xfrm>
            <a:prstGeom prst="line">
              <a:avLst/>
            </a:prstGeom>
            <a:noFill/>
            <a:ln w="23813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103"/>
            <p:cNvSpPr>
              <a:spLocks noEditPoints="1"/>
            </p:cNvSpPr>
            <p:nvPr/>
          </p:nvSpPr>
          <p:spPr bwMode="auto">
            <a:xfrm>
              <a:off x="4055" y="1541"/>
              <a:ext cx="20" cy="183"/>
            </a:xfrm>
            <a:custGeom>
              <a:avLst/>
              <a:gdLst>
                <a:gd name="T0" fmla="*/ 6 w 31"/>
                <a:gd name="T1" fmla="*/ 108 h 275"/>
                <a:gd name="T2" fmla="*/ 0 w 31"/>
                <a:gd name="T3" fmla="*/ 115 h 275"/>
                <a:gd name="T4" fmla="*/ 6 w 31"/>
                <a:gd name="T5" fmla="*/ 122 h 275"/>
                <a:gd name="T6" fmla="*/ 6 w 31"/>
                <a:gd name="T7" fmla="*/ 122 h 275"/>
                <a:gd name="T8" fmla="*/ 13 w 31"/>
                <a:gd name="T9" fmla="*/ 115 h 275"/>
                <a:gd name="T10" fmla="*/ 6 w 31"/>
                <a:gd name="T11" fmla="*/ 108 h 275"/>
                <a:gd name="T12" fmla="*/ 6 w 31"/>
                <a:gd name="T13" fmla="*/ 108 h 275"/>
                <a:gd name="T14" fmla="*/ 6 w 31"/>
                <a:gd name="T15" fmla="*/ 0 h 275"/>
                <a:gd name="T16" fmla="*/ 0 w 31"/>
                <a:gd name="T17" fmla="*/ 7 h 275"/>
                <a:gd name="T18" fmla="*/ 6 w 31"/>
                <a:gd name="T19" fmla="*/ 13 h 275"/>
                <a:gd name="T20" fmla="*/ 6 w 31"/>
                <a:gd name="T21" fmla="*/ 13 h 275"/>
                <a:gd name="T22" fmla="*/ 13 w 31"/>
                <a:gd name="T23" fmla="*/ 7 h 275"/>
                <a:gd name="T24" fmla="*/ 6 w 31"/>
                <a:gd name="T25" fmla="*/ 0 h 275"/>
                <a:gd name="T26" fmla="*/ 6 w 31"/>
                <a:gd name="T27" fmla="*/ 0 h 27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1"/>
                <a:gd name="T43" fmla="*/ 0 h 275"/>
                <a:gd name="T44" fmla="*/ 31 w 31"/>
                <a:gd name="T45" fmla="*/ 275 h 27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1" h="275">
                  <a:moveTo>
                    <a:pt x="16" y="244"/>
                  </a:moveTo>
                  <a:cubicBezTo>
                    <a:pt x="7" y="244"/>
                    <a:pt x="0" y="251"/>
                    <a:pt x="0" y="260"/>
                  </a:cubicBezTo>
                  <a:cubicBezTo>
                    <a:pt x="0" y="268"/>
                    <a:pt x="7" y="275"/>
                    <a:pt x="16" y="275"/>
                  </a:cubicBezTo>
                  <a:cubicBezTo>
                    <a:pt x="16" y="275"/>
                    <a:pt x="16" y="275"/>
                    <a:pt x="16" y="275"/>
                  </a:cubicBezTo>
                  <a:cubicBezTo>
                    <a:pt x="24" y="275"/>
                    <a:pt x="31" y="268"/>
                    <a:pt x="31" y="260"/>
                  </a:cubicBezTo>
                  <a:cubicBezTo>
                    <a:pt x="31" y="251"/>
                    <a:pt x="24" y="244"/>
                    <a:pt x="16" y="244"/>
                  </a:cubicBezTo>
                  <a:cubicBezTo>
                    <a:pt x="16" y="244"/>
                    <a:pt x="16" y="244"/>
                    <a:pt x="16" y="244"/>
                  </a:cubicBezTo>
                  <a:close/>
                  <a:moveTo>
                    <a:pt x="16" y="0"/>
                  </a:moveTo>
                  <a:cubicBezTo>
                    <a:pt x="7" y="0"/>
                    <a:pt x="0" y="6"/>
                    <a:pt x="0" y="15"/>
                  </a:cubicBezTo>
                  <a:cubicBezTo>
                    <a:pt x="0" y="23"/>
                    <a:pt x="7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24" y="30"/>
                    <a:pt x="31" y="23"/>
                    <a:pt x="31" y="15"/>
                  </a:cubicBezTo>
                  <a:cubicBezTo>
                    <a:pt x="31" y="6"/>
                    <a:pt x="24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104"/>
            <p:cNvSpPr>
              <a:spLocks noEditPoints="1"/>
            </p:cNvSpPr>
            <p:nvPr/>
          </p:nvSpPr>
          <p:spPr bwMode="auto">
            <a:xfrm>
              <a:off x="4055" y="1541"/>
              <a:ext cx="62" cy="183"/>
            </a:xfrm>
            <a:custGeom>
              <a:avLst/>
              <a:gdLst>
                <a:gd name="T0" fmla="*/ 7 w 94"/>
                <a:gd name="T1" fmla="*/ 108 h 275"/>
                <a:gd name="T2" fmla="*/ 0 w 94"/>
                <a:gd name="T3" fmla="*/ 115 h 275"/>
                <a:gd name="T4" fmla="*/ 7 w 94"/>
                <a:gd name="T5" fmla="*/ 122 h 275"/>
                <a:gd name="T6" fmla="*/ 7 w 94"/>
                <a:gd name="T7" fmla="*/ 122 h 275"/>
                <a:gd name="T8" fmla="*/ 13 w 94"/>
                <a:gd name="T9" fmla="*/ 115 h 275"/>
                <a:gd name="T10" fmla="*/ 7 w 94"/>
                <a:gd name="T11" fmla="*/ 108 h 275"/>
                <a:gd name="T12" fmla="*/ 7 w 94"/>
                <a:gd name="T13" fmla="*/ 108 h 275"/>
                <a:gd name="T14" fmla="*/ 7 w 94"/>
                <a:gd name="T15" fmla="*/ 0 h 275"/>
                <a:gd name="T16" fmla="*/ 0 w 94"/>
                <a:gd name="T17" fmla="*/ 7 h 275"/>
                <a:gd name="T18" fmla="*/ 7 w 94"/>
                <a:gd name="T19" fmla="*/ 13 h 275"/>
                <a:gd name="T20" fmla="*/ 7 w 94"/>
                <a:gd name="T21" fmla="*/ 13 h 275"/>
                <a:gd name="T22" fmla="*/ 13 w 94"/>
                <a:gd name="T23" fmla="*/ 7 h 275"/>
                <a:gd name="T24" fmla="*/ 7 w 94"/>
                <a:gd name="T25" fmla="*/ 0 h 275"/>
                <a:gd name="T26" fmla="*/ 7 w 94"/>
                <a:gd name="T27" fmla="*/ 0 h 275"/>
                <a:gd name="T28" fmla="*/ 10 w 94"/>
                <a:gd name="T29" fmla="*/ 13 h 275"/>
                <a:gd name="T30" fmla="*/ 41 w 94"/>
                <a:gd name="T31" fmla="*/ 101 h 2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94"/>
                <a:gd name="T49" fmla="*/ 0 h 275"/>
                <a:gd name="T50" fmla="*/ 94 w 94"/>
                <a:gd name="T51" fmla="*/ 275 h 27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94" h="275">
                  <a:moveTo>
                    <a:pt x="16" y="244"/>
                  </a:moveTo>
                  <a:cubicBezTo>
                    <a:pt x="7" y="244"/>
                    <a:pt x="0" y="251"/>
                    <a:pt x="0" y="260"/>
                  </a:cubicBezTo>
                  <a:cubicBezTo>
                    <a:pt x="0" y="268"/>
                    <a:pt x="7" y="275"/>
                    <a:pt x="16" y="275"/>
                  </a:cubicBezTo>
                  <a:cubicBezTo>
                    <a:pt x="16" y="275"/>
                    <a:pt x="16" y="275"/>
                    <a:pt x="16" y="275"/>
                  </a:cubicBezTo>
                  <a:cubicBezTo>
                    <a:pt x="24" y="275"/>
                    <a:pt x="31" y="268"/>
                    <a:pt x="31" y="260"/>
                  </a:cubicBezTo>
                  <a:cubicBezTo>
                    <a:pt x="31" y="251"/>
                    <a:pt x="24" y="244"/>
                    <a:pt x="16" y="244"/>
                  </a:cubicBezTo>
                  <a:cubicBezTo>
                    <a:pt x="16" y="244"/>
                    <a:pt x="16" y="244"/>
                    <a:pt x="16" y="244"/>
                  </a:cubicBezTo>
                  <a:moveTo>
                    <a:pt x="16" y="0"/>
                  </a:moveTo>
                  <a:cubicBezTo>
                    <a:pt x="7" y="0"/>
                    <a:pt x="0" y="6"/>
                    <a:pt x="0" y="15"/>
                  </a:cubicBezTo>
                  <a:cubicBezTo>
                    <a:pt x="0" y="23"/>
                    <a:pt x="7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24" y="30"/>
                    <a:pt x="31" y="23"/>
                    <a:pt x="31" y="15"/>
                  </a:cubicBezTo>
                  <a:cubicBezTo>
                    <a:pt x="31" y="6"/>
                    <a:pt x="24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moveTo>
                    <a:pt x="22" y="29"/>
                  </a:moveTo>
                  <a:lnTo>
                    <a:pt x="94" y="229"/>
                  </a:lnTo>
                </a:path>
              </a:pathLst>
            </a:custGeom>
            <a:noFill/>
            <a:ln w="1428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Rectangle 105"/>
            <p:cNvSpPr>
              <a:spLocks noChangeArrowheads="1"/>
            </p:cNvSpPr>
            <p:nvPr/>
          </p:nvSpPr>
          <p:spPr bwMode="auto">
            <a:xfrm>
              <a:off x="3377" y="935"/>
              <a:ext cx="150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52" name="Rectangle 106"/>
            <p:cNvSpPr>
              <a:spLocks noChangeArrowheads="1"/>
            </p:cNvSpPr>
            <p:nvPr/>
          </p:nvSpPr>
          <p:spPr bwMode="auto">
            <a:xfrm>
              <a:off x="5418" y="799"/>
              <a:ext cx="15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53" name="Rectangle 107"/>
            <p:cNvSpPr>
              <a:spLocks noChangeArrowheads="1"/>
            </p:cNvSpPr>
            <p:nvPr/>
          </p:nvSpPr>
          <p:spPr bwMode="auto">
            <a:xfrm>
              <a:off x="4420" y="572"/>
              <a:ext cx="9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4" name="Rectangle 183"/>
            <p:cNvSpPr>
              <a:spLocks noChangeArrowheads="1"/>
            </p:cNvSpPr>
            <p:nvPr/>
          </p:nvSpPr>
          <p:spPr bwMode="auto">
            <a:xfrm>
              <a:off x="3923" y="890"/>
              <a:ext cx="112" cy="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55" name="Rectangle 184"/>
            <p:cNvSpPr>
              <a:spLocks noChangeArrowheads="1"/>
            </p:cNvSpPr>
            <p:nvPr/>
          </p:nvSpPr>
          <p:spPr bwMode="auto">
            <a:xfrm>
              <a:off x="4377" y="845"/>
              <a:ext cx="112" cy="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</a:p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227330" name="Rectangle 2"/>
          <p:cNvSpPr>
            <a:spLocks noChangeArrowheads="1"/>
          </p:cNvSpPr>
          <p:nvPr/>
        </p:nvSpPr>
        <p:spPr bwMode="auto">
          <a:xfrm>
            <a:off x="323528" y="2780928"/>
            <a:ext cx="399593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工作原理：开关闭合，</a:t>
            </a:r>
            <a:r>
              <a:rPr kumimoji="0" lang="en-US" altLang="zh-CN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Vd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给变压器储能，磁场能量增加，二极管截止，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给负载供能；开关打开，磁场能量经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N2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绕组通过二极管传给电容及负载。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graphicFrame>
        <p:nvGraphicFramePr>
          <p:cNvPr id="227329" name="Object 106"/>
          <p:cNvGraphicFramePr>
            <a:graphicFrameLocks noChangeAspect="1"/>
          </p:cNvGraphicFramePr>
          <p:nvPr/>
        </p:nvGraphicFramePr>
        <p:xfrm>
          <a:off x="2555776" y="5085184"/>
          <a:ext cx="2821019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41" name="公式" r:id="rId3" imgW="1879600" imgH="431800" progId="Equation.3">
                  <p:embed/>
                </p:oleObj>
              </mc:Choice>
              <mc:Fallback>
                <p:oleObj name="公式" r:id="rId3" imgW="1879600" imgH="431800" progId="Equation.3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5085184"/>
                        <a:ext cx="2821019" cy="6480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1" name="Rectangle 3"/>
          <p:cNvSpPr>
            <a:spLocks noChangeArrowheads="1"/>
          </p:cNvSpPr>
          <p:nvPr/>
        </p:nvSpPr>
        <p:spPr bwMode="auto">
          <a:xfrm>
            <a:off x="539552" y="5013176"/>
            <a:ext cx="169168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输入输出电压关系：</a:t>
            </a:r>
            <a:endParaRPr kumimoji="0" 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51520" y="2204864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A50021"/>
                </a:solidFill>
              </a:rPr>
              <a:t>Solution 1:</a:t>
            </a:r>
            <a:r>
              <a:rPr lang="en-US" altLang="zh-CN" dirty="0" smtClean="0">
                <a:solidFill>
                  <a:srgbClr val="A50021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980728"/>
            <a:ext cx="88569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/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000" b="1" i="1" dirty="0" smtClean="0">
                <a:solidFill>
                  <a:srgbClr val="A50021"/>
                </a:solidFill>
              </a:rPr>
              <a:t>Problem 2:</a:t>
            </a: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A forward converter with a demagnetizing winding (N3=N1) operates in a continuous-conduction mode, </a:t>
            </a:r>
            <a:r>
              <a:rPr lang="en-US" altLang="zh-CN" sz="20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Vd</a:t>
            </a: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45~60V, Vo=15V, </a:t>
            </a:r>
            <a:r>
              <a:rPr lang="en-US" altLang="zh-CN" sz="20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fs</a:t>
            </a: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=50kHz, </a:t>
            </a:r>
            <a:r>
              <a:rPr lang="en-US" altLang="zh-CN" sz="20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Pload</a:t>
            </a: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is 15W~60W. Assume all components to be ideal except the transformer magnetization inductance. Please answer the following questions:</a:t>
            </a:r>
          </a:p>
          <a:p>
            <a:pPr marL="457200" indent="-457200" algn="just">
              <a:buNone/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(a) Draw the circuit diagram of this converter.</a:t>
            </a:r>
          </a:p>
          <a:p>
            <a:pPr marL="457200" indent="-457200" algn="just">
              <a:buNone/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(b) Calculate N2/N1 if this turns ratio is desired to be as small as possible.</a:t>
            </a:r>
          </a:p>
          <a:p>
            <a:pPr marL="457200" indent="-457200" algn="just">
              <a:buNone/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(c) Calculate the minimum value of the filter inductance L.</a:t>
            </a:r>
          </a:p>
          <a:p>
            <a:pPr marL="457200" indent="-457200" algn="just">
              <a:buNone/>
            </a:pPr>
            <a:r>
              <a:rPr lang="en-US" altLang="zh-CN" sz="2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(d) Calculate the peak voltage of switch T.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4932040" y="4011611"/>
            <a:ext cx="4054475" cy="2846389"/>
            <a:chOff x="2880" y="1706"/>
            <a:chExt cx="2554" cy="1793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2880" y="2114"/>
              <a:ext cx="150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endParaRPr lang="en-US" altLang="zh-CN" sz="20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5284" y="2024"/>
              <a:ext cx="150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2000" dirty="0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969" y="1752"/>
              <a:ext cx="1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4423" y="1752"/>
              <a:ext cx="7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604" y="1706"/>
              <a:ext cx="10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sz="2000" i="1" baseline="-25000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4377" y="2024"/>
              <a:ext cx="370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+ </a:t>
              </a:r>
              <a:r>
                <a:rPr lang="en-US" altLang="zh-CN" sz="2000" i="1" dirty="0" err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2000" i="1" baseline="-25000" dirty="0" err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 -</a:t>
              </a:r>
              <a:endParaRPr lang="en-US" altLang="zh-CN" sz="2000" dirty="0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4377" y="2205"/>
              <a:ext cx="1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4559" y="1933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3546" y="2151"/>
              <a:ext cx="57" cy="347"/>
            </a:xfrm>
            <a:custGeom>
              <a:avLst/>
              <a:gdLst>
                <a:gd name="T0" fmla="*/ 0 w 57"/>
                <a:gd name="T1" fmla="*/ 1 h 347"/>
                <a:gd name="T2" fmla="*/ 56 w 57"/>
                <a:gd name="T3" fmla="*/ 42 h 347"/>
                <a:gd name="T4" fmla="*/ 5 w 57"/>
                <a:gd name="T5" fmla="*/ 87 h 347"/>
                <a:gd name="T6" fmla="*/ 0 w 57"/>
                <a:gd name="T7" fmla="*/ 87 h 347"/>
                <a:gd name="T8" fmla="*/ 56 w 57"/>
                <a:gd name="T9" fmla="*/ 129 h 347"/>
                <a:gd name="T10" fmla="*/ 5 w 57"/>
                <a:gd name="T11" fmla="*/ 174 h 347"/>
                <a:gd name="T12" fmla="*/ 0 w 57"/>
                <a:gd name="T13" fmla="*/ 174 h 347"/>
                <a:gd name="T14" fmla="*/ 56 w 57"/>
                <a:gd name="T15" fmla="*/ 215 h 347"/>
                <a:gd name="T16" fmla="*/ 5 w 57"/>
                <a:gd name="T17" fmla="*/ 260 h 347"/>
                <a:gd name="T18" fmla="*/ 0 w 57"/>
                <a:gd name="T19" fmla="*/ 260 h 347"/>
                <a:gd name="T20" fmla="*/ 56 w 57"/>
                <a:gd name="T21" fmla="*/ 302 h 347"/>
                <a:gd name="T22" fmla="*/ 5 w 57"/>
                <a:gd name="T23" fmla="*/ 347 h 347"/>
                <a:gd name="T24" fmla="*/ 0 w 57"/>
                <a:gd name="T25" fmla="*/ 347 h 3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"/>
                <a:gd name="T40" fmla="*/ 0 h 347"/>
                <a:gd name="T41" fmla="*/ 57 w 57"/>
                <a:gd name="T42" fmla="*/ 347 h 3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" h="347">
                  <a:moveTo>
                    <a:pt x="0" y="1"/>
                  </a:moveTo>
                  <a:cubicBezTo>
                    <a:pt x="30" y="0"/>
                    <a:pt x="55" y="18"/>
                    <a:pt x="56" y="42"/>
                  </a:cubicBezTo>
                  <a:cubicBezTo>
                    <a:pt x="57" y="66"/>
                    <a:pt x="34" y="86"/>
                    <a:pt x="5" y="87"/>
                  </a:cubicBezTo>
                  <a:cubicBezTo>
                    <a:pt x="3" y="87"/>
                    <a:pt x="1" y="87"/>
                    <a:pt x="0" y="87"/>
                  </a:cubicBezTo>
                  <a:cubicBezTo>
                    <a:pt x="30" y="86"/>
                    <a:pt x="55" y="105"/>
                    <a:pt x="56" y="129"/>
                  </a:cubicBezTo>
                  <a:cubicBezTo>
                    <a:pt x="57" y="153"/>
                    <a:pt x="34" y="173"/>
                    <a:pt x="5" y="174"/>
                  </a:cubicBezTo>
                  <a:cubicBezTo>
                    <a:pt x="3" y="174"/>
                    <a:pt x="1" y="174"/>
                    <a:pt x="0" y="174"/>
                  </a:cubicBezTo>
                  <a:cubicBezTo>
                    <a:pt x="30" y="173"/>
                    <a:pt x="55" y="192"/>
                    <a:pt x="56" y="215"/>
                  </a:cubicBezTo>
                  <a:cubicBezTo>
                    <a:pt x="57" y="239"/>
                    <a:pt x="34" y="259"/>
                    <a:pt x="5" y="260"/>
                  </a:cubicBezTo>
                  <a:cubicBezTo>
                    <a:pt x="3" y="260"/>
                    <a:pt x="1" y="260"/>
                    <a:pt x="0" y="260"/>
                  </a:cubicBezTo>
                  <a:cubicBezTo>
                    <a:pt x="30" y="259"/>
                    <a:pt x="55" y="278"/>
                    <a:pt x="56" y="302"/>
                  </a:cubicBezTo>
                  <a:cubicBezTo>
                    <a:pt x="57" y="326"/>
                    <a:pt x="34" y="346"/>
                    <a:pt x="5" y="347"/>
                  </a:cubicBezTo>
                  <a:cubicBezTo>
                    <a:pt x="3" y="347"/>
                    <a:pt x="1" y="347"/>
                    <a:pt x="0" y="34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3704" y="2151"/>
              <a:ext cx="56" cy="347"/>
            </a:xfrm>
            <a:custGeom>
              <a:avLst/>
              <a:gdLst>
                <a:gd name="T0" fmla="*/ 56 w 56"/>
                <a:gd name="T1" fmla="*/ 1 h 347"/>
                <a:gd name="T2" fmla="*/ 0 w 56"/>
                <a:gd name="T3" fmla="*/ 42 h 347"/>
                <a:gd name="T4" fmla="*/ 52 w 56"/>
                <a:gd name="T5" fmla="*/ 87 h 347"/>
                <a:gd name="T6" fmla="*/ 56 w 56"/>
                <a:gd name="T7" fmla="*/ 87 h 347"/>
                <a:gd name="T8" fmla="*/ 0 w 56"/>
                <a:gd name="T9" fmla="*/ 129 h 347"/>
                <a:gd name="T10" fmla="*/ 52 w 56"/>
                <a:gd name="T11" fmla="*/ 174 h 347"/>
                <a:gd name="T12" fmla="*/ 56 w 56"/>
                <a:gd name="T13" fmla="*/ 174 h 347"/>
                <a:gd name="T14" fmla="*/ 0 w 56"/>
                <a:gd name="T15" fmla="*/ 215 h 347"/>
                <a:gd name="T16" fmla="*/ 52 w 56"/>
                <a:gd name="T17" fmla="*/ 260 h 347"/>
                <a:gd name="T18" fmla="*/ 56 w 56"/>
                <a:gd name="T19" fmla="*/ 260 h 347"/>
                <a:gd name="T20" fmla="*/ 0 w 56"/>
                <a:gd name="T21" fmla="*/ 302 h 347"/>
                <a:gd name="T22" fmla="*/ 52 w 56"/>
                <a:gd name="T23" fmla="*/ 347 h 347"/>
                <a:gd name="T24" fmla="*/ 56 w 56"/>
                <a:gd name="T25" fmla="*/ 347 h 3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6"/>
                <a:gd name="T40" fmla="*/ 0 h 347"/>
                <a:gd name="T41" fmla="*/ 56 w 56"/>
                <a:gd name="T42" fmla="*/ 347 h 3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6" h="347">
                  <a:moveTo>
                    <a:pt x="56" y="1"/>
                  </a:moveTo>
                  <a:cubicBezTo>
                    <a:pt x="27" y="0"/>
                    <a:pt x="2" y="18"/>
                    <a:pt x="0" y="42"/>
                  </a:cubicBezTo>
                  <a:cubicBezTo>
                    <a:pt x="0" y="66"/>
                    <a:pt x="23" y="86"/>
                    <a:pt x="52" y="87"/>
                  </a:cubicBezTo>
                  <a:cubicBezTo>
                    <a:pt x="54" y="87"/>
                    <a:pt x="55" y="87"/>
                    <a:pt x="56" y="87"/>
                  </a:cubicBezTo>
                  <a:cubicBezTo>
                    <a:pt x="27" y="86"/>
                    <a:pt x="2" y="105"/>
                    <a:pt x="0" y="129"/>
                  </a:cubicBezTo>
                  <a:cubicBezTo>
                    <a:pt x="0" y="153"/>
                    <a:pt x="23" y="173"/>
                    <a:pt x="52" y="174"/>
                  </a:cubicBezTo>
                  <a:cubicBezTo>
                    <a:pt x="54" y="174"/>
                    <a:pt x="55" y="174"/>
                    <a:pt x="56" y="174"/>
                  </a:cubicBezTo>
                  <a:cubicBezTo>
                    <a:pt x="27" y="173"/>
                    <a:pt x="2" y="192"/>
                    <a:pt x="0" y="215"/>
                  </a:cubicBezTo>
                  <a:cubicBezTo>
                    <a:pt x="0" y="239"/>
                    <a:pt x="23" y="259"/>
                    <a:pt x="52" y="260"/>
                  </a:cubicBezTo>
                  <a:cubicBezTo>
                    <a:pt x="54" y="260"/>
                    <a:pt x="55" y="260"/>
                    <a:pt x="56" y="260"/>
                  </a:cubicBezTo>
                  <a:cubicBezTo>
                    <a:pt x="27" y="259"/>
                    <a:pt x="2" y="278"/>
                    <a:pt x="0" y="302"/>
                  </a:cubicBezTo>
                  <a:cubicBezTo>
                    <a:pt x="0" y="326"/>
                    <a:pt x="23" y="346"/>
                    <a:pt x="52" y="347"/>
                  </a:cubicBezTo>
                  <a:cubicBezTo>
                    <a:pt x="54" y="347"/>
                    <a:pt x="55" y="347"/>
                    <a:pt x="56" y="34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3637" y="2161"/>
              <a:ext cx="1" cy="32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3660" y="2161"/>
              <a:ext cx="1" cy="32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5170" y="2183"/>
              <a:ext cx="75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5170" y="2183"/>
              <a:ext cx="75" cy="173"/>
            </a:xfrm>
            <a:prstGeom prst="rect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4835" y="2252"/>
              <a:ext cx="149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835" y="2304"/>
              <a:ext cx="149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910" y="2304"/>
              <a:ext cx="1" cy="138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4910" y="2097"/>
              <a:ext cx="1" cy="15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3541" y="2083"/>
              <a:ext cx="1" cy="69"/>
            </a:xfrm>
            <a:custGeom>
              <a:avLst/>
              <a:gdLst>
                <a:gd name="T0" fmla="*/ 0 w 1"/>
                <a:gd name="T1" fmla="*/ 69 h 69"/>
                <a:gd name="T2" fmla="*/ 0 w 1"/>
                <a:gd name="T3" fmla="*/ 0 h 69"/>
                <a:gd name="T4" fmla="*/ 0 w 1"/>
                <a:gd name="T5" fmla="*/ 34 h 69"/>
                <a:gd name="T6" fmla="*/ 0 60000 65536"/>
                <a:gd name="T7" fmla="*/ 0 60000 65536"/>
                <a:gd name="T8" fmla="*/ 0 60000 65536"/>
                <a:gd name="T9" fmla="*/ 0 w 1"/>
                <a:gd name="T10" fmla="*/ 0 h 69"/>
                <a:gd name="T11" fmla="*/ 1 w 1"/>
                <a:gd name="T12" fmla="*/ 69 h 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9">
                  <a:moveTo>
                    <a:pt x="0" y="69"/>
                  </a:moveTo>
                  <a:lnTo>
                    <a:pt x="0" y="0"/>
                  </a:lnTo>
                  <a:lnTo>
                    <a:pt x="0" y="34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V="1">
              <a:off x="4910" y="2062"/>
              <a:ext cx="1" cy="3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4910" y="2442"/>
              <a:ext cx="1" cy="104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5"/>
            <p:cNvSpPr>
              <a:spLocks/>
            </p:cNvSpPr>
            <p:nvPr/>
          </p:nvSpPr>
          <p:spPr bwMode="auto">
            <a:xfrm>
              <a:off x="3281" y="2171"/>
              <a:ext cx="38" cy="34"/>
            </a:xfrm>
            <a:custGeom>
              <a:avLst/>
              <a:gdLst>
                <a:gd name="T0" fmla="*/ 0 w 55"/>
                <a:gd name="T1" fmla="*/ 2 h 53"/>
                <a:gd name="T2" fmla="*/ 3 w 55"/>
                <a:gd name="T3" fmla="*/ 0 h 53"/>
                <a:gd name="T4" fmla="*/ 6 w 55"/>
                <a:gd name="T5" fmla="*/ 2 h 53"/>
                <a:gd name="T6" fmla="*/ 6 w 55"/>
                <a:gd name="T7" fmla="*/ 2 h 53"/>
                <a:gd name="T8" fmla="*/ 3 w 55"/>
                <a:gd name="T9" fmla="*/ 4 h 53"/>
                <a:gd name="T10" fmla="*/ 0 w 55"/>
                <a:gd name="T11" fmla="*/ 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3"/>
                <a:gd name="T20" fmla="*/ 55 w 55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2"/>
                    <a:pt x="42" y="53"/>
                    <a:pt x="27" y="53"/>
                  </a:cubicBezTo>
                  <a:cubicBezTo>
                    <a:pt x="12" y="53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6"/>
            <p:cNvSpPr>
              <a:spLocks/>
            </p:cNvSpPr>
            <p:nvPr/>
          </p:nvSpPr>
          <p:spPr bwMode="auto">
            <a:xfrm>
              <a:off x="3756" y="2167"/>
              <a:ext cx="37" cy="35"/>
            </a:xfrm>
            <a:custGeom>
              <a:avLst/>
              <a:gdLst>
                <a:gd name="T0" fmla="*/ 0 w 54"/>
                <a:gd name="T1" fmla="*/ 2 h 54"/>
                <a:gd name="T2" fmla="*/ 3 w 54"/>
                <a:gd name="T3" fmla="*/ 0 h 54"/>
                <a:gd name="T4" fmla="*/ 5 w 54"/>
                <a:gd name="T5" fmla="*/ 2 h 54"/>
                <a:gd name="T6" fmla="*/ 5 w 54"/>
                <a:gd name="T7" fmla="*/ 2 h 54"/>
                <a:gd name="T8" fmla="*/ 3 w 54"/>
                <a:gd name="T9" fmla="*/ 4 h 54"/>
                <a:gd name="T10" fmla="*/ 0 w 54"/>
                <a:gd name="T11" fmla="*/ 2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4"/>
                <a:gd name="T20" fmla="*/ 54 w 54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4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3184" y="2805"/>
              <a:ext cx="9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20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endParaRPr lang="en-US" altLang="zh-CN" sz="2000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4891" y="2005"/>
              <a:ext cx="37" cy="35"/>
            </a:xfrm>
            <a:custGeom>
              <a:avLst/>
              <a:gdLst>
                <a:gd name="T0" fmla="*/ 0 w 54"/>
                <a:gd name="T1" fmla="*/ 2 h 54"/>
                <a:gd name="T2" fmla="*/ 3 w 54"/>
                <a:gd name="T3" fmla="*/ 0 h 54"/>
                <a:gd name="T4" fmla="*/ 5 w 54"/>
                <a:gd name="T5" fmla="*/ 2 h 54"/>
                <a:gd name="T6" fmla="*/ 5 w 54"/>
                <a:gd name="T7" fmla="*/ 2 h 54"/>
                <a:gd name="T8" fmla="*/ 3 w 54"/>
                <a:gd name="T9" fmla="*/ 4 h 54"/>
                <a:gd name="T10" fmla="*/ 0 w 54"/>
                <a:gd name="T11" fmla="*/ 2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4"/>
                <a:gd name="T20" fmla="*/ 54 w 54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4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ubicBezTo>
                    <a:pt x="12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9"/>
            <p:cNvSpPr>
              <a:spLocks/>
            </p:cNvSpPr>
            <p:nvPr/>
          </p:nvSpPr>
          <p:spPr bwMode="auto">
            <a:xfrm>
              <a:off x="4891" y="2558"/>
              <a:ext cx="37" cy="34"/>
            </a:xfrm>
            <a:custGeom>
              <a:avLst/>
              <a:gdLst>
                <a:gd name="T0" fmla="*/ 0 w 54"/>
                <a:gd name="T1" fmla="*/ 2 h 53"/>
                <a:gd name="T2" fmla="*/ 3 w 54"/>
                <a:gd name="T3" fmla="*/ 0 h 53"/>
                <a:gd name="T4" fmla="*/ 5 w 54"/>
                <a:gd name="T5" fmla="*/ 2 h 53"/>
                <a:gd name="T6" fmla="*/ 5 w 54"/>
                <a:gd name="T7" fmla="*/ 2 h 53"/>
                <a:gd name="T8" fmla="*/ 3 w 54"/>
                <a:gd name="T9" fmla="*/ 4 h 53"/>
                <a:gd name="T10" fmla="*/ 0 w 54"/>
                <a:gd name="T11" fmla="*/ 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V="1">
              <a:off x="3760" y="2022"/>
              <a:ext cx="1" cy="13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4733" y="2020"/>
              <a:ext cx="478" cy="163"/>
            </a:xfrm>
            <a:custGeom>
              <a:avLst/>
              <a:gdLst>
                <a:gd name="T0" fmla="*/ 478 w 478"/>
                <a:gd name="T1" fmla="*/ 163 h 163"/>
                <a:gd name="T2" fmla="*/ 478 w 478"/>
                <a:gd name="T3" fmla="*/ 2 h 163"/>
                <a:gd name="T4" fmla="*/ 0 w 478"/>
                <a:gd name="T5" fmla="*/ 0 h 163"/>
                <a:gd name="T6" fmla="*/ 0 60000 65536"/>
                <a:gd name="T7" fmla="*/ 0 60000 65536"/>
                <a:gd name="T8" fmla="*/ 0 60000 65536"/>
                <a:gd name="T9" fmla="*/ 0 w 478"/>
                <a:gd name="T10" fmla="*/ 0 h 163"/>
                <a:gd name="T11" fmla="*/ 478 w 478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8" h="163">
                  <a:moveTo>
                    <a:pt x="478" y="163"/>
                  </a:moveTo>
                  <a:lnTo>
                    <a:pt x="478" y="2"/>
                  </a:lnTo>
                  <a:lnTo>
                    <a:pt x="0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H="1" flipV="1">
              <a:off x="4908" y="2021"/>
              <a:ext cx="2" cy="4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4910" y="2524"/>
              <a:ext cx="1" cy="52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4359" y="1969"/>
              <a:ext cx="374" cy="53"/>
            </a:xfrm>
            <a:custGeom>
              <a:avLst/>
              <a:gdLst>
                <a:gd name="T0" fmla="*/ 1 w 374"/>
                <a:gd name="T1" fmla="*/ 53 h 53"/>
                <a:gd name="T2" fmla="*/ 46 w 374"/>
                <a:gd name="T3" fmla="*/ 2 h 53"/>
                <a:gd name="T4" fmla="*/ 94 w 374"/>
                <a:gd name="T5" fmla="*/ 49 h 53"/>
                <a:gd name="T6" fmla="*/ 94 w 374"/>
                <a:gd name="T7" fmla="*/ 53 h 53"/>
                <a:gd name="T8" fmla="*/ 139 w 374"/>
                <a:gd name="T9" fmla="*/ 2 h 53"/>
                <a:gd name="T10" fmla="*/ 188 w 374"/>
                <a:gd name="T11" fmla="*/ 49 h 53"/>
                <a:gd name="T12" fmla="*/ 188 w 374"/>
                <a:gd name="T13" fmla="*/ 53 h 53"/>
                <a:gd name="T14" fmla="*/ 232 w 374"/>
                <a:gd name="T15" fmla="*/ 2 h 53"/>
                <a:gd name="T16" fmla="*/ 280 w 374"/>
                <a:gd name="T17" fmla="*/ 49 h 53"/>
                <a:gd name="T18" fmla="*/ 280 w 374"/>
                <a:gd name="T19" fmla="*/ 53 h 53"/>
                <a:gd name="T20" fmla="*/ 325 w 374"/>
                <a:gd name="T21" fmla="*/ 2 h 53"/>
                <a:gd name="T22" fmla="*/ 374 w 374"/>
                <a:gd name="T23" fmla="*/ 49 h 53"/>
                <a:gd name="T24" fmla="*/ 374 w 374"/>
                <a:gd name="T25" fmla="*/ 53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74"/>
                <a:gd name="T40" fmla="*/ 0 h 53"/>
                <a:gd name="T41" fmla="*/ 374 w 374"/>
                <a:gd name="T42" fmla="*/ 53 h 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74" h="53">
                  <a:moveTo>
                    <a:pt x="1" y="53"/>
                  </a:moveTo>
                  <a:cubicBezTo>
                    <a:pt x="0" y="25"/>
                    <a:pt x="20" y="3"/>
                    <a:pt x="46" y="2"/>
                  </a:cubicBezTo>
                  <a:cubicBezTo>
                    <a:pt x="71" y="0"/>
                    <a:pt x="93" y="22"/>
                    <a:pt x="94" y="49"/>
                  </a:cubicBezTo>
                  <a:cubicBezTo>
                    <a:pt x="94" y="51"/>
                    <a:pt x="94" y="52"/>
                    <a:pt x="94" y="53"/>
                  </a:cubicBezTo>
                  <a:cubicBezTo>
                    <a:pt x="93" y="25"/>
                    <a:pt x="113" y="3"/>
                    <a:pt x="139" y="2"/>
                  </a:cubicBezTo>
                  <a:cubicBezTo>
                    <a:pt x="164" y="0"/>
                    <a:pt x="186" y="22"/>
                    <a:pt x="188" y="49"/>
                  </a:cubicBezTo>
                  <a:cubicBezTo>
                    <a:pt x="188" y="51"/>
                    <a:pt x="188" y="52"/>
                    <a:pt x="188" y="53"/>
                  </a:cubicBezTo>
                  <a:cubicBezTo>
                    <a:pt x="186" y="25"/>
                    <a:pt x="206" y="3"/>
                    <a:pt x="232" y="2"/>
                  </a:cubicBezTo>
                  <a:cubicBezTo>
                    <a:pt x="258" y="0"/>
                    <a:pt x="280" y="22"/>
                    <a:pt x="280" y="49"/>
                  </a:cubicBezTo>
                  <a:cubicBezTo>
                    <a:pt x="280" y="51"/>
                    <a:pt x="280" y="52"/>
                    <a:pt x="280" y="53"/>
                  </a:cubicBezTo>
                  <a:cubicBezTo>
                    <a:pt x="280" y="25"/>
                    <a:pt x="299" y="3"/>
                    <a:pt x="325" y="2"/>
                  </a:cubicBezTo>
                  <a:cubicBezTo>
                    <a:pt x="351" y="0"/>
                    <a:pt x="372" y="22"/>
                    <a:pt x="374" y="49"/>
                  </a:cubicBezTo>
                  <a:cubicBezTo>
                    <a:pt x="374" y="51"/>
                    <a:pt x="374" y="52"/>
                    <a:pt x="374" y="5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35"/>
            <p:cNvSpPr>
              <a:spLocks/>
            </p:cNvSpPr>
            <p:nvPr/>
          </p:nvSpPr>
          <p:spPr bwMode="auto">
            <a:xfrm>
              <a:off x="3760" y="2356"/>
              <a:ext cx="1453" cy="220"/>
            </a:xfrm>
            <a:custGeom>
              <a:avLst/>
              <a:gdLst>
                <a:gd name="T0" fmla="*/ 0 w 1453"/>
                <a:gd name="T1" fmla="*/ 142 h 220"/>
                <a:gd name="T2" fmla="*/ 0 w 1453"/>
                <a:gd name="T3" fmla="*/ 220 h 220"/>
                <a:gd name="T4" fmla="*/ 1453 w 1453"/>
                <a:gd name="T5" fmla="*/ 220 h 220"/>
                <a:gd name="T6" fmla="*/ 1453 w 1453"/>
                <a:gd name="T7" fmla="*/ 0 h 22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3"/>
                <a:gd name="T13" fmla="*/ 0 h 220"/>
                <a:gd name="T14" fmla="*/ 1453 w 1453"/>
                <a:gd name="T15" fmla="*/ 220 h 22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3" h="220">
                  <a:moveTo>
                    <a:pt x="0" y="142"/>
                  </a:moveTo>
                  <a:lnTo>
                    <a:pt x="0" y="220"/>
                  </a:lnTo>
                  <a:lnTo>
                    <a:pt x="1453" y="220"/>
                  </a:lnTo>
                  <a:lnTo>
                    <a:pt x="1453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Rectangle 36"/>
            <p:cNvSpPr>
              <a:spLocks noChangeArrowheads="1"/>
            </p:cNvSpPr>
            <p:nvPr/>
          </p:nvSpPr>
          <p:spPr bwMode="auto">
            <a:xfrm>
              <a:off x="3153" y="2251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7" name="Freeform 37"/>
            <p:cNvSpPr>
              <a:spLocks/>
            </p:cNvSpPr>
            <p:nvPr/>
          </p:nvSpPr>
          <p:spPr bwMode="auto">
            <a:xfrm>
              <a:off x="4248" y="2007"/>
              <a:ext cx="36" cy="34"/>
            </a:xfrm>
            <a:custGeom>
              <a:avLst/>
              <a:gdLst>
                <a:gd name="T0" fmla="*/ 0 w 54"/>
                <a:gd name="T1" fmla="*/ 2 h 53"/>
                <a:gd name="T2" fmla="*/ 2 w 54"/>
                <a:gd name="T3" fmla="*/ 0 h 53"/>
                <a:gd name="T4" fmla="*/ 5 w 54"/>
                <a:gd name="T5" fmla="*/ 2 h 53"/>
                <a:gd name="T6" fmla="*/ 5 w 54"/>
                <a:gd name="T7" fmla="*/ 2 h 53"/>
                <a:gd name="T8" fmla="*/ 2 w 54"/>
                <a:gd name="T9" fmla="*/ 4 h 53"/>
                <a:gd name="T10" fmla="*/ 0 w 54"/>
                <a:gd name="T11" fmla="*/ 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8"/>
            <p:cNvSpPr>
              <a:spLocks/>
            </p:cNvSpPr>
            <p:nvPr/>
          </p:nvSpPr>
          <p:spPr bwMode="auto">
            <a:xfrm>
              <a:off x="4248" y="2560"/>
              <a:ext cx="36" cy="34"/>
            </a:xfrm>
            <a:custGeom>
              <a:avLst/>
              <a:gdLst>
                <a:gd name="T0" fmla="*/ 0 w 54"/>
                <a:gd name="T1" fmla="*/ 2 h 53"/>
                <a:gd name="T2" fmla="*/ 2 w 54"/>
                <a:gd name="T3" fmla="*/ 0 h 53"/>
                <a:gd name="T4" fmla="*/ 5 w 54"/>
                <a:gd name="T5" fmla="*/ 2 h 53"/>
                <a:gd name="T6" fmla="*/ 5 w 54"/>
                <a:gd name="T7" fmla="*/ 2 h 53"/>
                <a:gd name="T8" fmla="*/ 2 w 54"/>
                <a:gd name="T9" fmla="*/ 4 h 53"/>
                <a:gd name="T10" fmla="*/ 0 w 54"/>
                <a:gd name="T11" fmla="*/ 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6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9"/>
            <p:cNvSpPr>
              <a:spLocks/>
            </p:cNvSpPr>
            <p:nvPr/>
          </p:nvSpPr>
          <p:spPr bwMode="auto">
            <a:xfrm>
              <a:off x="3315" y="2152"/>
              <a:ext cx="57" cy="347"/>
            </a:xfrm>
            <a:custGeom>
              <a:avLst/>
              <a:gdLst>
                <a:gd name="T0" fmla="*/ 0 w 57"/>
                <a:gd name="T1" fmla="*/ 1 h 347"/>
                <a:gd name="T2" fmla="*/ 56 w 57"/>
                <a:gd name="T3" fmla="*/ 42 h 347"/>
                <a:gd name="T4" fmla="*/ 4 w 57"/>
                <a:gd name="T5" fmla="*/ 88 h 347"/>
                <a:gd name="T6" fmla="*/ 0 w 57"/>
                <a:gd name="T7" fmla="*/ 88 h 347"/>
                <a:gd name="T8" fmla="*/ 56 w 57"/>
                <a:gd name="T9" fmla="*/ 129 h 347"/>
                <a:gd name="T10" fmla="*/ 4 w 57"/>
                <a:gd name="T11" fmla="*/ 174 h 347"/>
                <a:gd name="T12" fmla="*/ 0 w 57"/>
                <a:gd name="T13" fmla="*/ 174 h 347"/>
                <a:gd name="T14" fmla="*/ 56 w 57"/>
                <a:gd name="T15" fmla="*/ 216 h 347"/>
                <a:gd name="T16" fmla="*/ 4 w 57"/>
                <a:gd name="T17" fmla="*/ 261 h 347"/>
                <a:gd name="T18" fmla="*/ 0 w 57"/>
                <a:gd name="T19" fmla="*/ 261 h 347"/>
                <a:gd name="T20" fmla="*/ 56 w 57"/>
                <a:gd name="T21" fmla="*/ 302 h 347"/>
                <a:gd name="T22" fmla="*/ 4 w 57"/>
                <a:gd name="T23" fmla="*/ 347 h 347"/>
                <a:gd name="T24" fmla="*/ 0 w 57"/>
                <a:gd name="T25" fmla="*/ 347 h 34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"/>
                <a:gd name="T40" fmla="*/ 0 h 347"/>
                <a:gd name="T41" fmla="*/ 57 w 57"/>
                <a:gd name="T42" fmla="*/ 347 h 34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" h="347">
                  <a:moveTo>
                    <a:pt x="0" y="1"/>
                  </a:moveTo>
                  <a:cubicBezTo>
                    <a:pt x="30" y="0"/>
                    <a:pt x="54" y="19"/>
                    <a:pt x="56" y="42"/>
                  </a:cubicBezTo>
                  <a:cubicBezTo>
                    <a:pt x="57" y="66"/>
                    <a:pt x="34" y="86"/>
                    <a:pt x="4" y="88"/>
                  </a:cubicBezTo>
                  <a:cubicBezTo>
                    <a:pt x="2" y="88"/>
                    <a:pt x="1" y="88"/>
                    <a:pt x="0" y="88"/>
                  </a:cubicBezTo>
                  <a:cubicBezTo>
                    <a:pt x="30" y="86"/>
                    <a:pt x="54" y="105"/>
                    <a:pt x="56" y="129"/>
                  </a:cubicBezTo>
                  <a:cubicBezTo>
                    <a:pt x="57" y="153"/>
                    <a:pt x="34" y="173"/>
                    <a:pt x="4" y="174"/>
                  </a:cubicBezTo>
                  <a:cubicBezTo>
                    <a:pt x="2" y="174"/>
                    <a:pt x="1" y="174"/>
                    <a:pt x="0" y="174"/>
                  </a:cubicBezTo>
                  <a:cubicBezTo>
                    <a:pt x="30" y="173"/>
                    <a:pt x="54" y="192"/>
                    <a:pt x="56" y="216"/>
                  </a:cubicBezTo>
                  <a:cubicBezTo>
                    <a:pt x="57" y="239"/>
                    <a:pt x="34" y="260"/>
                    <a:pt x="4" y="261"/>
                  </a:cubicBezTo>
                  <a:cubicBezTo>
                    <a:pt x="2" y="261"/>
                    <a:pt x="1" y="261"/>
                    <a:pt x="0" y="261"/>
                  </a:cubicBezTo>
                  <a:cubicBezTo>
                    <a:pt x="30" y="260"/>
                    <a:pt x="54" y="278"/>
                    <a:pt x="56" y="302"/>
                  </a:cubicBezTo>
                  <a:cubicBezTo>
                    <a:pt x="57" y="326"/>
                    <a:pt x="34" y="346"/>
                    <a:pt x="4" y="347"/>
                  </a:cubicBezTo>
                  <a:cubicBezTo>
                    <a:pt x="2" y="347"/>
                    <a:pt x="1" y="347"/>
                    <a:pt x="0" y="347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40"/>
            <p:cNvSpPr>
              <a:spLocks/>
            </p:cNvSpPr>
            <p:nvPr/>
          </p:nvSpPr>
          <p:spPr bwMode="auto">
            <a:xfrm>
              <a:off x="3519" y="2447"/>
              <a:ext cx="38" cy="35"/>
            </a:xfrm>
            <a:custGeom>
              <a:avLst/>
              <a:gdLst>
                <a:gd name="T0" fmla="*/ 0 w 55"/>
                <a:gd name="T1" fmla="*/ 2 h 54"/>
                <a:gd name="T2" fmla="*/ 3 w 55"/>
                <a:gd name="T3" fmla="*/ 0 h 54"/>
                <a:gd name="T4" fmla="*/ 6 w 55"/>
                <a:gd name="T5" fmla="*/ 2 h 54"/>
                <a:gd name="T6" fmla="*/ 6 w 55"/>
                <a:gd name="T7" fmla="*/ 2 h 54"/>
                <a:gd name="T8" fmla="*/ 3 w 55"/>
                <a:gd name="T9" fmla="*/ 4 h 54"/>
                <a:gd name="T10" fmla="*/ 0 w 55"/>
                <a:gd name="T11" fmla="*/ 2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4"/>
                <a:gd name="T20" fmla="*/ 55 w 55"/>
                <a:gd name="T21" fmla="*/ 54 h 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4">
                  <a:moveTo>
                    <a:pt x="0" y="27"/>
                  </a:move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5" y="12"/>
                    <a:pt x="55" y="27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42"/>
                    <a:pt x="43" y="54"/>
                    <a:pt x="28" y="54"/>
                  </a:cubicBezTo>
                  <a:cubicBezTo>
                    <a:pt x="13" y="54"/>
                    <a:pt x="0" y="42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 flipV="1">
              <a:off x="3315" y="2083"/>
              <a:ext cx="1" cy="70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 flipV="1">
              <a:off x="3315" y="2499"/>
              <a:ext cx="1" cy="294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3315" y="2966"/>
              <a:ext cx="1" cy="189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44"/>
            <p:cNvSpPr>
              <a:spLocks/>
            </p:cNvSpPr>
            <p:nvPr/>
          </p:nvSpPr>
          <p:spPr bwMode="auto">
            <a:xfrm>
              <a:off x="3541" y="2498"/>
              <a:ext cx="5" cy="104"/>
            </a:xfrm>
            <a:custGeom>
              <a:avLst/>
              <a:gdLst>
                <a:gd name="T0" fmla="*/ 0 w 5"/>
                <a:gd name="T1" fmla="*/ 104 h 104"/>
                <a:gd name="T2" fmla="*/ 0 w 5"/>
                <a:gd name="T3" fmla="*/ 5 h 104"/>
                <a:gd name="T4" fmla="*/ 5 w 5"/>
                <a:gd name="T5" fmla="*/ 0 h 104"/>
                <a:gd name="T6" fmla="*/ 0 60000 65536"/>
                <a:gd name="T7" fmla="*/ 0 60000 65536"/>
                <a:gd name="T8" fmla="*/ 0 60000 65536"/>
                <a:gd name="T9" fmla="*/ 0 w 5"/>
                <a:gd name="T10" fmla="*/ 0 h 104"/>
                <a:gd name="T11" fmla="*/ 5 w 5"/>
                <a:gd name="T12" fmla="*/ 104 h 1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" h="104">
                  <a:moveTo>
                    <a:pt x="0" y="104"/>
                  </a:move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45"/>
            <p:cNvSpPr>
              <a:spLocks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0 w 150"/>
                <a:gd name="T1" fmla="*/ 0 h 139"/>
                <a:gd name="T2" fmla="*/ 150 w 150"/>
                <a:gd name="T3" fmla="*/ 69 h 139"/>
                <a:gd name="T4" fmla="*/ 0 w 150"/>
                <a:gd name="T5" fmla="*/ 139 h 139"/>
                <a:gd name="T6" fmla="*/ 0 w 150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139"/>
                <a:gd name="T14" fmla="*/ 150 w 150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139">
                  <a:moveTo>
                    <a:pt x="0" y="0"/>
                  </a:moveTo>
                  <a:lnTo>
                    <a:pt x="150" y="69"/>
                  </a:lnTo>
                  <a:lnTo>
                    <a:pt x="0" y="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6"/>
            <p:cNvSpPr>
              <a:spLocks noEditPoints="1"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150 w 150"/>
                <a:gd name="T1" fmla="*/ 139 h 139"/>
                <a:gd name="T2" fmla="*/ 150 w 150"/>
                <a:gd name="T3" fmla="*/ 0 h 139"/>
                <a:gd name="T4" fmla="*/ 0 w 150"/>
                <a:gd name="T5" fmla="*/ 0 h 139"/>
                <a:gd name="T6" fmla="*/ 150 w 150"/>
                <a:gd name="T7" fmla="*/ 69 h 139"/>
                <a:gd name="T8" fmla="*/ 0 w 150"/>
                <a:gd name="T9" fmla="*/ 139 h 139"/>
                <a:gd name="T10" fmla="*/ 0 w 150"/>
                <a:gd name="T11" fmla="*/ 0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0"/>
                <a:gd name="T19" fmla="*/ 0 h 139"/>
                <a:gd name="T20" fmla="*/ 150 w 150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0" h="139">
                  <a:moveTo>
                    <a:pt x="150" y="139"/>
                  </a:moveTo>
                  <a:lnTo>
                    <a:pt x="150" y="0"/>
                  </a:lnTo>
                  <a:moveTo>
                    <a:pt x="0" y="0"/>
                  </a:moveTo>
                  <a:lnTo>
                    <a:pt x="150" y="69"/>
                  </a:lnTo>
                  <a:lnTo>
                    <a:pt x="0" y="139"/>
                  </a:lnTo>
                  <a:lnTo>
                    <a:pt x="0" y="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>
              <a:off x="3760" y="2022"/>
              <a:ext cx="596" cy="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8"/>
            <p:cNvSpPr>
              <a:spLocks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150 w 150"/>
                <a:gd name="T1" fmla="*/ 69 h 139"/>
                <a:gd name="T2" fmla="*/ 0 w 150"/>
                <a:gd name="T3" fmla="*/ 0 h 139"/>
                <a:gd name="T4" fmla="*/ 0 w 150"/>
                <a:gd name="T5" fmla="*/ 139 h 139"/>
                <a:gd name="T6" fmla="*/ 150 w 150"/>
                <a:gd name="T7" fmla="*/ 6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139"/>
                <a:gd name="T14" fmla="*/ 150 w 150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139">
                  <a:moveTo>
                    <a:pt x="150" y="69"/>
                  </a:moveTo>
                  <a:lnTo>
                    <a:pt x="0" y="0"/>
                  </a:lnTo>
                  <a:lnTo>
                    <a:pt x="0" y="139"/>
                  </a:lnTo>
                  <a:lnTo>
                    <a:pt x="150" y="6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9"/>
            <p:cNvSpPr>
              <a:spLocks/>
            </p:cNvSpPr>
            <p:nvPr/>
          </p:nvSpPr>
          <p:spPr bwMode="auto">
            <a:xfrm>
              <a:off x="3983" y="1953"/>
              <a:ext cx="150" cy="139"/>
            </a:xfrm>
            <a:custGeom>
              <a:avLst/>
              <a:gdLst>
                <a:gd name="T0" fmla="*/ 150 w 150"/>
                <a:gd name="T1" fmla="*/ 69 h 139"/>
                <a:gd name="T2" fmla="*/ 0 w 150"/>
                <a:gd name="T3" fmla="*/ 0 h 139"/>
                <a:gd name="T4" fmla="*/ 0 w 150"/>
                <a:gd name="T5" fmla="*/ 139 h 139"/>
                <a:gd name="T6" fmla="*/ 150 w 150"/>
                <a:gd name="T7" fmla="*/ 6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0"/>
                <a:gd name="T13" fmla="*/ 0 h 139"/>
                <a:gd name="T14" fmla="*/ 150 w 150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0" h="139">
                  <a:moveTo>
                    <a:pt x="150" y="69"/>
                  </a:moveTo>
                  <a:lnTo>
                    <a:pt x="0" y="0"/>
                  </a:lnTo>
                  <a:lnTo>
                    <a:pt x="0" y="139"/>
                  </a:lnTo>
                  <a:lnTo>
                    <a:pt x="150" y="69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Line 50"/>
            <p:cNvSpPr>
              <a:spLocks noChangeShapeType="1"/>
            </p:cNvSpPr>
            <p:nvPr/>
          </p:nvSpPr>
          <p:spPr bwMode="auto">
            <a:xfrm>
              <a:off x="3983" y="2022"/>
              <a:ext cx="150" cy="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 flipV="1">
              <a:off x="4133" y="1953"/>
              <a:ext cx="1" cy="139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52"/>
            <p:cNvSpPr>
              <a:spLocks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0 w 148"/>
                <a:gd name="T1" fmla="*/ 139 h 139"/>
                <a:gd name="T2" fmla="*/ 74 w 148"/>
                <a:gd name="T3" fmla="*/ 0 h 139"/>
                <a:gd name="T4" fmla="*/ 148 w 148"/>
                <a:gd name="T5" fmla="*/ 139 h 139"/>
                <a:gd name="T6" fmla="*/ 0 w 148"/>
                <a:gd name="T7" fmla="*/ 13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39"/>
                <a:gd name="T14" fmla="*/ 148 w 148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39">
                  <a:moveTo>
                    <a:pt x="0" y="139"/>
                  </a:moveTo>
                  <a:lnTo>
                    <a:pt x="74" y="0"/>
                  </a:lnTo>
                  <a:lnTo>
                    <a:pt x="148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53"/>
            <p:cNvSpPr>
              <a:spLocks noEditPoints="1"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148 w 148"/>
                <a:gd name="T1" fmla="*/ 0 h 139"/>
                <a:gd name="T2" fmla="*/ 0 w 148"/>
                <a:gd name="T3" fmla="*/ 0 h 139"/>
                <a:gd name="T4" fmla="*/ 0 w 148"/>
                <a:gd name="T5" fmla="*/ 139 h 139"/>
                <a:gd name="T6" fmla="*/ 74 w 148"/>
                <a:gd name="T7" fmla="*/ 0 h 139"/>
                <a:gd name="T8" fmla="*/ 148 w 148"/>
                <a:gd name="T9" fmla="*/ 139 h 139"/>
                <a:gd name="T10" fmla="*/ 0 w 148"/>
                <a:gd name="T11" fmla="*/ 139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8"/>
                <a:gd name="T19" fmla="*/ 0 h 139"/>
                <a:gd name="T20" fmla="*/ 148 w 148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8" h="139">
                  <a:moveTo>
                    <a:pt x="148" y="0"/>
                  </a:moveTo>
                  <a:lnTo>
                    <a:pt x="0" y="0"/>
                  </a:lnTo>
                  <a:moveTo>
                    <a:pt x="0" y="139"/>
                  </a:moveTo>
                  <a:lnTo>
                    <a:pt x="74" y="0"/>
                  </a:lnTo>
                  <a:lnTo>
                    <a:pt x="148" y="139"/>
                  </a:lnTo>
                  <a:lnTo>
                    <a:pt x="0" y="139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Line 54"/>
            <p:cNvSpPr>
              <a:spLocks noChangeShapeType="1"/>
            </p:cNvSpPr>
            <p:nvPr/>
          </p:nvSpPr>
          <p:spPr bwMode="auto">
            <a:xfrm flipV="1">
              <a:off x="4266" y="2024"/>
              <a:ext cx="1" cy="55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55"/>
            <p:cNvSpPr>
              <a:spLocks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74 w 148"/>
                <a:gd name="T1" fmla="*/ 0 h 139"/>
                <a:gd name="T2" fmla="*/ 0 w 148"/>
                <a:gd name="T3" fmla="*/ 139 h 139"/>
                <a:gd name="T4" fmla="*/ 148 w 148"/>
                <a:gd name="T5" fmla="*/ 139 h 139"/>
                <a:gd name="T6" fmla="*/ 74 w 148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39"/>
                <a:gd name="T14" fmla="*/ 148 w 148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39">
                  <a:moveTo>
                    <a:pt x="74" y="0"/>
                  </a:moveTo>
                  <a:lnTo>
                    <a:pt x="0" y="139"/>
                  </a:lnTo>
                  <a:lnTo>
                    <a:pt x="148" y="139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6"/>
            <p:cNvSpPr>
              <a:spLocks/>
            </p:cNvSpPr>
            <p:nvPr/>
          </p:nvSpPr>
          <p:spPr bwMode="auto">
            <a:xfrm>
              <a:off x="4192" y="2231"/>
              <a:ext cx="148" cy="139"/>
            </a:xfrm>
            <a:custGeom>
              <a:avLst/>
              <a:gdLst>
                <a:gd name="T0" fmla="*/ 74 w 148"/>
                <a:gd name="T1" fmla="*/ 0 h 139"/>
                <a:gd name="T2" fmla="*/ 0 w 148"/>
                <a:gd name="T3" fmla="*/ 139 h 139"/>
                <a:gd name="T4" fmla="*/ 148 w 148"/>
                <a:gd name="T5" fmla="*/ 139 h 139"/>
                <a:gd name="T6" fmla="*/ 74 w 148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8"/>
                <a:gd name="T13" fmla="*/ 0 h 139"/>
                <a:gd name="T14" fmla="*/ 148 w 148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8" h="139">
                  <a:moveTo>
                    <a:pt x="74" y="0"/>
                  </a:moveTo>
                  <a:lnTo>
                    <a:pt x="0" y="139"/>
                  </a:lnTo>
                  <a:lnTo>
                    <a:pt x="148" y="139"/>
                  </a:lnTo>
                  <a:lnTo>
                    <a:pt x="74" y="0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Line 57"/>
            <p:cNvSpPr>
              <a:spLocks noChangeShapeType="1"/>
            </p:cNvSpPr>
            <p:nvPr/>
          </p:nvSpPr>
          <p:spPr bwMode="auto">
            <a:xfrm flipV="1">
              <a:off x="4266" y="2231"/>
              <a:ext cx="1" cy="139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Line 58"/>
            <p:cNvSpPr>
              <a:spLocks noChangeShapeType="1"/>
            </p:cNvSpPr>
            <p:nvPr/>
          </p:nvSpPr>
          <p:spPr bwMode="auto">
            <a:xfrm flipH="1">
              <a:off x="4192" y="2231"/>
              <a:ext cx="148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9"/>
            <p:cNvSpPr>
              <a:spLocks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0 w 149"/>
                <a:gd name="T1" fmla="*/ 139 h 139"/>
                <a:gd name="T2" fmla="*/ 74 w 149"/>
                <a:gd name="T3" fmla="*/ 0 h 139"/>
                <a:gd name="T4" fmla="*/ 149 w 149"/>
                <a:gd name="T5" fmla="*/ 139 h 139"/>
                <a:gd name="T6" fmla="*/ 0 w 149"/>
                <a:gd name="T7" fmla="*/ 139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"/>
                <a:gd name="T13" fmla="*/ 0 h 139"/>
                <a:gd name="T14" fmla="*/ 149 w 14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" h="139">
                  <a:moveTo>
                    <a:pt x="0" y="139"/>
                  </a:moveTo>
                  <a:lnTo>
                    <a:pt x="74" y="0"/>
                  </a:lnTo>
                  <a:lnTo>
                    <a:pt x="149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60"/>
            <p:cNvSpPr>
              <a:spLocks noEditPoints="1"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149 w 149"/>
                <a:gd name="T1" fmla="*/ 0 h 139"/>
                <a:gd name="T2" fmla="*/ 0 w 149"/>
                <a:gd name="T3" fmla="*/ 0 h 139"/>
                <a:gd name="T4" fmla="*/ 0 w 149"/>
                <a:gd name="T5" fmla="*/ 139 h 139"/>
                <a:gd name="T6" fmla="*/ 74 w 149"/>
                <a:gd name="T7" fmla="*/ 0 h 139"/>
                <a:gd name="T8" fmla="*/ 149 w 149"/>
                <a:gd name="T9" fmla="*/ 139 h 139"/>
                <a:gd name="T10" fmla="*/ 0 w 149"/>
                <a:gd name="T11" fmla="*/ 139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9"/>
                <a:gd name="T19" fmla="*/ 0 h 139"/>
                <a:gd name="T20" fmla="*/ 149 w 14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9" h="139">
                  <a:moveTo>
                    <a:pt x="149" y="0"/>
                  </a:moveTo>
                  <a:lnTo>
                    <a:pt x="0" y="0"/>
                  </a:lnTo>
                  <a:moveTo>
                    <a:pt x="0" y="139"/>
                  </a:moveTo>
                  <a:lnTo>
                    <a:pt x="74" y="0"/>
                  </a:lnTo>
                  <a:lnTo>
                    <a:pt x="149" y="139"/>
                  </a:lnTo>
                  <a:lnTo>
                    <a:pt x="0" y="139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Line 61"/>
            <p:cNvSpPr>
              <a:spLocks noChangeShapeType="1"/>
            </p:cNvSpPr>
            <p:nvPr/>
          </p:nvSpPr>
          <p:spPr bwMode="auto">
            <a:xfrm flipV="1">
              <a:off x="3542" y="2602"/>
              <a:ext cx="1" cy="553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62"/>
            <p:cNvSpPr>
              <a:spLocks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74 w 149"/>
                <a:gd name="T1" fmla="*/ 0 h 139"/>
                <a:gd name="T2" fmla="*/ 0 w 149"/>
                <a:gd name="T3" fmla="*/ 139 h 139"/>
                <a:gd name="T4" fmla="*/ 149 w 149"/>
                <a:gd name="T5" fmla="*/ 139 h 139"/>
                <a:gd name="T6" fmla="*/ 74 w 149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"/>
                <a:gd name="T13" fmla="*/ 0 h 139"/>
                <a:gd name="T14" fmla="*/ 149 w 14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" h="139">
                  <a:moveTo>
                    <a:pt x="74" y="0"/>
                  </a:moveTo>
                  <a:lnTo>
                    <a:pt x="0" y="139"/>
                  </a:lnTo>
                  <a:lnTo>
                    <a:pt x="149" y="139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63"/>
            <p:cNvSpPr>
              <a:spLocks/>
            </p:cNvSpPr>
            <p:nvPr/>
          </p:nvSpPr>
          <p:spPr bwMode="auto">
            <a:xfrm>
              <a:off x="3468" y="2809"/>
              <a:ext cx="149" cy="139"/>
            </a:xfrm>
            <a:custGeom>
              <a:avLst/>
              <a:gdLst>
                <a:gd name="T0" fmla="*/ 74 w 149"/>
                <a:gd name="T1" fmla="*/ 0 h 139"/>
                <a:gd name="T2" fmla="*/ 0 w 149"/>
                <a:gd name="T3" fmla="*/ 139 h 139"/>
                <a:gd name="T4" fmla="*/ 149 w 149"/>
                <a:gd name="T5" fmla="*/ 139 h 139"/>
                <a:gd name="T6" fmla="*/ 74 w 149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9"/>
                <a:gd name="T13" fmla="*/ 0 h 139"/>
                <a:gd name="T14" fmla="*/ 149 w 14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9" h="139">
                  <a:moveTo>
                    <a:pt x="74" y="0"/>
                  </a:moveTo>
                  <a:lnTo>
                    <a:pt x="0" y="139"/>
                  </a:lnTo>
                  <a:lnTo>
                    <a:pt x="149" y="139"/>
                  </a:lnTo>
                  <a:lnTo>
                    <a:pt x="74" y="0"/>
                  </a:lnTo>
                  <a:close/>
                </a:path>
              </a:pathLst>
            </a:cu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Line 64"/>
            <p:cNvSpPr>
              <a:spLocks noChangeShapeType="1"/>
            </p:cNvSpPr>
            <p:nvPr/>
          </p:nvSpPr>
          <p:spPr bwMode="auto">
            <a:xfrm flipV="1">
              <a:off x="3542" y="2809"/>
              <a:ext cx="1" cy="139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Line 65"/>
            <p:cNvSpPr>
              <a:spLocks noChangeShapeType="1"/>
            </p:cNvSpPr>
            <p:nvPr/>
          </p:nvSpPr>
          <p:spPr bwMode="auto">
            <a:xfrm flipH="1">
              <a:off x="3468" y="2809"/>
              <a:ext cx="149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66"/>
            <p:cNvSpPr>
              <a:spLocks/>
            </p:cNvSpPr>
            <p:nvPr/>
          </p:nvSpPr>
          <p:spPr bwMode="auto">
            <a:xfrm>
              <a:off x="3296" y="2066"/>
              <a:ext cx="37" cy="34"/>
            </a:xfrm>
            <a:custGeom>
              <a:avLst/>
              <a:gdLst>
                <a:gd name="T0" fmla="*/ 0 w 54"/>
                <a:gd name="T1" fmla="*/ 2 h 53"/>
                <a:gd name="T2" fmla="*/ 3 w 54"/>
                <a:gd name="T3" fmla="*/ 0 h 53"/>
                <a:gd name="T4" fmla="*/ 5 w 54"/>
                <a:gd name="T5" fmla="*/ 2 h 53"/>
                <a:gd name="T6" fmla="*/ 5 w 54"/>
                <a:gd name="T7" fmla="*/ 2 h 53"/>
                <a:gd name="T8" fmla="*/ 3 w 54"/>
                <a:gd name="T9" fmla="*/ 4 h 53"/>
                <a:gd name="T10" fmla="*/ 0 w 54"/>
                <a:gd name="T11" fmla="*/ 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6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6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7"/>
            <p:cNvSpPr>
              <a:spLocks/>
            </p:cNvSpPr>
            <p:nvPr/>
          </p:nvSpPr>
          <p:spPr bwMode="auto">
            <a:xfrm>
              <a:off x="3296" y="3137"/>
              <a:ext cx="37" cy="35"/>
            </a:xfrm>
            <a:custGeom>
              <a:avLst/>
              <a:gdLst>
                <a:gd name="T0" fmla="*/ 0 w 54"/>
                <a:gd name="T1" fmla="*/ 2 h 53"/>
                <a:gd name="T2" fmla="*/ 3 w 54"/>
                <a:gd name="T3" fmla="*/ 0 h 53"/>
                <a:gd name="T4" fmla="*/ 5 w 54"/>
                <a:gd name="T5" fmla="*/ 2 h 53"/>
                <a:gd name="T6" fmla="*/ 5 w 54"/>
                <a:gd name="T7" fmla="*/ 2 h 53"/>
                <a:gd name="T8" fmla="*/ 3 w 54"/>
                <a:gd name="T9" fmla="*/ 5 h 53"/>
                <a:gd name="T10" fmla="*/ 0 w 54"/>
                <a:gd name="T11" fmla="*/ 2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53"/>
                <a:gd name="T20" fmla="*/ 54 w 54"/>
                <a:gd name="T21" fmla="*/ 53 h 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53">
                  <a:moveTo>
                    <a:pt x="0" y="27"/>
                  </a:move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41"/>
                    <a:pt x="42" y="53"/>
                    <a:pt x="27" y="53"/>
                  </a:cubicBezTo>
                  <a:cubicBezTo>
                    <a:pt x="12" y="53"/>
                    <a:pt x="0" y="41"/>
                    <a:pt x="0" y="27"/>
                  </a:cubicBezTo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8"/>
            <p:cNvSpPr>
              <a:spLocks noEditPoints="1"/>
            </p:cNvSpPr>
            <p:nvPr/>
          </p:nvSpPr>
          <p:spPr bwMode="auto">
            <a:xfrm>
              <a:off x="3302" y="2783"/>
              <a:ext cx="24" cy="194"/>
            </a:xfrm>
            <a:custGeom>
              <a:avLst/>
              <a:gdLst>
                <a:gd name="T0" fmla="*/ 2 w 34"/>
                <a:gd name="T1" fmla="*/ 19 h 300"/>
                <a:gd name="T2" fmla="*/ 0 w 34"/>
                <a:gd name="T3" fmla="*/ 21 h 300"/>
                <a:gd name="T4" fmla="*/ 2 w 34"/>
                <a:gd name="T5" fmla="*/ 22 h 300"/>
                <a:gd name="T6" fmla="*/ 2 w 34"/>
                <a:gd name="T7" fmla="*/ 22 h 300"/>
                <a:gd name="T8" fmla="*/ 4 w 34"/>
                <a:gd name="T9" fmla="*/ 21 h 300"/>
                <a:gd name="T10" fmla="*/ 2 w 34"/>
                <a:gd name="T11" fmla="*/ 19 h 300"/>
                <a:gd name="T12" fmla="*/ 2 w 34"/>
                <a:gd name="T13" fmla="*/ 19 h 300"/>
                <a:gd name="T14" fmla="*/ 2 w 34"/>
                <a:gd name="T15" fmla="*/ 0 h 300"/>
                <a:gd name="T16" fmla="*/ 0 w 34"/>
                <a:gd name="T17" fmla="*/ 1 h 300"/>
                <a:gd name="T18" fmla="*/ 2 w 34"/>
                <a:gd name="T19" fmla="*/ 3 h 300"/>
                <a:gd name="T20" fmla="*/ 2 w 34"/>
                <a:gd name="T21" fmla="*/ 3 h 300"/>
                <a:gd name="T22" fmla="*/ 4 w 34"/>
                <a:gd name="T23" fmla="*/ 1 h 300"/>
                <a:gd name="T24" fmla="*/ 2 w 34"/>
                <a:gd name="T25" fmla="*/ 0 h 300"/>
                <a:gd name="T26" fmla="*/ 2 w 34"/>
                <a:gd name="T27" fmla="*/ 0 h 30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"/>
                <a:gd name="T43" fmla="*/ 0 h 300"/>
                <a:gd name="T44" fmla="*/ 34 w 34"/>
                <a:gd name="T45" fmla="*/ 300 h 30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" h="300">
                  <a:moveTo>
                    <a:pt x="17" y="267"/>
                  </a:moveTo>
                  <a:cubicBezTo>
                    <a:pt x="8" y="267"/>
                    <a:pt x="0" y="274"/>
                    <a:pt x="0" y="283"/>
                  </a:cubicBezTo>
                  <a:cubicBezTo>
                    <a:pt x="0" y="292"/>
                    <a:pt x="8" y="300"/>
                    <a:pt x="17" y="300"/>
                  </a:cubicBezTo>
                  <a:cubicBezTo>
                    <a:pt x="17" y="300"/>
                    <a:pt x="17" y="300"/>
                    <a:pt x="17" y="300"/>
                  </a:cubicBezTo>
                  <a:cubicBezTo>
                    <a:pt x="27" y="300"/>
                    <a:pt x="34" y="292"/>
                    <a:pt x="34" y="283"/>
                  </a:cubicBezTo>
                  <a:cubicBezTo>
                    <a:pt x="34" y="274"/>
                    <a:pt x="27" y="267"/>
                    <a:pt x="17" y="267"/>
                  </a:cubicBezTo>
                  <a:cubicBezTo>
                    <a:pt x="17" y="267"/>
                    <a:pt x="17" y="267"/>
                    <a:pt x="17" y="267"/>
                  </a:cubicBezTo>
                  <a:close/>
                  <a:moveTo>
                    <a:pt x="17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25"/>
                    <a:pt x="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27" y="33"/>
                    <a:pt x="34" y="25"/>
                    <a:pt x="34" y="16"/>
                  </a:cubicBezTo>
                  <a:cubicBezTo>
                    <a:pt x="34" y="7"/>
                    <a:pt x="2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9"/>
            <p:cNvSpPr>
              <a:spLocks noEditPoints="1"/>
            </p:cNvSpPr>
            <p:nvPr/>
          </p:nvSpPr>
          <p:spPr bwMode="auto">
            <a:xfrm>
              <a:off x="3302" y="2783"/>
              <a:ext cx="71" cy="194"/>
            </a:xfrm>
            <a:custGeom>
              <a:avLst/>
              <a:gdLst>
                <a:gd name="T0" fmla="*/ 2 w 103"/>
                <a:gd name="T1" fmla="*/ 19 h 300"/>
                <a:gd name="T2" fmla="*/ 0 w 103"/>
                <a:gd name="T3" fmla="*/ 21 h 300"/>
                <a:gd name="T4" fmla="*/ 2 w 103"/>
                <a:gd name="T5" fmla="*/ 22 h 300"/>
                <a:gd name="T6" fmla="*/ 2 w 103"/>
                <a:gd name="T7" fmla="*/ 22 h 300"/>
                <a:gd name="T8" fmla="*/ 4 w 103"/>
                <a:gd name="T9" fmla="*/ 21 h 300"/>
                <a:gd name="T10" fmla="*/ 2 w 103"/>
                <a:gd name="T11" fmla="*/ 19 h 300"/>
                <a:gd name="T12" fmla="*/ 2 w 103"/>
                <a:gd name="T13" fmla="*/ 19 h 300"/>
                <a:gd name="T14" fmla="*/ 2 w 103"/>
                <a:gd name="T15" fmla="*/ 0 h 300"/>
                <a:gd name="T16" fmla="*/ 0 w 103"/>
                <a:gd name="T17" fmla="*/ 1 h 300"/>
                <a:gd name="T18" fmla="*/ 2 w 103"/>
                <a:gd name="T19" fmla="*/ 3 h 300"/>
                <a:gd name="T20" fmla="*/ 2 w 103"/>
                <a:gd name="T21" fmla="*/ 3 h 300"/>
                <a:gd name="T22" fmla="*/ 4 w 103"/>
                <a:gd name="T23" fmla="*/ 1 h 300"/>
                <a:gd name="T24" fmla="*/ 2 w 103"/>
                <a:gd name="T25" fmla="*/ 0 h 300"/>
                <a:gd name="T26" fmla="*/ 2 w 103"/>
                <a:gd name="T27" fmla="*/ 0 h 300"/>
                <a:gd name="T28" fmla="*/ 3 w 103"/>
                <a:gd name="T29" fmla="*/ 3 h 300"/>
                <a:gd name="T30" fmla="*/ 11 w 103"/>
                <a:gd name="T31" fmla="*/ 18 h 30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3"/>
                <a:gd name="T49" fmla="*/ 0 h 300"/>
                <a:gd name="T50" fmla="*/ 103 w 103"/>
                <a:gd name="T51" fmla="*/ 300 h 30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3" h="300">
                  <a:moveTo>
                    <a:pt x="17" y="267"/>
                  </a:moveTo>
                  <a:cubicBezTo>
                    <a:pt x="8" y="267"/>
                    <a:pt x="0" y="274"/>
                    <a:pt x="0" y="283"/>
                  </a:cubicBezTo>
                  <a:cubicBezTo>
                    <a:pt x="0" y="292"/>
                    <a:pt x="8" y="300"/>
                    <a:pt x="17" y="300"/>
                  </a:cubicBezTo>
                  <a:cubicBezTo>
                    <a:pt x="17" y="300"/>
                    <a:pt x="17" y="300"/>
                    <a:pt x="17" y="300"/>
                  </a:cubicBezTo>
                  <a:cubicBezTo>
                    <a:pt x="27" y="300"/>
                    <a:pt x="34" y="292"/>
                    <a:pt x="34" y="283"/>
                  </a:cubicBezTo>
                  <a:cubicBezTo>
                    <a:pt x="34" y="274"/>
                    <a:pt x="27" y="267"/>
                    <a:pt x="17" y="267"/>
                  </a:cubicBezTo>
                  <a:cubicBezTo>
                    <a:pt x="17" y="267"/>
                    <a:pt x="17" y="267"/>
                    <a:pt x="17" y="267"/>
                  </a:cubicBezTo>
                  <a:moveTo>
                    <a:pt x="17" y="0"/>
                  </a:moveTo>
                  <a:cubicBezTo>
                    <a:pt x="8" y="0"/>
                    <a:pt x="0" y="7"/>
                    <a:pt x="0" y="16"/>
                  </a:cubicBezTo>
                  <a:cubicBezTo>
                    <a:pt x="0" y="25"/>
                    <a:pt x="8" y="33"/>
                    <a:pt x="17" y="33"/>
                  </a:cubicBezTo>
                  <a:cubicBezTo>
                    <a:pt x="17" y="33"/>
                    <a:pt x="17" y="33"/>
                    <a:pt x="17" y="33"/>
                  </a:cubicBezTo>
                  <a:cubicBezTo>
                    <a:pt x="27" y="33"/>
                    <a:pt x="34" y="25"/>
                    <a:pt x="34" y="16"/>
                  </a:cubicBezTo>
                  <a:cubicBezTo>
                    <a:pt x="34" y="7"/>
                    <a:pt x="27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moveTo>
                    <a:pt x="24" y="32"/>
                  </a:moveTo>
                  <a:lnTo>
                    <a:pt x="103" y="250"/>
                  </a:lnTo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70"/>
            <p:cNvSpPr>
              <a:spLocks/>
            </p:cNvSpPr>
            <p:nvPr/>
          </p:nvSpPr>
          <p:spPr bwMode="auto">
            <a:xfrm>
              <a:off x="3298" y="2648"/>
              <a:ext cx="32" cy="58"/>
            </a:xfrm>
            <a:custGeom>
              <a:avLst/>
              <a:gdLst>
                <a:gd name="T0" fmla="*/ 17 w 32"/>
                <a:gd name="T1" fmla="*/ 58 h 58"/>
                <a:gd name="T2" fmla="*/ 32 w 32"/>
                <a:gd name="T3" fmla="*/ 0 h 58"/>
                <a:gd name="T4" fmla="*/ 0 w 32"/>
                <a:gd name="T5" fmla="*/ 0 h 58"/>
                <a:gd name="T6" fmla="*/ 17 w 32"/>
                <a:gd name="T7" fmla="*/ 58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8"/>
                <a:gd name="T14" fmla="*/ 32 w 3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8">
                  <a:moveTo>
                    <a:pt x="17" y="58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17" y="58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71"/>
            <p:cNvSpPr>
              <a:spLocks/>
            </p:cNvSpPr>
            <p:nvPr/>
          </p:nvSpPr>
          <p:spPr bwMode="auto">
            <a:xfrm>
              <a:off x="3298" y="2648"/>
              <a:ext cx="32" cy="58"/>
            </a:xfrm>
            <a:custGeom>
              <a:avLst/>
              <a:gdLst>
                <a:gd name="T0" fmla="*/ 17 w 32"/>
                <a:gd name="T1" fmla="*/ 58 h 58"/>
                <a:gd name="T2" fmla="*/ 32 w 32"/>
                <a:gd name="T3" fmla="*/ 0 h 58"/>
                <a:gd name="T4" fmla="*/ 0 w 32"/>
                <a:gd name="T5" fmla="*/ 0 h 58"/>
                <a:gd name="T6" fmla="*/ 17 w 32"/>
                <a:gd name="T7" fmla="*/ 58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8"/>
                <a:gd name="T14" fmla="*/ 32 w 3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8">
                  <a:moveTo>
                    <a:pt x="17" y="58"/>
                  </a:moveTo>
                  <a:lnTo>
                    <a:pt x="32" y="0"/>
                  </a:lnTo>
                  <a:lnTo>
                    <a:pt x="0" y="0"/>
                  </a:lnTo>
                  <a:lnTo>
                    <a:pt x="17" y="58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Line 72"/>
            <p:cNvSpPr>
              <a:spLocks noChangeShapeType="1"/>
            </p:cNvSpPr>
            <p:nvPr/>
          </p:nvSpPr>
          <p:spPr bwMode="auto">
            <a:xfrm flipV="1">
              <a:off x="3315" y="2573"/>
              <a:ext cx="1" cy="75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73"/>
            <p:cNvSpPr>
              <a:spLocks/>
            </p:cNvSpPr>
            <p:nvPr/>
          </p:nvSpPr>
          <p:spPr bwMode="auto">
            <a:xfrm>
              <a:off x="3526" y="2620"/>
              <a:ext cx="32" cy="59"/>
            </a:xfrm>
            <a:custGeom>
              <a:avLst/>
              <a:gdLst>
                <a:gd name="T0" fmla="*/ 16 w 32"/>
                <a:gd name="T1" fmla="*/ 0 h 59"/>
                <a:gd name="T2" fmla="*/ 0 w 32"/>
                <a:gd name="T3" fmla="*/ 59 h 59"/>
                <a:gd name="T4" fmla="*/ 32 w 32"/>
                <a:gd name="T5" fmla="*/ 59 h 59"/>
                <a:gd name="T6" fmla="*/ 16 w 32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9"/>
                <a:gd name="T14" fmla="*/ 32 w 32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9">
                  <a:moveTo>
                    <a:pt x="16" y="0"/>
                  </a:moveTo>
                  <a:lnTo>
                    <a:pt x="0" y="59"/>
                  </a:lnTo>
                  <a:lnTo>
                    <a:pt x="32" y="59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74"/>
            <p:cNvSpPr>
              <a:spLocks/>
            </p:cNvSpPr>
            <p:nvPr/>
          </p:nvSpPr>
          <p:spPr bwMode="auto">
            <a:xfrm>
              <a:off x="3526" y="2620"/>
              <a:ext cx="32" cy="59"/>
            </a:xfrm>
            <a:custGeom>
              <a:avLst/>
              <a:gdLst>
                <a:gd name="T0" fmla="*/ 16 w 32"/>
                <a:gd name="T1" fmla="*/ 0 h 59"/>
                <a:gd name="T2" fmla="*/ 0 w 32"/>
                <a:gd name="T3" fmla="*/ 59 h 59"/>
                <a:gd name="T4" fmla="*/ 32 w 32"/>
                <a:gd name="T5" fmla="*/ 59 h 59"/>
                <a:gd name="T6" fmla="*/ 16 w 32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"/>
                <a:gd name="T13" fmla="*/ 0 h 59"/>
                <a:gd name="T14" fmla="*/ 32 w 32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" h="59">
                  <a:moveTo>
                    <a:pt x="16" y="0"/>
                  </a:moveTo>
                  <a:lnTo>
                    <a:pt x="0" y="59"/>
                  </a:lnTo>
                  <a:lnTo>
                    <a:pt x="32" y="59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Line 75"/>
            <p:cNvSpPr>
              <a:spLocks noChangeShapeType="1"/>
            </p:cNvSpPr>
            <p:nvPr/>
          </p:nvSpPr>
          <p:spPr bwMode="auto">
            <a:xfrm>
              <a:off x="3542" y="2679"/>
              <a:ext cx="1" cy="74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6"/>
            <p:cNvSpPr>
              <a:spLocks/>
            </p:cNvSpPr>
            <p:nvPr/>
          </p:nvSpPr>
          <p:spPr bwMode="auto">
            <a:xfrm>
              <a:off x="3870" y="2007"/>
              <a:ext cx="63" cy="30"/>
            </a:xfrm>
            <a:custGeom>
              <a:avLst/>
              <a:gdLst>
                <a:gd name="T0" fmla="*/ 63 w 63"/>
                <a:gd name="T1" fmla="*/ 15 h 30"/>
                <a:gd name="T2" fmla="*/ 0 w 63"/>
                <a:gd name="T3" fmla="*/ 0 h 30"/>
                <a:gd name="T4" fmla="*/ 0 w 63"/>
                <a:gd name="T5" fmla="*/ 30 h 30"/>
                <a:gd name="T6" fmla="*/ 63 w 63"/>
                <a:gd name="T7" fmla="*/ 15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"/>
                <a:gd name="T13" fmla="*/ 0 h 30"/>
                <a:gd name="T14" fmla="*/ 63 w 63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" h="30">
                  <a:moveTo>
                    <a:pt x="63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63" y="15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77"/>
            <p:cNvSpPr>
              <a:spLocks/>
            </p:cNvSpPr>
            <p:nvPr/>
          </p:nvSpPr>
          <p:spPr bwMode="auto">
            <a:xfrm>
              <a:off x="3870" y="2007"/>
              <a:ext cx="63" cy="30"/>
            </a:xfrm>
            <a:custGeom>
              <a:avLst/>
              <a:gdLst>
                <a:gd name="T0" fmla="*/ 63 w 63"/>
                <a:gd name="T1" fmla="*/ 15 h 30"/>
                <a:gd name="T2" fmla="*/ 0 w 63"/>
                <a:gd name="T3" fmla="*/ 0 h 30"/>
                <a:gd name="T4" fmla="*/ 0 w 63"/>
                <a:gd name="T5" fmla="*/ 30 h 30"/>
                <a:gd name="T6" fmla="*/ 63 w 63"/>
                <a:gd name="T7" fmla="*/ 15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"/>
                <a:gd name="T13" fmla="*/ 0 h 30"/>
                <a:gd name="T14" fmla="*/ 63 w 63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" h="30">
                  <a:moveTo>
                    <a:pt x="63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63" y="15"/>
                  </a:ln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Line 78"/>
            <p:cNvSpPr>
              <a:spLocks noChangeShapeType="1"/>
            </p:cNvSpPr>
            <p:nvPr/>
          </p:nvSpPr>
          <p:spPr bwMode="auto">
            <a:xfrm flipH="1">
              <a:off x="3790" y="2022"/>
              <a:ext cx="80" cy="1"/>
            </a:xfrm>
            <a:prstGeom prst="line">
              <a:avLst/>
            </a:prstGeom>
            <a:noFill/>
            <a:ln w="15875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Rectangle 79"/>
            <p:cNvSpPr>
              <a:spLocks noChangeArrowheads="1"/>
            </p:cNvSpPr>
            <p:nvPr/>
          </p:nvSpPr>
          <p:spPr bwMode="auto">
            <a:xfrm>
              <a:off x="3334" y="256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80" name="Rectangle 80"/>
            <p:cNvSpPr>
              <a:spLocks noChangeArrowheads="1"/>
            </p:cNvSpPr>
            <p:nvPr/>
          </p:nvSpPr>
          <p:spPr bwMode="auto">
            <a:xfrm>
              <a:off x="3788" y="2251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81" name="Rectangle 81"/>
            <p:cNvSpPr>
              <a:spLocks noChangeArrowheads="1"/>
            </p:cNvSpPr>
            <p:nvPr/>
          </p:nvSpPr>
          <p:spPr bwMode="auto">
            <a:xfrm>
              <a:off x="3379" y="2251"/>
              <a:ext cx="1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82" name="Rectangle 82"/>
            <p:cNvSpPr>
              <a:spLocks noChangeArrowheads="1"/>
            </p:cNvSpPr>
            <p:nvPr/>
          </p:nvSpPr>
          <p:spPr bwMode="auto">
            <a:xfrm>
              <a:off x="3561" y="2568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83" name="Rectangle 83"/>
            <p:cNvSpPr>
              <a:spLocks noChangeArrowheads="1"/>
            </p:cNvSpPr>
            <p:nvPr/>
          </p:nvSpPr>
          <p:spPr bwMode="auto">
            <a:xfrm>
              <a:off x="3788" y="1797"/>
              <a:ext cx="8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84" name="Rectangle 84"/>
            <p:cNvSpPr>
              <a:spLocks noChangeArrowheads="1"/>
            </p:cNvSpPr>
            <p:nvPr/>
          </p:nvSpPr>
          <p:spPr bwMode="auto">
            <a:xfrm>
              <a:off x="3652" y="2795"/>
              <a:ext cx="152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85" name="Line 85"/>
            <p:cNvSpPr>
              <a:spLocks noChangeShapeType="1"/>
            </p:cNvSpPr>
            <p:nvPr/>
          </p:nvSpPr>
          <p:spPr bwMode="auto">
            <a:xfrm>
              <a:off x="2925" y="3157"/>
              <a:ext cx="6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Line 86"/>
            <p:cNvSpPr>
              <a:spLocks noChangeShapeType="1"/>
            </p:cNvSpPr>
            <p:nvPr/>
          </p:nvSpPr>
          <p:spPr bwMode="auto">
            <a:xfrm>
              <a:off x="2925" y="2069"/>
              <a:ext cx="6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Text Box 87"/>
            <p:cNvSpPr txBox="1">
              <a:spLocks noChangeArrowheads="1"/>
            </p:cNvSpPr>
            <p:nvPr/>
          </p:nvSpPr>
          <p:spPr bwMode="auto">
            <a:xfrm>
              <a:off x="3061" y="3249"/>
              <a:ext cx="22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/>
                <a:t>Practical forward converter</a:t>
              </a:r>
            </a:p>
          </p:txBody>
        </p:sp>
      </p:grpSp>
      <p:sp>
        <p:nvSpPr>
          <p:cNvPr id="88" name="矩形 87"/>
          <p:cNvSpPr/>
          <p:nvPr/>
        </p:nvSpPr>
        <p:spPr>
          <a:xfrm>
            <a:off x="3419872" y="4509120"/>
            <a:ext cx="660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(a): </a:t>
            </a:r>
            <a:endParaRPr lang="zh-CN" altLang="en-US" dirty="0"/>
          </a:p>
        </p:txBody>
      </p:sp>
      <p:sp>
        <p:nvSpPr>
          <p:cNvPr id="89" name="矩形 88"/>
          <p:cNvSpPr/>
          <p:nvPr/>
        </p:nvSpPr>
        <p:spPr>
          <a:xfrm>
            <a:off x="323528" y="4365104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A50021"/>
                </a:solidFill>
              </a:rPr>
              <a:t>Solution 2:</a:t>
            </a:r>
            <a:r>
              <a:rPr lang="en-US" altLang="zh-CN" dirty="0" smtClean="0">
                <a:solidFill>
                  <a:srgbClr val="A50021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40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276872"/>
            <a:ext cx="4464496" cy="864096"/>
          </a:xfrm>
          <a:prstGeom prst="rect">
            <a:avLst/>
          </a:prstGeom>
          <a:noFill/>
        </p:spPr>
      </p:pic>
      <p:pic>
        <p:nvPicPr>
          <p:cNvPr id="2304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5616" y="1196752"/>
            <a:ext cx="1695886" cy="936104"/>
          </a:xfrm>
          <a:prstGeom prst="rect">
            <a:avLst/>
          </a:prstGeom>
          <a:noFill/>
        </p:spPr>
      </p:pic>
      <p:graphicFrame>
        <p:nvGraphicFramePr>
          <p:cNvPr id="230405" name="Object 5"/>
          <p:cNvGraphicFramePr>
            <a:graphicFrameLocks noChangeAspect="1"/>
          </p:cNvGraphicFramePr>
          <p:nvPr/>
        </p:nvGraphicFramePr>
        <p:xfrm>
          <a:off x="6156176" y="1700808"/>
          <a:ext cx="2800108" cy="2098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31" r:id="rId5" imgW="1218960" imgH="914400" progId="Equation.DSMT4">
                  <p:embed/>
                </p:oleObj>
              </mc:Choice>
              <mc:Fallback>
                <p:oleObj r:id="rId5" imgW="1218960" imgH="9144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1700808"/>
                        <a:ext cx="2800108" cy="2098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012160" y="1124744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当</a:t>
            </a:r>
            <a:r>
              <a:rPr lang="en-US" altLang="zh-CN" dirty="0" err="1"/>
              <a:t>Vd</a:t>
            </a:r>
            <a:r>
              <a:rPr lang="en-US" altLang="zh-CN" dirty="0"/>
              <a:t>=60V</a:t>
            </a:r>
            <a:r>
              <a:rPr lang="zh-CN" altLang="zh-CN" dirty="0"/>
              <a:t>，</a:t>
            </a:r>
            <a:r>
              <a:rPr lang="en-US" altLang="zh-CN" dirty="0"/>
              <a:t>D=0.375</a:t>
            </a:r>
            <a:r>
              <a:rPr lang="zh-CN" altLang="zh-CN" dirty="0"/>
              <a:t>时：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79512" y="1052736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(b)</a:t>
            </a:r>
            <a:r>
              <a:rPr lang="zh-CN" altLang="zh-CN" dirty="0" smtClean="0"/>
              <a:t>：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5220072" y="1124744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(c)</a:t>
            </a:r>
            <a:r>
              <a:rPr lang="zh-CN" altLang="zh-CN" dirty="0" smtClean="0"/>
              <a:t>：</a:t>
            </a:r>
            <a:endParaRPr lang="zh-CN" altLang="en-US" dirty="0"/>
          </a:p>
        </p:txBody>
      </p:sp>
      <p:pic>
        <p:nvPicPr>
          <p:cNvPr id="230406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99592" y="4365104"/>
            <a:ext cx="2463363" cy="792088"/>
          </a:xfrm>
          <a:prstGeom prst="rect">
            <a:avLst/>
          </a:prstGeom>
          <a:noFill/>
        </p:spPr>
      </p:pic>
      <p:pic>
        <p:nvPicPr>
          <p:cNvPr id="230407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99591" y="5229200"/>
            <a:ext cx="1597759" cy="432048"/>
          </a:xfrm>
          <a:prstGeom prst="rect">
            <a:avLst/>
          </a:prstGeom>
          <a:noFill/>
        </p:spPr>
      </p:pic>
      <p:graphicFrame>
        <p:nvGraphicFramePr>
          <p:cNvPr id="230408" name="Object 8"/>
          <p:cNvGraphicFramePr>
            <a:graphicFrameLocks noChangeAspect="1"/>
          </p:cNvGraphicFramePr>
          <p:nvPr/>
        </p:nvGraphicFramePr>
        <p:xfrm>
          <a:off x="683568" y="5733256"/>
          <a:ext cx="3692958" cy="8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432" r:id="rId9" imgW="1841400" imgH="419040" progId="Equation.DSMT4">
                  <p:embed/>
                </p:oleObj>
              </mc:Choice>
              <mc:Fallback>
                <p:oleObj r:id="rId9" imgW="1841400" imgH="4190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5733256"/>
                        <a:ext cx="3692958" cy="84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251520" y="3933056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(d)</a:t>
            </a:r>
            <a:r>
              <a:rPr lang="zh-CN" altLang="zh-CN" dirty="0" smtClean="0"/>
              <a:t>：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98072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None/>
            </a:pPr>
            <a:r>
              <a:rPr lang="en-US" altLang="zh-CN" b="1" i="1" dirty="0" smtClean="0">
                <a:solidFill>
                  <a:srgbClr val="A50021"/>
                </a:solidFill>
              </a:rPr>
              <a:t>Problem 3: 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Draw the circuit of Full-bridge isolated DC-DC converter, and write the relationship between V</a:t>
            </a:r>
            <a:r>
              <a:rPr lang="en-US" altLang="zh-CN" baseline="-250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and </a:t>
            </a:r>
            <a:r>
              <a:rPr lang="en-US" altLang="zh-CN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</a:t>
            </a:r>
            <a:r>
              <a:rPr lang="en-US" altLang="zh-CN" baseline="-250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under CCM operation mode.</a:t>
            </a:r>
          </a:p>
        </p:txBody>
      </p:sp>
      <p:grpSp>
        <p:nvGrpSpPr>
          <p:cNvPr id="3" name="Group 819"/>
          <p:cNvGrpSpPr>
            <a:grpSpLocks/>
          </p:cNvGrpSpPr>
          <p:nvPr/>
        </p:nvGrpSpPr>
        <p:grpSpPr bwMode="auto">
          <a:xfrm>
            <a:off x="2123728" y="1988840"/>
            <a:ext cx="4083052" cy="2420941"/>
            <a:chOff x="2336" y="1979"/>
            <a:chExt cx="2572" cy="1525"/>
          </a:xfrm>
        </p:grpSpPr>
        <p:sp>
          <p:nvSpPr>
            <p:cNvPr id="4" name="Freeform 145"/>
            <p:cNvSpPr>
              <a:spLocks/>
            </p:cNvSpPr>
            <p:nvPr/>
          </p:nvSpPr>
          <p:spPr bwMode="auto">
            <a:xfrm>
              <a:off x="3394" y="2512"/>
              <a:ext cx="38" cy="274"/>
            </a:xfrm>
            <a:custGeom>
              <a:avLst/>
              <a:gdLst>
                <a:gd name="T0" fmla="*/ 2 w 65"/>
                <a:gd name="T1" fmla="*/ 0 h 420"/>
                <a:gd name="T2" fmla="*/ 6 w 65"/>
                <a:gd name="T3" fmla="*/ 1 h 420"/>
                <a:gd name="T4" fmla="*/ 11 w 65"/>
                <a:gd name="T5" fmla="*/ 2 h 420"/>
                <a:gd name="T6" fmla="*/ 16 w 65"/>
                <a:gd name="T7" fmla="*/ 6 h 420"/>
                <a:gd name="T8" fmla="*/ 18 w 65"/>
                <a:gd name="T9" fmla="*/ 9 h 420"/>
                <a:gd name="T10" fmla="*/ 20 w 65"/>
                <a:gd name="T11" fmla="*/ 13 h 420"/>
                <a:gd name="T12" fmla="*/ 22 w 65"/>
                <a:gd name="T13" fmla="*/ 18 h 420"/>
                <a:gd name="T14" fmla="*/ 22 w 65"/>
                <a:gd name="T15" fmla="*/ 22 h 420"/>
                <a:gd name="T16" fmla="*/ 22 w 65"/>
                <a:gd name="T17" fmla="*/ 26 h 420"/>
                <a:gd name="T18" fmla="*/ 21 w 65"/>
                <a:gd name="T19" fmla="*/ 30 h 420"/>
                <a:gd name="T20" fmla="*/ 19 w 65"/>
                <a:gd name="T21" fmla="*/ 35 h 420"/>
                <a:gd name="T22" fmla="*/ 17 w 65"/>
                <a:gd name="T23" fmla="*/ 37 h 420"/>
                <a:gd name="T24" fmla="*/ 12 w 65"/>
                <a:gd name="T25" fmla="*/ 41 h 420"/>
                <a:gd name="T26" fmla="*/ 8 w 65"/>
                <a:gd name="T27" fmla="*/ 44 h 420"/>
                <a:gd name="T28" fmla="*/ 4 w 65"/>
                <a:gd name="T29" fmla="*/ 44 h 420"/>
                <a:gd name="T30" fmla="*/ 0 w 65"/>
                <a:gd name="T31" fmla="*/ 45 h 420"/>
                <a:gd name="T32" fmla="*/ 5 w 65"/>
                <a:gd name="T33" fmla="*/ 45 h 420"/>
                <a:gd name="T34" fmla="*/ 9 w 65"/>
                <a:gd name="T35" fmla="*/ 46 h 420"/>
                <a:gd name="T36" fmla="*/ 12 w 65"/>
                <a:gd name="T37" fmla="*/ 48 h 420"/>
                <a:gd name="T38" fmla="*/ 17 w 65"/>
                <a:gd name="T39" fmla="*/ 52 h 420"/>
                <a:gd name="T40" fmla="*/ 19 w 65"/>
                <a:gd name="T41" fmla="*/ 55 h 420"/>
                <a:gd name="T42" fmla="*/ 21 w 65"/>
                <a:gd name="T43" fmla="*/ 59 h 420"/>
                <a:gd name="T44" fmla="*/ 22 w 65"/>
                <a:gd name="T45" fmla="*/ 63 h 420"/>
                <a:gd name="T46" fmla="*/ 22 w 65"/>
                <a:gd name="T47" fmla="*/ 69 h 420"/>
                <a:gd name="T48" fmla="*/ 22 w 65"/>
                <a:gd name="T49" fmla="*/ 73 h 420"/>
                <a:gd name="T50" fmla="*/ 20 w 65"/>
                <a:gd name="T51" fmla="*/ 77 h 420"/>
                <a:gd name="T52" fmla="*/ 18 w 65"/>
                <a:gd name="T53" fmla="*/ 80 h 420"/>
                <a:gd name="T54" fmla="*/ 14 w 65"/>
                <a:gd name="T55" fmla="*/ 85 h 420"/>
                <a:gd name="T56" fmla="*/ 9 w 65"/>
                <a:gd name="T57" fmla="*/ 87 h 420"/>
                <a:gd name="T58" fmla="*/ 6 w 65"/>
                <a:gd name="T59" fmla="*/ 89 h 420"/>
                <a:gd name="T60" fmla="*/ 2 w 65"/>
                <a:gd name="T61" fmla="*/ 89 h 420"/>
                <a:gd name="T62" fmla="*/ 2 w 65"/>
                <a:gd name="T63" fmla="*/ 89 h 420"/>
                <a:gd name="T64" fmla="*/ 6 w 65"/>
                <a:gd name="T65" fmla="*/ 90 h 420"/>
                <a:gd name="T66" fmla="*/ 11 w 65"/>
                <a:gd name="T67" fmla="*/ 91 h 420"/>
                <a:gd name="T68" fmla="*/ 16 w 65"/>
                <a:gd name="T69" fmla="*/ 96 h 420"/>
                <a:gd name="T70" fmla="*/ 18 w 65"/>
                <a:gd name="T71" fmla="*/ 99 h 420"/>
                <a:gd name="T72" fmla="*/ 20 w 65"/>
                <a:gd name="T73" fmla="*/ 102 h 420"/>
                <a:gd name="T74" fmla="*/ 22 w 65"/>
                <a:gd name="T75" fmla="*/ 106 h 420"/>
                <a:gd name="T76" fmla="*/ 22 w 65"/>
                <a:gd name="T77" fmla="*/ 111 h 420"/>
                <a:gd name="T78" fmla="*/ 22 w 65"/>
                <a:gd name="T79" fmla="*/ 115 h 420"/>
                <a:gd name="T80" fmla="*/ 21 w 65"/>
                <a:gd name="T81" fmla="*/ 119 h 420"/>
                <a:gd name="T82" fmla="*/ 19 w 65"/>
                <a:gd name="T83" fmla="*/ 123 h 420"/>
                <a:gd name="T84" fmla="*/ 17 w 65"/>
                <a:gd name="T85" fmla="*/ 127 h 420"/>
                <a:gd name="T86" fmla="*/ 12 w 65"/>
                <a:gd name="T87" fmla="*/ 131 h 420"/>
                <a:gd name="T88" fmla="*/ 8 w 65"/>
                <a:gd name="T89" fmla="*/ 133 h 420"/>
                <a:gd name="T90" fmla="*/ 4 w 65"/>
                <a:gd name="T91" fmla="*/ 134 h 420"/>
                <a:gd name="T92" fmla="*/ 0 w 65"/>
                <a:gd name="T93" fmla="*/ 134 h 420"/>
                <a:gd name="T94" fmla="*/ 5 w 65"/>
                <a:gd name="T95" fmla="*/ 134 h 420"/>
                <a:gd name="T96" fmla="*/ 9 w 65"/>
                <a:gd name="T97" fmla="*/ 135 h 420"/>
                <a:gd name="T98" fmla="*/ 12 w 65"/>
                <a:gd name="T99" fmla="*/ 138 h 420"/>
                <a:gd name="T100" fmla="*/ 17 w 65"/>
                <a:gd name="T101" fmla="*/ 142 h 420"/>
                <a:gd name="T102" fmla="*/ 19 w 65"/>
                <a:gd name="T103" fmla="*/ 145 h 420"/>
                <a:gd name="T104" fmla="*/ 21 w 65"/>
                <a:gd name="T105" fmla="*/ 149 h 420"/>
                <a:gd name="T106" fmla="*/ 22 w 65"/>
                <a:gd name="T107" fmla="*/ 153 h 420"/>
                <a:gd name="T108" fmla="*/ 22 w 65"/>
                <a:gd name="T109" fmla="*/ 157 h 420"/>
                <a:gd name="T110" fmla="*/ 22 w 65"/>
                <a:gd name="T111" fmla="*/ 162 h 420"/>
                <a:gd name="T112" fmla="*/ 20 w 65"/>
                <a:gd name="T113" fmla="*/ 166 h 420"/>
                <a:gd name="T114" fmla="*/ 18 w 65"/>
                <a:gd name="T115" fmla="*/ 170 h 420"/>
                <a:gd name="T116" fmla="*/ 14 w 65"/>
                <a:gd name="T117" fmla="*/ 174 h 420"/>
                <a:gd name="T118" fmla="*/ 9 w 65"/>
                <a:gd name="T119" fmla="*/ 177 h 420"/>
                <a:gd name="T120" fmla="*/ 6 w 65"/>
                <a:gd name="T121" fmla="*/ 178 h 420"/>
                <a:gd name="T122" fmla="*/ 2 w 65"/>
                <a:gd name="T123" fmla="*/ 179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5"/>
                <a:gd name="T187" fmla="*/ 0 h 420"/>
                <a:gd name="T188" fmla="*/ 65 w 65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5" h="420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18" y="2"/>
                  </a:lnTo>
                  <a:lnTo>
                    <a:pt x="25" y="4"/>
                  </a:lnTo>
                  <a:lnTo>
                    <a:pt x="30" y="5"/>
                  </a:lnTo>
                  <a:lnTo>
                    <a:pt x="35" y="9"/>
                  </a:lnTo>
                  <a:lnTo>
                    <a:pt x="46" y="14"/>
                  </a:lnTo>
                  <a:lnTo>
                    <a:pt x="49" y="17"/>
                  </a:lnTo>
                  <a:lnTo>
                    <a:pt x="53" y="22"/>
                  </a:lnTo>
                  <a:lnTo>
                    <a:pt x="56" y="25"/>
                  </a:lnTo>
                  <a:lnTo>
                    <a:pt x="60" y="31"/>
                  </a:lnTo>
                  <a:lnTo>
                    <a:pt x="62" y="36"/>
                  </a:lnTo>
                  <a:lnTo>
                    <a:pt x="63" y="41"/>
                  </a:lnTo>
                  <a:lnTo>
                    <a:pt x="65" y="46"/>
                  </a:lnTo>
                  <a:lnTo>
                    <a:pt x="65" y="51"/>
                  </a:lnTo>
                  <a:lnTo>
                    <a:pt x="65" y="56"/>
                  </a:lnTo>
                  <a:lnTo>
                    <a:pt x="65" y="61"/>
                  </a:lnTo>
                  <a:lnTo>
                    <a:pt x="63" y="66"/>
                  </a:lnTo>
                  <a:lnTo>
                    <a:pt x="62" y="71"/>
                  </a:lnTo>
                  <a:lnTo>
                    <a:pt x="60" y="76"/>
                  </a:lnTo>
                  <a:lnTo>
                    <a:pt x="56" y="81"/>
                  </a:lnTo>
                  <a:lnTo>
                    <a:pt x="53" y="84"/>
                  </a:lnTo>
                  <a:lnTo>
                    <a:pt x="49" y="87"/>
                  </a:lnTo>
                  <a:lnTo>
                    <a:pt x="41" y="94"/>
                  </a:lnTo>
                  <a:lnTo>
                    <a:pt x="35" y="97"/>
                  </a:lnTo>
                  <a:lnTo>
                    <a:pt x="28" y="101"/>
                  </a:lnTo>
                  <a:lnTo>
                    <a:pt x="23" y="102"/>
                  </a:lnTo>
                  <a:lnTo>
                    <a:pt x="18" y="104"/>
                  </a:lnTo>
                  <a:lnTo>
                    <a:pt x="11" y="104"/>
                  </a:lnTo>
                  <a:lnTo>
                    <a:pt x="6" y="106"/>
                  </a:lnTo>
                  <a:lnTo>
                    <a:pt x="0" y="106"/>
                  </a:lnTo>
                  <a:lnTo>
                    <a:pt x="6" y="106"/>
                  </a:lnTo>
                  <a:lnTo>
                    <a:pt x="13" y="106"/>
                  </a:lnTo>
                  <a:lnTo>
                    <a:pt x="18" y="107"/>
                  </a:lnTo>
                  <a:lnTo>
                    <a:pt x="25" y="109"/>
                  </a:lnTo>
                  <a:lnTo>
                    <a:pt x="30" y="111"/>
                  </a:lnTo>
                  <a:lnTo>
                    <a:pt x="35" y="112"/>
                  </a:lnTo>
                  <a:lnTo>
                    <a:pt x="46" y="119"/>
                  </a:lnTo>
                  <a:lnTo>
                    <a:pt x="49" y="123"/>
                  </a:lnTo>
                  <a:lnTo>
                    <a:pt x="53" y="126"/>
                  </a:lnTo>
                  <a:lnTo>
                    <a:pt x="56" y="131"/>
                  </a:lnTo>
                  <a:lnTo>
                    <a:pt x="60" y="136"/>
                  </a:lnTo>
                  <a:lnTo>
                    <a:pt x="62" y="139"/>
                  </a:lnTo>
                  <a:lnTo>
                    <a:pt x="63" y="144"/>
                  </a:lnTo>
                  <a:lnTo>
                    <a:pt x="65" y="149"/>
                  </a:lnTo>
                  <a:lnTo>
                    <a:pt x="65" y="156"/>
                  </a:lnTo>
                  <a:lnTo>
                    <a:pt x="65" y="161"/>
                  </a:lnTo>
                  <a:lnTo>
                    <a:pt x="65" y="166"/>
                  </a:lnTo>
                  <a:lnTo>
                    <a:pt x="63" y="171"/>
                  </a:lnTo>
                  <a:lnTo>
                    <a:pt x="62" y="176"/>
                  </a:lnTo>
                  <a:lnTo>
                    <a:pt x="60" y="181"/>
                  </a:lnTo>
                  <a:lnTo>
                    <a:pt x="56" y="184"/>
                  </a:lnTo>
                  <a:lnTo>
                    <a:pt x="53" y="189"/>
                  </a:lnTo>
                  <a:lnTo>
                    <a:pt x="49" y="193"/>
                  </a:lnTo>
                  <a:lnTo>
                    <a:pt x="41" y="199"/>
                  </a:lnTo>
                  <a:lnTo>
                    <a:pt x="35" y="203"/>
                  </a:lnTo>
                  <a:lnTo>
                    <a:pt x="28" y="205"/>
                  </a:lnTo>
                  <a:lnTo>
                    <a:pt x="23" y="206"/>
                  </a:lnTo>
                  <a:lnTo>
                    <a:pt x="18" y="208"/>
                  </a:lnTo>
                  <a:lnTo>
                    <a:pt x="11" y="210"/>
                  </a:lnTo>
                  <a:lnTo>
                    <a:pt x="6" y="210"/>
                  </a:lnTo>
                  <a:lnTo>
                    <a:pt x="0" y="210"/>
                  </a:lnTo>
                  <a:lnTo>
                    <a:pt x="6" y="210"/>
                  </a:lnTo>
                  <a:lnTo>
                    <a:pt x="13" y="211"/>
                  </a:lnTo>
                  <a:lnTo>
                    <a:pt x="18" y="211"/>
                  </a:lnTo>
                  <a:lnTo>
                    <a:pt x="25" y="213"/>
                  </a:lnTo>
                  <a:lnTo>
                    <a:pt x="30" y="215"/>
                  </a:lnTo>
                  <a:lnTo>
                    <a:pt x="35" y="218"/>
                  </a:lnTo>
                  <a:lnTo>
                    <a:pt x="46" y="225"/>
                  </a:lnTo>
                  <a:lnTo>
                    <a:pt x="49" y="228"/>
                  </a:lnTo>
                  <a:lnTo>
                    <a:pt x="53" y="231"/>
                  </a:lnTo>
                  <a:lnTo>
                    <a:pt x="56" y="236"/>
                  </a:lnTo>
                  <a:lnTo>
                    <a:pt x="60" y="240"/>
                  </a:lnTo>
                  <a:lnTo>
                    <a:pt x="62" y="245"/>
                  </a:lnTo>
                  <a:lnTo>
                    <a:pt x="63" y="250"/>
                  </a:lnTo>
                  <a:lnTo>
                    <a:pt x="65" y="255"/>
                  </a:lnTo>
                  <a:lnTo>
                    <a:pt x="65" y="260"/>
                  </a:lnTo>
                  <a:lnTo>
                    <a:pt x="65" y="266"/>
                  </a:lnTo>
                  <a:lnTo>
                    <a:pt x="65" y="271"/>
                  </a:lnTo>
                  <a:lnTo>
                    <a:pt x="63" y="276"/>
                  </a:lnTo>
                  <a:lnTo>
                    <a:pt x="62" y="281"/>
                  </a:lnTo>
                  <a:lnTo>
                    <a:pt x="60" y="285"/>
                  </a:lnTo>
                  <a:lnTo>
                    <a:pt x="56" y="290"/>
                  </a:lnTo>
                  <a:lnTo>
                    <a:pt x="53" y="295"/>
                  </a:lnTo>
                  <a:lnTo>
                    <a:pt x="49" y="298"/>
                  </a:lnTo>
                  <a:lnTo>
                    <a:pt x="41" y="305"/>
                  </a:lnTo>
                  <a:lnTo>
                    <a:pt x="35" y="308"/>
                  </a:lnTo>
                  <a:lnTo>
                    <a:pt x="28" y="310"/>
                  </a:lnTo>
                  <a:lnTo>
                    <a:pt x="23" y="312"/>
                  </a:lnTo>
                  <a:lnTo>
                    <a:pt x="18" y="313"/>
                  </a:lnTo>
                  <a:lnTo>
                    <a:pt x="11" y="315"/>
                  </a:lnTo>
                  <a:lnTo>
                    <a:pt x="6" y="315"/>
                  </a:lnTo>
                  <a:lnTo>
                    <a:pt x="0" y="315"/>
                  </a:lnTo>
                  <a:lnTo>
                    <a:pt x="6" y="315"/>
                  </a:lnTo>
                  <a:lnTo>
                    <a:pt x="13" y="315"/>
                  </a:lnTo>
                  <a:lnTo>
                    <a:pt x="18" y="317"/>
                  </a:lnTo>
                  <a:lnTo>
                    <a:pt x="25" y="318"/>
                  </a:lnTo>
                  <a:lnTo>
                    <a:pt x="30" y="320"/>
                  </a:lnTo>
                  <a:lnTo>
                    <a:pt x="35" y="323"/>
                  </a:lnTo>
                  <a:lnTo>
                    <a:pt x="46" y="328"/>
                  </a:lnTo>
                  <a:lnTo>
                    <a:pt x="49" y="332"/>
                  </a:lnTo>
                  <a:lnTo>
                    <a:pt x="53" y="337"/>
                  </a:lnTo>
                  <a:lnTo>
                    <a:pt x="56" y="340"/>
                  </a:lnTo>
                  <a:lnTo>
                    <a:pt x="60" y="345"/>
                  </a:lnTo>
                  <a:lnTo>
                    <a:pt x="62" y="350"/>
                  </a:lnTo>
                  <a:lnTo>
                    <a:pt x="63" y="355"/>
                  </a:lnTo>
                  <a:lnTo>
                    <a:pt x="65" y="360"/>
                  </a:lnTo>
                  <a:lnTo>
                    <a:pt x="65" y="365"/>
                  </a:lnTo>
                  <a:lnTo>
                    <a:pt x="65" y="370"/>
                  </a:lnTo>
                  <a:lnTo>
                    <a:pt x="65" y="375"/>
                  </a:lnTo>
                  <a:lnTo>
                    <a:pt x="63" y="380"/>
                  </a:lnTo>
                  <a:lnTo>
                    <a:pt x="62" y="385"/>
                  </a:lnTo>
                  <a:lnTo>
                    <a:pt x="60" y="390"/>
                  </a:lnTo>
                  <a:lnTo>
                    <a:pt x="56" y="395"/>
                  </a:lnTo>
                  <a:lnTo>
                    <a:pt x="53" y="399"/>
                  </a:lnTo>
                  <a:lnTo>
                    <a:pt x="49" y="404"/>
                  </a:lnTo>
                  <a:lnTo>
                    <a:pt x="41" y="410"/>
                  </a:lnTo>
                  <a:lnTo>
                    <a:pt x="35" y="412"/>
                  </a:lnTo>
                  <a:lnTo>
                    <a:pt x="28" y="415"/>
                  </a:lnTo>
                  <a:lnTo>
                    <a:pt x="23" y="417"/>
                  </a:lnTo>
                  <a:lnTo>
                    <a:pt x="18" y="419"/>
                  </a:lnTo>
                  <a:lnTo>
                    <a:pt x="11" y="419"/>
                  </a:lnTo>
                  <a:lnTo>
                    <a:pt x="6" y="420"/>
                  </a:lnTo>
                  <a:lnTo>
                    <a:pt x="0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" name="Freeform 146"/>
            <p:cNvSpPr>
              <a:spLocks/>
            </p:cNvSpPr>
            <p:nvPr/>
          </p:nvSpPr>
          <p:spPr bwMode="auto">
            <a:xfrm>
              <a:off x="3502" y="2360"/>
              <a:ext cx="38" cy="274"/>
            </a:xfrm>
            <a:custGeom>
              <a:avLst/>
              <a:gdLst>
                <a:gd name="T0" fmla="*/ 20 w 66"/>
                <a:gd name="T1" fmla="*/ 0 h 420"/>
                <a:gd name="T2" fmla="*/ 16 w 66"/>
                <a:gd name="T3" fmla="*/ 1 h 420"/>
                <a:gd name="T4" fmla="*/ 12 w 66"/>
                <a:gd name="T5" fmla="*/ 3 h 420"/>
                <a:gd name="T6" fmla="*/ 7 w 66"/>
                <a:gd name="T7" fmla="*/ 6 h 420"/>
                <a:gd name="T8" fmla="*/ 4 w 66"/>
                <a:gd name="T9" fmla="*/ 9 h 420"/>
                <a:gd name="T10" fmla="*/ 2 w 66"/>
                <a:gd name="T11" fmla="*/ 13 h 420"/>
                <a:gd name="T12" fmla="*/ 1 w 66"/>
                <a:gd name="T13" fmla="*/ 18 h 420"/>
                <a:gd name="T14" fmla="*/ 0 w 66"/>
                <a:gd name="T15" fmla="*/ 22 h 420"/>
                <a:gd name="T16" fmla="*/ 1 w 66"/>
                <a:gd name="T17" fmla="*/ 26 h 420"/>
                <a:gd name="T18" fmla="*/ 2 w 66"/>
                <a:gd name="T19" fmla="*/ 30 h 420"/>
                <a:gd name="T20" fmla="*/ 3 w 66"/>
                <a:gd name="T21" fmla="*/ 35 h 420"/>
                <a:gd name="T22" fmla="*/ 6 w 66"/>
                <a:gd name="T23" fmla="*/ 38 h 420"/>
                <a:gd name="T24" fmla="*/ 10 w 66"/>
                <a:gd name="T25" fmla="*/ 42 h 420"/>
                <a:gd name="T26" fmla="*/ 14 w 66"/>
                <a:gd name="T27" fmla="*/ 44 h 420"/>
                <a:gd name="T28" fmla="*/ 18 w 66"/>
                <a:gd name="T29" fmla="*/ 44 h 420"/>
                <a:gd name="T30" fmla="*/ 22 w 66"/>
                <a:gd name="T31" fmla="*/ 45 h 420"/>
                <a:gd name="T32" fmla="*/ 18 w 66"/>
                <a:gd name="T33" fmla="*/ 45 h 420"/>
                <a:gd name="T34" fmla="*/ 14 w 66"/>
                <a:gd name="T35" fmla="*/ 46 h 420"/>
                <a:gd name="T36" fmla="*/ 10 w 66"/>
                <a:gd name="T37" fmla="*/ 48 h 420"/>
                <a:gd name="T38" fmla="*/ 5 w 66"/>
                <a:gd name="T39" fmla="*/ 52 h 420"/>
                <a:gd name="T40" fmla="*/ 3 w 66"/>
                <a:gd name="T41" fmla="*/ 55 h 420"/>
                <a:gd name="T42" fmla="*/ 1 w 66"/>
                <a:gd name="T43" fmla="*/ 59 h 420"/>
                <a:gd name="T44" fmla="*/ 1 w 66"/>
                <a:gd name="T45" fmla="*/ 65 h 420"/>
                <a:gd name="T46" fmla="*/ 0 w 66"/>
                <a:gd name="T47" fmla="*/ 69 h 420"/>
                <a:gd name="T48" fmla="*/ 1 w 66"/>
                <a:gd name="T49" fmla="*/ 73 h 420"/>
                <a:gd name="T50" fmla="*/ 2 w 66"/>
                <a:gd name="T51" fmla="*/ 77 h 420"/>
                <a:gd name="T52" fmla="*/ 5 w 66"/>
                <a:gd name="T53" fmla="*/ 81 h 420"/>
                <a:gd name="T54" fmla="*/ 9 w 66"/>
                <a:gd name="T55" fmla="*/ 85 h 420"/>
                <a:gd name="T56" fmla="*/ 12 w 66"/>
                <a:gd name="T57" fmla="*/ 87 h 420"/>
                <a:gd name="T58" fmla="*/ 16 w 66"/>
                <a:gd name="T59" fmla="*/ 89 h 420"/>
                <a:gd name="T60" fmla="*/ 20 w 66"/>
                <a:gd name="T61" fmla="*/ 89 h 420"/>
                <a:gd name="T62" fmla="*/ 20 w 66"/>
                <a:gd name="T63" fmla="*/ 89 h 420"/>
                <a:gd name="T64" fmla="*/ 16 w 66"/>
                <a:gd name="T65" fmla="*/ 90 h 420"/>
                <a:gd name="T66" fmla="*/ 12 w 66"/>
                <a:gd name="T67" fmla="*/ 92 h 420"/>
                <a:gd name="T68" fmla="*/ 7 w 66"/>
                <a:gd name="T69" fmla="*/ 96 h 420"/>
                <a:gd name="T70" fmla="*/ 4 w 66"/>
                <a:gd name="T71" fmla="*/ 99 h 420"/>
                <a:gd name="T72" fmla="*/ 2 w 66"/>
                <a:gd name="T73" fmla="*/ 102 h 420"/>
                <a:gd name="T74" fmla="*/ 1 w 66"/>
                <a:gd name="T75" fmla="*/ 106 h 420"/>
                <a:gd name="T76" fmla="*/ 0 w 66"/>
                <a:gd name="T77" fmla="*/ 111 h 420"/>
                <a:gd name="T78" fmla="*/ 1 w 66"/>
                <a:gd name="T79" fmla="*/ 115 h 420"/>
                <a:gd name="T80" fmla="*/ 2 w 66"/>
                <a:gd name="T81" fmla="*/ 120 h 420"/>
                <a:gd name="T82" fmla="*/ 3 w 66"/>
                <a:gd name="T83" fmla="*/ 123 h 420"/>
                <a:gd name="T84" fmla="*/ 6 w 66"/>
                <a:gd name="T85" fmla="*/ 127 h 420"/>
                <a:gd name="T86" fmla="*/ 10 w 66"/>
                <a:gd name="T87" fmla="*/ 131 h 420"/>
                <a:gd name="T88" fmla="*/ 14 w 66"/>
                <a:gd name="T89" fmla="*/ 133 h 420"/>
                <a:gd name="T90" fmla="*/ 18 w 66"/>
                <a:gd name="T91" fmla="*/ 134 h 420"/>
                <a:gd name="T92" fmla="*/ 22 w 66"/>
                <a:gd name="T93" fmla="*/ 134 h 420"/>
                <a:gd name="T94" fmla="*/ 18 w 66"/>
                <a:gd name="T95" fmla="*/ 134 h 420"/>
                <a:gd name="T96" fmla="*/ 14 w 66"/>
                <a:gd name="T97" fmla="*/ 135 h 420"/>
                <a:gd name="T98" fmla="*/ 10 w 66"/>
                <a:gd name="T99" fmla="*/ 138 h 420"/>
                <a:gd name="T100" fmla="*/ 5 w 66"/>
                <a:gd name="T101" fmla="*/ 142 h 420"/>
                <a:gd name="T102" fmla="*/ 3 w 66"/>
                <a:gd name="T103" fmla="*/ 145 h 420"/>
                <a:gd name="T104" fmla="*/ 1 w 66"/>
                <a:gd name="T105" fmla="*/ 149 h 420"/>
                <a:gd name="T106" fmla="*/ 1 w 66"/>
                <a:gd name="T107" fmla="*/ 153 h 420"/>
                <a:gd name="T108" fmla="*/ 0 w 66"/>
                <a:gd name="T109" fmla="*/ 157 h 420"/>
                <a:gd name="T110" fmla="*/ 1 w 66"/>
                <a:gd name="T111" fmla="*/ 162 h 420"/>
                <a:gd name="T112" fmla="*/ 2 w 66"/>
                <a:gd name="T113" fmla="*/ 166 h 420"/>
                <a:gd name="T114" fmla="*/ 5 w 66"/>
                <a:gd name="T115" fmla="*/ 170 h 420"/>
                <a:gd name="T116" fmla="*/ 9 w 66"/>
                <a:gd name="T117" fmla="*/ 174 h 420"/>
                <a:gd name="T118" fmla="*/ 12 w 66"/>
                <a:gd name="T119" fmla="*/ 177 h 420"/>
                <a:gd name="T120" fmla="*/ 16 w 66"/>
                <a:gd name="T121" fmla="*/ 178 h 420"/>
                <a:gd name="T122" fmla="*/ 20 w 66"/>
                <a:gd name="T123" fmla="*/ 179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6"/>
                <a:gd name="T187" fmla="*/ 0 h 420"/>
                <a:gd name="T188" fmla="*/ 66 w 66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6" h="420">
                  <a:moveTo>
                    <a:pt x="66" y="0"/>
                  </a:moveTo>
                  <a:lnTo>
                    <a:pt x="59" y="0"/>
                  </a:lnTo>
                  <a:lnTo>
                    <a:pt x="54" y="0"/>
                  </a:lnTo>
                  <a:lnTo>
                    <a:pt x="47" y="2"/>
                  </a:lnTo>
                  <a:lnTo>
                    <a:pt x="42" y="4"/>
                  </a:lnTo>
                  <a:lnTo>
                    <a:pt x="35" y="6"/>
                  </a:lnTo>
                  <a:lnTo>
                    <a:pt x="29" y="9"/>
                  </a:lnTo>
                  <a:lnTo>
                    <a:pt x="21" y="14"/>
                  </a:lnTo>
                  <a:lnTo>
                    <a:pt x="15" y="17"/>
                  </a:lnTo>
                  <a:lnTo>
                    <a:pt x="12" y="22"/>
                  </a:lnTo>
                  <a:lnTo>
                    <a:pt x="8" y="26"/>
                  </a:lnTo>
                  <a:lnTo>
                    <a:pt x="7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1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1" y="61"/>
                  </a:lnTo>
                  <a:lnTo>
                    <a:pt x="1" y="66"/>
                  </a:lnTo>
                  <a:lnTo>
                    <a:pt x="5" y="71"/>
                  </a:lnTo>
                  <a:lnTo>
                    <a:pt x="7" y="76"/>
                  </a:lnTo>
                  <a:lnTo>
                    <a:pt x="10" y="81"/>
                  </a:lnTo>
                  <a:lnTo>
                    <a:pt x="14" y="84"/>
                  </a:lnTo>
                  <a:lnTo>
                    <a:pt x="17" y="89"/>
                  </a:lnTo>
                  <a:lnTo>
                    <a:pt x="26" y="96"/>
                  </a:lnTo>
                  <a:lnTo>
                    <a:pt x="31" y="98"/>
                  </a:lnTo>
                  <a:lnTo>
                    <a:pt x="36" y="101"/>
                  </a:lnTo>
                  <a:lnTo>
                    <a:pt x="42" y="103"/>
                  </a:lnTo>
                  <a:lnTo>
                    <a:pt x="49" y="104"/>
                  </a:lnTo>
                  <a:lnTo>
                    <a:pt x="54" y="104"/>
                  </a:lnTo>
                  <a:lnTo>
                    <a:pt x="61" y="106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54" y="106"/>
                  </a:lnTo>
                  <a:lnTo>
                    <a:pt x="47" y="108"/>
                  </a:lnTo>
                  <a:lnTo>
                    <a:pt x="42" y="109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21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7" y="136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1" y="151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1" y="166"/>
                  </a:lnTo>
                  <a:lnTo>
                    <a:pt x="1" y="171"/>
                  </a:lnTo>
                  <a:lnTo>
                    <a:pt x="5" y="176"/>
                  </a:lnTo>
                  <a:lnTo>
                    <a:pt x="7" y="181"/>
                  </a:lnTo>
                  <a:lnTo>
                    <a:pt x="10" y="185"/>
                  </a:lnTo>
                  <a:lnTo>
                    <a:pt x="14" y="190"/>
                  </a:lnTo>
                  <a:lnTo>
                    <a:pt x="17" y="193"/>
                  </a:lnTo>
                  <a:lnTo>
                    <a:pt x="26" y="200"/>
                  </a:lnTo>
                  <a:lnTo>
                    <a:pt x="31" y="203"/>
                  </a:lnTo>
                  <a:lnTo>
                    <a:pt x="36" y="205"/>
                  </a:lnTo>
                  <a:lnTo>
                    <a:pt x="42" y="208"/>
                  </a:lnTo>
                  <a:lnTo>
                    <a:pt x="49" y="208"/>
                  </a:lnTo>
                  <a:lnTo>
                    <a:pt x="54" y="210"/>
                  </a:lnTo>
                  <a:lnTo>
                    <a:pt x="61" y="210"/>
                  </a:lnTo>
                  <a:lnTo>
                    <a:pt x="66" y="210"/>
                  </a:lnTo>
                  <a:lnTo>
                    <a:pt x="59" y="210"/>
                  </a:lnTo>
                  <a:lnTo>
                    <a:pt x="54" y="211"/>
                  </a:lnTo>
                  <a:lnTo>
                    <a:pt x="47" y="211"/>
                  </a:lnTo>
                  <a:lnTo>
                    <a:pt x="42" y="213"/>
                  </a:lnTo>
                  <a:lnTo>
                    <a:pt x="35" y="216"/>
                  </a:lnTo>
                  <a:lnTo>
                    <a:pt x="29" y="218"/>
                  </a:lnTo>
                  <a:lnTo>
                    <a:pt x="21" y="225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6"/>
                  </a:lnTo>
                  <a:lnTo>
                    <a:pt x="7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1" y="255"/>
                  </a:lnTo>
                  <a:lnTo>
                    <a:pt x="0" y="260"/>
                  </a:lnTo>
                  <a:lnTo>
                    <a:pt x="0" y="267"/>
                  </a:lnTo>
                  <a:lnTo>
                    <a:pt x="1" y="272"/>
                  </a:lnTo>
                  <a:lnTo>
                    <a:pt x="1" y="277"/>
                  </a:lnTo>
                  <a:lnTo>
                    <a:pt x="5" y="282"/>
                  </a:lnTo>
                  <a:lnTo>
                    <a:pt x="7" y="287"/>
                  </a:lnTo>
                  <a:lnTo>
                    <a:pt x="10" y="290"/>
                  </a:lnTo>
                  <a:lnTo>
                    <a:pt x="14" y="295"/>
                  </a:lnTo>
                  <a:lnTo>
                    <a:pt x="17" y="298"/>
                  </a:lnTo>
                  <a:lnTo>
                    <a:pt x="26" y="305"/>
                  </a:lnTo>
                  <a:lnTo>
                    <a:pt x="31" y="308"/>
                  </a:lnTo>
                  <a:lnTo>
                    <a:pt x="36" y="310"/>
                  </a:lnTo>
                  <a:lnTo>
                    <a:pt x="42" y="312"/>
                  </a:lnTo>
                  <a:lnTo>
                    <a:pt x="49" y="313"/>
                  </a:lnTo>
                  <a:lnTo>
                    <a:pt x="54" y="315"/>
                  </a:lnTo>
                  <a:lnTo>
                    <a:pt x="61" y="315"/>
                  </a:lnTo>
                  <a:lnTo>
                    <a:pt x="66" y="315"/>
                  </a:lnTo>
                  <a:lnTo>
                    <a:pt x="59" y="315"/>
                  </a:lnTo>
                  <a:lnTo>
                    <a:pt x="54" y="315"/>
                  </a:lnTo>
                  <a:lnTo>
                    <a:pt x="47" y="317"/>
                  </a:lnTo>
                  <a:lnTo>
                    <a:pt x="42" y="318"/>
                  </a:lnTo>
                  <a:lnTo>
                    <a:pt x="35" y="320"/>
                  </a:lnTo>
                  <a:lnTo>
                    <a:pt x="29" y="323"/>
                  </a:lnTo>
                  <a:lnTo>
                    <a:pt x="21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7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1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1" y="375"/>
                  </a:lnTo>
                  <a:lnTo>
                    <a:pt x="1" y="380"/>
                  </a:lnTo>
                  <a:lnTo>
                    <a:pt x="5" y="385"/>
                  </a:lnTo>
                  <a:lnTo>
                    <a:pt x="7" y="390"/>
                  </a:lnTo>
                  <a:lnTo>
                    <a:pt x="10" y="395"/>
                  </a:lnTo>
                  <a:lnTo>
                    <a:pt x="14" y="399"/>
                  </a:lnTo>
                  <a:lnTo>
                    <a:pt x="17" y="404"/>
                  </a:lnTo>
                  <a:lnTo>
                    <a:pt x="26" y="410"/>
                  </a:lnTo>
                  <a:lnTo>
                    <a:pt x="31" y="412"/>
                  </a:lnTo>
                  <a:lnTo>
                    <a:pt x="36" y="415"/>
                  </a:lnTo>
                  <a:lnTo>
                    <a:pt x="42" y="417"/>
                  </a:lnTo>
                  <a:lnTo>
                    <a:pt x="49" y="419"/>
                  </a:lnTo>
                  <a:lnTo>
                    <a:pt x="54" y="419"/>
                  </a:lnTo>
                  <a:lnTo>
                    <a:pt x="61" y="420"/>
                  </a:lnTo>
                  <a:lnTo>
                    <a:pt x="66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" name="Line 147"/>
            <p:cNvSpPr>
              <a:spLocks noChangeShapeType="1"/>
            </p:cNvSpPr>
            <p:nvPr/>
          </p:nvSpPr>
          <p:spPr bwMode="auto">
            <a:xfrm>
              <a:off x="3455" y="2367"/>
              <a:ext cx="1" cy="26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Line 148"/>
            <p:cNvSpPr>
              <a:spLocks noChangeShapeType="1"/>
            </p:cNvSpPr>
            <p:nvPr/>
          </p:nvSpPr>
          <p:spPr bwMode="auto">
            <a:xfrm flipV="1">
              <a:off x="3471" y="2367"/>
              <a:ext cx="2" cy="26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149"/>
            <p:cNvSpPr>
              <a:spLocks noChangeArrowheads="1"/>
            </p:cNvSpPr>
            <p:nvPr/>
          </p:nvSpPr>
          <p:spPr bwMode="auto">
            <a:xfrm>
              <a:off x="4692" y="2379"/>
              <a:ext cx="51" cy="13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150"/>
            <p:cNvSpPr>
              <a:spLocks noChangeArrowheads="1"/>
            </p:cNvSpPr>
            <p:nvPr/>
          </p:nvSpPr>
          <p:spPr bwMode="auto">
            <a:xfrm>
              <a:off x="4692" y="2379"/>
              <a:ext cx="51" cy="137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Line 151"/>
            <p:cNvSpPr>
              <a:spLocks noChangeShapeType="1"/>
            </p:cNvSpPr>
            <p:nvPr/>
          </p:nvSpPr>
          <p:spPr bwMode="auto">
            <a:xfrm>
              <a:off x="4463" y="2432"/>
              <a:ext cx="10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Line 152"/>
            <p:cNvSpPr>
              <a:spLocks noChangeShapeType="1"/>
            </p:cNvSpPr>
            <p:nvPr/>
          </p:nvSpPr>
          <p:spPr bwMode="auto">
            <a:xfrm>
              <a:off x="4463" y="2474"/>
              <a:ext cx="10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Line 153"/>
            <p:cNvSpPr>
              <a:spLocks noChangeShapeType="1"/>
            </p:cNvSpPr>
            <p:nvPr/>
          </p:nvSpPr>
          <p:spPr bwMode="auto">
            <a:xfrm>
              <a:off x="4514" y="2474"/>
              <a:ext cx="1" cy="11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Line 154"/>
            <p:cNvSpPr>
              <a:spLocks noChangeShapeType="1"/>
            </p:cNvSpPr>
            <p:nvPr/>
          </p:nvSpPr>
          <p:spPr bwMode="auto">
            <a:xfrm flipV="1">
              <a:off x="4514" y="2309"/>
              <a:ext cx="1" cy="123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Line 155"/>
            <p:cNvSpPr>
              <a:spLocks noChangeShapeType="1"/>
            </p:cNvSpPr>
            <p:nvPr/>
          </p:nvSpPr>
          <p:spPr bwMode="auto">
            <a:xfrm flipV="1">
              <a:off x="4514" y="2282"/>
              <a:ext cx="1" cy="2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156"/>
            <p:cNvSpPr>
              <a:spLocks/>
            </p:cNvSpPr>
            <p:nvPr/>
          </p:nvSpPr>
          <p:spPr bwMode="auto">
            <a:xfrm>
              <a:off x="3374" y="2534"/>
              <a:ext cx="32" cy="35"/>
            </a:xfrm>
            <a:custGeom>
              <a:avLst/>
              <a:gdLst>
                <a:gd name="T0" fmla="*/ 0 w 56"/>
                <a:gd name="T1" fmla="*/ 11 h 53"/>
                <a:gd name="T2" fmla="*/ 0 w 56"/>
                <a:gd name="T3" fmla="*/ 9 h 53"/>
                <a:gd name="T4" fmla="*/ 1 w 56"/>
                <a:gd name="T5" fmla="*/ 7 h 53"/>
                <a:gd name="T6" fmla="*/ 2 w 56"/>
                <a:gd name="T7" fmla="*/ 6 h 53"/>
                <a:gd name="T8" fmla="*/ 3 w 56"/>
                <a:gd name="T9" fmla="*/ 3 h 53"/>
                <a:gd name="T10" fmla="*/ 4 w 56"/>
                <a:gd name="T11" fmla="*/ 2 h 53"/>
                <a:gd name="T12" fmla="*/ 6 w 56"/>
                <a:gd name="T13" fmla="*/ 1 h 53"/>
                <a:gd name="T14" fmla="*/ 7 w 56"/>
                <a:gd name="T15" fmla="*/ 1 h 53"/>
                <a:gd name="T16" fmla="*/ 9 w 56"/>
                <a:gd name="T17" fmla="*/ 0 h 53"/>
                <a:gd name="T18" fmla="*/ 11 w 56"/>
                <a:gd name="T19" fmla="*/ 1 h 53"/>
                <a:gd name="T20" fmla="*/ 13 w 56"/>
                <a:gd name="T21" fmla="*/ 1 h 53"/>
                <a:gd name="T22" fmla="*/ 14 w 56"/>
                <a:gd name="T23" fmla="*/ 2 h 53"/>
                <a:gd name="T24" fmla="*/ 15 w 56"/>
                <a:gd name="T25" fmla="*/ 3 h 53"/>
                <a:gd name="T26" fmla="*/ 17 w 56"/>
                <a:gd name="T27" fmla="*/ 6 h 53"/>
                <a:gd name="T28" fmla="*/ 18 w 56"/>
                <a:gd name="T29" fmla="*/ 7 h 53"/>
                <a:gd name="T30" fmla="*/ 18 w 56"/>
                <a:gd name="T31" fmla="*/ 9 h 53"/>
                <a:gd name="T32" fmla="*/ 18 w 56"/>
                <a:gd name="T33" fmla="*/ 11 h 53"/>
                <a:gd name="T34" fmla="*/ 18 w 56"/>
                <a:gd name="T35" fmla="*/ 11 h 53"/>
                <a:gd name="T36" fmla="*/ 18 w 56"/>
                <a:gd name="T37" fmla="*/ 15 h 53"/>
                <a:gd name="T38" fmla="*/ 18 w 56"/>
                <a:gd name="T39" fmla="*/ 17 h 53"/>
                <a:gd name="T40" fmla="*/ 17 w 56"/>
                <a:gd name="T41" fmla="*/ 18 h 53"/>
                <a:gd name="T42" fmla="*/ 15 w 56"/>
                <a:gd name="T43" fmla="*/ 20 h 53"/>
                <a:gd name="T44" fmla="*/ 14 w 56"/>
                <a:gd name="T45" fmla="*/ 22 h 53"/>
                <a:gd name="T46" fmla="*/ 13 w 56"/>
                <a:gd name="T47" fmla="*/ 22 h 53"/>
                <a:gd name="T48" fmla="*/ 11 w 56"/>
                <a:gd name="T49" fmla="*/ 23 h 53"/>
                <a:gd name="T50" fmla="*/ 9 w 56"/>
                <a:gd name="T51" fmla="*/ 23 h 53"/>
                <a:gd name="T52" fmla="*/ 7 w 56"/>
                <a:gd name="T53" fmla="*/ 23 h 53"/>
                <a:gd name="T54" fmla="*/ 6 w 56"/>
                <a:gd name="T55" fmla="*/ 22 h 53"/>
                <a:gd name="T56" fmla="*/ 4 w 56"/>
                <a:gd name="T57" fmla="*/ 22 h 53"/>
                <a:gd name="T58" fmla="*/ 3 w 56"/>
                <a:gd name="T59" fmla="*/ 20 h 53"/>
                <a:gd name="T60" fmla="*/ 2 w 56"/>
                <a:gd name="T61" fmla="*/ 18 h 53"/>
                <a:gd name="T62" fmla="*/ 1 w 56"/>
                <a:gd name="T63" fmla="*/ 17 h 53"/>
                <a:gd name="T64" fmla="*/ 0 w 56"/>
                <a:gd name="T65" fmla="*/ 15 h 53"/>
                <a:gd name="T66" fmla="*/ 0 w 56"/>
                <a:gd name="T67" fmla="*/ 1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6" y="13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3"/>
                  </a:lnTo>
                  <a:lnTo>
                    <a:pt x="55" y="16"/>
                  </a:lnTo>
                  <a:lnTo>
                    <a:pt x="56" y="21"/>
                  </a:lnTo>
                  <a:lnTo>
                    <a:pt x="56" y="26"/>
                  </a:lnTo>
                  <a:lnTo>
                    <a:pt x="56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9" y="46"/>
                  </a:lnTo>
                  <a:lnTo>
                    <a:pt x="6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57"/>
            <p:cNvSpPr>
              <a:spLocks/>
            </p:cNvSpPr>
            <p:nvPr/>
          </p:nvSpPr>
          <p:spPr bwMode="auto">
            <a:xfrm>
              <a:off x="3533" y="2369"/>
              <a:ext cx="32" cy="36"/>
            </a:xfrm>
            <a:custGeom>
              <a:avLst/>
              <a:gdLst>
                <a:gd name="T0" fmla="*/ 0 w 56"/>
                <a:gd name="T1" fmla="*/ 12 h 53"/>
                <a:gd name="T2" fmla="*/ 1 w 56"/>
                <a:gd name="T3" fmla="*/ 10 h 53"/>
                <a:gd name="T4" fmla="*/ 1 w 56"/>
                <a:gd name="T5" fmla="*/ 7 h 53"/>
                <a:gd name="T6" fmla="*/ 2 w 56"/>
                <a:gd name="T7" fmla="*/ 5 h 53"/>
                <a:gd name="T8" fmla="*/ 3 w 56"/>
                <a:gd name="T9" fmla="*/ 3 h 53"/>
                <a:gd name="T10" fmla="*/ 4 w 56"/>
                <a:gd name="T11" fmla="*/ 1 h 53"/>
                <a:gd name="T12" fmla="*/ 6 w 56"/>
                <a:gd name="T13" fmla="*/ 1 h 53"/>
                <a:gd name="T14" fmla="*/ 7 w 56"/>
                <a:gd name="T15" fmla="*/ 0 h 53"/>
                <a:gd name="T16" fmla="*/ 9 w 56"/>
                <a:gd name="T17" fmla="*/ 0 h 53"/>
                <a:gd name="T18" fmla="*/ 11 w 56"/>
                <a:gd name="T19" fmla="*/ 0 h 53"/>
                <a:gd name="T20" fmla="*/ 13 w 56"/>
                <a:gd name="T21" fmla="*/ 1 h 53"/>
                <a:gd name="T22" fmla="*/ 14 w 56"/>
                <a:gd name="T23" fmla="*/ 1 h 53"/>
                <a:gd name="T24" fmla="*/ 16 w 56"/>
                <a:gd name="T25" fmla="*/ 3 h 53"/>
                <a:gd name="T26" fmla="*/ 17 w 56"/>
                <a:gd name="T27" fmla="*/ 5 h 53"/>
                <a:gd name="T28" fmla="*/ 18 w 56"/>
                <a:gd name="T29" fmla="*/ 7 h 53"/>
                <a:gd name="T30" fmla="*/ 18 w 56"/>
                <a:gd name="T31" fmla="*/ 10 h 53"/>
                <a:gd name="T32" fmla="*/ 18 w 56"/>
                <a:gd name="T33" fmla="*/ 12 h 53"/>
                <a:gd name="T34" fmla="*/ 18 w 56"/>
                <a:gd name="T35" fmla="*/ 12 h 53"/>
                <a:gd name="T36" fmla="*/ 18 w 56"/>
                <a:gd name="T37" fmla="*/ 15 h 53"/>
                <a:gd name="T38" fmla="*/ 18 w 56"/>
                <a:gd name="T39" fmla="*/ 17 h 53"/>
                <a:gd name="T40" fmla="*/ 17 w 56"/>
                <a:gd name="T41" fmla="*/ 20 h 53"/>
                <a:gd name="T42" fmla="*/ 16 w 56"/>
                <a:gd name="T43" fmla="*/ 21 h 53"/>
                <a:gd name="T44" fmla="*/ 14 w 56"/>
                <a:gd name="T45" fmla="*/ 22 h 53"/>
                <a:gd name="T46" fmla="*/ 13 w 56"/>
                <a:gd name="T47" fmla="*/ 23 h 53"/>
                <a:gd name="T48" fmla="*/ 11 w 56"/>
                <a:gd name="T49" fmla="*/ 24 h 53"/>
                <a:gd name="T50" fmla="*/ 9 w 56"/>
                <a:gd name="T51" fmla="*/ 24 h 53"/>
                <a:gd name="T52" fmla="*/ 7 w 56"/>
                <a:gd name="T53" fmla="*/ 24 h 53"/>
                <a:gd name="T54" fmla="*/ 6 w 56"/>
                <a:gd name="T55" fmla="*/ 23 h 53"/>
                <a:gd name="T56" fmla="*/ 4 w 56"/>
                <a:gd name="T57" fmla="*/ 22 h 53"/>
                <a:gd name="T58" fmla="*/ 3 w 56"/>
                <a:gd name="T59" fmla="*/ 21 h 53"/>
                <a:gd name="T60" fmla="*/ 2 w 56"/>
                <a:gd name="T61" fmla="*/ 20 h 53"/>
                <a:gd name="T62" fmla="*/ 1 w 56"/>
                <a:gd name="T63" fmla="*/ 17 h 53"/>
                <a:gd name="T64" fmla="*/ 1 w 56"/>
                <a:gd name="T65" fmla="*/ 15 h 53"/>
                <a:gd name="T66" fmla="*/ 0 w 56"/>
                <a:gd name="T67" fmla="*/ 12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7"/>
                  </a:moveTo>
                  <a:lnTo>
                    <a:pt x="2" y="20"/>
                  </a:lnTo>
                  <a:lnTo>
                    <a:pt x="3" y="15"/>
                  </a:lnTo>
                  <a:lnTo>
                    <a:pt x="5" y="12"/>
                  </a:lnTo>
                  <a:lnTo>
                    <a:pt x="9" y="7"/>
                  </a:lnTo>
                  <a:lnTo>
                    <a:pt x="12" y="3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3"/>
                  </a:lnTo>
                  <a:lnTo>
                    <a:pt x="49" y="7"/>
                  </a:lnTo>
                  <a:lnTo>
                    <a:pt x="52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5"/>
                  </a:lnTo>
                  <a:lnTo>
                    <a:pt x="43" y="48"/>
                  </a:lnTo>
                  <a:lnTo>
                    <a:pt x="40" y="50"/>
                  </a:lnTo>
                  <a:lnTo>
                    <a:pt x="35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0"/>
                  </a:lnTo>
                  <a:lnTo>
                    <a:pt x="12" y="48"/>
                  </a:lnTo>
                  <a:lnTo>
                    <a:pt x="9" y="45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Rectangle 165"/>
            <p:cNvSpPr>
              <a:spLocks noChangeArrowheads="1"/>
            </p:cNvSpPr>
            <p:nvPr/>
          </p:nvSpPr>
          <p:spPr bwMode="auto">
            <a:xfrm>
              <a:off x="4601" y="2303"/>
              <a:ext cx="55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en-US" altLang="zh-CN"/>
            </a:p>
          </p:txBody>
        </p:sp>
        <p:sp>
          <p:nvSpPr>
            <p:cNvPr id="18" name="Freeform 168"/>
            <p:cNvSpPr>
              <a:spLocks noEditPoints="1"/>
            </p:cNvSpPr>
            <p:nvPr/>
          </p:nvSpPr>
          <p:spPr bwMode="auto">
            <a:xfrm>
              <a:off x="3074" y="2160"/>
              <a:ext cx="17" cy="155"/>
            </a:xfrm>
            <a:custGeom>
              <a:avLst/>
              <a:gdLst>
                <a:gd name="T0" fmla="*/ 4 w 28"/>
                <a:gd name="T1" fmla="*/ 90 h 236"/>
                <a:gd name="T2" fmla="*/ 2 w 28"/>
                <a:gd name="T3" fmla="*/ 91 h 236"/>
                <a:gd name="T4" fmla="*/ 1 w 28"/>
                <a:gd name="T5" fmla="*/ 93 h 236"/>
                <a:gd name="T6" fmla="*/ 0 w 28"/>
                <a:gd name="T7" fmla="*/ 95 h 236"/>
                <a:gd name="T8" fmla="*/ 0 w 28"/>
                <a:gd name="T9" fmla="*/ 97 h 236"/>
                <a:gd name="T10" fmla="*/ 1 w 28"/>
                <a:gd name="T11" fmla="*/ 99 h 236"/>
                <a:gd name="T12" fmla="*/ 2 w 28"/>
                <a:gd name="T13" fmla="*/ 100 h 236"/>
                <a:gd name="T14" fmla="*/ 4 w 28"/>
                <a:gd name="T15" fmla="*/ 101 h 236"/>
                <a:gd name="T16" fmla="*/ 5 w 28"/>
                <a:gd name="T17" fmla="*/ 102 h 236"/>
                <a:gd name="T18" fmla="*/ 7 w 28"/>
                <a:gd name="T19" fmla="*/ 101 h 236"/>
                <a:gd name="T20" fmla="*/ 9 w 28"/>
                <a:gd name="T21" fmla="*/ 100 h 236"/>
                <a:gd name="T22" fmla="*/ 10 w 28"/>
                <a:gd name="T23" fmla="*/ 99 h 236"/>
                <a:gd name="T24" fmla="*/ 10 w 28"/>
                <a:gd name="T25" fmla="*/ 96 h 236"/>
                <a:gd name="T26" fmla="*/ 10 w 28"/>
                <a:gd name="T27" fmla="*/ 94 h 236"/>
                <a:gd name="T28" fmla="*/ 9 w 28"/>
                <a:gd name="T29" fmla="*/ 92 h 236"/>
                <a:gd name="T30" fmla="*/ 7 w 28"/>
                <a:gd name="T31" fmla="*/ 90 h 236"/>
                <a:gd name="T32" fmla="*/ 5 w 28"/>
                <a:gd name="T33" fmla="*/ 90 h 236"/>
                <a:gd name="T34" fmla="*/ 5 w 28"/>
                <a:gd name="T35" fmla="*/ 90 h 236"/>
                <a:gd name="T36" fmla="*/ 4 w 28"/>
                <a:gd name="T37" fmla="*/ 0 h 236"/>
                <a:gd name="T38" fmla="*/ 2 w 28"/>
                <a:gd name="T39" fmla="*/ 1 h 236"/>
                <a:gd name="T40" fmla="*/ 1 w 28"/>
                <a:gd name="T41" fmla="*/ 2 h 236"/>
                <a:gd name="T42" fmla="*/ 0 w 28"/>
                <a:gd name="T43" fmla="*/ 5 h 236"/>
                <a:gd name="T44" fmla="*/ 0 w 28"/>
                <a:gd name="T45" fmla="*/ 7 h 236"/>
                <a:gd name="T46" fmla="*/ 1 w 28"/>
                <a:gd name="T47" fmla="*/ 9 h 236"/>
                <a:gd name="T48" fmla="*/ 2 w 28"/>
                <a:gd name="T49" fmla="*/ 11 h 236"/>
                <a:gd name="T50" fmla="*/ 4 w 28"/>
                <a:gd name="T51" fmla="*/ 11 h 236"/>
                <a:gd name="T52" fmla="*/ 5 w 28"/>
                <a:gd name="T53" fmla="*/ 11 h 236"/>
                <a:gd name="T54" fmla="*/ 7 w 28"/>
                <a:gd name="T55" fmla="*/ 11 h 236"/>
                <a:gd name="T56" fmla="*/ 9 w 28"/>
                <a:gd name="T57" fmla="*/ 9 h 236"/>
                <a:gd name="T58" fmla="*/ 10 w 28"/>
                <a:gd name="T59" fmla="*/ 7 h 236"/>
                <a:gd name="T60" fmla="*/ 10 w 28"/>
                <a:gd name="T61" fmla="*/ 5 h 236"/>
                <a:gd name="T62" fmla="*/ 10 w 28"/>
                <a:gd name="T63" fmla="*/ 3 h 236"/>
                <a:gd name="T64" fmla="*/ 9 w 28"/>
                <a:gd name="T65" fmla="*/ 2 h 236"/>
                <a:gd name="T66" fmla="*/ 7 w 28"/>
                <a:gd name="T67" fmla="*/ 0 h 236"/>
                <a:gd name="T68" fmla="*/ 5 w 28"/>
                <a:gd name="T69" fmla="*/ 0 h 236"/>
                <a:gd name="T70" fmla="*/ 5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0" y="209"/>
                  </a:lnTo>
                  <a:lnTo>
                    <a:pt x="9" y="209"/>
                  </a:lnTo>
                  <a:lnTo>
                    <a:pt x="5" y="211"/>
                  </a:lnTo>
                  <a:lnTo>
                    <a:pt x="3" y="213"/>
                  </a:lnTo>
                  <a:lnTo>
                    <a:pt x="2" y="214"/>
                  </a:lnTo>
                  <a:lnTo>
                    <a:pt x="0" y="218"/>
                  </a:lnTo>
                  <a:lnTo>
                    <a:pt x="0" y="219"/>
                  </a:lnTo>
                  <a:lnTo>
                    <a:pt x="0" y="223"/>
                  </a:lnTo>
                  <a:lnTo>
                    <a:pt x="0" y="225"/>
                  </a:lnTo>
                  <a:lnTo>
                    <a:pt x="0" y="228"/>
                  </a:lnTo>
                  <a:lnTo>
                    <a:pt x="2" y="230"/>
                  </a:lnTo>
                  <a:lnTo>
                    <a:pt x="3" y="231"/>
                  </a:lnTo>
                  <a:lnTo>
                    <a:pt x="5" y="233"/>
                  </a:lnTo>
                  <a:lnTo>
                    <a:pt x="9" y="235"/>
                  </a:lnTo>
                  <a:lnTo>
                    <a:pt x="10" y="235"/>
                  </a:lnTo>
                  <a:lnTo>
                    <a:pt x="14" y="236"/>
                  </a:lnTo>
                  <a:lnTo>
                    <a:pt x="16" y="235"/>
                  </a:lnTo>
                  <a:lnTo>
                    <a:pt x="19" y="235"/>
                  </a:lnTo>
                  <a:lnTo>
                    <a:pt x="21" y="233"/>
                  </a:lnTo>
                  <a:lnTo>
                    <a:pt x="23" y="231"/>
                  </a:lnTo>
                  <a:lnTo>
                    <a:pt x="24" y="230"/>
                  </a:lnTo>
                  <a:lnTo>
                    <a:pt x="26" y="228"/>
                  </a:lnTo>
                  <a:lnTo>
                    <a:pt x="26" y="225"/>
                  </a:lnTo>
                  <a:lnTo>
                    <a:pt x="28" y="223"/>
                  </a:lnTo>
                  <a:lnTo>
                    <a:pt x="26" y="219"/>
                  </a:lnTo>
                  <a:lnTo>
                    <a:pt x="26" y="218"/>
                  </a:lnTo>
                  <a:lnTo>
                    <a:pt x="24" y="214"/>
                  </a:lnTo>
                  <a:lnTo>
                    <a:pt x="23" y="213"/>
                  </a:lnTo>
                  <a:lnTo>
                    <a:pt x="21" y="211"/>
                  </a:lnTo>
                  <a:lnTo>
                    <a:pt x="19" y="209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69"/>
            <p:cNvSpPr>
              <a:spLocks/>
            </p:cNvSpPr>
            <p:nvPr/>
          </p:nvSpPr>
          <p:spPr bwMode="auto">
            <a:xfrm>
              <a:off x="3074" y="2298"/>
              <a:ext cx="17" cy="17"/>
            </a:xfrm>
            <a:custGeom>
              <a:avLst/>
              <a:gdLst>
                <a:gd name="T0" fmla="*/ 5 w 28"/>
                <a:gd name="T1" fmla="*/ 0 h 27"/>
                <a:gd name="T2" fmla="*/ 4 w 28"/>
                <a:gd name="T3" fmla="*/ 0 h 27"/>
                <a:gd name="T4" fmla="*/ 3 w 28"/>
                <a:gd name="T5" fmla="*/ 0 h 27"/>
                <a:gd name="T6" fmla="*/ 2 w 28"/>
                <a:gd name="T7" fmla="*/ 1 h 27"/>
                <a:gd name="T8" fmla="*/ 1 w 28"/>
                <a:gd name="T9" fmla="*/ 2 h 27"/>
                <a:gd name="T10" fmla="*/ 1 w 28"/>
                <a:gd name="T11" fmla="*/ 2 h 27"/>
                <a:gd name="T12" fmla="*/ 0 w 28"/>
                <a:gd name="T13" fmla="*/ 4 h 27"/>
                <a:gd name="T14" fmla="*/ 0 w 28"/>
                <a:gd name="T15" fmla="*/ 4 h 27"/>
                <a:gd name="T16" fmla="*/ 0 w 28"/>
                <a:gd name="T17" fmla="*/ 6 h 27"/>
                <a:gd name="T18" fmla="*/ 0 w 28"/>
                <a:gd name="T19" fmla="*/ 6 h 27"/>
                <a:gd name="T20" fmla="*/ 0 w 28"/>
                <a:gd name="T21" fmla="*/ 8 h 27"/>
                <a:gd name="T22" fmla="*/ 1 w 28"/>
                <a:gd name="T23" fmla="*/ 8 h 27"/>
                <a:gd name="T24" fmla="*/ 1 w 28"/>
                <a:gd name="T25" fmla="*/ 9 h 27"/>
                <a:gd name="T26" fmla="*/ 2 w 28"/>
                <a:gd name="T27" fmla="*/ 9 h 27"/>
                <a:gd name="T28" fmla="*/ 3 w 28"/>
                <a:gd name="T29" fmla="*/ 10 h 27"/>
                <a:gd name="T30" fmla="*/ 4 w 28"/>
                <a:gd name="T31" fmla="*/ 10 h 27"/>
                <a:gd name="T32" fmla="*/ 5 w 28"/>
                <a:gd name="T33" fmla="*/ 11 h 27"/>
                <a:gd name="T34" fmla="*/ 5 w 28"/>
                <a:gd name="T35" fmla="*/ 11 h 27"/>
                <a:gd name="T36" fmla="*/ 6 w 28"/>
                <a:gd name="T37" fmla="*/ 10 h 27"/>
                <a:gd name="T38" fmla="*/ 7 w 28"/>
                <a:gd name="T39" fmla="*/ 10 h 27"/>
                <a:gd name="T40" fmla="*/ 8 w 28"/>
                <a:gd name="T41" fmla="*/ 9 h 27"/>
                <a:gd name="T42" fmla="*/ 9 w 28"/>
                <a:gd name="T43" fmla="*/ 9 h 27"/>
                <a:gd name="T44" fmla="*/ 9 w 28"/>
                <a:gd name="T45" fmla="*/ 8 h 27"/>
                <a:gd name="T46" fmla="*/ 10 w 28"/>
                <a:gd name="T47" fmla="*/ 8 h 27"/>
                <a:gd name="T48" fmla="*/ 10 w 28"/>
                <a:gd name="T49" fmla="*/ 6 h 27"/>
                <a:gd name="T50" fmla="*/ 10 w 28"/>
                <a:gd name="T51" fmla="*/ 6 h 27"/>
                <a:gd name="T52" fmla="*/ 10 w 28"/>
                <a:gd name="T53" fmla="*/ 4 h 27"/>
                <a:gd name="T54" fmla="*/ 10 w 28"/>
                <a:gd name="T55" fmla="*/ 4 h 27"/>
                <a:gd name="T56" fmla="*/ 9 w 28"/>
                <a:gd name="T57" fmla="*/ 2 h 27"/>
                <a:gd name="T58" fmla="*/ 9 w 28"/>
                <a:gd name="T59" fmla="*/ 2 h 27"/>
                <a:gd name="T60" fmla="*/ 8 w 28"/>
                <a:gd name="T61" fmla="*/ 1 h 27"/>
                <a:gd name="T62" fmla="*/ 7 w 28"/>
                <a:gd name="T63" fmla="*/ 0 h 27"/>
                <a:gd name="T64" fmla="*/ 6 w 28"/>
                <a:gd name="T65" fmla="*/ 0 h 27"/>
                <a:gd name="T66" fmla="*/ 5 w 28"/>
                <a:gd name="T67" fmla="*/ 0 h 27"/>
                <a:gd name="T68" fmla="*/ 5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6"/>
                  </a:lnTo>
                  <a:lnTo>
                    <a:pt x="10" y="26"/>
                  </a:lnTo>
                  <a:lnTo>
                    <a:pt x="14" y="27"/>
                  </a:lnTo>
                  <a:lnTo>
                    <a:pt x="16" y="26"/>
                  </a:lnTo>
                  <a:lnTo>
                    <a:pt x="19" y="26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1"/>
                  </a:lnTo>
                  <a:lnTo>
                    <a:pt x="26" y="19"/>
                  </a:lnTo>
                  <a:lnTo>
                    <a:pt x="26" y="16"/>
                  </a:lnTo>
                  <a:lnTo>
                    <a:pt x="28" y="14"/>
                  </a:lnTo>
                  <a:lnTo>
                    <a:pt x="26" y="10"/>
                  </a:lnTo>
                  <a:lnTo>
                    <a:pt x="26" y="9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70"/>
            <p:cNvSpPr>
              <a:spLocks/>
            </p:cNvSpPr>
            <p:nvPr/>
          </p:nvSpPr>
          <p:spPr bwMode="auto">
            <a:xfrm>
              <a:off x="3074" y="2160"/>
              <a:ext cx="17" cy="17"/>
            </a:xfrm>
            <a:custGeom>
              <a:avLst/>
              <a:gdLst>
                <a:gd name="T0" fmla="*/ 5 w 28"/>
                <a:gd name="T1" fmla="*/ 0 h 25"/>
                <a:gd name="T2" fmla="*/ 4 w 28"/>
                <a:gd name="T3" fmla="*/ 0 h 25"/>
                <a:gd name="T4" fmla="*/ 3 w 28"/>
                <a:gd name="T5" fmla="*/ 0 h 25"/>
                <a:gd name="T6" fmla="*/ 2 w 28"/>
                <a:gd name="T7" fmla="*/ 1 h 25"/>
                <a:gd name="T8" fmla="*/ 1 w 28"/>
                <a:gd name="T9" fmla="*/ 2 h 25"/>
                <a:gd name="T10" fmla="*/ 1 w 28"/>
                <a:gd name="T11" fmla="*/ 2 h 25"/>
                <a:gd name="T12" fmla="*/ 0 w 28"/>
                <a:gd name="T13" fmla="*/ 3 h 25"/>
                <a:gd name="T14" fmla="*/ 0 w 28"/>
                <a:gd name="T15" fmla="*/ 5 h 25"/>
                <a:gd name="T16" fmla="*/ 0 w 28"/>
                <a:gd name="T17" fmla="*/ 5 h 25"/>
                <a:gd name="T18" fmla="*/ 0 w 28"/>
                <a:gd name="T19" fmla="*/ 7 h 25"/>
                <a:gd name="T20" fmla="*/ 0 w 28"/>
                <a:gd name="T21" fmla="*/ 8 h 25"/>
                <a:gd name="T22" fmla="*/ 1 w 28"/>
                <a:gd name="T23" fmla="*/ 10 h 25"/>
                <a:gd name="T24" fmla="*/ 1 w 28"/>
                <a:gd name="T25" fmla="*/ 10 h 25"/>
                <a:gd name="T26" fmla="*/ 2 w 28"/>
                <a:gd name="T27" fmla="*/ 11 h 25"/>
                <a:gd name="T28" fmla="*/ 3 w 28"/>
                <a:gd name="T29" fmla="*/ 12 h 25"/>
                <a:gd name="T30" fmla="*/ 4 w 28"/>
                <a:gd name="T31" fmla="*/ 12 h 25"/>
                <a:gd name="T32" fmla="*/ 5 w 28"/>
                <a:gd name="T33" fmla="*/ 12 h 25"/>
                <a:gd name="T34" fmla="*/ 5 w 28"/>
                <a:gd name="T35" fmla="*/ 12 h 25"/>
                <a:gd name="T36" fmla="*/ 6 w 28"/>
                <a:gd name="T37" fmla="*/ 12 h 25"/>
                <a:gd name="T38" fmla="*/ 7 w 28"/>
                <a:gd name="T39" fmla="*/ 12 h 25"/>
                <a:gd name="T40" fmla="*/ 8 w 28"/>
                <a:gd name="T41" fmla="*/ 11 h 25"/>
                <a:gd name="T42" fmla="*/ 9 w 28"/>
                <a:gd name="T43" fmla="*/ 10 h 25"/>
                <a:gd name="T44" fmla="*/ 9 w 28"/>
                <a:gd name="T45" fmla="*/ 10 h 25"/>
                <a:gd name="T46" fmla="*/ 10 w 28"/>
                <a:gd name="T47" fmla="*/ 8 h 25"/>
                <a:gd name="T48" fmla="*/ 10 w 28"/>
                <a:gd name="T49" fmla="*/ 7 h 25"/>
                <a:gd name="T50" fmla="*/ 10 w 28"/>
                <a:gd name="T51" fmla="*/ 5 h 25"/>
                <a:gd name="T52" fmla="*/ 10 w 28"/>
                <a:gd name="T53" fmla="*/ 5 h 25"/>
                <a:gd name="T54" fmla="*/ 10 w 28"/>
                <a:gd name="T55" fmla="*/ 3 h 25"/>
                <a:gd name="T56" fmla="*/ 9 w 28"/>
                <a:gd name="T57" fmla="*/ 2 h 25"/>
                <a:gd name="T58" fmla="*/ 9 w 28"/>
                <a:gd name="T59" fmla="*/ 2 h 25"/>
                <a:gd name="T60" fmla="*/ 8 w 28"/>
                <a:gd name="T61" fmla="*/ 1 h 25"/>
                <a:gd name="T62" fmla="*/ 7 w 28"/>
                <a:gd name="T63" fmla="*/ 0 h 25"/>
                <a:gd name="T64" fmla="*/ 6 w 28"/>
                <a:gd name="T65" fmla="*/ 0 h 25"/>
                <a:gd name="T66" fmla="*/ 5 w 28"/>
                <a:gd name="T67" fmla="*/ 0 h 25"/>
                <a:gd name="T68" fmla="*/ 5 w 28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5"/>
                <a:gd name="T107" fmla="*/ 28 w 28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5">
                  <a:moveTo>
                    <a:pt x="14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9" y="25"/>
                  </a:lnTo>
                  <a:lnTo>
                    <a:pt x="10" y="25"/>
                  </a:lnTo>
                  <a:lnTo>
                    <a:pt x="14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4"/>
                  </a:lnTo>
                  <a:lnTo>
                    <a:pt x="23" y="22"/>
                  </a:lnTo>
                  <a:lnTo>
                    <a:pt x="24" y="20"/>
                  </a:lnTo>
                  <a:lnTo>
                    <a:pt x="26" y="17"/>
                  </a:lnTo>
                  <a:lnTo>
                    <a:pt x="26" y="15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4" y="5"/>
                  </a:lnTo>
                  <a:lnTo>
                    <a:pt x="23" y="4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Line 171"/>
            <p:cNvSpPr>
              <a:spLocks noChangeShapeType="1"/>
            </p:cNvSpPr>
            <p:nvPr/>
          </p:nvSpPr>
          <p:spPr bwMode="auto">
            <a:xfrm>
              <a:off x="3086" y="2177"/>
              <a:ext cx="36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72"/>
            <p:cNvSpPr>
              <a:spLocks/>
            </p:cNvSpPr>
            <p:nvPr/>
          </p:nvSpPr>
          <p:spPr bwMode="auto">
            <a:xfrm>
              <a:off x="4498" y="2234"/>
              <a:ext cx="32" cy="35"/>
            </a:xfrm>
            <a:custGeom>
              <a:avLst/>
              <a:gdLst>
                <a:gd name="T0" fmla="*/ 0 w 56"/>
                <a:gd name="T1" fmla="*/ 12 h 54"/>
                <a:gd name="T2" fmla="*/ 0 w 56"/>
                <a:gd name="T3" fmla="*/ 8 h 54"/>
                <a:gd name="T4" fmla="*/ 1 w 56"/>
                <a:gd name="T5" fmla="*/ 6 h 54"/>
                <a:gd name="T6" fmla="*/ 2 w 56"/>
                <a:gd name="T7" fmla="*/ 5 h 54"/>
                <a:gd name="T8" fmla="*/ 2 w 56"/>
                <a:gd name="T9" fmla="*/ 3 h 54"/>
                <a:gd name="T10" fmla="*/ 4 w 56"/>
                <a:gd name="T11" fmla="*/ 2 h 54"/>
                <a:gd name="T12" fmla="*/ 6 w 56"/>
                <a:gd name="T13" fmla="*/ 1 h 54"/>
                <a:gd name="T14" fmla="*/ 7 w 56"/>
                <a:gd name="T15" fmla="*/ 0 h 54"/>
                <a:gd name="T16" fmla="*/ 9 w 56"/>
                <a:gd name="T17" fmla="*/ 0 h 54"/>
                <a:gd name="T18" fmla="*/ 11 w 56"/>
                <a:gd name="T19" fmla="*/ 0 h 54"/>
                <a:gd name="T20" fmla="*/ 13 w 56"/>
                <a:gd name="T21" fmla="*/ 1 h 54"/>
                <a:gd name="T22" fmla="*/ 14 w 56"/>
                <a:gd name="T23" fmla="*/ 2 h 54"/>
                <a:gd name="T24" fmla="*/ 15 w 56"/>
                <a:gd name="T25" fmla="*/ 3 h 54"/>
                <a:gd name="T26" fmla="*/ 17 w 56"/>
                <a:gd name="T27" fmla="*/ 5 h 54"/>
                <a:gd name="T28" fmla="*/ 18 w 56"/>
                <a:gd name="T29" fmla="*/ 6 h 54"/>
                <a:gd name="T30" fmla="*/ 18 w 56"/>
                <a:gd name="T31" fmla="*/ 8 h 54"/>
                <a:gd name="T32" fmla="*/ 18 w 56"/>
                <a:gd name="T33" fmla="*/ 12 h 54"/>
                <a:gd name="T34" fmla="*/ 18 w 56"/>
                <a:gd name="T35" fmla="*/ 12 h 54"/>
                <a:gd name="T36" fmla="*/ 18 w 56"/>
                <a:gd name="T37" fmla="*/ 14 h 54"/>
                <a:gd name="T38" fmla="*/ 18 w 56"/>
                <a:gd name="T39" fmla="*/ 16 h 54"/>
                <a:gd name="T40" fmla="*/ 17 w 56"/>
                <a:gd name="T41" fmla="*/ 18 h 54"/>
                <a:gd name="T42" fmla="*/ 15 w 56"/>
                <a:gd name="T43" fmla="*/ 19 h 54"/>
                <a:gd name="T44" fmla="*/ 14 w 56"/>
                <a:gd name="T45" fmla="*/ 21 h 54"/>
                <a:gd name="T46" fmla="*/ 13 w 56"/>
                <a:gd name="T47" fmla="*/ 21 h 54"/>
                <a:gd name="T48" fmla="*/ 11 w 56"/>
                <a:gd name="T49" fmla="*/ 22 h 54"/>
                <a:gd name="T50" fmla="*/ 9 w 56"/>
                <a:gd name="T51" fmla="*/ 23 h 54"/>
                <a:gd name="T52" fmla="*/ 7 w 56"/>
                <a:gd name="T53" fmla="*/ 22 h 54"/>
                <a:gd name="T54" fmla="*/ 6 w 56"/>
                <a:gd name="T55" fmla="*/ 21 h 54"/>
                <a:gd name="T56" fmla="*/ 4 w 56"/>
                <a:gd name="T57" fmla="*/ 21 h 54"/>
                <a:gd name="T58" fmla="*/ 2 w 56"/>
                <a:gd name="T59" fmla="*/ 19 h 54"/>
                <a:gd name="T60" fmla="*/ 2 w 56"/>
                <a:gd name="T61" fmla="*/ 18 h 54"/>
                <a:gd name="T62" fmla="*/ 1 w 56"/>
                <a:gd name="T63" fmla="*/ 16 h 54"/>
                <a:gd name="T64" fmla="*/ 0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Line 173"/>
            <p:cNvSpPr>
              <a:spLocks noChangeShapeType="1"/>
            </p:cNvSpPr>
            <p:nvPr/>
          </p:nvSpPr>
          <p:spPr bwMode="auto">
            <a:xfrm flipH="1" flipV="1">
              <a:off x="3539" y="2252"/>
              <a:ext cx="1" cy="10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74"/>
            <p:cNvSpPr>
              <a:spLocks/>
            </p:cNvSpPr>
            <p:nvPr/>
          </p:nvSpPr>
          <p:spPr bwMode="auto">
            <a:xfrm>
              <a:off x="4393" y="2249"/>
              <a:ext cx="325" cy="130"/>
            </a:xfrm>
            <a:custGeom>
              <a:avLst/>
              <a:gdLst>
                <a:gd name="T0" fmla="*/ 188 w 561"/>
                <a:gd name="T1" fmla="*/ 86 h 197"/>
                <a:gd name="T2" fmla="*/ 188 w 561"/>
                <a:gd name="T3" fmla="*/ 1 h 197"/>
                <a:gd name="T4" fmla="*/ 0 w 561"/>
                <a:gd name="T5" fmla="*/ 0 h 197"/>
                <a:gd name="T6" fmla="*/ 0 60000 65536"/>
                <a:gd name="T7" fmla="*/ 0 60000 65536"/>
                <a:gd name="T8" fmla="*/ 0 60000 65536"/>
                <a:gd name="T9" fmla="*/ 0 w 561"/>
                <a:gd name="T10" fmla="*/ 0 h 197"/>
                <a:gd name="T11" fmla="*/ 561 w 561"/>
                <a:gd name="T12" fmla="*/ 197 h 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1" h="197">
                  <a:moveTo>
                    <a:pt x="561" y="197"/>
                  </a:moveTo>
                  <a:lnTo>
                    <a:pt x="561" y="3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Line 175"/>
            <p:cNvSpPr>
              <a:spLocks noChangeShapeType="1"/>
            </p:cNvSpPr>
            <p:nvPr/>
          </p:nvSpPr>
          <p:spPr bwMode="auto">
            <a:xfrm flipH="1" flipV="1">
              <a:off x="4513" y="2251"/>
              <a:ext cx="1" cy="3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76"/>
            <p:cNvSpPr>
              <a:spLocks/>
            </p:cNvSpPr>
            <p:nvPr/>
          </p:nvSpPr>
          <p:spPr bwMode="auto">
            <a:xfrm>
              <a:off x="4139" y="2210"/>
              <a:ext cx="254" cy="42"/>
            </a:xfrm>
            <a:custGeom>
              <a:avLst/>
              <a:gdLst>
                <a:gd name="T0" fmla="*/ 0 w 439"/>
                <a:gd name="T1" fmla="*/ 25 h 63"/>
                <a:gd name="T2" fmla="*/ 1 w 439"/>
                <a:gd name="T3" fmla="*/ 20 h 63"/>
                <a:gd name="T4" fmla="*/ 2 w 439"/>
                <a:gd name="T5" fmla="*/ 15 h 63"/>
                <a:gd name="T6" fmla="*/ 5 w 439"/>
                <a:gd name="T7" fmla="*/ 9 h 63"/>
                <a:gd name="T8" fmla="*/ 8 w 439"/>
                <a:gd name="T9" fmla="*/ 5 h 63"/>
                <a:gd name="T10" fmla="*/ 11 w 439"/>
                <a:gd name="T11" fmla="*/ 2 h 63"/>
                <a:gd name="T12" fmla="*/ 14 w 439"/>
                <a:gd name="T13" fmla="*/ 1 h 63"/>
                <a:gd name="T14" fmla="*/ 18 w 439"/>
                <a:gd name="T15" fmla="*/ 0 h 63"/>
                <a:gd name="T16" fmla="*/ 21 w 439"/>
                <a:gd name="T17" fmla="*/ 0 h 63"/>
                <a:gd name="T18" fmla="*/ 25 w 439"/>
                <a:gd name="T19" fmla="*/ 1 h 63"/>
                <a:gd name="T20" fmla="*/ 28 w 439"/>
                <a:gd name="T21" fmla="*/ 3 h 63"/>
                <a:gd name="T22" fmla="*/ 31 w 439"/>
                <a:gd name="T23" fmla="*/ 7 h 63"/>
                <a:gd name="T24" fmla="*/ 34 w 439"/>
                <a:gd name="T25" fmla="*/ 13 h 63"/>
                <a:gd name="T26" fmla="*/ 36 w 439"/>
                <a:gd name="T27" fmla="*/ 18 h 63"/>
                <a:gd name="T28" fmla="*/ 36 w 439"/>
                <a:gd name="T29" fmla="*/ 23 h 63"/>
                <a:gd name="T30" fmla="*/ 37 w 439"/>
                <a:gd name="T31" fmla="*/ 28 h 63"/>
                <a:gd name="T32" fmla="*/ 37 w 439"/>
                <a:gd name="T33" fmla="*/ 22 h 63"/>
                <a:gd name="T34" fmla="*/ 38 w 439"/>
                <a:gd name="T35" fmla="*/ 17 h 63"/>
                <a:gd name="T36" fmla="*/ 39 w 439"/>
                <a:gd name="T37" fmla="*/ 13 h 63"/>
                <a:gd name="T38" fmla="*/ 43 w 439"/>
                <a:gd name="T39" fmla="*/ 7 h 63"/>
                <a:gd name="T40" fmla="*/ 46 w 439"/>
                <a:gd name="T41" fmla="*/ 3 h 63"/>
                <a:gd name="T42" fmla="*/ 49 w 439"/>
                <a:gd name="T43" fmla="*/ 1 h 63"/>
                <a:gd name="T44" fmla="*/ 52 w 439"/>
                <a:gd name="T45" fmla="*/ 0 h 63"/>
                <a:gd name="T46" fmla="*/ 56 w 439"/>
                <a:gd name="T47" fmla="*/ 0 h 63"/>
                <a:gd name="T48" fmla="*/ 60 w 439"/>
                <a:gd name="T49" fmla="*/ 1 h 63"/>
                <a:gd name="T50" fmla="*/ 63 w 439"/>
                <a:gd name="T51" fmla="*/ 3 h 63"/>
                <a:gd name="T52" fmla="*/ 67 w 439"/>
                <a:gd name="T53" fmla="*/ 5 h 63"/>
                <a:gd name="T54" fmla="*/ 69 w 439"/>
                <a:gd name="T55" fmla="*/ 11 h 63"/>
                <a:gd name="T56" fmla="*/ 71 w 439"/>
                <a:gd name="T57" fmla="*/ 15 h 63"/>
                <a:gd name="T58" fmla="*/ 73 w 439"/>
                <a:gd name="T59" fmla="*/ 21 h 63"/>
                <a:gd name="T60" fmla="*/ 73 w 439"/>
                <a:gd name="T61" fmla="*/ 26 h 63"/>
                <a:gd name="T62" fmla="*/ 73 w 439"/>
                <a:gd name="T63" fmla="*/ 25 h 63"/>
                <a:gd name="T64" fmla="*/ 73 w 439"/>
                <a:gd name="T65" fmla="*/ 20 h 63"/>
                <a:gd name="T66" fmla="*/ 76 w 439"/>
                <a:gd name="T67" fmla="*/ 15 h 63"/>
                <a:gd name="T68" fmla="*/ 78 w 439"/>
                <a:gd name="T69" fmla="*/ 9 h 63"/>
                <a:gd name="T70" fmla="*/ 80 w 439"/>
                <a:gd name="T71" fmla="*/ 5 h 63"/>
                <a:gd name="T72" fmla="*/ 84 w 439"/>
                <a:gd name="T73" fmla="*/ 2 h 63"/>
                <a:gd name="T74" fmla="*/ 87 w 439"/>
                <a:gd name="T75" fmla="*/ 1 h 63"/>
                <a:gd name="T76" fmla="*/ 91 w 439"/>
                <a:gd name="T77" fmla="*/ 0 h 63"/>
                <a:gd name="T78" fmla="*/ 95 w 439"/>
                <a:gd name="T79" fmla="*/ 0 h 63"/>
                <a:gd name="T80" fmla="*/ 98 w 439"/>
                <a:gd name="T81" fmla="*/ 1 h 63"/>
                <a:gd name="T82" fmla="*/ 101 w 439"/>
                <a:gd name="T83" fmla="*/ 3 h 63"/>
                <a:gd name="T84" fmla="*/ 104 w 439"/>
                <a:gd name="T85" fmla="*/ 7 h 63"/>
                <a:gd name="T86" fmla="*/ 108 w 439"/>
                <a:gd name="T87" fmla="*/ 13 h 63"/>
                <a:gd name="T88" fmla="*/ 109 w 439"/>
                <a:gd name="T89" fmla="*/ 18 h 63"/>
                <a:gd name="T90" fmla="*/ 110 w 439"/>
                <a:gd name="T91" fmla="*/ 23 h 63"/>
                <a:gd name="T92" fmla="*/ 110 w 439"/>
                <a:gd name="T93" fmla="*/ 28 h 63"/>
                <a:gd name="T94" fmla="*/ 110 w 439"/>
                <a:gd name="T95" fmla="*/ 22 h 63"/>
                <a:gd name="T96" fmla="*/ 111 w 439"/>
                <a:gd name="T97" fmla="*/ 17 h 63"/>
                <a:gd name="T98" fmla="*/ 113 w 439"/>
                <a:gd name="T99" fmla="*/ 13 h 63"/>
                <a:gd name="T100" fmla="*/ 116 w 439"/>
                <a:gd name="T101" fmla="*/ 7 h 63"/>
                <a:gd name="T102" fmla="*/ 119 w 439"/>
                <a:gd name="T103" fmla="*/ 3 h 63"/>
                <a:gd name="T104" fmla="*/ 123 w 439"/>
                <a:gd name="T105" fmla="*/ 1 h 63"/>
                <a:gd name="T106" fmla="*/ 126 w 439"/>
                <a:gd name="T107" fmla="*/ 0 h 63"/>
                <a:gd name="T108" fmla="*/ 129 w 439"/>
                <a:gd name="T109" fmla="*/ 0 h 63"/>
                <a:gd name="T110" fmla="*/ 133 w 439"/>
                <a:gd name="T111" fmla="*/ 1 h 63"/>
                <a:gd name="T112" fmla="*/ 136 w 439"/>
                <a:gd name="T113" fmla="*/ 3 h 63"/>
                <a:gd name="T114" fmla="*/ 139 w 439"/>
                <a:gd name="T115" fmla="*/ 5 h 63"/>
                <a:gd name="T116" fmla="*/ 143 w 439"/>
                <a:gd name="T117" fmla="*/ 11 h 63"/>
                <a:gd name="T118" fmla="*/ 145 w 439"/>
                <a:gd name="T119" fmla="*/ 15 h 63"/>
                <a:gd name="T120" fmla="*/ 146 w 439"/>
                <a:gd name="T121" fmla="*/ 21 h 63"/>
                <a:gd name="T122" fmla="*/ 147 w 439"/>
                <a:gd name="T123" fmla="*/ 26 h 6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39"/>
                <a:gd name="T187" fmla="*/ 0 h 63"/>
                <a:gd name="T188" fmla="*/ 439 w 439"/>
                <a:gd name="T189" fmla="*/ 63 h 63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39" h="63">
                  <a:moveTo>
                    <a:pt x="0" y="63"/>
                  </a:moveTo>
                  <a:lnTo>
                    <a:pt x="0" y="56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4" y="38"/>
                  </a:lnTo>
                  <a:lnTo>
                    <a:pt x="5" y="33"/>
                  </a:lnTo>
                  <a:lnTo>
                    <a:pt x="9" y="28"/>
                  </a:lnTo>
                  <a:lnTo>
                    <a:pt x="14" y="20"/>
                  </a:lnTo>
                  <a:lnTo>
                    <a:pt x="18" y="15"/>
                  </a:lnTo>
                  <a:lnTo>
                    <a:pt x="23" y="11"/>
                  </a:lnTo>
                  <a:lnTo>
                    <a:pt x="26" y="8"/>
                  </a:lnTo>
                  <a:lnTo>
                    <a:pt x="32" y="5"/>
                  </a:lnTo>
                  <a:lnTo>
                    <a:pt x="37" y="3"/>
                  </a:lnTo>
                  <a:lnTo>
                    <a:pt x="42" y="1"/>
                  </a:lnTo>
                  <a:lnTo>
                    <a:pt x="47" y="0"/>
                  </a:lnTo>
                  <a:lnTo>
                    <a:pt x="53" y="0"/>
                  </a:lnTo>
                  <a:lnTo>
                    <a:pt x="58" y="0"/>
                  </a:lnTo>
                  <a:lnTo>
                    <a:pt x="63" y="0"/>
                  </a:lnTo>
                  <a:lnTo>
                    <a:pt x="68" y="1"/>
                  </a:lnTo>
                  <a:lnTo>
                    <a:pt x="74" y="3"/>
                  </a:lnTo>
                  <a:lnTo>
                    <a:pt x="79" y="6"/>
                  </a:lnTo>
                  <a:lnTo>
                    <a:pt x="84" y="8"/>
                  </a:lnTo>
                  <a:lnTo>
                    <a:pt x="88" y="11"/>
                  </a:lnTo>
                  <a:lnTo>
                    <a:pt x="93" y="16"/>
                  </a:lnTo>
                  <a:lnTo>
                    <a:pt x="100" y="25"/>
                  </a:lnTo>
                  <a:lnTo>
                    <a:pt x="102" y="30"/>
                  </a:lnTo>
                  <a:lnTo>
                    <a:pt x="105" y="35"/>
                  </a:lnTo>
                  <a:lnTo>
                    <a:pt x="107" y="40"/>
                  </a:lnTo>
                  <a:lnTo>
                    <a:pt x="109" y="46"/>
                  </a:lnTo>
                  <a:lnTo>
                    <a:pt x="109" y="51"/>
                  </a:lnTo>
                  <a:lnTo>
                    <a:pt x="110" y="58"/>
                  </a:lnTo>
                  <a:lnTo>
                    <a:pt x="110" y="63"/>
                  </a:lnTo>
                  <a:lnTo>
                    <a:pt x="110" y="56"/>
                  </a:lnTo>
                  <a:lnTo>
                    <a:pt x="110" y="50"/>
                  </a:lnTo>
                  <a:lnTo>
                    <a:pt x="112" y="45"/>
                  </a:lnTo>
                  <a:lnTo>
                    <a:pt x="114" y="38"/>
                  </a:lnTo>
                  <a:lnTo>
                    <a:pt x="116" y="33"/>
                  </a:lnTo>
                  <a:lnTo>
                    <a:pt x="117" y="28"/>
                  </a:lnTo>
                  <a:lnTo>
                    <a:pt x="124" y="20"/>
                  </a:lnTo>
                  <a:lnTo>
                    <a:pt x="128" y="15"/>
                  </a:lnTo>
                  <a:lnTo>
                    <a:pt x="131" y="11"/>
                  </a:lnTo>
                  <a:lnTo>
                    <a:pt x="137" y="8"/>
                  </a:lnTo>
                  <a:lnTo>
                    <a:pt x="142" y="5"/>
                  </a:lnTo>
                  <a:lnTo>
                    <a:pt x="145" y="3"/>
                  </a:lnTo>
                  <a:lnTo>
                    <a:pt x="151" y="1"/>
                  </a:lnTo>
                  <a:lnTo>
                    <a:pt x="156" y="0"/>
                  </a:lnTo>
                  <a:lnTo>
                    <a:pt x="163" y="0"/>
                  </a:lnTo>
                  <a:lnTo>
                    <a:pt x="168" y="0"/>
                  </a:lnTo>
                  <a:lnTo>
                    <a:pt x="173" y="0"/>
                  </a:lnTo>
                  <a:lnTo>
                    <a:pt x="179" y="1"/>
                  </a:lnTo>
                  <a:lnTo>
                    <a:pt x="184" y="3"/>
                  </a:lnTo>
                  <a:lnTo>
                    <a:pt x="189" y="6"/>
                  </a:lnTo>
                  <a:lnTo>
                    <a:pt x="192" y="8"/>
                  </a:lnTo>
                  <a:lnTo>
                    <a:pt x="198" y="11"/>
                  </a:lnTo>
                  <a:lnTo>
                    <a:pt x="201" y="16"/>
                  </a:lnTo>
                  <a:lnTo>
                    <a:pt x="208" y="25"/>
                  </a:lnTo>
                  <a:lnTo>
                    <a:pt x="212" y="30"/>
                  </a:lnTo>
                  <a:lnTo>
                    <a:pt x="213" y="35"/>
                  </a:lnTo>
                  <a:lnTo>
                    <a:pt x="217" y="40"/>
                  </a:lnTo>
                  <a:lnTo>
                    <a:pt x="217" y="46"/>
                  </a:lnTo>
                  <a:lnTo>
                    <a:pt x="219" y="51"/>
                  </a:lnTo>
                  <a:lnTo>
                    <a:pt x="219" y="58"/>
                  </a:lnTo>
                  <a:lnTo>
                    <a:pt x="219" y="63"/>
                  </a:lnTo>
                  <a:lnTo>
                    <a:pt x="219" y="56"/>
                  </a:lnTo>
                  <a:lnTo>
                    <a:pt x="220" y="50"/>
                  </a:lnTo>
                  <a:lnTo>
                    <a:pt x="220" y="45"/>
                  </a:lnTo>
                  <a:lnTo>
                    <a:pt x="222" y="38"/>
                  </a:lnTo>
                  <a:lnTo>
                    <a:pt x="226" y="33"/>
                  </a:lnTo>
                  <a:lnTo>
                    <a:pt x="227" y="28"/>
                  </a:lnTo>
                  <a:lnTo>
                    <a:pt x="234" y="20"/>
                  </a:lnTo>
                  <a:lnTo>
                    <a:pt x="238" y="15"/>
                  </a:lnTo>
                  <a:lnTo>
                    <a:pt x="241" y="11"/>
                  </a:lnTo>
                  <a:lnTo>
                    <a:pt x="247" y="8"/>
                  </a:lnTo>
                  <a:lnTo>
                    <a:pt x="250" y="5"/>
                  </a:lnTo>
                  <a:lnTo>
                    <a:pt x="255" y="3"/>
                  </a:lnTo>
                  <a:lnTo>
                    <a:pt x="261" y="1"/>
                  </a:lnTo>
                  <a:lnTo>
                    <a:pt x="266" y="0"/>
                  </a:lnTo>
                  <a:lnTo>
                    <a:pt x="271" y="0"/>
                  </a:lnTo>
                  <a:lnTo>
                    <a:pt x="278" y="0"/>
                  </a:lnTo>
                  <a:lnTo>
                    <a:pt x="283" y="0"/>
                  </a:lnTo>
                  <a:lnTo>
                    <a:pt x="289" y="1"/>
                  </a:lnTo>
                  <a:lnTo>
                    <a:pt x="294" y="3"/>
                  </a:lnTo>
                  <a:lnTo>
                    <a:pt x="299" y="6"/>
                  </a:lnTo>
                  <a:lnTo>
                    <a:pt x="303" y="8"/>
                  </a:lnTo>
                  <a:lnTo>
                    <a:pt x="308" y="11"/>
                  </a:lnTo>
                  <a:lnTo>
                    <a:pt x="311" y="16"/>
                  </a:lnTo>
                  <a:lnTo>
                    <a:pt x="318" y="25"/>
                  </a:lnTo>
                  <a:lnTo>
                    <a:pt x="322" y="30"/>
                  </a:lnTo>
                  <a:lnTo>
                    <a:pt x="324" y="35"/>
                  </a:lnTo>
                  <a:lnTo>
                    <a:pt x="325" y="40"/>
                  </a:lnTo>
                  <a:lnTo>
                    <a:pt x="327" y="46"/>
                  </a:lnTo>
                  <a:lnTo>
                    <a:pt x="329" y="51"/>
                  </a:lnTo>
                  <a:lnTo>
                    <a:pt x="329" y="58"/>
                  </a:lnTo>
                  <a:lnTo>
                    <a:pt x="329" y="63"/>
                  </a:lnTo>
                  <a:lnTo>
                    <a:pt x="329" y="56"/>
                  </a:lnTo>
                  <a:lnTo>
                    <a:pt x="329" y="50"/>
                  </a:lnTo>
                  <a:lnTo>
                    <a:pt x="331" y="45"/>
                  </a:lnTo>
                  <a:lnTo>
                    <a:pt x="332" y="38"/>
                  </a:lnTo>
                  <a:lnTo>
                    <a:pt x="334" y="33"/>
                  </a:lnTo>
                  <a:lnTo>
                    <a:pt x="338" y="28"/>
                  </a:lnTo>
                  <a:lnTo>
                    <a:pt x="343" y="20"/>
                  </a:lnTo>
                  <a:lnTo>
                    <a:pt x="346" y="15"/>
                  </a:lnTo>
                  <a:lnTo>
                    <a:pt x="352" y="11"/>
                  </a:lnTo>
                  <a:lnTo>
                    <a:pt x="355" y="8"/>
                  </a:lnTo>
                  <a:lnTo>
                    <a:pt x="360" y="5"/>
                  </a:lnTo>
                  <a:lnTo>
                    <a:pt x="366" y="3"/>
                  </a:lnTo>
                  <a:lnTo>
                    <a:pt x="371" y="1"/>
                  </a:lnTo>
                  <a:lnTo>
                    <a:pt x="376" y="0"/>
                  </a:lnTo>
                  <a:lnTo>
                    <a:pt x="381" y="0"/>
                  </a:lnTo>
                  <a:lnTo>
                    <a:pt x="386" y="0"/>
                  </a:lnTo>
                  <a:lnTo>
                    <a:pt x="392" y="0"/>
                  </a:lnTo>
                  <a:lnTo>
                    <a:pt x="397" y="1"/>
                  </a:lnTo>
                  <a:lnTo>
                    <a:pt x="402" y="3"/>
                  </a:lnTo>
                  <a:lnTo>
                    <a:pt x="407" y="6"/>
                  </a:lnTo>
                  <a:lnTo>
                    <a:pt x="413" y="8"/>
                  </a:lnTo>
                  <a:lnTo>
                    <a:pt x="416" y="11"/>
                  </a:lnTo>
                  <a:lnTo>
                    <a:pt x="421" y="16"/>
                  </a:lnTo>
                  <a:lnTo>
                    <a:pt x="428" y="25"/>
                  </a:lnTo>
                  <a:lnTo>
                    <a:pt x="430" y="30"/>
                  </a:lnTo>
                  <a:lnTo>
                    <a:pt x="434" y="35"/>
                  </a:lnTo>
                  <a:lnTo>
                    <a:pt x="435" y="40"/>
                  </a:lnTo>
                  <a:lnTo>
                    <a:pt x="437" y="46"/>
                  </a:lnTo>
                  <a:lnTo>
                    <a:pt x="437" y="51"/>
                  </a:lnTo>
                  <a:lnTo>
                    <a:pt x="439" y="58"/>
                  </a:lnTo>
                  <a:lnTo>
                    <a:pt x="439" y="63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Rectangle 177"/>
            <p:cNvSpPr>
              <a:spLocks noChangeArrowheads="1"/>
            </p:cNvSpPr>
            <p:nvPr/>
          </p:nvSpPr>
          <p:spPr bwMode="auto">
            <a:xfrm>
              <a:off x="3772" y="2113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28" name="Rectangle 178"/>
            <p:cNvSpPr>
              <a:spLocks noChangeArrowheads="1"/>
            </p:cNvSpPr>
            <p:nvPr/>
          </p:nvSpPr>
          <p:spPr bwMode="auto">
            <a:xfrm>
              <a:off x="3706" y="2065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29" name="Rectangle 179"/>
            <p:cNvSpPr>
              <a:spLocks noChangeArrowheads="1"/>
            </p:cNvSpPr>
            <p:nvPr/>
          </p:nvSpPr>
          <p:spPr bwMode="auto">
            <a:xfrm>
              <a:off x="3773" y="2877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0" name="Rectangle 180"/>
            <p:cNvSpPr>
              <a:spLocks noChangeArrowheads="1"/>
            </p:cNvSpPr>
            <p:nvPr/>
          </p:nvSpPr>
          <p:spPr bwMode="auto">
            <a:xfrm>
              <a:off x="3707" y="2825"/>
              <a:ext cx="6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1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  <a:endParaRPr lang="en-US" altLang="zh-CN"/>
            </a:p>
          </p:txBody>
        </p:sp>
        <p:sp>
          <p:nvSpPr>
            <p:cNvPr id="31" name="Rectangle 182"/>
            <p:cNvSpPr>
              <a:spLocks noChangeArrowheads="1"/>
            </p:cNvSpPr>
            <p:nvPr/>
          </p:nvSpPr>
          <p:spPr bwMode="auto">
            <a:xfrm>
              <a:off x="3387" y="2429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32" name="Rectangle 183"/>
            <p:cNvSpPr>
              <a:spLocks noChangeArrowheads="1"/>
            </p:cNvSpPr>
            <p:nvPr/>
          </p:nvSpPr>
          <p:spPr bwMode="auto">
            <a:xfrm>
              <a:off x="3329" y="2380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3" name="Rectangle 184"/>
            <p:cNvSpPr>
              <a:spLocks noChangeArrowheads="1"/>
            </p:cNvSpPr>
            <p:nvPr/>
          </p:nvSpPr>
          <p:spPr bwMode="auto">
            <a:xfrm>
              <a:off x="3630" y="2484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34" name="Rectangle 185"/>
            <p:cNvSpPr>
              <a:spLocks noChangeArrowheads="1"/>
            </p:cNvSpPr>
            <p:nvPr/>
          </p:nvSpPr>
          <p:spPr bwMode="auto">
            <a:xfrm>
              <a:off x="3564" y="2431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35" name="Freeform 186"/>
            <p:cNvSpPr>
              <a:spLocks noEditPoints="1"/>
            </p:cNvSpPr>
            <p:nvPr/>
          </p:nvSpPr>
          <p:spPr bwMode="auto">
            <a:xfrm>
              <a:off x="3077" y="2982"/>
              <a:ext cx="16" cy="154"/>
            </a:xfrm>
            <a:custGeom>
              <a:avLst/>
              <a:gdLst>
                <a:gd name="T0" fmla="*/ 3 w 28"/>
                <a:gd name="T1" fmla="*/ 90 h 235"/>
                <a:gd name="T2" fmla="*/ 2 w 28"/>
                <a:gd name="T3" fmla="*/ 91 h 235"/>
                <a:gd name="T4" fmla="*/ 1 w 28"/>
                <a:gd name="T5" fmla="*/ 92 h 235"/>
                <a:gd name="T6" fmla="*/ 0 w 28"/>
                <a:gd name="T7" fmla="*/ 94 h 235"/>
                <a:gd name="T8" fmla="*/ 0 w 28"/>
                <a:gd name="T9" fmla="*/ 96 h 235"/>
                <a:gd name="T10" fmla="*/ 1 w 28"/>
                <a:gd name="T11" fmla="*/ 98 h 235"/>
                <a:gd name="T12" fmla="*/ 2 w 28"/>
                <a:gd name="T13" fmla="*/ 100 h 235"/>
                <a:gd name="T14" fmla="*/ 3 w 28"/>
                <a:gd name="T15" fmla="*/ 101 h 235"/>
                <a:gd name="T16" fmla="*/ 5 w 28"/>
                <a:gd name="T17" fmla="*/ 101 h 235"/>
                <a:gd name="T18" fmla="*/ 6 w 28"/>
                <a:gd name="T19" fmla="*/ 100 h 235"/>
                <a:gd name="T20" fmla="*/ 7 w 28"/>
                <a:gd name="T21" fmla="*/ 100 h 235"/>
                <a:gd name="T22" fmla="*/ 9 w 28"/>
                <a:gd name="T23" fmla="*/ 98 h 235"/>
                <a:gd name="T24" fmla="*/ 9 w 28"/>
                <a:gd name="T25" fmla="*/ 95 h 235"/>
                <a:gd name="T26" fmla="*/ 9 w 28"/>
                <a:gd name="T27" fmla="*/ 93 h 235"/>
                <a:gd name="T28" fmla="*/ 7 w 28"/>
                <a:gd name="T29" fmla="*/ 92 h 235"/>
                <a:gd name="T30" fmla="*/ 6 w 28"/>
                <a:gd name="T31" fmla="*/ 90 h 235"/>
                <a:gd name="T32" fmla="*/ 5 w 28"/>
                <a:gd name="T33" fmla="*/ 90 h 235"/>
                <a:gd name="T34" fmla="*/ 5 w 28"/>
                <a:gd name="T35" fmla="*/ 90 h 235"/>
                <a:gd name="T36" fmla="*/ 3 w 28"/>
                <a:gd name="T37" fmla="*/ 0 h 235"/>
                <a:gd name="T38" fmla="*/ 2 w 28"/>
                <a:gd name="T39" fmla="*/ 1 h 235"/>
                <a:gd name="T40" fmla="*/ 1 w 28"/>
                <a:gd name="T41" fmla="*/ 2 h 235"/>
                <a:gd name="T42" fmla="*/ 0 w 28"/>
                <a:gd name="T43" fmla="*/ 5 h 235"/>
                <a:gd name="T44" fmla="*/ 0 w 28"/>
                <a:gd name="T45" fmla="*/ 7 h 235"/>
                <a:gd name="T46" fmla="*/ 1 w 28"/>
                <a:gd name="T47" fmla="*/ 9 h 235"/>
                <a:gd name="T48" fmla="*/ 2 w 28"/>
                <a:gd name="T49" fmla="*/ 10 h 235"/>
                <a:gd name="T50" fmla="*/ 3 w 28"/>
                <a:gd name="T51" fmla="*/ 10 h 235"/>
                <a:gd name="T52" fmla="*/ 5 w 28"/>
                <a:gd name="T53" fmla="*/ 11 h 235"/>
                <a:gd name="T54" fmla="*/ 6 w 28"/>
                <a:gd name="T55" fmla="*/ 10 h 235"/>
                <a:gd name="T56" fmla="*/ 7 w 28"/>
                <a:gd name="T57" fmla="*/ 9 h 235"/>
                <a:gd name="T58" fmla="*/ 9 w 28"/>
                <a:gd name="T59" fmla="*/ 8 h 235"/>
                <a:gd name="T60" fmla="*/ 9 w 28"/>
                <a:gd name="T61" fmla="*/ 6 h 235"/>
                <a:gd name="T62" fmla="*/ 9 w 28"/>
                <a:gd name="T63" fmla="*/ 3 h 235"/>
                <a:gd name="T64" fmla="*/ 7 w 28"/>
                <a:gd name="T65" fmla="*/ 1 h 235"/>
                <a:gd name="T66" fmla="*/ 6 w 28"/>
                <a:gd name="T67" fmla="*/ 1 h 235"/>
                <a:gd name="T68" fmla="*/ 5 w 28"/>
                <a:gd name="T69" fmla="*/ 0 h 235"/>
                <a:gd name="T70" fmla="*/ 5 w 28"/>
                <a:gd name="T71" fmla="*/ 0 h 2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5"/>
                <a:gd name="T110" fmla="*/ 28 w 28"/>
                <a:gd name="T111" fmla="*/ 235 h 23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5">
                  <a:moveTo>
                    <a:pt x="14" y="209"/>
                  </a:moveTo>
                  <a:lnTo>
                    <a:pt x="11" y="209"/>
                  </a:lnTo>
                  <a:lnTo>
                    <a:pt x="9" y="210"/>
                  </a:lnTo>
                  <a:lnTo>
                    <a:pt x="6" y="212"/>
                  </a:lnTo>
                  <a:lnTo>
                    <a:pt x="4" y="214"/>
                  </a:lnTo>
                  <a:lnTo>
                    <a:pt x="2" y="215"/>
                  </a:lnTo>
                  <a:lnTo>
                    <a:pt x="2" y="217"/>
                  </a:lnTo>
                  <a:lnTo>
                    <a:pt x="0" y="220"/>
                  </a:lnTo>
                  <a:lnTo>
                    <a:pt x="0" y="222"/>
                  </a:lnTo>
                  <a:lnTo>
                    <a:pt x="0" y="225"/>
                  </a:lnTo>
                  <a:lnTo>
                    <a:pt x="2" y="227"/>
                  </a:lnTo>
                  <a:lnTo>
                    <a:pt x="2" y="229"/>
                  </a:lnTo>
                  <a:lnTo>
                    <a:pt x="4" y="232"/>
                  </a:lnTo>
                  <a:lnTo>
                    <a:pt x="6" y="234"/>
                  </a:lnTo>
                  <a:lnTo>
                    <a:pt x="9" y="234"/>
                  </a:lnTo>
                  <a:lnTo>
                    <a:pt x="11" y="235"/>
                  </a:lnTo>
                  <a:lnTo>
                    <a:pt x="14" y="235"/>
                  </a:lnTo>
                  <a:lnTo>
                    <a:pt x="16" y="235"/>
                  </a:lnTo>
                  <a:lnTo>
                    <a:pt x="20" y="234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5" y="229"/>
                  </a:lnTo>
                  <a:lnTo>
                    <a:pt x="26" y="227"/>
                  </a:lnTo>
                  <a:lnTo>
                    <a:pt x="26" y="225"/>
                  </a:lnTo>
                  <a:lnTo>
                    <a:pt x="28" y="222"/>
                  </a:lnTo>
                  <a:lnTo>
                    <a:pt x="26" y="220"/>
                  </a:lnTo>
                  <a:lnTo>
                    <a:pt x="26" y="217"/>
                  </a:lnTo>
                  <a:lnTo>
                    <a:pt x="25" y="215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20" y="210"/>
                  </a:lnTo>
                  <a:lnTo>
                    <a:pt x="16" y="209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187"/>
            <p:cNvSpPr>
              <a:spLocks/>
            </p:cNvSpPr>
            <p:nvPr/>
          </p:nvSpPr>
          <p:spPr bwMode="auto">
            <a:xfrm>
              <a:off x="3077" y="3119"/>
              <a:ext cx="16" cy="17"/>
            </a:xfrm>
            <a:custGeom>
              <a:avLst/>
              <a:gdLst>
                <a:gd name="T0" fmla="*/ 5 w 28"/>
                <a:gd name="T1" fmla="*/ 0 h 26"/>
                <a:gd name="T2" fmla="*/ 3 w 28"/>
                <a:gd name="T3" fmla="*/ 0 h 26"/>
                <a:gd name="T4" fmla="*/ 3 w 28"/>
                <a:gd name="T5" fmla="*/ 1 h 26"/>
                <a:gd name="T6" fmla="*/ 2 w 28"/>
                <a:gd name="T7" fmla="*/ 1 h 26"/>
                <a:gd name="T8" fmla="*/ 1 w 28"/>
                <a:gd name="T9" fmla="*/ 2 h 26"/>
                <a:gd name="T10" fmla="*/ 1 w 28"/>
                <a:gd name="T11" fmla="*/ 3 h 26"/>
                <a:gd name="T12" fmla="*/ 1 w 28"/>
                <a:gd name="T13" fmla="*/ 3 h 26"/>
                <a:gd name="T14" fmla="*/ 0 w 28"/>
                <a:gd name="T15" fmla="*/ 5 h 26"/>
                <a:gd name="T16" fmla="*/ 0 w 28"/>
                <a:gd name="T17" fmla="*/ 6 h 26"/>
                <a:gd name="T18" fmla="*/ 0 w 28"/>
                <a:gd name="T19" fmla="*/ 7 h 26"/>
                <a:gd name="T20" fmla="*/ 1 w 28"/>
                <a:gd name="T21" fmla="*/ 8 h 26"/>
                <a:gd name="T22" fmla="*/ 1 w 28"/>
                <a:gd name="T23" fmla="*/ 9 h 26"/>
                <a:gd name="T24" fmla="*/ 1 w 28"/>
                <a:gd name="T25" fmla="*/ 10 h 26"/>
                <a:gd name="T26" fmla="*/ 2 w 28"/>
                <a:gd name="T27" fmla="*/ 10 h 26"/>
                <a:gd name="T28" fmla="*/ 3 w 28"/>
                <a:gd name="T29" fmla="*/ 10 h 26"/>
                <a:gd name="T30" fmla="*/ 3 w 28"/>
                <a:gd name="T31" fmla="*/ 11 h 26"/>
                <a:gd name="T32" fmla="*/ 5 w 28"/>
                <a:gd name="T33" fmla="*/ 11 h 26"/>
                <a:gd name="T34" fmla="*/ 5 w 28"/>
                <a:gd name="T35" fmla="*/ 11 h 26"/>
                <a:gd name="T36" fmla="*/ 5 w 28"/>
                <a:gd name="T37" fmla="*/ 11 h 26"/>
                <a:gd name="T38" fmla="*/ 6 w 28"/>
                <a:gd name="T39" fmla="*/ 10 h 26"/>
                <a:gd name="T40" fmla="*/ 7 w 28"/>
                <a:gd name="T41" fmla="*/ 10 h 26"/>
                <a:gd name="T42" fmla="*/ 7 w 28"/>
                <a:gd name="T43" fmla="*/ 10 h 26"/>
                <a:gd name="T44" fmla="*/ 8 w 28"/>
                <a:gd name="T45" fmla="*/ 9 h 26"/>
                <a:gd name="T46" fmla="*/ 9 w 28"/>
                <a:gd name="T47" fmla="*/ 8 h 26"/>
                <a:gd name="T48" fmla="*/ 9 w 28"/>
                <a:gd name="T49" fmla="*/ 7 h 26"/>
                <a:gd name="T50" fmla="*/ 9 w 28"/>
                <a:gd name="T51" fmla="*/ 6 h 26"/>
                <a:gd name="T52" fmla="*/ 9 w 28"/>
                <a:gd name="T53" fmla="*/ 5 h 26"/>
                <a:gd name="T54" fmla="*/ 9 w 28"/>
                <a:gd name="T55" fmla="*/ 3 h 26"/>
                <a:gd name="T56" fmla="*/ 8 w 28"/>
                <a:gd name="T57" fmla="*/ 3 h 26"/>
                <a:gd name="T58" fmla="*/ 7 w 28"/>
                <a:gd name="T59" fmla="*/ 2 h 26"/>
                <a:gd name="T60" fmla="*/ 7 w 28"/>
                <a:gd name="T61" fmla="*/ 1 h 26"/>
                <a:gd name="T62" fmla="*/ 6 w 28"/>
                <a:gd name="T63" fmla="*/ 1 h 26"/>
                <a:gd name="T64" fmla="*/ 5 w 28"/>
                <a:gd name="T65" fmla="*/ 0 h 26"/>
                <a:gd name="T66" fmla="*/ 5 w 28"/>
                <a:gd name="T67" fmla="*/ 0 h 26"/>
                <a:gd name="T68" fmla="*/ 5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3"/>
                  </a:lnTo>
                  <a:lnTo>
                    <a:pt x="6" y="25"/>
                  </a:lnTo>
                  <a:lnTo>
                    <a:pt x="9" y="25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6" y="26"/>
                  </a:lnTo>
                  <a:lnTo>
                    <a:pt x="20" y="25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6"/>
                  </a:lnTo>
                  <a:lnTo>
                    <a:pt x="28" y="13"/>
                  </a:lnTo>
                  <a:lnTo>
                    <a:pt x="26" y="11"/>
                  </a:lnTo>
                  <a:lnTo>
                    <a:pt x="26" y="8"/>
                  </a:lnTo>
                  <a:lnTo>
                    <a:pt x="25" y="6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188"/>
            <p:cNvSpPr>
              <a:spLocks/>
            </p:cNvSpPr>
            <p:nvPr/>
          </p:nvSpPr>
          <p:spPr bwMode="auto">
            <a:xfrm>
              <a:off x="3077" y="2982"/>
              <a:ext cx="16" cy="18"/>
            </a:xfrm>
            <a:custGeom>
              <a:avLst/>
              <a:gdLst>
                <a:gd name="T0" fmla="*/ 5 w 28"/>
                <a:gd name="T1" fmla="*/ 0 h 26"/>
                <a:gd name="T2" fmla="*/ 3 w 28"/>
                <a:gd name="T3" fmla="*/ 0 h 26"/>
                <a:gd name="T4" fmla="*/ 3 w 28"/>
                <a:gd name="T5" fmla="*/ 1 h 26"/>
                <a:gd name="T6" fmla="*/ 2 w 28"/>
                <a:gd name="T7" fmla="*/ 1 h 26"/>
                <a:gd name="T8" fmla="*/ 1 w 28"/>
                <a:gd name="T9" fmla="*/ 1 h 26"/>
                <a:gd name="T10" fmla="*/ 1 w 28"/>
                <a:gd name="T11" fmla="*/ 2 h 26"/>
                <a:gd name="T12" fmla="*/ 1 w 28"/>
                <a:gd name="T13" fmla="*/ 4 h 26"/>
                <a:gd name="T14" fmla="*/ 0 w 28"/>
                <a:gd name="T15" fmla="*/ 5 h 26"/>
                <a:gd name="T16" fmla="*/ 0 w 28"/>
                <a:gd name="T17" fmla="*/ 6 h 26"/>
                <a:gd name="T18" fmla="*/ 0 w 28"/>
                <a:gd name="T19" fmla="*/ 7 h 26"/>
                <a:gd name="T20" fmla="*/ 1 w 28"/>
                <a:gd name="T21" fmla="*/ 8 h 26"/>
                <a:gd name="T22" fmla="*/ 1 w 28"/>
                <a:gd name="T23" fmla="*/ 10 h 26"/>
                <a:gd name="T24" fmla="*/ 1 w 28"/>
                <a:gd name="T25" fmla="*/ 10 h 26"/>
                <a:gd name="T26" fmla="*/ 2 w 28"/>
                <a:gd name="T27" fmla="*/ 11 h 26"/>
                <a:gd name="T28" fmla="*/ 3 w 28"/>
                <a:gd name="T29" fmla="*/ 12 h 26"/>
                <a:gd name="T30" fmla="*/ 3 w 28"/>
                <a:gd name="T31" fmla="*/ 12 h 26"/>
                <a:gd name="T32" fmla="*/ 5 w 28"/>
                <a:gd name="T33" fmla="*/ 12 h 26"/>
                <a:gd name="T34" fmla="*/ 5 w 28"/>
                <a:gd name="T35" fmla="*/ 12 h 26"/>
                <a:gd name="T36" fmla="*/ 5 w 28"/>
                <a:gd name="T37" fmla="*/ 12 h 26"/>
                <a:gd name="T38" fmla="*/ 6 w 28"/>
                <a:gd name="T39" fmla="*/ 12 h 26"/>
                <a:gd name="T40" fmla="*/ 7 w 28"/>
                <a:gd name="T41" fmla="*/ 11 h 26"/>
                <a:gd name="T42" fmla="*/ 7 w 28"/>
                <a:gd name="T43" fmla="*/ 10 h 26"/>
                <a:gd name="T44" fmla="*/ 8 w 28"/>
                <a:gd name="T45" fmla="*/ 10 h 26"/>
                <a:gd name="T46" fmla="*/ 9 w 28"/>
                <a:gd name="T47" fmla="*/ 8 h 26"/>
                <a:gd name="T48" fmla="*/ 9 w 28"/>
                <a:gd name="T49" fmla="*/ 7 h 26"/>
                <a:gd name="T50" fmla="*/ 9 w 28"/>
                <a:gd name="T51" fmla="*/ 6 h 26"/>
                <a:gd name="T52" fmla="*/ 9 w 28"/>
                <a:gd name="T53" fmla="*/ 5 h 26"/>
                <a:gd name="T54" fmla="*/ 9 w 28"/>
                <a:gd name="T55" fmla="*/ 4 h 26"/>
                <a:gd name="T56" fmla="*/ 8 w 28"/>
                <a:gd name="T57" fmla="*/ 2 h 26"/>
                <a:gd name="T58" fmla="*/ 7 w 28"/>
                <a:gd name="T59" fmla="*/ 1 h 26"/>
                <a:gd name="T60" fmla="*/ 7 w 28"/>
                <a:gd name="T61" fmla="*/ 1 h 26"/>
                <a:gd name="T62" fmla="*/ 6 w 28"/>
                <a:gd name="T63" fmla="*/ 1 h 26"/>
                <a:gd name="T64" fmla="*/ 5 w 28"/>
                <a:gd name="T65" fmla="*/ 0 h 26"/>
                <a:gd name="T66" fmla="*/ 5 w 28"/>
                <a:gd name="T67" fmla="*/ 0 h 26"/>
                <a:gd name="T68" fmla="*/ 5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4" y="26"/>
                  </a:lnTo>
                  <a:lnTo>
                    <a:pt x="16" y="25"/>
                  </a:lnTo>
                  <a:lnTo>
                    <a:pt x="20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5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8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6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Line 189"/>
            <p:cNvSpPr>
              <a:spLocks noChangeShapeType="1"/>
            </p:cNvSpPr>
            <p:nvPr/>
          </p:nvSpPr>
          <p:spPr bwMode="auto">
            <a:xfrm>
              <a:off x="3087" y="2999"/>
              <a:ext cx="37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190"/>
            <p:cNvSpPr>
              <a:spLocks/>
            </p:cNvSpPr>
            <p:nvPr/>
          </p:nvSpPr>
          <p:spPr bwMode="auto">
            <a:xfrm>
              <a:off x="3502" y="2634"/>
              <a:ext cx="37" cy="275"/>
            </a:xfrm>
            <a:custGeom>
              <a:avLst/>
              <a:gdLst>
                <a:gd name="T0" fmla="*/ 20 w 64"/>
                <a:gd name="T1" fmla="*/ 0 h 420"/>
                <a:gd name="T2" fmla="*/ 15 w 64"/>
                <a:gd name="T3" fmla="*/ 1 h 420"/>
                <a:gd name="T4" fmla="*/ 12 w 64"/>
                <a:gd name="T5" fmla="*/ 2 h 420"/>
                <a:gd name="T6" fmla="*/ 6 w 64"/>
                <a:gd name="T7" fmla="*/ 6 h 420"/>
                <a:gd name="T8" fmla="*/ 4 w 64"/>
                <a:gd name="T9" fmla="*/ 9 h 420"/>
                <a:gd name="T10" fmla="*/ 2 w 64"/>
                <a:gd name="T11" fmla="*/ 13 h 420"/>
                <a:gd name="T12" fmla="*/ 1 w 64"/>
                <a:gd name="T13" fmla="*/ 18 h 420"/>
                <a:gd name="T14" fmla="*/ 0 w 64"/>
                <a:gd name="T15" fmla="*/ 22 h 420"/>
                <a:gd name="T16" fmla="*/ 0 w 64"/>
                <a:gd name="T17" fmla="*/ 26 h 420"/>
                <a:gd name="T18" fmla="*/ 1 w 64"/>
                <a:gd name="T19" fmla="*/ 30 h 420"/>
                <a:gd name="T20" fmla="*/ 3 w 64"/>
                <a:gd name="T21" fmla="*/ 35 h 420"/>
                <a:gd name="T22" fmla="*/ 5 w 64"/>
                <a:gd name="T23" fmla="*/ 37 h 420"/>
                <a:gd name="T24" fmla="*/ 10 w 64"/>
                <a:gd name="T25" fmla="*/ 42 h 420"/>
                <a:gd name="T26" fmla="*/ 14 w 64"/>
                <a:gd name="T27" fmla="*/ 44 h 420"/>
                <a:gd name="T28" fmla="*/ 18 w 64"/>
                <a:gd name="T29" fmla="*/ 45 h 420"/>
                <a:gd name="T30" fmla="*/ 21 w 64"/>
                <a:gd name="T31" fmla="*/ 45 h 420"/>
                <a:gd name="T32" fmla="*/ 17 w 64"/>
                <a:gd name="T33" fmla="*/ 45 h 420"/>
                <a:gd name="T34" fmla="*/ 13 w 64"/>
                <a:gd name="T35" fmla="*/ 46 h 420"/>
                <a:gd name="T36" fmla="*/ 10 w 64"/>
                <a:gd name="T37" fmla="*/ 48 h 420"/>
                <a:gd name="T38" fmla="*/ 5 w 64"/>
                <a:gd name="T39" fmla="*/ 53 h 420"/>
                <a:gd name="T40" fmla="*/ 3 w 64"/>
                <a:gd name="T41" fmla="*/ 56 h 420"/>
                <a:gd name="T42" fmla="*/ 1 w 64"/>
                <a:gd name="T43" fmla="*/ 60 h 420"/>
                <a:gd name="T44" fmla="*/ 0 w 64"/>
                <a:gd name="T45" fmla="*/ 64 h 420"/>
                <a:gd name="T46" fmla="*/ 0 w 64"/>
                <a:gd name="T47" fmla="*/ 69 h 420"/>
                <a:gd name="T48" fmla="*/ 1 w 64"/>
                <a:gd name="T49" fmla="*/ 73 h 420"/>
                <a:gd name="T50" fmla="*/ 2 w 64"/>
                <a:gd name="T51" fmla="*/ 78 h 420"/>
                <a:gd name="T52" fmla="*/ 4 w 64"/>
                <a:gd name="T53" fmla="*/ 81 h 420"/>
                <a:gd name="T54" fmla="*/ 8 w 64"/>
                <a:gd name="T55" fmla="*/ 86 h 420"/>
                <a:gd name="T56" fmla="*/ 12 w 64"/>
                <a:gd name="T57" fmla="*/ 88 h 420"/>
                <a:gd name="T58" fmla="*/ 16 w 64"/>
                <a:gd name="T59" fmla="*/ 89 h 420"/>
                <a:gd name="T60" fmla="*/ 20 w 64"/>
                <a:gd name="T61" fmla="*/ 90 h 420"/>
                <a:gd name="T62" fmla="*/ 20 w 64"/>
                <a:gd name="T63" fmla="*/ 90 h 420"/>
                <a:gd name="T64" fmla="*/ 15 w 64"/>
                <a:gd name="T65" fmla="*/ 90 h 420"/>
                <a:gd name="T66" fmla="*/ 12 w 64"/>
                <a:gd name="T67" fmla="*/ 92 h 420"/>
                <a:gd name="T68" fmla="*/ 6 w 64"/>
                <a:gd name="T69" fmla="*/ 96 h 420"/>
                <a:gd name="T70" fmla="*/ 4 w 64"/>
                <a:gd name="T71" fmla="*/ 99 h 420"/>
                <a:gd name="T72" fmla="*/ 2 w 64"/>
                <a:gd name="T73" fmla="*/ 103 h 420"/>
                <a:gd name="T74" fmla="*/ 1 w 64"/>
                <a:gd name="T75" fmla="*/ 107 h 420"/>
                <a:gd name="T76" fmla="*/ 0 w 64"/>
                <a:gd name="T77" fmla="*/ 111 h 420"/>
                <a:gd name="T78" fmla="*/ 0 w 64"/>
                <a:gd name="T79" fmla="*/ 117 h 420"/>
                <a:gd name="T80" fmla="*/ 1 w 64"/>
                <a:gd name="T81" fmla="*/ 121 h 420"/>
                <a:gd name="T82" fmla="*/ 3 w 64"/>
                <a:gd name="T83" fmla="*/ 124 h 420"/>
                <a:gd name="T84" fmla="*/ 5 w 64"/>
                <a:gd name="T85" fmla="*/ 128 h 420"/>
                <a:gd name="T86" fmla="*/ 10 w 64"/>
                <a:gd name="T87" fmla="*/ 132 h 420"/>
                <a:gd name="T88" fmla="*/ 14 w 64"/>
                <a:gd name="T89" fmla="*/ 134 h 420"/>
                <a:gd name="T90" fmla="*/ 18 w 64"/>
                <a:gd name="T91" fmla="*/ 135 h 420"/>
                <a:gd name="T92" fmla="*/ 21 w 64"/>
                <a:gd name="T93" fmla="*/ 135 h 420"/>
                <a:gd name="T94" fmla="*/ 17 w 64"/>
                <a:gd name="T95" fmla="*/ 135 h 420"/>
                <a:gd name="T96" fmla="*/ 13 w 64"/>
                <a:gd name="T97" fmla="*/ 136 h 420"/>
                <a:gd name="T98" fmla="*/ 10 w 64"/>
                <a:gd name="T99" fmla="*/ 138 h 420"/>
                <a:gd name="T100" fmla="*/ 5 w 64"/>
                <a:gd name="T101" fmla="*/ 142 h 420"/>
                <a:gd name="T102" fmla="*/ 3 w 64"/>
                <a:gd name="T103" fmla="*/ 146 h 420"/>
                <a:gd name="T104" fmla="*/ 1 w 64"/>
                <a:gd name="T105" fmla="*/ 150 h 420"/>
                <a:gd name="T106" fmla="*/ 0 w 64"/>
                <a:gd name="T107" fmla="*/ 155 h 420"/>
                <a:gd name="T108" fmla="*/ 0 w 64"/>
                <a:gd name="T109" fmla="*/ 158 h 420"/>
                <a:gd name="T110" fmla="*/ 1 w 64"/>
                <a:gd name="T111" fmla="*/ 163 h 420"/>
                <a:gd name="T112" fmla="*/ 2 w 64"/>
                <a:gd name="T113" fmla="*/ 167 h 420"/>
                <a:gd name="T114" fmla="*/ 4 w 64"/>
                <a:gd name="T115" fmla="*/ 171 h 420"/>
                <a:gd name="T116" fmla="*/ 8 w 64"/>
                <a:gd name="T117" fmla="*/ 175 h 420"/>
                <a:gd name="T118" fmla="*/ 12 w 64"/>
                <a:gd name="T119" fmla="*/ 178 h 420"/>
                <a:gd name="T120" fmla="*/ 16 w 64"/>
                <a:gd name="T121" fmla="*/ 179 h 420"/>
                <a:gd name="T122" fmla="*/ 20 w 64"/>
                <a:gd name="T123" fmla="*/ 180 h 42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64"/>
                <a:gd name="T187" fmla="*/ 0 h 420"/>
                <a:gd name="T188" fmla="*/ 64 w 64"/>
                <a:gd name="T189" fmla="*/ 420 h 420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64" h="420">
                  <a:moveTo>
                    <a:pt x="64" y="0"/>
                  </a:moveTo>
                  <a:lnTo>
                    <a:pt x="59" y="0"/>
                  </a:lnTo>
                  <a:lnTo>
                    <a:pt x="52" y="0"/>
                  </a:lnTo>
                  <a:lnTo>
                    <a:pt x="45" y="2"/>
                  </a:lnTo>
                  <a:lnTo>
                    <a:pt x="40" y="4"/>
                  </a:lnTo>
                  <a:lnTo>
                    <a:pt x="35" y="5"/>
                  </a:lnTo>
                  <a:lnTo>
                    <a:pt x="29" y="7"/>
                  </a:lnTo>
                  <a:lnTo>
                    <a:pt x="19" y="14"/>
                  </a:lnTo>
                  <a:lnTo>
                    <a:pt x="15" y="17"/>
                  </a:lnTo>
                  <a:lnTo>
                    <a:pt x="12" y="21"/>
                  </a:lnTo>
                  <a:lnTo>
                    <a:pt x="8" y="26"/>
                  </a:lnTo>
                  <a:lnTo>
                    <a:pt x="5" y="31"/>
                  </a:lnTo>
                  <a:lnTo>
                    <a:pt x="3" y="36"/>
                  </a:lnTo>
                  <a:lnTo>
                    <a:pt x="1" y="41"/>
                  </a:lnTo>
                  <a:lnTo>
                    <a:pt x="0" y="46"/>
                  </a:lnTo>
                  <a:lnTo>
                    <a:pt x="0" y="51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1" y="66"/>
                  </a:lnTo>
                  <a:lnTo>
                    <a:pt x="3" y="71"/>
                  </a:lnTo>
                  <a:lnTo>
                    <a:pt x="5" y="76"/>
                  </a:lnTo>
                  <a:lnTo>
                    <a:pt x="8" y="81"/>
                  </a:lnTo>
                  <a:lnTo>
                    <a:pt x="12" y="84"/>
                  </a:lnTo>
                  <a:lnTo>
                    <a:pt x="15" y="87"/>
                  </a:lnTo>
                  <a:lnTo>
                    <a:pt x="24" y="94"/>
                  </a:lnTo>
                  <a:lnTo>
                    <a:pt x="29" y="97"/>
                  </a:lnTo>
                  <a:lnTo>
                    <a:pt x="35" y="99"/>
                  </a:lnTo>
                  <a:lnTo>
                    <a:pt x="42" y="103"/>
                  </a:lnTo>
                  <a:lnTo>
                    <a:pt x="47" y="104"/>
                  </a:lnTo>
                  <a:lnTo>
                    <a:pt x="54" y="104"/>
                  </a:lnTo>
                  <a:lnTo>
                    <a:pt x="59" y="104"/>
                  </a:lnTo>
                  <a:lnTo>
                    <a:pt x="64" y="104"/>
                  </a:lnTo>
                  <a:lnTo>
                    <a:pt x="59" y="104"/>
                  </a:lnTo>
                  <a:lnTo>
                    <a:pt x="52" y="106"/>
                  </a:lnTo>
                  <a:lnTo>
                    <a:pt x="45" y="106"/>
                  </a:lnTo>
                  <a:lnTo>
                    <a:pt x="40" y="108"/>
                  </a:lnTo>
                  <a:lnTo>
                    <a:pt x="35" y="111"/>
                  </a:lnTo>
                  <a:lnTo>
                    <a:pt x="29" y="113"/>
                  </a:lnTo>
                  <a:lnTo>
                    <a:pt x="19" y="119"/>
                  </a:lnTo>
                  <a:lnTo>
                    <a:pt x="15" y="123"/>
                  </a:lnTo>
                  <a:lnTo>
                    <a:pt x="12" y="126"/>
                  </a:lnTo>
                  <a:lnTo>
                    <a:pt x="8" y="131"/>
                  </a:lnTo>
                  <a:lnTo>
                    <a:pt x="5" y="134"/>
                  </a:lnTo>
                  <a:lnTo>
                    <a:pt x="3" y="139"/>
                  </a:lnTo>
                  <a:lnTo>
                    <a:pt x="1" y="144"/>
                  </a:lnTo>
                  <a:lnTo>
                    <a:pt x="0" y="149"/>
                  </a:lnTo>
                  <a:lnTo>
                    <a:pt x="0" y="156"/>
                  </a:lnTo>
                  <a:lnTo>
                    <a:pt x="0" y="161"/>
                  </a:lnTo>
                  <a:lnTo>
                    <a:pt x="0" y="166"/>
                  </a:lnTo>
                  <a:lnTo>
                    <a:pt x="1" y="171"/>
                  </a:lnTo>
                  <a:lnTo>
                    <a:pt x="3" y="176"/>
                  </a:lnTo>
                  <a:lnTo>
                    <a:pt x="5" y="181"/>
                  </a:lnTo>
                  <a:lnTo>
                    <a:pt x="8" y="185"/>
                  </a:lnTo>
                  <a:lnTo>
                    <a:pt x="12" y="190"/>
                  </a:lnTo>
                  <a:lnTo>
                    <a:pt x="15" y="193"/>
                  </a:lnTo>
                  <a:lnTo>
                    <a:pt x="24" y="200"/>
                  </a:lnTo>
                  <a:lnTo>
                    <a:pt x="29" y="203"/>
                  </a:lnTo>
                  <a:lnTo>
                    <a:pt x="35" y="205"/>
                  </a:lnTo>
                  <a:lnTo>
                    <a:pt x="42" y="206"/>
                  </a:lnTo>
                  <a:lnTo>
                    <a:pt x="47" y="208"/>
                  </a:lnTo>
                  <a:lnTo>
                    <a:pt x="54" y="210"/>
                  </a:lnTo>
                  <a:lnTo>
                    <a:pt x="59" y="210"/>
                  </a:lnTo>
                  <a:lnTo>
                    <a:pt x="64" y="210"/>
                  </a:lnTo>
                  <a:lnTo>
                    <a:pt x="59" y="210"/>
                  </a:lnTo>
                  <a:lnTo>
                    <a:pt x="52" y="210"/>
                  </a:lnTo>
                  <a:lnTo>
                    <a:pt x="45" y="211"/>
                  </a:lnTo>
                  <a:lnTo>
                    <a:pt x="40" y="213"/>
                  </a:lnTo>
                  <a:lnTo>
                    <a:pt x="35" y="215"/>
                  </a:lnTo>
                  <a:lnTo>
                    <a:pt x="29" y="218"/>
                  </a:lnTo>
                  <a:lnTo>
                    <a:pt x="19" y="223"/>
                  </a:lnTo>
                  <a:lnTo>
                    <a:pt x="15" y="228"/>
                  </a:lnTo>
                  <a:lnTo>
                    <a:pt x="12" y="231"/>
                  </a:lnTo>
                  <a:lnTo>
                    <a:pt x="8" y="235"/>
                  </a:lnTo>
                  <a:lnTo>
                    <a:pt x="5" y="240"/>
                  </a:lnTo>
                  <a:lnTo>
                    <a:pt x="3" y="245"/>
                  </a:lnTo>
                  <a:lnTo>
                    <a:pt x="1" y="250"/>
                  </a:lnTo>
                  <a:lnTo>
                    <a:pt x="0" y="255"/>
                  </a:lnTo>
                  <a:lnTo>
                    <a:pt x="0" y="260"/>
                  </a:lnTo>
                  <a:lnTo>
                    <a:pt x="0" y="265"/>
                  </a:lnTo>
                  <a:lnTo>
                    <a:pt x="0" y="272"/>
                  </a:lnTo>
                  <a:lnTo>
                    <a:pt x="1" y="277"/>
                  </a:lnTo>
                  <a:lnTo>
                    <a:pt x="3" y="282"/>
                  </a:lnTo>
                  <a:lnTo>
                    <a:pt x="5" y="285"/>
                  </a:lnTo>
                  <a:lnTo>
                    <a:pt x="8" y="290"/>
                  </a:lnTo>
                  <a:lnTo>
                    <a:pt x="12" y="293"/>
                  </a:lnTo>
                  <a:lnTo>
                    <a:pt x="15" y="298"/>
                  </a:lnTo>
                  <a:lnTo>
                    <a:pt x="24" y="305"/>
                  </a:lnTo>
                  <a:lnTo>
                    <a:pt x="29" y="307"/>
                  </a:lnTo>
                  <a:lnTo>
                    <a:pt x="35" y="310"/>
                  </a:lnTo>
                  <a:lnTo>
                    <a:pt x="42" y="312"/>
                  </a:lnTo>
                  <a:lnTo>
                    <a:pt x="47" y="313"/>
                  </a:lnTo>
                  <a:lnTo>
                    <a:pt x="54" y="315"/>
                  </a:lnTo>
                  <a:lnTo>
                    <a:pt x="59" y="315"/>
                  </a:lnTo>
                  <a:lnTo>
                    <a:pt x="64" y="315"/>
                  </a:lnTo>
                  <a:lnTo>
                    <a:pt x="59" y="315"/>
                  </a:lnTo>
                  <a:lnTo>
                    <a:pt x="52" y="315"/>
                  </a:lnTo>
                  <a:lnTo>
                    <a:pt x="45" y="317"/>
                  </a:lnTo>
                  <a:lnTo>
                    <a:pt x="40" y="318"/>
                  </a:lnTo>
                  <a:lnTo>
                    <a:pt x="35" y="320"/>
                  </a:lnTo>
                  <a:lnTo>
                    <a:pt x="29" y="322"/>
                  </a:lnTo>
                  <a:lnTo>
                    <a:pt x="19" y="328"/>
                  </a:lnTo>
                  <a:lnTo>
                    <a:pt x="15" y="332"/>
                  </a:lnTo>
                  <a:lnTo>
                    <a:pt x="12" y="337"/>
                  </a:lnTo>
                  <a:lnTo>
                    <a:pt x="8" y="340"/>
                  </a:lnTo>
                  <a:lnTo>
                    <a:pt x="5" y="345"/>
                  </a:lnTo>
                  <a:lnTo>
                    <a:pt x="3" y="350"/>
                  </a:lnTo>
                  <a:lnTo>
                    <a:pt x="1" y="355"/>
                  </a:lnTo>
                  <a:lnTo>
                    <a:pt x="0" y="360"/>
                  </a:lnTo>
                  <a:lnTo>
                    <a:pt x="0" y="365"/>
                  </a:lnTo>
                  <a:lnTo>
                    <a:pt x="0" y="370"/>
                  </a:lnTo>
                  <a:lnTo>
                    <a:pt x="0" y="375"/>
                  </a:lnTo>
                  <a:lnTo>
                    <a:pt x="1" y="380"/>
                  </a:lnTo>
                  <a:lnTo>
                    <a:pt x="3" y="385"/>
                  </a:lnTo>
                  <a:lnTo>
                    <a:pt x="5" y="390"/>
                  </a:lnTo>
                  <a:lnTo>
                    <a:pt x="8" y="395"/>
                  </a:lnTo>
                  <a:lnTo>
                    <a:pt x="12" y="399"/>
                  </a:lnTo>
                  <a:lnTo>
                    <a:pt x="15" y="402"/>
                  </a:lnTo>
                  <a:lnTo>
                    <a:pt x="24" y="409"/>
                  </a:lnTo>
                  <a:lnTo>
                    <a:pt x="29" y="412"/>
                  </a:lnTo>
                  <a:lnTo>
                    <a:pt x="35" y="415"/>
                  </a:lnTo>
                  <a:lnTo>
                    <a:pt x="42" y="417"/>
                  </a:lnTo>
                  <a:lnTo>
                    <a:pt x="47" y="419"/>
                  </a:lnTo>
                  <a:lnTo>
                    <a:pt x="54" y="419"/>
                  </a:lnTo>
                  <a:lnTo>
                    <a:pt x="59" y="420"/>
                  </a:lnTo>
                  <a:lnTo>
                    <a:pt x="64" y="42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Line 191"/>
            <p:cNvSpPr>
              <a:spLocks noChangeShapeType="1"/>
            </p:cNvSpPr>
            <p:nvPr/>
          </p:nvSpPr>
          <p:spPr bwMode="auto">
            <a:xfrm>
              <a:off x="3455" y="2641"/>
              <a:ext cx="1" cy="26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Line 192"/>
            <p:cNvSpPr>
              <a:spLocks noChangeShapeType="1"/>
            </p:cNvSpPr>
            <p:nvPr/>
          </p:nvSpPr>
          <p:spPr bwMode="auto">
            <a:xfrm flipV="1">
              <a:off x="3470" y="2641"/>
              <a:ext cx="1" cy="26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193"/>
            <p:cNvSpPr>
              <a:spLocks/>
            </p:cNvSpPr>
            <p:nvPr/>
          </p:nvSpPr>
          <p:spPr bwMode="auto">
            <a:xfrm>
              <a:off x="3526" y="2645"/>
              <a:ext cx="32" cy="35"/>
            </a:xfrm>
            <a:custGeom>
              <a:avLst/>
              <a:gdLst>
                <a:gd name="T0" fmla="*/ 0 w 55"/>
                <a:gd name="T1" fmla="*/ 11 h 53"/>
                <a:gd name="T2" fmla="*/ 1 w 55"/>
                <a:gd name="T3" fmla="*/ 9 h 53"/>
                <a:gd name="T4" fmla="*/ 1 w 55"/>
                <a:gd name="T5" fmla="*/ 7 h 53"/>
                <a:gd name="T6" fmla="*/ 2 w 55"/>
                <a:gd name="T7" fmla="*/ 5 h 53"/>
                <a:gd name="T8" fmla="*/ 3 w 55"/>
                <a:gd name="T9" fmla="*/ 3 h 53"/>
                <a:gd name="T10" fmla="*/ 4 w 55"/>
                <a:gd name="T11" fmla="*/ 2 h 53"/>
                <a:gd name="T12" fmla="*/ 6 w 55"/>
                <a:gd name="T13" fmla="*/ 1 h 53"/>
                <a:gd name="T14" fmla="*/ 8 w 55"/>
                <a:gd name="T15" fmla="*/ 0 h 53"/>
                <a:gd name="T16" fmla="*/ 9 w 55"/>
                <a:gd name="T17" fmla="*/ 0 h 53"/>
                <a:gd name="T18" fmla="*/ 12 w 55"/>
                <a:gd name="T19" fmla="*/ 0 h 53"/>
                <a:gd name="T20" fmla="*/ 13 w 55"/>
                <a:gd name="T21" fmla="*/ 1 h 53"/>
                <a:gd name="T22" fmla="*/ 15 w 55"/>
                <a:gd name="T23" fmla="*/ 2 h 53"/>
                <a:gd name="T24" fmla="*/ 16 w 55"/>
                <a:gd name="T25" fmla="*/ 3 h 53"/>
                <a:gd name="T26" fmla="*/ 17 w 55"/>
                <a:gd name="T27" fmla="*/ 5 h 53"/>
                <a:gd name="T28" fmla="*/ 18 w 55"/>
                <a:gd name="T29" fmla="*/ 7 h 53"/>
                <a:gd name="T30" fmla="*/ 19 w 55"/>
                <a:gd name="T31" fmla="*/ 9 h 53"/>
                <a:gd name="T32" fmla="*/ 19 w 55"/>
                <a:gd name="T33" fmla="*/ 11 h 53"/>
                <a:gd name="T34" fmla="*/ 19 w 55"/>
                <a:gd name="T35" fmla="*/ 11 h 53"/>
                <a:gd name="T36" fmla="*/ 19 w 55"/>
                <a:gd name="T37" fmla="*/ 13 h 53"/>
                <a:gd name="T38" fmla="*/ 18 w 55"/>
                <a:gd name="T39" fmla="*/ 16 h 53"/>
                <a:gd name="T40" fmla="*/ 17 w 55"/>
                <a:gd name="T41" fmla="*/ 18 h 53"/>
                <a:gd name="T42" fmla="*/ 16 w 55"/>
                <a:gd name="T43" fmla="*/ 20 h 53"/>
                <a:gd name="T44" fmla="*/ 15 w 55"/>
                <a:gd name="T45" fmla="*/ 21 h 53"/>
                <a:gd name="T46" fmla="*/ 13 w 55"/>
                <a:gd name="T47" fmla="*/ 22 h 53"/>
                <a:gd name="T48" fmla="*/ 12 w 55"/>
                <a:gd name="T49" fmla="*/ 22 h 53"/>
                <a:gd name="T50" fmla="*/ 9 w 55"/>
                <a:gd name="T51" fmla="*/ 23 h 53"/>
                <a:gd name="T52" fmla="*/ 8 w 55"/>
                <a:gd name="T53" fmla="*/ 22 h 53"/>
                <a:gd name="T54" fmla="*/ 6 w 55"/>
                <a:gd name="T55" fmla="*/ 22 h 53"/>
                <a:gd name="T56" fmla="*/ 4 w 55"/>
                <a:gd name="T57" fmla="*/ 21 h 53"/>
                <a:gd name="T58" fmla="*/ 3 w 55"/>
                <a:gd name="T59" fmla="*/ 20 h 53"/>
                <a:gd name="T60" fmla="*/ 2 w 55"/>
                <a:gd name="T61" fmla="*/ 18 h 53"/>
                <a:gd name="T62" fmla="*/ 1 w 55"/>
                <a:gd name="T63" fmla="*/ 16 h 53"/>
                <a:gd name="T64" fmla="*/ 1 w 55"/>
                <a:gd name="T65" fmla="*/ 13 h 53"/>
                <a:gd name="T66" fmla="*/ 0 w 55"/>
                <a:gd name="T67" fmla="*/ 1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5"/>
                <a:gd name="T103" fmla="*/ 0 h 53"/>
                <a:gd name="T104" fmla="*/ 55 w 55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5" h="53">
                  <a:moveTo>
                    <a:pt x="0" y="26"/>
                  </a:moveTo>
                  <a:lnTo>
                    <a:pt x="1" y="21"/>
                  </a:lnTo>
                  <a:lnTo>
                    <a:pt x="3" y="16"/>
                  </a:lnTo>
                  <a:lnTo>
                    <a:pt x="5" y="11"/>
                  </a:lnTo>
                  <a:lnTo>
                    <a:pt x="8" y="6"/>
                  </a:lnTo>
                  <a:lnTo>
                    <a:pt x="12" y="5"/>
                  </a:lnTo>
                  <a:lnTo>
                    <a:pt x="17" y="1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1"/>
                  </a:lnTo>
                  <a:lnTo>
                    <a:pt x="43" y="5"/>
                  </a:lnTo>
                  <a:lnTo>
                    <a:pt x="48" y="6"/>
                  </a:lnTo>
                  <a:lnTo>
                    <a:pt x="52" y="11"/>
                  </a:lnTo>
                  <a:lnTo>
                    <a:pt x="54" y="16"/>
                  </a:lnTo>
                  <a:lnTo>
                    <a:pt x="55" y="21"/>
                  </a:lnTo>
                  <a:lnTo>
                    <a:pt x="55" y="26"/>
                  </a:lnTo>
                  <a:lnTo>
                    <a:pt x="55" y="31"/>
                  </a:lnTo>
                  <a:lnTo>
                    <a:pt x="54" y="36"/>
                  </a:lnTo>
                  <a:lnTo>
                    <a:pt x="52" y="41"/>
                  </a:lnTo>
                  <a:lnTo>
                    <a:pt x="48" y="45"/>
                  </a:lnTo>
                  <a:lnTo>
                    <a:pt x="43" y="48"/>
                  </a:lnTo>
                  <a:lnTo>
                    <a:pt x="40" y="51"/>
                  </a:lnTo>
                  <a:lnTo>
                    <a:pt x="35" y="51"/>
                  </a:lnTo>
                  <a:lnTo>
                    <a:pt x="28" y="53"/>
                  </a:lnTo>
                  <a:lnTo>
                    <a:pt x="22" y="51"/>
                  </a:lnTo>
                  <a:lnTo>
                    <a:pt x="17" y="51"/>
                  </a:lnTo>
                  <a:lnTo>
                    <a:pt x="12" y="48"/>
                  </a:lnTo>
                  <a:lnTo>
                    <a:pt x="8" y="45"/>
                  </a:lnTo>
                  <a:lnTo>
                    <a:pt x="5" y="41"/>
                  </a:lnTo>
                  <a:lnTo>
                    <a:pt x="3" y="36"/>
                  </a:lnTo>
                  <a:lnTo>
                    <a:pt x="1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Line 194"/>
            <p:cNvSpPr>
              <a:spLocks noChangeShapeType="1"/>
            </p:cNvSpPr>
            <p:nvPr/>
          </p:nvSpPr>
          <p:spPr bwMode="auto">
            <a:xfrm flipH="1">
              <a:off x="3082" y="2018"/>
              <a:ext cx="178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195"/>
            <p:cNvSpPr>
              <a:spLocks/>
            </p:cNvSpPr>
            <p:nvPr/>
          </p:nvSpPr>
          <p:spPr bwMode="auto">
            <a:xfrm>
              <a:off x="3085" y="3128"/>
              <a:ext cx="203" cy="150"/>
            </a:xfrm>
            <a:custGeom>
              <a:avLst/>
              <a:gdLst>
                <a:gd name="T0" fmla="*/ 117 w 352"/>
                <a:gd name="T1" fmla="*/ 97 h 231"/>
                <a:gd name="T2" fmla="*/ 0 w 352"/>
                <a:gd name="T3" fmla="*/ 97 h 231"/>
                <a:gd name="T4" fmla="*/ 0 w 352"/>
                <a:gd name="T5" fmla="*/ 0 h 231"/>
                <a:gd name="T6" fmla="*/ 0 60000 65536"/>
                <a:gd name="T7" fmla="*/ 0 60000 65536"/>
                <a:gd name="T8" fmla="*/ 0 60000 65536"/>
                <a:gd name="T9" fmla="*/ 0 w 352"/>
                <a:gd name="T10" fmla="*/ 0 h 231"/>
                <a:gd name="T11" fmla="*/ 352 w 352"/>
                <a:gd name="T12" fmla="*/ 231 h 2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2" h="231">
                  <a:moveTo>
                    <a:pt x="352" y="231"/>
                  </a:moveTo>
                  <a:lnTo>
                    <a:pt x="0" y="231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Line 196"/>
            <p:cNvSpPr>
              <a:spLocks noChangeShapeType="1"/>
            </p:cNvSpPr>
            <p:nvPr/>
          </p:nvSpPr>
          <p:spPr bwMode="auto">
            <a:xfrm flipH="1">
              <a:off x="3085" y="2841"/>
              <a:ext cx="20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197"/>
            <p:cNvSpPr>
              <a:spLocks/>
            </p:cNvSpPr>
            <p:nvPr/>
          </p:nvSpPr>
          <p:spPr bwMode="auto">
            <a:xfrm>
              <a:off x="3069" y="2822"/>
              <a:ext cx="32" cy="36"/>
            </a:xfrm>
            <a:custGeom>
              <a:avLst/>
              <a:gdLst>
                <a:gd name="T0" fmla="*/ 0 w 56"/>
                <a:gd name="T1" fmla="*/ 12 h 54"/>
                <a:gd name="T2" fmla="*/ 0 w 56"/>
                <a:gd name="T3" fmla="*/ 10 h 54"/>
                <a:gd name="T4" fmla="*/ 1 w 56"/>
                <a:gd name="T5" fmla="*/ 7 h 54"/>
                <a:gd name="T6" fmla="*/ 2 w 56"/>
                <a:gd name="T7" fmla="*/ 5 h 54"/>
                <a:gd name="T8" fmla="*/ 3 w 56"/>
                <a:gd name="T9" fmla="*/ 4 h 54"/>
                <a:gd name="T10" fmla="*/ 4 w 56"/>
                <a:gd name="T11" fmla="*/ 2 h 54"/>
                <a:gd name="T12" fmla="*/ 6 w 56"/>
                <a:gd name="T13" fmla="*/ 1 h 54"/>
                <a:gd name="T14" fmla="*/ 7 w 56"/>
                <a:gd name="T15" fmla="*/ 0 h 54"/>
                <a:gd name="T16" fmla="*/ 9 w 56"/>
                <a:gd name="T17" fmla="*/ 0 h 54"/>
                <a:gd name="T18" fmla="*/ 11 w 56"/>
                <a:gd name="T19" fmla="*/ 0 h 54"/>
                <a:gd name="T20" fmla="*/ 13 w 56"/>
                <a:gd name="T21" fmla="*/ 1 h 54"/>
                <a:gd name="T22" fmla="*/ 14 w 56"/>
                <a:gd name="T23" fmla="*/ 2 h 54"/>
                <a:gd name="T24" fmla="*/ 15 w 56"/>
                <a:gd name="T25" fmla="*/ 4 h 54"/>
                <a:gd name="T26" fmla="*/ 17 w 56"/>
                <a:gd name="T27" fmla="*/ 5 h 54"/>
                <a:gd name="T28" fmla="*/ 18 w 56"/>
                <a:gd name="T29" fmla="*/ 7 h 54"/>
                <a:gd name="T30" fmla="*/ 18 w 56"/>
                <a:gd name="T31" fmla="*/ 10 h 54"/>
                <a:gd name="T32" fmla="*/ 18 w 56"/>
                <a:gd name="T33" fmla="*/ 12 h 54"/>
                <a:gd name="T34" fmla="*/ 18 w 56"/>
                <a:gd name="T35" fmla="*/ 12 h 54"/>
                <a:gd name="T36" fmla="*/ 18 w 56"/>
                <a:gd name="T37" fmla="*/ 14 h 54"/>
                <a:gd name="T38" fmla="*/ 18 w 56"/>
                <a:gd name="T39" fmla="*/ 17 h 54"/>
                <a:gd name="T40" fmla="*/ 17 w 56"/>
                <a:gd name="T41" fmla="*/ 19 h 54"/>
                <a:gd name="T42" fmla="*/ 15 w 56"/>
                <a:gd name="T43" fmla="*/ 20 h 54"/>
                <a:gd name="T44" fmla="*/ 14 w 56"/>
                <a:gd name="T45" fmla="*/ 22 h 54"/>
                <a:gd name="T46" fmla="*/ 13 w 56"/>
                <a:gd name="T47" fmla="*/ 23 h 54"/>
                <a:gd name="T48" fmla="*/ 11 w 56"/>
                <a:gd name="T49" fmla="*/ 24 h 54"/>
                <a:gd name="T50" fmla="*/ 9 w 56"/>
                <a:gd name="T51" fmla="*/ 24 h 54"/>
                <a:gd name="T52" fmla="*/ 7 w 56"/>
                <a:gd name="T53" fmla="*/ 24 h 54"/>
                <a:gd name="T54" fmla="*/ 6 w 56"/>
                <a:gd name="T55" fmla="*/ 23 h 54"/>
                <a:gd name="T56" fmla="*/ 4 w 56"/>
                <a:gd name="T57" fmla="*/ 22 h 54"/>
                <a:gd name="T58" fmla="*/ 3 w 56"/>
                <a:gd name="T59" fmla="*/ 20 h 54"/>
                <a:gd name="T60" fmla="*/ 2 w 56"/>
                <a:gd name="T61" fmla="*/ 19 h 54"/>
                <a:gd name="T62" fmla="*/ 1 w 56"/>
                <a:gd name="T63" fmla="*/ 17 h 54"/>
                <a:gd name="T64" fmla="*/ 0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198"/>
            <p:cNvSpPr>
              <a:spLocks/>
            </p:cNvSpPr>
            <p:nvPr/>
          </p:nvSpPr>
          <p:spPr bwMode="auto">
            <a:xfrm>
              <a:off x="3069" y="3261"/>
              <a:ext cx="32" cy="34"/>
            </a:xfrm>
            <a:custGeom>
              <a:avLst/>
              <a:gdLst>
                <a:gd name="T0" fmla="*/ 0 w 56"/>
                <a:gd name="T1" fmla="*/ 11 h 54"/>
                <a:gd name="T2" fmla="*/ 0 w 56"/>
                <a:gd name="T3" fmla="*/ 9 h 54"/>
                <a:gd name="T4" fmla="*/ 1 w 56"/>
                <a:gd name="T5" fmla="*/ 7 h 54"/>
                <a:gd name="T6" fmla="*/ 2 w 56"/>
                <a:gd name="T7" fmla="*/ 5 h 54"/>
                <a:gd name="T8" fmla="*/ 3 w 56"/>
                <a:gd name="T9" fmla="*/ 4 h 54"/>
                <a:gd name="T10" fmla="*/ 4 w 56"/>
                <a:gd name="T11" fmla="*/ 2 h 54"/>
                <a:gd name="T12" fmla="*/ 6 w 56"/>
                <a:gd name="T13" fmla="*/ 1 h 54"/>
                <a:gd name="T14" fmla="*/ 7 w 56"/>
                <a:gd name="T15" fmla="*/ 0 h 54"/>
                <a:gd name="T16" fmla="*/ 9 w 56"/>
                <a:gd name="T17" fmla="*/ 0 h 54"/>
                <a:gd name="T18" fmla="*/ 11 w 56"/>
                <a:gd name="T19" fmla="*/ 0 h 54"/>
                <a:gd name="T20" fmla="*/ 13 w 56"/>
                <a:gd name="T21" fmla="*/ 1 h 54"/>
                <a:gd name="T22" fmla="*/ 14 w 56"/>
                <a:gd name="T23" fmla="*/ 2 h 54"/>
                <a:gd name="T24" fmla="*/ 15 w 56"/>
                <a:gd name="T25" fmla="*/ 4 h 54"/>
                <a:gd name="T26" fmla="*/ 17 w 56"/>
                <a:gd name="T27" fmla="*/ 5 h 54"/>
                <a:gd name="T28" fmla="*/ 18 w 56"/>
                <a:gd name="T29" fmla="*/ 7 h 54"/>
                <a:gd name="T30" fmla="*/ 18 w 56"/>
                <a:gd name="T31" fmla="*/ 9 h 54"/>
                <a:gd name="T32" fmla="*/ 18 w 56"/>
                <a:gd name="T33" fmla="*/ 11 h 54"/>
                <a:gd name="T34" fmla="*/ 18 w 56"/>
                <a:gd name="T35" fmla="*/ 11 h 54"/>
                <a:gd name="T36" fmla="*/ 18 w 56"/>
                <a:gd name="T37" fmla="*/ 13 h 54"/>
                <a:gd name="T38" fmla="*/ 18 w 56"/>
                <a:gd name="T39" fmla="*/ 14 h 54"/>
                <a:gd name="T40" fmla="*/ 17 w 56"/>
                <a:gd name="T41" fmla="*/ 16 h 54"/>
                <a:gd name="T42" fmla="*/ 15 w 56"/>
                <a:gd name="T43" fmla="*/ 18 h 54"/>
                <a:gd name="T44" fmla="*/ 14 w 56"/>
                <a:gd name="T45" fmla="*/ 20 h 54"/>
                <a:gd name="T46" fmla="*/ 13 w 56"/>
                <a:gd name="T47" fmla="*/ 21 h 54"/>
                <a:gd name="T48" fmla="*/ 11 w 56"/>
                <a:gd name="T49" fmla="*/ 21 h 54"/>
                <a:gd name="T50" fmla="*/ 9 w 56"/>
                <a:gd name="T51" fmla="*/ 21 h 54"/>
                <a:gd name="T52" fmla="*/ 7 w 56"/>
                <a:gd name="T53" fmla="*/ 21 h 54"/>
                <a:gd name="T54" fmla="*/ 6 w 56"/>
                <a:gd name="T55" fmla="*/ 21 h 54"/>
                <a:gd name="T56" fmla="*/ 4 w 56"/>
                <a:gd name="T57" fmla="*/ 20 h 54"/>
                <a:gd name="T58" fmla="*/ 3 w 56"/>
                <a:gd name="T59" fmla="*/ 18 h 54"/>
                <a:gd name="T60" fmla="*/ 2 w 56"/>
                <a:gd name="T61" fmla="*/ 16 h 54"/>
                <a:gd name="T62" fmla="*/ 1 w 56"/>
                <a:gd name="T63" fmla="*/ 14 h 54"/>
                <a:gd name="T64" fmla="*/ 0 w 56"/>
                <a:gd name="T65" fmla="*/ 13 h 54"/>
                <a:gd name="T66" fmla="*/ 0 w 56"/>
                <a:gd name="T67" fmla="*/ 1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49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Line 199"/>
            <p:cNvSpPr>
              <a:spLocks noChangeShapeType="1"/>
            </p:cNvSpPr>
            <p:nvPr/>
          </p:nvSpPr>
          <p:spPr bwMode="auto">
            <a:xfrm flipV="1">
              <a:off x="3539" y="2909"/>
              <a:ext cx="1" cy="10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Line 200"/>
            <p:cNvSpPr>
              <a:spLocks noChangeShapeType="1"/>
            </p:cNvSpPr>
            <p:nvPr/>
          </p:nvSpPr>
          <p:spPr bwMode="auto">
            <a:xfrm flipH="1" flipV="1">
              <a:off x="3946" y="2252"/>
              <a:ext cx="4" cy="76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Line 201"/>
            <p:cNvSpPr>
              <a:spLocks noChangeShapeType="1"/>
            </p:cNvSpPr>
            <p:nvPr/>
          </p:nvSpPr>
          <p:spPr bwMode="auto">
            <a:xfrm>
              <a:off x="3946" y="2252"/>
              <a:ext cx="193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Line 202"/>
            <p:cNvSpPr>
              <a:spLocks noChangeShapeType="1"/>
            </p:cNvSpPr>
            <p:nvPr/>
          </p:nvSpPr>
          <p:spPr bwMode="auto">
            <a:xfrm>
              <a:off x="4718" y="2516"/>
              <a:ext cx="1" cy="6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203"/>
            <p:cNvSpPr>
              <a:spLocks/>
            </p:cNvSpPr>
            <p:nvPr/>
          </p:nvSpPr>
          <p:spPr bwMode="auto">
            <a:xfrm>
              <a:off x="3539" y="2634"/>
              <a:ext cx="1173" cy="2"/>
            </a:xfrm>
            <a:custGeom>
              <a:avLst/>
              <a:gdLst>
                <a:gd name="T0" fmla="*/ 0 w 2022"/>
                <a:gd name="T1" fmla="*/ 0 h 2"/>
                <a:gd name="T2" fmla="*/ 680 w 2022"/>
                <a:gd name="T3" fmla="*/ 0 h 2"/>
                <a:gd name="T4" fmla="*/ 678 w 2022"/>
                <a:gd name="T5" fmla="*/ 0 h 2"/>
                <a:gd name="T6" fmla="*/ 0 60000 65536"/>
                <a:gd name="T7" fmla="*/ 0 60000 65536"/>
                <a:gd name="T8" fmla="*/ 0 60000 65536"/>
                <a:gd name="T9" fmla="*/ 0 w 2022"/>
                <a:gd name="T10" fmla="*/ 0 h 2"/>
                <a:gd name="T11" fmla="*/ 2022 w 202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22" h="2">
                  <a:moveTo>
                    <a:pt x="0" y="0"/>
                  </a:moveTo>
                  <a:lnTo>
                    <a:pt x="2022" y="0"/>
                  </a:lnTo>
                  <a:lnTo>
                    <a:pt x="2014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Line 204"/>
            <p:cNvSpPr>
              <a:spLocks noChangeShapeType="1"/>
            </p:cNvSpPr>
            <p:nvPr/>
          </p:nvSpPr>
          <p:spPr bwMode="auto">
            <a:xfrm>
              <a:off x="4718" y="2580"/>
              <a:ext cx="1" cy="5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Line 205"/>
            <p:cNvSpPr>
              <a:spLocks noChangeShapeType="1"/>
            </p:cNvSpPr>
            <p:nvPr/>
          </p:nvSpPr>
          <p:spPr bwMode="auto">
            <a:xfrm>
              <a:off x="4514" y="2580"/>
              <a:ext cx="1" cy="54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206"/>
            <p:cNvSpPr>
              <a:spLocks/>
            </p:cNvSpPr>
            <p:nvPr/>
          </p:nvSpPr>
          <p:spPr bwMode="auto">
            <a:xfrm>
              <a:off x="4498" y="2617"/>
              <a:ext cx="32" cy="36"/>
            </a:xfrm>
            <a:custGeom>
              <a:avLst/>
              <a:gdLst>
                <a:gd name="T0" fmla="*/ 0 w 56"/>
                <a:gd name="T1" fmla="*/ 12 h 53"/>
                <a:gd name="T2" fmla="*/ 0 w 56"/>
                <a:gd name="T3" fmla="*/ 10 h 53"/>
                <a:gd name="T4" fmla="*/ 1 w 56"/>
                <a:gd name="T5" fmla="*/ 7 h 53"/>
                <a:gd name="T6" fmla="*/ 2 w 56"/>
                <a:gd name="T7" fmla="*/ 5 h 53"/>
                <a:gd name="T8" fmla="*/ 2 w 56"/>
                <a:gd name="T9" fmla="*/ 3 h 53"/>
                <a:gd name="T10" fmla="*/ 4 w 56"/>
                <a:gd name="T11" fmla="*/ 1 h 53"/>
                <a:gd name="T12" fmla="*/ 6 w 56"/>
                <a:gd name="T13" fmla="*/ 1 h 53"/>
                <a:gd name="T14" fmla="*/ 7 w 56"/>
                <a:gd name="T15" fmla="*/ 0 h 53"/>
                <a:gd name="T16" fmla="*/ 9 w 56"/>
                <a:gd name="T17" fmla="*/ 0 h 53"/>
                <a:gd name="T18" fmla="*/ 11 w 56"/>
                <a:gd name="T19" fmla="*/ 0 h 53"/>
                <a:gd name="T20" fmla="*/ 13 w 56"/>
                <a:gd name="T21" fmla="*/ 1 h 53"/>
                <a:gd name="T22" fmla="*/ 14 w 56"/>
                <a:gd name="T23" fmla="*/ 1 h 53"/>
                <a:gd name="T24" fmla="*/ 15 w 56"/>
                <a:gd name="T25" fmla="*/ 3 h 53"/>
                <a:gd name="T26" fmla="*/ 17 w 56"/>
                <a:gd name="T27" fmla="*/ 5 h 53"/>
                <a:gd name="T28" fmla="*/ 18 w 56"/>
                <a:gd name="T29" fmla="*/ 7 h 53"/>
                <a:gd name="T30" fmla="*/ 18 w 56"/>
                <a:gd name="T31" fmla="*/ 10 h 53"/>
                <a:gd name="T32" fmla="*/ 18 w 56"/>
                <a:gd name="T33" fmla="*/ 12 h 53"/>
                <a:gd name="T34" fmla="*/ 18 w 56"/>
                <a:gd name="T35" fmla="*/ 12 h 53"/>
                <a:gd name="T36" fmla="*/ 18 w 56"/>
                <a:gd name="T37" fmla="*/ 14 h 53"/>
                <a:gd name="T38" fmla="*/ 18 w 56"/>
                <a:gd name="T39" fmla="*/ 16 h 53"/>
                <a:gd name="T40" fmla="*/ 17 w 56"/>
                <a:gd name="T41" fmla="*/ 20 h 53"/>
                <a:gd name="T42" fmla="*/ 15 w 56"/>
                <a:gd name="T43" fmla="*/ 21 h 53"/>
                <a:gd name="T44" fmla="*/ 14 w 56"/>
                <a:gd name="T45" fmla="*/ 22 h 53"/>
                <a:gd name="T46" fmla="*/ 13 w 56"/>
                <a:gd name="T47" fmla="*/ 24 h 53"/>
                <a:gd name="T48" fmla="*/ 11 w 56"/>
                <a:gd name="T49" fmla="*/ 24 h 53"/>
                <a:gd name="T50" fmla="*/ 9 w 56"/>
                <a:gd name="T51" fmla="*/ 24 h 53"/>
                <a:gd name="T52" fmla="*/ 7 w 56"/>
                <a:gd name="T53" fmla="*/ 24 h 53"/>
                <a:gd name="T54" fmla="*/ 6 w 56"/>
                <a:gd name="T55" fmla="*/ 24 h 53"/>
                <a:gd name="T56" fmla="*/ 4 w 56"/>
                <a:gd name="T57" fmla="*/ 22 h 53"/>
                <a:gd name="T58" fmla="*/ 2 w 56"/>
                <a:gd name="T59" fmla="*/ 21 h 53"/>
                <a:gd name="T60" fmla="*/ 2 w 56"/>
                <a:gd name="T61" fmla="*/ 20 h 53"/>
                <a:gd name="T62" fmla="*/ 1 w 56"/>
                <a:gd name="T63" fmla="*/ 16 h 53"/>
                <a:gd name="T64" fmla="*/ 0 w 56"/>
                <a:gd name="T65" fmla="*/ 14 h 53"/>
                <a:gd name="T66" fmla="*/ 0 w 56"/>
                <a:gd name="T67" fmla="*/ 12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5" y="11"/>
                  </a:lnTo>
                  <a:lnTo>
                    <a:pt x="7" y="6"/>
                  </a:lnTo>
                  <a:lnTo>
                    <a:pt x="12" y="3"/>
                  </a:lnTo>
                  <a:lnTo>
                    <a:pt x="17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1"/>
                  </a:lnTo>
                  <a:lnTo>
                    <a:pt x="44" y="3"/>
                  </a:lnTo>
                  <a:lnTo>
                    <a:pt x="47" y="6"/>
                  </a:lnTo>
                  <a:lnTo>
                    <a:pt x="51" y="11"/>
                  </a:lnTo>
                  <a:lnTo>
                    <a:pt x="54" y="16"/>
                  </a:lnTo>
                  <a:lnTo>
                    <a:pt x="54" y="21"/>
                  </a:lnTo>
                  <a:lnTo>
                    <a:pt x="56" y="26"/>
                  </a:lnTo>
                  <a:lnTo>
                    <a:pt x="54" y="31"/>
                  </a:lnTo>
                  <a:lnTo>
                    <a:pt x="54" y="36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8" y="52"/>
                  </a:lnTo>
                  <a:lnTo>
                    <a:pt x="33" y="52"/>
                  </a:lnTo>
                  <a:lnTo>
                    <a:pt x="28" y="53"/>
                  </a:lnTo>
                  <a:lnTo>
                    <a:pt x="23" y="52"/>
                  </a:lnTo>
                  <a:lnTo>
                    <a:pt x="17" y="52"/>
                  </a:lnTo>
                  <a:lnTo>
                    <a:pt x="12" y="48"/>
                  </a:lnTo>
                  <a:lnTo>
                    <a:pt x="7" y="45"/>
                  </a:lnTo>
                  <a:lnTo>
                    <a:pt x="5" y="42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7"/>
            <p:cNvSpPr>
              <a:spLocks/>
            </p:cNvSpPr>
            <p:nvPr/>
          </p:nvSpPr>
          <p:spPr bwMode="auto">
            <a:xfrm>
              <a:off x="3930" y="2234"/>
              <a:ext cx="32" cy="35"/>
            </a:xfrm>
            <a:custGeom>
              <a:avLst/>
              <a:gdLst>
                <a:gd name="T0" fmla="*/ 0 w 56"/>
                <a:gd name="T1" fmla="*/ 12 h 54"/>
                <a:gd name="T2" fmla="*/ 0 w 56"/>
                <a:gd name="T3" fmla="*/ 8 h 54"/>
                <a:gd name="T4" fmla="*/ 1 w 56"/>
                <a:gd name="T5" fmla="*/ 6 h 54"/>
                <a:gd name="T6" fmla="*/ 2 w 56"/>
                <a:gd name="T7" fmla="*/ 5 h 54"/>
                <a:gd name="T8" fmla="*/ 2 w 56"/>
                <a:gd name="T9" fmla="*/ 3 h 54"/>
                <a:gd name="T10" fmla="*/ 4 w 56"/>
                <a:gd name="T11" fmla="*/ 2 h 54"/>
                <a:gd name="T12" fmla="*/ 6 w 56"/>
                <a:gd name="T13" fmla="*/ 1 h 54"/>
                <a:gd name="T14" fmla="*/ 7 w 56"/>
                <a:gd name="T15" fmla="*/ 0 h 54"/>
                <a:gd name="T16" fmla="*/ 9 w 56"/>
                <a:gd name="T17" fmla="*/ 0 h 54"/>
                <a:gd name="T18" fmla="*/ 11 w 56"/>
                <a:gd name="T19" fmla="*/ 0 h 54"/>
                <a:gd name="T20" fmla="*/ 13 w 56"/>
                <a:gd name="T21" fmla="*/ 1 h 54"/>
                <a:gd name="T22" fmla="*/ 14 w 56"/>
                <a:gd name="T23" fmla="*/ 2 h 54"/>
                <a:gd name="T24" fmla="*/ 15 w 56"/>
                <a:gd name="T25" fmla="*/ 3 h 54"/>
                <a:gd name="T26" fmla="*/ 17 w 56"/>
                <a:gd name="T27" fmla="*/ 5 h 54"/>
                <a:gd name="T28" fmla="*/ 18 w 56"/>
                <a:gd name="T29" fmla="*/ 6 h 54"/>
                <a:gd name="T30" fmla="*/ 18 w 56"/>
                <a:gd name="T31" fmla="*/ 8 h 54"/>
                <a:gd name="T32" fmla="*/ 18 w 56"/>
                <a:gd name="T33" fmla="*/ 12 h 54"/>
                <a:gd name="T34" fmla="*/ 18 w 56"/>
                <a:gd name="T35" fmla="*/ 12 h 54"/>
                <a:gd name="T36" fmla="*/ 18 w 56"/>
                <a:gd name="T37" fmla="*/ 14 h 54"/>
                <a:gd name="T38" fmla="*/ 18 w 56"/>
                <a:gd name="T39" fmla="*/ 16 h 54"/>
                <a:gd name="T40" fmla="*/ 17 w 56"/>
                <a:gd name="T41" fmla="*/ 18 h 54"/>
                <a:gd name="T42" fmla="*/ 15 w 56"/>
                <a:gd name="T43" fmla="*/ 19 h 54"/>
                <a:gd name="T44" fmla="*/ 14 w 56"/>
                <a:gd name="T45" fmla="*/ 21 h 54"/>
                <a:gd name="T46" fmla="*/ 13 w 56"/>
                <a:gd name="T47" fmla="*/ 21 h 54"/>
                <a:gd name="T48" fmla="*/ 11 w 56"/>
                <a:gd name="T49" fmla="*/ 22 h 54"/>
                <a:gd name="T50" fmla="*/ 9 w 56"/>
                <a:gd name="T51" fmla="*/ 23 h 54"/>
                <a:gd name="T52" fmla="*/ 7 w 56"/>
                <a:gd name="T53" fmla="*/ 22 h 54"/>
                <a:gd name="T54" fmla="*/ 6 w 56"/>
                <a:gd name="T55" fmla="*/ 21 h 54"/>
                <a:gd name="T56" fmla="*/ 4 w 56"/>
                <a:gd name="T57" fmla="*/ 21 h 54"/>
                <a:gd name="T58" fmla="*/ 2 w 56"/>
                <a:gd name="T59" fmla="*/ 19 h 54"/>
                <a:gd name="T60" fmla="*/ 2 w 56"/>
                <a:gd name="T61" fmla="*/ 18 h 54"/>
                <a:gd name="T62" fmla="*/ 1 w 56"/>
                <a:gd name="T63" fmla="*/ 16 h 54"/>
                <a:gd name="T64" fmla="*/ 0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5" y="12"/>
                  </a:lnTo>
                  <a:lnTo>
                    <a:pt x="7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4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4" y="20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6"/>
                  </a:lnTo>
                  <a:lnTo>
                    <a:pt x="44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7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Rectangle 212"/>
            <p:cNvSpPr>
              <a:spLocks noChangeArrowheads="1"/>
            </p:cNvSpPr>
            <p:nvPr/>
          </p:nvSpPr>
          <p:spPr bwMode="auto">
            <a:xfrm>
              <a:off x="3625" y="2781"/>
              <a:ext cx="27" cy="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58" name="Rectangle 213"/>
            <p:cNvSpPr>
              <a:spLocks noChangeArrowheads="1"/>
            </p:cNvSpPr>
            <p:nvPr/>
          </p:nvSpPr>
          <p:spPr bwMode="auto">
            <a:xfrm>
              <a:off x="3560" y="2728"/>
              <a:ext cx="59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/>
            </a:p>
          </p:txBody>
        </p:sp>
        <p:sp>
          <p:nvSpPr>
            <p:cNvPr id="59" name="Line 214"/>
            <p:cNvSpPr>
              <a:spLocks noChangeShapeType="1"/>
            </p:cNvSpPr>
            <p:nvPr/>
          </p:nvSpPr>
          <p:spPr bwMode="auto">
            <a:xfrm flipH="1">
              <a:off x="2351" y="3278"/>
              <a:ext cx="89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Line 215"/>
            <p:cNvSpPr>
              <a:spLocks noChangeShapeType="1"/>
            </p:cNvSpPr>
            <p:nvPr/>
          </p:nvSpPr>
          <p:spPr bwMode="auto">
            <a:xfrm flipH="1">
              <a:off x="2351" y="2018"/>
              <a:ext cx="814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Line 216"/>
            <p:cNvSpPr>
              <a:spLocks noChangeShapeType="1"/>
            </p:cNvSpPr>
            <p:nvPr/>
          </p:nvSpPr>
          <p:spPr bwMode="auto">
            <a:xfrm flipV="1">
              <a:off x="3082" y="2018"/>
              <a:ext cx="2" cy="15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Line 217"/>
            <p:cNvSpPr>
              <a:spLocks noChangeShapeType="1"/>
            </p:cNvSpPr>
            <p:nvPr/>
          </p:nvSpPr>
          <p:spPr bwMode="auto">
            <a:xfrm>
              <a:off x="3082" y="2305"/>
              <a:ext cx="3" cy="53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Line 218"/>
            <p:cNvSpPr>
              <a:spLocks noChangeShapeType="1"/>
            </p:cNvSpPr>
            <p:nvPr/>
          </p:nvSpPr>
          <p:spPr bwMode="auto">
            <a:xfrm>
              <a:off x="3085" y="2841"/>
              <a:ext cx="1" cy="15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Line 219"/>
            <p:cNvSpPr>
              <a:spLocks noChangeShapeType="1"/>
            </p:cNvSpPr>
            <p:nvPr/>
          </p:nvSpPr>
          <p:spPr bwMode="auto">
            <a:xfrm flipH="1">
              <a:off x="3082" y="2457"/>
              <a:ext cx="178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Line 220"/>
            <p:cNvSpPr>
              <a:spLocks noChangeShapeType="1"/>
            </p:cNvSpPr>
            <p:nvPr/>
          </p:nvSpPr>
          <p:spPr bwMode="auto">
            <a:xfrm flipH="1">
              <a:off x="3085" y="2512"/>
              <a:ext cx="309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Line 221"/>
            <p:cNvSpPr>
              <a:spLocks noChangeShapeType="1"/>
            </p:cNvSpPr>
            <p:nvPr/>
          </p:nvSpPr>
          <p:spPr bwMode="auto">
            <a:xfrm flipH="1">
              <a:off x="2698" y="2786"/>
              <a:ext cx="696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22"/>
            <p:cNvSpPr>
              <a:spLocks/>
            </p:cNvSpPr>
            <p:nvPr/>
          </p:nvSpPr>
          <p:spPr bwMode="auto">
            <a:xfrm>
              <a:off x="3069" y="2496"/>
              <a:ext cx="32" cy="35"/>
            </a:xfrm>
            <a:custGeom>
              <a:avLst/>
              <a:gdLst>
                <a:gd name="T0" fmla="*/ 0 w 56"/>
                <a:gd name="T1" fmla="*/ 12 h 54"/>
                <a:gd name="T2" fmla="*/ 0 w 56"/>
                <a:gd name="T3" fmla="*/ 9 h 54"/>
                <a:gd name="T4" fmla="*/ 1 w 56"/>
                <a:gd name="T5" fmla="*/ 7 h 54"/>
                <a:gd name="T6" fmla="*/ 2 w 56"/>
                <a:gd name="T7" fmla="*/ 5 h 54"/>
                <a:gd name="T8" fmla="*/ 3 w 56"/>
                <a:gd name="T9" fmla="*/ 3 h 54"/>
                <a:gd name="T10" fmla="*/ 4 w 56"/>
                <a:gd name="T11" fmla="*/ 2 h 54"/>
                <a:gd name="T12" fmla="*/ 6 w 56"/>
                <a:gd name="T13" fmla="*/ 1 h 54"/>
                <a:gd name="T14" fmla="*/ 7 w 56"/>
                <a:gd name="T15" fmla="*/ 1 h 54"/>
                <a:gd name="T16" fmla="*/ 9 w 56"/>
                <a:gd name="T17" fmla="*/ 0 h 54"/>
                <a:gd name="T18" fmla="*/ 11 w 56"/>
                <a:gd name="T19" fmla="*/ 1 h 54"/>
                <a:gd name="T20" fmla="*/ 13 w 56"/>
                <a:gd name="T21" fmla="*/ 1 h 54"/>
                <a:gd name="T22" fmla="*/ 14 w 56"/>
                <a:gd name="T23" fmla="*/ 2 h 54"/>
                <a:gd name="T24" fmla="*/ 15 w 56"/>
                <a:gd name="T25" fmla="*/ 3 h 54"/>
                <a:gd name="T26" fmla="*/ 17 w 56"/>
                <a:gd name="T27" fmla="*/ 5 h 54"/>
                <a:gd name="T28" fmla="*/ 18 w 56"/>
                <a:gd name="T29" fmla="*/ 7 h 54"/>
                <a:gd name="T30" fmla="*/ 18 w 56"/>
                <a:gd name="T31" fmla="*/ 9 h 54"/>
                <a:gd name="T32" fmla="*/ 18 w 56"/>
                <a:gd name="T33" fmla="*/ 12 h 54"/>
                <a:gd name="T34" fmla="*/ 18 w 56"/>
                <a:gd name="T35" fmla="*/ 12 h 54"/>
                <a:gd name="T36" fmla="*/ 18 w 56"/>
                <a:gd name="T37" fmla="*/ 14 h 54"/>
                <a:gd name="T38" fmla="*/ 18 w 56"/>
                <a:gd name="T39" fmla="*/ 16 h 54"/>
                <a:gd name="T40" fmla="*/ 17 w 56"/>
                <a:gd name="T41" fmla="*/ 18 h 54"/>
                <a:gd name="T42" fmla="*/ 15 w 56"/>
                <a:gd name="T43" fmla="*/ 19 h 54"/>
                <a:gd name="T44" fmla="*/ 14 w 56"/>
                <a:gd name="T45" fmla="*/ 21 h 54"/>
                <a:gd name="T46" fmla="*/ 13 w 56"/>
                <a:gd name="T47" fmla="*/ 22 h 54"/>
                <a:gd name="T48" fmla="*/ 11 w 56"/>
                <a:gd name="T49" fmla="*/ 23 h 54"/>
                <a:gd name="T50" fmla="*/ 9 w 56"/>
                <a:gd name="T51" fmla="*/ 23 h 54"/>
                <a:gd name="T52" fmla="*/ 7 w 56"/>
                <a:gd name="T53" fmla="*/ 23 h 54"/>
                <a:gd name="T54" fmla="*/ 6 w 56"/>
                <a:gd name="T55" fmla="*/ 22 h 54"/>
                <a:gd name="T56" fmla="*/ 4 w 56"/>
                <a:gd name="T57" fmla="*/ 21 h 54"/>
                <a:gd name="T58" fmla="*/ 3 w 56"/>
                <a:gd name="T59" fmla="*/ 19 h 54"/>
                <a:gd name="T60" fmla="*/ 2 w 56"/>
                <a:gd name="T61" fmla="*/ 18 h 54"/>
                <a:gd name="T62" fmla="*/ 1 w 56"/>
                <a:gd name="T63" fmla="*/ 16 h 54"/>
                <a:gd name="T64" fmla="*/ 0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7" y="8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3"/>
                  </a:lnTo>
                  <a:lnTo>
                    <a:pt x="54" y="38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0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0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223"/>
            <p:cNvSpPr>
              <a:spLocks/>
            </p:cNvSpPr>
            <p:nvPr/>
          </p:nvSpPr>
          <p:spPr bwMode="auto">
            <a:xfrm>
              <a:off x="3069" y="2439"/>
              <a:ext cx="32" cy="35"/>
            </a:xfrm>
            <a:custGeom>
              <a:avLst/>
              <a:gdLst>
                <a:gd name="T0" fmla="*/ 0 w 56"/>
                <a:gd name="T1" fmla="*/ 12 h 54"/>
                <a:gd name="T2" fmla="*/ 0 w 56"/>
                <a:gd name="T3" fmla="*/ 8 h 54"/>
                <a:gd name="T4" fmla="*/ 1 w 56"/>
                <a:gd name="T5" fmla="*/ 6 h 54"/>
                <a:gd name="T6" fmla="*/ 2 w 56"/>
                <a:gd name="T7" fmla="*/ 5 h 54"/>
                <a:gd name="T8" fmla="*/ 3 w 56"/>
                <a:gd name="T9" fmla="*/ 3 h 54"/>
                <a:gd name="T10" fmla="*/ 4 w 56"/>
                <a:gd name="T11" fmla="*/ 1 h 54"/>
                <a:gd name="T12" fmla="*/ 6 w 56"/>
                <a:gd name="T13" fmla="*/ 1 h 54"/>
                <a:gd name="T14" fmla="*/ 7 w 56"/>
                <a:gd name="T15" fmla="*/ 0 h 54"/>
                <a:gd name="T16" fmla="*/ 9 w 56"/>
                <a:gd name="T17" fmla="*/ 0 h 54"/>
                <a:gd name="T18" fmla="*/ 11 w 56"/>
                <a:gd name="T19" fmla="*/ 0 h 54"/>
                <a:gd name="T20" fmla="*/ 13 w 56"/>
                <a:gd name="T21" fmla="*/ 1 h 54"/>
                <a:gd name="T22" fmla="*/ 14 w 56"/>
                <a:gd name="T23" fmla="*/ 1 h 54"/>
                <a:gd name="T24" fmla="*/ 15 w 56"/>
                <a:gd name="T25" fmla="*/ 3 h 54"/>
                <a:gd name="T26" fmla="*/ 17 w 56"/>
                <a:gd name="T27" fmla="*/ 5 h 54"/>
                <a:gd name="T28" fmla="*/ 18 w 56"/>
                <a:gd name="T29" fmla="*/ 6 h 54"/>
                <a:gd name="T30" fmla="*/ 18 w 56"/>
                <a:gd name="T31" fmla="*/ 8 h 54"/>
                <a:gd name="T32" fmla="*/ 18 w 56"/>
                <a:gd name="T33" fmla="*/ 12 h 54"/>
                <a:gd name="T34" fmla="*/ 18 w 56"/>
                <a:gd name="T35" fmla="*/ 12 h 54"/>
                <a:gd name="T36" fmla="*/ 18 w 56"/>
                <a:gd name="T37" fmla="*/ 14 h 54"/>
                <a:gd name="T38" fmla="*/ 18 w 56"/>
                <a:gd name="T39" fmla="*/ 16 h 54"/>
                <a:gd name="T40" fmla="*/ 17 w 56"/>
                <a:gd name="T41" fmla="*/ 18 h 54"/>
                <a:gd name="T42" fmla="*/ 15 w 56"/>
                <a:gd name="T43" fmla="*/ 19 h 54"/>
                <a:gd name="T44" fmla="*/ 14 w 56"/>
                <a:gd name="T45" fmla="*/ 20 h 54"/>
                <a:gd name="T46" fmla="*/ 13 w 56"/>
                <a:gd name="T47" fmla="*/ 21 h 54"/>
                <a:gd name="T48" fmla="*/ 11 w 56"/>
                <a:gd name="T49" fmla="*/ 22 h 54"/>
                <a:gd name="T50" fmla="*/ 9 w 56"/>
                <a:gd name="T51" fmla="*/ 23 h 54"/>
                <a:gd name="T52" fmla="*/ 7 w 56"/>
                <a:gd name="T53" fmla="*/ 22 h 54"/>
                <a:gd name="T54" fmla="*/ 6 w 56"/>
                <a:gd name="T55" fmla="*/ 21 h 54"/>
                <a:gd name="T56" fmla="*/ 4 w 56"/>
                <a:gd name="T57" fmla="*/ 20 h 54"/>
                <a:gd name="T58" fmla="*/ 3 w 56"/>
                <a:gd name="T59" fmla="*/ 19 h 54"/>
                <a:gd name="T60" fmla="*/ 2 w 56"/>
                <a:gd name="T61" fmla="*/ 18 h 54"/>
                <a:gd name="T62" fmla="*/ 1 w 56"/>
                <a:gd name="T63" fmla="*/ 16 h 54"/>
                <a:gd name="T64" fmla="*/ 0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6" y="12"/>
                  </a:lnTo>
                  <a:lnTo>
                    <a:pt x="9" y="7"/>
                  </a:lnTo>
                  <a:lnTo>
                    <a:pt x="13" y="3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2"/>
                  </a:lnTo>
                  <a:lnTo>
                    <a:pt x="44" y="3"/>
                  </a:lnTo>
                  <a:lnTo>
                    <a:pt x="47" y="7"/>
                  </a:lnTo>
                  <a:lnTo>
                    <a:pt x="51" y="12"/>
                  </a:lnTo>
                  <a:lnTo>
                    <a:pt x="54" y="15"/>
                  </a:lnTo>
                  <a:lnTo>
                    <a:pt x="56" y="20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2"/>
                  </a:lnTo>
                  <a:lnTo>
                    <a:pt x="28" y="54"/>
                  </a:lnTo>
                  <a:lnTo>
                    <a:pt x="23" y="52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9" y="45"/>
                  </a:lnTo>
                  <a:lnTo>
                    <a:pt x="6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224"/>
            <p:cNvSpPr>
              <a:spLocks/>
            </p:cNvSpPr>
            <p:nvPr/>
          </p:nvSpPr>
          <p:spPr bwMode="auto">
            <a:xfrm>
              <a:off x="2680" y="3261"/>
              <a:ext cx="32" cy="34"/>
            </a:xfrm>
            <a:custGeom>
              <a:avLst/>
              <a:gdLst>
                <a:gd name="T0" fmla="*/ 0 w 56"/>
                <a:gd name="T1" fmla="*/ 11 h 54"/>
                <a:gd name="T2" fmla="*/ 0 w 56"/>
                <a:gd name="T3" fmla="*/ 9 h 54"/>
                <a:gd name="T4" fmla="*/ 1 w 56"/>
                <a:gd name="T5" fmla="*/ 7 h 54"/>
                <a:gd name="T6" fmla="*/ 1 w 56"/>
                <a:gd name="T7" fmla="*/ 5 h 54"/>
                <a:gd name="T8" fmla="*/ 2 w 56"/>
                <a:gd name="T9" fmla="*/ 4 h 54"/>
                <a:gd name="T10" fmla="*/ 4 w 56"/>
                <a:gd name="T11" fmla="*/ 2 h 54"/>
                <a:gd name="T12" fmla="*/ 5 w 56"/>
                <a:gd name="T13" fmla="*/ 1 h 54"/>
                <a:gd name="T14" fmla="*/ 7 w 56"/>
                <a:gd name="T15" fmla="*/ 0 h 54"/>
                <a:gd name="T16" fmla="*/ 9 w 56"/>
                <a:gd name="T17" fmla="*/ 0 h 54"/>
                <a:gd name="T18" fmla="*/ 11 w 56"/>
                <a:gd name="T19" fmla="*/ 0 h 54"/>
                <a:gd name="T20" fmla="*/ 13 w 56"/>
                <a:gd name="T21" fmla="*/ 1 h 54"/>
                <a:gd name="T22" fmla="*/ 14 w 56"/>
                <a:gd name="T23" fmla="*/ 2 h 54"/>
                <a:gd name="T24" fmla="*/ 15 w 56"/>
                <a:gd name="T25" fmla="*/ 4 h 54"/>
                <a:gd name="T26" fmla="*/ 17 w 56"/>
                <a:gd name="T27" fmla="*/ 5 h 54"/>
                <a:gd name="T28" fmla="*/ 17 w 56"/>
                <a:gd name="T29" fmla="*/ 7 h 54"/>
                <a:gd name="T30" fmla="*/ 18 w 56"/>
                <a:gd name="T31" fmla="*/ 9 h 54"/>
                <a:gd name="T32" fmla="*/ 18 w 56"/>
                <a:gd name="T33" fmla="*/ 11 h 54"/>
                <a:gd name="T34" fmla="*/ 18 w 56"/>
                <a:gd name="T35" fmla="*/ 11 h 54"/>
                <a:gd name="T36" fmla="*/ 18 w 56"/>
                <a:gd name="T37" fmla="*/ 13 h 54"/>
                <a:gd name="T38" fmla="*/ 17 w 56"/>
                <a:gd name="T39" fmla="*/ 14 h 54"/>
                <a:gd name="T40" fmla="*/ 17 w 56"/>
                <a:gd name="T41" fmla="*/ 16 h 54"/>
                <a:gd name="T42" fmla="*/ 15 w 56"/>
                <a:gd name="T43" fmla="*/ 18 h 54"/>
                <a:gd name="T44" fmla="*/ 14 w 56"/>
                <a:gd name="T45" fmla="*/ 20 h 54"/>
                <a:gd name="T46" fmla="*/ 13 w 56"/>
                <a:gd name="T47" fmla="*/ 21 h 54"/>
                <a:gd name="T48" fmla="*/ 11 w 56"/>
                <a:gd name="T49" fmla="*/ 21 h 54"/>
                <a:gd name="T50" fmla="*/ 9 w 56"/>
                <a:gd name="T51" fmla="*/ 21 h 54"/>
                <a:gd name="T52" fmla="*/ 7 w 56"/>
                <a:gd name="T53" fmla="*/ 21 h 54"/>
                <a:gd name="T54" fmla="*/ 5 w 56"/>
                <a:gd name="T55" fmla="*/ 21 h 54"/>
                <a:gd name="T56" fmla="*/ 4 w 56"/>
                <a:gd name="T57" fmla="*/ 20 h 54"/>
                <a:gd name="T58" fmla="*/ 2 w 56"/>
                <a:gd name="T59" fmla="*/ 18 h 54"/>
                <a:gd name="T60" fmla="*/ 1 w 56"/>
                <a:gd name="T61" fmla="*/ 16 h 54"/>
                <a:gd name="T62" fmla="*/ 1 w 56"/>
                <a:gd name="T63" fmla="*/ 14 h 54"/>
                <a:gd name="T64" fmla="*/ 0 w 56"/>
                <a:gd name="T65" fmla="*/ 13 h 54"/>
                <a:gd name="T66" fmla="*/ 0 w 56"/>
                <a:gd name="T67" fmla="*/ 1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3" y="12"/>
                  </a:lnTo>
                  <a:lnTo>
                    <a:pt x="7" y="9"/>
                  </a:lnTo>
                  <a:lnTo>
                    <a:pt x="12" y="5"/>
                  </a:lnTo>
                  <a:lnTo>
                    <a:pt x="16" y="2"/>
                  </a:lnTo>
                  <a:lnTo>
                    <a:pt x="21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2" y="17"/>
                  </a:lnTo>
                  <a:lnTo>
                    <a:pt x="54" y="22"/>
                  </a:lnTo>
                  <a:lnTo>
                    <a:pt x="56" y="27"/>
                  </a:lnTo>
                  <a:lnTo>
                    <a:pt x="54" y="32"/>
                  </a:lnTo>
                  <a:lnTo>
                    <a:pt x="52" y="37"/>
                  </a:lnTo>
                  <a:lnTo>
                    <a:pt x="51" y="42"/>
                  </a:lnTo>
                  <a:lnTo>
                    <a:pt x="47" y="45"/>
                  </a:lnTo>
                  <a:lnTo>
                    <a:pt x="44" y="49"/>
                  </a:lnTo>
                  <a:lnTo>
                    <a:pt x="38" y="52"/>
                  </a:lnTo>
                  <a:lnTo>
                    <a:pt x="33" y="54"/>
                  </a:lnTo>
                  <a:lnTo>
                    <a:pt x="28" y="54"/>
                  </a:lnTo>
                  <a:lnTo>
                    <a:pt x="21" y="54"/>
                  </a:lnTo>
                  <a:lnTo>
                    <a:pt x="16" y="52"/>
                  </a:lnTo>
                  <a:lnTo>
                    <a:pt x="12" y="49"/>
                  </a:lnTo>
                  <a:lnTo>
                    <a:pt x="7" y="45"/>
                  </a:lnTo>
                  <a:lnTo>
                    <a:pt x="3" y="42"/>
                  </a:lnTo>
                  <a:lnTo>
                    <a:pt x="2" y="37"/>
                  </a:lnTo>
                  <a:lnTo>
                    <a:pt x="0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225"/>
            <p:cNvSpPr>
              <a:spLocks/>
            </p:cNvSpPr>
            <p:nvPr/>
          </p:nvSpPr>
          <p:spPr bwMode="auto">
            <a:xfrm>
              <a:off x="2682" y="2000"/>
              <a:ext cx="32" cy="35"/>
            </a:xfrm>
            <a:custGeom>
              <a:avLst/>
              <a:gdLst>
                <a:gd name="T0" fmla="*/ 0 w 56"/>
                <a:gd name="T1" fmla="*/ 12 h 54"/>
                <a:gd name="T2" fmla="*/ 0 w 56"/>
                <a:gd name="T3" fmla="*/ 9 h 54"/>
                <a:gd name="T4" fmla="*/ 1 w 56"/>
                <a:gd name="T5" fmla="*/ 7 h 54"/>
                <a:gd name="T6" fmla="*/ 1 w 56"/>
                <a:gd name="T7" fmla="*/ 5 h 54"/>
                <a:gd name="T8" fmla="*/ 2 w 56"/>
                <a:gd name="T9" fmla="*/ 4 h 54"/>
                <a:gd name="T10" fmla="*/ 4 w 56"/>
                <a:gd name="T11" fmla="*/ 2 h 54"/>
                <a:gd name="T12" fmla="*/ 6 w 56"/>
                <a:gd name="T13" fmla="*/ 2 h 54"/>
                <a:gd name="T14" fmla="*/ 7 w 56"/>
                <a:gd name="T15" fmla="*/ 1 h 54"/>
                <a:gd name="T16" fmla="*/ 9 w 56"/>
                <a:gd name="T17" fmla="*/ 0 h 54"/>
                <a:gd name="T18" fmla="*/ 11 w 56"/>
                <a:gd name="T19" fmla="*/ 1 h 54"/>
                <a:gd name="T20" fmla="*/ 13 w 56"/>
                <a:gd name="T21" fmla="*/ 2 h 54"/>
                <a:gd name="T22" fmla="*/ 14 w 56"/>
                <a:gd name="T23" fmla="*/ 2 h 54"/>
                <a:gd name="T24" fmla="*/ 15 w 56"/>
                <a:gd name="T25" fmla="*/ 4 h 54"/>
                <a:gd name="T26" fmla="*/ 17 w 56"/>
                <a:gd name="T27" fmla="*/ 5 h 54"/>
                <a:gd name="T28" fmla="*/ 18 w 56"/>
                <a:gd name="T29" fmla="*/ 7 h 54"/>
                <a:gd name="T30" fmla="*/ 18 w 56"/>
                <a:gd name="T31" fmla="*/ 9 h 54"/>
                <a:gd name="T32" fmla="*/ 18 w 56"/>
                <a:gd name="T33" fmla="*/ 12 h 54"/>
                <a:gd name="T34" fmla="*/ 18 w 56"/>
                <a:gd name="T35" fmla="*/ 12 h 54"/>
                <a:gd name="T36" fmla="*/ 18 w 56"/>
                <a:gd name="T37" fmla="*/ 14 h 54"/>
                <a:gd name="T38" fmla="*/ 18 w 56"/>
                <a:gd name="T39" fmla="*/ 16 h 54"/>
                <a:gd name="T40" fmla="*/ 17 w 56"/>
                <a:gd name="T41" fmla="*/ 18 h 54"/>
                <a:gd name="T42" fmla="*/ 15 w 56"/>
                <a:gd name="T43" fmla="*/ 19 h 54"/>
                <a:gd name="T44" fmla="*/ 14 w 56"/>
                <a:gd name="T45" fmla="*/ 21 h 54"/>
                <a:gd name="T46" fmla="*/ 13 w 56"/>
                <a:gd name="T47" fmla="*/ 22 h 54"/>
                <a:gd name="T48" fmla="*/ 11 w 56"/>
                <a:gd name="T49" fmla="*/ 23 h 54"/>
                <a:gd name="T50" fmla="*/ 9 w 56"/>
                <a:gd name="T51" fmla="*/ 23 h 54"/>
                <a:gd name="T52" fmla="*/ 7 w 56"/>
                <a:gd name="T53" fmla="*/ 23 h 54"/>
                <a:gd name="T54" fmla="*/ 6 w 56"/>
                <a:gd name="T55" fmla="*/ 22 h 54"/>
                <a:gd name="T56" fmla="*/ 4 w 56"/>
                <a:gd name="T57" fmla="*/ 21 h 54"/>
                <a:gd name="T58" fmla="*/ 2 w 56"/>
                <a:gd name="T59" fmla="*/ 19 h 54"/>
                <a:gd name="T60" fmla="*/ 1 w 56"/>
                <a:gd name="T61" fmla="*/ 18 h 54"/>
                <a:gd name="T62" fmla="*/ 1 w 56"/>
                <a:gd name="T63" fmla="*/ 16 h 54"/>
                <a:gd name="T64" fmla="*/ 0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4" y="12"/>
                  </a:lnTo>
                  <a:lnTo>
                    <a:pt x="7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8" y="9"/>
                  </a:lnTo>
                  <a:lnTo>
                    <a:pt x="51" y="12"/>
                  </a:lnTo>
                  <a:lnTo>
                    <a:pt x="55" y="17"/>
                  </a:lnTo>
                  <a:lnTo>
                    <a:pt x="55" y="22"/>
                  </a:lnTo>
                  <a:lnTo>
                    <a:pt x="56" y="27"/>
                  </a:lnTo>
                  <a:lnTo>
                    <a:pt x="55" y="34"/>
                  </a:lnTo>
                  <a:lnTo>
                    <a:pt x="55" y="39"/>
                  </a:lnTo>
                  <a:lnTo>
                    <a:pt x="51" y="42"/>
                  </a:lnTo>
                  <a:lnTo>
                    <a:pt x="48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7" y="47"/>
                  </a:lnTo>
                  <a:lnTo>
                    <a:pt x="4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226"/>
            <p:cNvSpPr>
              <a:spLocks/>
            </p:cNvSpPr>
            <p:nvPr/>
          </p:nvSpPr>
          <p:spPr bwMode="auto">
            <a:xfrm>
              <a:off x="3069" y="2000"/>
              <a:ext cx="32" cy="35"/>
            </a:xfrm>
            <a:custGeom>
              <a:avLst/>
              <a:gdLst>
                <a:gd name="T0" fmla="*/ 0 w 56"/>
                <a:gd name="T1" fmla="*/ 12 h 54"/>
                <a:gd name="T2" fmla="*/ 0 w 56"/>
                <a:gd name="T3" fmla="*/ 9 h 54"/>
                <a:gd name="T4" fmla="*/ 1 w 56"/>
                <a:gd name="T5" fmla="*/ 7 h 54"/>
                <a:gd name="T6" fmla="*/ 2 w 56"/>
                <a:gd name="T7" fmla="*/ 5 h 54"/>
                <a:gd name="T8" fmla="*/ 3 w 56"/>
                <a:gd name="T9" fmla="*/ 4 h 54"/>
                <a:gd name="T10" fmla="*/ 4 w 56"/>
                <a:gd name="T11" fmla="*/ 2 h 54"/>
                <a:gd name="T12" fmla="*/ 6 w 56"/>
                <a:gd name="T13" fmla="*/ 2 h 54"/>
                <a:gd name="T14" fmla="*/ 7 w 56"/>
                <a:gd name="T15" fmla="*/ 1 h 54"/>
                <a:gd name="T16" fmla="*/ 9 w 56"/>
                <a:gd name="T17" fmla="*/ 0 h 54"/>
                <a:gd name="T18" fmla="*/ 11 w 56"/>
                <a:gd name="T19" fmla="*/ 1 h 54"/>
                <a:gd name="T20" fmla="*/ 13 w 56"/>
                <a:gd name="T21" fmla="*/ 2 h 54"/>
                <a:gd name="T22" fmla="*/ 14 w 56"/>
                <a:gd name="T23" fmla="*/ 2 h 54"/>
                <a:gd name="T24" fmla="*/ 15 w 56"/>
                <a:gd name="T25" fmla="*/ 4 h 54"/>
                <a:gd name="T26" fmla="*/ 17 w 56"/>
                <a:gd name="T27" fmla="*/ 5 h 54"/>
                <a:gd name="T28" fmla="*/ 18 w 56"/>
                <a:gd name="T29" fmla="*/ 7 h 54"/>
                <a:gd name="T30" fmla="*/ 18 w 56"/>
                <a:gd name="T31" fmla="*/ 9 h 54"/>
                <a:gd name="T32" fmla="*/ 18 w 56"/>
                <a:gd name="T33" fmla="*/ 12 h 54"/>
                <a:gd name="T34" fmla="*/ 18 w 56"/>
                <a:gd name="T35" fmla="*/ 12 h 54"/>
                <a:gd name="T36" fmla="*/ 18 w 56"/>
                <a:gd name="T37" fmla="*/ 14 h 54"/>
                <a:gd name="T38" fmla="*/ 18 w 56"/>
                <a:gd name="T39" fmla="*/ 16 h 54"/>
                <a:gd name="T40" fmla="*/ 17 w 56"/>
                <a:gd name="T41" fmla="*/ 18 h 54"/>
                <a:gd name="T42" fmla="*/ 15 w 56"/>
                <a:gd name="T43" fmla="*/ 19 h 54"/>
                <a:gd name="T44" fmla="*/ 14 w 56"/>
                <a:gd name="T45" fmla="*/ 21 h 54"/>
                <a:gd name="T46" fmla="*/ 13 w 56"/>
                <a:gd name="T47" fmla="*/ 22 h 54"/>
                <a:gd name="T48" fmla="*/ 11 w 56"/>
                <a:gd name="T49" fmla="*/ 23 h 54"/>
                <a:gd name="T50" fmla="*/ 9 w 56"/>
                <a:gd name="T51" fmla="*/ 23 h 54"/>
                <a:gd name="T52" fmla="*/ 7 w 56"/>
                <a:gd name="T53" fmla="*/ 23 h 54"/>
                <a:gd name="T54" fmla="*/ 6 w 56"/>
                <a:gd name="T55" fmla="*/ 22 h 54"/>
                <a:gd name="T56" fmla="*/ 4 w 56"/>
                <a:gd name="T57" fmla="*/ 21 h 54"/>
                <a:gd name="T58" fmla="*/ 3 w 56"/>
                <a:gd name="T59" fmla="*/ 19 h 54"/>
                <a:gd name="T60" fmla="*/ 2 w 56"/>
                <a:gd name="T61" fmla="*/ 18 h 54"/>
                <a:gd name="T62" fmla="*/ 1 w 56"/>
                <a:gd name="T63" fmla="*/ 16 h 54"/>
                <a:gd name="T64" fmla="*/ 0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0" y="22"/>
                  </a:lnTo>
                  <a:lnTo>
                    <a:pt x="2" y="17"/>
                  </a:lnTo>
                  <a:lnTo>
                    <a:pt x="6" y="12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4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4" y="2"/>
                  </a:lnTo>
                  <a:lnTo>
                    <a:pt x="39" y="4"/>
                  </a:lnTo>
                  <a:lnTo>
                    <a:pt x="44" y="5"/>
                  </a:lnTo>
                  <a:lnTo>
                    <a:pt x="47" y="9"/>
                  </a:lnTo>
                  <a:lnTo>
                    <a:pt x="51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4"/>
                  </a:lnTo>
                  <a:lnTo>
                    <a:pt x="54" y="39"/>
                  </a:lnTo>
                  <a:lnTo>
                    <a:pt x="51" y="42"/>
                  </a:lnTo>
                  <a:lnTo>
                    <a:pt x="47" y="47"/>
                  </a:lnTo>
                  <a:lnTo>
                    <a:pt x="44" y="51"/>
                  </a:lnTo>
                  <a:lnTo>
                    <a:pt x="39" y="52"/>
                  </a:lnTo>
                  <a:lnTo>
                    <a:pt x="34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8" y="52"/>
                  </a:lnTo>
                  <a:lnTo>
                    <a:pt x="13" y="51"/>
                  </a:lnTo>
                  <a:lnTo>
                    <a:pt x="9" y="47"/>
                  </a:lnTo>
                  <a:lnTo>
                    <a:pt x="6" y="42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227"/>
            <p:cNvSpPr>
              <a:spLocks/>
            </p:cNvSpPr>
            <p:nvPr/>
          </p:nvSpPr>
          <p:spPr bwMode="auto">
            <a:xfrm>
              <a:off x="4264" y="2136"/>
              <a:ext cx="63" cy="19"/>
            </a:xfrm>
            <a:custGeom>
              <a:avLst/>
              <a:gdLst>
                <a:gd name="T0" fmla="*/ 37 w 108"/>
                <a:gd name="T1" fmla="*/ 6 h 30"/>
                <a:gd name="T2" fmla="*/ 0 w 108"/>
                <a:gd name="T3" fmla="*/ 0 h 30"/>
                <a:gd name="T4" fmla="*/ 0 w 108"/>
                <a:gd name="T5" fmla="*/ 12 h 30"/>
                <a:gd name="T6" fmla="*/ 37 w 108"/>
                <a:gd name="T7" fmla="*/ 6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228"/>
            <p:cNvSpPr>
              <a:spLocks/>
            </p:cNvSpPr>
            <p:nvPr/>
          </p:nvSpPr>
          <p:spPr bwMode="auto">
            <a:xfrm>
              <a:off x="4264" y="2136"/>
              <a:ext cx="63" cy="19"/>
            </a:xfrm>
            <a:custGeom>
              <a:avLst/>
              <a:gdLst>
                <a:gd name="T0" fmla="*/ 37 w 108"/>
                <a:gd name="T1" fmla="*/ 6 h 30"/>
                <a:gd name="T2" fmla="*/ 0 w 108"/>
                <a:gd name="T3" fmla="*/ 0 h 30"/>
                <a:gd name="T4" fmla="*/ 0 w 108"/>
                <a:gd name="T5" fmla="*/ 12 h 30"/>
                <a:gd name="T6" fmla="*/ 37 w 108"/>
                <a:gd name="T7" fmla="*/ 6 h 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8"/>
                <a:gd name="T13" fmla="*/ 0 h 30"/>
                <a:gd name="T14" fmla="*/ 108 w 108"/>
                <a:gd name="T15" fmla="*/ 30 h 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8" h="30">
                  <a:moveTo>
                    <a:pt x="108" y="15"/>
                  </a:moveTo>
                  <a:lnTo>
                    <a:pt x="0" y="0"/>
                  </a:lnTo>
                  <a:lnTo>
                    <a:pt x="0" y="30"/>
                  </a:lnTo>
                  <a:lnTo>
                    <a:pt x="108" y="15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Line 229"/>
            <p:cNvSpPr>
              <a:spLocks noChangeShapeType="1"/>
            </p:cNvSpPr>
            <p:nvPr/>
          </p:nvSpPr>
          <p:spPr bwMode="auto">
            <a:xfrm flipH="1">
              <a:off x="4183" y="2145"/>
              <a:ext cx="8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230"/>
            <p:cNvSpPr>
              <a:spLocks/>
            </p:cNvSpPr>
            <p:nvPr/>
          </p:nvSpPr>
          <p:spPr bwMode="auto">
            <a:xfrm>
              <a:off x="4577" y="2191"/>
              <a:ext cx="63" cy="19"/>
            </a:xfrm>
            <a:custGeom>
              <a:avLst/>
              <a:gdLst>
                <a:gd name="T0" fmla="*/ 36 w 110"/>
                <a:gd name="T1" fmla="*/ 6 h 31"/>
                <a:gd name="T2" fmla="*/ 0 w 110"/>
                <a:gd name="T3" fmla="*/ 0 h 31"/>
                <a:gd name="T4" fmla="*/ 0 w 110"/>
                <a:gd name="T5" fmla="*/ 12 h 31"/>
                <a:gd name="T6" fmla="*/ 36 w 110"/>
                <a:gd name="T7" fmla="*/ 6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solidFill>
              <a:srgbClr val="1A1A1A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231"/>
            <p:cNvSpPr>
              <a:spLocks/>
            </p:cNvSpPr>
            <p:nvPr/>
          </p:nvSpPr>
          <p:spPr bwMode="auto">
            <a:xfrm>
              <a:off x="4577" y="2191"/>
              <a:ext cx="63" cy="19"/>
            </a:xfrm>
            <a:custGeom>
              <a:avLst/>
              <a:gdLst>
                <a:gd name="T0" fmla="*/ 36 w 110"/>
                <a:gd name="T1" fmla="*/ 6 h 31"/>
                <a:gd name="T2" fmla="*/ 0 w 110"/>
                <a:gd name="T3" fmla="*/ 0 h 31"/>
                <a:gd name="T4" fmla="*/ 0 w 110"/>
                <a:gd name="T5" fmla="*/ 12 h 31"/>
                <a:gd name="T6" fmla="*/ 36 w 110"/>
                <a:gd name="T7" fmla="*/ 6 h 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0"/>
                <a:gd name="T13" fmla="*/ 0 h 31"/>
                <a:gd name="T14" fmla="*/ 110 w 110"/>
                <a:gd name="T15" fmla="*/ 31 h 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0" h="31">
                  <a:moveTo>
                    <a:pt x="110" y="16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110" y="16"/>
                  </a:lnTo>
                  <a:close/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Line 232"/>
            <p:cNvSpPr>
              <a:spLocks noChangeShapeType="1"/>
            </p:cNvSpPr>
            <p:nvPr/>
          </p:nvSpPr>
          <p:spPr bwMode="auto">
            <a:xfrm flipH="1">
              <a:off x="4495" y="2200"/>
              <a:ext cx="82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Rectangle 233"/>
            <p:cNvSpPr>
              <a:spLocks noChangeArrowheads="1"/>
            </p:cNvSpPr>
            <p:nvPr/>
          </p:nvSpPr>
          <p:spPr bwMode="auto">
            <a:xfrm>
              <a:off x="4258" y="2034"/>
              <a:ext cx="31" cy="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700" i="1">
                  <a:solidFill>
                    <a:srgbClr val="000000"/>
                  </a:solidFill>
                  <a:latin typeface="Times New Roman" pitchFamily="18" charset="0"/>
                </a:rPr>
                <a:t>L</a:t>
              </a:r>
              <a:endParaRPr lang="en-US" altLang="zh-CN"/>
            </a:p>
          </p:txBody>
        </p:sp>
        <p:sp>
          <p:nvSpPr>
            <p:cNvPr id="79" name="Rectangle 234"/>
            <p:cNvSpPr>
              <a:spLocks noChangeArrowheads="1"/>
            </p:cNvSpPr>
            <p:nvPr/>
          </p:nvSpPr>
          <p:spPr bwMode="auto">
            <a:xfrm>
              <a:off x="4234" y="1979"/>
              <a:ext cx="2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endParaRPr lang="en-US" altLang="zh-CN"/>
            </a:p>
          </p:txBody>
        </p:sp>
        <p:sp>
          <p:nvSpPr>
            <p:cNvPr id="80" name="Rectangle 235"/>
            <p:cNvSpPr>
              <a:spLocks noChangeArrowheads="1"/>
            </p:cNvSpPr>
            <p:nvPr/>
          </p:nvSpPr>
          <p:spPr bwMode="auto">
            <a:xfrm>
              <a:off x="4534" y="2073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100" i="1">
                  <a:solidFill>
                    <a:srgbClr val="000000"/>
                  </a:solidFill>
                  <a:latin typeface="宋体" pitchFamily="2" charset="-122"/>
                </a:rPr>
                <a:t>I</a:t>
              </a:r>
              <a:endParaRPr lang="en-US" altLang="zh-CN"/>
            </a:p>
          </p:txBody>
        </p:sp>
        <p:sp>
          <p:nvSpPr>
            <p:cNvPr id="81" name="Rectangle 236"/>
            <p:cNvSpPr>
              <a:spLocks noChangeArrowheads="1"/>
            </p:cNvSpPr>
            <p:nvPr/>
          </p:nvSpPr>
          <p:spPr bwMode="auto">
            <a:xfrm>
              <a:off x="4580" y="2112"/>
              <a:ext cx="28" cy="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700">
                  <a:solidFill>
                    <a:srgbClr val="000000"/>
                  </a:solidFill>
                  <a:latin typeface="宋体" pitchFamily="2" charset="-122"/>
                </a:rPr>
                <a:t>o</a:t>
              </a:r>
              <a:endParaRPr lang="en-US" altLang="zh-CN"/>
            </a:p>
          </p:txBody>
        </p:sp>
        <p:sp>
          <p:nvSpPr>
            <p:cNvPr id="82" name="Rectangle 241"/>
            <p:cNvSpPr>
              <a:spLocks noChangeArrowheads="1"/>
            </p:cNvSpPr>
            <p:nvPr/>
          </p:nvSpPr>
          <p:spPr bwMode="auto">
            <a:xfrm>
              <a:off x="3561" y="3350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latin typeface="宋体" pitchFamily="2" charset="-122"/>
                </a:rPr>
                <a:t>(a)</a:t>
              </a:r>
              <a:endParaRPr lang="en-US" altLang="zh-CN" sz="1600"/>
            </a:p>
          </p:txBody>
        </p:sp>
        <p:sp>
          <p:nvSpPr>
            <p:cNvPr id="83" name="Freeform 242"/>
            <p:cNvSpPr>
              <a:spLocks noEditPoints="1"/>
            </p:cNvSpPr>
            <p:nvPr/>
          </p:nvSpPr>
          <p:spPr bwMode="auto">
            <a:xfrm>
              <a:off x="2685" y="2159"/>
              <a:ext cx="17" cy="154"/>
            </a:xfrm>
            <a:custGeom>
              <a:avLst/>
              <a:gdLst>
                <a:gd name="T0" fmla="*/ 5 w 28"/>
                <a:gd name="T1" fmla="*/ 89 h 236"/>
                <a:gd name="T2" fmla="*/ 2 w 28"/>
                <a:gd name="T3" fmla="*/ 90 h 236"/>
                <a:gd name="T4" fmla="*/ 1 w 28"/>
                <a:gd name="T5" fmla="*/ 91 h 236"/>
                <a:gd name="T6" fmla="*/ 1 w 28"/>
                <a:gd name="T7" fmla="*/ 94 h 236"/>
                <a:gd name="T8" fmla="*/ 1 w 28"/>
                <a:gd name="T9" fmla="*/ 96 h 236"/>
                <a:gd name="T10" fmla="*/ 1 w 28"/>
                <a:gd name="T11" fmla="*/ 99 h 236"/>
                <a:gd name="T12" fmla="*/ 2 w 28"/>
                <a:gd name="T13" fmla="*/ 100 h 236"/>
                <a:gd name="T14" fmla="*/ 5 w 28"/>
                <a:gd name="T15" fmla="*/ 100 h 236"/>
                <a:gd name="T16" fmla="*/ 5 w 28"/>
                <a:gd name="T17" fmla="*/ 100 h 236"/>
                <a:gd name="T18" fmla="*/ 7 w 28"/>
                <a:gd name="T19" fmla="*/ 100 h 236"/>
                <a:gd name="T20" fmla="*/ 9 w 28"/>
                <a:gd name="T21" fmla="*/ 99 h 236"/>
                <a:gd name="T22" fmla="*/ 10 w 28"/>
                <a:gd name="T23" fmla="*/ 97 h 236"/>
                <a:gd name="T24" fmla="*/ 10 w 28"/>
                <a:gd name="T25" fmla="*/ 95 h 236"/>
                <a:gd name="T26" fmla="*/ 10 w 28"/>
                <a:gd name="T27" fmla="*/ 93 h 236"/>
                <a:gd name="T28" fmla="*/ 9 w 28"/>
                <a:gd name="T29" fmla="*/ 91 h 236"/>
                <a:gd name="T30" fmla="*/ 7 w 28"/>
                <a:gd name="T31" fmla="*/ 89 h 236"/>
                <a:gd name="T32" fmla="*/ 5 w 28"/>
                <a:gd name="T33" fmla="*/ 89 h 236"/>
                <a:gd name="T34" fmla="*/ 5 w 28"/>
                <a:gd name="T35" fmla="*/ 89 h 236"/>
                <a:gd name="T36" fmla="*/ 5 w 28"/>
                <a:gd name="T37" fmla="*/ 0 h 236"/>
                <a:gd name="T38" fmla="*/ 2 w 28"/>
                <a:gd name="T39" fmla="*/ 1 h 236"/>
                <a:gd name="T40" fmla="*/ 1 w 28"/>
                <a:gd name="T41" fmla="*/ 3 h 236"/>
                <a:gd name="T42" fmla="*/ 1 w 28"/>
                <a:gd name="T43" fmla="*/ 5 h 236"/>
                <a:gd name="T44" fmla="*/ 1 w 28"/>
                <a:gd name="T45" fmla="*/ 7 h 236"/>
                <a:gd name="T46" fmla="*/ 1 w 28"/>
                <a:gd name="T47" fmla="*/ 8 h 236"/>
                <a:gd name="T48" fmla="*/ 2 w 28"/>
                <a:gd name="T49" fmla="*/ 10 h 236"/>
                <a:gd name="T50" fmla="*/ 5 w 28"/>
                <a:gd name="T51" fmla="*/ 11 h 236"/>
                <a:gd name="T52" fmla="*/ 5 w 28"/>
                <a:gd name="T53" fmla="*/ 11 h 236"/>
                <a:gd name="T54" fmla="*/ 7 w 28"/>
                <a:gd name="T55" fmla="*/ 10 h 236"/>
                <a:gd name="T56" fmla="*/ 9 w 28"/>
                <a:gd name="T57" fmla="*/ 9 h 236"/>
                <a:gd name="T58" fmla="*/ 10 w 28"/>
                <a:gd name="T59" fmla="*/ 8 h 236"/>
                <a:gd name="T60" fmla="*/ 10 w 28"/>
                <a:gd name="T61" fmla="*/ 5 h 236"/>
                <a:gd name="T62" fmla="*/ 10 w 28"/>
                <a:gd name="T63" fmla="*/ 3 h 236"/>
                <a:gd name="T64" fmla="*/ 9 w 28"/>
                <a:gd name="T65" fmla="*/ 1 h 236"/>
                <a:gd name="T66" fmla="*/ 7 w 28"/>
                <a:gd name="T67" fmla="*/ 1 h 236"/>
                <a:gd name="T68" fmla="*/ 5 w 28"/>
                <a:gd name="T69" fmla="*/ 0 h 236"/>
                <a:gd name="T70" fmla="*/ 5 w 28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8"/>
                <a:gd name="T109" fmla="*/ 0 h 236"/>
                <a:gd name="T110" fmla="*/ 28 w 28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8" h="236">
                  <a:moveTo>
                    <a:pt x="14" y="209"/>
                  </a:moveTo>
                  <a:lnTo>
                    <a:pt x="13" y="210"/>
                  </a:lnTo>
                  <a:lnTo>
                    <a:pt x="9" y="210"/>
                  </a:lnTo>
                  <a:lnTo>
                    <a:pt x="7" y="212"/>
                  </a:lnTo>
                  <a:lnTo>
                    <a:pt x="6" y="214"/>
                  </a:lnTo>
                  <a:lnTo>
                    <a:pt x="4" y="215"/>
                  </a:lnTo>
                  <a:lnTo>
                    <a:pt x="2" y="217"/>
                  </a:lnTo>
                  <a:lnTo>
                    <a:pt x="2" y="220"/>
                  </a:lnTo>
                  <a:lnTo>
                    <a:pt x="0" y="222"/>
                  </a:lnTo>
                  <a:lnTo>
                    <a:pt x="2" y="226"/>
                  </a:lnTo>
                  <a:lnTo>
                    <a:pt x="2" y="227"/>
                  </a:lnTo>
                  <a:lnTo>
                    <a:pt x="4" y="231"/>
                  </a:lnTo>
                  <a:lnTo>
                    <a:pt x="6" y="232"/>
                  </a:lnTo>
                  <a:lnTo>
                    <a:pt x="7" y="234"/>
                  </a:lnTo>
                  <a:lnTo>
                    <a:pt x="9" y="234"/>
                  </a:lnTo>
                  <a:lnTo>
                    <a:pt x="13" y="236"/>
                  </a:lnTo>
                  <a:lnTo>
                    <a:pt x="14" y="236"/>
                  </a:lnTo>
                  <a:lnTo>
                    <a:pt x="18" y="236"/>
                  </a:lnTo>
                  <a:lnTo>
                    <a:pt x="20" y="234"/>
                  </a:lnTo>
                  <a:lnTo>
                    <a:pt x="23" y="234"/>
                  </a:lnTo>
                  <a:lnTo>
                    <a:pt x="25" y="232"/>
                  </a:lnTo>
                  <a:lnTo>
                    <a:pt x="27" y="231"/>
                  </a:lnTo>
                  <a:lnTo>
                    <a:pt x="27" y="227"/>
                  </a:lnTo>
                  <a:lnTo>
                    <a:pt x="28" y="226"/>
                  </a:lnTo>
                  <a:lnTo>
                    <a:pt x="28" y="222"/>
                  </a:lnTo>
                  <a:lnTo>
                    <a:pt x="28" y="220"/>
                  </a:lnTo>
                  <a:lnTo>
                    <a:pt x="27" y="217"/>
                  </a:lnTo>
                  <a:lnTo>
                    <a:pt x="27" y="215"/>
                  </a:lnTo>
                  <a:lnTo>
                    <a:pt x="25" y="214"/>
                  </a:lnTo>
                  <a:lnTo>
                    <a:pt x="23" y="212"/>
                  </a:lnTo>
                  <a:lnTo>
                    <a:pt x="20" y="210"/>
                  </a:lnTo>
                  <a:lnTo>
                    <a:pt x="18" y="210"/>
                  </a:lnTo>
                  <a:lnTo>
                    <a:pt x="14" y="209"/>
                  </a:lnTo>
                  <a:close/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243"/>
            <p:cNvSpPr>
              <a:spLocks/>
            </p:cNvSpPr>
            <p:nvPr/>
          </p:nvSpPr>
          <p:spPr bwMode="auto">
            <a:xfrm>
              <a:off x="2685" y="2296"/>
              <a:ext cx="17" cy="17"/>
            </a:xfrm>
            <a:custGeom>
              <a:avLst/>
              <a:gdLst>
                <a:gd name="T0" fmla="*/ 5 w 28"/>
                <a:gd name="T1" fmla="*/ 0 h 27"/>
                <a:gd name="T2" fmla="*/ 5 w 28"/>
                <a:gd name="T3" fmla="*/ 1 h 27"/>
                <a:gd name="T4" fmla="*/ 3 w 28"/>
                <a:gd name="T5" fmla="*/ 1 h 27"/>
                <a:gd name="T6" fmla="*/ 2 w 28"/>
                <a:gd name="T7" fmla="*/ 1 h 27"/>
                <a:gd name="T8" fmla="*/ 2 w 28"/>
                <a:gd name="T9" fmla="*/ 2 h 27"/>
                <a:gd name="T10" fmla="*/ 1 w 28"/>
                <a:gd name="T11" fmla="*/ 3 h 27"/>
                <a:gd name="T12" fmla="*/ 1 w 28"/>
                <a:gd name="T13" fmla="*/ 3 h 27"/>
                <a:gd name="T14" fmla="*/ 1 w 28"/>
                <a:gd name="T15" fmla="*/ 4 h 27"/>
                <a:gd name="T16" fmla="*/ 0 w 28"/>
                <a:gd name="T17" fmla="*/ 5 h 27"/>
                <a:gd name="T18" fmla="*/ 1 w 28"/>
                <a:gd name="T19" fmla="*/ 7 h 27"/>
                <a:gd name="T20" fmla="*/ 1 w 28"/>
                <a:gd name="T21" fmla="*/ 7 h 27"/>
                <a:gd name="T22" fmla="*/ 1 w 28"/>
                <a:gd name="T23" fmla="*/ 9 h 27"/>
                <a:gd name="T24" fmla="*/ 2 w 28"/>
                <a:gd name="T25" fmla="*/ 9 h 27"/>
                <a:gd name="T26" fmla="*/ 2 w 28"/>
                <a:gd name="T27" fmla="*/ 10 h 27"/>
                <a:gd name="T28" fmla="*/ 3 w 28"/>
                <a:gd name="T29" fmla="*/ 10 h 27"/>
                <a:gd name="T30" fmla="*/ 5 w 28"/>
                <a:gd name="T31" fmla="*/ 11 h 27"/>
                <a:gd name="T32" fmla="*/ 5 w 28"/>
                <a:gd name="T33" fmla="*/ 11 h 27"/>
                <a:gd name="T34" fmla="*/ 5 w 28"/>
                <a:gd name="T35" fmla="*/ 11 h 27"/>
                <a:gd name="T36" fmla="*/ 7 w 28"/>
                <a:gd name="T37" fmla="*/ 11 h 27"/>
                <a:gd name="T38" fmla="*/ 7 w 28"/>
                <a:gd name="T39" fmla="*/ 10 h 27"/>
                <a:gd name="T40" fmla="*/ 9 w 28"/>
                <a:gd name="T41" fmla="*/ 10 h 27"/>
                <a:gd name="T42" fmla="*/ 9 w 28"/>
                <a:gd name="T43" fmla="*/ 9 h 27"/>
                <a:gd name="T44" fmla="*/ 10 w 28"/>
                <a:gd name="T45" fmla="*/ 9 h 27"/>
                <a:gd name="T46" fmla="*/ 10 w 28"/>
                <a:gd name="T47" fmla="*/ 7 h 27"/>
                <a:gd name="T48" fmla="*/ 10 w 28"/>
                <a:gd name="T49" fmla="*/ 7 h 27"/>
                <a:gd name="T50" fmla="*/ 10 w 28"/>
                <a:gd name="T51" fmla="*/ 5 h 27"/>
                <a:gd name="T52" fmla="*/ 10 w 28"/>
                <a:gd name="T53" fmla="*/ 4 h 27"/>
                <a:gd name="T54" fmla="*/ 10 w 28"/>
                <a:gd name="T55" fmla="*/ 3 h 27"/>
                <a:gd name="T56" fmla="*/ 10 w 28"/>
                <a:gd name="T57" fmla="*/ 3 h 27"/>
                <a:gd name="T58" fmla="*/ 9 w 28"/>
                <a:gd name="T59" fmla="*/ 2 h 27"/>
                <a:gd name="T60" fmla="*/ 9 w 28"/>
                <a:gd name="T61" fmla="*/ 1 h 27"/>
                <a:gd name="T62" fmla="*/ 7 w 28"/>
                <a:gd name="T63" fmla="*/ 1 h 27"/>
                <a:gd name="T64" fmla="*/ 7 w 28"/>
                <a:gd name="T65" fmla="*/ 1 h 27"/>
                <a:gd name="T66" fmla="*/ 5 w 28"/>
                <a:gd name="T67" fmla="*/ 0 h 27"/>
                <a:gd name="T68" fmla="*/ 5 w 28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7"/>
                <a:gd name="T107" fmla="*/ 28 w 28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7">
                  <a:moveTo>
                    <a:pt x="14" y="0"/>
                  </a:moveTo>
                  <a:lnTo>
                    <a:pt x="13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6" y="5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2" y="18"/>
                  </a:lnTo>
                  <a:lnTo>
                    <a:pt x="4" y="22"/>
                  </a:lnTo>
                  <a:lnTo>
                    <a:pt x="6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3" y="27"/>
                  </a:lnTo>
                  <a:lnTo>
                    <a:pt x="14" y="27"/>
                  </a:lnTo>
                  <a:lnTo>
                    <a:pt x="18" y="27"/>
                  </a:lnTo>
                  <a:lnTo>
                    <a:pt x="20" y="25"/>
                  </a:lnTo>
                  <a:lnTo>
                    <a:pt x="23" y="25"/>
                  </a:lnTo>
                  <a:lnTo>
                    <a:pt x="25" y="23"/>
                  </a:lnTo>
                  <a:lnTo>
                    <a:pt x="27" y="22"/>
                  </a:lnTo>
                  <a:lnTo>
                    <a:pt x="27" y="18"/>
                  </a:lnTo>
                  <a:lnTo>
                    <a:pt x="28" y="17"/>
                  </a:lnTo>
                  <a:lnTo>
                    <a:pt x="28" y="13"/>
                  </a:lnTo>
                  <a:lnTo>
                    <a:pt x="28" y="11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244"/>
            <p:cNvSpPr>
              <a:spLocks/>
            </p:cNvSpPr>
            <p:nvPr/>
          </p:nvSpPr>
          <p:spPr bwMode="auto">
            <a:xfrm>
              <a:off x="2685" y="2159"/>
              <a:ext cx="17" cy="18"/>
            </a:xfrm>
            <a:custGeom>
              <a:avLst/>
              <a:gdLst>
                <a:gd name="T0" fmla="*/ 5 w 28"/>
                <a:gd name="T1" fmla="*/ 0 h 26"/>
                <a:gd name="T2" fmla="*/ 5 w 28"/>
                <a:gd name="T3" fmla="*/ 0 h 26"/>
                <a:gd name="T4" fmla="*/ 3 w 28"/>
                <a:gd name="T5" fmla="*/ 1 h 26"/>
                <a:gd name="T6" fmla="*/ 2 w 28"/>
                <a:gd name="T7" fmla="*/ 1 h 26"/>
                <a:gd name="T8" fmla="*/ 2 w 28"/>
                <a:gd name="T9" fmla="*/ 1 h 26"/>
                <a:gd name="T10" fmla="*/ 1 w 28"/>
                <a:gd name="T11" fmla="*/ 3 h 26"/>
                <a:gd name="T12" fmla="*/ 1 w 28"/>
                <a:gd name="T13" fmla="*/ 4 h 26"/>
                <a:gd name="T14" fmla="*/ 1 w 28"/>
                <a:gd name="T15" fmla="*/ 5 h 26"/>
                <a:gd name="T16" fmla="*/ 0 w 28"/>
                <a:gd name="T17" fmla="*/ 6 h 26"/>
                <a:gd name="T18" fmla="*/ 1 w 28"/>
                <a:gd name="T19" fmla="*/ 7 h 26"/>
                <a:gd name="T20" fmla="*/ 1 w 28"/>
                <a:gd name="T21" fmla="*/ 8 h 26"/>
                <a:gd name="T22" fmla="*/ 1 w 28"/>
                <a:gd name="T23" fmla="*/ 10 h 26"/>
                <a:gd name="T24" fmla="*/ 2 w 28"/>
                <a:gd name="T25" fmla="*/ 10 h 26"/>
                <a:gd name="T26" fmla="*/ 2 w 28"/>
                <a:gd name="T27" fmla="*/ 11 h 26"/>
                <a:gd name="T28" fmla="*/ 3 w 28"/>
                <a:gd name="T29" fmla="*/ 12 h 26"/>
                <a:gd name="T30" fmla="*/ 5 w 28"/>
                <a:gd name="T31" fmla="*/ 12 h 26"/>
                <a:gd name="T32" fmla="*/ 5 w 28"/>
                <a:gd name="T33" fmla="*/ 12 h 26"/>
                <a:gd name="T34" fmla="*/ 5 w 28"/>
                <a:gd name="T35" fmla="*/ 12 h 26"/>
                <a:gd name="T36" fmla="*/ 7 w 28"/>
                <a:gd name="T37" fmla="*/ 12 h 26"/>
                <a:gd name="T38" fmla="*/ 7 w 28"/>
                <a:gd name="T39" fmla="*/ 12 h 26"/>
                <a:gd name="T40" fmla="*/ 9 w 28"/>
                <a:gd name="T41" fmla="*/ 11 h 26"/>
                <a:gd name="T42" fmla="*/ 9 w 28"/>
                <a:gd name="T43" fmla="*/ 10 h 26"/>
                <a:gd name="T44" fmla="*/ 10 w 28"/>
                <a:gd name="T45" fmla="*/ 10 h 26"/>
                <a:gd name="T46" fmla="*/ 10 w 28"/>
                <a:gd name="T47" fmla="*/ 8 h 26"/>
                <a:gd name="T48" fmla="*/ 10 w 28"/>
                <a:gd name="T49" fmla="*/ 7 h 26"/>
                <a:gd name="T50" fmla="*/ 10 w 28"/>
                <a:gd name="T51" fmla="*/ 6 h 26"/>
                <a:gd name="T52" fmla="*/ 10 w 28"/>
                <a:gd name="T53" fmla="*/ 5 h 26"/>
                <a:gd name="T54" fmla="*/ 10 w 28"/>
                <a:gd name="T55" fmla="*/ 4 h 26"/>
                <a:gd name="T56" fmla="*/ 10 w 28"/>
                <a:gd name="T57" fmla="*/ 3 h 26"/>
                <a:gd name="T58" fmla="*/ 9 w 28"/>
                <a:gd name="T59" fmla="*/ 1 h 26"/>
                <a:gd name="T60" fmla="*/ 9 w 28"/>
                <a:gd name="T61" fmla="*/ 1 h 26"/>
                <a:gd name="T62" fmla="*/ 7 w 28"/>
                <a:gd name="T63" fmla="*/ 1 h 26"/>
                <a:gd name="T64" fmla="*/ 7 w 28"/>
                <a:gd name="T65" fmla="*/ 0 h 26"/>
                <a:gd name="T66" fmla="*/ 5 w 28"/>
                <a:gd name="T67" fmla="*/ 0 h 26"/>
                <a:gd name="T68" fmla="*/ 5 w 28"/>
                <a:gd name="T69" fmla="*/ 0 h 2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8"/>
                <a:gd name="T106" fmla="*/ 0 h 26"/>
                <a:gd name="T107" fmla="*/ 28 w 28"/>
                <a:gd name="T108" fmla="*/ 26 h 2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8" h="26">
                  <a:moveTo>
                    <a:pt x="14" y="0"/>
                  </a:moveTo>
                  <a:lnTo>
                    <a:pt x="13" y="0"/>
                  </a:lnTo>
                  <a:lnTo>
                    <a:pt x="9" y="1"/>
                  </a:lnTo>
                  <a:lnTo>
                    <a:pt x="7" y="1"/>
                  </a:lnTo>
                  <a:lnTo>
                    <a:pt x="6" y="3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8"/>
                  </a:lnTo>
                  <a:lnTo>
                    <a:pt x="4" y="20"/>
                  </a:lnTo>
                  <a:lnTo>
                    <a:pt x="6" y="21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3" y="26"/>
                  </a:lnTo>
                  <a:lnTo>
                    <a:pt x="14" y="26"/>
                  </a:lnTo>
                  <a:lnTo>
                    <a:pt x="18" y="26"/>
                  </a:lnTo>
                  <a:lnTo>
                    <a:pt x="20" y="25"/>
                  </a:lnTo>
                  <a:lnTo>
                    <a:pt x="23" y="23"/>
                  </a:lnTo>
                  <a:lnTo>
                    <a:pt x="25" y="21"/>
                  </a:lnTo>
                  <a:lnTo>
                    <a:pt x="27" y="20"/>
                  </a:lnTo>
                  <a:lnTo>
                    <a:pt x="27" y="18"/>
                  </a:lnTo>
                  <a:lnTo>
                    <a:pt x="28" y="15"/>
                  </a:lnTo>
                  <a:lnTo>
                    <a:pt x="28" y="13"/>
                  </a:lnTo>
                  <a:lnTo>
                    <a:pt x="28" y="10"/>
                  </a:lnTo>
                  <a:lnTo>
                    <a:pt x="27" y="8"/>
                  </a:lnTo>
                  <a:lnTo>
                    <a:pt x="27" y="6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18" y="0"/>
                  </a:lnTo>
                  <a:lnTo>
                    <a:pt x="1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Line 245"/>
            <p:cNvSpPr>
              <a:spLocks noChangeShapeType="1"/>
            </p:cNvSpPr>
            <p:nvPr/>
          </p:nvSpPr>
          <p:spPr bwMode="auto">
            <a:xfrm>
              <a:off x="2697" y="2176"/>
              <a:ext cx="37" cy="1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Line 246"/>
            <p:cNvSpPr>
              <a:spLocks noChangeShapeType="1"/>
            </p:cNvSpPr>
            <p:nvPr/>
          </p:nvSpPr>
          <p:spPr bwMode="auto">
            <a:xfrm flipH="1">
              <a:off x="2694" y="2018"/>
              <a:ext cx="18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Rectangle 248"/>
            <p:cNvSpPr>
              <a:spLocks noChangeArrowheads="1"/>
            </p:cNvSpPr>
            <p:nvPr/>
          </p:nvSpPr>
          <p:spPr bwMode="auto">
            <a:xfrm>
              <a:off x="2562" y="2160"/>
              <a:ext cx="12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89" name="Line 249"/>
            <p:cNvSpPr>
              <a:spLocks noChangeShapeType="1"/>
            </p:cNvSpPr>
            <p:nvPr/>
          </p:nvSpPr>
          <p:spPr bwMode="auto">
            <a:xfrm flipV="1">
              <a:off x="2694" y="2018"/>
              <a:ext cx="1" cy="15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Line 250"/>
            <p:cNvSpPr>
              <a:spLocks noChangeShapeType="1"/>
            </p:cNvSpPr>
            <p:nvPr/>
          </p:nvSpPr>
          <p:spPr bwMode="auto">
            <a:xfrm flipH="1">
              <a:off x="2695" y="2456"/>
              <a:ext cx="17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251"/>
            <p:cNvSpPr>
              <a:spLocks/>
            </p:cNvSpPr>
            <p:nvPr/>
          </p:nvSpPr>
          <p:spPr bwMode="auto">
            <a:xfrm>
              <a:off x="2680" y="2439"/>
              <a:ext cx="32" cy="34"/>
            </a:xfrm>
            <a:custGeom>
              <a:avLst/>
              <a:gdLst>
                <a:gd name="T0" fmla="*/ 0 w 56"/>
                <a:gd name="T1" fmla="*/ 11 h 54"/>
                <a:gd name="T2" fmla="*/ 1 w 56"/>
                <a:gd name="T3" fmla="*/ 9 h 54"/>
                <a:gd name="T4" fmla="*/ 1 w 56"/>
                <a:gd name="T5" fmla="*/ 7 h 54"/>
                <a:gd name="T6" fmla="*/ 2 w 56"/>
                <a:gd name="T7" fmla="*/ 5 h 54"/>
                <a:gd name="T8" fmla="*/ 3 w 56"/>
                <a:gd name="T9" fmla="*/ 4 h 54"/>
                <a:gd name="T10" fmla="*/ 5 w 56"/>
                <a:gd name="T11" fmla="*/ 2 h 54"/>
                <a:gd name="T12" fmla="*/ 6 w 56"/>
                <a:gd name="T13" fmla="*/ 1 h 54"/>
                <a:gd name="T14" fmla="*/ 7 w 56"/>
                <a:gd name="T15" fmla="*/ 1 h 54"/>
                <a:gd name="T16" fmla="*/ 9 w 56"/>
                <a:gd name="T17" fmla="*/ 0 h 54"/>
                <a:gd name="T18" fmla="*/ 11 w 56"/>
                <a:gd name="T19" fmla="*/ 1 h 54"/>
                <a:gd name="T20" fmla="*/ 13 w 56"/>
                <a:gd name="T21" fmla="*/ 1 h 54"/>
                <a:gd name="T22" fmla="*/ 14 w 56"/>
                <a:gd name="T23" fmla="*/ 2 h 54"/>
                <a:gd name="T24" fmla="*/ 16 w 56"/>
                <a:gd name="T25" fmla="*/ 4 h 54"/>
                <a:gd name="T26" fmla="*/ 17 w 56"/>
                <a:gd name="T27" fmla="*/ 5 h 54"/>
                <a:gd name="T28" fmla="*/ 18 w 56"/>
                <a:gd name="T29" fmla="*/ 7 h 54"/>
                <a:gd name="T30" fmla="*/ 18 w 56"/>
                <a:gd name="T31" fmla="*/ 9 h 54"/>
                <a:gd name="T32" fmla="*/ 18 w 56"/>
                <a:gd name="T33" fmla="*/ 11 h 54"/>
                <a:gd name="T34" fmla="*/ 18 w 56"/>
                <a:gd name="T35" fmla="*/ 11 h 54"/>
                <a:gd name="T36" fmla="*/ 18 w 56"/>
                <a:gd name="T37" fmla="*/ 13 h 54"/>
                <a:gd name="T38" fmla="*/ 18 w 56"/>
                <a:gd name="T39" fmla="*/ 14 h 54"/>
                <a:gd name="T40" fmla="*/ 17 w 56"/>
                <a:gd name="T41" fmla="*/ 16 h 54"/>
                <a:gd name="T42" fmla="*/ 16 w 56"/>
                <a:gd name="T43" fmla="*/ 19 h 54"/>
                <a:gd name="T44" fmla="*/ 14 w 56"/>
                <a:gd name="T45" fmla="*/ 20 h 54"/>
                <a:gd name="T46" fmla="*/ 13 w 56"/>
                <a:gd name="T47" fmla="*/ 21 h 54"/>
                <a:gd name="T48" fmla="*/ 11 w 56"/>
                <a:gd name="T49" fmla="*/ 21 h 54"/>
                <a:gd name="T50" fmla="*/ 9 w 56"/>
                <a:gd name="T51" fmla="*/ 21 h 54"/>
                <a:gd name="T52" fmla="*/ 7 w 56"/>
                <a:gd name="T53" fmla="*/ 21 h 54"/>
                <a:gd name="T54" fmla="*/ 6 w 56"/>
                <a:gd name="T55" fmla="*/ 21 h 54"/>
                <a:gd name="T56" fmla="*/ 5 w 56"/>
                <a:gd name="T57" fmla="*/ 20 h 54"/>
                <a:gd name="T58" fmla="*/ 3 w 56"/>
                <a:gd name="T59" fmla="*/ 19 h 54"/>
                <a:gd name="T60" fmla="*/ 2 w 56"/>
                <a:gd name="T61" fmla="*/ 16 h 54"/>
                <a:gd name="T62" fmla="*/ 1 w 56"/>
                <a:gd name="T63" fmla="*/ 14 h 54"/>
                <a:gd name="T64" fmla="*/ 1 w 56"/>
                <a:gd name="T65" fmla="*/ 13 h 54"/>
                <a:gd name="T66" fmla="*/ 0 w 56"/>
                <a:gd name="T67" fmla="*/ 11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2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7"/>
                  </a:lnTo>
                  <a:lnTo>
                    <a:pt x="44" y="50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50"/>
                  </a:lnTo>
                  <a:lnTo>
                    <a:pt x="9" y="47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252"/>
            <p:cNvSpPr>
              <a:spLocks/>
            </p:cNvSpPr>
            <p:nvPr/>
          </p:nvSpPr>
          <p:spPr bwMode="auto">
            <a:xfrm>
              <a:off x="2680" y="2000"/>
              <a:ext cx="32" cy="35"/>
            </a:xfrm>
            <a:custGeom>
              <a:avLst/>
              <a:gdLst>
                <a:gd name="T0" fmla="*/ 0 w 56"/>
                <a:gd name="T1" fmla="*/ 12 h 54"/>
                <a:gd name="T2" fmla="*/ 1 w 56"/>
                <a:gd name="T3" fmla="*/ 9 h 54"/>
                <a:gd name="T4" fmla="*/ 1 w 56"/>
                <a:gd name="T5" fmla="*/ 7 h 54"/>
                <a:gd name="T6" fmla="*/ 2 w 56"/>
                <a:gd name="T7" fmla="*/ 5 h 54"/>
                <a:gd name="T8" fmla="*/ 3 w 56"/>
                <a:gd name="T9" fmla="*/ 4 h 54"/>
                <a:gd name="T10" fmla="*/ 5 w 56"/>
                <a:gd name="T11" fmla="*/ 2 h 54"/>
                <a:gd name="T12" fmla="*/ 6 w 56"/>
                <a:gd name="T13" fmla="*/ 1 h 54"/>
                <a:gd name="T14" fmla="*/ 7 w 56"/>
                <a:gd name="T15" fmla="*/ 0 h 54"/>
                <a:gd name="T16" fmla="*/ 9 w 56"/>
                <a:gd name="T17" fmla="*/ 0 h 54"/>
                <a:gd name="T18" fmla="*/ 11 w 56"/>
                <a:gd name="T19" fmla="*/ 0 h 54"/>
                <a:gd name="T20" fmla="*/ 13 w 56"/>
                <a:gd name="T21" fmla="*/ 1 h 54"/>
                <a:gd name="T22" fmla="*/ 14 w 56"/>
                <a:gd name="T23" fmla="*/ 2 h 54"/>
                <a:gd name="T24" fmla="*/ 16 w 56"/>
                <a:gd name="T25" fmla="*/ 4 h 54"/>
                <a:gd name="T26" fmla="*/ 17 w 56"/>
                <a:gd name="T27" fmla="*/ 5 h 54"/>
                <a:gd name="T28" fmla="*/ 18 w 56"/>
                <a:gd name="T29" fmla="*/ 7 h 54"/>
                <a:gd name="T30" fmla="*/ 18 w 56"/>
                <a:gd name="T31" fmla="*/ 9 h 54"/>
                <a:gd name="T32" fmla="*/ 18 w 56"/>
                <a:gd name="T33" fmla="*/ 12 h 54"/>
                <a:gd name="T34" fmla="*/ 18 w 56"/>
                <a:gd name="T35" fmla="*/ 12 h 54"/>
                <a:gd name="T36" fmla="*/ 18 w 56"/>
                <a:gd name="T37" fmla="*/ 14 h 54"/>
                <a:gd name="T38" fmla="*/ 18 w 56"/>
                <a:gd name="T39" fmla="*/ 16 h 54"/>
                <a:gd name="T40" fmla="*/ 17 w 56"/>
                <a:gd name="T41" fmla="*/ 18 h 54"/>
                <a:gd name="T42" fmla="*/ 16 w 56"/>
                <a:gd name="T43" fmla="*/ 19 h 54"/>
                <a:gd name="T44" fmla="*/ 14 w 56"/>
                <a:gd name="T45" fmla="*/ 21 h 54"/>
                <a:gd name="T46" fmla="*/ 13 w 56"/>
                <a:gd name="T47" fmla="*/ 22 h 54"/>
                <a:gd name="T48" fmla="*/ 11 w 56"/>
                <a:gd name="T49" fmla="*/ 23 h 54"/>
                <a:gd name="T50" fmla="*/ 9 w 56"/>
                <a:gd name="T51" fmla="*/ 23 h 54"/>
                <a:gd name="T52" fmla="*/ 7 w 56"/>
                <a:gd name="T53" fmla="*/ 23 h 54"/>
                <a:gd name="T54" fmla="*/ 6 w 56"/>
                <a:gd name="T55" fmla="*/ 22 h 54"/>
                <a:gd name="T56" fmla="*/ 5 w 56"/>
                <a:gd name="T57" fmla="*/ 21 h 54"/>
                <a:gd name="T58" fmla="*/ 3 w 56"/>
                <a:gd name="T59" fmla="*/ 19 h 54"/>
                <a:gd name="T60" fmla="*/ 2 w 56"/>
                <a:gd name="T61" fmla="*/ 18 h 54"/>
                <a:gd name="T62" fmla="*/ 1 w 56"/>
                <a:gd name="T63" fmla="*/ 16 h 54"/>
                <a:gd name="T64" fmla="*/ 1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9"/>
                  </a:lnTo>
                  <a:lnTo>
                    <a:pt x="14" y="5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4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3" y="54"/>
                  </a:lnTo>
                  <a:lnTo>
                    <a:pt x="17" y="52"/>
                  </a:lnTo>
                  <a:lnTo>
                    <a:pt x="14" y="49"/>
                  </a:lnTo>
                  <a:lnTo>
                    <a:pt x="9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253"/>
            <p:cNvSpPr>
              <a:spLocks noEditPoints="1"/>
            </p:cNvSpPr>
            <p:nvPr/>
          </p:nvSpPr>
          <p:spPr bwMode="auto">
            <a:xfrm>
              <a:off x="2688" y="2980"/>
              <a:ext cx="15" cy="155"/>
            </a:xfrm>
            <a:custGeom>
              <a:avLst/>
              <a:gdLst>
                <a:gd name="T0" fmla="*/ 3 w 26"/>
                <a:gd name="T1" fmla="*/ 91 h 236"/>
                <a:gd name="T2" fmla="*/ 2 w 26"/>
                <a:gd name="T3" fmla="*/ 91 h 236"/>
                <a:gd name="T4" fmla="*/ 1 w 26"/>
                <a:gd name="T5" fmla="*/ 93 h 236"/>
                <a:gd name="T6" fmla="*/ 0 w 26"/>
                <a:gd name="T7" fmla="*/ 95 h 236"/>
                <a:gd name="T8" fmla="*/ 0 w 26"/>
                <a:gd name="T9" fmla="*/ 97 h 236"/>
                <a:gd name="T10" fmla="*/ 1 w 26"/>
                <a:gd name="T11" fmla="*/ 100 h 236"/>
                <a:gd name="T12" fmla="*/ 2 w 26"/>
                <a:gd name="T13" fmla="*/ 101 h 236"/>
                <a:gd name="T14" fmla="*/ 3 w 26"/>
                <a:gd name="T15" fmla="*/ 102 h 236"/>
                <a:gd name="T16" fmla="*/ 4 w 26"/>
                <a:gd name="T17" fmla="*/ 102 h 236"/>
                <a:gd name="T18" fmla="*/ 6 w 26"/>
                <a:gd name="T19" fmla="*/ 102 h 236"/>
                <a:gd name="T20" fmla="*/ 8 w 26"/>
                <a:gd name="T21" fmla="*/ 100 h 236"/>
                <a:gd name="T22" fmla="*/ 9 w 26"/>
                <a:gd name="T23" fmla="*/ 99 h 236"/>
                <a:gd name="T24" fmla="*/ 9 w 26"/>
                <a:gd name="T25" fmla="*/ 97 h 236"/>
                <a:gd name="T26" fmla="*/ 9 w 26"/>
                <a:gd name="T27" fmla="*/ 95 h 236"/>
                <a:gd name="T28" fmla="*/ 8 w 26"/>
                <a:gd name="T29" fmla="*/ 93 h 236"/>
                <a:gd name="T30" fmla="*/ 6 w 26"/>
                <a:gd name="T31" fmla="*/ 91 h 236"/>
                <a:gd name="T32" fmla="*/ 4 w 26"/>
                <a:gd name="T33" fmla="*/ 91 h 236"/>
                <a:gd name="T34" fmla="*/ 4 w 26"/>
                <a:gd name="T35" fmla="*/ 91 h 236"/>
                <a:gd name="T36" fmla="*/ 3 w 26"/>
                <a:gd name="T37" fmla="*/ 1 h 236"/>
                <a:gd name="T38" fmla="*/ 2 w 26"/>
                <a:gd name="T39" fmla="*/ 1 h 236"/>
                <a:gd name="T40" fmla="*/ 1 w 26"/>
                <a:gd name="T41" fmla="*/ 3 h 236"/>
                <a:gd name="T42" fmla="*/ 0 w 26"/>
                <a:gd name="T43" fmla="*/ 5 h 236"/>
                <a:gd name="T44" fmla="*/ 0 w 26"/>
                <a:gd name="T45" fmla="*/ 7 h 236"/>
                <a:gd name="T46" fmla="*/ 1 w 26"/>
                <a:gd name="T47" fmla="*/ 9 h 236"/>
                <a:gd name="T48" fmla="*/ 2 w 26"/>
                <a:gd name="T49" fmla="*/ 11 h 236"/>
                <a:gd name="T50" fmla="*/ 3 w 26"/>
                <a:gd name="T51" fmla="*/ 12 h 236"/>
                <a:gd name="T52" fmla="*/ 4 w 26"/>
                <a:gd name="T53" fmla="*/ 12 h 236"/>
                <a:gd name="T54" fmla="*/ 6 w 26"/>
                <a:gd name="T55" fmla="*/ 12 h 236"/>
                <a:gd name="T56" fmla="*/ 8 w 26"/>
                <a:gd name="T57" fmla="*/ 10 h 236"/>
                <a:gd name="T58" fmla="*/ 9 w 26"/>
                <a:gd name="T59" fmla="*/ 8 h 236"/>
                <a:gd name="T60" fmla="*/ 9 w 26"/>
                <a:gd name="T61" fmla="*/ 6 h 236"/>
                <a:gd name="T62" fmla="*/ 9 w 26"/>
                <a:gd name="T63" fmla="*/ 3 h 236"/>
                <a:gd name="T64" fmla="*/ 8 w 26"/>
                <a:gd name="T65" fmla="*/ 2 h 236"/>
                <a:gd name="T66" fmla="*/ 6 w 26"/>
                <a:gd name="T67" fmla="*/ 1 h 236"/>
                <a:gd name="T68" fmla="*/ 4 w 26"/>
                <a:gd name="T69" fmla="*/ 0 h 236"/>
                <a:gd name="T70" fmla="*/ 4 w 26"/>
                <a:gd name="T71" fmla="*/ 0 h 2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"/>
                <a:gd name="T109" fmla="*/ 0 h 236"/>
                <a:gd name="T110" fmla="*/ 26 w 26"/>
                <a:gd name="T111" fmla="*/ 236 h 2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" h="236">
                  <a:moveTo>
                    <a:pt x="12" y="211"/>
                  </a:moveTo>
                  <a:lnTo>
                    <a:pt x="10" y="211"/>
                  </a:lnTo>
                  <a:lnTo>
                    <a:pt x="7" y="211"/>
                  </a:lnTo>
                  <a:lnTo>
                    <a:pt x="5" y="212"/>
                  </a:lnTo>
                  <a:lnTo>
                    <a:pt x="3" y="214"/>
                  </a:lnTo>
                  <a:lnTo>
                    <a:pt x="2" y="216"/>
                  </a:lnTo>
                  <a:lnTo>
                    <a:pt x="0" y="219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0" y="226"/>
                  </a:lnTo>
                  <a:lnTo>
                    <a:pt x="0" y="229"/>
                  </a:lnTo>
                  <a:lnTo>
                    <a:pt x="2" y="231"/>
                  </a:lnTo>
                  <a:lnTo>
                    <a:pt x="3" y="232"/>
                  </a:lnTo>
                  <a:lnTo>
                    <a:pt x="5" y="234"/>
                  </a:lnTo>
                  <a:lnTo>
                    <a:pt x="7" y="236"/>
                  </a:lnTo>
                  <a:lnTo>
                    <a:pt x="10" y="236"/>
                  </a:lnTo>
                  <a:lnTo>
                    <a:pt x="12" y="236"/>
                  </a:lnTo>
                  <a:lnTo>
                    <a:pt x="16" y="236"/>
                  </a:lnTo>
                  <a:lnTo>
                    <a:pt x="19" y="236"/>
                  </a:lnTo>
                  <a:lnTo>
                    <a:pt x="21" y="234"/>
                  </a:lnTo>
                  <a:lnTo>
                    <a:pt x="23" y="232"/>
                  </a:lnTo>
                  <a:lnTo>
                    <a:pt x="24" y="231"/>
                  </a:lnTo>
                  <a:lnTo>
                    <a:pt x="26" y="229"/>
                  </a:lnTo>
                  <a:lnTo>
                    <a:pt x="26" y="226"/>
                  </a:lnTo>
                  <a:lnTo>
                    <a:pt x="26" y="224"/>
                  </a:lnTo>
                  <a:lnTo>
                    <a:pt x="26" y="221"/>
                  </a:lnTo>
                  <a:lnTo>
                    <a:pt x="26" y="219"/>
                  </a:lnTo>
                  <a:lnTo>
                    <a:pt x="24" y="216"/>
                  </a:lnTo>
                  <a:lnTo>
                    <a:pt x="23" y="214"/>
                  </a:lnTo>
                  <a:lnTo>
                    <a:pt x="21" y="212"/>
                  </a:lnTo>
                  <a:lnTo>
                    <a:pt x="19" y="211"/>
                  </a:lnTo>
                  <a:lnTo>
                    <a:pt x="16" y="211"/>
                  </a:lnTo>
                  <a:lnTo>
                    <a:pt x="12" y="211"/>
                  </a:lnTo>
                  <a:close/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254"/>
            <p:cNvSpPr>
              <a:spLocks/>
            </p:cNvSpPr>
            <p:nvPr/>
          </p:nvSpPr>
          <p:spPr bwMode="auto">
            <a:xfrm>
              <a:off x="2688" y="3119"/>
              <a:ext cx="15" cy="16"/>
            </a:xfrm>
            <a:custGeom>
              <a:avLst/>
              <a:gdLst>
                <a:gd name="T0" fmla="*/ 4 w 26"/>
                <a:gd name="T1" fmla="*/ 0 h 25"/>
                <a:gd name="T2" fmla="*/ 3 w 26"/>
                <a:gd name="T3" fmla="*/ 0 h 25"/>
                <a:gd name="T4" fmla="*/ 2 w 26"/>
                <a:gd name="T5" fmla="*/ 0 h 25"/>
                <a:gd name="T6" fmla="*/ 2 w 26"/>
                <a:gd name="T7" fmla="*/ 1 h 25"/>
                <a:gd name="T8" fmla="*/ 1 w 26"/>
                <a:gd name="T9" fmla="*/ 1 h 25"/>
                <a:gd name="T10" fmla="*/ 1 w 26"/>
                <a:gd name="T11" fmla="*/ 2 h 25"/>
                <a:gd name="T12" fmla="*/ 0 w 26"/>
                <a:gd name="T13" fmla="*/ 3 h 25"/>
                <a:gd name="T14" fmla="*/ 0 w 26"/>
                <a:gd name="T15" fmla="*/ 4 h 25"/>
                <a:gd name="T16" fmla="*/ 0 w 26"/>
                <a:gd name="T17" fmla="*/ 5 h 25"/>
                <a:gd name="T18" fmla="*/ 0 w 26"/>
                <a:gd name="T19" fmla="*/ 6 h 25"/>
                <a:gd name="T20" fmla="*/ 0 w 26"/>
                <a:gd name="T21" fmla="*/ 8 h 25"/>
                <a:gd name="T22" fmla="*/ 1 w 26"/>
                <a:gd name="T23" fmla="*/ 8 h 25"/>
                <a:gd name="T24" fmla="*/ 1 w 26"/>
                <a:gd name="T25" fmla="*/ 8 h 25"/>
                <a:gd name="T26" fmla="*/ 2 w 26"/>
                <a:gd name="T27" fmla="*/ 10 h 25"/>
                <a:gd name="T28" fmla="*/ 2 w 26"/>
                <a:gd name="T29" fmla="*/ 10 h 25"/>
                <a:gd name="T30" fmla="*/ 3 w 26"/>
                <a:gd name="T31" fmla="*/ 10 h 25"/>
                <a:gd name="T32" fmla="*/ 4 w 26"/>
                <a:gd name="T33" fmla="*/ 10 h 25"/>
                <a:gd name="T34" fmla="*/ 4 w 26"/>
                <a:gd name="T35" fmla="*/ 10 h 25"/>
                <a:gd name="T36" fmla="*/ 5 w 26"/>
                <a:gd name="T37" fmla="*/ 10 h 25"/>
                <a:gd name="T38" fmla="*/ 6 w 26"/>
                <a:gd name="T39" fmla="*/ 10 h 25"/>
                <a:gd name="T40" fmla="*/ 7 w 26"/>
                <a:gd name="T41" fmla="*/ 10 h 25"/>
                <a:gd name="T42" fmla="*/ 8 w 26"/>
                <a:gd name="T43" fmla="*/ 8 h 25"/>
                <a:gd name="T44" fmla="*/ 8 w 26"/>
                <a:gd name="T45" fmla="*/ 8 h 25"/>
                <a:gd name="T46" fmla="*/ 9 w 26"/>
                <a:gd name="T47" fmla="*/ 8 h 25"/>
                <a:gd name="T48" fmla="*/ 9 w 26"/>
                <a:gd name="T49" fmla="*/ 6 h 25"/>
                <a:gd name="T50" fmla="*/ 9 w 26"/>
                <a:gd name="T51" fmla="*/ 5 h 25"/>
                <a:gd name="T52" fmla="*/ 9 w 26"/>
                <a:gd name="T53" fmla="*/ 4 h 25"/>
                <a:gd name="T54" fmla="*/ 9 w 26"/>
                <a:gd name="T55" fmla="*/ 3 h 25"/>
                <a:gd name="T56" fmla="*/ 8 w 26"/>
                <a:gd name="T57" fmla="*/ 2 h 25"/>
                <a:gd name="T58" fmla="*/ 8 w 26"/>
                <a:gd name="T59" fmla="*/ 1 h 25"/>
                <a:gd name="T60" fmla="*/ 7 w 26"/>
                <a:gd name="T61" fmla="*/ 1 h 25"/>
                <a:gd name="T62" fmla="*/ 6 w 26"/>
                <a:gd name="T63" fmla="*/ 0 h 25"/>
                <a:gd name="T64" fmla="*/ 5 w 26"/>
                <a:gd name="T65" fmla="*/ 0 h 25"/>
                <a:gd name="T66" fmla="*/ 4 w 26"/>
                <a:gd name="T67" fmla="*/ 0 h 25"/>
                <a:gd name="T68" fmla="*/ 4 w 26"/>
                <a:gd name="T69" fmla="*/ 0 h 2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5"/>
                <a:gd name="T107" fmla="*/ 26 w 26"/>
                <a:gd name="T108" fmla="*/ 25 h 2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5">
                  <a:moveTo>
                    <a:pt x="12" y="0"/>
                  </a:moveTo>
                  <a:lnTo>
                    <a:pt x="10" y="0"/>
                  </a:lnTo>
                  <a:lnTo>
                    <a:pt x="7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2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6" y="25"/>
                  </a:lnTo>
                  <a:lnTo>
                    <a:pt x="19" y="25"/>
                  </a:lnTo>
                  <a:lnTo>
                    <a:pt x="21" y="23"/>
                  </a:lnTo>
                  <a:lnTo>
                    <a:pt x="23" y="21"/>
                  </a:lnTo>
                  <a:lnTo>
                    <a:pt x="24" y="20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6" y="13"/>
                  </a:lnTo>
                  <a:lnTo>
                    <a:pt x="26" y="10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3" y="3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255"/>
            <p:cNvSpPr>
              <a:spLocks/>
            </p:cNvSpPr>
            <p:nvPr/>
          </p:nvSpPr>
          <p:spPr bwMode="auto">
            <a:xfrm>
              <a:off x="2688" y="2980"/>
              <a:ext cx="15" cy="19"/>
            </a:xfrm>
            <a:custGeom>
              <a:avLst/>
              <a:gdLst>
                <a:gd name="T0" fmla="*/ 4 w 26"/>
                <a:gd name="T1" fmla="*/ 0 h 27"/>
                <a:gd name="T2" fmla="*/ 3 w 26"/>
                <a:gd name="T3" fmla="*/ 1 h 27"/>
                <a:gd name="T4" fmla="*/ 2 w 26"/>
                <a:gd name="T5" fmla="*/ 1 h 27"/>
                <a:gd name="T6" fmla="*/ 2 w 26"/>
                <a:gd name="T7" fmla="*/ 1 h 27"/>
                <a:gd name="T8" fmla="*/ 1 w 26"/>
                <a:gd name="T9" fmla="*/ 3 h 27"/>
                <a:gd name="T10" fmla="*/ 1 w 26"/>
                <a:gd name="T11" fmla="*/ 4 h 27"/>
                <a:gd name="T12" fmla="*/ 0 w 26"/>
                <a:gd name="T13" fmla="*/ 4 h 27"/>
                <a:gd name="T14" fmla="*/ 0 w 26"/>
                <a:gd name="T15" fmla="*/ 6 h 27"/>
                <a:gd name="T16" fmla="*/ 0 w 26"/>
                <a:gd name="T17" fmla="*/ 6 h 27"/>
                <a:gd name="T18" fmla="*/ 0 w 26"/>
                <a:gd name="T19" fmla="*/ 8 h 27"/>
                <a:gd name="T20" fmla="*/ 0 w 26"/>
                <a:gd name="T21" fmla="*/ 9 h 27"/>
                <a:gd name="T22" fmla="*/ 1 w 26"/>
                <a:gd name="T23" fmla="*/ 11 h 27"/>
                <a:gd name="T24" fmla="*/ 1 w 26"/>
                <a:gd name="T25" fmla="*/ 11 h 27"/>
                <a:gd name="T26" fmla="*/ 2 w 26"/>
                <a:gd name="T27" fmla="*/ 13 h 27"/>
                <a:gd name="T28" fmla="*/ 2 w 26"/>
                <a:gd name="T29" fmla="*/ 13 h 27"/>
                <a:gd name="T30" fmla="*/ 3 w 26"/>
                <a:gd name="T31" fmla="*/ 13 h 27"/>
                <a:gd name="T32" fmla="*/ 4 w 26"/>
                <a:gd name="T33" fmla="*/ 13 h 27"/>
                <a:gd name="T34" fmla="*/ 4 w 26"/>
                <a:gd name="T35" fmla="*/ 13 h 27"/>
                <a:gd name="T36" fmla="*/ 5 w 26"/>
                <a:gd name="T37" fmla="*/ 13 h 27"/>
                <a:gd name="T38" fmla="*/ 6 w 26"/>
                <a:gd name="T39" fmla="*/ 13 h 27"/>
                <a:gd name="T40" fmla="*/ 7 w 26"/>
                <a:gd name="T41" fmla="*/ 13 h 27"/>
                <a:gd name="T42" fmla="*/ 8 w 26"/>
                <a:gd name="T43" fmla="*/ 11 h 27"/>
                <a:gd name="T44" fmla="*/ 8 w 26"/>
                <a:gd name="T45" fmla="*/ 11 h 27"/>
                <a:gd name="T46" fmla="*/ 9 w 26"/>
                <a:gd name="T47" fmla="*/ 9 h 27"/>
                <a:gd name="T48" fmla="*/ 9 w 26"/>
                <a:gd name="T49" fmla="*/ 8 h 27"/>
                <a:gd name="T50" fmla="*/ 9 w 26"/>
                <a:gd name="T51" fmla="*/ 6 h 27"/>
                <a:gd name="T52" fmla="*/ 9 w 26"/>
                <a:gd name="T53" fmla="*/ 6 h 27"/>
                <a:gd name="T54" fmla="*/ 9 w 26"/>
                <a:gd name="T55" fmla="*/ 4 h 27"/>
                <a:gd name="T56" fmla="*/ 8 w 26"/>
                <a:gd name="T57" fmla="*/ 4 h 27"/>
                <a:gd name="T58" fmla="*/ 8 w 26"/>
                <a:gd name="T59" fmla="*/ 3 h 27"/>
                <a:gd name="T60" fmla="*/ 7 w 26"/>
                <a:gd name="T61" fmla="*/ 1 h 27"/>
                <a:gd name="T62" fmla="*/ 6 w 26"/>
                <a:gd name="T63" fmla="*/ 1 h 27"/>
                <a:gd name="T64" fmla="*/ 5 w 26"/>
                <a:gd name="T65" fmla="*/ 1 h 27"/>
                <a:gd name="T66" fmla="*/ 4 w 26"/>
                <a:gd name="T67" fmla="*/ 0 h 27"/>
                <a:gd name="T68" fmla="*/ 4 w 26"/>
                <a:gd name="T69" fmla="*/ 0 h 2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26"/>
                <a:gd name="T106" fmla="*/ 0 h 27"/>
                <a:gd name="T107" fmla="*/ 26 w 26"/>
                <a:gd name="T108" fmla="*/ 27 h 2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26" h="27">
                  <a:moveTo>
                    <a:pt x="12" y="0"/>
                  </a:moveTo>
                  <a:lnTo>
                    <a:pt x="10" y="2"/>
                  </a:lnTo>
                  <a:lnTo>
                    <a:pt x="7" y="2"/>
                  </a:lnTo>
                  <a:lnTo>
                    <a:pt x="5" y="3"/>
                  </a:lnTo>
                  <a:lnTo>
                    <a:pt x="3" y="5"/>
                  </a:lnTo>
                  <a:lnTo>
                    <a:pt x="2" y="7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3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6" y="27"/>
                  </a:lnTo>
                  <a:lnTo>
                    <a:pt x="19" y="27"/>
                  </a:lnTo>
                  <a:lnTo>
                    <a:pt x="21" y="25"/>
                  </a:lnTo>
                  <a:lnTo>
                    <a:pt x="23" y="23"/>
                  </a:lnTo>
                  <a:lnTo>
                    <a:pt x="24" y="22"/>
                  </a:lnTo>
                  <a:lnTo>
                    <a:pt x="26" y="18"/>
                  </a:lnTo>
                  <a:lnTo>
                    <a:pt x="26" y="17"/>
                  </a:lnTo>
                  <a:lnTo>
                    <a:pt x="26" y="13"/>
                  </a:lnTo>
                  <a:lnTo>
                    <a:pt x="26" y="12"/>
                  </a:lnTo>
                  <a:lnTo>
                    <a:pt x="26" y="8"/>
                  </a:lnTo>
                  <a:lnTo>
                    <a:pt x="24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Line 256"/>
            <p:cNvSpPr>
              <a:spLocks noChangeShapeType="1"/>
            </p:cNvSpPr>
            <p:nvPr/>
          </p:nvSpPr>
          <p:spPr bwMode="auto">
            <a:xfrm>
              <a:off x="2699" y="2999"/>
              <a:ext cx="36" cy="1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Line 257"/>
            <p:cNvSpPr>
              <a:spLocks noChangeShapeType="1"/>
            </p:cNvSpPr>
            <p:nvPr/>
          </p:nvSpPr>
          <p:spPr bwMode="auto">
            <a:xfrm flipH="1">
              <a:off x="2696" y="2838"/>
              <a:ext cx="178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Line 260"/>
            <p:cNvSpPr>
              <a:spLocks noChangeShapeType="1"/>
            </p:cNvSpPr>
            <p:nvPr/>
          </p:nvSpPr>
          <p:spPr bwMode="auto">
            <a:xfrm flipV="1">
              <a:off x="2696" y="2839"/>
              <a:ext cx="1" cy="15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Line 261"/>
            <p:cNvSpPr>
              <a:spLocks noChangeShapeType="1"/>
            </p:cNvSpPr>
            <p:nvPr/>
          </p:nvSpPr>
          <p:spPr bwMode="auto">
            <a:xfrm flipH="1">
              <a:off x="2696" y="3277"/>
              <a:ext cx="178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62"/>
            <p:cNvSpPr>
              <a:spLocks/>
            </p:cNvSpPr>
            <p:nvPr/>
          </p:nvSpPr>
          <p:spPr bwMode="auto">
            <a:xfrm>
              <a:off x="2682" y="2821"/>
              <a:ext cx="32" cy="35"/>
            </a:xfrm>
            <a:custGeom>
              <a:avLst/>
              <a:gdLst>
                <a:gd name="T0" fmla="*/ 0 w 56"/>
                <a:gd name="T1" fmla="*/ 11 h 53"/>
                <a:gd name="T2" fmla="*/ 0 w 56"/>
                <a:gd name="T3" fmla="*/ 9 h 53"/>
                <a:gd name="T4" fmla="*/ 1 w 56"/>
                <a:gd name="T5" fmla="*/ 7 h 53"/>
                <a:gd name="T6" fmla="*/ 1 w 56"/>
                <a:gd name="T7" fmla="*/ 5 h 53"/>
                <a:gd name="T8" fmla="*/ 2 w 56"/>
                <a:gd name="T9" fmla="*/ 3 h 53"/>
                <a:gd name="T10" fmla="*/ 4 w 56"/>
                <a:gd name="T11" fmla="*/ 2 h 53"/>
                <a:gd name="T12" fmla="*/ 6 w 56"/>
                <a:gd name="T13" fmla="*/ 1 h 53"/>
                <a:gd name="T14" fmla="*/ 7 w 56"/>
                <a:gd name="T15" fmla="*/ 1 h 53"/>
                <a:gd name="T16" fmla="*/ 9 w 56"/>
                <a:gd name="T17" fmla="*/ 0 h 53"/>
                <a:gd name="T18" fmla="*/ 11 w 56"/>
                <a:gd name="T19" fmla="*/ 1 h 53"/>
                <a:gd name="T20" fmla="*/ 13 w 56"/>
                <a:gd name="T21" fmla="*/ 1 h 53"/>
                <a:gd name="T22" fmla="*/ 14 w 56"/>
                <a:gd name="T23" fmla="*/ 2 h 53"/>
                <a:gd name="T24" fmla="*/ 15 w 56"/>
                <a:gd name="T25" fmla="*/ 3 h 53"/>
                <a:gd name="T26" fmla="*/ 17 w 56"/>
                <a:gd name="T27" fmla="*/ 5 h 53"/>
                <a:gd name="T28" fmla="*/ 18 w 56"/>
                <a:gd name="T29" fmla="*/ 7 h 53"/>
                <a:gd name="T30" fmla="*/ 18 w 56"/>
                <a:gd name="T31" fmla="*/ 9 h 53"/>
                <a:gd name="T32" fmla="*/ 18 w 56"/>
                <a:gd name="T33" fmla="*/ 11 h 53"/>
                <a:gd name="T34" fmla="*/ 18 w 56"/>
                <a:gd name="T35" fmla="*/ 11 h 53"/>
                <a:gd name="T36" fmla="*/ 18 w 56"/>
                <a:gd name="T37" fmla="*/ 15 h 53"/>
                <a:gd name="T38" fmla="*/ 18 w 56"/>
                <a:gd name="T39" fmla="*/ 17 h 53"/>
                <a:gd name="T40" fmla="*/ 17 w 56"/>
                <a:gd name="T41" fmla="*/ 18 h 53"/>
                <a:gd name="T42" fmla="*/ 15 w 56"/>
                <a:gd name="T43" fmla="*/ 20 h 53"/>
                <a:gd name="T44" fmla="*/ 14 w 56"/>
                <a:gd name="T45" fmla="*/ 22 h 53"/>
                <a:gd name="T46" fmla="*/ 13 w 56"/>
                <a:gd name="T47" fmla="*/ 22 h 53"/>
                <a:gd name="T48" fmla="*/ 11 w 56"/>
                <a:gd name="T49" fmla="*/ 23 h 53"/>
                <a:gd name="T50" fmla="*/ 9 w 56"/>
                <a:gd name="T51" fmla="*/ 23 h 53"/>
                <a:gd name="T52" fmla="*/ 7 w 56"/>
                <a:gd name="T53" fmla="*/ 23 h 53"/>
                <a:gd name="T54" fmla="*/ 6 w 56"/>
                <a:gd name="T55" fmla="*/ 22 h 53"/>
                <a:gd name="T56" fmla="*/ 4 w 56"/>
                <a:gd name="T57" fmla="*/ 22 h 53"/>
                <a:gd name="T58" fmla="*/ 2 w 56"/>
                <a:gd name="T59" fmla="*/ 20 h 53"/>
                <a:gd name="T60" fmla="*/ 1 w 56"/>
                <a:gd name="T61" fmla="*/ 18 h 53"/>
                <a:gd name="T62" fmla="*/ 1 w 56"/>
                <a:gd name="T63" fmla="*/ 17 h 53"/>
                <a:gd name="T64" fmla="*/ 0 w 56"/>
                <a:gd name="T65" fmla="*/ 15 h 53"/>
                <a:gd name="T66" fmla="*/ 0 w 56"/>
                <a:gd name="T67" fmla="*/ 1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1"/>
                  </a:lnTo>
                  <a:lnTo>
                    <a:pt x="2" y="16"/>
                  </a:lnTo>
                  <a:lnTo>
                    <a:pt x="4" y="11"/>
                  </a:lnTo>
                  <a:lnTo>
                    <a:pt x="7" y="8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34" y="1"/>
                  </a:lnTo>
                  <a:lnTo>
                    <a:pt x="39" y="3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1" y="11"/>
                  </a:lnTo>
                  <a:lnTo>
                    <a:pt x="55" y="16"/>
                  </a:lnTo>
                  <a:lnTo>
                    <a:pt x="55" y="21"/>
                  </a:lnTo>
                  <a:lnTo>
                    <a:pt x="56" y="26"/>
                  </a:lnTo>
                  <a:lnTo>
                    <a:pt x="55" y="33"/>
                  </a:lnTo>
                  <a:lnTo>
                    <a:pt x="55" y="38"/>
                  </a:lnTo>
                  <a:lnTo>
                    <a:pt x="51" y="41"/>
                  </a:lnTo>
                  <a:lnTo>
                    <a:pt x="48" y="46"/>
                  </a:lnTo>
                  <a:lnTo>
                    <a:pt x="44" y="50"/>
                  </a:lnTo>
                  <a:lnTo>
                    <a:pt x="39" y="51"/>
                  </a:lnTo>
                  <a:lnTo>
                    <a:pt x="34" y="53"/>
                  </a:lnTo>
                  <a:lnTo>
                    <a:pt x="28" y="53"/>
                  </a:lnTo>
                  <a:lnTo>
                    <a:pt x="23" y="53"/>
                  </a:lnTo>
                  <a:lnTo>
                    <a:pt x="18" y="51"/>
                  </a:lnTo>
                  <a:lnTo>
                    <a:pt x="13" y="50"/>
                  </a:lnTo>
                  <a:lnTo>
                    <a:pt x="7" y="46"/>
                  </a:lnTo>
                  <a:lnTo>
                    <a:pt x="4" y="41"/>
                  </a:lnTo>
                  <a:lnTo>
                    <a:pt x="2" y="38"/>
                  </a:lnTo>
                  <a:lnTo>
                    <a:pt x="0" y="33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Line 263"/>
            <p:cNvSpPr>
              <a:spLocks noChangeShapeType="1"/>
            </p:cNvSpPr>
            <p:nvPr/>
          </p:nvSpPr>
          <p:spPr bwMode="auto">
            <a:xfrm>
              <a:off x="2694" y="2305"/>
              <a:ext cx="2" cy="54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Line 264"/>
            <p:cNvSpPr>
              <a:spLocks noChangeShapeType="1"/>
            </p:cNvSpPr>
            <p:nvPr/>
          </p:nvSpPr>
          <p:spPr bwMode="auto">
            <a:xfrm>
              <a:off x="2696" y="3128"/>
              <a:ext cx="1" cy="15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65"/>
            <p:cNvSpPr>
              <a:spLocks/>
            </p:cNvSpPr>
            <p:nvPr/>
          </p:nvSpPr>
          <p:spPr bwMode="auto">
            <a:xfrm>
              <a:off x="2857" y="3260"/>
              <a:ext cx="33" cy="35"/>
            </a:xfrm>
            <a:custGeom>
              <a:avLst/>
              <a:gdLst>
                <a:gd name="T0" fmla="*/ 0 w 56"/>
                <a:gd name="T1" fmla="*/ 12 h 54"/>
                <a:gd name="T2" fmla="*/ 1 w 56"/>
                <a:gd name="T3" fmla="*/ 9 h 54"/>
                <a:gd name="T4" fmla="*/ 1 w 56"/>
                <a:gd name="T5" fmla="*/ 7 h 54"/>
                <a:gd name="T6" fmla="*/ 2 w 56"/>
                <a:gd name="T7" fmla="*/ 5 h 54"/>
                <a:gd name="T8" fmla="*/ 3 w 56"/>
                <a:gd name="T9" fmla="*/ 3 h 54"/>
                <a:gd name="T10" fmla="*/ 4 w 56"/>
                <a:gd name="T11" fmla="*/ 2 h 54"/>
                <a:gd name="T12" fmla="*/ 6 w 56"/>
                <a:gd name="T13" fmla="*/ 1 h 54"/>
                <a:gd name="T14" fmla="*/ 8 w 56"/>
                <a:gd name="T15" fmla="*/ 0 h 54"/>
                <a:gd name="T16" fmla="*/ 10 w 56"/>
                <a:gd name="T17" fmla="*/ 0 h 54"/>
                <a:gd name="T18" fmla="*/ 11 w 56"/>
                <a:gd name="T19" fmla="*/ 0 h 54"/>
                <a:gd name="T20" fmla="*/ 13 w 56"/>
                <a:gd name="T21" fmla="*/ 1 h 54"/>
                <a:gd name="T22" fmla="*/ 15 w 56"/>
                <a:gd name="T23" fmla="*/ 2 h 54"/>
                <a:gd name="T24" fmla="*/ 17 w 56"/>
                <a:gd name="T25" fmla="*/ 3 h 54"/>
                <a:gd name="T26" fmla="*/ 17 w 56"/>
                <a:gd name="T27" fmla="*/ 5 h 54"/>
                <a:gd name="T28" fmla="*/ 19 w 56"/>
                <a:gd name="T29" fmla="*/ 7 h 54"/>
                <a:gd name="T30" fmla="*/ 19 w 56"/>
                <a:gd name="T31" fmla="*/ 9 h 54"/>
                <a:gd name="T32" fmla="*/ 19 w 56"/>
                <a:gd name="T33" fmla="*/ 12 h 54"/>
                <a:gd name="T34" fmla="*/ 19 w 56"/>
                <a:gd name="T35" fmla="*/ 12 h 54"/>
                <a:gd name="T36" fmla="*/ 19 w 56"/>
                <a:gd name="T37" fmla="*/ 14 h 54"/>
                <a:gd name="T38" fmla="*/ 19 w 56"/>
                <a:gd name="T39" fmla="*/ 16 h 54"/>
                <a:gd name="T40" fmla="*/ 17 w 56"/>
                <a:gd name="T41" fmla="*/ 18 h 54"/>
                <a:gd name="T42" fmla="*/ 17 w 56"/>
                <a:gd name="T43" fmla="*/ 19 h 54"/>
                <a:gd name="T44" fmla="*/ 15 w 56"/>
                <a:gd name="T45" fmla="*/ 21 h 54"/>
                <a:gd name="T46" fmla="*/ 13 w 56"/>
                <a:gd name="T47" fmla="*/ 21 h 54"/>
                <a:gd name="T48" fmla="*/ 11 w 56"/>
                <a:gd name="T49" fmla="*/ 22 h 54"/>
                <a:gd name="T50" fmla="*/ 10 w 56"/>
                <a:gd name="T51" fmla="*/ 23 h 54"/>
                <a:gd name="T52" fmla="*/ 8 w 56"/>
                <a:gd name="T53" fmla="*/ 22 h 54"/>
                <a:gd name="T54" fmla="*/ 6 w 56"/>
                <a:gd name="T55" fmla="*/ 21 h 54"/>
                <a:gd name="T56" fmla="*/ 4 w 56"/>
                <a:gd name="T57" fmla="*/ 21 h 54"/>
                <a:gd name="T58" fmla="*/ 3 w 56"/>
                <a:gd name="T59" fmla="*/ 19 h 54"/>
                <a:gd name="T60" fmla="*/ 2 w 56"/>
                <a:gd name="T61" fmla="*/ 18 h 54"/>
                <a:gd name="T62" fmla="*/ 1 w 56"/>
                <a:gd name="T63" fmla="*/ 16 h 54"/>
                <a:gd name="T64" fmla="*/ 1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3" y="0"/>
                  </a:lnTo>
                  <a:lnTo>
                    <a:pt x="38" y="2"/>
                  </a:lnTo>
                  <a:lnTo>
                    <a:pt x="43" y="4"/>
                  </a:lnTo>
                  <a:lnTo>
                    <a:pt x="49" y="7"/>
                  </a:lnTo>
                  <a:lnTo>
                    <a:pt x="50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0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38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2" y="52"/>
                  </a:lnTo>
                  <a:lnTo>
                    <a:pt x="17" y="51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2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66"/>
            <p:cNvSpPr>
              <a:spLocks/>
            </p:cNvSpPr>
            <p:nvPr/>
          </p:nvSpPr>
          <p:spPr bwMode="auto">
            <a:xfrm>
              <a:off x="2682" y="2768"/>
              <a:ext cx="32" cy="35"/>
            </a:xfrm>
            <a:custGeom>
              <a:avLst/>
              <a:gdLst>
                <a:gd name="T0" fmla="*/ 0 w 56"/>
                <a:gd name="T1" fmla="*/ 11 h 53"/>
                <a:gd name="T2" fmla="*/ 0 w 56"/>
                <a:gd name="T3" fmla="*/ 9 h 53"/>
                <a:gd name="T4" fmla="*/ 1 w 56"/>
                <a:gd name="T5" fmla="*/ 7 h 53"/>
                <a:gd name="T6" fmla="*/ 1 w 56"/>
                <a:gd name="T7" fmla="*/ 5 h 53"/>
                <a:gd name="T8" fmla="*/ 2 w 56"/>
                <a:gd name="T9" fmla="*/ 3 h 53"/>
                <a:gd name="T10" fmla="*/ 4 w 56"/>
                <a:gd name="T11" fmla="*/ 1 h 53"/>
                <a:gd name="T12" fmla="*/ 6 w 56"/>
                <a:gd name="T13" fmla="*/ 1 h 53"/>
                <a:gd name="T14" fmla="*/ 7 w 56"/>
                <a:gd name="T15" fmla="*/ 0 h 53"/>
                <a:gd name="T16" fmla="*/ 9 w 56"/>
                <a:gd name="T17" fmla="*/ 0 h 53"/>
                <a:gd name="T18" fmla="*/ 11 w 56"/>
                <a:gd name="T19" fmla="*/ 0 h 53"/>
                <a:gd name="T20" fmla="*/ 13 w 56"/>
                <a:gd name="T21" fmla="*/ 1 h 53"/>
                <a:gd name="T22" fmla="*/ 14 w 56"/>
                <a:gd name="T23" fmla="*/ 1 h 53"/>
                <a:gd name="T24" fmla="*/ 15 w 56"/>
                <a:gd name="T25" fmla="*/ 3 h 53"/>
                <a:gd name="T26" fmla="*/ 17 w 56"/>
                <a:gd name="T27" fmla="*/ 5 h 53"/>
                <a:gd name="T28" fmla="*/ 18 w 56"/>
                <a:gd name="T29" fmla="*/ 7 h 53"/>
                <a:gd name="T30" fmla="*/ 18 w 56"/>
                <a:gd name="T31" fmla="*/ 9 h 53"/>
                <a:gd name="T32" fmla="*/ 18 w 56"/>
                <a:gd name="T33" fmla="*/ 11 h 53"/>
                <a:gd name="T34" fmla="*/ 18 w 56"/>
                <a:gd name="T35" fmla="*/ 11 h 53"/>
                <a:gd name="T36" fmla="*/ 18 w 56"/>
                <a:gd name="T37" fmla="*/ 13 h 53"/>
                <a:gd name="T38" fmla="*/ 18 w 56"/>
                <a:gd name="T39" fmla="*/ 16 h 53"/>
                <a:gd name="T40" fmla="*/ 17 w 56"/>
                <a:gd name="T41" fmla="*/ 18 h 53"/>
                <a:gd name="T42" fmla="*/ 15 w 56"/>
                <a:gd name="T43" fmla="*/ 20 h 53"/>
                <a:gd name="T44" fmla="*/ 14 w 56"/>
                <a:gd name="T45" fmla="*/ 21 h 53"/>
                <a:gd name="T46" fmla="*/ 13 w 56"/>
                <a:gd name="T47" fmla="*/ 22 h 53"/>
                <a:gd name="T48" fmla="*/ 11 w 56"/>
                <a:gd name="T49" fmla="*/ 22 h 53"/>
                <a:gd name="T50" fmla="*/ 9 w 56"/>
                <a:gd name="T51" fmla="*/ 23 h 53"/>
                <a:gd name="T52" fmla="*/ 7 w 56"/>
                <a:gd name="T53" fmla="*/ 22 h 53"/>
                <a:gd name="T54" fmla="*/ 6 w 56"/>
                <a:gd name="T55" fmla="*/ 22 h 53"/>
                <a:gd name="T56" fmla="*/ 4 w 56"/>
                <a:gd name="T57" fmla="*/ 21 h 53"/>
                <a:gd name="T58" fmla="*/ 2 w 56"/>
                <a:gd name="T59" fmla="*/ 20 h 53"/>
                <a:gd name="T60" fmla="*/ 1 w 56"/>
                <a:gd name="T61" fmla="*/ 18 h 53"/>
                <a:gd name="T62" fmla="*/ 1 w 56"/>
                <a:gd name="T63" fmla="*/ 16 h 53"/>
                <a:gd name="T64" fmla="*/ 0 w 56"/>
                <a:gd name="T65" fmla="*/ 13 h 53"/>
                <a:gd name="T66" fmla="*/ 0 w 56"/>
                <a:gd name="T67" fmla="*/ 11 h 5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3"/>
                <a:gd name="T104" fmla="*/ 56 w 56"/>
                <a:gd name="T105" fmla="*/ 53 h 5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3">
                  <a:moveTo>
                    <a:pt x="0" y="26"/>
                  </a:move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6"/>
                  </a:lnTo>
                  <a:lnTo>
                    <a:pt x="13" y="3"/>
                  </a:lnTo>
                  <a:lnTo>
                    <a:pt x="18" y="1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9" y="1"/>
                  </a:lnTo>
                  <a:lnTo>
                    <a:pt x="44" y="3"/>
                  </a:lnTo>
                  <a:lnTo>
                    <a:pt x="48" y="6"/>
                  </a:lnTo>
                  <a:lnTo>
                    <a:pt x="51" y="11"/>
                  </a:lnTo>
                  <a:lnTo>
                    <a:pt x="55" y="15"/>
                  </a:lnTo>
                  <a:lnTo>
                    <a:pt x="55" y="20"/>
                  </a:lnTo>
                  <a:lnTo>
                    <a:pt x="56" y="26"/>
                  </a:lnTo>
                  <a:lnTo>
                    <a:pt x="55" y="31"/>
                  </a:lnTo>
                  <a:lnTo>
                    <a:pt x="55" y="36"/>
                  </a:lnTo>
                  <a:lnTo>
                    <a:pt x="51" y="41"/>
                  </a:lnTo>
                  <a:lnTo>
                    <a:pt x="48" y="45"/>
                  </a:lnTo>
                  <a:lnTo>
                    <a:pt x="44" y="48"/>
                  </a:lnTo>
                  <a:lnTo>
                    <a:pt x="39" y="50"/>
                  </a:lnTo>
                  <a:lnTo>
                    <a:pt x="34" y="51"/>
                  </a:lnTo>
                  <a:lnTo>
                    <a:pt x="28" y="53"/>
                  </a:lnTo>
                  <a:lnTo>
                    <a:pt x="23" y="51"/>
                  </a:lnTo>
                  <a:lnTo>
                    <a:pt x="18" y="50"/>
                  </a:lnTo>
                  <a:lnTo>
                    <a:pt x="13" y="48"/>
                  </a:lnTo>
                  <a:lnTo>
                    <a:pt x="7" y="45"/>
                  </a:lnTo>
                  <a:lnTo>
                    <a:pt x="4" y="41"/>
                  </a:lnTo>
                  <a:lnTo>
                    <a:pt x="2" y="36"/>
                  </a:lnTo>
                  <a:lnTo>
                    <a:pt x="0" y="3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67"/>
            <p:cNvSpPr>
              <a:spLocks/>
            </p:cNvSpPr>
            <p:nvPr/>
          </p:nvSpPr>
          <p:spPr bwMode="auto">
            <a:xfrm>
              <a:off x="2857" y="2000"/>
              <a:ext cx="33" cy="35"/>
            </a:xfrm>
            <a:custGeom>
              <a:avLst/>
              <a:gdLst>
                <a:gd name="T0" fmla="*/ 0 w 56"/>
                <a:gd name="T1" fmla="*/ 12 h 54"/>
                <a:gd name="T2" fmla="*/ 1 w 56"/>
                <a:gd name="T3" fmla="*/ 9 h 54"/>
                <a:gd name="T4" fmla="*/ 1 w 56"/>
                <a:gd name="T5" fmla="*/ 7 h 54"/>
                <a:gd name="T6" fmla="*/ 2 w 56"/>
                <a:gd name="T7" fmla="*/ 5 h 54"/>
                <a:gd name="T8" fmla="*/ 3 w 56"/>
                <a:gd name="T9" fmla="*/ 4 h 54"/>
                <a:gd name="T10" fmla="*/ 4 w 56"/>
                <a:gd name="T11" fmla="*/ 2 h 54"/>
                <a:gd name="T12" fmla="*/ 6 w 56"/>
                <a:gd name="T13" fmla="*/ 1 h 54"/>
                <a:gd name="T14" fmla="*/ 8 w 56"/>
                <a:gd name="T15" fmla="*/ 0 h 54"/>
                <a:gd name="T16" fmla="*/ 10 w 56"/>
                <a:gd name="T17" fmla="*/ 0 h 54"/>
                <a:gd name="T18" fmla="*/ 12 w 56"/>
                <a:gd name="T19" fmla="*/ 0 h 54"/>
                <a:gd name="T20" fmla="*/ 14 w 56"/>
                <a:gd name="T21" fmla="*/ 1 h 54"/>
                <a:gd name="T22" fmla="*/ 15 w 56"/>
                <a:gd name="T23" fmla="*/ 2 h 54"/>
                <a:gd name="T24" fmla="*/ 17 w 56"/>
                <a:gd name="T25" fmla="*/ 4 h 54"/>
                <a:gd name="T26" fmla="*/ 18 w 56"/>
                <a:gd name="T27" fmla="*/ 5 h 54"/>
                <a:gd name="T28" fmla="*/ 19 w 56"/>
                <a:gd name="T29" fmla="*/ 7 h 54"/>
                <a:gd name="T30" fmla="*/ 19 w 56"/>
                <a:gd name="T31" fmla="*/ 9 h 54"/>
                <a:gd name="T32" fmla="*/ 19 w 56"/>
                <a:gd name="T33" fmla="*/ 12 h 54"/>
                <a:gd name="T34" fmla="*/ 19 w 56"/>
                <a:gd name="T35" fmla="*/ 12 h 54"/>
                <a:gd name="T36" fmla="*/ 19 w 56"/>
                <a:gd name="T37" fmla="*/ 14 h 54"/>
                <a:gd name="T38" fmla="*/ 19 w 56"/>
                <a:gd name="T39" fmla="*/ 16 h 54"/>
                <a:gd name="T40" fmla="*/ 18 w 56"/>
                <a:gd name="T41" fmla="*/ 18 h 54"/>
                <a:gd name="T42" fmla="*/ 17 w 56"/>
                <a:gd name="T43" fmla="*/ 19 h 54"/>
                <a:gd name="T44" fmla="*/ 15 w 56"/>
                <a:gd name="T45" fmla="*/ 21 h 54"/>
                <a:gd name="T46" fmla="*/ 14 w 56"/>
                <a:gd name="T47" fmla="*/ 22 h 54"/>
                <a:gd name="T48" fmla="*/ 12 w 56"/>
                <a:gd name="T49" fmla="*/ 23 h 54"/>
                <a:gd name="T50" fmla="*/ 10 w 56"/>
                <a:gd name="T51" fmla="*/ 23 h 54"/>
                <a:gd name="T52" fmla="*/ 8 w 56"/>
                <a:gd name="T53" fmla="*/ 23 h 54"/>
                <a:gd name="T54" fmla="*/ 6 w 56"/>
                <a:gd name="T55" fmla="*/ 22 h 54"/>
                <a:gd name="T56" fmla="*/ 4 w 56"/>
                <a:gd name="T57" fmla="*/ 21 h 54"/>
                <a:gd name="T58" fmla="*/ 3 w 56"/>
                <a:gd name="T59" fmla="*/ 19 h 54"/>
                <a:gd name="T60" fmla="*/ 2 w 56"/>
                <a:gd name="T61" fmla="*/ 18 h 54"/>
                <a:gd name="T62" fmla="*/ 1 w 56"/>
                <a:gd name="T63" fmla="*/ 16 h 54"/>
                <a:gd name="T64" fmla="*/ 1 w 56"/>
                <a:gd name="T65" fmla="*/ 14 h 54"/>
                <a:gd name="T66" fmla="*/ 0 w 56"/>
                <a:gd name="T67" fmla="*/ 12 h 5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6"/>
                <a:gd name="T103" fmla="*/ 0 h 54"/>
                <a:gd name="T104" fmla="*/ 56 w 56"/>
                <a:gd name="T105" fmla="*/ 54 h 54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6" h="54">
                  <a:moveTo>
                    <a:pt x="0" y="27"/>
                  </a:moveTo>
                  <a:lnTo>
                    <a:pt x="2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8" y="9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40" y="2"/>
                  </a:lnTo>
                  <a:lnTo>
                    <a:pt x="43" y="5"/>
                  </a:lnTo>
                  <a:lnTo>
                    <a:pt x="49" y="9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2"/>
                  </a:lnTo>
                  <a:lnTo>
                    <a:pt x="56" y="27"/>
                  </a:lnTo>
                  <a:lnTo>
                    <a:pt x="56" y="32"/>
                  </a:lnTo>
                  <a:lnTo>
                    <a:pt x="54" y="37"/>
                  </a:lnTo>
                  <a:lnTo>
                    <a:pt x="52" y="42"/>
                  </a:lnTo>
                  <a:lnTo>
                    <a:pt x="49" y="46"/>
                  </a:lnTo>
                  <a:lnTo>
                    <a:pt x="43" y="49"/>
                  </a:lnTo>
                  <a:lnTo>
                    <a:pt x="40" y="52"/>
                  </a:lnTo>
                  <a:lnTo>
                    <a:pt x="35" y="54"/>
                  </a:lnTo>
                  <a:lnTo>
                    <a:pt x="28" y="54"/>
                  </a:lnTo>
                  <a:lnTo>
                    <a:pt x="22" y="54"/>
                  </a:lnTo>
                  <a:lnTo>
                    <a:pt x="17" y="52"/>
                  </a:lnTo>
                  <a:lnTo>
                    <a:pt x="12" y="49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3" y="37"/>
                  </a:lnTo>
                  <a:lnTo>
                    <a:pt x="2" y="32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Rectangle 268"/>
            <p:cNvSpPr>
              <a:spLocks noChangeArrowheads="1"/>
            </p:cNvSpPr>
            <p:nvPr/>
          </p:nvSpPr>
          <p:spPr bwMode="auto">
            <a:xfrm>
              <a:off x="3643" y="2300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+</a:t>
              </a:r>
              <a:endParaRPr lang="en-US" altLang="zh-CN"/>
            </a:p>
          </p:txBody>
        </p:sp>
        <p:sp>
          <p:nvSpPr>
            <p:cNvPr id="107" name="Rectangle 269"/>
            <p:cNvSpPr>
              <a:spLocks noChangeArrowheads="1"/>
            </p:cNvSpPr>
            <p:nvPr/>
          </p:nvSpPr>
          <p:spPr bwMode="auto">
            <a:xfrm>
              <a:off x="3643" y="2561"/>
              <a:ext cx="36" cy="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900">
                  <a:solidFill>
                    <a:srgbClr val="000000"/>
                  </a:solidFill>
                  <a:latin typeface="宋体" pitchFamily="2" charset="-122"/>
                </a:rPr>
                <a:t>-</a:t>
              </a:r>
              <a:endParaRPr lang="en-US" altLang="zh-CN"/>
            </a:p>
          </p:txBody>
        </p:sp>
        <p:sp>
          <p:nvSpPr>
            <p:cNvPr id="108" name="Rectangle 270"/>
            <p:cNvSpPr>
              <a:spLocks noChangeArrowheads="1"/>
            </p:cNvSpPr>
            <p:nvPr/>
          </p:nvSpPr>
          <p:spPr bwMode="auto">
            <a:xfrm>
              <a:off x="3720" y="2473"/>
              <a:ext cx="28" cy="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7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zh-CN"/>
            </a:p>
          </p:txBody>
        </p:sp>
        <p:sp>
          <p:nvSpPr>
            <p:cNvPr id="109" name="Rectangle 271"/>
            <p:cNvSpPr>
              <a:spLocks noChangeArrowheads="1"/>
            </p:cNvSpPr>
            <p:nvPr/>
          </p:nvSpPr>
          <p:spPr bwMode="auto">
            <a:xfrm>
              <a:off x="3678" y="2412"/>
              <a:ext cx="4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100" i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endParaRPr lang="en-US" altLang="zh-CN"/>
            </a:p>
          </p:txBody>
        </p:sp>
        <p:sp>
          <p:nvSpPr>
            <p:cNvPr id="110" name="Line 389"/>
            <p:cNvSpPr>
              <a:spLocks noChangeShapeType="1"/>
            </p:cNvSpPr>
            <p:nvPr/>
          </p:nvSpPr>
          <p:spPr bwMode="auto">
            <a:xfrm flipV="1">
              <a:off x="3455" y="2619"/>
              <a:ext cx="1" cy="3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Line 390"/>
            <p:cNvSpPr>
              <a:spLocks noChangeShapeType="1"/>
            </p:cNvSpPr>
            <p:nvPr/>
          </p:nvSpPr>
          <p:spPr bwMode="auto">
            <a:xfrm flipV="1">
              <a:off x="3470" y="2619"/>
              <a:ext cx="1" cy="3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91"/>
            <p:cNvSpPr>
              <a:spLocks/>
            </p:cNvSpPr>
            <p:nvPr/>
          </p:nvSpPr>
          <p:spPr bwMode="auto">
            <a:xfrm>
              <a:off x="2824" y="2183"/>
              <a:ext cx="101" cy="108"/>
            </a:xfrm>
            <a:custGeom>
              <a:avLst/>
              <a:gdLst>
                <a:gd name="T0" fmla="*/ 0 w 173"/>
                <a:gd name="T1" fmla="*/ 71 h 165"/>
                <a:gd name="T2" fmla="*/ 29 w 173"/>
                <a:gd name="T3" fmla="*/ 0 h 165"/>
                <a:gd name="T4" fmla="*/ 59 w 173"/>
                <a:gd name="T5" fmla="*/ 71 h 165"/>
                <a:gd name="T6" fmla="*/ 0 w 173"/>
                <a:gd name="T7" fmla="*/ 7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Line 392"/>
            <p:cNvSpPr>
              <a:spLocks noChangeShapeType="1"/>
            </p:cNvSpPr>
            <p:nvPr/>
          </p:nvSpPr>
          <p:spPr bwMode="auto">
            <a:xfrm flipH="1">
              <a:off x="2824" y="2183"/>
              <a:ext cx="10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93"/>
            <p:cNvSpPr>
              <a:spLocks/>
            </p:cNvSpPr>
            <p:nvPr/>
          </p:nvSpPr>
          <p:spPr bwMode="auto">
            <a:xfrm>
              <a:off x="2824" y="2183"/>
              <a:ext cx="101" cy="108"/>
            </a:xfrm>
            <a:custGeom>
              <a:avLst/>
              <a:gdLst>
                <a:gd name="T0" fmla="*/ 0 w 173"/>
                <a:gd name="T1" fmla="*/ 71 h 165"/>
                <a:gd name="T2" fmla="*/ 29 w 173"/>
                <a:gd name="T3" fmla="*/ 0 h 165"/>
                <a:gd name="T4" fmla="*/ 59 w 173"/>
                <a:gd name="T5" fmla="*/ 71 h 165"/>
                <a:gd name="T6" fmla="*/ 0 w 173"/>
                <a:gd name="T7" fmla="*/ 71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5"/>
                <a:gd name="T14" fmla="*/ 173 w 173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5">
                  <a:moveTo>
                    <a:pt x="0" y="165"/>
                  </a:moveTo>
                  <a:lnTo>
                    <a:pt x="86" y="0"/>
                  </a:lnTo>
                  <a:lnTo>
                    <a:pt x="173" y="165"/>
                  </a:lnTo>
                  <a:lnTo>
                    <a:pt x="0" y="165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Line 394"/>
            <p:cNvSpPr>
              <a:spLocks noChangeShapeType="1"/>
            </p:cNvSpPr>
            <p:nvPr/>
          </p:nvSpPr>
          <p:spPr bwMode="auto">
            <a:xfrm flipV="1">
              <a:off x="2874" y="2018"/>
              <a:ext cx="1" cy="43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95"/>
            <p:cNvSpPr>
              <a:spLocks/>
            </p:cNvSpPr>
            <p:nvPr/>
          </p:nvSpPr>
          <p:spPr bwMode="auto">
            <a:xfrm>
              <a:off x="2824" y="2183"/>
              <a:ext cx="101" cy="109"/>
            </a:xfrm>
            <a:custGeom>
              <a:avLst/>
              <a:gdLst>
                <a:gd name="T0" fmla="*/ 29 w 173"/>
                <a:gd name="T1" fmla="*/ 0 h 167"/>
                <a:gd name="T2" fmla="*/ 0 w 173"/>
                <a:gd name="T3" fmla="*/ 71 h 167"/>
                <a:gd name="T4" fmla="*/ 59 w 173"/>
                <a:gd name="T5" fmla="*/ 71 h 167"/>
                <a:gd name="T6" fmla="*/ 29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96"/>
            <p:cNvSpPr>
              <a:spLocks/>
            </p:cNvSpPr>
            <p:nvPr/>
          </p:nvSpPr>
          <p:spPr bwMode="auto">
            <a:xfrm>
              <a:off x="2824" y="2183"/>
              <a:ext cx="101" cy="109"/>
            </a:xfrm>
            <a:custGeom>
              <a:avLst/>
              <a:gdLst>
                <a:gd name="T0" fmla="*/ 29 w 173"/>
                <a:gd name="T1" fmla="*/ 0 h 167"/>
                <a:gd name="T2" fmla="*/ 0 w 173"/>
                <a:gd name="T3" fmla="*/ 71 h 167"/>
                <a:gd name="T4" fmla="*/ 59 w 173"/>
                <a:gd name="T5" fmla="*/ 71 h 167"/>
                <a:gd name="T6" fmla="*/ 29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Line 397"/>
            <p:cNvSpPr>
              <a:spLocks noChangeShapeType="1"/>
            </p:cNvSpPr>
            <p:nvPr/>
          </p:nvSpPr>
          <p:spPr bwMode="auto">
            <a:xfrm flipV="1">
              <a:off x="2874" y="2183"/>
              <a:ext cx="1" cy="10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Line 398"/>
            <p:cNvSpPr>
              <a:spLocks noChangeShapeType="1"/>
            </p:cNvSpPr>
            <p:nvPr/>
          </p:nvSpPr>
          <p:spPr bwMode="auto">
            <a:xfrm flipH="1">
              <a:off x="2824" y="2183"/>
              <a:ext cx="1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399"/>
            <p:cNvSpPr>
              <a:spLocks/>
            </p:cNvSpPr>
            <p:nvPr/>
          </p:nvSpPr>
          <p:spPr bwMode="auto">
            <a:xfrm>
              <a:off x="3210" y="2184"/>
              <a:ext cx="100" cy="107"/>
            </a:xfrm>
            <a:custGeom>
              <a:avLst/>
              <a:gdLst>
                <a:gd name="T0" fmla="*/ 0 w 171"/>
                <a:gd name="T1" fmla="*/ 70 h 164"/>
                <a:gd name="T2" fmla="*/ 29 w 171"/>
                <a:gd name="T3" fmla="*/ 0 h 164"/>
                <a:gd name="T4" fmla="*/ 58 w 171"/>
                <a:gd name="T5" fmla="*/ 70 h 164"/>
                <a:gd name="T6" fmla="*/ 0 w 171"/>
                <a:gd name="T7" fmla="*/ 70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Line 400"/>
            <p:cNvSpPr>
              <a:spLocks noChangeShapeType="1"/>
            </p:cNvSpPr>
            <p:nvPr/>
          </p:nvSpPr>
          <p:spPr bwMode="auto">
            <a:xfrm flipH="1">
              <a:off x="3210" y="2184"/>
              <a:ext cx="10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01"/>
            <p:cNvSpPr>
              <a:spLocks/>
            </p:cNvSpPr>
            <p:nvPr/>
          </p:nvSpPr>
          <p:spPr bwMode="auto">
            <a:xfrm>
              <a:off x="3210" y="2184"/>
              <a:ext cx="100" cy="107"/>
            </a:xfrm>
            <a:custGeom>
              <a:avLst/>
              <a:gdLst>
                <a:gd name="T0" fmla="*/ 0 w 171"/>
                <a:gd name="T1" fmla="*/ 70 h 164"/>
                <a:gd name="T2" fmla="*/ 29 w 171"/>
                <a:gd name="T3" fmla="*/ 0 h 164"/>
                <a:gd name="T4" fmla="*/ 58 w 171"/>
                <a:gd name="T5" fmla="*/ 70 h 164"/>
                <a:gd name="T6" fmla="*/ 0 w 171"/>
                <a:gd name="T7" fmla="*/ 70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4"/>
                <a:gd name="T14" fmla="*/ 171 w 171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4">
                  <a:moveTo>
                    <a:pt x="0" y="164"/>
                  </a:moveTo>
                  <a:lnTo>
                    <a:pt x="86" y="0"/>
                  </a:lnTo>
                  <a:lnTo>
                    <a:pt x="171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Line 402"/>
            <p:cNvSpPr>
              <a:spLocks noChangeShapeType="1"/>
            </p:cNvSpPr>
            <p:nvPr/>
          </p:nvSpPr>
          <p:spPr bwMode="auto">
            <a:xfrm flipV="1">
              <a:off x="3260" y="2018"/>
              <a:ext cx="1" cy="43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03"/>
            <p:cNvSpPr>
              <a:spLocks/>
            </p:cNvSpPr>
            <p:nvPr/>
          </p:nvSpPr>
          <p:spPr bwMode="auto">
            <a:xfrm>
              <a:off x="3210" y="2183"/>
              <a:ext cx="100" cy="109"/>
            </a:xfrm>
            <a:custGeom>
              <a:avLst/>
              <a:gdLst>
                <a:gd name="T0" fmla="*/ 29 w 171"/>
                <a:gd name="T1" fmla="*/ 0 h 167"/>
                <a:gd name="T2" fmla="*/ 0 w 171"/>
                <a:gd name="T3" fmla="*/ 71 h 167"/>
                <a:gd name="T4" fmla="*/ 58 w 171"/>
                <a:gd name="T5" fmla="*/ 71 h 167"/>
                <a:gd name="T6" fmla="*/ 29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04"/>
            <p:cNvSpPr>
              <a:spLocks/>
            </p:cNvSpPr>
            <p:nvPr/>
          </p:nvSpPr>
          <p:spPr bwMode="auto">
            <a:xfrm>
              <a:off x="3210" y="2183"/>
              <a:ext cx="100" cy="109"/>
            </a:xfrm>
            <a:custGeom>
              <a:avLst/>
              <a:gdLst>
                <a:gd name="T0" fmla="*/ 29 w 171"/>
                <a:gd name="T1" fmla="*/ 0 h 167"/>
                <a:gd name="T2" fmla="*/ 0 w 171"/>
                <a:gd name="T3" fmla="*/ 71 h 167"/>
                <a:gd name="T4" fmla="*/ 58 w 171"/>
                <a:gd name="T5" fmla="*/ 71 h 167"/>
                <a:gd name="T6" fmla="*/ 29 w 171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7"/>
                <a:gd name="T14" fmla="*/ 171 w 171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7">
                  <a:moveTo>
                    <a:pt x="86" y="0"/>
                  </a:moveTo>
                  <a:lnTo>
                    <a:pt x="0" y="167"/>
                  </a:lnTo>
                  <a:lnTo>
                    <a:pt x="171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Line 405"/>
            <p:cNvSpPr>
              <a:spLocks noChangeShapeType="1"/>
            </p:cNvSpPr>
            <p:nvPr/>
          </p:nvSpPr>
          <p:spPr bwMode="auto">
            <a:xfrm flipV="1">
              <a:off x="3260" y="2183"/>
              <a:ext cx="1" cy="10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Line 406"/>
            <p:cNvSpPr>
              <a:spLocks noChangeShapeType="1"/>
            </p:cNvSpPr>
            <p:nvPr/>
          </p:nvSpPr>
          <p:spPr bwMode="auto">
            <a:xfrm flipH="1">
              <a:off x="3210" y="2183"/>
              <a:ext cx="10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07"/>
            <p:cNvSpPr>
              <a:spLocks/>
            </p:cNvSpPr>
            <p:nvPr/>
          </p:nvSpPr>
          <p:spPr bwMode="auto">
            <a:xfrm>
              <a:off x="3693" y="2198"/>
              <a:ext cx="100" cy="107"/>
            </a:xfrm>
            <a:custGeom>
              <a:avLst/>
              <a:gdLst>
                <a:gd name="T0" fmla="*/ 0 w 173"/>
                <a:gd name="T1" fmla="*/ 0 h 166"/>
                <a:gd name="T2" fmla="*/ 58 w 173"/>
                <a:gd name="T3" fmla="*/ 34 h 166"/>
                <a:gd name="T4" fmla="*/ 0 w 173"/>
                <a:gd name="T5" fmla="*/ 69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Line 408"/>
            <p:cNvSpPr>
              <a:spLocks noChangeShapeType="1"/>
            </p:cNvSpPr>
            <p:nvPr/>
          </p:nvSpPr>
          <p:spPr bwMode="auto">
            <a:xfrm flipV="1">
              <a:off x="3793" y="2198"/>
              <a:ext cx="1" cy="10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409"/>
            <p:cNvSpPr>
              <a:spLocks/>
            </p:cNvSpPr>
            <p:nvPr/>
          </p:nvSpPr>
          <p:spPr bwMode="auto">
            <a:xfrm>
              <a:off x="3693" y="2198"/>
              <a:ext cx="100" cy="107"/>
            </a:xfrm>
            <a:custGeom>
              <a:avLst/>
              <a:gdLst>
                <a:gd name="T0" fmla="*/ 0 w 173"/>
                <a:gd name="T1" fmla="*/ 0 h 166"/>
                <a:gd name="T2" fmla="*/ 58 w 173"/>
                <a:gd name="T3" fmla="*/ 34 h 166"/>
                <a:gd name="T4" fmla="*/ 0 w 173"/>
                <a:gd name="T5" fmla="*/ 69 h 166"/>
                <a:gd name="T6" fmla="*/ 0 w 17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0"/>
                  </a:moveTo>
                  <a:lnTo>
                    <a:pt x="173" y="82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Line 410"/>
            <p:cNvSpPr>
              <a:spLocks noChangeShapeType="1"/>
            </p:cNvSpPr>
            <p:nvPr/>
          </p:nvSpPr>
          <p:spPr bwMode="auto">
            <a:xfrm>
              <a:off x="3539" y="2252"/>
              <a:ext cx="407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411"/>
            <p:cNvSpPr>
              <a:spLocks/>
            </p:cNvSpPr>
            <p:nvPr/>
          </p:nvSpPr>
          <p:spPr bwMode="auto">
            <a:xfrm>
              <a:off x="3692" y="2198"/>
              <a:ext cx="102" cy="107"/>
            </a:xfrm>
            <a:custGeom>
              <a:avLst/>
              <a:gdLst>
                <a:gd name="T0" fmla="*/ 59 w 177"/>
                <a:gd name="T1" fmla="*/ 34 h 166"/>
                <a:gd name="T2" fmla="*/ 0 w 177"/>
                <a:gd name="T3" fmla="*/ 0 h 166"/>
                <a:gd name="T4" fmla="*/ 0 w 177"/>
                <a:gd name="T5" fmla="*/ 69 h 166"/>
                <a:gd name="T6" fmla="*/ 59 w 177"/>
                <a:gd name="T7" fmla="*/ 34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412"/>
            <p:cNvSpPr>
              <a:spLocks/>
            </p:cNvSpPr>
            <p:nvPr/>
          </p:nvSpPr>
          <p:spPr bwMode="auto">
            <a:xfrm>
              <a:off x="3692" y="2198"/>
              <a:ext cx="102" cy="107"/>
            </a:xfrm>
            <a:custGeom>
              <a:avLst/>
              <a:gdLst>
                <a:gd name="T0" fmla="*/ 59 w 177"/>
                <a:gd name="T1" fmla="*/ 34 h 166"/>
                <a:gd name="T2" fmla="*/ 0 w 177"/>
                <a:gd name="T3" fmla="*/ 0 h 166"/>
                <a:gd name="T4" fmla="*/ 0 w 177"/>
                <a:gd name="T5" fmla="*/ 69 h 166"/>
                <a:gd name="T6" fmla="*/ 59 w 177"/>
                <a:gd name="T7" fmla="*/ 34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166"/>
                <a:gd name="T14" fmla="*/ 177 w 177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166">
                  <a:moveTo>
                    <a:pt x="177" y="82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7" y="82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Line 413"/>
            <p:cNvSpPr>
              <a:spLocks noChangeShapeType="1"/>
            </p:cNvSpPr>
            <p:nvPr/>
          </p:nvSpPr>
          <p:spPr bwMode="auto">
            <a:xfrm>
              <a:off x="3692" y="2252"/>
              <a:ext cx="102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Line 414"/>
            <p:cNvSpPr>
              <a:spLocks noChangeShapeType="1"/>
            </p:cNvSpPr>
            <p:nvPr/>
          </p:nvSpPr>
          <p:spPr bwMode="auto">
            <a:xfrm flipV="1">
              <a:off x="3794" y="2198"/>
              <a:ext cx="1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415"/>
            <p:cNvSpPr>
              <a:spLocks/>
            </p:cNvSpPr>
            <p:nvPr/>
          </p:nvSpPr>
          <p:spPr bwMode="auto">
            <a:xfrm>
              <a:off x="2824" y="3005"/>
              <a:ext cx="101" cy="107"/>
            </a:xfrm>
            <a:custGeom>
              <a:avLst/>
              <a:gdLst>
                <a:gd name="T0" fmla="*/ 0 w 173"/>
                <a:gd name="T1" fmla="*/ 70 h 164"/>
                <a:gd name="T2" fmla="*/ 29 w 173"/>
                <a:gd name="T3" fmla="*/ 0 h 164"/>
                <a:gd name="T4" fmla="*/ 59 w 173"/>
                <a:gd name="T5" fmla="*/ 70 h 164"/>
                <a:gd name="T6" fmla="*/ 0 w 173"/>
                <a:gd name="T7" fmla="*/ 70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Line 416"/>
            <p:cNvSpPr>
              <a:spLocks noChangeShapeType="1"/>
            </p:cNvSpPr>
            <p:nvPr/>
          </p:nvSpPr>
          <p:spPr bwMode="auto">
            <a:xfrm flipH="1">
              <a:off x="2824" y="3005"/>
              <a:ext cx="101" cy="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Freeform 417"/>
            <p:cNvSpPr>
              <a:spLocks/>
            </p:cNvSpPr>
            <p:nvPr/>
          </p:nvSpPr>
          <p:spPr bwMode="auto">
            <a:xfrm>
              <a:off x="2824" y="3005"/>
              <a:ext cx="101" cy="107"/>
            </a:xfrm>
            <a:custGeom>
              <a:avLst/>
              <a:gdLst>
                <a:gd name="T0" fmla="*/ 0 w 173"/>
                <a:gd name="T1" fmla="*/ 70 h 164"/>
                <a:gd name="T2" fmla="*/ 29 w 173"/>
                <a:gd name="T3" fmla="*/ 0 h 164"/>
                <a:gd name="T4" fmla="*/ 59 w 173"/>
                <a:gd name="T5" fmla="*/ 70 h 164"/>
                <a:gd name="T6" fmla="*/ 0 w 173"/>
                <a:gd name="T7" fmla="*/ 70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4"/>
                <a:gd name="T14" fmla="*/ 173 w 17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4">
                  <a:moveTo>
                    <a:pt x="0" y="164"/>
                  </a:moveTo>
                  <a:lnTo>
                    <a:pt x="86" y="0"/>
                  </a:lnTo>
                  <a:lnTo>
                    <a:pt x="173" y="164"/>
                  </a:lnTo>
                  <a:lnTo>
                    <a:pt x="0" y="164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Line 418"/>
            <p:cNvSpPr>
              <a:spLocks noChangeShapeType="1"/>
            </p:cNvSpPr>
            <p:nvPr/>
          </p:nvSpPr>
          <p:spPr bwMode="auto">
            <a:xfrm flipV="1">
              <a:off x="2874" y="2839"/>
              <a:ext cx="1" cy="43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419"/>
            <p:cNvSpPr>
              <a:spLocks/>
            </p:cNvSpPr>
            <p:nvPr/>
          </p:nvSpPr>
          <p:spPr bwMode="auto">
            <a:xfrm>
              <a:off x="2824" y="3004"/>
              <a:ext cx="101" cy="110"/>
            </a:xfrm>
            <a:custGeom>
              <a:avLst/>
              <a:gdLst>
                <a:gd name="T0" fmla="*/ 29 w 173"/>
                <a:gd name="T1" fmla="*/ 0 h 167"/>
                <a:gd name="T2" fmla="*/ 0 w 173"/>
                <a:gd name="T3" fmla="*/ 72 h 167"/>
                <a:gd name="T4" fmla="*/ 59 w 173"/>
                <a:gd name="T5" fmla="*/ 72 h 167"/>
                <a:gd name="T6" fmla="*/ 29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420"/>
            <p:cNvSpPr>
              <a:spLocks/>
            </p:cNvSpPr>
            <p:nvPr/>
          </p:nvSpPr>
          <p:spPr bwMode="auto">
            <a:xfrm>
              <a:off x="2824" y="3004"/>
              <a:ext cx="101" cy="110"/>
            </a:xfrm>
            <a:custGeom>
              <a:avLst/>
              <a:gdLst>
                <a:gd name="T0" fmla="*/ 29 w 173"/>
                <a:gd name="T1" fmla="*/ 0 h 167"/>
                <a:gd name="T2" fmla="*/ 0 w 173"/>
                <a:gd name="T3" fmla="*/ 72 h 167"/>
                <a:gd name="T4" fmla="*/ 59 w 173"/>
                <a:gd name="T5" fmla="*/ 72 h 167"/>
                <a:gd name="T6" fmla="*/ 29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6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6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Line 421"/>
            <p:cNvSpPr>
              <a:spLocks noChangeShapeType="1"/>
            </p:cNvSpPr>
            <p:nvPr/>
          </p:nvSpPr>
          <p:spPr bwMode="auto">
            <a:xfrm flipV="1">
              <a:off x="2874" y="3004"/>
              <a:ext cx="1" cy="110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Line 422"/>
            <p:cNvSpPr>
              <a:spLocks noChangeShapeType="1"/>
            </p:cNvSpPr>
            <p:nvPr/>
          </p:nvSpPr>
          <p:spPr bwMode="auto">
            <a:xfrm flipH="1">
              <a:off x="2824" y="3004"/>
              <a:ext cx="10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423"/>
            <p:cNvSpPr>
              <a:spLocks/>
            </p:cNvSpPr>
            <p:nvPr/>
          </p:nvSpPr>
          <p:spPr bwMode="auto">
            <a:xfrm>
              <a:off x="3237" y="3007"/>
              <a:ext cx="100" cy="107"/>
            </a:xfrm>
            <a:custGeom>
              <a:avLst/>
              <a:gdLst>
                <a:gd name="T0" fmla="*/ 0 w 173"/>
                <a:gd name="T1" fmla="*/ 69 h 166"/>
                <a:gd name="T2" fmla="*/ 29 w 173"/>
                <a:gd name="T3" fmla="*/ 0 h 166"/>
                <a:gd name="T4" fmla="*/ 58 w 173"/>
                <a:gd name="T5" fmla="*/ 69 h 166"/>
                <a:gd name="T6" fmla="*/ 0 w 173"/>
                <a:gd name="T7" fmla="*/ 69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Line 424"/>
            <p:cNvSpPr>
              <a:spLocks noChangeShapeType="1"/>
            </p:cNvSpPr>
            <p:nvPr/>
          </p:nvSpPr>
          <p:spPr bwMode="auto">
            <a:xfrm flipH="1">
              <a:off x="3237" y="3007"/>
              <a:ext cx="100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425"/>
            <p:cNvSpPr>
              <a:spLocks/>
            </p:cNvSpPr>
            <p:nvPr/>
          </p:nvSpPr>
          <p:spPr bwMode="auto">
            <a:xfrm>
              <a:off x="3237" y="3007"/>
              <a:ext cx="100" cy="107"/>
            </a:xfrm>
            <a:custGeom>
              <a:avLst/>
              <a:gdLst>
                <a:gd name="T0" fmla="*/ 0 w 173"/>
                <a:gd name="T1" fmla="*/ 69 h 166"/>
                <a:gd name="T2" fmla="*/ 29 w 173"/>
                <a:gd name="T3" fmla="*/ 0 h 166"/>
                <a:gd name="T4" fmla="*/ 58 w 173"/>
                <a:gd name="T5" fmla="*/ 69 h 166"/>
                <a:gd name="T6" fmla="*/ 0 w 173"/>
                <a:gd name="T7" fmla="*/ 69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6"/>
                <a:gd name="T14" fmla="*/ 173 w 173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6">
                  <a:moveTo>
                    <a:pt x="0" y="166"/>
                  </a:moveTo>
                  <a:lnTo>
                    <a:pt x="88" y="0"/>
                  </a:lnTo>
                  <a:lnTo>
                    <a:pt x="173" y="166"/>
                  </a:lnTo>
                  <a:lnTo>
                    <a:pt x="0" y="166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Line 426"/>
            <p:cNvSpPr>
              <a:spLocks noChangeShapeType="1"/>
            </p:cNvSpPr>
            <p:nvPr/>
          </p:nvSpPr>
          <p:spPr bwMode="auto">
            <a:xfrm flipV="1">
              <a:off x="3287" y="2841"/>
              <a:ext cx="1" cy="438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427"/>
            <p:cNvSpPr>
              <a:spLocks/>
            </p:cNvSpPr>
            <p:nvPr/>
          </p:nvSpPr>
          <p:spPr bwMode="auto">
            <a:xfrm>
              <a:off x="3237" y="3005"/>
              <a:ext cx="100" cy="109"/>
            </a:xfrm>
            <a:custGeom>
              <a:avLst/>
              <a:gdLst>
                <a:gd name="T0" fmla="*/ 29 w 173"/>
                <a:gd name="T1" fmla="*/ 0 h 167"/>
                <a:gd name="T2" fmla="*/ 0 w 173"/>
                <a:gd name="T3" fmla="*/ 71 h 167"/>
                <a:gd name="T4" fmla="*/ 58 w 173"/>
                <a:gd name="T5" fmla="*/ 71 h 167"/>
                <a:gd name="T6" fmla="*/ 29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428"/>
            <p:cNvSpPr>
              <a:spLocks/>
            </p:cNvSpPr>
            <p:nvPr/>
          </p:nvSpPr>
          <p:spPr bwMode="auto">
            <a:xfrm>
              <a:off x="3237" y="3005"/>
              <a:ext cx="100" cy="109"/>
            </a:xfrm>
            <a:custGeom>
              <a:avLst/>
              <a:gdLst>
                <a:gd name="T0" fmla="*/ 29 w 173"/>
                <a:gd name="T1" fmla="*/ 0 h 167"/>
                <a:gd name="T2" fmla="*/ 0 w 173"/>
                <a:gd name="T3" fmla="*/ 71 h 167"/>
                <a:gd name="T4" fmla="*/ 58 w 173"/>
                <a:gd name="T5" fmla="*/ 71 h 167"/>
                <a:gd name="T6" fmla="*/ 29 w 173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167"/>
                <a:gd name="T14" fmla="*/ 173 w 173"/>
                <a:gd name="T15" fmla="*/ 167 h 16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167">
                  <a:moveTo>
                    <a:pt x="88" y="0"/>
                  </a:moveTo>
                  <a:lnTo>
                    <a:pt x="0" y="167"/>
                  </a:lnTo>
                  <a:lnTo>
                    <a:pt x="173" y="167"/>
                  </a:lnTo>
                  <a:lnTo>
                    <a:pt x="88" y="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Line 429"/>
            <p:cNvSpPr>
              <a:spLocks noChangeShapeType="1"/>
            </p:cNvSpPr>
            <p:nvPr/>
          </p:nvSpPr>
          <p:spPr bwMode="auto">
            <a:xfrm flipV="1">
              <a:off x="3287" y="3005"/>
              <a:ext cx="1" cy="10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Line 430"/>
            <p:cNvSpPr>
              <a:spLocks noChangeShapeType="1"/>
            </p:cNvSpPr>
            <p:nvPr/>
          </p:nvSpPr>
          <p:spPr bwMode="auto">
            <a:xfrm flipH="1">
              <a:off x="3237" y="3005"/>
              <a:ext cx="100" cy="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Freeform 439"/>
            <p:cNvSpPr>
              <a:spLocks/>
            </p:cNvSpPr>
            <p:nvPr/>
          </p:nvSpPr>
          <p:spPr bwMode="auto">
            <a:xfrm>
              <a:off x="3697" y="2963"/>
              <a:ext cx="99" cy="109"/>
            </a:xfrm>
            <a:custGeom>
              <a:avLst/>
              <a:gdLst>
                <a:gd name="T0" fmla="*/ 0 w 171"/>
                <a:gd name="T1" fmla="*/ 0 h 166"/>
                <a:gd name="T2" fmla="*/ 57 w 171"/>
                <a:gd name="T3" fmla="*/ 36 h 166"/>
                <a:gd name="T4" fmla="*/ 0 w 171"/>
                <a:gd name="T5" fmla="*/ 72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Line 440"/>
            <p:cNvSpPr>
              <a:spLocks noChangeShapeType="1"/>
            </p:cNvSpPr>
            <p:nvPr/>
          </p:nvSpPr>
          <p:spPr bwMode="auto">
            <a:xfrm flipV="1">
              <a:off x="3796" y="2963"/>
              <a:ext cx="2" cy="109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Freeform 441"/>
            <p:cNvSpPr>
              <a:spLocks/>
            </p:cNvSpPr>
            <p:nvPr/>
          </p:nvSpPr>
          <p:spPr bwMode="auto">
            <a:xfrm>
              <a:off x="3697" y="2963"/>
              <a:ext cx="99" cy="109"/>
            </a:xfrm>
            <a:custGeom>
              <a:avLst/>
              <a:gdLst>
                <a:gd name="T0" fmla="*/ 0 w 171"/>
                <a:gd name="T1" fmla="*/ 0 h 166"/>
                <a:gd name="T2" fmla="*/ 57 w 171"/>
                <a:gd name="T3" fmla="*/ 36 h 166"/>
                <a:gd name="T4" fmla="*/ 0 w 171"/>
                <a:gd name="T5" fmla="*/ 72 h 166"/>
                <a:gd name="T6" fmla="*/ 0 w 171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1"/>
                <a:gd name="T13" fmla="*/ 0 h 166"/>
                <a:gd name="T14" fmla="*/ 171 w 171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1" h="166">
                  <a:moveTo>
                    <a:pt x="0" y="0"/>
                  </a:moveTo>
                  <a:lnTo>
                    <a:pt x="171" y="84"/>
                  </a:lnTo>
                  <a:lnTo>
                    <a:pt x="0" y="16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Line 442"/>
            <p:cNvSpPr>
              <a:spLocks noChangeShapeType="1"/>
            </p:cNvSpPr>
            <p:nvPr/>
          </p:nvSpPr>
          <p:spPr bwMode="auto">
            <a:xfrm>
              <a:off x="3543" y="3018"/>
              <a:ext cx="408" cy="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Freeform 443"/>
            <p:cNvSpPr>
              <a:spLocks/>
            </p:cNvSpPr>
            <p:nvPr/>
          </p:nvSpPr>
          <p:spPr bwMode="auto">
            <a:xfrm>
              <a:off x="3697" y="2963"/>
              <a:ext cx="101" cy="109"/>
            </a:xfrm>
            <a:custGeom>
              <a:avLst/>
              <a:gdLst>
                <a:gd name="T0" fmla="*/ 58 w 175"/>
                <a:gd name="T1" fmla="*/ 36 h 166"/>
                <a:gd name="T2" fmla="*/ 0 w 175"/>
                <a:gd name="T3" fmla="*/ 0 h 166"/>
                <a:gd name="T4" fmla="*/ 0 w 175"/>
                <a:gd name="T5" fmla="*/ 72 h 166"/>
                <a:gd name="T6" fmla="*/ 58 w 175"/>
                <a:gd name="T7" fmla="*/ 36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Freeform 444"/>
            <p:cNvSpPr>
              <a:spLocks/>
            </p:cNvSpPr>
            <p:nvPr/>
          </p:nvSpPr>
          <p:spPr bwMode="auto">
            <a:xfrm>
              <a:off x="3697" y="2963"/>
              <a:ext cx="101" cy="109"/>
            </a:xfrm>
            <a:custGeom>
              <a:avLst/>
              <a:gdLst>
                <a:gd name="T0" fmla="*/ 58 w 175"/>
                <a:gd name="T1" fmla="*/ 36 h 166"/>
                <a:gd name="T2" fmla="*/ 0 w 175"/>
                <a:gd name="T3" fmla="*/ 0 h 166"/>
                <a:gd name="T4" fmla="*/ 0 w 175"/>
                <a:gd name="T5" fmla="*/ 72 h 166"/>
                <a:gd name="T6" fmla="*/ 58 w 175"/>
                <a:gd name="T7" fmla="*/ 36 h 1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166"/>
                <a:gd name="T14" fmla="*/ 175 w 175"/>
                <a:gd name="T15" fmla="*/ 166 h 1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166">
                  <a:moveTo>
                    <a:pt x="175" y="84"/>
                  </a:moveTo>
                  <a:lnTo>
                    <a:pt x="0" y="0"/>
                  </a:lnTo>
                  <a:lnTo>
                    <a:pt x="0" y="166"/>
                  </a:lnTo>
                  <a:lnTo>
                    <a:pt x="175" y="84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Line 445"/>
            <p:cNvSpPr>
              <a:spLocks noChangeShapeType="1"/>
            </p:cNvSpPr>
            <p:nvPr/>
          </p:nvSpPr>
          <p:spPr bwMode="auto">
            <a:xfrm>
              <a:off x="3697" y="3018"/>
              <a:ext cx="101" cy="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" name="Line 446"/>
            <p:cNvSpPr>
              <a:spLocks noChangeShapeType="1"/>
            </p:cNvSpPr>
            <p:nvPr/>
          </p:nvSpPr>
          <p:spPr bwMode="auto">
            <a:xfrm flipV="1">
              <a:off x="3798" y="2963"/>
              <a:ext cx="1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0" name="Rectangle 535"/>
            <p:cNvSpPr>
              <a:spLocks noChangeArrowheads="1"/>
            </p:cNvSpPr>
            <p:nvPr/>
          </p:nvSpPr>
          <p:spPr bwMode="auto">
            <a:xfrm>
              <a:off x="4232" y="2303"/>
              <a:ext cx="4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200" i="1">
                  <a:solidFill>
                    <a:srgbClr val="000000"/>
                  </a:solidFill>
                  <a:latin typeface="宋体" pitchFamily="2" charset="-122"/>
                </a:rPr>
                <a:t>L</a:t>
              </a:r>
              <a:endParaRPr lang="en-US" altLang="zh-CN" sz="1200"/>
            </a:p>
          </p:txBody>
        </p:sp>
        <p:sp>
          <p:nvSpPr>
            <p:cNvPr id="161" name="Rectangle 632"/>
            <p:cNvSpPr>
              <a:spLocks noChangeArrowheads="1"/>
            </p:cNvSpPr>
            <p:nvPr/>
          </p:nvSpPr>
          <p:spPr bwMode="auto">
            <a:xfrm>
              <a:off x="3969" y="2297"/>
              <a:ext cx="93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oi</a:t>
              </a:r>
            </a:p>
            <a:p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162" name="Rectangle 633"/>
            <p:cNvSpPr>
              <a:spLocks noChangeArrowheads="1"/>
            </p:cNvSpPr>
            <p:nvPr/>
          </p:nvSpPr>
          <p:spPr bwMode="auto">
            <a:xfrm>
              <a:off x="2336" y="2124"/>
              <a:ext cx="122" cy="10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d</a:t>
              </a:r>
            </a:p>
            <a:p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endParaRPr lang="en-US" altLang="zh-CN" sz="1600" i="1">
                <a:solidFill>
                  <a:srgbClr val="000000"/>
                </a:solidFill>
                <a:latin typeface="Times New Roman" pitchFamily="18" charset="0"/>
              </a:endParaRPr>
            </a:p>
            <a:p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163" name="Rectangle 634"/>
            <p:cNvSpPr>
              <a:spLocks noChangeArrowheads="1"/>
            </p:cNvSpPr>
            <p:nvPr/>
          </p:nvSpPr>
          <p:spPr bwMode="auto">
            <a:xfrm>
              <a:off x="4786" y="2161"/>
              <a:ext cx="122" cy="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600" i="1" baseline="-25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</a:p>
            <a:p>
              <a:r>
                <a:rPr lang="en-US" altLang="zh-CN" sz="16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600"/>
            </a:p>
          </p:txBody>
        </p:sp>
        <p:sp>
          <p:nvSpPr>
            <p:cNvPr id="164" name="Rectangle 643"/>
            <p:cNvSpPr>
              <a:spLocks noChangeArrowheads="1"/>
            </p:cNvSpPr>
            <p:nvPr/>
          </p:nvSpPr>
          <p:spPr bwMode="auto">
            <a:xfrm>
              <a:off x="3198" y="2433"/>
              <a:ext cx="75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+</a:t>
              </a:r>
            </a:p>
            <a:p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v</a:t>
              </a:r>
              <a:r>
                <a:rPr lang="en-US" altLang="zh-CN" sz="1200" i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</a:p>
            <a:p>
              <a:r>
                <a:rPr lang="en-US" altLang="zh-CN" sz="1200" i="1">
                  <a:solidFill>
                    <a:srgbClr val="000000"/>
                  </a:solidFill>
                  <a:latin typeface="Times New Roman" pitchFamily="18" charset="0"/>
                </a:rPr>
                <a:t>-</a:t>
              </a:r>
              <a:endParaRPr lang="en-US" altLang="zh-CN" sz="1200"/>
            </a:p>
          </p:txBody>
        </p:sp>
        <p:sp>
          <p:nvSpPr>
            <p:cNvPr id="165" name="Rectangle 816"/>
            <p:cNvSpPr>
              <a:spLocks noChangeArrowheads="1"/>
            </p:cNvSpPr>
            <p:nvPr/>
          </p:nvSpPr>
          <p:spPr bwMode="auto">
            <a:xfrm>
              <a:off x="2925" y="2976"/>
              <a:ext cx="12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166" name="Rectangle 817"/>
            <p:cNvSpPr>
              <a:spLocks noChangeArrowheads="1"/>
            </p:cNvSpPr>
            <p:nvPr/>
          </p:nvSpPr>
          <p:spPr bwMode="auto">
            <a:xfrm>
              <a:off x="2925" y="2160"/>
              <a:ext cx="12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167" name="Rectangle 818"/>
            <p:cNvSpPr>
              <a:spLocks noChangeArrowheads="1"/>
            </p:cNvSpPr>
            <p:nvPr/>
          </p:nvSpPr>
          <p:spPr bwMode="auto">
            <a:xfrm>
              <a:off x="2517" y="2976"/>
              <a:ext cx="12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pitchFamily="2" charset="-122"/>
                  <a:cs typeface="+mn-cs"/>
                </a:defRPr>
              </a:lvl9pPr>
            </a:lstStyle>
            <a:p>
              <a:r>
                <a:rPr lang="en-US" altLang="zh-CN" sz="160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aphicFrame>
        <p:nvGraphicFramePr>
          <p:cNvPr id="232450" name="Object 233"/>
          <p:cNvGraphicFramePr>
            <a:graphicFrameLocks noChangeAspect="1"/>
          </p:cNvGraphicFramePr>
          <p:nvPr/>
        </p:nvGraphicFramePr>
        <p:xfrm>
          <a:off x="2195736" y="4797152"/>
          <a:ext cx="4392488" cy="847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62" r:id="rId3" imgW="1739880" imgH="431640" progId="Equation.3">
                  <p:embed/>
                </p:oleObj>
              </mc:Choice>
              <mc:Fallback>
                <p:oleObj r:id="rId3" imgW="1739880" imgH="431640" progId="Equation.3">
                  <p:embed/>
                  <p:pic>
                    <p:nvPicPr>
                      <p:cNvPr id="0" name="Object 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4797152"/>
                        <a:ext cx="4392488" cy="8478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" name="矩形 168"/>
          <p:cNvSpPr/>
          <p:nvPr/>
        </p:nvSpPr>
        <p:spPr>
          <a:xfrm>
            <a:off x="0" y="2060848"/>
            <a:ext cx="1441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A50021"/>
                </a:solidFill>
              </a:rPr>
              <a:t>Solution 3:</a:t>
            </a:r>
            <a:r>
              <a:rPr lang="en-US" altLang="zh-CN" dirty="0" smtClean="0">
                <a:solidFill>
                  <a:srgbClr val="A50021"/>
                </a:solidFill>
              </a:rPr>
              <a:t> </a:t>
            </a:r>
            <a:endParaRPr lang="zh-CN" altLang="en-US" dirty="0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2244</TotalTime>
  <Words>985</Words>
  <Application>Microsoft Office PowerPoint</Application>
  <PresentationFormat>全屏显示(4:3)</PresentationFormat>
  <Paragraphs>179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 Unicode MS</vt:lpstr>
      <vt:lpstr>宋体</vt:lpstr>
      <vt:lpstr>Arial</vt:lpstr>
      <vt:lpstr>Calibri</vt:lpstr>
      <vt:lpstr>Times New Roman</vt:lpstr>
      <vt:lpstr>Wingdings</vt:lpstr>
      <vt:lpstr>默认设计模板</vt:lpstr>
      <vt:lpstr>Equation.DSMT4</vt:lpstr>
      <vt:lpstr>公式</vt:lpstr>
      <vt:lpstr>Visio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littlepig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汤钰鹏</dc:creator>
  <cp:lastModifiedBy>Lenovo</cp:lastModifiedBy>
  <cp:revision>145</cp:revision>
  <dcterms:created xsi:type="dcterms:W3CDTF">2006-06-19T08:54:14Z</dcterms:created>
  <dcterms:modified xsi:type="dcterms:W3CDTF">2024-05-30T09:52:33Z</dcterms:modified>
</cp:coreProperties>
</file>